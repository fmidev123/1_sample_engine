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005.xml" ContentType="application/vnd.openxmlformats-officedocument.drawingml.chart+xml"/>
  <Override PartName="/ppt/charts/chart1006.xml" ContentType="application/vnd.openxmlformats-officedocument.drawingml.chart+xml"/>
  <Override PartName="/ppt/charts/chart1007.xml" ContentType="application/vnd.openxmlformats-officedocument.drawingml.chart+xml"/>
  <Override PartName="/ppt/charts/chart1008.xml" ContentType="application/vnd.openxmlformats-officedocument.drawingml.chart+xml"/>
  <Override PartName="/ppt/charts/chart1009.xml" ContentType="application/vnd.openxmlformats-officedocument.drawingml.chart+xml"/>
  <Override PartName="/ppt/charts/chart1010.xml" ContentType="application/vnd.openxmlformats-officedocument.drawingml.chart+xml"/>
  <Override PartName="/ppt/charts/chart1011.xml" ContentType="application/vnd.openxmlformats-officedocument.drawingml.chart+xml"/>
  <Override PartName="/ppt/charts/chart1012.xml" ContentType="application/vnd.openxmlformats-officedocument.drawingml.chart+xml"/>
  <Override PartName="/ppt/charts/chart1031.xml" ContentType="application/vnd.openxmlformats-officedocument.drawingml.chart+xml"/>
  <Override PartName="/ppt/charts/chart1032.xml" ContentType="application/vnd.openxmlformats-officedocument.drawingml.chart+xml"/>
  <Override PartName="/ppt/charts/chart1033.xml" ContentType="application/vnd.openxmlformats-officedocument.drawingml.chart+xml"/>
  <Override PartName="/ppt/charts/chart1034.xml" ContentType="application/vnd.openxmlformats-officedocument.drawingml.chart+xml"/>
  <Override PartName="/ppt/charts/chart1035.xml" ContentType="application/vnd.openxmlformats-officedocument.drawingml.chart+xml"/>
  <Override PartName="/ppt/charts/chart1036.xml" ContentType="application/vnd.openxmlformats-officedocument.drawingml.chart+xml"/>
  <Override PartName="/ppt/charts/chart1037.xml" ContentType="application/vnd.openxmlformats-officedocument.drawingml.chart+xml"/>
  <Override PartName="/ppt/charts/chart1038.xml" ContentType="application/vnd.openxmlformats-officedocument.drawingml.chart+xml"/>
  <Override PartName="/ppt/charts/chart1057.xml" ContentType="application/vnd.openxmlformats-officedocument.drawingml.chart+xml"/>
  <Override PartName="/ppt/charts/chart1058.xml" ContentType="application/vnd.openxmlformats-officedocument.drawingml.chart+xml"/>
  <Override PartName="/ppt/charts/chart1059.xml" ContentType="application/vnd.openxmlformats-officedocument.drawingml.chart+xml"/>
  <Override PartName="/ppt/charts/chart1060.xml" ContentType="application/vnd.openxmlformats-officedocument.drawingml.chart+xml"/>
  <Override PartName="/ppt/charts/chart1061.xml" ContentType="application/vnd.openxmlformats-officedocument.drawingml.chart+xml"/>
  <Override PartName="/ppt/charts/chart1062.xml" ContentType="application/vnd.openxmlformats-officedocument.drawingml.chart+xml"/>
  <Override PartName="/ppt/charts/chart1063.xml" ContentType="application/vnd.openxmlformats-officedocument.drawingml.chart+xml"/>
  <Override PartName="/ppt/charts/chart1064.xml" ContentType="application/vnd.openxmlformats-officedocument.drawingml.chart+xml"/>
  <Override PartName="/ppt/charts/chart108.xml" ContentType="application/vnd.openxmlformats-officedocument.drawingml.chart+xml"/>
  <Override PartName="/ppt/charts/chart1083.xml" ContentType="application/vnd.openxmlformats-officedocument.drawingml.chart+xml"/>
  <Override PartName="/ppt/charts/chart1084.xml" ContentType="application/vnd.openxmlformats-officedocument.drawingml.chart+xml"/>
  <Override PartName="/ppt/charts/chart1085.xml" ContentType="application/vnd.openxmlformats-officedocument.drawingml.chart+xml"/>
  <Override PartName="/ppt/charts/chart1086.xml" ContentType="application/vnd.openxmlformats-officedocument.drawingml.chart+xml"/>
  <Override PartName="/ppt/charts/chart1087.xml" ContentType="application/vnd.openxmlformats-officedocument.drawingml.chart+xml"/>
  <Override PartName="/ppt/charts/chart1088.xml" ContentType="application/vnd.openxmlformats-officedocument.drawingml.chart+xml"/>
  <Override PartName="/ppt/charts/chart1089.xml" ContentType="application/vnd.openxmlformats-officedocument.drawingml.chart+xml"/>
  <Override PartName="/ppt/charts/chart1090.xml" ContentType="application/vnd.openxmlformats-officedocument.drawingml.chart+xml"/>
  <Override PartName="/ppt/charts/chart11.xml" ContentType="application/vnd.openxmlformats-officedocument.drawingml.chart+xml"/>
  <Override PartName="/ppt/charts/chart1109.xml" ContentType="application/vnd.openxmlformats-officedocument.drawingml.chart+xml"/>
  <Override PartName="/ppt/charts/chart1110.xml" ContentType="application/vnd.openxmlformats-officedocument.drawingml.chart+xml"/>
  <Override PartName="/ppt/charts/chart1111.xml" ContentType="application/vnd.openxmlformats-officedocument.drawingml.chart+xml"/>
  <Override PartName="/ppt/charts/chart1112.xml" ContentType="application/vnd.openxmlformats-officedocument.drawingml.chart+xml"/>
  <Override PartName="/ppt/charts/chart1113.xml" ContentType="application/vnd.openxmlformats-officedocument.drawingml.chart+xml"/>
  <Override PartName="/ppt/charts/chart1114.xml" ContentType="application/vnd.openxmlformats-officedocument.drawingml.chart+xml"/>
  <Override PartName="/ppt/charts/chart1115.xml" ContentType="application/vnd.openxmlformats-officedocument.drawingml.chart+xml"/>
  <Override PartName="/ppt/charts/chart1116.xml" ContentType="application/vnd.openxmlformats-officedocument.drawingml.chart+xml"/>
  <Override PartName="/ppt/charts/chart1135.xml" ContentType="application/vnd.openxmlformats-officedocument.drawingml.chart+xml"/>
  <Override PartName="/ppt/charts/chart1136.xml" ContentType="application/vnd.openxmlformats-officedocument.drawingml.chart+xml"/>
  <Override PartName="/ppt/charts/chart1137.xml" ContentType="application/vnd.openxmlformats-officedocument.drawingml.chart+xml"/>
  <Override PartName="/ppt/charts/chart1138.xml" ContentType="application/vnd.openxmlformats-officedocument.drawingml.chart+xml"/>
  <Override PartName="/ppt/charts/chart1139.xml" ContentType="application/vnd.openxmlformats-officedocument.drawingml.chart+xml"/>
  <Override PartName="/ppt/charts/chart1140.xml" ContentType="application/vnd.openxmlformats-officedocument.drawingml.chart+xml"/>
  <Override PartName="/ppt/charts/chart1141.xml" ContentType="application/vnd.openxmlformats-officedocument.drawingml.chart+xml"/>
  <Override PartName="/ppt/charts/chart1142.xml" ContentType="application/vnd.openxmlformats-officedocument.drawingml.chart+xml"/>
  <Override PartName="/ppt/charts/chart1161.xml" ContentType="application/vnd.openxmlformats-officedocument.drawingml.chart+xml"/>
  <Override PartName="/ppt/charts/chart1162.xml" ContentType="application/vnd.openxmlformats-officedocument.drawingml.chart+xml"/>
  <Override PartName="/ppt/charts/chart1163.xml" ContentType="application/vnd.openxmlformats-officedocument.drawingml.chart+xml"/>
  <Override PartName="/ppt/charts/chart1164.xml" ContentType="application/vnd.openxmlformats-officedocument.drawingml.chart+xml"/>
  <Override PartName="/ppt/charts/chart1165.xml" ContentType="application/vnd.openxmlformats-officedocument.drawingml.chart+xml"/>
  <Override PartName="/ppt/charts/chart1166.xml" ContentType="application/vnd.openxmlformats-officedocument.drawingml.chart+xml"/>
  <Override PartName="/ppt/charts/chart1167.xml" ContentType="application/vnd.openxmlformats-officedocument.drawingml.chart+xml"/>
  <Override PartName="/ppt/charts/chart1168.xml" ContentType="application/vnd.openxmlformats-officedocument.drawingml.chart+xml"/>
  <Override PartName="/ppt/charts/chart118.xml" ContentType="application/vnd.openxmlformats-officedocument.drawingml.chart+xml"/>
  <Override PartName="/ppt/charts/chart1187.xml" ContentType="application/vnd.openxmlformats-officedocument.drawingml.chart+xml"/>
  <Override PartName="/ppt/charts/chart1188.xml" ContentType="application/vnd.openxmlformats-officedocument.drawingml.chart+xml"/>
  <Override PartName="/ppt/charts/chart1189.xml" ContentType="application/vnd.openxmlformats-officedocument.drawingml.chart+xml"/>
  <Override PartName="/ppt/charts/chart1190.xml" ContentType="application/vnd.openxmlformats-officedocument.drawingml.chart+xml"/>
  <Override PartName="/ppt/charts/chart1191.xml" ContentType="application/vnd.openxmlformats-officedocument.drawingml.chart+xml"/>
  <Override PartName="/ppt/charts/chart1192.xml" ContentType="application/vnd.openxmlformats-officedocument.drawingml.chart+xml"/>
  <Override PartName="/ppt/charts/chart1193.xml" ContentType="application/vnd.openxmlformats-officedocument.drawingml.chart+xml"/>
  <Override PartName="/ppt/charts/chart1194.xml" ContentType="application/vnd.openxmlformats-officedocument.drawingml.chart+xml"/>
  <Override PartName="/ppt/charts/chart12.xml" ContentType="application/vnd.openxmlformats-officedocument.drawingml.chart+xml"/>
  <Override PartName="/ppt/charts/chart1213.xml" ContentType="application/vnd.openxmlformats-officedocument.drawingml.chart+xml"/>
  <Override PartName="/ppt/charts/chart1214.xml" ContentType="application/vnd.openxmlformats-officedocument.drawingml.chart+xml"/>
  <Override PartName="/ppt/charts/chart1215.xml" ContentType="application/vnd.openxmlformats-officedocument.drawingml.chart+xml"/>
  <Override PartName="/ppt/charts/chart1216.xml" ContentType="application/vnd.openxmlformats-officedocument.drawingml.chart+xml"/>
  <Override PartName="/ppt/charts/chart1217.xml" ContentType="application/vnd.openxmlformats-officedocument.drawingml.chart+xml"/>
  <Override PartName="/ppt/charts/chart1218.xml" ContentType="application/vnd.openxmlformats-officedocument.drawingml.chart+xml"/>
  <Override PartName="/ppt/charts/chart1219.xml" ContentType="application/vnd.openxmlformats-officedocument.drawingml.chart+xml"/>
  <Override PartName="/ppt/charts/chart1220.xml" ContentType="application/vnd.openxmlformats-officedocument.drawingml.chart+xml"/>
  <Override PartName="/ppt/charts/chart1239.xml" ContentType="application/vnd.openxmlformats-officedocument.drawingml.chart+xml"/>
  <Override PartName="/ppt/charts/chart124.xml" ContentType="application/vnd.openxmlformats-officedocument.drawingml.chart+xml"/>
  <Override PartName="/ppt/charts/chart1240.xml" ContentType="application/vnd.openxmlformats-officedocument.drawingml.chart+xml"/>
  <Override PartName="/ppt/charts/chart1241.xml" ContentType="application/vnd.openxmlformats-officedocument.drawingml.chart+xml"/>
  <Override PartName="/ppt/charts/chart1242.xml" ContentType="application/vnd.openxmlformats-officedocument.drawingml.chart+xml"/>
  <Override PartName="/ppt/charts/chart1243.xml" ContentType="application/vnd.openxmlformats-officedocument.drawingml.chart+xml"/>
  <Override PartName="/ppt/charts/chart1244.xml" ContentType="application/vnd.openxmlformats-officedocument.drawingml.chart+xml"/>
  <Override PartName="/ppt/charts/chart1245.xml" ContentType="application/vnd.openxmlformats-officedocument.drawingml.chart+xml"/>
  <Override PartName="/ppt/charts/chart1246.xml" ContentType="application/vnd.openxmlformats-officedocument.drawingml.chart+xml"/>
  <Override PartName="/ppt/charts/chart1265.xml" ContentType="application/vnd.openxmlformats-officedocument.drawingml.chart+xml"/>
  <Override PartName="/ppt/charts/chart1266.xml" ContentType="application/vnd.openxmlformats-officedocument.drawingml.chart+xml"/>
  <Override PartName="/ppt/charts/chart1267.xml" ContentType="application/vnd.openxmlformats-officedocument.drawingml.chart+xml"/>
  <Override PartName="/ppt/charts/chart1268.xml" ContentType="application/vnd.openxmlformats-officedocument.drawingml.chart+xml"/>
  <Override PartName="/ppt/charts/chart1269.xml" ContentType="application/vnd.openxmlformats-officedocument.drawingml.chart+xml"/>
  <Override PartName="/ppt/charts/chart1270.xml" ContentType="application/vnd.openxmlformats-officedocument.drawingml.chart+xml"/>
  <Override PartName="/ppt/charts/chart1271.xml" ContentType="application/vnd.openxmlformats-officedocument.drawingml.chart+xml"/>
  <Override PartName="/ppt/charts/chart1272.xml" ContentType="application/vnd.openxmlformats-officedocument.drawingml.chart+xml"/>
  <Override PartName="/ppt/charts/chart1291.xml" ContentType="application/vnd.openxmlformats-officedocument.drawingml.chart+xml"/>
  <Override PartName="/ppt/charts/chart1292.xml" ContentType="application/vnd.openxmlformats-officedocument.drawingml.chart+xml"/>
  <Override PartName="/ppt/charts/chart1293.xml" ContentType="application/vnd.openxmlformats-officedocument.drawingml.chart+xml"/>
  <Override PartName="/ppt/charts/chart1294.xml" ContentType="application/vnd.openxmlformats-officedocument.drawingml.chart+xml"/>
  <Override PartName="/ppt/charts/chart1295.xml" ContentType="application/vnd.openxmlformats-officedocument.drawingml.chart+xml"/>
  <Override PartName="/ppt/charts/chart1296.xml" ContentType="application/vnd.openxmlformats-officedocument.drawingml.chart+xml"/>
  <Override PartName="/ppt/charts/chart1297.xml" ContentType="application/vnd.openxmlformats-officedocument.drawingml.chart+xml"/>
  <Override PartName="/ppt/charts/chart1298.xml" ContentType="application/vnd.openxmlformats-officedocument.drawingml.chart+xml"/>
  <Override PartName="/ppt/charts/chart13.xml" ContentType="application/vnd.openxmlformats-officedocument.drawingml.chart+xml"/>
  <Override PartName="/ppt/charts/chart1317.xml" ContentType="application/vnd.openxmlformats-officedocument.drawingml.chart+xml"/>
  <Override PartName="/ppt/charts/chart1318.xml" ContentType="application/vnd.openxmlformats-officedocument.drawingml.chart+xml"/>
  <Override PartName="/ppt/charts/chart1319.xml" ContentType="application/vnd.openxmlformats-officedocument.drawingml.chart+xml"/>
  <Override PartName="/ppt/charts/chart1320.xml" ContentType="application/vnd.openxmlformats-officedocument.drawingml.chart+xml"/>
  <Override PartName="/ppt/charts/chart1321.xml" ContentType="application/vnd.openxmlformats-officedocument.drawingml.chart+xml"/>
  <Override PartName="/ppt/charts/chart1322.xml" ContentType="application/vnd.openxmlformats-officedocument.drawingml.chart+xml"/>
  <Override PartName="/ppt/charts/chart1323.xml" ContentType="application/vnd.openxmlformats-officedocument.drawingml.chart+xml"/>
  <Override PartName="/ppt/charts/chart1324.xml" ContentType="application/vnd.openxmlformats-officedocument.drawingml.chart+xml"/>
  <Override PartName="/ppt/charts/chart134.xml" ContentType="application/vnd.openxmlformats-officedocument.drawingml.chart+xml"/>
  <Override PartName="/ppt/charts/chart135.xml" ContentType="application/vnd.openxmlformats-officedocument.drawingml.chart+xml"/>
  <Override PartName="/ppt/charts/chart136.xml" ContentType="application/vnd.openxmlformats-officedocument.drawingml.chart+xml"/>
  <Override PartName="/ppt/charts/chart137.xml" ContentType="application/vnd.openxmlformats-officedocument.drawingml.chart+xml"/>
  <Override PartName="/ppt/charts/chart138.xml" ContentType="application/vnd.openxmlformats-officedocument.drawingml.chart+xml"/>
  <Override PartName="/ppt/charts/chart139.xml" ContentType="application/vnd.openxmlformats-officedocument.drawingml.chart+xml"/>
  <Override PartName="/ppt/charts/chart14.xml" ContentType="application/vnd.openxmlformats-officedocument.drawingml.chart+xml"/>
  <Override PartName="/ppt/charts/chart140.xml" ContentType="application/vnd.openxmlformats-officedocument.drawingml.chart+xml"/>
  <Override PartName="/ppt/charts/chart141.xml" ContentType="application/vnd.openxmlformats-officedocument.drawingml.chart+xml"/>
  <Override PartName="/ppt/charts/chart142.xml" ContentType="application/vnd.openxmlformats-officedocument.drawingml.chart+xml"/>
  <Override PartName="/ppt/charts/chart143.xml" ContentType="application/vnd.openxmlformats-officedocument.drawingml.chart+xml"/>
  <Override PartName="/ppt/charts/chart145.xml" ContentType="application/vnd.openxmlformats-officedocument.drawingml.chart+xml"/>
  <Override PartName="/ppt/charts/chart146.xml" ContentType="application/vnd.openxmlformats-officedocument.drawingml.chart+xml"/>
  <Override PartName="/ppt/charts/chart147.xml" ContentType="application/vnd.openxmlformats-officedocument.drawingml.chart+xml"/>
  <Override PartName="/ppt/charts/chart148.xml" ContentType="application/vnd.openxmlformats-officedocument.drawingml.chart+xml"/>
  <Override PartName="/ppt/charts/chart153.xml" ContentType="application/vnd.openxmlformats-officedocument.drawingml.chart+xml"/>
  <Override PartName="/ppt/charts/chart162.xml" ContentType="application/vnd.openxmlformats-officedocument.drawingml.chart+xml"/>
  <Override PartName="/ppt/charts/chart175.xml" ContentType="application/vnd.openxmlformats-officedocument.drawingml.chart+xml"/>
  <Override PartName="/ppt/charts/chart185.xml" ContentType="application/vnd.openxmlformats-officedocument.drawingml.chart+xml"/>
  <Override PartName="/ppt/charts/chart19.xml" ContentType="application/vnd.openxmlformats-officedocument.drawingml.chart+xml"/>
  <Override PartName="/ppt/charts/chart191.xml" ContentType="application/vnd.openxmlformats-officedocument.drawingml.chart+xml"/>
  <Override PartName="/ppt/charts/chart2.xml" ContentType="application/vnd.openxmlformats-officedocument.drawingml.chart+xml"/>
  <Override PartName="/ppt/charts/chart201.xml" ContentType="application/vnd.openxmlformats-officedocument.drawingml.chart+xml"/>
  <Override PartName="/ppt/charts/chart202.xml" ContentType="application/vnd.openxmlformats-officedocument.drawingml.chart+xml"/>
  <Override PartName="/ppt/charts/chart203.xml" ContentType="application/vnd.openxmlformats-officedocument.drawingml.chart+xml"/>
  <Override PartName="/ppt/charts/chart204.xml" ContentType="application/vnd.openxmlformats-officedocument.drawingml.chart+xml"/>
  <Override PartName="/ppt/charts/chart205.xml" ContentType="application/vnd.openxmlformats-officedocument.drawingml.chart+xml"/>
  <Override PartName="/ppt/charts/chart206.xml" ContentType="application/vnd.openxmlformats-officedocument.drawingml.chart+xml"/>
  <Override PartName="/ppt/charts/chart207.xml" ContentType="application/vnd.openxmlformats-officedocument.drawingml.chart+xml"/>
  <Override PartName="/ppt/charts/chart208.xml" ContentType="application/vnd.openxmlformats-officedocument.drawingml.chart+xml"/>
  <Override PartName="/ppt/charts/chart209.xml" ContentType="application/vnd.openxmlformats-officedocument.drawingml.chart+xml"/>
  <Override PartName="/ppt/charts/chart210.xml" ContentType="application/vnd.openxmlformats-officedocument.drawingml.chart+xml"/>
  <Override PartName="/ppt/charts/chart212.xml" ContentType="application/vnd.openxmlformats-officedocument.drawingml.chart+xml"/>
  <Override PartName="/ppt/charts/chart213.xml" ContentType="application/vnd.openxmlformats-officedocument.drawingml.chart+xml"/>
  <Override PartName="/ppt/charts/chart214.xml" ContentType="application/vnd.openxmlformats-officedocument.drawingml.chart+xml"/>
  <Override PartName="/ppt/charts/chart215.xml" ContentType="application/vnd.openxmlformats-officedocument.drawingml.chart+xml"/>
  <Override PartName="/ppt/charts/chart220.xml" ContentType="application/vnd.openxmlformats-officedocument.drawingml.chart+xml"/>
  <Override PartName="/ppt/charts/chart229.xml" ContentType="application/vnd.openxmlformats-officedocument.drawingml.chart+xml"/>
  <Override PartName="/ppt/charts/chart242.xml" ContentType="application/vnd.openxmlformats-officedocument.drawingml.chart+xml"/>
  <Override PartName="/ppt/charts/chart252.xml" ContentType="application/vnd.openxmlformats-officedocument.drawingml.chart+xml"/>
  <Override PartName="/ppt/charts/chart258.xml" ContentType="application/vnd.openxmlformats-officedocument.drawingml.chart+xml"/>
  <Override PartName="/ppt/charts/chart268.xml" ContentType="application/vnd.openxmlformats-officedocument.drawingml.chart+xml"/>
  <Override PartName="/ppt/charts/chart269.xml" ContentType="application/vnd.openxmlformats-officedocument.drawingml.chart+xml"/>
  <Override PartName="/ppt/charts/chart270.xml" ContentType="application/vnd.openxmlformats-officedocument.drawingml.chart+xml"/>
  <Override PartName="/ppt/charts/chart271.xml" ContentType="application/vnd.openxmlformats-officedocument.drawingml.chart+xml"/>
  <Override PartName="/ppt/charts/chart272.xml" ContentType="application/vnd.openxmlformats-officedocument.drawingml.chart+xml"/>
  <Override PartName="/ppt/charts/chart273.xml" ContentType="application/vnd.openxmlformats-officedocument.drawingml.chart+xml"/>
  <Override PartName="/ppt/charts/chart274.xml" ContentType="application/vnd.openxmlformats-officedocument.drawingml.chart+xml"/>
  <Override PartName="/ppt/charts/chart275.xml" ContentType="application/vnd.openxmlformats-officedocument.drawingml.chart+xml"/>
  <Override PartName="/ppt/charts/chart276.xml" ContentType="application/vnd.openxmlformats-officedocument.drawingml.chart+xml"/>
  <Override PartName="/ppt/charts/chart277.xml" ContentType="application/vnd.openxmlformats-officedocument.drawingml.chart+xml"/>
  <Override PartName="/ppt/charts/chart279.xml" ContentType="application/vnd.openxmlformats-officedocument.drawingml.chart+xml"/>
  <Override PartName="/ppt/charts/chart28.xml" ContentType="application/vnd.openxmlformats-officedocument.drawingml.chart+xml"/>
  <Override PartName="/ppt/charts/chart280.xml" ContentType="application/vnd.openxmlformats-officedocument.drawingml.chart+xml"/>
  <Override PartName="/ppt/charts/chart281.xml" ContentType="application/vnd.openxmlformats-officedocument.drawingml.chart+xml"/>
  <Override PartName="/ppt/charts/chart282.xml" ContentType="application/vnd.openxmlformats-officedocument.drawingml.chart+xml"/>
  <Override PartName="/ppt/charts/chart287.xml" ContentType="application/vnd.openxmlformats-officedocument.drawingml.chart+xml"/>
  <Override PartName="/ppt/charts/chart296.xml" ContentType="application/vnd.openxmlformats-officedocument.drawingml.chart+xml"/>
  <Override PartName="/ppt/charts/chart3.xml" ContentType="application/vnd.openxmlformats-officedocument.drawingml.chart+xml"/>
  <Override PartName="/ppt/charts/chart309.xml" ContentType="application/vnd.openxmlformats-officedocument.drawingml.chart+xml"/>
  <Override PartName="/ppt/charts/chart319.xml" ContentType="application/vnd.openxmlformats-officedocument.drawingml.chart+xml"/>
  <Override PartName="/ppt/charts/chart325.xml" ContentType="application/vnd.openxmlformats-officedocument.drawingml.chart+xml"/>
  <Override PartName="/ppt/charts/chart335.xml" ContentType="application/vnd.openxmlformats-officedocument.drawingml.chart+xml"/>
  <Override PartName="/ppt/charts/chart336.xml" ContentType="application/vnd.openxmlformats-officedocument.drawingml.chart+xml"/>
  <Override PartName="/ppt/charts/chart337.xml" ContentType="application/vnd.openxmlformats-officedocument.drawingml.chart+xml"/>
  <Override PartName="/ppt/charts/chart338.xml" ContentType="application/vnd.openxmlformats-officedocument.drawingml.chart+xml"/>
  <Override PartName="/ppt/charts/chart339.xml" ContentType="application/vnd.openxmlformats-officedocument.drawingml.chart+xml"/>
  <Override PartName="/ppt/charts/chart340.xml" ContentType="application/vnd.openxmlformats-officedocument.drawingml.chart+xml"/>
  <Override PartName="/ppt/charts/chart341.xml" ContentType="application/vnd.openxmlformats-officedocument.drawingml.chart+xml"/>
  <Override PartName="/ppt/charts/chart342.xml" ContentType="application/vnd.openxmlformats-officedocument.drawingml.chart+xml"/>
  <Override PartName="/ppt/charts/chart343.xml" ContentType="application/vnd.openxmlformats-officedocument.drawingml.chart+xml"/>
  <Override PartName="/ppt/charts/chart344.xml" ContentType="application/vnd.openxmlformats-officedocument.drawingml.chart+xml"/>
  <Override PartName="/ppt/charts/chart346.xml" ContentType="application/vnd.openxmlformats-officedocument.drawingml.chart+xml"/>
  <Override PartName="/ppt/charts/chart347.xml" ContentType="application/vnd.openxmlformats-officedocument.drawingml.chart+xml"/>
  <Override PartName="/ppt/charts/chart348.xml" ContentType="application/vnd.openxmlformats-officedocument.drawingml.chart+xml"/>
  <Override PartName="/ppt/charts/chart349.xml" ContentType="application/vnd.openxmlformats-officedocument.drawingml.chart+xml"/>
  <Override PartName="/ppt/charts/chart354.xml" ContentType="application/vnd.openxmlformats-officedocument.drawingml.chart+xml"/>
  <Override PartName="/ppt/charts/chart363.xml" ContentType="application/vnd.openxmlformats-officedocument.drawingml.chart+xml"/>
  <Override PartName="/ppt/charts/chart376.xml" ContentType="application/vnd.openxmlformats-officedocument.drawingml.chart+xml"/>
  <Override PartName="/ppt/charts/chart386.xml" ContentType="application/vnd.openxmlformats-officedocument.drawingml.chart+xml"/>
  <Override PartName="/ppt/charts/chart392.xml" ContentType="application/vnd.openxmlformats-officedocument.drawingml.chart+xml"/>
  <Override PartName="/ppt/charts/chart4.xml" ContentType="application/vnd.openxmlformats-officedocument.drawingml.chart+xml"/>
  <Override PartName="/ppt/charts/chart402.xml" ContentType="application/vnd.openxmlformats-officedocument.drawingml.chart+xml"/>
  <Override PartName="/ppt/charts/chart403.xml" ContentType="application/vnd.openxmlformats-officedocument.drawingml.chart+xml"/>
  <Override PartName="/ppt/charts/chart404.xml" ContentType="application/vnd.openxmlformats-officedocument.drawingml.chart+xml"/>
  <Override PartName="/ppt/charts/chart405.xml" ContentType="application/vnd.openxmlformats-officedocument.drawingml.chart+xml"/>
  <Override PartName="/ppt/charts/chart406.xml" ContentType="application/vnd.openxmlformats-officedocument.drawingml.chart+xml"/>
  <Override PartName="/ppt/charts/chart407.xml" ContentType="application/vnd.openxmlformats-officedocument.drawingml.chart+xml"/>
  <Override PartName="/ppt/charts/chart408.xml" ContentType="application/vnd.openxmlformats-officedocument.drawingml.chart+xml"/>
  <Override PartName="/ppt/charts/chart409.xml" ContentType="application/vnd.openxmlformats-officedocument.drawingml.chart+xml"/>
  <Override PartName="/ppt/charts/chart41.xml" ContentType="application/vnd.openxmlformats-officedocument.drawingml.chart+xml"/>
  <Override PartName="/ppt/charts/chart410.xml" ContentType="application/vnd.openxmlformats-officedocument.drawingml.chart+xml"/>
  <Override PartName="/ppt/charts/chart411.xml" ContentType="application/vnd.openxmlformats-officedocument.drawingml.chart+xml"/>
  <Override PartName="/ppt/charts/chart413.xml" ContentType="application/vnd.openxmlformats-officedocument.drawingml.chart+xml"/>
  <Override PartName="/ppt/charts/chart414.xml" ContentType="application/vnd.openxmlformats-officedocument.drawingml.chart+xml"/>
  <Override PartName="/ppt/charts/chart415.xml" ContentType="application/vnd.openxmlformats-officedocument.drawingml.chart+xml"/>
  <Override PartName="/ppt/charts/chart416.xml" ContentType="application/vnd.openxmlformats-officedocument.drawingml.chart+xml"/>
  <Override PartName="/ppt/charts/chart421.xml" ContentType="application/vnd.openxmlformats-officedocument.drawingml.chart+xml"/>
  <Override PartName="/ppt/charts/chart430.xml" ContentType="application/vnd.openxmlformats-officedocument.drawingml.chart+xml"/>
  <Override PartName="/ppt/charts/chart443.xml" ContentType="application/vnd.openxmlformats-officedocument.drawingml.chart+xml"/>
  <Override PartName="/ppt/charts/chart453.xml" ContentType="application/vnd.openxmlformats-officedocument.drawingml.chart+xml"/>
  <Override PartName="/ppt/charts/chart459.xml" ContentType="application/vnd.openxmlformats-officedocument.drawingml.chart+xml"/>
  <Override PartName="/ppt/charts/chart469.xml" ContentType="application/vnd.openxmlformats-officedocument.drawingml.chart+xml"/>
  <Override PartName="/ppt/charts/chart470.xml" ContentType="application/vnd.openxmlformats-officedocument.drawingml.chart+xml"/>
  <Override PartName="/ppt/charts/chart471.xml" ContentType="application/vnd.openxmlformats-officedocument.drawingml.chart+xml"/>
  <Override PartName="/ppt/charts/chart472.xml" ContentType="application/vnd.openxmlformats-officedocument.drawingml.chart+xml"/>
  <Override PartName="/ppt/charts/chart473.xml" ContentType="application/vnd.openxmlformats-officedocument.drawingml.chart+xml"/>
  <Override PartName="/ppt/charts/chart474.xml" ContentType="application/vnd.openxmlformats-officedocument.drawingml.chart+xml"/>
  <Override PartName="/ppt/charts/chart475.xml" ContentType="application/vnd.openxmlformats-officedocument.drawingml.chart+xml"/>
  <Override PartName="/ppt/charts/chart476.xml" ContentType="application/vnd.openxmlformats-officedocument.drawingml.chart+xml"/>
  <Override PartName="/ppt/charts/chart477.xml" ContentType="application/vnd.openxmlformats-officedocument.drawingml.chart+xml"/>
  <Override PartName="/ppt/charts/chart478.xml" ContentType="application/vnd.openxmlformats-officedocument.drawingml.chart+xml"/>
  <Override PartName="/ppt/charts/chart480.xml" ContentType="application/vnd.openxmlformats-officedocument.drawingml.chart+xml"/>
  <Override PartName="/ppt/charts/chart481.xml" ContentType="application/vnd.openxmlformats-officedocument.drawingml.chart+xml"/>
  <Override PartName="/ppt/charts/chart482.xml" ContentType="application/vnd.openxmlformats-officedocument.drawingml.chart+xml"/>
  <Override PartName="/ppt/charts/chart483.xml" ContentType="application/vnd.openxmlformats-officedocument.drawingml.chart+xml"/>
  <Override PartName="/ppt/charts/chart488.xml" ContentType="application/vnd.openxmlformats-officedocument.drawingml.chart+xml"/>
  <Override PartName="/ppt/charts/chart497.xml" ContentType="application/vnd.openxmlformats-officedocument.drawingml.chart+xml"/>
  <Override PartName="/ppt/charts/chart5.xml" ContentType="application/vnd.openxmlformats-officedocument.drawingml.chart+xml"/>
  <Override PartName="/ppt/charts/chart51.xml" ContentType="application/vnd.openxmlformats-officedocument.drawingml.chart+xml"/>
  <Override PartName="/ppt/charts/chart510.xml" ContentType="application/vnd.openxmlformats-officedocument.drawingml.chart+xml"/>
  <Override PartName="/ppt/charts/chart520.xml" ContentType="application/vnd.openxmlformats-officedocument.drawingml.chart+xml"/>
  <Override PartName="/ppt/charts/chart526.xml" ContentType="application/vnd.openxmlformats-officedocument.drawingml.chart+xml"/>
  <Override PartName="/ppt/charts/chart536.xml" ContentType="application/vnd.openxmlformats-officedocument.drawingml.chart+xml"/>
  <Override PartName="/ppt/charts/chart537.xml" ContentType="application/vnd.openxmlformats-officedocument.drawingml.chart+xml"/>
  <Override PartName="/ppt/charts/chart538.xml" ContentType="application/vnd.openxmlformats-officedocument.drawingml.chart+xml"/>
  <Override PartName="/ppt/charts/chart539.xml" ContentType="application/vnd.openxmlformats-officedocument.drawingml.chart+xml"/>
  <Override PartName="/ppt/charts/chart540.xml" ContentType="application/vnd.openxmlformats-officedocument.drawingml.chart+xml"/>
  <Override PartName="/ppt/charts/chart541.xml" ContentType="application/vnd.openxmlformats-officedocument.drawingml.chart+xml"/>
  <Override PartName="/ppt/charts/chart542.xml" ContentType="application/vnd.openxmlformats-officedocument.drawingml.chart+xml"/>
  <Override PartName="/ppt/charts/chart543.xml" ContentType="application/vnd.openxmlformats-officedocument.drawingml.chart+xml"/>
  <Override PartName="/ppt/charts/chart544.xml" ContentType="application/vnd.openxmlformats-officedocument.drawingml.chart+xml"/>
  <Override PartName="/ppt/charts/chart563.xml" ContentType="application/vnd.openxmlformats-officedocument.drawingml.chart+xml"/>
  <Override PartName="/ppt/charts/chart564.xml" ContentType="application/vnd.openxmlformats-officedocument.drawingml.chart+xml"/>
  <Override PartName="/ppt/charts/chart565.xml" ContentType="application/vnd.openxmlformats-officedocument.drawingml.chart+xml"/>
  <Override PartName="/ppt/charts/chart566.xml" ContentType="application/vnd.openxmlformats-officedocument.drawingml.chart+xml"/>
  <Override PartName="/ppt/charts/chart567.xml" ContentType="application/vnd.openxmlformats-officedocument.drawingml.chart+xml"/>
  <Override PartName="/ppt/charts/chart568.xml" ContentType="application/vnd.openxmlformats-officedocument.drawingml.chart+xml"/>
  <Override PartName="/ppt/charts/chart569.xml" ContentType="application/vnd.openxmlformats-officedocument.drawingml.chart+xml"/>
  <Override PartName="/ppt/charts/chart57.xml" ContentType="application/vnd.openxmlformats-officedocument.drawingml.chart+xml"/>
  <Override PartName="/ppt/charts/chart570.xml" ContentType="application/vnd.openxmlformats-officedocument.drawingml.chart+xml"/>
  <Override PartName="/ppt/charts/chart589.xml" ContentType="application/vnd.openxmlformats-officedocument.drawingml.chart+xml"/>
  <Override PartName="/ppt/charts/chart590.xml" ContentType="application/vnd.openxmlformats-officedocument.drawingml.chart+xml"/>
  <Override PartName="/ppt/charts/chart591.xml" ContentType="application/vnd.openxmlformats-officedocument.drawingml.chart+xml"/>
  <Override PartName="/ppt/charts/chart592.xml" ContentType="application/vnd.openxmlformats-officedocument.drawingml.chart+xml"/>
  <Override PartName="/ppt/charts/chart593.xml" ContentType="application/vnd.openxmlformats-officedocument.drawingml.chart+xml"/>
  <Override PartName="/ppt/charts/chart594.xml" ContentType="application/vnd.openxmlformats-officedocument.drawingml.chart+xml"/>
  <Override PartName="/ppt/charts/chart595.xml" ContentType="application/vnd.openxmlformats-officedocument.drawingml.chart+xml"/>
  <Override PartName="/ppt/charts/chart596.xml" ContentType="application/vnd.openxmlformats-officedocument.drawingml.chart+xml"/>
  <Override PartName="/ppt/charts/chart6.xml" ContentType="application/vnd.openxmlformats-officedocument.drawingml.chart+xml"/>
  <Override PartName="/ppt/charts/chart615.xml" ContentType="application/vnd.openxmlformats-officedocument.drawingml.chart+xml"/>
  <Override PartName="/ppt/charts/chart616.xml" ContentType="application/vnd.openxmlformats-officedocument.drawingml.chart+xml"/>
  <Override PartName="/ppt/charts/chart617.xml" ContentType="application/vnd.openxmlformats-officedocument.drawingml.chart+xml"/>
  <Override PartName="/ppt/charts/chart618.xml" ContentType="application/vnd.openxmlformats-officedocument.drawingml.chart+xml"/>
  <Override PartName="/ppt/charts/chart619.xml" ContentType="application/vnd.openxmlformats-officedocument.drawingml.chart+xml"/>
  <Override PartName="/ppt/charts/chart620.xml" ContentType="application/vnd.openxmlformats-officedocument.drawingml.chart+xml"/>
  <Override PartName="/ppt/charts/chart621.xml" ContentType="application/vnd.openxmlformats-officedocument.drawingml.chart+xml"/>
  <Override PartName="/ppt/charts/chart622.xml" ContentType="application/vnd.openxmlformats-officedocument.drawingml.chart+xml"/>
  <Override PartName="/ppt/charts/chart641.xml" ContentType="application/vnd.openxmlformats-officedocument.drawingml.chart+xml"/>
  <Override PartName="/ppt/charts/chart642.xml" ContentType="application/vnd.openxmlformats-officedocument.drawingml.chart+xml"/>
  <Override PartName="/ppt/charts/chart643.xml" ContentType="application/vnd.openxmlformats-officedocument.drawingml.chart+xml"/>
  <Override PartName="/ppt/charts/chart644.xml" ContentType="application/vnd.openxmlformats-officedocument.drawingml.chart+xml"/>
  <Override PartName="/ppt/charts/chart645.xml" ContentType="application/vnd.openxmlformats-officedocument.drawingml.chart+xml"/>
  <Override PartName="/ppt/charts/chart646.xml" ContentType="application/vnd.openxmlformats-officedocument.drawingml.chart+xml"/>
  <Override PartName="/ppt/charts/chart647.xml" ContentType="application/vnd.openxmlformats-officedocument.drawingml.chart+xml"/>
  <Override PartName="/ppt/charts/chart648.xml" ContentType="application/vnd.openxmlformats-officedocument.drawingml.chart+xml"/>
  <Override PartName="/ppt/charts/chart667.xml" ContentType="application/vnd.openxmlformats-officedocument.drawingml.chart+xml"/>
  <Override PartName="/ppt/charts/chart668.xml" ContentType="application/vnd.openxmlformats-officedocument.drawingml.chart+xml"/>
  <Override PartName="/ppt/charts/chart669.xml" ContentType="application/vnd.openxmlformats-officedocument.drawingml.chart+xml"/>
  <Override PartName="/ppt/charts/chart67.xml" ContentType="application/vnd.openxmlformats-officedocument.drawingml.chart+xml"/>
  <Override PartName="/ppt/charts/chart670.xml" ContentType="application/vnd.openxmlformats-officedocument.drawingml.chart+xml"/>
  <Override PartName="/ppt/charts/chart671.xml" ContentType="application/vnd.openxmlformats-officedocument.drawingml.chart+xml"/>
  <Override PartName="/ppt/charts/chart672.xml" ContentType="application/vnd.openxmlformats-officedocument.drawingml.chart+xml"/>
  <Override PartName="/ppt/charts/chart673.xml" ContentType="application/vnd.openxmlformats-officedocument.drawingml.chart+xml"/>
  <Override PartName="/ppt/charts/chart674.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693.xml" ContentType="application/vnd.openxmlformats-officedocument.drawingml.chart+xml"/>
  <Override PartName="/ppt/charts/chart694.xml" ContentType="application/vnd.openxmlformats-officedocument.drawingml.chart+xml"/>
  <Override PartName="/ppt/charts/chart695.xml" ContentType="application/vnd.openxmlformats-officedocument.drawingml.chart+xml"/>
  <Override PartName="/ppt/charts/chart696.xml" ContentType="application/vnd.openxmlformats-officedocument.drawingml.chart+xml"/>
  <Override PartName="/ppt/charts/chart697.xml" ContentType="application/vnd.openxmlformats-officedocument.drawingml.chart+xml"/>
  <Override PartName="/ppt/charts/chart698.xml" ContentType="application/vnd.openxmlformats-officedocument.drawingml.chart+xml"/>
  <Override PartName="/ppt/charts/chart699.xml" ContentType="application/vnd.openxmlformats-officedocument.drawingml.chart+xml"/>
  <Override PartName="/ppt/charts/chart7.xml" ContentType="application/vnd.openxmlformats-officedocument.drawingml.chart+xml"/>
  <Override PartName="/ppt/charts/chart70.xml" ContentType="application/vnd.openxmlformats-officedocument.drawingml.chart+xml"/>
  <Override PartName="/ppt/charts/chart700.xml" ContentType="application/vnd.openxmlformats-officedocument.drawingml.chart+xml"/>
  <Override PartName="/ppt/charts/chart71.xml" ContentType="application/vnd.openxmlformats-officedocument.drawingml.chart+xml"/>
  <Override PartName="/ppt/charts/chart719.xml" ContentType="application/vnd.openxmlformats-officedocument.drawingml.chart+xml"/>
  <Override PartName="/ppt/charts/chart72.xml" ContentType="application/vnd.openxmlformats-officedocument.drawingml.chart+xml"/>
  <Override PartName="/ppt/charts/chart720.xml" ContentType="application/vnd.openxmlformats-officedocument.drawingml.chart+xml"/>
  <Override PartName="/ppt/charts/chart721.xml" ContentType="application/vnd.openxmlformats-officedocument.drawingml.chart+xml"/>
  <Override PartName="/ppt/charts/chart722.xml" ContentType="application/vnd.openxmlformats-officedocument.drawingml.chart+xml"/>
  <Override PartName="/ppt/charts/chart723.xml" ContentType="application/vnd.openxmlformats-officedocument.drawingml.chart+xml"/>
  <Override PartName="/ppt/charts/chart724.xml" ContentType="application/vnd.openxmlformats-officedocument.drawingml.chart+xml"/>
  <Override PartName="/ppt/charts/chart725.xml" ContentType="application/vnd.openxmlformats-officedocument.drawingml.chart+xml"/>
  <Override PartName="/ppt/charts/chart726.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45.xml" ContentType="application/vnd.openxmlformats-officedocument.drawingml.chart+xml"/>
  <Override PartName="/ppt/charts/chart746.xml" ContentType="application/vnd.openxmlformats-officedocument.drawingml.chart+xml"/>
  <Override PartName="/ppt/charts/chart747.xml" ContentType="application/vnd.openxmlformats-officedocument.drawingml.chart+xml"/>
  <Override PartName="/ppt/charts/chart748.xml" ContentType="application/vnd.openxmlformats-officedocument.drawingml.chart+xml"/>
  <Override PartName="/ppt/charts/chart749.xml" ContentType="application/vnd.openxmlformats-officedocument.drawingml.chart+xml"/>
  <Override PartName="/ppt/charts/chart75.xml" ContentType="application/vnd.openxmlformats-officedocument.drawingml.chart+xml"/>
  <Override PartName="/ppt/charts/chart750.xml" ContentType="application/vnd.openxmlformats-officedocument.drawingml.chart+xml"/>
  <Override PartName="/ppt/charts/chart751.xml" ContentType="application/vnd.openxmlformats-officedocument.drawingml.chart+xml"/>
  <Override PartName="/ppt/charts/chart752.xml" ContentType="application/vnd.openxmlformats-officedocument.drawingml.chart+xml"/>
  <Override PartName="/ppt/charts/chart76.xml" ContentType="application/vnd.openxmlformats-officedocument.drawingml.chart+xml"/>
  <Override PartName="/ppt/charts/chart771.xml" ContentType="application/vnd.openxmlformats-officedocument.drawingml.chart+xml"/>
  <Override PartName="/ppt/charts/chart772.xml" ContentType="application/vnd.openxmlformats-officedocument.drawingml.chart+xml"/>
  <Override PartName="/ppt/charts/chart773.xml" ContentType="application/vnd.openxmlformats-officedocument.drawingml.chart+xml"/>
  <Override PartName="/ppt/charts/chart774.xml" ContentType="application/vnd.openxmlformats-officedocument.drawingml.chart+xml"/>
  <Override PartName="/ppt/charts/chart775.xml" ContentType="application/vnd.openxmlformats-officedocument.drawingml.chart+xml"/>
  <Override PartName="/ppt/charts/chart776.xml" ContentType="application/vnd.openxmlformats-officedocument.drawingml.chart+xml"/>
  <Override PartName="/ppt/charts/chart777.xml" ContentType="application/vnd.openxmlformats-officedocument.drawingml.chart+xml"/>
  <Override PartName="/ppt/charts/chart778.xml" ContentType="application/vnd.openxmlformats-officedocument.drawingml.chart+xml"/>
  <Override PartName="/ppt/charts/chart78.xml" ContentType="application/vnd.openxmlformats-officedocument.drawingml.chart+xml"/>
  <Override PartName="/ppt/charts/chart79.xml" ContentType="application/vnd.openxmlformats-officedocument.drawingml.chart+xml"/>
  <Override PartName="/ppt/charts/chart797.xml" ContentType="application/vnd.openxmlformats-officedocument.drawingml.chart+xml"/>
  <Override PartName="/ppt/charts/chart798.xml" ContentType="application/vnd.openxmlformats-officedocument.drawingml.chart+xml"/>
  <Override PartName="/ppt/charts/chart799.xml" ContentType="application/vnd.openxmlformats-officedocument.drawingml.chart+xml"/>
  <Override PartName="/ppt/charts/chart8.xml" ContentType="application/vnd.openxmlformats-officedocument.drawingml.chart+xml"/>
  <Override PartName="/ppt/charts/chart80.xml" ContentType="application/vnd.openxmlformats-officedocument.drawingml.chart+xml"/>
  <Override PartName="/ppt/charts/chart800.xml" ContentType="application/vnd.openxmlformats-officedocument.drawingml.chart+xml"/>
  <Override PartName="/ppt/charts/chart801.xml" ContentType="application/vnd.openxmlformats-officedocument.drawingml.chart+xml"/>
  <Override PartName="/ppt/charts/chart802.xml" ContentType="application/vnd.openxmlformats-officedocument.drawingml.chart+xml"/>
  <Override PartName="/ppt/charts/chart803.xml" ContentType="application/vnd.openxmlformats-officedocument.drawingml.chart+xml"/>
  <Override PartName="/ppt/charts/chart804.xml" ContentType="application/vnd.openxmlformats-officedocument.drawingml.chart+xml"/>
  <Override PartName="/ppt/charts/chart81.xml" ContentType="application/vnd.openxmlformats-officedocument.drawingml.chart+xml"/>
  <Override PartName="/ppt/charts/chart823.xml" ContentType="application/vnd.openxmlformats-officedocument.drawingml.chart+xml"/>
  <Override PartName="/ppt/charts/chart824.xml" ContentType="application/vnd.openxmlformats-officedocument.drawingml.chart+xml"/>
  <Override PartName="/ppt/charts/chart825.xml" ContentType="application/vnd.openxmlformats-officedocument.drawingml.chart+xml"/>
  <Override PartName="/ppt/charts/chart826.xml" ContentType="application/vnd.openxmlformats-officedocument.drawingml.chart+xml"/>
  <Override PartName="/ppt/charts/chart827.xml" ContentType="application/vnd.openxmlformats-officedocument.drawingml.chart+xml"/>
  <Override PartName="/ppt/charts/chart828.xml" ContentType="application/vnd.openxmlformats-officedocument.drawingml.chart+xml"/>
  <Override PartName="/ppt/charts/chart829.xml" ContentType="application/vnd.openxmlformats-officedocument.drawingml.chart+xml"/>
  <Override PartName="/ppt/charts/chart830.xml" ContentType="application/vnd.openxmlformats-officedocument.drawingml.chart+xml"/>
  <Override PartName="/ppt/charts/chart849.xml" ContentType="application/vnd.openxmlformats-officedocument.drawingml.chart+xml"/>
  <Override PartName="/ppt/charts/chart850.xml" ContentType="application/vnd.openxmlformats-officedocument.drawingml.chart+xml"/>
  <Override PartName="/ppt/charts/chart851.xml" ContentType="application/vnd.openxmlformats-officedocument.drawingml.chart+xml"/>
  <Override PartName="/ppt/charts/chart852.xml" ContentType="application/vnd.openxmlformats-officedocument.drawingml.chart+xml"/>
  <Override PartName="/ppt/charts/chart853.xml" ContentType="application/vnd.openxmlformats-officedocument.drawingml.chart+xml"/>
  <Override PartName="/ppt/charts/chart854.xml" ContentType="application/vnd.openxmlformats-officedocument.drawingml.chart+xml"/>
  <Override PartName="/ppt/charts/chart855.xml" ContentType="application/vnd.openxmlformats-officedocument.drawingml.chart+xml"/>
  <Override PartName="/ppt/charts/chart856.xml" ContentType="application/vnd.openxmlformats-officedocument.drawingml.chart+xml"/>
  <Override PartName="/ppt/charts/chart86.xml" ContentType="application/vnd.openxmlformats-officedocument.drawingml.chart+xml"/>
  <Override PartName="/ppt/charts/chart875.xml" ContentType="application/vnd.openxmlformats-officedocument.drawingml.chart+xml"/>
  <Override PartName="/ppt/charts/chart876.xml" ContentType="application/vnd.openxmlformats-officedocument.drawingml.chart+xml"/>
  <Override PartName="/ppt/charts/chart877.xml" ContentType="application/vnd.openxmlformats-officedocument.drawingml.chart+xml"/>
  <Override PartName="/ppt/charts/chart878.xml" ContentType="application/vnd.openxmlformats-officedocument.drawingml.chart+xml"/>
  <Override PartName="/ppt/charts/chart879.xml" ContentType="application/vnd.openxmlformats-officedocument.drawingml.chart+xml"/>
  <Override PartName="/ppt/charts/chart880.xml" ContentType="application/vnd.openxmlformats-officedocument.drawingml.chart+xml"/>
  <Override PartName="/ppt/charts/chart881.xml" ContentType="application/vnd.openxmlformats-officedocument.drawingml.chart+xml"/>
  <Override PartName="/ppt/charts/chart882.xml" ContentType="application/vnd.openxmlformats-officedocument.drawingml.chart+xml"/>
  <Override PartName="/ppt/charts/chart9.xml" ContentType="application/vnd.openxmlformats-officedocument.drawingml.chart+xml"/>
  <Override PartName="/ppt/charts/chart901.xml" ContentType="application/vnd.openxmlformats-officedocument.drawingml.chart+xml"/>
  <Override PartName="/ppt/charts/chart902.xml" ContentType="application/vnd.openxmlformats-officedocument.drawingml.chart+xml"/>
  <Override PartName="/ppt/charts/chart903.xml" ContentType="application/vnd.openxmlformats-officedocument.drawingml.chart+xml"/>
  <Override PartName="/ppt/charts/chart904.xml" ContentType="application/vnd.openxmlformats-officedocument.drawingml.chart+xml"/>
  <Override PartName="/ppt/charts/chart905.xml" ContentType="application/vnd.openxmlformats-officedocument.drawingml.chart+xml"/>
  <Override PartName="/ppt/charts/chart906.xml" ContentType="application/vnd.openxmlformats-officedocument.drawingml.chart+xml"/>
  <Override PartName="/ppt/charts/chart907.xml" ContentType="application/vnd.openxmlformats-officedocument.drawingml.chart+xml"/>
  <Override PartName="/ppt/charts/chart908.xml" ContentType="application/vnd.openxmlformats-officedocument.drawingml.chart+xml"/>
  <Override PartName="/ppt/charts/chart927.xml" ContentType="application/vnd.openxmlformats-officedocument.drawingml.chart+xml"/>
  <Override PartName="/ppt/charts/chart928.xml" ContentType="application/vnd.openxmlformats-officedocument.drawingml.chart+xml"/>
  <Override PartName="/ppt/charts/chart929.xml" ContentType="application/vnd.openxmlformats-officedocument.drawingml.chart+xml"/>
  <Override PartName="/ppt/charts/chart930.xml" ContentType="application/vnd.openxmlformats-officedocument.drawingml.chart+xml"/>
  <Override PartName="/ppt/charts/chart931.xml" ContentType="application/vnd.openxmlformats-officedocument.drawingml.chart+xml"/>
  <Override PartName="/ppt/charts/chart932.xml" ContentType="application/vnd.openxmlformats-officedocument.drawingml.chart+xml"/>
  <Override PartName="/ppt/charts/chart933.xml" ContentType="application/vnd.openxmlformats-officedocument.drawingml.chart+xml"/>
  <Override PartName="/ppt/charts/chart934.xml" ContentType="application/vnd.openxmlformats-officedocument.drawingml.chart+xml"/>
  <Override PartName="/ppt/charts/chart95.xml" ContentType="application/vnd.openxmlformats-officedocument.drawingml.chart+xml"/>
  <Override PartName="/ppt/charts/chart953.xml" ContentType="application/vnd.openxmlformats-officedocument.drawingml.chart+xml"/>
  <Override PartName="/ppt/charts/chart954.xml" ContentType="application/vnd.openxmlformats-officedocument.drawingml.chart+xml"/>
  <Override PartName="/ppt/charts/chart955.xml" ContentType="application/vnd.openxmlformats-officedocument.drawingml.chart+xml"/>
  <Override PartName="/ppt/charts/chart956.xml" ContentType="application/vnd.openxmlformats-officedocument.drawingml.chart+xml"/>
  <Override PartName="/ppt/charts/chart957.xml" ContentType="application/vnd.openxmlformats-officedocument.drawingml.chart+xml"/>
  <Override PartName="/ppt/charts/chart958.xml" ContentType="application/vnd.openxmlformats-officedocument.drawingml.chart+xml"/>
  <Override PartName="/ppt/charts/chart959.xml" ContentType="application/vnd.openxmlformats-officedocument.drawingml.chart+xml"/>
  <Override PartName="/ppt/charts/chart960.xml" ContentType="application/vnd.openxmlformats-officedocument.drawingml.chart+xml"/>
  <Override PartName="/ppt/charts/chart979.xml" ContentType="application/vnd.openxmlformats-officedocument.drawingml.chart+xml"/>
  <Override PartName="/ppt/charts/chart980.xml" ContentType="application/vnd.openxmlformats-officedocument.drawingml.chart+xml"/>
  <Override PartName="/ppt/charts/chart981.xml" ContentType="application/vnd.openxmlformats-officedocument.drawingml.chart+xml"/>
  <Override PartName="/ppt/charts/chart982.xml" ContentType="application/vnd.openxmlformats-officedocument.drawingml.chart+xml"/>
  <Override PartName="/ppt/charts/chart983.xml" ContentType="application/vnd.openxmlformats-officedocument.drawingml.chart+xml"/>
  <Override PartName="/ppt/charts/chart984.xml" ContentType="application/vnd.openxmlformats-officedocument.drawingml.chart+xml"/>
  <Override PartName="/ppt/charts/chart985.xml" ContentType="application/vnd.openxmlformats-officedocument.drawingml.chart+xml"/>
  <Override PartName="/ppt/charts/chart986.xml" ContentType="application/vnd.openxmlformats-officedocument.drawingml.chart+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27.xml" ContentType="application/vnd.openxmlformats-officedocument.presentationml.notesSlide+xml"/>
  <Override PartName="/ppt/notesSlides/notesSlide1028.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5.xml" ContentType="application/vnd.openxmlformats-officedocument.presentationml.notesSlide+xml"/>
  <Override PartName="/ppt/notesSlides/notesSlide106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03.xml" ContentType="application/vnd.openxmlformats-officedocument.presentationml.notesSlide+xml"/>
  <Override PartName="/ppt/notesSlides/notesSlide1104.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41.xml" ContentType="application/vnd.openxmlformats-officedocument.presentationml.notesSlide+xml"/>
  <Override PartName="/ppt/notesSlides/notesSlide1142.xml" ContentType="application/vnd.openxmlformats-officedocument.presentationml.notesSlide+xml"/>
  <Override PartName="/ppt/notesSlides/notesSlide1179.xml" ContentType="application/vnd.openxmlformats-officedocument.presentationml.notesSlide+xml"/>
  <Override PartName="/ppt/notesSlides/notesSlide1180.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17.xml" ContentType="application/vnd.openxmlformats-officedocument.presentationml.notesSlide+xml"/>
  <Override PartName="/ppt/notesSlides/notesSlide1218.xml" ContentType="application/vnd.openxmlformats-officedocument.presentationml.notesSlide+xml"/>
  <Override PartName="/ppt/notesSlides/notesSlide122.xml" ContentType="application/vnd.openxmlformats-officedocument.presentationml.notesSlide+xml"/>
  <Override PartName="/ppt/notesSlides/notesSlide1256.xml" ContentType="application/vnd.openxmlformats-officedocument.presentationml.notesSlide+xml"/>
  <Override PartName="/ppt/notesSlides/notesSlide1257.xml" ContentType="application/vnd.openxmlformats-officedocument.presentationml.notesSlide+xml"/>
  <Override PartName="/ppt/notesSlides/notesSlide128.xml" ContentType="application/vnd.openxmlformats-officedocument.presentationml.notesSlide+xml"/>
  <Override PartName="/ppt/notesSlides/notesSlide1294.xml" ContentType="application/vnd.openxmlformats-officedocument.presentationml.notesSlide+xml"/>
  <Override PartName="/ppt/notesSlides/notesSlide1295.xml" ContentType="application/vnd.openxmlformats-officedocument.presentationml.notesSlide+xml"/>
  <Override PartName="/ppt/notesSlides/notesSlide13.xml" ContentType="application/vnd.openxmlformats-officedocument.presentationml.notesSlide+xml"/>
  <Override PartName="/ppt/notesSlides/notesSlide133.xml" ContentType="application/vnd.openxmlformats-officedocument.presentationml.notesSlide+xml"/>
  <Override PartName="/ppt/notesSlides/notesSlide1332.xml" ContentType="application/vnd.openxmlformats-officedocument.presentationml.notesSlide+xml"/>
  <Override PartName="/ppt/notesSlides/notesSlide1333.xml" ContentType="application/vnd.openxmlformats-officedocument.presentationml.notesSlide+xml"/>
  <Override PartName="/ppt/notesSlides/notesSlide134.xml" ContentType="application/vnd.openxmlformats-officedocument.presentationml.notesSlide+xml"/>
  <Override PartName="/ppt/notesSlides/notesSlide1370.xml" ContentType="application/vnd.openxmlformats-officedocument.presentationml.notesSlide+xml"/>
  <Override PartName="/ppt/notesSlides/notesSlide1371.xml" ContentType="application/vnd.openxmlformats-officedocument.presentationml.notesSlide+xml"/>
  <Override PartName="/ppt/notesSlides/notesSlide14.xml" ContentType="application/vnd.openxmlformats-officedocument.presentationml.notesSlide+xml"/>
  <Override PartName="/ppt/notesSlides/notesSlide1408.xml" ContentType="application/vnd.openxmlformats-officedocument.presentationml.notesSlide+xml"/>
  <Override PartName="/ppt/notesSlides/notesSlide1409.xml" ContentType="application/vnd.openxmlformats-officedocument.presentationml.notesSlide+xml"/>
  <Override PartName="/ppt/notesSlides/notesSlide141.xml" ContentType="application/vnd.openxmlformats-officedocument.presentationml.notesSlide+xml"/>
  <Override PartName="/ppt/notesSlides/notesSlide1446.xml" ContentType="application/vnd.openxmlformats-officedocument.presentationml.notesSlide+xml"/>
  <Override PartName="/ppt/notesSlides/notesSlide1447.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5.xml" ContentType="application/vnd.openxmlformats-officedocument.presentationml.notesSlide+xml"/>
  <Override PartName="/ppt/notesSlides/notesSlide1486.xml" ContentType="application/vnd.openxmlformats-officedocument.presentationml.notesSlide+xml"/>
  <Override PartName="/ppt/notesSlides/notesSlide15.xml" ContentType="application/vnd.openxmlformats-officedocument.presentationml.notesSlide+xml"/>
  <Override PartName="/ppt/notesSlides/notesSlide1523.xml" ContentType="application/vnd.openxmlformats-officedocument.presentationml.notesSlide+xml"/>
  <Override PartName="/ppt/notesSlides/notesSlide1524.xml" ContentType="application/vnd.openxmlformats-officedocument.presentationml.notesSlide+xml"/>
  <Override PartName="/ppt/notesSlides/notesSlide155.xml" ContentType="application/vnd.openxmlformats-officedocument.presentationml.notesSlide+xml"/>
  <Override PartName="/ppt/notesSlides/notesSlide1562.xml" ContentType="application/vnd.openxmlformats-officedocument.presentationml.notesSlide+xml"/>
  <Override PartName="/ppt/notesSlides/notesSlide1563.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01.xml" ContentType="application/vnd.openxmlformats-officedocument.presentationml.notesSlide+xml"/>
  <Override PartName="/ppt/notesSlides/notesSlide1602.xml" ContentType="application/vnd.openxmlformats-officedocument.presentationml.notesSlide+xml"/>
  <Override PartName="/ppt/notesSlides/notesSlide1640.xml" ContentType="application/vnd.openxmlformats-officedocument.presentationml.notesSlide+xml"/>
  <Override PartName="/ppt/notesSlides/notesSlide1641.xml" ContentType="application/vnd.openxmlformats-officedocument.presentationml.notesSlide+xml"/>
  <Override PartName="/ppt/notesSlides/notesSlide165.xml" ContentType="application/vnd.openxmlformats-officedocument.presentationml.notesSlide+xml"/>
  <Override PartName="/ppt/notesSlides/notesSlide1679.xml" ContentType="application/vnd.openxmlformats-officedocument.presentationml.notesSlide+xml"/>
  <Override PartName="/ppt/notesSlides/notesSlide168.xml" ContentType="application/vnd.openxmlformats-officedocument.presentationml.notesSlide+xml"/>
  <Override PartName="/ppt/notesSlides/notesSlide1680.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18.xml" ContentType="application/vnd.openxmlformats-officedocument.presentationml.notesSlide+xml"/>
  <Override PartName="/ppt/notesSlides/notesSlide1719.xml" ContentType="application/vnd.openxmlformats-officedocument.presentationml.notesSlide+xml"/>
  <Override PartName="/ppt/notesSlides/notesSlide1756.xml" ContentType="application/vnd.openxmlformats-officedocument.presentationml.notesSlide+xml"/>
  <Override PartName="/ppt/notesSlides/notesSlide1757.xml" ContentType="application/vnd.openxmlformats-officedocument.presentationml.notesSlide+xml"/>
  <Override PartName="/ppt/notesSlides/notesSlide179.xml" ContentType="application/vnd.openxmlformats-officedocument.presentationml.notesSlide+xml"/>
  <Override PartName="/ppt/notesSlides/notesSlide1795.xml" ContentType="application/vnd.openxmlformats-officedocument.presentationml.notesSlide+xml"/>
  <Override PartName="/ppt/notesSlides/notesSlide1796.xml" ContentType="application/vnd.openxmlformats-officedocument.presentationml.notesSlide+xml"/>
  <Override PartName="/ppt/notesSlides/notesSlide18.xml" ContentType="application/vnd.openxmlformats-officedocument.presentationml.notesSlide+xml"/>
  <Override PartName="/ppt/notesSlides/notesSlide1833.xml" ContentType="application/vnd.openxmlformats-officedocument.presentationml.notesSlide+xml"/>
  <Override PartName="/ppt/notesSlides/notesSlide1834.xml" ContentType="application/vnd.openxmlformats-officedocument.presentationml.notesSlide+xml"/>
  <Override PartName="/ppt/notesSlides/notesSlide187.xml" ContentType="application/vnd.openxmlformats-officedocument.presentationml.notesSlide+xml"/>
  <Override PartName="/ppt/notesSlides/notesSlide1871.xml" ContentType="application/vnd.openxmlformats-officedocument.presentationml.notesSlide+xml"/>
  <Override PartName="/ppt/notesSlides/notesSlide1872.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8.xml" ContentType="application/vnd.openxmlformats-officedocument.presentationml.notesSlide+xml"/>
  <Override PartName="/ppt/notesSlides/notesSlide21.xml" ContentType="application/vnd.openxmlformats-officedocument.presentationml.notesSlide+xml"/>
  <Override PartName="/ppt/notesSlides/notesSlide211.xml" ContentType="application/vnd.openxmlformats-officedocument.presentationml.notesSlide+xml"/>
  <Override PartName="/ppt/notesSlides/notesSlide217.xml" ContentType="application/vnd.openxmlformats-officedocument.presentationml.notesSlide+xml"/>
  <Override PartName="/ppt/notesSlides/notesSlide22.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4.xml" ContentType="application/vnd.openxmlformats-officedocument.presentationml.notesSlide+xml"/>
  <Override PartName="/ppt/notesSlides/notesSlide244.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4.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68.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0.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8.xml" ContentType="application/vnd.openxmlformats-officedocument.presentationml.notesSlide+xml"/>
  <Override PartName="/ppt/notesSlides/notesSlide30.xml" ContentType="application/vnd.openxmlformats-officedocument.presentationml.notesSlide+xml"/>
  <Override PartName="/ppt/notesSlides/notesSlide301.xml" ContentType="application/vnd.openxmlformats-officedocument.presentationml.notesSlide+xml"/>
  <Override PartName="/ppt/notesSlides/notesSlide307.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20.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3.xml" ContentType="application/vnd.openxmlformats-officedocument.presentationml.notesSlide+xml"/>
  <Override PartName="/ppt/notesSlides/notesSlide334.xml" ContentType="application/vnd.openxmlformats-officedocument.presentationml.notesSlide+xml"/>
  <Override PartName="/ppt/notesSlides/notesSlide339.xml" ContentType="application/vnd.openxmlformats-officedocument.presentationml.notesSlide+xml"/>
  <Override PartName="/ppt/notesSlides/notesSlide344.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58.xml" ContentType="application/vnd.openxmlformats-officedocument.presentationml.notesSlide+xml"/>
  <Override PartName="/ppt/notesSlides/notesSlide366.xml" ContentType="application/vnd.openxmlformats-officedocument.presentationml.notesSlide+xml"/>
  <Override PartName="/ppt/notesSlides/notesSlide367.xml" ContentType="application/vnd.openxmlformats-officedocument.presentationml.notesSlide+xml"/>
  <Override PartName="/ppt/notesSlides/notesSlide368.xml" ContentType="application/vnd.openxmlformats-officedocument.presentationml.notesSlide+xml"/>
  <Override PartName="/ppt/notesSlides/notesSlide369.xml" ContentType="application/vnd.openxmlformats-officedocument.presentationml.notesSlide+xml"/>
  <Override PartName="/ppt/notesSlides/notesSlide370.xml" ContentType="application/vnd.openxmlformats-officedocument.presentationml.notesSlide+xml"/>
  <Override PartName="/ppt/notesSlides/notesSlide372.xml" ContentType="application/vnd.openxmlformats-officedocument.presentationml.notesSlide+xml"/>
  <Override PartName="/ppt/notesSlides/notesSlide373.xml" ContentType="application/vnd.openxmlformats-officedocument.presentationml.notesSlide+xml"/>
  <Override PartName="/ppt/notesSlides/notesSlide375.xml" ContentType="application/vnd.openxmlformats-officedocument.presentationml.notesSlide+xml"/>
  <Override PartName="/ppt/notesSlides/notesSlide376.xml" ContentType="application/vnd.openxmlformats-officedocument.presentationml.notesSlide+xml"/>
  <Override PartName="/ppt/notesSlides/notesSlide377.xml" ContentType="application/vnd.openxmlformats-officedocument.presentationml.notesSlide+xml"/>
  <Override PartName="/ppt/notesSlides/notesSlide378.xml" ContentType="application/vnd.openxmlformats-officedocument.presentationml.notesSlide+xml"/>
  <Override PartName="/ppt/notesSlides/notesSlide379.xml" ContentType="application/vnd.openxmlformats-officedocument.presentationml.notesSlide+xml"/>
  <Override PartName="/ppt/notesSlides/notesSlide380.xml" ContentType="application/vnd.openxmlformats-officedocument.presentationml.notesSlide+xml"/>
  <Override PartName="/ppt/notesSlides/notesSlide381.xml" ContentType="application/vnd.openxmlformats-officedocument.presentationml.notesSlide+xml"/>
  <Override PartName="/ppt/notesSlides/notesSlide382.xml" ContentType="application/vnd.openxmlformats-officedocument.presentationml.notesSlide+xml"/>
  <Override PartName="/ppt/notesSlides/notesSlide387.xml" ContentType="application/vnd.openxmlformats-officedocument.presentationml.notesSlide+xml"/>
  <Override PartName="/ppt/notesSlides/notesSlide39.xml" ContentType="application/vnd.openxmlformats-officedocument.presentationml.notesSlide+xml"/>
  <Override PartName="/ppt/notesSlides/notesSlide390.xml" ContentType="application/vnd.openxmlformats-officedocument.presentationml.notesSlide+xml"/>
  <Override PartName="/ppt/notesSlides/notesSlide396.xml" ContentType="application/vnd.openxmlformats-officedocument.presentationml.notesSlide+xml"/>
  <Override PartName="/ppt/notesSlides/notesSlide401.xml" ContentType="application/vnd.openxmlformats-officedocument.presentationml.notesSlide+xml"/>
  <Override PartName="/ppt/notesSlides/notesSlide402.xml" ContentType="application/vnd.openxmlformats-officedocument.presentationml.notesSlide+xml"/>
  <Override PartName="/ppt/notesSlides/notesSlide409.xml" ContentType="application/vnd.openxmlformats-officedocument.presentationml.notesSlide+xml"/>
  <Override PartName="/ppt/notesSlides/notesSlide414.xml" ContentType="application/vnd.openxmlformats-officedocument.presentationml.notesSlide+xml"/>
  <Override PartName="/ppt/notesSlides/notesSlide415.xml" ContentType="application/vnd.openxmlformats-officedocument.presentationml.notesSlide+xml"/>
  <Override PartName="/ppt/notesSlides/notesSlide423.xml" ContentType="application/vnd.openxmlformats-officedocument.presentationml.notesSlide+xml"/>
  <Override PartName="/ppt/notesSlides/notesSlide428.xml" ContentType="application/vnd.openxmlformats-officedocument.presentationml.notesSlide+xml"/>
  <Override PartName="/ppt/notesSlides/notesSlide433.xml" ContentType="application/vnd.openxmlformats-officedocument.presentationml.notesSlide+xml"/>
  <Override PartName="/ppt/notesSlides/notesSlide436.xml" ContentType="application/vnd.openxmlformats-officedocument.presentationml.notesSlide+xml"/>
  <Override PartName="/ppt/notesSlides/notesSlide437.xml" ContentType="application/vnd.openxmlformats-officedocument.presentationml.notesSlide+xml"/>
  <Override PartName="/ppt/notesSlides/notesSlide44.xml" ContentType="application/vnd.openxmlformats-officedocument.presentationml.notesSlide+xml"/>
  <Override PartName="/ppt/notesSlides/notesSlide447.xml" ContentType="application/vnd.openxmlformats-officedocument.presentationml.notesSlide+xml"/>
  <Override PartName="/ppt/notesSlides/notesSlide45.xml" ContentType="application/vnd.openxmlformats-officedocument.presentationml.notesSlide+xml"/>
  <Override PartName="/ppt/notesSlides/notesSlide455.xml" ContentType="application/vnd.openxmlformats-officedocument.presentationml.notesSlide+xml"/>
  <Override PartName="/ppt/notesSlides/notesSlide456.xml" ContentType="application/vnd.openxmlformats-officedocument.presentationml.notesSlide+xml"/>
  <Override PartName="/ppt/notesSlides/notesSlide457.xml" ContentType="application/vnd.openxmlformats-officedocument.presentationml.notesSlide+xml"/>
  <Override PartName="/ppt/notesSlides/notesSlide458.xml" ContentType="application/vnd.openxmlformats-officedocument.presentationml.notesSlide+xml"/>
  <Override PartName="/ppt/notesSlides/notesSlide459.xml" ContentType="application/vnd.openxmlformats-officedocument.presentationml.notesSlide+xml"/>
  <Override PartName="/ppt/notesSlides/notesSlide461.xml" ContentType="application/vnd.openxmlformats-officedocument.presentationml.notesSlide+xml"/>
  <Override PartName="/ppt/notesSlides/notesSlide462.xml" ContentType="application/vnd.openxmlformats-officedocument.presentationml.notesSlide+xml"/>
  <Override PartName="/ppt/notesSlides/notesSlide464.xml" ContentType="application/vnd.openxmlformats-officedocument.presentationml.notesSlide+xml"/>
  <Override PartName="/ppt/notesSlides/notesSlide465.xml" ContentType="application/vnd.openxmlformats-officedocument.presentationml.notesSlide+xml"/>
  <Override PartName="/ppt/notesSlides/notesSlide466.xml" ContentType="application/vnd.openxmlformats-officedocument.presentationml.notesSlide+xml"/>
  <Override PartName="/ppt/notesSlides/notesSlide467.xml" ContentType="application/vnd.openxmlformats-officedocument.presentationml.notesSlide+xml"/>
  <Override PartName="/ppt/notesSlides/notesSlide468.xml" ContentType="application/vnd.openxmlformats-officedocument.presentationml.notesSlide+xml"/>
  <Override PartName="/ppt/notesSlides/notesSlide469.xml" ContentType="application/vnd.openxmlformats-officedocument.presentationml.notesSlide+xml"/>
  <Override PartName="/ppt/notesSlides/notesSlide470.xml" ContentType="application/vnd.openxmlformats-officedocument.presentationml.notesSlide+xml"/>
  <Override PartName="/ppt/notesSlides/notesSlide471.xml" ContentType="application/vnd.openxmlformats-officedocument.presentationml.notesSlide+xml"/>
  <Override PartName="/ppt/notesSlides/notesSlide476.xml" ContentType="application/vnd.openxmlformats-officedocument.presentationml.notesSlide+xml"/>
  <Override PartName="/ppt/notesSlides/notesSlide479.xml" ContentType="application/vnd.openxmlformats-officedocument.presentationml.notesSlide+xml"/>
  <Override PartName="/ppt/notesSlides/notesSlide485.xml" ContentType="application/vnd.openxmlformats-officedocument.presentationml.notesSlide+xml"/>
  <Override PartName="/ppt/notesSlides/notesSlide490.xml" ContentType="application/vnd.openxmlformats-officedocument.presentationml.notesSlide+xml"/>
  <Override PartName="/ppt/notesSlides/notesSlide491.xml" ContentType="application/vnd.openxmlformats-officedocument.presentationml.notesSlide+xml"/>
  <Override PartName="/ppt/notesSlides/notesSlide498.xml" ContentType="application/vnd.openxmlformats-officedocument.presentationml.notesSlide+xml"/>
  <Override PartName="/ppt/notesSlides/notesSlide503.xml" ContentType="application/vnd.openxmlformats-officedocument.presentationml.notesSlide+xml"/>
  <Override PartName="/ppt/notesSlides/notesSlide504.xml" ContentType="application/vnd.openxmlformats-officedocument.presentationml.notesSlide+xml"/>
  <Override PartName="/ppt/notesSlides/notesSlide512.xml" ContentType="application/vnd.openxmlformats-officedocument.presentationml.notesSlide+xml"/>
  <Override PartName="/ppt/notesSlides/notesSlide517.xml" ContentType="application/vnd.openxmlformats-officedocument.presentationml.notesSlide+xml"/>
  <Override PartName="/ppt/notesSlides/notesSlide52.xml" ContentType="application/vnd.openxmlformats-officedocument.presentationml.notesSlide+xml"/>
  <Override PartName="/ppt/notesSlides/notesSlide522.xml" ContentType="application/vnd.openxmlformats-officedocument.presentationml.notesSlide+xml"/>
  <Override PartName="/ppt/notesSlides/notesSlide525.xml" ContentType="application/vnd.openxmlformats-officedocument.presentationml.notesSlide+xml"/>
  <Override PartName="/ppt/notesSlides/notesSlide526.xml" ContentType="application/vnd.openxmlformats-officedocument.presentationml.notesSlide+xml"/>
  <Override PartName="/ppt/notesSlides/notesSlide536.xml" ContentType="application/vnd.openxmlformats-officedocument.presentationml.notesSlide+xml"/>
  <Override PartName="/ppt/notesSlides/notesSlide544.xml" ContentType="application/vnd.openxmlformats-officedocument.presentationml.notesSlide+xml"/>
  <Override PartName="/ppt/notesSlides/notesSlide545.xml" ContentType="application/vnd.openxmlformats-officedocument.presentationml.notesSlide+xml"/>
  <Override PartName="/ppt/notesSlides/notesSlide546.xml" ContentType="application/vnd.openxmlformats-officedocument.presentationml.notesSlide+xml"/>
  <Override PartName="/ppt/notesSlides/notesSlide547.xml" ContentType="application/vnd.openxmlformats-officedocument.presentationml.notesSlide+xml"/>
  <Override PartName="/ppt/notesSlides/notesSlide548.xml" ContentType="application/vnd.openxmlformats-officedocument.presentationml.notesSlide+xml"/>
  <Override PartName="/ppt/notesSlides/notesSlide550.xml" ContentType="application/vnd.openxmlformats-officedocument.presentationml.notesSlide+xml"/>
  <Override PartName="/ppt/notesSlides/notesSlide551.xml" ContentType="application/vnd.openxmlformats-officedocument.presentationml.notesSlide+xml"/>
  <Override PartName="/ppt/notesSlides/notesSlide553.xml" ContentType="application/vnd.openxmlformats-officedocument.presentationml.notesSlide+xml"/>
  <Override PartName="/ppt/notesSlides/notesSlide554.xml" ContentType="application/vnd.openxmlformats-officedocument.presentationml.notesSlide+xml"/>
  <Override PartName="/ppt/notesSlides/notesSlide555.xml" ContentType="application/vnd.openxmlformats-officedocument.presentationml.notesSlide+xml"/>
  <Override PartName="/ppt/notesSlides/notesSlide556.xml" ContentType="application/vnd.openxmlformats-officedocument.presentationml.notesSlide+xml"/>
  <Override PartName="/ppt/notesSlides/notesSlide557.xml" ContentType="application/vnd.openxmlformats-officedocument.presentationml.notesSlide+xml"/>
  <Override PartName="/ppt/notesSlides/notesSlide558.xml" ContentType="application/vnd.openxmlformats-officedocument.presentationml.notesSlide+xml"/>
  <Override PartName="/ppt/notesSlides/notesSlide559.xml" ContentType="application/vnd.openxmlformats-officedocument.presentationml.notesSlide+xml"/>
  <Override PartName="/ppt/notesSlides/notesSlide560.xml" ContentType="application/vnd.openxmlformats-officedocument.presentationml.notesSlide+xml"/>
  <Override PartName="/ppt/notesSlides/notesSlide565.xml" ContentType="application/vnd.openxmlformats-officedocument.presentationml.notesSlide+xml"/>
  <Override PartName="/ppt/notesSlides/notesSlide568.xml" ContentType="application/vnd.openxmlformats-officedocument.presentationml.notesSlide+xml"/>
  <Override PartName="/ppt/notesSlides/notesSlide57.xml" ContentType="application/vnd.openxmlformats-officedocument.presentationml.notesSlide+xml"/>
  <Override PartName="/ppt/notesSlides/notesSlide574.xml" ContentType="application/vnd.openxmlformats-officedocument.presentationml.notesSlide+xml"/>
  <Override PartName="/ppt/notesSlides/notesSlide579.xml" ContentType="application/vnd.openxmlformats-officedocument.presentationml.notesSlide+xml"/>
  <Override PartName="/ppt/notesSlides/notesSlide58.xml" ContentType="application/vnd.openxmlformats-officedocument.presentationml.notesSlide+xml"/>
  <Override PartName="/ppt/notesSlides/notesSlide580.xml" ContentType="application/vnd.openxmlformats-officedocument.presentationml.notesSlide+xml"/>
  <Override PartName="/ppt/notesSlides/notesSlide587.xml" ContentType="application/vnd.openxmlformats-officedocument.presentationml.notesSlide+xml"/>
  <Override PartName="/ppt/notesSlides/notesSlide592.xml" ContentType="application/vnd.openxmlformats-officedocument.presentationml.notesSlide+xml"/>
  <Override PartName="/ppt/notesSlides/notesSlide593.xml" ContentType="application/vnd.openxmlformats-officedocument.presentationml.notesSlide+xml"/>
  <Override PartName="/ppt/notesSlides/notesSlide601.xml" ContentType="application/vnd.openxmlformats-officedocument.presentationml.notesSlide+xml"/>
  <Override PartName="/ppt/notesSlides/notesSlide606.xml" ContentType="application/vnd.openxmlformats-officedocument.presentationml.notesSlide+xml"/>
  <Override PartName="/ppt/notesSlides/notesSlide611.xml" ContentType="application/vnd.openxmlformats-officedocument.presentationml.notesSlide+xml"/>
  <Override PartName="/ppt/notesSlides/notesSlide614.xml" ContentType="application/vnd.openxmlformats-officedocument.presentationml.notesSlide+xml"/>
  <Override PartName="/ppt/notesSlides/notesSlide615.xml" ContentType="application/vnd.openxmlformats-officedocument.presentationml.notesSlide+xml"/>
  <Override PartName="/ppt/notesSlides/notesSlide625.xml" ContentType="application/vnd.openxmlformats-officedocument.presentationml.notesSlide+xml"/>
  <Override PartName="/ppt/notesSlides/notesSlide633.xml" ContentType="application/vnd.openxmlformats-officedocument.presentationml.notesSlide+xml"/>
  <Override PartName="/ppt/notesSlides/notesSlide634.xml" ContentType="application/vnd.openxmlformats-officedocument.presentationml.notesSlide+xml"/>
  <Override PartName="/ppt/notesSlides/notesSlide635.xml" ContentType="application/vnd.openxmlformats-officedocument.presentationml.notesSlide+xml"/>
  <Override PartName="/ppt/notesSlides/notesSlide636.xml" ContentType="application/vnd.openxmlformats-officedocument.presentationml.notesSlide+xml"/>
  <Override PartName="/ppt/notesSlides/notesSlide637.xml" ContentType="application/vnd.openxmlformats-officedocument.presentationml.notesSlide+xml"/>
  <Override PartName="/ppt/notesSlides/notesSlide639.xml" ContentType="application/vnd.openxmlformats-officedocument.presentationml.notesSlide+xml"/>
  <Override PartName="/ppt/notesSlides/notesSlide640.xml" ContentType="application/vnd.openxmlformats-officedocument.presentationml.notesSlide+xml"/>
  <Override PartName="/ppt/notesSlides/notesSlide642.xml" ContentType="application/vnd.openxmlformats-officedocument.presentationml.notesSlide+xml"/>
  <Override PartName="/ppt/notesSlides/notesSlide643.xml" ContentType="application/vnd.openxmlformats-officedocument.presentationml.notesSlide+xml"/>
  <Override PartName="/ppt/notesSlides/notesSlide644.xml" ContentType="application/vnd.openxmlformats-officedocument.presentationml.notesSlide+xml"/>
  <Override PartName="/ppt/notesSlides/notesSlide645.xml" ContentType="application/vnd.openxmlformats-officedocument.presentationml.notesSlide+xml"/>
  <Override PartName="/ppt/notesSlides/notesSlide646.xml" ContentType="application/vnd.openxmlformats-officedocument.presentationml.notesSlide+xml"/>
  <Override PartName="/ppt/notesSlides/notesSlide647.xml" ContentType="application/vnd.openxmlformats-officedocument.presentationml.notesSlide+xml"/>
  <Override PartName="/ppt/notesSlides/notesSlide648.xml" ContentType="application/vnd.openxmlformats-officedocument.presentationml.notesSlide+xml"/>
  <Override PartName="/ppt/notesSlides/notesSlide649.xml" ContentType="application/vnd.openxmlformats-officedocument.presentationml.notesSlide+xml"/>
  <Override PartName="/ppt/notesSlides/notesSlide654.xml" ContentType="application/vnd.openxmlformats-officedocument.presentationml.notesSlide+xml"/>
  <Override PartName="/ppt/notesSlides/notesSlide657.xml" ContentType="application/vnd.openxmlformats-officedocument.presentationml.notesSlide+xml"/>
  <Override PartName="/ppt/notesSlides/notesSlide66.xml" ContentType="application/vnd.openxmlformats-officedocument.presentationml.notesSlide+xml"/>
  <Override PartName="/ppt/notesSlides/notesSlide663.xml" ContentType="application/vnd.openxmlformats-officedocument.presentationml.notesSlide+xml"/>
  <Override PartName="/ppt/notesSlides/notesSlide668.xml" ContentType="application/vnd.openxmlformats-officedocument.presentationml.notesSlide+xml"/>
  <Override PartName="/ppt/notesSlides/notesSlide669.xml" ContentType="application/vnd.openxmlformats-officedocument.presentationml.notesSlide+xml"/>
  <Override PartName="/ppt/notesSlides/notesSlide676.xml" ContentType="application/vnd.openxmlformats-officedocument.presentationml.notesSlide+xml"/>
  <Override PartName="/ppt/notesSlides/notesSlide681.xml" ContentType="application/vnd.openxmlformats-officedocument.presentationml.notesSlide+xml"/>
  <Override PartName="/ppt/notesSlides/notesSlide682.xml" ContentType="application/vnd.openxmlformats-officedocument.presentationml.notesSlide+xml"/>
  <Override PartName="/ppt/notesSlides/notesSlide690.xml" ContentType="application/vnd.openxmlformats-officedocument.presentationml.notesSlide+xml"/>
  <Override PartName="/ppt/notesSlides/notesSlide695.xml" ContentType="application/vnd.openxmlformats-officedocument.presentationml.notesSlide+xml"/>
  <Override PartName="/ppt/notesSlides/notesSlide700.xml" ContentType="application/vnd.openxmlformats-officedocument.presentationml.notesSlide+xml"/>
  <Override PartName="/ppt/notesSlides/notesSlide703.xml" ContentType="application/vnd.openxmlformats-officedocument.presentationml.notesSlide+xml"/>
  <Override PartName="/ppt/notesSlides/notesSlide704.xml" ContentType="application/vnd.openxmlformats-officedocument.presentationml.notesSlide+xml"/>
  <Override PartName="/ppt/notesSlides/notesSlide71.xml" ContentType="application/vnd.openxmlformats-officedocument.presentationml.notesSlide+xml"/>
  <Override PartName="/ppt/notesSlides/notesSlide714.xml" ContentType="application/vnd.openxmlformats-officedocument.presentationml.notesSlide+xml"/>
  <Override PartName="/ppt/notesSlides/notesSlide722.xml" ContentType="application/vnd.openxmlformats-officedocument.presentationml.notesSlide+xml"/>
  <Override PartName="/ppt/notesSlides/notesSlide723.xml" ContentType="application/vnd.openxmlformats-officedocument.presentationml.notesSlide+xml"/>
  <Override PartName="/ppt/notesSlides/notesSlide76.xml" ContentType="application/vnd.openxmlformats-officedocument.presentationml.notesSlide+xml"/>
  <Override PartName="/ppt/notesSlides/notesSlide760.xml" ContentType="application/vnd.openxmlformats-officedocument.presentationml.notesSlide+xml"/>
  <Override PartName="/ppt/notesSlides/notesSlide761.xml" ContentType="application/vnd.openxmlformats-officedocument.presentationml.notesSlide+xml"/>
  <Override PartName="/ppt/notesSlides/notesSlide79.xml" ContentType="application/vnd.openxmlformats-officedocument.presentationml.notesSlide+xml"/>
  <Override PartName="/ppt/notesSlides/notesSlide798.xml" ContentType="application/vnd.openxmlformats-officedocument.presentationml.notesSlide+xml"/>
  <Override PartName="/ppt/notesSlides/notesSlide79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37.xml" ContentType="application/vnd.openxmlformats-officedocument.presentationml.notesSlide+xml"/>
  <Override PartName="/ppt/notesSlides/notesSlide838.xml" ContentType="application/vnd.openxmlformats-officedocument.presentationml.notesSlide+xml"/>
  <Override PartName="/ppt/notesSlides/notesSlide875.xml" ContentType="application/vnd.openxmlformats-officedocument.presentationml.notesSlide+xml"/>
  <Override PartName="/ppt/notesSlides/notesSlide876.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3.xml" ContentType="application/vnd.openxmlformats-officedocument.presentationml.notesSlide+xml"/>
  <Override PartName="/ppt/notesSlides/notesSlide914.xml" ContentType="application/vnd.openxmlformats-officedocument.presentationml.notesSlide+xml"/>
  <Override PartName="/ppt/notesSlides/notesSlide951.xml" ContentType="application/vnd.openxmlformats-officedocument.presentationml.notesSlide+xml"/>
  <Override PartName="/ppt/notesSlides/notesSlide952.xml" ContentType="application/vnd.openxmlformats-officedocument.presentationml.notesSlide+xml"/>
  <Override PartName="/ppt/notesSlides/notesSlide98.xml" ContentType="application/vnd.openxmlformats-officedocument.presentationml.notesSlide+xml"/>
  <Override PartName="/ppt/notesSlides/notesSlide989.xml" ContentType="application/vnd.openxmlformats-officedocument.presentationml.notesSlide+xml"/>
  <Override PartName="/ppt/notesSlides/notesSlide99.xml" ContentType="application/vnd.openxmlformats-officedocument.presentationml.notesSlide+xml"/>
  <Override PartName="/ppt/notesSlides/notesSlide99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68" r:id="rId20"/>
    <p:sldId id="269" r:id="rId21"/>
    <p:sldId id="270" r:id="rId22"/>
    <p:sldId id="271" r:id="rId23"/>
    <p:sldId id="272" r:id="rId24"/>
    <p:sldId id="273" r:id="rId25"/>
    <p:sldId id="274" r:id="rId26"/>
    <p:sldId id="275" r:id="rId27"/>
    <p:sldId id="276" r:id="rId28"/>
    <p:sldId id="277" r:id="rId29"/>
    <p:sldId id="279" r:id="rId31"/>
    <p:sldId id="280" r:id="rId32"/>
    <p:sldId id="281" r:id="rId33"/>
    <p:sldId id="282" r:id="rId34"/>
    <p:sldId id="283" r:id="rId35"/>
    <p:sldId id="284" r:id="rId36"/>
    <p:sldId id="285" r:id="rId37"/>
    <p:sldId id="288" r:id="rId40"/>
    <p:sldId id="293" r:id="rId45"/>
    <p:sldId id="297" r:id="rId49"/>
    <p:sldId id="303" r:id="rId55"/>
    <p:sldId id="309" r:id="rId61"/>
    <p:sldId id="310" r:id="rId62"/>
    <p:sldId id="317" r:id="rId69"/>
    <p:sldId id="323" r:id="rId75"/>
    <p:sldId id="324" r:id="rId76"/>
    <p:sldId id="332" r:id="rId84"/>
    <p:sldId id="338" r:id="rId90"/>
    <p:sldId id="343" r:id="rId95"/>
    <p:sldId id="347" r:id="rId99"/>
    <p:sldId id="348" r:id="rId100"/>
    <p:sldId id="358" r:id="rId110"/>
    <p:sldId id="367" r:id="rId119"/>
    <p:sldId id="368" r:id="rId120"/>
    <p:sldId id="369" r:id="rId121"/>
    <p:sldId id="370" r:id="rId122"/>
    <p:sldId id="371" r:id="rId123"/>
    <p:sldId id="373" r:id="rId125"/>
    <p:sldId id="374" r:id="rId126"/>
    <p:sldId id="377" r:id="rId129"/>
    <p:sldId id="378" r:id="rId130"/>
    <p:sldId id="379" r:id="rId131"/>
    <p:sldId id="380" r:id="rId132"/>
    <p:sldId id="381" r:id="rId133"/>
    <p:sldId id="382" r:id="rId134"/>
    <p:sldId id="383" r:id="rId135"/>
    <p:sldId id="386" r:id="rId138"/>
    <p:sldId id="391" r:id="rId143"/>
    <p:sldId id="395" r:id="rId147"/>
    <p:sldId id="401" r:id="rId153"/>
    <p:sldId id="407" r:id="rId159"/>
    <p:sldId id="408" r:id="rId160"/>
    <p:sldId id="415" r:id="rId167"/>
    <p:sldId id="421" r:id="rId173"/>
    <p:sldId id="422" r:id="rId174"/>
    <p:sldId id="430" r:id="rId182"/>
    <p:sldId id="436" r:id="rId188"/>
    <p:sldId id="441" r:id="rId193"/>
    <p:sldId id="445" r:id="rId197"/>
    <p:sldId id="446" r:id="rId198"/>
    <p:sldId id="456" r:id="rId208"/>
    <p:sldId id="465" r:id="rId217"/>
    <p:sldId id="466" r:id="rId218"/>
    <p:sldId id="467" r:id="rId219"/>
    <p:sldId id="468" r:id="rId220"/>
    <p:sldId id="469" r:id="rId221"/>
    <p:sldId id="471" r:id="rId223"/>
    <p:sldId id="472" r:id="rId224"/>
    <p:sldId id="475" r:id="rId227"/>
    <p:sldId id="476" r:id="rId228"/>
    <p:sldId id="477" r:id="rId229"/>
    <p:sldId id="478" r:id="rId230"/>
    <p:sldId id="479" r:id="rId231"/>
    <p:sldId id="480" r:id="rId232"/>
    <p:sldId id="481" r:id="rId233"/>
    <p:sldId id="484" r:id="rId236"/>
    <p:sldId id="489" r:id="rId241"/>
    <p:sldId id="493" r:id="rId245"/>
    <p:sldId id="499" r:id="rId251"/>
    <p:sldId id="505" r:id="rId257"/>
    <p:sldId id="506" r:id="rId258"/>
    <p:sldId id="513" r:id="rId265"/>
    <p:sldId id="519" r:id="rId271"/>
    <p:sldId id="520" r:id="rId272"/>
    <p:sldId id="528" r:id="rId280"/>
    <p:sldId id="534" r:id="rId286"/>
    <p:sldId id="539" r:id="rId291"/>
    <p:sldId id="543" r:id="rId295"/>
    <p:sldId id="544" r:id="rId296"/>
    <p:sldId id="554" r:id="rId306"/>
    <p:sldId id="563" r:id="rId315"/>
    <p:sldId id="564" r:id="rId316"/>
    <p:sldId id="565" r:id="rId317"/>
    <p:sldId id="566" r:id="rId318"/>
    <p:sldId id="567" r:id="rId319"/>
    <p:sldId id="569" r:id="rId321"/>
    <p:sldId id="570" r:id="rId322"/>
    <p:sldId id="573" r:id="rId325"/>
    <p:sldId id="574" r:id="rId326"/>
    <p:sldId id="575" r:id="rId327"/>
    <p:sldId id="576" r:id="rId328"/>
    <p:sldId id="577" r:id="rId329"/>
    <p:sldId id="578" r:id="rId330"/>
    <p:sldId id="579" r:id="rId331"/>
    <p:sldId id="580" r:id="rId332"/>
    <p:sldId id="583" r:id="rId335"/>
    <p:sldId id="588" r:id="rId340"/>
    <p:sldId id="592" r:id="rId344"/>
    <p:sldId id="598" r:id="rId350"/>
    <p:sldId id="604" r:id="rId356"/>
    <p:sldId id="605" r:id="rId357"/>
    <p:sldId id="612" r:id="rId364"/>
    <p:sldId id="618" r:id="rId370"/>
    <p:sldId id="619" r:id="rId371"/>
    <p:sldId id="627" r:id="rId379"/>
    <p:sldId id="633" r:id="rId385"/>
    <p:sldId id="638" r:id="rId390"/>
    <p:sldId id="642" r:id="rId394"/>
    <p:sldId id="643" r:id="rId395"/>
    <p:sldId id="653" r:id="rId405"/>
    <p:sldId id="662" r:id="rId414"/>
    <p:sldId id="663" r:id="rId415"/>
    <p:sldId id="664" r:id="rId416"/>
    <p:sldId id="665" r:id="rId417"/>
    <p:sldId id="666" r:id="rId418"/>
    <p:sldId id="668" r:id="rId420"/>
    <p:sldId id="669" r:id="rId421"/>
    <p:sldId id="672" r:id="rId424"/>
    <p:sldId id="673" r:id="rId425"/>
    <p:sldId id="674" r:id="rId426"/>
    <p:sldId id="675" r:id="rId427"/>
    <p:sldId id="676" r:id="rId428"/>
    <p:sldId id="677" r:id="rId429"/>
    <p:sldId id="678" r:id="rId430"/>
    <p:sldId id="681" r:id="rId433"/>
    <p:sldId id="686" r:id="rId438"/>
    <p:sldId id="690" r:id="rId442"/>
    <p:sldId id="696" r:id="rId448"/>
    <p:sldId id="702" r:id="rId454"/>
    <p:sldId id="703" r:id="rId455"/>
    <p:sldId id="710" r:id="rId462"/>
    <p:sldId id="716" r:id="rId468"/>
    <p:sldId id="717" r:id="rId469"/>
    <p:sldId id="725" r:id="rId477"/>
    <p:sldId id="731" r:id="rId483"/>
    <p:sldId id="736" r:id="rId488"/>
    <p:sldId id="740" r:id="rId492"/>
    <p:sldId id="741" r:id="rId493"/>
    <p:sldId id="751" r:id="rId503"/>
    <p:sldId id="760" r:id="rId512"/>
    <p:sldId id="761" r:id="rId513"/>
    <p:sldId id="762" r:id="rId514"/>
    <p:sldId id="763" r:id="rId515"/>
    <p:sldId id="764" r:id="rId516"/>
    <p:sldId id="766" r:id="rId518"/>
    <p:sldId id="767" r:id="rId519"/>
    <p:sldId id="770" r:id="rId522"/>
    <p:sldId id="771" r:id="rId523"/>
    <p:sldId id="772" r:id="rId524"/>
    <p:sldId id="773" r:id="rId525"/>
    <p:sldId id="774" r:id="rId526"/>
    <p:sldId id="775" r:id="rId527"/>
    <p:sldId id="776" r:id="rId528"/>
    <p:sldId id="779" r:id="rId531"/>
    <p:sldId id="784" r:id="rId536"/>
    <p:sldId id="788" r:id="rId540"/>
    <p:sldId id="794" r:id="rId546"/>
    <p:sldId id="800" r:id="rId552"/>
    <p:sldId id="801" r:id="rId553"/>
    <p:sldId id="808" r:id="rId560"/>
    <p:sldId id="814" r:id="rId566"/>
    <p:sldId id="815" r:id="rId567"/>
    <p:sldId id="823" r:id="rId575"/>
    <p:sldId id="829" r:id="rId581"/>
    <p:sldId id="834" r:id="rId586"/>
    <p:sldId id="838" r:id="rId590"/>
    <p:sldId id="839" r:id="rId591"/>
    <p:sldId id="849" r:id="rId601"/>
    <p:sldId id="858" r:id="rId610"/>
    <p:sldId id="859" r:id="rId611"/>
    <p:sldId id="860" r:id="rId612"/>
    <p:sldId id="861" r:id="rId613"/>
    <p:sldId id="862" r:id="rId614"/>
    <p:sldId id="864" r:id="rId616"/>
    <p:sldId id="865" r:id="rId617"/>
    <p:sldId id="868" r:id="rId620"/>
    <p:sldId id="869" r:id="rId621"/>
    <p:sldId id="870" r:id="rId622"/>
    <p:sldId id="871" r:id="rId623"/>
    <p:sldId id="872" r:id="rId624"/>
    <p:sldId id="873" r:id="rId625"/>
    <p:sldId id="874" r:id="rId626"/>
    <p:sldId id="877" r:id="rId629"/>
    <p:sldId id="882" r:id="rId634"/>
    <p:sldId id="886" r:id="rId638"/>
    <p:sldId id="892" r:id="rId644"/>
    <p:sldId id="898" r:id="rId650"/>
    <p:sldId id="899" r:id="rId651"/>
    <p:sldId id="906" r:id="rId658"/>
    <p:sldId id="912" r:id="rId664"/>
    <p:sldId id="913" r:id="rId665"/>
    <p:sldId id="921" r:id="rId673"/>
    <p:sldId id="927" r:id="rId679"/>
    <p:sldId id="932" r:id="rId684"/>
    <p:sldId id="936" r:id="rId688"/>
    <p:sldId id="937" r:id="rId689"/>
    <p:sldId id="947" r:id="rId699"/>
    <p:sldId id="956" r:id="rId708"/>
    <p:sldId id="957" r:id="rId709"/>
    <p:sldId id="958" r:id="rId710"/>
    <p:sldId id="959" r:id="rId711"/>
    <p:sldId id="960" r:id="rId712"/>
    <p:sldId id="962" r:id="rId714"/>
    <p:sldId id="963" r:id="rId715"/>
    <p:sldId id="966" r:id="rId718"/>
    <p:sldId id="967" r:id="rId719"/>
    <p:sldId id="968" r:id="rId720"/>
    <p:sldId id="969" r:id="rId721"/>
    <p:sldId id="970" r:id="rId722"/>
    <p:sldId id="971" r:id="rId723"/>
    <p:sldId id="972" r:id="rId724"/>
    <p:sldId id="975" r:id="rId727"/>
    <p:sldId id="980" r:id="rId732"/>
    <p:sldId id="984" r:id="rId736"/>
    <p:sldId id="990" r:id="rId742"/>
    <p:sldId id="996" r:id="rId748"/>
    <p:sldId id="997" r:id="rId749"/>
    <p:sldId id="1004" r:id="rId756"/>
    <p:sldId id="1010" r:id="rId762"/>
    <p:sldId id="1011" r:id="rId763"/>
    <p:sldId id="1019" r:id="rId771"/>
    <p:sldId id="1025" r:id="rId777"/>
    <p:sldId id="1030" r:id="rId782"/>
    <p:sldId id="1034" r:id="rId786"/>
    <p:sldId id="1035" r:id="rId787"/>
    <p:sldId id="1045" r:id="rId797"/>
    <p:sldId id="1055" r:id="rId807"/>
    <p:sldId id="1056" r:id="rId808"/>
    <p:sldId id="1101" r:id="rId853"/>
    <p:sldId id="1102" r:id="rId854"/>
    <p:sldId id="1140" r:id="rId892"/>
    <p:sldId id="1141" r:id="rId893"/>
    <p:sldId id="1180" r:id="rId932"/>
    <p:sldId id="1181" r:id="rId933"/>
    <p:sldId id="1219" r:id="rId971"/>
    <p:sldId id="1220" r:id="rId972"/>
    <p:sldId id="1258" r:id="rId1010"/>
    <p:sldId id="1259" r:id="rId1011"/>
    <p:sldId id="1297" r:id="rId1049"/>
    <p:sldId id="1298" r:id="rId1050"/>
    <p:sldId id="1336" r:id="rId1088"/>
    <p:sldId id="1337" r:id="rId1089"/>
    <p:sldId id="1375" r:id="rId1127"/>
    <p:sldId id="1376" r:id="rId1128"/>
    <p:sldId id="1414" r:id="rId1166"/>
    <p:sldId id="1415" r:id="rId1167"/>
    <p:sldId id="1453" r:id="rId1205"/>
    <p:sldId id="1454" r:id="rId1206"/>
    <p:sldId id="1492" r:id="rId1244"/>
    <p:sldId id="1493" r:id="rId1245"/>
    <p:sldId id="1531" r:id="rId1283"/>
    <p:sldId id="1532" r:id="rId1284"/>
    <p:sldId id="1570" r:id="rId1322"/>
    <p:sldId id="1571" r:id="rId1323"/>
    <p:sldId id="1610" r:id="rId1362"/>
    <p:sldId id="1611" r:id="rId1363"/>
    <p:sldId id="1649" r:id="rId1401"/>
    <p:sldId id="1650" r:id="rId1402"/>
    <p:sldId id="1688" r:id="rId1440"/>
    <p:sldId id="1689" r:id="rId1441"/>
    <p:sldId id="1727" r:id="rId1479"/>
    <p:sldId id="1728" r:id="rId1480"/>
    <p:sldId id="1766" r:id="rId1518"/>
    <p:sldId id="1767" r:id="rId1519"/>
    <p:sldId id="1805" r:id="rId1557"/>
    <p:sldId id="1806" r:id="rId1558"/>
    <p:sldId id="1845" r:id="rId1597"/>
    <p:sldId id="1846" r:id="rId1598"/>
    <p:sldId id="1884" r:id="rId1636"/>
    <p:sldId id="1885" r:id="rId1637"/>
    <p:sldId id="1924" r:id="rId1676"/>
    <p:sldId id="1925" r:id="rId1677"/>
    <p:sldId id="1964" r:id="rId1716"/>
    <p:sldId id="1965" r:id="rId1717"/>
    <p:sldId id="2004" r:id="rId1756"/>
    <p:sldId id="2005" r:id="rId1757"/>
    <p:sldId id="2044" r:id="rId1796"/>
    <p:sldId id="2045" r:id="rId1797"/>
    <p:sldId id="2084" r:id="rId1836"/>
    <p:sldId id="2085" r:id="rId1837"/>
    <p:sldId id="2123" r:id="rId1875"/>
    <p:sldId id="2124" r:id="rId1876"/>
    <p:sldId id="2163" r:id="rId1915"/>
    <p:sldId id="2164" r:id="rId1916"/>
    <p:sldId id="2202" r:id="rId1954"/>
    <p:sldId id="2203" r:id="rId1955"/>
    <p:sldId id="2241" r:id="rId1993"/>
    <p:sldId id="2242" r:id="rId199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11" Type="http://schemas.openxmlformats.org/officeDocument/2006/relationships/notesMaster" Target="notesMasters/notesMaster1.xml"/><Relationship Id="rId20" Type="http://schemas.openxmlformats.org/officeDocument/2006/relationships/slide" Target="slides/slide2.xml"/><Relationship Id="rId21" Type="http://schemas.openxmlformats.org/officeDocument/2006/relationships/slide" Target="slides/slide3.xml"/><Relationship Id="rId22" Type="http://schemas.openxmlformats.org/officeDocument/2006/relationships/slide" Target="slides/slide4.xml"/><Relationship Id="rId23" Type="http://schemas.openxmlformats.org/officeDocument/2006/relationships/slide" Target="slides/slide5.xml"/><Relationship Id="rId24" Type="http://schemas.openxmlformats.org/officeDocument/2006/relationships/slide" Target="slides/slide6.xml"/><Relationship Id="rId25" Type="http://schemas.openxmlformats.org/officeDocument/2006/relationships/slide" Target="slides/slide7.xml"/><Relationship Id="rId26" Type="http://schemas.openxmlformats.org/officeDocument/2006/relationships/slide" Target="slides/slide8.xml"/><Relationship Id="rId27" Type="http://schemas.openxmlformats.org/officeDocument/2006/relationships/slide" Target="slides/slide9.xml"/><Relationship Id="rId28" Type="http://schemas.openxmlformats.org/officeDocument/2006/relationships/slide" Target="slides/slide10.xml"/><Relationship Id="rId29" Type="http://schemas.openxmlformats.org/officeDocument/2006/relationships/slide" Target="slides/slide11.xml"/><Relationship Id="rId31" Type="http://schemas.openxmlformats.org/officeDocument/2006/relationships/slide" Target="slides/slide12.xml"/><Relationship Id="rId32" Type="http://schemas.openxmlformats.org/officeDocument/2006/relationships/slide" Target="slides/slide13.xml"/><Relationship Id="rId33" Type="http://schemas.openxmlformats.org/officeDocument/2006/relationships/slide" Target="slides/slide14.xml"/><Relationship Id="rId34" Type="http://schemas.openxmlformats.org/officeDocument/2006/relationships/slide" Target="slides/slide15.xml"/><Relationship Id="rId35" Type="http://schemas.openxmlformats.org/officeDocument/2006/relationships/slide" Target="slides/slide16.xml"/><Relationship Id="rId36" Type="http://schemas.openxmlformats.org/officeDocument/2006/relationships/slide" Target="slides/slide17.xml"/><Relationship Id="rId37" Type="http://schemas.openxmlformats.org/officeDocument/2006/relationships/slide" Target="slides/slide18.xml"/><Relationship Id="rId40" Type="http://schemas.openxmlformats.org/officeDocument/2006/relationships/slide" Target="slides/slide19.xml"/><Relationship Id="rId45" Type="http://schemas.openxmlformats.org/officeDocument/2006/relationships/slide" Target="slides/slide20.xml"/><Relationship Id="rId49" Type="http://schemas.openxmlformats.org/officeDocument/2006/relationships/slide" Target="slides/slide21.xml"/><Relationship Id="rId55" Type="http://schemas.openxmlformats.org/officeDocument/2006/relationships/slide" Target="slides/slide22.xml"/><Relationship Id="rId61" Type="http://schemas.openxmlformats.org/officeDocument/2006/relationships/slide" Target="slides/slide23.xml"/><Relationship Id="rId62" Type="http://schemas.openxmlformats.org/officeDocument/2006/relationships/slide" Target="slides/slide24.xml"/><Relationship Id="rId69" Type="http://schemas.openxmlformats.org/officeDocument/2006/relationships/slide" Target="slides/slide25.xml"/><Relationship Id="rId75" Type="http://schemas.openxmlformats.org/officeDocument/2006/relationships/slide" Target="slides/slide26.xml"/><Relationship Id="rId76" Type="http://schemas.openxmlformats.org/officeDocument/2006/relationships/slide" Target="slides/slide27.xml"/><Relationship Id="rId84" Type="http://schemas.openxmlformats.org/officeDocument/2006/relationships/slide" Target="slides/slide28.xml"/><Relationship Id="rId90" Type="http://schemas.openxmlformats.org/officeDocument/2006/relationships/slide" Target="slides/slide29.xml"/><Relationship Id="rId95" Type="http://schemas.openxmlformats.org/officeDocument/2006/relationships/slide" Target="slides/slide30.xml"/><Relationship Id="rId99" Type="http://schemas.openxmlformats.org/officeDocument/2006/relationships/slide" Target="slides/slide31.xml"/><Relationship Id="rId100" Type="http://schemas.openxmlformats.org/officeDocument/2006/relationships/slide" Target="slides/slide32.xml"/><Relationship Id="rId110" Type="http://schemas.openxmlformats.org/officeDocument/2006/relationships/slide" Target="slides/slide33.xml"/><Relationship Id="rId119" Type="http://schemas.openxmlformats.org/officeDocument/2006/relationships/slide" Target="slides/slide34.xml"/><Relationship Id="rId120" Type="http://schemas.openxmlformats.org/officeDocument/2006/relationships/slide" Target="slides/slide35.xml"/><Relationship Id="rId121" Type="http://schemas.openxmlformats.org/officeDocument/2006/relationships/slide" Target="slides/slide36.xml"/><Relationship Id="rId122" Type="http://schemas.openxmlformats.org/officeDocument/2006/relationships/slide" Target="slides/slide37.xml"/><Relationship Id="rId123" Type="http://schemas.openxmlformats.org/officeDocument/2006/relationships/slide" Target="slides/slide38.xml"/><Relationship Id="rId125" Type="http://schemas.openxmlformats.org/officeDocument/2006/relationships/slide" Target="slides/slide39.xml"/><Relationship Id="rId126" Type="http://schemas.openxmlformats.org/officeDocument/2006/relationships/slide" Target="slides/slide40.xml"/><Relationship Id="rId129" Type="http://schemas.openxmlformats.org/officeDocument/2006/relationships/slide" Target="slides/slide41.xml"/><Relationship Id="rId130" Type="http://schemas.openxmlformats.org/officeDocument/2006/relationships/slide" Target="slides/slide42.xml"/><Relationship Id="rId131" Type="http://schemas.openxmlformats.org/officeDocument/2006/relationships/slide" Target="slides/slide43.xml"/><Relationship Id="rId132" Type="http://schemas.openxmlformats.org/officeDocument/2006/relationships/slide" Target="slides/slide44.xml"/><Relationship Id="rId133" Type="http://schemas.openxmlformats.org/officeDocument/2006/relationships/slide" Target="slides/slide45.xml"/><Relationship Id="rId134" Type="http://schemas.openxmlformats.org/officeDocument/2006/relationships/slide" Target="slides/slide46.xml"/><Relationship Id="rId135" Type="http://schemas.openxmlformats.org/officeDocument/2006/relationships/slide" Target="slides/slide47.xml"/><Relationship Id="rId138" Type="http://schemas.openxmlformats.org/officeDocument/2006/relationships/slide" Target="slides/slide48.xml"/><Relationship Id="rId143" Type="http://schemas.openxmlformats.org/officeDocument/2006/relationships/slide" Target="slides/slide49.xml"/><Relationship Id="rId147" Type="http://schemas.openxmlformats.org/officeDocument/2006/relationships/slide" Target="slides/slide50.xml"/><Relationship Id="rId153" Type="http://schemas.openxmlformats.org/officeDocument/2006/relationships/slide" Target="slides/slide51.xml"/><Relationship Id="rId159" Type="http://schemas.openxmlformats.org/officeDocument/2006/relationships/slide" Target="slides/slide52.xml"/><Relationship Id="rId160" Type="http://schemas.openxmlformats.org/officeDocument/2006/relationships/slide" Target="slides/slide53.xml"/><Relationship Id="rId167" Type="http://schemas.openxmlformats.org/officeDocument/2006/relationships/slide" Target="slides/slide54.xml"/><Relationship Id="rId173" Type="http://schemas.openxmlformats.org/officeDocument/2006/relationships/slide" Target="slides/slide55.xml"/><Relationship Id="rId174" Type="http://schemas.openxmlformats.org/officeDocument/2006/relationships/slide" Target="slides/slide56.xml"/><Relationship Id="rId182" Type="http://schemas.openxmlformats.org/officeDocument/2006/relationships/slide" Target="slides/slide57.xml"/><Relationship Id="rId188" Type="http://schemas.openxmlformats.org/officeDocument/2006/relationships/slide" Target="slides/slide58.xml"/><Relationship Id="rId193" Type="http://schemas.openxmlformats.org/officeDocument/2006/relationships/slide" Target="slides/slide59.xml"/><Relationship Id="rId197" Type="http://schemas.openxmlformats.org/officeDocument/2006/relationships/slide" Target="slides/slide60.xml"/><Relationship Id="rId198" Type="http://schemas.openxmlformats.org/officeDocument/2006/relationships/slide" Target="slides/slide61.xml"/><Relationship Id="rId208" Type="http://schemas.openxmlformats.org/officeDocument/2006/relationships/slide" Target="slides/slide62.xml"/><Relationship Id="rId217" Type="http://schemas.openxmlformats.org/officeDocument/2006/relationships/slide" Target="slides/slide63.xml"/><Relationship Id="rId218" Type="http://schemas.openxmlformats.org/officeDocument/2006/relationships/slide" Target="slides/slide64.xml"/><Relationship Id="rId219" Type="http://schemas.openxmlformats.org/officeDocument/2006/relationships/slide" Target="slides/slide65.xml"/><Relationship Id="rId220" Type="http://schemas.openxmlformats.org/officeDocument/2006/relationships/slide" Target="slides/slide66.xml"/><Relationship Id="rId221" Type="http://schemas.openxmlformats.org/officeDocument/2006/relationships/slide" Target="slides/slide67.xml"/><Relationship Id="rId223" Type="http://schemas.openxmlformats.org/officeDocument/2006/relationships/slide" Target="slides/slide68.xml"/><Relationship Id="rId224" Type="http://schemas.openxmlformats.org/officeDocument/2006/relationships/slide" Target="slides/slide69.xml"/><Relationship Id="rId227" Type="http://schemas.openxmlformats.org/officeDocument/2006/relationships/slide" Target="slides/slide70.xml"/><Relationship Id="rId228" Type="http://schemas.openxmlformats.org/officeDocument/2006/relationships/slide" Target="slides/slide71.xml"/><Relationship Id="rId229" Type="http://schemas.openxmlformats.org/officeDocument/2006/relationships/slide" Target="slides/slide72.xml"/><Relationship Id="rId230" Type="http://schemas.openxmlformats.org/officeDocument/2006/relationships/slide" Target="slides/slide73.xml"/><Relationship Id="rId231" Type="http://schemas.openxmlformats.org/officeDocument/2006/relationships/slide" Target="slides/slide74.xml"/><Relationship Id="rId232" Type="http://schemas.openxmlformats.org/officeDocument/2006/relationships/slide" Target="slides/slide75.xml"/><Relationship Id="rId233" Type="http://schemas.openxmlformats.org/officeDocument/2006/relationships/slide" Target="slides/slide76.xml"/><Relationship Id="rId236" Type="http://schemas.openxmlformats.org/officeDocument/2006/relationships/slide" Target="slides/slide77.xml"/><Relationship Id="rId241" Type="http://schemas.openxmlformats.org/officeDocument/2006/relationships/slide" Target="slides/slide78.xml"/><Relationship Id="rId245" Type="http://schemas.openxmlformats.org/officeDocument/2006/relationships/slide" Target="slides/slide79.xml"/><Relationship Id="rId251" Type="http://schemas.openxmlformats.org/officeDocument/2006/relationships/slide" Target="slides/slide80.xml"/><Relationship Id="rId257" Type="http://schemas.openxmlformats.org/officeDocument/2006/relationships/slide" Target="slides/slide81.xml"/><Relationship Id="rId258" Type="http://schemas.openxmlformats.org/officeDocument/2006/relationships/slide" Target="slides/slide82.xml"/><Relationship Id="rId265" Type="http://schemas.openxmlformats.org/officeDocument/2006/relationships/slide" Target="slides/slide83.xml"/><Relationship Id="rId271" Type="http://schemas.openxmlformats.org/officeDocument/2006/relationships/slide" Target="slides/slide84.xml"/><Relationship Id="rId272" Type="http://schemas.openxmlformats.org/officeDocument/2006/relationships/slide" Target="slides/slide85.xml"/><Relationship Id="rId280" Type="http://schemas.openxmlformats.org/officeDocument/2006/relationships/slide" Target="slides/slide86.xml"/><Relationship Id="rId286" Type="http://schemas.openxmlformats.org/officeDocument/2006/relationships/slide" Target="slides/slide87.xml"/><Relationship Id="rId291" Type="http://schemas.openxmlformats.org/officeDocument/2006/relationships/slide" Target="slides/slide88.xml"/><Relationship Id="rId295" Type="http://schemas.openxmlformats.org/officeDocument/2006/relationships/slide" Target="slides/slide89.xml"/><Relationship Id="rId296" Type="http://schemas.openxmlformats.org/officeDocument/2006/relationships/slide" Target="slides/slide90.xml"/><Relationship Id="rId306" Type="http://schemas.openxmlformats.org/officeDocument/2006/relationships/slide" Target="slides/slide91.xml"/><Relationship Id="rId315" Type="http://schemas.openxmlformats.org/officeDocument/2006/relationships/slide" Target="slides/slide92.xml"/><Relationship Id="rId316" Type="http://schemas.openxmlformats.org/officeDocument/2006/relationships/slide" Target="slides/slide93.xml"/><Relationship Id="rId317" Type="http://schemas.openxmlformats.org/officeDocument/2006/relationships/slide" Target="slides/slide94.xml"/><Relationship Id="rId318" Type="http://schemas.openxmlformats.org/officeDocument/2006/relationships/slide" Target="slides/slide95.xml"/><Relationship Id="rId319" Type="http://schemas.openxmlformats.org/officeDocument/2006/relationships/slide" Target="slides/slide96.xml"/><Relationship Id="rId321" Type="http://schemas.openxmlformats.org/officeDocument/2006/relationships/slide" Target="slides/slide97.xml"/><Relationship Id="rId322" Type="http://schemas.openxmlformats.org/officeDocument/2006/relationships/slide" Target="slides/slide98.xml"/><Relationship Id="rId325" Type="http://schemas.openxmlformats.org/officeDocument/2006/relationships/slide" Target="slides/slide99.xml"/><Relationship Id="rId326" Type="http://schemas.openxmlformats.org/officeDocument/2006/relationships/slide" Target="slides/slide100.xml"/><Relationship Id="rId327" Type="http://schemas.openxmlformats.org/officeDocument/2006/relationships/slide" Target="slides/slide101.xml"/><Relationship Id="rId328" Type="http://schemas.openxmlformats.org/officeDocument/2006/relationships/slide" Target="slides/slide102.xml"/><Relationship Id="rId329" Type="http://schemas.openxmlformats.org/officeDocument/2006/relationships/slide" Target="slides/slide103.xml"/><Relationship Id="rId330" Type="http://schemas.openxmlformats.org/officeDocument/2006/relationships/slide" Target="slides/slide104.xml"/><Relationship Id="rId331" Type="http://schemas.openxmlformats.org/officeDocument/2006/relationships/slide" Target="slides/slide105.xml"/><Relationship Id="rId332" Type="http://schemas.openxmlformats.org/officeDocument/2006/relationships/slide" Target="slides/slide106.xml"/><Relationship Id="rId335" Type="http://schemas.openxmlformats.org/officeDocument/2006/relationships/slide" Target="slides/slide107.xml"/><Relationship Id="rId340" Type="http://schemas.openxmlformats.org/officeDocument/2006/relationships/slide" Target="slides/slide108.xml"/><Relationship Id="rId344" Type="http://schemas.openxmlformats.org/officeDocument/2006/relationships/slide" Target="slides/slide109.xml"/><Relationship Id="rId350" Type="http://schemas.openxmlformats.org/officeDocument/2006/relationships/slide" Target="slides/slide110.xml"/><Relationship Id="rId356" Type="http://schemas.openxmlformats.org/officeDocument/2006/relationships/slide" Target="slides/slide111.xml"/><Relationship Id="rId357" Type="http://schemas.openxmlformats.org/officeDocument/2006/relationships/slide" Target="slides/slide112.xml"/><Relationship Id="rId364" Type="http://schemas.openxmlformats.org/officeDocument/2006/relationships/slide" Target="slides/slide113.xml"/><Relationship Id="rId370" Type="http://schemas.openxmlformats.org/officeDocument/2006/relationships/slide" Target="slides/slide114.xml"/><Relationship Id="rId371" Type="http://schemas.openxmlformats.org/officeDocument/2006/relationships/slide" Target="slides/slide115.xml"/><Relationship Id="rId379" Type="http://schemas.openxmlformats.org/officeDocument/2006/relationships/slide" Target="slides/slide116.xml"/><Relationship Id="rId385" Type="http://schemas.openxmlformats.org/officeDocument/2006/relationships/slide" Target="slides/slide117.xml"/><Relationship Id="rId390" Type="http://schemas.openxmlformats.org/officeDocument/2006/relationships/slide" Target="slides/slide118.xml"/><Relationship Id="rId394" Type="http://schemas.openxmlformats.org/officeDocument/2006/relationships/slide" Target="slides/slide119.xml"/><Relationship Id="rId395" Type="http://schemas.openxmlformats.org/officeDocument/2006/relationships/slide" Target="slides/slide120.xml"/><Relationship Id="rId405" Type="http://schemas.openxmlformats.org/officeDocument/2006/relationships/slide" Target="slides/slide121.xml"/><Relationship Id="rId414" Type="http://schemas.openxmlformats.org/officeDocument/2006/relationships/slide" Target="slides/slide122.xml"/><Relationship Id="rId415" Type="http://schemas.openxmlformats.org/officeDocument/2006/relationships/slide" Target="slides/slide123.xml"/><Relationship Id="rId416" Type="http://schemas.openxmlformats.org/officeDocument/2006/relationships/slide" Target="slides/slide124.xml"/><Relationship Id="rId417" Type="http://schemas.openxmlformats.org/officeDocument/2006/relationships/slide" Target="slides/slide125.xml"/><Relationship Id="rId418" Type="http://schemas.openxmlformats.org/officeDocument/2006/relationships/slide" Target="slides/slide126.xml"/><Relationship Id="rId420" Type="http://schemas.openxmlformats.org/officeDocument/2006/relationships/slide" Target="slides/slide127.xml"/><Relationship Id="rId421" Type="http://schemas.openxmlformats.org/officeDocument/2006/relationships/slide" Target="slides/slide128.xml"/><Relationship Id="rId424" Type="http://schemas.openxmlformats.org/officeDocument/2006/relationships/slide" Target="slides/slide129.xml"/><Relationship Id="rId425" Type="http://schemas.openxmlformats.org/officeDocument/2006/relationships/slide" Target="slides/slide130.xml"/><Relationship Id="rId426" Type="http://schemas.openxmlformats.org/officeDocument/2006/relationships/slide" Target="slides/slide131.xml"/><Relationship Id="rId427" Type="http://schemas.openxmlformats.org/officeDocument/2006/relationships/slide" Target="slides/slide132.xml"/><Relationship Id="rId428" Type="http://schemas.openxmlformats.org/officeDocument/2006/relationships/slide" Target="slides/slide133.xml"/><Relationship Id="rId429" Type="http://schemas.openxmlformats.org/officeDocument/2006/relationships/slide" Target="slides/slide134.xml"/><Relationship Id="rId430" Type="http://schemas.openxmlformats.org/officeDocument/2006/relationships/slide" Target="slides/slide135.xml"/><Relationship Id="rId433" Type="http://schemas.openxmlformats.org/officeDocument/2006/relationships/slide" Target="slides/slide136.xml"/><Relationship Id="rId438" Type="http://schemas.openxmlformats.org/officeDocument/2006/relationships/slide" Target="slides/slide137.xml"/><Relationship Id="rId442" Type="http://schemas.openxmlformats.org/officeDocument/2006/relationships/slide" Target="slides/slide138.xml"/><Relationship Id="rId448" Type="http://schemas.openxmlformats.org/officeDocument/2006/relationships/slide" Target="slides/slide139.xml"/><Relationship Id="rId454" Type="http://schemas.openxmlformats.org/officeDocument/2006/relationships/slide" Target="slides/slide140.xml"/><Relationship Id="rId455" Type="http://schemas.openxmlformats.org/officeDocument/2006/relationships/slide" Target="slides/slide141.xml"/><Relationship Id="rId462" Type="http://schemas.openxmlformats.org/officeDocument/2006/relationships/slide" Target="slides/slide142.xml"/><Relationship Id="rId468" Type="http://schemas.openxmlformats.org/officeDocument/2006/relationships/slide" Target="slides/slide143.xml"/><Relationship Id="rId469" Type="http://schemas.openxmlformats.org/officeDocument/2006/relationships/slide" Target="slides/slide144.xml"/><Relationship Id="rId477" Type="http://schemas.openxmlformats.org/officeDocument/2006/relationships/slide" Target="slides/slide145.xml"/><Relationship Id="rId483" Type="http://schemas.openxmlformats.org/officeDocument/2006/relationships/slide" Target="slides/slide146.xml"/><Relationship Id="rId488" Type="http://schemas.openxmlformats.org/officeDocument/2006/relationships/slide" Target="slides/slide147.xml"/><Relationship Id="rId492" Type="http://schemas.openxmlformats.org/officeDocument/2006/relationships/slide" Target="slides/slide148.xml"/><Relationship Id="rId493" Type="http://schemas.openxmlformats.org/officeDocument/2006/relationships/slide" Target="slides/slide149.xml"/><Relationship Id="rId503" Type="http://schemas.openxmlformats.org/officeDocument/2006/relationships/slide" Target="slides/slide150.xml"/><Relationship Id="rId512" Type="http://schemas.openxmlformats.org/officeDocument/2006/relationships/slide" Target="slides/slide151.xml"/><Relationship Id="rId513" Type="http://schemas.openxmlformats.org/officeDocument/2006/relationships/slide" Target="slides/slide152.xml"/><Relationship Id="rId514" Type="http://schemas.openxmlformats.org/officeDocument/2006/relationships/slide" Target="slides/slide153.xml"/><Relationship Id="rId515" Type="http://schemas.openxmlformats.org/officeDocument/2006/relationships/slide" Target="slides/slide154.xml"/><Relationship Id="rId516" Type="http://schemas.openxmlformats.org/officeDocument/2006/relationships/slide" Target="slides/slide155.xml"/><Relationship Id="rId518" Type="http://schemas.openxmlformats.org/officeDocument/2006/relationships/slide" Target="slides/slide156.xml"/><Relationship Id="rId519" Type="http://schemas.openxmlformats.org/officeDocument/2006/relationships/slide" Target="slides/slide157.xml"/><Relationship Id="rId522" Type="http://schemas.openxmlformats.org/officeDocument/2006/relationships/slide" Target="slides/slide158.xml"/><Relationship Id="rId523" Type="http://schemas.openxmlformats.org/officeDocument/2006/relationships/slide" Target="slides/slide159.xml"/><Relationship Id="rId524" Type="http://schemas.openxmlformats.org/officeDocument/2006/relationships/slide" Target="slides/slide160.xml"/><Relationship Id="rId525" Type="http://schemas.openxmlformats.org/officeDocument/2006/relationships/slide" Target="slides/slide161.xml"/><Relationship Id="rId526" Type="http://schemas.openxmlformats.org/officeDocument/2006/relationships/slide" Target="slides/slide162.xml"/><Relationship Id="rId527" Type="http://schemas.openxmlformats.org/officeDocument/2006/relationships/slide" Target="slides/slide163.xml"/><Relationship Id="rId528" Type="http://schemas.openxmlformats.org/officeDocument/2006/relationships/slide" Target="slides/slide164.xml"/><Relationship Id="rId531" Type="http://schemas.openxmlformats.org/officeDocument/2006/relationships/slide" Target="slides/slide165.xml"/><Relationship Id="rId536" Type="http://schemas.openxmlformats.org/officeDocument/2006/relationships/slide" Target="slides/slide166.xml"/><Relationship Id="rId540" Type="http://schemas.openxmlformats.org/officeDocument/2006/relationships/slide" Target="slides/slide167.xml"/><Relationship Id="rId546" Type="http://schemas.openxmlformats.org/officeDocument/2006/relationships/slide" Target="slides/slide168.xml"/><Relationship Id="rId552" Type="http://schemas.openxmlformats.org/officeDocument/2006/relationships/slide" Target="slides/slide169.xml"/><Relationship Id="rId553" Type="http://schemas.openxmlformats.org/officeDocument/2006/relationships/slide" Target="slides/slide170.xml"/><Relationship Id="rId560" Type="http://schemas.openxmlformats.org/officeDocument/2006/relationships/slide" Target="slides/slide171.xml"/><Relationship Id="rId566" Type="http://schemas.openxmlformats.org/officeDocument/2006/relationships/slide" Target="slides/slide172.xml"/><Relationship Id="rId567" Type="http://schemas.openxmlformats.org/officeDocument/2006/relationships/slide" Target="slides/slide173.xml"/><Relationship Id="rId575" Type="http://schemas.openxmlformats.org/officeDocument/2006/relationships/slide" Target="slides/slide174.xml"/><Relationship Id="rId581" Type="http://schemas.openxmlformats.org/officeDocument/2006/relationships/slide" Target="slides/slide175.xml"/><Relationship Id="rId586" Type="http://schemas.openxmlformats.org/officeDocument/2006/relationships/slide" Target="slides/slide176.xml"/><Relationship Id="rId590" Type="http://schemas.openxmlformats.org/officeDocument/2006/relationships/slide" Target="slides/slide177.xml"/><Relationship Id="rId591" Type="http://schemas.openxmlformats.org/officeDocument/2006/relationships/slide" Target="slides/slide178.xml"/><Relationship Id="rId601" Type="http://schemas.openxmlformats.org/officeDocument/2006/relationships/slide" Target="slides/slide179.xml"/><Relationship Id="rId610" Type="http://schemas.openxmlformats.org/officeDocument/2006/relationships/slide" Target="slides/slide180.xml"/><Relationship Id="rId611" Type="http://schemas.openxmlformats.org/officeDocument/2006/relationships/slide" Target="slides/slide181.xml"/><Relationship Id="rId612" Type="http://schemas.openxmlformats.org/officeDocument/2006/relationships/slide" Target="slides/slide182.xml"/><Relationship Id="rId613" Type="http://schemas.openxmlformats.org/officeDocument/2006/relationships/slide" Target="slides/slide183.xml"/><Relationship Id="rId614" Type="http://schemas.openxmlformats.org/officeDocument/2006/relationships/slide" Target="slides/slide184.xml"/><Relationship Id="rId616" Type="http://schemas.openxmlformats.org/officeDocument/2006/relationships/slide" Target="slides/slide185.xml"/><Relationship Id="rId617" Type="http://schemas.openxmlformats.org/officeDocument/2006/relationships/slide" Target="slides/slide186.xml"/><Relationship Id="rId620" Type="http://schemas.openxmlformats.org/officeDocument/2006/relationships/slide" Target="slides/slide187.xml"/><Relationship Id="rId621" Type="http://schemas.openxmlformats.org/officeDocument/2006/relationships/slide" Target="slides/slide188.xml"/><Relationship Id="rId622" Type="http://schemas.openxmlformats.org/officeDocument/2006/relationships/slide" Target="slides/slide189.xml"/><Relationship Id="rId623" Type="http://schemas.openxmlformats.org/officeDocument/2006/relationships/slide" Target="slides/slide190.xml"/><Relationship Id="rId624" Type="http://schemas.openxmlformats.org/officeDocument/2006/relationships/slide" Target="slides/slide191.xml"/><Relationship Id="rId625" Type="http://schemas.openxmlformats.org/officeDocument/2006/relationships/slide" Target="slides/slide192.xml"/><Relationship Id="rId626" Type="http://schemas.openxmlformats.org/officeDocument/2006/relationships/slide" Target="slides/slide193.xml"/><Relationship Id="rId629" Type="http://schemas.openxmlformats.org/officeDocument/2006/relationships/slide" Target="slides/slide194.xml"/><Relationship Id="rId634" Type="http://schemas.openxmlformats.org/officeDocument/2006/relationships/slide" Target="slides/slide195.xml"/><Relationship Id="rId638" Type="http://schemas.openxmlformats.org/officeDocument/2006/relationships/slide" Target="slides/slide196.xml"/><Relationship Id="rId644" Type="http://schemas.openxmlformats.org/officeDocument/2006/relationships/slide" Target="slides/slide197.xml"/><Relationship Id="rId650" Type="http://schemas.openxmlformats.org/officeDocument/2006/relationships/slide" Target="slides/slide198.xml"/><Relationship Id="rId651" Type="http://schemas.openxmlformats.org/officeDocument/2006/relationships/slide" Target="slides/slide199.xml"/><Relationship Id="rId658" Type="http://schemas.openxmlformats.org/officeDocument/2006/relationships/slide" Target="slides/slide200.xml"/><Relationship Id="rId664" Type="http://schemas.openxmlformats.org/officeDocument/2006/relationships/slide" Target="slides/slide201.xml"/><Relationship Id="rId665" Type="http://schemas.openxmlformats.org/officeDocument/2006/relationships/slide" Target="slides/slide202.xml"/><Relationship Id="rId673" Type="http://schemas.openxmlformats.org/officeDocument/2006/relationships/slide" Target="slides/slide203.xml"/><Relationship Id="rId679" Type="http://schemas.openxmlformats.org/officeDocument/2006/relationships/slide" Target="slides/slide204.xml"/><Relationship Id="rId684" Type="http://schemas.openxmlformats.org/officeDocument/2006/relationships/slide" Target="slides/slide205.xml"/><Relationship Id="rId688" Type="http://schemas.openxmlformats.org/officeDocument/2006/relationships/slide" Target="slides/slide206.xml"/><Relationship Id="rId689" Type="http://schemas.openxmlformats.org/officeDocument/2006/relationships/slide" Target="slides/slide207.xml"/><Relationship Id="rId699" Type="http://schemas.openxmlformats.org/officeDocument/2006/relationships/slide" Target="slides/slide208.xml"/><Relationship Id="rId708" Type="http://schemas.openxmlformats.org/officeDocument/2006/relationships/slide" Target="slides/slide209.xml"/><Relationship Id="rId709" Type="http://schemas.openxmlformats.org/officeDocument/2006/relationships/slide" Target="slides/slide210.xml"/><Relationship Id="rId710" Type="http://schemas.openxmlformats.org/officeDocument/2006/relationships/slide" Target="slides/slide211.xml"/><Relationship Id="rId711" Type="http://schemas.openxmlformats.org/officeDocument/2006/relationships/slide" Target="slides/slide212.xml"/><Relationship Id="rId712" Type="http://schemas.openxmlformats.org/officeDocument/2006/relationships/slide" Target="slides/slide213.xml"/><Relationship Id="rId714" Type="http://schemas.openxmlformats.org/officeDocument/2006/relationships/slide" Target="slides/slide214.xml"/><Relationship Id="rId715" Type="http://schemas.openxmlformats.org/officeDocument/2006/relationships/slide" Target="slides/slide215.xml"/><Relationship Id="rId718" Type="http://schemas.openxmlformats.org/officeDocument/2006/relationships/slide" Target="slides/slide216.xml"/><Relationship Id="rId719" Type="http://schemas.openxmlformats.org/officeDocument/2006/relationships/slide" Target="slides/slide217.xml"/><Relationship Id="rId720" Type="http://schemas.openxmlformats.org/officeDocument/2006/relationships/slide" Target="slides/slide218.xml"/><Relationship Id="rId721" Type="http://schemas.openxmlformats.org/officeDocument/2006/relationships/slide" Target="slides/slide219.xml"/><Relationship Id="rId722" Type="http://schemas.openxmlformats.org/officeDocument/2006/relationships/slide" Target="slides/slide220.xml"/><Relationship Id="rId723" Type="http://schemas.openxmlformats.org/officeDocument/2006/relationships/slide" Target="slides/slide221.xml"/><Relationship Id="rId724" Type="http://schemas.openxmlformats.org/officeDocument/2006/relationships/slide" Target="slides/slide222.xml"/><Relationship Id="rId727" Type="http://schemas.openxmlformats.org/officeDocument/2006/relationships/slide" Target="slides/slide223.xml"/><Relationship Id="rId732" Type="http://schemas.openxmlformats.org/officeDocument/2006/relationships/slide" Target="slides/slide224.xml"/><Relationship Id="rId736" Type="http://schemas.openxmlformats.org/officeDocument/2006/relationships/slide" Target="slides/slide225.xml"/><Relationship Id="rId742" Type="http://schemas.openxmlformats.org/officeDocument/2006/relationships/slide" Target="slides/slide226.xml"/><Relationship Id="rId748" Type="http://schemas.openxmlformats.org/officeDocument/2006/relationships/slide" Target="slides/slide227.xml"/><Relationship Id="rId749" Type="http://schemas.openxmlformats.org/officeDocument/2006/relationships/slide" Target="slides/slide228.xml"/><Relationship Id="rId756" Type="http://schemas.openxmlformats.org/officeDocument/2006/relationships/slide" Target="slides/slide229.xml"/><Relationship Id="rId762" Type="http://schemas.openxmlformats.org/officeDocument/2006/relationships/slide" Target="slides/slide230.xml"/><Relationship Id="rId763" Type="http://schemas.openxmlformats.org/officeDocument/2006/relationships/slide" Target="slides/slide231.xml"/><Relationship Id="rId771" Type="http://schemas.openxmlformats.org/officeDocument/2006/relationships/slide" Target="slides/slide232.xml"/><Relationship Id="rId777" Type="http://schemas.openxmlformats.org/officeDocument/2006/relationships/slide" Target="slides/slide233.xml"/><Relationship Id="rId782" Type="http://schemas.openxmlformats.org/officeDocument/2006/relationships/slide" Target="slides/slide234.xml"/><Relationship Id="rId786" Type="http://schemas.openxmlformats.org/officeDocument/2006/relationships/slide" Target="slides/slide235.xml"/><Relationship Id="rId787" Type="http://schemas.openxmlformats.org/officeDocument/2006/relationships/slide" Target="slides/slide236.xml"/><Relationship Id="rId797" Type="http://schemas.openxmlformats.org/officeDocument/2006/relationships/slide" Target="slides/slide237.xml"/><Relationship Id="rId807" Type="http://schemas.openxmlformats.org/officeDocument/2006/relationships/slide" Target="slides/slide238.xml"/><Relationship Id="rId808" Type="http://schemas.openxmlformats.org/officeDocument/2006/relationships/slide" Target="slides/slide239.xml"/><Relationship Id="rId853" Type="http://schemas.openxmlformats.org/officeDocument/2006/relationships/slide" Target="slides/slide240.xml"/><Relationship Id="rId854" Type="http://schemas.openxmlformats.org/officeDocument/2006/relationships/slide" Target="slides/slide241.xml"/><Relationship Id="rId892" Type="http://schemas.openxmlformats.org/officeDocument/2006/relationships/slide" Target="slides/slide242.xml"/><Relationship Id="rId893" Type="http://schemas.openxmlformats.org/officeDocument/2006/relationships/slide" Target="slides/slide243.xml"/><Relationship Id="rId932" Type="http://schemas.openxmlformats.org/officeDocument/2006/relationships/slide" Target="slides/slide244.xml"/><Relationship Id="rId933" Type="http://schemas.openxmlformats.org/officeDocument/2006/relationships/slide" Target="slides/slide245.xml"/><Relationship Id="rId971" Type="http://schemas.openxmlformats.org/officeDocument/2006/relationships/slide" Target="slides/slide246.xml"/><Relationship Id="rId972" Type="http://schemas.openxmlformats.org/officeDocument/2006/relationships/slide" Target="slides/slide247.xml"/><Relationship Id="rId1010" Type="http://schemas.openxmlformats.org/officeDocument/2006/relationships/slide" Target="slides/slide248.xml"/><Relationship Id="rId1011" Type="http://schemas.openxmlformats.org/officeDocument/2006/relationships/slide" Target="slides/slide249.xml"/><Relationship Id="rId1049" Type="http://schemas.openxmlformats.org/officeDocument/2006/relationships/slide" Target="slides/slide250.xml"/><Relationship Id="rId1050" Type="http://schemas.openxmlformats.org/officeDocument/2006/relationships/slide" Target="slides/slide251.xml"/><Relationship Id="rId1088" Type="http://schemas.openxmlformats.org/officeDocument/2006/relationships/slide" Target="slides/slide252.xml"/><Relationship Id="rId1089" Type="http://schemas.openxmlformats.org/officeDocument/2006/relationships/slide" Target="slides/slide253.xml"/><Relationship Id="rId1127" Type="http://schemas.openxmlformats.org/officeDocument/2006/relationships/slide" Target="slides/slide254.xml"/><Relationship Id="rId1128" Type="http://schemas.openxmlformats.org/officeDocument/2006/relationships/slide" Target="slides/slide255.xml"/><Relationship Id="rId1166" Type="http://schemas.openxmlformats.org/officeDocument/2006/relationships/slide" Target="slides/slide256.xml"/><Relationship Id="rId1167" Type="http://schemas.openxmlformats.org/officeDocument/2006/relationships/slide" Target="slides/slide257.xml"/><Relationship Id="rId1205" Type="http://schemas.openxmlformats.org/officeDocument/2006/relationships/slide" Target="slides/slide258.xml"/><Relationship Id="rId1206" Type="http://schemas.openxmlformats.org/officeDocument/2006/relationships/slide" Target="slides/slide259.xml"/><Relationship Id="rId1244" Type="http://schemas.openxmlformats.org/officeDocument/2006/relationships/slide" Target="slides/slide260.xml"/><Relationship Id="rId1245" Type="http://schemas.openxmlformats.org/officeDocument/2006/relationships/slide" Target="slides/slide261.xml"/><Relationship Id="rId1283" Type="http://schemas.openxmlformats.org/officeDocument/2006/relationships/slide" Target="slides/slide262.xml"/><Relationship Id="rId1284" Type="http://schemas.openxmlformats.org/officeDocument/2006/relationships/slide" Target="slides/slide263.xml"/><Relationship Id="rId1322" Type="http://schemas.openxmlformats.org/officeDocument/2006/relationships/slide" Target="slides/slide264.xml"/><Relationship Id="rId1323" Type="http://schemas.openxmlformats.org/officeDocument/2006/relationships/slide" Target="slides/slide265.xml"/><Relationship Id="rId1362" Type="http://schemas.openxmlformats.org/officeDocument/2006/relationships/slide" Target="slides/slide266.xml"/><Relationship Id="rId1363" Type="http://schemas.openxmlformats.org/officeDocument/2006/relationships/slide" Target="slides/slide267.xml"/><Relationship Id="rId1401" Type="http://schemas.openxmlformats.org/officeDocument/2006/relationships/slide" Target="slides/slide268.xml"/><Relationship Id="rId1402" Type="http://schemas.openxmlformats.org/officeDocument/2006/relationships/slide" Target="slides/slide269.xml"/><Relationship Id="rId1440" Type="http://schemas.openxmlformats.org/officeDocument/2006/relationships/slide" Target="slides/slide270.xml"/><Relationship Id="rId1441" Type="http://schemas.openxmlformats.org/officeDocument/2006/relationships/slide" Target="slides/slide271.xml"/><Relationship Id="rId1479" Type="http://schemas.openxmlformats.org/officeDocument/2006/relationships/slide" Target="slides/slide272.xml"/><Relationship Id="rId1480" Type="http://schemas.openxmlformats.org/officeDocument/2006/relationships/slide" Target="slides/slide273.xml"/><Relationship Id="rId1518" Type="http://schemas.openxmlformats.org/officeDocument/2006/relationships/slide" Target="slides/slide274.xml"/><Relationship Id="rId1519" Type="http://schemas.openxmlformats.org/officeDocument/2006/relationships/slide" Target="slides/slide275.xml"/><Relationship Id="rId1557" Type="http://schemas.openxmlformats.org/officeDocument/2006/relationships/slide" Target="slides/slide276.xml"/><Relationship Id="rId1558" Type="http://schemas.openxmlformats.org/officeDocument/2006/relationships/slide" Target="slides/slide277.xml"/><Relationship Id="rId1597" Type="http://schemas.openxmlformats.org/officeDocument/2006/relationships/slide" Target="slides/slide278.xml"/><Relationship Id="rId1598" Type="http://schemas.openxmlformats.org/officeDocument/2006/relationships/slide" Target="slides/slide279.xml"/><Relationship Id="rId1636" Type="http://schemas.openxmlformats.org/officeDocument/2006/relationships/slide" Target="slides/slide280.xml"/><Relationship Id="rId1637" Type="http://schemas.openxmlformats.org/officeDocument/2006/relationships/slide" Target="slides/slide281.xml"/><Relationship Id="rId1676" Type="http://schemas.openxmlformats.org/officeDocument/2006/relationships/slide" Target="slides/slide282.xml"/><Relationship Id="rId1677" Type="http://schemas.openxmlformats.org/officeDocument/2006/relationships/slide" Target="slides/slide283.xml"/><Relationship Id="rId1716" Type="http://schemas.openxmlformats.org/officeDocument/2006/relationships/slide" Target="slides/slide284.xml"/><Relationship Id="rId1717" Type="http://schemas.openxmlformats.org/officeDocument/2006/relationships/slide" Target="slides/slide285.xml"/><Relationship Id="rId1756" Type="http://schemas.openxmlformats.org/officeDocument/2006/relationships/slide" Target="slides/slide286.xml"/><Relationship Id="rId1757" Type="http://schemas.openxmlformats.org/officeDocument/2006/relationships/slide" Target="slides/slide287.xml"/><Relationship Id="rId1796" Type="http://schemas.openxmlformats.org/officeDocument/2006/relationships/slide" Target="slides/slide288.xml"/><Relationship Id="rId1797" Type="http://schemas.openxmlformats.org/officeDocument/2006/relationships/slide" Target="slides/slide289.xml"/><Relationship Id="rId1836" Type="http://schemas.openxmlformats.org/officeDocument/2006/relationships/slide" Target="slides/slide290.xml"/><Relationship Id="rId1837" Type="http://schemas.openxmlformats.org/officeDocument/2006/relationships/slide" Target="slides/slide291.xml"/><Relationship Id="rId1875" Type="http://schemas.openxmlformats.org/officeDocument/2006/relationships/slide" Target="slides/slide292.xml"/><Relationship Id="rId1876" Type="http://schemas.openxmlformats.org/officeDocument/2006/relationships/slide" Target="slides/slide293.xml"/><Relationship Id="rId1915" Type="http://schemas.openxmlformats.org/officeDocument/2006/relationships/slide" Target="slides/slide294.xml"/><Relationship Id="rId1916" Type="http://schemas.openxmlformats.org/officeDocument/2006/relationships/slide" Target="slides/slide295.xml"/><Relationship Id="rId1954" Type="http://schemas.openxmlformats.org/officeDocument/2006/relationships/slide" Target="slides/slide296.xml"/><Relationship Id="rId1955" Type="http://schemas.openxmlformats.org/officeDocument/2006/relationships/slide" Target="slides/slide297.xml"/><Relationship Id="rId1993" Type="http://schemas.openxmlformats.org/officeDocument/2006/relationships/slide" Target="slides/slide298.xml"/><Relationship Id="rId1994" Type="http://schemas.openxmlformats.org/officeDocument/2006/relationships/slide" Target="slides/slide29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Sheet28.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Sheet41.xlsx"/></Relationships>
</file>

<file path=ppt/charts/_rels/chart51.xml.rels><?xml version='1.0' encoding='UTF-8' standalone='yes'?>
<Relationships xmlns="http://schemas.openxmlformats.org/package/2006/relationships"><Relationship Id="rId1" Type="http://schemas.openxmlformats.org/officeDocument/2006/relationships/package" Target="../embeddings/Microsoft_Excel_Sheet51.xlsx"/></Relationships>
</file>

<file path=ppt/charts/_rels/chart57.xml.rels><?xml version='1.0' encoding='UTF-8' standalone='yes'?>
<Relationships xmlns="http://schemas.openxmlformats.org/package/2006/relationships"><Relationship Id="rId1" Type="http://schemas.openxmlformats.org/officeDocument/2006/relationships/package" Target="../embeddings/Microsoft_Excel_Sheet57.xlsx"/></Relationships>
</file>

<file path=ppt/charts/_rels/chart67.xml.rels><?xml version='1.0' encoding='UTF-8' standalone='yes'?>
<Relationships xmlns="http://schemas.openxmlformats.org/package/2006/relationships"><Relationship Id="rId1" Type="http://schemas.openxmlformats.org/officeDocument/2006/relationships/package" Target="../embeddings/Microsoft_Excel_Sheet67.xlsx"/></Relationships>
</file>

<file path=ppt/charts/_rels/chart68.xml.rels><?xml version='1.0' encoding='UTF-8' standalone='yes'?>
<Relationships xmlns="http://schemas.openxmlformats.org/package/2006/relationships"><Relationship Id="rId1" Type="http://schemas.openxmlformats.org/officeDocument/2006/relationships/package" Target="../embeddings/Microsoft_Excel_Sheet68.xlsx"/></Relationships>
</file>

<file path=ppt/charts/_rels/chart69.xml.rels><?xml version='1.0' encoding='UTF-8' standalone='yes'?>
<Relationships xmlns="http://schemas.openxmlformats.org/package/2006/relationships"><Relationship Id="rId1" Type="http://schemas.openxmlformats.org/officeDocument/2006/relationships/package" Target="../embeddings/Microsoft_Excel_Sheet69.xlsx"/></Relationships>
</file>

<file path=ppt/charts/_rels/chart70.xml.rels><?xml version='1.0' encoding='UTF-8' standalone='yes'?>
<Relationships xmlns="http://schemas.openxmlformats.org/package/2006/relationships"><Relationship Id="rId1" Type="http://schemas.openxmlformats.org/officeDocument/2006/relationships/package" Target="../embeddings/Microsoft_Excel_Sheet70.xlsx"/></Relationships>
</file>

<file path=ppt/charts/_rels/chart71.xml.rels><?xml version='1.0' encoding='UTF-8' standalone='yes'?>
<Relationships xmlns="http://schemas.openxmlformats.org/package/2006/relationships"><Relationship Id="rId1" Type="http://schemas.openxmlformats.org/officeDocument/2006/relationships/package" Target="../embeddings/Microsoft_Excel_Sheet71.xlsx"/></Relationships>
</file>

<file path=ppt/charts/_rels/chart72.xml.rels><?xml version='1.0' encoding='UTF-8' standalone='yes'?>
<Relationships xmlns="http://schemas.openxmlformats.org/package/2006/relationships"><Relationship Id="rId1" Type="http://schemas.openxmlformats.org/officeDocument/2006/relationships/package" Target="../embeddings/Microsoft_Excel_Sheet72.xlsx"/></Relationships>
</file>

<file path=ppt/charts/_rels/chart73.xml.rels><?xml version='1.0' encoding='UTF-8' standalone='yes'?>
<Relationships xmlns="http://schemas.openxmlformats.org/package/2006/relationships"><Relationship Id="rId1" Type="http://schemas.openxmlformats.org/officeDocument/2006/relationships/package" Target="../embeddings/Microsoft_Excel_Sheet73.xlsx"/></Relationships>
</file>

<file path=ppt/charts/_rels/chart74.xml.rels><?xml version='1.0' encoding='UTF-8' standalone='yes'?>
<Relationships xmlns="http://schemas.openxmlformats.org/package/2006/relationships"><Relationship Id="rId1" Type="http://schemas.openxmlformats.org/officeDocument/2006/relationships/package" Target="../embeddings/Microsoft_Excel_Sheet74.xlsx"/></Relationships>
</file>

<file path=ppt/charts/_rels/chart75.xml.rels><?xml version='1.0' encoding='UTF-8' standalone='yes'?>
<Relationships xmlns="http://schemas.openxmlformats.org/package/2006/relationships"><Relationship Id="rId1" Type="http://schemas.openxmlformats.org/officeDocument/2006/relationships/package" Target="../embeddings/Microsoft_Excel_Sheet75.xlsx"/></Relationships>
</file>

<file path=ppt/charts/_rels/chart76.xml.rels><?xml version='1.0' encoding='UTF-8' standalone='yes'?>
<Relationships xmlns="http://schemas.openxmlformats.org/package/2006/relationships"><Relationship Id="rId1" Type="http://schemas.openxmlformats.org/officeDocument/2006/relationships/package" Target="../embeddings/Microsoft_Excel_Sheet76.xlsx"/></Relationships>
</file>

<file path=ppt/charts/_rels/chart78.xml.rels><?xml version='1.0' encoding='UTF-8' standalone='yes'?>
<Relationships xmlns="http://schemas.openxmlformats.org/package/2006/relationships"><Relationship Id="rId1" Type="http://schemas.openxmlformats.org/officeDocument/2006/relationships/package" Target="../embeddings/Microsoft_Excel_Sheet78.xlsx"/></Relationships>
</file>

<file path=ppt/charts/_rels/chart79.xml.rels><?xml version='1.0' encoding='UTF-8' standalone='yes'?>
<Relationships xmlns="http://schemas.openxmlformats.org/package/2006/relationships"><Relationship Id="rId1" Type="http://schemas.openxmlformats.org/officeDocument/2006/relationships/package" Target="../embeddings/Microsoft_Excel_Sheet79.xlsx"/></Relationships>
</file>

<file path=ppt/charts/_rels/chart80.xml.rels><?xml version='1.0' encoding='UTF-8' standalone='yes'?>
<Relationships xmlns="http://schemas.openxmlformats.org/package/2006/relationships"><Relationship Id="rId1" Type="http://schemas.openxmlformats.org/officeDocument/2006/relationships/package" Target="../embeddings/Microsoft_Excel_Sheet80.xlsx"/></Relationships>
</file>

<file path=ppt/charts/_rels/chart81.xml.rels><?xml version='1.0' encoding='UTF-8' standalone='yes'?>
<Relationships xmlns="http://schemas.openxmlformats.org/package/2006/relationships"><Relationship Id="rId1" Type="http://schemas.openxmlformats.org/officeDocument/2006/relationships/package" Target="../embeddings/Microsoft_Excel_Sheet81.xlsx"/></Relationships>
</file>

<file path=ppt/charts/_rels/chart86.xml.rels><?xml version='1.0' encoding='UTF-8' standalone='yes'?>
<Relationships xmlns="http://schemas.openxmlformats.org/package/2006/relationships"><Relationship Id="rId1" Type="http://schemas.openxmlformats.org/officeDocument/2006/relationships/package" Target="../embeddings/Microsoft_Excel_Sheet86.xlsx"/></Relationships>
</file>

<file path=ppt/charts/_rels/chart95.xml.rels><?xml version='1.0' encoding='UTF-8' standalone='yes'?>
<Relationships xmlns="http://schemas.openxmlformats.org/package/2006/relationships"><Relationship Id="rId1" Type="http://schemas.openxmlformats.org/officeDocument/2006/relationships/package" Target="../embeddings/Microsoft_Excel_Sheet95.xlsx"/></Relationships>
</file>

<file path=ppt/charts/_rels/chart108.xml.rels><?xml version='1.0' encoding='UTF-8' standalone='yes'?>
<Relationships xmlns="http://schemas.openxmlformats.org/package/2006/relationships"><Relationship Id="rId1" Type="http://schemas.openxmlformats.org/officeDocument/2006/relationships/package" Target="../embeddings/Microsoft_Excel_Sheet108.xlsx"/></Relationships>
</file>

<file path=ppt/charts/_rels/chart118.xml.rels><?xml version='1.0' encoding='UTF-8' standalone='yes'?>
<Relationships xmlns="http://schemas.openxmlformats.org/package/2006/relationships"><Relationship Id="rId1" Type="http://schemas.openxmlformats.org/officeDocument/2006/relationships/package" Target="../embeddings/Microsoft_Excel_Sheet118.xlsx"/></Relationships>
</file>

<file path=ppt/charts/_rels/chart124.xml.rels><?xml version='1.0' encoding='UTF-8' standalone='yes'?>
<Relationships xmlns="http://schemas.openxmlformats.org/package/2006/relationships"><Relationship Id="rId1" Type="http://schemas.openxmlformats.org/officeDocument/2006/relationships/package" Target="../embeddings/Microsoft_Excel_Sheet124.xlsx"/></Relationships>
</file>

<file path=ppt/charts/_rels/chart134.xml.rels><?xml version='1.0' encoding='UTF-8' standalone='yes'?>
<Relationships xmlns="http://schemas.openxmlformats.org/package/2006/relationships"><Relationship Id="rId1" Type="http://schemas.openxmlformats.org/officeDocument/2006/relationships/package" Target="../embeddings/Microsoft_Excel_Sheet134.xlsx"/></Relationships>
</file>

<file path=ppt/charts/_rels/chart135.xml.rels><?xml version='1.0' encoding='UTF-8' standalone='yes'?>
<Relationships xmlns="http://schemas.openxmlformats.org/package/2006/relationships"><Relationship Id="rId1" Type="http://schemas.openxmlformats.org/officeDocument/2006/relationships/package" Target="../embeddings/Microsoft_Excel_Sheet135.xlsx"/></Relationships>
</file>

<file path=ppt/charts/_rels/chart136.xml.rels><?xml version='1.0' encoding='UTF-8' standalone='yes'?>
<Relationships xmlns="http://schemas.openxmlformats.org/package/2006/relationships"><Relationship Id="rId1" Type="http://schemas.openxmlformats.org/officeDocument/2006/relationships/package" Target="../embeddings/Microsoft_Excel_Sheet136.xlsx"/></Relationships>
</file>

<file path=ppt/charts/_rels/chart137.xml.rels><?xml version='1.0' encoding='UTF-8' standalone='yes'?>
<Relationships xmlns="http://schemas.openxmlformats.org/package/2006/relationships"><Relationship Id="rId1" Type="http://schemas.openxmlformats.org/officeDocument/2006/relationships/package" Target="../embeddings/Microsoft_Excel_Sheet137.xlsx"/></Relationships>
</file>

<file path=ppt/charts/_rels/chart138.xml.rels><?xml version='1.0' encoding='UTF-8' standalone='yes'?>
<Relationships xmlns="http://schemas.openxmlformats.org/package/2006/relationships"><Relationship Id="rId1" Type="http://schemas.openxmlformats.org/officeDocument/2006/relationships/package" Target="../embeddings/Microsoft_Excel_Sheet138.xlsx"/></Relationships>
</file>

<file path=ppt/charts/_rels/chart139.xml.rels><?xml version='1.0' encoding='UTF-8' standalone='yes'?>
<Relationships xmlns="http://schemas.openxmlformats.org/package/2006/relationships"><Relationship Id="rId1" Type="http://schemas.openxmlformats.org/officeDocument/2006/relationships/package" Target="../embeddings/Microsoft_Excel_Sheet139.xlsx"/></Relationships>
</file>

<file path=ppt/charts/_rels/chart140.xml.rels><?xml version='1.0' encoding='UTF-8' standalone='yes'?>
<Relationships xmlns="http://schemas.openxmlformats.org/package/2006/relationships"><Relationship Id="rId1" Type="http://schemas.openxmlformats.org/officeDocument/2006/relationships/package" Target="../embeddings/Microsoft_Excel_Sheet140.xlsx"/></Relationships>
</file>

<file path=ppt/charts/_rels/chart141.xml.rels><?xml version='1.0' encoding='UTF-8' standalone='yes'?>
<Relationships xmlns="http://schemas.openxmlformats.org/package/2006/relationships"><Relationship Id="rId1" Type="http://schemas.openxmlformats.org/officeDocument/2006/relationships/package" Target="../embeddings/Microsoft_Excel_Sheet141.xlsx"/></Relationships>
</file>

<file path=ppt/charts/_rels/chart142.xml.rels><?xml version='1.0' encoding='UTF-8' standalone='yes'?>
<Relationships xmlns="http://schemas.openxmlformats.org/package/2006/relationships"><Relationship Id="rId1" Type="http://schemas.openxmlformats.org/officeDocument/2006/relationships/package" Target="../embeddings/Microsoft_Excel_Sheet142.xlsx"/></Relationships>
</file>

<file path=ppt/charts/_rels/chart143.xml.rels><?xml version='1.0' encoding='UTF-8' standalone='yes'?>
<Relationships xmlns="http://schemas.openxmlformats.org/package/2006/relationships"><Relationship Id="rId1" Type="http://schemas.openxmlformats.org/officeDocument/2006/relationships/package" Target="../embeddings/Microsoft_Excel_Sheet143.xlsx"/></Relationships>
</file>

<file path=ppt/charts/_rels/chart145.xml.rels><?xml version='1.0' encoding='UTF-8' standalone='yes'?>
<Relationships xmlns="http://schemas.openxmlformats.org/package/2006/relationships"><Relationship Id="rId1" Type="http://schemas.openxmlformats.org/officeDocument/2006/relationships/package" Target="../embeddings/Microsoft_Excel_Sheet145.xlsx"/></Relationships>
</file>

<file path=ppt/charts/_rels/chart146.xml.rels><?xml version='1.0' encoding='UTF-8' standalone='yes'?>
<Relationships xmlns="http://schemas.openxmlformats.org/package/2006/relationships"><Relationship Id="rId1" Type="http://schemas.openxmlformats.org/officeDocument/2006/relationships/package" Target="../embeddings/Microsoft_Excel_Sheet146.xlsx"/></Relationships>
</file>

<file path=ppt/charts/_rels/chart147.xml.rels><?xml version='1.0' encoding='UTF-8' standalone='yes'?>
<Relationships xmlns="http://schemas.openxmlformats.org/package/2006/relationships"><Relationship Id="rId1" Type="http://schemas.openxmlformats.org/officeDocument/2006/relationships/package" Target="../embeddings/Microsoft_Excel_Sheet147.xlsx"/></Relationships>
</file>

<file path=ppt/charts/_rels/chart148.xml.rels><?xml version='1.0' encoding='UTF-8' standalone='yes'?>
<Relationships xmlns="http://schemas.openxmlformats.org/package/2006/relationships"><Relationship Id="rId1" Type="http://schemas.openxmlformats.org/officeDocument/2006/relationships/package" Target="../embeddings/Microsoft_Excel_Sheet148.xlsx"/></Relationships>
</file>

<file path=ppt/charts/_rels/chart153.xml.rels><?xml version='1.0' encoding='UTF-8' standalone='yes'?>
<Relationships xmlns="http://schemas.openxmlformats.org/package/2006/relationships"><Relationship Id="rId1" Type="http://schemas.openxmlformats.org/officeDocument/2006/relationships/package" Target="../embeddings/Microsoft_Excel_Sheet153.xlsx"/></Relationships>
</file>

<file path=ppt/charts/_rels/chart162.xml.rels><?xml version='1.0' encoding='UTF-8' standalone='yes'?>
<Relationships xmlns="http://schemas.openxmlformats.org/package/2006/relationships"><Relationship Id="rId1" Type="http://schemas.openxmlformats.org/officeDocument/2006/relationships/package" Target="../embeddings/Microsoft_Excel_Sheet162.xlsx"/></Relationships>
</file>

<file path=ppt/charts/_rels/chart175.xml.rels><?xml version='1.0' encoding='UTF-8' standalone='yes'?>
<Relationships xmlns="http://schemas.openxmlformats.org/package/2006/relationships"><Relationship Id="rId1" Type="http://schemas.openxmlformats.org/officeDocument/2006/relationships/package" Target="../embeddings/Microsoft_Excel_Sheet175.xlsx"/></Relationships>
</file>

<file path=ppt/charts/_rels/chart185.xml.rels><?xml version='1.0' encoding='UTF-8' standalone='yes'?>
<Relationships xmlns="http://schemas.openxmlformats.org/package/2006/relationships"><Relationship Id="rId1" Type="http://schemas.openxmlformats.org/officeDocument/2006/relationships/package" Target="../embeddings/Microsoft_Excel_Sheet185.xlsx"/></Relationships>
</file>

<file path=ppt/charts/_rels/chart191.xml.rels><?xml version='1.0' encoding='UTF-8' standalone='yes'?>
<Relationships xmlns="http://schemas.openxmlformats.org/package/2006/relationships"><Relationship Id="rId1" Type="http://schemas.openxmlformats.org/officeDocument/2006/relationships/package" Target="../embeddings/Microsoft_Excel_Sheet191.xlsx"/></Relationships>
</file>

<file path=ppt/charts/_rels/chart201.xml.rels><?xml version='1.0' encoding='UTF-8' standalone='yes'?>
<Relationships xmlns="http://schemas.openxmlformats.org/package/2006/relationships"><Relationship Id="rId1" Type="http://schemas.openxmlformats.org/officeDocument/2006/relationships/package" Target="../embeddings/Microsoft_Excel_Sheet201.xlsx"/></Relationships>
</file>

<file path=ppt/charts/_rels/chart202.xml.rels><?xml version='1.0' encoding='UTF-8' standalone='yes'?>
<Relationships xmlns="http://schemas.openxmlformats.org/package/2006/relationships"><Relationship Id="rId1" Type="http://schemas.openxmlformats.org/officeDocument/2006/relationships/package" Target="../embeddings/Microsoft_Excel_Sheet202.xlsx"/></Relationships>
</file>

<file path=ppt/charts/_rels/chart203.xml.rels><?xml version='1.0' encoding='UTF-8' standalone='yes'?>
<Relationships xmlns="http://schemas.openxmlformats.org/package/2006/relationships"><Relationship Id="rId1" Type="http://schemas.openxmlformats.org/officeDocument/2006/relationships/package" Target="../embeddings/Microsoft_Excel_Sheet203.xlsx"/></Relationships>
</file>

<file path=ppt/charts/_rels/chart204.xml.rels><?xml version='1.0' encoding='UTF-8' standalone='yes'?>
<Relationships xmlns="http://schemas.openxmlformats.org/package/2006/relationships"><Relationship Id="rId1" Type="http://schemas.openxmlformats.org/officeDocument/2006/relationships/package" Target="../embeddings/Microsoft_Excel_Sheet204.xlsx"/></Relationships>
</file>

<file path=ppt/charts/_rels/chart205.xml.rels><?xml version='1.0' encoding='UTF-8' standalone='yes'?>
<Relationships xmlns="http://schemas.openxmlformats.org/package/2006/relationships"><Relationship Id="rId1" Type="http://schemas.openxmlformats.org/officeDocument/2006/relationships/package" Target="../embeddings/Microsoft_Excel_Sheet205.xlsx"/></Relationships>
</file>

<file path=ppt/charts/_rels/chart206.xml.rels><?xml version='1.0' encoding='UTF-8' standalone='yes'?>
<Relationships xmlns="http://schemas.openxmlformats.org/package/2006/relationships"><Relationship Id="rId1" Type="http://schemas.openxmlformats.org/officeDocument/2006/relationships/package" Target="../embeddings/Microsoft_Excel_Sheet206.xlsx"/></Relationships>
</file>

<file path=ppt/charts/_rels/chart207.xml.rels><?xml version='1.0' encoding='UTF-8' standalone='yes'?>
<Relationships xmlns="http://schemas.openxmlformats.org/package/2006/relationships"><Relationship Id="rId1" Type="http://schemas.openxmlformats.org/officeDocument/2006/relationships/package" Target="../embeddings/Microsoft_Excel_Sheet207.xlsx"/></Relationships>
</file>

<file path=ppt/charts/_rels/chart208.xml.rels><?xml version='1.0' encoding='UTF-8' standalone='yes'?>
<Relationships xmlns="http://schemas.openxmlformats.org/package/2006/relationships"><Relationship Id="rId1" Type="http://schemas.openxmlformats.org/officeDocument/2006/relationships/package" Target="../embeddings/Microsoft_Excel_Sheet208.xlsx"/></Relationships>
</file>

<file path=ppt/charts/_rels/chart209.xml.rels><?xml version='1.0' encoding='UTF-8' standalone='yes'?>
<Relationships xmlns="http://schemas.openxmlformats.org/package/2006/relationships"><Relationship Id="rId1" Type="http://schemas.openxmlformats.org/officeDocument/2006/relationships/package" Target="../embeddings/Microsoft_Excel_Sheet209.xlsx"/></Relationships>
</file>

<file path=ppt/charts/_rels/chart210.xml.rels><?xml version='1.0' encoding='UTF-8' standalone='yes'?>
<Relationships xmlns="http://schemas.openxmlformats.org/package/2006/relationships"><Relationship Id="rId1" Type="http://schemas.openxmlformats.org/officeDocument/2006/relationships/package" Target="../embeddings/Microsoft_Excel_Sheet210.xlsx"/></Relationships>
</file>

<file path=ppt/charts/_rels/chart212.xml.rels><?xml version='1.0' encoding='UTF-8' standalone='yes'?>
<Relationships xmlns="http://schemas.openxmlformats.org/package/2006/relationships"><Relationship Id="rId1" Type="http://schemas.openxmlformats.org/officeDocument/2006/relationships/package" Target="../embeddings/Microsoft_Excel_Sheet212.xlsx"/></Relationships>
</file>

<file path=ppt/charts/_rels/chart213.xml.rels><?xml version='1.0' encoding='UTF-8' standalone='yes'?>
<Relationships xmlns="http://schemas.openxmlformats.org/package/2006/relationships"><Relationship Id="rId1" Type="http://schemas.openxmlformats.org/officeDocument/2006/relationships/package" Target="../embeddings/Microsoft_Excel_Sheet213.xlsx"/></Relationships>
</file>

<file path=ppt/charts/_rels/chart214.xml.rels><?xml version='1.0' encoding='UTF-8' standalone='yes'?>
<Relationships xmlns="http://schemas.openxmlformats.org/package/2006/relationships"><Relationship Id="rId1" Type="http://schemas.openxmlformats.org/officeDocument/2006/relationships/package" Target="../embeddings/Microsoft_Excel_Sheet214.xlsx"/></Relationships>
</file>

<file path=ppt/charts/_rels/chart215.xml.rels><?xml version='1.0' encoding='UTF-8' standalone='yes'?>
<Relationships xmlns="http://schemas.openxmlformats.org/package/2006/relationships"><Relationship Id="rId1" Type="http://schemas.openxmlformats.org/officeDocument/2006/relationships/package" Target="../embeddings/Microsoft_Excel_Sheet215.xlsx"/></Relationships>
</file>

<file path=ppt/charts/_rels/chart220.xml.rels><?xml version='1.0' encoding='UTF-8' standalone='yes'?>
<Relationships xmlns="http://schemas.openxmlformats.org/package/2006/relationships"><Relationship Id="rId1" Type="http://schemas.openxmlformats.org/officeDocument/2006/relationships/package" Target="../embeddings/Microsoft_Excel_Sheet220.xlsx"/></Relationships>
</file>

<file path=ppt/charts/_rels/chart229.xml.rels><?xml version='1.0' encoding='UTF-8' standalone='yes'?>
<Relationships xmlns="http://schemas.openxmlformats.org/package/2006/relationships"><Relationship Id="rId1" Type="http://schemas.openxmlformats.org/officeDocument/2006/relationships/package" Target="../embeddings/Microsoft_Excel_Sheet229.xlsx"/></Relationships>
</file>

<file path=ppt/charts/_rels/chart242.xml.rels><?xml version='1.0' encoding='UTF-8' standalone='yes'?>
<Relationships xmlns="http://schemas.openxmlformats.org/package/2006/relationships"><Relationship Id="rId1" Type="http://schemas.openxmlformats.org/officeDocument/2006/relationships/package" Target="../embeddings/Microsoft_Excel_Sheet242.xlsx"/></Relationships>
</file>

<file path=ppt/charts/_rels/chart252.xml.rels><?xml version='1.0' encoding='UTF-8' standalone='yes'?>
<Relationships xmlns="http://schemas.openxmlformats.org/package/2006/relationships"><Relationship Id="rId1" Type="http://schemas.openxmlformats.org/officeDocument/2006/relationships/package" Target="../embeddings/Microsoft_Excel_Sheet252.xlsx"/></Relationships>
</file>

<file path=ppt/charts/_rels/chart258.xml.rels><?xml version='1.0' encoding='UTF-8' standalone='yes'?>
<Relationships xmlns="http://schemas.openxmlformats.org/package/2006/relationships"><Relationship Id="rId1" Type="http://schemas.openxmlformats.org/officeDocument/2006/relationships/package" Target="../embeddings/Microsoft_Excel_Sheet258.xlsx"/></Relationships>
</file>

<file path=ppt/charts/_rels/chart268.xml.rels><?xml version='1.0' encoding='UTF-8' standalone='yes'?>
<Relationships xmlns="http://schemas.openxmlformats.org/package/2006/relationships"><Relationship Id="rId1" Type="http://schemas.openxmlformats.org/officeDocument/2006/relationships/package" Target="../embeddings/Microsoft_Excel_Sheet268.xlsx"/></Relationships>
</file>

<file path=ppt/charts/_rels/chart269.xml.rels><?xml version='1.0' encoding='UTF-8' standalone='yes'?>
<Relationships xmlns="http://schemas.openxmlformats.org/package/2006/relationships"><Relationship Id="rId1" Type="http://schemas.openxmlformats.org/officeDocument/2006/relationships/package" Target="../embeddings/Microsoft_Excel_Sheet269.xlsx"/></Relationships>
</file>

<file path=ppt/charts/_rels/chart270.xml.rels><?xml version='1.0' encoding='UTF-8' standalone='yes'?>
<Relationships xmlns="http://schemas.openxmlformats.org/package/2006/relationships"><Relationship Id="rId1" Type="http://schemas.openxmlformats.org/officeDocument/2006/relationships/package" Target="../embeddings/Microsoft_Excel_Sheet270.xlsx"/></Relationships>
</file>

<file path=ppt/charts/_rels/chart271.xml.rels><?xml version='1.0' encoding='UTF-8' standalone='yes'?>
<Relationships xmlns="http://schemas.openxmlformats.org/package/2006/relationships"><Relationship Id="rId1" Type="http://schemas.openxmlformats.org/officeDocument/2006/relationships/package" Target="../embeddings/Microsoft_Excel_Sheet271.xlsx"/></Relationships>
</file>

<file path=ppt/charts/_rels/chart272.xml.rels><?xml version='1.0' encoding='UTF-8' standalone='yes'?>
<Relationships xmlns="http://schemas.openxmlformats.org/package/2006/relationships"><Relationship Id="rId1" Type="http://schemas.openxmlformats.org/officeDocument/2006/relationships/package" Target="../embeddings/Microsoft_Excel_Sheet272.xlsx"/></Relationships>
</file>

<file path=ppt/charts/_rels/chart273.xml.rels><?xml version='1.0' encoding='UTF-8' standalone='yes'?>
<Relationships xmlns="http://schemas.openxmlformats.org/package/2006/relationships"><Relationship Id="rId1" Type="http://schemas.openxmlformats.org/officeDocument/2006/relationships/package" Target="../embeddings/Microsoft_Excel_Sheet273.xlsx"/></Relationships>
</file>

<file path=ppt/charts/_rels/chart274.xml.rels><?xml version='1.0' encoding='UTF-8' standalone='yes'?>
<Relationships xmlns="http://schemas.openxmlformats.org/package/2006/relationships"><Relationship Id="rId1" Type="http://schemas.openxmlformats.org/officeDocument/2006/relationships/package" Target="../embeddings/Microsoft_Excel_Sheet274.xlsx"/></Relationships>
</file>

<file path=ppt/charts/_rels/chart275.xml.rels><?xml version='1.0' encoding='UTF-8' standalone='yes'?>
<Relationships xmlns="http://schemas.openxmlformats.org/package/2006/relationships"><Relationship Id="rId1" Type="http://schemas.openxmlformats.org/officeDocument/2006/relationships/package" Target="../embeddings/Microsoft_Excel_Sheet275.xlsx"/></Relationships>
</file>

<file path=ppt/charts/_rels/chart276.xml.rels><?xml version='1.0' encoding='UTF-8' standalone='yes'?>
<Relationships xmlns="http://schemas.openxmlformats.org/package/2006/relationships"><Relationship Id="rId1" Type="http://schemas.openxmlformats.org/officeDocument/2006/relationships/package" Target="../embeddings/Microsoft_Excel_Sheet276.xlsx"/></Relationships>
</file>

<file path=ppt/charts/_rels/chart277.xml.rels><?xml version='1.0' encoding='UTF-8' standalone='yes'?>
<Relationships xmlns="http://schemas.openxmlformats.org/package/2006/relationships"><Relationship Id="rId1" Type="http://schemas.openxmlformats.org/officeDocument/2006/relationships/package" Target="../embeddings/Microsoft_Excel_Sheet277.xlsx"/></Relationships>
</file>

<file path=ppt/charts/_rels/chart279.xml.rels><?xml version='1.0' encoding='UTF-8' standalone='yes'?>
<Relationships xmlns="http://schemas.openxmlformats.org/package/2006/relationships"><Relationship Id="rId1" Type="http://schemas.openxmlformats.org/officeDocument/2006/relationships/package" Target="../embeddings/Microsoft_Excel_Sheet279.xlsx"/></Relationships>
</file>

<file path=ppt/charts/_rels/chart280.xml.rels><?xml version='1.0' encoding='UTF-8' standalone='yes'?>
<Relationships xmlns="http://schemas.openxmlformats.org/package/2006/relationships"><Relationship Id="rId1" Type="http://schemas.openxmlformats.org/officeDocument/2006/relationships/package" Target="../embeddings/Microsoft_Excel_Sheet280.xlsx"/></Relationships>
</file>

<file path=ppt/charts/_rels/chart281.xml.rels><?xml version='1.0' encoding='UTF-8' standalone='yes'?>
<Relationships xmlns="http://schemas.openxmlformats.org/package/2006/relationships"><Relationship Id="rId1" Type="http://schemas.openxmlformats.org/officeDocument/2006/relationships/package" Target="../embeddings/Microsoft_Excel_Sheet281.xlsx"/></Relationships>
</file>

<file path=ppt/charts/_rels/chart282.xml.rels><?xml version='1.0' encoding='UTF-8' standalone='yes'?>
<Relationships xmlns="http://schemas.openxmlformats.org/package/2006/relationships"><Relationship Id="rId1" Type="http://schemas.openxmlformats.org/officeDocument/2006/relationships/package" Target="../embeddings/Microsoft_Excel_Sheet282.xlsx"/></Relationships>
</file>

<file path=ppt/charts/_rels/chart287.xml.rels><?xml version='1.0' encoding='UTF-8' standalone='yes'?>
<Relationships xmlns="http://schemas.openxmlformats.org/package/2006/relationships"><Relationship Id="rId1" Type="http://schemas.openxmlformats.org/officeDocument/2006/relationships/package" Target="../embeddings/Microsoft_Excel_Sheet287.xlsx"/></Relationships>
</file>

<file path=ppt/charts/_rels/chart296.xml.rels><?xml version='1.0' encoding='UTF-8' standalone='yes'?>
<Relationships xmlns="http://schemas.openxmlformats.org/package/2006/relationships"><Relationship Id="rId1" Type="http://schemas.openxmlformats.org/officeDocument/2006/relationships/package" Target="../embeddings/Microsoft_Excel_Sheet296.xlsx"/></Relationships>
</file>

<file path=ppt/charts/_rels/chart309.xml.rels><?xml version='1.0' encoding='UTF-8' standalone='yes'?>
<Relationships xmlns="http://schemas.openxmlformats.org/package/2006/relationships"><Relationship Id="rId1" Type="http://schemas.openxmlformats.org/officeDocument/2006/relationships/package" Target="../embeddings/Microsoft_Excel_Sheet309.xlsx"/></Relationships>
</file>

<file path=ppt/charts/_rels/chart319.xml.rels><?xml version='1.0' encoding='UTF-8' standalone='yes'?>
<Relationships xmlns="http://schemas.openxmlformats.org/package/2006/relationships"><Relationship Id="rId1" Type="http://schemas.openxmlformats.org/officeDocument/2006/relationships/package" Target="../embeddings/Microsoft_Excel_Sheet319.xlsx"/></Relationships>
</file>

<file path=ppt/charts/_rels/chart325.xml.rels><?xml version='1.0' encoding='UTF-8' standalone='yes'?>
<Relationships xmlns="http://schemas.openxmlformats.org/package/2006/relationships"><Relationship Id="rId1" Type="http://schemas.openxmlformats.org/officeDocument/2006/relationships/package" Target="../embeddings/Microsoft_Excel_Sheet325.xlsx"/></Relationships>
</file>

<file path=ppt/charts/_rels/chart335.xml.rels><?xml version='1.0' encoding='UTF-8' standalone='yes'?>
<Relationships xmlns="http://schemas.openxmlformats.org/package/2006/relationships"><Relationship Id="rId1" Type="http://schemas.openxmlformats.org/officeDocument/2006/relationships/package" Target="../embeddings/Microsoft_Excel_Sheet335.xlsx"/></Relationships>
</file>

<file path=ppt/charts/_rels/chart336.xml.rels><?xml version='1.0' encoding='UTF-8' standalone='yes'?>
<Relationships xmlns="http://schemas.openxmlformats.org/package/2006/relationships"><Relationship Id="rId1" Type="http://schemas.openxmlformats.org/officeDocument/2006/relationships/package" Target="../embeddings/Microsoft_Excel_Sheet336.xlsx"/></Relationships>
</file>

<file path=ppt/charts/_rels/chart337.xml.rels><?xml version='1.0' encoding='UTF-8' standalone='yes'?>
<Relationships xmlns="http://schemas.openxmlformats.org/package/2006/relationships"><Relationship Id="rId1" Type="http://schemas.openxmlformats.org/officeDocument/2006/relationships/package" Target="../embeddings/Microsoft_Excel_Sheet337.xlsx"/></Relationships>
</file>

<file path=ppt/charts/_rels/chart338.xml.rels><?xml version='1.0' encoding='UTF-8' standalone='yes'?>
<Relationships xmlns="http://schemas.openxmlformats.org/package/2006/relationships"><Relationship Id="rId1" Type="http://schemas.openxmlformats.org/officeDocument/2006/relationships/package" Target="../embeddings/Microsoft_Excel_Sheet338.xlsx"/></Relationships>
</file>

<file path=ppt/charts/_rels/chart339.xml.rels><?xml version='1.0' encoding='UTF-8' standalone='yes'?>
<Relationships xmlns="http://schemas.openxmlformats.org/package/2006/relationships"><Relationship Id="rId1" Type="http://schemas.openxmlformats.org/officeDocument/2006/relationships/package" Target="../embeddings/Microsoft_Excel_Sheet339.xlsx"/></Relationships>
</file>

<file path=ppt/charts/_rels/chart340.xml.rels><?xml version='1.0' encoding='UTF-8' standalone='yes'?>
<Relationships xmlns="http://schemas.openxmlformats.org/package/2006/relationships"><Relationship Id="rId1" Type="http://schemas.openxmlformats.org/officeDocument/2006/relationships/package" Target="../embeddings/Microsoft_Excel_Sheet340.xlsx"/></Relationships>
</file>

<file path=ppt/charts/_rels/chart341.xml.rels><?xml version='1.0' encoding='UTF-8' standalone='yes'?>
<Relationships xmlns="http://schemas.openxmlformats.org/package/2006/relationships"><Relationship Id="rId1" Type="http://schemas.openxmlformats.org/officeDocument/2006/relationships/package" Target="../embeddings/Microsoft_Excel_Sheet341.xlsx"/></Relationships>
</file>

<file path=ppt/charts/_rels/chart342.xml.rels><?xml version='1.0' encoding='UTF-8' standalone='yes'?>
<Relationships xmlns="http://schemas.openxmlformats.org/package/2006/relationships"><Relationship Id="rId1" Type="http://schemas.openxmlformats.org/officeDocument/2006/relationships/package" Target="../embeddings/Microsoft_Excel_Sheet342.xlsx"/></Relationships>
</file>

<file path=ppt/charts/_rels/chart343.xml.rels><?xml version='1.0' encoding='UTF-8' standalone='yes'?>
<Relationships xmlns="http://schemas.openxmlformats.org/package/2006/relationships"><Relationship Id="rId1" Type="http://schemas.openxmlformats.org/officeDocument/2006/relationships/package" Target="../embeddings/Microsoft_Excel_Sheet343.xlsx"/></Relationships>
</file>

<file path=ppt/charts/_rels/chart344.xml.rels><?xml version='1.0' encoding='UTF-8' standalone='yes'?>
<Relationships xmlns="http://schemas.openxmlformats.org/package/2006/relationships"><Relationship Id="rId1" Type="http://schemas.openxmlformats.org/officeDocument/2006/relationships/package" Target="../embeddings/Microsoft_Excel_Sheet344.xlsx"/></Relationships>
</file>

<file path=ppt/charts/_rels/chart346.xml.rels><?xml version='1.0' encoding='UTF-8' standalone='yes'?>
<Relationships xmlns="http://schemas.openxmlformats.org/package/2006/relationships"><Relationship Id="rId1" Type="http://schemas.openxmlformats.org/officeDocument/2006/relationships/package" Target="../embeddings/Microsoft_Excel_Sheet346.xlsx"/></Relationships>
</file>

<file path=ppt/charts/_rels/chart347.xml.rels><?xml version='1.0' encoding='UTF-8' standalone='yes'?>
<Relationships xmlns="http://schemas.openxmlformats.org/package/2006/relationships"><Relationship Id="rId1" Type="http://schemas.openxmlformats.org/officeDocument/2006/relationships/package" Target="../embeddings/Microsoft_Excel_Sheet347.xlsx"/></Relationships>
</file>

<file path=ppt/charts/_rels/chart348.xml.rels><?xml version='1.0' encoding='UTF-8' standalone='yes'?>
<Relationships xmlns="http://schemas.openxmlformats.org/package/2006/relationships"><Relationship Id="rId1" Type="http://schemas.openxmlformats.org/officeDocument/2006/relationships/package" Target="../embeddings/Microsoft_Excel_Sheet348.xlsx"/></Relationships>
</file>

<file path=ppt/charts/_rels/chart349.xml.rels><?xml version='1.0' encoding='UTF-8' standalone='yes'?>
<Relationships xmlns="http://schemas.openxmlformats.org/package/2006/relationships"><Relationship Id="rId1" Type="http://schemas.openxmlformats.org/officeDocument/2006/relationships/package" Target="../embeddings/Microsoft_Excel_Sheet349.xlsx"/></Relationships>
</file>

<file path=ppt/charts/_rels/chart354.xml.rels><?xml version='1.0' encoding='UTF-8' standalone='yes'?>
<Relationships xmlns="http://schemas.openxmlformats.org/package/2006/relationships"><Relationship Id="rId1" Type="http://schemas.openxmlformats.org/officeDocument/2006/relationships/package" Target="../embeddings/Microsoft_Excel_Sheet354.xlsx"/></Relationships>
</file>

<file path=ppt/charts/_rels/chart363.xml.rels><?xml version='1.0' encoding='UTF-8' standalone='yes'?>
<Relationships xmlns="http://schemas.openxmlformats.org/package/2006/relationships"><Relationship Id="rId1" Type="http://schemas.openxmlformats.org/officeDocument/2006/relationships/package" Target="../embeddings/Microsoft_Excel_Sheet363.xlsx"/></Relationships>
</file>

<file path=ppt/charts/_rels/chart376.xml.rels><?xml version='1.0' encoding='UTF-8' standalone='yes'?>
<Relationships xmlns="http://schemas.openxmlformats.org/package/2006/relationships"><Relationship Id="rId1" Type="http://schemas.openxmlformats.org/officeDocument/2006/relationships/package" Target="../embeddings/Microsoft_Excel_Sheet376.xlsx"/></Relationships>
</file>

<file path=ppt/charts/_rels/chart386.xml.rels><?xml version='1.0' encoding='UTF-8' standalone='yes'?>
<Relationships xmlns="http://schemas.openxmlformats.org/package/2006/relationships"><Relationship Id="rId1" Type="http://schemas.openxmlformats.org/officeDocument/2006/relationships/package" Target="../embeddings/Microsoft_Excel_Sheet386.xlsx"/></Relationships>
</file>

<file path=ppt/charts/_rels/chart392.xml.rels><?xml version='1.0' encoding='UTF-8' standalone='yes'?>
<Relationships xmlns="http://schemas.openxmlformats.org/package/2006/relationships"><Relationship Id="rId1" Type="http://schemas.openxmlformats.org/officeDocument/2006/relationships/package" Target="../embeddings/Microsoft_Excel_Sheet392.xlsx"/></Relationships>
</file>

<file path=ppt/charts/_rels/chart402.xml.rels><?xml version='1.0' encoding='UTF-8' standalone='yes'?>
<Relationships xmlns="http://schemas.openxmlformats.org/package/2006/relationships"><Relationship Id="rId1" Type="http://schemas.openxmlformats.org/officeDocument/2006/relationships/package" Target="../embeddings/Microsoft_Excel_Sheet402.xlsx"/></Relationships>
</file>

<file path=ppt/charts/_rels/chart403.xml.rels><?xml version='1.0' encoding='UTF-8' standalone='yes'?>
<Relationships xmlns="http://schemas.openxmlformats.org/package/2006/relationships"><Relationship Id="rId1" Type="http://schemas.openxmlformats.org/officeDocument/2006/relationships/package" Target="../embeddings/Microsoft_Excel_Sheet403.xlsx"/></Relationships>
</file>

<file path=ppt/charts/_rels/chart404.xml.rels><?xml version='1.0' encoding='UTF-8' standalone='yes'?>
<Relationships xmlns="http://schemas.openxmlformats.org/package/2006/relationships"><Relationship Id="rId1" Type="http://schemas.openxmlformats.org/officeDocument/2006/relationships/package" Target="../embeddings/Microsoft_Excel_Sheet404.xlsx"/></Relationships>
</file>

<file path=ppt/charts/_rels/chart405.xml.rels><?xml version='1.0' encoding='UTF-8' standalone='yes'?>
<Relationships xmlns="http://schemas.openxmlformats.org/package/2006/relationships"><Relationship Id="rId1" Type="http://schemas.openxmlformats.org/officeDocument/2006/relationships/package" Target="../embeddings/Microsoft_Excel_Sheet405.xlsx"/></Relationships>
</file>

<file path=ppt/charts/_rels/chart406.xml.rels><?xml version='1.0' encoding='UTF-8' standalone='yes'?>
<Relationships xmlns="http://schemas.openxmlformats.org/package/2006/relationships"><Relationship Id="rId1" Type="http://schemas.openxmlformats.org/officeDocument/2006/relationships/package" Target="../embeddings/Microsoft_Excel_Sheet406.xlsx"/></Relationships>
</file>

<file path=ppt/charts/_rels/chart407.xml.rels><?xml version='1.0' encoding='UTF-8' standalone='yes'?>
<Relationships xmlns="http://schemas.openxmlformats.org/package/2006/relationships"><Relationship Id="rId1" Type="http://schemas.openxmlformats.org/officeDocument/2006/relationships/package" Target="../embeddings/Microsoft_Excel_Sheet407.xlsx"/></Relationships>
</file>

<file path=ppt/charts/_rels/chart408.xml.rels><?xml version='1.0' encoding='UTF-8' standalone='yes'?>
<Relationships xmlns="http://schemas.openxmlformats.org/package/2006/relationships"><Relationship Id="rId1" Type="http://schemas.openxmlformats.org/officeDocument/2006/relationships/package" Target="../embeddings/Microsoft_Excel_Sheet408.xlsx"/></Relationships>
</file>

<file path=ppt/charts/_rels/chart409.xml.rels><?xml version='1.0' encoding='UTF-8' standalone='yes'?>
<Relationships xmlns="http://schemas.openxmlformats.org/package/2006/relationships"><Relationship Id="rId1" Type="http://schemas.openxmlformats.org/officeDocument/2006/relationships/package" Target="../embeddings/Microsoft_Excel_Sheet409.xlsx"/></Relationships>
</file>

<file path=ppt/charts/_rels/chart410.xml.rels><?xml version='1.0' encoding='UTF-8' standalone='yes'?>
<Relationships xmlns="http://schemas.openxmlformats.org/package/2006/relationships"><Relationship Id="rId1" Type="http://schemas.openxmlformats.org/officeDocument/2006/relationships/package" Target="../embeddings/Microsoft_Excel_Sheet410.xlsx"/></Relationships>
</file>

<file path=ppt/charts/_rels/chart411.xml.rels><?xml version='1.0' encoding='UTF-8' standalone='yes'?>
<Relationships xmlns="http://schemas.openxmlformats.org/package/2006/relationships"><Relationship Id="rId1" Type="http://schemas.openxmlformats.org/officeDocument/2006/relationships/package" Target="../embeddings/Microsoft_Excel_Sheet411.xlsx"/></Relationships>
</file>

<file path=ppt/charts/_rels/chart413.xml.rels><?xml version='1.0' encoding='UTF-8' standalone='yes'?>
<Relationships xmlns="http://schemas.openxmlformats.org/package/2006/relationships"><Relationship Id="rId1" Type="http://schemas.openxmlformats.org/officeDocument/2006/relationships/package" Target="../embeddings/Microsoft_Excel_Sheet413.xlsx"/></Relationships>
</file>

<file path=ppt/charts/_rels/chart414.xml.rels><?xml version='1.0' encoding='UTF-8' standalone='yes'?>
<Relationships xmlns="http://schemas.openxmlformats.org/package/2006/relationships"><Relationship Id="rId1" Type="http://schemas.openxmlformats.org/officeDocument/2006/relationships/package" Target="../embeddings/Microsoft_Excel_Sheet414.xlsx"/></Relationships>
</file>

<file path=ppt/charts/_rels/chart415.xml.rels><?xml version='1.0' encoding='UTF-8' standalone='yes'?>
<Relationships xmlns="http://schemas.openxmlformats.org/package/2006/relationships"><Relationship Id="rId1" Type="http://schemas.openxmlformats.org/officeDocument/2006/relationships/package" Target="../embeddings/Microsoft_Excel_Sheet415.xlsx"/></Relationships>
</file>

<file path=ppt/charts/_rels/chart416.xml.rels><?xml version='1.0' encoding='UTF-8' standalone='yes'?>
<Relationships xmlns="http://schemas.openxmlformats.org/package/2006/relationships"><Relationship Id="rId1" Type="http://schemas.openxmlformats.org/officeDocument/2006/relationships/package" Target="../embeddings/Microsoft_Excel_Sheet416.xlsx"/></Relationships>
</file>

<file path=ppt/charts/_rels/chart421.xml.rels><?xml version='1.0' encoding='UTF-8' standalone='yes'?>
<Relationships xmlns="http://schemas.openxmlformats.org/package/2006/relationships"><Relationship Id="rId1" Type="http://schemas.openxmlformats.org/officeDocument/2006/relationships/package" Target="../embeddings/Microsoft_Excel_Sheet421.xlsx"/></Relationships>
</file>

<file path=ppt/charts/_rels/chart430.xml.rels><?xml version='1.0' encoding='UTF-8' standalone='yes'?>
<Relationships xmlns="http://schemas.openxmlformats.org/package/2006/relationships"><Relationship Id="rId1" Type="http://schemas.openxmlformats.org/officeDocument/2006/relationships/package" Target="../embeddings/Microsoft_Excel_Sheet430.xlsx"/></Relationships>
</file>

<file path=ppt/charts/_rels/chart443.xml.rels><?xml version='1.0' encoding='UTF-8' standalone='yes'?>
<Relationships xmlns="http://schemas.openxmlformats.org/package/2006/relationships"><Relationship Id="rId1" Type="http://schemas.openxmlformats.org/officeDocument/2006/relationships/package" Target="../embeddings/Microsoft_Excel_Sheet443.xlsx"/></Relationships>
</file>

<file path=ppt/charts/_rels/chart453.xml.rels><?xml version='1.0' encoding='UTF-8' standalone='yes'?>
<Relationships xmlns="http://schemas.openxmlformats.org/package/2006/relationships"><Relationship Id="rId1" Type="http://schemas.openxmlformats.org/officeDocument/2006/relationships/package" Target="../embeddings/Microsoft_Excel_Sheet453.xlsx"/></Relationships>
</file>

<file path=ppt/charts/_rels/chart459.xml.rels><?xml version='1.0' encoding='UTF-8' standalone='yes'?>
<Relationships xmlns="http://schemas.openxmlformats.org/package/2006/relationships"><Relationship Id="rId1" Type="http://schemas.openxmlformats.org/officeDocument/2006/relationships/package" Target="../embeddings/Microsoft_Excel_Sheet459.xlsx"/></Relationships>
</file>

<file path=ppt/charts/_rels/chart469.xml.rels><?xml version='1.0' encoding='UTF-8' standalone='yes'?>
<Relationships xmlns="http://schemas.openxmlformats.org/package/2006/relationships"><Relationship Id="rId1" Type="http://schemas.openxmlformats.org/officeDocument/2006/relationships/package" Target="../embeddings/Microsoft_Excel_Sheet469.xlsx"/></Relationships>
</file>

<file path=ppt/charts/_rels/chart470.xml.rels><?xml version='1.0' encoding='UTF-8' standalone='yes'?>
<Relationships xmlns="http://schemas.openxmlformats.org/package/2006/relationships"><Relationship Id="rId1" Type="http://schemas.openxmlformats.org/officeDocument/2006/relationships/package" Target="../embeddings/Microsoft_Excel_Sheet470.xlsx"/></Relationships>
</file>

<file path=ppt/charts/_rels/chart471.xml.rels><?xml version='1.0' encoding='UTF-8' standalone='yes'?>
<Relationships xmlns="http://schemas.openxmlformats.org/package/2006/relationships"><Relationship Id="rId1" Type="http://schemas.openxmlformats.org/officeDocument/2006/relationships/package" Target="../embeddings/Microsoft_Excel_Sheet471.xlsx"/></Relationships>
</file>

<file path=ppt/charts/_rels/chart472.xml.rels><?xml version='1.0' encoding='UTF-8' standalone='yes'?>
<Relationships xmlns="http://schemas.openxmlformats.org/package/2006/relationships"><Relationship Id="rId1" Type="http://schemas.openxmlformats.org/officeDocument/2006/relationships/package" Target="../embeddings/Microsoft_Excel_Sheet472.xlsx"/></Relationships>
</file>

<file path=ppt/charts/_rels/chart473.xml.rels><?xml version='1.0' encoding='UTF-8' standalone='yes'?>
<Relationships xmlns="http://schemas.openxmlformats.org/package/2006/relationships"><Relationship Id="rId1" Type="http://schemas.openxmlformats.org/officeDocument/2006/relationships/package" Target="../embeddings/Microsoft_Excel_Sheet473.xlsx"/></Relationships>
</file>

<file path=ppt/charts/_rels/chart474.xml.rels><?xml version='1.0' encoding='UTF-8' standalone='yes'?>
<Relationships xmlns="http://schemas.openxmlformats.org/package/2006/relationships"><Relationship Id="rId1" Type="http://schemas.openxmlformats.org/officeDocument/2006/relationships/package" Target="../embeddings/Microsoft_Excel_Sheet474.xlsx"/></Relationships>
</file>

<file path=ppt/charts/_rels/chart475.xml.rels><?xml version='1.0' encoding='UTF-8' standalone='yes'?>
<Relationships xmlns="http://schemas.openxmlformats.org/package/2006/relationships"><Relationship Id="rId1" Type="http://schemas.openxmlformats.org/officeDocument/2006/relationships/package" Target="../embeddings/Microsoft_Excel_Sheet475.xlsx"/></Relationships>
</file>

<file path=ppt/charts/_rels/chart476.xml.rels><?xml version='1.0' encoding='UTF-8' standalone='yes'?>
<Relationships xmlns="http://schemas.openxmlformats.org/package/2006/relationships"><Relationship Id="rId1" Type="http://schemas.openxmlformats.org/officeDocument/2006/relationships/package" Target="../embeddings/Microsoft_Excel_Sheet476.xlsx"/></Relationships>
</file>

<file path=ppt/charts/_rels/chart477.xml.rels><?xml version='1.0' encoding='UTF-8' standalone='yes'?>
<Relationships xmlns="http://schemas.openxmlformats.org/package/2006/relationships"><Relationship Id="rId1" Type="http://schemas.openxmlformats.org/officeDocument/2006/relationships/package" Target="../embeddings/Microsoft_Excel_Sheet477.xlsx"/></Relationships>
</file>

<file path=ppt/charts/_rels/chart478.xml.rels><?xml version='1.0' encoding='UTF-8' standalone='yes'?>
<Relationships xmlns="http://schemas.openxmlformats.org/package/2006/relationships"><Relationship Id="rId1" Type="http://schemas.openxmlformats.org/officeDocument/2006/relationships/package" Target="../embeddings/Microsoft_Excel_Sheet478.xlsx"/></Relationships>
</file>

<file path=ppt/charts/_rels/chart480.xml.rels><?xml version='1.0' encoding='UTF-8' standalone='yes'?>
<Relationships xmlns="http://schemas.openxmlformats.org/package/2006/relationships"><Relationship Id="rId1" Type="http://schemas.openxmlformats.org/officeDocument/2006/relationships/package" Target="../embeddings/Microsoft_Excel_Sheet480.xlsx"/></Relationships>
</file>

<file path=ppt/charts/_rels/chart481.xml.rels><?xml version='1.0' encoding='UTF-8' standalone='yes'?>
<Relationships xmlns="http://schemas.openxmlformats.org/package/2006/relationships"><Relationship Id="rId1" Type="http://schemas.openxmlformats.org/officeDocument/2006/relationships/package" Target="../embeddings/Microsoft_Excel_Sheet481.xlsx"/></Relationships>
</file>

<file path=ppt/charts/_rels/chart482.xml.rels><?xml version='1.0' encoding='UTF-8' standalone='yes'?>
<Relationships xmlns="http://schemas.openxmlformats.org/package/2006/relationships"><Relationship Id="rId1" Type="http://schemas.openxmlformats.org/officeDocument/2006/relationships/package" Target="../embeddings/Microsoft_Excel_Sheet482.xlsx"/></Relationships>
</file>

<file path=ppt/charts/_rels/chart483.xml.rels><?xml version='1.0' encoding='UTF-8' standalone='yes'?>
<Relationships xmlns="http://schemas.openxmlformats.org/package/2006/relationships"><Relationship Id="rId1" Type="http://schemas.openxmlformats.org/officeDocument/2006/relationships/package" Target="../embeddings/Microsoft_Excel_Sheet483.xlsx"/></Relationships>
</file>

<file path=ppt/charts/_rels/chart488.xml.rels><?xml version='1.0' encoding='UTF-8' standalone='yes'?>
<Relationships xmlns="http://schemas.openxmlformats.org/package/2006/relationships"><Relationship Id="rId1" Type="http://schemas.openxmlformats.org/officeDocument/2006/relationships/package" Target="../embeddings/Microsoft_Excel_Sheet488.xlsx"/></Relationships>
</file>

<file path=ppt/charts/_rels/chart497.xml.rels><?xml version='1.0' encoding='UTF-8' standalone='yes'?>
<Relationships xmlns="http://schemas.openxmlformats.org/package/2006/relationships"><Relationship Id="rId1" Type="http://schemas.openxmlformats.org/officeDocument/2006/relationships/package" Target="../embeddings/Microsoft_Excel_Sheet497.xlsx"/></Relationships>
</file>

<file path=ppt/charts/_rels/chart510.xml.rels><?xml version='1.0' encoding='UTF-8' standalone='yes'?>
<Relationships xmlns="http://schemas.openxmlformats.org/package/2006/relationships"><Relationship Id="rId1" Type="http://schemas.openxmlformats.org/officeDocument/2006/relationships/package" Target="../embeddings/Microsoft_Excel_Sheet510.xlsx"/></Relationships>
</file>

<file path=ppt/charts/_rels/chart520.xml.rels><?xml version='1.0' encoding='UTF-8' standalone='yes'?>
<Relationships xmlns="http://schemas.openxmlformats.org/package/2006/relationships"><Relationship Id="rId1" Type="http://schemas.openxmlformats.org/officeDocument/2006/relationships/package" Target="../embeddings/Microsoft_Excel_Sheet520.xlsx"/></Relationships>
</file>

<file path=ppt/charts/_rels/chart526.xml.rels><?xml version='1.0' encoding='UTF-8' standalone='yes'?>
<Relationships xmlns="http://schemas.openxmlformats.org/package/2006/relationships"><Relationship Id="rId1" Type="http://schemas.openxmlformats.org/officeDocument/2006/relationships/package" Target="../embeddings/Microsoft_Excel_Sheet526.xlsx"/></Relationships>
</file>

<file path=ppt/charts/_rels/chart536.xml.rels><?xml version='1.0' encoding='UTF-8' standalone='yes'?>
<Relationships xmlns="http://schemas.openxmlformats.org/package/2006/relationships"><Relationship Id="rId1" Type="http://schemas.openxmlformats.org/officeDocument/2006/relationships/package" Target="../embeddings/Microsoft_Excel_Sheet536.xlsx"/></Relationships>
</file>

<file path=ppt/charts/_rels/chart537.xml.rels><?xml version='1.0' encoding='UTF-8' standalone='yes'?>
<Relationships xmlns="http://schemas.openxmlformats.org/package/2006/relationships"><Relationship Id="rId1" Type="http://schemas.openxmlformats.org/officeDocument/2006/relationships/package" Target="../embeddings/Microsoft_Excel_Sheet537.xlsx"/></Relationships>
</file>

<file path=ppt/charts/_rels/chart538.xml.rels><?xml version='1.0' encoding='UTF-8' standalone='yes'?>
<Relationships xmlns="http://schemas.openxmlformats.org/package/2006/relationships"><Relationship Id="rId1" Type="http://schemas.openxmlformats.org/officeDocument/2006/relationships/package" Target="../embeddings/Microsoft_Excel_Sheet538.xlsx"/></Relationships>
</file>

<file path=ppt/charts/_rels/chart539.xml.rels><?xml version='1.0' encoding='UTF-8' standalone='yes'?>
<Relationships xmlns="http://schemas.openxmlformats.org/package/2006/relationships"><Relationship Id="rId1" Type="http://schemas.openxmlformats.org/officeDocument/2006/relationships/package" Target="../embeddings/Microsoft_Excel_Sheet539.xlsx"/></Relationships>
</file>

<file path=ppt/charts/_rels/chart540.xml.rels><?xml version='1.0' encoding='UTF-8' standalone='yes'?>
<Relationships xmlns="http://schemas.openxmlformats.org/package/2006/relationships"><Relationship Id="rId1" Type="http://schemas.openxmlformats.org/officeDocument/2006/relationships/package" Target="../embeddings/Microsoft_Excel_Sheet540.xlsx"/></Relationships>
</file>

<file path=ppt/charts/_rels/chart541.xml.rels><?xml version='1.0' encoding='UTF-8' standalone='yes'?>
<Relationships xmlns="http://schemas.openxmlformats.org/package/2006/relationships"><Relationship Id="rId1" Type="http://schemas.openxmlformats.org/officeDocument/2006/relationships/package" Target="../embeddings/Microsoft_Excel_Sheet541.xlsx"/></Relationships>
</file>

<file path=ppt/charts/_rels/chart542.xml.rels><?xml version='1.0' encoding='UTF-8' standalone='yes'?>
<Relationships xmlns="http://schemas.openxmlformats.org/package/2006/relationships"><Relationship Id="rId1" Type="http://schemas.openxmlformats.org/officeDocument/2006/relationships/package" Target="../embeddings/Microsoft_Excel_Sheet542.xlsx"/></Relationships>
</file>

<file path=ppt/charts/_rels/chart543.xml.rels><?xml version='1.0' encoding='UTF-8' standalone='yes'?>
<Relationships xmlns="http://schemas.openxmlformats.org/package/2006/relationships"><Relationship Id="rId1" Type="http://schemas.openxmlformats.org/officeDocument/2006/relationships/package" Target="../embeddings/Microsoft_Excel_Sheet543.xlsx"/></Relationships>
</file>

<file path=ppt/charts/_rels/chart544.xml.rels><?xml version='1.0' encoding='UTF-8' standalone='yes'?>
<Relationships xmlns="http://schemas.openxmlformats.org/package/2006/relationships"><Relationship Id="rId1" Type="http://schemas.openxmlformats.org/officeDocument/2006/relationships/package" Target="../embeddings/Microsoft_Excel_Sheet544.xlsx"/></Relationships>
</file>

<file path=ppt/charts/_rels/chart563.xml.rels><?xml version='1.0' encoding='UTF-8' standalone='yes'?>
<Relationships xmlns="http://schemas.openxmlformats.org/package/2006/relationships"><Relationship Id="rId1" Type="http://schemas.openxmlformats.org/officeDocument/2006/relationships/package" Target="../embeddings/Microsoft_Excel_Sheet563.xlsx"/></Relationships>
</file>

<file path=ppt/charts/_rels/chart564.xml.rels><?xml version='1.0' encoding='UTF-8' standalone='yes'?>
<Relationships xmlns="http://schemas.openxmlformats.org/package/2006/relationships"><Relationship Id="rId1" Type="http://schemas.openxmlformats.org/officeDocument/2006/relationships/package" Target="../embeddings/Microsoft_Excel_Sheet564.xlsx"/></Relationships>
</file>

<file path=ppt/charts/_rels/chart565.xml.rels><?xml version='1.0' encoding='UTF-8' standalone='yes'?>
<Relationships xmlns="http://schemas.openxmlformats.org/package/2006/relationships"><Relationship Id="rId1" Type="http://schemas.openxmlformats.org/officeDocument/2006/relationships/package" Target="../embeddings/Microsoft_Excel_Sheet565.xlsx"/></Relationships>
</file>

<file path=ppt/charts/_rels/chart566.xml.rels><?xml version='1.0' encoding='UTF-8' standalone='yes'?>
<Relationships xmlns="http://schemas.openxmlformats.org/package/2006/relationships"><Relationship Id="rId1" Type="http://schemas.openxmlformats.org/officeDocument/2006/relationships/package" Target="../embeddings/Microsoft_Excel_Sheet566.xlsx"/></Relationships>
</file>

<file path=ppt/charts/_rels/chart567.xml.rels><?xml version='1.0' encoding='UTF-8' standalone='yes'?>
<Relationships xmlns="http://schemas.openxmlformats.org/package/2006/relationships"><Relationship Id="rId1" Type="http://schemas.openxmlformats.org/officeDocument/2006/relationships/package" Target="../embeddings/Microsoft_Excel_Sheet567.xlsx"/></Relationships>
</file>

<file path=ppt/charts/_rels/chart568.xml.rels><?xml version='1.0' encoding='UTF-8' standalone='yes'?>
<Relationships xmlns="http://schemas.openxmlformats.org/package/2006/relationships"><Relationship Id="rId1" Type="http://schemas.openxmlformats.org/officeDocument/2006/relationships/package" Target="../embeddings/Microsoft_Excel_Sheet568.xlsx"/></Relationships>
</file>

<file path=ppt/charts/_rels/chart569.xml.rels><?xml version='1.0' encoding='UTF-8' standalone='yes'?>
<Relationships xmlns="http://schemas.openxmlformats.org/package/2006/relationships"><Relationship Id="rId1" Type="http://schemas.openxmlformats.org/officeDocument/2006/relationships/package" Target="../embeddings/Microsoft_Excel_Sheet569.xlsx"/></Relationships>
</file>

<file path=ppt/charts/_rels/chart570.xml.rels><?xml version='1.0' encoding='UTF-8' standalone='yes'?>
<Relationships xmlns="http://schemas.openxmlformats.org/package/2006/relationships"><Relationship Id="rId1" Type="http://schemas.openxmlformats.org/officeDocument/2006/relationships/package" Target="../embeddings/Microsoft_Excel_Sheet570.xlsx"/></Relationships>
</file>

<file path=ppt/charts/_rels/chart589.xml.rels><?xml version='1.0' encoding='UTF-8' standalone='yes'?>
<Relationships xmlns="http://schemas.openxmlformats.org/package/2006/relationships"><Relationship Id="rId1" Type="http://schemas.openxmlformats.org/officeDocument/2006/relationships/package" Target="../embeddings/Microsoft_Excel_Sheet589.xlsx"/></Relationships>
</file>

<file path=ppt/charts/_rels/chart590.xml.rels><?xml version='1.0' encoding='UTF-8' standalone='yes'?>
<Relationships xmlns="http://schemas.openxmlformats.org/package/2006/relationships"><Relationship Id="rId1" Type="http://schemas.openxmlformats.org/officeDocument/2006/relationships/package" Target="../embeddings/Microsoft_Excel_Sheet590.xlsx"/></Relationships>
</file>

<file path=ppt/charts/_rels/chart591.xml.rels><?xml version='1.0' encoding='UTF-8' standalone='yes'?>
<Relationships xmlns="http://schemas.openxmlformats.org/package/2006/relationships"><Relationship Id="rId1" Type="http://schemas.openxmlformats.org/officeDocument/2006/relationships/package" Target="../embeddings/Microsoft_Excel_Sheet591.xlsx"/></Relationships>
</file>

<file path=ppt/charts/_rels/chart592.xml.rels><?xml version='1.0' encoding='UTF-8' standalone='yes'?>
<Relationships xmlns="http://schemas.openxmlformats.org/package/2006/relationships"><Relationship Id="rId1" Type="http://schemas.openxmlformats.org/officeDocument/2006/relationships/package" Target="../embeddings/Microsoft_Excel_Sheet592.xlsx"/></Relationships>
</file>

<file path=ppt/charts/_rels/chart593.xml.rels><?xml version='1.0' encoding='UTF-8' standalone='yes'?>
<Relationships xmlns="http://schemas.openxmlformats.org/package/2006/relationships"><Relationship Id="rId1" Type="http://schemas.openxmlformats.org/officeDocument/2006/relationships/package" Target="../embeddings/Microsoft_Excel_Sheet593.xlsx"/></Relationships>
</file>

<file path=ppt/charts/_rels/chart594.xml.rels><?xml version='1.0' encoding='UTF-8' standalone='yes'?>
<Relationships xmlns="http://schemas.openxmlformats.org/package/2006/relationships"><Relationship Id="rId1" Type="http://schemas.openxmlformats.org/officeDocument/2006/relationships/package" Target="../embeddings/Microsoft_Excel_Sheet594.xlsx"/></Relationships>
</file>

<file path=ppt/charts/_rels/chart595.xml.rels><?xml version='1.0' encoding='UTF-8' standalone='yes'?>
<Relationships xmlns="http://schemas.openxmlformats.org/package/2006/relationships"><Relationship Id="rId1" Type="http://schemas.openxmlformats.org/officeDocument/2006/relationships/package" Target="../embeddings/Microsoft_Excel_Sheet595.xlsx"/></Relationships>
</file>

<file path=ppt/charts/_rels/chart596.xml.rels><?xml version='1.0' encoding='UTF-8' standalone='yes'?>
<Relationships xmlns="http://schemas.openxmlformats.org/package/2006/relationships"><Relationship Id="rId1" Type="http://schemas.openxmlformats.org/officeDocument/2006/relationships/package" Target="../embeddings/Microsoft_Excel_Sheet596.xlsx"/></Relationships>
</file>

<file path=ppt/charts/_rels/chart615.xml.rels><?xml version='1.0' encoding='UTF-8' standalone='yes'?>
<Relationships xmlns="http://schemas.openxmlformats.org/package/2006/relationships"><Relationship Id="rId1" Type="http://schemas.openxmlformats.org/officeDocument/2006/relationships/package" Target="../embeddings/Microsoft_Excel_Sheet615.xlsx"/></Relationships>
</file>

<file path=ppt/charts/_rels/chart616.xml.rels><?xml version='1.0' encoding='UTF-8' standalone='yes'?>
<Relationships xmlns="http://schemas.openxmlformats.org/package/2006/relationships"><Relationship Id="rId1" Type="http://schemas.openxmlformats.org/officeDocument/2006/relationships/package" Target="../embeddings/Microsoft_Excel_Sheet616.xlsx"/></Relationships>
</file>

<file path=ppt/charts/_rels/chart617.xml.rels><?xml version='1.0' encoding='UTF-8' standalone='yes'?>
<Relationships xmlns="http://schemas.openxmlformats.org/package/2006/relationships"><Relationship Id="rId1" Type="http://schemas.openxmlformats.org/officeDocument/2006/relationships/package" Target="../embeddings/Microsoft_Excel_Sheet617.xlsx"/></Relationships>
</file>

<file path=ppt/charts/_rels/chart618.xml.rels><?xml version='1.0' encoding='UTF-8' standalone='yes'?>
<Relationships xmlns="http://schemas.openxmlformats.org/package/2006/relationships"><Relationship Id="rId1" Type="http://schemas.openxmlformats.org/officeDocument/2006/relationships/package" Target="../embeddings/Microsoft_Excel_Sheet618.xlsx"/></Relationships>
</file>

<file path=ppt/charts/_rels/chart619.xml.rels><?xml version='1.0' encoding='UTF-8' standalone='yes'?>
<Relationships xmlns="http://schemas.openxmlformats.org/package/2006/relationships"><Relationship Id="rId1" Type="http://schemas.openxmlformats.org/officeDocument/2006/relationships/package" Target="../embeddings/Microsoft_Excel_Sheet619.xlsx"/></Relationships>
</file>

<file path=ppt/charts/_rels/chart620.xml.rels><?xml version='1.0' encoding='UTF-8' standalone='yes'?>
<Relationships xmlns="http://schemas.openxmlformats.org/package/2006/relationships"><Relationship Id="rId1" Type="http://schemas.openxmlformats.org/officeDocument/2006/relationships/package" Target="../embeddings/Microsoft_Excel_Sheet620.xlsx"/></Relationships>
</file>

<file path=ppt/charts/_rels/chart621.xml.rels><?xml version='1.0' encoding='UTF-8' standalone='yes'?>
<Relationships xmlns="http://schemas.openxmlformats.org/package/2006/relationships"><Relationship Id="rId1" Type="http://schemas.openxmlformats.org/officeDocument/2006/relationships/package" Target="../embeddings/Microsoft_Excel_Sheet621.xlsx"/></Relationships>
</file>

<file path=ppt/charts/_rels/chart622.xml.rels><?xml version='1.0' encoding='UTF-8' standalone='yes'?>
<Relationships xmlns="http://schemas.openxmlformats.org/package/2006/relationships"><Relationship Id="rId1" Type="http://schemas.openxmlformats.org/officeDocument/2006/relationships/package" Target="../embeddings/Microsoft_Excel_Sheet622.xlsx"/></Relationships>
</file>

<file path=ppt/charts/_rels/chart641.xml.rels><?xml version='1.0' encoding='UTF-8' standalone='yes'?>
<Relationships xmlns="http://schemas.openxmlformats.org/package/2006/relationships"><Relationship Id="rId1" Type="http://schemas.openxmlformats.org/officeDocument/2006/relationships/package" Target="../embeddings/Microsoft_Excel_Sheet641.xlsx"/></Relationships>
</file>

<file path=ppt/charts/_rels/chart642.xml.rels><?xml version='1.0' encoding='UTF-8' standalone='yes'?>
<Relationships xmlns="http://schemas.openxmlformats.org/package/2006/relationships"><Relationship Id="rId1" Type="http://schemas.openxmlformats.org/officeDocument/2006/relationships/package" Target="../embeddings/Microsoft_Excel_Sheet642.xlsx"/></Relationships>
</file>

<file path=ppt/charts/_rels/chart643.xml.rels><?xml version='1.0' encoding='UTF-8' standalone='yes'?>
<Relationships xmlns="http://schemas.openxmlformats.org/package/2006/relationships"><Relationship Id="rId1" Type="http://schemas.openxmlformats.org/officeDocument/2006/relationships/package" Target="../embeddings/Microsoft_Excel_Sheet643.xlsx"/></Relationships>
</file>

<file path=ppt/charts/_rels/chart644.xml.rels><?xml version='1.0' encoding='UTF-8' standalone='yes'?>
<Relationships xmlns="http://schemas.openxmlformats.org/package/2006/relationships"><Relationship Id="rId1" Type="http://schemas.openxmlformats.org/officeDocument/2006/relationships/package" Target="../embeddings/Microsoft_Excel_Sheet644.xlsx"/></Relationships>
</file>

<file path=ppt/charts/_rels/chart645.xml.rels><?xml version='1.0' encoding='UTF-8' standalone='yes'?>
<Relationships xmlns="http://schemas.openxmlformats.org/package/2006/relationships"><Relationship Id="rId1" Type="http://schemas.openxmlformats.org/officeDocument/2006/relationships/package" Target="../embeddings/Microsoft_Excel_Sheet645.xlsx"/></Relationships>
</file>

<file path=ppt/charts/_rels/chart646.xml.rels><?xml version='1.0' encoding='UTF-8' standalone='yes'?>
<Relationships xmlns="http://schemas.openxmlformats.org/package/2006/relationships"><Relationship Id="rId1" Type="http://schemas.openxmlformats.org/officeDocument/2006/relationships/package" Target="../embeddings/Microsoft_Excel_Sheet646.xlsx"/></Relationships>
</file>

<file path=ppt/charts/_rels/chart647.xml.rels><?xml version='1.0' encoding='UTF-8' standalone='yes'?>
<Relationships xmlns="http://schemas.openxmlformats.org/package/2006/relationships"><Relationship Id="rId1" Type="http://schemas.openxmlformats.org/officeDocument/2006/relationships/package" Target="../embeddings/Microsoft_Excel_Sheet647.xlsx"/></Relationships>
</file>

<file path=ppt/charts/_rels/chart648.xml.rels><?xml version='1.0' encoding='UTF-8' standalone='yes'?>
<Relationships xmlns="http://schemas.openxmlformats.org/package/2006/relationships"><Relationship Id="rId1" Type="http://schemas.openxmlformats.org/officeDocument/2006/relationships/package" Target="../embeddings/Microsoft_Excel_Sheet648.xlsx"/></Relationships>
</file>

<file path=ppt/charts/_rels/chart667.xml.rels><?xml version='1.0' encoding='UTF-8' standalone='yes'?>
<Relationships xmlns="http://schemas.openxmlformats.org/package/2006/relationships"><Relationship Id="rId1" Type="http://schemas.openxmlformats.org/officeDocument/2006/relationships/package" Target="../embeddings/Microsoft_Excel_Sheet667.xlsx"/></Relationships>
</file>

<file path=ppt/charts/_rels/chart668.xml.rels><?xml version='1.0' encoding='UTF-8' standalone='yes'?>
<Relationships xmlns="http://schemas.openxmlformats.org/package/2006/relationships"><Relationship Id="rId1" Type="http://schemas.openxmlformats.org/officeDocument/2006/relationships/package" Target="../embeddings/Microsoft_Excel_Sheet668.xlsx"/></Relationships>
</file>

<file path=ppt/charts/_rels/chart669.xml.rels><?xml version='1.0' encoding='UTF-8' standalone='yes'?>
<Relationships xmlns="http://schemas.openxmlformats.org/package/2006/relationships"><Relationship Id="rId1" Type="http://schemas.openxmlformats.org/officeDocument/2006/relationships/package" Target="../embeddings/Microsoft_Excel_Sheet669.xlsx"/></Relationships>
</file>

<file path=ppt/charts/_rels/chart670.xml.rels><?xml version='1.0' encoding='UTF-8' standalone='yes'?>
<Relationships xmlns="http://schemas.openxmlformats.org/package/2006/relationships"><Relationship Id="rId1" Type="http://schemas.openxmlformats.org/officeDocument/2006/relationships/package" Target="../embeddings/Microsoft_Excel_Sheet670.xlsx"/></Relationships>
</file>

<file path=ppt/charts/_rels/chart671.xml.rels><?xml version='1.0' encoding='UTF-8' standalone='yes'?>
<Relationships xmlns="http://schemas.openxmlformats.org/package/2006/relationships"><Relationship Id="rId1" Type="http://schemas.openxmlformats.org/officeDocument/2006/relationships/package" Target="../embeddings/Microsoft_Excel_Sheet671.xlsx"/></Relationships>
</file>

<file path=ppt/charts/_rels/chart672.xml.rels><?xml version='1.0' encoding='UTF-8' standalone='yes'?>
<Relationships xmlns="http://schemas.openxmlformats.org/package/2006/relationships"><Relationship Id="rId1" Type="http://schemas.openxmlformats.org/officeDocument/2006/relationships/package" Target="../embeddings/Microsoft_Excel_Sheet672.xlsx"/></Relationships>
</file>

<file path=ppt/charts/_rels/chart673.xml.rels><?xml version='1.0' encoding='UTF-8' standalone='yes'?>
<Relationships xmlns="http://schemas.openxmlformats.org/package/2006/relationships"><Relationship Id="rId1" Type="http://schemas.openxmlformats.org/officeDocument/2006/relationships/package" Target="../embeddings/Microsoft_Excel_Sheet673.xlsx"/></Relationships>
</file>

<file path=ppt/charts/_rels/chart674.xml.rels><?xml version='1.0' encoding='UTF-8' standalone='yes'?>
<Relationships xmlns="http://schemas.openxmlformats.org/package/2006/relationships"><Relationship Id="rId1" Type="http://schemas.openxmlformats.org/officeDocument/2006/relationships/package" Target="../embeddings/Microsoft_Excel_Sheet674.xlsx"/></Relationships>
</file>

<file path=ppt/charts/_rels/chart693.xml.rels><?xml version='1.0' encoding='UTF-8' standalone='yes'?>
<Relationships xmlns="http://schemas.openxmlformats.org/package/2006/relationships"><Relationship Id="rId1" Type="http://schemas.openxmlformats.org/officeDocument/2006/relationships/package" Target="../embeddings/Microsoft_Excel_Sheet693.xlsx"/></Relationships>
</file>

<file path=ppt/charts/_rels/chart694.xml.rels><?xml version='1.0' encoding='UTF-8' standalone='yes'?>
<Relationships xmlns="http://schemas.openxmlformats.org/package/2006/relationships"><Relationship Id="rId1" Type="http://schemas.openxmlformats.org/officeDocument/2006/relationships/package" Target="../embeddings/Microsoft_Excel_Sheet694.xlsx"/></Relationships>
</file>

<file path=ppt/charts/_rels/chart695.xml.rels><?xml version='1.0' encoding='UTF-8' standalone='yes'?>
<Relationships xmlns="http://schemas.openxmlformats.org/package/2006/relationships"><Relationship Id="rId1" Type="http://schemas.openxmlformats.org/officeDocument/2006/relationships/package" Target="../embeddings/Microsoft_Excel_Sheet695.xlsx"/></Relationships>
</file>

<file path=ppt/charts/_rels/chart696.xml.rels><?xml version='1.0' encoding='UTF-8' standalone='yes'?>
<Relationships xmlns="http://schemas.openxmlformats.org/package/2006/relationships"><Relationship Id="rId1" Type="http://schemas.openxmlformats.org/officeDocument/2006/relationships/package" Target="../embeddings/Microsoft_Excel_Sheet696.xlsx"/></Relationships>
</file>

<file path=ppt/charts/_rels/chart697.xml.rels><?xml version='1.0' encoding='UTF-8' standalone='yes'?>
<Relationships xmlns="http://schemas.openxmlformats.org/package/2006/relationships"><Relationship Id="rId1" Type="http://schemas.openxmlformats.org/officeDocument/2006/relationships/package" Target="../embeddings/Microsoft_Excel_Sheet697.xlsx"/></Relationships>
</file>

<file path=ppt/charts/_rels/chart698.xml.rels><?xml version='1.0' encoding='UTF-8' standalone='yes'?>
<Relationships xmlns="http://schemas.openxmlformats.org/package/2006/relationships"><Relationship Id="rId1" Type="http://schemas.openxmlformats.org/officeDocument/2006/relationships/package" Target="../embeddings/Microsoft_Excel_Sheet698.xlsx"/></Relationships>
</file>

<file path=ppt/charts/_rels/chart699.xml.rels><?xml version='1.0' encoding='UTF-8' standalone='yes'?>
<Relationships xmlns="http://schemas.openxmlformats.org/package/2006/relationships"><Relationship Id="rId1" Type="http://schemas.openxmlformats.org/officeDocument/2006/relationships/package" Target="../embeddings/Microsoft_Excel_Sheet699.xlsx"/></Relationships>
</file>

<file path=ppt/charts/_rels/chart700.xml.rels><?xml version='1.0' encoding='UTF-8' standalone='yes'?>
<Relationships xmlns="http://schemas.openxmlformats.org/package/2006/relationships"><Relationship Id="rId1" Type="http://schemas.openxmlformats.org/officeDocument/2006/relationships/package" Target="../embeddings/Microsoft_Excel_Sheet700.xlsx"/></Relationships>
</file>

<file path=ppt/charts/_rels/chart719.xml.rels><?xml version='1.0' encoding='UTF-8' standalone='yes'?>
<Relationships xmlns="http://schemas.openxmlformats.org/package/2006/relationships"><Relationship Id="rId1" Type="http://schemas.openxmlformats.org/officeDocument/2006/relationships/package" Target="../embeddings/Microsoft_Excel_Sheet719.xlsx"/></Relationships>
</file>

<file path=ppt/charts/_rels/chart720.xml.rels><?xml version='1.0' encoding='UTF-8' standalone='yes'?>
<Relationships xmlns="http://schemas.openxmlformats.org/package/2006/relationships"><Relationship Id="rId1" Type="http://schemas.openxmlformats.org/officeDocument/2006/relationships/package" Target="../embeddings/Microsoft_Excel_Sheet720.xlsx"/></Relationships>
</file>

<file path=ppt/charts/_rels/chart721.xml.rels><?xml version='1.0' encoding='UTF-8' standalone='yes'?>
<Relationships xmlns="http://schemas.openxmlformats.org/package/2006/relationships"><Relationship Id="rId1" Type="http://schemas.openxmlformats.org/officeDocument/2006/relationships/package" Target="../embeddings/Microsoft_Excel_Sheet721.xlsx"/></Relationships>
</file>

<file path=ppt/charts/_rels/chart722.xml.rels><?xml version='1.0' encoding='UTF-8' standalone='yes'?>
<Relationships xmlns="http://schemas.openxmlformats.org/package/2006/relationships"><Relationship Id="rId1" Type="http://schemas.openxmlformats.org/officeDocument/2006/relationships/package" Target="../embeddings/Microsoft_Excel_Sheet722.xlsx"/></Relationships>
</file>

<file path=ppt/charts/_rels/chart723.xml.rels><?xml version='1.0' encoding='UTF-8' standalone='yes'?>
<Relationships xmlns="http://schemas.openxmlformats.org/package/2006/relationships"><Relationship Id="rId1" Type="http://schemas.openxmlformats.org/officeDocument/2006/relationships/package" Target="../embeddings/Microsoft_Excel_Sheet723.xlsx"/></Relationships>
</file>

<file path=ppt/charts/_rels/chart724.xml.rels><?xml version='1.0' encoding='UTF-8' standalone='yes'?>
<Relationships xmlns="http://schemas.openxmlformats.org/package/2006/relationships"><Relationship Id="rId1" Type="http://schemas.openxmlformats.org/officeDocument/2006/relationships/package" Target="../embeddings/Microsoft_Excel_Sheet724.xlsx"/></Relationships>
</file>

<file path=ppt/charts/_rels/chart725.xml.rels><?xml version='1.0' encoding='UTF-8' standalone='yes'?>
<Relationships xmlns="http://schemas.openxmlformats.org/package/2006/relationships"><Relationship Id="rId1" Type="http://schemas.openxmlformats.org/officeDocument/2006/relationships/package" Target="../embeddings/Microsoft_Excel_Sheet725.xlsx"/></Relationships>
</file>

<file path=ppt/charts/_rels/chart726.xml.rels><?xml version='1.0' encoding='UTF-8' standalone='yes'?>
<Relationships xmlns="http://schemas.openxmlformats.org/package/2006/relationships"><Relationship Id="rId1" Type="http://schemas.openxmlformats.org/officeDocument/2006/relationships/package" Target="../embeddings/Microsoft_Excel_Sheet726.xlsx"/></Relationships>
</file>

<file path=ppt/charts/_rels/chart745.xml.rels><?xml version='1.0' encoding='UTF-8' standalone='yes'?>
<Relationships xmlns="http://schemas.openxmlformats.org/package/2006/relationships"><Relationship Id="rId1" Type="http://schemas.openxmlformats.org/officeDocument/2006/relationships/package" Target="../embeddings/Microsoft_Excel_Sheet745.xlsx"/></Relationships>
</file>

<file path=ppt/charts/_rels/chart746.xml.rels><?xml version='1.0' encoding='UTF-8' standalone='yes'?>
<Relationships xmlns="http://schemas.openxmlformats.org/package/2006/relationships"><Relationship Id="rId1" Type="http://schemas.openxmlformats.org/officeDocument/2006/relationships/package" Target="../embeddings/Microsoft_Excel_Sheet746.xlsx"/></Relationships>
</file>

<file path=ppt/charts/_rels/chart747.xml.rels><?xml version='1.0' encoding='UTF-8' standalone='yes'?>
<Relationships xmlns="http://schemas.openxmlformats.org/package/2006/relationships"><Relationship Id="rId1" Type="http://schemas.openxmlformats.org/officeDocument/2006/relationships/package" Target="../embeddings/Microsoft_Excel_Sheet747.xlsx"/></Relationships>
</file>

<file path=ppt/charts/_rels/chart748.xml.rels><?xml version='1.0' encoding='UTF-8' standalone='yes'?>
<Relationships xmlns="http://schemas.openxmlformats.org/package/2006/relationships"><Relationship Id="rId1" Type="http://schemas.openxmlformats.org/officeDocument/2006/relationships/package" Target="../embeddings/Microsoft_Excel_Sheet748.xlsx"/></Relationships>
</file>

<file path=ppt/charts/_rels/chart749.xml.rels><?xml version='1.0' encoding='UTF-8' standalone='yes'?>
<Relationships xmlns="http://schemas.openxmlformats.org/package/2006/relationships"><Relationship Id="rId1" Type="http://schemas.openxmlformats.org/officeDocument/2006/relationships/package" Target="../embeddings/Microsoft_Excel_Sheet749.xlsx"/></Relationships>
</file>

<file path=ppt/charts/_rels/chart750.xml.rels><?xml version='1.0' encoding='UTF-8' standalone='yes'?>
<Relationships xmlns="http://schemas.openxmlformats.org/package/2006/relationships"><Relationship Id="rId1" Type="http://schemas.openxmlformats.org/officeDocument/2006/relationships/package" Target="../embeddings/Microsoft_Excel_Sheet750.xlsx"/></Relationships>
</file>

<file path=ppt/charts/_rels/chart751.xml.rels><?xml version='1.0' encoding='UTF-8' standalone='yes'?>
<Relationships xmlns="http://schemas.openxmlformats.org/package/2006/relationships"><Relationship Id="rId1" Type="http://schemas.openxmlformats.org/officeDocument/2006/relationships/package" Target="../embeddings/Microsoft_Excel_Sheet751.xlsx"/></Relationships>
</file>

<file path=ppt/charts/_rels/chart752.xml.rels><?xml version='1.0' encoding='UTF-8' standalone='yes'?>
<Relationships xmlns="http://schemas.openxmlformats.org/package/2006/relationships"><Relationship Id="rId1" Type="http://schemas.openxmlformats.org/officeDocument/2006/relationships/package" Target="../embeddings/Microsoft_Excel_Sheet752.xlsx"/></Relationships>
</file>

<file path=ppt/charts/_rels/chart771.xml.rels><?xml version='1.0' encoding='UTF-8' standalone='yes'?>
<Relationships xmlns="http://schemas.openxmlformats.org/package/2006/relationships"><Relationship Id="rId1" Type="http://schemas.openxmlformats.org/officeDocument/2006/relationships/package" Target="../embeddings/Microsoft_Excel_Sheet771.xlsx"/></Relationships>
</file>

<file path=ppt/charts/_rels/chart772.xml.rels><?xml version='1.0' encoding='UTF-8' standalone='yes'?>
<Relationships xmlns="http://schemas.openxmlformats.org/package/2006/relationships"><Relationship Id="rId1" Type="http://schemas.openxmlformats.org/officeDocument/2006/relationships/package" Target="../embeddings/Microsoft_Excel_Sheet772.xlsx"/></Relationships>
</file>

<file path=ppt/charts/_rels/chart773.xml.rels><?xml version='1.0' encoding='UTF-8' standalone='yes'?>
<Relationships xmlns="http://schemas.openxmlformats.org/package/2006/relationships"><Relationship Id="rId1" Type="http://schemas.openxmlformats.org/officeDocument/2006/relationships/package" Target="../embeddings/Microsoft_Excel_Sheet773.xlsx"/></Relationships>
</file>

<file path=ppt/charts/_rels/chart774.xml.rels><?xml version='1.0' encoding='UTF-8' standalone='yes'?>
<Relationships xmlns="http://schemas.openxmlformats.org/package/2006/relationships"><Relationship Id="rId1" Type="http://schemas.openxmlformats.org/officeDocument/2006/relationships/package" Target="../embeddings/Microsoft_Excel_Sheet774.xlsx"/></Relationships>
</file>

<file path=ppt/charts/_rels/chart775.xml.rels><?xml version='1.0' encoding='UTF-8' standalone='yes'?>
<Relationships xmlns="http://schemas.openxmlformats.org/package/2006/relationships"><Relationship Id="rId1" Type="http://schemas.openxmlformats.org/officeDocument/2006/relationships/package" Target="../embeddings/Microsoft_Excel_Sheet775.xlsx"/></Relationships>
</file>

<file path=ppt/charts/_rels/chart776.xml.rels><?xml version='1.0' encoding='UTF-8' standalone='yes'?>
<Relationships xmlns="http://schemas.openxmlformats.org/package/2006/relationships"><Relationship Id="rId1" Type="http://schemas.openxmlformats.org/officeDocument/2006/relationships/package" Target="../embeddings/Microsoft_Excel_Sheet776.xlsx"/></Relationships>
</file>

<file path=ppt/charts/_rels/chart777.xml.rels><?xml version='1.0' encoding='UTF-8' standalone='yes'?>
<Relationships xmlns="http://schemas.openxmlformats.org/package/2006/relationships"><Relationship Id="rId1" Type="http://schemas.openxmlformats.org/officeDocument/2006/relationships/package" Target="../embeddings/Microsoft_Excel_Sheet777.xlsx"/></Relationships>
</file>

<file path=ppt/charts/_rels/chart778.xml.rels><?xml version='1.0' encoding='UTF-8' standalone='yes'?>
<Relationships xmlns="http://schemas.openxmlformats.org/package/2006/relationships"><Relationship Id="rId1" Type="http://schemas.openxmlformats.org/officeDocument/2006/relationships/package" Target="../embeddings/Microsoft_Excel_Sheet778.xlsx"/></Relationships>
</file>

<file path=ppt/charts/_rels/chart797.xml.rels><?xml version='1.0' encoding='UTF-8' standalone='yes'?>
<Relationships xmlns="http://schemas.openxmlformats.org/package/2006/relationships"><Relationship Id="rId1" Type="http://schemas.openxmlformats.org/officeDocument/2006/relationships/package" Target="../embeddings/Microsoft_Excel_Sheet797.xlsx"/></Relationships>
</file>

<file path=ppt/charts/_rels/chart798.xml.rels><?xml version='1.0' encoding='UTF-8' standalone='yes'?>
<Relationships xmlns="http://schemas.openxmlformats.org/package/2006/relationships"><Relationship Id="rId1" Type="http://schemas.openxmlformats.org/officeDocument/2006/relationships/package" Target="../embeddings/Microsoft_Excel_Sheet798.xlsx"/></Relationships>
</file>

<file path=ppt/charts/_rels/chart799.xml.rels><?xml version='1.0' encoding='UTF-8' standalone='yes'?>
<Relationships xmlns="http://schemas.openxmlformats.org/package/2006/relationships"><Relationship Id="rId1" Type="http://schemas.openxmlformats.org/officeDocument/2006/relationships/package" Target="../embeddings/Microsoft_Excel_Sheet799.xlsx"/></Relationships>
</file>

<file path=ppt/charts/_rels/chart800.xml.rels><?xml version='1.0' encoding='UTF-8' standalone='yes'?>
<Relationships xmlns="http://schemas.openxmlformats.org/package/2006/relationships"><Relationship Id="rId1" Type="http://schemas.openxmlformats.org/officeDocument/2006/relationships/package" Target="../embeddings/Microsoft_Excel_Sheet800.xlsx"/></Relationships>
</file>

<file path=ppt/charts/_rels/chart801.xml.rels><?xml version='1.0' encoding='UTF-8' standalone='yes'?>
<Relationships xmlns="http://schemas.openxmlformats.org/package/2006/relationships"><Relationship Id="rId1" Type="http://schemas.openxmlformats.org/officeDocument/2006/relationships/package" Target="../embeddings/Microsoft_Excel_Sheet801.xlsx"/></Relationships>
</file>

<file path=ppt/charts/_rels/chart802.xml.rels><?xml version='1.0' encoding='UTF-8' standalone='yes'?>
<Relationships xmlns="http://schemas.openxmlformats.org/package/2006/relationships"><Relationship Id="rId1" Type="http://schemas.openxmlformats.org/officeDocument/2006/relationships/package" Target="../embeddings/Microsoft_Excel_Sheet802.xlsx"/></Relationships>
</file>

<file path=ppt/charts/_rels/chart803.xml.rels><?xml version='1.0' encoding='UTF-8' standalone='yes'?>
<Relationships xmlns="http://schemas.openxmlformats.org/package/2006/relationships"><Relationship Id="rId1" Type="http://schemas.openxmlformats.org/officeDocument/2006/relationships/package" Target="../embeddings/Microsoft_Excel_Sheet803.xlsx"/></Relationships>
</file>

<file path=ppt/charts/_rels/chart804.xml.rels><?xml version='1.0' encoding='UTF-8' standalone='yes'?>
<Relationships xmlns="http://schemas.openxmlformats.org/package/2006/relationships"><Relationship Id="rId1" Type="http://schemas.openxmlformats.org/officeDocument/2006/relationships/package" Target="../embeddings/Microsoft_Excel_Sheet804.xlsx"/></Relationships>
</file>

<file path=ppt/charts/_rels/chart823.xml.rels><?xml version='1.0' encoding='UTF-8' standalone='yes'?>
<Relationships xmlns="http://schemas.openxmlformats.org/package/2006/relationships"><Relationship Id="rId1" Type="http://schemas.openxmlformats.org/officeDocument/2006/relationships/package" Target="../embeddings/Microsoft_Excel_Sheet823.xlsx"/></Relationships>
</file>

<file path=ppt/charts/_rels/chart824.xml.rels><?xml version='1.0' encoding='UTF-8' standalone='yes'?>
<Relationships xmlns="http://schemas.openxmlformats.org/package/2006/relationships"><Relationship Id="rId1" Type="http://schemas.openxmlformats.org/officeDocument/2006/relationships/package" Target="../embeddings/Microsoft_Excel_Sheet824.xlsx"/></Relationships>
</file>

<file path=ppt/charts/_rels/chart825.xml.rels><?xml version='1.0' encoding='UTF-8' standalone='yes'?>
<Relationships xmlns="http://schemas.openxmlformats.org/package/2006/relationships"><Relationship Id="rId1" Type="http://schemas.openxmlformats.org/officeDocument/2006/relationships/package" Target="../embeddings/Microsoft_Excel_Sheet825.xlsx"/></Relationships>
</file>

<file path=ppt/charts/_rels/chart826.xml.rels><?xml version='1.0' encoding='UTF-8' standalone='yes'?>
<Relationships xmlns="http://schemas.openxmlformats.org/package/2006/relationships"><Relationship Id="rId1" Type="http://schemas.openxmlformats.org/officeDocument/2006/relationships/package" Target="../embeddings/Microsoft_Excel_Sheet826.xlsx"/></Relationships>
</file>

<file path=ppt/charts/_rels/chart827.xml.rels><?xml version='1.0' encoding='UTF-8' standalone='yes'?>
<Relationships xmlns="http://schemas.openxmlformats.org/package/2006/relationships"><Relationship Id="rId1" Type="http://schemas.openxmlformats.org/officeDocument/2006/relationships/package" Target="../embeddings/Microsoft_Excel_Sheet827.xlsx"/></Relationships>
</file>

<file path=ppt/charts/_rels/chart828.xml.rels><?xml version='1.0' encoding='UTF-8' standalone='yes'?>
<Relationships xmlns="http://schemas.openxmlformats.org/package/2006/relationships"><Relationship Id="rId1" Type="http://schemas.openxmlformats.org/officeDocument/2006/relationships/package" Target="../embeddings/Microsoft_Excel_Sheet828.xlsx"/></Relationships>
</file>

<file path=ppt/charts/_rels/chart829.xml.rels><?xml version='1.0' encoding='UTF-8' standalone='yes'?>
<Relationships xmlns="http://schemas.openxmlformats.org/package/2006/relationships"><Relationship Id="rId1" Type="http://schemas.openxmlformats.org/officeDocument/2006/relationships/package" Target="../embeddings/Microsoft_Excel_Sheet829.xlsx"/></Relationships>
</file>

<file path=ppt/charts/_rels/chart830.xml.rels><?xml version='1.0' encoding='UTF-8' standalone='yes'?>
<Relationships xmlns="http://schemas.openxmlformats.org/package/2006/relationships"><Relationship Id="rId1" Type="http://schemas.openxmlformats.org/officeDocument/2006/relationships/package" Target="../embeddings/Microsoft_Excel_Sheet830.xlsx"/></Relationships>
</file>

<file path=ppt/charts/_rels/chart849.xml.rels><?xml version='1.0' encoding='UTF-8' standalone='yes'?>
<Relationships xmlns="http://schemas.openxmlformats.org/package/2006/relationships"><Relationship Id="rId1" Type="http://schemas.openxmlformats.org/officeDocument/2006/relationships/package" Target="../embeddings/Microsoft_Excel_Sheet849.xlsx"/></Relationships>
</file>

<file path=ppt/charts/_rels/chart850.xml.rels><?xml version='1.0' encoding='UTF-8' standalone='yes'?>
<Relationships xmlns="http://schemas.openxmlformats.org/package/2006/relationships"><Relationship Id="rId1" Type="http://schemas.openxmlformats.org/officeDocument/2006/relationships/package" Target="../embeddings/Microsoft_Excel_Sheet850.xlsx"/></Relationships>
</file>

<file path=ppt/charts/_rels/chart851.xml.rels><?xml version='1.0' encoding='UTF-8' standalone='yes'?>
<Relationships xmlns="http://schemas.openxmlformats.org/package/2006/relationships"><Relationship Id="rId1" Type="http://schemas.openxmlformats.org/officeDocument/2006/relationships/package" Target="../embeddings/Microsoft_Excel_Sheet851.xlsx"/></Relationships>
</file>

<file path=ppt/charts/_rels/chart852.xml.rels><?xml version='1.0' encoding='UTF-8' standalone='yes'?>
<Relationships xmlns="http://schemas.openxmlformats.org/package/2006/relationships"><Relationship Id="rId1" Type="http://schemas.openxmlformats.org/officeDocument/2006/relationships/package" Target="../embeddings/Microsoft_Excel_Sheet852.xlsx"/></Relationships>
</file>

<file path=ppt/charts/_rels/chart853.xml.rels><?xml version='1.0' encoding='UTF-8' standalone='yes'?>
<Relationships xmlns="http://schemas.openxmlformats.org/package/2006/relationships"><Relationship Id="rId1" Type="http://schemas.openxmlformats.org/officeDocument/2006/relationships/package" Target="../embeddings/Microsoft_Excel_Sheet853.xlsx"/></Relationships>
</file>

<file path=ppt/charts/_rels/chart854.xml.rels><?xml version='1.0' encoding='UTF-8' standalone='yes'?>
<Relationships xmlns="http://schemas.openxmlformats.org/package/2006/relationships"><Relationship Id="rId1" Type="http://schemas.openxmlformats.org/officeDocument/2006/relationships/package" Target="../embeddings/Microsoft_Excel_Sheet854.xlsx"/></Relationships>
</file>

<file path=ppt/charts/_rels/chart855.xml.rels><?xml version='1.0' encoding='UTF-8' standalone='yes'?>
<Relationships xmlns="http://schemas.openxmlformats.org/package/2006/relationships"><Relationship Id="rId1" Type="http://schemas.openxmlformats.org/officeDocument/2006/relationships/package" Target="../embeddings/Microsoft_Excel_Sheet855.xlsx"/></Relationships>
</file>

<file path=ppt/charts/_rels/chart856.xml.rels><?xml version='1.0' encoding='UTF-8' standalone='yes'?>
<Relationships xmlns="http://schemas.openxmlformats.org/package/2006/relationships"><Relationship Id="rId1" Type="http://schemas.openxmlformats.org/officeDocument/2006/relationships/package" Target="../embeddings/Microsoft_Excel_Sheet856.xlsx"/></Relationships>
</file>

<file path=ppt/charts/_rels/chart875.xml.rels><?xml version='1.0' encoding='UTF-8' standalone='yes'?>
<Relationships xmlns="http://schemas.openxmlformats.org/package/2006/relationships"><Relationship Id="rId1" Type="http://schemas.openxmlformats.org/officeDocument/2006/relationships/package" Target="../embeddings/Microsoft_Excel_Sheet875.xlsx"/></Relationships>
</file>

<file path=ppt/charts/_rels/chart876.xml.rels><?xml version='1.0' encoding='UTF-8' standalone='yes'?>
<Relationships xmlns="http://schemas.openxmlformats.org/package/2006/relationships"><Relationship Id="rId1" Type="http://schemas.openxmlformats.org/officeDocument/2006/relationships/package" Target="../embeddings/Microsoft_Excel_Sheet876.xlsx"/></Relationships>
</file>

<file path=ppt/charts/_rels/chart877.xml.rels><?xml version='1.0' encoding='UTF-8' standalone='yes'?>
<Relationships xmlns="http://schemas.openxmlformats.org/package/2006/relationships"><Relationship Id="rId1" Type="http://schemas.openxmlformats.org/officeDocument/2006/relationships/package" Target="../embeddings/Microsoft_Excel_Sheet877.xlsx"/></Relationships>
</file>

<file path=ppt/charts/_rels/chart878.xml.rels><?xml version='1.0' encoding='UTF-8' standalone='yes'?>
<Relationships xmlns="http://schemas.openxmlformats.org/package/2006/relationships"><Relationship Id="rId1" Type="http://schemas.openxmlformats.org/officeDocument/2006/relationships/package" Target="../embeddings/Microsoft_Excel_Sheet878.xlsx"/></Relationships>
</file>

<file path=ppt/charts/_rels/chart879.xml.rels><?xml version='1.0' encoding='UTF-8' standalone='yes'?>
<Relationships xmlns="http://schemas.openxmlformats.org/package/2006/relationships"><Relationship Id="rId1" Type="http://schemas.openxmlformats.org/officeDocument/2006/relationships/package" Target="../embeddings/Microsoft_Excel_Sheet879.xlsx"/></Relationships>
</file>

<file path=ppt/charts/_rels/chart880.xml.rels><?xml version='1.0' encoding='UTF-8' standalone='yes'?>
<Relationships xmlns="http://schemas.openxmlformats.org/package/2006/relationships"><Relationship Id="rId1" Type="http://schemas.openxmlformats.org/officeDocument/2006/relationships/package" Target="../embeddings/Microsoft_Excel_Sheet880.xlsx"/></Relationships>
</file>

<file path=ppt/charts/_rels/chart881.xml.rels><?xml version='1.0' encoding='UTF-8' standalone='yes'?>
<Relationships xmlns="http://schemas.openxmlformats.org/package/2006/relationships"><Relationship Id="rId1" Type="http://schemas.openxmlformats.org/officeDocument/2006/relationships/package" Target="../embeddings/Microsoft_Excel_Sheet881.xlsx"/></Relationships>
</file>

<file path=ppt/charts/_rels/chart882.xml.rels><?xml version='1.0' encoding='UTF-8' standalone='yes'?>
<Relationships xmlns="http://schemas.openxmlformats.org/package/2006/relationships"><Relationship Id="rId1" Type="http://schemas.openxmlformats.org/officeDocument/2006/relationships/package" Target="../embeddings/Microsoft_Excel_Sheet882.xlsx"/></Relationships>
</file>

<file path=ppt/charts/_rels/chart901.xml.rels><?xml version='1.0' encoding='UTF-8' standalone='yes'?>
<Relationships xmlns="http://schemas.openxmlformats.org/package/2006/relationships"><Relationship Id="rId1" Type="http://schemas.openxmlformats.org/officeDocument/2006/relationships/package" Target="../embeddings/Microsoft_Excel_Sheet901.xlsx"/></Relationships>
</file>

<file path=ppt/charts/_rels/chart902.xml.rels><?xml version='1.0' encoding='UTF-8' standalone='yes'?>
<Relationships xmlns="http://schemas.openxmlformats.org/package/2006/relationships"><Relationship Id="rId1" Type="http://schemas.openxmlformats.org/officeDocument/2006/relationships/package" Target="../embeddings/Microsoft_Excel_Sheet902.xlsx"/></Relationships>
</file>

<file path=ppt/charts/_rels/chart903.xml.rels><?xml version='1.0' encoding='UTF-8' standalone='yes'?>
<Relationships xmlns="http://schemas.openxmlformats.org/package/2006/relationships"><Relationship Id="rId1" Type="http://schemas.openxmlformats.org/officeDocument/2006/relationships/package" Target="../embeddings/Microsoft_Excel_Sheet903.xlsx"/></Relationships>
</file>

<file path=ppt/charts/_rels/chart904.xml.rels><?xml version='1.0' encoding='UTF-8' standalone='yes'?>
<Relationships xmlns="http://schemas.openxmlformats.org/package/2006/relationships"><Relationship Id="rId1" Type="http://schemas.openxmlformats.org/officeDocument/2006/relationships/package" Target="../embeddings/Microsoft_Excel_Sheet904.xlsx"/></Relationships>
</file>

<file path=ppt/charts/_rels/chart905.xml.rels><?xml version='1.0' encoding='UTF-8' standalone='yes'?>
<Relationships xmlns="http://schemas.openxmlformats.org/package/2006/relationships"><Relationship Id="rId1" Type="http://schemas.openxmlformats.org/officeDocument/2006/relationships/package" Target="../embeddings/Microsoft_Excel_Sheet905.xlsx"/></Relationships>
</file>

<file path=ppt/charts/_rels/chart906.xml.rels><?xml version='1.0' encoding='UTF-8' standalone='yes'?>
<Relationships xmlns="http://schemas.openxmlformats.org/package/2006/relationships"><Relationship Id="rId1" Type="http://schemas.openxmlformats.org/officeDocument/2006/relationships/package" Target="../embeddings/Microsoft_Excel_Sheet906.xlsx"/></Relationships>
</file>

<file path=ppt/charts/_rels/chart907.xml.rels><?xml version='1.0' encoding='UTF-8' standalone='yes'?>
<Relationships xmlns="http://schemas.openxmlformats.org/package/2006/relationships"><Relationship Id="rId1" Type="http://schemas.openxmlformats.org/officeDocument/2006/relationships/package" Target="../embeddings/Microsoft_Excel_Sheet907.xlsx"/></Relationships>
</file>

<file path=ppt/charts/_rels/chart908.xml.rels><?xml version='1.0' encoding='UTF-8' standalone='yes'?>
<Relationships xmlns="http://schemas.openxmlformats.org/package/2006/relationships"><Relationship Id="rId1" Type="http://schemas.openxmlformats.org/officeDocument/2006/relationships/package" Target="../embeddings/Microsoft_Excel_Sheet908.xlsx"/></Relationships>
</file>

<file path=ppt/charts/_rels/chart927.xml.rels><?xml version='1.0' encoding='UTF-8' standalone='yes'?>
<Relationships xmlns="http://schemas.openxmlformats.org/package/2006/relationships"><Relationship Id="rId1" Type="http://schemas.openxmlformats.org/officeDocument/2006/relationships/package" Target="../embeddings/Microsoft_Excel_Sheet927.xlsx"/></Relationships>
</file>

<file path=ppt/charts/_rels/chart928.xml.rels><?xml version='1.0' encoding='UTF-8' standalone='yes'?>
<Relationships xmlns="http://schemas.openxmlformats.org/package/2006/relationships"><Relationship Id="rId1" Type="http://schemas.openxmlformats.org/officeDocument/2006/relationships/package" Target="../embeddings/Microsoft_Excel_Sheet928.xlsx"/></Relationships>
</file>

<file path=ppt/charts/_rels/chart929.xml.rels><?xml version='1.0' encoding='UTF-8' standalone='yes'?>
<Relationships xmlns="http://schemas.openxmlformats.org/package/2006/relationships"><Relationship Id="rId1" Type="http://schemas.openxmlformats.org/officeDocument/2006/relationships/package" Target="../embeddings/Microsoft_Excel_Sheet929.xlsx"/></Relationships>
</file>

<file path=ppt/charts/_rels/chart930.xml.rels><?xml version='1.0' encoding='UTF-8' standalone='yes'?>
<Relationships xmlns="http://schemas.openxmlformats.org/package/2006/relationships"><Relationship Id="rId1" Type="http://schemas.openxmlformats.org/officeDocument/2006/relationships/package" Target="../embeddings/Microsoft_Excel_Sheet930.xlsx"/></Relationships>
</file>

<file path=ppt/charts/_rels/chart931.xml.rels><?xml version='1.0' encoding='UTF-8' standalone='yes'?>
<Relationships xmlns="http://schemas.openxmlformats.org/package/2006/relationships"><Relationship Id="rId1" Type="http://schemas.openxmlformats.org/officeDocument/2006/relationships/package" Target="../embeddings/Microsoft_Excel_Sheet931.xlsx"/></Relationships>
</file>

<file path=ppt/charts/_rels/chart932.xml.rels><?xml version='1.0' encoding='UTF-8' standalone='yes'?>
<Relationships xmlns="http://schemas.openxmlformats.org/package/2006/relationships"><Relationship Id="rId1" Type="http://schemas.openxmlformats.org/officeDocument/2006/relationships/package" Target="../embeddings/Microsoft_Excel_Sheet932.xlsx"/></Relationships>
</file>

<file path=ppt/charts/_rels/chart933.xml.rels><?xml version='1.0' encoding='UTF-8' standalone='yes'?>
<Relationships xmlns="http://schemas.openxmlformats.org/package/2006/relationships"><Relationship Id="rId1" Type="http://schemas.openxmlformats.org/officeDocument/2006/relationships/package" Target="../embeddings/Microsoft_Excel_Sheet933.xlsx"/></Relationships>
</file>

<file path=ppt/charts/_rels/chart934.xml.rels><?xml version='1.0' encoding='UTF-8' standalone='yes'?>
<Relationships xmlns="http://schemas.openxmlformats.org/package/2006/relationships"><Relationship Id="rId1" Type="http://schemas.openxmlformats.org/officeDocument/2006/relationships/package" Target="../embeddings/Microsoft_Excel_Sheet934.xlsx"/></Relationships>
</file>

<file path=ppt/charts/_rels/chart953.xml.rels><?xml version='1.0' encoding='UTF-8' standalone='yes'?>
<Relationships xmlns="http://schemas.openxmlformats.org/package/2006/relationships"><Relationship Id="rId1" Type="http://schemas.openxmlformats.org/officeDocument/2006/relationships/package" Target="../embeddings/Microsoft_Excel_Sheet953.xlsx"/></Relationships>
</file>

<file path=ppt/charts/_rels/chart954.xml.rels><?xml version='1.0' encoding='UTF-8' standalone='yes'?>
<Relationships xmlns="http://schemas.openxmlformats.org/package/2006/relationships"><Relationship Id="rId1" Type="http://schemas.openxmlformats.org/officeDocument/2006/relationships/package" Target="../embeddings/Microsoft_Excel_Sheet954.xlsx"/></Relationships>
</file>

<file path=ppt/charts/_rels/chart955.xml.rels><?xml version='1.0' encoding='UTF-8' standalone='yes'?>
<Relationships xmlns="http://schemas.openxmlformats.org/package/2006/relationships"><Relationship Id="rId1" Type="http://schemas.openxmlformats.org/officeDocument/2006/relationships/package" Target="../embeddings/Microsoft_Excel_Sheet955.xlsx"/></Relationships>
</file>

<file path=ppt/charts/_rels/chart956.xml.rels><?xml version='1.0' encoding='UTF-8' standalone='yes'?>
<Relationships xmlns="http://schemas.openxmlformats.org/package/2006/relationships"><Relationship Id="rId1" Type="http://schemas.openxmlformats.org/officeDocument/2006/relationships/package" Target="../embeddings/Microsoft_Excel_Sheet956.xlsx"/></Relationships>
</file>

<file path=ppt/charts/_rels/chart957.xml.rels><?xml version='1.0' encoding='UTF-8' standalone='yes'?>
<Relationships xmlns="http://schemas.openxmlformats.org/package/2006/relationships"><Relationship Id="rId1" Type="http://schemas.openxmlformats.org/officeDocument/2006/relationships/package" Target="../embeddings/Microsoft_Excel_Sheet957.xlsx"/></Relationships>
</file>

<file path=ppt/charts/_rels/chart958.xml.rels><?xml version='1.0' encoding='UTF-8' standalone='yes'?>
<Relationships xmlns="http://schemas.openxmlformats.org/package/2006/relationships"><Relationship Id="rId1" Type="http://schemas.openxmlformats.org/officeDocument/2006/relationships/package" Target="../embeddings/Microsoft_Excel_Sheet958.xlsx"/></Relationships>
</file>

<file path=ppt/charts/_rels/chart959.xml.rels><?xml version='1.0' encoding='UTF-8' standalone='yes'?>
<Relationships xmlns="http://schemas.openxmlformats.org/package/2006/relationships"><Relationship Id="rId1" Type="http://schemas.openxmlformats.org/officeDocument/2006/relationships/package" Target="../embeddings/Microsoft_Excel_Sheet959.xlsx"/></Relationships>
</file>

<file path=ppt/charts/_rels/chart960.xml.rels><?xml version='1.0' encoding='UTF-8' standalone='yes'?>
<Relationships xmlns="http://schemas.openxmlformats.org/package/2006/relationships"><Relationship Id="rId1" Type="http://schemas.openxmlformats.org/officeDocument/2006/relationships/package" Target="../embeddings/Microsoft_Excel_Sheet960.xlsx"/></Relationships>
</file>

<file path=ppt/charts/_rels/chart979.xml.rels><?xml version='1.0' encoding='UTF-8' standalone='yes'?>
<Relationships xmlns="http://schemas.openxmlformats.org/package/2006/relationships"><Relationship Id="rId1" Type="http://schemas.openxmlformats.org/officeDocument/2006/relationships/package" Target="../embeddings/Microsoft_Excel_Sheet979.xlsx"/></Relationships>
</file>

<file path=ppt/charts/_rels/chart980.xml.rels><?xml version='1.0' encoding='UTF-8' standalone='yes'?>
<Relationships xmlns="http://schemas.openxmlformats.org/package/2006/relationships"><Relationship Id="rId1" Type="http://schemas.openxmlformats.org/officeDocument/2006/relationships/package" Target="../embeddings/Microsoft_Excel_Sheet980.xlsx"/></Relationships>
</file>

<file path=ppt/charts/_rels/chart981.xml.rels><?xml version='1.0' encoding='UTF-8' standalone='yes'?>
<Relationships xmlns="http://schemas.openxmlformats.org/package/2006/relationships"><Relationship Id="rId1" Type="http://schemas.openxmlformats.org/officeDocument/2006/relationships/package" Target="../embeddings/Microsoft_Excel_Sheet981.xlsx"/></Relationships>
</file>

<file path=ppt/charts/_rels/chart982.xml.rels><?xml version='1.0' encoding='UTF-8' standalone='yes'?>
<Relationships xmlns="http://schemas.openxmlformats.org/package/2006/relationships"><Relationship Id="rId1" Type="http://schemas.openxmlformats.org/officeDocument/2006/relationships/package" Target="../embeddings/Microsoft_Excel_Sheet982.xlsx"/></Relationships>
</file>

<file path=ppt/charts/_rels/chart983.xml.rels><?xml version='1.0' encoding='UTF-8' standalone='yes'?>
<Relationships xmlns="http://schemas.openxmlformats.org/package/2006/relationships"><Relationship Id="rId1" Type="http://schemas.openxmlformats.org/officeDocument/2006/relationships/package" Target="../embeddings/Microsoft_Excel_Sheet983.xlsx"/></Relationships>
</file>

<file path=ppt/charts/_rels/chart984.xml.rels><?xml version='1.0' encoding='UTF-8' standalone='yes'?>
<Relationships xmlns="http://schemas.openxmlformats.org/package/2006/relationships"><Relationship Id="rId1" Type="http://schemas.openxmlformats.org/officeDocument/2006/relationships/package" Target="../embeddings/Microsoft_Excel_Sheet984.xlsx"/></Relationships>
</file>

<file path=ppt/charts/_rels/chart985.xml.rels><?xml version='1.0' encoding='UTF-8' standalone='yes'?>
<Relationships xmlns="http://schemas.openxmlformats.org/package/2006/relationships"><Relationship Id="rId1" Type="http://schemas.openxmlformats.org/officeDocument/2006/relationships/package" Target="../embeddings/Microsoft_Excel_Sheet985.xlsx"/></Relationships>
</file>

<file path=ppt/charts/_rels/chart986.xml.rels><?xml version='1.0' encoding='UTF-8' standalone='yes'?>
<Relationships xmlns="http://schemas.openxmlformats.org/package/2006/relationships"><Relationship Id="rId1" Type="http://schemas.openxmlformats.org/officeDocument/2006/relationships/package" Target="../embeddings/Microsoft_Excel_Sheet986.xlsx"/></Relationships>
</file>

<file path=ppt/charts/_rels/chart1005.xml.rels><?xml version='1.0' encoding='UTF-8' standalone='yes'?>
<Relationships xmlns="http://schemas.openxmlformats.org/package/2006/relationships"><Relationship Id="rId1" Type="http://schemas.openxmlformats.org/officeDocument/2006/relationships/package" Target="../embeddings/Microsoft_Excel_Sheet1005.xlsx"/></Relationships>
</file>

<file path=ppt/charts/_rels/chart1006.xml.rels><?xml version='1.0' encoding='UTF-8' standalone='yes'?>
<Relationships xmlns="http://schemas.openxmlformats.org/package/2006/relationships"><Relationship Id="rId1" Type="http://schemas.openxmlformats.org/officeDocument/2006/relationships/package" Target="../embeddings/Microsoft_Excel_Sheet1006.xlsx"/></Relationships>
</file>

<file path=ppt/charts/_rels/chart1007.xml.rels><?xml version='1.0' encoding='UTF-8' standalone='yes'?>
<Relationships xmlns="http://schemas.openxmlformats.org/package/2006/relationships"><Relationship Id="rId1" Type="http://schemas.openxmlformats.org/officeDocument/2006/relationships/package" Target="../embeddings/Microsoft_Excel_Sheet1007.xlsx"/></Relationships>
</file>

<file path=ppt/charts/_rels/chart1008.xml.rels><?xml version='1.0' encoding='UTF-8' standalone='yes'?>
<Relationships xmlns="http://schemas.openxmlformats.org/package/2006/relationships"><Relationship Id="rId1" Type="http://schemas.openxmlformats.org/officeDocument/2006/relationships/package" Target="../embeddings/Microsoft_Excel_Sheet1008.xlsx"/></Relationships>
</file>

<file path=ppt/charts/_rels/chart1009.xml.rels><?xml version='1.0' encoding='UTF-8' standalone='yes'?>
<Relationships xmlns="http://schemas.openxmlformats.org/package/2006/relationships"><Relationship Id="rId1" Type="http://schemas.openxmlformats.org/officeDocument/2006/relationships/package" Target="../embeddings/Microsoft_Excel_Sheet1009.xlsx"/></Relationships>
</file>

<file path=ppt/charts/_rels/chart1010.xml.rels><?xml version='1.0' encoding='UTF-8' standalone='yes'?>
<Relationships xmlns="http://schemas.openxmlformats.org/package/2006/relationships"><Relationship Id="rId1" Type="http://schemas.openxmlformats.org/officeDocument/2006/relationships/package" Target="../embeddings/Microsoft_Excel_Sheet1010.xlsx"/></Relationships>
</file>

<file path=ppt/charts/_rels/chart1011.xml.rels><?xml version='1.0' encoding='UTF-8' standalone='yes'?>
<Relationships xmlns="http://schemas.openxmlformats.org/package/2006/relationships"><Relationship Id="rId1" Type="http://schemas.openxmlformats.org/officeDocument/2006/relationships/package" Target="../embeddings/Microsoft_Excel_Sheet1011.xlsx"/></Relationships>
</file>

<file path=ppt/charts/_rels/chart1012.xml.rels><?xml version='1.0' encoding='UTF-8' standalone='yes'?>
<Relationships xmlns="http://schemas.openxmlformats.org/package/2006/relationships"><Relationship Id="rId1" Type="http://schemas.openxmlformats.org/officeDocument/2006/relationships/package" Target="../embeddings/Microsoft_Excel_Sheet1012.xlsx"/></Relationships>
</file>

<file path=ppt/charts/_rels/chart1031.xml.rels><?xml version='1.0' encoding='UTF-8' standalone='yes'?>
<Relationships xmlns="http://schemas.openxmlformats.org/package/2006/relationships"><Relationship Id="rId1" Type="http://schemas.openxmlformats.org/officeDocument/2006/relationships/package" Target="../embeddings/Microsoft_Excel_Sheet1031.xlsx"/></Relationships>
</file>

<file path=ppt/charts/_rels/chart1032.xml.rels><?xml version='1.0' encoding='UTF-8' standalone='yes'?>
<Relationships xmlns="http://schemas.openxmlformats.org/package/2006/relationships"><Relationship Id="rId1" Type="http://schemas.openxmlformats.org/officeDocument/2006/relationships/package" Target="../embeddings/Microsoft_Excel_Sheet1032.xlsx"/></Relationships>
</file>

<file path=ppt/charts/_rels/chart1033.xml.rels><?xml version='1.0' encoding='UTF-8' standalone='yes'?>
<Relationships xmlns="http://schemas.openxmlformats.org/package/2006/relationships"><Relationship Id="rId1" Type="http://schemas.openxmlformats.org/officeDocument/2006/relationships/package" Target="../embeddings/Microsoft_Excel_Sheet1033.xlsx"/></Relationships>
</file>

<file path=ppt/charts/_rels/chart1034.xml.rels><?xml version='1.0' encoding='UTF-8' standalone='yes'?>
<Relationships xmlns="http://schemas.openxmlformats.org/package/2006/relationships"><Relationship Id="rId1" Type="http://schemas.openxmlformats.org/officeDocument/2006/relationships/package" Target="../embeddings/Microsoft_Excel_Sheet1034.xlsx"/></Relationships>
</file>

<file path=ppt/charts/_rels/chart1035.xml.rels><?xml version='1.0' encoding='UTF-8' standalone='yes'?>
<Relationships xmlns="http://schemas.openxmlformats.org/package/2006/relationships"><Relationship Id="rId1" Type="http://schemas.openxmlformats.org/officeDocument/2006/relationships/package" Target="../embeddings/Microsoft_Excel_Sheet1035.xlsx"/></Relationships>
</file>

<file path=ppt/charts/_rels/chart1036.xml.rels><?xml version='1.0' encoding='UTF-8' standalone='yes'?>
<Relationships xmlns="http://schemas.openxmlformats.org/package/2006/relationships"><Relationship Id="rId1" Type="http://schemas.openxmlformats.org/officeDocument/2006/relationships/package" Target="../embeddings/Microsoft_Excel_Sheet1036.xlsx"/></Relationships>
</file>

<file path=ppt/charts/_rels/chart1037.xml.rels><?xml version='1.0' encoding='UTF-8' standalone='yes'?>
<Relationships xmlns="http://schemas.openxmlformats.org/package/2006/relationships"><Relationship Id="rId1" Type="http://schemas.openxmlformats.org/officeDocument/2006/relationships/package" Target="../embeddings/Microsoft_Excel_Sheet1037.xlsx"/></Relationships>
</file>

<file path=ppt/charts/_rels/chart1038.xml.rels><?xml version='1.0' encoding='UTF-8' standalone='yes'?>
<Relationships xmlns="http://schemas.openxmlformats.org/package/2006/relationships"><Relationship Id="rId1" Type="http://schemas.openxmlformats.org/officeDocument/2006/relationships/package" Target="../embeddings/Microsoft_Excel_Sheet1038.xlsx"/></Relationships>
</file>

<file path=ppt/charts/_rels/chart1057.xml.rels><?xml version='1.0' encoding='UTF-8' standalone='yes'?>
<Relationships xmlns="http://schemas.openxmlformats.org/package/2006/relationships"><Relationship Id="rId1" Type="http://schemas.openxmlformats.org/officeDocument/2006/relationships/package" Target="../embeddings/Microsoft_Excel_Sheet1057.xlsx"/></Relationships>
</file>

<file path=ppt/charts/_rels/chart1058.xml.rels><?xml version='1.0' encoding='UTF-8' standalone='yes'?>
<Relationships xmlns="http://schemas.openxmlformats.org/package/2006/relationships"><Relationship Id="rId1" Type="http://schemas.openxmlformats.org/officeDocument/2006/relationships/package" Target="../embeddings/Microsoft_Excel_Sheet1058.xlsx"/></Relationships>
</file>

<file path=ppt/charts/_rels/chart1059.xml.rels><?xml version='1.0' encoding='UTF-8' standalone='yes'?>
<Relationships xmlns="http://schemas.openxmlformats.org/package/2006/relationships"><Relationship Id="rId1" Type="http://schemas.openxmlformats.org/officeDocument/2006/relationships/package" Target="../embeddings/Microsoft_Excel_Sheet1059.xlsx"/></Relationships>
</file>

<file path=ppt/charts/_rels/chart1060.xml.rels><?xml version='1.0' encoding='UTF-8' standalone='yes'?>
<Relationships xmlns="http://schemas.openxmlformats.org/package/2006/relationships"><Relationship Id="rId1" Type="http://schemas.openxmlformats.org/officeDocument/2006/relationships/package" Target="../embeddings/Microsoft_Excel_Sheet1060.xlsx"/></Relationships>
</file>

<file path=ppt/charts/_rels/chart1061.xml.rels><?xml version='1.0' encoding='UTF-8' standalone='yes'?>
<Relationships xmlns="http://schemas.openxmlformats.org/package/2006/relationships"><Relationship Id="rId1" Type="http://schemas.openxmlformats.org/officeDocument/2006/relationships/package" Target="../embeddings/Microsoft_Excel_Sheet1061.xlsx"/></Relationships>
</file>

<file path=ppt/charts/_rels/chart1062.xml.rels><?xml version='1.0' encoding='UTF-8' standalone='yes'?>
<Relationships xmlns="http://schemas.openxmlformats.org/package/2006/relationships"><Relationship Id="rId1" Type="http://schemas.openxmlformats.org/officeDocument/2006/relationships/package" Target="../embeddings/Microsoft_Excel_Sheet1062.xlsx"/></Relationships>
</file>

<file path=ppt/charts/_rels/chart1063.xml.rels><?xml version='1.0' encoding='UTF-8' standalone='yes'?>
<Relationships xmlns="http://schemas.openxmlformats.org/package/2006/relationships"><Relationship Id="rId1" Type="http://schemas.openxmlformats.org/officeDocument/2006/relationships/package" Target="../embeddings/Microsoft_Excel_Sheet1063.xlsx"/></Relationships>
</file>

<file path=ppt/charts/_rels/chart1064.xml.rels><?xml version='1.0' encoding='UTF-8' standalone='yes'?>
<Relationships xmlns="http://schemas.openxmlformats.org/package/2006/relationships"><Relationship Id="rId1" Type="http://schemas.openxmlformats.org/officeDocument/2006/relationships/package" Target="../embeddings/Microsoft_Excel_Sheet1064.xlsx"/></Relationships>
</file>

<file path=ppt/charts/_rels/chart1083.xml.rels><?xml version='1.0' encoding='UTF-8' standalone='yes'?>
<Relationships xmlns="http://schemas.openxmlformats.org/package/2006/relationships"><Relationship Id="rId1" Type="http://schemas.openxmlformats.org/officeDocument/2006/relationships/package" Target="../embeddings/Microsoft_Excel_Sheet1083.xlsx"/></Relationships>
</file>

<file path=ppt/charts/_rels/chart1084.xml.rels><?xml version='1.0' encoding='UTF-8' standalone='yes'?>
<Relationships xmlns="http://schemas.openxmlformats.org/package/2006/relationships"><Relationship Id="rId1" Type="http://schemas.openxmlformats.org/officeDocument/2006/relationships/package" Target="../embeddings/Microsoft_Excel_Sheet1084.xlsx"/></Relationships>
</file>

<file path=ppt/charts/_rels/chart1085.xml.rels><?xml version='1.0' encoding='UTF-8' standalone='yes'?>
<Relationships xmlns="http://schemas.openxmlformats.org/package/2006/relationships"><Relationship Id="rId1" Type="http://schemas.openxmlformats.org/officeDocument/2006/relationships/package" Target="../embeddings/Microsoft_Excel_Sheet1085.xlsx"/></Relationships>
</file>

<file path=ppt/charts/_rels/chart1086.xml.rels><?xml version='1.0' encoding='UTF-8' standalone='yes'?>
<Relationships xmlns="http://schemas.openxmlformats.org/package/2006/relationships"><Relationship Id="rId1" Type="http://schemas.openxmlformats.org/officeDocument/2006/relationships/package" Target="../embeddings/Microsoft_Excel_Sheet1086.xlsx"/></Relationships>
</file>

<file path=ppt/charts/_rels/chart1087.xml.rels><?xml version='1.0' encoding='UTF-8' standalone='yes'?>
<Relationships xmlns="http://schemas.openxmlformats.org/package/2006/relationships"><Relationship Id="rId1" Type="http://schemas.openxmlformats.org/officeDocument/2006/relationships/package" Target="../embeddings/Microsoft_Excel_Sheet1087.xlsx"/></Relationships>
</file>

<file path=ppt/charts/_rels/chart1088.xml.rels><?xml version='1.0' encoding='UTF-8' standalone='yes'?>
<Relationships xmlns="http://schemas.openxmlformats.org/package/2006/relationships"><Relationship Id="rId1" Type="http://schemas.openxmlformats.org/officeDocument/2006/relationships/package" Target="../embeddings/Microsoft_Excel_Sheet1088.xlsx"/></Relationships>
</file>

<file path=ppt/charts/_rels/chart1089.xml.rels><?xml version='1.0' encoding='UTF-8' standalone='yes'?>
<Relationships xmlns="http://schemas.openxmlformats.org/package/2006/relationships"><Relationship Id="rId1" Type="http://schemas.openxmlformats.org/officeDocument/2006/relationships/package" Target="../embeddings/Microsoft_Excel_Sheet1089.xlsx"/></Relationships>
</file>

<file path=ppt/charts/_rels/chart1090.xml.rels><?xml version='1.0' encoding='UTF-8' standalone='yes'?>
<Relationships xmlns="http://schemas.openxmlformats.org/package/2006/relationships"><Relationship Id="rId1" Type="http://schemas.openxmlformats.org/officeDocument/2006/relationships/package" Target="../embeddings/Microsoft_Excel_Sheet1090.xlsx"/></Relationships>
</file>

<file path=ppt/charts/_rels/chart1109.xml.rels><?xml version='1.0' encoding='UTF-8' standalone='yes'?>
<Relationships xmlns="http://schemas.openxmlformats.org/package/2006/relationships"><Relationship Id="rId1" Type="http://schemas.openxmlformats.org/officeDocument/2006/relationships/package" Target="../embeddings/Microsoft_Excel_Sheet1109.xlsx"/></Relationships>
</file>

<file path=ppt/charts/_rels/chart1110.xml.rels><?xml version='1.0' encoding='UTF-8' standalone='yes'?>
<Relationships xmlns="http://schemas.openxmlformats.org/package/2006/relationships"><Relationship Id="rId1" Type="http://schemas.openxmlformats.org/officeDocument/2006/relationships/package" Target="../embeddings/Microsoft_Excel_Sheet1110.xlsx"/></Relationships>
</file>

<file path=ppt/charts/_rels/chart1111.xml.rels><?xml version='1.0' encoding='UTF-8' standalone='yes'?>
<Relationships xmlns="http://schemas.openxmlformats.org/package/2006/relationships"><Relationship Id="rId1" Type="http://schemas.openxmlformats.org/officeDocument/2006/relationships/package" Target="../embeddings/Microsoft_Excel_Sheet1111.xlsx"/></Relationships>
</file>

<file path=ppt/charts/_rels/chart1112.xml.rels><?xml version='1.0' encoding='UTF-8' standalone='yes'?>
<Relationships xmlns="http://schemas.openxmlformats.org/package/2006/relationships"><Relationship Id="rId1" Type="http://schemas.openxmlformats.org/officeDocument/2006/relationships/package" Target="../embeddings/Microsoft_Excel_Sheet1112.xlsx"/></Relationships>
</file>

<file path=ppt/charts/_rels/chart1113.xml.rels><?xml version='1.0' encoding='UTF-8' standalone='yes'?>
<Relationships xmlns="http://schemas.openxmlformats.org/package/2006/relationships"><Relationship Id="rId1" Type="http://schemas.openxmlformats.org/officeDocument/2006/relationships/package" Target="../embeddings/Microsoft_Excel_Sheet1113.xlsx"/></Relationships>
</file>

<file path=ppt/charts/_rels/chart1114.xml.rels><?xml version='1.0' encoding='UTF-8' standalone='yes'?>
<Relationships xmlns="http://schemas.openxmlformats.org/package/2006/relationships"><Relationship Id="rId1" Type="http://schemas.openxmlformats.org/officeDocument/2006/relationships/package" Target="../embeddings/Microsoft_Excel_Sheet1114.xlsx"/></Relationships>
</file>

<file path=ppt/charts/_rels/chart1115.xml.rels><?xml version='1.0' encoding='UTF-8' standalone='yes'?>
<Relationships xmlns="http://schemas.openxmlformats.org/package/2006/relationships"><Relationship Id="rId1" Type="http://schemas.openxmlformats.org/officeDocument/2006/relationships/package" Target="../embeddings/Microsoft_Excel_Sheet1115.xlsx"/></Relationships>
</file>

<file path=ppt/charts/_rels/chart1116.xml.rels><?xml version='1.0' encoding='UTF-8' standalone='yes'?>
<Relationships xmlns="http://schemas.openxmlformats.org/package/2006/relationships"><Relationship Id="rId1" Type="http://schemas.openxmlformats.org/officeDocument/2006/relationships/package" Target="../embeddings/Microsoft_Excel_Sheet1116.xlsx"/></Relationships>
</file>

<file path=ppt/charts/_rels/chart1135.xml.rels><?xml version='1.0' encoding='UTF-8' standalone='yes'?>
<Relationships xmlns="http://schemas.openxmlformats.org/package/2006/relationships"><Relationship Id="rId1" Type="http://schemas.openxmlformats.org/officeDocument/2006/relationships/package" Target="../embeddings/Microsoft_Excel_Sheet1135.xlsx"/></Relationships>
</file>

<file path=ppt/charts/_rels/chart1136.xml.rels><?xml version='1.0' encoding='UTF-8' standalone='yes'?>
<Relationships xmlns="http://schemas.openxmlformats.org/package/2006/relationships"><Relationship Id="rId1" Type="http://schemas.openxmlformats.org/officeDocument/2006/relationships/package" Target="../embeddings/Microsoft_Excel_Sheet1136.xlsx"/></Relationships>
</file>

<file path=ppt/charts/_rels/chart1137.xml.rels><?xml version='1.0' encoding='UTF-8' standalone='yes'?>
<Relationships xmlns="http://schemas.openxmlformats.org/package/2006/relationships"><Relationship Id="rId1" Type="http://schemas.openxmlformats.org/officeDocument/2006/relationships/package" Target="../embeddings/Microsoft_Excel_Sheet1137.xlsx"/></Relationships>
</file>

<file path=ppt/charts/_rels/chart1138.xml.rels><?xml version='1.0' encoding='UTF-8' standalone='yes'?>
<Relationships xmlns="http://schemas.openxmlformats.org/package/2006/relationships"><Relationship Id="rId1" Type="http://schemas.openxmlformats.org/officeDocument/2006/relationships/package" Target="../embeddings/Microsoft_Excel_Sheet1138.xlsx"/></Relationships>
</file>

<file path=ppt/charts/_rels/chart1139.xml.rels><?xml version='1.0' encoding='UTF-8' standalone='yes'?>
<Relationships xmlns="http://schemas.openxmlformats.org/package/2006/relationships"><Relationship Id="rId1" Type="http://schemas.openxmlformats.org/officeDocument/2006/relationships/package" Target="../embeddings/Microsoft_Excel_Sheet1139.xlsx"/></Relationships>
</file>

<file path=ppt/charts/_rels/chart1140.xml.rels><?xml version='1.0' encoding='UTF-8' standalone='yes'?>
<Relationships xmlns="http://schemas.openxmlformats.org/package/2006/relationships"><Relationship Id="rId1" Type="http://schemas.openxmlformats.org/officeDocument/2006/relationships/package" Target="../embeddings/Microsoft_Excel_Sheet1140.xlsx"/></Relationships>
</file>

<file path=ppt/charts/_rels/chart1141.xml.rels><?xml version='1.0' encoding='UTF-8' standalone='yes'?>
<Relationships xmlns="http://schemas.openxmlformats.org/package/2006/relationships"><Relationship Id="rId1" Type="http://schemas.openxmlformats.org/officeDocument/2006/relationships/package" Target="../embeddings/Microsoft_Excel_Sheet1141.xlsx"/></Relationships>
</file>

<file path=ppt/charts/_rels/chart1142.xml.rels><?xml version='1.0' encoding='UTF-8' standalone='yes'?>
<Relationships xmlns="http://schemas.openxmlformats.org/package/2006/relationships"><Relationship Id="rId1" Type="http://schemas.openxmlformats.org/officeDocument/2006/relationships/package" Target="../embeddings/Microsoft_Excel_Sheet1142.xlsx"/></Relationships>
</file>

<file path=ppt/charts/_rels/chart1161.xml.rels><?xml version='1.0' encoding='UTF-8' standalone='yes'?>
<Relationships xmlns="http://schemas.openxmlformats.org/package/2006/relationships"><Relationship Id="rId1" Type="http://schemas.openxmlformats.org/officeDocument/2006/relationships/package" Target="../embeddings/Microsoft_Excel_Sheet1161.xlsx"/></Relationships>
</file>

<file path=ppt/charts/_rels/chart1162.xml.rels><?xml version='1.0' encoding='UTF-8' standalone='yes'?>
<Relationships xmlns="http://schemas.openxmlformats.org/package/2006/relationships"><Relationship Id="rId1" Type="http://schemas.openxmlformats.org/officeDocument/2006/relationships/package" Target="../embeddings/Microsoft_Excel_Sheet1162.xlsx"/></Relationships>
</file>

<file path=ppt/charts/_rels/chart1163.xml.rels><?xml version='1.0' encoding='UTF-8' standalone='yes'?>
<Relationships xmlns="http://schemas.openxmlformats.org/package/2006/relationships"><Relationship Id="rId1" Type="http://schemas.openxmlformats.org/officeDocument/2006/relationships/package" Target="../embeddings/Microsoft_Excel_Sheet1163.xlsx"/></Relationships>
</file>

<file path=ppt/charts/_rels/chart1164.xml.rels><?xml version='1.0' encoding='UTF-8' standalone='yes'?>
<Relationships xmlns="http://schemas.openxmlformats.org/package/2006/relationships"><Relationship Id="rId1" Type="http://schemas.openxmlformats.org/officeDocument/2006/relationships/package" Target="../embeddings/Microsoft_Excel_Sheet1164.xlsx"/></Relationships>
</file>

<file path=ppt/charts/_rels/chart1165.xml.rels><?xml version='1.0' encoding='UTF-8' standalone='yes'?>
<Relationships xmlns="http://schemas.openxmlformats.org/package/2006/relationships"><Relationship Id="rId1" Type="http://schemas.openxmlformats.org/officeDocument/2006/relationships/package" Target="../embeddings/Microsoft_Excel_Sheet1165.xlsx"/></Relationships>
</file>

<file path=ppt/charts/_rels/chart1166.xml.rels><?xml version='1.0' encoding='UTF-8' standalone='yes'?>
<Relationships xmlns="http://schemas.openxmlformats.org/package/2006/relationships"><Relationship Id="rId1" Type="http://schemas.openxmlformats.org/officeDocument/2006/relationships/package" Target="../embeddings/Microsoft_Excel_Sheet1166.xlsx"/></Relationships>
</file>

<file path=ppt/charts/_rels/chart1167.xml.rels><?xml version='1.0' encoding='UTF-8' standalone='yes'?>
<Relationships xmlns="http://schemas.openxmlformats.org/package/2006/relationships"><Relationship Id="rId1" Type="http://schemas.openxmlformats.org/officeDocument/2006/relationships/package" Target="../embeddings/Microsoft_Excel_Sheet1167.xlsx"/></Relationships>
</file>

<file path=ppt/charts/_rels/chart1168.xml.rels><?xml version='1.0' encoding='UTF-8' standalone='yes'?>
<Relationships xmlns="http://schemas.openxmlformats.org/package/2006/relationships"><Relationship Id="rId1" Type="http://schemas.openxmlformats.org/officeDocument/2006/relationships/package" Target="../embeddings/Microsoft_Excel_Sheet1168.xlsx"/></Relationships>
</file>

<file path=ppt/charts/_rels/chart1187.xml.rels><?xml version='1.0' encoding='UTF-8' standalone='yes'?>
<Relationships xmlns="http://schemas.openxmlformats.org/package/2006/relationships"><Relationship Id="rId1" Type="http://schemas.openxmlformats.org/officeDocument/2006/relationships/package" Target="../embeddings/Microsoft_Excel_Sheet1187.xlsx"/></Relationships>
</file>

<file path=ppt/charts/_rels/chart1188.xml.rels><?xml version='1.0' encoding='UTF-8' standalone='yes'?>
<Relationships xmlns="http://schemas.openxmlformats.org/package/2006/relationships"><Relationship Id="rId1" Type="http://schemas.openxmlformats.org/officeDocument/2006/relationships/package" Target="../embeddings/Microsoft_Excel_Sheet1188.xlsx"/></Relationships>
</file>

<file path=ppt/charts/_rels/chart1189.xml.rels><?xml version='1.0' encoding='UTF-8' standalone='yes'?>
<Relationships xmlns="http://schemas.openxmlformats.org/package/2006/relationships"><Relationship Id="rId1" Type="http://schemas.openxmlformats.org/officeDocument/2006/relationships/package" Target="../embeddings/Microsoft_Excel_Sheet1189.xlsx"/></Relationships>
</file>

<file path=ppt/charts/_rels/chart1190.xml.rels><?xml version='1.0' encoding='UTF-8' standalone='yes'?>
<Relationships xmlns="http://schemas.openxmlformats.org/package/2006/relationships"><Relationship Id="rId1" Type="http://schemas.openxmlformats.org/officeDocument/2006/relationships/package" Target="../embeddings/Microsoft_Excel_Sheet1190.xlsx"/></Relationships>
</file>

<file path=ppt/charts/_rels/chart1191.xml.rels><?xml version='1.0' encoding='UTF-8' standalone='yes'?>
<Relationships xmlns="http://schemas.openxmlformats.org/package/2006/relationships"><Relationship Id="rId1" Type="http://schemas.openxmlformats.org/officeDocument/2006/relationships/package" Target="../embeddings/Microsoft_Excel_Sheet1191.xlsx"/></Relationships>
</file>

<file path=ppt/charts/_rels/chart1192.xml.rels><?xml version='1.0' encoding='UTF-8' standalone='yes'?>
<Relationships xmlns="http://schemas.openxmlformats.org/package/2006/relationships"><Relationship Id="rId1" Type="http://schemas.openxmlformats.org/officeDocument/2006/relationships/package" Target="../embeddings/Microsoft_Excel_Sheet1192.xlsx"/></Relationships>
</file>

<file path=ppt/charts/_rels/chart1193.xml.rels><?xml version='1.0' encoding='UTF-8' standalone='yes'?>
<Relationships xmlns="http://schemas.openxmlformats.org/package/2006/relationships"><Relationship Id="rId1" Type="http://schemas.openxmlformats.org/officeDocument/2006/relationships/package" Target="../embeddings/Microsoft_Excel_Sheet1193.xlsx"/></Relationships>
</file>

<file path=ppt/charts/_rels/chart1194.xml.rels><?xml version='1.0' encoding='UTF-8' standalone='yes'?>
<Relationships xmlns="http://schemas.openxmlformats.org/package/2006/relationships"><Relationship Id="rId1" Type="http://schemas.openxmlformats.org/officeDocument/2006/relationships/package" Target="../embeddings/Microsoft_Excel_Sheet1194.xlsx"/></Relationships>
</file>

<file path=ppt/charts/_rels/chart1213.xml.rels><?xml version='1.0' encoding='UTF-8' standalone='yes'?>
<Relationships xmlns="http://schemas.openxmlformats.org/package/2006/relationships"><Relationship Id="rId1" Type="http://schemas.openxmlformats.org/officeDocument/2006/relationships/package" Target="../embeddings/Microsoft_Excel_Sheet1213.xlsx"/></Relationships>
</file>

<file path=ppt/charts/_rels/chart1214.xml.rels><?xml version='1.0' encoding='UTF-8' standalone='yes'?>
<Relationships xmlns="http://schemas.openxmlformats.org/package/2006/relationships"><Relationship Id="rId1" Type="http://schemas.openxmlformats.org/officeDocument/2006/relationships/package" Target="../embeddings/Microsoft_Excel_Sheet1214.xlsx"/></Relationships>
</file>

<file path=ppt/charts/_rels/chart1215.xml.rels><?xml version='1.0' encoding='UTF-8' standalone='yes'?>
<Relationships xmlns="http://schemas.openxmlformats.org/package/2006/relationships"><Relationship Id="rId1" Type="http://schemas.openxmlformats.org/officeDocument/2006/relationships/package" Target="../embeddings/Microsoft_Excel_Sheet1215.xlsx"/></Relationships>
</file>

<file path=ppt/charts/_rels/chart1216.xml.rels><?xml version='1.0' encoding='UTF-8' standalone='yes'?>
<Relationships xmlns="http://schemas.openxmlformats.org/package/2006/relationships"><Relationship Id="rId1" Type="http://schemas.openxmlformats.org/officeDocument/2006/relationships/package" Target="../embeddings/Microsoft_Excel_Sheet1216.xlsx"/></Relationships>
</file>

<file path=ppt/charts/_rels/chart1217.xml.rels><?xml version='1.0' encoding='UTF-8' standalone='yes'?>
<Relationships xmlns="http://schemas.openxmlformats.org/package/2006/relationships"><Relationship Id="rId1" Type="http://schemas.openxmlformats.org/officeDocument/2006/relationships/package" Target="../embeddings/Microsoft_Excel_Sheet1217.xlsx"/></Relationships>
</file>

<file path=ppt/charts/_rels/chart1218.xml.rels><?xml version='1.0' encoding='UTF-8' standalone='yes'?>
<Relationships xmlns="http://schemas.openxmlformats.org/package/2006/relationships"><Relationship Id="rId1" Type="http://schemas.openxmlformats.org/officeDocument/2006/relationships/package" Target="../embeddings/Microsoft_Excel_Sheet1218.xlsx"/></Relationships>
</file>

<file path=ppt/charts/_rels/chart1219.xml.rels><?xml version='1.0' encoding='UTF-8' standalone='yes'?>
<Relationships xmlns="http://schemas.openxmlformats.org/package/2006/relationships"><Relationship Id="rId1" Type="http://schemas.openxmlformats.org/officeDocument/2006/relationships/package" Target="../embeddings/Microsoft_Excel_Sheet1219.xlsx"/></Relationships>
</file>

<file path=ppt/charts/_rels/chart1220.xml.rels><?xml version='1.0' encoding='UTF-8' standalone='yes'?>
<Relationships xmlns="http://schemas.openxmlformats.org/package/2006/relationships"><Relationship Id="rId1" Type="http://schemas.openxmlformats.org/officeDocument/2006/relationships/package" Target="../embeddings/Microsoft_Excel_Sheet1220.xlsx"/></Relationships>
</file>

<file path=ppt/charts/_rels/chart1239.xml.rels><?xml version='1.0' encoding='UTF-8' standalone='yes'?>
<Relationships xmlns="http://schemas.openxmlformats.org/package/2006/relationships"><Relationship Id="rId1" Type="http://schemas.openxmlformats.org/officeDocument/2006/relationships/package" Target="../embeddings/Microsoft_Excel_Sheet1239.xlsx"/></Relationships>
</file>

<file path=ppt/charts/_rels/chart1240.xml.rels><?xml version='1.0' encoding='UTF-8' standalone='yes'?>
<Relationships xmlns="http://schemas.openxmlformats.org/package/2006/relationships"><Relationship Id="rId1" Type="http://schemas.openxmlformats.org/officeDocument/2006/relationships/package" Target="../embeddings/Microsoft_Excel_Sheet1240.xlsx"/></Relationships>
</file>

<file path=ppt/charts/_rels/chart1241.xml.rels><?xml version='1.0' encoding='UTF-8' standalone='yes'?>
<Relationships xmlns="http://schemas.openxmlformats.org/package/2006/relationships"><Relationship Id="rId1" Type="http://schemas.openxmlformats.org/officeDocument/2006/relationships/package" Target="../embeddings/Microsoft_Excel_Sheet1241.xlsx"/></Relationships>
</file>

<file path=ppt/charts/_rels/chart1242.xml.rels><?xml version='1.0' encoding='UTF-8' standalone='yes'?>
<Relationships xmlns="http://schemas.openxmlformats.org/package/2006/relationships"><Relationship Id="rId1" Type="http://schemas.openxmlformats.org/officeDocument/2006/relationships/package" Target="../embeddings/Microsoft_Excel_Sheet1242.xlsx"/></Relationships>
</file>

<file path=ppt/charts/_rels/chart1243.xml.rels><?xml version='1.0' encoding='UTF-8' standalone='yes'?>
<Relationships xmlns="http://schemas.openxmlformats.org/package/2006/relationships"><Relationship Id="rId1" Type="http://schemas.openxmlformats.org/officeDocument/2006/relationships/package" Target="../embeddings/Microsoft_Excel_Sheet1243.xlsx"/></Relationships>
</file>

<file path=ppt/charts/_rels/chart1244.xml.rels><?xml version='1.0' encoding='UTF-8' standalone='yes'?>
<Relationships xmlns="http://schemas.openxmlformats.org/package/2006/relationships"><Relationship Id="rId1" Type="http://schemas.openxmlformats.org/officeDocument/2006/relationships/package" Target="../embeddings/Microsoft_Excel_Sheet1244.xlsx"/></Relationships>
</file>

<file path=ppt/charts/_rels/chart1245.xml.rels><?xml version='1.0' encoding='UTF-8' standalone='yes'?>
<Relationships xmlns="http://schemas.openxmlformats.org/package/2006/relationships"><Relationship Id="rId1" Type="http://schemas.openxmlformats.org/officeDocument/2006/relationships/package" Target="../embeddings/Microsoft_Excel_Sheet1245.xlsx"/></Relationships>
</file>

<file path=ppt/charts/_rels/chart1246.xml.rels><?xml version='1.0' encoding='UTF-8' standalone='yes'?>
<Relationships xmlns="http://schemas.openxmlformats.org/package/2006/relationships"><Relationship Id="rId1" Type="http://schemas.openxmlformats.org/officeDocument/2006/relationships/package" Target="../embeddings/Microsoft_Excel_Sheet1246.xlsx"/></Relationships>
</file>

<file path=ppt/charts/_rels/chart1265.xml.rels><?xml version='1.0' encoding='UTF-8' standalone='yes'?>
<Relationships xmlns="http://schemas.openxmlformats.org/package/2006/relationships"><Relationship Id="rId1" Type="http://schemas.openxmlformats.org/officeDocument/2006/relationships/package" Target="../embeddings/Microsoft_Excel_Sheet1265.xlsx"/></Relationships>
</file>

<file path=ppt/charts/_rels/chart1266.xml.rels><?xml version='1.0' encoding='UTF-8' standalone='yes'?>
<Relationships xmlns="http://schemas.openxmlformats.org/package/2006/relationships"><Relationship Id="rId1" Type="http://schemas.openxmlformats.org/officeDocument/2006/relationships/package" Target="../embeddings/Microsoft_Excel_Sheet1266.xlsx"/></Relationships>
</file>

<file path=ppt/charts/_rels/chart1267.xml.rels><?xml version='1.0' encoding='UTF-8' standalone='yes'?>
<Relationships xmlns="http://schemas.openxmlformats.org/package/2006/relationships"><Relationship Id="rId1" Type="http://schemas.openxmlformats.org/officeDocument/2006/relationships/package" Target="../embeddings/Microsoft_Excel_Sheet1267.xlsx"/></Relationships>
</file>

<file path=ppt/charts/_rels/chart1268.xml.rels><?xml version='1.0' encoding='UTF-8' standalone='yes'?>
<Relationships xmlns="http://schemas.openxmlformats.org/package/2006/relationships"><Relationship Id="rId1" Type="http://schemas.openxmlformats.org/officeDocument/2006/relationships/package" Target="../embeddings/Microsoft_Excel_Sheet1268.xlsx"/></Relationships>
</file>

<file path=ppt/charts/_rels/chart1269.xml.rels><?xml version='1.0' encoding='UTF-8' standalone='yes'?>
<Relationships xmlns="http://schemas.openxmlformats.org/package/2006/relationships"><Relationship Id="rId1" Type="http://schemas.openxmlformats.org/officeDocument/2006/relationships/package" Target="../embeddings/Microsoft_Excel_Sheet1269.xlsx"/></Relationships>
</file>

<file path=ppt/charts/_rels/chart1270.xml.rels><?xml version='1.0' encoding='UTF-8' standalone='yes'?>
<Relationships xmlns="http://schemas.openxmlformats.org/package/2006/relationships"><Relationship Id="rId1" Type="http://schemas.openxmlformats.org/officeDocument/2006/relationships/package" Target="../embeddings/Microsoft_Excel_Sheet1270.xlsx"/></Relationships>
</file>

<file path=ppt/charts/_rels/chart1271.xml.rels><?xml version='1.0' encoding='UTF-8' standalone='yes'?>
<Relationships xmlns="http://schemas.openxmlformats.org/package/2006/relationships"><Relationship Id="rId1" Type="http://schemas.openxmlformats.org/officeDocument/2006/relationships/package" Target="../embeddings/Microsoft_Excel_Sheet1271.xlsx"/></Relationships>
</file>

<file path=ppt/charts/_rels/chart1272.xml.rels><?xml version='1.0' encoding='UTF-8' standalone='yes'?>
<Relationships xmlns="http://schemas.openxmlformats.org/package/2006/relationships"><Relationship Id="rId1" Type="http://schemas.openxmlformats.org/officeDocument/2006/relationships/package" Target="../embeddings/Microsoft_Excel_Sheet1272.xlsx"/></Relationships>
</file>

<file path=ppt/charts/_rels/chart1291.xml.rels><?xml version='1.0' encoding='UTF-8' standalone='yes'?>
<Relationships xmlns="http://schemas.openxmlformats.org/package/2006/relationships"><Relationship Id="rId1" Type="http://schemas.openxmlformats.org/officeDocument/2006/relationships/package" Target="../embeddings/Microsoft_Excel_Sheet1291.xlsx"/></Relationships>
</file>

<file path=ppt/charts/_rels/chart1292.xml.rels><?xml version='1.0' encoding='UTF-8' standalone='yes'?>
<Relationships xmlns="http://schemas.openxmlformats.org/package/2006/relationships"><Relationship Id="rId1" Type="http://schemas.openxmlformats.org/officeDocument/2006/relationships/package" Target="../embeddings/Microsoft_Excel_Sheet1292.xlsx"/></Relationships>
</file>

<file path=ppt/charts/_rels/chart1293.xml.rels><?xml version='1.0' encoding='UTF-8' standalone='yes'?>
<Relationships xmlns="http://schemas.openxmlformats.org/package/2006/relationships"><Relationship Id="rId1" Type="http://schemas.openxmlformats.org/officeDocument/2006/relationships/package" Target="../embeddings/Microsoft_Excel_Sheet1293.xlsx"/></Relationships>
</file>

<file path=ppt/charts/_rels/chart1294.xml.rels><?xml version='1.0' encoding='UTF-8' standalone='yes'?>
<Relationships xmlns="http://schemas.openxmlformats.org/package/2006/relationships"><Relationship Id="rId1" Type="http://schemas.openxmlformats.org/officeDocument/2006/relationships/package" Target="../embeddings/Microsoft_Excel_Sheet1294.xlsx"/></Relationships>
</file>

<file path=ppt/charts/_rels/chart1295.xml.rels><?xml version='1.0' encoding='UTF-8' standalone='yes'?>
<Relationships xmlns="http://schemas.openxmlformats.org/package/2006/relationships"><Relationship Id="rId1" Type="http://schemas.openxmlformats.org/officeDocument/2006/relationships/package" Target="../embeddings/Microsoft_Excel_Sheet1295.xlsx"/></Relationships>
</file>

<file path=ppt/charts/_rels/chart1296.xml.rels><?xml version='1.0' encoding='UTF-8' standalone='yes'?>
<Relationships xmlns="http://schemas.openxmlformats.org/package/2006/relationships"><Relationship Id="rId1" Type="http://schemas.openxmlformats.org/officeDocument/2006/relationships/package" Target="../embeddings/Microsoft_Excel_Sheet1296.xlsx"/></Relationships>
</file>

<file path=ppt/charts/_rels/chart1297.xml.rels><?xml version='1.0' encoding='UTF-8' standalone='yes'?>
<Relationships xmlns="http://schemas.openxmlformats.org/package/2006/relationships"><Relationship Id="rId1" Type="http://schemas.openxmlformats.org/officeDocument/2006/relationships/package" Target="../embeddings/Microsoft_Excel_Sheet1297.xlsx"/></Relationships>
</file>

<file path=ppt/charts/_rels/chart1298.xml.rels><?xml version='1.0' encoding='UTF-8' standalone='yes'?>
<Relationships xmlns="http://schemas.openxmlformats.org/package/2006/relationships"><Relationship Id="rId1" Type="http://schemas.openxmlformats.org/officeDocument/2006/relationships/package" Target="../embeddings/Microsoft_Excel_Sheet1298.xlsx"/></Relationships>
</file>

<file path=ppt/charts/_rels/chart1317.xml.rels><?xml version='1.0' encoding='UTF-8' standalone='yes'?>
<Relationships xmlns="http://schemas.openxmlformats.org/package/2006/relationships"><Relationship Id="rId1" Type="http://schemas.openxmlformats.org/officeDocument/2006/relationships/package" Target="../embeddings/Microsoft_Excel_Sheet1317.xlsx"/></Relationships>
</file>

<file path=ppt/charts/_rels/chart1318.xml.rels><?xml version='1.0' encoding='UTF-8' standalone='yes'?>
<Relationships xmlns="http://schemas.openxmlformats.org/package/2006/relationships"><Relationship Id="rId1" Type="http://schemas.openxmlformats.org/officeDocument/2006/relationships/package" Target="../embeddings/Microsoft_Excel_Sheet1318.xlsx"/></Relationships>
</file>

<file path=ppt/charts/_rels/chart1319.xml.rels><?xml version='1.0' encoding='UTF-8' standalone='yes'?>
<Relationships xmlns="http://schemas.openxmlformats.org/package/2006/relationships"><Relationship Id="rId1" Type="http://schemas.openxmlformats.org/officeDocument/2006/relationships/package" Target="../embeddings/Microsoft_Excel_Sheet1319.xlsx"/></Relationships>
</file>

<file path=ppt/charts/_rels/chart1320.xml.rels><?xml version='1.0' encoding='UTF-8' standalone='yes'?>
<Relationships xmlns="http://schemas.openxmlformats.org/package/2006/relationships"><Relationship Id="rId1" Type="http://schemas.openxmlformats.org/officeDocument/2006/relationships/package" Target="../embeddings/Microsoft_Excel_Sheet1320.xlsx"/></Relationships>
</file>

<file path=ppt/charts/_rels/chart1321.xml.rels><?xml version='1.0' encoding='UTF-8' standalone='yes'?>
<Relationships xmlns="http://schemas.openxmlformats.org/package/2006/relationships"><Relationship Id="rId1" Type="http://schemas.openxmlformats.org/officeDocument/2006/relationships/package" Target="../embeddings/Microsoft_Excel_Sheet1321.xlsx"/></Relationships>
</file>

<file path=ppt/charts/_rels/chart1322.xml.rels><?xml version='1.0' encoding='UTF-8' standalone='yes'?>
<Relationships xmlns="http://schemas.openxmlformats.org/package/2006/relationships"><Relationship Id="rId1" Type="http://schemas.openxmlformats.org/officeDocument/2006/relationships/package" Target="../embeddings/Microsoft_Excel_Sheet1322.xlsx"/></Relationships>
</file>

<file path=ppt/charts/_rels/chart1323.xml.rels><?xml version='1.0' encoding='UTF-8' standalone='yes'?>
<Relationships xmlns="http://schemas.openxmlformats.org/package/2006/relationships"><Relationship Id="rId1" Type="http://schemas.openxmlformats.org/officeDocument/2006/relationships/package" Target="../embeddings/Microsoft_Excel_Sheet1323.xlsx"/></Relationships>
</file>

<file path=ppt/charts/_rels/chart1324.xml.rels><?xml version='1.0' encoding='UTF-8' standalone='yes'?>
<Relationships xmlns="http://schemas.openxmlformats.org/package/2006/relationships"><Relationship Id="rId1" Type="http://schemas.openxmlformats.org/officeDocument/2006/relationships/package" Target="../embeddings/Microsoft_Excel_Sheet132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03E58"/>
            </a:solidFill>
            <a:ln>
              <a:noFill/>
            </a:ln>
          </c:spPr>
          <c:cat>
            <c:strRef>
              <c:f>Sheet1!$A$2:$A$4</c:f>
              <c:strCache>
                <c:ptCount val="3"/>
                <c:pt idx="0">
                  <c:v>2021–2026</c:v>
                </c:pt>
                <c:pt idx="1">
                  <c:v>2026–2036</c:v>
                </c:pt>
                <c:pt idx="2">
                  <c:v>2021–2036</c:v>
                </c:pt>
              </c:strCache>
            </c:strRef>
          </c:cat>
          <c:val>
            <c:numRef>
              <c:f>Sheet1!$B$2:$B$4</c:f>
              <c:numCache>
                <c:formatCode>General</c:formatCode>
                <c:ptCount val="3"/>
                <c:pt idx="0">
                  <c:v>5.6304024643153205</c:v>
                </c:pt>
                <c:pt idx="1">
                  <c:v>5.917522569547584</c:v>
                </c:pt>
                <c:pt idx="2">
                  <c:v>5.821729257089059</c:v>
                </c:pt>
              </c:numCache>
            </c:numRef>
          </c:val>
        </c:ser>
        <c:dLbls>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7.811129791802811"/>
          <c:min val="0.0"/>
        </c:scaling>
        <c:delete val="0"/>
        <c:axPos val="l"/>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2021</c:v>
                </c:pt>
                <c:pt idx="1">
                  <c:v>2021–2026</c:v>
                </c:pt>
                <c:pt idx="2">
                  <c:v>2026</c:v>
                </c:pt>
                <c:pt idx="3">
                  <c:v>2026–2036</c:v>
                </c:pt>
                <c:pt idx="4">
                  <c:v>2036</c:v>
                </c:pt>
              </c:strCache>
            </c:strRef>
          </c:cat>
          <c:val>
            <c:numRef>
              <c:f>Sheet1!$B$2:$B$6</c:f>
              <c:numCache>
                <c:formatCode>General</c:formatCode>
                <c:ptCount val="5"/>
                <c:pt idx="0">
                  <c:v>0.0</c:v>
                </c:pt>
                <c:pt idx="1">
                  <c:v>1291.016</c:v>
                </c:pt>
                <c:pt idx="2">
                  <c:v>0.0</c:v>
                </c:pt>
                <c:pt idx="3">
                  <c:v>1697.76</c:v>
                </c:pt>
                <c:pt idx="4">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00A4DC"/>
              </a:solidFill>
            </c:spPr>
          </c:dPt>
          <c:dPt>
            <c:idx val="3"/>
            <c:spPr>
              <a:solidFill>
                <a:srgbClr val="2F6FB0"/>
              </a:solidFill>
            </c:spPr>
          </c:dPt>
          <c:dPt>
            <c:idx val="4"/>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Sheet1!$A$2:$A$6</c:f>
              <c:strCache>
                <c:ptCount val="5"/>
                <c:pt idx="0">
                  <c:v>2021</c:v>
                </c:pt>
                <c:pt idx="1">
                  <c:v>2021–2026</c:v>
                </c:pt>
                <c:pt idx="2">
                  <c:v>2026</c:v>
                </c:pt>
                <c:pt idx="3">
                  <c:v>2026–2036</c:v>
                </c:pt>
                <c:pt idx="4">
                  <c:v>2036</c:v>
                </c:pt>
              </c:strCache>
            </c:strRef>
          </c:cat>
          <c:val>
            <c:numRef>
              <c:f>Sheet1!$C$2:$C$6</c:f>
              <c:numCache>
                <c:formatCode>General</c:formatCode>
                <c:ptCount val="5"/>
                <c:pt idx="0">
                  <c:v>1291.016</c:v>
                </c:pt>
                <c:pt idx="1">
                  <c:v>406.7439999999999</c:v>
                </c:pt>
                <c:pt idx="2">
                  <c:v>1697.76</c:v>
                </c:pt>
                <c:pt idx="3">
                  <c:v>1319.0949999999996</c:v>
                </c:pt>
                <c:pt idx="4">
                  <c:v>3016.8549999999996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03E58"/>
            </a:solidFill>
            <a:ln>
              <a:noFill/>
            </a:ln>
          </c:spPr>
          <c:cat>
            <c:strRef>
              <c:f>Sheet1!$A$2:$A$4</c:f>
              <c:strCache>
                <c:ptCount val="3"/>
                <c:pt idx="0">
                  <c:v>2021–2026</c:v>
                </c:pt>
                <c:pt idx="1">
                  <c:v>2026–2036</c:v>
                </c:pt>
                <c:pt idx="2">
                  <c:v>2021–2036</c:v>
                </c:pt>
              </c:strCache>
            </c:strRef>
          </c:cat>
          <c:val>
            <c:numRef>
              <c:f>Sheet1!$B$2:$B$4</c:f>
              <c:numCache>
                <c:formatCode>General</c:formatCode>
                <c:ptCount val="3"/>
                <c:pt idx="0">
                  <c:v>6.224058334954119</c:v>
                </c:pt>
                <c:pt idx="1">
                  <c:v>7.440747619145949</c:v>
                </c:pt>
                <c:pt idx="2">
                  <c:v>7.033643916202936</c:v>
                </c:pt>
              </c:numCache>
            </c:numRef>
          </c:val>
        </c:ser>
        <c:dLbls>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9.821786857272652"/>
          <c:min val="0.0"/>
        </c:scaling>
        <c:delete val="0"/>
        <c:axPos val="l"/>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2021</c:v>
                </c:pt>
                <c:pt idx="1">
                  <c:v>2021–2026</c:v>
                </c:pt>
                <c:pt idx="2">
                  <c:v>2026</c:v>
                </c:pt>
                <c:pt idx="3">
                  <c:v>2026–2036</c:v>
                </c:pt>
                <c:pt idx="4">
                  <c:v>2036</c:v>
                </c:pt>
              </c:strCache>
            </c:strRef>
          </c:cat>
          <c:val>
            <c:numRef>
              <c:f>Sheet1!$B$2:$B$6</c:f>
              <c:numCache>
                <c:formatCode>General</c:formatCode>
                <c:ptCount val="5"/>
                <c:pt idx="0">
                  <c:v>0.0</c:v>
                </c:pt>
                <c:pt idx="1">
                  <c:v>4054.724</c:v>
                </c:pt>
                <c:pt idx="2">
                  <c:v>0.0</c:v>
                </c:pt>
                <c:pt idx="3">
                  <c:v>5483.726000000001</c:v>
                </c:pt>
                <c:pt idx="4">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00A4DC"/>
              </a:solidFill>
            </c:spPr>
          </c:dPt>
          <c:dPt>
            <c:idx val="3"/>
            <c:spPr>
              <a:solidFill>
                <a:srgbClr val="2F6FB0"/>
              </a:solidFill>
            </c:spPr>
          </c:dPt>
          <c:dPt>
            <c:idx val="4"/>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Sheet1!$A$2:$A$6</c:f>
              <c:strCache>
                <c:ptCount val="5"/>
                <c:pt idx="0">
                  <c:v>2021</c:v>
                </c:pt>
                <c:pt idx="1">
                  <c:v>2021–2026</c:v>
                </c:pt>
                <c:pt idx="2">
                  <c:v>2026</c:v>
                </c:pt>
                <c:pt idx="3">
                  <c:v>2026–2036</c:v>
                </c:pt>
                <c:pt idx="4">
                  <c:v>2036</c:v>
                </c:pt>
              </c:strCache>
            </c:strRef>
          </c:cat>
          <c:val>
            <c:numRef>
              <c:f>Sheet1!$C$2:$C$6</c:f>
              <c:numCache>
                <c:formatCode>General</c:formatCode>
                <c:ptCount val="5"/>
                <c:pt idx="0">
                  <c:v>4054.724</c:v>
                </c:pt>
                <c:pt idx="1">
                  <c:v>1429.0020000000004</c:v>
                </c:pt>
                <c:pt idx="2">
                  <c:v>5483.726000000001</c:v>
                </c:pt>
                <c:pt idx="3">
                  <c:v>5756.264999999999</c:v>
                </c:pt>
                <c:pt idx="4">
                  <c:v>11239.991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A9D8EF"/>
            </a:solidFill>
            <a:ln>
              <a:noFill/>
            </a:ln>
          </c:spPr>
          <c:dLbls>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Sheet1!$B$2:$B$6</c:f>
              <c:numCache>
                <c:formatCode>General</c:formatCode>
                <c:ptCount val="5"/>
                <c:pt idx="0">
                  <c:v>4054.724</c:v>
                </c:pt>
                <c:pt idx="1">
                  <c:v>4289.443</c:v>
                </c:pt>
                <c:pt idx="2">
                  <c:v>4545.494</c:v>
                </c:pt>
                <c:pt idx="3">
                  <c:v>4826.648999999999</c:v>
                </c:pt>
                <c:pt idx="4">
                  <c:v>5132.481</c:v>
                </c:pt>
              </c:numCache>
            </c:numRef>
          </c:val>
        </c:ser>
        <c:gapWidth val="50"/>
        <c:axId val="-2068027336"/>
        <c:axId val="-2113994440"/>
      </c:barChart>
      <c:barChart>
        <c:barDir val="col"/>
        <c:grouping val="clustered"/>
        <c:varyColors val="0"/>
        <c:ser>
          <c:idx val="1"/>
          <c:order val="1"/>
          <c:tx>
            <c:strRef>
              <c:f>Sheet1!$C$1</c:f>
              <c:strCache>
                <c:ptCount val="1"/>
                <c:pt idx="0">
                  <c:v>Volume (Mn Sq. Yards)</c:v>
                </c:pt>
              </c:strCache>
            </c:strRef>
          </c:tx>
          <c:spPr>
            <a:solidFill>
              <a:srgbClr val="F1975A"/>
            </a:solidFill>
            <a:ln>
              <a:noFill/>
            </a:ln>
          </c:spPr>
          <c:dLbls>
            <c:numFmt formatCode="#,##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Sheet1!$C$2:$C$6</c:f>
              <c:numCache>
                <c:formatCode>General</c:formatCode>
                <c:ptCount val="5"/>
                <c:pt idx="0">
                  <c:v>1291.016</c:v>
                </c:pt>
                <c:pt idx="1">
                  <c:v>1360.277</c:v>
                </c:pt>
                <c:pt idx="2">
                  <c:v>1435.304</c:v>
                </c:pt>
                <c:pt idx="3">
                  <c:v>1516.3090000000002</c:v>
                </c:pt>
                <c:pt idx="4">
                  <c:v>1603.8990000000001</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max val="6056"/>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2191"/>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A9D8EF"/>
            </a:solidFill>
            <a:ln>
              <a:noFill/>
            </a:ln>
          </c:spPr>
          <c:dLbls>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Sheet1!$B$2:$B$12</c:f>
              <c:numCache>
                <c:formatCode>General</c:formatCode>
                <c:ptCount val="11"/>
                <c:pt idx="0">
                  <c:v>5483.726000000001</c:v>
                </c:pt>
                <c:pt idx="1">
                  <c:v>5865.86</c:v>
                </c:pt>
                <c:pt idx="2">
                  <c:v>6282.113</c:v>
                </c:pt>
                <c:pt idx="3">
                  <c:v>6733.584000000001</c:v>
                </c:pt>
                <c:pt idx="4">
                  <c:v>7230.155</c:v>
                </c:pt>
                <c:pt idx="5">
                  <c:v>7776.67</c:v>
                </c:pt>
                <c:pt idx="6">
                  <c:v>8373.515</c:v>
                </c:pt>
                <c:pt idx="7">
                  <c:v>9019.107</c:v>
                </c:pt>
                <c:pt idx="8">
                  <c:v>9712.831</c:v>
                </c:pt>
                <c:pt idx="9">
                  <c:v>10453.451</c:v>
                </c:pt>
                <c:pt idx="10">
                  <c:v>11239.991</c:v>
                </c:pt>
              </c:numCache>
            </c:numRef>
          </c:val>
        </c:ser>
        <c:gapWidth val="50"/>
        <c:axId val="-2068027336"/>
        <c:axId val="-2113994440"/>
      </c:barChart>
      <c:barChart>
        <c:barDir val="col"/>
        <c:grouping val="clustered"/>
        <c:varyColors val="0"/>
        <c:ser>
          <c:idx val="1"/>
          <c:order val="1"/>
          <c:tx>
            <c:strRef>
              <c:f>Sheet1!$C$1</c:f>
              <c:strCache>
                <c:ptCount val="1"/>
                <c:pt idx="0">
                  <c:v>Volume (Mn Sq. Yards)</c:v>
                </c:pt>
              </c:strCache>
            </c:strRef>
          </c:tx>
          <c:spPr>
            <a:solidFill>
              <a:srgbClr val="F1975A"/>
            </a:solidFill>
            <a:ln>
              <a:noFill/>
            </a:ln>
          </c:spPr>
          <c:dLbls>
            <c:numFmt formatCode="#,##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Sheet1!$C$2:$C$12</c:f>
              <c:numCache>
                <c:formatCode>General</c:formatCode>
                <c:ptCount val="11"/>
                <c:pt idx="0">
                  <c:v>1697.76</c:v>
                </c:pt>
                <c:pt idx="1">
                  <c:v>1797.579</c:v>
                </c:pt>
                <c:pt idx="2">
                  <c:v>1903.632</c:v>
                </c:pt>
                <c:pt idx="3">
                  <c:v>2015.8200000000002</c:v>
                </c:pt>
                <c:pt idx="4">
                  <c:v>2136.492</c:v>
                </c:pt>
                <c:pt idx="5">
                  <c:v>2266.595</c:v>
                </c:pt>
                <c:pt idx="6">
                  <c:v>2405.087</c:v>
                </c:pt>
                <c:pt idx="7">
                  <c:v>2550.6440000000002</c:v>
                </c:pt>
                <c:pt idx="8">
                  <c:v>2702.033</c:v>
                </c:pt>
                <c:pt idx="9">
                  <c:v>2857.726</c:v>
                </c:pt>
                <c:pt idx="10">
                  <c:v>3016.8549999999996</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max val="13263"/>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4666"/>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Index</c:v>
                </c:pt>
              </c:strCache>
            </c:strRef>
          </c:tx>
          <c:spPr>
            <a:solidFill>
              <a:srgbClr val="00A4DC"/>
            </a:solidFill>
            <a:ln>
              <a:noFill/>
            </a:ln>
          </c:spPr>
          <c:cat>
            <c:strRef>
              <c:f>Sheet1!$A$2:$A$8</c:f>
              <c:strCache>
                <c:ptCount val="7"/>
                <c:pt idx="0">
                  <c:v>Canada</c:v>
                </c:pt>
                <c:pt idx="1">
                  <c:v>Spain</c:v>
                </c:pt>
                <c:pt idx="2">
                  <c:v>U.S.</c:v>
                </c:pt>
                <c:pt idx="3">
                  <c:v>South Korea</c:v>
                </c:pt>
                <c:pt idx="4">
                  <c:v>Mexico</c:v>
                </c:pt>
                <c:pt idx="5">
                  <c:v>China</c:v>
                </c:pt>
                <c:pt idx="6">
                  <c:v>India</c:v>
                </c:pt>
              </c:strCache>
            </c:strRef>
          </c:cat>
          <c:val>
            <c:numRef>
              <c:f>Sheet1!$B$2:$B$8</c:f>
              <c:numCache>
                <c:formatCode>General</c:formatCode>
                <c:ptCount val="7"/>
                <c:pt idx="0">
                  <c:v>94.16193157271297</c:v>
                </c:pt>
                <c:pt idx="1">
                  <c:v>96.9100632164135</c:v>
                </c:pt>
                <c:pt idx="2">
                  <c:v>101.86191914315692</c:v>
                </c:pt>
                <c:pt idx="3">
                  <c:v>106.71746720139099</c:v>
                </c:pt>
                <c:pt idx="4">
                  <c:v>116.436218889885</c:v>
                </c:pt>
                <c:pt idx="5">
                  <c:v>120.12331783977753</c:v>
                </c:pt>
                <c:pt idx="6">
                  <c:v>131.6135912824729</c:v>
                </c:pt>
              </c:numCache>
            </c:numRef>
          </c:val>
        </c:ser>
        <c:dLbls>
          <c:numFmt formatCode="#,##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Index</c:v>
                </c:pt>
              </c:strCache>
            </c:strRef>
          </c:tx>
          <c:spPr>
            <a:solidFill>
              <a:srgbClr val="00A4DC"/>
            </a:solidFill>
            <a:ln>
              <a:noFill/>
            </a:ln>
          </c:spPr>
          <c:cat>
            <c:strRef>
              <c:f>Sheet1!$A$2:$A$10</c:f>
              <c:strCache>
                <c:ptCount val="9"/>
                <c:pt idx="0">
                  <c:v>U.K.</c:v>
                </c:pt>
                <c:pt idx="1">
                  <c:v>Italy</c:v>
                </c:pt>
                <c:pt idx="2">
                  <c:v>South Korea</c:v>
                </c:pt>
                <c:pt idx="3">
                  <c:v>France</c:v>
                </c:pt>
                <c:pt idx="4">
                  <c:v>Japan</c:v>
                </c:pt>
                <c:pt idx="5">
                  <c:v>Germany</c:v>
                </c:pt>
                <c:pt idx="6">
                  <c:v>India</c:v>
                </c:pt>
                <c:pt idx="7">
                  <c:v>U.S.</c:v>
                </c:pt>
                <c:pt idx="8">
                  <c:v>China</c:v>
                </c:pt>
              </c:strCache>
            </c:strRef>
          </c:cat>
          <c:val>
            <c:numRef>
              <c:f>Sheet1!$B$2:$B$10</c:f>
              <c:numCache>
                <c:formatCode>General</c:formatCode>
                <c:ptCount val="9"/>
                <c:pt idx="0">
                  <c:v>3.1519570415885996</c:v>
                </c:pt>
                <c:pt idx="1">
                  <c:v>3.607686581489907</c:v>
                </c:pt>
                <c:pt idx="2">
                  <c:v>3.910539212492823</c:v>
                </c:pt>
                <c:pt idx="3">
                  <c:v>4.0332055595077705</c:v>
                </c:pt>
                <c:pt idx="4">
                  <c:v>4.965928427548072</c:v>
                </c:pt>
                <c:pt idx="5">
                  <c:v>5.452250721605069</c:v>
                </c:pt>
                <c:pt idx="6">
                  <c:v>5.56464999439741</c:v>
                </c:pt>
                <c:pt idx="7">
                  <c:v>19.10139647844566</c:v>
                </c:pt>
                <c:pt idx="8">
                  <c:v>19.503740706864612</c:v>
                </c:pt>
              </c:numCache>
            </c:numRef>
          </c:val>
        </c:ser>
        <c:dLbls>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00A4DC"/>
              </a:solidFill>
            </c:spPr>
          </c:dPt>
          <c:dPt>
            <c:idx val="1"/>
            <c:spPr>
              <a:solidFill>
                <a:srgbClr val="6ECFF2"/>
              </a:solidFill>
            </c:spPr>
          </c:dPt>
          <c:dLbls>
            <c:dLbl>
              <c:idx val="0"/>
              <c:tx>
                <c:rich>
                  <a:bodyPr/>
                  <a:lstStyle/>
                  <a:p>
                    <a:pPr>
                      <a:defRPr sz="1100" b="1">
                        <a:solidFill>
                          <a:srgbClr val="FFFFFF"/>
                        </a:solidFill>
                        <a:latin typeface="Segoe UI"/>
                      </a:defRPr>
                    </a:pPr>
                    <a:r>
                      <a:t>40.2%</a:t>
                    </a:r>
                  </a:p>
                </c:rich>
              </c:tx>
              <c:showLegendKey val="0"/>
              <c:showVal val="1"/>
              <c:showCatName val="0"/>
              <c:showSerName val="0"/>
              <c:showPercent val="0"/>
              <c:showBubbleSize val="0"/>
            </c:dLbl>
            <c:dLbl>
              <c:idx val="1"/>
              <c:tx>
                <c:rich>
                  <a:bodyPr/>
                  <a:lstStyle/>
                  <a:p>
                    <a:pPr>
                      <a:defRPr sz="1100" b="1">
                        <a:solidFill>
                          <a:srgbClr val="252423"/>
                        </a:solidFill>
                        <a:latin typeface="Segoe UI"/>
                      </a:defRPr>
                    </a:pPr>
                    <a:r>
                      <a:t>59.8%</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Warp Knitted Fabrics</c:v>
                </c:pt>
                <c:pt idx="1">
                  <c:v>Weft Knitted Fabrics</c:v>
                </c:pt>
              </c:strCache>
            </c:strRef>
          </c:cat>
          <c:val>
            <c:numRef>
              <c:f>Sheet1!$B$2:$B$3</c:f>
              <c:numCache>
                <c:formatCode>General</c:formatCode>
                <c:ptCount val="2"/>
                <c:pt idx="0">
                  <c:v>4519.25</c:v>
                </c:pt>
                <c:pt idx="1">
                  <c:v>6720.741</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Sheet1!$B$2:$B$12</c:f>
              <c:numCache>
                <c:formatCode>General</c:formatCode>
                <c:ptCount val="11"/>
                <c:pt idx="0">
                  <c:v>0.0912843319009944</c:v>
                </c:pt>
                <c:pt idx="1">
                  <c:v>0.0907543319009944</c:v>
                </c:pt>
                <c:pt idx="2">
                  <c:v>0.0908543319009944</c:v>
                </c:pt>
                <c:pt idx="3">
                  <c:v>0.0922943319009944</c:v>
                </c:pt>
                <c:pt idx="4">
                  <c:v>0.09381433190099439</c:v>
                </c:pt>
                <c:pt idx="5">
                  <c:v>0.0949943319009944</c:v>
                </c:pt>
                <c:pt idx="6">
                  <c:v>0.0946043319009944</c:v>
                </c:pt>
                <c:pt idx="7">
                  <c:v>0.09302433190099439</c:v>
                </c:pt>
                <c:pt idx="8">
                  <c:v>0.0922243319009944</c:v>
                </c:pt>
                <c:pt idx="9">
                  <c:v>0.0913243319009944</c:v>
                </c:pt>
                <c:pt idx="10">
                  <c:v>0.09044433190099439</c:v>
                </c:pt>
              </c:numCache>
            </c:numRef>
          </c:val>
          <c:smooth val="0"/>
        </c:ser>
        <c:ser>
          <c:idx val="1"/>
          <c:order val="1"/>
          <c:tx>
            <c:strRef>
              <c:f>Sheet1!$C$1</c: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Sheet1!$C$2:$C$12</c:f>
              <c:numCache>
                <c:formatCode>General</c:formatCode>
                <c:ptCount val="11"/>
                <c:pt idx="0">
                  <c:v>0.06550434359968225</c:v>
                </c:pt>
                <c:pt idx="1">
                  <c:v>0.06764838709885806</c:v>
                </c:pt>
                <c:pt idx="2">
                  <c:v>0.06864624382174493</c:v>
                </c:pt>
                <c:pt idx="3">
                  <c:v>0.07099929785071461</c:v>
                </c:pt>
                <c:pt idx="4">
                  <c:v>0.07181511314442617</c:v>
                </c:pt>
                <c:pt idx="5">
                  <c:v>0.07406703304607623</c:v>
                </c:pt>
                <c:pt idx="6">
                  <c:v>0.07643357162535519</c:v>
                </c:pt>
                <c:pt idx="7">
                  <c:v>0.07745839744886061</c:v>
                </c:pt>
                <c:pt idx="8">
                  <c:v>0.07916419306298478</c:v>
                </c:pt>
                <c:pt idx="9">
                  <c:v>0.08006765793370665</c:v>
                </c:pt>
                <c:pt idx="10">
                  <c:v>0.08082279275102644</c:v>
                </c:pt>
              </c:numCache>
            </c:numRef>
          </c:val>
          <c:smooth val="0"/>
        </c:ser>
        <c:ser>
          <c:idx val="2"/>
          <c:order val="2"/>
          <c:tx>
            <c:strRef>
              <c:f>Sheet1!$D$1</c: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Sheet1!$D$2:$D$12</c:f>
              <c:numCache>
                <c:formatCode>General</c:formatCode>
                <c:ptCount val="11"/>
                <c:pt idx="0">
                  <c:v>0.04703428379234541</c:v>
                </c:pt>
                <c:pt idx="1">
                  <c:v>0.049651118302947925</c:v>
                </c:pt>
                <c:pt idx="2">
                  <c:v>0.05242476686662025</c:v>
                </c:pt>
                <c:pt idx="3">
                  <c:v>0.05471817239276627</c:v>
                </c:pt>
                <c:pt idx="4">
                  <c:v>0.056511733124752266</c:v>
                </c:pt>
                <c:pt idx="5">
                  <c:v>0.05763883413119155</c:v>
                </c:pt>
                <c:pt idx="6">
                  <c:v>0.058501311423075526</c:v>
                </c:pt>
                <c:pt idx="7">
                  <c:v>0.058756134259313975</c:v>
                </c:pt>
                <c:pt idx="8">
                  <c:v>0.05862872284119475</c:v>
                </c:pt>
                <c:pt idx="9">
                  <c:v>0.058109276290400996</c:v>
                </c:pt>
                <c:pt idx="10">
                  <c:v>0.05748202007812174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FBFBF"/>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BFBFBF"/>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Segoe U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East Asia</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Sheet1!$B$2:$B$3</c:f>
              <c:numCache>
                <c:formatCode>General</c:formatCode>
                <c:ptCount val="2"/>
                <c:pt idx="0">
                  <c:v>27.01607939388478</c:v>
                </c:pt>
                <c:pt idx="1">
                  <c:v>28.81616783040617</c:v>
                </c:pt>
              </c:numCache>
            </c:numRef>
          </c:val>
        </c:ser>
        <c:ser>
          <c:idx val="1"/>
          <c:order val="1"/>
          <c:tx>
            <c:strRef>
              <c:f>Sheet1!$C$1</c:f>
              <c:strCache>
                <c:ptCount val="1"/>
                <c:pt idx="0">
                  <c:v>North America</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Sheet1!$C$2:$C$3</c:f>
              <c:numCache>
                <c:formatCode>General</c:formatCode>
                <c:ptCount val="2"/>
                <c:pt idx="0">
                  <c:v>20.897321946585006</c:v>
                </c:pt>
                <c:pt idx="1">
                  <c:v>20.863813474628383</c:v>
                </c:pt>
              </c:numCache>
            </c:numRef>
          </c:val>
        </c:ser>
        <c:ser>
          <c:idx val="2"/>
          <c:order val="2"/>
          <c:tx>
            <c:strRef>
              <c:f>Sheet1!$D$1</c:f>
              <c:strCache>
                <c:ptCount val="1"/>
                <c:pt idx="0">
                  <c:v>Western Europe</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Sheet1!$D$2:$D$3</c:f>
              <c:numCache>
                <c:formatCode>General</c:formatCode>
                <c:ptCount val="2"/>
                <c:pt idx="0">
                  <c:v>21.040451464662617</c:v>
                </c:pt>
                <c:pt idx="1">
                  <c:v>18.94088380117705</c:v>
                </c:pt>
              </c:numCache>
            </c:numRef>
          </c:val>
        </c:ser>
        <c:ser>
          <c:idx val="3"/>
          <c:order val="3"/>
          <c:tx>
            <c:strRef>
              <c:f>Sheet1!$E$1</c:f>
              <c:strCache>
                <c:ptCount val="1"/>
                <c:pt idx="0">
                  <c:v>South Asia Pacific</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Sheet1!$E$2:$E$3</c:f>
              <c:numCache>
                <c:formatCode>General</c:formatCode>
                <c:ptCount val="2"/>
                <c:pt idx="0">
                  <c:v>12.449205218867416</c:v>
                </c:pt>
                <c:pt idx="1">
                  <c:v>14.700938560189336</c:v>
                </c:pt>
              </c:numCache>
            </c:numRef>
          </c:val>
        </c:ser>
        <c:ser>
          <c:idx val="4"/>
          <c:order val="4"/>
          <c:tx>
            <c:strRef>
              <c:f>Sheet1!$F$1</c:f>
              <c:strCache>
                <c:ptCount val="1"/>
                <c:pt idx="0">
                  <c:v>Latin America</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Sheet1!$F$2:$F$3</c:f>
              <c:numCache>
                <c:formatCode>General</c:formatCode>
                <c:ptCount val="2"/>
                <c:pt idx="0">
                  <c:v>7.818287947139854</c:v>
                </c:pt>
                <c:pt idx="1">
                  <c:v>7.159144208124022</c:v>
                </c:pt>
              </c:numCache>
            </c:numRef>
          </c:val>
        </c:ser>
        <c:ser>
          <c:idx val="5"/>
          <c:order val="5"/>
          <c:tx>
            <c:strRef>
              <c:f>Sheet1!$G$1</c:f>
              <c:strCache>
                <c:ptCount val="1"/>
                <c:pt idx="0">
                  <c:v>Eastern Europe</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Sheet1!$G$2:$G$3</c:f>
              <c:numCache>
                <c:formatCode>General</c:formatCode>
                <c:ptCount val="2"/>
                <c:pt idx="0">
                  <c:v>5.705507776998322</c:v>
                </c:pt>
                <c:pt idx="1">
                  <c:v>4.820483583069123</c:v>
                </c:pt>
              </c:numCache>
            </c:numRef>
          </c:val>
        </c:ser>
        <c:ser>
          <c:idx val="6"/>
          <c:order val="6"/>
          <c:tx>
            <c:strRef>
              <c:f>Sheet1!$H$1</c:f>
              <c:strCache>
                <c:ptCount val="1"/>
                <c:pt idx="0">
                  <c:v>Middle East &amp; Africa</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Sheet1!$H$2:$H$3</c:f>
              <c:numCache>
                <c:formatCode>General</c:formatCode>
                <c:ptCount val="2"/>
                <c:pt idx="0">
                  <c:v>5.073146251862009</c:v>
                </c:pt>
                <c:pt idx="1">
                  <c:v>4.6985685424059165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East Asia</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Sheet1!$B$2:$B$3</c:f>
              <c:numCache>
                <c:formatCode>General</c:formatCode>
                <c:ptCount val="2"/>
                <c:pt idx="0">
                  <c:v>24.32238591060166</c:v>
                </c:pt>
                <c:pt idx="1">
                  <c:v>26.400477224623863</c:v>
                </c:pt>
              </c:numCache>
            </c:numRef>
          </c:val>
        </c:ser>
        <c:ser>
          <c:idx val="1"/>
          <c:order val="1"/>
          <c:tx>
            <c:strRef>
              <c:f>Sheet1!$C$1</c:f>
              <c:strCache>
                <c:ptCount val="1"/>
                <c:pt idx="0">
                  <c:v>Western Europe</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Sheet1!$C$2:$C$3</c:f>
              <c:numCache>
                <c:formatCode>General</c:formatCode>
                <c:ptCount val="2"/>
                <c:pt idx="0">
                  <c:v>26.446197348299314</c:v>
                </c:pt>
                <c:pt idx="1">
                  <c:v>23.777770264920168</c:v>
                </c:pt>
              </c:numCache>
            </c:numRef>
          </c:val>
        </c:ser>
        <c:ser>
          <c:idx val="2"/>
          <c:order val="2"/>
          <c:tx>
            <c:strRef>
              <c:f>Sheet1!$D$1</c:f>
              <c:strCache>
                <c:ptCount val="1"/>
                <c:pt idx="0">
                  <c:v>North America</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Sheet1!$D$2:$D$3</c:f>
              <c:numCache>
                <c:formatCode>General</c:formatCode>
                <c:ptCount val="2"/>
                <c:pt idx="0">
                  <c:v>23.278424195519616</c:v>
                </c:pt>
                <c:pt idx="1">
                  <c:v>23.623988989314046</c:v>
                </c:pt>
              </c:numCache>
            </c:numRef>
          </c:val>
        </c:ser>
        <c:ser>
          <c:idx val="3"/>
          <c:order val="3"/>
          <c:tx>
            <c:strRef>
              <c:f>Sheet1!$E$1</c:f>
              <c:strCache>
                <c:ptCount val="1"/>
                <c:pt idx="0">
                  <c:v>South Asia Pacific</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Sheet1!$E$2:$E$3</c:f>
              <c:numCache>
                <c:formatCode>General</c:formatCode>
                <c:ptCount val="2"/>
                <c:pt idx="0">
                  <c:v>9.47481694016076</c:v>
                </c:pt>
                <c:pt idx="1">
                  <c:v>11.101922688543317</c:v>
                </c:pt>
              </c:numCache>
            </c:numRef>
          </c:val>
        </c:ser>
        <c:ser>
          <c:idx val="4"/>
          <c:order val="4"/>
          <c:tx>
            <c:strRef>
              <c:f>Sheet1!$F$1</c:f>
              <c:strCache>
                <c:ptCount val="1"/>
                <c:pt idx="0">
                  <c:v>Latin America</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Sheet1!$F$2:$F$3</c:f>
              <c:numCache>
                <c:formatCode>General</c:formatCode>
                <c:ptCount val="2"/>
                <c:pt idx="0">
                  <c:v>6.635214815619891</c:v>
                </c:pt>
                <c:pt idx="1">
                  <c:v>6.3125501001335405</c:v>
                </c:pt>
              </c:numCache>
            </c:numRef>
          </c:val>
        </c:ser>
        <c:ser>
          <c:idx val="5"/>
          <c:order val="5"/>
          <c:tx>
            <c:strRef>
              <c:f>Sheet1!$G$1</c:f>
              <c:strCache>
                <c:ptCount val="1"/>
                <c:pt idx="0">
                  <c:v>Eastern Europe</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Sheet1!$G$2:$G$3</c:f>
              <c:numCache>
                <c:formatCode>General</c:formatCode>
                <c:ptCount val="2"/>
                <c:pt idx="0">
                  <c:v>5.188406568818355</c:v>
                </c:pt>
                <c:pt idx="1">
                  <c:v>4.439132063284754</c:v>
                </c:pt>
              </c:numCache>
            </c:numRef>
          </c:val>
        </c:ser>
        <c:ser>
          <c:idx val="6"/>
          <c:order val="6"/>
          <c:tx>
            <c:strRef>
              <c:f>Sheet1!$H$1</c:f>
              <c:strCache>
                <c:ptCount val="1"/>
                <c:pt idx="0">
                  <c:v>Middle East &amp; Africa</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Sheet1!$H$2:$H$3</c:f>
              <c:numCache>
                <c:formatCode>General</c:formatCode>
                <c:ptCount val="2"/>
                <c:pt idx="0">
                  <c:v>4.6545542209804065</c:v>
                </c:pt>
                <c:pt idx="1">
                  <c:v>4.344158669180311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East Asia</c:v>
                </c:pt>
              </c:strCache>
            </c:strRef>
          </c:tx>
          <c:spPr>
            <a:solidFill>
              <a:srgbClr val="00A4DC"/>
            </a:solidFill>
            <a:ln>
              <a:noFill/>
            </a:ln>
          </c:spPr>
          <c:dLbls>
            <c:dLbl>
              <c:idx val="0"/>
              <c:tx>
                <c:rich>
                  <a:bodyPr/>
                  <a:lstStyle/>
                  <a:p>
                    <a:r>
                      <a:rPr sz="1100">
                        <a:solidFill>
                          <a:srgbClr val="FFFFFF"/>
                        </a:solidFill>
                        <a:latin typeface="Segoe UI"/>
                      </a:rPr>
                      <a:t>328</a:t>
                    </a:r>
                  </a:p>
                </c:rich>
              </c:tx>
              <c:dLblPos val="ctr"/>
              <c:showLegendKey val="0"/>
              <c:showVal val="1"/>
              <c:showCatName val="0"/>
              <c:showSerName val="0"/>
              <c:showPercent val="0"/>
              <c:showBubbleSize val="0"/>
            </c:dLbl>
            <c:dLbl>
              <c:idx val="1"/>
              <c:tx>
                <c:rich>
                  <a:bodyPr/>
                  <a:lstStyle/>
                  <a:p>
                    <a:r>
                      <a:rPr sz="1100">
                        <a:solidFill>
                          <a:srgbClr val="FFFFFF"/>
                        </a:solidFill>
                        <a:latin typeface="Segoe UI"/>
                      </a:rPr>
                      <a:t>350</a:t>
                    </a:r>
                  </a:p>
                </c:rich>
              </c:tx>
              <c:dLblPos val="ctr"/>
              <c:showLegendKey val="0"/>
              <c:showVal val="1"/>
              <c:showCatName val="0"/>
              <c:showSerName val="0"/>
              <c:showPercent val="0"/>
              <c:showBubbleSize val="0"/>
            </c:dLbl>
            <c:dLbl>
              <c:idx val="2"/>
              <c:tx>
                <c:rich>
                  <a:bodyPr/>
                  <a:lstStyle/>
                  <a:p>
                    <a:r>
                      <a:rPr sz="1100">
                        <a:solidFill>
                          <a:srgbClr val="FFFFFF"/>
                        </a:solidFill>
                        <a:latin typeface="Segoe UI"/>
                      </a:rPr>
                      <a:t>374</a:t>
                    </a:r>
                  </a:p>
                </c:rich>
              </c:tx>
              <c:dLblPos val="ctr"/>
              <c:showLegendKey val="0"/>
              <c:showVal val="1"/>
              <c:showCatName val="0"/>
              <c:showSerName val="0"/>
              <c:showPercent val="0"/>
              <c:showBubbleSize val="0"/>
            </c:dLbl>
            <c:dLbl>
              <c:idx val="3"/>
              <c:tx>
                <c:rich>
                  <a:bodyPr/>
                  <a:lstStyle/>
                  <a:p>
                    <a:r>
                      <a:rPr sz="1100">
                        <a:solidFill>
                          <a:srgbClr val="FFFFFF"/>
                        </a:solidFill>
                        <a:latin typeface="Segoe UI"/>
                      </a:rPr>
                      <a:t>400</a:t>
                    </a:r>
                  </a:p>
                </c:rich>
              </c:tx>
              <c:dLblPos val="ctr"/>
              <c:showLegendKey val="0"/>
              <c:showVal val="1"/>
              <c:showCatName val="0"/>
              <c:showSerName val="0"/>
              <c:showPercent val="0"/>
              <c:showBubbleSize val="0"/>
            </c:dLbl>
            <c:dLbl>
              <c:idx val="4"/>
              <c:tx>
                <c:rich>
                  <a:bodyPr/>
                  <a:lstStyle/>
                  <a:p>
                    <a:r>
                      <a:rPr sz="1100">
                        <a:solidFill>
                          <a:srgbClr val="FFFFFF"/>
                        </a:solidFill>
                        <a:latin typeface="Segoe UI"/>
                      </a:rPr>
                      <a:t>428</a:t>
                    </a:r>
                  </a:p>
                </c:rich>
              </c:tx>
              <c:dLblPos val="ctr"/>
              <c:showLegendKey val="0"/>
              <c:showVal val="1"/>
              <c:showCatName val="0"/>
              <c:showSerName val="0"/>
              <c:showPercent val="0"/>
              <c:showBubbleSize val="0"/>
            </c:dLbl>
            <c:dLbl>
              <c:idx val="5"/>
              <c:tx>
                <c:rich>
                  <a:bodyPr/>
                  <a:lstStyle/>
                  <a:p>
                    <a:r>
                      <a:rPr sz="1100">
                        <a:solidFill>
                          <a:srgbClr val="FFFFFF"/>
                        </a:solidFill>
                        <a:latin typeface="Segoe UI"/>
                      </a:rPr>
                      <a:t>459</a:t>
                    </a:r>
                  </a:p>
                </c:rich>
              </c:tx>
              <c:dLblPos val="ctr"/>
              <c:showLegendKey val="0"/>
              <c:showVal val="1"/>
              <c:showCatName val="0"/>
              <c:showSerName val="0"/>
              <c:showPercent val="0"/>
              <c:showBubbleSize val="0"/>
            </c:dLbl>
            <c:dLbl>
              <c:idx val="6"/>
              <c:tx>
                <c:rich>
                  <a:bodyPr/>
                  <a:lstStyle/>
                  <a:p>
                    <a:r>
                      <a:rPr sz="1100">
                        <a:solidFill>
                          <a:srgbClr val="FFFFFF"/>
                        </a:solidFill>
                        <a:latin typeface="Segoe UI"/>
                      </a:rPr>
                      <a:t>491</a:t>
                    </a:r>
                  </a:p>
                </c:rich>
              </c:tx>
              <c:dLblPos val="ctr"/>
              <c:showLegendKey val="0"/>
              <c:showVal val="1"/>
              <c:showCatName val="0"/>
              <c:showSerName val="0"/>
              <c:showPercent val="0"/>
              <c:showBubbleSize val="0"/>
            </c:dLbl>
            <c:dLbl>
              <c:idx val="7"/>
              <c:tx>
                <c:rich>
                  <a:bodyPr/>
                  <a:lstStyle/>
                  <a:p>
                    <a:r>
                      <a:rPr sz="1100">
                        <a:solidFill>
                          <a:srgbClr val="FFFFFF"/>
                        </a:solidFill>
                        <a:latin typeface="Segoe UI"/>
                      </a:rPr>
                      <a:t>525</a:t>
                    </a:r>
                  </a:p>
                </c:rich>
              </c:tx>
              <c:dLblPos val="ctr"/>
              <c:showLegendKey val="0"/>
              <c:showVal val="1"/>
              <c:showCatName val="0"/>
              <c:showSerName val="0"/>
              <c:showPercent val="0"/>
              <c:showBubbleSize val="0"/>
            </c:dLbl>
            <c:dLbl>
              <c:idx val="8"/>
              <c:tx>
                <c:rich>
                  <a:bodyPr/>
                  <a:lstStyle/>
                  <a:p>
                    <a:r>
                      <a:rPr sz="1100">
                        <a:solidFill>
                          <a:srgbClr val="FFFFFF"/>
                        </a:solidFill>
                        <a:latin typeface="Segoe UI"/>
                      </a:rPr>
                      <a:t>559</a:t>
                    </a:r>
                  </a:p>
                </c:rich>
              </c:tx>
              <c:dLblPos val="ctr"/>
              <c:showLegendKey val="0"/>
              <c:showVal val="1"/>
              <c:showCatName val="0"/>
              <c:showSerName val="0"/>
              <c:showPercent val="0"/>
              <c:showBubbleSize val="0"/>
            </c:dLbl>
            <c:dLbl>
              <c:idx val="9"/>
              <c:tx>
                <c:rich>
                  <a:bodyPr/>
                  <a:lstStyle/>
                  <a:p>
                    <a:r>
                      <a:rPr sz="1100">
                        <a:solidFill>
                          <a:srgbClr val="FFFFFF"/>
                        </a:solidFill>
                        <a:latin typeface="Segoe UI"/>
                      </a:rPr>
                      <a:t>595</a:t>
                    </a:r>
                  </a:p>
                </c:rich>
              </c:tx>
              <c:dLblPos val="ctr"/>
              <c:showLegendKey val="0"/>
              <c:showVal val="1"/>
              <c:showCatName val="0"/>
              <c:showSerName val="0"/>
              <c:showPercent val="0"/>
              <c:showBubbleSize val="0"/>
            </c:dLbl>
            <c:dLbl>
              <c:idx val="10"/>
              <c:tx>
                <c:rich>
                  <a:bodyPr/>
                  <a:lstStyle/>
                  <a:p>
                    <a:r>
                      <a:rPr sz="1100">
                        <a:solidFill>
                          <a:srgbClr val="FFFFFF"/>
                        </a:solidFill>
                        <a:latin typeface="Segoe UI"/>
                      </a:rPr>
                      <a:t>634</a:t>
                    </a:r>
                  </a:p>
                </c:rich>
              </c:tx>
              <c:dLblPos val="ctr"/>
              <c:showLegendKey val="0"/>
              <c:showVal val="1"/>
              <c:showCatName val="0"/>
              <c:showSerName val="0"/>
              <c:showPercent val="0"/>
              <c:showBubbleSize val="0"/>
            </c:dLbl>
            <c:dLbl>
              <c:idx val="11"/>
              <c:tx>
                <c:rich>
                  <a:bodyPr/>
                  <a:lstStyle/>
                  <a:p>
                    <a:r>
                      <a:rPr sz="1100">
                        <a:solidFill>
                          <a:srgbClr val="FFFFFF"/>
                        </a:solidFill>
                        <a:latin typeface="Segoe UI"/>
                      </a:rPr>
                      <a:t>677</a:t>
                    </a:r>
                  </a:p>
                </c:rich>
              </c:tx>
              <c:dLblPos val="ctr"/>
              <c:showLegendKey val="0"/>
              <c:showVal val="1"/>
              <c:showCatName val="0"/>
              <c:showSerName val="0"/>
              <c:showPercent val="0"/>
              <c:showBubbleSize val="0"/>
            </c:dLbl>
            <c:dLbl>
              <c:idx val="12"/>
              <c:tx>
                <c:rich>
                  <a:bodyPr/>
                  <a:lstStyle/>
                  <a:p>
                    <a:r>
                      <a:rPr sz="1100">
                        <a:solidFill>
                          <a:srgbClr val="FFFFFF"/>
                        </a:solidFill>
                        <a:latin typeface="Segoe UI"/>
                      </a:rPr>
                      <a:t>722</a:t>
                    </a:r>
                  </a:p>
                </c:rich>
              </c:tx>
              <c:dLblPos val="ctr"/>
              <c:showLegendKey val="0"/>
              <c:showVal val="1"/>
              <c:showCatName val="0"/>
              <c:showSerName val="0"/>
              <c:showPercent val="0"/>
              <c:showBubbleSize val="0"/>
            </c:dLbl>
            <c:dLbl>
              <c:idx val="13"/>
              <c:tx>
                <c:rich>
                  <a:bodyPr/>
                  <a:lstStyle/>
                  <a:p>
                    <a:r>
                      <a:rPr sz="1100">
                        <a:solidFill>
                          <a:srgbClr val="FFFFFF"/>
                        </a:solidFill>
                        <a:latin typeface="Segoe UI"/>
                      </a:rPr>
                      <a:t>770</a:t>
                    </a:r>
                  </a:p>
                </c:rich>
              </c:tx>
              <c:dLblPos val="ctr"/>
              <c:showLegendKey val="0"/>
              <c:showVal val="1"/>
              <c:showCatName val="0"/>
              <c:showSerName val="0"/>
              <c:showPercent val="0"/>
              <c:showBubbleSize val="0"/>
            </c:dLbl>
            <c:dLbl>
              <c:idx val="14"/>
              <c:tx>
                <c:rich>
                  <a:bodyPr/>
                  <a:lstStyle/>
                  <a:p>
                    <a:r>
                      <a:rPr sz="1100">
                        <a:solidFill>
                          <a:srgbClr val="FFFFFF"/>
                        </a:solidFill>
                        <a:latin typeface="Segoe UI"/>
                      </a:rPr>
                      <a:t>819</a:t>
                    </a:r>
                  </a:p>
                </c:rich>
              </c:tx>
              <c:dLblPos val="ctr"/>
              <c:showLegendKey val="0"/>
              <c:showVal val="1"/>
              <c:showCatName val="0"/>
              <c:showSerName val="0"/>
              <c:showPercent val="0"/>
              <c:showBubbleSize val="0"/>
            </c:dLbl>
            <c:dLbl>
              <c:idx val="15"/>
              <c:tx>
                <c:rich>
                  <a:bodyPr/>
                  <a:lstStyle/>
                  <a:p>
                    <a:r>
                      <a:rPr sz="1100">
                        <a:solidFill>
                          <a:srgbClr val="FFFFFF"/>
                        </a:solidFill>
                        <a:latin typeface="Segoe UI"/>
                      </a:rPr>
                      <a:t>869</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328.425</c:v>
                </c:pt>
                <c:pt idx="1">
                  <c:v>350.095</c:v>
                </c:pt>
                <c:pt idx="2">
                  <c:v>373.93</c:v>
                </c:pt>
                <c:pt idx="3">
                  <c:v>399.887</c:v>
                </c:pt>
                <c:pt idx="4">
                  <c:v>428.241</c:v>
                </c:pt>
                <c:pt idx="5">
                  <c:v>458.669</c:v>
                </c:pt>
                <c:pt idx="6">
                  <c:v>490.966</c:v>
                </c:pt>
                <c:pt idx="7">
                  <c:v>524.544</c:v>
                </c:pt>
                <c:pt idx="8">
                  <c:v>558.712</c:v>
                </c:pt>
                <c:pt idx="9">
                  <c:v>594.696</c:v>
                </c:pt>
                <c:pt idx="10">
                  <c:v>634.035</c:v>
                </c:pt>
                <c:pt idx="11">
                  <c:v>676.801</c:v>
                </c:pt>
                <c:pt idx="12">
                  <c:v>722.415</c:v>
                </c:pt>
                <c:pt idx="13">
                  <c:v>769.96</c:v>
                </c:pt>
                <c:pt idx="14">
                  <c:v>819.148</c:v>
                </c:pt>
                <c:pt idx="15">
                  <c:v>869.342</c:v>
                </c:pt>
              </c:numCache>
            </c:numRef>
          </c:val>
        </c:ser>
        <c:ser>
          <c:idx val="1"/>
          <c:order val="1"/>
          <c:tx>
            <c:strRef>
              <c:f>Sheet1!$C$1</c:f>
              <c:strCache>
                <c:ptCount val="1"/>
                <c:pt idx="0">
                  <c:v>Western Europe</c:v>
                </c:pt>
              </c:strCache>
            </c:strRef>
          </c:tx>
          <c:spPr>
            <a:solidFill>
              <a:srgbClr val="6ECFF2"/>
            </a:solidFill>
            <a:ln>
              <a:noFill/>
            </a:ln>
          </c:spPr>
          <c:dLbls>
            <c:dLbl>
              <c:idx val="0"/>
              <c:tx>
                <c:rich>
                  <a:bodyPr/>
                  <a:lstStyle/>
                  <a:p>
                    <a:r>
                      <a:rPr sz="1100">
                        <a:solidFill>
                          <a:srgbClr val="252423"/>
                        </a:solidFill>
                        <a:latin typeface="Segoe UI"/>
                      </a:rPr>
                      <a:t>287</a:t>
                    </a:r>
                  </a:p>
                </c:rich>
              </c:tx>
              <c:dLblPos val="ctr"/>
              <c:showLegendKey val="0"/>
              <c:showVal val="1"/>
              <c:showCatName val="0"/>
              <c:showSerName val="0"/>
              <c:showPercent val="0"/>
              <c:showBubbleSize val="0"/>
            </c:dLbl>
            <c:dLbl>
              <c:idx val="1"/>
              <c:tx>
                <c:rich>
                  <a:bodyPr/>
                  <a:lstStyle/>
                  <a:p>
                    <a:r>
                      <a:rPr sz="1100">
                        <a:solidFill>
                          <a:srgbClr val="252423"/>
                        </a:solidFill>
                        <a:latin typeface="Segoe UI"/>
                      </a:rPr>
                      <a:t>300</a:t>
                    </a:r>
                  </a:p>
                </c:rich>
              </c:tx>
              <c:dLblPos val="ctr"/>
              <c:showLegendKey val="0"/>
              <c:showVal val="1"/>
              <c:showCatName val="0"/>
              <c:showSerName val="0"/>
              <c:showPercent val="0"/>
              <c:showBubbleSize val="0"/>
            </c:dLbl>
            <c:dLbl>
              <c:idx val="2"/>
              <c:tx>
                <c:rich>
                  <a:bodyPr/>
                  <a:lstStyle/>
                  <a:p>
                    <a:r>
                      <a:rPr sz="1100">
                        <a:solidFill>
                          <a:srgbClr val="252423"/>
                        </a:solidFill>
                        <a:latin typeface="Segoe UI"/>
                      </a:rPr>
                      <a:t>313</a:t>
                    </a:r>
                  </a:p>
                </c:rich>
              </c:tx>
              <c:dLblPos val="ctr"/>
              <c:showLegendKey val="0"/>
              <c:showVal val="1"/>
              <c:showCatName val="0"/>
              <c:showSerName val="0"/>
              <c:showPercent val="0"/>
              <c:showBubbleSize val="0"/>
            </c:dLbl>
            <c:dLbl>
              <c:idx val="3"/>
              <c:tx>
                <c:rich>
                  <a:bodyPr/>
                  <a:lstStyle/>
                  <a:p>
                    <a:r>
                      <a:rPr sz="1100">
                        <a:solidFill>
                          <a:srgbClr val="252423"/>
                        </a:solidFill>
                        <a:latin typeface="Segoe UI"/>
                      </a:rPr>
                      <a:t>327</a:t>
                    </a:r>
                  </a:p>
                </c:rich>
              </c:tx>
              <c:dLblPos val="ctr"/>
              <c:showLegendKey val="0"/>
              <c:showVal val="1"/>
              <c:showCatName val="0"/>
              <c:showSerName val="0"/>
              <c:showPercent val="0"/>
              <c:showBubbleSize val="0"/>
            </c:dLbl>
            <c:dLbl>
              <c:idx val="4"/>
              <c:tx>
                <c:rich>
                  <a:bodyPr/>
                  <a:lstStyle/>
                  <a:p>
                    <a:r>
                      <a:rPr sz="1100">
                        <a:solidFill>
                          <a:srgbClr val="252423"/>
                        </a:solidFill>
                        <a:latin typeface="Segoe UI"/>
                      </a:rPr>
                      <a:t>342</a:t>
                    </a:r>
                  </a:p>
                </c:rich>
              </c:tx>
              <c:dLblPos val="ctr"/>
              <c:showLegendKey val="0"/>
              <c:showVal val="1"/>
              <c:showCatName val="0"/>
              <c:showSerName val="0"/>
              <c:showPercent val="0"/>
              <c:showBubbleSize val="0"/>
            </c:dLbl>
            <c:dLbl>
              <c:idx val="5"/>
              <c:tx>
                <c:rich>
                  <a:bodyPr/>
                  <a:lstStyle/>
                  <a:p>
                    <a:r>
                      <a:rPr sz="1100">
                        <a:solidFill>
                          <a:srgbClr val="252423"/>
                        </a:solidFill>
                        <a:latin typeface="Segoe UI"/>
                      </a:rPr>
                      <a:t>357</a:t>
                    </a:r>
                  </a:p>
                </c:rich>
              </c:tx>
              <c:dLblPos val="ctr"/>
              <c:showLegendKey val="0"/>
              <c:showVal val="1"/>
              <c:showCatName val="0"/>
              <c:showSerName val="0"/>
              <c:showPercent val="0"/>
              <c:showBubbleSize val="0"/>
            </c:dLbl>
            <c:dLbl>
              <c:idx val="6"/>
              <c:tx>
                <c:rich>
                  <a:bodyPr/>
                  <a:lstStyle/>
                  <a:p>
                    <a:r>
                      <a:rPr sz="1100">
                        <a:solidFill>
                          <a:srgbClr val="252423"/>
                        </a:solidFill>
                        <a:latin typeface="Segoe UI"/>
                      </a:rPr>
                      <a:t>374</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392</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411</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431</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452</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475</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498</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522</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547</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571</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0">
                  <c:v>287.154</c:v>
                </c:pt>
                <c:pt idx="1">
                  <c:v>299.7</c:v>
                </c:pt>
                <c:pt idx="2">
                  <c:v>312.976</c:v>
                </c:pt>
                <c:pt idx="3">
                  <c:v>326.925</c:v>
                </c:pt>
                <c:pt idx="4">
                  <c:v>341.631</c:v>
                </c:pt>
                <c:pt idx="5">
                  <c:v>357.217</c:v>
                </c:pt>
                <c:pt idx="6">
                  <c:v>373.843</c:v>
                </c:pt>
                <c:pt idx="7">
                  <c:v>391.623</c:v>
                </c:pt>
                <c:pt idx="8">
                  <c:v>410.583</c:v>
                </c:pt>
                <c:pt idx="9">
                  <c:v>430.772</c:v>
                </c:pt>
                <c:pt idx="10">
                  <c:v>452.13</c:v>
                </c:pt>
                <c:pt idx="11">
                  <c:v>474.518</c:v>
                </c:pt>
                <c:pt idx="12">
                  <c:v>497.933</c:v>
                </c:pt>
                <c:pt idx="13">
                  <c:v>522.055</c:v>
                </c:pt>
                <c:pt idx="14">
                  <c:v>546.574</c:v>
                </c:pt>
                <c:pt idx="15">
                  <c:v>571.419</c:v>
                </c:pt>
              </c:numCache>
            </c:numRef>
          </c:val>
        </c:ser>
        <c:ser>
          <c:idx val="2"/>
          <c:order val="2"/>
          <c:tx>
            <c:strRef>
              <c:f>Sheet1!$D$1</c:f>
              <c:strCache>
                <c:ptCount val="1"/>
                <c:pt idx="0">
                  <c:v>North America</c:v>
                </c:pt>
              </c:strCache>
            </c:strRef>
          </c:tx>
          <c:spPr>
            <a:solidFill>
              <a:srgbClr val="D6CAC4"/>
            </a:solidFill>
            <a:ln>
              <a:noFill/>
            </a:ln>
          </c:spPr>
          <c:dLbls>
            <c:dLbl>
              <c:idx val="0"/>
              <c:tx>
                <c:rich>
                  <a:bodyPr/>
                  <a:lstStyle/>
                  <a:p>
                    <a:r>
                      <a:rPr sz="1100">
                        <a:solidFill>
                          <a:srgbClr val="252423"/>
                        </a:solidFill>
                        <a:latin typeface="Segoe UI"/>
                      </a:rPr>
                      <a:t>269</a:t>
                    </a:r>
                  </a:p>
                </c:rich>
              </c:tx>
              <c:dLblPos val="ctr"/>
              <c:showLegendKey val="0"/>
              <c:showVal val="1"/>
              <c:showCatName val="0"/>
              <c:showSerName val="0"/>
              <c:showPercent val="0"/>
              <c:showBubbleSize val="0"/>
            </c:dLbl>
            <c:dLbl>
              <c:idx val="1"/>
              <c:tx>
                <c:rich>
                  <a:bodyPr/>
                  <a:lstStyle/>
                  <a:p>
                    <a:r>
                      <a:rPr sz="1100">
                        <a:solidFill>
                          <a:srgbClr val="252423"/>
                        </a:solidFill>
                        <a:latin typeface="Segoe UI"/>
                      </a:rPr>
                      <a:t>283</a:t>
                    </a:r>
                  </a:p>
                </c:rich>
              </c:tx>
              <c:dLblPos val="ctr"/>
              <c:showLegendKey val="0"/>
              <c:showVal val="1"/>
              <c:showCatName val="0"/>
              <c:showSerName val="0"/>
              <c:showPercent val="0"/>
              <c:showBubbleSize val="0"/>
            </c:dLbl>
            <c:dLbl>
              <c:idx val="2"/>
              <c:tx>
                <c:rich>
                  <a:bodyPr/>
                  <a:lstStyle/>
                  <a:p>
                    <a:r>
                      <a:rPr sz="1100">
                        <a:solidFill>
                          <a:srgbClr val="252423"/>
                        </a:solidFill>
                        <a:latin typeface="Segoe UI"/>
                      </a:rPr>
                      <a:t>299</a:t>
                    </a:r>
                  </a:p>
                </c:rich>
              </c:tx>
              <c:dLblPos val="ctr"/>
              <c:showLegendKey val="0"/>
              <c:showVal val="1"/>
              <c:showCatName val="0"/>
              <c:showSerName val="0"/>
              <c:showPercent val="0"/>
              <c:showBubbleSize val="0"/>
            </c:dLbl>
            <c:dLbl>
              <c:idx val="3"/>
              <c:tx>
                <c:rich>
                  <a:bodyPr/>
                  <a:lstStyle/>
                  <a:p>
                    <a:r>
                      <a:rPr sz="1100">
                        <a:solidFill>
                          <a:srgbClr val="252423"/>
                        </a:solidFill>
                        <a:latin typeface="Segoe UI"/>
                      </a:rPr>
                      <a:t>317</a:t>
                    </a:r>
                  </a:p>
                </c:rich>
              </c:tx>
              <c:dLblPos val="ctr"/>
              <c:showLegendKey val="0"/>
              <c:showVal val="1"/>
              <c:showCatName val="0"/>
              <c:showSerName val="0"/>
              <c:showPercent val="0"/>
              <c:showBubbleSize val="0"/>
            </c:dLbl>
            <c:dLbl>
              <c:idx val="4"/>
              <c:tx>
                <c:rich>
                  <a:bodyPr/>
                  <a:lstStyle/>
                  <a:p>
                    <a:r>
                      <a:rPr sz="1100">
                        <a:solidFill>
                          <a:srgbClr val="252423"/>
                        </a:solidFill>
                        <a:latin typeface="Segoe UI"/>
                      </a:rPr>
                      <a:t>335</a:t>
                    </a:r>
                  </a:p>
                </c:rich>
              </c:tx>
              <c:dLblPos val="ctr"/>
              <c:showLegendKey val="0"/>
              <c:showVal val="1"/>
              <c:showCatName val="0"/>
              <c:showSerName val="0"/>
              <c:showPercent val="0"/>
              <c:showBubbleSize val="0"/>
            </c:dLbl>
            <c:dLbl>
              <c:idx val="5"/>
              <c:tx>
                <c:rich>
                  <a:bodyPr/>
                  <a:lstStyle/>
                  <a:p>
                    <a:r>
                      <a:rPr sz="1100">
                        <a:solidFill>
                          <a:srgbClr val="252423"/>
                        </a:solidFill>
                        <a:latin typeface="Segoe UI"/>
                      </a:rPr>
                      <a:t>355</a:t>
                    </a:r>
                  </a:p>
                </c:rich>
              </c:tx>
              <c:dLblPos val="ctr"/>
              <c:showLegendKey val="0"/>
              <c:showVal val="1"/>
              <c:showCatName val="0"/>
              <c:showSerName val="0"/>
              <c:showPercent val="0"/>
              <c:showBubbleSize val="0"/>
            </c:dLbl>
            <c:dLbl>
              <c:idx val="6"/>
              <c:tx>
                <c:rich>
                  <a:bodyPr/>
                  <a:lstStyle/>
                  <a:p>
                    <a:r>
                      <a:rPr sz="1100">
                        <a:solidFill>
                          <a:srgbClr val="252423"/>
                        </a:solidFill>
                        <a:latin typeface="Segoe UI"/>
                      </a:rPr>
                      <a:t>375</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397</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420</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445</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473</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502</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533</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564</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596</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629</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Sheet1!$D$2:$D$17</c:f>
              <c:numCache>
                <c:formatCode>General</c:formatCode>
                <c:ptCount val="16"/>
                <c:pt idx="0">
                  <c:v>268.781</c:v>
                </c:pt>
                <c:pt idx="1">
                  <c:v>283.457</c:v>
                </c:pt>
                <c:pt idx="2">
                  <c:v>299.336</c:v>
                </c:pt>
                <c:pt idx="3">
                  <c:v>316.659</c:v>
                </c:pt>
                <c:pt idx="4">
                  <c:v>335.215</c:v>
                </c:pt>
                <c:pt idx="5">
                  <c:v>354.787</c:v>
                </c:pt>
                <c:pt idx="6">
                  <c:v>375.104</c:v>
                </c:pt>
                <c:pt idx="7">
                  <c:v>396.694</c:v>
                </c:pt>
                <c:pt idx="8">
                  <c:v>420.007</c:v>
                </c:pt>
                <c:pt idx="9">
                  <c:v>445.491</c:v>
                </c:pt>
                <c:pt idx="10">
                  <c:v>473.099</c:v>
                </c:pt>
                <c:pt idx="11">
                  <c:v>502.278</c:v>
                </c:pt>
                <c:pt idx="12">
                  <c:v>532.569</c:v>
                </c:pt>
                <c:pt idx="13">
                  <c:v>564.059</c:v>
                </c:pt>
                <c:pt idx="14">
                  <c:v>596.393</c:v>
                </c:pt>
                <c:pt idx="15">
                  <c:v>629.431</c:v>
                </c:pt>
              </c:numCache>
            </c:numRef>
          </c:val>
        </c:ser>
        <c:ser>
          <c:idx val="3"/>
          <c:order val="3"/>
          <c:tx>
            <c:strRef>
              <c:f>Sheet1!$E$1</c:f>
              <c:strCache>
                <c:ptCount val="1"/>
                <c:pt idx="0">
                  <c:v>South Asia Pacific</c:v>
                </c:pt>
              </c:strCache>
            </c:strRef>
          </c:tx>
          <c:spPr>
            <a:solidFill>
              <a:srgbClr val="EBC46B"/>
            </a:solidFill>
            <a:ln>
              <a:noFill/>
            </a:ln>
          </c:spPr>
          <c:dLbls>
            <c:dLbl>
              <c:idx val="3"/>
              <c:tx>
                <c:rich>
                  <a:bodyPr/>
                  <a:lstStyle/>
                  <a:p>
                    <a:r>
                      <a:rPr sz="1100">
                        <a:solidFill>
                          <a:srgbClr val="252423"/>
                        </a:solidFill>
                        <a:latin typeface="Segoe UI"/>
                      </a:rPr>
                      <a:t>184</a:t>
                    </a:r>
                  </a:p>
                </c:rich>
              </c:tx>
              <c:dLblPos val="ctr"/>
              <c:showLegendKey val="0"/>
              <c:showVal val="1"/>
              <c:showCatName val="0"/>
              <c:showSerName val="0"/>
              <c:showPercent val="0"/>
              <c:showBubbleSize val="0"/>
            </c:dLbl>
            <c:dLbl>
              <c:idx val="4"/>
              <c:tx>
                <c:rich>
                  <a:bodyPr/>
                  <a:lstStyle/>
                  <a:p>
                    <a:r>
                      <a:rPr sz="1100">
                        <a:solidFill>
                          <a:srgbClr val="252423"/>
                        </a:solidFill>
                        <a:latin typeface="Segoe UI"/>
                      </a:rPr>
                      <a:t>197</a:t>
                    </a:r>
                  </a:p>
                </c:rich>
              </c:tx>
              <c:dLblPos val="ctr"/>
              <c:showLegendKey val="0"/>
              <c:showVal val="1"/>
              <c:showCatName val="0"/>
              <c:showSerName val="0"/>
              <c:showPercent val="0"/>
              <c:showBubbleSize val="0"/>
            </c:dLbl>
            <c:dLbl>
              <c:idx val="5"/>
              <c:tx>
                <c:rich>
                  <a:bodyPr/>
                  <a:lstStyle/>
                  <a:p>
                    <a:r>
                      <a:rPr sz="1100">
                        <a:solidFill>
                          <a:srgbClr val="252423"/>
                        </a:solidFill>
                        <a:latin typeface="Segoe UI"/>
                      </a:rPr>
                      <a:t>211</a:t>
                    </a:r>
                  </a:p>
                </c:rich>
              </c:tx>
              <c:dLblPos val="ctr"/>
              <c:showLegendKey val="0"/>
              <c:showVal val="1"/>
              <c:showCatName val="0"/>
              <c:showSerName val="0"/>
              <c:showPercent val="0"/>
              <c:showBubbleSize val="0"/>
            </c:dLbl>
            <c:dLbl>
              <c:idx val="6"/>
              <c:tx>
                <c:rich>
                  <a:bodyPr/>
                  <a:lstStyle/>
                  <a:p>
                    <a:r>
                      <a:rPr sz="1100">
                        <a:solidFill>
                          <a:srgbClr val="252423"/>
                        </a:solidFill>
                        <a:latin typeface="Segoe UI"/>
                      </a:rPr>
                      <a:t>227</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244</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262</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283</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306</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331</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357</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385</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414</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444</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Sheet1!$E$2:$E$17</c:f>
              <c:numCache>
                <c:formatCode>General</c:formatCode>
                <c:ptCount val="16"/>
                <c:pt idx="0">
                  <c:v>152.266</c:v>
                </c:pt>
                <c:pt idx="1">
                  <c:v>162.121</c:v>
                </c:pt>
                <c:pt idx="2">
                  <c:v>172.87</c:v>
                </c:pt>
                <c:pt idx="3">
                  <c:v>184.493</c:v>
                </c:pt>
                <c:pt idx="4">
                  <c:v>197.28</c:v>
                </c:pt>
                <c:pt idx="5">
                  <c:v>211.358</c:v>
                </c:pt>
                <c:pt idx="6">
                  <c:v>226.736</c:v>
                </c:pt>
                <c:pt idx="7">
                  <c:v>243.565</c:v>
                </c:pt>
                <c:pt idx="8">
                  <c:v>262.108</c:v>
                </c:pt>
                <c:pt idx="9">
                  <c:v>283.094</c:v>
                </c:pt>
                <c:pt idx="10">
                  <c:v>306.161</c:v>
                </c:pt>
                <c:pt idx="11">
                  <c:v>330.934</c:v>
                </c:pt>
                <c:pt idx="12">
                  <c:v>357.168</c:v>
                </c:pt>
                <c:pt idx="13">
                  <c:v>384.838</c:v>
                </c:pt>
                <c:pt idx="14">
                  <c:v>413.601</c:v>
                </c:pt>
                <c:pt idx="15">
                  <c:v>443.506</c:v>
                </c:pt>
              </c:numCache>
            </c:numRef>
          </c:val>
        </c:ser>
        <c:ser>
          <c:idx val="4"/>
          <c:order val="4"/>
          <c:tx>
            <c:strRef>
              <c:f>Sheet1!$F$1</c:f>
              <c:strCache>
                <c:ptCount val="1"/>
                <c:pt idx="0">
                  <c:v>Latin America</c:v>
                </c:pt>
              </c:strCache>
            </c:strRef>
          </c:tx>
          <c:spPr>
            <a:solidFill>
              <a:srgbClr val="EDA28B"/>
            </a:solidFill>
            <a:ln>
              <a:noFill/>
            </a:ln>
          </c:spPr>
          <c:dLbls>
            <c:dLbl>
              <c:idx val="12"/>
              <c:tx>
                <c:rich>
                  <a:bodyPr/>
                  <a:lstStyle/>
                  <a:p>
                    <a:r>
                      <a:rPr sz="1100">
                        <a:solidFill>
                          <a:srgbClr val="252423"/>
                        </a:solidFill>
                        <a:latin typeface="Segoe UI"/>
                      </a:rPr>
                      <a:t>188</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197</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206</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216</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Sheet1!$F$2:$F$17</c:f>
              <c:numCache>
                <c:formatCode>General</c:formatCode>
                <c:ptCount val="16"/>
                <c:pt idx="0">
                  <c:v>106.842</c:v>
                </c:pt>
                <c:pt idx="1">
                  <c:v>111.203</c:v>
                </c:pt>
                <c:pt idx="2">
                  <c:v>115.949</c:v>
                </c:pt>
                <c:pt idx="3">
                  <c:v>121.11</c:v>
                </c:pt>
                <c:pt idx="4">
                  <c:v>126.708</c:v>
                </c:pt>
                <c:pt idx="5">
                  <c:v>132.736</c:v>
                </c:pt>
                <c:pt idx="6">
                  <c:v>139.176</c:v>
                </c:pt>
                <c:pt idx="7">
                  <c:v>146.132</c:v>
                </c:pt>
                <c:pt idx="8">
                  <c:v>153.592</c:v>
                </c:pt>
                <c:pt idx="9">
                  <c:v>161.556</c:v>
                </c:pt>
                <c:pt idx="10">
                  <c:v>169.95</c:v>
                </c:pt>
                <c:pt idx="11">
                  <c:v>178.668</c:v>
                </c:pt>
                <c:pt idx="12">
                  <c:v>187.661</c:v>
                </c:pt>
                <c:pt idx="13">
                  <c:v>196.933</c:v>
                </c:pt>
                <c:pt idx="14">
                  <c:v>206.375</c:v>
                </c:pt>
                <c:pt idx="15">
                  <c:v>215.981</c:v>
                </c:pt>
              </c:numCache>
            </c:numRef>
          </c:val>
        </c:ser>
        <c:ser>
          <c:idx val="5"/>
          <c:order val="5"/>
          <c:tx>
            <c:strRef>
              <c:f>Sheet1!$G$1</c:f>
              <c:strCache>
                <c:ptCount val="1"/>
                <c:pt idx="0">
                  <c:v>Eastern Europe</c:v>
                </c:pt>
              </c:strCache>
            </c:strRef>
          </c:tx>
          <c:spPr>
            <a:solidFill>
              <a:srgbClr val="C4E2F4"/>
            </a:solidFill>
            <a:ln>
              <a:noFill/>
            </a:ln>
          </c:spPr>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Sheet1!$G$2:$G$17</c:f>
              <c:numCache>
                <c:formatCode>General</c:formatCode>
                <c:ptCount val="16"/>
                <c:pt idx="0">
                  <c:v>79.561</c:v>
                </c:pt>
                <c:pt idx="1">
                  <c:v>82.705</c:v>
                </c:pt>
                <c:pt idx="2">
                  <c:v>85.98</c:v>
                </c:pt>
                <c:pt idx="3">
                  <c:v>89.401</c:v>
                </c:pt>
                <c:pt idx="4">
                  <c:v>93.026</c:v>
                </c:pt>
                <c:pt idx="5">
                  <c:v>96.866</c:v>
                </c:pt>
                <c:pt idx="6">
                  <c:v>100.937</c:v>
                </c:pt>
                <c:pt idx="7">
                  <c:v>105.233</c:v>
                </c:pt>
                <c:pt idx="8">
                  <c:v>109.724</c:v>
                </c:pt>
                <c:pt idx="9">
                  <c:v>114.385</c:v>
                </c:pt>
                <c:pt idx="10">
                  <c:v>119.218</c:v>
                </c:pt>
                <c:pt idx="11">
                  <c:v>124.232</c:v>
                </c:pt>
                <c:pt idx="12">
                  <c:v>129.417</c:v>
                </c:pt>
                <c:pt idx="13">
                  <c:v>134.715</c:v>
                </c:pt>
                <c:pt idx="14">
                  <c:v>140.065</c:v>
                </c:pt>
                <c:pt idx="15">
                  <c:v>145.427</c:v>
                </c:pt>
              </c:numCache>
            </c:numRef>
          </c:val>
        </c:ser>
        <c:ser>
          <c:idx val="6"/>
          <c:order val="6"/>
          <c:tx>
            <c:strRef>
              <c:f>Sheet1!$H$1</c:f>
              <c:strCache>
                <c:ptCount val="1"/>
                <c:pt idx="0">
                  <c:v>Middle East &amp; Africa</c:v>
                </c:pt>
              </c:strCache>
            </c:strRef>
          </c:tx>
          <c:spPr>
            <a:solidFill>
              <a:srgbClr val="9AB3C7"/>
            </a:solidFill>
            <a:ln>
              <a:noFill/>
            </a:ln>
          </c:spPr>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Sheet1!$H$2:$H$17</c:f>
              <c:numCache>
                <c:formatCode>General</c:formatCode>
                <c:ptCount val="16"/>
                <c:pt idx="0">
                  <c:v>67.985</c:v>
                </c:pt>
                <c:pt idx="1">
                  <c:v>70.994</c:v>
                </c:pt>
                <c:pt idx="2">
                  <c:v>74.264</c:v>
                </c:pt>
                <c:pt idx="3">
                  <c:v>77.834</c:v>
                </c:pt>
                <c:pt idx="4">
                  <c:v>81.799</c:v>
                </c:pt>
                <c:pt idx="5">
                  <c:v>86.13</c:v>
                </c:pt>
                <c:pt idx="6">
                  <c:v>90.817</c:v>
                </c:pt>
                <c:pt idx="7">
                  <c:v>95.841</c:v>
                </c:pt>
                <c:pt idx="8">
                  <c:v>101.093</c:v>
                </c:pt>
                <c:pt idx="9">
                  <c:v>106.5</c:v>
                </c:pt>
                <c:pt idx="10">
                  <c:v>112.0</c:v>
                </c:pt>
                <c:pt idx="11">
                  <c:v>117.657</c:v>
                </c:pt>
                <c:pt idx="12">
                  <c:v>123.479</c:v>
                </c:pt>
                <c:pt idx="13">
                  <c:v>129.474</c:v>
                </c:pt>
                <c:pt idx="14">
                  <c:v>135.57</c:v>
                </c:pt>
                <c:pt idx="15">
                  <c:v>141.749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Western Europe</c:v>
                </c:pt>
              </c:strCache>
            </c:strRef>
          </c:tx>
          <c:spPr>
            <a:solidFill>
              <a:srgbClr val="00A4DC"/>
            </a:solidFill>
            <a:ln>
              <a:noFill/>
            </a:ln>
          </c:spPr>
          <c:dLbls>
            <c:dLbl>
              <c:idx val="0"/>
              <c:tx>
                <c:rich>
                  <a:bodyPr/>
                  <a:lstStyle/>
                  <a:p>
                    <a:r>
                      <a:rPr sz="1100">
                        <a:solidFill>
                          <a:srgbClr val="FFFFFF"/>
                        </a:solidFill>
                        <a:latin typeface="Segoe UI"/>
                      </a:rPr>
                      <a:t>1,131</a:t>
                    </a:r>
                  </a:p>
                </c:rich>
              </c:tx>
              <c:dLblPos val="ctr"/>
              <c:showLegendKey val="0"/>
              <c:showVal val="1"/>
              <c:showCatName val="0"/>
              <c:showSerName val="0"/>
              <c:showPercent val="0"/>
              <c:showBubbleSize val="0"/>
            </c:dLbl>
            <c:dLbl>
              <c:idx val="1"/>
              <c:tx>
                <c:rich>
                  <a:bodyPr/>
                  <a:lstStyle/>
                  <a:p>
                    <a:r>
                      <a:rPr sz="1100">
                        <a:solidFill>
                          <a:srgbClr val="FFFFFF"/>
                        </a:solidFill>
                        <a:latin typeface="Segoe UI"/>
                      </a:rPr>
                      <a:t>1,186</a:t>
                    </a:r>
                  </a:p>
                </c:rich>
              </c:tx>
              <c:dLblPos val="ctr"/>
              <c:showLegendKey val="0"/>
              <c:showVal val="1"/>
              <c:showCatName val="0"/>
              <c:showSerName val="0"/>
              <c:showPercent val="0"/>
              <c:showBubbleSize val="0"/>
            </c:dLbl>
            <c:dLbl>
              <c:idx val="2"/>
              <c:tx>
                <c:rich>
                  <a:bodyPr/>
                  <a:lstStyle/>
                  <a:p>
                    <a:r>
                      <a:rPr sz="1100">
                        <a:solidFill>
                          <a:srgbClr val="FFFFFF"/>
                        </a:solidFill>
                        <a:latin typeface="Segoe UI"/>
                      </a:rPr>
                      <a:t>1,244</a:t>
                    </a:r>
                  </a:p>
                </c:rich>
              </c:tx>
              <c:dLblPos val="ctr"/>
              <c:showLegendKey val="0"/>
              <c:showVal val="1"/>
              <c:showCatName val="0"/>
              <c:showSerName val="0"/>
              <c:showPercent val="0"/>
              <c:showBubbleSize val="0"/>
            </c:dLbl>
            <c:dLbl>
              <c:idx val="3"/>
              <c:tx>
                <c:rich>
                  <a:bodyPr/>
                  <a:lstStyle/>
                  <a:p>
                    <a:r>
                      <a:rPr sz="1100">
                        <a:solidFill>
                          <a:srgbClr val="FFFFFF"/>
                        </a:solidFill>
                        <a:latin typeface="Segoe UI"/>
                      </a:rPr>
                      <a:t>1,307</a:t>
                    </a:r>
                  </a:p>
                </c:rich>
              </c:tx>
              <c:dLblPos val="ctr"/>
              <c:showLegendKey val="0"/>
              <c:showVal val="1"/>
              <c:showCatName val="0"/>
              <c:showSerName val="0"/>
              <c:showPercent val="0"/>
              <c:showBubbleSize val="0"/>
            </c:dLbl>
            <c:dLbl>
              <c:idx val="4"/>
              <c:tx>
                <c:rich>
                  <a:bodyPr/>
                  <a:lstStyle/>
                  <a:p>
                    <a:r>
                      <a:rPr sz="1100">
                        <a:solidFill>
                          <a:srgbClr val="FFFFFF"/>
                        </a:solidFill>
                        <a:latin typeface="Segoe UI"/>
                      </a:rPr>
                      <a:t>1,374</a:t>
                    </a:r>
                  </a:p>
                </c:rich>
              </c:tx>
              <c:dLblPos val="ctr"/>
              <c:showLegendKey val="0"/>
              <c:showVal val="1"/>
              <c:showCatName val="0"/>
              <c:showSerName val="0"/>
              <c:showPercent val="0"/>
              <c:showBubbleSize val="0"/>
            </c:dLbl>
            <c:dLbl>
              <c:idx val="5"/>
              <c:tx>
                <c:rich>
                  <a:bodyPr/>
                  <a:lstStyle/>
                  <a:p>
                    <a:r>
                      <a:rPr sz="1100">
                        <a:solidFill>
                          <a:srgbClr val="FFFFFF"/>
                        </a:solidFill>
                        <a:latin typeface="Segoe UI"/>
                      </a:rPr>
                      <a:t>1,450</a:t>
                    </a:r>
                  </a:p>
                </c:rich>
              </c:tx>
              <c:dLblPos val="ctr"/>
              <c:showLegendKey val="0"/>
              <c:showVal val="1"/>
              <c:showCatName val="0"/>
              <c:showSerName val="0"/>
              <c:showPercent val="0"/>
              <c:showBubbleSize val="0"/>
            </c:dLbl>
            <c:dLbl>
              <c:idx val="6"/>
              <c:tx>
                <c:rich>
                  <a:bodyPr/>
                  <a:lstStyle/>
                  <a:p>
                    <a:r>
                      <a:rPr sz="1100">
                        <a:solidFill>
                          <a:srgbClr val="FFFFFF"/>
                        </a:solidFill>
                        <a:latin typeface="Segoe UI"/>
                      </a:rPr>
                      <a:t>1,534</a:t>
                    </a:r>
                  </a:p>
                </c:rich>
              </c:tx>
              <c:dLblPos val="ctr"/>
              <c:showLegendKey val="0"/>
              <c:showVal val="1"/>
              <c:showCatName val="0"/>
              <c:showSerName val="0"/>
              <c:showPercent val="0"/>
              <c:showBubbleSize val="0"/>
            </c:dLbl>
            <c:dLbl>
              <c:idx val="7"/>
              <c:tx>
                <c:rich>
                  <a:bodyPr/>
                  <a:lstStyle/>
                  <a:p>
                    <a:r>
                      <a:rPr sz="1100">
                        <a:solidFill>
                          <a:srgbClr val="FFFFFF"/>
                        </a:solidFill>
                        <a:latin typeface="Segoe UI"/>
                      </a:rPr>
                      <a:t>1,625</a:t>
                    </a:r>
                  </a:p>
                </c:rich>
              </c:tx>
              <c:dLblPos val="ctr"/>
              <c:showLegendKey val="0"/>
              <c:showVal val="1"/>
              <c:showCatName val="0"/>
              <c:showSerName val="0"/>
              <c:showPercent val="0"/>
              <c:showBubbleSize val="0"/>
            </c:dLbl>
            <c:dLbl>
              <c:idx val="8"/>
              <c:tx>
                <c:rich>
                  <a:bodyPr/>
                  <a:lstStyle/>
                  <a:p>
                    <a:r>
                      <a:rPr sz="1100">
                        <a:solidFill>
                          <a:srgbClr val="FFFFFF"/>
                        </a:solidFill>
                        <a:latin typeface="Segoe UI"/>
                      </a:rPr>
                      <a:t>1,724</a:t>
                    </a:r>
                  </a:p>
                </c:rich>
              </c:tx>
              <c:dLblPos val="ctr"/>
              <c:showLegendKey val="0"/>
              <c:showVal val="1"/>
              <c:showCatName val="0"/>
              <c:showSerName val="0"/>
              <c:showPercent val="0"/>
              <c:showBubbleSize val="0"/>
            </c:dLbl>
            <c:dLbl>
              <c:idx val="9"/>
              <c:tx>
                <c:rich>
                  <a:bodyPr/>
                  <a:lstStyle/>
                  <a:p>
                    <a:r>
                      <a:rPr sz="1100">
                        <a:solidFill>
                          <a:srgbClr val="FFFFFF"/>
                        </a:solidFill>
                        <a:latin typeface="Segoe UI"/>
                      </a:rPr>
                      <a:t>1,833</a:t>
                    </a:r>
                  </a:p>
                </c:rich>
              </c:tx>
              <c:dLblPos val="ctr"/>
              <c:showLegendKey val="0"/>
              <c:showVal val="1"/>
              <c:showCatName val="0"/>
              <c:showSerName val="0"/>
              <c:showPercent val="0"/>
              <c:showBubbleSize val="0"/>
            </c:dLbl>
            <c:dLbl>
              <c:idx val="10"/>
              <c:tx>
                <c:rich>
                  <a:bodyPr/>
                  <a:lstStyle/>
                  <a:p>
                    <a:r>
                      <a:rPr sz="1100">
                        <a:solidFill>
                          <a:srgbClr val="FFFFFF"/>
                        </a:solidFill>
                        <a:latin typeface="Segoe UI"/>
                      </a:rPr>
                      <a:t>1,951</a:t>
                    </a:r>
                  </a:p>
                </c:rich>
              </c:tx>
              <c:dLblPos val="ctr"/>
              <c:showLegendKey val="0"/>
              <c:showVal val="1"/>
              <c:showCatName val="0"/>
              <c:showSerName val="0"/>
              <c:showPercent val="0"/>
              <c:showBubbleSize val="0"/>
            </c:dLbl>
            <c:dLbl>
              <c:idx val="11"/>
              <c:tx>
                <c:rich>
                  <a:bodyPr/>
                  <a:lstStyle/>
                  <a:p>
                    <a:r>
                      <a:rPr sz="1100">
                        <a:solidFill>
                          <a:srgbClr val="FFFFFF"/>
                        </a:solidFill>
                        <a:latin typeface="Segoe UI"/>
                      </a:rPr>
                      <a:t>2,077</a:t>
                    </a:r>
                  </a:p>
                </c:rich>
              </c:tx>
              <c:dLblPos val="ctr"/>
              <c:showLegendKey val="0"/>
              <c:showVal val="1"/>
              <c:showCatName val="0"/>
              <c:showSerName val="0"/>
              <c:showPercent val="0"/>
              <c:showBubbleSize val="0"/>
            </c:dLbl>
            <c:dLbl>
              <c:idx val="12"/>
              <c:tx>
                <c:rich>
                  <a:bodyPr/>
                  <a:lstStyle/>
                  <a:p>
                    <a:r>
                      <a:rPr sz="1100">
                        <a:solidFill>
                          <a:srgbClr val="FFFFFF"/>
                        </a:solidFill>
                        <a:latin typeface="Segoe UI"/>
                      </a:rPr>
                      <a:t>2,214</a:t>
                    </a:r>
                  </a:p>
                </c:rich>
              </c:tx>
              <c:dLblPos val="ctr"/>
              <c:showLegendKey val="0"/>
              <c:showVal val="1"/>
              <c:showCatName val="0"/>
              <c:showSerName val="0"/>
              <c:showPercent val="0"/>
              <c:showBubbleSize val="0"/>
            </c:dLbl>
            <c:dLbl>
              <c:idx val="13"/>
              <c:tx>
                <c:rich>
                  <a:bodyPr/>
                  <a:lstStyle/>
                  <a:p>
                    <a:r>
                      <a:rPr sz="1100">
                        <a:solidFill>
                          <a:srgbClr val="FFFFFF"/>
                        </a:solidFill>
                        <a:latin typeface="Segoe UI"/>
                      </a:rPr>
                      <a:t>2,359</a:t>
                    </a:r>
                  </a:p>
                </c:rich>
              </c:tx>
              <c:dLblPos val="ctr"/>
              <c:showLegendKey val="0"/>
              <c:showVal val="1"/>
              <c:showCatName val="0"/>
              <c:showSerName val="0"/>
              <c:showPercent val="0"/>
              <c:showBubbleSize val="0"/>
            </c:dLbl>
            <c:dLbl>
              <c:idx val="14"/>
              <c:tx>
                <c:rich>
                  <a:bodyPr/>
                  <a:lstStyle/>
                  <a:p>
                    <a:r>
                      <a:rPr sz="1100">
                        <a:solidFill>
                          <a:srgbClr val="FFFFFF"/>
                        </a:solidFill>
                        <a:latin typeface="Segoe UI"/>
                      </a:rPr>
                      <a:t>2,512</a:t>
                    </a:r>
                  </a:p>
                </c:rich>
              </c:tx>
              <c:dLblPos val="ctr"/>
              <c:showLegendKey val="0"/>
              <c:showVal val="1"/>
              <c:showCatName val="0"/>
              <c:showSerName val="0"/>
              <c:showPercent val="0"/>
              <c:showBubbleSize val="0"/>
            </c:dLbl>
            <c:dLbl>
              <c:idx val="15"/>
              <c:tx>
                <c:rich>
                  <a:bodyPr/>
                  <a:lstStyle/>
                  <a:p>
                    <a:r>
                      <a:rPr sz="1100">
                        <a:solidFill>
                          <a:srgbClr val="FFFFFF"/>
                        </a:solidFill>
                        <a:latin typeface="Segoe UI"/>
                      </a:rPr>
                      <a:t>2,673</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1131.498</c:v>
                </c:pt>
                <c:pt idx="1">
                  <c:v>1186.012</c:v>
                </c:pt>
                <c:pt idx="2">
                  <c:v>1244.334</c:v>
                </c:pt>
                <c:pt idx="3">
                  <c:v>1306.99</c:v>
                </c:pt>
                <c:pt idx="4">
                  <c:v>1373.737</c:v>
                </c:pt>
                <c:pt idx="5">
                  <c:v>1450.237</c:v>
                </c:pt>
                <c:pt idx="6">
                  <c:v>1533.593</c:v>
                </c:pt>
                <c:pt idx="7">
                  <c:v>1624.737</c:v>
                </c:pt>
                <c:pt idx="8">
                  <c:v>1724.094</c:v>
                </c:pt>
                <c:pt idx="9">
                  <c:v>1832.746</c:v>
                </c:pt>
                <c:pt idx="10">
                  <c:v>1950.519</c:v>
                </c:pt>
                <c:pt idx="11">
                  <c:v>2077.422</c:v>
                </c:pt>
                <c:pt idx="12">
                  <c:v>2213.68</c:v>
                </c:pt>
                <c:pt idx="13">
                  <c:v>2358.679</c:v>
                </c:pt>
                <c:pt idx="14">
                  <c:v>2511.661</c:v>
                </c:pt>
                <c:pt idx="15">
                  <c:v>2672.619</c:v>
                </c:pt>
              </c:numCache>
            </c:numRef>
          </c:val>
        </c:ser>
        <c:ser>
          <c:idx val="1"/>
          <c:order val="1"/>
          <c:tx>
            <c:strRef>
              <c:f>Sheet1!$C$1</c:f>
              <c:strCache>
                <c:ptCount val="1"/>
                <c:pt idx="0">
                  <c:v>North America</c:v>
                </c:pt>
              </c:strCache>
            </c:strRef>
          </c:tx>
          <c:spPr>
            <a:solidFill>
              <a:srgbClr val="6ECFF2"/>
            </a:solidFill>
            <a:ln>
              <a:noFill/>
            </a:ln>
          </c:spPr>
          <c:dLbls>
            <c:dLbl>
              <c:idx val="0"/>
              <c:tx>
                <c:rich>
                  <a:bodyPr/>
                  <a:lstStyle/>
                  <a:p>
                    <a:r>
                      <a:rPr sz="1100">
                        <a:solidFill>
                          <a:srgbClr val="252423"/>
                        </a:solidFill>
                        <a:latin typeface="Segoe UI"/>
                      </a:rPr>
                      <a:t>934</a:t>
                    </a:r>
                  </a:p>
                </c:rich>
              </c:tx>
              <c:dLblPos val="ctr"/>
              <c:showLegendKey val="0"/>
              <c:showVal val="1"/>
              <c:showCatName val="0"/>
              <c:showSerName val="0"/>
              <c:showPercent val="0"/>
              <c:showBubbleSize val="0"/>
            </c:dLbl>
            <c:dLbl>
              <c:idx val="1"/>
              <c:tx>
                <c:rich>
                  <a:bodyPr/>
                  <a:lstStyle/>
                  <a:p>
                    <a:r>
                      <a:rPr sz="1100">
                        <a:solidFill>
                          <a:srgbClr val="252423"/>
                        </a:solidFill>
                        <a:latin typeface="Segoe UI"/>
                      </a:rPr>
                      <a:t>990</a:t>
                    </a:r>
                  </a:p>
                </c:rich>
              </c:tx>
              <c:dLblPos val="ctr"/>
              <c:showLegendKey val="0"/>
              <c:showVal val="1"/>
              <c:showCatName val="0"/>
              <c:showSerName val="0"/>
              <c:showPercent val="0"/>
              <c:showBubbleSize val="0"/>
            </c:dLbl>
            <c:dLbl>
              <c:idx val="2"/>
              <c:tx>
                <c:rich>
                  <a:bodyPr/>
                  <a:lstStyle/>
                  <a:p>
                    <a:r>
                      <a:rPr sz="1100">
                        <a:solidFill>
                          <a:srgbClr val="252423"/>
                        </a:solidFill>
                        <a:latin typeface="Segoe UI"/>
                      </a:rPr>
                      <a:t>1,051</a:t>
                    </a:r>
                  </a:p>
                </c:rich>
              </c:tx>
              <c:dLblPos val="ctr"/>
              <c:showLegendKey val="0"/>
              <c:showVal val="1"/>
              <c:showCatName val="0"/>
              <c:showSerName val="0"/>
              <c:showPercent val="0"/>
              <c:showBubbleSize val="0"/>
            </c:dLbl>
            <c:dLbl>
              <c:idx val="3"/>
              <c:tx>
                <c:rich>
                  <a:bodyPr/>
                  <a:lstStyle/>
                  <a:p>
                    <a:r>
                      <a:rPr sz="1100">
                        <a:solidFill>
                          <a:srgbClr val="252423"/>
                        </a:solidFill>
                        <a:latin typeface="Segoe UI"/>
                      </a:rPr>
                      <a:t>1,119</a:t>
                    </a:r>
                  </a:p>
                </c:rich>
              </c:tx>
              <c:dLblPos val="ctr"/>
              <c:showLegendKey val="0"/>
              <c:showVal val="1"/>
              <c:showCatName val="0"/>
              <c:showSerName val="0"/>
              <c:showPercent val="0"/>
              <c:showBubbleSize val="0"/>
            </c:dLbl>
            <c:dLbl>
              <c:idx val="4"/>
              <c:tx>
                <c:rich>
                  <a:bodyPr/>
                  <a:lstStyle/>
                  <a:p>
                    <a:r>
                      <a:rPr sz="1100">
                        <a:solidFill>
                          <a:srgbClr val="252423"/>
                        </a:solidFill>
                        <a:latin typeface="Segoe UI"/>
                      </a:rPr>
                      <a:t>1,193</a:t>
                    </a:r>
                  </a:p>
                </c:rich>
              </c:tx>
              <c:dLblPos val="ctr"/>
              <c:showLegendKey val="0"/>
              <c:showVal val="1"/>
              <c:showCatName val="0"/>
              <c:showSerName val="0"/>
              <c:showPercent val="0"/>
              <c:showBubbleSize val="0"/>
            </c:dLbl>
            <c:dLbl>
              <c:idx val="5"/>
              <c:tx>
                <c:rich>
                  <a:bodyPr/>
                  <a:lstStyle/>
                  <a:p>
                    <a:r>
                      <a:rPr sz="1100">
                        <a:solidFill>
                          <a:srgbClr val="252423"/>
                        </a:solidFill>
                        <a:latin typeface="Segoe UI"/>
                      </a:rPr>
                      <a:t>1,277</a:t>
                    </a:r>
                  </a:p>
                </c:rich>
              </c:tx>
              <c:dLblPos val="ctr"/>
              <c:showLegendKey val="0"/>
              <c:showVal val="1"/>
              <c:showCatName val="0"/>
              <c:showSerName val="0"/>
              <c:showPercent val="0"/>
              <c:showBubbleSize val="0"/>
            </c:dLbl>
            <c:dLbl>
              <c:idx val="6"/>
              <c:tx>
                <c:rich>
                  <a:bodyPr/>
                  <a:lstStyle/>
                  <a:p>
                    <a:r>
                      <a:rPr sz="1100">
                        <a:solidFill>
                          <a:srgbClr val="252423"/>
                        </a:solidFill>
                        <a:latin typeface="Segoe UI"/>
                      </a:rPr>
                      <a:t>1,366</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1,463</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1,571</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1,690</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1,823</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1,967</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2,122</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2,288</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2,466</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2,655</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0">
                  <c:v>934.187</c:v>
                </c:pt>
                <c:pt idx="1">
                  <c:v>990.24</c:v>
                </c:pt>
                <c:pt idx="2">
                  <c:v>1051.458</c:v>
                </c:pt>
                <c:pt idx="3">
                  <c:v>1119.418</c:v>
                </c:pt>
                <c:pt idx="4">
                  <c:v>1193.003</c:v>
                </c:pt>
                <c:pt idx="5">
                  <c:v>1276.525</c:v>
                </c:pt>
                <c:pt idx="6">
                  <c:v>1365.784</c:v>
                </c:pt>
                <c:pt idx="7">
                  <c:v>1463.215</c:v>
                </c:pt>
                <c:pt idx="8">
                  <c:v>1570.562</c:v>
                </c:pt>
                <c:pt idx="9">
                  <c:v>1690.25</c:v>
                </c:pt>
                <c:pt idx="10">
                  <c:v>1822.746</c:v>
                </c:pt>
                <c:pt idx="11">
                  <c:v>1966.732</c:v>
                </c:pt>
                <c:pt idx="12">
                  <c:v>2121.529</c:v>
                </c:pt>
                <c:pt idx="13">
                  <c:v>2288.227</c:v>
                </c:pt>
                <c:pt idx="14">
                  <c:v>2466.133</c:v>
                </c:pt>
                <c:pt idx="15">
                  <c:v>2655.334</c:v>
                </c:pt>
              </c:numCache>
            </c:numRef>
          </c:val>
        </c:ser>
        <c:ser>
          <c:idx val="2"/>
          <c:order val="2"/>
          <c:tx>
            <c:strRef>
              <c:f>Sheet1!$D$1</c:f>
              <c:strCache>
                <c:ptCount val="1"/>
                <c:pt idx="0">
                  <c:v>East Asia</c:v>
                </c:pt>
              </c:strCache>
            </c:strRef>
          </c:tx>
          <c:spPr>
            <a:solidFill>
              <a:srgbClr val="D6CAC4"/>
            </a:solidFill>
            <a:ln>
              <a:noFill/>
            </a:ln>
          </c:spPr>
          <c:dLbls>
            <c:dLbl>
              <c:idx val="0"/>
              <c:tx>
                <c:rich>
                  <a:bodyPr/>
                  <a:lstStyle/>
                  <a:p>
                    <a:r>
                      <a:rPr sz="1100">
                        <a:solidFill>
                          <a:srgbClr val="252423"/>
                        </a:solidFill>
                        <a:latin typeface="Segoe UI"/>
                      </a:rPr>
                      <a:t>926</a:t>
                    </a:r>
                  </a:p>
                </c:rich>
              </c:tx>
              <c:dLblPos val="ctr"/>
              <c:showLegendKey val="0"/>
              <c:showVal val="1"/>
              <c:showCatName val="0"/>
              <c:showSerName val="0"/>
              <c:showPercent val="0"/>
              <c:showBubbleSize val="0"/>
            </c:dLbl>
            <c:dLbl>
              <c:idx val="1"/>
              <c:tx>
                <c:rich>
                  <a:bodyPr/>
                  <a:lstStyle/>
                  <a:p>
                    <a:r>
                      <a:rPr sz="1100">
                        <a:solidFill>
                          <a:srgbClr val="252423"/>
                        </a:solidFill>
                        <a:latin typeface="Segoe UI"/>
                      </a:rPr>
                      <a:t>992</a:t>
                    </a:r>
                  </a:p>
                </c:rich>
              </c:tx>
              <c:dLblPos val="ctr"/>
              <c:showLegendKey val="0"/>
              <c:showVal val="1"/>
              <c:showCatName val="0"/>
              <c:showSerName val="0"/>
              <c:showPercent val="0"/>
              <c:showBubbleSize val="0"/>
            </c:dLbl>
            <c:dLbl>
              <c:idx val="2"/>
              <c:tx>
                <c:rich>
                  <a:bodyPr/>
                  <a:lstStyle/>
                  <a:p>
                    <a:r>
                      <a:rPr sz="1100">
                        <a:solidFill>
                          <a:srgbClr val="252423"/>
                        </a:solidFill>
                        <a:latin typeface="Segoe UI"/>
                      </a:rPr>
                      <a:t>1,064</a:t>
                    </a:r>
                  </a:p>
                </c:rich>
              </c:tx>
              <c:dLblPos val="ctr"/>
              <c:showLegendKey val="0"/>
              <c:showVal val="1"/>
              <c:showCatName val="0"/>
              <c:showSerName val="0"/>
              <c:showPercent val="0"/>
              <c:showBubbleSize val="0"/>
            </c:dLbl>
            <c:dLbl>
              <c:idx val="3"/>
              <c:tx>
                <c:rich>
                  <a:bodyPr/>
                  <a:lstStyle/>
                  <a:p>
                    <a:r>
                      <a:rPr sz="1100">
                        <a:solidFill>
                          <a:srgbClr val="252423"/>
                        </a:solidFill>
                        <a:latin typeface="Segoe UI"/>
                      </a:rPr>
                      <a:t>1,144</a:t>
                    </a:r>
                  </a:p>
                </c:rich>
              </c:tx>
              <c:dLblPos val="ctr"/>
              <c:showLegendKey val="0"/>
              <c:showVal val="1"/>
              <c:showCatName val="0"/>
              <c:showSerName val="0"/>
              <c:showPercent val="0"/>
              <c:showBubbleSize val="0"/>
            </c:dLbl>
            <c:dLbl>
              <c:idx val="4"/>
              <c:tx>
                <c:rich>
                  <a:bodyPr/>
                  <a:lstStyle/>
                  <a:p>
                    <a:r>
                      <a:rPr sz="1100">
                        <a:solidFill>
                          <a:srgbClr val="252423"/>
                        </a:solidFill>
                        <a:latin typeface="Segoe UI"/>
                      </a:rPr>
                      <a:t>1,232</a:t>
                    </a:r>
                  </a:p>
                </c:rich>
              </c:tx>
              <c:dLblPos val="ctr"/>
              <c:showLegendKey val="0"/>
              <c:showVal val="1"/>
              <c:showCatName val="0"/>
              <c:showSerName val="0"/>
              <c:showPercent val="0"/>
              <c:showBubbleSize val="0"/>
            </c:dLbl>
            <c:dLbl>
              <c:idx val="5"/>
              <c:tx>
                <c:rich>
                  <a:bodyPr/>
                  <a:lstStyle/>
                  <a:p>
                    <a:r>
                      <a:rPr sz="1100">
                        <a:solidFill>
                          <a:srgbClr val="252423"/>
                        </a:solidFill>
                        <a:latin typeface="Segoe UI"/>
                      </a:rPr>
                      <a:t>1,334</a:t>
                    </a:r>
                  </a:p>
                </c:rich>
              </c:tx>
              <c:dLblPos val="ctr"/>
              <c:showLegendKey val="0"/>
              <c:showVal val="1"/>
              <c:showCatName val="0"/>
              <c:showSerName val="0"/>
              <c:showPercent val="0"/>
              <c:showBubbleSize val="0"/>
            </c:dLbl>
            <c:dLbl>
              <c:idx val="6"/>
              <c:tx>
                <c:rich>
                  <a:bodyPr/>
                  <a:lstStyle/>
                  <a:p>
                    <a:r>
                      <a:rPr sz="1100">
                        <a:solidFill>
                          <a:srgbClr val="252423"/>
                        </a:solidFill>
                        <a:latin typeface="Segoe UI"/>
                      </a:rPr>
                      <a:t>1,444</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1,563</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1,688</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1,824</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1,975</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2,143</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2,327</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2,526</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2,740</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2,967</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Sheet1!$D$2:$D$17</c:f>
              <c:numCache>
                <c:formatCode>General</c:formatCode>
                <c:ptCount val="16"/>
                <c:pt idx="0">
                  <c:v>926.374</c:v>
                </c:pt>
                <c:pt idx="1">
                  <c:v>991.639</c:v>
                </c:pt>
                <c:pt idx="2">
                  <c:v>1063.969</c:v>
                </c:pt>
                <c:pt idx="3">
                  <c:v>1144.147</c:v>
                </c:pt>
                <c:pt idx="4">
                  <c:v>1232.431</c:v>
                </c:pt>
                <c:pt idx="5">
                  <c:v>1333.773</c:v>
                </c:pt>
                <c:pt idx="6">
                  <c:v>1444.337</c:v>
                </c:pt>
                <c:pt idx="7">
                  <c:v>1563.053</c:v>
                </c:pt>
                <c:pt idx="8">
                  <c:v>1688.235</c:v>
                </c:pt>
                <c:pt idx="9">
                  <c:v>1824.018</c:v>
                </c:pt>
                <c:pt idx="10">
                  <c:v>1975.179</c:v>
                </c:pt>
                <c:pt idx="11">
                  <c:v>2143.165</c:v>
                </c:pt>
                <c:pt idx="12">
                  <c:v>2327.213</c:v>
                </c:pt>
                <c:pt idx="13">
                  <c:v>2525.771</c:v>
                </c:pt>
                <c:pt idx="14">
                  <c:v>2739.644</c:v>
                </c:pt>
                <c:pt idx="15">
                  <c:v>2967.411</c:v>
                </c:pt>
              </c:numCache>
            </c:numRef>
          </c:val>
        </c:ser>
        <c:ser>
          <c:idx val="3"/>
          <c:order val="3"/>
          <c:tx>
            <c:strRef>
              <c:f>Sheet1!$E$1</c:f>
              <c:strCache>
                <c:ptCount val="1"/>
                <c:pt idx="0">
                  <c:v>South Asia Pacific</c:v>
                </c:pt>
              </c:strCache>
            </c:strRef>
          </c:tx>
          <c:spPr>
            <a:solidFill>
              <a:srgbClr val="EBC46B"/>
            </a:solidFill>
            <a:ln>
              <a:noFill/>
            </a:ln>
          </c:spPr>
          <c:dLbls>
            <c:dLbl>
              <c:idx val="9"/>
              <c:tx>
                <c:rich>
                  <a:bodyPr/>
                  <a:lstStyle/>
                  <a:p>
                    <a:r>
                      <a:rPr sz="1100">
                        <a:solidFill>
                          <a:srgbClr val="252423"/>
                        </a:solidFill>
                        <a:latin typeface="Segoe UI"/>
                      </a:rPr>
                      <a:t>728</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797</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873</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956</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1,047</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1,144</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1,248</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Sheet1!$E$2:$E$17</c:f>
              <c:numCache>
                <c:formatCode>General</c:formatCode>
                <c:ptCount val="16"/>
                <c:pt idx="0">
                  <c:v>363.019</c:v>
                </c:pt>
                <c:pt idx="1">
                  <c:v>388.303</c:v>
                </c:pt>
                <c:pt idx="2">
                  <c:v>416.112</c:v>
                </c:pt>
                <c:pt idx="3">
                  <c:v>446.64</c:v>
                </c:pt>
                <c:pt idx="4">
                  <c:v>480.408</c:v>
                </c:pt>
                <c:pt idx="5">
                  <c:v>519.573</c:v>
                </c:pt>
                <c:pt idx="6">
                  <c:v>563.163</c:v>
                </c:pt>
                <c:pt idx="7">
                  <c:v>611.624</c:v>
                </c:pt>
                <c:pt idx="8">
                  <c:v>665.819</c:v>
                </c:pt>
                <c:pt idx="9">
                  <c:v>727.632</c:v>
                </c:pt>
                <c:pt idx="10">
                  <c:v>796.858</c:v>
                </c:pt>
                <c:pt idx="11">
                  <c:v>873.276</c:v>
                </c:pt>
                <c:pt idx="12">
                  <c:v>956.455</c:v>
                </c:pt>
                <c:pt idx="13">
                  <c:v>1046.764</c:v>
                </c:pt>
                <c:pt idx="14">
                  <c:v>1143.761</c:v>
                </c:pt>
                <c:pt idx="15">
                  <c:v>1247.855</c:v>
                </c:pt>
              </c:numCache>
            </c:numRef>
          </c:val>
        </c:ser>
        <c:ser>
          <c:idx val="4"/>
          <c:order val="4"/>
          <c:tx>
            <c:strRef>
              <c:f>Sheet1!$F$1</c:f>
              <c:strCache>
                <c:ptCount val="1"/>
                <c:pt idx="0">
                  <c:v>Latin America</c:v>
                </c:pt>
              </c:strCache>
            </c:strRef>
          </c:tx>
          <c:spPr>
            <a:solidFill>
              <a:srgbClr val="EDA28B"/>
            </a:solidFill>
            <a:ln>
              <a:noFill/>
            </a:ln>
          </c:spPr>
          <c:dLbls>
            <c:dLbl>
              <c:idx val="15"/>
              <c:tx>
                <c:rich>
                  <a:bodyPr/>
                  <a:lstStyle/>
                  <a:p>
                    <a:r>
                      <a:rPr sz="1100">
                        <a:solidFill>
                          <a:srgbClr val="252423"/>
                        </a:solidFill>
                        <a:latin typeface="Segoe UI"/>
                      </a:rPr>
                      <a:t>710</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Sheet1!$F$2:$F$17</c:f>
              <c:numCache>
                <c:formatCode>General</c:formatCode>
                <c:ptCount val="16"/>
                <c:pt idx="0">
                  <c:v>279.456</c:v>
                </c:pt>
                <c:pt idx="1">
                  <c:v>293.075</c:v>
                </c:pt>
                <c:pt idx="2">
                  <c:v>307.987</c:v>
                </c:pt>
                <c:pt idx="3">
                  <c:v>324.479</c:v>
                </c:pt>
                <c:pt idx="4">
                  <c:v>342.511</c:v>
                </c:pt>
                <c:pt idx="5">
                  <c:v>363.857</c:v>
                </c:pt>
                <c:pt idx="6">
                  <c:v>387.115</c:v>
                </c:pt>
                <c:pt idx="7">
                  <c:v>412.692</c:v>
                </c:pt>
                <c:pt idx="8">
                  <c:v>440.575</c:v>
                </c:pt>
                <c:pt idx="9">
                  <c:v>471.098</c:v>
                </c:pt>
                <c:pt idx="10">
                  <c:v>504.235</c:v>
                </c:pt>
                <c:pt idx="11">
                  <c:v>540.02</c:v>
                </c:pt>
                <c:pt idx="12">
                  <c:v>578.379</c:v>
                </c:pt>
                <c:pt idx="13">
                  <c:v>619.491</c:v>
                </c:pt>
                <c:pt idx="14">
                  <c:v>663.175</c:v>
                </c:pt>
                <c:pt idx="15">
                  <c:v>709.53</c:v>
                </c:pt>
              </c:numCache>
            </c:numRef>
          </c:val>
        </c:ser>
        <c:ser>
          <c:idx val="5"/>
          <c:order val="5"/>
          <c:tx>
            <c:strRef>
              <c:f>Sheet1!$G$1</c:f>
              <c:strCache>
                <c:ptCount val="1"/>
                <c:pt idx="0">
                  <c:v>Eastern Europe</c:v>
                </c:pt>
              </c:strCache>
            </c:strRef>
          </c:tx>
          <c:spPr>
            <a:solidFill>
              <a:srgbClr val="C4E2F4"/>
            </a:solidFill>
            <a:ln>
              <a:noFill/>
            </a:ln>
          </c:spPr>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Sheet1!$G$2:$G$17</c:f>
              <c:numCache>
                <c:formatCode>General</c:formatCode>
                <c:ptCount val="16"/>
                <c:pt idx="0">
                  <c:v>225.799</c:v>
                </c:pt>
                <c:pt idx="1">
                  <c:v>235.971</c:v>
                </c:pt>
                <c:pt idx="2">
                  <c:v>246.707</c:v>
                </c:pt>
                <c:pt idx="3">
                  <c:v>258.172</c:v>
                </c:pt>
                <c:pt idx="4">
                  <c:v>270.414</c:v>
                </c:pt>
                <c:pt idx="5">
                  <c:v>284.518</c:v>
                </c:pt>
                <c:pt idx="6">
                  <c:v>299.853</c:v>
                </c:pt>
                <c:pt idx="7">
                  <c:v>316.443</c:v>
                </c:pt>
                <c:pt idx="8">
                  <c:v>334.285</c:v>
                </c:pt>
                <c:pt idx="9">
                  <c:v>353.445</c:v>
                </c:pt>
                <c:pt idx="10">
                  <c:v>373.992</c:v>
                </c:pt>
                <c:pt idx="11">
                  <c:v>396.068</c:v>
                </c:pt>
                <c:pt idx="12">
                  <c:v>419.698</c:v>
                </c:pt>
                <c:pt idx="13">
                  <c:v>444.745</c:v>
                </c:pt>
                <c:pt idx="14">
                  <c:v>471.205</c:v>
                </c:pt>
                <c:pt idx="15">
                  <c:v>498.958</c:v>
                </c:pt>
              </c:numCache>
            </c:numRef>
          </c:val>
        </c:ser>
        <c:ser>
          <c:idx val="6"/>
          <c:order val="6"/>
          <c:tx>
            <c:strRef>
              <c:f>Sheet1!$H$1</c:f>
              <c:strCache>
                <c:ptCount val="1"/>
                <c:pt idx="0">
                  <c:v>Middle East &amp; Africa</c:v>
                </c:pt>
              </c:strCache>
            </c:strRef>
          </c:tx>
          <c:spPr>
            <a:solidFill>
              <a:srgbClr val="9AB3C7"/>
            </a:solidFill>
            <a:ln>
              <a:noFill/>
            </a:ln>
          </c:spPr>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Sheet1!$H$2:$H$17</c:f>
              <c:numCache>
                <c:formatCode>General</c:formatCode>
                <c:ptCount val="16"/>
                <c:pt idx="0">
                  <c:v>194.393</c:v>
                </c:pt>
                <c:pt idx="1">
                  <c:v>204.201</c:v>
                </c:pt>
                <c:pt idx="2">
                  <c:v>214.928</c:v>
                </c:pt>
                <c:pt idx="3">
                  <c:v>226.803</c:v>
                </c:pt>
                <c:pt idx="4">
                  <c:v>239.975</c:v>
                </c:pt>
                <c:pt idx="5">
                  <c:v>255.243</c:v>
                </c:pt>
                <c:pt idx="6">
                  <c:v>272.015</c:v>
                </c:pt>
                <c:pt idx="7">
                  <c:v>290.348</c:v>
                </c:pt>
                <c:pt idx="8">
                  <c:v>310.014</c:v>
                </c:pt>
                <c:pt idx="9">
                  <c:v>330.965</c:v>
                </c:pt>
                <c:pt idx="10">
                  <c:v>353.14</c:v>
                </c:pt>
                <c:pt idx="11">
                  <c:v>376.833</c:v>
                </c:pt>
                <c:pt idx="12">
                  <c:v>402.153</c:v>
                </c:pt>
                <c:pt idx="13">
                  <c:v>429.153</c:v>
                </c:pt>
                <c:pt idx="14">
                  <c:v>457.872</c:v>
                </c:pt>
                <c:pt idx="15">
                  <c:v>488.283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Weft Knitted Fabrics</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63.02660797627656</c:v>
                </c:pt>
                <c:pt idx="1">
                  <c:v>62.20199550451645</c:v>
                </c:pt>
                <c:pt idx="2">
                  <c:v>59.79311727206898</c:v>
                </c:pt>
              </c:numCache>
            </c:numRef>
          </c:val>
        </c:ser>
        <c:ser>
          <c:idx val="1"/>
          <c:order val="1"/>
          <c:tx>
            <c:strRef>
              <c:f>Sheet1!$C$1</c:f>
              <c:strCache>
                <c:ptCount val="1"/>
                <c:pt idx="0">
                  <c:v>Warp Knitted Fabrics</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36.97339202372344</c:v>
                </c:pt>
                <c:pt idx="1">
                  <c:v>37.79800449548354</c:v>
                </c:pt>
                <c:pt idx="2">
                  <c:v>40.20688272793101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Polyester</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44.367993208913944</c:v>
                </c:pt>
                <c:pt idx="1">
                  <c:v>43.7892593466559</c:v>
                </c:pt>
                <c:pt idx="2">
                  <c:v>42.23038078945081</c:v>
                </c:pt>
              </c:numCache>
            </c:numRef>
          </c:val>
        </c:ser>
        <c:ser>
          <c:idx val="1"/>
          <c:order val="1"/>
          <c:tx>
            <c:strRef>
              <c:f>Sheet1!$C$1</c:f>
              <c:strCache>
                <c:ptCount val="1"/>
                <c:pt idx="0">
                  <c:v>Polyamide or Nylon</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21.08361426059017</c:v>
                </c:pt>
                <c:pt idx="1">
                  <c:v>21.080046668998413</c:v>
                </c:pt>
                <c:pt idx="2">
                  <c:v>20.57492750661455</c:v>
                </c:pt>
              </c:numCache>
            </c:numRef>
          </c:val>
        </c:ser>
        <c:ser>
          <c:idx val="2"/>
          <c:order val="2"/>
          <c:tx>
            <c:strRef>
              <c:f>Sheet1!$D$1</c:f>
              <c:strCache>
                <c:ptCount val="1"/>
                <c:pt idx="0">
                  <c:v>Elastane or Spandex Blends</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13.239337691538788</c:v>
                </c:pt>
                <c:pt idx="1">
                  <c:v>13.422570711957526</c:v>
                </c:pt>
                <c:pt idx="2">
                  <c:v>14.450180609575222</c:v>
                </c:pt>
              </c:numCache>
            </c:numRef>
          </c:val>
        </c:ser>
        <c:ser>
          <c:idx val="3"/>
          <c:order val="3"/>
          <c:tx>
            <c:strRef>
              <c:f>Sheet1!$E$1</c:f>
              <c:strCache>
                <c:ptCount val="1"/>
                <c:pt idx="0">
                  <c:v>High-Performance &amp; Specialty Fibers</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11.947117524805</c:v>
                </c:pt>
                <c:pt idx="1">
                  <c:v>12.523291645133256</c:v>
                </c:pt>
                <c:pt idx="2">
                  <c:v>13.99361440769837</c:v>
                </c:pt>
              </c:numCache>
            </c:numRef>
          </c:val>
        </c:ser>
        <c:ser>
          <c:idx val="4"/>
          <c:order val="4"/>
          <c:tx>
            <c:strRef>
              <c:f>Sheet1!$F$1</c:f>
              <c:strCache>
                <c:ptCount val="1"/>
                <c:pt idx="0">
                  <c:v>Cellulosic Fibers</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5.109789142400956</c:v>
                </c:pt>
                <c:pt idx="1">
                  <c:v>4.907557379781557</c:v>
                </c:pt>
                <c:pt idx="2">
                  <c:v>4.423028452602853</c:v>
                </c:pt>
              </c:numCache>
            </c:numRef>
          </c:val>
        </c:ser>
        <c:ser>
          <c:idx val="5"/>
          <c:order val="5"/>
          <c:tx>
            <c:strRef>
              <c:f>Sheet1!$G$1</c:f>
              <c:strCache>
                <c:ptCount val="1"/>
                <c:pt idx="0">
                  <c:v>Polypropylene</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4.252148171751144</c:v>
                </c:pt>
                <c:pt idx="1">
                  <c:v>4.2772742474733425</c:v>
                </c:pt>
                <c:pt idx="2">
                  <c:v>4.327868234058195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Moisture Management &amp; Quick-Dry</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20.555500064739288</c:v>
                </c:pt>
                <c:pt idx="1">
                  <c:v>21.200771373473323</c:v>
                </c:pt>
                <c:pt idx="2">
                  <c:v>21.26769874952725</c:v>
                </c:pt>
              </c:numCache>
            </c:numRef>
          </c:val>
        </c:ser>
        <c:ser>
          <c:idx val="1"/>
          <c:order val="1"/>
          <c:tx>
            <c:strRef>
              <c:f>Sheet1!$C$1</c:f>
              <c:strCache>
                <c:ptCount val="1"/>
                <c:pt idx="0">
                  <c:v>Thermal Management</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15.74575341114379</c:v>
                </c:pt>
                <c:pt idx="1">
                  <c:v>15.857560326238096</c:v>
                </c:pt>
                <c:pt idx="2">
                  <c:v>17.023495307691135</c:v>
                </c:pt>
              </c:numCache>
            </c:numRef>
          </c:val>
        </c:ser>
        <c:ser>
          <c:idx val="2"/>
          <c:order val="2"/>
          <c:tx>
            <c:strRef>
              <c:f>Sheet1!$D$1</c:f>
              <c:strCache>
                <c:ptCount val="1"/>
                <c:pt idx="0">
                  <c:v>Stretch &amp; Recovery</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17.469199514147075</c:v>
                </c:pt>
                <c:pt idx="1">
                  <c:v>17.382892103451578</c:v>
                </c:pt>
                <c:pt idx="2">
                  <c:v>16.692801033880016</c:v>
                </c:pt>
              </c:numCache>
            </c:numRef>
          </c:val>
        </c:ser>
        <c:ser>
          <c:idx val="3"/>
          <c:order val="3"/>
          <c:tx>
            <c:strRef>
              <c:f>Sheet1!$E$1</c:f>
              <c:strCache>
                <c:ptCount val="1"/>
                <c:pt idx="0">
                  <c:v>Compression &amp; Support</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12.475716602235662</c:v>
                </c:pt>
                <c:pt idx="1">
                  <c:v>12.19187687201674</c:v>
                </c:pt>
                <c:pt idx="2">
                  <c:v>11.805438599628523</c:v>
                </c:pt>
              </c:numCache>
            </c:numRef>
          </c:val>
        </c:ser>
        <c:ser>
          <c:idx val="4"/>
          <c:order val="4"/>
          <c:tx>
            <c:strRef>
              <c:f>Sheet1!$F$1</c:f>
              <c:strCache>
                <c:ptCount val="1"/>
                <c:pt idx="0">
                  <c:v>Antimicrobial &amp; Odor Control</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8.130440412111795</c:v>
                </c:pt>
                <c:pt idx="1">
                  <c:v>8.504784612649248</c:v>
                </c:pt>
                <c:pt idx="2">
                  <c:v>9.224510806905595</c:v>
                </c:pt>
              </c:numCache>
            </c:numRef>
          </c:val>
        </c:ser>
        <c:ser>
          <c:idx val="5"/>
          <c:order val="5"/>
          <c:tx>
            <c:strRef>
              <c:f>Sheet1!$G$1</c:f>
              <c:strCache>
                <c:ptCount val="1"/>
                <c:pt idx="0">
                  <c:v>Abrasion &amp; Tear Resistance</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9.826215094735154</c:v>
                </c:pt>
                <c:pt idx="1">
                  <c:v>9.42326611928935</c:v>
                </c:pt>
                <c:pt idx="2">
                  <c:v>8.681921307930105</c:v>
                </c:pt>
              </c:numCache>
            </c:numRef>
          </c:val>
        </c:ser>
        <c:ser>
          <c:idx val="6"/>
          <c:order val="6"/>
          <c:tx>
            <c:strRef>
              <c:f>Sheet1!$H$1</c:f>
              <c:strCache>
                <c:ptCount val="1"/>
                <c:pt idx="0">
                  <c:v>Water or Liquid Management</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5.761229183236841</c:v>
                </c:pt>
                <c:pt idx="1">
                  <c:v>5.510287259116749</c:v>
                </c:pt>
                <c:pt idx="2">
                  <c:v>5.240227548265394</c:v>
                </c:pt>
              </c:numCache>
            </c:numRef>
          </c:val>
        </c:ser>
        <c:ser>
          <c:idx val="7"/>
          <c:order val="7"/>
          <c:tx>
            <c:strRef>
              <c:f>Sheet1!$I$1</c:f>
              <c:strCache>
                <c:ptCount val="1"/>
                <c:pt idx="0">
                  <c:v>UV Protection</c:v>
                </c:pt>
              </c:strCache>
            </c:strRef>
          </c:tx>
          <c:spPr>
            <a:solidFill>
              <a:srgbClr val="7D72E5"/>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Sheet1!$I$2:$I$4</c:f>
              <c:numCache>
                <c:formatCode>General</c:formatCode>
                <c:ptCount val="3"/>
                <c:pt idx="0">
                  <c:v>4.600755908230521</c:v>
                </c:pt>
                <c:pt idx="1">
                  <c:v>4.339951401647603</c:v>
                </c:pt>
                <c:pt idx="2">
                  <c:v>4.029968356730598</c:v>
                </c:pt>
              </c:numCache>
            </c:numRef>
          </c:val>
        </c:ser>
        <c:ser>
          <c:idx val="8"/>
          <c:order val="8"/>
          <c:tx>
            <c:strRef>
              <c:f>Sheet1!$J$1</c:f>
              <c:strCache>
                <c:ptCount val="1"/>
                <c:pt idx="0">
                  <c:v>Other Specialized Performance</c:v>
                </c:pt>
              </c:strCache>
            </c:strRef>
          </c:tx>
          <c:spPr>
            <a:solidFill>
              <a:srgbClr val="CF72E5"/>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Sheet1!$J$2:$J$4</c:f>
              <c:numCache>
                <c:formatCode>General</c:formatCode>
                <c:ptCount val="3"/>
                <c:pt idx="0">
                  <c:v>2.5540079783462506</c:v>
                </c:pt>
                <c:pt idx="1">
                  <c:v>2.678088343233842</c:v>
                </c:pt>
                <c:pt idx="2">
                  <c:v>3.0563642010681686</c:v>
                </c:pt>
              </c:numCache>
            </c:numRef>
          </c:val>
        </c:ser>
        <c:ser>
          <c:idx val="9"/>
          <c:order val="9"/>
          <c:tx>
            <c:strRef>
              <c:f>Sheet1!$K$1</c:f>
              <c:strCache>
                <c:ptCount val="1"/>
                <c:pt idx="0">
                  <c:v>Flame &amp; Heat Resistance</c:v>
                </c:pt>
              </c:strCache>
            </c:strRef>
          </c:tx>
          <c:spPr>
            <a:solidFill>
              <a:srgbClr val="E572A9"/>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Sheet1!$K$2:$K$4</c:f>
              <c:numCache>
                <c:formatCode>General</c:formatCode>
                <c:ptCount val="3"/>
                <c:pt idx="0">
                  <c:v>2.881181831073624</c:v>
                </c:pt>
                <c:pt idx="1">
                  <c:v>2.9105215888834683</c:v>
                </c:pt>
                <c:pt idx="2">
                  <c:v>2.977574088373218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Sports &amp; Activewear</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22.58941230815293</c:v>
                </c:pt>
                <c:pt idx="1">
                  <c:v>22.78351931086285</c:v>
                </c:pt>
                <c:pt idx="2">
                  <c:v>23.166652846960336</c:v>
                </c:pt>
              </c:numCache>
            </c:numRef>
          </c:val>
        </c:ser>
        <c:ser>
          <c:idx val="1"/>
          <c:order val="1"/>
          <c:tx>
            <c:strRef>
              <c:f>Sheet1!$C$1</c:f>
              <c:strCache>
                <c:ptCount val="1"/>
                <c:pt idx="0">
                  <c:v>Medical &amp; Healthcare</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14.041759161590905</c:v>
                </c:pt>
                <c:pt idx="1">
                  <c:v>14.670861623855455</c:v>
                </c:pt>
                <c:pt idx="2">
                  <c:v>15.274224492054616</c:v>
                </c:pt>
              </c:numCache>
            </c:numRef>
          </c:val>
        </c:ser>
        <c:ser>
          <c:idx val="2"/>
          <c:order val="2"/>
          <c:tx>
            <c:strRef>
              <c:f>Sheet1!$D$1</c:f>
              <c:strCache>
                <c:ptCount val="1"/>
                <c:pt idx="0">
                  <c:v>Protective &amp; Occupational Wear</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14.615262630505088</c:v>
                </c:pt>
                <c:pt idx="1">
                  <c:v>14.665026176540152</c:v>
                </c:pt>
                <c:pt idx="2">
                  <c:v>14.814989126322912</c:v>
                </c:pt>
              </c:numCache>
            </c:numRef>
          </c:val>
        </c:ser>
        <c:ser>
          <c:idx val="3"/>
          <c:order val="3"/>
          <c:tx>
            <c:strRef>
              <c:f>Sheet1!$E$1</c:f>
              <c:strCache>
                <c:ptCount val="1"/>
                <c:pt idx="0">
                  <c:v>Intimate &amp; Bodywear</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16.090355774877075</c:v>
                </c:pt>
                <c:pt idx="1">
                  <c:v>15.258126453049176</c:v>
                </c:pt>
                <c:pt idx="2">
                  <c:v>13.753591196004836</c:v>
                </c:pt>
              </c:numCache>
            </c:numRef>
          </c:val>
        </c:ser>
        <c:ser>
          <c:idx val="4"/>
          <c:order val="4"/>
          <c:tx>
            <c:strRef>
              <c:f>Sheet1!$F$1</c:f>
              <c:strCache>
                <c:ptCount val="1"/>
                <c:pt idx="0">
                  <c:v>Industrial &amp; Technical Applications</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11.576315742095584</c:v>
                </c:pt>
                <c:pt idx="1">
                  <c:v>11.560896448710887</c:v>
                </c:pt>
                <c:pt idx="2">
                  <c:v>12.05040432427508</c:v>
                </c:pt>
              </c:numCache>
            </c:numRef>
          </c:val>
        </c:ser>
        <c:ser>
          <c:idx val="5"/>
          <c:order val="5"/>
          <c:tx>
            <c:strRef>
              <c:f>Sheet1!$G$1</c:f>
              <c:strCache>
                <c:ptCount val="1"/>
                <c:pt idx="0">
                  <c:v>Footwear</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10.576692339582912</c:v>
                </c:pt>
                <c:pt idx="1">
                  <c:v>10.783414272811173</c:v>
                </c:pt>
                <c:pt idx="2">
                  <c:v>11.064068751674824</c:v>
                </c:pt>
              </c:numCache>
            </c:numRef>
          </c:val>
        </c:ser>
        <c:ser>
          <c:idx val="6"/>
          <c:order val="6"/>
          <c:tx>
            <c:strRef>
              <c:f>Sheet1!$H$1</c:f>
              <c:strCache>
                <c:ptCount val="1"/>
                <c:pt idx="0">
                  <c:v>Automotive &amp; Transportation</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10.510202043195509</c:v>
                </c:pt>
                <c:pt idx="1">
                  <c:v>10.278155714170307</c:v>
                </c:pt>
                <c:pt idx="2">
                  <c:v>9.876069262707398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Medium Weight 150–250 GSM</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50.04107553533223</c:v>
                </c:pt>
                <c:pt idx="1">
                  <c:v>48.73369835285321</c:v>
                </c:pt>
                <c:pt idx="2">
                  <c:v>46.62075797035781</c:v>
                </c:pt>
              </c:numCache>
            </c:numRef>
          </c:val>
        </c:ser>
        <c:ser>
          <c:idx val="1"/>
          <c:order val="1"/>
          <c:tx>
            <c:strRef>
              <c:f>Sheet1!$C$1</c:f>
              <c:strCache>
                <c:ptCount val="1"/>
                <c:pt idx="0">
                  <c:v>Lightweight Below 150 GSM</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32.561789023916546</c:v>
                </c:pt>
                <c:pt idx="1">
                  <c:v>33.10058400083884</c:v>
                </c:pt>
                <c:pt idx="2">
                  <c:v>33.6975625692227</c:v>
                </c:pt>
              </c:numCache>
            </c:numRef>
          </c:val>
        </c:ser>
        <c:ser>
          <c:idx val="2"/>
          <c:order val="2"/>
          <c:tx>
            <c:strRef>
              <c:f>Sheet1!$D$1</c:f>
              <c:strCache>
                <c:ptCount val="1"/>
                <c:pt idx="0">
                  <c:v>Heavyweight Above 250 GSM</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17.39713544075122</c:v>
                </c:pt>
                <c:pt idx="1">
                  <c:v>18.16571764630794</c:v>
                </c:pt>
                <c:pt idx="2">
                  <c:v>19.681679460419495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Sports &amp; Activewear</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22.58939321670564</c:v>
                </c:pt>
                <c:pt idx="1">
                  <c:v>22.78352762036754</c:v>
                </c:pt>
                <c:pt idx="2">
                  <c:v>23.166648724776447</c:v>
                </c:pt>
              </c:numCache>
            </c:numRef>
          </c:val>
        </c:ser>
        <c:ser>
          <c:idx val="1"/>
          <c:order val="1"/>
          <c:tx>
            <c:strRef>
              <c:f>Sheet1!$C$1</c:f>
              <c:strCache>
                <c:ptCount val="1"/>
                <c:pt idx="0">
                  <c:v>Medical &amp; Healthcare</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14.041762624650838</c:v>
                </c:pt>
                <c:pt idx="1">
                  <c:v>14.670866974547408</c:v>
                </c:pt>
                <c:pt idx="2">
                  <c:v>15.274212877413593</c:v>
                </c:pt>
              </c:numCache>
            </c:numRef>
          </c:val>
        </c:ser>
        <c:ser>
          <c:idx val="2"/>
          <c:order val="2"/>
          <c:tx>
            <c:strRef>
              <c:f>Sheet1!$D$1</c:f>
              <c:strCache>
                <c:ptCount val="1"/>
                <c:pt idx="0">
                  <c:v>Protective &amp; Occupational Wear</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14.61526623500577</c:v>
                </c:pt>
                <c:pt idx="1">
                  <c:v>14.66503152510383</c:v>
                </c:pt>
                <c:pt idx="2">
                  <c:v>14.814986490201504</c:v>
                </c:pt>
              </c:numCache>
            </c:numRef>
          </c:val>
        </c:ser>
        <c:ser>
          <c:idx val="3"/>
          <c:order val="3"/>
          <c:tx>
            <c:strRef>
              <c:f>Sheet1!$E$1</c:f>
              <c:strCache>
                <c:ptCount val="1"/>
                <c:pt idx="0">
                  <c:v>Intimate &amp; Bodywear</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16.090359743173767</c:v>
                </c:pt>
                <c:pt idx="1">
                  <c:v>15.25811378214626</c:v>
                </c:pt>
                <c:pt idx="2">
                  <c:v>13.753597645549506</c:v>
                </c:pt>
              </c:numCache>
            </c:numRef>
          </c:val>
        </c:ser>
        <c:ser>
          <c:idx val="4"/>
          <c:order val="4"/>
          <c:tx>
            <c:strRef>
              <c:f>Sheet1!$F$1</c:f>
              <c:strCache>
                <c:ptCount val="1"/>
                <c:pt idx="0">
                  <c:v>Industrial &amp; Technical Applications</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11.576318597113591</c:v>
                </c:pt>
                <c:pt idx="1">
                  <c:v>11.560864193591035</c:v>
                </c:pt>
                <c:pt idx="2">
                  <c:v>12.05041107687818</c:v>
                </c:pt>
              </c:numCache>
            </c:numRef>
          </c:val>
        </c:ser>
        <c:ser>
          <c:idx val="5"/>
          <c:order val="5"/>
          <c:tx>
            <c:strRef>
              <c:f>Sheet1!$G$1</c:f>
              <c:strCache>
                <c:ptCount val="1"/>
                <c:pt idx="0">
                  <c:v>Footwear</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10.576694948068008</c:v>
                </c:pt>
                <c:pt idx="1">
                  <c:v>10.783418205690475</c:v>
                </c:pt>
                <c:pt idx="2">
                  <c:v>11.064066782977564</c:v>
                </c:pt>
              </c:numCache>
            </c:numRef>
          </c:val>
        </c:ser>
        <c:ser>
          <c:idx val="6"/>
          <c:order val="6"/>
          <c:tx>
            <c:strRef>
              <c:f>Sheet1!$H$1</c:f>
              <c:strCache>
                <c:ptCount val="1"/>
                <c:pt idx="0">
                  <c:v>Automotive &amp; Transportation</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10.510204635282385</c:v>
                </c:pt>
                <c:pt idx="1">
                  <c:v>10.278177698553446</c:v>
                </c:pt>
                <c:pt idx="2">
                  <c:v>9.876076402203203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03E58"/>
            </a:solidFill>
            <a:ln>
              <a:noFill/>
            </a:ln>
          </c:spPr>
          <c:cat>
            <c:strRef>
              <c:f>Sheet1!$A$2:$A$4</c:f>
              <c:strCache>
                <c:ptCount val="3"/>
                <c:pt idx="0">
                  <c:v>2021–2026</c:v>
                </c:pt>
                <c:pt idx="1">
                  <c:v>2026–2036</c:v>
                </c:pt>
                <c:pt idx="2">
                  <c:v>2021–2036</c:v>
                </c:pt>
              </c:strCache>
            </c:strRef>
          </c:cat>
          <c:val>
            <c:numRef>
              <c:f>Sheet1!$B$2:$B$4</c:f>
              <c:numCache>
                <c:formatCode>General</c:formatCode>
                <c:ptCount val="3"/>
                <c:pt idx="0">
                  <c:v>5.7093936537780055</c:v>
                </c:pt>
                <c:pt idx="1">
                  <c:v>5.900537758122915</c:v>
                </c:pt>
                <c:pt idx="2">
                  <c:v>5.836784684454077</c:v>
                </c:pt>
              </c:numCache>
            </c:numRef>
          </c:val>
        </c:ser>
        <c:dLbls>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7.788709840722247"/>
          <c:min val="0.0"/>
        </c:scaling>
        <c:delete val="0"/>
        <c:axPos val="l"/>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2021</c:v>
                </c:pt>
                <c:pt idx="1">
                  <c:v>2021–2026</c:v>
                </c:pt>
                <c:pt idx="2">
                  <c:v>2026</c:v>
                </c:pt>
                <c:pt idx="3">
                  <c:v>2026–2036</c:v>
                </c:pt>
                <c:pt idx="4">
                  <c:v>2036</c:v>
                </c:pt>
              </c:strCache>
            </c:strRef>
          </c:cat>
          <c:val>
            <c:numRef>
              <c:f>Sheet1!$B$2:$B$6</c:f>
              <c:numCache>
                <c:formatCode>General</c:formatCode>
                <c:ptCount val="5"/>
                <c:pt idx="0">
                  <c:v>0.0</c:v>
                </c:pt>
                <c:pt idx="1">
                  <c:v>268.781</c:v>
                </c:pt>
                <c:pt idx="2">
                  <c:v>0.0</c:v>
                </c:pt>
                <c:pt idx="3">
                  <c:v>354.786</c:v>
                </c:pt>
                <c:pt idx="4">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00A4DC"/>
              </a:solidFill>
            </c:spPr>
          </c:dPt>
          <c:dPt>
            <c:idx val="3"/>
            <c:spPr>
              <a:solidFill>
                <a:srgbClr val="2F6FB0"/>
              </a:solidFill>
            </c:spPr>
          </c:dPt>
          <c:dPt>
            <c:idx val="4"/>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Sheet1!$A$2:$A$6</c:f>
              <c:strCache>
                <c:ptCount val="5"/>
                <c:pt idx="0">
                  <c:v>2021</c:v>
                </c:pt>
                <c:pt idx="1">
                  <c:v>2021–2026</c:v>
                </c:pt>
                <c:pt idx="2">
                  <c:v>2026</c:v>
                </c:pt>
                <c:pt idx="3">
                  <c:v>2026–2036</c:v>
                </c:pt>
                <c:pt idx="4">
                  <c:v>2036</c:v>
                </c:pt>
              </c:strCache>
            </c:strRef>
          </c:cat>
          <c:val>
            <c:numRef>
              <c:f>Sheet1!$C$2:$C$6</c:f>
              <c:numCache>
                <c:formatCode>General</c:formatCode>
                <c:ptCount val="5"/>
                <c:pt idx="0">
                  <c:v>268.781</c:v>
                </c:pt>
                <c:pt idx="1">
                  <c:v>86.005</c:v>
                </c:pt>
                <c:pt idx="2">
                  <c:v>354.786</c:v>
                </c:pt>
                <c:pt idx="3">
                  <c:v>274.64500000000004</c:v>
                </c:pt>
                <c:pt idx="4">
                  <c:v>629.431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03E58"/>
            </a:solidFill>
            <a:ln>
              <a:noFill/>
            </a:ln>
          </c:spPr>
          <c:cat>
            <c:strRef>
              <c:f>Sheet1!$A$2:$A$4</c:f>
              <c:strCache>
                <c:ptCount val="3"/>
                <c:pt idx="0">
                  <c:v>2021–2026</c:v>
                </c:pt>
                <c:pt idx="1">
                  <c:v>2026–2036</c:v>
                </c:pt>
                <c:pt idx="2">
                  <c:v>2021–2036</c:v>
                </c:pt>
              </c:strCache>
            </c:strRef>
          </c:cat>
          <c:val>
            <c:numRef>
              <c:f>Sheet1!$B$2:$B$4</c:f>
              <c:numCache>
                <c:formatCode>General</c:formatCode>
                <c:ptCount val="3"/>
                <c:pt idx="0">
                  <c:v>6.4435055897274385</c:v>
                </c:pt>
                <c:pt idx="1">
                  <c:v>7.599172854817082</c:v>
                </c:pt>
                <c:pt idx="2">
                  <c:v>7.212562985874116</c:v>
                </c:pt>
              </c:numCache>
            </c:numRef>
          </c:val>
        </c:ser>
        <c:dLbls>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30908168358549"/>
          <c:min val="0.0"/>
        </c:scaling>
        <c:delete val="0"/>
        <c:axPos val="l"/>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2021</c:v>
                </c:pt>
                <c:pt idx="1">
                  <c:v>2021–2026</c:v>
                </c:pt>
                <c:pt idx="2">
                  <c:v>2026</c:v>
                </c:pt>
                <c:pt idx="3">
                  <c:v>2026–2036</c:v>
                </c:pt>
                <c:pt idx="4">
                  <c:v>2036</c:v>
                </c:pt>
              </c:strCache>
            </c:strRef>
          </c:cat>
          <c:val>
            <c:numRef>
              <c:f>Sheet1!$B$2:$B$6</c:f>
              <c:numCache>
                <c:formatCode>General</c:formatCode>
                <c:ptCount val="5"/>
                <c:pt idx="0">
                  <c:v>0.0</c:v>
                </c:pt>
                <c:pt idx="1">
                  <c:v>934.187</c:v>
                </c:pt>
                <c:pt idx="2">
                  <c:v>0.0</c:v>
                </c:pt>
                <c:pt idx="3">
                  <c:v>1276.526</c:v>
                </c:pt>
                <c:pt idx="4">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00A4DC"/>
              </a:solidFill>
            </c:spPr>
          </c:dPt>
          <c:dPt>
            <c:idx val="3"/>
            <c:spPr>
              <a:solidFill>
                <a:srgbClr val="2F6FB0"/>
              </a:solidFill>
            </c:spPr>
          </c:dPt>
          <c:dPt>
            <c:idx val="4"/>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Sheet1!$A$2:$A$6</c:f>
              <c:strCache>
                <c:ptCount val="5"/>
                <c:pt idx="0">
                  <c:v>2021</c:v>
                </c:pt>
                <c:pt idx="1">
                  <c:v>2021–2026</c:v>
                </c:pt>
                <c:pt idx="2">
                  <c:v>2026</c:v>
                </c:pt>
                <c:pt idx="3">
                  <c:v>2026–2036</c:v>
                </c:pt>
                <c:pt idx="4">
                  <c:v>2036</c:v>
                </c:pt>
              </c:strCache>
            </c:strRef>
          </c:cat>
          <c:val>
            <c:numRef>
              <c:f>Sheet1!$C$2:$C$6</c:f>
              <c:numCache>
                <c:formatCode>General</c:formatCode>
                <c:ptCount val="5"/>
                <c:pt idx="0">
                  <c:v>934.187</c:v>
                </c:pt>
                <c:pt idx="1">
                  <c:v>342.33900000000006</c:v>
                </c:pt>
                <c:pt idx="2">
                  <c:v>1276.526</c:v>
                </c:pt>
                <c:pt idx="3">
                  <c:v>1378.8069999999996</c:v>
                </c:pt>
                <c:pt idx="4">
                  <c:v>2655.3329999999996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A9D8EF"/>
            </a:solidFill>
            <a:ln>
              <a:noFill/>
            </a:ln>
          </c:spPr>
          <c:dLbls>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934.187</c:v>
                </c:pt>
                <c:pt idx="1">
                  <c:v>990.239</c:v>
                </c:pt>
                <c:pt idx="2">
                  <c:v>1051.4569999999999</c:v>
                </c:pt>
                <c:pt idx="3">
                  <c:v>1119.4180000000001</c:v>
                </c:pt>
                <c:pt idx="4">
                  <c:v>1193.004</c:v>
                </c:pt>
              </c:numCache>
            </c:numRef>
          </c:val>
        </c:ser>
        <c:gapWidth val="50"/>
        <c:axId val="-2068027336"/>
        <c:axId val="-2113994440"/>
      </c:barChart>
      <c:barChart>
        <c:barDir val="col"/>
        <c:grouping val="clustered"/>
        <c:varyColors val="0"/>
        <c:ser>
          <c:idx val="1"/>
          <c:order val="1"/>
          <c:tx>
            <c:strRef>
              <c:f>Sheet1!$C$1</c:f>
              <c:strCache>
                <c:ptCount val="1"/>
                <c:pt idx="0">
                  <c:v>Volume (Mn Sq. Yards)</c:v>
                </c:pt>
              </c:strCache>
            </c:strRef>
          </c:tx>
          <c:spPr>
            <a:solidFill>
              <a:srgbClr val="F1975A"/>
            </a:solidFill>
            <a:ln>
              <a:noFill/>
            </a:ln>
          </c:spPr>
          <c:dLbls>
            <c:numFmt formatCode="#,##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Sheet1!$C$2:$C$6</c:f>
              <c:numCache>
                <c:formatCode>General</c:formatCode>
                <c:ptCount val="5"/>
                <c:pt idx="0">
                  <c:v>268.781</c:v>
                </c:pt>
                <c:pt idx="1">
                  <c:v>283.457</c:v>
                </c:pt>
                <c:pt idx="2">
                  <c:v>299.336</c:v>
                </c:pt>
                <c:pt idx="3">
                  <c:v>316.658</c:v>
                </c:pt>
                <c:pt idx="4">
                  <c:v>335.214</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max val="1408"/>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460"/>
          <c:min val="0"/>
        </c:scaling>
        <c:delete val="0"/>
        <c:axPos val="r"/>
        <c:numFmt formatCode="General"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7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A9D8EF"/>
            </a:solidFill>
            <a:ln>
              <a:noFill/>
            </a:ln>
          </c:spPr>
          <c:dLbls>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Sheet1!$B$2:$B$12</c:f>
              <c:numCache>
                <c:formatCode>General</c:formatCode>
                <c:ptCount val="11"/>
                <c:pt idx="0">
                  <c:v>1276.526</c:v>
                </c:pt>
                <c:pt idx="1">
                  <c:v>1365.783</c:v>
                </c:pt>
                <c:pt idx="2">
                  <c:v>1463.216</c:v>
                </c:pt>
                <c:pt idx="3">
                  <c:v>1570.562</c:v>
                </c:pt>
                <c:pt idx="4">
                  <c:v>1690.2490000000003</c:v>
                </c:pt>
                <c:pt idx="5">
                  <c:v>1822.746</c:v>
                </c:pt>
                <c:pt idx="6">
                  <c:v>1966.732</c:v>
                </c:pt>
                <c:pt idx="7">
                  <c:v>2121.5280000000002</c:v>
                </c:pt>
                <c:pt idx="8">
                  <c:v>2288.228</c:v>
                </c:pt>
                <c:pt idx="9">
                  <c:v>2466.135</c:v>
                </c:pt>
                <c:pt idx="10">
                  <c:v>2655.3329999999996</c:v>
                </c:pt>
              </c:numCache>
            </c:numRef>
          </c:val>
        </c:ser>
        <c:gapWidth val="50"/>
        <c:axId val="-2068027336"/>
        <c:axId val="-2113994440"/>
      </c:barChart>
      <c:barChart>
        <c:barDir val="col"/>
        <c:grouping val="clustered"/>
        <c:varyColors val="0"/>
        <c:ser>
          <c:idx val="1"/>
          <c:order val="1"/>
          <c:tx>
            <c:strRef>
              <c:f>Sheet1!$C$1</c:f>
              <c:strCache>
                <c:ptCount val="1"/>
                <c:pt idx="0">
                  <c:v>Volume (Mn Sq. Yards)</c:v>
                </c:pt>
              </c:strCache>
            </c:strRef>
          </c:tx>
          <c:spPr>
            <a:solidFill>
              <a:srgbClr val="F1975A"/>
            </a:solidFill>
            <a:ln>
              <a:noFill/>
            </a:ln>
          </c:spPr>
          <c:dLbls>
            <c:numFmt formatCode="#,##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Sheet1!$C$2:$C$12</c:f>
              <c:numCache>
                <c:formatCode>General</c:formatCode>
                <c:ptCount val="11"/>
                <c:pt idx="0">
                  <c:v>354.786</c:v>
                </c:pt>
                <c:pt idx="1">
                  <c:v>375.10299999999995</c:v>
                </c:pt>
                <c:pt idx="2">
                  <c:v>396.69399999999996</c:v>
                </c:pt>
                <c:pt idx="3">
                  <c:v>420.00899999999996</c:v>
                </c:pt>
                <c:pt idx="4">
                  <c:v>445.49</c:v>
                </c:pt>
                <c:pt idx="5">
                  <c:v>473.099</c:v>
                </c:pt>
                <c:pt idx="6">
                  <c:v>502.27799999999996</c:v>
                </c:pt>
                <c:pt idx="7">
                  <c:v>532.5699999999999</c:v>
                </c:pt>
                <c:pt idx="8">
                  <c:v>564.058</c:v>
                </c:pt>
                <c:pt idx="9">
                  <c:v>596.394</c:v>
                </c:pt>
                <c:pt idx="10">
                  <c:v>629.431</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max val="3133"/>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990"/>
          <c:min val="0"/>
        </c:scaling>
        <c:delete val="0"/>
        <c:axPos val="r"/>
        <c:numFmt formatCode="General"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7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Index</c:v>
                </c:pt>
              </c:strCache>
            </c:strRef>
          </c:tx>
          <c:spPr>
            <a:solidFill>
              <a:srgbClr val="00A4DC"/>
            </a:solidFill>
            <a:ln>
              <a:noFill/>
            </a:ln>
          </c:spPr>
          <c:cat>
            <c:strRef>
              <c:f>Sheet1!$A$2:$A$4</c:f>
              <c:strCache>
                <c:ptCount val="3"/>
                <c:pt idx="0">
                  <c:v>Canada</c:v>
                </c:pt>
                <c:pt idx="1">
                  <c:v>U.S.</c:v>
                </c:pt>
                <c:pt idx="2">
                  <c:v>Mexico</c:v>
                </c:pt>
              </c:strCache>
            </c:strRef>
          </c:cat>
          <c:val>
            <c:numRef>
              <c:f>Sheet1!$B$2:$B$4</c:f>
              <c:numCache>
                <c:formatCode>General</c:formatCode>
                <c:ptCount val="3"/>
                <c:pt idx="0">
                  <c:v>92.19887237065785</c:v>
                </c:pt>
                <c:pt idx="1">
                  <c:v>99.73833295101771</c:v>
                </c:pt>
                <c:pt idx="2">
                  <c:v>114.00879214611872</c:v>
                </c:pt>
              </c:numCache>
            </c:numRef>
          </c:val>
        </c:ser>
        <c:dLbls>
          <c:numFmt formatCode="#,##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Index</c:v>
                </c:pt>
              </c:strCache>
            </c:strRef>
          </c:tx>
          <c:spPr>
            <a:solidFill>
              <a:srgbClr val="00A4DC"/>
            </a:solidFill>
            <a:ln>
              <a:noFill/>
            </a:ln>
          </c:spPr>
          <c:cat>
            <c:strRef>
              <c:f>Sheet1!$A$2:$A$4</c:f>
              <c:strCache>
                <c:ptCount val="3"/>
                <c:pt idx="0">
                  <c:v>Mexico</c:v>
                </c:pt>
                <c:pt idx="1">
                  <c:v>Canada</c:v>
                </c:pt>
                <c:pt idx="2">
                  <c:v>U.S.</c:v>
                </c:pt>
              </c:strCache>
            </c:strRef>
          </c:cat>
          <c:val>
            <c:numRef>
              <c:f>Sheet1!$B$2:$B$4</c:f>
              <c:numCache>
                <c:formatCode>General</c:formatCode>
                <c:ptCount val="3"/>
                <c:pt idx="0">
                  <c:v>9.318127917830415</c:v>
                </c:pt>
                <c:pt idx="1">
                  <c:v>10.937571393240681</c:v>
                </c:pt>
                <c:pt idx="2">
                  <c:v>79.74480837419598</c:v>
                </c:pt>
              </c:numCache>
            </c:numRef>
          </c:val>
        </c:ser>
        <c:dLbls>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00A4DC"/>
              </a:solidFill>
            </c:spPr>
          </c:dPt>
          <c:dPt>
            <c:idx val="1"/>
            <c:spPr>
              <a:solidFill>
                <a:srgbClr val="6ECFF2"/>
              </a:solidFill>
            </c:spPr>
          </c:dPt>
          <c:dLbls>
            <c:dLbl>
              <c:idx val="0"/>
              <c:tx>
                <c:rich>
                  <a:bodyPr/>
                  <a:lstStyle/>
                  <a:p>
                    <a:pPr>
                      <a:defRPr sz="1100" b="1">
                        <a:solidFill>
                          <a:srgbClr val="FFFFFF"/>
                        </a:solidFill>
                        <a:latin typeface="Segoe UI"/>
                      </a:defRPr>
                    </a:pPr>
                    <a:r>
                      <a:t>37.5%</a:t>
                    </a:r>
                  </a:p>
                </c:rich>
              </c:tx>
              <c:showLegendKey val="0"/>
              <c:showVal val="1"/>
              <c:showCatName val="0"/>
              <c:showSerName val="0"/>
              <c:showPercent val="0"/>
              <c:showBubbleSize val="0"/>
            </c:dLbl>
            <c:dLbl>
              <c:idx val="1"/>
              <c:tx>
                <c:rich>
                  <a:bodyPr/>
                  <a:lstStyle/>
                  <a:p>
                    <a:pPr>
                      <a:defRPr sz="1100" b="1">
                        <a:solidFill>
                          <a:srgbClr val="252423"/>
                        </a:solidFill>
                        <a:latin typeface="Segoe UI"/>
                      </a:defRPr>
                    </a:pPr>
                    <a:r>
                      <a:t>62.5%</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Warp Knitted Fabrics</c:v>
                </c:pt>
                <c:pt idx="1">
                  <c:v>Weft Knitted Fabrics</c:v>
                </c:pt>
              </c:strCache>
            </c:strRef>
          </c:cat>
          <c:val>
            <c:numRef>
              <c:f>Sheet1!$B$2:$B$3</c:f>
              <c:numCache>
                <c:formatCode>General</c:formatCode>
                <c:ptCount val="2"/>
                <c:pt idx="0">
                  <c:v>995.829</c:v>
                </c:pt>
                <c:pt idx="1">
                  <c:v>1659.504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externalData r:id="rId1">
    <c:autoUpdate val="0"/>
  </c:externalData>
</c:chartSpace>
</file>

<file path=ppt/charts/chart7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U.S.</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Sheet1!$B$2:$B$3</c:f>
              <c:numCache>
                <c:formatCode>General</c:formatCode>
                <c:ptCount val="2"/>
                <c:pt idx="0">
                  <c:v>78.9070625473876</c:v>
                </c:pt>
                <c:pt idx="1">
                  <c:v>78.12579933304842</c:v>
                </c:pt>
              </c:numCache>
            </c:numRef>
          </c:val>
        </c:ser>
        <c:ser>
          <c:idx val="1"/>
          <c:order val="1"/>
          <c:tx>
            <c:strRef>
              <c:f>Sheet1!$C$1</c:f>
              <c:strCache>
                <c:ptCount val="1"/>
                <c:pt idx="0">
                  <c:v>Canada</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Sheet1!$C$2:$C$3</c:f>
              <c:numCache>
                <c:formatCode>General</c:formatCode>
                <c:ptCount val="2"/>
                <c:pt idx="0">
                  <c:v>12.283990112377287</c:v>
                </c:pt>
                <c:pt idx="1">
                  <c:v>11.804788769539472</c:v>
                </c:pt>
              </c:numCache>
            </c:numRef>
          </c:val>
        </c:ser>
        <c:ser>
          <c:idx val="2"/>
          <c:order val="2"/>
          <c:tx>
            <c:strRef>
              <c:f>Sheet1!$D$1</c:f>
              <c:strCache>
                <c:ptCount val="1"/>
                <c:pt idx="0">
                  <c:v>Mexico</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Sheet1!$D$2:$D$3</c:f>
              <c:numCache>
                <c:formatCode>General</c:formatCode>
                <c:ptCount val="2"/>
                <c:pt idx="0">
                  <c:v>8.808947340235127</c:v>
                </c:pt>
                <c:pt idx="1">
                  <c:v>10.069411897412108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U.S.</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Sheet1!$B$2:$B$3</c:f>
              <c:numCache>
                <c:formatCode>General</c:formatCode>
                <c:ptCount val="2"/>
                <c:pt idx="0">
                  <c:v>80.02945496562934</c:v>
                </c:pt>
                <c:pt idx="1">
                  <c:v>79.88155162401415</c:v>
                </c:pt>
              </c:numCache>
            </c:numRef>
          </c:val>
        </c:ser>
        <c:ser>
          <c:idx val="1"/>
          <c:order val="1"/>
          <c:tx>
            <c:strRef>
              <c:f>Sheet1!$C$1</c:f>
              <c:strCache>
                <c:ptCount val="1"/>
                <c:pt idx="0">
                  <c:v>Canada</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Sheet1!$C$2:$C$3</c:f>
              <c:numCache>
                <c:formatCode>General</c:formatCode>
                <c:ptCount val="2"/>
                <c:pt idx="0">
                  <c:v>12.200544446838094</c:v>
                </c:pt>
                <c:pt idx="1">
                  <c:v>11.54464937367578</c:v>
                </c:pt>
              </c:numCache>
            </c:numRef>
          </c:val>
        </c:ser>
        <c:ser>
          <c:idx val="2"/>
          <c:order val="2"/>
          <c:tx>
            <c:strRef>
              <c:f>Sheet1!$D$1</c:f>
              <c:strCache>
                <c:ptCount val="1"/>
                <c:pt idx="0">
                  <c:v>Mexico</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Sheet1!$D$2:$D$3</c:f>
              <c:numCache>
                <c:formatCode>General</c:formatCode>
                <c:ptCount val="2"/>
                <c:pt idx="0">
                  <c:v>7.770000587532559</c:v>
                </c:pt>
                <c:pt idx="1">
                  <c:v>8.57379900231007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8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U.S.</c:v>
                </c:pt>
              </c:strCache>
            </c:strRef>
          </c:tx>
          <c:spPr>
            <a:solidFill>
              <a:srgbClr val="00A4DC"/>
            </a:solidFill>
            <a:ln>
              <a:noFill/>
            </a:ln>
          </c:spPr>
          <c:dLbls>
            <c:numFmt formatCode="#,##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212.279</c:v>
                </c:pt>
                <c:pt idx="1">
                  <c:v>223.642</c:v>
                </c:pt>
                <c:pt idx="2">
                  <c:v>236.073</c:v>
                </c:pt>
                <c:pt idx="3">
                  <c:v>249.76</c:v>
                </c:pt>
                <c:pt idx="4">
                  <c:v>264.485</c:v>
                </c:pt>
                <c:pt idx="5">
                  <c:v>279.952</c:v>
                </c:pt>
                <c:pt idx="6">
                  <c:v>295.871</c:v>
                </c:pt>
                <c:pt idx="7">
                  <c:v>312.723</c:v>
                </c:pt>
                <c:pt idx="8">
                  <c:v>330.937</c:v>
                </c:pt>
                <c:pt idx="9">
                  <c:v>350.853</c:v>
                </c:pt>
                <c:pt idx="10">
                  <c:v>372.393</c:v>
                </c:pt>
                <c:pt idx="11">
                  <c:v>394.968</c:v>
                </c:pt>
                <c:pt idx="12">
                  <c:v>418.175</c:v>
                </c:pt>
                <c:pt idx="13">
                  <c:v>442.191</c:v>
                </c:pt>
                <c:pt idx="14">
                  <c:v>466.759</c:v>
                </c:pt>
                <c:pt idx="15">
                  <c:v>491.748</c:v>
                </c:pt>
              </c:numCache>
            </c:numRef>
          </c:val>
        </c:ser>
        <c:ser>
          <c:idx val="1"/>
          <c:order val="1"/>
          <c:tx>
            <c:strRef>
              <c:f>Sheet1!$C$1</c:f>
              <c:strCache>
                <c:ptCount val="1"/>
                <c:pt idx="0">
                  <c:v>Canada</c:v>
                </c:pt>
              </c:strCache>
            </c:strRef>
          </c:tx>
          <c:spPr>
            <a:solidFill>
              <a:srgbClr val="6ECFF2"/>
            </a:solidFill>
            <a:ln>
              <a:noFill/>
            </a:ln>
          </c:spPr>
          <c:dLbls>
            <c:numFmt formatCode="#,##0"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0">
                  <c:v>32.858</c:v>
                </c:pt>
                <c:pt idx="1">
                  <c:v>34.798</c:v>
                </c:pt>
                <c:pt idx="2">
                  <c:v>36.827</c:v>
                </c:pt>
                <c:pt idx="3">
                  <c:v>38.978</c:v>
                </c:pt>
                <c:pt idx="4">
                  <c:v>41.231</c:v>
                </c:pt>
                <c:pt idx="5">
                  <c:v>43.582</c:v>
                </c:pt>
                <c:pt idx="6">
                  <c:v>45.995</c:v>
                </c:pt>
                <c:pt idx="7">
                  <c:v>48.485</c:v>
                </c:pt>
                <c:pt idx="8">
                  <c:v>51.064</c:v>
                </c:pt>
                <c:pt idx="9">
                  <c:v>53.816</c:v>
                </c:pt>
                <c:pt idx="10">
                  <c:v>56.78</c:v>
                </c:pt>
                <c:pt idx="11">
                  <c:v>59.978</c:v>
                </c:pt>
                <c:pt idx="12">
                  <c:v>63.383</c:v>
                </c:pt>
                <c:pt idx="13">
                  <c:v>66.928</c:v>
                </c:pt>
                <c:pt idx="14">
                  <c:v>70.571</c:v>
                </c:pt>
                <c:pt idx="15">
                  <c:v>74.303</c:v>
                </c:pt>
              </c:numCache>
            </c:numRef>
          </c:val>
        </c:ser>
        <c:ser>
          <c:idx val="2"/>
          <c:order val="2"/>
          <c:tx>
            <c:strRef>
              <c:f>Sheet1!$D$1</c:f>
              <c:strCache>
                <c:ptCount val="1"/>
                <c:pt idx="0">
                  <c:v>Mexico</c:v>
                </c:pt>
              </c:strCache>
            </c:strRef>
          </c:tx>
          <c:spPr>
            <a:solidFill>
              <a:srgbClr val="D6CAC4"/>
            </a:solidFill>
            <a:ln>
              <a:noFill/>
            </a:ln>
          </c:spPr>
          <c:dLbls>
            <c:numFmt formatCode="#,##0"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Sheet1!$D$2:$D$17</c:f>
              <c:numCache>
                <c:formatCode>General</c:formatCode>
                <c:ptCount val="16"/>
                <c:pt idx="0">
                  <c:v>23.644</c:v>
                </c:pt>
                <c:pt idx="1">
                  <c:v>25.017</c:v>
                </c:pt>
                <c:pt idx="2">
                  <c:v>26.435</c:v>
                </c:pt>
                <c:pt idx="3">
                  <c:v>27.921</c:v>
                </c:pt>
                <c:pt idx="4">
                  <c:v>29.499</c:v>
                </c:pt>
                <c:pt idx="5">
                  <c:v>31.253</c:v>
                </c:pt>
                <c:pt idx="6">
                  <c:v>33.238</c:v>
                </c:pt>
                <c:pt idx="7">
                  <c:v>35.486</c:v>
                </c:pt>
                <c:pt idx="8">
                  <c:v>38.006</c:v>
                </c:pt>
                <c:pt idx="9">
                  <c:v>40.821</c:v>
                </c:pt>
                <c:pt idx="10">
                  <c:v>43.927</c:v>
                </c:pt>
                <c:pt idx="11">
                  <c:v>47.333</c:v>
                </c:pt>
                <c:pt idx="12">
                  <c:v>51.011</c:v>
                </c:pt>
                <c:pt idx="13">
                  <c:v>54.94</c:v>
                </c:pt>
                <c:pt idx="14">
                  <c:v>59.063</c:v>
                </c:pt>
                <c:pt idx="15">
                  <c:v>63.38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8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U.S.</c:v>
                </c:pt>
              </c:strCache>
            </c:strRef>
          </c:tx>
          <c:spPr>
            <a:solidFill>
              <a:srgbClr val="00A4DC"/>
            </a:solidFill>
            <a:ln>
              <a:noFill/>
            </a:ln>
          </c:spPr>
          <c:dLbls>
            <c:numFmt formatCode="#,##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747.72</c:v>
                </c:pt>
                <c:pt idx="1">
                  <c:v>791.958</c:v>
                </c:pt>
                <c:pt idx="2">
                  <c:v>840.668</c:v>
                </c:pt>
                <c:pt idx="3">
                  <c:v>895.174</c:v>
                </c:pt>
                <c:pt idx="4">
                  <c:v>954.371</c:v>
                </c:pt>
                <c:pt idx="5">
                  <c:v>1021.596</c:v>
                </c:pt>
                <c:pt idx="6">
                  <c:v>1093.023</c:v>
                </c:pt>
                <c:pt idx="7">
                  <c:v>1170.918</c:v>
                </c:pt>
                <c:pt idx="8">
                  <c:v>1256.893</c:v>
                </c:pt>
                <c:pt idx="9">
                  <c:v>1352.889</c:v>
                </c:pt>
                <c:pt idx="10">
                  <c:v>1459.153</c:v>
                </c:pt>
                <c:pt idx="11">
                  <c:v>1574.178</c:v>
                </c:pt>
                <c:pt idx="12">
                  <c:v>1697.262</c:v>
                </c:pt>
                <c:pt idx="13">
                  <c:v>1829.754</c:v>
                </c:pt>
                <c:pt idx="14">
                  <c:v>1971.019</c:v>
                </c:pt>
                <c:pt idx="15">
                  <c:v>2121.122</c:v>
                </c:pt>
              </c:numCache>
            </c:numRef>
          </c:val>
        </c:ser>
        <c:ser>
          <c:idx val="1"/>
          <c:order val="1"/>
          <c:tx>
            <c:strRef>
              <c:f>Sheet1!$C$1</c:f>
              <c:strCache>
                <c:ptCount val="1"/>
                <c:pt idx="0">
                  <c:v>Canada</c:v>
                </c:pt>
              </c:strCache>
            </c:strRef>
          </c:tx>
          <c:spPr>
            <a:solidFill>
              <a:srgbClr val="6ECFF2"/>
            </a:solidFill>
            <a:ln>
              <a:noFill/>
            </a:ln>
          </c:spPr>
          <c:dLbls>
            <c:numFmt formatCode="#,##0"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0">
                  <c:v>113.966</c:v>
                </c:pt>
                <c:pt idx="1">
                  <c:v>121.129</c:v>
                </c:pt>
                <c:pt idx="2">
                  <c:v>128.765</c:v>
                </c:pt>
                <c:pt idx="3">
                  <c:v>137.036</c:v>
                </c:pt>
                <c:pt idx="4">
                  <c:v>145.865</c:v>
                </c:pt>
                <c:pt idx="5">
                  <c:v>155.743</c:v>
                </c:pt>
                <c:pt idx="6">
                  <c:v>166.265</c:v>
                </c:pt>
                <c:pt idx="7">
                  <c:v>177.47</c:v>
                </c:pt>
                <c:pt idx="8">
                  <c:v>189.352</c:v>
                </c:pt>
                <c:pt idx="9">
                  <c:v>202.254</c:v>
                </c:pt>
                <c:pt idx="10">
                  <c:v>216.373</c:v>
                </c:pt>
                <c:pt idx="11">
                  <c:v>231.839</c:v>
                </c:pt>
                <c:pt idx="12">
                  <c:v>248.728</c:v>
                </c:pt>
                <c:pt idx="13">
                  <c:v>266.791</c:v>
                </c:pt>
                <c:pt idx="14">
                  <c:v>286.074</c:v>
                </c:pt>
                <c:pt idx="15">
                  <c:v>306.549</c:v>
                </c:pt>
              </c:numCache>
            </c:numRef>
          </c:val>
        </c:ser>
        <c:ser>
          <c:idx val="2"/>
          <c:order val="2"/>
          <c:tx>
            <c:strRef>
              <c:f>Sheet1!$D$1</c:f>
              <c:strCache>
                <c:ptCount val="1"/>
                <c:pt idx="0">
                  <c:v>Mexico</c:v>
                </c:pt>
              </c:strCache>
            </c:strRef>
          </c:tx>
          <c:spPr>
            <a:solidFill>
              <a:srgbClr val="D6CAC4"/>
            </a:solidFill>
            <a:ln>
              <a:noFill/>
            </a:ln>
          </c:spPr>
          <c:dLbls>
            <c:numFmt formatCode="#,##0"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Sheet1!$D$2:$D$17</c:f>
              <c:numCache>
                <c:formatCode>General</c:formatCode>
                <c:ptCount val="16"/>
                <c:pt idx="0">
                  <c:v>72.501</c:v>
                </c:pt>
                <c:pt idx="1">
                  <c:v>77.152</c:v>
                </c:pt>
                <c:pt idx="2">
                  <c:v>82.025</c:v>
                </c:pt>
                <c:pt idx="3">
                  <c:v>87.208</c:v>
                </c:pt>
                <c:pt idx="4">
                  <c:v>92.767</c:v>
                </c:pt>
                <c:pt idx="5">
                  <c:v>99.186</c:v>
                </c:pt>
                <c:pt idx="6">
                  <c:v>106.496</c:v>
                </c:pt>
                <c:pt idx="7">
                  <c:v>114.827</c:v>
                </c:pt>
                <c:pt idx="8">
                  <c:v>124.316</c:v>
                </c:pt>
                <c:pt idx="9">
                  <c:v>135.106</c:v>
                </c:pt>
                <c:pt idx="10">
                  <c:v>147.22</c:v>
                </c:pt>
                <c:pt idx="11">
                  <c:v>160.714</c:v>
                </c:pt>
                <c:pt idx="12">
                  <c:v>175.539</c:v>
                </c:pt>
                <c:pt idx="13">
                  <c:v>191.682</c:v>
                </c:pt>
                <c:pt idx="14">
                  <c:v>209.04</c:v>
                </c:pt>
                <c:pt idx="15">
                  <c:v>227.663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8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Weft Knitted Fabrics</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66.06739335914543</c:v>
                </c:pt>
                <c:pt idx="1">
                  <c:v>65.13537522933336</c:v>
                </c:pt>
                <c:pt idx="2">
                  <c:v>62.49702014775549</c:v>
                </c:pt>
              </c:numCache>
            </c:numRef>
          </c:val>
        </c:ser>
        <c:ser>
          <c:idx val="1"/>
          <c:order val="1"/>
          <c:tx>
            <c:strRef>
              <c:f>Sheet1!$C$1</c:f>
              <c:strCache>
                <c:ptCount val="1"/>
                <c:pt idx="0">
                  <c:v>Warp Knitted Fabrics</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33.932606640854566</c:v>
                </c:pt>
                <c:pt idx="1">
                  <c:v>34.864624770666644</c:v>
                </c:pt>
                <c:pt idx="2">
                  <c:v>37.50297985224452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9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Polyester</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42.324609526786396</c:v>
                </c:pt>
                <c:pt idx="1">
                  <c:v>41.06918475484989</c:v>
                </c:pt>
                <c:pt idx="2">
                  <c:v>38.492596411600196</c:v>
                </c:pt>
              </c:numCache>
            </c:numRef>
          </c:val>
        </c:ser>
        <c:ser>
          <c:idx val="1"/>
          <c:order val="1"/>
          <c:tx>
            <c:strRef>
              <c:f>Sheet1!$C$1</c:f>
              <c:strCache>
                <c:ptCount val="1"/>
                <c:pt idx="0">
                  <c:v>Polyamide or Nylon</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19.20140186065531</c:v>
                </c:pt>
                <c:pt idx="1">
                  <c:v>20.040124588335196</c:v>
                </c:pt>
                <c:pt idx="2">
                  <c:v>19.464444020978153</c:v>
                </c:pt>
              </c:numCache>
            </c:numRef>
          </c:val>
        </c:ser>
        <c:ser>
          <c:idx val="2"/>
          <c:order val="2"/>
          <c:tx>
            <c:strRef>
              <c:f>Sheet1!$D$1</c:f>
              <c:strCache>
                <c:ptCount val="1"/>
                <c:pt idx="0">
                  <c:v>High-Performance &amp; Specialty Fibers</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16.54679416433755</c:v>
                </c:pt>
                <c:pt idx="1">
                  <c:v>17.029135370741166</c:v>
                </c:pt>
                <c:pt idx="2">
                  <c:v>19.30322136499589</c:v>
                </c:pt>
              </c:numCache>
            </c:numRef>
          </c:val>
        </c:ser>
        <c:ser>
          <c:idx val="3"/>
          <c:order val="3"/>
          <c:tx>
            <c:strRef>
              <c:f>Sheet1!$E$1</c:f>
              <c:strCache>
                <c:ptCount val="1"/>
                <c:pt idx="0">
                  <c:v>Elastane or Spandex Blends</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12.370435469558021</c:v>
                </c:pt>
                <c:pt idx="1">
                  <c:v>12.382062538581334</c:v>
                </c:pt>
                <c:pt idx="2">
                  <c:v>13.803762539853745</c:v>
                </c:pt>
              </c:numCache>
            </c:numRef>
          </c:val>
        </c:ser>
        <c:ser>
          <c:idx val="4"/>
          <c:order val="4"/>
          <c:tx>
            <c:strRef>
              <c:f>Sheet1!$F$1</c:f>
              <c:strCache>
                <c:ptCount val="1"/>
                <c:pt idx="0">
                  <c:v>Cellulosic Fibers</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5.413798308047531</c:v>
                </c:pt>
                <c:pt idx="1">
                  <c:v>5.341380185566428</c:v>
                </c:pt>
                <c:pt idx="2">
                  <c:v>4.808133364766919</c:v>
                </c:pt>
              </c:numCache>
            </c:numRef>
          </c:val>
        </c:ser>
        <c:ser>
          <c:idx val="5"/>
          <c:order val="5"/>
          <c:tx>
            <c:strRef>
              <c:f>Sheet1!$G$1</c:f>
              <c:strCache>
                <c:ptCount val="1"/>
                <c:pt idx="0">
                  <c:v>Polypropylene</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4.1429606706151985</c:v>
                </c:pt>
                <c:pt idx="1">
                  <c:v>4.138112561925979</c:v>
                </c:pt>
                <c:pt idx="2">
                  <c:v>4.127842297805097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0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Moisture Management &amp; Quick-Dry</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20.529486570155044</c:v>
                </c:pt>
                <c:pt idx="1">
                  <c:v>21.52993478388594</c:v>
                </c:pt>
                <c:pt idx="2">
                  <c:v>21.073687500823812</c:v>
                </c:pt>
              </c:numCache>
            </c:numRef>
          </c:val>
        </c:ser>
        <c:ser>
          <c:idx val="1"/>
          <c:order val="1"/>
          <c:tx>
            <c:strRef>
              <c:f>Sheet1!$C$1</c:f>
              <c:strCache>
                <c:ptCount val="1"/>
                <c:pt idx="0">
                  <c:v>Stretch &amp; Recovery</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17.81011959048928</c:v>
                </c:pt>
                <c:pt idx="1">
                  <c:v>18.301639215839877</c:v>
                </c:pt>
                <c:pt idx="2">
                  <c:v>17.603955809718926</c:v>
                </c:pt>
              </c:numCache>
            </c:numRef>
          </c:val>
        </c:ser>
        <c:ser>
          <c:idx val="2"/>
          <c:order val="2"/>
          <c:tx>
            <c:strRef>
              <c:f>Sheet1!$D$1</c:f>
              <c:strCache>
                <c:ptCount val="1"/>
                <c:pt idx="0">
                  <c:v>Thermal Management</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15.717821252253295</c:v>
                </c:pt>
                <c:pt idx="1">
                  <c:v>15.395311490178413</c:v>
                </c:pt>
                <c:pt idx="2">
                  <c:v>16.615455300367</c:v>
                </c:pt>
              </c:numCache>
            </c:numRef>
          </c:val>
        </c:ser>
        <c:ser>
          <c:idx val="3"/>
          <c:order val="3"/>
          <c:tx>
            <c:strRef>
              <c:f>Sheet1!$E$1</c:f>
              <c:strCache>
                <c:ptCount val="1"/>
                <c:pt idx="0">
                  <c:v>Compression &amp; Support</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12.88124017863642</c:v>
                </c:pt>
                <c:pt idx="1">
                  <c:v>12.032901823309375</c:v>
                </c:pt>
                <c:pt idx="2">
                  <c:v>12.130409157413283</c:v>
                </c:pt>
              </c:numCache>
            </c:numRef>
          </c:val>
        </c:ser>
        <c:ser>
          <c:idx val="4"/>
          <c:order val="4"/>
          <c:tx>
            <c:strRef>
              <c:f>Sheet1!$F$1</c:f>
              <c:strCache>
                <c:ptCount val="1"/>
                <c:pt idx="0">
                  <c:v>Abrasion &amp; Tear Resistance</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11.003459689056164</c:v>
                </c:pt>
                <c:pt idx="1">
                  <c:v>10.135955034174811</c:v>
                </c:pt>
                <c:pt idx="2">
                  <c:v>9.414894919096838</c:v>
                </c:pt>
              </c:numCache>
            </c:numRef>
          </c:val>
        </c:ser>
        <c:ser>
          <c:idx val="5"/>
          <c:order val="5"/>
          <c:tx>
            <c:strRef>
              <c:f>Sheet1!$G$1</c:f>
              <c:strCache>
                <c:ptCount val="1"/>
                <c:pt idx="0">
                  <c:v>Antimicrobial &amp; Odor Control</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7.544091767395857</c:v>
                </c:pt>
                <c:pt idx="1">
                  <c:v>8.451538356083898</c:v>
                </c:pt>
                <c:pt idx="2">
                  <c:v>9.197445896657108</c:v>
                </c:pt>
              </c:numCache>
            </c:numRef>
          </c:val>
        </c:ser>
        <c:ser>
          <c:idx val="6"/>
          <c:order val="6"/>
          <c:tx>
            <c:strRef>
              <c:f>Sheet1!$H$1</c:f>
              <c:strCache>
                <c:ptCount val="1"/>
                <c:pt idx="0">
                  <c:v>Water or Liquid Management</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6.503830064184084</c:v>
                </c:pt>
                <c:pt idx="1">
                  <c:v>6.3862439043496995</c:v>
                </c:pt>
                <c:pt idx="2">
                  <c:v>6.232848209359647</c:v>
                </c:pt>
              </c:numCache>
            </c:numRef>
          </c:val>
        </c:ser>
        <c:ser>
          <c:idx val="7"/>
          <c:order val="7"/>
          <c:tx>
            <c:strRef>
              <c:f>Sheet1!$I$1</c:f>
              <c:strCache>
                <c:ptCount val="1"/>
                <c:pt idx="0">
                  <c:v>UV Protection</c:v>
                </c:pt>
              </c:strCache>
            </c:strRef>
          </c:tx>
          <c:spPr>
            <a:solidFill>
              <a:srgbClr val="7D72E5"/>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Sheet1!$I$2:$I$4</c:f>
              <c:numCache>
                <c:formatCode>General</c:formatCode>
                <c:ptCount val="3"/>
                <c:pt idx="0">
                  <c:v>4.697876658659713</c:v>
                </c:pt>
                <c:pt idx="1">
                  <c:v>4.330428311235581</c:v>
                </c:pt>
                <c:pt idx="2">
                  <c:v>3.9637183255596753</c:v>
                </c:pt>
              </c:numCache>
            </c:numRef>
          </c:val>
        </c:ser>
        <c:ser>
          <c:idx val="8"/>
          <c:order val="8"/>
          <c:tx>
            <c:strRef>
              <c:f>Sheet1!$J$1</c:f>
              <c:strCache>
                <c:ptCount val="1"/>
                <c:pt idx="0">
                  <c:v>Flame &amp; Heat Resistance</c:v>
                </c:pt>
              </c:strCache>
            </c:strRef>
          </c:tx>
          <c:spPr>
            <a:solidFill>
              <a:srgbClr val="CF72E5"/>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Sheet1!$J$2:$J$4</c:f>
              <c:numCache>
                <c:formatCode>General</c:formatCode>
                <c:ptCount val="3"/>
                <c:pt idx="0">
                  <c:v>2.0022736322881474</c:v>
                </c:pt>
                <c:pt idx="1">
                  <c:v>2.130941423003858</c:v>
                </c:pt>
                <c:pt idx="2">
                  <c:v>2.2520322294550406</c:v>
                </c:pt>
              </c:numCache>
            </c:numRef>
          </c:val>
        </c:ser>
        <c:ser>
          <c:idx val="9"/>
          <c:order val="9"/>
          <c:tx>
            <c:strRef>
              <c:f>Sheet1!$K$1</c:f>
              <c:strCache>
                <c:ptCount val="1"/>
                <c:pt idx="0">
                  <c:v>Other Specialized Performance</c:v>
                </c:pt>
              </c:strCache>
            </c:strRef>
          </c:tx>
          <c:spPr>
            <a:solidFill>
              <a:srgbClr val="E572A9"/>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Sheet1!$K$2:$K$4</c:f>
              <c:numCache>
                <c:formatCode>General</c:formatCode>
                <c:ptCount val="3"/>
                <c:pt idx="0">
                  <c:v>1.3098005968819981</c:v>
                </c:pt>
                <c:pt idx="1">
                  <c:v>1.305105657938544</c:v>
                </c:pt>
                <c:pt idx="2">
                  <c:v>1.5155526515486748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Sports &amp; Activewear</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22.10058360843856</c:v>
                </c:pt>
                <c:pt idx="1">
                  <c:v>22.11914708939831</c:v>
                </c:pt>
                <c:pt idx="2">
                  <c:v>22.228842021380363</c:v>
                </c:pt>
              </c:numCache>
            </c:numRef>
          </c:val>
        </c:ser>
        <c:ser>
          <c:idx val="1"/>
          <c:order val="1"/>
          <c:tx>
            <c:strRef>
              <c:f>Sheet1!$C$1</c:f>
              <c:strCache>
                <c:ptCount val="1"/>
                <c:pt idx="0">
                  <c:v>Protective &amp; Occupational Wear</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14.416691286978638</c:v>
                </c:pt>
                <c:pt idx="1">
                  <c:v>15.055584584061549</c:v>
                </c:pt>
                <c:pt idx="2">
                  <c:v>15.38160547787962</c:v>
                </c:pt>
              </c:numCache>
            </c:numRef>
          </c:val>
        </c:ser>
        <c:ser>
          <c:idx val="2"/>
          <c:order val="2"/>
          <c:tx>
            <c:strRef>
              <c:f>Sheet1!$D$1</c:f>
              <c:strCache>
                <c:ptCount val="1"/>
                <c:pt idx="0">
                  <c:v>Medical &amp; Healthcare</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12.661798267586397</c:v>
                </c:pt>
                <c:pt idx="1">
                  <c:v>13.972877887824975</c:v>
                </c:pt>
                <c:pt idx="2">
                  <c:v>14.660264961018088</c:v>
                </c:pt>
              </c:numCache>
            </c:numRef>
          </c:val>
        </c:ser>
        <c:ser>
          <c:idx val="3"/>
          <c:order val="3"/>
          <c:tx>
            <c:strRef>
              <c:f>Sheet1!$E$1</c:f>
              <c:strCache>
                <c:ptCount val="1"/>
                <c:pt idx="0">
                  <c:v>Industrial &amp; Technical Applications</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14.17733903668212</c:v>
                </c:pt>
                <c:pt idx="1">
                  <c:v>13.369833524346998</c:v>
                </c:pt>
                <c:pt idx="2">
                  <c:v>14.424249454117637</c:v>
                </c:pt>
              </c:numCache>
            </c:numRef>
          </c:val>
        </c:ser>
        <c:ser>
          <c:idx val="4"/>
          <c:order val="4"/>
          <c:tx>
            <c:strRef>
              <c:f>Sheet1!$F$1</c:f>
              <c:strCache>
                <c:ptCount val="1"/>
                <c:pt idx="0">
                  <c:v>Intimate &amp; Bodywear</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16.63027142288276</c:v>
                </c:pt>
                <c:pt idx="1">
                  <c:v>15.534228525455477</c:v>
                </c:pt>
                <c:pt idx="2">
                  <c:v>13.88239671544145</c:v>
                </c:pt>
              </c:numCache>
            </c:numRef>
          </c:val>
        </c:ser>
        <c:ser>
          <c:idx val="5"/>
          <c:order val="5"/>
          <c:tx>
            <c:strRef>
              <c:f>Sheet1!$G$1</c:f>
              <c:strCache>
                <c:ptCount val="1"/>
                <c:pt idx="0">
                  <c:v>Automotive &amp; Transportation</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10.36311748812873</c:v>
                </c:pt>
                <c:pt idx="1">
                  <c:v>10.192765817772182</c:v>
                </c:pt>
                <c:pt idx="2">
                  <c:v>9.86452175131264</c:v>
                </c:pt>
              </c:numCache>
            </c:numRef>
          </c:val>
        </c:ser>
        <c:ser>
          <c:idx val="6"/>
          <c:order val="6"/>
          <c:tx>
            <c:strRef>
              <c:f>Sheet1!$H$1</c:f>
              <c:strCache>
                <c:ptCount val="1"/>
                <c:pt idx="0">
                  <c:v>Footwear</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9.650198889302796</c:v>
                </c:pt>
                <c:pt idx="1">
                  <c:v>9.755562571140514</c:v>
                </c:pt>
                <c:pt idx="2">
                  <c:v>9.55811961885021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Medium Weight 150–250 GSM</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48.72825248049909</c:v>
                </c:pt>
                <c:pt idx="1">
                  <c:v>49.314466473015784</c:v>
                </c:pt>
                <c:pt idx="2">
                  <c:v>48.02115289451346</c:v>
                </c:pt>
              </c:numCache>
            </c:numRef>
          </c:val>
        </c:ser>
        <c:ser>
          <c:idx val="1"/>
          <c:order val="1"/>
          <c:tx>
            <c:strRef>
              <c:f>Sheet1!$C$1</c:f>
              <c:strCache>
                <c:ptCount val="1"/>
                <c:pt idx="0">
                  <c:v>Lightweight Below 150 GSM</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32.08576013153683</c:v>
                </c:pt>
                <c:pt idx="1">
                  <c:v>32.045695968113414</c:v>
                </c:pt>
                <c:pt idx="2">
                  <c:v>31.50556577816576</c:v>
                </c:pt>
              </c:numCache>
            </c:numRef>
          </c:val>
        </c:ser>
        <c:ser>
          <c:idx val="2"/>
          <c:order val="2"/>
          <c:tx>
            <c:strRef>
              <c:f>Sheet1!$D$1</c:f>
              <c:strCache>
                <c:ptCount val="1"/>
                <c:pt idx="0">
                  <c:v>Heavyweight Above 250 GSM</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19.18598738796408</c:v>
                </c:pt>
                <c:pt idx="1">
                  <c:v>18.639837558870813</c:v>
                </c:pt>
                <c:pt idx="2">
                  <c:v>20.473281327320784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Sports &amp; Activewear</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22.100690653273215</c:v>
                </c:pt>
                <c:pt idx="1">
                  <c:v>22.119225427195595</c:v>
                </c:pt>
                <c:pt idx="2">
                  <c:v>22.228850392775595</c:v>
                </c:pt>
              </c:numCache>
            </c:numRef>
          </c:val>
        </c:ser>
        <c:ser>
          <c:idx val="1"/>
          <c:order val="1"/>
          <c:tx>
            <c:strRef>
              <c:f>Sheet1!$C$1</c:f>
              <c:strCache>
                <c:ptCount val="1"/>
                <c:pt idx="0">
                  <c:v>Protective &amp; Occupational Wear</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14.416691286978638</c:v>
                </c:pt>
                <c:pt idx="1">
                  <c:v>15.055584584061549</c:v>
                </c:pt>
                <c:pt idx="2">
                  <c:v>15.381611270601464</c:v>
                </c:pt>
              </c:numCache>
            </c:numRef>
          </c:val>
        </c:ser>
        <c:ser>
          <c:idx val="2"/>
          <c:order val="2"/>
          <c:tx>
            <c:strRef>
              <c:f>Sheet1!$D$1</c:f>
              <c:strCache>
                <c:ptCount val="1"/>
                <c:pt idx="0">
                  <c:v>Medical &amp; Healthcare</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12.661798267586397</c:v>
                </c:pt>
                <c:pt idx="1">
                  <c:v>13.972877887824975</c:v>
                </c:pt>
                <c:pt idx="2">
                  <c:v>14.66027048208266</c:v>
                </c:pt>
              </c:numCache>
            </c:numRef>
          </c:val>
        </c:ser>
        <c:ser>
          <c:idx val="3"/>
          <c:order val="3"/>
          <c:tx>
            <c:strRef>
              <c:f>Sheet1!$E$1</c:f>
              <c:strCache>
                <c:ptCount val="1"/>
                <c:pt idx="0">
                  <c:v>Industrial &amp; Technical Applications</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14.17733903668212</c:v>
                </c:pt>
                <c:pt idx="1">
                  <c:v>13.369833524346998</c:v>
                </c:pt>
                <c:pt idx="2">
                  <c:v>14.424217226238667</c:v>
                </c:pt>
              </c:numCache>
            </c:numRef>
          </c:val>
        </c:ser>
        <c:ser>
          <c:idx val="4"/>
          <c:order val="4"/>
          <c:tx>
            <c:strRef>
              <c:f>Sheet1!$F$1</c:f>
              <c:strCache>
                <c:ptCount val="1"/>
                <c:pt idx="0">
                  <c:v>Intimate &amp; Bodywear</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16.63027142288276</c:v>
                </c:pt>
                <c:pt idx="1">
                  <c:v>15.534150187658193</c:v>
                </c:pt>
                <c:pt idx="2">
                  <c:v>13.882401943560374</c:v>
                </c:pt>
              </c:numCache>
            </c:numRef>
          </c:val>
        </c:ser>
        <c:ser>
          <c:idx val="5"/>
          <c:order val="5"/>
          <c:tx>
            <c:strRef>
              <c:f>Sheet1!$G$1</c:f>
              <c:strCache>
                <c:ptCount val="1"/>
                <c:pt idx="0">
                  <c:v>Automotive &amp; Transportation</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10.36311748812873</c:v>
                </c:pt>
                <c:pt idx="1">
                  <c:v>10.192765817772182</c:v>
                </c:pt>
                <c:pt idx="2">
                  <c:v>9.864525466297447</c:v>
                </c:pt>
              </c:numCache>
            </c:numRef>
          </c:val>
        </c:ser>
        <c:ser>
          <c:idx val="6"/>
          <c:order val="6"/>
          <c:tx>
            <c:strRef>
              <c:f>Sheet1!$H$1</c:f>
              <c:strCache>
                <c:ptCount val="1"/>
                <c:pt idx="0">
                  <c:v>Footwear</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9.650091844468136</c:v>
                </c:pt>
                <c:pt idx="1">
                  <c:v>9.755562571140512</c:v>
                </c:pt>
                <c:pt idx="2">
                  <c:v>9.558123218443788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03E58"/>
            </a:solidFill>
            <a:ln>
              <a:noFill/>
            </a:ln>
          </c:spPr>
          <c:cat>
            <c:strRef>
              <c:f>Sheet1!$A$2:$A$4</c:f>
              <c:strCache>
                <c:ptCount val="3"/>
                <c:pt idx="0">
                  <c:v>2021–2026</c:v>
                </c:pt>
                <c:pt idx="1">
                  <c:v>2026–2036</c:v>
                </c:pt>
                <c:pt idx="2">
                  <c:v>2021–2036</c:v>
                </c:pt>
              </c:strCache>
            </c:strRef>
          </c:cat>
          <c:val>
            <c:numRef>
              <c:f>Sheet1!$B$2:$B$4</c:f>
              <c:numCache>
                <c:formatCode>General</c:formatCode>
                <c:ptCount val="3"/>
                <c:pt idx="0">
                  <c:v>4.435591403555139</c:v>
                </c:pt>
                <c:pt idx="1">
                  <c:v>4.988778577842701</c:v>
                </c:pt>
                <c:pt idx="2">
                  <c:v>4.804058040602532</c:v>
                </c:pt>
              </c:numCache>
            </c:numRef>
          </c:val>
        </c:ser>
        <c:dLbls>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6.585187722752365"/>
          <c:min val="0.0"/>
        </c:scaling>
        <c:delete val="0"/>
        <c:axPos val="l"/>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2021</c:v>
                </c:pt>
                <c:pt idx="1">
                  <c:v>2021–2026</c:v>
                </c:pt>
                <c:pt idx="2">
                  <c:v>2026</c:v>
                </c:pt>
                <c:pt idx="3">
                  <c:v>2026–2036</c:v>
                </c:pt>
                <c:pt idx="4">
                  <c:v>2036</c:v>
                </c:pt>
              </c:strCache>
            </c:strRef>
          </c:cat>
          <c:val>
            <c:numRef>
              <c:f>Sheet1!$B$2:$B$6</c:f>
              <c:numCache>
                <c:formatCode>General</c:formatCode>
                <c:ptCount val="5"/>
                <c:pt idx="0">
                  <c:v>0.0</c:v>
                </c:pt>
                <c:pt idx="1">
                  <c:v>106.843</c:v>
                </c:pt>
                <c:pt idx="2">
                  <c:v>0.0</c:v>
                </c:pt>
                <c:pt idx="3">
                  <c:v>132.736</c:v>
                </c:pt>
                <c:pt idx="4">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00A4DC"/>
              </a:solidFill>
            </c:spPr>
          </c:dPt>
          <c:dPt>
            <c:idx val="3"/>
            <c:spPr>
              <a:solidFill>
                <a:srgbClr val="2F6FB0"/>
              </a:solidFill>
            </c:spPr>
          </c:dPt>
          <c:dPt>
            <c:idx val="4"/>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Sheet1!$A$2:$A$6</c:f>
              <c:strCache>
                <c:ptCount val="5"/>
                <c:pt idx="0">
                  <c:v>2021</c:v>
                </c:pt>
                <c:pt idx="1">
                  <c:v>2021–2026</c:v>
                </c:pt>
                <c:pt idx="2">
                  <c:v>2026</c:v>
                </c:pt>
                <c:pt idx="3">
                  <c:v>2026–2036</c:v>
                </c:pt>
                <c:pt idx="4">
                  <c:v>2036</c:v>
                </c:pt>
              </c:strCache>
            </c:strRef>
          </c:cat>
          <c:val>
            <c:numRef>
              <c:f>Sheet1!$C$2:$C$6</c:f>
              <c:numCache>
                <c:formatCode>General</c:formatCode>
                <c:ptCount val="5"/>
                <c:pt idx="0">
                  <c:v>106.843</c:v>
                </c:pt>
                <c:pt idx="1">
                  <c:v>25.892999999999986</c:v>
                </c:pt>
                <c:pt idx="2">
                  <c:v>132.736</c:v>
                </c:pt>
                <c:pt idx="3">
                  <c:v>83.24600000000004</c:v>
                </c:pt>
                <c:pt idx="4">
                  <c:v>215.98200000000003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03E58"/>
            </a:solidFill>
            <a:ln>
              <a:noFill/>
            </a:ln>
          </c:spPr>
          <c:cat>
            <c:strRef>
              <c:f>Sheet1!$A$2:$A$4</c:f>
              <c:strCache>
                <c:ptCount val="3"/>
                <c:pt idx="0">
                  <c:v>2021–2026</c:v>
                </c:pt>
                <c:pt idx="1">
                  <c:v>2026–2036</c:v>
                </c:pt>
                <c:pt idx="2">
                  <c:v>2021–2036</c:v>
                </c:pt>
              </c:strCache>
            </c:strRef>
          </c:cat>
          <c:val>
            <c:numRef>
              <c:f>Sheet1!$B$2:$B$4</c:f>
              <c:numCache>
                <c:formatCode>General</c:formatCode>
                <c:ptCount val="3"/>
                <c:pt idx="0">
                  <c:v>5.4201085801074855</c:v>
                </c:pt>
                <c:pt idx="1">
                  <c:v>6.906488328333693</c:v>
                </c:pt>
                <c:pt idx="2">
                  <c:v>6.408714292430484</c:v>
                </c:pt>
              </c:numCache>
            </c:numRef>
          </c:val>
        </c:ser>
        <c:dLbls>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9.116564593400476"/>
          <c:min val="0.0"/>
        </c:scaling>
        <c:delete val="0"/>
        <c:axPos val="l"/>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2021</c:v>
                </c:pt>
                <c:pt idx="1">
                  <c:v>2021–2026</c:v>
                </c:pt>
                <c:pt idx="2">
                  <c:v>2026</c:v>
                </c:pt>
                <c:pt idx="3">
                  <c:v>2026–2036</c:v>
                </c:pt>
                <c:pt idx="4">
                  <c:v>2036</c:v>
                </c:pt>
              </c:strCache>
            </c:strRef>
          </c:cat>
          <c:val>
            <c:numRef>
              <c:f>Sheet1!$B$2:$B$6</c:f>
              <c:numCache>
                <c:formatCode>General</c:formatCode>
                <c:ptCount val="5"/>
                <c:pt idx="0">
                  <c:v>0.0</c:v>
                </c:pt>
                <c:pt idx="1">
                  <c:v>279.456</c:v>
                </c:pt>
                <c:pt idx="2">
                  <c:v>0.0</c:v>
                </c:pt>
                <c:pt idx="3">
                  <c:v>363.85699999999997</c:v>
                </c:pt>
                <c:pt idx="4">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00A4DC"/>
              </a:solidFill>
            </c:spPr>
          </c:dPt>
          <c:dPt>
            <c:idx val="3"/>
            <c:spPr>
              <a:solidFill>
                <a:srgbClr val="2F6FB0"/>
              </a:solidFill>
            </c:spPr>
          </c:dPt>
          <c:dPt>
            <c:idx val="4"/>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Sheet1!$A$2:$A$6</c:f>
              <c:strCache>
                <c:ptCount val="5"/>
                <c:pt idx="0">
                  <c:v>2021</c:v>
                </c:pt>
                <c:pt idx="1">
                  <c:v>2021–2026</c:v>
                </c:pt>
                <c:pt idx="2">
                  <c:v>2026</c:v>
                </c:pt>
                <c:pt idx="3">
                  <c:v>2026–2036</c:v>
                </c:pt>
                <c:pt idx="4">
                  <c:v>2036</c:v>
                </c:pt>
              </c:strCache>
            </c:strRef>
          </c:cat>
          <c:val>
            <c:numRef>
              <c:f>Sheet1!$C$2:$C$6</c:f>
              <c:numCache>
                <c:formatCode>General</c:formatCode>
                <c:ptCount val="5"/>
                <c:pt idx="0">
                  <c:v>279.456</c:v>
                </c:pt>
                <c:pt idx="1">
                  <c:v>84.40099999999995</c:v>
                </c:pt>
                <c:pt idx="2">
                  <c:v>363.85699999999997</c:v>
                </c:pt>
                <c:pt idx="3">
                  <c:v>345.674</c:v>
                </c:pt>
                <c:pt idx="4">
                  <c:v>709.531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A9D8EF"/>
            </a:solidFill>
            <a:ln>
              <a:noFill/>
            </a:ln>
          </c:spPr>
          <c:dLbls>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Sheet1!$B$2:$B$6</c:f>
              <c:numCache>
                <c:formatCode>General</c:formatCode>
                <c:ptCount val="5"/>
                <c:pt idx="0">
                  <c:v>279.456</c:v>
                </c:pt>
                <c:pt idx="1">
                  <c:v>293.075</c:v>
                </c:pt>
                <c:pt idx="2">
                  <c:v>307.986</c:v>
                </c:pt>
                <c:pt idx="3">
                  <c:v>324.478</c:v>
                </c:pt>
                <c:pt idx="4">
                  <c:v>342.51099999999997</c:v>
                </c:pt>
              </c:numCache>
            </c:numRef>
          </c:val>
        </c:ser>
        <c:gapWidth val="50"/>
        <c:axId val="-2068027336"/>
        <c:axId val="-2113994440"/>
      </c:barChart>
      <c:barChart>
        <c:barDir val="col"/>
        <c:grouping val="clustered"/>
        <c:varyColors val="0"/>
        <c:ser>
          <c:idx val="1"/>
          <c:order val="1"/>
          <c:tx>
            <c:strRef>
              <c:f>Sheet1!$C$1</c:f>
              <c:strCache>
                <c:ptCount val="1"/>
                <c:pt idx="0">
                  <c:v>Volume (Mn Sq. Yards)</c:v>
                </c:pt>
              </c:strCache>
            </c:strRef>
          </c:tx>
          <c:spPr>
            <a:solidFill>
              <a:srgbClr val="F1975A"/>
            </a:solidFill>
            <a:ln>
              <a:noFill/>
            </a:ln>
          </c:spPr>
          <c:dLbls>
            <c:numFmt formatCode="#,##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Sheet1!$C$2:$C$6</c:f>
              <c:numCache>
                <c:formatCode>General</c:formatCode>
                <c:ptCount val="5"/>
                <c:pt idx="0">
                  <c:v>106.843</c:v>
                </c:pt>
                <c:pt idx="1">
                  <c:v>111.20299999999999</c:v>
                </c:pt>
                <c:pt idx="2">
                  <c:v>115.94999999999999</c:v>
                </c:pt>
                <c:pt idx="3">
                  <c:v>121.109</c:v>
                </c:pt>
                <c:pt idx="4">
                  <c:v>126.708</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max val="404"/>
          <c:min val="0"/>
        </c:scaling>
        <c:delete val="0"/>
        <c:axPos val="l"/>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76"/>
          <c:min val="0"/>
        </c:scaling>
        <c:delete val="0"/>
        <c:axPos val="r"/>
        <c:numFmt formatCode="General"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A9D8EF"/>
            </a:solidFill>
            <a:ln>
              <a:noFill/>
            </a:ln>
          </c:spPr>
          <c:dLbls>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Sheet1!$B$2:$B$12</c:f>
              <c:numCache>
                <c:formatCode>General</c:formatCode>
                <c:ptCount val="11"/>
                <c:pt idx="0">
                  <c:v>363.85699999999997</c:v>
                </c:pt>
                <c:pt idx="1">
                  <c:v>387.115</c:v>
                </c:pt>
                <c:pt idx="2">
                  <c:v>412.694</c:v>
                </c:pt>
                <c:pt idx="3">
                  <c:v>440.575</c:v>
                </c:pt>
                <c:pt idx="4">
                  <c:v>471.097</c:v>
                </c:pt>
                <c:pt idx="5">
                  <c:v>504.235</c:v>
                </c:pt>
                <c:pt idx="6">
                  <c:v>540.019</c:v>
                </c:pt>
                <c:pt idx="7">
                  <c:v>578.3789999999999</c:v>
                </c:pt>
                <c:pt idx="8">
                  <c:v>619.492</c:v>
                </c:pt>
                <c:pt idx="9">
                  <c:v>663.174</c:v>
                </c:pt>
                <c:pt idx="10">
                  <c:v>709.531</c:v>
                </c:pt>
              </c:numCache>
            </c:numRef>
          </c:val>
        </c:ser>
        <c:gapWidth val="50"/>
        <c:axId val="-2068027336"/>
        <c:axId val="-2113994440"/>
      </c:barChart>
      <c:barChart>
        <c:barDir val="col"/>
        <c:grouping val="clustered"/>
        <c:varyColors val="0"/>
        <c:ser>
          <c:idx val="1"/>
          <c:order val="1"/>
          <c:tx>
            <c:strRef>
              <c:f>Sheet1!$C$1</c:f>
              <c:strCache>
                <c:ptCount val="1"/>
                <c:pt idx="0">
                  <c:v>Volume (Mn Sq. Yards)</c:v>
                </c:pt>
              </c:strCache>
            </c:strRef>
          </c:tx>
          <c:spPr>
            <a:solidFill>
              <a:srgbClr val="F1975A"/>
            </a:solidFill>
            <a:ln>
              <a:noFill/>
            </a:ln>
          </c:spPr>
          <c:dLbls>
            <c:numFmt formatCode="#,##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Sheet1!$C$2:$C$12</c:f>
              <c:numCache>
                <c:formatCode>General</c:formatCode>
                <c:ptCount val="11"/>
                <c:pt idx="0">
                  <c:v>132.736</c:v>
                </c:pt>
                <c:pt idx="1">
                  <c:v>139.176</c:v>
                </c:pt>
                <c:pt idx="2">
                  <c:v>146.132</c:v>
                </c:pt>
                <c:pt idx="3">
                  <c:v>153.59199999999998</c:v>
                </c:pt>
                <c:pt idx="4">
                  <c:v>161.556</c:v>
                </c:pt>
                <c:pt idx="5">
                  <c:v>169.95</c:v>
                </c:pt>
                <c:pt idx="6">
                  <c:v>178.667</c:v>
                </c:pt>
                <c:pt idx="7">
                  <c:v>187.66</c:v>
                </c:pt>
                <c:pt idx="8">
                  <c:v>196.932</c:v>
                </c:pt>
                <c:pt idx="9">
                  <c:v>206.37599999999998</c:v>
                </c:pt>
                <c:pt idx="10">
                  <c:v>215.98200000000003</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max val="837"/>
          <c:min val="0"/>
        </c:scaling>
        <c:delete val="0"/>
        <c:axPos val="l"/>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347"/>
          <c:min val="0"/>
        </c:scaling>
        <c:delete val="0"/>
        <c:axPos val="r"/>
        <c:numFmt formatCode="General"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Index</c:v>
                </c:pt>
              </c:strCache>
            </c:strRef>
          </c:tx>
          <c:spPr>
            <a:solidFill>
              <a:srgbClr val="00A4DC"/>
            </a:solidFill>
            <a:ln>
              <a:noFill/>
            </a:ln>
          </c:spPr>
          <c:cat>
            <c:strRef>
              <c:f>Sheet1!$A$2:$A$3</c:f>
              <c:strCache>
                <c:ptCount val="2"/>
                <c:pt idx="0">
                  <c:v>Chile</c:v>
                </c:pt>
                <c:pt idx="1">
                  <c:v>Brazil</c:v>
                </c:pt>
              </c:strCache>
            </c:strRef>
          </c:cat>
          <c:val>
            <c:numRef>
              <c:f>Sheet1!$B$2:$B$3</c:f>
              <c:numCache>
                <c:formatCode>General</c:formatCode>
                <c:ptCount val="2"/>
                <c:pt idx="0">
                  <c:v>93.80278646664105</c:v>
                </c:pt>
                <c:pt idx="1">
                  <c:v>97.96158497079598</c:v>
                </c:pt>
              </c:numCache>
            </c:numRef>
          </c:val>
        </c:ser>
        <c:dLbls>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Index</c:v>
                </c:pt>
              </c:strCache>
            </c:strRef>
          </c:tx>
          <c:spPr>
            <a:solidFill>
              <a:srgbClr val="00A4DC"/>
            </a:solidFill>
            <a:ln>
              <a:noFill/>
            </a:ln>
          </c:spPr>
          <c:cat>
            <c:strRef>
              <c:f>Sheet1!$A$2:$A$3</c:f>
              <c:strCache>
                <c:ptCount val="2"/>
                <c:pt idx="0">
                  <c:v>Chile</c:v>
                </c:pt>
                <c:pt idx="1">
                  <c:v>Brazil</c:v>
                </c:pt>
              </c:strCache>
            </c:strRef>
          </c:cat>
          <c:val>
            <c:numRef>
              <c:f>Sheet1!$B$2:$B$3</c:f>
              <c:numCache>
                <c:formatCode>General</c:formatCode>
                <c:ptCount val="2"/>
                <c:pt idx="0">
                  <c:v>6.612878029588572</c:v>
                </c:pt>
                <c:pt idx="1">
                  <c:v>38.51924067184688</c:v>
                </c:pt>
              </c:numCache>
            </c:numRef>
          </c:val>
        </c:ser>
        <c:dLbls>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4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00A4DC"/>
              </a:solidFill>
            </c:spPr>
          </c:dPt>
          <c:dPt>
            <c:idx val="1"/>
            <c:spPr>
              <a:solidFill>
                <a:srgbClr val="6ECFF2"/>
              </a:solidFill>
            </c:spPr>
          </c:dPt>
          <c:dLbls>
            <c:dLbl>
              <c:idx val="0"/>
              <c:tx>
                <c:rich>
                  <a:bodyPr/>
                  <a:lstStyle/>
                  <a:p>
                    <a:pPr>
                      <a:defRPr sz="1100" b="1">
                        <a:solidFill>
                          <a:srgbClr val="FFFFFF"/>
                        </a:solidFill>
                        <a:latin typeface="Segoe UI"/>
                      </a:defRPr>
                    </a:pPr>
                    <a:r>
                      <a:t>29.7%</a:t>
                    </a:r>
                  </a:p>
                </c:rich>
              </c:tx>
              <c:showLegendKey val="0"/>
              <c:showVal val="1"/>
              <c:showCatName val="0"/>
              <c:showSerName val="0"/>
              <c:showPercent val="0"/>
              <c:showBubbleSize val="0"/>
            </c:dLbl>
            <c:dLbl>
              <c:idx val="1"/>
              <c:tx>
                <c:rich>
                  <a:bodyPr/>
                  <a:lstStyle/>
                  <a:p>
                    <a:pPr>
                      <a:defRPr sz="1100" b="1">
                        <a:solidFill>
                          <a:srgbClr val="252423"/>
                        </a:solidFill>
                        <a:latin typeface="Segoe UI"/>
                      </a:defRPr>
                    </a:pPr>
                    <a:r>
                      <a:t>70.3%</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Warp Knitted Fabrics</c:v>
                </c:pt>
                <c:pt idx="1">
                  <c:v>Weft Knitted Fabrics</c:v>
                </c:pt>
              </c:strCache>
            </c:strRef>
          </c:cat>
          <c:val>
            <c:numRef>
              <c:f>Sheet1!$B$2:$B$3</c:f>
              <c:numCache>
                <c:formatCode>General</c:formatCode>
                <c:ptCount val="2"/>
                <c:pt idx="0">
                  <c:v>210.623</c:v>
                </c:pt>
                <c:pt idx="1">
                  <c:v>498.908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externalData r:id="rId1">
    <c:autoUpdate val="0"/>
  </c:externalData>
</c:chartSpace>
</file>

<file path=ppt/charts/chart1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Rest of LATAM</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Sheet1!$B$2:$B$3</c:f>
              <c:numCache>
                <c:formatCode>General</c:formatCode>
                <c:ptCount val="2"/>
                <c:pt idx="0">
                  <c:v>54.301427656609036</c:v>
                </c:pt>
                <c:pt idx="1">
                  <c:v>54.48416997712773</c:v>
                </c:pt>
              </c:numCache>
            </c:numRef>
          </c:val>
        </c:ser>
        <c:ser>
          <c:idx val="1"/>
          <c:order val="1"/>
          <c:tx>
            <c:strRef>
              <c:f>Sheet1!$C$1</c:f>
              <c:strCache>
                <c:ptCount val="1"/>
                <c:pt idx="0">
                  <c:v>Brazil</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Sheet1!$C$2:$C$3</c:f>
              <c:numCache>
                <c:formatCode>General</c:formatCode>
                <c:ptCount val="2"/>
                <c:pt idx="0">
                  <c:v>39.095943044411804</c:v>
                </c:pt>
                <c:pt idx="1">
                  <c:v>38.823605670842944</c:v>
                </c:pt>
              </c:numCache>
            </c:numRef>
          </c:val>
        </c:ser>
        <c:ser>
          <c:idx val="2"/>
          <c:order val="2"/>
          <c:tx>
            <c:strRef>
              <c:f>Sheet1!$D$1</c:f>
              <c:strCache>
                <c:ptCount val="1"/>
                <c:pt idx="0">
                  <c:v>Chile</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Sheet1!$D$2:$D$3</c:f>
              <c:numCache>
                <c:formatCode>General</c:formatCode>
                <c:ptCount val="2"/>
                <c:pt idx="0">
                  <c:v>6.60262929897917</c:v>
                </c:pt>
                <c:pt idx="1">
                  <c:v>6.692224352029336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4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Rest of LATAM</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Sheet1!$B$2:$B$3</c:f>
              <c:numCache>
                <c:formatCode>General</c:formatCode>
                <c:ptCount val="2"/>
                <c:pt idx="0">
                  <c:v>53.22420621288034</c:v>
                </c:pt>
                <c:pt idx="1">
                  <c:v>54.02435414993024</c:v>
                </c:pt>
              </c:numCache>
            </c:numRef>
          </c:val>
        </c:ser>
        <c:ser>
          <c:idx val="1"/>
          <c:order val="1"/>
          <c:tx>
            <c:strRef>
              <c:f>Sheet1!$C$1</c:f>
              <c:strCache>
                <c:ptCount val="1"/>
                <c:pt idx="0">
                  <c:v>Brazil</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Sheet1!$C$2:$C$3</c:f>
              <c:numCache>
                <c:formatCode>General</c:formatCode>
                <c:ptCount val="2"/>
                <c:pt idx="0">
                  <c:v>39.58258326760238</c:v>
                </c:pt>
                <c:pt idx="1">
                  <c:v>39.065014868997785</c:v>
                </c:pt>
              </c:numCache>
            </c:numRef>
          </c:val>
        </c:ser>
        <c:ser>
          <c:idx val="2"/>
          <c:order val="2"/>
          <c:tx>
            <c:strRef>
              <c:f>Sheet1!$D$1</c:f>
              <c:strCache>
                <c:ptCount val="1"/>
                <c:pt idx="0">
                  <c:v>Chile</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Sheet1!$D$2:$D$3</c:f>
              <c:numCache>
                <c:formatCode>General</c:formatCode>
                <c:ptCount val="2"/>
                <c:pt idx="0">
                  <c:v>7.193210519517283</c:v>
                </c:pt>
                <c:pt idx="1">
                  <c:v>6.910630981071978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4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Rest of LATAM</c:v>
                </c:pt>
              </c:strCache>
            </c:strRef>
          </c:tx>
          <c:spPr>
            <a:solidFill>
              <a:srgbClr val="00A4DC"/>
            </a:solidFill>
            <a:ln>
              <a:noFill/>
            </a:ln>
          </c:spPr>
          <c:dLbls>
            <c:numFmt formatCode="#,##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57.928</c:v>
                </c:pt>
                <c:pt idx="1">
                  <c:v>60.269</c:v>
                </c:pt>
                <c:pt idx="2">
                  <c:v>62.878</c:v>
                </c:pt>
                <c:pt idx="3">
                  <c:v>65.727</c:v>
                </c:pt>
                <c:pt idx="4">
                  <c:v>68.802</c:v>
                </c:pt>
                <c:pt idx="5">
                  <c:v>72.077</c:v>
                </c:pt>
                <c:pt idx="6">
                  <c:v>75.564</c:v>
                </c:pt>
                <c:pt idx="7">
                  <c:v>79.355</c:v>
                </c:pt>
                <c:pt idx="8">
                  <c:v>83.461</c:v>
                </c:pt>
                <c:pt idx="9">
                  <c:v>87.866</c:v>
                </c:pt>
                <c:pt idx="10">
                  <c:v>92.49</c:v>
                </c:pt>
                <c:pt idx="11">
                  <c:v>97.251</c:v>
                </c:pt>
                <c:pt idx="12">
                  <c:v>102.168</c:v>
                </c:pt>
                <c:pt idx="13">
                  <c:v>107.244</c:v>
                </c:pt>
                <c:pt idx="14">
                  <c:v>112.411</c:v>
                </c:pt>
                <c:pt idx="15">
                  <c:v>117.676</c:v>
                </c:pt>
              </c:numCache>
            </c:numRef>
          </c:val>
        </c:ser>
        <c:ser>
          <c:idx val="1"/>
          <c:order val="1"/>
          <c:tx>
            <c:strRef>
              <c:f>Sheet1!$C$1</c:f>
              <c:strCache>
                <c:ptCount val="1"/>
                <c:pt idx="0">
                  <c:v>Brazil</c:v>
                </c:pt>
              </c:strCache>
            </c:strRef>
          </c:tx>
          <c:spPr>
            <a:solidFill>
              <a:srgbClr val="6ECFF2"/>
            </a:solidFill>
            <a:ln>
              <a:noFill/>
            </a:ln>
          </c:spPr>
          <c:dLbls>
            <c:numFmt formatCode="#,##0"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0">
                  <c:v>41.849</c:v>
                </c:pt>
                <c:pt idx="1">
                  <c:v>43.591</c:v>
                </c:pt>
                <c:pt idx="2">
                  <c:v>45.42</c:v>
                </c:pt>
                <c:pt idx="3">
                  <c:v>47.392</c:v>
                </c:pt>
                <c:pt idx="4">
                  <c:v>49.543</c:v>
                </c:pt>
                <c:pt idx="5">
                  <c:v>51.894</c:v>
                </c:pt>
                <c:pt idx="6">
                  <c:v>54.418</c:v>
                </c:pt>
                <c:pt idx="7">
                  <c:v>57.115</c:v>
                </c:pt>
                <c:pt idx="8">
                  <c:v>59.957</c:v>
                </c:pt>
                <c:pt idx="9">
                  <c:v>62.962</c:v>
                </c:pt>
                <c:pt idx="10">
                  <c:v>66.146</c:v>
                </c:pt>
                <c:pt idx="11">
                  <c:v>69.502</c:v>
                </c:pt>
                <c:pt idx="12">
                  <c:v>72.966</c:v>
                </c:pt>
                <c:pt idx="13">
                  <c:v>76.53</c:v>
                </c:pt>
                <c:pt idx="14">
                  <c:v>80.164</c:v>
                </c:pt>
                <c:pt idx="15">
                  <c:v>83.852</c:v>
                </c:pt>
              </c:numCache>
            </c:numRef>
          </c:val>
        </c:ser>
        <c:ser>
          <c:idx val="2"/>
          <c:order val="2"/>
          <c:tx>
            <c:strRef>
              <c:f>Sheet1!$D$1</c:f>
              <c:strCache>
                <c:ptCount val="1"/>
                <c:pt idx="0">
                  <c:v>Chile</c:v>
                </c:pt>
              </c:strCache>
            </c:strRef>
          </c:tx>
          <c:spPr>
            <a:solidFill>
              <a:srgbClr val="D6CAC4"/>
            </a:solidFill>
            <a:ln>
              <a:noFill/>
            </a:ln>
          </c:spPr>
          <c:dLbls>
            <c:numFmt formatCode="#,##0"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Sheet1!$D$2:$D$17</c:f>
              <c:numCache>
                <c:formatCode>General</c:formatCode>
                <c:ptCount val="16"/>
                <c:pt idx="0">
                  <c:v>7.066</c:v>
                </c:pt>
                <c:pt idx="1">
                  <c:v>7.344</c:v>
                </c:pt>
                <c:pt idx="2">
                  <c:v>7.651</c:v>
                </c:pt>
                <c:pt idx="3">
                  <c:v>7.991</c:v>
                </c:pt>
                <c:pt idx="4">
                  <c:v>8.363</c:v>
                </c:pt>
                <c:pt idx="5">
                  <c:v>8.764</c:v>
                </c:pt>
                <c:pt idx="6">
                  <c:v>9.194</c:v>
                </c:pt>
                <c:pt idx="7">
                  <c:v>9.662</c:v>
                </c:pt>
                <c:pt idx="8">
                  <c:v>10.173</c:v>
                </c:pt>
                <c:pt idx="9">
                  <c:v>10.728</c:v>
                </c:pt>
                <c:pt idx="10">
                  <c:v>11.314</c:v>
                </c:pt>
                <c:pt idx="11">
                  <c:v>11.914</c:v>
                </c:pt>
                <c:pt idx="12">
                  <c:v>12.527</c:v>
                </c:pt>
                <c:pt idx="13">
                  <c:v>13.158</c:v>
                </c:pt>
                <c:pt idx="14">
                  <c:v>13.8</c:v>
                </c:pt>
                <c:pt idx="15">
                  <c:v>14.454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Rest of LATAM</c:v>
                </c:pt>
              </c:strCache>
            </c:strRef>
          </c:tx>
          <c:spPr>
            <a:solidFill>
              <a:srgbClr val="00A4DC"/>
            </a:solidFill>
            <a:ln>
              <a:noFill/>
            </a:ln>
          </c:spPr>
          <c:dLbls>
            <c:numFmt formatCode="#,##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148.45</c:v>
                </c:pt>
                <c:pt idx="1">
                  <c:v>155.607</c:v>
                </c:pt>
                <c:pt idx="2">
                  <c:v>163.595</c:v>
                </c:pt>
                <c:pt idx="3">
                  <c:v>172.454</c:v>
                </c:pt>
                <c:pt idx="4">
                  <c:v>182.145</c:v>
                </c:pt>
                <c:pt idx="5">
                  <c:v>193.66</c:v>
                </c:pt>
                <c:pt idx="6">
                  <c:v>206.212</c:v>
                </c:pt>
                <c:pt idx="7">
                  <c:v>220.087</c:v>
                </c:pt>
                <c:pt idx="8">
                  <c:v>235.325</c:v>
                </c:pt>
                <c:pt idx="9">
                  <c:v>252.156</c:v>
                </c:pt>
                <c:pt idx="10">
                  <c:v>270.367</c:v>
                </c:pt>
                <c:pt idx="11">
                  <c:v>290.005</c:v>
                </c:pt>
                <c:pt idx="12">
                  <c:v>311.081</c:v>
                </c:pt>
                <c:pt idx="13">
                  <c:v>333.652</c:v>
                </c:pt>
                <c:pt idx="14">
                  <c:v>357.695</c:v>
                </c:pt>
                <c:pt idx="15">
                  <c:v>383.319</c:v>
                </c:pt>
              </c:numCache>
            </c:numRef>
          </c:val>
        </c:ser>
        <c:ser>
          <c:idx val="1"/>
          <c:order val="1"/>
          <c:tx>
            <c:strRef>
              <c:f>Sheet1!$C$1</c:f>
              <c:strCache>
                <c:ptCount val="1"/>
                <c:pt idx="0">
                  <c:v>Brazil</c:v>
                </c:pt>
              </c:strCache>
            </c:strRef>
          </c:tx>
          <c:spPr>
            <a:solidFill>
              <a:srgbClr val="6ECFF2"/>
            </a:solidFill>
            <a:ln>
              <a:noFill/>
            </a:ln>
          </c:spPr>
          <c:dLbls>
            <c:numFmt formatCode="#,##0"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0">
                  <c:v>110.575</c:v>
                </c:pt>
                <c:pt idx="1">
                  <c:v>116.114</c:v>
                </c:pt>
                <c:pt idx="2">
                  <c:v>122.015</c:v>
                </c:pt>
                <c:pt idx="3">
                  <c:v>128.511</c:v>
                </c:pt>
                <c:pt idx="4">
                  <c:v>135.612</c:v>
                </c:pt>
                <c:pt idx="5">
                  <c:v>144.024</c:v>
                </c:pt>
                <c:pt idx="6">
                  <c:v>153.197</c:v>
                </c:pt>
                <c:pt idx="7">
                  <c:v>163.206</c:v>
                </c:pt>
                <c:pt idx="8">
                  <c:v>173.979</c:v>
                </c:pt>
                <c:pt idx="9">
                  <c:v>185.606</c:v>
                </c:pt>
                <c:pt idx="10">
                  <c:v>198.285</c:v>
                </c:pt>
                <c:pt idx="11">
                  <c:v>212.044</c:v>
                </c:pt>
                <c:pt idx="12">
                  <c:v>226.795</c:v>
                </c:pt>
                <c:pt idx="13">
                  <c:v>242.647</c:v>
                </c:pt>
                <c:pt idx="14">
                  <c:v>259.446</c:v>
                </c:pt>
                <c:pt idx="15">
                  <c:v>277.178</c:v>
                </c:pt>
              </c:numCache>
            </c:numRef>
          </c:val>
        </c:ser>
        <c:ser>
          <c:idx val="2"/>
          <c:order val="2"/>
          <c:tx>
            <c:strRef>
              <c:f>Sheet1!$D$1</c:f>
              <c:strCache>
                <c:ptCount val="1"/>
                <c:pt idx="0">
                  <c:v>Chile</c:v>
                </c:pt>
              </c:strCache>
            </c:strRef>
          </c:tx>
          <c:spPr>
            <a:solidFill>
              <a:srgbClr val="D6CAC4"/>
            </a:solidFill>
            <a:ln>
              <a:noFill/>
            </a:ln>
          </c:spPr>
          <c:dLbls>
            <c:numFmt formatCode="#,##0"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Sheet1!$D$2:$D$17</c:f>
              <c:numCache>
                <c:formatCode>General</c:formatCode>
                <c:ptCount val="16"/>
                <c:pt idx="0">
                  <c:v>20.431</c:v>
                </c:pt>
                <c:pt idx="1">
                  <c:v>21.354</c:v>
                </c:pt>
                <c:pt idx="2">
                  <c:v>22.377</c:v>
                </c:pt>
                <c:pt idx="3">
                  <c:v>23.515</c:v>
                </c:pt>
                <c:pt idx="4">
                  <c:v>24.754</c:v>
                </c:pt>
                <c:pt idx="5">
                  <c:v>26.173</c:v>
                </c:pt>
                <c:pt idx="6">
                  <c:v>27.707</c:v>
                </c:pt>
                <c:pt idx="7">
                  <c:v>29.399</c:v>
                </c:pt>
                <c:pt idx="8">
                  <c:v>31.272</c:v>
                </c:pt>
                <c:pt idx="9">
                  <c:v>33.337</c:v>
                </c:pt>
                <c:pt idx="10">
                  <c:v>35.584</c:v>
                </c:pt>
                <c:pt idx="11">
                  <c:v>37.971</c:v>
                </c:pt>
                <c:pt idx="12">
                  <c:v>40.504</c:v>
                </c:pt>
                <c:pt idx="13">
                  <c:v>43.193</c:v>
                </c:pt>
                <c:pt idx="14">
                  <c:v>46.034</c:v>
                </c:pt>
                <c:pt idx="15">
                  <c:v>49.033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5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Weft Knitted Fabrics</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73.40726268178175</c:v>
                </c:pt>
                <c:pt idx="1">
                  <c:v>72.42845403551395</c:v>
                </c:pt>
                <c:pt idx="2">
                  <c:v>70.31518002737019</c:v>
                </c:pt>
              </c:numCache>
            </c:numRef>
          </c:val>
        </c:ser>
        <c:ser>
          <c:idx val="1"/>
          <c:order val="1"/>
          <c:tx>
            <c:strRef>
              <c:f>Sheet1!$C$1</c:f>
              <c:strCache>
                <c:ptCount val="1"/>
                <c:pt idx="0">
                  <c:v>Warp Knitted Fabrics</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26.59273731821825</c:v>
                </c:pt>
                <c:pt idx="1">
                  <c:v>27.57154596448605</c:v>
                </c:pt>
                <c:pt idx="2">
                  <c:v>29.684819972629807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6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Polyester</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52.19514987994576</c:v>
                </c:pt>
                <c:pt idx="1">
                  <c:v>49.580880453363676</c:v>
                </c:pt>
                <c:pt idx="2">
                  <c:v>48.619017350897984</c:v>
                </c:pt>
              </c:numCache>
            </c:numRef>
          </c:val>
        </c:ser>
        <c:ser>
          <c:idx val="1"/>
          <c:order val="1"/>
          <c:tx>
            <c:strRef>
              <c:f>Sheet1!$C$1</c:f>
              <c:strCache>
                <c:ptCount val="1"/>
                <c:pt idx="0">
                  <c:v>Polyamide or Nylon</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16.66302865914971</c:v>
                </c:pt>
                <c:pt idx="1">
                  <c:v>17.457359739238935</c:v>
                </c:pt>
                <c:pt idx="2">
                  <c:v>17.53890950501106</c:v>
                </c:pt>
              </c:numCache>
            </c:numRef>
          </c:val>
        </c:ser>
        <c:ser>
          <c:idx val="2"/>
          <c:order val="2"/>
          <c:tx>
            <c:strRef>
              <c:f>Sheet1!$D$1</c:f>
              <c:strCache>
                <c:ptCount val="1"/>
                <c:pt idx="0">
                  <c:v>Elastane or Spandex Blends</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13.607818018514475</c:v>
                </c:pt>
                <c:pt idx="1">
                  <c:v>15.041307323186517</c:v>
                </c:pt>
                <c:pt idx="2">
                  <c:v>16.020441672034064</c:v>
                </c:pt>
              </c:numCache>
            </c:numRef>
          </c:val>
        </c:ser>
        <c:ser>
          <c:idx val="3"/>
          <c:order val="3"/>
          <c:tx>
            <c:strRef>
              <c:f>Sheet1!$E$1</c:f>
              <c:strCache>
                <c:ptCount val="1"/>
                <c:pt idx="0">
                  <c:v>High-Performance &amp; Specialty Fibers</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7.268381182078102</c:v>
                </c:pt>
                <c:pt idx="1">
                  <c:v>8.031979508489576</c:v>
                </c:pt>
                <c:pt idx="2">
                  <c:v>8.86430614025321</c:v>
                </c:pt>
              </c:numCache>
            </c:numRef>
          </c:val>
        </c:ser>
        <c:ser>
          <c:idx val="4"/>
          <c:order val="4"/>
          <c:tx>
            <c:strRef>
              <c:f>Sheet1!$F$1</c:f>
              <c:strCache>
                <c:ptCount val="1"/>
                <c:pt idx="0">
                  <c:v>Cellulosic Fibers</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6.029908000157448</c:v>
                </c:pt>
                <c:pt idx="1">
                  <c:v>5.741250707693661</c:v>
                </c:pt>
                <c:pt idx="2">
                  <c:v>5.046573017951295</c:v>
                </c:pt>
              </c:numCache>
            </c:numRef>
          </c:val>
        </c:ser>
        <c:ser>
          <c:idx val="5"/>
          <c:order val="5"/>
          <c:tx>
            <c:strRef>
              <c:f>Sheet1!$G$1</c:f>
              <c:strCache>
                <c:ptCount val="1"/>
                <c:pt idx="0">
                  <c:v>Polypropylene</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4.235714260154514</c:v>
                </c:pt>
                <c:pt idx="1">
                  <c:v>4.147222268027638</c:v>
                </c:pt>
                <c:pt idx="2">
                  <c:v>3.9107523138523907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7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Moisture Management &amp; Quick-Dry</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26.113234283751286</c:v>
                </c:pt>
                <c:pt idx="1">
                  <c:v>25.629158547679182</c:v>
                </c:pt>
                <c:pt idx="2">
                  <c:v>25.551949104408404</c:v>
                </c:pt>
              </c:numCache>
            </c:numRef>
          </c:val>
        </c:ser>
        <c:ser>
          <c:idx val="1"/>
          <c:order val="1"/>
          <c:tx>
            <c:strRef>
              <c:f>Sheet1!$C$1</c:f>
              <c:strCache>
                <c:ptCount val="1"/>
                <c:pt idx="0">
                  <c:v>Stretch &amp; Recovery</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22.319792740180922</c:v>
                </c:pt>
                <c:pt idx="1">
                  <c:v>21.3162241417692</c:v>
                </c:pt>
                <c:pt idx="2">
                  <c:v>21.07518910378828</c:v>
                </c:pt>
              </c:numCache>
            </c:numRef>
          </c:val>
        </c:ser>
        <c:ser>
          <c:idx val="2"/>
          <c:order val="2"/>
          <c:tx>
            <c:strRef>
              <c:f>Sheet1!$D$1</c:f>
              <c:strCache>
                <c:ptCount val="1"/>
                <c:pt idx="0">
                  <c:v>Thermal Management</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11.245777510592006</c:v>
                </c:pt>
                <c:pt idx="1">
                  <c:v>11.973319335237</c:v>
                </c:pt>
                <c:pt idx="2">
                  <c:v>13.044532233263947</c:v>
                </c:pt>
              </c:numCache>
            </c:numRef>
          </c:val>
        </c:ser>
        <c:ser>
          <c:idx val="3"/>
          <c:order val="3"/>
          <c:tx>
            <c:strRef>
              <c:f>Sheet1!$E$1</c:f>
              <c:strCache>
                <c:ptCount val="1"/>
                <c:pt idx="0">
                  <c:v>Compression &amp; Support</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10.386966105576548</c:v>
                </c:pt>
                <c:pt idx="1">
                  <c:v>10.921263456448788</c:v>
                </c:pt>
                <c:pt idx="2">
                  <c:v>10.565993592950838</c:v>
                </c:pt>
              </c:numCache>
            </c:numRef>
          </c:val>
        </c:ser>
        <c:ser>
          <c:idx val="4"/>
          <c:order val="4"/>
          <c:tx>
            <c:strRef>
              <c:f>Sheet1!$F$1</c:f>
              <c:strCache>
                <c:ptCount val="1"/>
                <c:pt idx="0">
                  <c:v>Antimicrobial &amp; Odor Control</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7.020067559830527</c:v>
                </c:pt>
                <c:pt idx="1">
                  <c:v>7.262428578103056</c:v>
                </c:pt>
                <c:pt idx="2">
                  <c:v>8.033334695735634</c:v>
                </c:pt>
              </c:numCache>
            </c:numRef>
          </c:val>
        </c:ser>
        <c:ser>
          <c:idx val="5"/>
          <c:order val="5"/>
          <c:tx>
            <c:strRef>
              <c:f>Sheet1!$G$1</c:f>
              <c:strCache>
                <c:ptCount val="1"/>
                <c:pt idx="0">
                  <c:v>Abrasion &amp; Tear Resistance</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8.801743387152182</c:v>
                </c:pt>
                <c:pt idx="1">
                  <c:v>8.675888187457229</c:v>
                </c:pt>
                <c:pt idx="2">
                  <c:v>7.88055772052243</c:v>
                </c:pt>
              </c:numCache>
            </c:numRef>
          </c:val>
        </c:ser>
        <c:ser>
          <c:idx val="6"/>
          <c:order val="6"/>
          <c:tx>
            <c:strRef>
              <c:f>Sheet1!$H$1</c:f>
              <c:strCache>
                <c:ptCount val="1"/>
                <c:pt idx="0">
                  <c:v>UV Protection</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7.381126188022442</c:v>
                </c:pt>
                <c:pt idx="1">
                  <c:v>7.391599493210281</c:v>
                </c:pt>
                <c:pt idx="2">
                  <c:v>6.862279449382762</c:v>
                </c:pt>
              </c:numCache>
            </c:numRef>
          </c:val>
        </c:ser>
        <c:ser>
          <c:idx val="7"/>
          <c:order val="7"/>
          <c:tx>
            <c:strRef>
              <c:f>Sheet1!$I$1</c:f>
              <c:strCache>
                <c:ptCount val="1"/>
                <c:pt idx="0">
                  <c:v>Water or Liquid Management</c:v>
                </c:pt>
              </c:strCache>
            </c:strRef>
          </c:tx>
          <c:spPr>
            <a:solidFill>
              <a:srgbClr val="7D72E5"/>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Sheet1!$I$2:$I$4</c:f>
              <c:numCache>
                <c:formatCode>General</c:formatCode>
                <c:ptCount val="3"/>
                <c:pt idx="0">
                  <c:v>4.045717393793655</c:v>
                </c:pt>
                <c:pt idx="1">
                  <c:v>4.115330388969353</c:v>
                </c:pt>
                <c:pt idx="2">
                  <c:v>3.968396024979881</c:v>
                </c:pt>
              </c:numCache>
            </c:numRef>
          </c:val>
        </c:ser>
        <c:ser>
          <c:idx val="8"/>
          <c:order val="8"/>
          <c:tx>
            <c:strRef>
              <c:f>Sheet1!$J$1</c:f>
              <c:strCache>
                <c:ptCount val="1"/>
                <c:pt idx="0">
                  <c:v>Flame &amp; Heat Resistance</c:v>
                </c:pt>
              </c:strCache>
            </c:strRef>
          </c:tx>
          <c:spPr>
            <a:solidFill>
              <a:srgbClr val="CF72E5"/>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Sheet1!$J$2:$J$4</c:f>
              <c:numCache>
                <c:formatCode>General</c:formatCode>
                <c:ptCount val="3"/>
                <c:pt idx="0">
                  <c:v>1.7043828008702622</c:v>
                </c:pt>
                <c:pt idx="1">
                  <c:v>1.7056057428839193</c:v>
                </c:pt>
                <c:pt idx="2">
                  <c:v>1.792592571712864</c:v>
                </c:pt>
              </c:numCache>
            </c:numRef>
          </c:val>
        </c:ser>
        <c:ser>
          <c:idx val="9"/>
          <c:order val="9"/>
          <c:tx>
            <c:strRef>
              <c:f>Sheet1!$K$1</c:f>
              <c:strCache>
                <c:ptCount val="1"/>
                <c:pt idx="0">
                  <c:v>Other Specialized Performance</c:v>
                </c:pt>
              </c:strCache>
            </c:strRef>
          </c:tx>
          <c:spPr>
            <a:solidFill>
              <a:srgbClr val="E572A9"/>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Sheet1!$K$2:$K$4</c:f>
              <c:numCache>
                <c:formatCode>General</c:formatCode>
                <c:ptCount val="3"/>
                <c:pt idx="0">
                  <c:v>0.9811920302301614</c:v>
                </c:pt>
                <c:pt idx="1">
                  <c:v>1.0091821282419837</c:v>
                </c:pt>
                <c:pt idx="2">
                  <c:v>1.2251755032549672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8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Sports &amp; Activewear</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26.620553430402534</c:v>
                </c:pt>
                <c:pt idx="1">
                  <c:v>26.780649487709425</c:v>
                </c:pt>
                <c:pt idx="2">
                  <c:v>27.107662819049228</c:v>
                </c:pt>
              </c:numCache>
            </c:numRef>
          </c:val>
        </c:ser>
        <c:ser>
          <c:idx val="1"/>
          <c:order val="1"/>
          <c:tx>
            <c:strRef>
              <c:f>Sheet1!$C$1</c:f>
              <c:strCache>
                <c:ptCount val="1"/>
                <c:pt idx="0">
                  <c:v>Intimate &amp; Bodywear</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19.562222452828163</c:v>
                </c:pt>
                <c:pt idx="1">
                  <c:v>18.598841299854886</c:v>
                </c:pt>
                <c:pt idx="2">
                  <c:v>16.8892083491889</c:v>
                </c:pt>
              </c:numCache>
            </c:numRef>
          </c:val>
        </c:ser>
        <c:ser>
          <c:idx val="2"/>
          <c:order val="2"/>
          <c:tx>
            <c:strRef>
              <c:f>Sheet1!$D$1</c:f>
              <c:strCache>
                <c:ptCount val="1"/>
                <c:pt idx="0">
                  <c:v>Medical &amp; Healthcare</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11.40497464726237</c:v>
                </c:pt>
                <c:pt idx="1">
                  <c:v>11.97396772349501</c:v>
                </c:pt>
                <c:pt idx="2">
                  <c:v>12.639070934280438</c:v>
                </c:pt>
              </c:numCache>
            </c:numRef>
          </c:val>
        </c:ser>
        <c:ser>
          <c:idx val="3"/>
          <c:order val="3"/>
          <c:tx>
            <c:strRef>
              <c:f>Sheet1!$E$1</c:f>
              <c:strCache>
                <c:ptCount val="1"/>
                <c:pt idx="0">
                  <c:v>Footwear</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11.523776466504685</c:v>
                </c:pt>
                <c:pt idx="1">
                  <c:v>11.528736643067587</c:v>
                </c:pt>
                <c:pt idx="2">
                  <c:v>11.66715995095345</c:v>
                </c:pt>
              </c:numCache>
            </c:numRef>
          </c:val>
        </c:ser>
        <c:ser>
          <c:idx val="4"/>
          <c:order val="4"/>
          <c:tx>
            <c:strRef>
              <c:f>Sheet1!$F$1</c:f>
              <c:strCache>
                <c:ptCount val="1"/>
                <c:pt idx="0">
                  <c:v>Protective &amp; Occupational Wear</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11.498370053353469</c:v>
                </c:pt>
                <c:pt idx="1">
                  <c:v>11.47459434501561</c:v>
                </c:pt>
                <c:pt idx="2">
                  <c:v>11.601482671627698</c:v>
                </c:pt>
              </c:numCache>
            </c:numRef>
          </c:val>
        </c:ser>
        <c:ser>
          <c:idx val="5"/>
          <c:order val="5"/>
          <c:tx>
            <c:strRef>
              <c:f>Sheet1!$G$1</c:f>
              <c:strCache>
                <c:ptCount val="1"/>
                <c:pt idx="0">
                  <c:v>Industrial &amp; Technical Applications</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9.95537775042314</c:v>
                </c:pt>
                <c:pt idx="1">
                  <c:v>10.31314585990062</c:v>
                </c:pt>
                <c:pt idx="2">
                  <c:v>10.788409228644314</c:v>
                </c:pt>
              </c:numCache>
            </c:numRef>
          </c:val>
        </c:ser>
        <c:ser>
          <c:idx val="6"/>
          <c:order val="6"/>
          <c:tx>
            <c:strRef>
              <c:f>Sheet1!$H$1</c:f>
              <c:strCache>
                <c:ptCount val="1"/>
                <c:pt idx="0">
                  <c:v>Automotive &amp; Transportation</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9.43472519922564</c:v>
                </c:pt>
                <c:pt idx="1">
                  <c:v>9.330064640956863</c:v>
                </c:pt>
                <c:pt idx="2">
                  <c:v>9.307006046255973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9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Medium Weight 150–250 GSM</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45.123936777393304</c:v>
                </c:pt>
                <c:pt idx="1">
                  <c:v>45.745593061029304</c:v>
                </c:pt>
                <c:pt idx="2">
                  <c:v>43.76426118097729</c:v>
                </c:pt>
              </c:numCache>
            </c:numRef>
          </c:val>
        </c:ser>
        <c:ser>
          <c:idx val="1"/>
          <c:order val="1"/>
          <c:tx>
            <c:strRef>
              <c:f>Sheet1!$C$1</c:f>
              <c:strCache>
                <c:ptCount val="1"/>
                <c:pt idx="0">
                  <c:v>Lightweight Below 150 GSM</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38.730108746605026</c:v>
                </c:pt>
                <c:pt idx="1">
                  <c:v>37.08562131380923</c:v>
                </c:pt>
                <c:pt idx="2">
                  <c:v>37.64726276935046</c:v>
                </c:pt>
              </c:numCache>
            </c:numRef>
          </c:val>
        </c:ser>
        <c:ser>
          <c:idx val="2"/>
          <c:order val="2"/>
          <c:tx>
            <c:strRef>
              <c:f>Sheet1!$D$1</c:f>
              <c:strCache>
                <c:ptCount val="1"/>
                <c:pt idx="0">
                  <c:v>Heavyweight Above 250 GSM</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16.145954476001677</c:v>
                </c:pt>
                <c:pt idx="1">
                  <c:v>17.168785625161465</c:v>
                </c:pt>
                <c:pt idx="2">
                  <c:v>18.588476049672245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0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Sports &amp; Activewear</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26.620743948041724</c:v>
                </c:pt>
                <c:pt idx="1">
                  <c:v>26.780997924997596</c:v>
                </c:pt>
                <c:pt idx="2">
                  <c:v>27.107944695784536</c:v>
                </c:pt>
              </c:numCache>
            </c:numRef>
          </c:val>
        </c:ser>
        <c:ser>
          <c:idx val="1"/>
          <c:order val="1"/>
          <c:tx>
            <c:strRef>
              <c:f>Sheet1!$C$1</c:f>
              <c:strCache>
                <c:ptCount val="1"/>
                <c:pt idx="0">
                  <c:v>Intimate &amp; Bodywear</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19.562004616127822</c:v>
                </c:pt>
                <c:pt idx="1">
                  <c:v>18.59889241593492</c:v>
                </c:pt>
                <c:pt idx="2">
                  <c:v>16.889067410821248</c:v>
                </c:pt>
              </c:numCache>
            </c:numRef>
          </c:val>
        </c:ser>
        <c:ser>
          <c:idx val="2"/>
          <c:order val="2"/>
          <c:tx>
            <c:strRef>
              <c:f>Sheet1!$D$1</c:f>
              <c:strCache>
                <c:ptCount val="1"/>
                <c:pt idx="0">
                  <c:v>Medical &amp; Healthcare</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11.405056270240289</c:v>
                </c:pt>
                <c:pt idx="1">
                  <c:v>11.973725797364335</c:v>
                </c:pt>
                <c:pt idx="2">
                  <c:v>12.639070934280438</c:v>
                </c:pt>
              </c:numCache>
            </c:numRef>
          </c:val>
        </c:ser>
        <c:ser>
          <c:idx val="3"/>
          <c:order val="3"/>
          <c:tx>
            <c:strRef>
              <c:f>Sheet1!$E$1</c:f>
              <c:strCache>
                <c:ptCount val="1"/>
                <c:pt idx="0">
                  <c:v>Footwear</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11.524216779087867</c:v>
                </c:pt>
                <c:pt idx="1">
                  <c:v>11.52849349328716</c:v>
                </c:pt>
                <c:pt idx="2">
                  <c:v>11.66715995095345</c:v>
                </c:pt>
              </c:numCache>
            </c:numRef>
          </c:val>
        </c:ser>
        <c:ser>
          <c:idx val="4"/>
          <c:order val="4"/>
          <c:tx>
            <c:strRef>
              <c:f>Sheet1!$F$1</c:f>
              <c:strCache>
                <c:ptCount val="1"/>
                <c:pt idx="0">
                  <c:v>Protective &amp; Occupational Wear</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11.498452344742446</c:v>
                </c:pt>
                <c:pt idx="1">
                  <c:v>11.474625881188937</c:v>
                </c:pt>
                <c:pt idx="2">
                  <c:v>11.601341733260046</c:v>
                </c:pt>
              </c:numCache>
            </c:numRef>
          </c:val>
        </c:ser>
        <c:ser>
          <c:idx val="5"/>
          <c:order val="5"/>
          <c:tx>
            <c:strRef>
              <c:f>Sheet1!$G$1</c:f>
              <c:strCache>
                <c:ptCount val="1"/>
                <c:pt idx="0">
                  <c:v>Industrial &amp; Technical Applications</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9.955091159578465</c:v>
                </c:pt>
                <c:pt idx="1">
                  <c:v>10.313174204009838</c:v>
                </c:pt>
                <c:pt idx="2">
                  <c:v>10.788409228644314</c:v>
                </c:pt>
              </c:numCache>
            </c:numRef>
          </c:val>
        </c:ser>
        <c:ser>
          <c:idx val="6"/>
          <c:order val="6"/>
          <c:tx>
            <c:strRef>
              <c:f>Sheet1!$H$1</c:f>
              <c:strCache>
                <c:ptCount val="1"/>
                <c:pt idx="0">
                  <c:v>Automotive &amp; Transportation</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9.434434882181389</c:v>
                </c:pt>
                <c:pt idx="1">
                  <c:v>9.330090283217215</c:v>
                </c:pt>
                <c:pt idx="2">
                  <c:v>9.307006046255973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0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03E58"/>
            </a:solidFill>
            <a:ln>
              <a:noFill/>
            </a:ln>
          </c:spPr>
          <c:cat>
            <c:strRef>
              <c:f>Sheet1!$A$2:$A$4</c:f>
              <c:strCache>
                <c:ptCount val="3"/>
                <c:pt idx="0">
                  <c:v>2021–2026</c:v>
                </c:pt>
                <c:pt idx="1">
                  <c:v>2026–2036</c:v>
                </c:pt>
                <c:pt idx="2">
                  <c:v>2021–2036</c:v>
                </c:pt>
              </c:strCache>
            </c:strRef>
          </c:cat>
          <c:val>
            <c:numRef>
              <c:f>Sheet1!$B$2:$B$4</c:f>
              <c:numCache>
                <c:formatCode>General</c:formatCode>
                <c:ptCount val="3"/>
                <c:pt idx="0">
                  <c:v>4.46328839729202</c:v>
                </c:pt>
                <c:pt idx="1">
                  <c:v>4.809858394412103</c:v>
                </c:pt>
                <c:pt idx="2">
                  <c:v>4.694207495690983</c:v>
                </c:pt>
              </c:numCache>
            </c:numRef>
          </c:val>
        </c:ser>
        <c:dLbls>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6.349013080623976"/>
          <c:min val="0.0"/>
        </c:scaling>
        <c:delete val="0"/>
        <c:axPos val="l"/>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0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2021</c:v>
                </c:pt>
                <c:pt idx="1">
                  <c:v>2021–2026</c:v>
                </c:pt>
                <c:pt idx="2">
                  <c:v>2026</c:v>
                </c:pt>
                <c:pt idx="3">
                  <c:v>2026–2036</c:v>
                </c:pt>
                <c:pt idx="4">
                  <c:v>2036</c:v>
                </c:pt>
              </c:strCache>
            </c:strRef>
          </c:cat>
          <c:val>
            <c:numRef>
              <c:f>Sheet1!$B$2:$B$6</c:f>
              <c:numCache>
                <c:formatCode>General</c:formatCode>
                <c:ptCount val="5"/>
                <c:pt idx="0">
                  <c:v>0.0</c:v>
                </c:pt>
                <c:pt idx="1">
                  <c:v>287.154</c:v>
                </c:pt>
                <c:pt idx="2">
                  <c:v>0.0</c:v>
                </c:pt>
                <c:pt idx="3">
                  <c:v>357.21799999999996</c:v>
                </c:pt>
                <c:pt idx="4">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00A4DC"/>
              </a:solidFill>
            </c:spPr>
          </c:dPt>
          <c:dPt>
            <c:idx val="3"/>
            <c:spPr>
              <a:solidFill>
                <a:srgbClr val="2F6FB0"/>
              </a:solidFill>
            </c:spPr>
          </c:dPt>
          <c:dPt>
            <c:idx val="4"/>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Sheet1!$A$2:$A$6</c:f>
              <c:strCache>
                <c:ptCount val="5"/>
                <c:pt idx="0">
                  <c:v>2021</c:v>
                </c:pt>
                <c:pt idx="1">
                  <c:v>2021–2026</c:v>
                </c:pt>
                <c:pt idx="2">
                  <c:v>2026</c:v>
                </c:pt>
                <c:pt idx="3">
                  <c:v>2026–2036</c:v>
                </c:pt>
                <c:pt idx="4">
                  <c:v>2036</c:v>
                </c:pt>
              </c:strCache>
            </c:strRef>
          </c:cat>
          <c:val>
            <c:numRef>
              <c:f>Sheet1!$C$2:$C$6</c:f>
              <c:numCache>
                <c:formatCode>General</c:formatCode>
                <c:ptCount val="5"/>
                <c:pt idx="0">
                  <c:v>287.154</c:v>
                </c:pt>
                <c:pt idx="1">
                  <c:v>70.06399999999996</c:v>
                </c:pt>
                <c:pt idx="2">
                  <c:v>357.21799999999996</c:v>
                </c:pt>
                <c:pt idx="3">
                  <c:v>214.20100000000014</c:v>
                </c:pt>
                <c:pt idx="4">
                  <c:v>571.4190000000001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0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03E58"/>
            </a:solidFill>
            <a:ln>
              <a:noFill/>
            </a:ln>
          </c:spPr>
          <c:cat>
            <c:strRef>
              <c:f>Sheet1!$A$2:$A$4</c:f>
              <c:strCache>
                <c:ptCount val="3"/>
                <c:pt idx="0">
                  <c:v>2021–2026</c:v>
                </c:pt>
                <c:pt idx="1">
                  <c:v>2026–2036</c:v>
                </c:pt>
                <c:pt idx="2">
                  <c:v>2021–2036</c:v>
                </c:pt>
              </c:strCache>
            </c:strRef>
          </c:cat>
          <c:val>
            <c:numRef>
              <c:f>Sheet1!$B$2:$B$4</c:f>
              <c:numCache>
                <c:formatCode>General</c:formatCode>
                <c:ptCount val="3"/>
                <c:pt idx="0">
                  <c:v>5.08897951184506</c:v>
                </c:pt>
                <c:pt idx="1">
                  <c:v>6.304045750749321</c:v>
                </c:pt>
                <c:pt idx="2">
                  <c:v>5.897470648645964</c:v>
                </c:pt>
              </c:numCache>
            </c:numRef>
          </c:val>
        </c:ser>
        <c:dLbls>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8.321340390989103"/>
          <c:min val="0.0"/>
        </c:scaling>
        <c:delete val="0"/>
        <c:axPos val="l"/>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0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2021</c:v>
                </c:pt>
                <c:pt idx="1">
                  <c:v>2021–2026</c:v>
                </c:pt>
                <c:pt idx="2">
                  <c:v>2026</c:v>
                </c:pt>
                <c:pt idx="3">
                  <c:v>2026–2036</c:v>
                </c:pt>
                <c:pt idx="4">
                  <c:v>2036</c:v>
                </c:pt>
              </c:strCache>
            </c:strRef>
          </c:cat>
          <c:val>
            <c:numRef>
              <c:f>Sheet1!$B$2:$B$6</c:f>
              <c:numCache>
                <c:formatCode>General</c:formatCode>
                <c:ptCount val="5"/>
                <c:pt idx="0">
                  <c:v>0.0</c:v>
                </c:pt>
                <c:pt idx="1">
                  <c:v>1131.497</c:v>
                </c:pt>
                <c:pt idx="2">
                  <c:v>0.0</c:v>
                </c:pt>
                <c:pt idx="3">
                  <c:v>1450.2379999999998</c:v>
                </c:pt>
                <c:pt idx="4">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00A4DC"/>
              </a:solidFill>
            </c:spPr>
          </c:dPt>
          <c:dPt>
            <c:idx val="3"/>
            <c:spPr>
              <a:solidFill>
                <a:srgbClr val="2F6FB0"/>
              </a:solidFill>
            </c:spPr>
          </c:dPt>
          <c:dPt>
            <c:idx val="4"/>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Sheet1!$A$2:$A$6</c:f>
              <c:strCache>
                <c:ptCount val="5"/>
                <c:pt idx="0">
                  <c:v>2021</c:v>
                </c:pt>
                <c:pt idx="1">
                  <c:v>2021–2026</c:v>
                </c:pt>
                <c:pt idx="2">
                  <c:v>2026</c:v>
                </c:pt>
                <c:pt idx="3">
                  <c:v>2026–2036</c:v>
                </c:pt>
                <c:pt idx="4">
                  <c:v>2036</c:v>
                </c:pt>
              </c:strCache>
            </c:strRef>
          </c:cat>
          <c:val>
            <c:numRef>
              <c:f>Sheet1!$C$2:$C$6</c:f>
              <c:numCache>
                <c:formatCode>General</c:formatCode>
                <c:ptCount val="5"/>
                <c:pt idx="0">
                  <c:v>1131.497</c:v>
                </c:pt>
                <c:pt idx="1">
                  <c:v>318.74099999999976</c:v>
                </c:pt>
                <c:pt idx="2">
                  <c:v>1450.2379999999998</c:v>
                </c:pt>
                <c:pt idx="3">
                  <c:v>1222.382</c:v>
                </c:pt>
                <c:pt idx="4">
                  <c:v>2672.62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0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A9D8EF"/>
            </a:solidFill>
            <a:ln>
              <a:noFill/>
            </a:ln>
          </c:spPr>
          <c:dLbls>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Sheet1!$B$2:$B$6</c:f>
              <c:numCache>
                <c:formatCode>General</c:formatCode>
                <c:ptCount val="5"/>
                <c:pt idx="0">
                  <c:v>1131.497</c:v>
                </c:pt>
                <c:pt idx="1">
                  <c:v>1186.012</c:v>
                </c:pt>
                <c:pt idx="2">
                  <c:v>1244.333</c:v>
                </c:pt>
                <c:pt idx="3">
                  <c:v>1306.99</c:v>
                </c:pt>
                <c:pt idx="4">
                  <c:v>1373.738</c:v>
                </c:pt>
              </c:numCache>
            </c:numRef>
          </c:val>
        </c:ser>
        <c:gapWidth val="50"/>
        <c:axId val="-2068027336"/>
        <c:axId val="-2113994440"/>
      </c:barChart>
      <c:barChart>
        <c:barDir val="col"/>
        <c:grouping val="clustered"/>
        <c:varyColors val="0"/>
        <c:ser>
          <c:idx val="1"/>
          <c:order val="1"/>
          <c:tx>
            <c:strRef>
              <c:f>Sheet1!$C$1</c:f>
              <c:strCache>
                <c:ptCount val="1"/>
                <c:pt idx="0">
                  <c:v>Volume (Mn Sq. Yards)</c:v>
                </c:pt>
              </c:strCache>
            </c:strRef>
          </c:tx>
          <c:spPr>
            <a:solidFill>
              <a:srgbClr val="F1975A"/>
            </a:solidFill>
            <a:ln>
              <a:noFill/>
            </a:ln>
          </c:spPr>
          <c:dLbls>
            <c:numFmt formatCode="#,##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Sheet1!$C$2:$C$6</c:f>
              <c:numCache>
                <c:formatCode>General</c:formatCode>
                <c:ptCount val="5"/>
                <c:pt idx="0">
                  <c:v>287.154</c:v>
                </c:pt>
                <c:pt idx="1">
                  <c:v>299.7</c:v>
                </c:pt>
                <c:pt idx="2">
                  <c:v>312.976</c:v>
                </c:pt>
                <c:pt idx="3">
                  <c:v>326.926</c:v>
                </c:pt>
                <c:pt idx="4">
                  <c:v>341.63199999999995</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max val="1621"/>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467"/>
          <c:min val="0"/>
        </c:scaling>
        <c:delete val="0"/>
        <c:axPos val="r"/>
        <c:numFmt formatCode="General"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20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A9D8EF"/>
            </a:solidFill>
            <a:ln>
              <a:noFill/>
            </a:ln>
          </c:spPr>
          <c:dLbls>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Sheet1!$B$2:$B$12</c:f>
              <c:numCache>
                <c:formatCode>General</c:formatCode>
                <c:ptCount val="11"/>
                <c:pt idx="0">
                  <c:v>1450.2379999999998</c:v>
                </c:pt>
                <c:pt idx="1">
                  <c:v>1533.594</c:v>
                </c:pt>
                <c:pt idx="2">
                  <c:v>1624.737</c:v>
                </c:pt>
                <c:pt idx="3">
                  <c:v>1724.0929999999998</c:v>
                </c:pt>
                <c:pt idx="4">
                  <c:v>1832.746</c:v>
                </c:pt>
                <c:pt idx="5">
                  <c:v>1950.5189999999998</c:v>
                </c:pt>
                <c:pt idx="6">
                  <c:v>2077.422</c:v>
                </c:pt>
                <c:pt idx="7">
                  <c:v>2213.681</c:v>
                </c:pt>
                <c:pt idx="8">
                  <c:v>2358.6769999999997</c:v>
                </c:pt>
                <c:pt idx="9">
                  <c:v>2511.66</c:v>
                </c:pt>
                <c:pt idx="10">
                  <c:v>2672.62</c:v>
                </c:pt>
              </c:numCache>
            </c:numRef>
          </c:val>
        </c:ser>
        <c:gapWidth val="50"/>
        <c:axId val="-2068027336"/>
        <c:axId val="-2113994440"/>
      </c:barChart>
      <c:barChart>
        <c:barDir val="col"/>
        <c:grouping val="clustered"/>
        <c:varyColors val="0"/>
        <c:ser>
          <c:idx val="1"/>
          <c:order val="1"/>
          <c:tx>
            <c:strRef>
              <c:f>Sheet1!$C$1</c:f>
              <c:strCache>
                <c:ptCount val="1"/>
                <c:pt idx="0">
                  <c:v>Volume (Mn Sq. Yards)</c:v>
                </c:pt>
              </c:strCache>
            </c:strRef>
          </c:tx>
          <c:spPr>
            <a:solidFill>
              <a:srgbClr val="F1975A"/>
            </a:solidFill>
            <a:ln>
              <a:noFill/>
            </a:ln>
          </c:spPr>
          <c:dLbls>
            <c:numFmt formatCode="#,##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Sheet1!$C$2:$C$12</c:f>
              <c:numCache>
                <c:formatCode>General</c:formatCode>
                <c:ptCount val="11"/>
                <c:pt idx="0">
                  <c:v>357.21799999999996</c:v>
                </c:pt>
                <c:pt idx="1">
                  <c:v>373.842</c:v>
                </c:pt>
                <c:pt idx="2">
                  <c:v>391.623</c:v>
                </c:pt>
                <c:pt idx="3">
                  <c:v>410.58299999999997</c:v>
                </c:pt>
                <c:pt idx="4">
                  <c:v>430.77099999999996</c:v>
                </c:pt>
                <c:pt idx="5">
                  <c:v>452.129</c:v>
                </c:pt>
                <c:pt idx="6">
                  <c:v>474.51800000000003</c:v>
                </c:pt>
                <c:pt idx="7">
                  <c:v>497.933</c:v>
                </c:pt>
                <c:pt idx="8">
                  <c:v>522.053</c:v>
                </c:pt>
                <c:pt idx="9">
                  <c:v>546.5740000000001</c:v>
                </c:pt>
                <c:pt idx="10">
                  <c:v>571.4190000000001</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max val="3154"/>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883"/>
          <c:min val="0"/>
        </c:scaling>
        <c:delete val="0"/>
        <c:axPos val="r"/>
        <c:numFmt formatCode="General"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20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Index</c:v>
                </c:pt>
              </c:strCache>
            </c:strRef>
          </c:tx>
          <c:spPr>
            <a:solidFill>
              <a:srgbClr val="00A4DC"/>
            </a:solidFill>
            <a:ln>
              <a:noFill/>
            </a:ln>
          </c:spPr>
          <c:cat>
            <c:strRef>
              <c:f>Sheet1!$A$2:$A$7</c:f>
              <c:strCache>
                <c:ptCount val="6"/>
                <c:pt idx="0">
                  <c:v>U.K.</c:v>
                </c:pt>
                <c:pt idx="1">
                  <c:v>France</c:v>
                </c:pt>
                <c:pt idx="2">
                  <c:v>Nordics</c:v>
                </c:pt>
                <c:pt idx="3">
                  <c:v>Germany</c:v>
                </c:pt>
                <c:pt idx="4">
                  <c:v>Italy</c:v>
                </c:pt>
                <c:pt idx="5">
                  <c:v>Spain</c:v>
                </c:pt>
              </c:strCache>
            </c:strRef>
          </c:cat>
          <c:val>
            <c:numRef>
              <c:f>Sheet1!$B$2:$B$7</c:f>
              <c:numCache>
                <c:formatCode>General</c:formatCode>
                <c:ptCount val="6"/>
                <c:pt idx="0">
                  <c:v>91.96174622261809</c:v>
                </c:pt>
                <c:pt idx="1">
                  <c:v>92.61318071379284</c:v>
                </c:pt>
                <c:pt idx="2">
                  <c:v>94.45254436233603</c:v>
                </c:pt>
                <c:pt idx="3">
                  <c:v>96.40698395026948</c:v>
                </c:pt>
                <c:pt idx="4">
                  <c:v>109.59980050981224</c:v>
                </c:pt>
                <c:pt idx="5">
                  <c:v>114.38421462329993</c:v>
                </c:pt>
              </c:numCache>
            </c:numRef>
          </c:val>
        </c:ser>
        <c:dLbls>
          <c:numFmt formatCode="#,##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0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Index</c:v>
                </c:pt>
              </c:strCache>
            </c:strRef>
          </c:tx>
          <c:spPr>
            <a:solidFill>
              <a:srgbClr val="00A4DC"/>
            </a:solidFill>
            <a:ln>
              <a:noFill/>
            </a:ln>
          </c:spPr>
          <c:cat>
            <c:strRef>
              <c:f>Sheet1!$A$2:$A$7</c:f>
              <c:strCache>
                <c:ptCount val="6"/>
                <c:pt idx="0">
                  <c:v>Nordics</c:v>
                </c:pt>
                <c:pt idx="1">
                  <c:v>Spain</c:v>
                </c:pt>
                <c:pt idx="2">
                  <c:v>U.K.</c:v>
                </c:pt>
                <c:pt idx="3">
                  <c:v>Italy</c:v>
                </c:pt>
                <c:pt idx="4">
                  <c:v>France</c:v>
                </c:pt>
                <c:pt idx="5">
                  <c:v>Germany</c:v>
                </c:pt>
              </c:strCache>
            </c:strRef>
          </c:cat>
          <c:val>
            <c:numRef>
              <c:f>Sheet1!$B$2:$B$7</c:f>
              <c:numCache>
                <c:formatCode>General</c:formatCode>
                <c:ptCount val="6"/>
                <c:pt idx="0">
                  <c:v>2.9750928924018845</c:v>
                </c:pt>
                <c:pt idx="1">
                  <c:v>10.313469930021874</c:v>
                </c:pt>
                <c:pt idx="2">
                  <c:v>14.84274146707003</c:v>
                </c:pt>
                <c:pt idx="3">
                  <c:v>16.988797282682498</c:v>
                </c:pt>
                <c:pt idx="4">
                  <c:v>18.992589877795968</c:v>
                </c:pt>
                <c:pt idx="5">
                  <c:v>25.67495267436857</c:v>
                </c:pt>
              </c:numCache>
            </c:numRef>
          </c:val>
        </c:ser>
        <c:dLbls>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1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00A4DC"/>
              </a:solidFill>
            </c:spPr>
          </c:dPt>
          <c:dPt>
            <c:idx val="1"/>
            <c:spPr>
              <a:solidFill>
                <a:srgbClr val="6ECFF2"/>
              </a:solidFill>
            </c:spPr>
          </c:dPt>
          <c:dLbls>
            <c:dLbl>
              <c:idx val="0"/>
              <c:tx>
                <c:rich>
                  <a:bodyPr/>
                  <a:lstStyle/>
                  <a:p>
                    <a:pPr>
                      <a:defRPr sz="1100" b="1">
                        <a:solidFill>
                          <a:srgbClr val="FFFFFF"/>
                        </a:solidFill>
                        <a:latin typeface="Segoe UI"/>
                      </a:defRPr>
                    </a:pPr>
                    <a:r>
                      <a:t>46.0%</a:t>
                    </a:r>
                  </a:p>
                </c:rich>
              </c:tx>
              <c:showLegendKey val="0"/>
              <c:showVal val="1"/>
              <c:showCatName val="0"/>
              <c:showSerName val="0"/>
              <c:showPercent val="0"/>
              <c:showBubbleSize val="0"/>
            </c:dLbl>
            <c:dLbl>
              <c:idx val="1"/>
              <c:tx>
                <c:rich>
                  <a:bodyPr/>
                  <a:lstStyle/>
                  <a:p>
                    <a:pPr>
                      <a:defRPr sz="1100" b="1">
                        <a:solidFill>
                          <a:srgbClr val="252423"/>
                        </a:solidFill>
                        <a:latin typeface="Segoe UI"/>
                      </a:defRPr>
                    </a:pPr>
                    <a:r>
                      <a:t>54.0%</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Warp Knitted Fabrics</c:v>
                </c:pt>
                <c:pt idx="1">
                  <c:v>Weft Knitted Fabrics</c:v>
                </c:pt>
              </c:strCache>
            </c:strRef>
          </c:cat>
          <c:val>
            <c:numRef>
              <c:f>Sheet1!$B$2:$B$3</c:f>
              <c:numCache>
                <c:formatCode>General</c:formatCode>
                <c:ptCount val="2"/>
                <c:pt idx="0">
                  <c:v>1230.633</c:v>
                </c:pt>
                <c:pt idx="1">
                  <c:v>1441.9869999999999</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externalData r:id="rId1">
    <c:autoUpdate val="0"/>
  </c:externalData>
</c:chartSpace>
</file>

<file path=ppt/charts/chart2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Germany</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Sheet1!$B$2:$B$3</c:f>
              <c:numCache>
                <c:formatCode>General</c:formatCode>
                <c:ptCount val="2"/>
                <c:pt idx="0">
                  <c:v>26.592873779449967</c:v>
                </c:pt>
                <c:pt idx="1">
                  <c:v>26.277565149216247</c:v>
                </c:pt>
              </c:numCache>
            </c:numRef>
          </c:val>
        </c:ser>
        <c:ser>
          <c:idx val="1"/>
          <c:order val="1"/>
          <c:tx>
            <c:strRef>
              <c:f>Sheet1!$C$1</c:f>
              <c:strCache>
                <c:ptCount val="1"/>
                <c:pt idx="0">
                  <c:v>France</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Sheet1!$C$2:$C$3</c:f>
              <c:numCache>
                <c:formatCode>General</c:formatCode>
                <c:ptCount val="2"/>
                <c:pt idx="0">
                  <c:v>21.065125862223415</c:v>
                </c:pt>
                <c:pt idx="1">
                  <c:v>20.590669893720722</c:v>
                </c:pt>
              </c:numCache>
            </c:numRef>
          </c:val>
        </c:ser>
        <c:ser>
          <c:idx val="2"/>
          <c:order val="2"/>
          <c:tx>
            <c:strRef>
              <c:f>Sheet1!$D$1</c:f>
              <c:strCache>
                <c:ptCount val="1"/>
                <c:pt idx="0">
                  <c:v>U.K.</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Sheet1!$D$2:$D$3</c:f>
              <c:numCache>
                <c:formatCode>General</c:formatCode>
                <c:ptCount val="2"/>
                <c:pt idx="0">
                  <c:v>16.90181850756965</c:v>
                </c:pt>
                <c:pt idx="1">
                  <c:v>16.150145514937375</c:v>
                </c:pt>
              </c:numCache>
            </c:numRef>
          </c:val>
        </c:ser>
        <c:ser>
          <c:idx val="3"/>
          <c:order val="3"/>
          <c:tx>
            <c:strRef>
              <c:f>Sheet1!$E$1</c:f>
              <c:strCache>
                <c:ptCount val="1"/>
                <c:pt idx="0">
                  <c:v>Italy</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Sheet1!$E$2:$E$3</c:f>
              <c:numCache>
                <c:formatCode>General</c:formatCode>
                <c:ptCount val="2"/>
                <c:pt idx="0">
                  <c:v>14.209329929230494</c:v>
                </c:pt>
                <c:pt idx="1">
                  <c:v>14.368790677243842</c:v>
                </c:pt>
              </c:numCache>
            </c:numRef>
          </c:val>
        </c:ser>
        <c:ser>
          <c:idx val="4"/>
          <c:order val="4"/>
          <c:tx>
            <c:strRef>
              <c:f>Sheet1!$F$1</c:f>
              <c:strCache>
                <c:ptCount val="1"/>
                <c:pt idx="0">
                  <c:v>Spain</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Sheet1!$F$2:$F$3</c:f>
              <c:numCache>
                <c:formatCode>General</c:formatCode>
                <c:ptCount val="2"/>
                <c:pt idx="0">
                  <c:v>9.226630386096927</c:v>
                </c:pt>
                <c:pt idx="1">
                  <c:v>10.010867682033675</c:v>
                </c:pt>
              </c:numCache>
            </c:numRef>
          </c:val>
        </c:ser>
        <c:ser>
          <c:idx val="5"/>
          <c:order val="5"/>
          <c:tx>
            <c:strRef>
              <c:f>Sheet1!$G$1</c:f>
              <c:strCache>
                <c:ptCount val="1"/>
                <c:pt idx="0">
                  <c:v>BENELUX</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Sheet1!$G$2:$G$3</c:f>
              <c:numCache>
                <c:formatCode>General</c:formatCode>
                <c:ptCount val="2"/>
                <c:pt idx="0">
                  <c:v>5.222610409388158</c:v>
                </c:pt>
                <c:pt idx="1">
                  <c:v>5.48686690502066</c:v>
                </c:pt>
              </c:numCache>
            </c:numRef>
          </c:val>
        </c:ser>
        <c:ser>
          <c:idx val="6"/>
          <c:order val="6"/>
          <c:tx>
            <c:strRef>
              <c:f>Sheet1!$H$1</c:f>
              <c:strCache>
                <c:ptCount val="1"/>
                <c:pt idx="0">
                  <c:v>Rest of Western Europe</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Sheet1!$H$2:$H$3</c:f>
              <c:numCache>
                <c:formatCode>General</c:formatCode>
                <c:ptCount val="2"/>
                <c:pt idx="0">
                  <c:v>3.678446654125235</c:v>
                </c:pt>
                <c:pt idx="1">
                  <c:v>4.043442727665688</c:v>
                </c:pt>
              </c:numCache>
            </c:numRef>
          </c:val>
        </c:ser>
        <c:ser>
          <c:idx val="7"/>
          <c:order val="7"/>
          <c:tx>
            <c:strRef>
              <c:f>Sheet1!$I$1</c:f>
              <c:strCache>
                <c:ptCount val="1"/>
                <c:pt idx="0">
                  <c:v>Nordics</c:v>
                </c:pt>
              </c:strCache>
            </c:strRef>
          </c:tx>
          <c:spPr>
            <a:solidFill>
              <a:srgbClr val="7D72E5"/>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Sheet1!$I$2:$I$3</c:f>
              <c:numCache>
                <c:formatCode>General</c:formatCode>
                <c:ptCount val="2"/>
                <c:pt idx="0">
                  <c:v>3.103164471916152</c:v>
                </c:pt>
                <c:pt idx="1">
                  <c:v>3.07165145016179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Germany</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Sheet1!$B$2:$B$3</c:f>
              <c:numCache>
                <c:formatCode>General</c:formatCode>
                <c:ptCount val="2"/>
                <c:pt idx="0">
                  <c:v>26.916942655658826</c:v>
                </c:pt>
                <c:pt idx="1">
                  <c:v>26.348873520692624</c:v>
                </c:pt>
              </c:numCache>
            </c:numRef>
          </c:val>
        </c:ser>
        <c:ser>
          <c:idx val="1"/>
          <c:order val="1"/>
          <c:tx>
            <c:strRef>
              <c:f>Sheet1!$C$1</c:f>
              <c:strCache>
                <c:ptCount val="1"/>
                <c:pt idx="0">
                  <c:v>France</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Sheet1!$C$2:$C$3</c:f>
              <c:numCache>
                <c:formatCode>General</c:formatCode>
                <c:ptCount val="2"/>
                <c:pt idx="0">
                  <c:v>20.960958848851806</c:v>
                </c:pt>
                <c:pt idx="1">
                  <c:v>20.0607344331534</c:v>
                </c:pt>
              </c:numCache>
            </c:numRef>
          </c:val>
        </c:ser>
        <c:ser>
          <c:idx val="2"/>
          <c:order val="2"/>
          <c:tx>
            <c:strRef>
              <c:f>Sheet1!$D$1</c:f>
              <c:strCache>
                <c:ptCount val="1"/>
                <c:pt idx="0">
                  <c:v>Italy</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Sheet1!$D$2:$D$3</c:f>
              <c:numCache>
                <c:formatCode>General</c:formatCode>
                <c:ptCount val="2"/>
                <c:pt idx="0">
                  <c:v>15.064965154019442</c:v>
                </c:pt>
                <c:pt idx="1">
                  <c:v>15.944809192780566</c:v>
                </c:pt>
              </c:numCache>
            </c:numRef>
          </c:val>
        </c:ser>
        <c:ser>
          <c:idx val="3"/>
          <c:order val="3"/>
          <c:tx>
            <c:strRef>
              <c:f>Sheet1!$E$1</c:f>
              <c:strCache>
                <c:ptCount val="1"/>
                <c:pt idx="0">
                  <c:v>U.K.</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Sheet1!$E$2:$E$3</c:f>
              <c:numCache>
                <c:formatCode>General</c:formatCode>
                <c:ptCount val="2"/>
                <c:pt idx="0">
                  <c:v>16.528861794504216</c:v>
                </c:pt>
                <c:pt idx="1">
                  <c:v>15.757726784102037</c:v>
                </c:pt>
              </c:numCache>
            </c:numRef>
          </c:val>
        </c:ser>
        <c:ser>
          <c:idx val="4"/>
          <c:order val="4"/>
          <c:tx>
            <c:strRef>
              <c:f>Sheet1!$F$1</c:f>
              <c:strCache>
                <c:ptCount val="1"/>
                <c:pt idx="0">
                  <c:v>Spain</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Sheet1!$F$2:$F$3</c:f>
              <c:numCache>
                <c:formatCode>General</c:formatCode>
                <c:ptCount val="2"/>
                <c:pt idx="0">
                  <c:v>8.63898984925933</c:v>
                </c:pt>
                <c:pt idx="1">
                  <c:v>9.404857183160038</c:v>
                </c:pt>
              </c:numCache>
            </c:numRef>
          </c:val>
        </c:ser>
        <c:ser>
          <c:idx val="5"/>
          <c:order val="5"/>
          <c:tx>
            <c:strRef>
              <c:f>Sheet1!$G$1</c:f>
              <c:strCache>
                <c:ptCount val="1"/>
                <c:pt idx="0">
                  <c:v>BENELUX</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Sheet1!$G$2:$G$3</c:f>
              <c:numCache>
                <c:formatCode>General</c:formatCode>
                <c:ptCount val="2"/>
                <c:pt idx="0">
                  <c:v>5.221966862013778</c:v>
                </c:pt>
                <c:pt idx="1">
                  <c:v>5.489259786000174</c:v>
                </c:pt>
              </c:numCache>
            </c:numRef>
          </c:val>
        </c:ser>
        <c:ser>
          <c:idx val="6"/>
          <c:order val="6"/>
          <c:tx>
            <c:strRef>
              <c:f>Sheet1!$H$1</c:f>
              <c:strCache>
                <c:ptCount val="1"/>
                <c:pt idx="0">
                  <c:v>Rest of Western Europe</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Sheet1!$H$2:$H$3</c:f>
              <c:numCache>
                <c:formatCode>General</c:formatCode>
                <c:ptCount val="2"/>
                <c:pt idx="0">
                  <c:v>3.465221939280353</c:v>
                </c:pt>
                <c:pt idx="1">
                  <c:v>3.89550474646779</c:v>
                </c:pt>
              </c:numCache>
            </c:numRef>
          </c:val>
        </c:ser>
        <c:ser>
          <c:idx val="7"/>
          <c:order val="7"/>
          <c:tx>
            <c:strRef>
              <c:f>Sheet1!$I$1</c:f>
              <c:strCache>
                <c:ptCount val="1"/>
                <c:pt idx="0">
                  <c:v>Nordics</c:v>
                </c:pt>
              </c:strCache>
            </c:strRef>
          </c:tx>
          <c:spPr>
            <a:solidFill>
              <a:srgbClr val="7D72E5"/>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Sheet1!$I$2:$I$3</c:f>
              <c:numCache>
                <c:formatCode>General</c:formatCode>
                <c:ptCount val="2"/>
                <c:pt idx="0">
                  <c:v>3.2020928964122466</c:v>
                </c:pt>
                <c:pt idx="1">
                  <c:v>3.098234353643374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Germany</c:v>
                </c:pt>
              </c:strCache>
            </c:strRef>
          </c:tx>
          <c:spPr>
            <a:solidFill>
              <a:srgbClr val="00A4DC"/>
            </a:solidFill>
            <a:ln>
              <a:noFill/>
            </a:ln>
          </c:spPr>
          <c:dLbls>
            <c:dLbl>
              <c:idx val="0"/>
              <c:tx>
                <c:rich>
                  <a:bodyPr/>
                  <a:lstStyle/>
                  <a:p>
                    <a:r>
                      <a:rPr sz="1100">
                        <a:solidFill>
                          <a:srgbClr val="FFFFFF"/>
                        </a:solidFill>
                        <a:latin typeface="Segoe UI"/>
                      </a:rPr>
                      <a:t>79.6</a:t>
                    </a:r>
                  </a:p>
                </c:rich>
              </c:tx>
              <c:dLblPos val="ctr"/>
              <c:showLegendKey val="0"/>
              <c:showVal val="1"/>
              <c:showCatName val="0"/>
              <c:showSerName val="0"/>
              <c:showPercent val="0"/>
              <c:showBubbleSize val="0"/>
            </c:dLbl>
            <c:dLbl>
              <c:idx val="1"/>
              <c:tx>
                <c:rich>
                  <a:bodyPr/>
                  <a:lstStyle/>
                  <a:p>
                    <a:r>
                      <a:rPr sz="1100">
                        <a:solidFill>
                          <a:srgbClr val="FFFFFF"/>
                        </a:solidFill>
                        <a:latin typeface="Segoe UI"/>
                      </a:rPr>
                      <a:t>82.4</a:t>
                    </a:r>
                  </a:p>
                </c:rich>
              </c:tx>
              <c:dLblPos val="ctr"/>
              <c:showLegendKey val="0"/>
              <c:showVal val="1"/>
              <c:showCatName val="0"/>
              <c:showSerName val="0"/>
              <c:showPercent val="0"/>
              <c:showBubbleSize val="0"/>
            </c:dLbl>
            <c:dLbl>
              <c:idx val="2"/>
              <c:tx>
                <c:rich>
                  <a:bodyPr/>
                  <a:lstStyle/>
                  <a:p>
                    <a:r>
                      <a:rPr sz="1100">
                        <a:solidFill>
                          <a:srgbClr val="FFFFFF"/>
                        </a:solidFill>
                        <a:latin typeface="Segoe UI"/>
                      </a:rPr>
                      <a:t>85.3</a:t>
                    </a:r>
                  </a:p>
                </c:rich>
              </c:tx>
              <c:dLblPos val="ctr"/>
              <c:showLegendKey val="0"/>
              <c:showVal val="1"/>
              <c:showCatName val="0"/>
              <c:showSerName val="0"/>
              <c:showPercent val="0"/>
              <c:showBubbleSize val="0"/>
            </c:dLbl>
            <c:dLbl>
              <c:idx val="3"/>
              <c:tx>
                <c:rich>
                  <a:bodyPr/>
                  <a:lstStyle/>
                  <a:p>
                    <a:r>
                      <a:rPr sz="1100">
                        <a:solidFill>
                          <a:srgbClr val="FFFFFF"/>
                        </a:solidFill>
                        <a:latin typeface="Segoe UI"/>
                      </a:rPr>
                      <a:t>88.4</a:t>
                    </a:r>
                  </a:p>
                </c:rich>
              </c:tx>
              <c:dLblPos val="ctr"/>
              <c:showLegendKey val="0"/>
              <c:showVal val="1"/>
              <c:showCatName val="0"/>
              <c:showSerName val="0"/>
              <c:showPercent val="0"/>
              <c:showBubbleSize val="0"/>
            </c:dLbl>
            <c:dLbl>
              <c:idx val="4"/>
              <c:tx>
                <c:rich>
                  <a:bodyPr/>
                  <a:lstStyle/>
                  <a:p>
                    <a:r>
                      <a:rPr sz="1100">
                        <a:solidFill>
                          <a:srgbClr val="FFFFFF"/>
                        </a:solidFill>
                        <a:latin typeface="Segoe UI"/>
                      </a:rPr>
                      <a:t>91.6</a:t>
                    </a:r>
                  </a:p>
                </c:rich>
              </c:tx>
              <c:dLblPos val="ctr"/>
              <c:showLegendKey val="0"/>
              <c:showVal val="1"/>
              <c:showCatName val="0"/>
              <c:showSerName val="0"/>
              <c:showPercent val="0"/>
              <c:showBubbleSize val="0"/>
            </c:dLbl>
            <c:dLbl>
              <c:idx val="5"/>
              <c:tx>
                <c:rich>
                  <a:bodyPr/>
                  <a:lstStyle/>
                  <a:p>
                    <a:r>
                      <a:rPr sz="1100">
                        <a:solidFill>
                          <a:srgbClr val="FFFFFF"/>
                        </a:solidFill>
                        <a:latin typeface="Segoe UI"/>
                      </a:rPr>
                      <a:t>95.0</a:t>
                    </a:r>
                  </a:p>
                </c:rich>
              </c:tx>
              <c:dLblPos val="ctr"/>
              <c:showLegendKey val="0"/>
              <c:showVal val="1"/>
              <c:showCatName val="0"/>
              <c:showSerName val="0"/>
              <c:showPercent val="0"/>
              <c:showBubbleSize val="0"/>
            </c:dLbl>
            <c:dLbl>
              <c:idx val="6"/>
              <c:tx>
                <c:rich>
                  <a:bodyPr/>
                  <a:lstStyle/>
                  <a:p>
                    <a:r>
                      <a:rPr sz="1100">
                        <a:solidFill>
                          <a:srgbClr val="FFFFFF"/>
                        </a:solidFill>
                        <a:latin typeface="Segoe UI"/>
                      </a:rPr>
                      <a:t>98.7</a:t>
                    </a:r>
                  </a:p>
                </c:rich>
              </c:tx>
              <c:dLblPos val="ctr"/>
              <c:showLegendKey val="0"/>
              <c:showVal val="1"/>
              <c:showCatName val="0"/>
              <c:showSerName val="0"/>
              <c:showPercent val="0"/>
              <c:showBubbleSize val="0"/>
            </c:dLbl>
            <c:dLbl>
              <c:idx val="7"/>
              <c:tx>
                <c:rich>
                  <a:bodyPr/>
                  <a:lstStyle/>
                  <a:p>
                    <a:r>
                      <a:rPr sz="1100">
                        <a:solidFill>
                          <a:srgbClr val="FFFFFF"/>
                        </a:solidFill>
                        <a:latin typeface="Segoe UI"/>
                      </a:rPr>
                      <a:t>103</a:t>
                    </a:r>
                  </a:p>
                </c:rich>
              </c:tx>
              <c:dLblPos val="ctr"/>
              <c:showLegendKey val="0"/>
              <c:showVal val="1"/>
              <c:showCatName val="0"/>
              <c:showSerName val="0"/>
              <c:showPercent val="0"/>
              <c:showBubbleSize val="0"/>
            </c:dLbl>
            <c:dLbl>
              <c:idx val="8"/>
              <c:tx>
                <c:rich>
                  <a:bodyPr/>
                  <a:lstStyle/>
                  <a:p>
                    <a:r>
                      <a:rPr sz="1100">
                        <a:solidFill>
                          <a:srgbClr val="FFFFFF"/>
                        </a:solidFill>
                        <a:latin typeface="Segoe UI"/>
                      </a:rPr>
                      <a:t>107</a:t>
                    </a:r>
                  </a:p>
                </c:rich>
              </c:tx>
              <c:dLblPos val="ctr"/>
              <c:showLegendKey val="0"/>
              <c:showVal val="1"/>
              <c:showCatName val="0"/>
              <c:showSerName val="0"/>
              <c:showPercent val="0"/>
              <c:showBubbleSize val="0"/>
            </c:dLbl>
            <c:dLbl>
              <c:idx val="9"/>
              <c:tx>
                <c:rich>
                  <a:bodyPr/>
                  <a:lstStyle/>
                  <a:p>
                    <a:r>
                      <a:rPr sz="1100">
                        <a:solidFill>
                          <a:srgbClr val="FFFFFF"/>
                        </a:solidFill>
                        <a:latin typeface="Segoe UI"/>
                      </a:rPr>
                      <a:t>112</a:t>
                    </a:r>
                  </a:p>
                </c:rich>
              </c:tx>
              <c:dLblPos val="ctr"/>
              <c:showLegendKey val="0"/>
              <c:showVal val="1"/>
              <c:showCatName val="0"/>
              <c:showSerName val="0"/>
              <c:showPercent val="0"/>
              <c:showBubbleSize val="0"/>
            </c:dLbl>
            <c:dLbl>
              <c:idx val="10"/>
              <c:tx>
                <c:rich>
                  <a:bodyPr/>
                  <a:lstStyle/>
                  <a:p>
                    <a:r>
                      <a:rPr sz="1100">
                        <a:solidFill>
                          <a:srgbClr val="FFFFFF"/>
                        </a:solidFill>
                        <a:latin typeface="Segoe UI"/>
                      </a:rPr>
                      <a:t>117</a:t>
                    </a:r>
                  </a:p>
                </c:rich>
              </c:tx>
              <c:dLblPos val="ctr"/>
              <c:showLegendKey val="0"/>
              <c:showVal val="1"/>
              <c:showCatName val="0"/>
              <c:showSerName val="0"/>
              <c:showPercent val="0"/>
              <c:showBubbleSize val="0"/>
            </c:dLbl>
            <c:dLbl>
              <c:idx val="11"/>
              <c:tx>
                <c:rich>
                  <a:bodyPr/>
                  <a:lstStyle/>
                  <a:p>
                    <a:r>
                      <a:rPr sz="1100">
                        <a:solidFill>
                          <a:srgbClr val="FFFFFF"/>
                        </a:solidFill>
                        <a:latin typeface="Segoe UI"/>
                      </a:rPr>
                      <a:t>123</a:t>
                    </a:r>
                  </a:p>
                </c:rich>
              </c:tx>
              <c:dLblPos val="ctr"/>
              <c:showLegendKey val="0"/>
              <c:showVal val="1"/>
              <c:showCatName val="0"/>
              <c:showSerName val="0"/>
              <c:showPercent val="0"/>
              <c:showBubbleSize val="0"/>
            </c:dLbl>
            <c:dLbl>
              <c:idx val="12"/>
              <c:tx>
                <c:rich>
                  <a:bodyPr/>
                  <a:lstStyle/>
                  <a:p>
                    <a:r>
                      <a:rPr sz="1100">
                        <a:solidFill>
                          <a:srgbClr val="FFFFFF"/>
                        </a:solidFill>
                        <a:latin typeface="Segoe UI"/>
                      </a:rPr>
                      <a:t>130</a:t>
                    </a:r>
                  </a:p>
                </c:rich>
              </c:tx>
              <c:dLblPos val="ctr"/>
              <c:showLegendKey val="0"/>
              <c:showVal val="1"/>
              <c:showCatName val="0"/>
              <c:showSerName val="0"/>
              <c:showPercent val="0"/>
              <c:showBubbleSize val="0"/>
            </c:dLbl>
            <c:dLbl>
              <c:idx val="13"/>
              <c:tx>
                <c:rich>
                  <a:bodyPr/>
                  <a:lstStyle/>
                  <a:p>
                    <a:r>
                      <a:rPr sz="1100">
                        <a:solidFill>
                          <a:srgbClr val="FFFFFF"/>
                        </a:solidFill>
                        <a:latin typeface="Segoe UI"/>
                      </a:rPr>
                      <a:t>136</a:t>
                    </a:r>
                  </a:p>
                </c:rich>
              </c:tx>
              <c:dLblPos val="ctr"/>
              <c:showLegendKey val="0"/>
              <c:showVal val="1"/>
              <c:showCatName val="0"/>
              <c:showSerName val="0"/>
              <c:showPercent val="0"/>
              <c:showBubbleSize val="0"/>
            </c:dLbl>
            <c:dLbl>
              <c:idx val="14"/>
              <c:tx>
                <c:rich>
                  <a:bodyPr/>
                  <a:lstStyle/>
                  <a:p>
                    <a:r>
                      <a:rPr sz="1100">
                        <a:solidFill>
                          <a:srgbClr val="FFFFFF"/>
                        </a:solidFill>
                        <a:latin typeface="Segoe UI"/>
                      </a:rPr>
                      <a:t>143</a:t>
                    </a:r>
                  </a:p>
                </c:rich>
              </c:tx>
              <c:dLblPos val="ctr"/>
              <c:showLegendKey val="0"/>
              <c:showVal val="1"/>
              <c:showCatName val="0"/>
              <c:showSerName val="0"/>
              <c:showPercent val="0"/>
              <c:showBubbleSize val="0"/>
            </c:dLbl>
            <c:dLbl>
              <c:idx val="15"/>
              <c:tx>
                <c:rich>
                  <a:bodyPr/>
                  <a:lstStyle/>
                  <a:p>
                    <a:r>
                      <a:rPr sz="1100">
                        <a:solidFill>
                          <a:srgbClr val="FFFFFF"/>
                        </a:solidFill>
                        <a:latin typeface="Segoe UI"/>
                      </a:rPr>
                      <a:t>150</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79.582</c:v>
                </c:pt>
                <c:pt idx="1">
                  <c:v>82.397</c:v>
                </c:pt>
                <c:pt idx="2">
                  <c:v>85.339</c:v>
                </c:pt>
                <c:pt idx="3">
                  <c:v>88.382</c:v>
                </c:pt>
                <c:pt idx="4">
                  <c:v>91.557</c:v>
                </c:pt>
                <c:pt idx="5">
                  <c:v>94.994</c:v>
                </c:pt>
                <c:pt idx="6">
                  <c:v>98.742</c:v>
                </c:pt>
                <c:pt idx="7">
                  <c:v>102.795</c:v>
                </c:pt>
                <c:pt idx="8">
                  <c:v>107.131</c:v>
                </c:pt>
                <c:pt idx="9">
                  <c:v>111.933</c:v>
                </c:pt>
                <c:pt idx="10">
                  <c:v>117.323</c:v>
                </c:pt>
                <c:pt idx="11">
                  <c:v>123.336</c:v>
                </c:pt>
                <c:pt idx="12">
                  <c:v>129.773</c:v>
                </c:pt>
                <c:pt idx="13">
                  <c:v>136.453</c:v>
                </c:pt>
                <c:pt idx="14">
                  <c:v>143.245</c:v>
                </c:pt>
                <c:pt idx="15">
                  <c:v>150.155</c:v>
                </c:pt>
              </c:numCache>
            </c:numRef>
          </c:val>
        </c:ser>
        <c:ser>
          <c:idx val="1"/>
          <c:order val="1"/>
          <c:tx>
            <c:strRef>
              <c:f>Sheet1!$C$1</c:f>
              <c:strCache>
                <c:ptCount val="1"/>
                <c:pt idx="0">
                  <c:v>France</c:v>
                </c:pt>
              </c:strCache>
            </c:strRef>
          </c:tx>
          <c:spPr>
            <a:solidFill>
              <a:srgbClr val="6ECFF2"/>
            </a:solidFill>
            <a:ln>
              <a:noFill/>
            </a:ln>
          </c:spPr>
          <c:dLbls>
            <c:dLbl>
              <c:idx val="0"/>
              <c:tx>
                <c:rich>
                  <a:bodyPr/>
                  <a:lstStyle/>
                  <a:p>
                    <a:r>
                      <a:rPr sz="1100">
                        <a:solidFill>
                          <a:srgbClr val="252423"/>
                        </a:solidFill>
                        <a:latin typeface="Segoe UI"/>
                      </a:rPr>
                      <a:t>60.1</a:t>
                    </a:r>
                  </a:p>
                </c:rich>
              </c:tx>
              <c:dLblPos val="ctr"/>
              <c:showLegendKey val="0"/>
              <c:showVal val="1"/>
              <c:showCatName val="0"/>
              <c:showSerName val="0"/>
              <c:showPercent val="0"/>
              <c:showBubbleSize val="0"/>
            </c:dLbl>
            <c:dLbl>
              <c:idx val="1"/>
              <c:tx>
                <c:rich>
                  <a:bodyPr/>
                  <a:lstStyle/>
                  <a:p>
                    <a:r>
                      <a:rPr sz="1100">
                        <a:solidFill>
                          <a:srgbClr val="252423"/>
                        </a:solidFill>
                        <a:latin typeface="Segoe UI"/>
                      </a:rPr>
                      <a:t>62.7</a:t>
                    </a:r>
                  </a:p>
                </c:rich>
              </c:tx>
              <c:dLblPos val="ctr"/>
              <c:showLegendKey val="0"/>
              <c:showVal val="1"/>
              <c:showCatName val="0"/>
              <c:showSerName val="0"/>
              <c:showPercent val="0"/>
              <c:showBubbleSize val="0"/>
            </c:dLbl>
            <c:dLbl>
              <c:idx val="2"/>
              <c:tx>
                <c:rich>
                  <a:bodyPr/>
                  <a:lstStyle/>
                  <a:p>
                    <a:r>
                      <a:rPr sz="1100">
                        <a:solidFill>
                          <a:srgbClr val="252423"/>
                        </a:solidFill>
                        <a:latin typeface="Segoe UI"/>
                      </a:rPr>
                      <a:t>65.4</a:t>
                    </a:r>
                  </a:p>
                </c:rich>
              </c:tx>
              <c:dLblPos val="ctr"/>
              <c:showLegendKey val="0"/>
              <c:showVal val="1"/>
              <c:showCatName val="0"/>
              <c:showSerName val="0"/>
              <c:showPercent val="0"/>
              <c:showBubbleSize val="0"/>
            </c:dLbl>
            <c:dLbl>
              <c:idx val="3"/>
              <c:tx>
                <c:rich>
                  <a:bodyPr/>
                  <a:lstStyle/>
                  <a:p>
                    <a:r>
                      <a:rPr sz="1100">
                        <a:solidFill>
                          <a:srgbClr val="252423"/>
                        </a:solidFill>
                        <a:latin typeface="Segoe UI"/>
                      </a:rPr>
                      <a:t>68.5</a:t>
                    </a:r>
                  </a:p>
                </c:rich>
              </c:tx>
              <c:dLblPos val="ctr"/>
              <c:showLegendKey val="0"/>
              <c:showVal val="1"/>
              <c:showCatName val="0"/>
              <c:showSerName val="0"/>
              <c:showPercent val="0"/>
              <c:showBubbleSize val="0"/>
            </c:dLbl>
            <c:dLbl>
              <c:idx val="4"/>
              <c:tx>
                <c:rich>
                  <a:bodyPr/>
                  <a:lstStyle/>
                  <a:p>
                    <a:r>
                      <a:rPr sz="1100">
                        <a:solidFill>
                          <a:srgbClr val="252423"/>
                        </a:solidFill>
                        <a:latin typeface="Segoe UI"/>
                      </a:rPr>
                      <a:t>71.7</a:t>
                    </a:r>
                  </a:p>
                </c:rich>
              </c:tx>
              <c:dLblPos val="ctr"/>
              <c:showLegendKey val="0"/>
              <c:showVal val="1"/>
              <c:showCatName val="0"/>
              <c:showSerName val="0"/>
              <c:showPercent val="0"/>
              <c:showBubbleSize val="0"/>
            </c:dLbl>
            <c:dLbl>
              <c:idx val="5"/>
              <c:tx>
                <c:rich>
                  <a:bodyPr/>
                  <a:lstStyle/>
                  <a:p>
                    <a:r>
                      <a:rPr sz="1100">
                        <a:solidFill>
                          <a:srgbClr val="252423"/>
                        </a:solidFill>
                        <a:latin typeface="Segoe UI"/>
                      </a:rPr>
                      <a:t>75.2</a:t>
                    </a:r>
                  </a:p>
                </c:rich>
              </c:tx>
              <c:dLblPos val="ctr"/>
              <c:showLegendKey val="0"/>
              <c:showVal val="1"/>
              <c:showCatName val="0"/>
              <c:showSerName val="0"/>
              <c:showPercent val="0"/>
              <c:showBubbleSize val="0"/>
            </c:dLbl>
            <c:dLbl>
              <c:idx val="6"/>
              <c:tx>
                <c:rich>
                  <a:bodyPr/>
                  <a:lstStyle/>
                  <a:p>
                    <a:r>
                      <a:rPr sz="1100">
                        <a:solidFill>
                          <a:srgbClr val="252423"/>
                        </a:solidFill>
                        <a:latin typeface="Segoe UI"/>
                      </a:rPr>
                      <a:t>79.0</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82.9</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87.0</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91.1</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95.4</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99.6</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104</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109</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113</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118</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0">
                  <c:v>60.099</c:v>
                </c:pt>
                <c:pt idx="1">
                  <c:v>62.653</c:v>
                </c:pt>
                <c:pt idx="2">
                  <c:v>65.441</c:v>
                </c:pt>
                <c:pt idx="3">
                  <c:v>68.463</c:v>
                </c:pt>
                <c:pt idx="4">
                  <c:v>71.742</c:v>
                </c:pt>
                <c:pt idx="5">
                  <c:v>75.248</c:v>
                </c:pt>
                <c:pt idx="6">
                  <c:v>78.983</c:v>
                </c:pt>
                <c:pt idx="7">
                  <c:v>82.908</c:v>
                </c:pt>
                <c:pt idx="8">
                  <c:v>86.978</c:v>
                </c:pt>
                <c:pt idx="9">
                  <c:v>91.13</c:v>
                </c:pt>
                <c:pt idx="10">
                  <c:v>95.36</c:v>
                </c:pt>
                <c:pt idx="11">
                  <c:v>99.614</c:v>
                </c:pt>
                <c:pt idx="12">
                  <c:v>104.019</c:v>
                </c:pt>
                <c:pt idx="13">
                  <c:v>108.518</c:v>
                </c:pt>
                <c:pt idx="14">
                  <c:v>113.076</c:v>
                </c:pt>
                <c:pt idx="15">
                  <c:v>117.659</c:v>
                </c:pt>
              </c:numCache>
            </c:numRef>
          </c:val>
        </c:ser>
        <c:ser>
          <c:idx val="2"/>
          <c:order val="2"/>
          <c:tx>
            <c:strRef>
              <c:f>Sheet1!$D$1</c:f>
              <c:strCache>
                <c:ptCount val="1"/>
                <c:pt idx="0">
                  <c:v>U.K.</c:v>
                </c:pt>
              </c:strCache>
            </c:strRef>
          </c:tx>
          <c:spPr>
            <a:solidFill>
              <a:srgbClr val="D6CAC4"/>
            </a:solidFill>
            <a:ln>
              <a:noFill/>
            </a:ln>
          </c:spPr>
          <c:dLbls>
            <c:dLbl>
              <c:idx val="0"/>
              <c:tx>
                <c:rich>
                  <a:bodyPr/>
                  <a:lstStyle/>
                  <a:p>
                    <a:r>
                      <a:rPr sz="1100">
                        <a:solidFill>
                          <a:srgbClr val="252423"/>
                        </a:solidFill>
                        <a:latin typeface="Segoe UI"/>
                      </a:rPr>
                      <a:t>49.7</a:t>
                    </a:r>
                  </a:p>
                </c:rich>
              </c:tx>
              <c:dLblPos val="ctr"/>
              <c:showLegendKey val="0"/>
              <c:showVal val="1"/>
              <c:showCatName val="0"/>
              <c:showSerName val="0"/>
              <c:showPercent val="0"/>
              <c:showBubbleSize val="0"/>
            </c:dLbl>
            <c:dLbl>
              <c:idx val="1"/>
              <c:tx>
                <c:rich>
                  <a:bodyPr/>
                  <a:lstStyle/>
                  <a:p>
                    <a:r>
                      <a:rPr sz="1100">
                        <a:solidFill>
                          <a:srgbClr val="252423"/>
                        </a:solidFill>
                        <a:latin typeface="Segoe UI"/>
                      </a:rPr>
                      <a:t>51.7</a:t>
                    </a:r>
                  </a:p>
                </c:rich>
              </c:tx>
              <c:dLblPos val="ctr"/>
              <c:showLegendKey val="0"/>
              <c:showVal val="1"/>
              <c:showCatName val="0"/>
              <c:showSerName val="0"/>
              <c:showPercent val="0"/>
              <c:showBubbleSize val="0"/>
            </c:dLbl>
            <c:dLbl>
              <c:idx val="2"/>
              <c:tx>
                <c:rich>
                  <a:bodyPr/>
                  <a:lstStyle/>
                  <a:p>
                    <a:r>
                      <a:rPr sz="1100">
                        <a:solidFill>
                          <a:srgbClr val="252423"/>
                        </a:solidFill>
                        <a:latin typeface="Segoe UI"/>
                      </a:rPr>
                      <a:t>53.8</a:t>
                    </a:r>
                  </a:p>
                </c:rich>
              </c:tx>
              <c:dLblPos val="ctr"/>
              <c:showLegendKey val="0"/>
              <c:showVal val="1"/>
              <c:showCatName val="0"/>
              <c:showSerName val="0"/>
              <c:showPercent val="0"/>
              <c:showBubbleSize val="0"/>
            </c:dLbl>
            <c:dLbl>
              <c:idx val="3"/>
              <c:tx>
                <c:rich>
                  <a:bodyPr/>
                  <a:lstStyle/>
                  <a:p>
                    <a:r>
                      <a:rPr sz="1100">
                        <a:solidFill>
                          <a:srgbClr val="252423"/>
                        </a:solidFill>
                        <a:latin typeface="Segoe UI"/>
                      </a:rPr>
                      <a:t>55.9</a:t>
                    </a:r>
                  </a:p>
                </c:rich>
              </c:tx>
              <c:dLblPos val="ctr"/>
              <c:showLegendKey val="0"/>
              <c:showVal val="1"/>
              <c:showCatName val="0"/>
              <c:showSerName val="0"/>
              <c:showPercent val="0"/>
              <c:showBubbleSize val="0"/>
            </c:dLbl>
            <c:dLbl>
              <c:idx val="4"/>
              <c:tx>
                <c:rich>
                  <a:bodyPr/>
                  <a:lstStyle/>
                  <a:p>
                    <a:r>
                      <a:rPr sz="1100">
                        <a:solidFill>
                          <a:srgbClr val="252423"/>
                        </a:solidFill>
                        <a:latin typeface="Segoe UI"/>
                      </a:rPr>
                      <a:t>58.1</a:t>
                    </a:r>
                  </a:p>
                </c:rich>
              </c:tx>
              <c:dLblPos val="ctr"/>
              <c:showLegendKey val="0"/>
              <c:showVal val="1"/>
              <c:showCatName val="0"/>
              <c:showSerName val="0"/>
              <c:showPercent val="0"/>
              <c:showBubbleSize val="0"/>
            </c:dLbl>
            <c:dLbl>
              <c:idx val="5"/>
              <c:tx>
                <c:rich>
                  <a:bodyPr/>
                  <a:lstStyle/>
                  <a:p>
                    <a:r>
                      <a:rPr sz="1100">
                        <a:solidFill>
                          <a:srgbClr val="252423"/>
                        </a:solidFill>
                        <a:latin typeface="Segoe UI"/>
                      </a:rPr>
                      <a:t>60.4</a:t>
                    </a:r>
                  </a:p>
                </c:rich>
              </c:tx>
              <c:dLblPos val="ctr"/>
              <c:showLegendKey val="0"/>
              <c:showVal val="1"/>
              <c:showCatName val="0"/>
              <c:showSerName val="0"/>
              <c:showPercent val="0"/>
              <c:showBubbleSize val="0"/>
            </c:dLbl>
            <c:dLbl>
              <c:idx val="6"/>
              <c:tx>
                <c:rich>
                  <a:bodyPr/>
                  <a:lstStyle/>
                  <a:p>
                    <a:r>
                      <a:rPr sz="1100">
                        <a:solidFill>
                          <a:srgbClr val="252423"/>
                        </a:solidFill>
                        <a:latin typeface="Segoe UI"/>
                      </a:rPr>
                      <a:t>62.8</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65.5</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68.5</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71.6</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74.8</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78.1</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81.6</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85.1</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88.7</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92.3</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Sheet1!$D$2:$D$17</c:f>
              <c:numCache>
                <c:formatCode>General</c:formatCode>
                <c:ptCount val="16"/>
                <c:pt idx="0">
                  <c:v>49.659</c:v>
                </c:pt>
                <c:pt idx="1">
                  <c:v>51.685</c:v>
                </c:pt>
                <c:pt idx="2">
                  <c:v>53.777</c:v>
                </c:pt>
                <c:pt idx="3">
                  <c:v>55.899</c:v>
                </c:pt>
                <c:pt idx="4">
                  <c:v>58.077</c:v>
                </c:pt>
                <c:pt idx="5">
                  <c:v>60.376</c:v>
                </c:pt>
                <c:pt idx="6">
                  <c:v>62.842</c:v>
                </c:pt>
                <c:pt idx="7">
                  <c:v>65.525</c:v>
                </c:pt>
                <c:pt idx="8">
                  <c:v>68.454</c:v>
                </c:pt>
                <c:pt idx="9">
                  <c:v>71.572</c:v>
                </c:pt>
                <c:pt idx="10">
                  <c:v>74.797</c:v>
                </c:pt>
                <c:pt idx="11">
                  <c:v>78.121</c:v>
                </c:pt>
                <c:pt idx="12">
                  <c:v>81.571</c:v>
                </c:pt>
                <c:pt idx="13">
                  <c:v>85.098</c:v>
                </c:pt>
                <c:pt idx="14">
                  <c:v>88.673</c:v>
                </c:pt>
                <c:pt idx="15">
                  <c:v>92.285</c:v>
                </c:pt>
              </c:numCache>
            </c:numRef>
          </c:val>
        </c:ser>
        <c:ser>
          <c:idx val="3"/>
          <c:order val="3"/>
          <c:tx>
            <c:strRef>
              <c:f>Sheet1!$E$1</c:f>
              <c:strCache>
                <c:ptCount val="1"/>
                <c:pt idx="0">
                  <c:v>Italy</c:v>
                </c:pt>
              </c:strCache>
            </c:strRef>
          </c:tx>
          <c:spPr>
            <a:solidFill>
              <a:srgbClr val="EBC46B"/>
            </a:solidFill>
            <a:ln>
              <a:noFill/>
            </a:ln>
          </c:spPr>
          <c:dLbls>
            <c:dLbl>
              <c:idx val="0"/>
              <c:tx>
                <c:rich>
                  <a:bodyPr/>
                  <a:lstStyle/>
                  <a:p>
                    <a:r>
                      <a:rPr sz="1100">
                        <a:solidFill>
                          <a:srgbClr val="252423"/>
                        </a:solidFill>
                        <a:latin typeface="Segoe UI"/>
                      </a:rPr>
                      <a:t>40.5</a:t>
                    </a:r>
                  </a:p>
                </c:rich>
              </c:tx>
              <c:dLblPos val="ctr"/>
              <c:showLegendKey val="0"/>
              <c:showVal val="1"/>
              <c:showCatName val="0"/>
              <c:showSerName val="0"/>
              <c:showPercent val="0"/>
              <c:showBubbleSize val="0"/>
            </c:dLbl>
            <c:dLbl>
              <c:idx val="1"/>
              <c:tx>
                <c:rich>
                  <a:bodyPr/>
                  <a:lstStyle/>
                  <a:p>
                    <a:r>
                      <a:rPr sz="1100">
                        <a:solidFill>
                          <a:srgbClr val="252423"/>
                        </a:solidFill>
                        <a:latin typeface="Segoe UI"/>
                      </a:rPr>
                      <a:t>42.3</a:t>
                    </a:r>
                  </a:p>
                </c:rich>
              </c:tx>
              <c:dLblPos val="ctr"/>
              <c:showLegendKey val="0"/>
              <c:showVal val="1"/>
              <c:showCatName val="0"/>
              <c:showSerName val="0"/>
              <c:showPercent val="0"/>
              <c:showBubbleSize val="0"/>
            </c:dLbl>
            <c:dLbl>
              <c:idx val="2"/>
              <c:tx>
                <c:rich>
                  <a:bodyPr/>
                  <a:lstStyle/>
                  <a:p>
                    <a:r>
                      <a:rPr sz="1100">
                        <a:solidFill>
                          <a:srgbClr val="252423"/>
                        </a:solidFill>
                        <a:latin typeface="Segoe UI"/>
                      </a:rPr>
                      <a:t>44.3</a:t>
                    </a:r>
                  </a:p>
                </c:rich>
              </c:tx>
              <c:dLblPos val="ctr"/>
              <c:showLegendKey val="0"/>
              <c:showVal val="1"/>
              <c:showCatName val="0"/>
              <c:showSerName val="0"/>
              <c:showPercent val="0"/>
              <c:showBubbleSize val="0"/>
            </c:dLbl>
            <c:dLbl>
              <c:idx val="3"/>
              <c:tx>
                <c:rich>
                  <a:bodyPr/>
                  <a:lstStyle/>
                  <a:p>
                    <a:r>
                      <a:rPr sz="1100">
                        <a:solidFill>
                          <a:srgbClr val="252423"/>
                        </a:solidFill>
                        <a:latin typeface="Segoe UI"/>
                      </a:rPr>
                      <a:t>46.4</a:t>
                    </a:r>
                  </a:p>
                </c:rich>
              </c:tx>
              <c:dLblPos val="ctr"/>
              <c:showLegendKey val="0"/>
              <c:showVal val="1"/>
              <c:showCatName val="0"/>
              <c:showSerName val="0"/>
              <c:showPercent val="0"/>
              <c:showBubbleSize val="0"/>
            </c:dLbl>
            <c:dLbl>
              <c:idx val="4"/>
              <c:tx>
                <c:rich>
                  <a:bodyPr/>
                  <a:lstStyle/>
                  <a:p>
                    <a:r>
                      <a:rPr sz="1100">
                        <a:solidFill>
                          <a:srgbClr val="252423"/>
                        </a:solidFill>
                        <a:latin typeface="Segoe UI"/>
                      </a:rPr>
                      <a:t>48.5</a:t>
                    </a:r>
                  </a:p>
                </c:rich>
              </c:tx>
              <c:dLblPos val="ctr"/>
              <c:showLegendKey val="0"/>
              <c:showVal val="1"/>
              <c:showCatName val="0"/>
              <c:showSerName val="0"/>
              <c:showPercent val="0"/>
              <c:showBubbleSize val="0"/>
            </c:dLbl>
            <c:dLbl>
              <c:idx val="5"/>
              <c:tx>
                <c:rich>
                  <a:bodyPr/>
                  <a:lstStyle/>
                  <a:p>
                    <a:r>
                      <a:rPr sz="1100">
                        <a:solidFill>
                          <a:srgbClr val="252423"/>
                        </a:solidFill>
                        <a:latin typeface="Segoe UI"/>
                      </a:rPr>
                      <a:t>50.8</a:t>
                    </a:r>
                  </a:p>
                </c:rich>
              </c:tx>
              <c:dLblPos val="ctr"/>
              <c:showLegendKey val="0"/>
              <c:showVal val="1"/>
              <c:showCatName val="0"/>
              <c:showSerName val="0"/>
              <c:showPercent val="0"/>
              <c:showBubbleSize val="0"/>
            </c:dLbl>
            <c:dLbl>
              <c:idx val="6"/>
              <c:tx>
                <c:rich>
                  <a:bodyPr/>
                  <a:lstStyle/>
                  <a:p>
                    <a:r>
                      <a:rPr sz="1100">
                        <a:solidFill>
                          <a:srgbClr val="252423"/>
                        </a:solidFill>
                        <a:latin typeface="Segoe UI"/>
                      </a:rPr>
                      <a:t>53.1</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55.7</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58.4</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61.4</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64.6</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67.9</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71.3</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74.9</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78.5</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82.1</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Sheet1!$E$2:$E$17</c:f>
              <c:numCache>
                <c:formatCode>General</c:formatCode>
                <c:ptCount val="16"/>
                <c:pt idx="0">
                  <c:v>40.494</c:v>
                </c:pt>
                <c:pt idx="1">
                  <c:v>42.327</c:v>
                </c:pt>
                <c:pt idx="2">
                  <c:v>44.287</c:v>
                </c:pt>
                <c:pt idx="3">
                  <c:v>46.357</c:v>
                </c:pt>
                <c:pt idx="4">
                  <c:v>48.512</c:v>
                </c:pt>
                <c:pt idx="5">
                  <c:v>50.758</c:v>
                </c:pt>
                <c:pt idx="6">
                  <c:v>53.106</c:v>
                </c:pt>
                <c:pt idx="7">
                  <c:v>55.652</c:v>
                </c:pt>
                <c:pt idx="8">
                  <c:v>58.441</c:v>
                </c:pt>
                <c:pt idx="9">
                  <c:v>61.447</c:v>
                </c:pt>
                <c:pt idx="10">
                  <c:v>64.609</c:v>
                </c:pt>
                <c:pt idx="11">
                  <c:v>67.886</c:v>
                </c:pt>
                <c:pt idx="12">
                  <c:v>71.321</c:v>
                </c:pt>
                <c:pt idx="13">
                  <c:v>74.869</c:v>
                </c:pt>
                <c:pt idx="14">
                  <c:v>78.471</c:v>
                </c:pt>
                <c:pt idx="15">
                  <c:v>82.106</c:v>
                </c:pt>
              </c:numCache>
            </c:numRef>
          </c:val>
        </c:ser>
        <c:ser>
          <c:idx val="4"/>
          <c:order val="4"/>
          <c:tx>
            <c:strRef>
              <c:f>Sheet1!$F$1</c:f>
              <c:strCache>
                <c:ptCount val="1"/>
                <c:pt idx="0">
                  <c:v>Spain</c:v>
                </c:pt>
              </c:strCache>
            </c:strRef>
          </c:tx>
          <c:spPr>
            <a:solidFill>
              <a:srgbClr val="EDA28B"/>
            </a:solidFill>
            <a:ln>
              <a:noFill/>
            </a:ln>
          </c:spPr>
          <c:dLbls>
            <c:dLbl>
              <c:idx val="6"/>
              <c:tx>
                <c:rich>
                  <a:bodyPr/>
                  <a:lstStyle/>
                  <a:p>
                    <a:r>
                      <a:rPr sz="1100">
                        <a:solidFill>
                          <a:srgbClr val="252423"/>
                        </a:solidFill>
                        <a:latin typeface="Segoe UI"/>
                      </a:rPr>
                      <a:t>34.9</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37.0</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39.3</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41.7</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44.2</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46.7</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49.2</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51.8</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54.5</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57.2</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Sheet1!$F$2:$F$17</c:f>
              <c:numCache>
                <c:formatCode>General</c:formatCode>
                <c:ptCount val="16"/>
                <c:pt idx="0">
                  <c:v>24.767</c:v>
                </c:pt>
                <c:pt idx="1">
                  <c:v>26.18</c:v>
                </c:pt>
                <c:pt idx="2">
                  <c:v>27.688</c:v>
                </c:pt>
                <c:pt idx="3">
                  <c:v>29.317</c:v>
                </c:pt>
                <c:pt idx="4">
                  <c:v>31.088</c:v>
                </c:pt>
                <c:pt idx="5">
                  <c:v>32.959</c:v>
                </c:pt>
                <c:pt idx="6">
                  <c:v>34.945</c:v>
                </c:pt>
                <c:pt idx="7">
                  <c:v>37.047</c:v>
                </c:pt>
                <c:pt idx="8">
                  <c:v>39.295</c:v>
                </c:pt>
                <c:pt idx="9">
                  <c:v>41.677</c:v>
                </c:pt>
                <c:pt idx="10">
                  <c:v>44.156</c:v>
                </c:pt>
                <c:pt idx="11">
                  <c:v>46.673</c:v>
                </c:pt>
                <c:pt idx="12">
                  <c:v>49.21</c:v>
                </c:pt>
                <c:pt idx="13">
                  <c:v>51.821</c:v>
                </c:pt>
                <c:pt idx="14">
                  <c:v>54.487</c:v>
                </c:pt>
                <c:pt idx="15">
                  <c:v>57.204</c:v>
                </c:pt>
              </c:numCache>
            </c:numRef>
          </c:val>
        </c:ser>
        <c:ser>
          <c:idx val="5"/>
          <c:order val="5"/>
          <c:tx>
            <c:strRef>
              <c:f>Sheet1!$G$1</c:f>
              <c:strCache>
                <c:ptCount val="1"/>
                <c:pt idx="0">
                  <c:v>BENELUX</c:v>
                </c:pt>
              </c:strCache>
            </c:strRef>
          </c:tx>
          <c:spPr>
            <a:solidFill>
              <a:srgbClr val="C4E2F4"/>
            </a:solidFill>
            <a:ln>
              <a:noFill/>
            </a:ln>
          </c:spPr>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Sheet1!$G$2:$G$17</c:f>
              <c:numCache>
                <c:formatCode>General</c:formatCode>
                <c:ptCount val="16"/>
                <c:pt idx="0">
                  <c:v>14.191</c:v>
                </c:pt>
                <c:pt idx="1">
                  <c:v>15.089</c:v>
                </c:pt>
                <c:pt idx="2">
                  <c:v>15.986</c:v>
                </c:pt>
                <c:pt idx="3">
                  <c:v>16.877</c:v>
                </c:pt>
                <c:pt idx="4">
                  <c:v>17.765</c:v>
                </c:pt>
                <c:pt idx="5">
                  <c:v>18.656</c:v>
                </c:pt>
                <c:pt idx="6">
                  <c:v>19.591</c:v>
                </c:pt>
                <c:pt idx="7">
                  <c:v>20.581</c:v>
                </c:pt>
                <c:pt idx="8">
                  <c:v>21.634</c:v>
                </c:pt>
                <c:pt idx="9">
                  <c:v>22.778</c:v>
                </c:pt>
                <c:pt idx="10">
                  <c:v>24.012</c:v>
                </c:pt>
                <c:pt idx="11">
                  <c:v>25.343</c:v>
                </c:pt>
                <c:pt idx="12">
                  <c:v>26.764</c:v>
                </c:pt>
                <c:pt idx="13">
                  <c:v>28.254</c:v>
                </c:pt>
                <c:pt idx="14">
                  <c:v>29.783</c:v>
                </c:pt>
                <c:pt idx="15">
                  <c:v>31.353</c:v>
                </c:pt>
              </c:numCache>
            </c:numRef>
          </c:val>
        </c:ser>
        <c:ser>
          <c:idx val="6"/>
          <c:order val="6"/>
          <c:tx>
            <c:strRef>
              <c:f>Sheet1!$H$1</c:f>
              <c:strCache>
                <c:ptCount val="1"/>
                <c:pt idx="0">
                  <c:v>Rest of Western Europe</c:v>
                </c:pt>
              </c:strCache>
            </c:strRef>
          </c:tx>
          <c:spPr>
            <a:solidFill>
              <a:srgbClr val="9AB3C7"/>
            </a:solidFill>
            <a:ln>
              <a:noFill/>
            </a:ln>
          </c:spPr>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Sheet1!$H$2:$H$17</c:f>
              <c:numCache>
                <c:formatCode>General</c:formatCode>
                <c:ptCount val="16"/>
                <c:pt idx="0">
                  <c:v>9.603</c:v>
                </c:pt>
                <c:pt idx="1">
                  <c:v>10.174</c:v>
                </c:pt>
                <c:pt idx="2">
                  <c:v>10.81</c:v>
                </c:pt>
                <c:pt idx="3">
                  <c:v>11.516</c:v>
                </c:pt>
                <c:pt idx="4">
                  <c:v>12.299</c:v>
                </c:pt>
                <c:pt idx="5">
                  <c:v>13.14</c:v>
                </c:pt>
                <c:pt idx="6">
                  <c:v>14.033</c:v>
                </c:pt>
                <c:pt idx="7">
                  <c:v>14.957</c:v>
                </c:pt>
                <c:pt idx="8">
                  <c:v>15.896</c:v>
                </c:pt>
                <c:pt idx="9">
                  <c:v>16.852</c:v>
                </c:pt>
                <c:pt idx="10">
                  <c:v>17.837</c:v>
                </c:pt>
                <c:pt idx="11">
                  <c:v>18.836</c:v>
                </c:pt>
                <c:pt idx="12">
                  <c:v>19.873</c:v>
                </c:pt>
                <c:pt idx="13">
                  <c:v>20.932</c:v>
                </c:pt>
                <c:pt idx="14">
                  <c:v>22.013</c:v>
                </c:pt>
                <c:pt idx="15">
                  <c:v>23.105</c:v>
                </c:pt>
              </c:numCache>
            </c:numRef>
          </c:val>
        </c:ser>
        <c:ser>
          <c:idx val="7"/>
          <c:order val="7"/>
          <c:tx>
            <c:strRef>
              <c:f>Sheet1!$I$1</c:f>
              <c:strCache>
                <c:ptCount val="1"/>
                <c:pt idx="0">
                  <c:v>Nordics</c:v>
                </c:pt>
              </c:strCache>
            </c:strRef>
          </c:tx>
          <c:spPr>
            <a:solidFill>
              <a:srgbClr val="7D72E5"/>
            </a:solidFill>
            <a:ln>
              <a:noFill/>
            </a:ln>
          </c:spPr>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Sheet1!$I$2:$I$17</c:f>
              <c:numCache>
                <c:formatCode>General</c:formatCode>
                <c:ptCount val="16"/>
                <c:pt idx="0">
                  <c:v>8.759</c:v>
                </c:pt>
                <c:pt idx="1">
                  <c:v>9.194</c:v>
                </c:pt>
                <c:pt idx="2">
                  <c:v>9.647</c:v>
                </c:pt>
                <c:pt idx="3">
                  <c:v>10.113</c:v>
                </c:pt>
                <c:pt idx="4">
                  <c:v>10.591</c:v>
                </c:pt>
                <c:pt idx="5">
                  <c:v>11.085</c:v>
                </c:pt>
                <c:pt idx="6">
                  <c:v>11.601</c:v>
                </c:pt>
                <c:pt idx="7">
                  <c:v>12.157</c:v>
                </c:pt>
                <c:pt idx="8">
                  <c:v>12.754</c:v>
                </c:pt>
                <c:pt idx="9">
                  <c:v>13.382</c:v>
                </c:pt>
                <c:pt idx="10">
                  <c:v>14.037</c:v>
                </c:pt>
                <c:pt idx="11">
                  <c:v>14.71</c:v>
                </c:pt>
                <c:pt idx="12">
                  <c:v>15.401</c:v>
                </c:pt>
                <c:pt idx="13">
                  <c:v>16.109</c:v>
                </c:pt>
                <c:pt idx="14">
                  <c:v>16.826</c:v>
                </c:pt>
                <c:pt idx="15">
                  <c:v>17.552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Germany</c:v>
                </c:pt>
              </c:strCache>
            </c:strRef>
          </c:tx>
          <c:spPr>
            <a:solidFill>
              <a:srgbClr val="00A4DC"/>
            </a:solidFill>
            <a:ln>
              <a:noFill/>
            </a:ln>
          </c:spPr>
          <c:dLbls>
            <c:dLbl>
              <c:idx val="0"/>
              <c:tx>
                <c:rich>
                  <a:bodyPr/>
                  <a:lstStyle/>
                  <a:p>
                    <a:r>
                      <a:rPr sz="1100">
                        <a:solidFill>
                          <a:srgbClr val="FFFFFF"/>
                        </a:solidFill>
                        <a:latin typeface="Segoe UI"/>
                      </a:rPr>
                      <a:t>317</a:t>
                    </a:r>
                  </a:p>
                </c:rich>
              </c:tx>
              <c:dLblPos val="ctr"/>
              <c:showLegendKey val="0"/>
              <c:showVal val="1"/>
              <c:showCatName val="0"/>
              <c:showSerName val="0"/>
              <c:showPercent val="0"/>
              <c:showBubbleSize val="0"/>
            </c:dLbl>
            <c:dLbl>
              <c:idx val="1"/>
              <c:tx>
                <c:rich>
                  <a:bodyPr/>
                  <a:lstStyle/>
                  <a:p>
                    <a:r>
                      <a:rPr sz="1100">
                        <a:solidFill>
                          <a:srgbClr val="FFFFFF"/>
                        </a:solidFill>
                        <a:latin typeface="Segoe UI"/>
                      </a:rPr>
                      <a:t>329</a:t>
                    </a:r>
                  </a:p>
                </c:rich>
              </c:tx>
              <c:dLblPos val="ctr"/>
              <c:showLegendKey val="0"/>
              <c:showVal val="1"/>
              <c:showCatName val="0"/>
              <c:showSerName val="0"/>
              <c:showPercent val="0"/>
              <c:showBubbleSize val="0"/>
            </c:dLbl>
            <c:dLbl>
              <c:idx val="2"/>
              <c:tx>
                <c:rich>
                  <a:bodyPr/>
                  <a:lstStyle/>
                  <a:p>
                    <a:r>
                      <a:rPr sz="1100">
                        <a:solidFill>
                          <a:srgbClr val="FFFFFF"/>
                        </a:solidFill>
                        <a:latin typeface="Segoe UI"/>
                      </a:rPr>
                      <a:t>343</a:t>
                    </a:r>
                  </a:p>
                </c:rich>
              </c:tx>
              <c:dLblPos val="ctr"/>
              <c:showLegendKey val="0"/>
              <c:showVal val="1"/>
              <c:showCatName val="0"/>
              <c:showSerName val="0"/>
              <c:showPercent val="0"/>
              <c:showBubbleSize val="0"/>
            </c:dLbl>
            <c:dLbl>
              <c:idx val="3"/>
              <c:tx>
                <c:rich>
                  <a:bodyPr/>
                  <a:lstStyle/>
                  <a:p>
                    <a:r>
                      <a:rPr sz="1100">
                        <a:solidFill>
                          <a:srgbClr val="FFFFFF"/>
                        </a:solidFill>
                        <a:latin typeface="Segoe UI"/>
                      </a:rPr>
                      <a:t>357</a:t>
                    </a:r>
                  </a:p>
                </c:rich>
              </c:tx>
              <c:dLblPos val="ctr"/>
              <c:showLegendKey val="0"/>
              <c:showVal val="1"/>
              <c:showCatName val="0"/>
              <c:showSerName val="0"/>
              <c:showPercent val="0"/>
              <c:showBubbleSize val="0"/>
            </c:dLbl>
            <c:dLbl>
              <c:idx val="4"/>
              <c:tx>
                <c:rich>
                  <a:bodyPr/>
                  <a:lstStyle/>
                  <a:p>
                    <a:r>
                      <a:rPr sz="1100">
                        <a:solidFill>
                          <a:srgbClr val="FFFFFF"/>
                        </a:solidFill>
                        <a:latin typeface="Segoe UI"/>
                      </a:rPr>
                      <a:t>372</a:t>
                    </a:r>
                  </a:p>
                </c:rich>
              </c:tx>
              <c:dLblPos val="ctr"/>
              <c:showLegendKey val="0"/>
              <c:showVal val="1"/>
              <c:showCatName val="0"/>
              <c:showSerName val="0"/>
              <c:showPercent val="0"/>
              <c:showBubbleSize val="0"/>
            </c:dLbl>
            <c:dLbl>
              <c:idx val="5"/>
              <c:tx>
                <c:rich>
                  <a:bodyPr/>
                  <a:lstStyle/>
                  <a:p>
                    <a:r>
                      <a:rPr sz="1100">
                        <a:solidFill>
                          <a:srgbClr val="FFFFFF"/>
                        </a:solidFill>
                        <a:latin typeface="Segoe UI"/>
                      </a:rPr>
                      <a:t>390</a:t>
                    </a:r>
                  </a:p>
                </c:rich>
              </c:tx>
              <c:dLblPos val="ctr"/>
              <c:showLegendKey val="0"/>
              <c:showVal val="1"/>
              <c:showCatName val="0"/>
              <c:showSerName val="0"/>
              <c:showPercent val="0"/>
              <c:showBubbleSize val="0"/>
            </c:dLbl>
            <c:dLbl>
              <c:idx val="6"/>
              <c:tx>
                <c:rich>
                  <a:bodyPr/>
                  <a:lstStyle/>
                  <a:p>
                    <a:r>
                      <a:rPr sz="1100">
                        <a:solidFill>
                          <a:srgbClr val="FFFFFF"/>
                        </a:solidFill>
                        <a:latin typeface="Segoe UI"/>
                      </a:rPr>
                      <a:t>410</a:t>
                    </a:r>
                  </a:p>
                </c:rich>
              </c:tx>
              <c:dLblPos val="ctr"/>
              <c:showLegendKey val="0"/>
              <c:showVal val="1"/>
              <c:showCatName val="0"/>
              <c:showSerName val="0"/>
              <c:showPercent val="0"/>
              <c:showBubbleSize val="0"/>
            </c:dLbl>
            <c:dLbl>
              <c:idx val="7"/>
              <c:tx>
                <c:rich>
                  <a:bodyPr/>
                  <a:lstStyle/>
                  <a:p>
                    <a:r>
                      <a:rPr sz="1100">
                        <a:solidFill>
                          <a:srgbClr val="FFFFFF"/>
                        </a:solidFill>
                        <a:latin typeface="Segoe UI"/>
                      </a:rPr>
                      <a:t>432</a:t>
                    </a:r>
                  </a:p>
                </c:rich>
              </c:tx>
              <c:dLblPos val="ctr"/>
              <c:showLegendKey val="0"/>
              <c:showVal val="1"/>
              <c:showCatName val="0"/>
              <c:showSerName val="0"/>
              <c:showPercent val="0"/>
              <c:showBubbleSize val="0"/>
            </c:dLbl>
            <c:dLbl>
              <c:idx val="8"/>
              <c:tx>
                <c:rich>
                  <a:bodyPr/>
                  <a:lstStyle/>
                  <a:p>
                    <a:r>
                      <a:rPr sz="1100">
                        <a:solidFill>
                          <a:srgbClr val="FFFFFF"/>
                        </a:solidFill>
                        <a:latin typeface="Segoe UI"/>
                      </a:rPr>
                      <a:t>456</a:t>
                    </a:r>
                  </a:p>
                </c:rich>
              </c:tx>
              <c:dLblPos val="ctr"/>
              <c:showLegendKey val="0"/>
              <c:showVal val="1"/>
              <c:showCatName val="0"/>
              <c:showSerName val="0"/>
              <c:showPercent val="0"/>
              <c:showBubbleSize val="0"/>
            </c:dLbl>
            <c:dLbl>
              <c:idx val="9"/>
              <c:tx>
                <c:rich>
                  <a:bodyPr/>
                  <a:lstStyle/>
                  <a:p>
                    <a:r>
                      <a:rPr sz="1100">
                        <a:solidFill>
                          <a:srgbClr val="FFFFFF"/>
                        </a:solidFill>
                        <a:latin typeface="Segoe UI"/>
                      </a:rPr>
                      <a:t>482</a:t>
                    </a:r>
                  </a:p>
                </c:rich>
              </c:tx>
              <c:dLblPos val="ctr"/>
              <c:showLegendKey val="0"/>
              <c:showVal val="1"/>
              <c:showCatName val="0"/>
              <c:showSerName val="0"/>
              <c:showPercent val="0"/>
              <c:showBubbleSize val="0"/>
            </c:dLbl>
            <c:dLbl>
              <c:idx val="10"/>
              <c:tx>
                <c:rich>
                  <a:bodyPr/>
                  <a:lstStyle/>
                  <a:p>
                    <a:r>
                      <a:rPr sz="1100">
                        <a:solidFill>
                          <a:srgbClr val="FFFFFF"/>
                        </a:solidFill>
                        <a:latin typeface="Segoe UI"/>
                      </a:rPr>
                      <a:t>512</a:t>
                    </a:r>
                  </a:p>
                </c:rich>
              </c:tx>
              <c:dLblPos val="ctr"/>
              <c:showLegendKey val="0"/>
              <c:showVal val="1"/>
              <c:showCatName val="0"/>
              <c:showSerName val="0"/>
              <c:showPercent val="0"/>
              <c:showBubbleSize val="0"/>
            </c:dLbl>
            <c:dLbl>
              <c:idx val="11"/>
              <c:tx>
                <c:rich>
                  <a:bodyPr/>
                  <a:lstStyle/>
                  <a:p>
                    <a:r>
                      <a:rPr sz="1100">
                        <a:solidFill>
                          <a:srgbClr val="FFFFFF"/>
                        </a:solidFill>
                        <a:latin typeface="Segoe UI"/>
                      </a:rPr>
                      <a:t>546</a:t>
                    </a:r>
                  </a:p>
                </c:rich>
              </c:tx>
              <c:dLblPos val="ctr"/>
              <c:showLegendKey val="0"/>
              <c:showVal val="1"/>
              <c:showCatName val="0"/>
              <c:showSerName val="0"/>
              <c:showPercent val="0"/>
              <c:showBubbleSize val="0"/>
            </c:dLbl>
            <c:dLbl>
              <c:idx val="12"/>
              <c:tx>
                <c:rich>
                  <a:bodyPr/>
                  <a:lstStyle/>
                  <a:p>
                    <a:r>
                      <a:rPr sz="1100">
                        <a:solidFill>
                          <a:srgbClr val="FFFFFF"/>
                        </a:solidFill>
                        <a:latin typeface="Segoe UI"/>
                      </a:rPr>
                      <a:t>582</a:t>
                    </a:r>
                  </a:p>
                </c:rich>
              </c:tx>
              <c:dLblPos val="ctr"/>
              <c:showLegendKey val="0"/>
              <c:showVal val="1"/>
              <c:showCatName val="0"/>
              <c:showSerName val="0"/>
              <c:showPercent val="0"/>
              <c:showBubbleSize val="0"/>
            </c:dLbl>
            <c:dLbl>
              <c:idx val="13"/>
              <c:tx>
                <c:rich>
                  <a:bodyPr/>
                  <a:lstStyle/>
                  <a:p>
                    <a:r>
                      <a:rPr sz="1100">
                        <a:solidFill>
                          <a:srgbClr val="FFFFFF"/>
                        </a:solidFill>
                        <a:latin typeface="Segoe UI"/>
                      </a:rPr>
                      <a:t>621</a:t>
                    </a:r>
                  </a:p>
                </c:rich>
              </c:tx>
              <c:dLblPos val="ctr"/>
              <c:showLegendKey val="0"/>
              <c:showVal val="1"/>
              <c:showCatName val="0"/>
              <c:showSerName val="0"/>
              <c:showPercent val="0"/>
              <c:showBubbleSize val="0"/>
            </c:dLbl>
            <c:dLbl>
              <c:idx val="14"/>
              <c:tx>
                <c:rich>
                  <a:bodyPr/>
                  <a:lstStyle/>
                  <a:p>
                    <a:r>
                      <a:rPr sz="1100">
                        <a:solidFill>
                          <a:srgbClr val="FFFFFF"/>
                        </a:solidFill>
                        <a:latin typeface="Segoe UI"/>
                      </a:rPr>
                      <a:t>661</a:t>
                    </a:r>
                  </a:p>
                </c:rich>
              </c:tx>
              <c:dLblPos val="ctr"/>
              <c:showLegendKey val="0"/>
              <c:showVal val="1"/>
              <c:showCatName val="0"/>
              <c:showSerName val="0"/>
              <c:showPercent val="0"/>
              <c:showBubbleSize val="0"/>
            </c:dLbl>
            <c:dLbl>
              <c:idx val="15"/>
              <c:tx>
                <c:rich>
                  <a:bodyPr/>
                  <a:lstStyle/>
                  <a:p>
                    <a:r>
                      <a:rPr sz="1100">
                        <a:solidFill>
                          <a:srgbClr val="FFFFFF"/>
                        </a:solidFill>
                        <a:latin typeface="Segoe UI"/>
                      </a:rPr>
                      <a:t>704</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316.865</c:v>
                </c:pt>
                <c:pt idx="1">
                  <c:v>329.448</c:v>
                </c:pt>
                <c:pt idx="2">
                  <c:v>342.854</c:v>
                </c:pt>
                <c:pt idx="3">
                  <c:v>357.191</c:v>
                </c:pt>
                <c:pt idx="4">
                  <c:v>372.448</c:v>
                </c:pt>
                <c:pt idx="5">
                  <c:v>390.36</c:v>
                </c:pt>
                <c:pt idx="6">
                  <c:v>410.204</c:v>
                </c:pt>
                <c:pt idx="7">
                  <c:v>432.061</c:v>
                </c:pt>
                <c:pt idx="8">
                  <c:v>455.855</c:v>
                </c:pt>
                <c:pt idx="9">
                  <c:v>482.445</c:v>
                </c:pt>
                <c:pt idx="10">
                  <c:v>512.337</c:v>
                </c:pt>
                <c:pt idx="11">
                  <c:v>545.777</c:v>
                </c:pt>
                <c:pt idx="12">
                  <c:v>582.015</c:v>
                </c:pt>
                <c:pt idx="13">
                  <c:v>620.648</c:v>
                </c:pt>
                <c:pt idx="14">
                  <c:v>661.373</c:v>
                </c:pt>
                <c:pt idx="15">
                  <c:v>704.205</c:v>
                </c:pt>
              </c:numCache>
            </c:numRef>
          </c:val>
        </c:ser>
        <c:ser>
          <c:idx val="1"/>
          <c:order val="1"/>
          <c:tx>
            <c:strRef>
              <c:f>Sheet1!$C$1</c:f>
              <c:strCache>
                <c:ptCount val="1"/>
                <c:pt idx="0">
                  <c:v>France</c:v>
                </c:pt>
              </c:strCache>
            </c:strRef>
          </c:tx>
          <c:spPr>
            <a:solidFill>
              <a:srgbClr val="6ECFF2"/>
            </a:solidFill>
            <a:ln>
              <a:noFill/>
            </a:ln>
          </c:spPr>
          <c:dLbls>
            <c:dLbl>
              <c:idx val="0"/>
              <c:tx>
                <c:rich>
                  <a:bodyPr/>
                  <a:lstStyle/>
                  <a:p>
                    <a:r>
                      <a:rPr sz="1100">
                        <a:solidFill>
                          <a:srgbClr val="252423"/>
                        </a:solidFill>
                        <a:latin typeface="Segoe UI"/>
                      </a:rPr>
                      <a:t>237</a:t>
                    </a:r>
                  </a:p>
                </c:rich>
              </c:tx>
              <c:dLblPos val="ctr"/>
              <c:showLegendKey val="0"/>
              <c:showVal val="1"/>
              <c:showCatName val="0"/>
              <c:showSerName val="0"/>
              <c:showPercent val="0"/>
              <c:showBubbleSize val="0"/>
            </c:dLbl>
            <c:dLbl>
              <c:idx val="1"/>
              <c:tx>
                <c:rich>
                  <a:bodyPr/>
                  <a:lstStyle/>
                  <a:p>
                    <a:r>
                      <a:rPr sz="1100">
                        <a:solidFill>
                          <a:srgbClr val="252423"/>
                        </a:solidFill>
                        <a:latin typeface="Segoe UI"/>
                      </a:rPr>
                      <a:t>248</a:t>
                    </a:r>
                  </a:p>
                </c:rich>
              </c:tx>
              <c:dLblPos val="ctr"/>
              <c:showLegendKey val="0"/>
              <c:showVal val="1"/>
              <c:showCatName val="0"/>
              <c:showSerName val="0"/>
              <c:showPercent val="0"/>
              <c:showBubbleSize val="0"/>
            </c:dLbl>
            <c:dLbl>
              <c:idx val="2"/>
              <c:tx>
                <c:rich>
                  <a:bodyPr/>
                  <a:lstStyle/>
                  <a:p>
                    <a:r>
                      <a:rPr sz="1100">
                        <a:solidFill>
                          <a:srgbClr val="252423"/>
                        </a:solidFill>
                        <a:latin typeface="Segoe UI"/>
                      </a:rPr>
                      <a:t>260</a:t>
                    </a:r>
                  </a:p>
                </c:rich>
              </c:tx>
              <c:dLblPos val="ctr"/>
              <c:showLegendKey val="0"/>
              <c:showVal val="1"/>
              <c:showCatName val="0"/>
              <c:showSerName val="0"/>
              <c:showPercent val="0"/>
              <c:showBubbleSize val="0"/>
            </c:dLbl>
            <c:dLbl>
              <c:idx val="3"/>
              <c:tx>
                <c:rich>
                  <a:bodyPr/>
                  <a:lstStyle/>
                  <a:p>
                    <a:r>
                      <a:rPr sz="1100">
                        <a:solidFill>
                          <a:srgbClr val="252423"/>
                        </a:solidFill>
                        <a:latin typeface="Segoe UI"/>
                      </a:rPr>
                      <a:t>273</a:t>
                    </a:r>
                  </a:p>
                </c:rich>
              </c:tx>
              <c:dLblPos val="ctr"/>
              <c:showLegendKey val="0"/>
              <c:showVal val="1"/>
              <c:showCatName val="0"/>
              <c:showSerName val="0"/>
              <c:showPercent val="0"/>
              <c:showBubbleSize val="0"/>
            </c:dLbl>
            <c:dLbl>
              <c:idx val="4"/>
              <c:tx>
                <c:rich>
                  <a:bodyPr/>
                  <a:lstStyle/>
                  <a:p>
                    <a:r>
                      <a:rPr sz="1100">
                        <a:solidFill>
                          <a:srgbClr val="252423"/>
                        </a:solidFill>
                        <a:latin typeface="Segoe UI"/>
                      </a:rPr>
                      <a:t>288</a:t>
                    </a:r>
                  </a:p>
                </c:rich>
              </c:tx>
              <c:dLblPos val="ctr"/>
              <c:showLegendKey val="0"/>
              <c:showVal val="1"/>
              <c:showCatName val="0"/>
              <c:showSerName val="0"/>
              <c:showPercent val="0"/>
              <c:showBubbleSize val="0"/>
            </c:dLbl>
            <c:dLbl>
              <c:idx val="5"/>
              <c:tx>
                <c:rich>
                  <a:bodyPr/>
                  <a:lstStyle/>
                  <a:p>
                    <a:r>
                      <a:rPr sz="1100">
                        <a:solidFill>
                          <a:srgbClr val="252423"/>
                        </a:solidFill>
                        <a:latin typeface="Segoe UI"/>
                      </a:rPr>
                      <a:t>304</a:t>
                    </a:r>
                  </a:p>
                </c:rich>
              </c:tx>
              <c:dLblPos val="ctr"/>
              <c:showLegendKey val="0"/>
              <c:showVal val="1"/>
              <c:showCatName val="0"/>
              <c:showSerName val="0"/>
              <c:showPercent val="0"/>
              <c:showBubbleSize val="0"/>
            </c:dLbl>
            <c:dLbl>
              <c:idx val="6"/>
              <c:tx>
                <c:rich>
                  <a:bodyPr/>
                  <a:lstStyle/>
                  <a:p>
                    <a:r>
                      <a:rPr sz="1100">
                        <a:solidFill>
                          <a:srgbClr val="252423"/>
                        </a:solidFill>
                        <a:latin typeface="Segoe UI"/>
                      </a:rPr>
                      <a:t>322</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341</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361</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382</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405</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428</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453</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480</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507</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536</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0">
                  <c:v>236.978</c:v>
                </c:pt>
                <c:pt idx="1">
                  <c:v>248.099</c:v>
                </c:pt>
                <c:pt idx="2">
                  <c:v>260.185</c:v>
                </c:pt>
                <c:pt idx="3">
                  <c:v>273.396</c:v>
                </c:pt>
                <c:pt idx="4">
                  <c:v>287.68</c:v>
                </c:pt>
                <c:pt idx="5">
                  <c:v>303.984</c:v>
                </c:pt>
                <c:pt idx="6">
                  <c:v>321.58</c:v>
                </c:pt>
                <c:pt idx="7">
                  <c:v>340.523</c:v>
                </c:pt>
                <c:pt idx="8">
                  <c:v>360.744</c:v>
                </c:pt>
                <c:pt idx="9">
                  <c:v>382.154</c:v>
                </c:pt>
                <c:pt idx="10">
                  <c:v>404.684</c:v>
                </c:pt>
                <c:pt idx="11">
                  <c:v>428.247</c:v>
                </c:pt>
                <c:pt idx="12">
                  <c:v>453.339</c:v>
                </c:pt>
                <c:pt idx="13">
                  <c:v>479.772</c:v>
                </c:pt>
                <c:pt idx="14">
                  <c:v>507.423</c:v>
                </c:pt>
                <c:pt idx="15">
                  <c:v>536.147</c:v>
                </c:pt>
              </c:numCache>
            </c:numRef>
          </c:val>
        </c:ser>
        <c:ser>
          <c:idx val="2"/>
          <c:order val="2"/>
          <c:tx>
            <c:strRef>
              <c:f>Sheet1!$D$1</c:f>
              <c:strCache>
                <c:ptCount val="1"/>
                <c:pt idx="0">
                  <c:v>U.K.</c:v>
                </c:pt>
              </c:strCache>
            </c:strRef>
          </c:tx>
          <c:spPr>
            <a:solidFill>
              <a:srgbClr val="D6CAC4"/>
            </a:solidFill>
            <a:ln>
              <a:noFill/>
            </a:ln>
          </c:spPr>
          <c:dLbls>
            <c:dLbl>
              <c:idx val="0"/>
              <c:tx>
                <c:rich>
                  <a:bodyPr/>
                  <a:lstStyle/>
                  <a:p>
                    <a:r>
                      <a:rPr sz="1100">
                        <a:solidFill>
                          <a:srgbClr val="252423"/>
                        </a:solidFill>
                        <a:latin typeface="Segoe UI"/>
                      </a:rPr>
                      <a:t>192</a:t>
                    </a:r>
                  </a:p>
                </c:rich>
              </c:tx>
              <c:dLblPos val="ctr"/>
              <c:showLegendKey val="0"/>
              <c:showVal val="1"/>
              <c:showCatName val="0"/>
              <c:showSerName val="0"/>
              <c:showPercent val="0"/>
              <c:showBubbleSize val="0"/>
            </c:dLbl>
            <c:dLbl>
              <c:idx val="1"/>
              <c:tx>
                <c:rich>
                  <a:bodyPr/>
                  <a:lstStyle/>
                  <a:p>
                    <a:r>
                      <a:rPr sz="1100">
                        <a:solidFill>
                          <a:srgbClr val="252423"/>
                        </a:solidFill>
                        <a:latin typeface="Segoe UI"/>
                      </a:rPr>
                      <a:t>201</a:t>
                    </a:r>
                  </a:p>
                </c:rich>
              </c:tx>
              <c:dLblPos val="ctr"/>
              <c:showLegendKey val="0"/>
              <c:showVal val="1"/>
              <c:showCatName val="0"/>
              <c:showSerName val="0"/>
              <c:showPercent val="0"/>
              <c:showBubbleSize val="0"/>
            </c:dLbl>
            <c:dLbl>
              <c:idx val="2"/>
              <c:tx>
                <c:rich>
                  <a:bodyPr/>
                  <a:lstStyle/>
                  <a:p>
                    <a:r>
                      <a:rPr sz="1100">
                        <a:solidFill>
                          <a:srgbClr val="252423"/>
                        </a:solidFill>
                        <a:latin typeface="Segoe UI"/>
                      </a:rPr>
                      <a:t>210</a:t>
                    </a:r>
                  </a:p>
                </c:rich>
              </c:tx>
              <c:dLblPos val="ctr"/>
              <c:showLegendKey val="0"/>
              <c:showVal val="1"/>
              <c:showCatName val="0"/>
              <c:showSerName val="0"/>
              <c:showPercent val="0"/>
              <c:showBubbleSize val="0"/>
            </c:dLbl>
            <c:dLbl>
              <c:idx val="3"/>
              <c:tx>
                <c:rich>
                  <a:bodyPr/>
                  <a:lstStyle/>
                  <a:p>
                    <a:r>
                      <a:rPr sz="1100">
                        <a:solidFill>
                          <a:srgbClr val="252423"/>
                        </a:solidFill>
                        <a:latin typeface="Segoe UI"/>
                      </a:rPr>
                      <a:t>219</a:t>
                    </a:r>
                  </a:p>
                </c:rich>
              </c:tx>
              <c:dLblPos val="ctr"/>
              <c:showLegendKey val="0"/>
              <c:showVal val="1"/>
              <c:showCatName val="0"/>
              <c:showSerName val="0"/>
              <c:showPercent val="0"/>
              <c:showBubbleSize val="0"/>
            </c:dLbl>
            <c:dLbl>
              <c:idx val="4"/>
              <c:tx>
                <c:rich>
                  <a:bodyPr/>
                  <a:lstStyle/>
                  <a:p>
                    <a:r>
                      <a:rPr sz="1100">
                        <a:solidFill>
                          <a:srgbClr val="252423"/>
                        </a:solidFill>
                        <a:latin typeface="Segoe UI"/>
                      </a:rPr>
                      <a:t>229</a:t>
                    </a:r>
                  </a:p>
                </c:rich>
              </c:tx>
              <c:dLblPos val="ctr"/>
              <c:showLegendKey val="0"/>
              <c:showVal val="1"/>
              <c:showCatName val="0"/>
              <c:showSerName val="0"/>
              <c:showPercent val="0"/>
              <c:showBubbleSize val="0"/>
            </c:dLbl>
            <c:dLbl>
              <c:idx val="5"/>
              <c:tx>
                <c:rich>
                  <a:bodyPr/>
                  <a:lstStyle/>
                  <a:p>
                    <a:r>
                      <a:rPr sz="1100">
                        <a:solidFill>
                          <a:srgbClr val="252423"/>
                        </a:solidFill>
                        <a:latin typeface="Segoe UI"/>
                      </a:rPr>
                      <a:t>240</a:t>
                    </a:r>
                  </a:p>
                </c:rich>
              </c:tx>
              <c:dLblPos val="ctr"/>
              <c:showLegendKey val="0"/>
              <c:showVal val="1"/>
              <c:showCatName val="0"/>
              <c:showSerName val="0"/>
              <c:showPercent val="0"/>
              <c:showBubbleSize val="0"/>
            </c:dLbl>
            <c:dLbl>
              <c:idx val="6"/>
              <c:tx>
                <c:rich>
                  <a:bodyPr/>
                  <a:lstStyle/>
                  <a:p>
                    <a:r>
                      <a:rPr sz="1100">
                        <a:solidFill>
                          <a:srgbClr val="252423"/>
                        </a:solidFill>
                        <a:latin typeface="Segoe UI"/>
                      </a:rPr>
                      <a:t>252</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265</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280</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296</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314</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333</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353</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374</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397</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421</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Sheet1!$D$2:$D$17</c:f>
              <c:numCache>
                <c:formatCode>General</c:formatCode>
                <c:ptCount val="16"/>
                <c:pt idx="0">
                  <c:v>192.421</c:v>
                </c:pt>
                <c:pt idx="1">
                  <c:v>200.938</c:v>
                </c:pt>
                <c:pt idx="2">
                  <c:v>209.851</c:v>
                </c:pt>
                <c:pt idx="3">
                  <c:v>219.118</c:v>
                </c:pt>
                <c:pt idx="4">
                  <c:v>228.747</c:v>
                </c:pt>
                <c:pt idx="5">
                  <c:v>239.708</c:v>
                </c:pt>
                <c:pt idx="6">
                  <c:v>251.743</c:v>
                </c:pt>
                <c:pt idx="7">
                  <c:v>265.149</c:v>
                </c:pt>
                <c:pt idx="8">
                  <c:v>280.089</c:v>
                </c:pt>
                <c:pt idx="9">
                  <c:v>296.467</c:v>
                </c:pt>
                <c:pt idx="10">
                  <c:v>314.037</c:v>
                </c:pt>
                <c:pt idx="11">
                  <c:v>332.806</c:v>
                </c:pt>
                <c:pt idx="12">
                  <c:v>353.004</c:v>
                </c:pt>
                <c:pt idx="13">
                  <c:v>374.498</c:v>
                </c:pt>
                <c:pt idx="14">
                  <c:v>397.174</c:v>
                </c:pt>
                <c:pt idx="15">
                  <c:v>421.144</c:v>
                </c:pt>
              </c:numCache>
            </c:numRef>
          </c:val>
        </c:ser>
        <c:ser>
          <c:idx val="3"/>
          <c:order val="3"/>
          <c:tx>
            <c:strRef>
              <c:f>Sheet1!$E$1</c:f>
              <c:strCache>
                <c:ptCount val="1"/>
                <c:pt idx="0">
                  <c:v>Italy</c:v>
                </c:pt>
              </c:strCache>
            </c:strRef>
          </c:tx>
          <c:spPr>
            <a:solidFill>
              <a:srgbClr val="EBC46B"/>
            </a:solidFill>
            <a:ln>
              <a:noFill/>
            </a:ln>
          </c:spPr>
          <c:dLbls>
            <c:dLbl>
              <c:idx val="0"/>
              <c:tx>
                <c:rich>
                  <a:bodyPr/>
                  <a:lstStyle/>
                  <a:p>
                    <a:r>
                      <a:rPr sz="1100">
                        <a:solidFill>
                          <a:srgbClr val="252423"/>
                        </a:solidFill>
                        <a:latin typeface="Segoe UI"/>
                      </a:rPr>
                      <a:t>166</a:t>
                    </a:r>
                  </a:p>
                </c:rich>
              </c:tx>
              <c:dLblPos val="ctr"/>
              <c:showLegendKey val="0"/>
              <c:showVal val="1"/>
              <c:showCatName val="0"/>
              <c:showSerName val="0"/>
              <c:showPercent val="0"/>
              <c:showBubbleSize val="0"/>
            </c:dLbl>
            <c:dLbl>
              <c:idx val="1"/>
              <c:tx>
                <c:rich>
                  <a:bodyPr/>
                  <a:lstStyle/>
                  <a:p>
                    <a:r>
                      <a:rPr sz="1100">
                        <a:solidFill>
                          <a:srgbClr val="252423"/>
                        </a:solidFill>
                        <a:latin typeface="Segoe UI"/>
                      </a:rPr>
                      <a:t>175</a:t>
                    </a:r>
                  </a:p>
                </c:rich>
              </c:tx>
              <c:dLblPos val="ctr"/>
              <c:showLegendKey val="0"/>
              <c:showVal val="1"/>
              <c:showCatName val="0"/>
              <c:showSerName val="0"/>
              <c:showPercent val="0"/>
              <c:showBubbleSize val="0"/>
            </c:dLbl>
            <c:dLbl>
              <c:idx val="2"/>
              <c:tx>
                <c:rich>
                  <a:bodyPr/>
                  <a:lstStyle/>
                  <a:p>
                    <a:r>
                      <a:rPr sz="1100">
                        <a:solidFill>
                          <a:srgbClr val="252423"/>
                        </a:solidFill>
                        <a:latin typeface="Segoe UI"/>
                      </a:rPr>
                      <a:t>184</a:t>
                    </a:r>
                  </a:p>
                </c:rich>
              </c:tx>
              <c:dLblPos val="ctr"/>
              <c:showLegendKey val="0"/>
              <c:showVal val="1"/>
              <c:showCatName val="0"/>
              <c:showSerName val="0"/>
              <c:showPercent val="0"/>
              <c:showBubbleSize val="0"/>
            </c:dLbl>
            <c:dLbl>
              <c:idx val="3"/>
              <c:tx>
                <c:rich>
                  <a:bodyPr/>
                  <a:lstStyle/>
                  <a:p>
                    <a:r>
                      <a:rPr sz="1100">
                        <a:solidFill>
                          <a:srgbClr val="252423"/>
                        </a:solidFill>
                        <a:latin typeface="Segoe UI"/>
                      </a:rPr>
                      <a:t>195</a:t>
                    </a:r>
                  </a:p>
                </c:rich>
              </c:tx>
              <c:dLblPos val="ctr"/>
              <c:showLegendKey val="0"/>
              <c:showVal val="1"/>
              <c:showCatName val="0"/>
              <c:showSerName val="0"/>
              <c:showPercent val="0"/>
              <c:showBubbleSize val="0"/>
            </c:dLbl>
            <c:dLbl>
              <c:idx val="4"/>
              <c:tx>
                <c:rich>
                  <a:bodyPr/>
                  <a:lstStyle/>
                  <a:p>
                    <a:r>
                      <a:rPr sz="1100">
                        <a:solidFill>
                          <a:srgbClr val="252423"/>
                        </a:solidFill>
                        <a:latin typeface="Segoe UI"/>
                      </a:rPr>
                      <a:t>206</a:t>
                    </a:r>
                  </a:p>
                </c:rich>
              </c:tx>
              <c:dLblPos val="ctr"/>
              <c:showLegendKey val="0"/>
              <c:showVal val="1"/>
              <c:showCatName val="0"/>
              <c:showSerName val="0"/>
              <c:showPercent val="0"/>
              <c:showBubbleSize val="0"/>
            </c:dLbl>
            <c:dLbl>
              <c:idx val="5"/>
              <c:tx>
                <c:rich>
                  <a:bodyPr/>
                  <a:lstStyle/>
                  <a:p>
                    <a:r>
                      <a:rPr sz="1100">
                        <a:solidFill>
                          <a:srgbClr val="252423"/>
                        </a:solidFill>
                        <a:latin typeface="Segoe UI"/>
                      </a:rPr>
                      <a:t>218</a:t>
                    </a:r>
                  </a:p>
                </c:rich>
              </c:tx>
              <c:dLblPos val="ctr"/>
              <c:showLegendKey val="0"/>
              <c:showVal val="1"/>
              <c:showCatName val="0"/>
              <c:showSerName val="0"/>
              <c:showPercent val="0"/>
              <c:showBubbleSize val="0"/>
            </c:dLbl>
            <c:dLbl>
              <c:idx val="6"/>
              <c:tx>
                <c:rich>
                  <a:bodyPr/>
                  <a:lstStyle/>
                  <a:p>
                    <a:r>
                      <a:rPr sz="1100">
                        <a:solidFill>
                          <a:srgbClr val="252423"/>
                        </a:solidFill>
                        <a:latin typeface="Segoe UI"/>
                      </a:rPr>
                      <a:t>232</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247</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264</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282</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302</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324</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347</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372</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398</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426</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Sheet1!$E$2:$E$17</c:f>
              <c:numCache>
                <c:formatCode>General</c:formatCode>
                <c:ptCount val="16"/>
                <c:pt idx="0">
                  <c:v>166.214</c:v>
                </c:pt>
                <c:pt idx="1">
                  <c:v>174.962</c:v>
                </c:pt>
                <c:pt idx="2">
                  <c:v>184.458</c:v>
                </c:pt>
                <c:pt idx="3">
                  <c:v>194.803</c:v>
                </c:pt>
                <c:pt idx="4">
                  <c:v>205.766</c:v>
                </c:pt>
                <c:pt idx="5">
                  <c:v>218.478</c:v>
                </c:pt>
                <c:pt idx="6">
                  <c:v>232.174</c:v>
                </c:pt>
                <c:pt idx="7">
                  <c:v>247.255</c:v>
                </c:pt>
                <c:pt idx="8">
                  <c:v>263.958</c:v>
                </c:pt>
                <c:pt idx="9">
                  <c:v>282.462</c:v>
                </c:pt>
                <c:pt idx="10">
                  <c:v>302.475</c:v>
                </c:pt>
                <c:pt idx="11">
                  <c:v>323.981</c:v>
                </c:pt>
                <c:pt idx="12">
                  <c:v>347.136</c:v>
                </c:pt>
                <c:pt idx="13">
                  <c:v>371.961</c:v>
                </c:pt>
                <c:pt idx="14">
                  <c:v>398.289</c:v>
                </c:pt>
                <c:pt idx="15">
                  <c:v>426.144</c:v>
                </c:pt>
              </c:numCache>
            </c:numRef>
          </c:val>
        </c:ser>
        <c:ser>
          <c:idx val="4"/>
          <c:order val="4"/>
          <c:tx>
            <c:strRef>
              <c:f>Sheet1!$F$1</c:f>
              <c:strCache>
                <c:ptCount val="1"/>
                <c:pt idx="0">
                  <c:v>Spain</c:v>
                </c:pt>
              </c:strCache>
            </c:strRef>
          </c:tx>
          <c:spPr>
            <a:solidFill>
              <a:srgbClr val="EDA28B"/>
            </a:solidFill>
            <a:ln>
              <a:noFill/>
            </a:ln>
          </c:spPr>
          <c:dLbls>
            <c:dLbl>
              <c:idx val="9"/>
              <c:tx>
                <c:rich>
                  <a:bodyPr/>
                  <a:lstStyle/>
                  <a:p>
                    <a:r>
                      <a:rPr sz="1100">
                        <a:solidFill>
                          <a:srgbClr val="252423"/>
                        </a:solidFill>
                        <a:latin typeface="Segoe UI"/>
                      </a:rPr>
                      <a:t>166</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178</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191</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205</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219</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235</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251</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Sheet1!$F$2:$F$17</c:f>
              <c:numCache>
                <c:formatCode>General</c:formatCode>
                <c:ptCount val="16"/>
                <c:pt idx="0">
                  <c:v>91.608</c:v>
                </c:pt>
                <c:pt idx="1">
                  <c:v>97.255</c:v>
                </c:pt>
                <c:pt idx="2">
                  <c:v>103.324</c:v>
                </c:pt>
                <c:pt idx="3">
                  <c:v>109.946</c:v>
                </c:pt>
                <c:pt idx="4">
                  <c:v>117.175</c:v>
                </c:pt>
                <c:pt idx="5">
                  <c:v>125.286</c:v>
                </c:pt>
                <c:pt idx="6">
                  <c:v>134.11</c:v>
                </c:pt>
                <c:pt idx="7">
                  <c:v>143.704</c:v>
                </c:pt>
                <c:pt idx="8">
                  <c:v>154.232</c:v>
                </c:pt>
                <c:pt idx="9">
                  <c:v>165.766</c:v>
                </c:pt>
                <c:pt idx="10">
                  <c:v>178.143</c:v>
                </c:pt>
                <c:pt idx="11">
                  <c:v>191.183</c:v>
                </c:pt>
                <c:pt idx="12">
                  <c:v>204.896</c:v>
                </c:pt>
                <c:pt idx="13">
                  <c:v>219.486</c:v>
                </c:pt>
                <c:pt idx="14">
                  <c:v>234.965</c:v>
                </c:pt>
                <c:pt idx="15">
                  <c:v>251.356</c:v>
                </c:pt>
              </c:numCache>
            </c:numRef>
          </c:val>
        </c:ser>
        <c:ser>
          <c:idx val="5"/>
          <c:order val="5"/>
          <c:tx>
            <c:strRef>
              <c:f>Sheet1!$G$1</c:f>
              <c:strCache>
                <c:ptCount val="1"/>
                <c:pt idx="0">
                  <c:v>BENELUX</c:v>
                </c:pt>
              </c:strCache>
            </c:strRef>
          </c:tx>
          <c:spPr>
            <a:solidFill>
              <a:srgbClr val="C4E2F4"/>
            </a:solidFill>
            <a:ln>
              <a:noFill/>
            </a:ln>
          </c:spPr>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Sheet1!$G$2:$G$17</c:f>
              <c:numCache>
                <c:formatCode>General</c:formatCode>
                <c:ptCount val="16"/>
                <c:pt idx="0">
                  <c:v>56.174</c:v>
                </c:pt>
                <c:pt idx="1">
                  <c:v>59.865</c:v>
                </c:pt>
                <c:pt idx="2">
                  <c:v>63.62</c:v>
                </c:pt>
                <c:pt idx="3">
                  <c:v>67.468</c:v>
                </c:pt>
                <c:pt idx="4">
                  <c:v>71.4</c:v>
                </c:pt>
                <c:pt idx="5">
                  <c:v>75.731</c:v>
                </c:pt>
                <c:pt idx="6">
                  <c:v>80.391</c:v>
                </c:pt>
                <c:pt idx="7">
                  <c:v>85.442</c:v>
                </c:pt>
                <c:pt idx="8">
                  <c:v>90.927</c:v>
                </c:pt>
                <c:pt idx="9">
                  <c:v>97.022</c:v>
                </c:pt>
                <c:pt idx="10">
                  <c:v>103.736</c:v>
                </c:pt>
                <c:pt idx="11">
                  <c:v>111.123</c:v>
                </c:pt>
                <c:pt idx="12">
                  <c:v>119.169</c:v>
                </c:pt>
                <c:pt idx="13">
                  <c:v>127.813</c:v>
                </c:pt>
                <c:pt idx="14">
                  <c:v>136.984</c:v>
                </c:pt>
                <c:pt idx="15">
                  <c:v>146.707</c:v>
                </c:pt>
              </c:numCache>
            </c:numRef>
          </c:val>
        </c:ser>
        <c:ser>
          <c:idx val="6"/>
          <c:order val="6"/>
          <c:tx>
            <c:strRef>
              <c:f>Sheet1!$H$1</c:f>
              <c:strCache>
                <c:ptCount val="1"/>
                <c:pt idx="0">
                  <c:v>Nordics</c:v>
                </c:pt>
              </c:strCache>
            </c:strRef>
          </c:tx>
          <c:spPr>
            <a:solidFill>
              <a:srgbClr val="9AB3C7"/>
            </a:solidFill>
            <a:ln>
              <a:noFill/>
            </a:ln>
          </c:spPr>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Sheet1!$H$2:$H$17</c:f>
              <c:numCache>
                <c:formatCode>General</c:formatCode>
                <c:ptCount val="16"/>
                <c:pt idx="0">
                  <c:v>35.747</c:v>
                </c:pt>
                <c:pt idx="1">
                  <c:v>37.646</c:v>
                </c:pt>
                <c:pt idx="2">
                  <c:v>39.66</c:v>
                </c:pt>
                <c:pt idx="3">
                  <c:v>41.78</c:v>
                </c:pt>
                <c:pt idx="4">
                  <c:v>43.991</c:v>
                </c:pt>
                <c:pt idx="5">
                  <c:v>46.438</c:v>
                </c:pt>
                <c:pt idx="6">
                  <c:v>49.053</c:v>
                </c:pt>
                <c:pt idx="7">
                  <c:v>51.897</c:v>
                </c:pt>
                <c:pt idx="8">
                  <c:v>54.992</c:v>
                </c:pt>
                <c:pt idx="9">
                  <c:v>58.308</c:v>
                </c:pt>
                <c:pt idx="10">
                  <c:v>61.854</c:v>
                </c:pt>
                <c:pt idx="11">
                  <c:v>65.627</c:v>
                </c:pt>
                <c:pt idx="12">
                  <c:v>69.618</c:v>
                </c:pt>
                <c:pt idx="13">
                  <c:v>73.833</c:v>
                </c:pt>
                <c:pt idx="14">
                  <c:v>78.228</c:v>
                </c:pt>
                <c:pt idx="15">
                  <c:v>82.804</c:v>
                </c:pt>
              </c:numCache>
            </c:numRef>
          </c:val>
        </c:ser>
        <c:ser>
          <c:idx val="7"/>
          <c:order val="7"/>
          <c:tx>
            <c:strRef>
              <c:f>Sheet1!$I$1</c:f>
              <c:strCache>
                <c:ptCount val="1"/>
                <c:pt idx="0">
                  <c:v>Rest of Western Europe</c:v>
                </c:pt>
              </c:strCache>
            </c:strRef>
          </c:tx>
          <c:spPr>
            <a:solidFill>
              <a:srgbClr val="7D72E5"/>
            </a:solidFill>
            <a:ln>
              <a:noFill/>
            </a:ln>
          </c:spPr>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Sheet1!$I$2:$I$17</c:f>
              <c:numCache>
                <c:formatCode>General</c:formatCode>
                <c:ptCount val="16"/>
                <c:pt idx="0">
                  <c:v>35.49</c:v>
                </c:pt>
                <c:pt idx="1">
                  <c:v>37.8</c:v>
                </c:pt>
                <c:pt idx="2">
                  <c:v>40.382</c:v>
                </c:pt>
                <c:pt idx="3">
                  <c:v>43.289</c:v>
                </c:pt>
                <c:pt idx="4">
                  <c:v>46.53</c:v>
                </c:pt>
                <c:pt idx="5">
                  <c:v>50.254</c:v>
                </c:pt>
                <c:pt idx="6">
                  <c:v>54.34</c:v>
                </c:pt>
                <c:pt idx="7">
                  <c:v>58.707</c:v>
                </c:pt>
                <c:pt idx="8">
                  <c:v>63.298</c:v>
                </c:pt>
                <c:pt idx="9">
                  <c:v>68.124</c:v>
                </c:pt>
                <c:pt idx="10">
                  <c:v>73.254</c:v>
                </c:pt>
                <c:pt idx="11">
                  <c:v>78.677</c:v>
                </c:pt>
                <c:pt idx="12">
                  <c:v>84.502</c:v>
                </c:pt>
                <c:pt idx="13">
                  <c:v>90.668</c:v>
                </c:pt>
                <c:pt idx="14">
                  <c:v>97.224</c:v>
                </c:pt>
                <c:pt idx="15">
                  <c:v>104.112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Weft Knitted Fabrics</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57.48755851760986</c:v>
                </c:pt>
                <c:pt idx="1">
                  <c:v>56.57202472973402</c:v>
                </c:pt>
                <c:pt idx="2">
                  <c:v>53.95406006091401</c:v>
                </c:pt>
              </c:numCache>
            </c:numRef>
          </c:val>
        </c:ser>
        <c:ser>
          <c:idx val="1"/>
          <c:order val="1"/>
          <c:tx>
            <c:strRef>
              <c:f>Sheet1!$C$1</c:f>
              <c:strCache>
                <c:ptCount val="1"/>
                <c:pt idx="0">
                  <c:v>Warp Knitted Fabrics</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42.51244148239014</c:v>
                </c:pt>
                <c:pt idx="1">
                  <c:v>43.42797527026599</c:v>
                </c:pt>
                <c:pt idx="2">
                  <c:v>46.045939939086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Polyester</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34.27689158698609</c:v>
                </c:pt>
                <c:pt idx="1">
                  <c:v>33.22424786535185</c:v>
                </c:pt>
                <c:pt idx="2">
                  <c:v>31.42535468018449</c:v>
                </c:pt>
              </c:numCache>
            </c:numRef>
          </c:val>
        </c:ser>
        <c:ser>
          <c:idx val="1"/>
          <c:order val="1"/>
          <c:tx>
            <c:strRef>
              <c:f>Sheet1!$C$1</c:f>
              <c:strCache>
                <c:ptCount val="1"/>
                <c:pt idx="0">
                  <c:v>Polyamide or Nylon</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27.009793220839295</c:v>
                </c:pt>
                <c:pt idx="1">
                  <c:v>27.38610670379158</c:v>
                </c:pt>
                <c:pt idx="2">
                  <c:v>26.741147915209762</c:v>
                </c:pt>
              </c:numCache>
            </c:numRef>
          </c:val>
        </c:ser>
        <c:ser>
          <c:idx val="2"/>
          <c:order val="2"/>
          <c:tx>
            <c:strRef>
              <c:f>Sheet1!$D$1</c:f>
              <c:strCache>
                <c:ptCount val="1"/>
                <c:pt idx="0">
                  <c:v>Elastane or Spandex Blends</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15.538441551325368</c:v>
                </c:pt>
                <c:pt idx="1">
                  <c:v>15.639766962548931</c:v>
                </c:pt>
                <c:pt idx="2">
                  <c:v>16.725429251232594</c:v>
                </c:pt>
              </c:numCache>
            </c:numRef>
          </c:val>
        </c:ser>
        <c:ser>
          <c:idx val="3"/>
          <c:order val="3"/>
          <c:tx>
            <c:strRef>
              <c:f>Sheet1!$E$1</c:f>
              <c:strCache>
                <c:ptCount val="1"/>
                <c:pt idx="0">
                  <c:v>High-Performance &amp; Specialty Fibers</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13.36574467276537</c:v>
                </c:pt>
                <c:pt idx="1">
                  <c:v>13.915292582808764</c:v>
                </c:pt>
                <c:pt idx="2">
                  <c:v>15.705381126153783</c:v>
                </c:pt>
              </c:numCache>
            </c:numRef>
          </c:val>
        </c:ser>
        <c:ser>
          <c:idx val="4"/>
          <c:order val="4"/>
          <c:tx>
            <c:strRef>
              <c:f>Sheet1!$F$1</c:f>
              <c:strCache>
                <c:ptCount val="1"/>
                <c:pt idx="0">
                  <c:v>Cellulosic Fibers</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6.751056343940815</c:v>
                </c:pt>
                <c:pt idx="1">
                  <c:v>6.590293048249289</c:v>
                </c:pt>
                <c:pt idx="2">
                  <c:v>6.154711913669701</c:v>
                </c:pt>
              </c:numCache>
            </c:numRef>
          </c:val>
        </c:ser>
        <c:ser>
          <c:idx val="5"/>
          <c:order val="5"/>
          <c:tx>
            <c:strRef>
              <c:f>Sheet1!$G$1</c:f>
              <c:strCache>
                <c:ptCount val="1"/>
                <c:pt idx="0">
                  <c:v>Polypropylene</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3.0580726241430596</c:v>
                </c:pt>
                <c:pt idx="1">
                  <c:v>3.244292837249584</c:v>
                </c:pt>
                <c:pt idx="2">
                  <c:v>3.2479751135496677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Thermal Management</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18.060763749263142</c:v>
                </c:pt>
                <c:pt idx="1">
                  <c:v>18.144720873786408</c:v>
                </c:pt>
                <c:pt idx="2">
                  <c:v>19.168231922233613</c:v>
                </c:pt>
              </c:numCache>
            </c:numRef>
          </c:val>
        </c:ser>
        <c:ser>
          <c:idx val="1"/>
          <c:order val="1"/>
          <c:tx>
            <c:strRef>
              <c:f>Sheet1!$C$1</c:f>
              <c:strCache>
                <c:ptCount val="1"/>
                <c:pt idx="0">
                  <c:v>Moisture Management &amp; Quick-Dry</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16.675165731769503</c:v>
                </c:pt>
                <c:pt idx="1">
                  <c:v>17.204186893203886</c:v>
                </c:pt>
                <c:pt idx="2">
                  <c:v>17.549258779774153</c:v>
                </c:pt>
              </c:numCache>
            </c:numRef>
          </c:val>
        </c:ser>
        <c:ser>
          <c:idx val="2"/>
          <c:order val="2"/>
          <c:tx>
            <c:strRef>
              <c:f>Sheet1!$D$1</c:f>
              <c:strCache>
                <c:ptCount val="1"/>
                <c:pt idx="0">
                  <c:v>Compression &amp; Support</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15.803753788123165</c:v>
                </c:pt>
                <c:pt idx="1">
                  <c:v>15.547633495145632</c:v>
                </c:pt>
                <c:pt idx="2">
                  <c:v>14.835255292559363</c:v>
                </c:pt>
              </c:numCache>
            </c:numRef>
          </c:val>
        </c:ser>
        <c:ser>
          <c:idx val="3"/>
          <c:order val="3"/>
          <c:tx>
            <c:strRef>
              <c:f>Sheet1!$E$1</c:f>
              <c:strCache>
                <c:ptCount val="1"/>
                <c:pt idx="0">
                  <c:v>Stretch &amp; Recovery</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16.17909724904264</c:v>
                </c:pt>
                <c:pt idx="1">
                  <c:v>15.687403464254194</c:v>
                </c:pt>
                <c:pt idx="2">
                  <c:v>14.623515501642585</c:v>
                </c:pt>
              </c:numCache>
            </c:numRef>
          </c:val>
        </c:ser>
        <c:ser>
          <c:idx val="4"/>
          <c:order val="4"/>
          <c:tx>
            <c:strRef>
              <c:f>Sheet1!$F$1</c:f>
              <c:strCache>
                <c:ptCount val="1"/>
                <c:pt idx="0">
                  <c:v>Antimicrobial &amp; Odor Control</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9.261093931314</c:v>
                </c:pt>
                <c:pt idx="1">
                  <c:v>9.68274216681377</c:v>
                </c:pt>
                <c:pt idx="2">
                  <c:v>10.39294774416116</c:v>
                </c:pt>
              </c:numCache>
            </c:numRef>
          </c:val>
        </c:ser>
        <c:ser>
          <c:idx val="5"/>
          <c:order val="5"/>
          <c:tx>
            <c:strRef>
              <c:f>Sheet1!$G$1</c:f>
              <c:strCache>
                <c:ptCount val="1"/>
                <c:pt idx="0">
                  <c:v>Abrasion &amp; Tear Resistance</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7.038198068576408</c:v>
                </c:pt>
                <c:pt idx="1">
                  <c:v>6.8512797881729925</c:v>
                </c:pt>
                <c:pt idx="2">
                  <c:v>6.287163906578563</c:v>
                </c:pt>
              </c:numCache>
            </c:numRef>
          </c:val>
        </c:ser>
        <c:ser>
          <c:idx val="6"/>
          <c:order val="6"/>
          <c:tx>
            <c:strRef>
              <c:f>Sheet1!$H$1</c:f>
              <c:strCache>
                <c:ptCount val="1"/>
                <c:pt idx="0">
                  <c:v>Water or Liquid Management</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6.504480347716343</c:v>
                </c:pt>
                <c:pt idx="1">
                  <c:v>6.123882943512799</c:v>
                </c:pt>
                <c:pt idx="2">
                  <c:v>5.702232266465117</c:v>
                </c:pt>
              </c:numCache>
            </c:numRef>
          </c:val>
        </c:ser>
        <c:ser>
          <c:idx val="7"/>
          <c:order val="7"/>
          <c:tx>
            <c:strRef>
              <c:f>Sheet1!$I$1</c:f>
              <c:strCache>
                <c:ptCount val="1"/>
                <c:pt idx="0">
                  <c:v>Other Specialized Performance</c:v>
                </c:pt>
              </c:strCache>
            </c:strRef>
          </c:tx>
          <c:spPr>
            <a:solidFill>
              <a:srgbClr val="7D72E5"/>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Sheet1!$I$2:$I$4</c:f>
              <c:numCache>
                <c:formatCode>General</c:formatCode>
                <c:ptCount val="3"/>
                <c:pt idx="0">
                  <c:v>3.7188786183259874</c:v>
                </c:pt>
                <c:pt idx="1">
                  <c:v>4.073256840247132</c:v>
                </c:pt>
                <c:pt idx="2">
                  <c:v>4.932388442801447</c:v>
                </c:pt>
              </c:numCache>
            </c:numRef>
          </c:val>
        </c:ser>
        <c:ser>
          <c:idx val="8"/>
          <c:order val="8"/>
          <c:tx>
            <c:strRef>
              <c:f>Sheet1!$J$1</c:f>
              <c:strCache>
                <c:ptCount val="1"/>
                <c:pt idx="0">
                  <c:v>Flame &amp; Heat Resistance</c:v>
                </c:pt>
              </c:strCache>
            </c:strRef>
          </c:tx>
          <c:spPr>
            <a:solidFill>
              <a:srgbClr val="CF72E5"/>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Sheet1!$J$2:$J$4</c:f>
              <c:numCache>
                <c:formatCode>General</c:formatCode>
                <c:ptCount val="3"/>
                <c:pt idx="0">
                  <c:v>3.6846761414303346</c:v>
                </c:pt>
                <c:pt idx="1">
                  <c:v>3.8257116063548104</c:v>
                </c:pt>
                <c:pt idx="2">
                  <c:v>3.9507674117532607</c:v>
                </c:pt>
              </c:numCache>
            </c:numRef>
          </c:val>
        </c:ser>
        <c:ser>
          <c:idx val="9"/>
          <c:order val="9"/>
          <c:tx>
            <c:strRef>
              <c:f>Sheet1!$K$1</c:f>
              <c:strCache>
                <c:ptCount val="1"/>
                <c:pt idx="0">
                  <c:v>UV Protection</c:v>
                </c:pt>
              </c:strCache>
            </c:strRef>
          </c:tx>
          <c:spPr>
            <a:solidFill>
              <a:srgbClr val="E572A9"/>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Sheet1!$K$2:$K$4</c:f>
              <c:numCache>
                <c:formatCode>General</c:formatCode>
                <c:ptCount val="3"/>
                <c:pt idx="0">
                  <c:v>3.073892374438465</c:v>
                </c:pt>
                <c:pt idx="1">
                  <c:v>2.859181928508385</c:v>
                </c:pt>
                <c:pt idx="2">
                  <c:v>2.5582387320307416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5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Medical &amp; Healthcare</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18.28899690676094</c:v>
                </c:pt>
                <c:pt idx="1">
                  <c:v>18.898316479742938</c:v>
                </c:pt>
                <c:pt idx="2">
                  <c:v>19.773420668423245</c:v>
                </c:pt>
              </c:numCache>
            </c:numRef>
          </c:val>
        </c:ser>
        <c:ser>
          <c:idx val="1"/>
          <c:order val="1"/>
          <c:tx>
            <c:strRef>
              <c:f>Sheet1!$C$1</c:f>
              <c:strCache>
                <c:ptCount val="1"/>
                <c:pt idx="0">
                  <c:v>Sports &amp; Activewear</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18.597171895713657</c:v>
                </c:pt>
                <c:pt idx="1">
                  <c:v>18.580023237613215</c:v>
                </c:pt>
                <c:pt idx="2">
                  <c:v>18.463693651692836</c:v>
                </c:pt>
              </c:numCache>
            </c:numRef>
          </c:val>
        </c:ser>
        <c:ser>
          <c:idx val="2"/>
          <c:order val="2"/>
          <c:tx>
            <c:strRef>
              <c:f>Sheet1!$D$1</c:f>
              <c:strCache>
                <c:ptCount val="1"/>
                <c:pt idx="0">
                  <c:v>Protective &amp; Occupational Wear</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16.418382677861246</c:v>
                </c:pt>
                <c:pt idx="1">
                  <c:v>16.25557237275338</c:v>
                </c:pt>
                <c:pt idx="2">
                  <c:v>16.54486350088191</c:v>
                </c:pt>
              </c:numCache>
            </c:numRef>
          </c:val>
        </c:ser>
        <c:ser>
          <c:idx val="3"/>
          <c:order val="3"/>
          <c:tx>
            <c:strRef>
              <c:f>Sheet1!$E$1</c:f>
              <c:strCache>
                <c:ptCount val="1"/>
                <c:pt idx="0">
                  <c:v>Automotive &amp; Transportation</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13.120989836500222</c:v>
                </c:pt>
                <c:pt idx="1">
                  <c:v>12.97196661230766</c:v>
                </c:pt>
                <c:pt idx="2">
                  <c:v>12.63465261402864</c:v>
                </c:pt>
              </c:numCache>
            </c:numRef>
          </c:val>
        </c:ser>
        <c:ser>
          <c:idx val="4"/>
          <c:order val="4"/>
          <c:tx>
            <c:strRef>
              <c:f>Sheet1!$F$1</c:f>
              <c:strCache>
                <c:ptCount val="1"/>
                <c:pt idx="0">
                  <c:v>Industrial &amp; Technical Applications</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11.468316394167037</c:v>
                </c:pt>
                <c:pt idx="1">
                  <c:v>11.829944802049324</c:v>
                </c:pt>
                <c:pt idx="2">
                  <c:v>12.460591075866436</c:v>
                </c:pt>
              </c:numCache>
            </c:numRef>
          </c:val>
        </c:ser>
        <c:ser>
          <c:idx val="5"/>
          <c:order val="5"/>
          <c:tx>
            <c:strRef>
              <c:f>Sheet1!$G$1</c:f>
              <c:strCache>
                <c:ptCount val="1"/>
                <c:pt idx="0">
                  <c:v>Intimate &amp; Bodywear</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14.505081749889529</c:v>
                </c:pt>
                <c:pt idx="1">
                  <c:v>13.773491882350102</c:v>
                </c:pt>
                <c:pt idx="2">
                  <c:v>12.440236502186247</c:v>
                </c:pt>
              </c:numCache>
            </c:numRef>
          </c:val>
        </c:ser>
        <c:ser>
          <c:idx val="6"/>
          <c:order val="6"/>
          <c:tx>
            <c:strRef>
              <c:f>Sheet1!$H$1</c:f>
              <c:strCache>
                <c:ptCount val="1"/>
                <c:pt idx="0">
                  <c:v>Footwear</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7.6010605391073796</c:v>
                </c:pt>
                <c:pt idx="1">
                  <c:v>7.690684613183381</c:v>
                </c:pt>
                <c:pt idx="2">
                  <c:v>7.68254198692069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5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Medium Weight 150–250 GSM</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54.80098064689465</c:v>
                </c:pt>
                <c:pt idx="1">
                  <c:v>53.42264747072375</c:v>
                </c:pt>
                <c:pt idx="2">
                  <c:v>51.97194212867603</c:v>
                </c:pt>
              </c:numCache>
            </c:numRef>
          </c:val>
        </c:ser>
        <c:ser>
          <c:idx val="1"/>
          <c:order val="1"/>
          <c:tx>
            <c:strRef>
              <c:f>Sheet1!$C$1</c:f>
              <c:strCache>
                <c:ptCount val="1"/>
                <c:pt idx="0">
                  <c:v>Lightweight Below 150 GSM</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26.699737869620627</c:v>
                </c:pt>
                <c:pt idx="1">
                  <c:v>27.199761142489127</c:v>
                </c:pt>
                <c:pt idx="2">
                  <c:v>27.633007173862044</c:v>
                </c:pt>
              </c:numCache>
            </c:numRef>
          </c:val>
        </c:ser>
        <c:ser>
          <c:idx val="2"/>
          <c:order val="2"/>
          <c:tx>
            <c:strRef>
              <c:f>Sheet1!$D$1</c:f>
              <c:strCache>
                <c:ptCount val="1"/>
                <c:pt idx="0">
                  <c:v>Heavyweight Above 250 GSM</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18.499281483484722</c:v>
                </c:pt>
                <c:pt idx="1">
                  <c:v>19.377591386787124</c:v>
                </c:pt>
                <c:pt idx="2">
                  <c:v>20.39505069746193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6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Medical &amp; Healthcare</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18.2889731824063</c:v>
                </c:pt>
                <c:pt idx="1">
                  <c:v>18.89833330919938</c:v>
                </c:pt>
                <c:pt idx="2">
                  <c:v>19.773405871392118</c:v>
                </c:pt>
              </c:numCache>
            </c:numRef>
          </c:val>
        </c:ser>
        <c:ser>
          <c:idx val="1"/>
          <c:order val="1"/>
          <c:tx>
            <c:strRef>
              <c:f>Sheet1!$C$1</c:f>
              <c:strCache>
                <c:ptCount val="1"/>
                <c:pt idx="0">
                  <c:v>Sports &amp; Activewear</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18.597237639373006</c:v>
                </c:pt>
                <c:pt idx="1">
                  <c:v>18.579971990823584</c:v>
                </c:pt>
                <c:pt idx="2">
                  <c:v>18.46367983476888</c:v>
                </c:pt>
              </c:numCache>
            </c:numRef>
          </c:val>
        </c:ser>
        <c:ser>
          <c:idx val="2"/>
          <c:order val="2"/>
          <c:tx>
            <c:strRef>
              <c:f>Sheet1!$D$1</c:f>
              <c:strCache>
                <c:ptCount val="1"/>
                <c:pt idx="0">
                  <c:v>Protective &amp; Occupational Wear</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16.4182639620467</c:v>
                </c:pt>
                <c:pt idx="1">
                  <c:v>16.255596491336945</c:v>
                </c:pt>
                <c:pt idx="2">
                  <c:v>16.544813703407144</c:v>
                </c:pt>
              </c:numCache>
            </c:numRef>
          </c:val>
        </c:ser>
        <c:ser>
          <c:idx val="3"/>
          <c:order val="3"/>
          <c:tx>
            <c:strRef>
              <c:f>Sheet1!$E$1</c:f>
              <c:strCache>
                <c:ptCount val="1"/>
                <c:pt idx="0">
                  <c:v>Automotive &amp; Transportation</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13.121036221073693</c:v>
                </c:pt>
                <c:pt idx="1">
                  <c:v>12.971930833469516</c:v>
                </c:pt>
                <c:pt idx="2">
                  <c:v>12.63468057561494</c:v>
                </c:pt>
              </c:numCache>
            </c:numRef>
          </c:val>
        </c:ser>
        <c:ser>
          <c:idx val="4"/>
          <c:order val="4"/>
          <c:tx>
            <c:strRef>
              <c:f>Sheet1!$F$1</c:f>
              <c:strCache>
                <c:ptCount val="1"/>
                <c:pt idx="0">
                  <c:v>Industrial &amp; Technical Applications</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11.468356936303795</c:v>
                </c:pt>
                <c:pt idx="1">
                  <c:v>11.829912173096986</c:v>
                </c:pt>
                <c:pt idx="2">
                  <c:v>12.460581751240356</c:v>
                </c:pt>
              </c:numCache>
            </c:numRef>
          </c:val>
        </c:ser>
        <c:ser>
          <c:idx val="5"/>
          <c:order val="5"/>
          <c:tx>
            <c:strRef>
              <c:f>Sheet1!$G$1</c:f>
              <c:strCache>
                <c:ptCount val="1"/>
                <c:pt idx="0">
                  <c:v>Intimate &amp; Bodywear</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14.505133027425638</c:v>
                </c:pt>
                <c:pt idx="1">
                  <c:v>13.773522846923852</c:v>
                </c:pt>
                <c:pt idx="2">
                  <c:v>12.440227192792094</c:v>
                </c:pt>
              </c:numCache>
            </c:numRef>
          </c:val>
        </c:ser>
        <c:ser>
          <c:idx val="6"/>
          <c:order val="6"/>
          <c:tx>
            <c:strRef>
              <c:f>Sheet1!$H$1</c:f>
              <c:strCache>
                <c:ptCount val="1"/>
                <c:pt idx="0">
                  <c:v>Footwear</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7.600999031370857</c:v>
                </c:pt>
                <c:pt idx="1">
                  <c:v>7.690732355149738</c:v>
                </c:pt>
                <c:pt idx="2">
                  <c:v>7.682611070784475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6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03E58"/>
            </a:solidFill>
            <a:ln>
              <a:noFill/>
            </a:ln>
          </c:spPr>
          <c:cat>
            <c:strRef>
              <c:f>Sheet1!$A$2:$A$4</c:f>
              <c:strCache>
                <c:ptCount val="3"/>
                <c:pt idx="0">
                  <c:v>2021–2026</c:v>
                </c:pt>
                <c:pt idx="1">
                  <c:v>2026–2036</c:v>
                </c:pt>
                <c:pt idx="2">
                  <c:v>2021–2036</c:v>
                </c:pt>
              </c:strCache>
            </c:strRef>
          </c:cat>
          <c:val>
            <c:numRef>
              <c:f>Sheet1!$B$2:$B$4</c:f>
              <c:numCache>
                <c:formatCode>General</c:formatCode>
                <c:ptCount val="3"/>
                <c:pt idx="0">
                  <c:v>4.0145816417699765</c:v>
                </c:pt>
                <c:pt idx="1">
                  <c:v>4.147216331139347</c:v>
                </c:pt>
                <c:pt idx="2">
                  <c:v>4.102985986463392</c:v>
                </c:pt>
              </c:numCache>
            </c:numRef>
          </c:val>
        </c:ser>
        <c:dLbls>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5.474325557103938"/>
          <c:min val="0.0"/>
        </c:scaling>
        <c:delete val="0"/>
        <c:axPos val="l"/>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7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2021</c:v>
                </c:pt>
                <c:pt idx="1">
                  <c:v>2021–2026</c:v>
                </c:pt>
                <c:pt idx="2">
                  <c:v>2026</c:v>
                </c:pt>
                <c:pt idx="3">
                  <c:v>2026–2036</c:v>
                </c:pt>
                <c:pt idx="4">
                  <c:v>2036</c:v>
                </c:pt>
              </c:strCache>
            </c:strRef>
          </c:cat>
          <c:val>
            <c:numRef>
              <c:f>Sheet1!$B$2:$B$6</c:f>
              <c:numCache>
                <c:formatCode>General</c:formatCode>
                <c:ptCount val="5"/>
                <c:pt idx="0">
                  <c:v>0.0</c:v>
                </c:pt>
                <c:pt idx="1">
                  <c:v>79.561</c:v>
                </c:pt>
                <c:pt idx="2">
                  <c:v>0.0</c:v>
                </c:pt>
                <c:pt idx="3">
                  <c:v>96.866</c:v>
                </c:pt>
                <c:pt idx="4">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00A4DC"/>
              </a:solidFill>
            </c:spPr>
          </c:dPt>
          <c:dPt>
            <c:idx val="3"/>
            <c:spPr>
              <a:solidFill>
                <a:srgbClr val="2F6FB0"/>
              </a:solidFill>
            </c:spPr>
          </c:dPt>
          <c:dPt>
            <c:idx val="4"/>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Sheet1!$A$2:$A$6</c:f>
              <c:strCache>
                <c:ptCount val="5"/>
                <c:pt idx="0">
                  <c:v>2021</c:v>
                </c:pt>
                <c:pt idx="1">
                  <c:v>2021–2026</c:v>
                </c:pt>
                <c:pt idx="2">
                  <c:v>2026</c:v>
                </c:pt>
                <c:pt idx="3">
                  <c:v>2026–2036</c:v>
                </c:pt>
                <c:pt idx="4">
                  <c:v>2036</c:v>
                </c:pt>
              </c:strCache>
            </c:strRef>
          </c:cat>
          <c:val>
            <c:numRef>
              <c:f>Sheet1!$C$2:$C$6</c:f>
              <c:numCache>
                <c:formatCode>General</c:formatCode>
                <c:ptCount val="5"/>
                <c:pt idx="0">
                  <c:v>79.561</c:v>
                </c:pt>
                <c:pt idx="1">
                  <c:v>17.304999999999993</c:v>
                </c:pt>
                <c:pt idx="2">
                  <c:v>96.866</c:v>
                </c:pt>
                <c:pt idx="3">
                  <c:v>48.562</c:v>
                </c:pt>
                <c:pt idx="4">
                  <c:v>145.428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7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03E58"/>
            </a:solidFill>
            <a:ln>
              <a:noFill/>
            </a:ln>
          </c:spPr>
          <c:cat>
            <c:strRef>
              <c:f>Sheet1!$A$2:$A$4</c:f>
              <c:strCache>
                <c:ptCount val="3"/>
                <c:pt idx="0">
                  <c:v>2021–2026</c:v>
                </c:pt>
                <c:pt idx="1">
                  <c:v>2026–2036</c:v>
                </c:pt>
                <c:pt idx="2">
                  <c:v>2021–2036</c:v>
                </c:pt>
              </c:strCache>
            </c:strRef>
          </c:cat>
          <c:val>
            <c:numRef>
              <c:f>Sheet1!$B$2:$B$4</c:f>
              <c:numCache>
                <c:formatCode>General</c:formatCode>
                <c:ptCount val="3"/>
                <c:pt idx="0">
                  <c:v>4.7315537536571695</c:v>
                </c:pt>
                <c:pt idx="1">
                  <c:v>5.778038974308597</c:v>
                </c:pt>
                <c:pt idx="2">
                  <c:v>5.42805385767362</c:v>
                </c:pt>
              </c:numCache>
            </c:numRef>
          </c:val>
        </c:ser>
        <c:dLbls>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7.627011446087348"/>
          <c:min val="0.0"/>
        </c:scaling>
        <c:delete val="0"/>
        <c:axPos val="l"/>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2021</c:v>
                </c:pt>
                <c:pt idx="1">
                  <c:v>2021–2026</c:v>
                </c:pt>
                <c:pt idx="2">
                  <c:v>2026</c:v>
                </c:pt>
                <c:pt idx="3">
                  <c:v>2026–2036</c:v>
                </c:pt>
                <c:pt idx="4">
                  <c:v>2036</c:v>
                </c:pt>
              </c:strCache>
            </c:strRef>
          </c:cat>
          <c:val>
            <c:numRef>
              <c:f>Sheet1!$B$2:$B$6</c:f>
              <c:numCache>
                <c:formatCode>General</c:formatCode>
                <c:ptCount val="5"/>
                <c:pt idx="0">
                  <c:v>0.0</c:v>
                </c:pt>
                <c:pt idx="1">
                  <c:v>225.799</c:v>
                </c:pt>
                <c:pt idx="2">
                  <c:v>0.0</c:v>
                </c:pt>
                <c:pt idx="3">
                  <c:v>284.51800000000003</c:v>
                </c:pt>
                <c:pt idx="4">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00A4DC"/>
              </a:solidFill>
            </c:spPr>
          </c:dPt>
          <c:dPt>
            <c:idx val="3"/>
            <c:spPr>
              <a:solidFill>
                <a:srgbClr val="2F6FB0"/>
              </a:solidFill>
            </c:spPr>
          </c:dPt>
          <c:dPt>
            <c:idx val="4"/>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Sheet1!$A$2:$A$6</c:f>
              <c:strCache>
                <c:ptCount val="5"/>
                <c:pt idx="0">
                  <c:v>2021</c:v>
                </c:pt>
                <c:pt idx="1">
                  <c:v>2021–2026</c:v>
                </c:pt>
                <c:pt idx="2">
                  <c:v>2026</c:v>
                </c:pt>
                <c:pt idx="3">
                  <c:v>2026–2036</c:v>
                </c:pt>
                <c:pt idx="4">
                  <c:v>2036</c:v>
                </c:pt>
              </c:strCache>
            </c:strRef>
          </c:cat>
          <c:val>
            <c:numRef>
              <c:f>Sheet1!$C$2:$C$6</c:f>
              <c:numCache>
                <c:formatCode>General</c:formatCode>
                <c:ptCount val="5"/>
                <c:pt idx="0">
                  <c:v>225.799</c:v>
                </c:pt>
                <c:pt idx="1">
                  <c:v>58.71900000000002</c:v>
                </c:pt>
                <c:pt idx="2">
                  <c:v>284.51800000000003</c:v>
                </c:pt>
                <c:pt idx="3">
                  <c:v>214.44099999999992</c:v>
                </c:pt>
                <c:pt idx="4">
                  <c:v>498.95899999999995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7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A9D8EF"/>
            </a:solidFill>
            <a:ln>
              <a:noFill/>
            </a:ln>
          </c:spPr>
          <c:dLbls>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Sheet1!$B$2:$B$6</c:f>
              <c:numCache>
                <c:formatCode>General</c:formatCode>
                <c:ptCount val="5"/>
                <c:pt idx="0">
                  <c:v>225.799</c:v>
                </c:pt>
                <c:pt idx="1">
                  <c:v>235.971</c:v>
                </c:pt>
                <c:pt idx="2">
                  <c:v>246.709</c:v>
                </c:pt>
                <c:pt idx="3">
                  <c:v>258.173</c:v>
                </c:pt>
                <c:pt idx="4">
                  <c:v>270.414</c:v>
                </c:pt>
              </c:numCache>
            </c:numRef>
          </c:val>
        </c:ser>
        <c:gapWidth val="50"/>
        <c:axId val="-2068027336"/>
        <c:axId val="-2113994440"/>
      </c:barChart>
      <c:barChart>
        <c:barDir val="col"/>
        <c:grouping val="clustered"/>
        <c:varyColors val="0"/>
        <c:ser>
          <c:idx val="1"/>
          <c:order val="1"/>
          <c:tx>
            <c:strRef>
              <c:f>Sheet1!$C$1</c:f>
              <c:strCache>
                <c:ptCount val="1"/>
                <c:pt idx="0">
                  <c:v>Volume (Mn Sq. Yards)</c:v>
                </c:pt>
              </c:strCache>
            </c:strRef>
          </c:tx>
          <c:spPr>
            <a:solidFill>
              <a:srgbClr val="F1975A"/>
            </a:solidFill>
            <a:ln>
              <a:noFill/>
            </a:ln>
          </c:spPr>
          <c:dLbls>
            <c:numFmt formatCode="0.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Sheet1!$C$2:$C$6</c:f>
              <c:numCache>
                <c:formatCode>General</c:formatCode>
                <c:ptCount val="5"/>
                <c:pt idx="0">
                  <c:v>79.561</c:v>
                </c:pt>
                <c:pt idx="1">
                  <c:v>82.70400000000001</c:v>
                </c:pt>
                <c:pt idx="2">
                  <c:v>85.97999999999999</c:v>
                </c:pt>
                <c:pt idx="3">
                  <c:v>89.4</c:v>
                </c:pt>
                <c:pt idx="4">
                  <c:v>93.02600000000001</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max val="319"/>
          <c:min val="0"/>
        </c:scaling>
        <c:delete val="0"/>
        <c:axPos val="l"/>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28"/>
          <c:min val="0"/>
        </c:scaling>
        <c:delete val="0"/>
        <c:axPos val="r"/>
        <c:numFmt formatCode="General"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27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A9D8EF"/>
            </a:solidFill>
            <a:ln>
              <a:noFill/>
            </a:ln>
          </c:spPr>
          <c:dLbls>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Sheet1!$B$2:$B$12</c:f>
              <c:numCache>
                <c:formatCode>General</c:formatCode>
                <c:ptCount val="11"/>
                <c:pt idx="0">
                  <c:v>284.51800000000003</c:v>
                </c:pt>
                <c:pt idx="1">
                  <c:v>299.853</c:v>
                </c:pt>
                <c:pt idx="2">
                  <c:v>316.444</c:v>
                </c:pt>
                <c:pt idx="3">
                  <c:v>334.285</c:v>
                </c:pt>
                <c:pt idx="4">
                  <c:v>353.44399999999996</c:v>
                </c:pt>
                <c:pt idx="5">
                  <c:v>373.991</c:v>
                </c:pt>
                <c:pt idx="6">
                  <c:v>396.068</c:v>
                </c:pt>
                <c:pt idx="7">
                  <c:v>419.697</c:v>
                </c:pt>
                <c:pt idx="8">
                  <c:v>444.74399999999997</c:v>
                </c:pt>
                <c:pt idx="9">
                  <c:v>471.20500000000004</c:v>
                </c:pt>
                <c:pt idx="10">
                  <c:v>498.95899999999995</c:v>
                </c:pt>
              </c:numCache>
            </c:numRef>
          </c:val>
        </c:ser>
        <c:gapWidth val="50"/>
        <c:axId val="-2068027336"/>
        <c:axId val="-2113994440"/>
      </c:barChart>
      <c:barChart>
        <c:barDir val="col"/>
        <c:grouping val="clustered"/>
        <c:varyColors val="0"/>
        <c:ser>
          <c:idx val="1"/>
          <c:order val="1"/>
          <c:tx>
            <c:strRef>
              <c:f>Sheet1!$C$1</c:f>
              <c:strCache>
                <c:ptCount val="1"/>
                <c:pt idx="0">
                  <c:v>Volume (Mn Sq. Yards)</c:v>
                </c:pt>
              </c:strCache>
            </c:strRef>
          </c:tx>
          <c:spPr>
            <a:solidFill>
              <a:srgbClr val="F1975A"/>
            </a:solidFill>
            <a:ln>
              <a:noFill/>
            </a:ln>
          </c:spPr>
          <c:dLbls>
            <c:numFmt formatCode="#,##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Sheet1!$C$2:$C$12</c:f>
              <c:numCache>
                <c:formatCode>General</c:formatCode>
                <c:ptCount val="11"/>
                <c:pt idx="0">
                  <c:v>96.866</c:v>
                </c:pt>
                <c:pt idx="1">
                  <c:v>100.93800000000002</c:v>
                </c:pt>
                <c:pt idx="2">
                  <c:v>105.234</c:v>
                </c:pt>
                <c:pt idx="3">
                  <c:v>109.722</c:v>
                </c:pt>
                <c:pt idx="4">
                  <c:v>114.38300000000001</c:v>
                </c:pt>
                <c:pt idx="5">
                  <c:v>119.217</c:v>
                </c:pt>
                <c:pt idx="6">
                  <c:v>124.232</c:v>
                </c:pt>
                <c:pt idx="7">
                  <c:v>129.416</c:v>
                </c:pt>
                <c:pt idx="8">
                  <c:v>134.71499999999997</c:v>
                </c:pt>
                <c:pt idx="9">
                  <c:v>140.064</c:v>
                </c:pt>
                <c:pt idx="10">
                  <c:v>145.428</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max val="589"/>
          <c:min val="0"/>
        </c:scaling>
        <c:delete val="0"/>
        <c:axPos val="l"/>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228"/>
          <c:min val="0"/>
        </c:scaling>
        <c:delete val="0"/>
        <c:axPos val="r"/>
        <c:numFmt formatCode="General"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27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Index</c:v>
                </c:pt>
              </c:strCache>
            </c:strRef>
          </c:tx>
          <c:spPr>
            <a:solidFill>
              <a:srgbClr val="00A4DC"/>
            </a:solidFill>
            <a:ln>
              <a:noFill/>
            </a:ln>
          </c:spPr>
          <c:cat>
            <c:strRef>
              <c:f>Sheet1!$A$2:$A$4</c:f>
              <c:strCache>
                <c:ptCount val="3"/>
                <c:pt idx="0">
                  <c:v>Russia</c:v>
                </c:pt>
                <c:pt idx="1">
                  <c:v>Hungary</c:v>
                </c:pt>
                <c:pt idx="2">
                  <c:v>Poland</c:v>
                </c:pt>
              </c:strCache>
            </c:strRef>
          </c:cat>
          <c:val>
            <c:numRef>
              <c:f>Sheet1!$B$2:$B$4</c:f>
              <c:numCache>
                <c:formatCode>General</c:formatCode>
                <c:ptCount val="3"/>
                <c:pt idx="0">
                  <c:v>78.20016108708477</c:v>
                </c:pt>
                <c:pt idx="1">
                  <c:v>112.80273995862251</c:v>
                </c:pt>
                <c:pt idx="2">
                  <c:v>115.44583397501074</c:v>
                </c:pt>
              </c:numCache>
            </c:numRef>
          </c:val>
        </c:ser>
        <c:dLbls>
          <c:numFmt formatCode="#,##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7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Index</c:v>
                </c:pt>
              </c:strCache>
            </c:strRef>
          </c:tx>
          <c:spPr>
            <a:solidFill>
              <a:srgbClr val="00A4DC"/>
            </a:solidFill>
            <a:ln>
              <a:noFill/>
            </a:ln>
          </c:spPr>
          <c:cat>
            <c:strRef>
              <c:f>Sheet1!$A$2:$A$4</c:f>
              <c:strCache>
                <c:ptCount val="3"/>
                <c:pt idx="0">
                  <c:v>Hungary</c:v>
                </c:pt>
                <c:pt idx="1">
                  <c:v>Russia</c:v>
                </c:pt>
                <c:pt idx="2">
                  <c:v>Poland</c:v>
                </c:pt>
              </c:strCache>
            </c:strRef>
          </c:cat>
          <c:val>
            <c:numRef>
              <c:f>Sheet1!$B$2:$B$4</c:f>
              <c:numCache>
                <c:formatCode>General</c:formatCode>
                <c:ptCount val="3"/>
                <c:pt idx="0">
                  <c:v>12.130609351756426</c:v>
                </c:pt>
                <c:pt idx="1">
                  <c:v>29.944366982060355</c:v>
                </c:pt>
                <c:pt idx="2">
                  <c:v>30.80660881081511</c:v>
                </c:pt>
              </c:numCache>
            </c:numRef>
          </c:val>
        </c:ser>
        <c:dLbls>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7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00A4DC"/>
              </a:solidFill>
            </c:spPr>
          </c:dPt>
          <c:dPt>
            <c:idx val="1"/>
            <c:spPr>
              <a:solidFill>
                <a:srgbClr val="6ECFF2"/>
              </a:solidFill>
            </c:spPr>
          </c:dPt>
          <c:dLbls>
            <c:dLbl>
              <c:idx val="0"/>
              <c:tx>
                <c:rich>
                  <a:bodyPr/>
                  <a:lstStyle/>
                  <a:p>
                    <a:pPr>
                      <a:defRPr sz="1100" b="1">
                        <a:solidFill>
                          <a:srgbClr val="FFFFFF"/>
                        </a:solidFill>
                        <a:latin typeface="Segoe UI"/>
                      </a:defRPr>
                    </a:pPr>
                    <a:r>
                      <a:t>37.3%</a:t>
                    </a:r>
                  </a:p>
                </c:rich>
              </c:tx>
              <c:showLegendKey val="0"/>
              <c:showVal val="1"/>
              <c:showCatName val="0"/>
              <c:showSerName val="0"/>
              <c:showPercent val="0"/>
              <c:showBubbleSize val="0"/>
            </c:dLbl>
            <c:dLbl>
              <c:idx val="1"/>
              <c:tx>
                <c:rich>
                  <a:bodyPr/>
                  <a:lstStyle/>
                  <a:p>
                    <a:pPr>
                      <a:defRPr sz="1100" b="1">
                        <a:solidFill>
                          <a:srgbClr val="252423"/>
                        </a:solidFill>
                        <a:latin typeface="Segoe UI"/>
                      </a:defRPr>
                    </a:pPr>
                    <a:r>
                      <a:t>62.7%</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Warp Knitted Fabrics</c:v>
                </c:pt>
                <c:pt idx="1">
                  <c:v>Weft Knitted Fabrics</c:v>
                </c:pt>
              </c:strCache>
            </c:strRef>
          </c:cat>
          <c:val>
            <c:numRef>
              <c:f>Sheet1!$B$2:$B$3</c:f>
              <c:numCache>
                <c:formatCode>General</c:formatCode>
                <c:ptCount val="2"/>
                <c:pt idx="0">
                  <c:v>186.266</c:v>
                </c:pt>
                <c:pt idx="1">
                  <c:v>312.693</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externalData r:id="rId1">
    <c:autoUpdate val="0"/>
  </c:externalData>
</c:chartSpace>
</file>

<file path=ppt/charts/chart27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Russia</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Sheet1!$B$2:$B$3</c:f>
              <c:numCache>
                <c:formatCode>General</c:formatCode>
                <c:ptCount val="2"/>
                <c:pt idx="0">
                  <c:v>42.28005698593933</c:v>
                </c:pt>
                <c:pt idx="1">
                  <c:v>38.62487708609818</c:v>
                </c:pt>
              </c:numCache>
            </c:numRef>
          </c:val>
        </c:ser>
        <c:ser>
          <c:idx val="1"/>
          <c:order val="1"/>
          <c:tx>
            <c:strRef>
              <c:f>Sheet1!$C$1</c:f>
              <c:strCache>
                <c:ptCount val="1"/>
                <c:pt idx="0">
                  <c:v>Poland</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Sheet1!$C$2:$C$3</c:f>
              <c:numCache>
                <c:formatCode>General</c:formatCode>
                <c:ptCount val="2"/>
                <c:pt idx="0">
                  <c:v>24.13127413127413</c:v>
                </c:pt>
                <c:pt idx="1">
                  <c:v>25.875525177580506</c:v>
                </c:pt>
              </c:numCache>
            </c:numRef>
          </c:val>
        </c:ser>
        <c:ser>
          <c:idx val="2"/>
          <c:order val="2"/>
          <c:tx>
            <c:strRef>
              <c:f>Sheet1!$D$1</c:f>
              <c:strCache>
                <c:ptCount val="1"/>
                <c:pt idx="0">
                  <c:v>Balkan &amp; Baltics</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Sheet1!$D$2:$D$3</c:f>
              <c:numCache>
                <c:formatCode>General</c:formatCode>
                <c:ptCount val="2"/>
                <c:pt idx="0">
                  <c:v>14.50560568207627</c:v>
                </c:pt>
                <c:pt idx="1">
                  <c:v>15.754295969799282</c:v>
                </c:pt>
              </c:numCache>
            </c:numRef>
          </c:val>
        </c:ser>
        <c:ser>
          <c:idx val="3"/>
          <c:order val="3"/>
          <c:tx>
            <c:strRef>
              <c:f>Sheet1!$E$1</c:f>
              <c:strCache>
                <c:ptCount val="1"/>
                <c:pt idx="0">
                  <c:v>Hungary</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Sheet1!$E$2:$E$3</c:f>
              <c:numCache>
                <c:formatCode>General</c:formatCode>
                <c:ptCount val="2"/>
                <c:pt idx="0">
                  <c:v>9.94982759688642</c:v>
                </c:pt>
                <c:pt idx="1">
                  <c:v>10.495300047446486</c:v>
                </c:pt>
              </c:numCache>
            </c:numRef>
          </c:val>
        </c:ser>
        <c:ser>
          <c:idx val="4"/>
          <c:order val="4"/>
          <c:tx>
            <c:strRef>
              <c:f>Sheet1!$F$1</c:f>
              <c:strCache>
                <c:ptCount val="1"/>
                <c:pt idx="0">
                  <c:v>Rest of Eastern Europe</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Sheet1!$F$2:$F$3</c:f>
              <c:numCache>
                <c:formatCode>General</c:formatCode>
                <c:ptCount val="2"/>
                <c:pt idx="0">
                  <c:v>9.133235603823838</c:v>
                </c:pt>
                <c:pt idx="1">
                  <c:v>9.25000171907555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8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Russia</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Sheet1!$B$2:$B$3</c:f>
              <c:numCache>
                <c:formatCode>General</c:formatCode>
                <c:ptCount val="2"/>
                <c:pt idx="0">
                  <c:v>40.61268746682975</c:v>
                </c:pt>
                <c:pt idx="1">
                  <c:v>36.02768168863912</c:v>
                </c:pt>
              </c:numCache>
            </c:numRef>
          </c:val>
        </c:ser>
        <c:ser>
          <c:idx val="1"/>
          <c:order val="1"/>
          <c:tx>
            <c:strRef>
              <c:f>Sheet1!$C$1</c:f>
              <c:strCache>
                <c:ptCount val="1"/>
                <c:pt idx="0">
                  <c:v>Poland</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Sheet1!$C$2:$C$3</c:f>
              <c:numCache>
                <c:formatCode>General</c:formatCode>
                <c:ptCount val="2"/>
                <c:pt idx="0">
                  <c:v>25.58827767760802</c:v>
                </c:pt>
                <c:pt idx="1">
                  <c:v>27.83120022126111</c:v>
                </c:pt>
              </c:numCache>
            </c:numRef>
          </c:val>
        </c:ser>
        <c:ser>
          <c:idx val="2"/>
          <c:order val="2"/>
          <c:tx>
            <c:strRef>
              <c:f>Sheet1!$D$1</c:f>
              <c:strCache>
                <c:ptCount val="1"/>
                <c:pt idx="0">
                  <c:v>Balkan &amp; Baltics</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Sheet1!$D$2:$D$3</c:f>
              <c:numCache>
                <c:formatCode>General</c:formatCode>
                <c:ptCount val="2"/>
                <c:pt idx="0">
                  <c:v>14.505635867101088</c:v>
                </c:pt>
                <c:pt idx="1">
                  <c:v>16.112177778490373</c:v>
                </c:pt>
              </c:numCache>
            </c:numRef>
          </c:val>
        </c:ser>
        <c:ser>
          <c:idx val="3"/>
          <c:order val="3"/>
          <c:tx>
            <c:strRef>
              <c:f>Sheet1!$E$1</c:f>
              <c:strCache>
                <c:ptCount val="1"/>
                <c:pt idx="0">
                  <c:v>Hungary</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Sheet1!$E$2:$E$3</c:f>
              <c:numCache>
                <c:formatCode>General</c:formatCode>
                <c:ptCount val="2"/>
                <c:pt idx="0">
                  <c:v>10.386374100668853</c:v>
                </c:pt>
                <c:pt idx="1">
                  <c:v>11.1358070218335</c:v>
                </c:pt>
              </c:numCache>
            </c:numRef>
          </c:val>
        </c:ser>
        <c:ser>
          <c:idx val="4"/>
          <c:order val="4"/>
          <c:tx>
            <c:strRef>
              <c:f>Sheet1!$F$1</c:f>
              <c:strCache>
                <c:ptCount val="1"/>
                <c:pt idx="0">
                  <c:v>Rest of Eastern Europe</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Sheet1!$F$2:$F$3</c:f>
              <c:numCache>
                <c:formatCode>General</c:formatCode>
                <c:ptCount val="2"/>
                <c:pt idx="0">
                  <c:v>8.907024887792293</c:v>
                </c:pt>
                <c:pt idx="1">
                  <c:v>8.893133289775893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8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Russia</c:v>
                </c:pt>
              </c:strCache>
            </c:strRef>
          </c:tx>
          <c:spPr>
            <a:solidFill>
              <a:srgbClr val="00A4DC"/>
            </a:solidFill>
            <a:ln>
              <a:noFill/>
            </a:ln>
          </c:spPr>
          <c:dLbls>
            <c:dLbl>
              <c:idx val="0"/>
              <c:tx>
                <c:rich>
                  <a:bodyPr/>
                  <a:lstStyle/>
                  <a:p>
                    <a:r>
                      <a:rPr sz="1100">
                        <a:solidFill>
                          <a:srgbClr val="FFFFFF"/>
                        </a:solidFill>
                        <a:latin typeface="Segoe UI"/>
                      </a:rPr>
                      <a:t>35.3</a:t>
                    </a:r>
                  </a:p>
                </c:rich>
              </c:tx>
              <c:dLblPos val="ctr"/>
              <c:showLegendKey val="0"/>
              <c:showVal val="1"/>
              <c:showCatName val="0"/>
              <c:showSerName val="0"/>
              <c:showPercent val="0"/>
              <c:showBubbleSize val="0"/>
            </c:dLbl>
            <c:dLbl>
              <c:idx val="1"/>
              <c:tx>
                <c:rich>
                  <a:bodyPr/>
                  <a:lstStyle/>
                  <a:p>
                    <a:r>
                      <a:rPr sz="1100">
                        <a:solidFill>
                          <a:srgbClr val="FFFFFF"/>
                        </a:solidFill>
                        <a:latin typeface="Segoe UI"/>
                      </a:rPr>
                      <a:t>36.3</a:t>
                    </a:r>
                  </a:p>
                </c:rich>
              </c:tx>
              <c:dLblPos val="ctr"/>
              <c:showLegendKey val="0"/>
              <c:showVal val="1"/>
              <c:showCatName val="0"/>
              <c:showSerName val="0"/>
              <c:showPercent val="0"/>
              <c:showBubbleSize val="0"/>
            </c:dLbl>
            <c:dLbl>
              <c:idx val="2"/>
              <c:tx>
                <c:rich>
                  <a:bodyPr/>
                  <a:lstStyle/>
                  <a:p>
                    <a:r>
                      <a:rPr sz="1100">
                        <a:solidFill>
                          <a:srgbClr val="FFFFFF"/>
                        </a:solidFill>
                        <a:latin typeface="Segoe UI"/>
                      </a:rPr>
                      <a:t>37.4</a:t>
                    </a:r>
                  </a:p>
                </c:rich>
              </c:tx>
              <c:dLblPos val="ctr"/>
              <c:showLegendKey val="0"/>
              <c:showVal val="1"/>
              <c:showCatName val="0"/>
              <c:showSerName val="0"/>
              <c:showPercent val="0"/>
              <c:showBubbleSize val="0"/>
            </c:dLbl>
            <c:dLbl>
              <c:idx val="3"/>
              <c:tx>
                <c:rich>
                  <a:bodyPr/>
                  <a:lstStyle/>
                  <a:p>
                    <a:r>
                      <a:rPr sz="1100">
                        <a:solidFill>
                          <a:srgbClr val="FFFFFF"/>
                        </a:solidFill>
                        <a:latin typeface="Segoe UI"/>
                      </a:rPr>
                      <a:t>38.5</a:t>
                    </a:r>
                  </a:p>
                </c:rich>
              </c:tx>
              <c:dLblPos val="ctr"/>
              <c:showLegendKey val="0"/>
              <c:showVal val="1"/>
              <c:showCatName val="0"/>
              <c:showSerName val="0"/>
              <c:showPercent val="0"/>
              <c:showBubbleSize val="0"/>
            </c:dLbl>
            <c:dLbl>
              <c:idx val="4"/>
              <c:tx>
                <c:rich>
                  <a:bodyPr/>
                  <a:lstStyle/>
                  <a:p>
                    <a:r>
                      <a:rPr sz="1100">
                        <a:solidFill>
                          <a:srgbClr val="FFFFFF"/>
                        </a:solidFill>
                        <a:latin typeface="Segoe UI"/>
                      </a:rPr>
                      <a:t>39.7</a:t>
                    </a:r>
                  </a:p>
                </c:rich>
              </c:tx>
              <c:dLblPos val="ctr"/>
              <c:showLegendKey val="0"/>
              <c:showVal val="1"/>
              <c:showCatName val="0"/>
              <c:showSerName val="0"/>
              <c:showPercent val="0"/>
              <c:showBubbleSize val="0"/>
            </c:dLbl>
            <c:dLbl>
              <c:idx val="5"/>
              <c:tx>
                <c:rich>
                  <a:bodyPr/>
                  <a:lstStyle/>
                  <a:p>
                    <a:r>
                      <a:rPr sz="1100">
                        <a:solidFill>
                          <a:srgbClr val="FFFFFF"/>
                        </a:solidFill>
                        <a:latin typeface="Segoe UI"/>
                      </a:rPr>
                      <a:t>41.0</a:t>
                    </a:r>
                  </a:p>
                </c:rich>
              </c:tx>
              <c:dLblPos val="ctr"/>
              <c:showLegendKey val="0"/>
              <c:showVal val="1"/>
              <c:showCatName val="0"/>
              <c:showSerName val="0"/>
              <c:showPercent val="0"/>
              <c:showBubbleSize val="0"/>
            </c:dLbl>
            <c:dLbl>
              <c:idx val="6"/>
              <c:tx>
                <c:rich>
                  <a:bodyPr/>
                  <a:lstStyle/>
                  <a:p>
                    <a:r>
                      <a:rPr sz="1100">
                        <a:solidFill>
                          <a:srgbClr val="FFFFFF"/>
                        </a:solidFill>
                        <a:latin typeface="Segoe UI"/>
                      </a:rPr>
                      <a:t>42.3</a:t>
                    </a:r>
                  </a:p>
                </c:rich>
              </c:tx>
              <c:dLblPos val="ctr"/>
              <c:showLegendKey val="0"/>
              <c:showVal val="1"/>
              <c:showCatName val="0"/>
              <c:showSerName val="0"/>
              <c:showPercent val="0"/>
              <c:showBubbleSize val="0"/>
            </c:dLbl>
            <c:dLbl>
              <c:idx val="7"/>
              <c:tx>
                <c:rich>
                  <a:bodyPr/>
                  <a:lstStyle/>
                  <a:p>
                    <a:r>
                      <a:rPr sz="1100">
                        <a:solidFill>
                          <a:srgbClr val="FFFFFF"/>
                        </a:solidFill>
                        <a:latin typeface="Segoe UI"/>
                      </a:rPr>
                      <a:t>43.6</a:t>
                    </a:r>
                  </a:p>
                </c:rich>
              </c:tx>
              <c:dLblPos val="ctr"/>
              <c:showLegendKey val="0"/>
              <c:showVal val="1"/>
              <c:showCatName val="0"/>
              <c:showSerName val="0"/>
              <c:showPercent val="0"/>
              <c:showBubbleSize val="0"/>
            </c:dLbl>
            <c:dLbl>
              <c:idx val="8"/>
              <c:tx>
                <c:rich>
                  <a:bodyPr/>
                  <a:lstStyle/>
                  <a:p>
                    <a:r>
                      <a:rPr sz="1100">
                        <a:solidFill>
                          <a:srgbClr val="FFFFFF"/>
                        </a:solidFill>
                        <a:latin typeface="Segoe UI"/>
                      </a:rPr>
                      <a:t>45.1</a:t>
                    </a:r>
                  </a:p>
                </c:rich>
              </c:tx>
              <c:dLblPos val="ctr"/>
              <c:showLegendKey val="0"/>
              <c:showVal val="1"/>
              <c:showCatName val="0"/>
              <c:showSerName val="0"/>
              <c:showPercent val="0"/>
              <c:showBubbleSize val="0"/>
            </c:dLbl>
            <c:dLbl>
              <c:idx val="9"/>
              <c:tx>
                <c:rich>
                  <a:bodyPr/>
                  <a:lstStyle/>
                  <a:p>
                    <a:r>
                      <a:rPr sz="1100">
                        <a:solidFill>
                          <a:srgbClr val="FFFFFF"/>
                        </a:solidFill>
                        <a:latin typeface="Segoe UI"/>
                      </a:rPr>
                      <a:t>46.6</a:t>
                    </a:r>
                  </a:p>
                </c:rich>
              </c:tx>
              <c:dLblPos val="ctr"/>
              <c:showLegendKey val="0"/>
              <c:showVal val="1"/>
              <c:showCatName val="0"/>
              <c:showSerName val="0"/>
              <c:showPercent val="0"/>
              <c:showBubbleSize val="0"/>
            </c:dLbl>
            <c:dLbl>
              <c:idx val="10"/>
              <c:tx>
                <c:rich>
                  <a:bodyPr/>
                  <a:lstStyle/>
                  <a:p>
                    <a:r>
                      <a:rPr sz="1100">
                        <a:solidFill>
                          <a:srgbClr val="FFFFFF"/>
                        </a:solidFill>
                        <a:latin typeface="Segoe UI"/>
                      </a:rPr>
                      <a:t>48.1</a:t>
                    </a:r>
                  </a:p>
                </c:rich>
              </c:tx>
              <c:dLblPos val="ctr"/>
              <c:showLegendKey val="0"/>
              <c:showVal val="1"/>
              <c:showCatName val="0"/>
              <c:showSerName val="0"/>
              <c:showPercent val="0"/>
              <c:showBubbleSize val="0"/>
            </c:dLbl>
            <c:dLbl>
              <c:idx val="11"/>
              <c:tx>
                <c:rich>
                  <a:bodyPr/>
                  <a:lstStyle/>
                  <a:p>
                    <a:r>
                      <a:rPr sz="1100">
                        <a:solidFill>
                          <a:srgbClr val="FFFFFF"/>
                        </a:solidFill>
                        <a:latin typeface="Segoe UI"/>
                      </a:rPr>
                      <a:t>49.7</a:t>
                    </a:r>
                  </a:p>
                </c:rich>
              </c:tx>
              <c:dLblPos val="ctr"/>
              <c:showLegendKey val="0"/>
              <c:showVal val="1"/>
              <c:showCatName val="0"/>
              <c:showSerName val="0"/>
              <c:showPercent val="0"/>
              <c:showBubbleSize val="0"/>
            </c:dLbl>
            <c:dLbl>
              <c:idx val="12"/>
              <c:tx>
                <c:rich>
                  <a:bodyPr/>
                  <a:lstStyle/>
                  <a:p>
                    <a:r>
                      <a:rPr sz="1100">
                        <a:solidFill>
                          <a:srgbClr val="FFFFFF"/>
                        </a:solidFill>
                        <a:latin typeface="Segoe UI"/>
                      </a:rPr>
                      <a:t>51.3</a:t>
                    </a:r>
                  </a:p>
                </c:rich>
              </c:tx>
              <c:dLblPos val="ctr"/>
              <c:showLegendKey val="0"/>
              <c:showVal val="1"/>
              <c:showCatName val="0"/>
              <c:showSerName val="0"/>
              <c:showPercent val="0"/>
              <c:showBubbleSize val="0"/>
            </c:dLbl>
            <c:dLbl>
              <c:idx val="13"/>
              <c:tx>
                <c:rich>
                  <a:bodyPr/>
                  <a:lstStyle/>
                  <a:p>
                    <a:r>
                      <a:rPr sz="1100">
                        <a:solidFill>
                          <a:srgbClr val="FFFFFF"/>
                        </a:solidFill>
                        <a:latin typeface="Segoe UI"/>
                      </a:rPr>
                      <a:t>53.0</a:t>
                    </a:r>
                  </a:p>
                </c:rich>
              </c:tx>
              <c:dLblPos val="ctr"/>
              <c:showLegendKey val="0"/>
              <c:showVal val="1"/>
              <c:showCatName val="0"/>
              <c:showSerName val="0"/>
              <c:showPercent val="0"/>
              <c:showBubbleSize val="0"/>
            </c:dLbl>
            <c:dLbl>
              <c:idx val="14"/>
              <c:tx>
                <c:rich>
                  <a:bodyPr/>
                  <a:lstStyle/>
                  <a:p>
                    <a:r>
                      <a:rPr sz="1100">
                        <a:solidFill>
                          <a:srgbClr val="FFFFFF"/>
                        </a:solidFill>
                        <a:latin typeface="Segoe UI"/>
                      </a:rPr>
                      <a:t>54.6</a:t>
                    </a:r>
                  </a:p>
                </c:rich>
              </c:tx>
              <c:dLblPos val="ctr"/>
              <c:showLegendKey val="0"/>
              <c:showVal val="1"/>
              <c:showCatName val="0"/>
              <c:showSerName val="0"/>
              <c:showPercent val="0"/>
              <c:showBubbleSize val="0"/>
            </c:dLbl>
            <c:dLbl>
              <c:idx val="15"/>
              <c:tx>
                <c:rich>
                  <a:bodyPr/>
                  <a:lstStyle/>
                  <a:p>
                    <a:r>
                      <a:rPr sz="1100">
                        <a:solidFill>
                          <a:srgbClr val="FFFFFF"/>
                        </a:solidFill>
                        <a:latin typeface="Segoe UI"/>
                      </a:rPr>
                      <a:t>56.2</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35.297</c:v>
                </c:pt>
                <c:pt idx="1">
                  <c:v>36.335</c:v>
                </c:pt>
                <c:pt idx="2">
                  <c:v>37.417</c:v>
                </c:pt>
                <c:pt idx="3">
                  <c:v>38.547</c:v>
                </c:pt>
                <c:pt idx="4">
                  <c:v>39.722</c:v>
                </c:pt>
                <c:pt idx="5">
                  <c:v>40.955</c:v>
                </c:pt>
                <c:pt idx="6">
                  <c:v>42.258</c:v>
                </c:pt>
                <c:pt idx="7">
                  <c:v>43.638</c:v>
                </c:pt>
                <c:pt idx="8">
                  <c:v>45.093</c:v>
                </c:pt>
                <c:pt idx="9">
                  <c:v>46.601</c:v>
                </c:pt>
                <c:pt idx="10">
                  <c:v>48.15</c:v>
                </c:pt>
                <c:pt idx="11">
                  <c:v>49.729</c:v>
                </c:pt>
                <c:pt idx="12">
                  <c:v>51.335</c:v>
                </c:pt>
                <c:pt idx="13">
                  <c:v>52.955</c:v>
                </c:pt>
                <c:pt idx="14">
                  <c:v>54.573</c:v>
                </c:pt>
                <c:pt idx="15">
                  <c:v>56.171</c:v>
                </c:pt>
              </c:numCache>
            </c:numRef>
          </c:val>
        </c:ser>
        <c:ser>
          <c:idx val="1"/>
          <c:order val="1"/>
          <c:tx>
            <c:strRef>
              <c:f>Sheet1!$C$1</c:f>
              <c:strCache>
                <c:ptCount val="1"/>
                <c:pt idx="0">
                  <c:v>Poland</c:v>
                </c:pt>
              </c:strCache>
            </c:strRef>
          </c:tx>
          <c:spPr>
            <a:solidFill>
              <a:srgbClr val="6ECFF2"/>
            </a:solidFill>
            <a:ln>
              <a:noFill/>
            </a:ln>
          </c:spPr>
          <c:dLbls>
            <c:dLbl>
              <c:idx val="0"/>
              <c:tx>
                <c:rich>
                  <a:bodyPr/>
                  <a:lstStyle/>
                  <a:p>
                    <a:r>
                      <a:rPr sz="1100">
                        <a:solidFill>
                          <a:srgbClr val="252423"/>
                        </a:solidFill>
                        <a:latin typeface="Segoe UI"/>
                      </a:rPr>
                      <a:t>18.5</a:t>
                    </a:r>
                  </a:p>
                </c:rich>
              </c:tx>
              <c:dLblPos val="ctr"/>
              <c:showLegendKey val="0"/>
              <c:showVal val="1"/>
              <c:showCatName val="0"/>
              <c:showSerName val="0"/>
              <c:showPercent val="0"/>
              <c:showBubbleSize val="0"/>
            </c:dLbl>
            <c:dLbl>
              <c:idx val="1"/>
              <c:tx>
                <c:rich>
                  <a:bodyPr/>
                  <a:lstStyle/>
                  <a:p>
                    <a:r>
                      <a:rPr sz="1100">
                        <a:solidFill>
                          <a:srgbClr val="252423"/>
                        </a:solidFill>
                        <a:latin typeface="Segoe UI"/>
                      </a:rPr>
                      <a:t>19.4</a:t>
                    </a:r>
                  </a:p>
                </c:rich>
              </c:tx>
              <c:dLblPos val="ctr"/>
              <c:showLegendKey val="0"/>
              <c:showVal val="1"/>
              <c:showCatName val="0"/>
              <c:showSerName val="0"/>
              <c:showPercent val="0"/>
              <c:showBubbleSize val="0"/>
            </c:dLbl>
            <c:dLbl>
              <c:idx val="2"/>
              <c:tx>
                <c:rich>
                  <a:bodyPr/>
                  <a:lstStyle/>
                  <a:p>
                    <a:r>
                      <a:rPr sz="1100">
                        <a:solidFill>
                          <a:srgbClr val="252423"/>
                        </a:solidFill>
                        <a:latin typeface="Segoe UI"/>
                      </a:rPr>
                      <a:t>20.2</a:t>
                    </a:r>
                  </a:p>
                </c:rich>
              </c:tx>
              <c:dLblPos val="ctr"/>
              <c:showLegendKey val="0"/>
              <c:showVal val="1"/>
              <c:showCatName val="0"/>
              <c:showSerName val="0"/>
              <c:showPercent val="0"/>
              <c:showBubbleSize val="0"/>
            </c:dLbl>
            <c:dLbl>
              <c:idx val="3"/>
              <c:tx>
                <c:rich>
                  <a:bodyPr/>
                  <a:lstStyle/>
                  <a:p>
                    <a:r>
                      <a:rPr sz="1100">
                        <a:solidFill>
                          <a:srgbClr val="252423"/>
                        </a:solidFill>
                        <a:latin typeface="Segoe UI"/>
                      </a:rPr>
                      <a:t>21.2</a:t>
                    </a:r>
                  </a:p>
                </c:rich>
              </c:tx>
              <c:dLblPos val="ctr"/>
              <c:showLegendKey val="0"/>
              <c:showVal val="1"/>
              <c:showCatName val="0"/>
              <c:showSerName val="0"/>
              <c:showPercent val="0"/>
              <c:showBubbleSize val="0"/>
            </c:dLbl>
            <c:dLbl>
              <c:idx val="4"/>
              <c:tx>
                <c:rich>
                  <a:bodyPr/>
                  <a:lstStyle/>
                  <a:p>
                    <a:r>
                      <a:rPr sz="1100">
                        <a:solidFill>
                          <a:srgbClr val="252423"/>
                        </a:solidFill>
                        <a:latin typeface="Segoe UI"/>
                      </a:rPr>
                      <a:t>22.2</a:t>
                    </a:r>
                  </a:p>
                </c:rich>
              </c:tx>
              <c:dLblPos val="ctr"/>
              <c:showLegendKey val="0"/>
              <c:showVal val="1"/>
              <c:showCatName val="0"/>
              <c:showSerName val="0"/>
              <c:showPercent val="0"/>
              <c:showBubbleSize val="0"/>
            </c:dLbl>
            <c:dLbl>
              <c:idx val="5"/>
              <c:tx>
                <c:rich>
                  <a:bodyPr/>
                  <a:lstStyle/>
                  <a:p>
                    <a:r>
                      <a:rPr sz="1100">
                        <a:solidFill>
                          <a:srgbClr val="252423"/>
                        </a:solidFill>
                        <a:latin typeface="Segoe UI"/>
                      </a:rPr>
                      <a:t>23.4</a:t>
                    </a:r>
                  </a:p>
                </c:rich>
              </c:tx>
              <c:dLblPos val="ctr"/>
              <c:showLegendKey val="0"/>
              <c:showVal val="1"/>
              <c:showCatName val="0"/>
              <c:showSerName val="0"/>
              <c:showPercent val="0"/>
              <c:showBubbleSize val="0"/>
            </c:dLbl>
            <c:dLbl>
              <c:idx val="6"/>
              <c:tx>
                <c:rich>
                  <a:bodyPr/>
                  <a:lstStyle/>
                  <a:p>
                    <a:r>
                      <a:rPr sz="1100">
                        <a:solidFill>
                          <a:srgbClr val="252423"/>
                        </a:solidFill>
                        <a:latin typeface="Segoe UI"/>
                      </a:rPr>
                      <a:t>24.6</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25.9</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27.2</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28.5</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29.9</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31.4</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32.9</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34.4</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36.0</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37.6</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0">
                  <c:v>18.507</c:v>
                </c:pt>
                <c:pt idx="1">
                  <c:v>19.357</c:v>
                </c:pt>
                <c:pt idx="2">
                  <c:v>20.238</c:v>
                </c:pt>
                <c:pt idx="3">
                  <c:v>21.183</c:v>
                </c:pt>
                <c:pt idx="4">
                  <c:v>22.233</c:v>
                </c:pt>
                <c:pt idx="5">
                  <c:v>23.375</c:v>
                </c:pt>
                <c:pt idx="6">
                  <c:v>24.596</c:v>
                </c:pt>
                <c:pt idx="7">
                  <c:v>25.867</c:v>
                </c:pt>
                <c:pt idx="8">
                  <c:v>27.163</c:v>
                </c:pt>
                <c:pt idx="9">
                  <c:v>28.485</c:v>
                </c:pt>
                <c:pt idx="10">
                  <c:v>29.882</c:v>
                </c:pt>
                <c:pt idx="11">
                  <c:v>31.353</c:v>
                </c:pt>
                <c:pt idx="12">
                  <c:v>32.881</c:v>
                </c:pt>
                <c:pt idx="13">
                  <c:v>34.444</c:v>
                </c:pt>
                <c:pt idx="14">
                  <c:v>36.029</c:v>
                </c:pt>
                <c:pt idx="15">
                  <c:v>37.63</c:v>
                </c:pt>
              </c:numCache>
            </c:numRef>
          </c:val>
        </c:ser>
        <c:ser>
          <c:idx val="2"/>
          <c:order val="2"/>
          <c:tx>
            <c:strRef>
              <c:f>Sheet1!$D$1</c:f>
              <c:strCache>
                <c:ptCount val="1"/>
                <c:pt idx="0">
                  <c:v>Balkan &amp; Baltics</c:v>
                </c:pt>
              </c:strCache>
            </c:strRef>
          </c:tx>
          <c:spPr>
            <a:solidFill>
              <a:srgbClr val="D6CAC4"/>
            </a:solidFill>
            <a:ln>
              <a:noFill/>
            </a:ln>
          </c:spPr>
          <c:dLbls>
            <c:dLbl>
              <c:idx val="0"/>
              <c:tx>
                <c:rich>
                  <a:bodyPr/>
                  <a:lstStyle/>
                  <a:p>
                    <a:r>
                      <a:rPr sz="1100">
                        <a:solidFill>
                          <a:srgbClr val="252423"/>
                        </a:solidFill>
                        <a:latin typeface="Segoe UI"/>
                      </a:rPr>
                      <a:t>10.9</a:t>
                    </a:r>
                  </a:p>
                </c:rich>
              </c:tx>
              <c:dLblPos val="ctr"/>
              <c:showLegendKey val="0"/>
              <c:showVal val="1"/>
              <c:showCatName val="0"/>
              <c:showSerName val="0"/>
              <c:showPercent val="0"/>
              <c:showBubbleSize val="0"/>
            </c:dLbl>
            <c:dLbl>
              <c:idx val="1"/>
              <c:tx>
                <c:rich>
                  <a:bodyPr/>
                  <a:lstStyle/>
                  <a:p>
                    <a:r>
                      <a:rPr sz="1100">
                        <a:solidFill>
                          <a:srgbClr val="252423"/>
                        </a:solidFill>
                        <a:latin typeface="Segoe UI"/>
                      </a:rPr>
                      <a:t>11.5</a:t>
                    </a:r>
                  </a:p>
                </c:rich>
              </c:tx>
              <c:dLblPos val="ctr"/>
              <c:showLegendKey val="0"/>
              <c:showVal val="1"/>
              <c:showCatName val="0"/>
              <c:showSerName val="0"/>
              <c:showPercent val="0"/>
              <c:showBubbleSize val="0"/>
            </c:dLbl>
            <c:dLbl>
              <c:idx val="2"/>
              <c:tx>
                <c:rich>
                  <a:bodyPr/>
                  <a:lstStyle/>
                  <a:p>
                    <a:r>
                      <a:rPr sz="1100">
                        <a:solidFill>
                          <a:srgbClr val="252423"/>
                        </a:solidFill>
                        <a:latin typeface="Segoe UI"/>
                      </a:rPr>
                      <a:t>12.1</a:t>
                    </a:r>
                  </a:p>
                </c:rich>
              </c:tx>
              <c:dLblPos val="ctr"/>
              <c:showLegendKey val="0"/>
              <c:showVal val="1"/>
              <c:showCatName val="0"/>
              <c:showSerName val="0"/>
              <c:showPercent val="0"/>
              <c:showBubbleSize val="0"/>
            </c:dLbl>
            <c:dLbl>
              <c:idx val="3"/>
              <c:tx>
                <c:rich>
                  <a:bodyPr/>
                  <a:lstStyle/>
                  <a:p>
                    <a:r>
                      <a:rPr sz="1100">
                        <a:solidFill>
                          <a:srgbClr val="252423"/>
                        </a:solidFill>
                        <a:latin typeface="Segoe UI"/>
                      </a:rPr>
                      <a:t>12.8</a:t>
                    </a:r>
                  </a:p>
                </c:rich>
              </c:tx>
              <c:dLblPos val="ctr"/>
              <c:showLegendKey val="0"/>
              <c:showVal val="1"/>
              <c:showCatName val="0"/>
              <c:showSerName val="0"/>
              <c:showPercent val="0"/>
              <c:showBubbleSize val="0"/>
            </c:dLbl>
            <c:dLbl>
              <c:idx val="4"/>
              <c:tx>
                <c:rich>
                  <a:bodyPr/>
                  <a:lstStyle/>
                  <a:p>
                    <a:r>
                      <a:rPr sz="1100">
                        <a:solidFill>
                          <a:srgbClr val="252423"/>
                        </a:solidFill>
                        <a:latin typeface="Segoe UI"/>
                      </a:rPr>
                      <a:t>13.4</a:t>
                    </a:r>
                  </a:p>
                </c:rich>
              </c:tx>
              <c:dLblPos val="ctr"/>
              <c:showLegendKey val="0"/>
              <c:showVal val="1"/>
              <c:showCatName val="0"/>
              <c:showSerName val="0"/>
              <c:showPercent val="0"/>
              <c:showBubbleSize val="0"/>
            </c:dLbl>
            <c:dLbl>
              <c:idx val="5"/>
              <c:tx>
                <c:rich>
                  <a:bodyPr/>
                  <a:lstStyle/>
                  <a:p>
                    <a:r>
                      <a:rPr sz="1100">
                        <a:solidFill>
                          <a:srgbClr val="252423"/>
                        </a:solidFill>
                        <a:latin typeface="Segoe UI"/>
                      </a:rPr>
                      <a:t>14.1</a:t>
                    </a:r>
                  </a:p>
                </c:rich>
              </c:tx>
              <c:dLblPos val="ctr"/>
              <c:showLegendKey val="0"/>
              <c:showVal val="1"/>
              <c:showCatName val="0"/>
              <c:showSerName val="0"/>
              <c:showPercent val="0"/>
              <c:showBubbleSize val="0"/>
            </c:dLbl>
            <c:dLbl>
              <c:idx val="6"/>
              <c:tx>
                <c:rich>
                  <a:bodyPr/>
                  <a:lstStyle/>
                  <a:p>
                    <a:r>
                      <a:rPr sz="1100">
                        <a:solidFill>
                          <a:srgbClr val="252423"/>
                        </a:solidFill>
                        <a:latin typeface="Segoe UI"/>
                      </a:rPr>
                      <a:t>14.7</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15.5</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16.2</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17.1</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18.0</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18.9</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19.8</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20.8</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21.9</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22.9</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Sheet1!$D$2:$D$17</c:f>
              <c:numCache>
                <c:formatCode>General</c:formatCode>
                <c:ptCount val="16"/>
                <c:pt idx="0">
                  <c:v>10.869</c:v>
                </c:pt>
                <c:pt idx="1">
                  <c:v>11.482</c:v>
                </c:pt>
                <c:pt idx="2">
                  <c:v>12.114</c:v>
                </c:pt>
                <c:pt idx="3">
                  <c:v>12.752</c:v>
                </c:pt>
                <c:pt idx="4">
                  <c:v>13.396</c:v>
                </c:pt>
                <c:pt idx="5">
                  <c:v>14.051</c:v>
                </c:pt>
                <c:pt idx="6">
                  <c:v>14.736</c:v>
                </c:pt>
                <c:pt idx="7">
                  <c:v>15.465</c:v>
                </c:pt>
                <c:pt idx="8">
                  <c:v>16.248</c:v>
                </c:pt>
                <c:pt idx="9">
                  <c:v>17.084</c:v>
                </c:pt>
                <c:pt idx="10">
                  <c:v>17.952</c:v>
                </c:pt>
                <c:pt idx="11">
                  <c:v>18.859</c:v>
                </c:pt>
                <c:pt idx="12">
                  <c:v>19.832</c:v>
                </c:pt>
                <c:pt idx="13">
                  <c:v>20.842</c:v>
                </c:pt>
                <c:pt idx="14">
                  <c:v>21.87</c:v>
                </c:pt>
                <c:pt idx="15">
                  <c:v>22.911</c:v>
                </c:pt>
              </c:numCache>
            </c:numRef>
          </c:val>
        </c:ser>
        <c:ser>
          <c:idx val="3"/>
          <c:order val="3"/>
          <c:tx>
            <c:strRef>
              <c:f>Sheet1!$E$1</c:f>
              <c:strCache>
                <c:ptCount val="1"/>
                <c:pt idx="0">
                  <c:v>Hungary</c:v>
                </c:pt>
              </c:strCache>
            </c:strRef>
          </c:tx>
          <c:spPr>
            <a:solidFill>
              <a:srgbClr val="EBC46B"/>
            </a:solidFill>
            <a:ln>
              <a:noFill/>
            </a:ln>
          </c:spPr>
          <c:dLbls>
            <c:dLbl>
              <c:idx val="3"/>
              <c:tx>
                <c:rich>
                  <a:bodyPr/>
                  <a:lstStyle/>
                  <a:p>
                    <a:r>
                      <a:rPr sz="1100">
                        <a:solidFill>
                          <a:srgbClr val="252423"/>
                        </a:solidFill>
                        <a:latin typeface="Segoe UI"/>
                      </a:rPr>
                      <a:t>8.8</a:t>
                    </a:r>
                  </a:p>
                </c:rich>
              </c:tx>
              <c:dLblPos val="ctr"/>
              <c:showLegendKey val="0"/>
              <c:showVal val="1"/>
              <c:showCatName val="0"/>
              <c:showSerName val="0"/>
              <c:showPercent val="0"/>
              <c:showBubbleSize val="0"/>
            </c:dLbl>
            <c:dLbl>
              <c:idx val="4"/>
              <c:tx>
                <c:rich>
                  <a:bodyPr/>
                  <a:lstStyle/>
                  <a:p>
                    <a:r>
                      <a:rPr sz="1100">
                        <a:solidFill>
                          <a:srgbClr val="252423"/>
                        </a:solidFill>
                        <a:latin typeface="Segoe UI"/>
                      </a:rPr>
                      <a:t>9.2</a:t>
                    </a:r>
                  </a:p>
                </c:rich>
              </c:tx>
              <c:dLblPos val="ctr"/>
              <c:showLegendKey val="0"/>
              <c:showVal val="1"/>
              <c:showCatName val="0"/>
              <c:showSerName val="0"/>
              <c:showPercent val="0"/>
              <c:showBubbleSize val="0"/>
            </c:dLbl>
            <c:dLbl>
              <c:idx val="5"/>
              <c:tx>
                <c:rich>
                  <a:bodyPr/>
                  <a:lstStyle/>
                  <a:p>
                    <a:r>
                      <a:rPr sz="1100">
                        <a:solidFill>
                          <a:srgbClr val="252423"/>
                        </a:solidFill>
                        <a:latin typeface="Segoe UI"/>
                      </a:rPr>
                      <a:t>9.6</a:t>
                    </a:r>
                  </a:p>
                </c:rich>
              </c:tx>
              <c:dLblPos val="ctr"/>
              <c:showLegendKey val="0"/>
              <c:showVal val="1"/>
              <c:showCatName val="0"/>
              <c:showSerName val="0"/>
              <c:showPercent val="0"/>
              <c:showBubbleSize val="0"/>
            </c:dLbl>
            <c:dLbl>
              <c:idx val="6"/>
              <c:tx>
                <c:rich>
                  <a:bodyPr/>
                  <a:lstStyle/>
                  <a:p>
                    <a:r>
                      <a:rPr sz="1100">
                        <a:solidFill>
                          <a:srgbClr val="252423"/>
                        </a:solidFill>
                        <a:latin typeface="Segoe UI"/>
                      </a:rPr>
                      <a:t>10.1</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10.6</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11.2</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11.7</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12.3</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12.9</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13.4</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14.0</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14.7</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15.3</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Sheet1!$E$2:$E$17</c:f>
              <c:numCache>
                <c:formatCode>General</c:formatCode>
                <c:ptCount val="16"/>
                <c:pt idx="0">
                  <c:v>7.912</c:v>
                </c:pt>
                <c:pt idx="1">
                  <c:v>8.196</c:v>
                </c:pt>
                <c:pt idx="2">
                  <c:v>8.502</c:v>
                </c:pt>
                <c:pt idx="3">
                  <c:v>8.836</c:v>
                </c:pt>
                <c:pt idx="4">
                  <c:v>9.21</c:v>
                </c:pt>
                <c:pt idx="5">
                  <c:v>9.638</c:v>
                </c:pt>
                <c:pt idx="6">
                  <c:v>10.119</c:v>
                </c:pt>
                <c:pt idx="7">
                  <c:v>10.644</c:v>
                </c:pt>
                <c:pt idx="8">
                  <c:v>11.19</c:v>
                </c:pt>
                <c:pt idx="9">
                  <c:v>11.743</c:v>
                </c:pt>
                <c:pt idx="10">
                  <c:v>12.292</c:v>
                </c:pt>
                <c:pt idx="11">
                  <c:v>12.858</c:v>
                </c:pt>
                <c:pt idx="12">
                  <c:v>13.442</c:v>
                </c:pt>
                <c:pt idx="13">
                  <c:v>14.041</c:v>
                </c:pt>
                <c:pt idx="14">
                  <c:v>14.65</c:v>
                </c:pt>
                <c:pt idx="15">
                  <c:v>15.263</c:v>
                </c:pt>
              </c:numCache>
            </c:numRef>
          </c:val>
        </c:ser>
        <c:ser>
          <c:idx val="4"/>
          <c:order val="4"/>
          <c:tx>
            <c:strRef>
              <c:f>Sheet1!$F$1</c:f>
              <c:strCache>
                <c:ptCount val="1"/>
                <c:pt idx="0">
                  <c:v>Rest of Eastern Europe</c:v>
                </c:pt>
              </c:strCache>
            </c:strRef>
          </c:tx>
          <c:spPr>
            <a:solidFill>
              <a:srgbClr val="EDA28B"/>
            </a:solidFill>
            <a:ln>
              <a:noFill/>
            </a:ln>
          </c:spPr>
          <c:dLbls>
            <c:dLbl>
              <c:idx val="5"/>
              <c:tx>
                <c:rich>
                  <a:bodyPr/>
                  <a:lstStyle/>
                  <a:p>
                    <a:r>
                      <a:rPr sz="1100">
                        <a:solidFill>
                          <a:srgbClr val="252423"/>
                        </a:solidFill>
                        <a:latin typeface="Segoe UI"/>
                      </a:rPr>
                      <a:t>8.8</a:t>
                    </a:r>
                  </a:p>
                </c:rich>
              </c:tx>
              <c:dLblPos val="ctr"/>
              <c:showLegendKey val="0"/>
              <c:showVal val="1"/>
              <c:showCatName val="0"/>
              <c:showSerName val="0"/>
              <c:showPercent val="0"/>
              <c:showBubbleSize val="0"/>
            </c:dLbl>
            <c:dLbl>
              <c:idx val="6"/>
              <c:tx>
                <c:rich>
                  <a:bodyPr/>
                  <a:lstStyle/>
                  <a:p>
                    <a:r>
                      <a:rPr sz="1100">
                        <a:solidFill>
                          <a:srgbClr val="252423"/>
                        </a:solidFill>
                        <a:latin typeface="Segoe UI"/>
                      </a:rPr>
                      <a:t>9.2</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9.6</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10.0</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10.5</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10.9</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11.4</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11.9</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12.4</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12.9</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13.5</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Sheet1!$F$2:$F$17</c:f>
              <c:numCache>
                <c:formatCode>General</c:formatCode>
                <c:ptCount val="16"/>
                <c:pt idx="0">
                  <c:v>6.976</c:v>
                </c:pt>
                <c:pt idx="1">
                  <c:v>7.336</c:v>
                </c:pt>
                <c:pt idx="2">
                  <c:v>7.708</c:v>
                </c:pt>
                <c:pt idx="3">
                  <c:v>8.084</c:v>
                </c:pt>
                <c:pt idx="4">
                  <c:v>8.465</c:v>
                </c:pt>
                <c:pt idx="5">
                  <c:v>8.847</c:v>
                </c:pt>
                <c:pt idx="6">
                  <c:v>9.228</c:v>
                </c:pt>
                <c:pt idx="7">
                  <c:v>9.619</c:v>
                </c:pt>
                <c:pt idx="8">
                  <c:v>10.03</c:v>
                </c:pt>
                <c:pt idx="9">
                  <c:v>10.473</c:v>
                </c:pt>
                <c:pt idx="10">
                  <c:v>10.942</c:v>
                </c:pt>
                <c:pt idx="11">
                  <c:v>11.432</c:v>
                </c:pt>
                <c:pt idx="12">
                  <c:v>11.927</c:v>
                </c:pt>
                <c:pt idx="13">
                  <c:v>12.433</c:v>
                </c:pt>
                <c:pt idx="14">
                  <c:v>12.942</c:v>
                </c:pt>
                <c:pt idx="15">
                  <c:v>13.452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8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Russia</c:v>
                </c:pt>
              </c:strCache>
            </c:strRef>
          </c:tx>
          <c:spPr>
            <a:solidFill>
              <a:srgbClr val="00A4DC"/>
            </a:solidFill>
            <a:ln>
              <a:noFill/>
            </a:ln>
          </c:spPr>
          <c:dLbls>
            <c:dLbl>
              <c:idx val="0"/>
              <c:tx>
                <c:rich>
                  <a:bodyPr/>
                  <a:lstStyle/>
                  <a:p>
                    <a:r>
                      <a:rPr sz="1100">
                        <a:solidFill>
                          <a:srgbClr val="FFFFFF"/>
                        </a:solidFill>
                        <a:latin typeface="Segoe UI"/>
                      </a:rPr>
                      <a:t>96.4</a:t>
                    </a:r>
                  </a:p>
                </c:rich>
              </c:tx>
              <c:dLblPos val="ctr"/>
              <c:showLegendKey val="0"/>
              <c:showVal val="1"/>
              <c:showCatName val="0"/>
              <c:showSerName val="0"/>
              <c:showPercent val="0"/>
              <c:showBubbleSize val="0"/>
            </c:dLbl>
            <c:dLbl>
              <c:idx val="1"/>
              <c:tx>
                <c:rich>
                  <a:bodyPr/>
                  <a:lstStyle/>
                  <a:p>
                    <a:r>
                      <a:rPr sz="1100">
                        <a:solidFill>
                          <a:srgbClr val="FFFFFF"/>
                        </a:solidFill>
                        <a:latin typeface="Segoe UI"/>
                      </a:rPr>
                      <a:t>99.8</a:t>
                    </a:r>
                  </a:p>
                </c:rich>
              </c:tx>
              <c:dLblPos val="ctr"/>
              <c:showLegendKey val="0"/>
              <c:showVal val="1"/>
              <c:showCatName val="0"/>
              <c:showSerName val="0"/>
              <c:showPercent val="0"/>
              <c:showBubbleSize val="0"/>
            </c:dLbl>
            <c:dLbl>
              <c:idx val="2"/>
              <c:tx>
                <c:rich>
                  <a:bodyPr/>
                  <a:lstStyle/>
                  <a:p>
                    <a:r>
                      <a:rPr sz="1100">
                        <a:solidFill>
                          <a:srgbClr val="FFFFFF"/>
                        </a:solidFill>
                        <a:latin typeface="Segoe UI"/>
                      </a:rPr>
                      <a:t>103</a:t>
                    </a:r>
                  </a:p>
                </c:rich>
              </c:tx>
              <c:dLblPos val="ctr"/>
              <c:showLegendKey val="0"/>
              <c:showVal val="1"/>
              <c:showCatName val="0"/>
              <c:showSerName val="0"/>
              <c:showPercent val="0"/>
              <c:showBubbleSize val="0"/>
            </c:dLbl>
            <c:dLbl>
              <c:idx val="3"/>
              <c:tx>
                <c:rich>
                  <a:bodyPr/>
                  <a:lstStyle/>
                  <a:p>
                    <a:r>
                      <a:rPr sz="1100">
                        <a:solidFill>
                          <a:srgbClr val="FFFFFF"/>
                        </a:solidFill>
                        <a:latin typeface="Segoe UI"/>
                      </a:rPr>
                      <a:t>107</a:t>
                    </a:r>
                  </a:p>
                </c:rich>
              </c:tx>
              <c:dLblPos val="ctr"/>
              <c:showLegendKey val="0"/>
              <c:showVal val="1"/>
              <c:showCatName val="0"/>
              <c:showSerName val="0"/>
              <c:showPercent val="0"/>
              <c:showBubbleSize val="0"/>
            </c:dLbl>
            <c:dLbl>
              <c:idx val="4"/>
              <c:tx>
                <c:rich>
                  <a:bodyPr/>
                  <a:lstStyle/>
                  <a:p>
                    <a:r>
                      <a:rPr sz="1100">
                        <a:solidFill>
                          <a:srgbClr val="FFFFFF"/>
                        </a:solidFill>
                        <a:latin typeface="Segoe UI"/>
                      </a:rPr>
                      <a:t>111</a:t>
                    </a:r>
                  </a:p>
                </c:rich>
              </c:tx>
              <c:dLblPos val="ctr"/>
              <c:showLegendKey val="0"/>
              <c:showVal val="1"/>
              <c:showCatName val="0"/>
              <c:showSerName val="0"/>
              <c:showPercent val="0"/>
              <c:showBubbleSize val="0"/>
            </c:dLbl>
            <c:dLbl>
              <c:idx val="5"/>
              <c:tx>
                <c:rich>
                  <a:bodyPr/>
                  <a:lstStyle/>
                  <a:p>
                    <a:r>
                      <a:rPr sz="1100">
                        <a:solidFill>
                          <a:srgbClr val="FFFFFF"/>
                        </a:solidFill>
                        <a:latin typeface="Segoe UI"/>
                      </a:rPr>
                      <a:t>116</a:t>
                    </a:r>
                  </a:p>
                </c:rich>
              </c:tx>
              <c:dLblPos val="ctr"/>
              <c:showLegendKey val="0"/>
              <c:showVal val="1"/>
              <c:showCatName val="0"/>
              <c:showSerName val="0"/>
              <c:showPercent val="0"/>
              <c:showBubbleSize val="0"/>
            </c:dLbl>
            <c:dLbl>
              <c:idx val="6"/>
              <c:tx>
                <c:rich>
                  <a:bodyPr/>
                  <a:lstStyle/>
                  <a:p>
                    <a:r>
                      <a:rPr sz="1100">
                        <a:solidFill>
                          <a:srgbClr val="FFFFFF"/>
                        </a:solidFill>
                        <a:latin typeface="Segoe UI"/>
                      </a:rPr>
                      <a:t>120</a:t>
                    </a:r>
                  </a:p>
                </c:rich>
              </c:tx>
              <c:dLblPos val="ctr"/>
              <c:showLegendKey val="0"/>
              <c:showVal val="1"/>
              <c:showCatName val="0"/>
              <c:showSerName val="0"/>
              <c:showPercent val="0"/>
              <c:showBubbleSize val="0"/>
            </c:dLbl>
            <c:dLbl>
              <c:idx val="7"/>
              <c:tx>
                <c:rich>
                  <a:bodyPr/>
                  <a:lstStyle/>
                  <a:p>
                    <a:r>
                      <a:rPr sz="1100">
                        <a:solidFill>
                          <a:srgbClr val="FFFFFF"/>
                        </a:solidFill>
                        <a:latin typeface="Segoe UI"/>
                      </a:rPr>
                      <a:t>126</a:t>
                    </a:r>
                  </a:p>
                </c:rich>
              </c:tx>
              <c:dLblPos val="ctr"/>
              <c:showLegendKey val="0"/>
              <c:showVal val="1"/>
              <c:showCatName val="0"/>
              <c:showSerName val="0"/>
              <c:showPercent val="0"/>
              <c:showBubbleSize val="0"/>
            </c:dLbl>
            <c:dLbl>
              <c:idx val="8"/>
              <c:tx>
                <c:rich>
                  <a:bodyPr/>
                  <a:lstStyle/>
                  <a:p>
                    <a:r>
                      <a:rPr sz="1100">
                        <a:solidFill>
                          <a:srgbClr val="FFFFFF"/>
                        </a:solidFill>
                        <a:latin typeface="Segoe UI"/>
                      </a:rPr>
                      <a:t>131</a:t>
                    </a:r>
                  </a:p>
                </c:rich>
              </c:tx>
              <c:dLblPos val="ctr"/>
              <c:showLegendKey val="0"/>
              <c:showVal val="1"/>
              <c:showCatName val="0"/>
              <c:showSerName val="0"/>
              <c:showPercent val="0"/>
              <c:showBubbleSize val="0"/>
            </c:dLbl>
            <c:dLbl>
              <c:idx val="9"/>
              <c:tx>
                <c:rich>
                  <a:bodyPr/>
                  <a:lstStyle/>
                  <a:p>
                    <a:r>
                      <a:rPr sz="1100">
                        <a:solidFill>
                          <a:srgbClr val="FFFFFF"/>
                        </a:solidFill>
                        <a:latin typeface="Segoe UI"/>
                      </a:rPr>
                      <a:t>137</a:t>
                    </a:r>
                  </a:p>
                </c:rich>
              </c:tx>
              <c:dLblPos val="ctr"/>
              <c:showLegendKey val="0"/>
              <c:showVal val="1"/>
              <c:showCatName val="0"/>
              <c:showSerName val="0"/>
              <c:showPercent val="0"/>
              <c:showBubbleSize val="0"/>
            </c:dLbl>
            <c:dLbl>
              <c:idx val="10"/>
              <c:tx>
                <c:rich>
                  <a:bodyPr/>
                  <a:lstStyle/>
                  <a:p>
                    <a:r>
                      <a:rPr sz="1100">
                        <a:solidFill>
                          <a:srgbClr val="FFFFFF"/>
                        </a:solidFill>
                        <a:latin typeface="Segoe UI"/>
                      </a:rPr>
                      <a:t>144</a:t>
                    </a:r>
                  </a:p>
                </c:rich>
              </c:tx>
              <c:dLblPos val="ctr"/>
              <c:showLegendKey val="0"/>
              <c:showVal val="1"/>
              <c:showCatName val="0"/>
              <c:showSerName val="0"/>
              <c:showPercent val="0"/>
              <c:showBubbleSize val="0"/>
            </c:dLbl>
            <c:dLbl>
              <c:idx val="11"/>
              <c:tx>
                <c:rich>
                  <a:bodyPr/>
                  <a:lstStyle/>
                  <a:p>
                    <a:r>
                      <a:rPr sz="1100">
                        <a:solidFill>
                          <a:srgbClr val="FFFFFF"/>
                        </a:solidFill>
                        <a:latin typeface="Segoe UI"/>
                      </a:rPr>
                      <a:t>150</a:t>
                    </a:r>
                  </a:p>
                </c:rich>
              </c:tx>
              <c:dLblPos val="ctr"/>
              <c:showLegendKey val="0"/>
              <c:showVal val="1"/>
              <c:showCatName val="0"/>
              <c:showSerName val="0"/>
              <c:showPercent val="0"/>
              <c:showBubbleSize val="0"/>
            </c:dLbl>
            <c:dLbl>
              <c:idx val="12"/>
              <c:tx>
                <c:rich>
                  <a:bodyPr/>
                  <a:lstStyle/>
                  <a:p>
                    <a:r>
                      <a:rPr sz="1100">
                        <a:solidFill>
                          <a:srgbClr val="FFFFFF"/>
                        </a:solidFill>
                        <a:latin typeface="Segoe UI"/>
                      </a:rPr>
                      <a:t>157</a:t>
                    </a:r>
                  </a:p>
                </c:rich>
              </c:tx>
              <c:dLblPos val="ctr"/>
              <c:showLegendKey val="0"/>
              <c:showVal val="1"/>
              <c:showCatName val="0"/>
              <c:showSerName val="0"/>
              <c:showPercent val="0"/>
              <c:showBubbleSize val="0"/>
            </c:dLbl>
            <c:dLbl>
              <c:idx val="13"/>
              <c:tx>
                <c:rich>
                  <a:bodyPr/>
                  <a:lstStyle/>
                  <a:p>
                    <a:r>
                      <a:rPr sz="1100">
                        <a:solidFill>
                          <a:srgbClr val="FFFFFF"/>
                        </a:solidFill>
                        <a:latin typeface="Segoe UI"/>
                      </a:rPr>
                      <a:t>164</a:t>
                    </a:r>
                  </a:p>
                </c:rich>
              </c:tx>
              <c:dLblPos val="ctr"/>
              <c:showLegendKey val="0"/>
              <c:showVal val="1"/>
              <c:showCatName val="0"/>
              <c:showSerName val="0"/>
              <c:showPercent val="0"/>
              <c:showBubbleSize val="0"/>
            </c:dLbl>
            <c:dLbl>
              <c:idx val="14"/>
              <c:tx>
                <c:rich>
                  <a:bodyPr/>
                  <a:lstStyle/>
                  <a:p>
                    <a:r>
                      <a:rPr sz="1100">
                        <a:solidFill>
                          <a:srgbClr val="FFFFFF"/>
                        </a:solidFill>
                        <a:latin typeface="Segoe UI"/>
                      </a:rPr>
                      <a:t>172</a:t>
                    </a:r>
                  </a:p>
                </c:rich>
              </c:tx>
              <c:dLblPos val="ctr"/>
              <c:showLegendKey val="0"/>
              <c:showVal val="1"/>
              <c:showCatName val="0"/>
              <c:showSerName val="0"/>
              <c:showPercent val="0"/>
              <c:showBubbleSize val="0"/>
            </c:dLbl>
            <c:dLbl>
              <c:idx val="15"/>
              <c:tx>
                <c:rich>
                  <a:bodyPr/>
                  <a:lstStyle/>
                  <a:p>
                    <a:r>
                      <a:rPr sz="1100">
                        <a:solidFill>
                          <a:srgbClr val="FFFFFF"/>
                        </a:solidFill>
                        <a:latin typeface="Segoe UI"/>
                      </a:rPr>
                      <a:t>180</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96.414</c:v>
                </c:pt>
                <c:pt idx="1">
                  <c:v>99.763</c:v>
                </c:pt>
                <c:pt idx="2">
                  <c:v>103.293</c:v>
                </c:pt>
                <c:pt idx="3">
                  <c:v>107.05</c:v>
                </c:pt>
                <c:pt idx="4">
                  <c:v>110.998</c:v>
                </c:pt>
                <c:pt idx="5">
                  <c:v>115.55</c:v>
                </c:pt>
                <c:pt idx="6">
                  <c:v>120.44</c:v>
                </c:pt>
                <c:pt idx="7">
                  <c:v>125.699</c:v>
                </c:pt>
                <c:pt idx="8">
                  <c:v>131.325</c:v>
                </c:pt>
                <c:pt idx="9">
                  <c:v>137.277</c:v>
                </c:pt>
                <c:pt idx="10">
                  <c:v>143.548</c:v>
                </c:pt>
                <c:pt idx="11">
                  <c:v>150.164</c:v>
                </c:pt>
                <c:pt idx="12">
                  <c:v>157.124</c:v>
                </c:pt>
                <c:pt idx="13">
                  <c:v>164.375</c:v>
                </c:pt>
                <c:pt idx="14">
                  <c:v>171.933</c:v>
                </c:pt>
                <c:pt idx="15">
                  <c:v>179.763</c:v>
                </c:pt>
              </c:numCache>
            </c:numRef>
          </c:val>
        </c:ser>
        <c:ser>
          <c:idx val="1"/>
          <c:order val="1"/>
          <c:tx>
            <c:strRef>
              <c:f>Sheet1!$C$1</c:f>
              <c:strCache>
                <c:ptCount val="1"/>
                <c:pt idx="0">
                  <c:v>Poland</c:v>
                </c:pt>
              </c:strCache>
            </c:strRef>
          </c:tx>
          <c:spPr>
            <a:solidFill>
              <a:srgbClr val="6ECFF2"/>
            </a:solidFill>
            <a:ln>
              <a:noFill/>
            </a:ln>
          </c:spPr>
          <c:dLbls>
            <c:dLbl>
              <c:idx val="0"/>
              <c:tx>
                <c:rich>
                  <a:bodyPr/>
                  <a:lstStyle/>
                  <a:p>
                    <a:r>
                      <a:rPr sz="1100">
                        <a:solidFill>
                          <a:srgbClr val="252423"/>
                        </a:solidFill>
                        <a:latin typeface="Segoe UI"/>
                      </a:rPr>
                      <a:t>55.5</a:t>
                    </a:r>
                  </a:p>
                </c:rich>
              </c:tx>
              <c:dLblPos val="ctr"/>
              <c:showLegendKey val="0"/>
              <c:showVal val="1"/>
              <c:showCatName val="0"/>
              <c:showSerName val="0"/>
              <c:showPercent val="0"/>
              <c:showBubbleSize val="0"/>
            </c:dLbl>
            <c:dLbl>
              <c:idx val="1"/>
              <c:tx>
                <c:rich>
                  <a:bodyPr/>
                  <a:lstStyle/>
                  <a:p>
                    <a:r>
                      <a:rPr sz="1100">
                        <a:solidFill>
                          <a:srgbClr val="252423"/>
                        </a:solidFill>
                        <a:latin typeface="Segoe UI"/>
                      </a:rPr>
                      <a:t>58.4</a:t>
                    </a:r>
                  </a:p>
                </c:rich>
              </c:tx>
              <c:dLblPos val="ctr"/>
              <c:showLegendKey val="0"/>
              <c:showVal val="1"/>
              <c:showCatName val="0"/>
              <c:showSerName val="0"/>
              <c:showPercent val="0"/>
              <c:showBubbleSize val="0"/>
            </c:dLbl>
            <c:dLbl>
              <c:idx val="2"/>
              <c:tx>
                <c:rich>
                  <a:bodyPr/>
                  <a:lstStyle/>
                  <a:p>
                    <a:r>
                      <a:rPr sz="1100">
                        <a:solidFill>
                          <a:srgbClr val="252423"/>
                        </a:solidFill>
                        <a:latin typeface="Segoe UI"/>
                      </a:rPr>
                      <a:t>61.4</a:t>
                    </a:r>
                  </a:p>
                </c:rich>
              </c:tx>
              <c:dLblPos val="ctr"/>
              <c:showLegendKey val="0"/>
              <c:showVal val="1"/>
              <c:showCatName val="0"/>
              <c:showSerName val="0"/>
              <c:showPercent val="0"/>
              <c:showBubbleSize val="0"/>
            </c:dLbl>
            <c:dLbl>
              <c:idx val="3"/>
              <c:tx>
                <c:rich>
                  <a:bodyPr/>
                  <a:lstStyle/>
                  <a:p>
                    <a:r>
                      <a:rPr sz="1100">
                        <a:solidFill>
                          <a:srgbClr val="252423"/>
                        </a:solidFill>
                        <a:latin typeface="Segoe UI"/>
                      </a:rPr>
                      <a:t>64.8</a:t>
                    </a:r>
                  </a:p>
                </c:rich>
              </c:tx>
              <c:dLblPos val="ctr"/>
              <c:showLegendKey val="0"/>
              <c:showVal val="1"/>
              <c:showCatName val="0"/>
              <c:showSerName val="0"/>
              <c:showPercent val="0"/>
              <c:showBubbleSize val="0"/>
            </c:dLbl>
            <c:dLbl>
              <c:idx val="4"/>
              <c:tx>
                <c:rich>
                  <a:bodyPr/>
                  <a:lstStyle/>
                  <a:p>
                    <a:r>
                      <a:rPr sz="1100">
                        <a:solidFill>
                          <a:srgbClr val="252423"/>
                        </a:solidFill>
                        <a:latin typeface="Segoe UI"/>
                      </a:rPr>
                      <a:t>68.5</a:t>
                    </a:r>
                  </a:p>
                </c:rich>
              </c:tx>
              <c:dLblPos val="ctr"/>
              <c:showLegendKey val="0"/>
              <c:showVal val="1"/>
              <c:showCatName val="0"/>
              <c:showSerName val="0"/>
              <c:showPercent val="0"/>
              <c:showBubbleSize val="0"/>
            </c:dLbl>
            <c:dLbl>
              <c:idx val="5"/>
              <c:tx>
                <c:rich>
                  <a:bodyPr/>
                  <a:lstStyle/>
                  <a:p>
                    <a:r>
                      <a:rPr sz="1100">
                        <a:solidFill>
                          <a:srgbClr val="252423"/>
                        </a:solidFill>
                        <a:latin typeface="Segoe UI"/>
                      </a:rPr>
                      <a:t>72.8</a:t>
                    </a:r>
                  </a:p>
                </c:rich>
              </c:tx>
              <c:dLblPos val="ctr"/>
              <c:showLegendKey val="0"/>
              <c:showVal val="1"/>
              <c:showCatName val="0"/>
              <c:showSerName val="0"/>
              <c:showPercent val="0"/>
              <c:showBubbleSize val="0"/>
            </c:dLbl>
            <c:dLbl>
              <c:idx val="6"/>
              <c:tx>
                <c:rich>
                  <a:bodyPr/>
                  <a:lstStyle/>
                  <a:p>
                    <a:r>
                      <a:rPr sz="1100">
                        <a:solidFill>
                          <a:srgbClr val="252423"/>
                        </a:solidFill>
                        <a:latin typeface="Segoe UI"/>
                      </a:rPr>
                      <a:t>77.6</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82.7</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88.1</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93.9</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100</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107</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114</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122</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130</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139</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0">
                  <c:v>55.532</c:v>
                </c:pt>
                <c:pt idx="1">
                  <c:v>58.408</c:v>
                </c:pt>
                <c:pt idx="2">
                  <c:v>61.446</c:v>
                </c:pt>
                <c:pt idx="3">
                  <c:v>64.77</c:v>
                </c:pt>
                <c:pt idx="4">
                  <c:v>68.47</c:v>
                </c:pt>
                <c:pt idx="5">
                  <c:v>72.803</c:v>
                </c:pt>
                <c:pt idx="6">
                  <c:v>77.564</c:v>
                </c:pt>
                <c:pt idx="7">
                  <c:v>82.673</c:v>
                </c:pt>
                <c:pt idx="8">
                  <c:v>88.088</c:v>
                </c:pt>
                <c:pt idx="9">
                  <c:v>93.857</c:v>
                </c:pt>
                <c:pt idx="10">
                  <c:v>100.136</c:v>
                </c:pt>
                <c:pt idx="11">
                  <c:v>106.94</c:v>
                </c:pt>
                <c:pt idx="12">
                  <c:v>114.243</c:v>
                </c:pt>
                <c:pt idx="13">
                  <c:v>121.977</c:v>
                </c:pt>
                <c:pt idx="14">
                  <c:v>130.205</c:v>
                </c:pt>
                <c:pt idx="15">
                  <c:v>138.866</c:v>
                </c:pt>
              </c:numCache>
            </c:numRef>
          </c:val>
        </c:ser>
        <c:ser>
          <c:idx val="2"/>
          <c:order val="2"/>
          <c:tx>
            <c:strRef>
              <c:f>Sheet1!$D$1</c:f>
              <c:strCache>
                <c:ptCount val="1"/>
                <c:pt idx="0">
                  <c:v>Balkan &amp; Baltics</c:v>
                </c:pt>
              </c:strCache>
            </c:strRef>
          </c:tx>
          <c:spPr>
            <a:solidFill>
              <a:srgbClr val="D6CAC4"/>
            </a:solidFill>
            <a:ln>
              <a:noFill/>
            </a:ln>
          </c:spPr>
          <c:dLbls>
            <c:dLbl>
              <c:idx val="0"/>
              <c:tx>
                <c:rich>
                  <a:bodyPr/>
                  <a:lstStyle/>
                  <a:p>
                    <a:r>
                      <a:rPr sz="1100">
                        <a:solidFill>
                          <a:srgbClr val="252423"/>
                        </a:solidFill>
                        <a:latin typeface="Segoe UI"/>
                      </a:rPr>
                      <a:t>30.9</a:t>
                    </a:r>
                  </a:p>
                </c:rich>
              </c:tx>
              <c:dLblPos val="ctr"/>
              <c:showLegendKey val="0"/>
              <c:showVal val="1"/>
              <c:showCatName val="0"/>
              <c:showSerName val="0"/>
              <c:showPercent val="0"/>
              <c:showBubbleSize val="0"/>
            </c:dLbl>
            <c:dLbl>
              <c:idx val="1"/>
              <c:tx>
                <c:rich>
                  <a:bodyPr/>
                  <a:lstStyle/>
                  <a:p>
                    <a:r>
                      <a:rPr sz="1100">
                        <a:solidFill>
                          <a:srgbClr val="252423"/>
                        </a:solidFill>
                        <a:latin typeface="Segoe UI"/>
                      </a:rPr>
                      <a:t>32.8</a:t>
                    </a:r>
                  </a:p>
                </c:rich>
              </c:tx>
              <c:dLblPos val="ctr"/>
              <c:showLegendKey val="0"/>
              <c:showVal val="1"/>
              <c:showCatName val="0"/>
              <c:showSerName val="0"/>
              <c:showPercent val="0"/>
              <c:showBubbleSize val="0"/>
            </c:dLbl>
            <c:dLbl>
              <c:idx val="2"/>
              <c:tx>
                <c:rich>
                  <a:bodyPr/>
                  <a:lstStyle/>
                  <a:p>
                    <a:r>
                      <a:rPr sz="1100">
                        <a:solidFill>
                          <a:srgbClr val="252423"/>
                        </a:solidFill>
                        <a:latin typeface="Segoe UI"/>
                      </a:rPr>
                      <a:t>34.8</a:t>
                    </a:r>
                  </a:p>
                </c:rich>
              </c:tx>
              <c:dLblPos val="ctr"/>
              <c:showLegendKey val="0"/>
              <c:showVal val="1"/>
              <c:showCatName val="0"/>
              <c:showSerName val="0"/>
              <c:showPercent val="0"/>
              <c:showBubbleSize val="0"/>
            </c:dLbl>
            <c:dLbl>
              <c:idx val="3"/>
              <c:tx>
                <c:rich>
                  <a:bodyPr/>
                  <a:lstStyle/>
                  <a:p>
                    <a:r>
                      <a:rPr sz="1100">
                        <a:solidFill>
                          <a:srgbClr val="252423"/>
                        </a:solidFill>
                        <a:latin typeface="Segoe UI"/>
                      </a:rPr>
                      <a:t>36.9</a:t>
                    </a:r>
                  </a:p>
                </c:rich>
              </c:tx>
              <c:dLblPos val="ctr"/>
              <c:showLegendKey val="0"/>
              <c:showVal val="1"/>
              <c:showCatName val="0"/>
              <c:showSerName val="0"/>
              <c:showPercent val="0"/>
              <c:showBubbleSize val="0"/>
            </c:dLbl>
            <c:dLbl>
              <c:idx val="4"/>
              <c:tx>
                <c:rich>
                  <a:bodyPr/>
                  <a:lstStyle/>
                  <a:p>
                    <a:r>
                      <a:rPr sz="1100">
                        <a:solidFill>
                          <a:srgbClr val="252423"/>
                        </a:solidFill>
                        <a:latin typeface="Segoe UI"/>
                      </a:rPr>
                      <a:t>39.0</a:t>
                    </a:r>
                  </a:p>
                </c:rich>
              </c:tx>
              <c:dLblPos val="ctr"/>
              <c:showLegendKey val="0"/>
              <c:showVal val="1"/>
              <c:showCatName val="0"/>
              <c:showSerName val="0"/>
              <c:showPercent val="0"/>
              <c:showBubbleSize val="0"/>
            </c:dLbl>
            <c:dLbl>
              <c:idx val="5"/>
              <c:tx>
                <c:rich>
                  <a:bodyPr/>
                  <a:lstStyle/>
                  <a:p>
                    <a:r>
                      <a:rPr sz="1100">
                        <a:solidFill>
                          <a:srgbClr val="252423"/>
                        </a:solidFill>
                        <a:latin typeface="Segoe UI"/>
                      </a:rPr>
                      <a:t>41.3</a:t>
                    </a:r>
                  </a:p>
                </c:rich>
              </c:tx>
              <c:dLblPos val="ctr"/>
              <c:showLegendKey val="0"/>
              <c:showVal val="1"/>
              <c:showCatName val="0"/>
              <c:showSerName val="0"/>
              <c:showPercent val="0"/>
              <c:showBubbleSize val="0"/>
            </c:dLbl>
            <c:dLbl>
              <c:idx val="6"/>
              <c:tx>
                <c:rich>
                  <a:bodyPr/>
                  <a:lstStyle/>
                  <a:p>
                    <a:r>
                      <a:rPr sz="1100">
                        <a:solidFill>
                          <a:srgbClr val="252423"/>
                        </a:solidFill>
                        <a:latin typeface="Segoe UI"/>
                      </a:rPr>
                      <a:t>43.8</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46.5</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49.6</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53.0</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56.7</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60.7</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65.1</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69.9</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75.0</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80.4</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Sheet1!$D$2:$D$17</c:f>
              <c:numCache>
                <c:formatCode>General</c:formatCode>
                <c:ptCount val="16"/>
                <c:pt idx="0">
                  <c:v>30.949</c:v>
                </c:pt>
                <c:pt idx="1">
                  <c:v>32.849</c:v>
                </c:pt>
                <c:pt idx="2">
                  <c:v>34.831</c:v>
                </c:pt>
                <c:pt idx="3">
                  <c:v>36.871</c:v>
                </c:pt>
                <c:pt idx="4">
                  <c:v>38.96</c:v>
                </c:pt>
                <c:pt idx="5">
                  <c:v>41.271</c:v>
                </c:pt>
                <c:pt idx="6">
                  <c:v>43.775</c:v>
                </c:pt>
                <c:pt idx="7">
                  <c:v>46.536</c:v>
                </c:pt>
                <c:pt idx="8">
                  <c:v>49.601</c:v>
                </c:pt>
                <c:pt idx="9">
                  <c:v>53.013</c:v>
                </c:pt>
                <c:pt idx="10">
                  <c:v>56.7</c:v>
                </c:pt>
                <c:pt idx="11">
                  <c:v>60.701</c:v>
                </c:pt>
                <c:pt idx="12">
                  <c:v>65.103</c:v>
                </c:pt>
                <c:pt idx="13">
                  <c:v>69.878</c:v>
                </c:pt>
                <c:pt idx="14">
                  <c:v>74.975</c:v>
                </c:pt>
                <c:pt idx="15">
                  <c:v>80.393</c:v>
                </c:pt>
              </c:numCache>
            </c:numRef>
          </c:val>
        </c:ser>
        <c:ser>
          <c:idx val="3"/>
          <c:order val="3"/>
          <c:tx>
            <c:strRef>
              <c:f>Sheet1!$E$1</c:f>
              <c:strCache>
                <c:ptCount val="1"/>
                <c:pt idx="0">
                  <c:v>Hungary</c:v>
                </c:pt>
              </c:strCache>
            </c:strRef>
          </c:tx>
          <c:spPr>
            <a:solidFill>
              <a:srgbClr val="EBC46B"/>
            </a:solidFill>
            <a:ln>
              <a:noFill/>
            </a:ln>
          </c:spPr>
          <c:dLbls>
            <c:dLbl>
              <c:idx val="6"/>
              <c:tx>
                <c:rich>
                  <a:bodyPr/>
                  <a:lstStyle/>
                  <a:p>
                    <a:r>
                      <a:rPr sz="1100">
                        <a:solidFill>
                          <a:srgbClr val="252423"/>
                        </a:solidFill>
                        <a:latin typeface="Segoe UI"/>
                      </a:rPr>
                      <a:t>31.4</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33.4</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35.6</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37.9</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40.3</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43.0</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45.8</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48.9</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52.2</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55.6</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Sheet1!$E$2:$E$17</c:f>
              <c:numCache>
                <c:formatCode>General</c:formatCode>
                <c:ptCount val="16"/>
                <c:pt idx="0">
                  <c:v>23.522</c:v>
                </c:pt>
                <c:pt idx="1">
                  <c:v>24.481</c:v>
                </c:pt>
                <c:pt idx="2">
                  <c:v>25.526</c:v>
                </c:pt>
                <c:pt idx="3">
                  <c:v>26.682</c:v>
                </c:pt>
                <c:pt idx="4">
                  <c:v>27.967</c:v>
                </c:pt>
                <c:pt idx="5">
                  <c:v>29.551</c:v>
                </c:pt>
                <c:pt idx="6">
                  <c:v>31.367</c:v>
                </c:pt>
                <c:pt idx="7">
                  <c:v>33.383</c:v>
                </c:pt>
                <c:pt idx="8">
                  <c:v>35.563</c:v>
                </c:pt>
                <c:pt idx="9">
                  <c:v>37.876</c:v>
                </c:pt>
                <c:pt idx="10">
                  <c:v>40.326</c:v>
                </c:pt>
                <c:pt idx="11">
                  <c:v>42.986</c:v>
                </c:pt>
                <c:pt idx="12">
                  <c:v>45.846</c:v>
                </c:pt>
                <c:pt idx="13">
                  <c:v>48.91</c:v>
                </c:pt>
                <c:pt idx="14">
                  <c:v>52.151</c:v>
                </c:pt>
                <c:pt idx="15">
                  <c:v>55.563</c:v>
                </c:pt>
              </c:numCache>
            </c:numRef>
          </c:val>
        </c:ser>
        <c:ser>
          <c:idx val="4"/>
          <c:order val="4"/>
          <c:tx>
            <c:strRef>
              <c:f>Sheet1!$F$1</c:f>
              <c:strCache>
                <c:ptCount val="1"/>
                <c:pt idx="0">
                  <c:v>Rest of Eastern Europe</c:v>
                </c:pt>
              </c:strCache>
            </c:strRef>
          </c:tx>
          <c:spPr>
            <a:solidFill>
              <a:srgbClr val="EDA28B"/>
            </a:solidFill>
            <a:ln>
              <a:noFill/>
            </a:ln>
          </c:spPr>
          <c:dLbls>
            <c:dLbl>
              <c:idx val="9"/>
              <c:tx>
                <c:rich>
                  <a:bodyPr/>
                  <a:lstStyle/>
                  <a:p>
                    <a:r>
                      <a:rPr sz="1100">
                        <a:solidFill>
                          <a:srgbClr val="252423"/>
                        </a:solidFill>
                        <a:latin typeface="Segoe UI"/>
                      </a:rPr>
                      <a:t>31.4</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33.3</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35.3</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37.4</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39.6</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41.9</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44.4</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Sheet1!$F$2:$F$17</c:f>
              <c:numCache>
                <c:formatCode>General</c:formatCode>
                <c:ptCount val="16"/>
                <c:pt idx="0">
                  <c:v>19.381</c:v>
                </c:pt>
                <c:pt idx="1">
                  <c:v>20.471</c:v>
                </c:pt>
                <c:pt idx="2">
                  <c:v>21.612</c:v>
                </c:pt>
                <c:pt idx="3">
                  <c:v>22.799</c:v>
                </c:pt>
                <c:pt idx="4">
                  <c:v>24.019</c:v>
                </c:pt>
                <c:pt idx="5">
                  <c:v>25.342</c:v>
                </c:pt>
                <c:pt idx="6">
                  <c:v>26.706</c:v>
                </c:pt>
                <c:pt idx="7">
                  <c:v>28.151</c:v>
                </c:pt>
                <c:pt idx="8">
                  <c:v>29.707</c:v>
                </c:pt>
                <c:pt idx="9">
                  <c:v>31.423</c:v>
                </c:pt>
                <c:pt idx="10">
                  <c:v>33.282</c:v>
                </c:pt>
                <c:pt idx="11">
                  <c:v>35.277</c:v>
                </c:pt>
                <c:pt idx="12">
                  <c:v>37.382</c:v>
                </c:pt>
                <c:pt idx="13">
                  <c:v>39.606</c:v>
                </c:pt>
                <c:pt idx="14">
                  <c:v>41.941</c:v>
                </c:pt>
                <c:pt idx="15">
                  <c:v>44.373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8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Weft Knitted Fabrics</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65.36344270789508</c:v>
                </c:pt>
                <c:pt idx="1">
                  <c:v>65.12136314749858</c:v>
                </c:pt>
                <c:pt idx="2">
                  <c:v>62.66907701835221</c:v>
                </c:pt>
              </c:numCache>
            </c:numRef>
          </c:val>
        </c:ser>
        <c:ser>
          <c:idx val="1"/>
          <c:order val="1"/>
          <c:tx>
            <c:strRef>
              <c:f>Sheet1!$C$1</c:f>
              <c:strCache>
                <c:ptCount val="1"/>
                <c:pt idx="0">
                  <c:v>Warp Knitted Fabrics</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34.636557292104925</c:v>
                </c:pt>
                <c:pt idx="1">
                  <c:v>34.87863685250142</c:v>
                </c:pt>
                <c:pt idx="2">
                  <c:v>37.33092298164779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29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Polyester</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47.99665185985642</c:v>
                </c:pt>
                <c:pt idx="1">
                  <c:v>46.81196554160208</c:v>
                </c:pt>
                <c:pt idx="2">
                  <c:v>45.907964012930975</c:v>
                </c:pt>
              </c:numCache>
            </c:numRef>
          </c:val>
        </c:ser>
        <c:ser>
          <c:idx val="1"/>
          <c:order val="1"/>
          <c:tx>
            <c:strRef>
              <c:f>Sheet1!$C$1</c:f>
              <c:strCache>
                <c:ptCount val="1"/>
                <c:pt idx="0">
                  <c:v>Polyamide or Nylon</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20.401511091821416</c:v>
                </c:pt>
                <c:pt idx="1">
                  <c:v>20.47329333572335</c:v>
                </c:pt>
                <c:pt idx="2">
                  <c:v>19.285228987668276</c:v>
                </c:pt>
              </c:numCache>
            </c:numRef>
          </c:val>
        </c:ser>
        <c:ser>
          <c:idx val="2"/>
          <c:order val="2"/>
          <c:tx>
            <c:strRef>
              <c:f>Sheet1!$D$1</c:f>
              <c:strCache>
                <c:ptCount val="1"/>
                <c:pt idx="0">
                  <c:v>Elastane or Spandex Blends</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13.704787928980455</c:v>
                </c:pt>
                <c:pt idx="1">
                  <c:v>14.52215509090845</c:v>
                </c:pt>
                <c:pt idx="2">
                  <c:v>15.152407922927228</c:v>
                </c:pt>
              </c:numCache>
            </c:numRef>
          </c:val>
        </c:ser>
        <c:ser>
          <c:idx val="3"/>
          <c:order val="3"/>
          <c:tx>
            <c:strRef>
              <c:f>Sheet1!$E$1</c:f>
              <c:strCache>
                <c:ptCount val="1"/>
                <c:pt idx="0">
                  <c:v>High-Performance &amp; Specialty Fibers</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8.566987161034028</c:v>
                </c:pt>
                <c:pt idx="1">
                  <c:v>9.128804254227338</c:v>
                </c:pt>
                <c:pt idx="2">
                  <c:v>10.800730323454728</c:v>
                </c:pt>
              </c:numCache>
            </c:numRef>
          </c:val>
        </c:ser>
        <c:ser>
          <c:idx val="4"/>
          <c:order val="4"/>
          <c:tx>
            <c:strRef>
              <c:f>Sheet1!$F$1</c:f>
              <c:strCache>
                <c:ptCount val="1"/>
                <c:pt idx="0">
                  <c:v>Polypropylene</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4.605464200144377</c:v>
                </c:pt>
                <c:pt idx="1">
                  <c:v>4.59410158268223</c:v>
                </c:pt>
                <c:pt idx="2">
                  <c:v>4.645290075096652</c:v>
                </c:pt>
              </c:numCache>
            </c:numRef>
          </c:val>
        </c:ser>
        <c:ser>
          <c:idx val="5"/>
          <c:order val="5"/>
          <c:tx>
            <c:strRef>
              <c:f>Sheet1!$G$1</c:f>
              <c:strCache>
                <c:ptCount val="1"/>
                <c:pt idx="0">
                  <c:v>Cellulosic Fibers</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4.7245977581633065</c:v>
                </c:pt>
                <c:pt idx="1">
                  <c:v>4.469680194856546</c:v>
                </c:pt>
                <c:pt idx="2">
                  <c:v>4.208378677922146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30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Moisture Management &amp; Quick-Dry</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21.32702681157495</c:v>
                </c:pt>
                <c:pt idx="1">
                  <c:v>21.395558086160055</c:v>
                </c:pt>
                <c:pt idx="2">
                  <c:v>20.93137913135147</c:v>
                </c:pt>
              </c:numCache>
            </c:numRef>
          </c:val>
        </c:ser>
        <c:ser>
          <c:idx val="1"/>
          <c:order val="1"/>
          <c:tx>
            <c:strRef>
              <c:f>Sheet1!$C$1</c:f>
              <c:strCache>
                <c:ptCount val="1"/>
                <c:pt idx="0">
                  <c:v>Thermal Management</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14.121471403643964</c:v>
                </c:pt>
                <c:pt idx="1">
                  <c:v>14.704569498483396</c:v>
                </c:pt>
                <c:pt idx="2">
                  <c:v>16.018350205127078</c:v>
                </c:pt>
              </c:numCache>
            </c:numRef>
          </c:val>
        </c:ser>
        <c:ser>
          <c:idx val="2"/>
          <c:order val="2"/>
          <c:tx>
            <c:strRef>
              <c:f>Sheet1!$D$1</c:f>
              <c:strCache>
                <c:ptCount val="1"/>
                <c:pt idx="0">
                  <c:v>Stretch &amp; Recovery</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14.542644310401334</c:v>
                </c:pt>
                <c:pt idx="1">
                  <c:v>14.386486571979884</c:v>
                </c:pt>
                <c:pt idx="2">
                  <c:v>13.726779154199043</c:v>
                </c:pt>
              </c:numCache>
            </c:numRef>
          </c:val>
        </c:ser>
        <c:ser>
          <c:idx val="3"/>
          <c:order val="3"/>
          <c:tx>
            <c:strRef>
              <c:f>Sheet1!$E$1</c:f>
              <c:strCache>
                <c:ptCount val="1"/>
                <c:pt idx="0">
                  <c:v>Compression &amp; Support</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11.93810396903427</c:v>
                </c:pt>
                <c:pt idx="1">
                  <c:v>11.803512619632569</c:v>
                </c:pt>
                <c:pt idx="2">
                  <c:v>11.487116175878178</c:v>
                </c:pt>
              </c:numCache>
            </c:numRef>
          </c:val>
        </c:ser>
        <c:ser>
          <c:idx val="4"/>
          <c:order val="4"/>
          <c:tx>
            <c:strRef>
              <c:f>Sheet1!$F$1</c:f>
              <c:strCache>
                <c:ptCount val="1"/>
                <c:pt idx="0">
                  <c:v>Abrasion &amp; Tear Resistance</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11.731281942266984</c:v>
                </c:pt>
                <c:pt idx="1">
                  <c:v>11.029217937768218</c:v>
                </c:pt>
                <c:pt idx="2">
                  <c:v>9.560905805887858</c:v>
                </c:pt>
              </c:numCache>
            </c:numRef>
          </c:val>
        </c:ser>
        <c:ser>
          <c:idx val="5"/>
          <c:order val="5"/>
          <c:tx>
            <c:strRef>
              <c:f>Sheet1!$G$1</c:f>
              <c:strCache>
                <c:ptCount val="1"/>
                <c:pt idx="0">
                  <c:v>Antimicrobial &amp; Odor Control</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8.066501917643203</c:v>
                </c:pt>
                <c:pt idx="1">
                  <c:v>8.249067718273425</c:v>
                </c:pt>
                <c:pt idx="2">
                  <c:v>9.26188324090757</c:v>
                </c:pt>
              </c:numCache>
            </c:numRef>
          </c:val>
        </c:ser>
        <c:ser>
          <c:idx val="6"/>
          <c:order val="6"/>
          <c:tx>
            <c:strRef>
              <c:f>Sheet1!$H$1</c:f>
              <c:strCache>
                <c:ptCount val="1"/>
                <c:pt idx="0">
                  <c:v>Other Specialized Performance</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5.505806074455929</c:v>
                </c:pt>
                <c:pt idx="1">
                  <c:v>5.915639487271411</c:v>
                </c:pt>
                <c:pt idx="2">
                  <c:v>7.1090009399569905</c:v>
                </c:pt>
              </c:numCache>
            </c:numRef>
          </c:val>
        </c:ser>
        <c:ser>
          <c:idx val="7"/>
          <c:order val="7"/>
          <c:tx>
            <c:strRef>
              <c:f>Sheet1!$I$1</c:f>
              <c:strCache>
                <c:ptCount val="1"/>
                <c:pt idx="0">
                  <c:v>Water or Liquid Management</c:v>
                </c:pt>
              </c:strCache>
            </c:strRef>
          </c:tx>
          <c:spPr>
            <a:solidFill>
              <a:srgbClr val="7D72E5"/>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Sheet1!$I$2:$I$4</c:f>
              <c:numCache>
                <c:formatCode>General</c:formatCode>
                <c:ptCount val="3"/>
                <c:pt idx="0">
                  <c:v>5.1258204235644245</c:v>
                </c:pt>
                <c:pt idx="1">
                  <c:v>5.07597085587153</c:v>
                </c:pt>
                <c:pt idx="2">
                  <c:v>4.779350607965785</c:v>
                </c:pt>
              </c:numCache>
            </c:numRef>
          </c:val>
        </c:ser>
        <c:ser>
          <c:idx val="8"/>
          <c:order val="8"/>
          <c:tx>
            <c:strRef>
              <c:f>Sheet1!$J$1</c:f>
              <c:strCache>
                <c:ptCount val="1"/>
                <c:pt idx="0">
                  <c:v>UV Protection</c:v>
                </c:pt>
              </c:strCache>
            </c:strRef>
          </c:tx>
          <c:spPr>
            <a:solidFill>
              <a:srgbClr val="CF72E5"/>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Sheet1!$J$2:$J$4</c:f>
              <c:numCache>
                <c:formatCode>General</c:formatCode>
                <c:ptCount val="3"/>
                <c:pt idx="0">
                  <c:v>4.791007892009672</c:v>
                </c:pt>
                <c:pt idx="1">
                  <c:v>4.655257858054176</c:v>
                </c:pt>
                <c:pt idx="2">
                  <c:v>4.179501722586425</c:v>
                </c:pt>
              </c:numCache>
            </c:numRef>
          </c:val>
        </c:ser>
        <c:ser>
          <c:idx val="9"/>
          <c:order val="9"/>
          <c:tx>
            <c:strRef>
              <c:f>Sheet1!$K$1</c:f>
              <c:strCache>
                <c:ptCount val="1"/>
                <c:pt idx="0">
                  <c:v>Flame &amp; Heat Resistance</c:v>
                </c:pt>
              </c:strCache>
            </c:strRef>
          </c:tx>
          <c:spPr>
            <a:solidFill>
              <a:srgbClr val="E572A9"/>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Sheet1!$K$2:$K$4</c:f>
              <c:numCache>
                <c:formatCode>General</c:formatCode>
                <c:ptCount val="3"/>
                <c:pt idx="0">
                  <c:v>2.8503352554052737</c:v>
                </c:pt>
                <c:pt idx="1">
                  <c:v>2.7847193665053407</c:v>
                </c:pt>
                <c:pt idx="2">
                  <c:v>2.9457330161396027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3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Sports &amp; Activewear</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21.49930468826119</c:v>
                </c:pt>
                <c:pt idx="1">
                  <c:v>21.74042936073894</c:v>
                </c:pt>
                <c:pt idx="2">
                  <c:v>21.719663779316097</c:v>
                </c:pt>
              </c:numCache>
            </c:numRef>
          </c:val>
        </c:ser>
        <c:ser>
          <c:idx val="1"/>
          <c:order val="1"/>
          <c:tx>
            <c:strRef>
              <c:f>Sheet1!$C$1</c:f>
              <c:strCache>
                <c:ptCount val="1"/>
                <c:pt idx="0">
                  <c:v>Intimate &amp; Bodywear</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17.524070186626986</c:v>
                </c:pt>
                <c:pt idx="1">
                  <c:v>16.76425930351896</c:v>
                </c:pt>
                <c:pt idx="2">
                  <c:v>14.906865908553426</c:v>
                </c:pt>
              </c:numCache>
            </c:numRef>
          </c:val>
        </c:ser>
        <c:ser>
          <c:idx val="2"/>
          <c:order val="2"/>
          <c:tx>
            <c:strRef>
              <c:f>Sheet1!$D$1</c:f>
              <c:strCache>
                <c:ptCount val="1"/>
                <c:pt idx="0">
                  <c:v>Protective &amp; Occupational Wear</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14.129443130585745</c:v>
                </c:pt>
                <c:pt idx="1">
                  <c:v>14.341548454216985</c:v>
                </c:pt>
                <c:pt idx="2">
                  <c:v>14.699433619663377</c:v>
                </c:pt>
              </c:numCache>
            </c:numRef>
          </c:val>
        </c:ser>
        <c:ser>
          <c:idx val="3"/>
          <c:order val="3"/>
          <c:tx>
            <c:strRef>
              <c:f>Sheet1!$E$1</c:f>
              <c:strCache>
                <c:ptCount val="1"/>
                <c:pt idx="0">
                  <c:v>Medical &amp; Healthcare</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12.463352199753762</c:v>
                </c:pt>
                <c:pt idx="1">
                  <c:v>13.141615937240786</c:v>
                </c:pt>
                <c:pt idx="2">
                  <c:v>13.924618905799685</c:v>
                </c:pt>
              </c:numCache>
            </c:numRef>
          </c:val>
        </c:ser>
        <c:ser>
          <c:idx val="4"/>
          <c:order val="4"/>
          <c:tx>
            <c:strRef>
              <c:f>Sheet1!$F$1</c:f>
              <c:strCache>
                <c:ptCount val="1"/>
                <c:pt idx="0">
                  <c:v>Automotive &amp; Transportation</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13.541306831769989</c:v>
                </c:pt>
                <c:pt idx="1">
                  <c:v>13.156729322779736</c:v>
                </c:pt>
                <c:pt idx="2">
                  <c:v>13.038171549509176</c:v>
                </c:pt>
              </c:numCache>
            </c:numRef>
          </c:val>
        </c:ser>
        <c:ser>
          <c:idx val="5"/>
          <c:order val="5"/>
          <c:tx>
            <c:strRef>
              <c:f>Sheet1!$G$1</c:f>
              <c:strCache>
                <c:ptCount val="1"/>
                <c:pt idx="0">
                  <c:v>Industrial &amp; Technical Applications</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10.432776198194846</c:v>
                </c:pt>
                <c:pt idx="1">
                  <c:v>10.713632976704297</c:v>
                </c:pt>
                <c:pt idx="2">
                  <c:v>11.367489848844995</c:v>
                </c:pt>
              </c:numCache>
            </c:numRef>
          </c:val>
        </c:ser>
        <c:ser>
          <c:idx val="6"/>
          <c:order val="6"/>
          <c:tx>
            <c:strRef>
              <c:f>Sheet1!$H$1</c:f>
              <c:strCache>
                <c:ptCount val="1"/>
                <c:pt idx="0">
                  <c:v>Footwear</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10.409746764807483</c:v>
                </c:pt>
                <c:pt idx="1">
                  <c:v>10.141784644800293</c:v>
                </c:pt>
                <c:pt idx="2">
                  <c:v>10.343756388313247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3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Medium Weight 150–250 GSM</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49.25198628862966</c:v>
                </c:pt>
                <c:pt idx="1">
                  <c:v>48.40326446832889</c:v>
                </c:pt>
                <c:pt idx="2">
                  <c:v>46.167212470789124</c:v>
                </c:pt>
              </c:numCache>
            </c:numRef>
          </c:val>
        </c:ser>
        <c:ser>
          <c:idx val="1"/>
          <c:order val="1"/>
          <c:tx>
            <c:strRef>
              <c:f>Sheet1!$C$1</c:f>
              <c:strCache>
                <c:ptCount val="1"/>
                <c:pt idx="0">
                  <c:v>Lightweight Below 150 GSM</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32.67655160807447</c:v>
                </c:pt>
                <c:pt idx="1">
                  <c:v>32.874194251330316</c:v>
                </c:pt>
                <c:pt idx="2">
                  <c:v>33.24428108177442</c:v>
                </c:pt>
              </c:numCache>
            </c:numRef>
          </c:val>
        </c:ser>
        <c:ser>
          <c:idx val="2"/>
          <c:order val="2"/>
          <c:tx>
            <c:strRef>
              <c:f>Sheet1!$D$1</c:f>
              <c:strCache>
                <c:ptCount val="1"/>
                <c:pt idx="0">
                  <c:v>Heavyweight Above 250 GSM</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18.071462103295865</c:v>
                </c:pt>
                <c:pt idx="1">
                  <c:v>18.722541280340785</c:v>
                </c:pt>
                <c:pt idx="2">
                  <c:v>20.58850644743646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3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Sports &amp; Activewear</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21.499495119488383</c:v>
                </c:pt>
                <c:pt idx="1">
                  <c:v>21.740429360738936</c:v>
                </c:pt>
                <c:pt idx="2">
                  <c:v>21.71950689137541</c:v>
                </c:pt>
              </c:numCache>
            </c:numRef>
          </c:val>
        </c:ser>
        <c:ser>
          <c:idx val="1"/>
          <c:order val="1"/>
          <c:tx>
            <c:strRef>
              <c:f>Sheet1!$C$1</c:f>
              <c:strCache>
                <c:ptCount val="1"/>
                <c:pt idx="0">
                  <c:v>Intimate &amp; Bodywear</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17.524225407004554</c:v>
                </c:pt>
                <c:pt idx="1">
                  <c:v>16.76425930351896</c:v>
                </c:pt>
                <c:pt idx="2">
                  <c:v>14.906895784606691</c:v>
                </c:pt>
              </c:numCache>
            </c:numRef>
          </c:val>
        </c:ser>
        <c:ser>
          <c:idx val="2"/>
          <c:order val="2"/>
          <c:tx>
            <c:strRef>
              <c:f>Sheet1!$D$1</c:f>
              <c:strCache>
                <c:ptCount val="1"/>
                <c:pt idx="0">
                  <c:v>Protective &amp; Occupational Wear</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14.129125405233042</c:v>
                </c:pt>
                <c:pt idx="1">
                  <c:v>14.341196980134683</c:v>
                </c:pt>
                <c:pt idx="2">
                  <c:v>14.699663498056948</c:v>
                </c:pt>
              </c:numCache>
            </c:numRef>
          </c:val>
        </c:ser>
        <c:ser>
          <c:idx val="3"/>
          <c:order val="3"/>
          <c:tx>
            <c:strRef>
              <c:f>Sheet1!$E$1</c:f>
              <c:strCache>
                <c:ptCount val="1"/>
                <c:pt idx="0">
                  <c:v>Medical &amp; Healthcare</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12.463462594554377</c:v>
                </c:pt>
                <c:pt idx="1">
                  <c:v>13.141615937240786</c:v>
                </c:pt>
                <c:pt idx="2">
                  <c:v>13.924646813252444</c:v>
                </c:pt>
              </c:numCache>
            </c:numRef>
          </c:val>
        </c:ser>
        <c:ser>
          <c:idx val="4"/>
          <c:order val="4"/>
          <c:tx>
            <c:strRef>
              <c:f>Sheet1!$F$1</c:f>
              <c:strCache>
                <c:ptCount val="1"/>
                <c:pt idx="0">
                  <c:v>Automotive &amp; Transportation</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13.540983896968944</c:v>
                </c:pt>
                <c:pt idx="1">
                  <c:v>13.156729322779736</c:v>
                </c:pt>
                <c:pt idx="2">
                  <c:v>13.038197680361232</c:v>
                </c:pt>
              </c:numCache>
            </c:numRef>
          </c:val>
        </c:ser>
        <c:ser>
          <c:idx val="5"/>
          <c:order val="5"/>
          <c:tx>
            <c:strRef>
              <c:f>Sheet1!$G$1</c:f>
              <c:strCache>
                <c:ptCount val="1"/>
                <c:pt idx="0">
                  <c:v>Industrial &amp; Technical Applications</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10.432868607061241</c:v>
                </c:pt>
                <c:pt idx="1">
                  <c:v>10.713632976704297</c:v>
                </c:pt>
                <c:pt idx="2">
                  <c:v>11.367512631348992</c:v>
                </c:pt>
              </c:numCache>
            </c:numRef>
          </c:val>
        </c:ser>
        <c:ser>
          <c:idx val="6"/>
          <c:order val="6"/>
          <c:tx>
            <c:strRef>
              <c:f>Sheet1!$H$1</c:f>
              <c:strCache>
                <c:ptCount val="1"/>
                <c:pt idx="0">
                  <c:v>Footwear</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10.409838969689455</c:v>
                </c:pt>
                <c:pt idx="1">
                  <c:v>10.142136118882593</c:v>
                </c:pt>
                <c:pt idx="2">
                  <c:v>10.343576700998282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3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03E58"/>
            </a:solidFill>
            <a:ln>
              <a:noFill/>
            </a:ln>
          </c:spPr>
          <c:cat>
            <c:strRef>
              <c:f>Sheet1!$A$2:$A$4</c:f>
              <c:strCache>
                <c:ptCount val="3"/>
                <c:pt idx="0">
                  <c:v>2021–2026</c:v>
                </c:pt>
                <c:pt idx="1">
                  <c:v>2026–2036</c:v>
                </c:pt>
                <c:pt idx="2">
                  <c:v>2021–2036</c:v>
                </c:pt>
              </c:strCache>
            </c:strRef>
          </c:cat>
          <c:val>
            <c:numRef>
              <c:f>Sheet1!$B$2:$B$4</c:f>
              <c:numCache>
                <c:formatCode>General</c:formatCode>
                <c:ptCount val="3"/>
                <c:pt idx="0">
                  <c:v>6.908663533269088</c:v>
                </c:pt>
                <c:pt idx="1">
                  <c:v>6.602926521398089</c:v>
                </c:pt>
                <c:pt idx="2">
                  <c:v>6.704741585490992</c:v>
                </c:pt>
              </c:numCache>
            </c:numRef>
          </c:val>
        </c:ser>
        <c:dLbls>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9.119435863915196"/>
          <c:min val="0.0"/>
        </c:scaling>
        <c:delete val="0"/>
        <c:axPos val="l"/>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3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2021</c:v>
                </c:pt>
                <c:pt idx="1">
                  <c:v>2021–2026</c:v>
                </c:pt>
                <c:pt idx="2">
                  <c:v>2026</c:v>
                </c:pt>
                <c:pt idx="3">
                  <c:v>2026–2036</c:v>
                </c:pt>
                <c:pt idx="4">
                  <c:v>2036</c:v>
                </c:pt>
              </c:strCache>
            </c:strRef>
          </c:cat>
          <c:val>
            <c:numRef>
              <c:f>Sheet1!$B$2:$B$6</c:f>
              <c:numCache>
                <c:formatCode>General</c:formatCode>
                <c:ptCount val="5"/>
                <c:pt idx="0">
                  <c:v>0.0</c:v>
                </c:pt>
                <c:pt idx="1">
                  <c:v>328.424</c:v>
                </c:pt>
                <c:pt idx="2">
                  <c:v>0.0</c:v>
                </c:pt>
                <c:pt idx="3">
                  <c:v>458.669</c:v>
                </c:pt>
                <c:pt idx="4">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00A4DC"/>
              </a:solidFill>
            </c:spPr>
          </c:dPt>
          <c:dPt>
            <c:idx val="3"/>
            <c:spPr>
              <a:solidFill>
                <a:srgbClr val="2F6FB0"/>
              </a:solidFill>
            </c:spPr>
          </c:dPt>
          <c:dPt>
            <c:idx val="4"/>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Sheet1!$A$2:$A$6</c:f>
              <c:strCache>
                <c:ptCount val="5"/>
                <c:pt idx="0">
                  <c:v>2021</c:v>
                </c:pt>
                <c:pt idx="1">
                  <c:v>2021–2026</c:v>
                </c:pt>
                <c:pt idx="2">
                  <c:v>2026</c:v>
                </c:pt>
                <c:pt idx="3">
                  <c:v>2026–2036</c:v>
                </c:pt>
                <c:pt idx="4">
                  <c:v>2036</c:v>
                </c:pt>
              </c:strCache>
            </c:strRef>
          </c:cat>
          <c:val>
            <c:numRef>
              <c:f>Sheet1!$C$2:$C$6</c:f>
              <c:numCache>
                <c:formatCode>General</c:formatCode>
                <c:ptCount val="5"/>
                <c:pt idx="0">
                  <c:v>328.424</c:v>
                </c:pt>
                <c:pt idx="1">
                  <c:v>130.245</c:v>
                </c:pt>
                <c:pt idx="2">
                  <c:v>458.669</c:v>
                </c:pt>
                <c:pt idx="3">
                  <c:v>410.673</c:v>
                </c:pt>
                <c:pt idx="4">
                  <c:v>869.342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3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03E58"/>
            </a:solidFill>
            <a:ln>
              <a:noFill/>
            </a:ln>
          </c:spPr>
          <c:cat>
            <c:strRef>
              <c:f>Sheet1!$A$2:$A$4</c:f>
              <c:strCache>
                <c:ptCount val="3"/>
                <c:pt idx="0">
                  <c:v>2021–2026</c:v>
                </c:pt>
                <c:pt idx="1">
                  <c:v>2026–2036</c:v>
                </c:pt>
                <c:pt idx="2">
                  <c:v>2021–2036</c:v>
                </c:pt>
              </c:strCache>
            </c:strRef>
          </c:cat>
          <c:val>
            <c:numRef>
              <c:f>Sheet1!$B$2:$B$4</c:f>
              <c:numCache>
                <c:formatCode>General</c:formatCode>
                <c:ptCount val="3"/>
                <c:pt idx="0">
                  <c:v>7.562053329166241</c:v>
                </c:pt>
                <c:pt idx="1">
                  <c:v>8.325207813640212</c:v>
                </c:pt>
                <c:pt idx="2">
                  <c:v>8.070223253313301</c:v>
                </c:pt>
              </c:numCache>
            </c:numRef>
          </c:val>
        </c:ser>
        <c:dLbls>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98927431400508"/>
          <c:min val="0.0"/>
        </c:scaling>
        <c:delete val="0"/>
        <c:axPos val="l"/>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3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2021</c:v>
                </c:pt>
                <c:pt idx="1">
                  <c:v>2021–2026</c:v>
                </c:pt>
                <c:pt idx="2">
                  <c:v>2026</c:v>
                </c:pt>
                <c:pt idx="3">
                  <c:v>2026–2036</c:v>
                </c:pt>
                <c:pt idx="4">
                  <c:v>2036</c:v>
                </c:pt>
              </c:strCache>
            </c:strRef>
          </c:cat>
          <c:val>
            <c:numRef>
              <c:f>Sheet1!$B$2:$B$6</c:f>
              <c:numCache>
                <c:formatCode>General</c:formatCode>
                <c:ptCount val="5"/>
                <c:pt idx="0">
                  <c:v>0.0</c:v>
                </c:pt>
                <c:pt idx="1">
                  <c:v>926.375</c:v>
                </c:pt>
                <c:pt idx="2">
                  <c:v>0.0</c:v>
                </c:pt>
                <c:pt idx="3">
                  <c:v>1333.774</c:v>
                </c:pt>
                <c:pt idx="4">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00A4DC"/>
              </a:solidFill>
            </c:spPr>
          </c:dPt>
          <c:dPt>
            <c:idx val="3"/>
            <c:spPr>
              <a:solidFill>
                <a:srgbClr val="2F6FB0"/>
              </a:solidFill>
            </c:spPr>
          </c:dPt>
          <c:dPt>
            <c:idx val="4"/>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Sheet1!$A$2:$A$6</c:f>
              <c:strCache>
                <c:ptCount val="5"/>
                <c:pt idx="0">
                  <c:v>2021</c:v>
                </c:pt>
                <c:pt idx="1">
                  <c:v>2021–2026</c:v>
                </c:pt>
                <c:pt idx="2">
                  <c:v>2026</c:v>
                </c:pt>
                <c:pt idx="3">
                  <c:v>2026–2036</c:v>
                </c:pt>
                <c:pt idx="4">
                  <c:v>2036</c:v>
                </c:pt>
              </c:strCache>
            </c:strRef>
          </c:cat>
          <c:val>
            <c:numRef>
              <c:f>Sheet1!$C$2:$C$6</c:f>
              <c:numCache>
                <c:formatCode>General</c:formatCode>
                <c:ptCount val="5"/>
                <c:pt idx="0">
                  <c:v>926.375</c:v>
                </c:pt>
                <c:pt idx="1">
                  <c:v>407.3989999999999</c:v>
                </c:pt>
                <c:pt idx="2">
                  <c:v>1333.774</c:v>
                </c:pt>
                <c:pt idx="3">
                  <c:v>1633.636</c:v>
                </c:pt>
                <c:pt idx="4">
                  <c:v>2967.41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3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A9D8EF"/>
            </a:solidFill>
            <a:ln>
              <a:noFill/>
            </a:ln>
          </c:spPr>
          <c:dLbls>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926.375</c:v>
                </c:pt>
                <c:pt idx="1">
                  <c:v>991.638</c:v>
                </c:pt>
                <c:pt idx="2">
                  <c:v>1063.968</c:v>
                </c:pt>
                <c:pt idx="3">
                  <c:v>1144.147</c:v>
                </c:pt>
                <c:pt idx="4">
                  <c:v>1232.432</c:v>
                </c:pt>
              </c:numCache>
            </c:numRef>
          </c:val>
        </c:ser>
        <c:gapWidth val="50"/>
        <c:axId val="-2068027336"/>
        <c:axId val="-2113994440"/>
      </c:barChart>
      <c:barChart>
        <c:barDir val="col"/>
        <c:grouping val="clustered"/>
        <c:varyColors val="0"/>
        <c:ser>
          <c:idx val="1"/>
          <c:order val="1"/>
          <c:tx>
            <c:strRef>
              <c:f>Sheet1!$C$1</c:f>
              <c:strCache>
                <c:ptCount val="1"/>
                <c:pt idx="0">
                  <c:v>Volume (Mn Sq. Yards)</c:v>
                </c:pt>
              </c:strCache>
            </c:strRef>
          </c:tx>
          <c:spPr>
            <a:solidFill>
              <a:srgbClr val="F1975A"/>
            </a:solidFill>
            <a:ln>
              <a:noFill/>
            </a:ln>
          </c:spPr>
          <c:dLbls>
            <c:numFmt formatCode="#,##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Sheet1!$C$2:$C$6</c:f>
              <c:numCache>
                <c:formatCode>General</c:formatCode>
                <c:ptCount val="5"/>
                <c:pt idx="0">
                  <c:v>328.424</c:v>
                </c:pt>
                <c:pt idx="1">
                  <c:v>350.097</c:v>
                </c:pt>
                <c:pt idx="2">
                  <c:v>373.92999999999995</c:v>
                </c:pt>
                <c:pt idx="3">
                  <c:v>399.888</c:v>
                </c:pt>
                <c:pt idx="4">
                  <c:v>428.241</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max val="1454"/>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586"/>
          <c:min val="0"/>
        </c:scaling>
        <c:delete val="0"/>
        <c:axPos val="r"/>
        <c:numFmt formatCode="General"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3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A9D8EF"/>
            </a:solidFill>
            <a:ln>
              <a:noFill/>
            </a:ln>
          </c:spPr>
          <c:dLbls>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Sheet1!$B$2:$B$12</c:f>
              <c:numCache>
                <c:formatCode>General</c:formatCode>
                <c:ptCount val="11"/>
                <c:pt idx="0">
                  <c:v>1333.774</c:v>
                </c:pt>
                <c:pt idx="1">
                  <c:v>1444.337</c:v>
                </c:pt>
                <c:pt idx="2">
                  <c:v>1563.052</c:v>
                </c:pt>
                <c:pt idx="3">
                  <c:v>1688.2350000000001</c:v>
                </c:pt>
                <c:pt idx="4">
                  <c:v>1824.018</c:v>
                </c:pt>
                <c:pt idx="5">
                  <c:v>1975.179</c:v>
                </c:pt>
                <c:pt idx="6">
                  <c:v>2143.165</c:v>
                </c:pt>
                <c:pt idx="7">
                  <c:v>2327.212</c:v>
                </c:pt>
                <c:pt idx="8">
                  <c:v>2525.772</c:v>
                </c:pt>
                <c:pt idx="9">
                  <c:v>2739.6459999999997</c:v>
                </c:pt>
                <c:pt idx="10">
                  <c:v>2967.41</c:v>
                </c:pt>
              </c:numCache>
            </c:numRef>
          </c:val>
        </c:ser>
        <c:gapWidth val="50"/>
        <c:axId val="-2068027336"/>
        <c:axId val="-2113994440"/>
      </c:barChart>
      <c:barChart>
        <c:barDir val="col"/>
        <c:grouping val="clustered"/>
        <c:varyColors val="0"/>
        <c:ser>
          <c:idx val="1"/>
          <c:order val="1"/>
          <c:tx>
            <c:strRef>
              <c:f>Sheet1!$C$1</c:f>
              <c:strCache>
                <c:ptCount val="1"/>
                <c:pt idx="0">
                  <c:v>Volume (Mn Sq. Yards)</c:v>
                </c:pt>
              </c:strCache>
            </c:strRef>
          </c:tx>
          <c:spPr>
            <a:solidFill>
              <a:srgbClr val="F1975A"/>
            </a:solidFill>
            <a:ln>
              <a:noFill/>
            </a:ln>
          </c:spPr>
          <c:dLbls>
            <c:numFmt formatCode="#,##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Sheet1!$C$2:$C$12</c:f>
              <c:numCache>
                <c:formatCode>General</c:formatCode>
                <c:ptCount val="11"/>
                <c:pt idx="0">
                  <c:v>458.669</c:v>
                </c:pt>
                <c:pt idx="1">
                  <c:v>490.966</c:v>
                </c:pt>
                <c:pt idx="2">
                  <c:v>524.544</c:v>
                </c:pt>
                <c:pt idx="3">
                  <c:v>558.711</c:v>
                </c:pt>
                <c:pt idx="4">
                  <c:v>594.696</c:v>
                </c:pt>
                <c:pt idx="5">
                  <c:v>634.0350000000001</c:v>
                </c:pt>
                <c:pt idx="6">
                  <c:v>676.8009999999999</c:v>
                </c:pt>
                <c:pt idx="7">
                  <c:v>722.417</c:v>
                </c:pt>
                <c:pt idx="8">
                  <c:v>769.961</c:v>
                </c:pt>
                <c:pt idx="9">
                  <c:v>819.1479999999999</c:v>
                </c:pt>
                <c:pt idx="10">
                  <c:v>869.342</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max val="3502"/>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368"/>
          <c:min val="0"/>
        </c:scaling>
        <c:delete val="0"/>
        <c:axPos val="r"/>
        <c:numFmt formatCode="General"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3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Index</c:v>
                </c:pt>
              </c:strCache>
            </c:strRef>
          </c:tx>
          <c:spPr>
            <a:solidFill>
              <a:srgbClr val="00A4DC"/>
            </a:solidFill>
            <a:ln>
              <a:noFill/>
            </a:ln>
          </c:spPr>
          <c:cat>
            <c:strRef>
              <c:f>Sheet1!$A$2:$A$4</c:f>
              <c:strCache>
                <c:ptCount val="3"/>
                <c:pt idx="0">
                  <c:v>Japan</c:v>
                </c:pt>
                <c:pt idx="1">
                  <c:v>South Korea</c:v>
                </c:pt>
                <c:pt idx="2">
                  <c:v>China</c:v>
                </c:pt>
              </c:strCache>
            </c:strRef>
          </c:cat>
          <c:val>
            <c:numRef>
              <c:f>Sheet1!$B$2:$B$4</c:f>
              <c:numCache>
                <c:formatCode>General</c:formatCode>
                <c:ptCount val="3"/>
                <c:pt idx="0">
                  <c:v>81.43894914868297</c:v>
                </c:pt>
                <c:pt idx="1">
                  <c:v>95.37993018012517</c:v>
                </c:pt>
                <c:pt idx="2">
                  <c:v>107.36155916201902</c:v>
                </c:pt>
              </c:numCache>
            </c:numRef>
          </c:val>
        </c:ser>
        <c:dLbls>
          <c:numFmt formatCode="#,##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3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Index</c:v>
                </c:pt>
              </c:strCache>
            </c:strRef>
          </c:tx>
          <c:spPr>
            <a:solidFill>
              <a:srgbClr val="00A4DC"/>
            </a:solidFill>
            <a:ln>
              <a:noFill/>
            </a:ln>
          </c:spPr>
          <c:cat>
            <c:strRef>
              <c:f>Sheet1!$A$2:$A$4</c:f>
              <c:strCache>
                <c:ptCount val="3"/>
                <c:pt idx="0">
                  <c:v>South Korea</c:v>
                </c:pt>
                <c:pt idx="1">
                  <c:v>Japan</c:v>
                </c:pt>
                <c:pt idx="2">
                  <c:v>China</c:v>
                </c:pt>
              </c:strCache>
            </c:strRef>
          </c:cat>
          <c:val>
            <c:numRef>
              <c:f>Sheet1!$B$2:$B$4</c:f>
              <c:numCache>
                <c:formatCode>General</c:formatCode>
                <c:ptCount val="3"/>
                <c:pt idx="0">
                  <c:v>13.779140518450866</c:v>
                </c:pt>
                <c:pt idx="1">
                  <c:v>17.49790038907076</c:v>
                </c:pt>
                <c:pt idx="2">
                  <c:v>68.72320394506488</c:v>
                </c:pt>
              </c:numCache>
            </c:numRef>
          </c:val>
        </c:ser>
        <c:dLbls>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34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00A4DC"/>
              </a:solidFill>
            </c:spPr>
          </c:dPt>
          <c:dPt>
            <c:idx val="1"/>
            <c:spPr>
              <a:solidFill>
                <a:srgbClr val="6ECFF2"/>
              </a:solidFill>
            </c:spPr>
          </c:dPt>
          <c:dLbls>
            <c:dLbl>
              <c:idx val="0"/>
              <c:tx>
                <c:rich>
                  <a:bodyPr/>
                  <a:lstStyle/>
                  <a:p>
                    <a:pPr>
                      <a:defRPr sz="1100" b="1">
                        <a:solidFill>
                          <a:srgbClr val="FFFFFF"/>
                        </a:solidFill>
                        <a:latin typeface="Segoe UI"/>
                      </a:defRPr>
                    </a:pPr>
                    <a:r>
                      <a:t>49.1%</a:t>
                    </a:r>
                  </a:p>
                </c:rich>
              </c:tx>
              <c:showLegendKey val="0"/>
              <c:showVal val="1"/>
              <c:showCatName val="0"/>
              <c:showSerName val="0"/>
              <c:showPercent val="0"/>
              <c:showBubbleSize val="0"/>
            </c:dLbl>
            <c:dLbl>
              <c:idx val="1"/>
              <c:tx>
                <c:rich>
                  <a:bodyPr/>
                  <a:lstStyle/>
                  <a:p>
                    <a:pPr>
                      <a:defRPr sz="1100" b="1">
                        <a:solidFill>
                          <a:srgbClr val="252423"/>
                        </a:solidFill>
                        <a:latin typeface="Segoe UI"/>
                      </a:defRPr>
                    </a:pPr>
                    <a:r>
                      <a:t>50.9%</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Warp Knitted Fabrics</c:v>
                </c:pt>
                <c:pt idx="1">
                  <c:v>Weft Knitted Fabrics</c:v>
                </c:pt>
              </c:strCache>
            </c:strRef>
          </c:cat>
          <c:val>
            <c:numRef>
              <c:f>Sheet1!$B$2:$B$3</c:f>
              <c:numCache>
                <c:formatCode>General</c:formatCode>
                <c:ptCount val="2"/>
                <c:pt idx="0">
                  <c:v>1457.771</c:v>
                </c:pt>
                <c:pt idx="1">
                  <c:v>1509.6390000000001</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externalData r:id="rId1">
    <c:autoUpdate val="0"/>
  </c:externalData>
</c:chartSpace>
</file>

<file path=ppt/charts/chart34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China</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Sheet1!$B$2:$B$3</c:f>
              <c:numCache>
                <c:formatCode>General</c:formatCode>
                <c:ptCount val="2"/>
                <c:pt idx="0">
                  <c:v>69.62159993720948</c:v>
                </c:pt>
                <c:pt idx="1">
                  <c:v>71.95806938819175</c:v>
                </c:pt>
              </c:numCache>
            </c:numRef>
          </c:val>
        </c:ser>
        <c:ser>
          <c:idx val="1"/>
          <c:order val="1"/>
          <c:tx>
            <c:strRef>
              <c:f>Sheet1!$C$1</c:f>
              <c:strCache>
                <c:ptCount val="1"/>
                <c:pt idx="0">
                  <c:v>Japan</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Sheet1!$C$2:$C$3</c:f>
              <c:numCache>
                <c:formatCode>General</c:formatCode>
                <c:ptCount val="2"/>
                <c:pt idx="0">
                  <c:v>18.064700393312812</c:v>
                </c:pt>
                <c:pt idx="1">
                  <c:v>16.325699581637124</c:v>
                </c:pt>
              </c:numCache>
            </c:numRef>
          </c:val>
        </c:ser>
        <c:ser>
          <c:idx val="2"/>
          <c:order val="2"/>
          <c:tx>
            <c:strRef>
              <c:f>Sheet1!$D$1</c:f>
              <c:strCache>
                <c:ptCount val="1"/>
                <c:pt idx="0">
                  <c:v>South Korea</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Sheet1!$D$2:$D$3</c:f>
              <c:numCache>
                <c:formatCode>General</c:formatCode>
                <c:ptCount val="2"/>
                <c:pt idx="0">
                  <c:v>12.313699669477703</c:v>
                </c:pt>
                <c:pt idx="1">
                  <c:v>11.71623103017113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34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China</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Sheet1!$B$2:$B$3</c:f>
              <c:numCache>
                <c:formatCode>General</c:formatCode>
                <c:ptCount val="2"/>
                <c:pt idx="0">
                  <c:v>62.16919970639682</c:v>
                </c:pt>
                <c:pt idx="1">
                  <c:v>65.77730553671198</c:v>
                </c:pt>
              </c:numCache>
            </c:numRef>
          </c:val>
        </c:ser>
        <c:ser>
          <c:idx val="1"/>
          <c:order val="1"/>
          <c:tx>
            <c:strRef>
              <c:f>Sheet1!$C$1</c:f>
              <c:strCache>
                <c:ptCount val="1"/>
                <c:pt idx="0">
                  <c:v>Japan</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Sheet1!$C$2:$C$3</c:f>
              <c:numCache>
                <c:formatCode>General</c:formatCode>
                <c:ptCount val="2"/>
                <c:pt idx="0">
                  <c:v>23.11780190482188</c:v>
                </c:pt>
                <c:pt idx="1">
                  <c:v>20.02385244241529</c:v>
                </c:pt>
              </c:numCache>
            </c:numRef>
          </c:val>
        </c:ser>
        <c:ser>
          <c:idx val="2"/>
          <c:order val="2"/>
          <c:tx>
            <c:strRef>
              <c:f>Sheet1!$D$1</c:f>
              <c:strCache>
                <c:ptCount val="1"/>
                <c:pt idx="0">
                  <c:v>South Korea</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Sheet1!$D$2:$D$3</c:f>
              <c:numCache>
                <c:formatCode>General</c:formatCode>
                <c:ptCount val="2"/>
                <c:pt idx="0">
                  <c:v>14.712998388781298</c:v>
                </c:pt>
                <c:pt idx="1">
                  <c:v>14.19884202087274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3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China</c:v>
                </c:pt>
              </c:strCache>
            </c:strRef>
          </c:tx>
          <c:spPr>
            <a:solidFill>
              <a:srgbClr val="00A4DC"/>
            </a:solidFill>
            <a:ln>
              <a:noFill/>
            </a:ln>
          </c:spPr>
          <c:dLbls>
            <c:numFmt formatCode="#,##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227.589</c:v>
                </c:pt>
                <c:pt idx="1">
                  <c:v>242.321</c:v>
                </c:pt>
                <c:pt idx="2">
                  <c:v>258.745</c:v>
                </c:pt>
                <c:pt idx="3">
                  <c:v>276.934</c:v>
                </c:pt>
                <c:pt idx="4">
                  <c:v>297.199</c:v>
                </c:pt>
                <c:pt idx="5">
                  <c:v>319.332</c:v>
                </c:pt>
                <c:pt idx="6">
                  <c:v>343.036</c:v>
                </c:pt>
                <c:pt idx="7">
                  <c:v>367.75</c:v>
                </c:pt>
                <c:pt idx="8">
                  <c:v>392.864</c:v>
                </c:pt>
                <c:pt idx="9">
                  <c:v>419.388</c:v>
                </c:pt>
                <c:pt idx="10">
                  <c:v>448.827</c:v>
                </c:pt>
                <c:pt idx="11">
                  <c:v>480.94</c:v>
                </c:pt>
                <c:pt idx="12">
                  <c:v>515.167</c:v>
                </c:pt>
                <c:pt idx="13">
                  <c:v>550.831</c:v>
                </c:pt>
                <c:pt idx="14">
                  <c:v>587.828</c:v>
                </c:pt>
                <c:pt idx="15">
                  <c:v>625.561</c:v>
                </c:pt>
              </c:numCache>
            </c:numRef>
          </c:val>
        </c:ser>
        <c:ser>
          <c:idx val="1"/>
          <c:order val="1"/>
          <c:tx>
            <c:strRef>
              <c:f>Sheet1!$C$1</c:f>
              <c:strCache>
                <c:ptCount val="1"/>
                <c:pt idx="0">
                  <c:v>Japan</c:v>
                </c:pt>
              </c:strCache>
            </c:strRef>
          </c:tx>
          <c:spPr>
            <a:solidFill>
              <a:srgbClr val="6ECFF2"/>
            </a:solidFill>
            <a:ln>
              <a:noFill/>
            </a:ln>
          </c:spPr>
          <c:dLbls>
            <c:numFmt formatCode="#,##0"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0">
                  <c:v>61.21</c:v>
                </c:pt>
                <c:pt idx="1">
                  <c:v>64.82</c:v>
                </c:pt>
                <c:pt idx="2">
                  <c:v>68.856</c:v>
                </c:pt>
                <c:pt idx="3">
                  <c:v>73.241</c:v>
                </c:pt>
                <c:pt idx="4">
                  <c:v>77.94</c:v>
                </c:pt>
                <c:pt idx="5">
                  <c:v>82.857</c:v>
                </c:pt>
                <c:pt idx="6">
                  <c:v>87.976</c:v>
                </c:pt>
                <c:pt idx="7">
                  <c:v>93.237</c:v>
                </c:pt>
                <c:pt idx="8">
                  <c:v>98.497</c:v>
                </c:pt>
                <c:pt idx="9">
                  <c:v>103.845</c:v>
                </c:pt>
                <c:pt idx="10">
                  <c:v>109.328</c:v>
                </c:pt>
                <c:pt idx="11">
                  <c:v>115.251</c:v>
                </c:pt>
                <c:pt idx="12">
                  <c:v>121.618</c:v>
                </c:pt>
                <c:pt idx="13">
                  <c:v>128.254</c:v>
                </c:pt>
                <c:pt idx="14">
                  <c:v>135.039</c:v>
                </c:pt>
                <c:pt idx="15">
                  <c:v>141.926</c:v>
                </c:pt>
              </c:numCache>
            </c:numRef>
          </c:val>
        </c:ser>
        <c:ser>
          <c:idx val="2"/>
          <c:order val="2"/>
          <c:tx>
            <c:strRef>
              <c:f>Sheet1!$D$1</c:f>
              <c:strCache>
                <c:ptCount val="1"/>
                <c:pt idx="0">
                  <c:v>South Korea</c:v>
                </c:pt>
              </c:strCache>
            </c:strRef>
          </c:tx>
          <c:spPr>
            <a:solidFill>
              <a:srgbClr val="D6CAC4"/>
            </a:solidFill>
            <a:ln>
              <a:noFill/>
            </a:ln>
          </c:spPr>
          <c:dLbls>
            <c:numFmt formatCode="#,##0"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Sheet1!$D$2:$D$17</c:f>
              <c:numCache>
                <c:formatCode>General</c:formatCode>
                <c:ptCount val="16"/>
                <c:pt idx="0">
                  <c:v>39.626</c:v>
                </c:pt>
                <c:pt idx="1">
                  <c:v>42.955</c:v>
                </c:pt>
                <c:pt idx="2">
                  <c:v>46.329</c:v>
                </c:pt>
                <c:pt idx="3">
                  <c:v>49.712</c:v>
                </c:pt>
                <c:pt idx="4">
                  <c:v>53.102</c:v>
                </c:pt>
                <c:pt idx="5">
                  <c:v>56.479</c:v>
                </c:pt>
                <c:pt idx="6">
                  <c:v>59.954</c:v>
                </c:pt>
                <c:pt idx="7">
                  <c:v>63.556</c:v>
                </c:pt>
                <c:pt idx="8">
                  <c:v>67.351</c:v>
                </c:pt>
                <c:pt idx="9">
                  <c:v>71.464</c:v>
                </c:pt>
                <c:pt idx="10">
                  <c:v>75.88</c:v>
                </c:pt>
                <c:pt idx="11">
                  <c:v>80.61</c:v>
                </c:pt>
                <c:pt idx="12">
                  <c:v>85.63</c:v>
                </c:pt>
                <c:pt idx="13">
                  <c:v>90.875</c:v>
                </c:pt>
                <c:pt idx="14">
                  <c:v>96.28</c:v>
                </c:pt>
                <c:pt idx="15">
                  <c:v>101.854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34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China</c:v>
                </c:pt>
              </c:strCache>
            </c:strRef>
          </c:tx>
          <c:spPr>
            <a:solidFill>
              <a:srgbClr val="00A4DC"/>
            </a:solidFill>
            <a:ln>
              <a:noFill/>
            </a:ln>
          </c:spPr>
          <c:dLbls>
            <c:numFmt formatCode="#,##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569.1</c:v>
                </c:pt>
                <c:pt idx="1">
                  <c:v>609.121</c:v>
                </c:pt>
                <c:pt idx="2">
                  <c:v>654.227</c:v>
                </c:pt>
                <c:pt idx="3">
                  <c:v>705.175</c:v>
                </c:pt>
                <c:pt idx="4">
                  <c:v>762.349</c:v>
                </c:pt>
                <c:pt idx="5">
                  <c:v>829.196</c:v>
                </c:pt>
                <c:pt idx="6">
                  <c:v>902.884</c:v>
                </c:pt>
                <c:pt idx="7">
                  <c:v>982.459</c:v>
                </c:pt>
                <c:pt idx="8">
                  <c:v>1066.342</c:v>
                </c:pt>
                <c:pt idx="9">
                  <c:v>1157.925</c:v>
                </c:pt>
                <c:pt idx="10">
                  <c:v>1261.548</c:v>
                </c:pt>
                <c:pt idx="11">
                  <c:v>1377.431</c:v>
                </c:pt>
                <c:pt idx="12">
                  <c:v>1504.8</c:v>
                </c:pt>
                <c:pt idx="13">
                  <c:v>1642.674</c:v>
                </c:pt>
                <c:pt idx="14">
                  <c:v>1792.177</c:v>
                </c:pt>
                <c:pt idx="15">
                  <c:v>1951.883</c:v>
                </c:pt>
              </c:numCache>
            </c:numRef>
          </c:val>
        </c:ser>
        <c:ser>
          <c:idx val="1"/>
          <c:order val="1"/>
          <c:tx>
            <c:strRef>
              <c:f>Sheet1!$C$1</c:f>
              <c:strCache>
                <c:ptCount val="1"/>
                <c:pt idx="0">
                  <c:v>Japan</c:v>
                </c:pt>
              </c:strCache>
            </c:strRef>
          </c:tx>
          <c:spPr>
            <a:solidFill>
              <a:srgbClr val="6ECFF2"/>
            </a:solidFill>
            <a:ln>
              <a:noFill/>
            </a:ln>
          </c:spPr>
          <c:dLbls>
            <c:numFmt formatCode="#,##0"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0">
                  <c:v>223.866</c:v>
                </c:pt>
                <c:pt idx="1">
                  <c:v>237.607</c:v>
                </c:pt>
                <c:pt idx="2">
                  <c:v>252.911</c:v>
                </c:pt>
                <c:pt idx="3">
                  <c:v>269.749</c:v>
                </c:pt>
                <c:pt idx="4">
                  <c:v>288.008</c:v>
                </c:pt>
                <c:pt idx="5">
                  <c:v>308.339</c:v>
                </c:pt>
                <c:pt idx="6">
                  <c:v>330.098</c:v>
                </c:pt>
                <c:pt idx="7">
                  <c:v>353.064</c:v>
                </c:pt>
                <c:pt idx="8">
                  <c:v>376.731</c:v>
                </c:pt>
                <c:pt idx="9">
                  <c:v>401.493</c:v>
                </c:pt>
                <c:pt idx="10">
                  <c:v>427.718</c:v>
                </c:pt>
                <c:pt idx="11">
                  <c:v>456.475</c:v>
                </c:pt>
                <c:pt idx="12">
                  <c:v>487.933</c:v>
                </c:pt>
                <c:pt idx="13">
                  <c:v>521.529</c:v>
                </c:pt>
                <c:pt idx="14">
                  <c:v>557.01</c:v>
                </c:pt>
                <c:pt idx="15">
                  <c:v>594.19</c:v>
                </c:pt>
              </c:numCache>
            </c:numRef>
          </c:val>
        </c:ser>
        <c:ser>
          <c:idx val="2"/>
          <c:order val="2"/>
          <c:tx>
            <c:strRef>
              <c:f>Sheet1!$D$1</c:f>
              <c:strCache>
                <c:ptCount val="1"/>
                <c:pt idx="0">
                  <c:v>South Korea</c:v>
                </c:pt>
              </c:strCache>
            </c:strRef>
          </c:tx>
          <c:spPr>
            <a:solidFill>
              <a:srgbClr val="D6CAC4"/>
            </a:solidFill>
            <a:ln>
              <a:noFill/>
            </a:ln>
          </c:spPr>
          <c:dLbls>
            <c:numFmt formatCode="#,##0"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Sheet1!$D$2:$D$17</c:f>
              <c:numCache>
                <c:formatCode>General</c:formatCode>
                <c:ptCount val="16"/>
                <c:pt idx="0">
                  <c:v>133.408</c:v>
                </c:pt>
                <c:pt idx="1">
                  <c:v>144.911</c:v>
                </c:pt>
                <c:pt idx="2">
                  <c:v>156.831</c:v>
                </c:pt>
                <c:pt idx="3">
                  <c:v>169.224</c:v>
                </c:pt>
                <c:pt idx="4">
                  <c:v>182.074</c:v>
                </c:pt>
                <c:pt idx="5">
                  <c:v>196.238</c:v>
                </c:pt>
                <c:pt idx="6">
                  <c:v>211.356</c:v>
                </c:pt>
                <c:pt idx="7">
                  <c:v>227.53</c:v>
                </c:pt>
                <c:pt idx="8">
                  <c:v>245.162</c:v>
                </c:pt>
                <c:pt idx="9">
                  <c:v>264.599</c:v>
                </c:pt>
                <c:pt idx="10">
                  <c:v>285.913</c:v>
                </c:pt>
                <c:pt idx="11">
                  <c:v>309.26</c:v>
                </c:pt>
                <c:pt idx="12">
                  <c:v>334.48</c:v>
                </c:pt>
                <c:pt idx="13">
                  <c:v>361.568</c:v>
                </c:pt>
                <c:pt idx="14">
                  <c:v>390.457</c:v>
                </c:pt>
                <c:pt idx="15">
                  <c:v>421.338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35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Weft Knitted Fabrics</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54.5292133315342</c:v>
                </c:pt>
                <c:pt idx="1">
                  <c:v>53.583065796754184</c:v>
                </c:pt>
                <c:pt idx="2">
                  <c:v>50.87396079409318</c:v>
                </c:pt>
              </c:numCache>
            </c:numRef>
          </c:val>
        </c:ser>
        <c:ser>
          <c:idx val="1"/>
          <c:order val="1"/>
          <c:tx>
            <c:strRef>
              <c:f>Sheet1!$C$1</c:f>
              <c:strCache>
                <c:ptCount val="1"/>
                <c:pt idx="0">
                  <c:v>Warp Knitted Fabrics</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45.4707866684658</c:v>
                </c:pt>
                <c:pt idx="1">
                  <c:v>46.41693420324583</c:v>
                </c:pt>
                <c:pt idx="2">
                  <c:v>49.126039205906835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36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Polyester</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49.36758735412194</c:v>
                </c:pt>
                <c:pt idx="1">
                  <c:v>50.13855441559727</c:v>
                </c:pt>
                <c:pt idx="2">
                  <c:v>48.32165143284837</c:v>
                </c:pt>
              </c:numCache>
            </c:numRef>
          </c:val>
        </c:ser>
        <c:ser>
          <c:idx val="1"/>
          <c:order val="1"/>
          <c:tx>
            <c:strRef>
              <c:f>Sheet1!$C$1</c:f>
              <c:strCache>
                <c:ptCount val="1"/>
                <c:pt idx="0">
                  <c:v>Polyamide or Nylon</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20.743588165889985</c:v>
                </c:pt>
                <c:pt idx="1">
                  <c:v>20.208326460594463</c:v>
                </c:pt>
                <c:pt idx="2">
                  <c:v>20.22045480049781</c:v>
                </c:pt>
              </c:numCache>
            </c:numRef>
          </c:val>
        </c:ser>
        <c:ser>
          <c:idx val="2"/>
          <c:order val="2"/>
          <c:tx>
            <c:strRef>
              <c:f>Sheet1!$D$1</c:f>
              <c:strCache>
                <c:ptCount val="1"/>
                <c:pt idx="0">
                  <c:v>Elastane or Spandex Blends</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11.359139353154724</c:v>
                </c:pt>
                <c:pt idx="1">
                  <c:v>10.841208242488221</c:v>
                </c:pt>
                <c:pt idx="2">
                  <c:v>11.770260338052262</c:v>
                </c:pt>
              </c:numCache>
            </c:numRef>
          </c:val>
        </c:ser>
        <c:ser>
          <c:idx val="3"/>
          <c:order val="3"/>
          <c:tx>
            <c:strRef>
              <c:f>Sheet1!$E$1</c:f>
              <c:strCache>
                <c:ptCount val="1"/>
                <c:pt idx="0">
                  <c:v>High-Performance &amp; Specialty Fibers</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10.122920249186883</c:v>
                </c:pt>
                <c:pt idx="1">
                  <c:v>10.67573768230252</c:v>
                </c:pt>
                <c:pt idx="2">
                  <c:v>11.738953586139566</c:v>
                </c:pt>
              </c:numCache>
            </c:numRef>
          </c:val>
        </c:ser>
        <c:ser>
          <c:idx val="4"/>
          <c:order val="4"/>
          <c:tx>
            <c:strRef>
              <c:f>Sheet1!$F$1</c:f>
              <c:strCache>
                <c:ptCount val="1"/>
                <c:pt idx="0">
                  <c:v>Polypropylene</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5.634231567629886</c:v>
                </c:pt>
                <c:pt idx="1">
                  <c:v>5.430688303548132</c:v>
                </c:pt>
                <c:pt idx="2">
                  <c:v>5.411282764672638</c:v>
                </c:pt>
              </c:numCache>
            </c:numRef>
          </c:val>
        </c:ser>
        <c:ser>
          <c:idx val="5"/>
          <c:order val="5"/>
          <c:tx>
            <c:strRef>
              <c:f>Sheet1!$G$1</c:f>
              <c:strCache>
                <c:ptCount val="1"/>
                <c:pt idx="0">
                  <c:v>Cellulosic Fibers</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2.7725333100165916</c:v>
                </c:pt>
                <c:pt idx="1">
                  <c:v>2.7054848954693904</c:v>
                </c:pt>
                <c:pt idx="2">
                  <c:v>2.5373970777893593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37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Moisture Management &amp; Quick-Dry</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20.4080641296064</c:v>
                </c:pt>
                <c:pt idx="1">
                  <c:v>20.573890759522047</c:v>
                </c:pt>
                <c:pt idx="2">
                  <c:v>20.213580120852825</c:v>
                </c:pt>
              </c:numCache>
            </c:numRef>
          </c:val>
        </c:ser>
        <c:ser>
          <c:idx val="1"/>
          <c:order val="1"/>
          <c:tx>
            <c:strRef>
              <c:f>Sheet1!$C$1</c:f>
              <c:strCache>
                <c:ptCount val="1"/>
                <c:pt idx="0">
                  <c:v>Thermal Management</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18.090101837918592</c:v>
                </c:pt>
                <c:pt idx="1">
                  <c:v>18.26787616783366</c:v>
                </c:pt>
                <c:pt idx="2">
                  <c:v>19.83793279731052</c:v>
                </c:pt>
              </c:numCache>
            </c:numRef>
          </c:val>
        </c:ser>
        <c:ser>
          <c:idx val="2"/>
          <c:order val="2"/>
          <c:tx>
            <c:strRef>
              <c:f>Sheet1!$D$1</c:f>
              <c:strCache>
                <c:ptCount val="1"/>
                <c:pt idx="0">
                  <c:v>Stretch &amp; Recovery</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16.50219026008934</c:v>
                </c:pt>
                <c:pt idx="1">
                  <c:v>16.657407219969215</c:v>
                </c:pt>
                <c:pt idx="2">
                  <c:v>15.71713524011335</c:v>
                </c:pt>
              </c:numCache>
            </c:numRef>
          </c:val>
        </c:ser>
        <c:ser>
          <c:idx val="3"/>
          <c:order val="3"/>
          <c:tx>
            <c:strRef>
              <c:f>Sheet1!$E$1</c:f>
              <c:strCache>
                <c:ptCount val="1"/>
                <c:pt idx="0">
                  <c:v>Abrasion &amp; Tear Resistance</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11.918836236768303</c:v>
                </c:pt>
                <c:pt idx="1">
                  <c:v>11.627915694799642</c:v>
                </c:pt>
                <c:pt idx="2">
                  <c:v>10.61804380990702</c:v>
                </c:pt>
              </c:numCache>
            </c:numRef>
          </c:val>
        </c:ser>
        <c:ser>
          <c:idx val="4"/>
          <c:order val="4"/>
          <c:tx>
            <c:strRef>
              <c:f>Sheet1!$F$1</c:f>
              <c:strCache>
                <c:ptCount val="1"/>
                <c:pt idx="0">
                  <c:v>Compression &amp; Support</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10.16652021753633</c:v>
                </c:pt>
                <c:pt idx="1">
                  <c:v>10.317872681483282</c:v>
                </c:pt>
                <c:pt idx="2">
                  <c:v>10.179884080769398</c:v>
                </c:pt>
              </c:numCache>
            </c:numRef>
          </c:val>
        </c:ser>
        <c:ser>
          <c:idx val="5"/>
          <c:order val="5"/>
          <c:tx>
            <c:strRef>
              <c:f>Sheet1!$G$1</c:f>
              <c:strCache>
                <c:ptCount val="1"/>
                <c:pt idx="0">
                  <c:v>Antimicrobial &amp; Odor Control</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8.417010840114251</c:v>
                </c:pt>
                <c:pt idx="1">
                  <c:v>8.589992449989618</c:v>
                </c:pt>
                <c:pt idx="2">
                  <c:v>9.439204747842481</c:v>
                </c:pt>
              </c:numCache>
            </c:numRef>
          </c:val>
        </c:ser>
        <c:ser>
          <c:idx val="6"/>
          <c:order val="6"/>
          <c:tx>
            <c:strRef>
              <c:f>Sheet1!$H$1</c:f>
              <c:strCache>
                <c:ptCount val="1"/>
                <c:pt idx="0">
                  <c:v>Water or Liquid Management</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5.346112909041056</c:v>
                </c:pt>
                <c:pt idx="1">
                  <c:v>4.966437317294623</c:v>
                </c:pt>
                <c:pt idx="2">
                  <c:v>4.854265216378857</c:v>
                </c:pt>
              </c:numCache>
            </c:numRef>
          </c:val>
        </c:ser>
        <c:ser>
          <c:idx val="7"/>
          <c:order val="7"/>
          <c:tx>
            <c:strRef>
              <c:f>Sheet1!$I$1</c:f>
              <c:strCache>
                <c:ptCount val="1"/>
                <c:pt idx="0">
                  <c:v>Flame &amp; Heat Resistance</c:v>
                </c:pt>
              </c:strCache>
            </c:strRef>
          </c:tx>
          <c:spPr>
            <a:solidFill>
              <a:srgbClr val="7D72E5"/>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Sheet1!$I$2:$I$4</c:f>
              <c:numCache>
                <c:formatCode>General</c:formatCode>
                <c:ptCount val="3"/>
                <c:pt idx="0">
                  <c:v>3.574690135949411</c:v>
                </c:pt>
                <c:pt idx="1">
                  <c:v>3.4921984475619174</c:v>
                </c:pt>
                <c:pt idx="2">
                  <c:v>3.5658356729148744</c:v>
                </c:pt>
              </c:numCache>
            </c:numRef>
          </c:val>
        </c:ser>
        <c:ser>
          <c:idx val="8"/>
          <c:order val="8"/>
          <c:tx>
            <c:strRef>
              <c:f>Sheet1!$J$1</c:f>
              <c:strCache>
                <c:ptCount val="1"/>
                <c:pt idx="0">
                  <c:v>UV Protection</c:v>
                </c:pt>
              </c:strCache>
            </c:strRef>
          </c:tx>
          <c:spPr>
            <a:solidFill>
              <a:srgbClr val="CF72E5"/>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Sheet1!$J$2:$J$4</c:f>
              <c:numCache>
                <c:formatCode>General</c:formatCode>
                <c:ptCount val="3"/>
                <c:pt idx="0">
                  <c:v>3.2648800592417313</c:v>
                </c:pt>
                <c:pt idx="1">
                  <c:v>3.0736114766155858</c:v>
                </c:pt>
                <c:pt idx="2">
                  <c:v>2.8147432222904074</c:v>
                </c:pt>
              </c:numCache>
            </c:numRef>
          </c:val>
        </c:ser>
        <c:ser>
          <c:idx val="9"/>
          <c:order val="9"/>
          <c:tx>
            <c:strRef>
              <c:f>Sheet1!$K$1</c:f>
              <c:strCache>
                <c:ptCount val="1"/>
                <c:pt idx="0">
                  <c:v>Other Specialized Performance</c:v>
                </c:pt>
              </c:strCache>
            </c:strRef>
          </c:tx>
          <c:spPr>
            <a:solidFill>
              <a:srgbClr val="E572A9"/>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Sheet1!$K$2:$K$4</c:f>
              <c:numCache>
                <c:formatCode>General</c:formatCode>
                <c:ptCount val="3"/>
                <c:pt idx="0">
                  <c:v>2.3115933737345826</c:v>
                </c:pt>
                <c:pt idx="1">
                  <c:v>2.432797784930419</c:v>
                </c:pt>
                <c:pt idx="2">
                  <c:v>2.7593750916202713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38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Sports &amp; Activewear</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25.497180941154372</c:v>
                </c:pt>
                <c:pt idx="1">
                  <c:v>25.62332570834767</c:v>
                </c:pt>
                <c:pt idx="2">
                  <c:v>25.622125437418784</c:v>
                </c:pt>
              </c:numCache>
            </c:numRef>
          </c:val>
        </c:ser>
        <c:ser>
          <c:idx val="1"/>
          <c:order val="1"/>
          <c:tx>
            <c:strRef>
              <c:f>Sheet1!$C$1</c:f>
              <c:strCache>
                <c:ptCount val="1"/>
                <c:pt idx="0">
                  <c:v>Medical &amp; Healthcare</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13.940928761956577</c:v>
                </c:pt>
                <c:pt idx="1">
                  <c:v>14.340296287299264</c:v>
                </c:pt>
                <c:pt idx="2">
                  <c:v>15.124714902702966</c:v>
                </c:pt>
              </c:numCache>
            </c:numRef>
          </c:val>
        </c:ser>
        <c:ser>
          <c:idx val="2"/>
          <c:order val="2"/>
          <c:tx>
            <c:strRef>
              <c:f>Sheet1!$D$1</c:f>
              <c:strCache>
                <c:ptCount val="1"/>
                <c:pt idx="0">
                  <c:v>Protective &amp; Occupational Wear</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14.705415637113775</c:v>
                </c:pt>
                <c:pt idx="1">
                  <c:v>14.575793632049832</c:v>
                </c:pt>
                <c:pt idx="2">
                  <c:v>14.787113871769572</c:v>
                </c:pt>
              </c:numCache>
            </c:numRef>
          </c:val>
        </c:ser>
        <c:ser>
          <c:idx val="3"/>
          <c:order val="3"/>
          <c:tx>
            <c:strRef>
              <c:f>Sheet1!$E$1</c:f>
              <c:strCache>
                <c:ptCount val="1"/>
                <c:pt idx="0">
                  <c:v>Footwear</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13.443181094440359</c:v>
                </c:pt>
                <c:pt idx="1">
                  <c:v>13.653447775595998</c:v>
                </c:pt>
                <c:pt idx="2">
                  <c:v>13.851448806500489</c:v>
                </c:pt>
              </c:numCache>
            </c:numRef>
          </c:val>
        </c:ser>
        <c:ser>
          <c:idx val="4"/>
          <c:order val="4"/>
          <c:tx>
            <c:strRef>
              <c:f>Sheet1!$F$1</c:f>
              <c:strCache>
                <c:ptCount val="1"/>
                <c:pt idx="0">
                  <c:v>Intimate &amp; Bodywear</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13.88339254274466</c:v>
                </c:pt>
                <c:pt idx="1">
                  <c:v>13.204570792781082</c:v>
                </c:pt>
                <c:pt idx="2">
                  <c:v>11.963235254471243</c:v>
                </c:pt>
              </c:numCache>
            </c:numRef>
          </c:val>
        </c:ser>
        <c:ser>
          <c:idx val="5"/>
          <c:order val="5"/>
          <c:tx>
            <c:strRef>
              <c:f>Sheet1!$G$1</c:f>
              <c:strCache>
                <c:ptCount val="1"/>
                <c:pt idx="0">
                  <c:v>Industrial &amp; Technical Applications</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9.643739616763442</c:v>
                </c:pt>
                <c:pt idx="1">
                  <c:v>9.780224970815873</c:v>
                </c:pt>
                <c:pt idx="2">
                  <c:v>10.077785056857703</c:v>
                </c:pt>
              </c:numCache>
            </c:numRef>
          </c:val>
        </c:ser>
        <c:ser>
          <c:idx val="6"/>
          <c:order val="6"/>
          <c:tx>
            <c:strRef>
              <c:f>Sheet1!$H$1</c:f>
              <c:strCache>
                <c:ptCount val="1"/>
                <c:pt idx="0">
                  <c:v>Automotive &amp; Transportation</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8.88616140582681</c:v>
                </c:pt>
                <c:pt idx="1">
                  <c:v>8.822340833110283</c:v>
                </c:pt>
                <c:pt idx="2">
                  <c:v>8.573576670279248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39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Medium Weight 150–250 GSM</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48.350774093400716</c:v>
                </c:pt>
                <c:pt idx="1">
                  <c:v>45.67223957899883</c:v>
                </c:pt>
                <c:pt idx="2">
                  <c:v>43.112767324782446</c:v>
                </c:pt>
              </c:numCache>
            </c:numRef>
          </c:val>
        </c:ser>
        <c:ser>
          <c:idx val="1"/>
          <c:order val="1"/>
          <c:tx>
            <c:strRef>
              <c:f>Sheet1!$C$1</c:f>
              <c:strCache>
                <c:ptCount val="1"/>
                <c:pt idx="0">
                  <c:v>Lightweight Below 150 GSM</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36.664565283567974</c:v>
                </c:pt>
                <c:pt idx="1">
                  <c:v>37.014394503412504</c:v>
                </c:pt>
                <c:pt idx="2">
                  <c:v>37.74138466157873</c:v>
                </c:pt>
              </c:numCache>
            </c:numRef>
          </c:val>
        </c:ser>
        <c:ser>
          <c:idx val="2"/>
          <c:order val="2"/>
          <c:tx>
            <c:strRef>
              <c:f>Sheet1!$D$1</c:f>
              <c:strCache>
                <c:ptCount val="1"/>
                <c:pt idx="0">
                  <c:v>Heavyweight Above 250 GSM</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14.984660623031301</c:v>
                </c:pt>
                <c:pt idx="1">
                  <c:v>17.313365917588676</c:v>
                </c:pt>
                <c:pt idx="2">
                  <c:v>19.145848013638826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0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Sports &amp; Activewear</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25.49725921815933</c:v>
                </c:pt>
                <c:pt idx="1">
                  <c:v>25.623287286086484</c:v>
                </c:pt>
                <c:pt idx="2">
                  <c:v>25.622116802907858</c:v>
                </c:pt>
              </c:numCache>
            </c:numRef>
          </c:val>
        </c:ser>
        <c:ser>
          <c:idx val="1"/>
          <c:order val="1"/>
          <c:tx>
            <c:strRef>
              <c:f>Sheet1!$C$1</c:f>
              <c:strCache>
                <c:ptCount val="1"/>
                <c:pt idx="0">
                  <c:v>Medical &amp; Healthcare</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13.940853517678528</c:v>
                </c:pt>
                <c:pt idx="1">
                  <c:v>14.340274783977804</c:v>
                </c:pt>
                <c:pt idx="2">
                  <c:v>15.124709805759839</c:v>
                </c:pt>
              </c:numCache>
            </c:numRef>
          </c:val>
        </c:ser>
        <c:ser>
          <c:idx val="2"/>
          <c:order val="2"/>
          <c:tx>
            <c:strRef>
              <c:f>Sheet1!$D$1</c:f>
              <c:strCache>
                <c:ptCount val="1"/>
                <c:pt idx="0">
                  <c:v>Protective &amp; Occupational Wear</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14.705444213917</c:v>
                </c:pt>
                <c:pt idx="1">
                  <c:v>14.575846750763807</c:v>
                </c:pt>
                <c:pt idx="2">
                  <c:v>14.787108888596077</c:v>
                </c:pt>
              </c:numCache>
            </c:numRef>
          </c:val>
        </c:ser>
        <c:ser>
          <c:idx val="3"/>
          <c:order val="3"/>
          <c:tx>
            <c:strRef>
              <c:f>Sheet1!$E$1</c:f>
              <c:strCache>
                <c:ptCount val="1"/>
                <c:pt idx="0">
                  <c:v>Footwear</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13.443108536688051</c:v>
                </c:pt>
                <c:pt idx="1">
                  <c:v>13.653502277370619</c:v>
                </c:pt>
                <c:pt idx="2">
                  <c:v>13.851444138640815</c:v>
                </c:pt>
              </c:numCache>
            </c:numRef>
          </c:val>
        </c:ser>
        <c:ser>
          <c:idx val="4"/>
          <c:order val="4"/>
          <c:tx>
            <c:strRef>
              <c:f>Sheet1!$F$1</c:f>
              <c:strCache>
                <c:ptCount val="1"/>
                <c:pt idx="0">
                  <c:v>Intimate &amp; Bodywear</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13.883425556306388</c:v>
                </c:pt>
                <c:pt idx="1">
                  <c:v>13.20447601731926</c:v>
                </c:pt>
                <c:pt idx="2">
                  <c:v>11.963264922361562</c:v>
                </c:pt>
              </c:numCache>
            </c:numRef>
          </c:val>
        </c:ser>
        <c:ser>
          <c:idx val="5"/>
          <c:order val="5"/>
          <c:tx>
            <c:strRef>
              <c:f>Sheet1!$G$1</c:f>
              <c:strCache>
                <c:ptCount val="1"/>
                <c:pt idx="0">
                  <c:v>Industrial &amp; Technical Applications</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9.643795513278597</c:v>
                </c:pt>
                <c:pt idx="1">
                  <c:v>9.780210305336357</c:v>
                </c:pt>
                <c:pt idx="2">
                  <c:v>10.077781660701305</c:v>
                </c:pt>
              </c:numCache>
            </c:numRef>
          </c:val>
        </c:ser>
        <c:ser>
          <c:idx val="6"/>
          <c:order val="6"/>
          <c:tx>
            <c:strRef>
              <c:f>Sheet1!$H$1</c:f>
              <c:strCache>
                <c:ptCount val="1"/>
                <c:pt idx="0">
                  <c:v>Automotive &amp; Transportation</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8.886113443972116</c:v>
                </c:pt>
                <c:pt idx="1">
                  <c:v>8.822402579145656</c:v>
                </c:pt>
                <c:pt idx="2">
                  <c:v>8.573573781032543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0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03E58"/>
            </a:solidFill>
            <a:ln>
              <a:noFill/>
            </a:ln>
          </c:spPr>
          <c:cat>
            <c:strRef>
              <c:f>Sheet1!$A$2:$A$4</c:f>
              <c:strCache>
                <c:ptCount val="3"/>
                <c:pt idx="0">
                  <c:v>2021–2026</c:v>
                </c:pt>
                <c:pt idx="1">
                  <c:v>2026–2036</c:v>
                </c:pt>
                <c:pt idx="2">
                  <c:v>2021–2036</c:v>
                </c:pt>
              </c:strCache>
            </c:strRef>
          </c:cat>
          <c:val>
            <c:numRef>
              <c:f>Sheet1!$B$2:$B$4</c:f>
              <c:numCache>
                <c:formatCode>General</c:formatCode>
                <c:ptCount val="3"/>
                <c:pt idx="0">
                  <c:v>6.77823537002169</c:v>
                </c:pt>
                <c:pt idx="1">
                  <c:v>7.693225415033722</c:v>
                </c:pt>
                <c:pt idx="2">
                  <c:v>7.387360855553804</c:v>
                </c:pt>
              </c:numCache>
            </c:numRef>
          </c:val>
        </c:ser>
        <c:dLbls>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155057547844514"/>
          <c:min val="0.0"/>
        </c:scaling>
        <c:delete val="0"/>
        <c:axPos val="l"/>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0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2021</c:v>
                </c:pt>
                <c:pt idx="1">
                  <c:v>2021–2026</c:v>
                </c:pt>
                <c:pt idx="2">
                  <c:v>2026</c:v>
                </c:pt>
                <c:pt idx="3">
                  <c:v>2026–2036</c:v>
                </c:pt>
                <c:pt idx="4">
                  <c:v>2036</c:v>
                </c:pt>
              </c:strCache>
            </c:strRef>
          </c:cat>
          <c:val>
            <c:numRef>
              <c:f>Sheet1!$B$2:$B$6</c:f>
              <c:numCache>
                <c:formatCode>General</c:formatCode>
                <c:ptCount val="5"/>
                <c:pt idx="0">
                  <c:v>0.0</c:v>
                </c:pt>
                <c:pt idx="1">
                  <c:v>152.26600000000002</c:v>
                </c:pt>
                <c:pt idx="2">
                  <c:v>0.0</c:v>
                </c:pt>
                <c:pt idx="3">
                  <c:v>211.35700000000003</c:v>
                </c:pt>
                <c:pt idx="4">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00A4DC"/>
              </a:solidFill>
            </c:spPr>
          </c:dPt>
          <c:dPt>
            <c:idx val="3"/>
            <c:spPr>
              <a:solidFill>
                <a:srgbClr val="2F6FB0"/>
              </a:solidFill>
            </c:spPr>
          </c:dPt>
          <c:dPt>
            <c:idx val="4"/>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Sheet1!$A$2:$A$6</c:f>
              <c:strCache>
                <c:ptCount val="5"/>
                <c:pt idx="0">
                  <c:v>2021</c:v>
                </c:pt>
                <c:pt idx="1">
                  <c:v>2021–2026</c:v>
                </c:pt>
                <c:pt idx="2">
                  <c:v>2026</c:v>
                </c:pt>
                <c:pt idx="3">
                  <c:v>2026–2036</c:v>
                </c:pt>
                <c:pt idx="4">
                  <c:v>2036</c:v>
                </c:pt>
              </c:strCache>
            </c:strRef>
          </c:cat>
          <c:val>
            <c:numRef>
              <c:f>Sheet1!$C$2:$C$6</c:f>
              <c:numCache>
                <c:formatCode>General</c:formatCode>
                <c:ptCount val="5"/>
                <c:pt idx="0">
                  <c:v>152.26600000000002</c:v>
                </c:pt>
                <c:pt idx="1">
                  <c:v>59.09100000000001</c:v>
                </c:pt>
                <c:pt idx="2">
                  <c:v>211.35700000000003</c:v>
                </c:pt>
                <c:pt idx="3">
                  <c:v>232.14999999999998</c:v>
                </c:pt>
                <c:pt idx="4">
                  <c:v>443.507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0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03E58"/>
            </a:solidFill>
            <a:ln>
              <a:noFill/>
            </a:ln>
          </c:spPr>
          <c:cat>
            <c:strRef>
              <c:f>Sheet1!$A$2:$A$4</c:f>
              <c:strCache>
                <c:ptCount val="3"/>
                <c:pt idx="0">
                  <c:v>2021–2026</c:v>
                </c:pt>
                <c:pt idx="1">
                  <c:v>2026–2036</c:v>
                </c:pt>
                <c:pt idx="2">
                  <c:v>2021–2036</c:v>
                </c:pt>
              </c:strCache>
            </c:strRef>
          </c:cat>
          <c:val>
            <c:numRef>
              <c:f>Sheet1!$B$2:$B$4</c:f>
              <c:numCache>
                <c:formatCode>General</c:formatCode>
                <c:ptCount val="3"/>
                <c:pt idx="0">
                  <c:v>7.434420028693212</c:v>
                </c:pt>
                <c:pt idx="1">
                  <c:v>9.157049867933754</c:v>
                </c:pt>
                <c:pt idx="2">
                  <c:v>8.579792582180978</c:v>
                </c:pt>
              </c:numCache>
            </c:numRef>
          </c:val>
        </c:ser>
        <c:dLbls>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2.087305825672555"/>
          <c:min val="0.0"/>
        </c:scaling>
        <c:delete val="0"/>
        <c:axPos val="l"/>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0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2021</c:v>
                </c:pt>
                <c:pt idx="1">
                  <c:v>2021–2026</c:v>
                </c:pt>
                <c:pt idx="2">
                  <c:v>2026</c:v>
                </c:pt>
                <c:pt idx="3">
                  <c:v>2026–2036</c:v>
                </c:pt>
                <c:pt idx="4">
                  <c:v>2036</c:v>
                </c:pt>
              </c:strCache>
            </c:strRef>
          </c:cat>
          <c:val>
            <c:numRef>
              <c:f>Sheet1!$B$2:$B$6</c:f>
              <c:numCache>
                <c:formatCode>General</c:formatCode>
                <c:ptCount val="5"/>
                <c:pt idx="0">
                  <c:v>0.0</c:v>
                </c:pt>
                <c:pt idx="1">
                  <c:v>363.019</c:v>
                </c:pt>
                <c:pt idx="2">
                  <c:v>0.0</c:v>
                </c:pt>
                <c:pt idx="3">
                  <c:v>519.573</c:v>
                </c:pt>
                <c:pt idx="4">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00A4DC"/>
              </a:solidFill>
            </c:spPr>
          </c:dPt>
          <c:dPt>
            <c:idx val="3"/>
            <c:spPr>
              <a:solidFill>
                <a:srgbClr val="2F6FB0"/>
              </a:solidFill>
            </c:spPr>
          </c:dPt>
          <c:dPt>
            <c:idx val="4"/>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Sheet1!$A$2:$A$6</c:f>
              <c:strCache>
                <c:ptCount val="5"/>
                <c:pt idx="0">
                  <c:v>2021</c:v>
                </c:pt>
                <c:pt idx="1">
                  <c:v>2021–2026</c:v>
                </c:pt>
                <c:pt idx="2">
                  <c:v>2026</c:v>
                </c:pt>
                <c:pt idx="3">
                  <c:v>2026–2036</c:v>
                </c:pt>
                <c:pt idx="4">
                  <c:v>2036</c:v>
                </c:pt>
              </c:strCache>
            </c:strRef>
          </c:cat>
          <c:val>
            <c:numRef>
              <c:f>Sheet1!$C$2:$C$6</c:f>
              <c:numCache>
                <c:formatCode>General</c:formatCode>
                <c:ptCount val="5"/>
                <c:pt idx="0">
                  <c:v>363.019</c:v>
                </c:pt>
                <c:pt idx="1">
                  <c:v>156.55399999999997</c:v>
                </c:pt>
                <c:pt idx="2">
                  <c:v>519.573</c:v>
                </c:pt>
                <c:pt idx="3">
                  <c:v>728.283</c:v>
                </c:pt>
                <c:pt idx="4">
                  <c:v>1247.856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0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A9D8EF"/>
            </a:solidFill>
            <a:ln>
              <a:noFill/>
            </a:ln>
          </c:spPr>
          <c:dLbls>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Sheet1!$B$2:$B$6</c:f>
              <c:numCache>
                <c:formatCode>General</c:formatCode>
                <c:ptCount val="5"/>
                <c:pt idx="0">
                  <c:v>363.019</c:v>
                </c:pt>
                <c:pt idx="1">
                  <c:v>388.302</c:v>
                </c:pt>
                <c:pt idx="2">
                  <c:v>416.113</c:v>
                </c:pt>
                <c:pt idx="3">
                  <c:v>446.64</c:v>
                </c:pt>
                <c:pt idx="4">
                  <c:v>480.408</c:v>
                </c:pt>
              </c:numCache>
            </c:numRef>
          </c:val>
        </c:ser>
        <c:gapWidth val="50"/>
        <c:axId val="-2068027336"/>
        <c:axId val="-2113994440"/>
      </c:barChart>
      <c:barChart>
        <c:barDir val="col"/>
        <c:grouping val="clustered"/>
        <c:varyColors val="0"/>
        <c:ser>
          <c:idx val="1"/>
          <c:order val="1"/>
          <c:tx>
            <c:strRef>
              <c:f>Sheet1!$C$1</c:f>
              <c:strCache>
                <c:ptCount val="1"/>
                <c:pt idx="0">
                  <c:v>Volume (Mn Sq. Yards)</c:v>
                </c:pt>
              </c:strCache>
            </c:strRef>
          </c:tx>
          <c:spPr>
            <a:solidFill>
              <a:srgbClr val="F1975A"/>
            </a:solidFill>
            <a:ln>
              <a:noFill/>
            </a:ln>
          </c:spPr>
          <c:dLbls>
            <c:numFmt formatCode="#,##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Sheet1!$C$2:$C$6</c:f>
              <c:numCache>
                <c:formatCode>General</c:formatCode>
                <c:ptCount val="5"/>
                <c:pt idx="0">
                  <c:v>152.26600000000002</c:v>
                </c:pt>
                <c:pt idx="1">
                  <c:v>162.12099999999998</c:v>
                </c:pt>
                <c:pt idx="2">
                  <c:v>172.87</c:v>
                </c:pt>
                <c:pt idx="3">
                  <c:v>184.49200000000002</c:v>
                </c:pt>
                <c:pt idx="4">
                  <c:v>197.281</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max val="567"/>
          <c:min val="0"/>
        </c:scaling>
        <c:delete val="0"/>
        <c:axPos val="l"/>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270"/>
          <c:min val="0"/>
        </c:scaling>
        <c:delete val="0"/>
        <c:axPos val="r"/>
        <c:numFmt formatCode="General"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40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A9D8EF"/>
            </a:solidFill>
            <a:ln>
              <a:noFill/>
            </a:ln>
          </c:spPr>
          <c:dLbls>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Sheet1!$B$2:$B$12</c:f>
              <c:numCache>
                <c:formatCode>General</c:formatCode>
                <c:ptCount val="11"/>
                <c:pt idx="0">
                  <c:v>519.573</c:v>
                </c:pt>
                <c:pt idx="1">
                  <c:v>563.163</c:v>
                </c:pt>
                <c:pt idx="2">
                  <c:v>611.624</c:v>
                </c:pt>
                <c:pt idx="3">
                  <c:v>665.82</c:v>
                </c:pt>
                <c:pt idx="4">
                  <c:v>727.633</c:v>
                </c:pt>
                <c:pt idx="5">
                  <c:v>796.8580000000001</c:v>
                </c:pt>
                <c:pt idx="6">
                  <c:v>873.2739999999999</c:v>
                </c:pt>
                <c:pt idx="7">
                  <c:v>956.454</c:v>
                </c:pt>
                <c:pt idx="8">
                  <c:v>1046.763</c:v>
                </c:pt>
                <c:pt idx="9">
                  <c:v>1143.76</c:v>
                </c:pt>
                <c:pt idx="10">
                  <c:v>1247.856</c:v>
                </c:pt>
              </c:numCache>
            </c:numRef>
          </c:val>
        </c:ser>
        <c:gapWidth val="50"/>
        <c:axId val="-2068027336"/>
        <c:axId val="-2113994440"/>
      </c:barChart>
      <c:barChart>
        <c:barDir val="col"/>
        <c:grouping val="clustered"/>
        <c:varyColors val="0"/>
        <c:ser>
          <c:idx val="1"/>
          <c:order val="1"/>
          <c:tx>
            <c:strRef>
              <c:f>Sheet1!$C$1</c:f>
              <c:strCache>
                <c:ptCount val="1"/>
                <c:pt idx="0">
                  <c:v>Volume (Mn Sq. Yards)</c:v>
                </c:pt>
              </c:strCache>
            </c:strRef>
          </c:tx>
          <c:spPr>
            <a:solidFill>
              <a:srgbClr val="F1975A"/>
            </a:solidFill>
            <a:ln>
              <a:noFill/>
            </a:ln>
          </c:spPr>
          <c:dLbls>
            <c:numFmt formatCode="#,##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Sheet1!$C$2:$C$12</c:f>
              <c:numCache>
                <c:formatCode>General</c:formatCode>
                <c:ptCount val="11"/>
                <c:pt idx="0">
                  <c:v>211.35700000000003</c:v>
                </c:pt>
                <c:pt idx="1">
                  <c:v>226.735</c:v>
                </c:pt>
                <c:pt idx="2">
                  <c:v>243.566</c:v>
                </c:pt>
                <c:pt idx="3">
                  <c:v>262.108</c:v>
                </c:pt>
                <c:pt idx="4">
                  <c:v>283.09299999999996</c:v>
                </c:pt>
                <c:pt idx="5">
                  <c:v>306.16200000000003</c:v>
                </c:pt>
                <c:pt idx="6">
                  <c:v>330.934</c:v>
                </c:pt>
                <c:pt idx="7">
                  <c:v>357.169</c:v>
                </c:pt>
                <c:pt idx="8">
                  <c:v>384.837</c:v>
                </c:pt>
                <c:pt idx="9">
                  <c:v>413.601</c:v>
                </c:pt>
                <c:pt idx="10">
                  <c:v>443.507</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max val="1472"/>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681"/>
          <c:min val="0"/>
        </c:scaling>
        <c:delete val="0"/>
        <c:axPos val="r"/>
        <c:numFmt formatCode="General"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40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Index</c:v>
                </c:pt>
              </c:strCache>
            </c:strRef>
          </c:tx>
          <c:spPr>
            <a:solidFill>
              <a:srgbClr val="00A4DC"/>
            </a:solidFill>
            <a:ln>
              <a:noFill/>
            </a:ln>
          </c:spPr>
          <c:cat>
            <c:strRef>
              <c:f>Sheet1!$A$2:$A$2</c:f>
              <c:strCache>
                <c:ptCount val="1"/>
                <c:pt idx="0">
                  <c:v>India</c:v>
                </c:pt>
              </c:strCache>
            </c:strRef>
          </c:cat>
          <c:val>
            <c:numRef>
              <c:f>Sheet1!$B$2:$B$2</c:f>
              <c:numCache>
                <c:formatCode>General</c:formatCode>
                <c:ptCount val="1"/>
                <c:pt idx="0">
                  <c:v>106.94530772532352</c:v>
                </c:pt>
              </c:numCache>
            </c:numRef>
          </c:val>
        </c:ser>
        <c:dLbls>
          <c:numFmt formatCode="#,##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Index</c:v>
                </c:pt>
              </c:strCache>
            </c:strRef>
          </c:tx>
          <c:spPr>
            <a:solidFill>
              <a:srgbClr val="00A4DC"/>
            </a:solidFill>
            <a:ln>
              <a:noFill/>
            </a:ln>
          </c:spPr>
          <c:cat>
            <c:strRef>
              <c:f>Sheet1!$A$2:$A$2</c:f>
              <c:strCache>
                <c:ptCount val="1"/>
                <c:pt idx="0">
                  <c:v>India</c:v>
                </c:pt>
              </c:strCache>
            </c:strRef>
          </c:cat>
          <c:val>
            <c:numRef>
              <c:f>Sheet1!$B$2:$B$2</c:f>
              <c:numCache>
                <c:formatCode>General</c:formatCode>
                <c:ptCount val="1"/>
                <c:pt idx="0">
                  <c:v>43.98235301386961</c:v>
                </c:pt>
              </c:numCache>
            </c:numRef>
          </c:val>
        </c:ser>
        <c:dLbls>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00A4DC"/>
              </a:solidFill>
            </c:spPr>
          </c:dPt>
          <c:dPt>
            <c:idx val="1"/>
            <c:spPr>
              <a:solidFill>
                <a:srgbClr val="6ECFF2"/>
              </a:solidFill>
            </c:spPr>
          </c:dPt>
          <c:dLbls>
            <c:dLbl>
              <c:idx val="0"/>
              <c:tx>
                <c:rich>
                  <a:bodyPr/>
                  <a:lstStyle/>
                  <a:p>
                    <a:pPr>
                      <a:defRPr sz="1100" b="1">
                        <a:solidFill>
                          <a:srgbClr val="FFFFFF"/>
                        </a:solidFill>
                        <a:latin typeface="Segoe UI"/>
                      </a:defRPr>
                    </a:pPr>
                    <a:r>
                      <a:t>25.9%</a:t>
                    </a:r>
                  </a:p>
                </c:rich>
              </c:tx>
              <c:showLegendKey val="0"/>
              <c:showVal val="1"/>
              <c:showCatName val="0"/>
              <c:showSerName val="0"/>
              <c:showPercent val="0"/>
              <c:showBubbleSize val="0"/>
            </c:dLbl>
            <c:dLbl>
              <c:idx val="1"/>
              <c:tx>
                <c:rich>
                  <a:bodyPr/>
                  <a:lstStyle/>
                  <a:p>
                    <a:pPr>
                      <a:defRPr sz="1100" b="1">
                        <a:solidFill>
                          <a:srgbClr val="252423"/>
                        </a:solidFill>
                        <a:latin typeface="Segoe UI"/>
                      </a:defRPr>
                    </a:pPr>
                    <a:r>
                      <a:t>74.1%</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Warp Knitted Fabrics</c:v>
                </c:pt>
                <c:pt idx="1">
                  <c:v>Weft Knitted Fabrics</c:v>
                </c:pt>
              </c:strCache>
            </c:strRef>
          </c:cat>
          <c:val>
            <c:numRef>
              <c:f>Sheet1!$B$2:$B$3</c:f>
              <c:numCache>
                <c:formatCode>General</c:formatCode>
                <c:ptCount val="2"/>
                <c:pt idx="0">
                  <c:v>323.015</c:v>
                </c:pt>
                <c:pt idx="1">
                  <c:v>924.841</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externalData r:id="rId1">
    <c:autoUpdate val="0"/>
  </c:externalData>
</c:chartSpace>
</file>

<file path=ppt/charts/chart4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India</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Sheet1!$B$2:$B$3</c:f>
              <c:numCache>
                <c:formatCode>General</c:formatCode>
                <c:ptCount val="2"/>
                <c:pt idx="0">
                  <c:v>42.85241154817892</c:v>
                </c:pt>
                <c:pt idx="1">
                  <c:v>43.83751290850631</c:v>
                </c:pt>
              </c:numCache>
            </c:numRef>
          </c:val>
        </c:ser>
        <c:ser>
          <c:idx val="1"/>
          <c:order val="1"/>
          <c:tx>
            <c:strRef>
              <c:f>Sheet1!$C$1</c:f>
              <c:strCache>
                <c:ptCount val="1"/>
                <c:pt idx="0">
                  <c:v>ASEAN</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Sheet1!$C$2:$C$3</c:f>
              <c:numCache>
                <c:formatCode>General</c:formatCode>
                <c:ptCount val="2"/>
                <c:pt idx="0">
                  <c:v>40.1617161403874</c:v>
                </c:pt>
                <c:pt idx="1">
                  <c:v>40.437333429536466</c:v>
                </c:pt>
              </c:numCache>
            </c:numRef>
          </c:val>
        </c:ser>
        <c:ser>
          <c:idx val="2"/>
          <c:order val="2"/>
          <c:tx>
            <c:strRef>
              <c:f>Sheet1!$D$1</c:f>
              <c:strCache>
                <c:ptCount val="1"/>
                <c:pt idx="0">
                  <c:v>ANZ</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Sheet1!$D$2:$D$3</c:f>
              <c:numCache>
                <c:formatCode>General</c:formatCode>
                <c:ptCount val="2"/>
                <c:pt idx="0">
                  <c:v>10.201175257146641</c:v>
                </c:pt>
                <c:pt idx="1">
                  <c:v>9.15928984049821</c:v>
                </c:pt>
              </c:numCache>
            </c:numRef>
          </c:val>
        </c:ser>
        <c:ser>
          <c:idx val="3"/>
          <c:order val="3"/>
          <c:tx>
            <c:strRef>
              <c:f>Sheet1!$E$1</c:f>
              <c:strCache>
                <c:ptCount val="1"/>
                <c:pt idx="0">
                  <c:v>Rest of South Asia Pacific</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Sheet1!$E$2:$E$3</c:f>
              <c:numCache>
                <c:formatCode>General</c:formatCode>
                <c:ptCount val="2"/>
                <c:pt idx="0">
                  <c:v>6.784697054287039</c:v>
                </c:pt>
                <c:pt idx="1">
                  <c:v>6.56586382145901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India</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Sheet1!$B$2:$B$3</c:f>
              <c:numCache>
                <c:formatCode>General</c:formatCode>
                <c:ptCount val="2"/>
                <c:pt idx="0">
                  <c:v>39.89352795468587</c:v>
                </c:pt>
                <c:pt idx="1">
                  <c:v>42.28003872241669</c:v>
                </c:pt>
              </c:numCache>
            </c:numRef>
          </c:val>
        </c:ser>
        <c:ser>
          <c:idx val="1"/>
          <c:order val="1"/>
          <c:tx>
            <c:strRef>
              <c:f>Sheet1!$C$1</c:f>
              <c:strCache>
                <c:ptCount val="1"/>
                <c:pt idx="0">
                  <c:v>ASEAN</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Sheet1!$C$2:$C$3</c:f>
              <c:numCache>
                <c:formatCode>General</c:formatCode>
                <c:ptCount val="2"/>
                <c:pt idx="0">
                  <c:v>39.38907525987686</c:v>
                </c:pt>
                <c:pt idx="1">
                  <c:v>39.219509302355405</c:v>
                </c:pt>
              </c:numCache>
            </c:numRef>
          </c:val>
        </c:ser>
        <c:ser>
          <c:idx val="2"/>
          <c:order val="2"/>
          <c:tx>
            <c:strRef>
              <c:f>Sheet1!$D$1</c:f>
              <c:strCache>
                <c:ptCount val="1"/>
                <c:pt idx="0">
                  <c:v>ANZ</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Sheet1!$D$2:$D$3</c:f>
              <c:numCache>
                <c:formatCode>General</c:formatCode>
                <c:ptCount val="2"/>
                <c:pt idx="0">
                  <c:v>14.494209668323798</c:v>
                </c:pt>
                <c:pt idx="1">
                  <c:v>12.667407136720904</c:v>
                </c:pt>
              </c:numCache>
            </c:numRef>
          </c:val>
        </c:ser>
        <c:ser>
          <c:idx val="3"/>
          <c:order val="3"/>
          <c:tx>
            <c:strRef>
              <c:f>Sheet1!$E$1</c:f>
              <c:strCache>
                <c:ptCount val="1"/>
                <c:pt idx="0">
                  <c:v>Rest of South Asia Pacific</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Sheet1!$E$2:$E$3</c:f>
              <c:numCache>
                <c:formatCode>General</c:formatCode>
                <c:ptCount val="2"/>
                <c:pt idx="0">
                  <c:v>6.2231871171134765</c:v>
                </c:pt>
                <c:pt idx="1">
                  <c:v>5.833044838507007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ASEAN</c:v>
                </c:pt>
              </c:strCache>
            </c:strRef>
          </c:tx>
          <c:spPr>
            <a:solidFill>
              <a:srgbClr val="00A4DC"/>
            </a:solidFill>
            <a:ln>
              <a:noFill/>
            </a:ln>
          </c:spPr>
          <c:dLbls>
            <c:dLbl>
              <c:idx val="0"/>
              <c:tx>
                <c:rich>
                  <a:bodyPr/>
                  <a:lstStyle/>
                  <a:p>
                    <a:r>
                      <a:rPr sz="1100">
                        <a:solidFill>
                          <a:srgbClr val="FFFFFF"/>
                        </a:solidFill>
                        <a:latin typeface="Segoe UI"/>
                      </a:rPr>
                      <a:t>62.8</a:t>
                    </a:r>
                  </a:p>
                </c:rich>
              </c:tx>
              <c:dLblPos val="ctr"/>
              <c:showLegendKey val="0"/>
              <c:showVal val="1"/>
              <c:showCatName val="0"/>
              <c:showSerName val="0"/>
              <c:showPercent val="0"/>
              <c:showBubbleSize val="0"/>
            </c:dLbl>
            <c:dLbl>
              <c:idx val="1"/>
              <c:tx>
                <c:rich>
                  <a:bodyPr/>
                  <a:lstStyle/>
                  <a:p>
                    <a:r>
                      <a:rPr sz="1100">
                        <a:solidFill>
                          <a:srgbClr val="FFFFFF"/>
                        </a:solidFill>
                        <a:latin typeface="Segoe UI"/>
                      </a:rPr>
                      <a:t>66.1</a:t>
                    </a:r>
                  </a:p>
                </c:rich>
              </c:tx>
              <c:dLblPos val="ctr"/>
              <c:showLegendKey val="0"/>
              <c:showVal val="1"/>
              <c:showCatName val="0"/>
              <c:showSerName val="0"/>
              <c:showPercent val="0"/>
              <c:showBubbleSize val="0"/>
            </c:dLbl>
            <c:dLbl>
              <c:idx val="2"/>
              <c:tx>
                <c:rich>
                  <a:bodyPr/>
                  <a:lstStyle/>
                  <a:p>
                    <a:r>
                      <a:rPr sz="1100">
                        <a:solidFill>
                          <a:srgbClr val="FFFFFF"/>
                        </a:solidFill>
                        <a:latin typeface="Segoe UI"/>
                      </a:rPr>
                      <a:t>70.0</a:t>
                    </a:r>
                  </a:p>
                </c:rich>
              </c:tx>
              <c:dLblPos val="ctr"/>
              <c:showLegendKey val="0"/>
              <c:showVal val="1"/>
              <c:showCatName val="0"/>
              <c:showSerName val="0"/>
              <c:showPercent val="0"/>
              <c:showBubbleSize val="0"/>
            </c:dLbl>
            <c:dLbl>
              <c:idx val="3"/>
              <c:tx>
                <c:rich>
                  <a:bodyPr/>
                  <a:lstStyle/>
                  <a:p>
                    <a:r>
                      <a:rPr sz="1100">
                        <a:solidFill>
                          <a:srgbClr val="FFFFFF"/>
                        </a:solidFill>
                        <a:latin typeface="Segoe UI"/>
                      </a:rPr>
                      <a:t>74.3</a:t>
                    </a:r>
                  </a:p>
                </c:rich>
              </c:tx>
              <c:dLblPos val="ctr"/>
              <c:showLegendKey val="0"/>
              <c:showVal val="1"/>
              <c:showCatName val="0"/>
              <c:showSerName val="0"/>
              <c:showPercent val="0"/>
              <c:showBubbleSize val="0"/>
            </c:dLbl>
            <c:dLbl>
              <c:idx val="4"/>
              <c:tx>
                <c:rich>
                  <a:bodyPr/>
                  <a:lstStyle/>
                  <a:p>
                    <a:r>
                      <a:rPr sz="1100">
                        <a:solidFill>
                          <a:srgbClr val="FFFFFF"/>
                        </a:solidFill>
                        <a:latin typeface="Segoe UI"/>
                      </a:rPr>
                      <a:t>79.3</a:t>
                    </a:r>
                  </a:p>
                </c:rich>
              </c:tx>
              <c:dLblPos val="ctr"/>
              <c:showLegendKey val="0"/>
              <c:showVal val="1"/>
              <c:showCatName val="0"/>
              <c:showSerName val="0"/>
              <c:showPercent val="0"/>
              <c:showBubbleSize val="0"/>
            </c:dLbl>
            <c:dLbl>
              <c:idx val="5"/>
              <c:tx>
                <c:rich>
                  <a:bodyPr/>
                  <a:lstStyle/>
                  <a:p>
                    <a:r>
                      <a:rPr sz="1100">
                        <a:solidFill>
                          <a:srgbClr val="FFFFFF"/>
                        </a:solidFill>
                        <a:latin typeface="Segoe UI"/>
                      </a:rPr>
                      <a:t>84.9</a:t>
                    </a:r>
                  </a:p>
                </c:rich>
              </c:tx>
              <c:dLblPos val="ctr"/>
              <c:showLegendKey val="0"/>
              <c:showVal val="1"/>
              <c:showCatName val="0"/>
              <c:showSerName val="0"/>
              <c:showPercent val="0"/>
              <c:showBubbleSize val="0"/>
            </c:dLbl>
            <c:dLbl>
              <c:idx val="6"/>
              <c:tx>
                <c:rich>
                  <a:bodyPr/>
                  <a:lstStyle/>
                  <a:p>
                    <a:r>
                      <a:rPr sz="1100">
                        <a:solidFill>
                          <a:srgbClr val="FFFFFF"/>
                        </a:solidFill>
                        <a:latin typeface="Segoe UI"/>
                      </a:rPr>
                      <a:t>91.1</a:t>
                    </a:r>
                  </a:p>
                </c:rich>
              </c:tx>
              <c:dLblPos val="ctr"/>
              <c:showLegendKey val="0"/>
              <c:showVal val="1"/>
              <c:showCatName val="0"/>
              <c:showSerName val="0"/>
              <c:showPercent val="0"/>
              <c:showBubbleSize val="0"/>
            </c:dLbl>
            <c:dLbl>
              <c:idx val="7"/>
              <c:tx>
                <c:rich>
                  <a:bodyPr/>
                  <a:lstStyle/>
                  <a:p>
                    <a:r>
                      <a:rPr sz="1100">
                        <a:solidFill>
                          <a:srgbClr val="FFFFFF"/>
                        </a:solidFill>
                        <a:latin typeface="Segoe UI"/>
                      </a:rPr>
                      <a:t>98.0</a:t>
                    </a:r>
                  </a:p>
                </c:rich>
              </c:tx>
              <c:dLblPos val="ctr"/>
              <c:showLegendKey val="0"/>
              <c:showVal val="1"/>
              <c:showCatName val="0"/>
              <c:showSerName val="0"/>
              <c:showPercent val="0"/>
              <c:showBubbleSize val="0"/>
            </c:dLbl>
            <c:dLbl>
              <c:idx val="8"/>
              <c:tx>
                <c:rich>
                  <a:bodyPr/>
                  <a:lstStyle/>
                  <a:p>
                    <a:r>
                      <a:rPr sz="1100">
                        <a:solidFill>
                          <a:srgbClr val="FFFFFF"/>
                        </a:solidFill>
                        <a:latin typeface="Segoe UI"/>
                      </a:rPr>
                      <a:t>106</a:t>
                    </a:r>
                  </a:p>
                </c:rich>
              </c:tx>
              <c:dLblPos val="ctr"/>
              <c:showLegendKey val="0"/>
              <c:showVal val="1"/>
              <c:showCatName val="0"/>
              <c:showSerName val="0"/>
              <c:showPercent val="0"/>
              <c:showBubbleSize val="0"/>
            </c:dLbl>
            <c:dLbl>
              <c:idx val="9"/>
              <c:tx>
                <c:rich>
                  <a:bodyPr/>
                  <a:lstStyle/>
                  <a:p>
                    <a:r>
                      <a:rPr sz="1100">
                        <a:solidFill>
                          <a:srgbClr val="FFFFFF"/>
                        </a:solidFill>
                        <a:latin typeface="Segoe UI"/>
                      </a:rPr>
                      <a:t>114</a:t>
                    </a:r>
                  </a:p>
                </c:rich>
              </c:tx>
              <c:dLblPos val="ctr"/>
              <c:showLegendKey val="0"/>
              <c:showVal val="1"/>
              <c:showCatName val="0"/>
              <c:showSerName val="0"/>
              <c:showPercent val="0"/>
              <c:showBubbleSize val="0"/>
            </c:dLbl>
            <c:dLbl>
              <c:idx val="10"/>
              <c:tx>
                <c:rich>
                  <a:bodyPr/>
                  <a:lstStyle/>
                  <a:p>
                    <a:r>
                      <a:rPr sz="1100">
                        <a:solidFill>
                          <a:srgbClr val="FFFFFF"/>
                        </a:solidFill>
                        <a:latin typeface="Segoe UI"/>
                      </a:rPr>
                      <a:t>124</a:t>
                    </a:r>
                  </a:p>
                </c:rich>
              </c:tx>
              <c:dLblPos val="ctr"/>
              <c:showLegendKey val="0"/>
              <c:showVal val="1"/>
              <c:showCatName val="0"/>
              <c:showSerName val="0"/>
              <c:showPercent val="0"/>
              <c:showBubbleSize val="0"/>
            </c:dLbl>
            <c:dLbl>
              <c:idx val="11"/>
              <c:tx>
                <c:rich>
                  <a:bodyPr/>
                  <a:lstStyle/>
                  <a:p>
                    <a:r>
                      <a:rPr sz="1100">
                        <a:solidFill>
                          <a:srgbClr val="FFFFFF"/>
                        </a:solidFill>
                        <a:latin typeface="Segoe UI"/>
                      </a:rPr>
                      <a:t>134</a:t>
                    </a:r>
                  </a:p>
                </c:rich>
              </c:tx>
              <c:dLblPos val="ctr"/>
              <c:showLegendKey val="0"/>
              <c:showVal val="1"/>
              <c:showCatName val="0"/>
              <c:showSerName val="0"/>
              <c:showPercent val="0"/>
              <c:showBubbleSize val="0"/>
            </c:dLbl>
            <c:dLbl>
              <c:idx val="12"/>
              <c:tx>
                <c:rich>
                  <a:bodyPr/>
                  <a:lstStyle/>
                  <a:p>
                    <a:r>
                      <a:rPr sz="1100">
                        <a:solidFill>
                          <a:srgbClr val="FFFFFF"/>
                        </a:solidFill>
                        <a:latin typeface="Segoe UI"/>
                      </a:rPr>
                      <a:t>144</a:t>
                    </a:r>
                  </a:p>
                </c:rich>
              </c:tx>
              <c:dLblPos val="ctr"/>
              <c:showLegendKey val="0"/>
              <c:showVal val="1"/>
              <c:showCatName val="0"/>
              <c:showSerName val="0"/>
              <c:showPercent val="0"/>
              <c:showBubbleSize val="0"/>
            </c:dLbl>
            <c:dLbl>
              <c:idx val="13"/>
              <c:tx>
                <c:rich>
                  <a:bodyPr/>
                  <a:lstStyle/>
                  <a:p>
                    <a:r>
                      <a:rPr sz="1100">
                        <a:solidFill>
                          <a:srgbClr val="FFFFFF"/>
                        </a:solidFill>
                        <a:latin typeface="Segoe UI"/>
                      </a:rPr>
                      <a:t>156</a:t>
                    </a:r>
                  </a:p>
                </c:rich>
              </c:tx>
              <c:dLblPos val="ctr"/>
              <c:showLegendKey val="0"/>
              <c:showVal val="1"/>
              <c:showCatName val="0"/>
              <c:showSerName val="0"/>
              <c:showPercent val="0"/>
              <c:showBubbleSize val="0"/>
            </c:dLbl>
            <c:dLbl>
              <c:idx val="14"/>
              <c:tx>
                <c:rich>
                  <a:bodyPr/>
                  <a:lstStyle/>
                  <a:p>
                    <a:r>
                      <a:rPr sz="1100">
                        <a:solidFill>
                          <a:srgbClr val="FFFFFF"/>
                        </a:solidFill>
                        <a:latin typeface="Segoe UI"/>
                      </a:rPr>
                      <a:t>167</a:t>
                    </a:r>
                  </a:p>
                </c:rich>
              </c:tx>
              <c:dLblPos val="ctr"/>
              <c:showLegendKey val="0"/>
              <c:showVal val="1"/>
              <c:showCatName val="0"/>
              <c:showSerName val="0"/>
              <c:showPercent val="0"/>
              <c:showBubbleSize val="0"/>
            </c:dLbl>
            <c:dLbl>
              <c:idx val="15"/>
              <c:tx>
                <c:rich>
                  <a:bodyPr/>
                  <a:lstStyle/>
                  <a:p>
                    <a:r>
                      <a:rPr sz="1100">
                        <a:solidFill>
                          <a:srgbClr val="FFFFFF"/>
                        </a:solidFill>
                        <a:latin typeface="Segoe UI"/>
                      </a:rPr>
                      <a:t>179</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62.765</c:v>
                </c:pt>
                <c:pt idx="1">
                  <c:v>66.133</c:v>
                </c:pt>
                <c:pt idx="2">
                  <c:v>69.979</c:v>
                </c:pt>
                <c:pt idx="3">
                  <c:v>74.346</c:v>
                </c:pt>
                <c:pt idx="4">
                  <c:v>79.306</c:v>
                </c:pt>
                <c:pt idx="5">
                  <c:v>84.885</c:v>
                </c:pt>
                <c:pt idx="6">
                  <c:v>91.082</c:v>
                </c:pt>
                <c:pt idx="7">
                  <c:v>98.027</c:v>
                </c:pt>
                <c:pt idx="8">
                  <c:v>105.789</c:v>
                </c:pt>
                <c:pt idx="9">
                  <c:v>114.45</c:v>
                </c:pt>
                <c:pt idx="10">
                  <c:v>123.911</c:v>
                </c:pt>
                <c:pt idx="11">
                  <c:v>133.932</c:v>
                </c:pt>
                <c:pt idx="12">
                  <c:v>144.485</c:v>
                </c:pt>
                <c:pt idx="13">
                  <c:v>155.612</c:v>
                </c:pt>
                <c:pt idx="14">
                  <c:v>167.218</c:v>
                </c:pt>
                <c:pt idx="15">
                  <c:v>179.342</c:v>
                </c:pt>
              </c:numCache>
            </c:numRef>
          </c:val>
        </c:ser>
        <c:ser>
          <c:idx val="1"/>
          <c:order val="1"/>
          <c:tx>
            <c:strRef>
              <c:f>Sheet1!$C$1</c:f>
              <c:strCache>
                <c:ptCount val="1"/>
                <c:pt idx="0">
                  <c:v>India</c:v>
                </c:pt>
              </c:strCache>
            </c:strRef>
          </c:tx>
          <c:spPr>
            <a:solidFill>
              <a:srgbClr val="6ECFF2"/>
            </a:solidFill>
            <a:ln>
              <a:noFill/>
            </a:ln>
          </c:spPr>
          <c:dLbls>
            <c:dLbl>
              <c:idx val="0"/>
              <c:tx>
                <c:rich>
                  <a:bodyPr/>
                  <a:lstStyle/>
                  <a:p>
                    <a:r>
                      <a:rPr sz="1100">
                        <a:solidFill>
                          <a:srgbClr val="252423"/>
                        </a:solidFill>
                        <a:latin typeface="Segoe UI"/>
                      </a:rPr>
                      <a:t>62.6</a:t>
                    </a:r>
                  </a:p>
                </c:rich>
              </c:tx>
              <c:dLblPos val="ctr"/>
              <c:showLegendKey val="0"/>
              <c:showVal val="1"/>
              <c:showCatName val="0"/>
              <c:showSerName val="0"/>
              <c:showPercent val="0"/>
              <c:showBubbleSize val="0"/>
            </c:dLbl>
            <c:dLbl>
              <c:idx val="1"/>
              <c:tx>
                <c:rich>
                  <a:bodyPr/>
                  <a:lstStyle/>
                  <a:p>
                    <a:r>
                      <a:rPr sz="1100">
                        <a:solidFill>
                          <a:srgbClr val="252423"/>
                        </a:solidFill>
                        <a:latin typeface="Segoe UI"/>
                      </a:rPr>
                      <a:t>67.6</a:t>
                    </a:r>
                  </a:p>
                </c:rich>
              </c:tx>
              <c:dLblPos val="ctr"/>
              <c:showLegendKey val="0"/>
              <c:showVal val="1"/>
              <c:showCatName val="0"/>
              <c:showSerName val="0"/>
              <c:showPercent val="0"/>
              <c:showBubbleSize val="0"/>
            </c:dLbl>
            <c:dLbl>
              <c:idx val="2"/>
              <c:tx>
                <c:rich>
                  <a:bodyPr/>
                  <a:lstStyle/>
                  <a:p>
                    <a:r>
                      <a:rPr sz="1100">
                        <a:solidFill>
                          <a:srgbClr val="252423"/>
                        </a:solidFill>
                        <a:latin typeface="Segoe UI"/>
                      </a:rPr>
                      <a:t>72.9</a:t>
                    </a:r>
                  </a:p>
                </c:rich>
              </c:tx>
              <c:dLblPos val="ctr"/>
              <c:showLegendKey val="0"/>
              <c:showVal val="1"/>
              <c:showCatName val="0"/>
              <c:showSerName val="0"/>
              <c:showPercent val="0"/>
              <c:showBubbleSize val="0"/>
            </c:dLbl>
            <c:dLbl>
              <c:idx val="3"/>
              <c:tx>
                <c:rich>
                  <a:bodyPr/>
                  <a:lstStyle/>
                  <a:p>
                    <a:r>
                      <a:rPr sz="1100">
                        <a:solidFill>
                          <a:srgbClr val="252423"/>
                        </a:solidFill>
                        <a:latin typeface="Segoe UI"/>
                      </a:rPr>
                      <a:t>78.4</a:t>
                    </a:r>
                  </a:p>
                </c:rich>
              </c:tx>
              <c:dLblPos val="ctr"/>
              <c:showLegendKey val="0"/>
              <c:showVal val="1"/>
              <c:showCatName val="0"/>
              <c:showSerName val="0"/>
              <c:showPercent val="0"/>
              <c:showBubbleSize val="0"/>
            </c:dLbl>
            <c:dLbl>
              <c:idx val="4"/>
              <c:tx>
                <c:rich>
                  <a:bodyPr/>
                  <a:lstStyle/>
                  <a:p>
                    <a:r>
                      <a:rPr sz="1100">
                        <a:solidFill>
                          <a:srgbClr val="252423"/>
                        </a:solidFill>
                        <a:latin typeface="Segoe UI"/>
                      </a:rPr>
                      <a:t>84.2</a:t>
                    </a:r>
                  </a:p>
                </c:rich>
              </c:tx>
              <c:dLblPos val="ctr"/>
              <c:showLegendKey val="0"/>
              <c:showVal val="1"/>
              <c:showCatName val="0"/>
              <c:showSerName val="0"/>
              <c:showPercent val="0"/>
              <c:showBubbleSize val="0"/>
            </c:dLbl>
            <c:dLbl>
              <c:idx val="5"/>
              <c:tx>
                <c:rich>
                  <a:bodyPr/>
                  <a:lstStyle/>
                  <a:p>
                    <a:r>
                      <a:rPr sz="1100">
                        <a:solidFill>
                          <a:srgbClr val="252423"/>
                        </a:solidFill>
                        <a:latin typeface="Segoe UI"/>
                      </a:rPr>
                      <a:t>90.6</a:t>
                    </a:r>
                  </a:p>
                </c:rich>
              </c:tx>
              <c:dLblPos val="ctr"/>
              <c:showLegendKey val="0"/>
              <c:showVal val="1"/>
              <c:showCatName val="0"/>
              <c:showSerName val="0"/>
              <c:showPercent val="0"/>
              <c:showBubbleSize val="0"/>
            </c:dLbl>
            <c:dLbl>
              <c:idx val="6"/>
              <c:tx>
                <c:rich>
                  <a:bodyPr/>
                  <a:lstStyle/>
                  <a:p>
                    <a:r>
                      <a:rPr sz="1100">
                        <a:solidFill>
                          <a:srgbClr val="252423"/>
                        </a:solidFill>
                        <a:latin typeface="Segoe UI"/>
                      </a:rPr>
                      <a:t>97.4</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105</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113</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122</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132</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143</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155</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168</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181</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194</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0">
                  <c:v>62.597</c:v>
                </c:pt>
                <c:pt idx="1">
                  <c:v>67.606</c:v>
                </c:pt>
                <c:pt idx="2">
                  <c:v>72.895</c:v>
                </c:pt>
                <c:pt idx="3">
                  <c:v>78.376</c:v>
                </c:pt>
                <c:pt idx="4">
                  <c:v>84.238</c:v>
                </c:pt>
                <c:pt idx="5">
                  <c:v>90.572</c:v>
                </c:pt>
                <c:pt idx="6">
                  <c:v>97.397</c:v>
                </c:pt>
                <c:pt idx="7">
                  <c:v>104.708</c:v>
                </c:pt>
                <c:pt idx="8">
                  <c:v>112.658</c:v>
                </c:pt>
                <c:pt idx="9">
                  <c:v>121.852</c:v>
                </c:pt>
                <c:pt idx="10">
                  <c:v>132.059</c:v>
                </c:pt>
                <c:pt idx="11">
                  <c:v>143.213</c:v>
                </c:pt>
                <c:pt idx="12">
                  <c:v>155.125</c:v>
                </c:pt>
                <c:pt idx="13">
                  <c:v>167.73</c:v>
                </c:pt>
                <c:pt idx="14">
                  <c:v>180.823</c:v>
                </c:pt>
                <c:pt idx="15">
                  <c:v>194.422</c:v>
                </c:pt>
              </c:numCache>
            </c:numRef>
          </c:val>
        </c:ser>
        <c:ser>
          <c:idx val="2"/>
          <c:order val="2"/>
          <c:tx>
            <c:strRef>
              <c:f>Sheet1!$D$1</c:f>
              <c:strCache>
                <c:ptCount val="1"/>
                <c:pt idx="0">
                  <c:v>ANZ</c:v>
                </c:pt>
              </c:strCache>
            </c:strRef>
          </c:tx>
          <c:spPr>
            <a:solidFill>
              <a:srgbClr val="D6CAC4"/>
            </a:solidFill>
            <a:ln>
              <a:noFill/>
            </a:ln>
          </c:spPr>
          <c:dLbls>
            <c:dLbl>
              <c:idx val="9"/>
              <c:tx>
                <c:rich>
                  <a:bodyPr/>
                  <a:lstStyle/>
                  <a:p>
                    <a:r>
                      <a:rPr sz="1100">
                        <a:solidFill>
                          <a:srgbClr val="252423"/>
                        </a:solidFill>
                        <a:latin typeface="Segoe UI"/>
                      </a:rPr>
                      <a:t>28.0</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29.9</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31.9</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34.0</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36.1</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38.3</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40.6</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Sheet1!$D$2:$D$17</c:f>
              <c:numCache>
                <c:formatCode>General</c:formatCode>
                <c:ptCount val="16"/>
                <c:pt idx="0">
                  <c:v>16.643</c:v>
                </c:pt>
                <c:pt idx="1">
                  <c:v>17.419</c:v>
                </c:pt>
                <c:pt idx="2">
                  <c:v>18.274</c:v>
                </c:pt>
                <c:pt idx="3">
                  <c:v>19.228</c:v>
                </c:pt>
                <c:pt idx="4">
                  <c:v>20.32</c:v>
                </c:pt>
                <c:pt idx="5">
                  <c:v>21.561</c:v>
                </c:pt>
                <c:pt idx="6">
                  <c:v>22.953</c:v>
                </c:pt>
                <c:pt idx="7">
                  <c:v>24.487</c:v>
                </c:pt>
                <c:pt idx="8">
                  <c:v>26.157</c:v>
                </c:pt>
                <c:pt idx="9">
                  <c:v>27.961</c:v>
                </c:pt>
                <c:pt idx="10">
                  <c:v>29.877</c:v>
                </c:pt>
                <c:pt idx="11">
                  <c:v>31.871</c:v>
                </c:pt>
                <c:pt idx="12">
                  <c:v>33.95</c:v>
                </c:pt>
                <c:pt idx="13">
                  <c:v>36.112</c:v>
                </c:pt>
                <c:pt idx="14">
                  <c:v>38.337</c:v>
                </c:pt>
                <c:pt idx="15">
                  <c:v>40.622</c:v>
                </c:pt>
              </c:numCache>
            </c:numRef>
          </c:val>
        </c:ser>
        <c:ser>
          <c:idx val="3"/>
          <c:order val="3"/>
          <c:tx>
            <c:strRef>
              <c:f>Sheet1!$E$1</c:f>
              <c:strCache>
                <c:ptCount val="1"/>
                <c:pt idx="0">
                  <c:v>Rest of South Asia Pacific</c:v>
                </c:pt>
              </c:strCache>
            </c:strRef>
          </c:tx>
          <c:spPr>
            <a:solidFill>
              <a:srgbClr val="EBC46B"/>
            </a:solidFill>
            <a:ln>
              <a:noFill/>
            </a:ln>
          </c:spPr>
          <c:dLbls>
            <c:dLbl>
              <c:idx val="14"/>
              <c:tx>
                <c:rich>
                  <a:bodyPr/>
                  <a:lstStyle/>
                  <a:p>
                    <a:r>
                      <a:rPr sz="1100">
                        <a:solidFill>
                          <a:srgbClr val="252423"/>
                        </a:solidFill>
                        <a:latin typeface="Segoe UI"/>
                      </a:rPr>
                      <a:t>27.2</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29.1</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Sheet1!$E$2:$E$17</c:f>
              <c:numCache>
                <c:formatCode>General</c:formatCode>
                <c:ptCount val="16"/>
                <c:pt idx="0">
                  <c:v>10.261</c:v>
                </c:pt>
                <c:pt idx="1">
                  <c:v>10.962</c:v>
                </c:pt>
                <c:pt idx="2">
                  <c:v>11.722</c:v>
                </c:pt>
                <c:pt idx="3">
                  <c:v>12.543</c:v>
                </c:pt>
                <c:pt idx="4">
                  <c:v>13.415</c:v>
                </c:pt>
                <c:pt idx="5">
                  <c:v>14.34</c:v>
                </c:pt>
                <c:pt idx="6">
                  <c:v>15.303</c:v>
                </c:pt>
                <c:pt idx="7">
                  <c:v>16.344</c:v>
                </c:pt>
                <c:pt idx="8">
                  <c:v>17.504</c:v>
                </c:pt>
                <c:pt idx="9">
                  <c:v>18.832</c:v>
                </c:pt>
                <c:pt idx="10">
                  <c:v>20.314</c:v>
                </c:pt>
                <c:pt idx="11">
                  <c:v>21.918</c:v>
                </c:pt>
                <c:pt idx="12">
                  <c:v>23.608</c:v>
                </c:pt>
                <c:pt idx="13">
                  <c:v>25.384</c:v>
                </c:pt>
                <c:pt idx="14">
                  <c:v>27.223</c:v>
                </c:pt>
                <c:pt idx="15">
                  <c:v>29.12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ASEAN</c:v>
                </c:pt>
              </c:strCache>
            </c:strRef>
          </c:tx>
          <c:spPr>
            <a:solidFill>
              <a:srgbClr val="00A4DC"/>
            </a:solidFill>
            <a:ln>
              <a:noFill/>
            </a:ln>
          </c:spPr>
          <c:dLbls>
            <c:dLbl>
              <c:idx val="0"/>
              <c:tx>
                <c:rich>
                  <a:bodyPr/>
                  <a:lstStyle/>
                  <a:p>
                    <a:r>
                      <a:rPr sz="1100">
                        <a:solidFill>
                          <a:srgbClr val="FFFFFF"/>
                        </a:solidFill>
                        <a:latin typeface="Segoe UI"/>
                      </a:rPr>
                      <a:t>145</a:t>
                    </a:r>
                  </a:p>
                </c:rich>
              </c:tx>
              <c:dLblPos val="ctr"/>
              <c:showLegendKey val="0"/>
              <c:showVal val="1"/>
              <c:showCatName val="0"/>
              <c:showSerName val="0"/>
              <c:showPercent val="0"/>
              <c:showBubbleSize val="0"/>
            </c:dLbl>
            <c:dLbl>
              <c:idx val="1"/>
              <c:tx>
                <c:rich>
                  <a:bodyPr/>
                  <a:lstStyle/>
                  <a:p>
                    <a:r>
                      <a:rPr sz="1100">
                        <a:solidFill>
                          <a:srgbClr val="FFFFFF"/>
                        </a:solidFill>
                        <a:latin typeface="Segoe UI"/>
                      </a:rPr>
                      <a:t>154</a:t>
                    </a:r>
                  </a:p>
                </c:rich>
              </c:tx>
              <c:dLblPos val="ctr"/>
              <c:showLegendKey val="0"/>
              <c:showVal val="1"/>
              <c:showCatName val="0"/>
              <c:showSerName val="0"/>
              <c:showPercent val="0"/>
              <c:showBubbleSize val="0"/>
            </c:dLbl>
            <c:dLbl>
              <c:idx val="2"/>
              <c:tx>
                <c:rich>
                  <a:bodyPr/>
                  <a:lstStyle/>
                  <a:p>
                    <a:r>
                      <a:rPr sz="1100">
                        <a:solidFill>
                          <a:srgbClr val="FFFFFF"/>
                        </a:solidFill>
                        <a:latin typeface="Segoe UI"/>
                      </a:rPr>
                      <a:t>164</a:t>
                    </a:r>
                  </a:p>
                </c:rich>
              </c:tx>
              <c:dLblPos val="ctr"/>
              <c:showLegendKey val="0"/>
              <c:showVal val="1"/>
              <c:showCatName val="0"/>
              <c:showSerName val="0"/>
              <c:showPercent val="0"/>
              <c:showBubbleSize val="0"/>
            </c:dLbl>
            <c:dLbl>
              <c:idx val="3"/>
              <c:tx>
                <c:rich>
                  <a:bodyPr/>
                  <a:lstStyle/>
                  <a:p>
                    <a:r>
                      <a:rPr sz="1100">
                        <a:solidFill>
                          <a:srgbClr val="FFFFFF"/>
                        </a:solidFill>
                        <a:latin typeface="Segoe UI"/>
                      </a:rPr>
                      <a:t>176</a:t>
                    </a:r>
                  </a:p>
                </c:rich>
              </c:tx>
              <c:dLblPos val="ctr"/>
              <c:showLegendKey val="0"/>
              <c:showVal val="1"/>
              <c:showCatName val="0"/>
              <c:showSerName val="0"/>
              <c:showPercent val="0"/>
              <c:showBubbleSize val="0"/>
            </c:dLbl>
            <c:dLbl>
              <c:idx val="4"/>
              <c:tx>
                <c:rich>
                  <a:bodyPr/>
                  <a:lstStyle/>
                  <a:p>
                    <a:r>
                      <a:rPr sz="1100">
                        <a:solidFill>
                          <a:srgbClr val="FFFFFF"/>
                        </a:solidFill>
                        <a:latin typeface="Segoe UI"/>
                      </a:rPr>
                      <a:t>189</a:t>
                    </a:r>
                  </a:p>
                </c:rich>
              </c:tx>
              <c:dLblPos val="ctr"/>
              <c:showLegendKey val="0"/>
              <c:showVal val="1"/>
              <c:showCatName val="0"/>
              <c:showSerName val="0"/>
              <c:showPercent val="0"/>
              <c:showBubbleSize val="0"/>
            </c:dLbl>
            <c:dLbl>
              <c:idx val="5"/>
              <c:tx>
                <c:rich>
                  <a:bodyPr/>
                  <a:lstStyle/>
                  <a:p>
                    <a:r>
                      <a:rPr sz="1100">
                        <a:solidFill>
                          <a:srgbClr val="FFFFFF"/>
                        </a:solidFill>
                        <a:latin typeface="Segoe UI"/>
                      </a:rPr>
                      <a:t>205</a:t>
                    </a:r>
                  </a:p>
                </c:rich>
              </c:tx>
              <c:dLblPos val="ctr"/>
              <c:showLegendKey val="0"/>
              <c:showVal val="1"/>
              <c:showCatName val="0"/>
              <c:showSerName val="0"/>
              <c:showPercent val="0"/>
              <c:showBubbleSize val="0"/>
            </c:dLbl>
            <c:dLbl>
              <c:idx val="6"/>
              <c:tx>
                <c:rich>
                  <a:bodyPr/>
                  <a:lstStyle/>
                  <a:p>
                    <a:r>
                      <a:rPr sz="1100">
                        <a:solidFill>
                          <a:srgbClr val="FFFFFF"/>
                        </a:solidFill>
                        <a:latin typeface="Segoe UI"/>
                      </a:rPr>
                      <a:t>222</a:t>
                    </a:r>
                  </a:p>
                </c:rich>
              </c:tx>
              <c:dLblPos val="ctr"/>
              <c:showLegendKey val="0"/>
              <c:showVal val="1"/>
              <c:showCatName val="0"/>
              <c:showSerName val="0"/>
              <c:showPercent val="0"/>
              <c:showBubbleSize val="0"/>
            </c:dLbl>
            <c:dLbl>
              <c:idx val="7"/>
              <c:tx>
                <c:rich>
                  <a:bodyPr/>
                  <a:lstStyle/>
                  <a:p>
                    <a:r>
                      <a:rPr sz="1100">
                        <a:solidFill>
                          <a:srgbClr val="FFFFFF"/>
                        </a:solidFill>
                        <a:latin typeface="Segoe UI"/>
                      </a:rPr>
                      <a:t>241</a:t>
                    </a:r>
                  </a:p>
                </c:rich>
              </c:tx>
              <c:dLblPos val="ctr"/>
              <c:showLegendKey val="0"/>
              <c:showVal val="1"/>
              <c:showCatName val="0"/>
              <c:showSerName val="0"/>
              <c:showPercent val="0"/>
              <c:showBubbleSize val="0"/>
            </c:dLbl>
            <c:dLbl>
              <c:idx val="8"/>
              <c:tx>
                <c:rich>
                  <a:bodyPr/>
                  <a:lstStyle/>
                  <a:p>
                    <a:r>
                      <a:rPr sz="1100">
                        <a:solidFill>
                          <a:srgbClr val="FFFFFF"/>
                        </a:solidFill>
                        <a:latin typeface="Segoe UI"/>
                      </a:rPr>
                      <a:t>263</a:t>
                    </a:r>
                  </a:p>
                </c:rich>
              </c:tx>
              <c:dLblPos val="ctr"/>
              <c:showLegendKey val="0"/>
              <c:showVal val="1"/>
              <c:showCatName val="0"/>
              <c:showSerName val="0"/>
              <c:showPercent val="0"/>
              <c:showBubbleSize val="0"/>
            </c:dLbl>
            <c:dLbl>
              <c:idx val="9"/>
              <c:tx>
                <c:rich>
                  <a:bodyPr/>
                  <a:lstStyle/>
                  <a:p>
                    <a:r>
                      <a:rPr sz="1100">
                        <a:solidFill>
                          <a:srgbClr val="FFFFFF"/>
                        </a:solidFill>
                        <a:latin typeface="Segoe UI"/>
                      </a:rPr>
                      <a:t>288</a:t>
                    </a:r>
                  </a:p>
                </c:rich>
              </c:tx>
              <c:dLblPos val="ctr"/>
              <c:showLegendKey val="0"/>
              <c:showVal val="1"/>
              <c:showCatName val="0"/>
              <c:showSerName val="0"/>
              <c:showPercent val="0"/>
              <c:showBubbleSize val="0"/>
            </c:dLbl>
            <c:dLbl>
              <c:idx val="10"/>
              <c:tx>
                <c:rich>
                  <a:bodyPr/>
                  <a:lstStyle/>
                  <a:p>
                    <a:r>
                      <a:rPr sz="1100">
                        <a:solidFill>
                          <a:srgbClr val="FFFFFF"/>
                        </a:solidFill>
                        <a:latin typeface="Segoe UI"/>
                      </a:rPr>
                      <a:t>315</a:t>
                    </a:r>
                  </a:p>
                </c:rich>
              </c:tx>
              <c:dLblPos val="ctr"/>
              <c:showLegendKey val="0"/>
              <c:showVal val="1"/>
              <c:showCatName val="0"/>
              <c:showSerName val="0"/>
              <c:showPercent val="0"/>
              <c:showBubbleSize val="0"/>
            </c:dLbl>
            <c:dLbl>
              <c:idx val="11"/>
              <c:tx>
                <c:rich>
                  <a:bodyPr/>
                  <a:lstStyle/>
                  <a:p>
                    <a:r>
                      <a:rPr sz="1100">
                        <a:solidFill>
                          <a:srgbClr val="FFFFFF"/>
                        </a:solidFill>
                        <a:latin typeface="Segoe UI"/>
                      </a:rPr>
                      <a:t>345</a:t>
                    </a:r>
                  </a:p>
                </c:rich>
              </c:tx>
              <c:dLblPos val="ctr"/>
              <c:showLegendKey val="0"/>
              <c:showVal val="1"/>
              <c:showCatName val="0"/>
              <c:showSerName val="0"/>
              <c:showPercent val="0"/>
              <c:showBubbleSize val="0"/>
            </c:dLbl>
            <c:dLbl>
              <c:idx val="12"/>
              <c:tx>
                <c:rich>
                  <a:bodyPr/>
                  <a:lstStyle/>
                  <a:p>
                    <a:r>
                      <a:rPr sz="1100">
                        <a:solidFill>
                          <a:srgbClr val="FFFFFF"/>
                        </a:solidFill>
                        <a:latin typeface="Segoe UI"/>
                      </a:rPr>
                      <a:t>377</a:t>
                    </a:r>
                  </a:p>
                </c:rich>
              </c:tx>
              <c:dLblPos val="ctr"/>
              <c:showLegendKey val="0"/>
              <c:showVal val="1"/>
              <c:showCatName val="0"/>
              <c:showSerName val="0"/>
              <c:showPercent val="0"/>
              <c:showBubbleSize val="0"/>
            </c:dLbl>
            <c:dLbl>
              <c:idx val="13"/>
              <c:tx>
                <c:rich>
                  <a:bodyPr/>
                  <a:lstStyle/>
                  <a:p>
                    <a:r>
                      <a:rPr sz="1100">
                        <a:solidFill>
                          <a:srgbClr val="FFFFFF"/>
                        </a:solidFill>
                        <a:latin typeface="Segoe UI"/>
                      </a:rPr>
                      <a:t>412</a:t>
                    </a:r>
                  </a:p>
                </c:rich>
              </c:tx>
              <c:dLblPos val="ctr"/>
              <c:showLegendKey val="0"/>
              <c:showVal val="1"/>
              <c:showCatName val="0"/>
              <c:showSerName val="0"/>
              <c:showPercent val="0"/>
              <c:showBubbleSize val="0"/>
            </c:dLbl>
            <c:dLbl>
              <c:idx val="14"/>
              <c:tx>
                <c:rich>
                  <a:bodyPr/>
                  <a:lstStyle/>
                  <a:p>
                    <a:r>
                      <a:rPr sz="1100">
                        <a:solidFill>
                          <a:srgbClr val="FFFFFF"/>
                        </a:solidFill>
                        <a:latin typeface="Segoe UI"/>
                      </a:rPr>
                      <a:t>449</a:t>
                    </a:r>
                  </a:p>
                </c:rich>
              </c:tx>
              <c:dLblPos val="ctr"/>
              <c:showLegendKey val="0"/>
              <c:showVal val="1"/>
              <c:showCatName val="0"/>
              <c:showSerName val="0"/>
              <c:showPercent val="0"/>
              <c:showBubbleSize val="0"/>
            </c:dLbl>
            <c:dLbl>
              <c:idx val="15"/>
              <c:tx>
                <c:rich>
                  <a:bodyPr/>
                  <a:lstStyle/>
                  <a:p>
                    <a:r>
                      <a:rPr sz="1100">
                        <a:solidFill>
                          <a:srgbClr val="FFFFFF"/>
                        </a:solidFill>
                        <a:latin typeface="Segoe UI"/>
                      </a:rPr>
                      <a:t>489</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145.031</c:v>
                </c:pt>
                <c:pt idx="1">
                  <c:v>154.022</c:v>
                </c:pt>
                <c:pt idx="2">
                  <c:v>164.29</c:v>
                </c:pt>
                <c:pt idx="3">
                  <c:v>175.983</c:v>
                </c:pt>
                <c:pt idx="4">
                  <c:v>189.219</c:v>
                </c:pt>
                <c:pt idx="5">
                  <c:v>204.655</c:v>
                </c:pt>
                <c:pt idx="6">
                  <c:v>221.92</c:v>
                </c:pt>
                <c:pt idx="7">
                  <c:v>241.339</c:v>
                </c:pt>
                <c:pt idx="8">
                  <c:v>263.082</c:v>
                </c:pt>
                <c:pt idx="9">
                  <c:v>287.641</c:v>
                </c:pt>
                <c:pt idx="10">
                  <c:v>314.923</c:v>
                </c:pt>
                <c:pt idx="11">
                  <c:v>344.704</c:v>
                </c:pt>
                <c:pt idx="12">
                  <c:v>376.937</c:v>
                </c:pt>
                <c:pt idx="13">
                  <c:v>411.789</c:v>
                </c:pt>
                <c:pt idx="14">
                  <c:v>449.225</c:v>
                </c:pt>
                <c:pt idx="15">
                  <c:v>489.403</c:v>
                </c:pt>
              </c:numCache>
            </c:numRef>
          </c:val>
        </c:ser>
        <c:ser>
          <c:idx val="1"/>
          <c:order val="1"/>
          <c:tx>
            <c:strRef>
              <c:f>Sheet1!$C$1</c:f>
              <c:strCache>
                <c:ptCount val="1"/>
                <c:pt idx="0">
                  <c:v>India</c:v>
                </c:pt>
              </c:strCache>
            </c:strRef>
          </c:tx>
          <c:spPr>
            <a:solidFill>
              <a:srgbClr val="6ECFF2"/>
            </a:solidFill>
            <a:ln>
              <a:noFill/>
            </a:ln>
          </c:spPr>
          <c:dLbls>
            <c:dLbl>
              <c:idx val="0"/>
              <c:tx>
                <c:rich>
                  <a:bodyPr/>
                  <a:lstStyle/>
                  <a:p>
                    <a:r>
                      <a:rPr sz="1100">
                        <a:solidFill>
                          <a:srgbClr val="252423"/>
                        </a:solidFill>
                        <a:latin typeface="Segoe UI"/>
                      </a:rPr>
                      <a:t>139</a:t>
                    </a:r>
                  </a:p>
                </c:rich>
              </c:tx>
              <c:dLblPos val="ctr"/>
              <c:showLegendKey val="0"/>
              <c:showVal val="1"/>
              <c:showCatName val="0"/>
              <c:showSerName val="0"/>
              <c:showPercent val="0"/>
              <c:showBubbleSize val="0"/>
            </c:dLbl>
            <c:dLbl>
              <c:idx val="1"/>
              <c:tx>
                <c:rich>
                  <a:bodyPr/>
                  <a:lstStyle/>
                  <a:p>
                    <a:r>
                      <a:rPr sz="1100">
                        <a:solidFill>
                          <a:srgbClr val="252423"/>
                        </a:solidFill>
                        <a:latin typeface="Segoe UI"/>
                      </a:rPr>
                      <a:t>151</a:t>
                    </a:r>
                  </a:p>
                </c:rich>
              </c:tx>
              <c:dLblPos val="ctr"/>
              <c:showLegendKey val="0"/>
              <c:showVal val="1"/>
              <c:showCatName val="0"/>
              <c:showSerName val="0"/>
              <c:showPercent val="0"/>
              <c:showBubbleSize val="0"/>
            </c:dLbl>
            <c:dLbl>
              <c:idx val="2"/>
              <c:tx>
                <c:rich>
                  <a:bodyPr/>
                  <a:lstStyle/>
                  <a:p>
                    <a:r>
                      <a:rPr sz="1100">
                        <a:solidFill>
                          <a:srgbClr val="252423"/>
                        </a:solidFill>
                        <a:latin typeface="Segoe UI"/>
                      </a:rPr>
                      <a:t>163</a:t>
                    </a:r>
                  </a:p>
                </c:rich>
              </c:tx>
              <c:dLblPos val="ctr"/>
              <c:showLegendKey val="0"/>
              <c:showVal val="1"/>
              <c:showCatName val="0"/>
              <c:showSerName val="0"/>
              <c:showPercent val="0"/>
              <c:showBubbleSize val="0"/>
            </c:dLbl>
            <c:dLbl>
              <c:idx val="3"/>
              <c:tx>
                <c:rich>
                  <a:bodyPr/>
                  <a:lstStyle/>
                  <a:p>
                    <a:r>
                      <a:rPr sz="1100">
                        <a:solidFill>
                          <a:srgbClr val="252423"/>
                        </a:solidFill>
                        <a:latin typeface="Segoe UI"/>
                      </a:rPr>
                      <a:t>176</a:t>
                    </a:r>
                  </a:p>
                </c:rich>
              </c:tx>
              <c:dLblPos val="ctr"/>
              <c:showLegendKey val="0"/>
              <c:showVal val="1"/>
              <c:showCatName val="0"/>
              <c:showSerName val="0"/>
              <c:showPercent val="0"/>
              <c:showBubbleSize val="0"/>
            </c:dLbl>
            <c:dLbl>
              <c:idx val="4"/>
              <c:tx>
                <c:rich>
                  <a:bodyPr/>
                  <a:lstStyle/>
                  <a:p>
                    <a:r>
                      <a:rPr sz="1100">
                        <a:solidFill>
                          <a:srgbClr val="252423"/>
                        </a:solidFill>
                        <a:latin typeface="Segoe UI"/>
                      </a:rPr>
                      <a:t>191</a:t>
                    </a:r>
                  </a:p>
                </c:rich>
              </c:tx>
              <c:dLblPos val="ctr"/>
              <c:showLegendKey val="0"/>
              <c:showVal val="1"/>
              <c:showCatName val="0"/>
              <c:showSerName val="0"/>
              <c:showPercent val="0"/>
              <c:showBubbleSize val="0"/>
            </c:dLbl>
            <c:dLbl>
              <c:idx val="5"/>
              <c:tx>
                <c:rich>
                  <a:bodyPr/>
                  <a:lstStyle/>
                  <a:p>
                    <a:r>
                      <a:rPr sz="1100">
                        <a:solidFill>
                          <a:srgbClr val="252423"/>
                        </a:solidFill>
                        <a:latin typeface="Segoe UI"/>
                      </a:rPr>
                      <a:t>207</a:t>
                    </a:r>
                  </a:p>
                </c:rich>
              </c:tx>
              <c:dLblPos val="ctr"/>
              <c:showLegendKey val="0"/>
              <c:showVal val="1"/>
              <c:showCatName val="0"/>
              <c:showSerName val="0"/>
              <c:showPercent val="0"/>
              <c:showBubbleSize val="0"/>
            </c:dLbl>
            <c:dLbl>
              <c:idx val="6"/>
              <c:tx>
                <c:rich>
                  <a:bodyPr/>
                  <a:lstStyle/>
                  <a:p>
                    <a:r>
                      <a:rPr sz="1100">
                        <a:solidFill>
                          <a:srgbClr val="252423"/>
                        </a:solidFill>
                        <a:latin typeface="Segoe UI"/>
                      </a:rPr>
                      <a:t>226</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246</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269</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295</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325</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359</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396</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436</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480</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528</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0">
                  <c:v>138.936</c:v>
                </c:pt>
                <c:pt idx="1">
                  <c:v>150.643</c:v>
                </c:pt>
                <c:pt idx="2">
                  <c:v>163.15</c:v>
                </c:pt>
                <c:pt idx="3">
                  <c:v>176.402</c:v>
                </c:pt>
                <c:pt idx="4">
                  <c:v>190.725</c:v>
                </c:pt>
                <c:pt idx="5">
                  <c:v>207.276</c:v>
                </c:pt>
                <c:pt idx="6">
                  <c:v>225.642</c:v>
                </c:pt>
                <c:pt idx="7">
                  <c:v>245.874</c:v>
                </c:pt>
                <c:pt idx="8">
                  <c:v>268.533</c:v>
                </c:pt>
                <c:pt idx="9">
                  <c:v>294.896</c:v>
                </c:pt>
                <c:pt idx="10">
                  <c:v>324.893</c:v>
                </c:pt>
                <c:pt idx="11">
                  <c:v>358.643</c:v>
                </c:pt>
                <c:pt idx="12">
                  <c:v>395.766</c:v>
                </c:pt>
                <c:pt idx="13">
                  <c:v>436.441</c:v>
                </c:pt>
                <c:pt idx="14">
                  <c:v>480.301</c:v>
                </c:pt>
                <c:pt idx="15">
                  <c:v>527.594</c:v>
                </c:pt>
              </c:numCache>
            </c:numRef>
          </c:val>
        </c:ser>
        <c:ser>
          <c:idx val="2"/>
          <c:order val="2"/>
          <c:tx>
            <c:strRef>
              <c:f>Sheet1!$D$1</c:f>
              <c:strCache>
                <c:ptCount val="1"/>
                <c:pt idx="0">
                  <c:v>ANZ</c:v>
                </c:pt>
              </c:strCache>
            </c:strRef>
          </c:tx>
          <c:spPr>
            <a:solidFill>
              <a:srgbClr val="D6CAC4"/>
            </a:solidFill>
            <a:ln>
              <a:noFill/>
            </a:ln>
          </c:spPr>
          <c:dLbls>
            <c:dLbl>
              <c:idx val="5"/>
              <c:tx>
                <c:rich>
                  <a:bodyPr/>
                  <a:lstStyle/>
                  <a:p>
                    <a:r>
                      <a:rPr sz="1100">
                        <a:solidFill>
                          <a:srgbClr val="252423"/>
                        </a:solidFill>
                        <a:latin typeface="Segoe UI"/>
                      </a:rPr>
                      <a:t>75.3</a:t>
                    </a:r>
                  </a:p>
                </c:rich>
              </c:tx>
              <c:dLblPos val="ctr"/>
              <c:showLegendKey val="0"/>
              <c:showVal val="1"/>
              <c:showCatName val="0"/>
              <c:showSerName val="0"/>
              <c:showPercent val="0"/>
              <c:showBubbleSize val="0"/>
            </c:dLbl>
            <c:dLbl>
              <c:idx val="6"/>
              <c:tx>
                <c:rich>
                  <a:bodyPr/>
                  <a:lstStyle/>
                  <a:p>
                    <a:r>
                      <a:rPr sz="1100">
                        <a:solidFill>
                          <a:srgbClr val="252423"/>
                        </a:solidFill>
                        <a:latin typeface="Segoe UI"/>
                      </a:rPr>
                      <a:t>80.8</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87.0</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93.8</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101</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109</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118</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127</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137</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147</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158</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Sheet1!$D$2:$D$17</c:f>
              <c:numCache>
                <c:formatCode>General</c:formatCode>
                <c:ptCount val="16"/>
                <c:pt idx="0">
                  <c:v>56.522</c:v>
                </c:pt>
                <c:pt idx="1">
                  <c:v>59.439</c:v>
                </c:pt>
                <c:pt idx="2">
                  <c:v>62.666</c:v>
                </c:pt>
                <c:pt idx="3">
                  <c:v>66.294</c:v>
                </c:pt>
                <c:pt idx="4">
                  <c:v>70.424</c:v>
                </c:pt>
                <c:pt idx="5">
                  <c:v>75.308</c:v>
                </c:pt>
                <c:pt idx="6">
                  <c:v>80.833</c:v>
                </c:pt>
                <c:pt idx="7">
                  <c:v>86.971</c:v>
                </c:pt>
                <c:pt idx="8">
                  <c:v>93.754</c:v>
                </c:pt>
                <c:pt idx="9">
                  <c:v>101.174</c:v>
                </c:pt>
                <c:pt idx="10">
                  <c:v>109.211</c:v>
                </c:pt>
                <c:pt idx="11">
                  <c:v>117.794</c:v>
                </c:pt>
                <c:pt idx="12">
                  <c:v>126.965</c:v>
                </c:pt>
                <c:pt idx="13">
                  <c:v>136.755</c:v>
                </c:pt>
                <c:pt idx="14">
                  <c:v>147.121</c:v>
                </c:pt>
                <c:pt idx="15">
                  <c:v>158.071</c:v>
                </c:pt>
              </c:numCache>
            </c:numRef>
          </c:val>
        </c:ser>
        <c:ser>
          <c:idx val="3"/>
          <c:order val="3"/>
          <c:tx>
            <c:strRef>
              <c:f>Sheet1!$E$1</c:f>
              <c:strCache>
                <c:ptCount val="1"/>
                <c:pt idx="0">
                  <c:v>Rest of South Asia Pacific</c:v>
                </c:pt>
              </c:strCache>
            </c:strRef>
          </c:tx>
          <c:spPr>
            <a:solidFill>
              <a:srgbClr val="EBC46B"/>
            </a:solidFill>
            <a:ln>
              <a:noFill/>
            </a:ln>
          </c:spPr>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Sheet1!$E$2:$E$17</c:f>
              <c:numCache>
                <c:formatCode>General</c:formatCode>
                <c:ptCount val="16"/>
                <c:pt idx="0">
                  <c:v>22.529</c:v>
                </c:pt>
                <c:pt idx="1">
                  <c:v>24.199</c:v>
                </c:pt>
                <c:pt idx="2">
                  <c:v>26.006</c:v>
                </c:pt>
                <c:pt idx="3">
                  <c:v>27.961</c:v>
                </c:pt>
                <c:pt idx="4">
                  <c:v>30.041</c:v>
                </c:pt>
                <c:pt idx="5">
                  <c:v>32.334</c:v>
                </c:pt>
                <c:pt idx="6">
                  <c:v>34.767</c:v>
                </c:pt>
                <c:pt idx="7">
                  <c:v>37.44</c:v>
                </c:pt>
                <c:pt idx="8">
                  <c:v>40.449</c:v>
                </c:pt>
                <c:pt idx="9">
                  <c:v>43.922</c:v>
                </c:pt>
                <c:pt idx="10">
                  <c:v>47.831</c:v>
                </c:pt>
                <c:pt idx="11">
                  <c:v>52.135</c:v>
                </c:pt>
                <c:pt idx="12">
                  <c:v>56.787</c:v>
                </c:pt>
                <c:pt idx="13">
                  <c:v>61.78</c:v>
                </c:pt>
                <c:pt idx="14">
                  <c:v>67.113</c:v>
                </c:pt>
                <c:pt idx="15">
                  <c:v>72.788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Weft Knitted Fabrics</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76.39242023144794</c:v>
                </c:pt>
                <c:pt idx="1">
                  <c:v>76.13136171433081</c:v>
                </c:pt>
                <c:pt idx="2">
                  <c:v>74.11440102063058</c:v>
                </c:pt>
              </c:numCache>
            </c:numRef>
          </c:val>
        </c:ser>
        <c:ser>
          <c:idx val="1"/>
          <c:order val="1"/>
          <c:tx>
            <c:strRef>
              <c:f>Sheet1!$C$1</c:f>
              <c:strCache>
                <c:ptCount val="1"/>
                <c:pt idx="0">
                  <c:v>Warp Knitted Fabrics</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23.60757976855206</c:v>
                </c:pt>
                <c:pt idx="1">
                  <c:v>23.868638285669196</c:v>
                </c:pt>
                <c:pt idx="2">
                  <c:v>25.885598979369412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Polyester</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53.916461672805006</c:v>
                </c:pt>
                <c:pt idx="1">
                  <c:v>52.842804214983396</c:v>
                </c:pt>
                <c:pt idx="2">
                  <c:v>50.06194625020836</c:v>
                </c:pt>
              </c:numCache>
            </c:numRef>
          </c:val>
        </c:ser>
        <c:ser>
          <c:idx val="1"/>
          <c:order val="1"/>
          <c:tx>
            <c:strRef>
              <c:f>Sheet1!$C$1</c:f>
              <c:strCache>
                <c:ptCount val="1"/>
                <c:pt idx="0">
                  <c:v>Elastane or Spandex Blends</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14.09843561907228</c:v>
                </c:pt>
                <c:pt idx="1">
                  <c:v>15.725929846509166</c:v>
                </c:pt>
                <c:pt idx="2">
                  <c:v>16.958447128514827</c:v>
                </c:pt>
              </c:numCache>
            </c:numRef>
          </c:val>
        </c:ser>
        <c:ser>
          <c:idx val="2"/>
          <c:order val="2"/>
          <c:tx>
            <c:strRef>
              <c:f>Sheet1!$D$1</c:f>
              <c:strCache>
                <c:ptCount val="1"/>
                <c:pt idx="0">
                  <c:v>Polyamide or Nylon</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16.31347119572254</c:v>
                </c:pt>
                <c:pt idx="1">
                  <c:v>14.94471443006303</c:v>
                </c:pt>
                <c:pt idx="2">
                  <c:v>15.74468528419946</c:v>
                </c:pt>
              </c:numCache>
            </c:numRef>
          </c:val>
        </c:ser>
        <c:ser>
          <c:idx val="3"/>
          <c:order val="3"/>
          <c:tx>
            <c:strRef>
              <c:f>Sheet1!$E$1</c:f>
              <c:strCache>
                <c:ptCount val="1"/>
                <c:pt idx="0">
                  <c:v>High-Performance &amp; Specialty Fibers</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6.621141042204402</c:v>
                </c:pt>
                <c:pt idx="1">
                  <c:v>7.694942982245104</c:v>
                </c:pt>
                <c:pt idx="2">
                  <c:v>8.689464168942571</c:v>
                </c:pt>
              </c:numCache>
            </c:numRef>
          </c:val>
        </c:ser>
        <c:ser>
          <c:idx val="4"/>
          <c:order val="4"/>
          <c:tx>
            <c:strRef>
              <c:f>Sheet1!$F$1</c:f>
              <c:strCache>
                <c:ptCount val="1"/>
                <c:pt idx="0">
                  <c:v>Polypropylene</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4.389577405039406</c:v>
                </c:pt>
                <c:pt idx="1">
                  <c:v>4.326420632247509</c:v>
                </c:pt>
                <c:pt idx="2">
                  <c:v>4.464217025041351</c:v>
                </c:pt>
              </c:numCache>
            </c:numRef>
          </c:val>
        </c:ser>
        <c:ser>
          <c:idx val="5"/>
          <c:order val="5"/>
          <c:tx>
            <c:strRef>
              <c:f>Sheet1!$G$1</c:f>
              <c:strCache>
                <c:ptCount val="1"/>
                <c:pt idx="0">
                  <c:v>Cellulosic Fibers</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4.66091306515637</c:v>
                </c:pt>
                <c:pt idx="1">
                  <c:v>4.4651878939517875</c:v>
                </c:pt>
                <c:pt idx="2">
                  <c:v>4.081240143093433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Moisture Management &amp; Quick-Dry</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27.139000606027214</c:v>
                </c:pt>
                <c:pt idx="1">
                  <c:v>28.80634675011981</c:v>
                </c:pt>
                <c:pt idx="2">
                  <c:v>28.946368811785977</c:v>
                </c:pt>
              </c:numCache>
            </c:numRef>
          </c:val>
        </c:ser>
        <c:ser>
          <c:idx val="1"/>
          <c:order val="1"/>
          <c:tx>
            <c:strRef>
              <c:f>Sheet1!$C$1</c:f>
              <c:strCache>
                <c:ptCount val="1"/>
                <c:pt idx="0">
                  <c:v>Stretch &amp; Recovery</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22.56900446256405</c:v>
                </c:pt>
                <c:pt idx="1">
                  <c:v>21.819648057154627</c:v>
                </c:pt>
                <c:pt idx="2">
                  <c:v>20.998817171212064</c:v>
                </c:pt>
              </c:numCache>
            </c:numRef>
          </c:val>
        </c:ser>
        <c:ser>
          <c:idx val="2"/>
          <c:order val="2"/>
          <c:tx>
            <c:strRef>
              <c:f>Sheet1!$D$1</c:f>
              <c:strCache>
                <c:ptCount val="1"/>
                <c:pt idx="0">
                  <c:v>Thermal Management</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10.290342129910199</c:v>
                </c:pt>
                <c:pt idx="1">
                  <c:v>10.789244244793322</c:v>
                </c:pt>
                <c:pt idx="2">
                  <c:v>11.888951930350938</c:v>
                </c:pt>
              </c:numCache>
            </c:numRef>
          </c:val>
        </c:ser>
        <c:ser>
          <c:idx val="3"/>
          <c:order val="3"/>
          <c:tx>
            <c:strRef>
              <c:f>Sheet1!$E$1</c:f>
              <c:strCache>
                <c:ptCount val="1"/>
                <c:pt idx="0">
                  <c:v>Compression &amp; Support</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9.742713900060604</c:v>
                </c:pt>
                <c:pt idx="1">
                  <c:v>9.883500489825298</c:v>
                </c:pt>
                <c:pt idx="2">
                  <c:v>9.808824095087894</c:v>
                </c:pt>
              </c:numCache>
            </c:numRef>
          </c:val>
        </c:ser>
        <c:ser>
          <c:idx val="4"/>
          <c:order val="4"/>
          <c:tx>
            <c:strRef>
              <c:f>Sheet1!$F$1</c:f>
              <c:strCache>
                <c:ptCount val="1"/>
                <c:pt idx="0">
                  <c:v>Antimicrobial &amp; Odor Control</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7.263787119166988</c:v>
                </c:pt>
                <c:pt idx="1">
                  <c:v>6.986891158701472</c:v>
                </c:pt>
                <c:pt idx="2">
                  <c:v>7.654729391852906</c:v>
                </c:pt>
              </c:numCache>
            </c:numRef>
          </c:val>
        </c:ser>
        <c:ser>
          <c:idx val="5"/>
          <c:order val="5"/>
          <c:tx>
            <c:strRef>
              <c:f>Sheet1!$G$1</c:f>
              <c:strCache>
                <c:ptCount val="1"/>
                <c:pt idx="0">
                  <c:v>UV Protection</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8.286320312930417</c:v>
                </c:pt>
                <c:pt idx="1">
                  <c:v>7.719415751010926</c:v>
                </c:pt>
                <c:pt idx="2">
                  <c:v>7.204998012591196</c:v>
                </c:pt>
              </c:numCache>
            </c:numRef>
          </c:val>
        </c:ser>
        <c:ser>
          <c:idx val="6"/>
          <c:order val="6"/>
          <c:tx>
            <c:strRef>
              <c:f>Sheet1!$H$1</c:f>
              <c:strCache>
                <c:ptCount val="1"/>
                <c:pt idx="0">
                  <c:v>Abrasion &amp; Tear Resistance</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8.379428130681505</c:v>
                </c:pt>
                <c:pt idx="1">
                  <c:v>7.686504110105798</c:v>
                </c:pt>
                <c:pt idx="2">
                  <c:v>6.960498647279814</c:v>
                </c:pt>
              </c:numCache>
            </c:numRef>
          </c:val>
        </c:ser>
        <c:ser>
          <c:idx val="7"/>
          <c:order val="7"/>
          <c:tx>
            <c:strRef>
              <c:f>Sheet1!$I$1</c:f>
              <c:strCache>
                <c:ptCount val="1"/>
                <c:pt idx="0">
                  <c:v>Water or Liquid Management</c:v>
                </c:pt>
              </c:strCache>
            </c:strRef>
          </c:tx>
          <c:spPr>
            <a:solidFill>
              <a:srgbClr val="7D72E5"/>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Sheet1!$I$2:$I$4</c:f>
              <c:numCache>
                <c:formatCode>General</c:formatCode>
                <c:ptCount val="3"/>
                <c:pt idx="0">
                  <c:v>3.0711806512037905</c:v>
                </c:pt>
                <c:pt idx="1">
                  <c:v>3.1071668466221296</c:v>
                </c:pt>
                <c:pt idx="2">
                  <c:v>2.9968201459142723</c:v>
                </c:pt>
              </c:numCache>
            </c:numRef>
          </c:val>
        </c:ser>
        <c:ser>
          <c:idx val="8"/>
          <c:order val="8"/>
          <c:tx>
            <c:strRef>
              <c:f>Sheet1!$J$1</c:f>
              <c:strCache>
                <c:ptCount val="1"/>
                <c:pt idx="0">
                  <c:v>Other Specialized Performance</c:v>
                </c:pt>
              </c:strCache>
            </c:strRef>
          </c:tx>
          <c:spPr>
            <a:solidFill>
              <a:srgbClr val="CF72E5"/>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Sheet1!$J$2:$J$4</c:f>
              <c:numCache>
                <c:formatCode>General</c:formatCode>
                <c:ptCount val="3"/>
                <c:pt idx="0">
                  <c:v>1.8001762988265109</c:v>
                </c:pt>
                <c:pt idx="1">
                  <c:v>1.8030190175394027</c:v>
                </c:pt>
                <c:pt idx="2">
                  <c:v>2.0749990383505788</c:v>
                </c:pt>
              </c:numCache>
            </c:numRef>
          </c:val>
        </c:ser>
        <c:ser>
          <c:idx val="9"/>
          <c:order val="9"/>
          <c:tx>
            <c:strRef>
              <c:f>Sheet1!$K$1</c:f>
              <c:strCache>
                <c:ptCount val="1"/>
                <c:pt idx="0">
                  <c:v>Flame &amp; Heat Resistance</c:v>
                </c:pt>
              </c:strCache>
            </c:strRef>
          </c:tx>
          <c:spPr>
            <a:solidFill>
              <a:srgbClr val="E572A9"/>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Sheet1!$K$2:$K$4</c:f>
              <c:numCache>
                <c:formatCode>General</c:formatCode>
                <c:ptCount val="3"/>
                <c:pt idx="0">
                  <c:v>1.4580463886287258</c:v>
                </c:pt>
                <c:pt idx="1">
                  <c:v>1.398263574127216</c:v>
                </c:pt>
                <c:pt idx="2">
                  <c:v>1.4649927555743611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5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Sports &amp; Activewear</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29.621865522190298</c:v>
                </c:pt>
                <c:pt idx="1">
                  <c:v>29.808401097050474</c:v>
                </c:pt>
                <c:pt idx="2">
                  <c:v>30.354272214537914</c:v>
                </c:pt>
              </c:numCache>
            </c:numRef>
          </c:val>
        </c:ser>
        <c:ser>
          <c:idx val="1"/>
          <c:order val="1"/>
          <c:tx>
            <c:strRef>
              <c:f>Sheet1!$C$1</c:f>
              <c:strCache>
                <c:ptCount val="1"/>
                <c:pt idx="0">
                  <c:v>Intimate &amp; Bodywear</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20.519587129048343</c:v>
                </c:pt>
                <c:pt idx="1">
                  <c:v>19.625270653899822</c:v>
                </c:pt>
                <c:pt idx="2">
                  <c:v>17.28719866266406</c:v>
                </c:pt>
              </c:numCache>
            </c:numRef>
          </c:val>
        </c:ser>
        <c:ser>
          <c:idx val="2"/>
          <c:order val="2"/>
          <c:tx>
            <c:strRef>
              <c:f>Sheet1!$D$1</c:f>
              <c:strCache>
                <c:ptCount val="1"/>
                <c:pt idx="0">
                  <c:v>Footwear</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15.543263575735706</c:v>
                </c:pt>
                <c:pt idx="1">
                  <c:v>15.655487658182166</c:v>
                </c:pt>
                <c:pt idx="2">
                  <c:v>15.934235896186575</c:v>
                </c:pt>
              </c:numCache>
            </c:numRef>
          </c:val>
        </c:ser>
        <c:ser>
          <c:idx val="3"/>
          <c:order val="3"/>
          <c:tx>
            <c:strRef>
              <c:f>Sheet1!$E$1</c:f>
              <c:strCache>
                <c:ptCount val="1"/>
                <c:pt idx="0">
                  <c:v>Medical &amp; Healthcare</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9.941628399615448</c:v>
                </c:pt>
                <c:pt idx="1">
                  <c:v>10.393302218159073</c:v>
                </c:pt>
                <c:pt idx="2">
                  <c:v>11.233125029049873</c:v>
                </c:pt>
              </c:numCache>
            </c:numRef>
          </c:val>
        </c:ser>
        <c:ser>
          <c:idx val="4"/>
          <c:order val="4"/>
          <c:tx>
            <c:strRef>
              <c:f>Sheet1!$F$1</c:f>
              <c:strCache>
                <c:ptCount val="1"/>
                <c:pt idx="0">
                  <c:v>Protective &amp; Occupational Wear</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9.550739768441872</c:v>
                </c:pt>
                <c:pt idx="1">
                  <c:v>9.568012317759706</c:v>
                </c:pt>
                <c:pt idx="2">
                  <c:v>9.940746273201832</c:v>
                </c:pt>
              </c:numCache>
            </c:numRef>
          </c:val>
        </c:ser>
        <c:ser>
          <c:idx val="5"/>
          <c:order val="5"/>
          <c:tx>
            <c:strRef>
              <c:f>Sheet1!$G$1</c:f>
              <c:strCache>
                <c:ptCount val="1"/>
                <c:pt idx="0">
                  <c:v>Industrial &amp; Technical Applications</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6.738214804183802</c:v>
                </c:pt>
                <c:pt idx="1">
                  <c:v>7.240340663041908</c:v>
                </c:pt>
                <c:pt idx="2">
                  <c:v>7.6614732172193225</c:v>
                </c:pt>
              </c:numCache>
            </c:numRef>
          </c:val>
        </c:ser>
        <c:ser>
          <c:idx val="6"/>
          <c:order val="6"/>
          <c:tx>
            <c:strRef>
              <c:f>Sheet1!$H$1</c:f>
              <c:strCache>
                <c:ptCount val="1"/>
                <c:pt idx="0">
                  <c:v>Automotive &amp; Transportation</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8.084700800784532</c:v>
                </c:pt>
                <c:pt idx="1">
                  <c:v>7.709185391906846</c:v>
                </c:pt>
                <c:pt idx="2">
                  <c:v>7.588948707140418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5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Medium Weight 150–250 GSM</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46.31781344175771</c:v>
                </c:pt>
                <c:pt idx="1">
                  <c:v>43.12994876571962</c:v>
                </c:pt>
                <c:pt idx="2">
                  <c:v>41.372354961113274</c:v>
                </c:pt>
              </c:numCache>
            </c:numRef>
          </c:val>
        </c:ser>
        <c:ser>
          <c:idx val="1"/>
          <c:order val="1"/>
          <c:tx>
            <c:strRef>
              <c:f>Sheet1!$C$1</c:f>
              <c:strCache>
                <c:ptCount val="1"/>
                <c:pt idx="0">
                  <c:v>Lightweight Below 150 GSM</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38.72425058812511</c:v>
                </c:pt>
                <c:pt idx="1">
                  <c:v>41.21337865251148</c:v>
                </c:pt>
                <c:pt idx="2">
                  <c:v>41.12152453610395</c:v>
                </c:pt>
              </c:numCache>
            </c:numRef>
          </c:val>
        </c:ser>
        <c:ser>
          <c:idx val="2"/>
          <c:order val="2"/>
          <c:tx>
            <c:strRef>
              <c:f>Sheet1!$D$1</c:f>
              <c:strCache>
                <c:ptCount val="1"/>
                <c:pt idx="0">
                  <c:v>Heavyweight Above 250 GSM</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14.957935970117184</c:v>
                </c:pt>
                <c:pt idx="1">
                  <c:v>15.656672581768913</c:v>
                </c:pt>
                <c:pt idx="2">
                  <c:v>17.506120502782775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6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Sports &amp; Activewear</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29.621865522190298</c:v>
                </c:pt>
                <c:pt idx="1">
                  <c:v>29.808515838967764</c:v>
                </c:pt>
                <c:pt idx="2">
                  <c:v>30.354272214537914</c:v>
                </c:pt>
              </c:numCache>
            </c:numRef>
          </c:val>
        </c:ser>
        <c:ser>
          <c:idx val="1"/>
          <c:order val="1"/>
          <c:tx>
            <c:strRef>
              <c:f>Sheet1!$C$1</c:f>
              <c:strCache>
                <c:ptCount val="1"/>
                <c:pt idx="0">
                  <c:v>Intimate &amp; Bodywear</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20.51958712904834</c:v>
                </c:pt>
                <c:pt idx="1">
                  <c:v>19.625346197743145</c:v>
                </c:pt>
                <c:pt idx="2">
                  <c:v>17.28719866266406</c:v>
                </c:pt>
              </c:numCache>
            </c:numRef>
          </c:val>
        </c:ser>
        <c:ser>
          <c:idx val="2"/>
          <c:order val="2"/>
          <c:tx>
            <c:strRef>
              <c:f>Sheet1!$D$1</c:f>
              <c:strCache>
                <c:ptCount val="1"/>
                <c:pt idx="0">
                  <c:v>Footwear</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15.54353904341095</c:v>
                </c:pt>
                <c:pt idx="1">
                  <c:v>15.65554792108135</c:v>
                </c:pt>
                <c:pt idx="2">
                  <c:v>15.934235896186575</c:v>
                </c:pt>
              </c:numCache>
            </c:numRef>
          </c:val>
        </c:ser>
        <c:ser>
          <c:idx val="3"/>
          <c:order val="3"/>
          <c:tx>
            <c:strRef>
              <c:f>Sheet1!$E$1</c:f>
              <c:strCache>
                <c:ptCount val="1"/>
                <c:pt idx="0">
                  <c:v>Medical &amp; Healthcare</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9.9413529319402</c:v>
                </c:pt>
                <c:pt idx="1">
                  <c:v>10.392957293777776</c:v>
                </c:pt>
                <c:pt idx="2">
                  <c:v>11.233044891469675</c:v>
                </c:pt>
              </c:numCache>
            </c:numRef>
          </c:val>
        </c:ser>
        <c:ser>
          <c:idx val="4"/>
          <c:order val="4"/>
          <c:tx>
            <c:strRef>
              <c:f>Sheet1!$F$1</c:f>
              <c:strCache>
                <c:ptCount val="1"/>
                <c:pt idx="0">
                  <c:v>Protective &amp; Occupational Wear</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9.550464300766627</c:v>
                </c:pt>
                <c:pt idx="1">
                  <c:v>9.568241613786705</c:v>
                </c:pt>
                <c:pt idx="2">
                  <c:v>9.94082641078203</c:v>
                </c:pt>
              </c:numCache>
            </c:numRef>
          </c:val>
        </c:ser>
        <c:ser>
          <c:idx val="5"/>
          <c:order val="5"/>
          <c:tx>
            <c:strRef>
              <c:f>Sheet1!$G$1</c:f>
              <c:strCache>
                <c:ptCount val="1"/>
                <c:pt idx="0">
                  <c:v>Industrial &amp; Technical Applications</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6.738214804183802</c:v>
                </c:pt>
                <c:pt idx="1">
                  <c:v>7.240368533391843</c:v>
                </c:pt>
                <c:pt idx="2">
                  <c:v>7.6614732172193225</c:v>
                </c:pt>
              </c:numCache>
            </c:numRef>
          </c:val>
        </c:ser>
        <c:ser>
          <c:idx val="6"/>
          <c:order val="6"/>
          <c:tx>
            <c:strRef>
              <c:f>Sheet1!$H$1</c:f>
              <c:strCache>
                <c:ptCount val="1"/>
                <c:pt idx="0">
                  <c:v>Automotive &amp; Transportation</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8.084976268459778</c:v>
                </c:pt>
                <c:pt idx="1">
                  <c:v>7.709022601251412</c:v>
                </c:pt>
                <c:pt idx="2">
                  <c:v>7.588948707140418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7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03E58"/>
            </a:solidFill>
            <a:ln>
              <a:noFill/>
            </a:ln>
          </c:spPr>
          <c:cat>
            <c:strRef>
              <c:f>Sheet1!$A$2:$A$4</c:f>
              <c:strCache>
                <c:ptCount val="3"/>
                <c:pt idx="0">
                  <c:v>2021–2026</c:v>
                </c:pt>
                <c:pt idx="1">
                  <c:v>2026–2036</c:v>
                </c:pt>
                <c:pt idx="2">
                  <c:v>2021–2036</c:v>
                </c:pt>
              </c:strCache>
            </c:strRef>
          </c:cat>
          <c:val>
            <c:numRef>
              <c:f>Sheet1!$B$2:$B$4</c:f>
              <c:numCache>
                <c:formatCode>General</c:formatCode>
                <c:ptCount val="3"/>
                <c:pt idx="0">
                  <c:v>4.845131579306661</c:v>
                </c:pt>
                <c:pt idx="1">
                  <c:v>5.108115414440806</c:v>
                </c:pt>
                <c:pt idx="2">
                  <c:v>5.020380923836121</c:v>
                </c:pt>
              </c:numCache>
            </c:numRef>
          </c:val>
        </c:ser>
        <c:dLbls>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6.742712347061864"/>
          <c:min val="0.0"/>
        </c:scaling>
        <c:delete val="0"/>
        <c:axPos val="l"/>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7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2021</c:v>
                </c:pt>
                <c:pt idx="1">
                  <c:v>2021–2026</c:v>
                </c:pt>
                <c:pt idx="2">
                  <c:v>2026</c:v>
                </c:pt>
                <c:pt idx="3">
                  <c:v>2026–2036</c:v>
                </c:pt>
                <c:pt idx="4">
                  <c:v>2036</c:v>
                </c:pt>
              </c:strCache>
            </c:strRef>
          </c:cat>
          <c:val>
            <c:numRef>
              <c:f>Sheet1!$B$2:$B$6</c:f>
              <c:numCache>
                <c:formatCode>General</c:formatCode>
                <c:ptCount val="5"/>
                <c:pt idx="0">
                  <c:v>0.0</c:v>
                </c:pt>
                <c:pt idx="1">
                  <c:v>67.985</c:v>
                </c:pt>
                <c:pt idx="2">
                  <c:v>0.0</c:v>
                </c:pt>
                <c:pt idx="3">
                  <c:v>86.13</c:v>
                </c:pt>
                <c:pt idx="4">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00A4DC"/>
              </a:solidFill>
            </c:spPr>
          </c:dPt>
          <c:dPt>
            <c:idx val="3"/>
            <c:spPr>
              <a:solidFill>
                <a:srgbClr val="2F6FB0"/>
              </a:solidFill>
            </c:spPr>
          </c:dPt>
          <c:dPt>
            <c:idx val="4"/>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Sheet1!$A$2:$A$6</c:f>
              <c:strCache>
                <c:ptCount val="5"/>
                <c:pt idx="0">
                  <c:v>2021</c:v>
                </c:pt>
                <c:pt idx="1">
                  <c:v>2021–2026</c:v>
                </c:pt>
                <c:pt idx="2">
                  <c:v>2026</c:v>
                </c:pt>
                <c:pt idx="3">
                  <c:v>2026–2036</c:v>
                </c:pt>
                <c:pt idx="4">
                  <c:v>2036</c:v>
                </c:pt>
              </c:strCache>
            </c:strRef>
          </c:cat>
          <c:val>
            <c:numRef>
              <c:f>Sheet1!$C$2:$C$6</c:f>
              <c:numCache>
                <c:formatCode>General</c:formatCode>
                <c:ptCount val="5"/>
                <c:pt idx="0">
                  <c:v>67.985</c:v>
                </c:pt>
                <c:pt idx="1">
                  <c:v>18.144999999999996</c:v>
                </c:pt>
                <c:pt idx="2">
                  <c:v>86.13</c:v>
                </c:pt>
                <c:pt idx="3">
                  <c:v>55.617999999999995</c:v>
                </c:pt>
                <c:pt idx="4">
                  <c:v>141.748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03E58"/>
            </a:solidFill>
            <a:ln>
              <a:noFill/>
            </a:ln>
          </c:spPr>
          <c:cat>
            <c:strRef>
              <c:f>Sheet1!$A$2:$A$4</c:f>
              <c:strCache>
                <c:ptCount val="3"/>
                <c:pt idx="0">
                  <c:v>2021–2026</c:v>
                </c:pt>
                <c:pt idx="1">
                  <c:v>2026–2036</c:v>
                </c:pt>
                <c:pt idx="2">
                  <c:v>2021–2036</c:v>
                </c:pt>
              </c:strCache>
            </c:strRef>
          </c:cat>
          <c:val>
            <c:numRef>
              <c:f>Sheet1!$B$2:$B$4</c:f>
              <c:numCache>
                <c:formatCode>General</c:formatCode>
                <c:ptCount val="3"/>
                <c:pt idx="0">
                  <c:v>5.5978276367645075</c:v>
                </c:pt>
                <c:pt idx="1">
                  <c:v>6.701743857221287</c:v>
                </c:pt>
                <c:pt idx="2">
                  <c:v>6.3324954492955055</c:v>
                </c:pt>
              </c:numCache>
            </c:numRef>
          </c:val>
        </c:ser>
        <c:dLbls>
          <c:numFmt formatCode="0.0&quot;%&quot;"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8.8463018915321"/>
          <c:min val="0.0"/>
        </c:scaling>
        <c:delete val="0"/>
        <c:axPos val="l"/>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7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2021</c:v>
                </c:pt>
                <c:pt idx="1">
                  <c:v>2021–2026</c:v>
                </c:pt>
                <c:pt idx="2">
                  <c:v>2026</c:v>
                </c:pt>
                <c:pt idx="3">
                  <c:v>2026–2036</c:v>
                </c:pt>
                <c:pt idx="4">
                  <c:v>2036</c:v>
                </c:pt>
              </c:strCache>
            </c:strRef>
          </c:cat>
          <c:val>
            <c:numRef>
              <c:f>Sheet1!$B$2:$B$6</c:f>
              <c:numCache>
                <c:formatCode>General</c:formatCode>
                <c:ptCount val="5"/>
                <c:pt idx="0">
                  <c:v>0.0</c:v>
                </c:pt>
                <c:pt idx="1">
                  <c:v>194.393</c:v>
                </c:pt>
                <c:pt idx="2">
                  <c:v>0.0</c:v>
                </c:pt>
                <c:pt idx="3">
                  <c:v>255.244</c:v>
                </c:pt>
                <c:pt idx="4">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00A4DC"/>
              </a:solidFill>
            </c:spPr>
          </c:dPt>
          <c:dPt>
            <c:idx val="3"/>
            <c:spPr>
              <a:solidFill>
                <a:srgbClr val="2F6FB0"/>
              </a:solidFill>
            </c:spPr>
          </c:dPt>
          <c:dPt>
            <c:idx val="4"/>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Sheet1!$A$2:$A$6</c:f>
              <c:strCache>
                <c:ptCount val="5"/>
                <c:pt idx="0">
                  <c:v>2021</c:v>
                </c:pt>
                <c:pt idx="1">
                  <c:v>2021–2026</c:v>
                </c:pt>
                <c:pt idx="2">
                  <c:v>2026</c:v>
                </c:pt>
                <c:pt idx="3">
                  <c:v>2026–2036</c:v>
                </c:pt>
                <c:pt idx="4">
                  <c:v>2036</c:v>
                </c:pt>
              </c:strCache>
            </c:strRef>
          </c:cat>
          <c:val>
            <c:numRef>
              <c:f>Sheet1!$C$2:$C$6</c:f>
              <c:numCache>
                <c:formatCode>General</c:formatCode>
                <c:ptCount val="5"/>
                <c:pt idx="0">
                  <c:v>194.393</c:v>
                </c:pt>
                <c:pt idx="1">
                  <c:v>60.851</c:v>
                </c:pt>
                <c:pt idx="2">
                  <c:v>255.244</c:v>
                </c:pt>
                <c:pt idx="3">
                  <c:v>233.03799999999998</c:v>
                </c:pt>
                <c:pt idx="4">
                  <c:v>488.282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7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A9D8EF"/>
            </a:solidFill>
            <a:ln>
              <a:noFill/>
            </a:ln>
          </c:spPr>
          <c:dLbls>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Sheet1!$B$2:$B$6</c:f>
              <c:numCache>
                <c:formatCode>General</c:formatCode>
                <c:ptCount val="5"/>
                <c:pt idx="0">
                  <c:v>194.393</c:v>
                </c:pt>
                <c:pt idx="1">
                  <c:v>204.2</c:v>
                </c:pt>
                <c:pt idx="2">
                  <c:v>214.928</c:v>
                </c:pt>
                <c:pt idx="3">
                  <c:v>226.803</c:v>
                </c:pt>
                <c:pt idx="4">
                  <c:v>239.97400000000002</c:v>
                </c:pt>
              </c:numCache>
            </c:numRef>
          </c:val>
        </c:ser>
        <c:gapWidth val="50"/>
        <c:axId val="-2068027336"/>
        <c:axId val="-2113994440"/>
      </c:barChart>
      <c:barChart>
        <c:barDir val="col"/>
        <c:grouping val="clustered"/>
        <c:varyColors val="0"/>
        <c:ser>
          <c:idx val="1"/>
          <c:order val="1"/>
          <c:tx>
            <c:strRef>
              <c:f>Sheet1!$C$1</c:f>
              <c:strCache>
                <c:ptCount val="1"/>
                <c:pt idx="0">
                  <c:v>Volume (Mn Sq. Yards)</c:v>
                </c:pt>
              </c:strCache>
            </c:strRef>
          </c:tx>
          <c:spPr>
            <a:solidFill>
              <a:srgbClr val="F1975A"/>
            </a:solidFill>
            <a:ln>
              <a:noFill/>
            </a:ln>
          </c:spPr>
          <c:dLbls>
            <c:numFmt formatCode="0.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Sheet1!$C$2:$C$6</c:f>
              <c:numCache>
                <c:formatCode>General</c:formatCode>
                <c:ptCount val="5"/>
                <c:pt idx="0">
                  <c:v>67.985</c:v>
                </c:pt>
                <c:pt idx="1">
                  <c:v>70.993</c:v>
                </c:pt>
                <c:pt idx="2">
                  <c:v>74.264</c:v>
                </c:pt>
                <c:pt idx="3">
                  <c:v>77.835</c:v>
                </c:pt>
                <c:pt idx="4">
                  <c:v>81.798</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max val="283"/>
          <c:min val="0"/>
        </c:scaling>
        <c:delete val="0"/>
        <c:axPos val="l"/>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13"/>
          <c:min val="0"/>
        </c:scaling>
        <c:delete val="0"/>
        <c:axPos val="r"/>
        <c:numFmt formatCode="General"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47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A9D8EF"/>
            </a:solidFill>
            <a:ln>
              <a:noFill/>
            </a:ln>
          </c:spPr>
          <c:dLbls>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Sheet1!$B$2:$B$12</c:f>
              <c:numCache>
                <c:formatCode>General</c:formatCode>
                <c:ptCount val="11"/>
                <c:pt idx="0">
                  <c:v>255.244</c:v>
                </c:pt>
                <c:pt idx="1">
                  <c:v>272.01599999999996</c:v>
                </c:pt>
                <c:pt idx="2">
                  <c:v>290.348</c:v>
                </c:pt>
                <c:pt idx="3">
                  <c:v>310.014</c:v>
                </c:pt>
                <c:pt idx="4">
                  <c:v>330.96400000000006</c:v>
                </c:pt>
                <c:pt idx="5">
                  <c:v>353.14</c:v>
                </c:pt>
                <c:pt idx="6">
                  <c:v>376.832</c:v>
                </c:pt>
                <c:pt idx="7">
                  <c:v>402.153</c:v>
                </c:pt>
                <c:pt idx="8">
                  <c:v>429.15199999999993</c:v>
                </c:pt>
                <c:pt idx="9">
                  <c:v>457.872</c:v>
                </c:pt>
                <c:pt idx="10">
                  <c:v>488.282</c:v>
                </c:pt>
              </c:numCache>
            </c:numRef>
          </c:val>
        </c:ser>
        <c:gapWidth val="50"/>
        <c:axId val="-2068027336"/>
        <c:axId val="-2113994440"/>
      </c:barChart>
      <c:barChart>
        <c:barDir val="col"/>
        <c:grouping val="clustered"/>
        <c:varyColors val="0"/>
        <c:ser>
          <c:idx val="1"/>
          <c:order val="1"/>
          <c:tx>
            <c:strRef>
              <c:f>Sheet1!$C$1</c:f>
              <c:strCache>
                <c:ptCount val="1"/>
                <c:pt idx="0">
                  <c:v>Volume (Mn Sq. Yards)</c:v>
                </c:pt>
              </c:strCache>
            </c:strRef>
          </c:tx>
          <c:spPr>
            <a:solidFill>
              <a:srgbClr val="F1975A"/>
            </a:solidFill>
            <a:ln>
              <a:noFill/>
            </a:ln>
          </c:spPr>
          <c:dLbls>
            <c:numFmt formatCode="#,##0"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Sheet1!$C$2:$C$12</c:f>
              <c:numCache>
                <c:formatCode>General</c:formatCode>
                <c:ptCount val="11"/>
                <c:pt idx="0">
                  <c:v>86.13</c:v>
                </c:pt>
                <c:pt idx="1">
                  <c:v>90.816</c:v>
                </c:pt>
                <c:pt idx="2">
                  <c:v>95.84100000000001</c:v>
                </c:pt>
                <c:pt idx="3">
                  <c:v>101.093</c:v>
                </c:pt>
                <c:pt idx="4">
                  <c:v>106.5</c:v>
                </c:pt>
                <c:pt idx="5">
                  <c:v>112.001</c:v>
                </c:pt>
                <c:pt idx="6">
                  <c:v>117.656</c:v>
                </c:pt>
                <c:pt idx="7">
                  <c:v>123.479</c:v>
                </c:pt>
                <c:pt idx="8">
                  <c:v>129.475</c:v>
                </c:pt>
                <c:pt idx="9">
                  <c:v>135.57</c:v>
                </c:pt>
                <c:pt idx="10">
                  <c:v>141.748</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max val="576"/>
          <c:min val="0"/>
        </c:scaling>
        <c:delete val="0"/>
        <c:axPos val="l"/>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221"/>
          <c:min val="0"/>
        </c:scaling>
        <c:delete val="0"/>
        <c:axPos val="r"/>
        <c:numFmt formatCode="General"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47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Index</c:v>
                </c:pt>
              </c:strCache>
            </c:strRef>
          </c:tx>
          <c:spPr>
            <a:solidFill>
              <a:srgbClr val="00A4DC"/>
            </a:solidFill>
            <a:ln>
              <a:noFill/>
            </a:ln>
          </c:spPr>
          <c:cat>
            <c:strRef>
              <c:f>Sheet1!$A$2:$A$3</c:f>
              <c:strCache>
                <c:ptCount val="2"/>
                <c:pt idx="0">
                  <c:v>Turkiye</c:v>
                </c:pt>
                <c:pt idx="1">
                  <c:v>South Africa</c:v>
                </c:pt>
              </c:strCache>
            </c:strRef>
          </c:cat>
          <c:val>
            <c:numRef>
              <c:f>Sheet1!$B$2:$B$3</c:f>
              <c:numCache>
                <c:formatCode>General</c:formatCode>
                <c:ptCount val="2"/>
                <c:pt idx="0">
                  <c:v>84.5709588386279</c:v>
                </c:pt>
                <c:pt idx="1">
                  <c:v>86.27365764838798</c:v>
                </c:pt>
              </c:numCache>
            </c:numRef>
          </c:val>
        </c:ser>
        <c:dLbls>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7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Index</c:v>
                </c:pt>
              </c:strCache>
            </c:strRef>
          </c:tx>
          <c:spPr>
            <a:solidFill>
              <a:srgbClr val="00A4DC"/>
            </a:solidFill>
            <a:ln>
              <a:noFill/>
            </a:ln>
          </c:spPr>
          <c:cat>
            <c:strRef>
              <c:f>Sheet1!$A$2:$A$3</c:f>
              <c:strCache>
                <c:ptCount val="2"/>
                <c:pt idx="0">
                  <c:v>South Africa</c:v>
                </c:pt>
                <c:pt idx="1">
                  <c:v>Turkiye</c:v>
                </c:pt>
              </c:strCache>
            </c:strRef>
          </c:cat>
          <c:val>
            <c:numRef>
              <c:f>Sheet1!$B$2:$B$3</c:f>
              <c:numCache>
                <c:formatCode>General</c:formatCode>
                <c:ptCount val="2"/>
                <c:pt idx="0">
                  <c:v>7.233584222315674</c:v>
                </c:pt>
                <c:pt idx="1">
                  <c:v>21.467314343583453</c:v>
                </c:pt>
              </c:numCache>
            </c:numRef>
          </c:val>
        </c:ser>
        <c:dLbls>
          <c:numFmt formatCode="0.0" sourceLinked="0"/>
          <c:txPr>
            <a:bodyPr rot="0" vert="horz"/>
            <a:lstStyle/>
            <a:p>
              <a:pPr>
                <a:defRPr sz="1100">
                  <a:latin typeface="Segoe U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7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00A4DC"/>
              </a:solidFill>
            </c:spPr>
          </c:dPt>
          <c:dPt>
            <c:idx val="1"/>
            <c:spPr>
              <a:solidFill>
                <a:srgbClr val="6ECFF2"/>
              </a:solidFill>
            </c:spPr>
          </c:dPt>
          <c:dLbls>
            <c:dLbl>
              <c:idx val="0"/>
              <c:tx>
                <c:rich>
                  <a:bodyPr/>
                  <a:lstStyle/>
                  <a:p>
                    <a:pPr>
                      <a:defRPr sz="1100" b="1">
                        <a:solidFill>
                          <a:srgbClr val="FFFFFF"/>
                        </a:solidFill>
                        <a:latin typeface="Segoe UI"/>
                      </a:defRPr>
                    </a:pPr>
                    <a:r>
                      <a:t>23.6%</a:t>
                    </a:r>
                  </a:p>
                </c:rich>
              </c:tx>
              <c:showLegendKey val="0"/>
              <c:showVal val="1"/>
              <c:showCatName val="0"/>
              <c:showSerName val="0"/>
              <c:showPercent val="0"/>
              <c:showBubbleSize val="0"/>
            </c:dLbl>
            <c:dLbl>
              <c:idx val="1"/>
              <c:tx>
                <c:rich>
                  <a:bodyPr/>
                  <a:lstStyle/>
                  <a:p>
                    <a:pPr>
                      <a:defRPr sz="1100" b="1">
                        <a:solidFill>
                          <a:srgbClr val="252423"/>
                        </a:solidFill>
                        <a:latin typeface="Segoe UI"/>
                      </a:defRPr>
                    </a:pPr>
                    <a:r>
                      <a:t>76.4%</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Warp Knitted Fabrics</c:v>
                </c:pt>
                <c:pt idx="1">
                  <c:v>Weft Knitted Fabrics</c:v>
                </c:pt>
              </c:strCache>
            </c:strRef>
          </c:cat>
          <c:val>
            <c:numRef>
              <c:f>Sheet1!$B$2:$B$3</c:f>
              <c:numCache>
                <c:formatCode>General</c:formatCode>
                <c:ptCount val="2"/>
                <c:pt idx="0">
                  <c:v>115.113</c:v>
                </c:pt>
                <c:pt idx="1">
                  <c:v>373.169</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Segoe UI"/>
        </a:defRPr>
      </a:pPr>
      <a:endParaRPr/>
    </a:p>
  </c:txPr>
  <c:externalData r:id="rId1">
    <c:autoUpdate val="0"/>
  </c:externalData>
</c:chartSpace>
</file>

<file path=ppt/charts/chart48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Turkiye</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Sheet1!$B$2:$B$3</c:f>
              <c:numCache>
                <c:formatCode>General</c:formatCode>
                <c:ptCount val="2"/>
                <c:pt idx="0">
                  <c:v>28.828849748632862</c:v>
                </c:pt>
                <c:pt idx="1">
                  <c:v>27.351162971167348</c:v>
                </c:pt>
              </c:numCache>
            </c:numRef>
          </c:val>
        </c:ser>
        <c:ser>
          <c:idx val="1"/>
          <c:order val="1"/>
          <c:tx>
            <c:strRef>
              <c:f>Sheet1!$C$1</c:f>
              <c:strCache>
                <c:ptCount val="1"/>
                <c:pt idx="0">
                  <c:v>GCC</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Sheet1!$C$2:$C$3</c:f>
              <c:numCache>
                <c:formatCode>General</c:formatCode>
                <c:ptCount val="2"/>
                <c:pt idx="0">
                  <c:v>25.6324815102927</c:v>
                </c:pt>
                <c:pt idx="1">
                  <c:v>26.448863836781918</c:v>
                </c:pt>
              </c:numCache>
            </c:numRef>
          </c:val>
        </c:ser>
        <c:ser>
          <c:idx val="2"/>
          <c:order val="2"/>
          <c:tx>
            <c:strRef>
              <c:f>Sheet1!$D$1</c:f>
              <c:strCache>
                <c:ptCount val="1"/>
                <c:pt idx="0">
                  <c:v>KSA</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Sheet1!$D$2:$D$3</c:f>
              <c:numCache>
                <c:formatCode>General</c:formatCode>
                <c:ptCount val="2"/>
                <c:pt idx="0">
                  <c:v>22.180682464675076</c:v>
                </c:pt>
                <c:pt idx="1">
                  <c:v>23.742671905974646</c:v>
                </c:pt>
              </c:numCache>
            </c:numRef>
          </c:val>
        </c:ser>
        <c:ser>
          <c:idx val="3"/>
          <c:order val="3"/>
          <c:tx>
            <c:strRef>
              <c:f>Sheet1!$E$1</c:f>
              <c:strCache>
                <c:ptCount val="1"/>
                <c:pt idx="0">
                  <c:v>African Union</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Sheet1!$E$2:$E$3</c:f>
              <c:numCache>
                <c:formatCode>General</c:formatCode>
                <c:ptCount val="2"/>
                <c:pt idx="0">
                  <c:v>13.595885241904584</c:v>
                </c:pt>
                <c:pt idx="1">
                  <c:v>13.2833388595334</c:v>
                </c:pt>
              </c:numCache>
            </c:numRef>
          </c:val>
        </c:ser>
        <c:ser>
          <c:idx val="4"/>
          <c:order val="4"/>
          <c:tx>
            <c:strRef>
              <c:f>Sheet1!$F$1</c:f>
              <c:strCache>
                <c:ptCount val="1"/>
                <c:pt idx="0">
                  <c:v>South Africa</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Sheet1!$F$2:$F$3</c:f>
              <c:numCache>
                <c:formatCode>General</c:formatCode>
                <c:ptCount val="2"/>
                <c:pt idx="0">
                  <c:v>9.76210103449477</c:v>
                </c:pt>
                <c:pt idx="1">
                  <c:v>9.173962426542692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8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GCC</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Sheet1!$B$2:$B$3</c:f>
              <c:numCache>
                <c:formatCode>General</c:formatCode>
                <c:ptCount val="2"/>
                <c:pt idx="0">
                  <c:v>27.71840057670759</c:v>
                </c:pt>
                <c:pt idx="1">
                  <c:v>29.66537847928353</c:v>
                </c:pt>
              </c:numCache>
            </c:numRef>
          </c:val>
        </c:ser>
        <c:ser>
          <c:idx val="1"/>
          <c:order val="1"/>
          <c:tx>
            <c:strRef>
              <c:f>Sheet1!$C$1</c:f>
              <c:strCache>
                <c:ptCount val="1"/>
                <c:pt idx="0">
                  <c:v>KSA</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Sheet1!$C$2:$C$3</c:f>
              <c:numCache>
                <c:formatCode>General</c:formatCode>
                <c:ptCount val="2"/>
                <c:pt idx="0">
                  <c:v>23.287311649336708</c:v>
                </c:pt>
                <c:pt idx="1">
                  <c:v>24.641038086519494</c:v>
                </c:pt>
              </c:numCache>
            </c:numRef>
          </c:val>
        </c:ser>
        <c:ser>
          <c:idx val="2"/>
          <c:order val="2"/>
          <c:tx>
            <c:strRef>
              <c:f>Sheet1!$D$1</c:f>
              <c:strCache>
                <c:ptCount val="1"/>
                <c:pt idx="0">
                  <c:v>Turkiye</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Sheet1!$D$2:$D$3</c:f>
              <c:numCache>
                <c:formatCode>General</c:formatCode>
                <c:ptCount val="2"/>
                <c:pt idx="0">
                  <c:v>26.648827387342212</c:v>
                </c:pt>
                <c:pt idx="1">
                  <c:v>24.175529354902793</c:v>
                </c:pt>
              </c:numCache>
            </c:numRef>
          </c:val>
        </c:ser>
        <c:ser>
          <c:idx val="3"/>
          <c:order val="3"/>
          <c:tx>
            <c:strRef>
              <c:f>Sheet1!$E$1</c:f>
              <c:strCache>
                <c:ptCount val="1"/>
                <c:pt idx="0">
                  <c:v>African Union</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Sheet1!$E$2:$E$3</c:f>
              <c:numCache>
                <c:formatCode>General</c:formatCode>
                <c:ptCount val="2"/>
                <c:pt idx="0">
                  <c:v>13.590239850808253</c:v>
                </c:pt>
                <c:pt idx="1">
                  <c:v>13.488898855786502</c:v>
                </c:pt>
              </c:numCache>
            </c:numRef>
          </c:val>
        </c:ser>
        <c:ser>
          <c:idx val="4"/>
          <c:order val="4"/>
          <c:tx>
            <c:strRef>
              <c:f>Sheet1!$F$1</c:f>
              <c:strCache>
                <c:ptCount val="1"/>
                <c:pt idx="0">
                  <c:v>South Africa</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Sheet1!$F$2:$F$3</c:f>
              <c:numCache>
                <c:formatCode>General</c:formatCode>
                <c:ptCount val="2"/>
                <c:pt idx="0">
                  <c:v>8.755220535805236</c:v>
                </c:pt>
                <c:pt idx="1">
                  <c:v>8.029155223507678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8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Turkiye</c:v>
                </c:pt>
              </c:strCache>
            </c:strRef>
          </c:tx>
          <c:spPr>
            <a:solidFill>
              <a:srgbClr val="00A4DC"/>
            </a:solidFill>
            <a:ln>
              <a:noFill/>
            </a:ln>
          </c:spPr>
          <c:dLbls>
            <c:dLbl>
              <c:idx val="0"/>
              <c:tx>
                <c:rich>
                  <a:bodyPr/>
                  <a:lstStyle/>
                  <a:p>
                    <a:r>
                      <a:rPr sz="1100">
                        <a:solidFill>
                          <a:srgbClr val="FFFFFF"/>
                        </a:solidFill>
                        <a:latin typeface="Segoe UI"/>
                      </a:rPr>
                      <a:t>20.0</a:t>
                    </a:r>
                  </a:p>
                </c:rich>
              </c:tx>
              <c:dLblPos val="ctr"/>
              <c:showLegendKey val="0"/>
              <c:showVal val="1"/>
              <c:showCatName val="0"/>
              <c:showSerName val="0"/>
              <c:showPercent val="0"/>
              <c:showBubbleSize val="0"/>
            </c:dLbl>
            <c:dLbl>
              <c:idx val="1"/>
              <c:tx>
                <c:rich>
                  <a:bodyPr/>
                  <a:lstStyle/>
                  <a:p>
                    <a:r>
                      <a:rPr sz="1100">
                        <a:solidFill>
                          <a:srgbClr val="FFFFFF"/>
                        </a:solidFill>
                        <a:latin typeface="Segoe UI"/>
                      </a:rPr>
                      <a:t>20.8</a:t>
                    </a:r>
                  </a:p>
                </c:rich>
              </c:tx>
              <c:dLblPos val="ctr"/>
              <c:showLegendKey val="0"/>
              <c:showVal val="1"/>
              <c:showCatName val="0"/>
              <c:showSerName val="0"/>
              <c:showPercent val="0"/>
              <c:showBubbleSize val="0"/>
            </c:dLbl>
            <c:dLbl>
              <c:idx val="2"/>
              <c:tx>
                <c:rich>
                  <a:bodyPr/>
                  <a:lstStyle/>
                  <a:p>
                    <a:r>
                      <a:rPr sz="1100">
                        <a:solidFill>
                          <a:srgbClr val="FFFFFF"/>
                        </a:solidFill>
                        <a:latin typeface="Segoe UI"/>
                      </a:rPr>
                      <a:t>21.7</a:t>
                    </a:r>
                  </a:p>
                </c:rich>
              </c:tx>
              <c:dLblPos val="ctr"/>
              <c:showLegendKey val="0"/>
              <c:showVal val="1"/>
              <c:showCatName val="0"/>
              <c:showSerName val="0"/>
              <c:showPercent val="0"/>
              <c:showBubbleSize val="0"/>
            </c:dLbl>
            <c:dLbl>
              <c:idx val="3"/>
              <c:tx>
                <c:rich>
                  <a:bodyPr/>
                  <a:lstStyle/>
                  <a:p>
                    <a:r>
                      <a:rPr sz="1100">
                        <a:solidFill>
                          <a:srgbClr val="FFFFFF"/>
                        </a:solidFill>
                        <a:latin typeface="Segoe UI"/>
                      </a:rPr>
                      <a:t>22.6</a:t>
                    </a:r>
                  </a:p>
                </c:rich>
              </c:tx>
              <c:dLblPos val="ctr"/>
              <c:showLegendKey val="0"/>
              <c:showVal val="1"/>
              <c:showCatName val="0"/>
              <c:showSerName val="0"/>
              <c:showPercent val="0"/>
              <c:showBubbleSize val="0"/>
            </c:dLbl>
            <c:dLbl>
              <c:idx val="4"/>
              <c:tx>
                <c:rich>
                  <a:bodyPr/>
                  <a:lstStyle/>
                  <a:p>
                    <a:r>
                      <a:rPr sz="1100">
                        <a:solidFill>
                          <a:srgbClr val="FFFFFF"/>
                        </a:solidFill>
                        <a:latin typeface="Segoe UI"/>
                      </a:rPr>
                      <a:t>23.6</a:t>
                    </a:r>
                  </a:p>
                </c:rich>
              </c:tx>
              <c:dLblPos val="ctr"/>
              <c:showLegendKey val="0"/>
              <c:showVal val="1"/>
              <c:showCatName val="0"/>
              <c:showSerName val="0"/>
              <c:showPercent val="0"/>
              <c:showBubbleSize val="0"/>
            </c:dLbl>
            <c:dLbl>
              <c:idx val="5"/>
              <c:tx>
                <c:rich>
                  <a:bodyPr/>
                  <a:lstStyle/>
                  <a:p>
                    <a:r>
                      <a:rPr sz="1100">
                        <a:solidFill>
                          <a:srgbClr val="FFFFFF"/>
                        </a:solidFill>
                        <a:latin typeface="Segoe UI"/>
                      </a:rPr>
                      <a:t>24.8</a:t>
                    </a:r>
                  </a:p>
                </c:rich>
              </c:tx>
              <c:dLblPos val="ctr"/>
              <c:showLegendKey val="0"/>
              <c:showVal val="1"/>
              <c:showCatName val="0"/>
              <c:showSerName val="0"/>
              <c:showPercent val="0"/>
              <c:showBubbleSize val="0"/>
            </c:dLbl>
            <c:dLbl>
              <c:idx val="6"/>
              <c:tx>
                <c:rich>
                  <a:bodyPr/>
                  <a:lstStyle/>
                  <a:p>
                    <a:r>
                      <a:rPr sz="1100">
                        <a:solidFill>
                          <a:srgbClr val="FFFFFF"/>
                        </a:solidFill>
                        <a:latin typeface="Segoe UI"/>
                      </a:rPr>
                      <a:t>26.1</a:t>
                    </a:r>
                  </a:p>
                </c:rich>
              </c:tx>
              <c:dLblPos val="ctr"/>
              <c:showLegendKey val="0"/>
              <c:showVal val="1"/>
              <c:showCatName val="0"/>
              <c:showSerName val="0"/>
              <c:showPercent val="0"/>
              <c:showBubbleSize val="0"/>
            </c:dLbl>
            <c:dLbl>
              <c:idx val="7"/>
              <c:tx>
                <c:rich>
                  <a:bodyPr/>
                  <a:lstStyle/>
                  <a:p>
                    <a:r>
                      <a:rPr sz="1100">
                        <a:solidFill>
                          <a:srgbClr val="FFFFFF"/>
                        </a:solidFill>
                        <a:latin typeface="Segoe UI"/>
                      </a:rPr>
                      <a:t>27.6</a:t>
                    </a:r>
                  </a:p>
                </c:rich>
              </c:tx>
              <c:dLblPos val="ctr"/>
              <c:showLegendKey val="0"/>
              <c:showVal val="1"/>
              <c:showCatName val="0"/>
              <c:showSerName val="0"/>
              <c:showPercent val="0"/>
              <c:showBubbleSize val="0"/>
            </c:dLbl>
            <c:dLbl>
              <c:idx val="8"/>
              <c:tx>
                <c:rich>
                  <a:bodyPr/>
                  <a:lstStyle/>
                  <a:p>
                    <a:r>
                      <a:rPr sz="1100">
                        <a:solidFill>
                          <a:srgbClr val="FFFFFF"/>
                        </a:solidFill>
                        <a:latin typeface="Segoe UI"/>
                      </a:rPr>
                      <a:t>29.0</a:t>
                    </a:r>
                  </a:p>
                </c:rich>
              </c:tx>
              <c:dLblPos val="ctr"/>
              <c:showLegendKey val="0"/>
              <c:showVal val="1"/>
              <c:showCatName val="0"/>
              <c:showSerName val="0"/>
              <c:showPercent val="0"/>
              <c:showBubbleSize val="0"/>
            </c:dLbl>
            <c:dLbl>
              <c:idx val="9"/>
              <c:tx>
                <c:rich>
                  <a:bodyPr/>
                  <a:lstStyle/>
                  <a:p>
                    <a:r>
                      <a:rPr sz="1100">
                        <a:solidFill>
                          <a:srgbClr val="FFFFFF"/>
                        </a:solidFill>
                        <a:latin typeface="Segoe UI"/>
                      </a:rPr>
                      <a:t>30.5</a:t>
                    </a:r>
                  </a:p>
                </c:rich>
              </c:tx>
              <c:dLblPos val="ctr"/>
              <c:showLegendKey val="0"/>
              <c:showVal val="1"/>
              <c:showCatName val="0"/>
              <c:showSerName val="0"/>
              <c:showPercent val="0"/>
              <c:showBubbleSize val="0"/>
            </c:dLbl>
            <c:dLbl>
              <c:idx val="10"/>
              <c:tx>
                <c:rich>
                  <a:bodyPr/>
                  <a:lstStyle/>
                  <a:p>
                    <a:r>
                      <a:rPr sz="1100">
                        <a:solidFill>
                          <a:srgbClr val="FFFFFF"/>
                        </a:solidFill>
                        <a:latin typeface="Segoe UI"/>
                      </a:rPr>
                      <a:t>31.9</a:t>
                    </a:r>
                  </a:p>
                </c:rich>
              </c:tx>
              <c:dLblPos val="ctr"/>
              <c:showLegendKey val="0"/>
              <c:showVal val="1"/>
              <c:showCatName val="0"/>
              <c:showSerName val="0"/>
              <c:showPercent val="0"/>
              <c:showBubbleSize val="0"/>
            </c:dLbl>
            <c:dLbl>
              <c:idx val="11"/>
              <c:tx>
                <c:rich>
                  <a:bodyPr/>
                  <a:lstStyle/>
                  <a:p>
                    <a:r>
                      <a:rPr sz="1100">
                        <a:solidFill>
                          <a:srgbClr val="FFFFFF"/>
                        </a:solidFill>
                        <a:latin typeface="Segoe UI"/>
                      </a:rPr>
                      <a:t>33.3</a:t>
                    </a:r>
                  </a:p>
                </c:rich>
              </c:tx>
              <c:dLblPos val="ctr"/>
              <c:showLegendKey val="0"/>
              <c:showVal val="1"/>
              <c:showCatName val="0"/>
              <c:showSerName val="0"/>
              <c:showPercent val="0"/>
              <c:showBubbleSize val="0"/>
            </c:dLbl>
            <c:dLbl>
              <c:idx val="12"/>
              <c:tx>
                <c:rich>
                  <a:bodyPr/>
                  <a:lstStyle/>
                  <a:p>
                    <a:r>
                      <a:rPr sz="1100">
                        <a:solidFill>
                          <a:srgbClr val="FFFFFF"/>
                        </a:solidFill>
                        <a:latin typeface="Segoe UI"/>
                      </a:rPr>
                      <a:t>34.7</a:t>
                    </a:r>
                  </a:p>
                </c:rich>
              </c:tx>
              <c:dLblPos val="ctr"/>
              <c:showLegendKey val="0"/>
              <c:showVal val="1"/>
              <c:showCatName val="0"/>
              <c:showSerName val="0"/>
              <c:showPercent val="0"/>
              <c:showBubbleSize val="0"/>
            </c:dLbl>
            <c:dLbl>
              <c:idx val="13"/>
              <c:tx>
                <c:rich>
                  <a:bodyPr/>
                  <a:lstStyle/>
                  <a:p>
                    <a:r>
                      <a:rPr sz="1100">
                        <a:solidFill>
                          <a:srgbClr val="FFFFFF"/>
                        </a:solidFill>
                        <a:latin typeface="Segoe UI"/>
                      </a:rPr>
                      <a:t>36.0</a:t>
                    </a:r>
                  </a:p>
                </c:rich>
              </c:tx>
              <c:dLblPos val="ctr"/>
              <c:showLegendKey val="0"/>
              <c:showVal val="1"/>
              <c:showCatName val="0"/>
              <c:showSerName val="0"/>
              <c:showPercent val="0"/>
              <c:showBubbleSize val="0"/>
            </c:dLbl>
            <c:dLbl>
              <c:idx val="14"/>
              <c:tx>
                <c:rich>
                  <a:bodyPr/>
                  <a:lstStyle/>
                  <a:p>
                    <a:r>
                      <a:rPr sz="1100">
                        <a:solidFill>
                          <a:srgbClr val="FFFFFF"/>
                        </a:solidFill>
                        <a:latin typeface="Segoe UI"/>
                      </a:rPr>
                      <a:t>37.4</a:t>
                    </a:r>
                  </a:p>
                </c:rich>
              </c:tx>
              <c:dLblPos val="ctr"/>
              <c:showLegendKey val="0"/>
              <c:showVal val="1"/>
              <c:showCatName val="0"/>
              <c:showSerName val="0"/>
              <c:showPercent val="0"/>
              <c:showBubbleSize val="0"/>
            </c:dLbl>
            <c:dLbl>
              <c:idx val="15"/>
              <c:tx>
                <c:rich>
                  <a:bodyPr/>
                  <a:lstStyle/>
                  <a:p>
                    <a:r>
                      <a:rPr sz="1100">
                        <a:solidFill>
                          <a:srgbClr val="FFFFFF"/>
                        </a:solidFill>
                        <a:latin typeface="Segoe UI"/>
                      </a:rPr>
                      <a:t>38.8</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20.031</c:v>
                </c:pt>
                <c:pt idx="1">
                  <c:v>20.828</c:v>
                </c:pt>
                <c:pt idx="2">
                  <c:v>21.665</c:v>
                </c:pt>
                <c:pt idx="3">
                  <c:v>22.582</c:v>
                </c:pt>
                <c:pt idx="4">
                  <c:v>23.64</c:v>
                </c:pt>
                <c:pt idx="5">
                  <c:v>24.83</c:v>
                </c:pt>
                <c:pt idx="6">
                  <c:v>26.144</c:v>
                </c:pt>
                <c:pt idx="7">
                  <c:v>27.563</c:v>
                </c:pt>
                <c:pt idx="8">
                  <c:v>29.035</c:v>
                </c:pt>
                <c:pt idx="9">
                  <c:v>30.499</c:v>
                </c:pt>
                <c:pt idx="10">
                  <c:v>31.921</c:v>
                </c:pt>
                <c:pt idx="11">
                  <c:v>33.309</c:v>
                </c:pt>
                <c:pt idx="12">
                  <c:v>34.669</c:v>
                </c:pt>
                <c:pt idx="13">
                  <c:v>36.036</c:v>
                </c:pt>
                <c:pt idx="14">
                  <c:v>37.406</c:v>
                </c:pt>
                <c:pt idx="15">
                  <c:v>38.77</c:v>
                </c:pt>
              </c:numCache>
            </c:numRef>
          </c:val>
        </c:ser>
        <c:ser>
          <c:idx val="1"/>
          <c:order val="1"/>
          <c:tx>
            <c:strRef>
              <c:f>Sheet1!$C$1</c:f>
              <c:strCache>
                <c:ptCount val="1"/>
                <c:pt idx="0">
                  <c:v>Other GCC</c:v>
                </c:pt>
              </c:strCache>
            </c:strRef>
          </c:tx>
          <c:spPr>
            <a:solidFill>
              <a:srgbClr val="6ECFF2"/>
            </a:solidFill>
            <a:ln>
              <a:noFill/>
            </a:ln>
          </c:spPr>
          <c:dLbls>
            <c:dLbl>
              <c:idx val="0"/>
              <c:tx>
                <c:rich>
                  <a:bodyPr/>
                  <a:lstStyle/>
                  <a:p>
                    <a:r>
                      <a:rPr sz="1100">
                        <a:solidFill>
                          <a:srgbClr val="252423"/>
                        </a:solidFill>
                        <a:latin typeface="Segoe UI"/>
                      </a:rPr>
                      <a:t>17.8</a:t>
                    </a:r>
                  </a:p>
                </c:rich>
              </c:tx>
              <c:dLblPos val="ctr"/>
              <c:showLegendKey val="0"/>
              <c:showVal val="1"/>
              <c:showCatName val="0"/>
              <c:showSerName val="0"/>
              <c:showPercent val="0"/>
              <c:showBubbleSize val="0"/>
            </c:dLbl>
            <c:dLbl>
              <c:idx val="1"/>
              <c:tx>
                <c:rich>
                  <a:bodyPr/>
                  <a:lstStyle/>
                  <a:p>
                    <a:r>
                      <a:rPr sz="1100">
                        <a:solidFill>
                          <a:srgbClr val="252423"/>
                        </a:solidFill>
                        <a:latin typeface="Segoe UI"/>
                      </a:rPr>
                      <a:t>18.5</a:t>
                    </a:r>
                  </a:p>
                </c:rich>
              </c:tx>
              <c:dLblPos val="ctr"/>
              <c:showLegendKey val="0"/>
              <c:showVal val="1"/>
              <c:showCatName val="0"/>
              <c:showSerName val="0"/>
              <c:showPercent val="0"/>
              <c:showBubbleSize val="0"/>
            </c:dLbl>
            <c:dLbl>
              <c:idx val="2"/>
              <c:tx>
                <c:rich>
                  <a:bodyPr/>
                  <a:lstStyle/>
                  <a:p>
                    <a:r>
                      <a:rPr sz="1100">
                        <a:solidFill>
                          <a:srgbClr val="252423"/>
                        </a:solidFill>
                        <a:latin typeface="Segoe UI"/>
                      </a:rPr>
                      <a:t>19.3</a:t>
                    </a:r>
                  </a:p>
                </c:rich>
              </c:tx>
              <c:dLblPos val="ctr"/>
              <c:showLegendKey val="0"/>
              <c:showVal val="1"/>
              <c:showCatName val="0"/>
              <c:showSerName val="0"/>
              <c:showPercent val="0"/>
              <c:showBubbleSize val="0"/>
            </c:dLbl>
            <c:dLbl>
              <c:idx val="3"/>
              <c:tx>
                <c:rich>
                  <a:bodyPr/>
                  <a:lstStyle/>
                  <a:p>
                    <a:r>
                      <a:rPr sz="1100">
                        <a:solidFill>
                          <a:srgbClr val="252423"/>
                        </a:solidFill>
                        <a:latin typeface="Segoe UI"/>
                      </a:rPr>
                      <a:t>20.1</a:t>
                    </a:r>
                  </a:p>
                </c:rich>
              </c:tx>
              <c:dLblPos val="ctr"/>
              <c:showLegendKey val="0"/>
              <c:showVal val="1"/>
              <c:showCatName val="0"/>
              <c:showSerName val="0"/>
              <c:showPercent val="0"/>
              <c:showBubbleSize val="0"/>
            </c:dLbl>
            <c:dLbl>
              <c:idx val="4"/>
              <c:tx>
                <c:rich>
                  <a:bodyPr/>
                  <a:lstStyle/>
                  <a:p>
                    <a:r>
                      <a:rPr sz="1100">
                        <a:solidFill>
                          <a:srgbClr val="252423"/>
                        </a:solidFill>
                        <a:latin typeface="Segoe UI"/>
                      </a:rPr>
                      <a:t>21.0</a:t>
                    </a:r>
                  </a:p>
                </c:rich>
              </c:tx>
              <c:dLblPos val="ctr"/>
              <c:showLegendKey val="0"/>
              <c:showVal val="1"/>
              <c:showCatName val="0"/>
              <c:showSerName val="0"/>
              <c:showPercent val="0"/>
              <c:showBubbleSize val="0"/>
            </c:dLbl>
            <c:dLbl>
              <c:idx val="5"/>
              <c:tx>
                <c:rich>
                  <a:bodyPr/>
                  <a:lstStyle/>
                  <a:p>
                    <a:r>
                      <a:rPr sz="1100">
                        <a:solidFill>
                          <a:srgbClr val="252423"/>
                        </a:solidFill>
                        <a:latin typeface="Segoe UI"/>
                      </a:rPr>
                      <a:t>22.1</a:t>
                    </a:r>
                  </a:p>
                </c:rich>
              </c:tx>
              <c:dLblPos val="ctr"/>
              <c:showLegendKey val="0"/>
              <c:showVal val="1"/>
              <c:showCatName val="0"/>
              <c:showSerName val="0"/>
              <c:showPercent val="0"/>
              <c:showBubbleSize val="0"/>
            </c:dLbl>
            <c:dLbl>
              <c:idx val="6"/>
              <c:tx>
                <c:rich>
                  <a:bodyPr/>
                  <a:lstStyle/>
                  <a:p>
                    <a:r>
                      <a:rPr sz="1100">
                        <a:solidFill>
                          <a:srgbClr val="252423"/>
                        </a:solidFill>
                        <a:latin typeface="Segoe UI"/>
                      </a:rPr>
                      <a:t>23.2</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24.6</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26.0</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27.5</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29.1</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30.7</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32.3</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34.0</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35.7</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37.5</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0">
                  <c:v>17.835</c:v>
                </c:pt>
                <c:pt idx="1">
                  <c:v>18.508</c:v>
                </c:pt>
                <c:pt idx="2">
                  <c:v>19.252</c:v>
                </c:pt>
                <c:pt idx="3">
                  <c:v>20.082</c:v>
                </c:pt>
                <c:pt idx="4">
                  <c:v>21.022</c:v>
                </c:pt>
                <c:pt idx="5">
                  <c:v>22.077</c:v>
                </c:pt>
                <c:pt idx="6">
                  <c:v>23.247</c:v>
                </c:pt>
                <c:pt idx="7">
                  <c:v>24.553</c:v>
                </c:pt>
                <c:pt idx="8">
                  <c:v>25.983</c:v>
                </c:pt>
                <c:pt idx="9">
                  <c:v>27.512</c:v>
                </c:pt>
                <c:pt idx="10">
                  <c:v>29.099</c:v>
                </c:pt>
                <c:pt idx="11">
                  <c:v>30.706</c:v>
                </c:pt>
                <c:pt idx="12">
                  <c:v>32.341</c:v>
                </c:pt>
                <c:pt idx="13">
                  <c:v>34.025</c:v>
                </c:pt>
                <c:pt idx="14">
                  <c:v>35.741</c:v>
                </c:pt>
                <c:pt idx="15">
                  <c:v>37.491</c:v>
                </c:pt>
              </c:numCache>
            </c:numRef>
          </c:val>
        </c:ser>
        <c:ser>
          <c:idx val="2"/>
          <c:order val="2"/>
          <c:tx>
            <c:strRef>
              <c:f>Sheet1!$D$1</c:f>
              <c:strCache>
                <c:ptCount val="1"/>
                <c:pt idx="0">
                  <c:v>KSA</c:v>
                </c:pt>
              </c:strCache>
            </c:strRef>
          </c:tx>
          <c:spPr>
            <a:solidFill>
              <a:srgbClr val="D6CAC4"/>
            </a:solidFill>
            <a:ln>
              <a:noFill/>
            </a:ln>
          </c:spPr>
          <c:dLbls>
            <c:dLbl>
              <c:idx val="0"/>
              <c:tx>
                <c:rich>
                  <a:bodyPr/>
                  <a:lstStyle/>
                  <a:p>
                    <a:r>
                      <a:rPr sz="1100">
                        <a:solidFill>
                          <a:srgbClr val="252423"/>
                        </a:solidFill>
                        <a:latin typeface="Segoe UI"/>
                      </a:rPr>
                      <a:t>13.6</a:t>
                    </a:r>
                  </a:p>
                </c:rich>
              </c:tx>
              <c:dLblPos val="ctr"/>
              <c:showLegendKey val="0"/>
              <c:showVal val="1"/>
              <c:showCatName val="0"/>
              <c:showSerName val="0"/>
              <c:showPercent val="0"/>
              <c:showBubbleSize val="0"/>
            </c:dLbl>
            <c:dLbl>
              <c:idx val="1"/>
              <c:tx>
                <c:rich>
                  <a:bodyPr/>
                  <a:lstStyle/>
                  <a:p>
                    <a:r>
                      <a:rPr sz="1100">
                        <a:solidFill>
                          <a:srgbClr val="252423"/>
                        </a:solidFill>
                        <a:latin typeface="Segoe UI"/>
                      </a:rPr>
                      <a:t>14.6</a:t>
                    </a:r>
                  </a:p>
                </c:rich>
              </c:tx>
              <c:dLblPos val="ctr"/>
              <c:showLegendKey val="0"/>
              <c:showVal val="1"/>
              <c:showCatName val="0"/>
              <c:showSerName val="0"/>
              <c:showPercent val="0"/>
              <c:showBubbleSize val="0"/>
            </c:dLbl>
            <c:dLbl>
              <c:idx val="2"/>
              <c:tx>
                <c:rich>
                  <a:bodyPr/>
                  <a:lstStyle/>
                  <a:p>
                    <a:r>
                      <a:rPr sz="1100">
                        <a:solidFill>
                          <a:srgbClr val="252423"/>
                        </a:solidFill>
                        <a:latin typeface="Segoe UI"/>
                      </a:rPr>
                      <a:t>15.6</a:t>
                    </a:r>
                  </a:p>
                </c:rich>
              </c:tx>
              <c:dLblPos val="ctr"/>
              <c:showLegendKey val="0"/>
              <c:showVal val="1"/>
              <c:showCatName val="0"/>
              <c:showSerName val="0"/>
              <c:showPercent val="0"/>
              <c:showBubbleSize val="0"/>
            </c:dLbl>
            <c:dLbl>
              <c:idx val="3"/>
              <c:tx>
                <c:rich>
                  <a:bodyPr/>
                  <a:lstStyle/>
                  <a:p>
                    <a:r>
                      <a:rPr sz="1100">
                        <a:solidFill>
                          <a:srgbClr val="252423"/>
                        </a:solidFill>
                        <a:latin typeface="Segoe UI"/>
                      </a:rPr>
                      <a:t>16.7</a:t>
                    </a:r>
                  </a:p>
                </c:rich>
              </c:tx>
              <c:dLblPos val="ctr"/>
              <c:showLegendKey val="0"/>
              <c:showVal val="1"/>
              <c:showCatName val="0"/>
              <c:showSerName val="0"/>
              <c:showPercent val="0"/>
              <c:showBubbleSize val="0"/>
            </c:dLbl>
            <c:dLbl>
              <c:idx val="4"/>
              <c:tx>
                <c:rich>
                  <a:bodyPr/>
                  <a:lstStyle/>
                  <a:p>
                    <a:r>
                      <a:rPr sz="1100">
                        <a:solidFill>
                          <a:srgbClr val="252423"/>
                        </a:solidFill>
                        <a:latin typeface="Segoe UI"/>
                      </a:rPr>
                      <a:t>17.9</a:t>
                    </a:r>
                  </a:p>
                </c:rich>
              </c:tx>
              <c:dLblPos val="ctr"/>
              <c:showLegendKey val="0"/>
              <c:showVal val="1"/>
              <c:showCatName val="0"/>
              <c:showSerName val="0"/>
              <c:showPercent val="0"/>
              <c:showBubbleSize val="0"/>
            </c:dLbl>
            <c:dLbl>
              <c:idx val="5"/>
              <c:tx>
                <c:rich>
                  <a:bodyPr/>
                  <a:lstStyle/>
                  <a:p>
                    <a:r>
                      <a:rPr sz="1100">
                        <a:solidFill>
                          <a:srgbClr val="252423"/>
                        </a:solidFill>
                        <a:latin typeface="Segoe UI"/>
                      </a:rPr>
                      <a:t>19.1</a:t>
                    </a:r>
                  </a:p>
                </c:rich>
              </c:tx>
              <c:dLblPos val="ctr"/>
              <c:showLegendKey val="0"/>
              <c:showVal val="1"/>
              <c:showCatName val="0"/>
              <c:showSerName val="0"/>
              <c:showPercent val="0"/>
              <c:showBubbleSize val="0"/>
            </c:dLbl>
            <c:dLbl>
              <c:idx val="6"/>
              <c:tx>
                <c:rich>
                  <a:bodyPr/>
                  <a:lstStyle/>
                  <a:p>
                    <a:r>
                      <a:rPr sz="1100">
                        <a:solidFill>
                          <a:srgbClr val="252423"/>
                        </a:solidFill>
                        <a:latin typeface="Segoe UI"/>
                      </a:rPr>
                      <a:t>20.3</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21.5</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22.8</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24.0</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25.4</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26.8</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28.4</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30.1</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31.9</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33.7</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Sheet1!$D$2:$D$17</c:f>
              <c:numCache>
                <c:formatCode>General</c:formatCode>
                <c:ptCount val="16"/>
                <c:pt idx="0">
                  <c:v>13.628</c:v>
                </c:pt>
                <c:pt idx="1">
                  <c:v>14.569</c:v>
                </c:pt>
                <c:pt idx="2">
                  <c:v>15.614</c:v>
                </c:pt>
                <c:pt idx="3">
                  <c:v>16.736</c:v>
                </c:pt>
                <c:pt idx="4">
                  <c:v>17.914</c:v>
                </c:pt>
                <c:pt idx="5">
                  <c:v>19.104</c:v>
                </c:pt>
                <c:pt idx="6">
                  <c:v>20.312</c:v>
                </c:pt>
                <c:pt idx="7">
                  <c:v>21.537</c:v>
                </c:pt>
                <c:pt idx="8">
                  <c:v>22.766</c:v>
                </c:pt>
                <c:pt idx="9">
                  <c:v>24.034</c:v>
                </c:pt>
                <c:pt idx="10">
                  <c:v>25.368</c:v>
                </c:pt>
                <c:pt idx="11">
                  <c:v>26.843</c:v>
                </c:pt>
                <c:pt idx="12">
                  <c:v>28.447</c:v>
                </c:pt>
                <c:pt idx="13">
                  <c:v>30.134</c:v>
                </c:pt>
                <c:pt idx="14">
                  <c:v>31.873</c:v>
                </c:pt>
                <c:pt idx="15">
                  <c:v>33.655</c:v>
                </c:pt>
              </c:numCache>
            </c:numRef>
          </c:val>
        </c:ser>
        <c:ser>
          <c:idx val="3"/>
          <c:order val="3"/>
          <c:tx>
            <c:strRef>
              <c:f>Sheet1!$E$1</c:f>
              <c:strCache>
                <c:ptCount val="1"/>
                <c:pt idx="0">
                  <c:v>Other African Union</c:v>
                </c:pt>
              </c:strCache>
            </c:strRef>
          </c:tx>
          <c:spPr>
            <a:solidFill>
              <a:srgbClr val="EBC46B"/>
            </a:solidFill>
            <a:ln>
              <a:noFill/>
            </a:ln>
          </c:spPr>
          <c:dLbls>
            <c:dLbl>
              <c:idx val="0"/>
              <c:tx>
                <c:rich>
                  <a:bodyPr/>
                  <a:lstStyle/>
                  <a:p>
                    <a:r>
                      <a:rPr sz="1100">
                        <a:solidFill>
                          <a:srgbClr val="252423"/>
                        </a:solidFill>
                        <a:latin typeface="Segoe UI"/>
                      </a:rPr>
                      <a:t>9.5</a:t>
                    </a:r>
                  </a:p>
                </c:rich>
              </c:tx>
              <c:dLblPos val="ctr"/>
              <c:showLegendKey val="0"/>
              <c:showVal val="1"/>
              <c:showCatName val="0"/>
              <c:showSerName val="0"/>
              <c:showPercent val="0"/>
              <c:showBubbleSize val="0"/>
            </c:dLbl>
            <c:dLbl>
              <c:idx val="1"/>
              <c:tx>
                <c:rich>
                  <a:bodyPr/>
                  <a:lstStyle/>
                  <a:p>
                    <a:r>
                      <a:rPr sz="1100">
                        <a:solidFill>
                          <a:srgbClr val="252423"/>
                        </a:solidFill>
                        <a:latin typeface="Segoe UI"/>
                      </a:rPr>
                      <a:t>9.8</a:t>
                    </a:r>
                  </a:p>
                </c:rich>
              </c:tx>
              <c:dLblPos val="ctr"/>
              <c:showLegendKey val="0"/>
              <c:showVal val="1"/>
              <c:showCatName val="0"/>
              <c:showSerName val="0"/>
              <c:showPercent val="0"/>
              <c:showBubbleSize val="0"/>
            </c:dLbl>
            <c:dLbl>
              <c:idx val="2"/>
              <c:tx>
                <c:rich>
                  <a:bodyPr/>
                  <a:lstStyle/>
                  <a:p>
                    <a:r>
                      <a:rPr sz="1100">
                        <a:solidFill>
                          <a:srgbClr val="252423"/>
                        </a:solidFill>
                        <a:latin typeface="Segoe UI"/>
                      </a:rPr>
                      <a:t>10.2</a:t>
                    </a:r>
                  </a:p>
                </c:rich>
              </c:tx>
              <c:dLblPos val="ctr"/>
              <c:showLegendKey val="0"/>
              <c:showVal val="1"/>
              <c:showCatName val="0"/>
              <c:showSerName val="0"/>
              <c:showPercent val="0"/>
              <c:showBubbleSize val="0"/>
            </c:dLbl>
            <c:dLbl>
              <c:idx val="3"/>
              <c:tx>
                <c:rich>
                  <a:bodyPr/>
                  <a:lstStyle/>
                  <a:p>
                    <a:r>
                      <a:rPr sz="1100">
                        <a:solidFill>
                          <a:srgbClr val="252423"/>
                        </a:solidFill>
                        <a:latin typeface="Segoe UI"/>
                      </a:rPr>
                      <a:t>10.6</a:t>
                    </a:r>
                  </a:p>
                </c:rich>
              </c:tx>
              <c:dLblPos val="ctr"/>
              <c:showLegendKey val="0"/>
              <c:showVal val="1"/>
              <c:showCatName val="0"/>
              <c:showSerName val="0"/>
              <c:showPercent val="0"/>
              <c:showBubbleSize val="0"/>
            </c:dLbl>
            <c:dLbl>
              <c:idx val="4"/>
              <c:tx>
                <c:rich>
                  <a:bodyPr/>
                  <a:lstStyle/>
                  <a:p>
                    <a:r>
                      <a:rPr sz="1100">
                        <a:solidFill>
                          <a:srgbClr val="252423"/>
                        </a:solidFill>
                        <a:latin typeface="Segoe UI"/>
                      </a:rPr>
                      <a:t>11.1</a:t>
                    </a:r>
                  </a:p>
                </c:rich>
              </c:tx>
              <c:dLblPos val="ctr"/>
              <c:showLegendKey val="0"/>
              <c:showVal val="1"/>
              <c:showCatName val="0"/>
              <c:showSerName val="0"/>
              <c:showPercent val="0"/>
              <c:showBubbleSize val="0"/>
            </c:dLbl>
            <c:dLbl>
              <c:idx val="5"/>
              <c:tx>
                <c:rich>
                  <a:bodyPr/>
                  <a:lstStyle/>
                  <a:p>
                    <a:r>
                      <a:rPr sz="1100">
                        <a:solidFill>
                          <a:srgbClr val="252423"/>
                        </a:solidFill>
                        <a:latin typeface="Segoe UI"/>
                      </a:rPr>
                      <a:t>11.7</a:t>
                    </a:r>
                  </a:p>
                </c:rich>
              </c:tx>
              <c:dLblPos val="ctr"/>
              <c:showLegendKey val="0"/>
              <c:showVal val="1"/>
              <c:showCatName val="0"/>
              <c:showSerName val="0"/>
              <c:showPercent val="0"/>
              <c:showBubbleSize val="0"/>
            </c:dLbl>
            <c:dLbl>
              <c:idx val="6"/>
              <c:tx>
                <c:rich>
                  <a:bodyPr/>
                  <a:lstStyle/>
                  <a:p>
                    <a:r>
                      <a:rPr sz="1100">
                        <a:solidFill>
                          <a:srgbClr val="252423"/>
                        </a:solidFill>
                        <a:latin typeface="Segoe UI"/>
                      </a:rPr>
                      <a:t>12.4</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13.1</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13.8</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14.6</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15.3</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16.0</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16.7</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17.4</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18.1</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18.8</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Sheet1!$E$2:$E$17</c:f>
              <c:numCache>
                <c:formatCode>General</c:formatCode>
                <c:ptCount val="16"/>
                <c:pt idx="0">
                  <c:v>9.472</c:v>
                </c:pt>
                <c:pt idx="1">
                  <c:v>9.816</c:v>
                </c:pt>
                <c:pt idx="2">
                  <c:v>10.196</c:v>
                </c:pt>
                <c:pt idx="3">
                  <c:v>10.626</c:v>
                </c:pt>
                <c:pt idx="4">
                  <c:v>11.125</c:v>
                </c:pt>
                <c:pt idx="5">
                  <c:v>11.71</c:v>
                </c:pt>
                <c:pt idx="6">
                  <c:v>12.374</c:v>
                </c:pt>
                <c:pt idx="7">
                  <c:v>13.091</c:v>
                </c:pt>
                <c:pt idx="8">
                  <c:v>13.828</c:v>
                </c:pt>
                <c:pt idx="9">
                  <c:v>14.557</c:v>
                </c:pt>
                <c:pt idx="10">
                  <c:v>15.261</c:v>
                </c:pt>
                <c:pt idx="11">
                  <c:v>15.958</c:v>
                </c:pt>
                <c:pt idx="12">
                  <c:v>16.665</c:v>
                </c:pt>
                <c:pt idx="13">
                  <c:v>17.381</c:v>
                </c:pt>
                <c:pt idx="14">
                  <c:v>18.105</c:v>
                </c:pt>
                <c:pt idx="15">
                  <c:v>18.829</c:v>
                </c:pt>
              </c:numCache>
            </c:numRef>
          </c:val>
        </c:ser>
        <c:ser>
          <c:idx val="4"/>
          <c:order val="4"/>
          <c:tx>
            <c:strRef>
              <c:f>Sheet1!$F$1</c:f>
              <c:strCache>
                <c:ptCount val="1"/>
                <c:pt idx="0">
                  <c:v>South Africa</c:v>
                </c:pt>
              </c:strCache>
            </c:strRef>
          </c:tx>
          <c:spPr>
            <a:solidFill>
              <a:srgbClr val="EDA28B"/>
            </a:solidFill>
            <a:ln>
              <a:noFill/>
            </a:ln>
          </c:spPr>
          <c:dLbls>
            <c:dLbl>
              <c:idx val="6"/>
              <c:tx>
                <c:rich>
                  <a:bodyPr/>
                  <a:lstStyle/>
                  <a:p>
                    <a:r>
                      <a:rPr sz="1100">
                        <a:solidFill>
                          <a:srgbClr val="252423"/>
                        </a:solidFill>
                        <a:latin typeface="Segoe UI"/>
                      </a:rPr>
                      <a:t>8.7</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9.1</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9.5</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9.9</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10.4</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10.8</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11.4</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11.9</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12.4</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13.0</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Sheet1!$F$2:$F$17</c:f>
              <c:numCache>
                <c:formatCode>General</c:formatCode>
                <c:ptCount val="16"/>
                <c:pt idx="0">
                  <c:v>7.02</c:v>
                </c:pt>
                <c:pt idx="1">
                  <c:v>7.273</c:v>
                </c:pt>
                <c:pt idx="2">
                  <c:v>7.536</c:v>
                </c:pt>
                <c:pt idx="3">
                  <c:v>7.809</c:v>
                </c:pt>
                <c:pt idx="4">
                  <c:v>8.098</c:v>
                </c:pt>
                <c:pt idx="5">
                  <c:v>8.408</c:v>
                </c:pt>
                <c:pt idx="6">
                  <c:v>8.74</c:v>
                </c:pt>
                <c:pt idx="7">
                  <c:v>9.097</c:v>
                </c:pt>
                <c:pt idx="8">
                  <c:v>9.482</c:v>
                </c:pt>
                <c:pt idx="9">
                  <c:v>9.898</c:v>
                </c:pt>
                <c:pt idx="10">
                  <c:v>10.351</c:v>
                </c:pt>
                <c:pt idx="11">
                  <c:v>10.84</c:v>
                </c:pt>
                <c:pt idx="12">
                  <c:v>11.358</c:v>
                </c:pt>
                <c:pt idx="13">
                  <c:v>11.898</c:v>
                </c:pt>
                <c:pt idx="14">
                  <c:v>12.446</c:v>
                </c:pt>
                <c:pt idx="15">
                  <c:v>13.004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8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Other GCC</c:v>
                </c:pt>
              </c:strCache>
            </c:strRef>
          </c:tx>
          <c:spPr>
            <a:solidFill>
              <a:srgbClr val="00A4DC"/>
            </a:solidFill>
            <a:ln>
              <a:noFill/>
            </a:ln>
          </c:spPr>
          <c:dLbls>
            <c:dLbl>
              <c:idx val="0"/>
              <c:tx>
                <c:rich>
                  <a:bodyPr/>
                  <a:lstStyle/>
                  <a:p>
                    <a:r>
                      <a:rPr sz="1100">
                        <a:solidFill>
                          <a:srgbClr val="FFFFFF"/>
                        </a:solidFill>
                        <a:latin typeface="Segoe UI"/>
                      </a:rPr>
                      <a:t>54.4</a:t>
                    </a:r>
                  </a:p>
                </c:rich>
              </c:tx>
              <c:dLblPos val="ctr"/>
              <c:showLegendKey val="0"/>
              <c:showVal val="1"/>
              <c:showCatName val="0"/>
              <c:showSerName val="0"/>
              <c:showPercent val="0"/>
              <c:showBubbleSize val="0"/>
            </c:dLbl>
            <c:dLbl>
              <c:idx val="1"/>
              <c:tx>
                <c:rich>
                  <a:bodyPr/>
                  <a:lstStyle/>
                  <a:p>
                    <a:r>
                      <a:rPr sz="1100">
                        <a:solidFill>
                          <a:srgbClr val="FFFFFF"/>
                        </a:solidFill>
                        <a:latin typeface="Segoe UI"/>
                      </a:rPr>
                      <a:t>56.9</a:t>
                    </a:r>
                  </a:p>
                </c:rich>
              </c:tx>
              <c:dLblPos val="ctr"/>
              <c:showLegendKey val="0"/>
              <c:showVal val="1"/>
              <c:showCatName val="0"/>
              <c:showSerName val="0"/>
              <c:showPercent val="0"/>
              <c:showBubbleSize val="0"/>
            </c:dLbl>
            <c:dLbl>
              <c:idx val="2"/>
              <c:tx>
                <c:rich>
                  <a:bodyPr/>
                  <a:lstStyle/>
                  <a:p>
                    <a:r>
                      <a:rPr sz="1100">
                        <a:solidFill>
                          <a:srgbClr val="FFFFFF"/>
                        </a:solidFill>
                        <a:latin typeface="Segoe UI"/>
                      </a:rPr>
                      <a:t>59.7</a:t>
                    </a:r>
                  </a:p>
                </c:rich>
              </c:tx>
              <c:dLblPos val="ctr"/>
              <c:showLegendKey val="0"/>
              <c:showVal val="1"/>
              <c:showCatName val="0"/>
              <c:showSerName val="0"/>
              <c:showPercent val="0"/>
              <c:showBubbleSize val="0"/>
            </c:dLbl>
            <c:dLbl>
              <c:idx val="3"/>
              <c:tx>
                <c:rich>
                  <a:bodyPr/>
                  <a:lstStyle/>
                  <a:p>
                    <a:r>
                      <a:rPr sz="1100">
                        <a:solidFill>
                          <a:srgbClr val="FFFFFF"/>
                        </a:solidFill>
                        <a:latin typeface="Segoe UI"/>
                      </a:rPr>
                      <a:t>62.9</a:t>
                    </a:r>
                  </a:p>
                </c:rich>
              </c:tx>
              <c:dLblPos val="ctr"/>
              <c:showLegendKey val="0"/>
              <c:showVal val="1"/>
              <c:showCatName val="0"/>
              <c:showSerName val="0"/>
              <c:showPercent val="0"/>
              <c:showBubbleSize val="0"/>
            </c:dLbl>
            <c:dLbl>
              <c:idx val="4"/>
              <c:tx>
                <c:rich>
                  <a:bodyPr/>
                  <a:lstStyle/>
                  <a:p>
                    <a:r>
                      <a:rPr sz="1100">
                        <a:solidFill>
                          <a:srgbClr val="FFFFFF"/>
                        </a:solidFill>
                        <a:latin typeface="Segoe UI"/>
                      </a:rPr>
                      <a:t>66.5</a:t>
                    </a:r>
                  </a:p>
                </c:rich>
              </c:tx>
              <c:dLblPos val="ctr"/>
              <c:showLegendKey val="0"/>
              <c:showVal val="1"/>
              <c:showCatName val="0"/>
              <c:showSerName val="0"/>
              <c:showPercent val="0"/>
              <c:showBubbleSize val="0"/>
            </c:dLbl>
            <c:dLbl>
              <c:idx val="5"/>
              <c:tx>
                <c:rich>
                  <a:bodyPr/>
                  <a:lstStyle/>
                  <a:p>
                    <a:r>
                      <a:rPr sz="1100">
                        <a:solidFill>
                          <a:srgbClr val="FFFFFF"/>
                        </a:solidFill>
                        <a:latin typeface="Segoe UI"/>
                      </a:rPr>
                      <a:t>70.7</a:t>
                    </a:r>
                  </a:p>
                </c:rich>
              </c:tx>
              <c:dLblPos val="ctr"/>
              <c:showLegendKey val="0"/>
              <c:showVal val="1"/>
              <c:showCatName val="0"/>
              <c:showSerName val="0"/>
              <c:showPercent val="0"/>
              <c:showBubbleSize val="0"/>
            </c:dLbl>
            <c:dLbl>
              <c:idx val="6"/>
              <c:tx>
                <c:rich>
                  <a:bodyPr/>
                  <a:lstStyle/>
                  <a:p>
                    <a:r>
                      <a:rPr sz="1100">
                        <a:solidFill>
                          <a:srgbClr val="FFFFFF"/>
                        </a:solidFill>
                        <a:latin typeface="Segoe UI"/>
                      </a:rPr>
                      <a:t>75.6</a:t>
                    </a:r>
                  </a:p>
                </c:rich>
              </c:tx>
              <c:dLblPos val="ctr"/>
              <c:showLegendKey val="0"/>
              <c:showVal val="1"/>
              <c:showCatName val="0"/>
              <c:showSerName val="0"/>
              <c:showPercent val="0"/>
              <c:showBubbleSize val="0"/>
            </c:dLbl>
            <c:dLbl>
              <c:idx val="7"/>
              <c:tx>
                <c:rich>
                  <a:bodyPr/>
                  <a:lstStyle/>
                  <a:p>
                    <a:r>
                      <a:rPr sz="1100">
                        <a:solidFill>
                          <a:srgbClr val="FFFFFF"/>
                        </a:solidFill>
                        <a:latin typeface="Segoe UI"/>
                      </a:rPr>
                      <a:t>81.0</a:t>
                    </a:r>
                  </a:p>
                </c:rich>
              </c:tx>
              <c:dLblPos val="ctr"/>
              <c:showLegendKey val="0"/>
              <c:showVal val="1"/>
              <c:showCatName val="0"/>
              <c:showSerName val="0"/>
              <c:showPercent val="0"/>
              <c:showBubbleSize val="0"/>
            </c:dLbl>
            <c:dLbl>
              <c:idx val="8"/>
              <c:tx>
                <c:rich>
                  <a:bodyPr/>
                  <a:lstStyle/>
                  <a:p>
                    <a:r>
                      <a:rPr sz="1100">
                        <a:solidFill>
                          <a:srgbClr val="FFFFFF"/>
                        </a:solidFill>
                        <a:latin typeface="Segoe UI"/>
                      </a:rPr>
                      <a:t>87.0</a:t>
                    </a:r>
                  </a:p>
                </c:rich>
              </c:tx>
              <c:dLblPos val="ctr"/>
              <c:showLegendKey val="0"/>
              <c:showVal val="1"/>
              <c:showCatName val="0"/>
              <c:showSerName val="0"/>
              <c:showPercent val="0"/>
              <c:showBubbleSize val="0"/>
            </c:dLbl>
            <c:dLbl>
              <c:idx val="9"/>
              <c:tx>
                <c:rich>
                  <a:bodyPr/>
                  <a:lstStyle/>
                  <a:p>
                    <a:r>
                      <a:rPr sz="1100">
                        <a:solidFill>
                          <a:srgbClr val="FFFFFF"/>
                        </a:solidFill>
                        <a:latin typeface="Segoe UI"/>
                      </a:rPr>
                      <a:t>93.7</a:t>
                    </a:r>
                  </a:p>
                </c:rich>
              </c:tx>
              <c:dLblPos val="ctr"/>
              <c:showLegendKey val="0"/>
              <c:showVal val="1"/>
              <c:showCatName val="0"/>
              <c:showSerName val="0"/>
              <c:showPercent val="0"/>
              <c:showBubbleSize val="0"/>
            </c:dLbl>
            <c:dLbl>
              <c:idx val="10"/>
              <c:tx>
                <c:rich>
                  <a:bodyPr/>
                  <a:lstStyle/>
                  <a:p>
                    <a:r>
                      <a:rPr sz="1100">
                        <a:solidFill>
                          <a:srgbClr val="FFFFFF"/>
                        </a:solidFill>
                        <a:latin typeface="Segoe UI"/>
                      </a:rPr>
                      <a:t>101</a:t>
                    </a:r>
                  </a:p>
                </c:rich>
              </c:tx>
              <c:dLblPos val="ctr"/>
              <c:showLegendKey val="0"/>
              <c:showVal val="1"/>
              <c:showCatName val="0"/>
              <c:showSerName val="0"/>
              <c:showPercent val="0"/>
              <c:showBubbleSize val="0"/>
            </c:dLbl>
            <c:dLbl>
              <c:idx val="11"/>
              <c:tx>
                <c:rich>
                  <a:bodyPr/>
                  <a:lstStyle/>
                  <a:p>
                    <a:r>
                      <a:rPr sz="1100">
                        <a:solidFill>
                          <a:srgbClr val="FFFFFF"/>
                        </a:solidFill>
                        <a:latin typeface="Segoe UI"/>
                      </a:rPr>
                      <a:t>108</a:t>
                    </a:r>
                  </a:p>
                </c:rich>
              </c:tx>
              <c:dLblPos val="ctr"/>
              <c:showLegendKey val="0"/>
              <c:showVal val="1"/>
              <c:showCatName val="0"/>
              <c:showSerName val="0"/>
              <c:showPercent val="0"/>
              <c:showBubbleSize val="0"/>
            </c:dLbl>
            <c:dLbl>
              <c:idx val="12"/>
              <c:tx>
                <c:rich>
                  <a:bodyPr/>
                  <a:lstStyle/>
                  <a:p>
                    <a:r>
                      <a:rPr sz="1100">
                        <a:solidFill>
                          <a:srgbClr val="FFFFFF"/>
                        </a:solidFill>
                        <a:latin typeface="Segoe UI"/>
                      </a:rPr>
                      <a:t>117</a:t>
                    </a:r>
                  </a:p>
                </c:rich>
              </c:tx>
              <c:dLblPos val="ctr"/>
              <c:showLegendKey val="0"/>
              <c:showVal val="1"/>
              <c:showCatName val="0"/>
              <c:showSerName val="0"/>
              <c:showPercent val="0"/>
              <c:showBubbleSize val="0"/>
            </c:dLbl>
            <c:dLbl>
              <c:idx val="13"/>
              <c:tx>
                <c:rich>
                  <a:bodyPr/>
                  <a:lstStyle/>
                  <a:p>
                    <a:r>
                      <a:rPr sz="1100">
                        <a:solidFill>
                          <a:srgbClr val="FFFFFF"/>
                        </a:solidFill>
                        <a:latin typeface="Segoe UI"/>
                      </a:rPr>
                      <a:t>125</a:t>
                    </a:r>
                  </a:p>
                </c:rich>
              </c:tx>
              <c:dLblPos val="ctr"/>
              <c:showLegendKey val="0"/>
              <c:showVal val="1"/>
              <c:showCatName val="0"/>
              <c:showSerName val="0"/>
              <c:showPercent val="0"/>
              <c:showBubbleSize val="0"/>
            </c:dLbl>
            <c:dLbl>
              <c:idx val="14"/>
              <c:tx>
                <c:rich>
                  <a:bodyPr/>
                  <a:lstStyle/>
                  <a:p>
                    <a:r>
                      <a:rPr sz="1100">
                        <a:solidFill>
                          <a:srgbClr val="FFFFFF"/>
                        </a:solidFill>
                        <a:latin typeface="Segoe UI"/>
                      </a:rPr>
                      <a:t>135</a:t>
                    </a:r>
                  </a:p>
                </c:rich>
              </c:tx>
              <c:dLblPos val="ctr"/>
              <c:showLegendKey val="0"/>
              <c:showVal val="1"/>
              <c:showCatName val="0"/>
              <c:showSerName val="0"/>
              <c:showPercent val="0"/>
              <c:showBubbleSize val="0"/>
            </c:dLbl>
            <c:dLbl>
              <c:idx val="15"/>
              <c:tx>
                <c:rich>
                  <a:bodyPr/>
                  <a:lstStyle/>
                  <a:p>
                    <a:r>
                      <a:rPr sz="1100">
                        <a:solidFill>
                          <a:srgbClr val="FFFFFF"/>
                        </a:solidFill>
                        <a:latin typeface="Segoe UI"/>
                      </a:rPr>
                      <a:t>145</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54.427</c:v>
                </c:pt>
                <c:pt idx="1">
                  <c:v>56.943</c:v>
                </c:pt>
                <c:pt idx="2">
                  <c:v>59.741</c:v>
                </c:pt>
                <c:pt idx="3">
                  <c:v>62.903</c:v>
                </c:pt>
                <c:pt idx="4">
                  <c:v>66.461</c:v>
                </c:pt>
                <c:pt idx="5">
                  <c:v>70.749</c:v>
                </c:pt>
                <c:pt idx="6">
                  <c:v>75.555</c:v>
                </c:pt>
                <c:pt idx="7">
                  <c:v>80.986</c:v>
                </c:pt>
                <c:pt idx="8">
                  <c:v>87.027</c:v>
                </c:pt>
                <c:pt idx="9">
                  <c:v>93.662</c:v>
                </c:pt>
                <c:pt idx="10">
                  <c:v>100.8</c:v>
                </c:pt>
                <c:pt idx="11">
                  <c:v>108.406</c:v>
                </c:pt>
                <c:pt idx="12">
                  <c:v>116.557</c:v>
                </c:pt>
                <c:pt idx="13">
                  <c:v>125.298</c:v>
                </c:pt>
                <c:pt idx="14">
                  <c:v>134.72</c:v>
                </c:pt>
                <c:pt idx="15">
                  <c:v>144.851</c:v>
                </c:pt>
              </c:numCache>
            </c:numRef>
          </c:val>
        </c:ser>
        <c:ser>
          <c:idx val="1"/>
          <c:order val="1"/>
          <c:tx>
            <c:strRef>
              <c:f>Sheet1!$C$1</c:f>
              <c:strCache>
                <c:ptCount val="1"/>
                <c:pt idx="0">
                  <c:v>Turkiye</c:v>
                </c:pt>
              </c:strCache>
            </c:strRef>
          </c:tx>
          <c:spPr>
            <a:solidFill>
              <a:srgbClr val="6ECFF2"/>
            </a:solidFill>
            <a:ln>
              <a:noFill/>
            </a:ln>
          </c:spPr>
          <c:dLbls>
            <c:dLbl>
              <c:idx val="0"/>
              <c:tx>
                <c:rich>
                  <a:bodyPr/>
                  <a:lstStyle/>
                  <a:p>
                    <a:r>
                      <a:rPr sz="1100">
                        <a:solidFill>
                          <a:srgbClr val="252423"/>
                        </a:solidFill>
                        <a:latin typeface="Segoe UI"/>
                      </a:rPr>
                      <a:t>53.6</a:t>
                    </a:r>
                  </a:p>
                </c:rich>
              </c:tx>
              <c:dLblPos val="ctr"/>
              <c:showLegendKey val="0"/>
              <c:showVal val="1"/>
              <c:showCatName val="0"/>
              <c:showSerName val="0"/>
              <c:showPercent val="0"/>
              <c:showBubbleSize val="0"/>
            </c:dLbl>
            <c:dLbl>
              <c:idx val="1"/>
              <c:tx>
                <c:rich>
                  <a:bodyPr/>
                  <a:lstStyle/>
                  <a:p>
                    <a:r>
                      <a:rPr sz="1100">
                        <a:solidFill>
                          <a:srgbClr val="252423"/>
                        </a:solidFill>
                        <a:latin typeface="Segoe UI"/>
                      </a:rPr>
                      <a:t>55.9</a:t>
                    </a:r>
                  </a:p>
                </c:rich>
              </c:tx>
              <c:dLblPos val="ctr"/>
              <c:showLegendKey val="0"/>
              <c:showVal val="1"/>
              <c:showCatName val="0"/>
              <c:showSerName val="0"/>
              <c:showPercent val="0"/>
              <c:showBubbleSize val="0"/>
            </c:dLbl>
            <c:dLbl>
              <c:idx val="2"/>
              <c:tx>
                <c:rich>
                  <a:bodyPr/>
                  <a:lstStyle/>
                  <a:p>
                    <a:r>
                      <a:rPr sz="1100">
                        <a:solidFill>
                          <a:srgbClr val="252423"/>
                        </a:solidFill>
                        <a:latin typeface="Segoe UI"/>
                      </a:rPr>
                      <a:t>58.4</a:t>
                    </a:r>
                  </a:p>
                </c:rich>
              </c:tx>
              <c:dLblPos val="ctr"/>
              <c:showLegendKey val="0"/>
              <c:showVal val="1"/>
              <c:showCatName val="0"/>
              <c:showSerName val="0"/>
              <c:showPercent val="0"/>
              <c:showBubbleSize val="0"/>
            </c:dLbl>
            <c:dLbl>
              <c:idx val="3"/>
              <c:tx>
                <c:rich>
                  <a:bodyPr/>
                  <a:lstStyle/>
                  <a:p>
                    <a:r>
                      <a:rPr sz="1100">
                        <a:solidFill>
                          <a:srgbClr val="252423"/>
                        </a:solidFill>
                        <a:latin typeface="Segoe UI"/>
                      </a:rPr>
                      <a:t>61.2</a:t>
                    </a:r>
                  </a:p>
                </c:rich>
              </c:tx>
              <c:dLblPos val="ctr"/>
              <c:showLegendKey val="0"/>
              <c:showVal val="1"/>
              <c:showCatName val="0"/>
              <c:showSerName val="0"/>
              <c:showPercent val="0"/>
              <c:showBubbleSize val="0"/>
            </c:dLbl>
            <c:dLbl>
              <c:idx val="4"/>
              <c:tx>
                <c:rich>
                  <a:bodyPr/>
                  <a:lstStyle/>
                  <a:p>
                    <a:r>
                      <a:rPr sz="1100">
                        <a:solidFill>
                          <a:srgbClr val="252423"/>
                        </a:solidFill>
                        <a:latin typeface="Segoe UI"/>
                      </a:rPr>
                      <a:t>64.3</a:t>
                    </a:r>
                  </a:p>
                </c:rich>
              </c:tx>
              <c:dLblPos val="ctr"/>
              <c:showLegendKey val="0"/>
              <c:showVal val="1"/>
              <c:showCatName val="0"/>
              <c:showSerName val="0"/>
              <c:showPercent val="0"/>
              <c:showBubbleSize val="0"/>
            </c:dLbl>
            <c:dLbl>
              <c:idx val="5"/>
              <c:tx>
                <c:rich>
                  <a:bodyPr/>
                  <a:lstStyle/>
                  <a:p>
                    <a:r>
                      <a:rPr sz="1100">
                        <a:solidFill>
                          <a:srgbClr val="252423"/>
                        </a:solidFill>
                        <a:latin typeface="Segoe UI"/>
                      </a:rPr>
                      <a:t>68.0</a:t>
                    </a:r>
                  </a:p>
                </c:rich>
              </c:tx>
              <c:dLblPos val="ctr"/>
              <c:showLegendKey val="0"/>
              <c:showVal val="1"/>
              <c:showCatName val="0"/>
              <c:showSerName val="0"/>
              <c:showPercent val="0"/>
              <c:showBubbleSize val="0"/>
            </c:dLbl>
            <c:dLbl>
              <c:idx val="6"/>
              <c:tx>
                <c:rich>
                  <a:bodyPr/>
                  <a:lstStyle/>
                  <a:p>
                    <a:r>
                      <a:rPr sz="1100">
                        <a:solidFill>
                          <a:srgbClr val="252423"/>
                        </a:solidFill>
                        <a:latin typeface="Segoe UI"/>
                      </a:rPr>
                      <a:t>72.1</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76.6</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81.3</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86.3</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91.2</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96.2</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101</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107</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112</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118</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0">
                  <c:v>53.572</c:v>
                </c:pt>
                <c:pt idx="1">
                  <c:v>55.92</c:v>
                </c:pt>
                <c:pt idx="2">
                  <c:v>58.416</c:v>
                </c:pt>
                <c:pt idx="3">
                  <c:v>61.175</c:v>
                </c:pt>
                <c:pt idx="4">
                  <c:v>64.338</c:v>
                </c:pt>
                <c:pt idx="5">
                  <c:v>68.019</c:v>
                </c:pt>
                <c:pt idx="6">
                  <c:v>72.106</c:v>
                </c:pt>
                <c:pt idx="7">
                  <c:v>76.582</c:v>
                </c:pt>
                <c:pt idx="8">
                  <c:v>81.347</c:v>
                </c:pt>
                <c:pt idx="9">
                  <c:v>86.257</c:v>
                </c:pt>
                <c:pt idx="10">
                  <c:v>91.21</c:v>
                </c:pt>
                <c:pt idx="11">
                  <c:v>96.229</c:v>
                </c:pt>
                <c:pt idx="12">
                  <c:v>101.349</c:v>
                </c:pt>
                <c:pt idx="13">
                  <c:v>106.691</c:v>
                </c:pt>
                <c:pt idx="14">
                  <c:v>112.262</c:v>
                </c:pt>
                <c:pt idx="15">
                  <c:v>118.045</c:v>
                </c:pt>
              </c:numCache>
            </c:numRef>
          </c:val>
        </c:ser>
        <c:ser>
          <c:idx val="2"/>
          <c:order val="2"/>
          <c:tx>
            <c:strRef>
              <c:f>Sheet1!$D$1</c:f>
              <c:strCache>
                <c:ptCount val="1"/>
                <c:pt idx="0">
                  <c:v>KSA</c:v>
                </c:pt>
              </c:strCache>
            </c:strRef>
          </c:tx>
          <c:spPr>
            <a:solidFill>
              <a:srgbClr val="D6CAC4"/>
            </a:solidFill>
            <a:ln>
              <a:noFill/>
            </a:ln>
          </c:spPr>
          <c:dLbls>
            <c:dLbl>
              <c:idx val="0"/>
              <c:tx>
                <c:rich>
                  <a:bodyPr/>
                  <a:lstStyle/>
                  <a:p>
                    <a:r>
                      <a:rPr sz="1100">
                        <a:solidFill>
                          <a:srgbClr val="252423"/>
                        </a:solidFill>
                        <a:latin typeface="Segoe UI"/>
                      </a:rPr>
                      <a:t>41.2</a:t>
                    </a:r>
                  </a:p>
                </c:rich>
              </c:tx>
              <c:dLblPos val="ctr"/>
              <c:showLegendKey val="0"/>
              <c:showVal val="1"/>
              <c:showCatName val="0"/>
              <c:showSerName val="0"/>
              <c:showPercent val="0"/>
              <c:showBubbleSize val="0"/>
            </c:dLbl>
            <c:dLbl>
              <c:idx val="1"/>
              <c:tx>
                <c:rich>
                  <a:bodyPr/>
                  <a:lstStyle/>
                  <a:p>
                    <a:r>
                      <a:rPr sz="1100">
                        <a:solidFill>
                          <a:srgbClr val="252423"/>
                        </a:solidFill>
                        <a:latin typeface="Segoe UI"/>
                      </a:rPr>
                      <a:t>44.3</a:t>
                    </a:r>
                  </a:p>
                </c:rich>
              </c:tx>
              <c:dLblPos val="ctr"/>
              <c:showLegendKey val="0"/>
              <c:showVal val="1"/>
              <c:showCatName val="0"/>
              <c:showSerName val="0"/>
              <c:showPercent val="0"/>
              <c:showBubbleSize val="0"/>
            </c:dLbl>
            <c:dLbl>
              <c:idx val="2"/>
              <c:tx>
                <c:rich>
                  <a:bodyPr/>
                  <a:lstStyle/>
                  <a:p>
                    <a:r>
                      <a:rPr sz="1100">
                        <a:solidFill>
                          <a:srgbClr val="252423"/>
                        </a:solidFill>
                        <a:latin typeface="Segoe UI"/>
                      </a:rPr>
                      <a:t>47.7</a:t>
                    </a:r>
                  </a:p>
                </c:rich>
              </c:tx>
              <c:dLblPos val="ctr"/>
              <c:showLegendKey val="0"/>
              <c:showVal val="1"/>
              <c:showCatName val="0"/>
              <c:showSerName val="0"/>
              <c:showPercent val="0"/>
              <c:showBubbleSize val="0"/>
            </c:dLbl>
            <c:dLbl>
              <c:idx val="3"/>
              <c:tx>
                <c:rich>
                  <a:bodyPr/>
                  <a:lstStyle/>
                  <a:p>
                    <a:r>
                      <a:rPr sz="1100">
                        <a:solidFill>
                          <a:srgbClr val="252423"/>
                        </a:solidFill>
                        <a:latin typeface="Segoe UI"/>
                      </a:rPr>
                      <a:t>51.3</a:t>
                    </a:r>
                  </a:p>
                </c:rich>
              </c:tx>
              <c:dLblPos val="ctr"/>
              <c:showLegendKey val="0"/>
              <c:showVal val="1"/>
              <c:showCatName val="0"/>
              <c:showSerName val="0"/>
              <c:showPercent val="0"/>
              <c:showBubbleSize val="0"/>
            </c:dLbl>
            <c:dLbl>
              <c:idx val="4"/>
              <c:tx>
                <c:rich>
                  <a:bodyPr/>
                  <a:lstStyle/>
                  <a:p>
                    <a:r>
                      <a:rPr sz="1100">
                        <a:solidFill>
                          <a:srgbClr val="252423"/>
                        </a:solidFill>
                        <a:latin typeface="Segoe UI"/>
                      </a:rPr>
                      <a:t>55.2</a:t>
                    </a:r>
                  </a:p>
                </c:rich>
              </c:tx>
              <c:dLblPos val="ctr"/>
              <c:showLegendKey val="0"/>
              <c:showVal val="1"/>
              <c:showCatName val="0"/>
              <c:showSerName val="0"/>
              <c:showPercent val="0"/>
              <c:showBubbleSize val="0"/>
            </c:dLbl>
            <c:dLbl>
              <c:idx val="5"/>
              <c:tx>
                <c:rich>
                  <a:bodyPr/>
                  <a:lstStyle/>
                  <a:p>
                    <a:r>
                      <a:rPr sz="1100">
                        <a:solidFill>
                          <a:srgbClr val="252423"/>
                        </a:solidFill>
                        <a:latin typeface="Segoe UI"/>
                      </a:rPr>
                      <a:t>59.4</a:t>
                    </a:r>
                  </a:p>
                </c:rich>
              </c:tx>
              <c:dLblPos val="ctr"/>
              <c:showLegendKey val="0"/>
              <c:showVal val="1"/>
              <c:showCatName val="0"/>
              <c:showSerName val="0"/>
              <c:showPercent val="0"/>
              <c:showBubbleSize val="0"/>
            </c:dLbl>
            <c:dLbl>
              <c:idx val="6"/>
              <c:tx>
                <c:rich>
                  <a:bodyPr/>
                  <a:lstStyle/>
                  <a:p>
                    <a:r>
                      <a:rPr sz="1100">
                        <a:solidFill>
                          <a:srgbClr val="252423"/>
                        </a:solidFill>
                        <a:latin typeface="Segoe UI"/>
                      </a:rPr>
                      <a:t>63.8</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68.4</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73.2</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78.2</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83.7</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89.9</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96.7</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104</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112</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120</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Sheet1!$D$2:$D$17</c:f>
              <c:numCache>
                <c:formatCode>General</c:formatCode>
                <c:ptCount val="16"/>
                <c:pt idx="0">
                  <c:v>41.248</c:v>
                </c:pt>
                <c:pt idx="1">
                  <c:v>44.294</c:v>
                </c:pt>
                <c:pt idx="2">
                  <c:v>47.673</c:v>
                </c:pt>
                <c:pt idx="3">
                  <c:v>51.343</c:v>
                </c:pt>
                <c:pt idx="4">
                  <c:v>55.242</c:v>
                </c:pt>
                <c:pt idx="5">
                  <c:v>59.439</c:v>
                </c:pt>
                <c:pt idx="6">
                  <c:v>63.826</c:v>
                </c:pt>
                <c:pt idx="7">
                  <c:v>68.414</c:v>
                </c:pt>
                <c:pt idx="8">
                  <c:v>73.166</c:v>
                </c:pt>
                <c:pt idx="9">
                  <c:v>78.227</c:v>
                </c:pt>
                <c:pt idx="10">
                  <c:v>83.72</c:v>
                </c:pt>
                <c:pt idx="11">
                  <c:v>89.896</c:v>
                </c:pt>
                <c:pt idx="12">
                  <c:v>96.722</c:v>
                </c:pt>
                <c:pt idx="13">
                  <c:v>104.101</c:v>
                </c:pt>
                <c:pt idx="14">
                  <c:v>111.97</c:v>
                </c:pt>
                <c:pt idx="15">
                  <c:v>120.318</c:v>
                </c:pt>
              </c:numCache>
            </c:numRef>
          </c:val>
        </c:ser>
        <c:ser>
          <c:idx val="3"/>
          <c:order val="3"/>
          <c:tx>
            <c:strRef>
              <c:f>Sheet1!$E$1</c:f>
              <c:strCache>
                <c:ptCount val="1"/>
                <c:pt idx="0">
                  <c:v>Other African Union</c:v>
                </c:pt>
              </c:strCache>
            </c:strRef>
          </c:tx>
          <c:spPr>
            <a:solidFill>
              <a:srgbClr val="EBC46B"/>
            </a:solidFill>
            <a:ln>
              <a:noFill/>
            </a:ln>
          </c:spPr>
          <c:dLbls>
            <c:dLbl>
              <c:idx val="2"/>
              <c:tx>
                <c:rich>
                  <a:bodyPr/>
                  <a:lstStyle/>
                  <a:p>
                    <a:r>
                      <a:rPr sz="1100">
                        <a:solidFill>
                          <a:srgbClr val="252423"/>
                        </a:solidFill>
                        <a:latin typeface="Segoe UI"/>
                      </a:rPr>
                      <a:t>29.5</a:t>
                    </a:r>
                  </a:p>
                </c:rich>
              </c:tx>
              <c:dLblPos val="ctr"/>
              <c:showLegendKey val="0"/>
              <c:showVal val="1"/>
              <c:showCatName val="0"/>
              <c:showSerName val="0"/>
              <c:showPercent val="0"/>
              <c:showBubbleSize val="0"/>
            </c:dLbl>
            <c:dLbl>
              <c:idx val="3"/>
              <c:tx>
                <c:rich>
                  <a:bodyPr/>
                  <a:lstStyle/>
                  <a:p>
                    <a:r>
                      <a:rPr sz="1100">
                        <a:solidFill>
                          <a:srgbClr val="252423"/>
                        </a:solidFill>
                        <a:latin typeface="Segoe UI"/>
                      </a:rPr>
                      <a:t>30.9</a:t>
                    </a:r>
                  </a:p>
                </c:rich>
              </c:tx>
              <c:dLblPos val="ctr"/>
              <c:showLegendKey val="0"/>
              <c:showVal val="1"/>
              <c:showCatName val="0"/>
              <c:showSerName val="0"/>
              <c:showPercent val="0"/>
              <c:showBubbleSize val="0"/>
            </c:dLbl>
            <c:dLbl>
              <c:idx val="4"/>
              <c:tx>
                <c:rich>
                  <a:bodyPr/>
                  <a:lstStyle/>
                  <a:p>
                    <a:r>
                      <a:rPr sz="1100">
                        <a:solidFill>
                          <a:srgbClr val="252423"/>
                        </a:solidFill>
                        <a:latin typeface="Segoe UI"/>
                      </a:rPr>
                      <a:t>32.6</a:t>
                    </a:r>
                  </a:p>
                </c:rich>
              </c:tx>
              <c:dLblPos val="ctr"/>
              <c:showLegendKey val="0"/>
              <c:showVal val="1"/>
              <c:showCatName val="0"/>
              <c:showSerName val="0"/>
              <c:showPercent val="0"/>
              <c:showBubbleSize val="0"/>
            </c:dLbl>
            <c:dLbl>
              <c:idx val="5"/>
              <c:tx>
                <c:rich>
                  <a:bodyPr/>
                  <a:lstStyle/>
                  <a:p>
                    <a:r>
                      <a:rPr sz="1100">
                        <a:solidFill>
                          <a:srgbClr val="252423"/>
                        </a:solidFill>
                        <a:latin typeface="Segoe UI"/>
                      </a:rPr>
                      <a:t>34.7</a:t>
                    </a:r>
                  </a:p>
                </c:rich>
              </c:tx>
              <c:dLblPos val="ctr"/>
              <c:showLegendKey val="0"/>
              <c:showVal val="1"/>
              <c:showCatName val="0"/>
              <c:showSerName val="0"/>
              <c:showPercent val="0"/>
              <c:showBubbleSize val="0"/>
            </c:dLbl>
            <c:dLbl>
              <c:idx val="6"/>
              <c:tx>
                <c:rich>
                  <a:bodyPr/>
                  <a:lstStyle/>
                  <a:p>
                    <a:r>
                      <a:rPr sz="1100">
                        <a:solidFill>
                          <a:srgbClr val="252423"/>
                        </a:solidFill>
                        <a:latin typeface="Segoe UI"/>
                      </a:rPr>
                      <a:t>37.1</a:t>
                    </a:r>
                  </a:p>
                </c:rich>
              </c:tx>
              <c:dLblPos val="ctr"/>
              <c:showLegendKey val="0"/>
              <c:showVal val="1"/>
              <c:showCatName val="0"/>
              <c:showSerName val="0"/>
              <c:showPercent val="0"/>
              <c:showBubbleSize val="0"/>
            </c:dLbl>
            <c:dLbl>
              <c:idx val="7"/>
              <c:tx>
                <c:rich>
                  <a:bodyPr/>
                  <a:lstStyle/>
                  <a:p>
                    <a:r>
                      <a:rPr sz="1100">
                        <a:solidFill>
                          <a:srgbClr val="252423"/>
                        </a:solidFill>
                        <a:latin typeface="Segoe UI"/>
                      </a:rPr>
                      <a:t>39.7</a:t>
                    </a:r>
                  </a:p>
                </c:rich>
              </c:tx>
              <c:dLblPos val="ctr"/>
              <c:showLegendKey val="0"/>
              <c:showVal val="1"/>
              <c:showCatName val="0"/>
              <c:showSerName val="0"/>
              <c:showPercent val="0"/>
              <c:showBubbleSize val="0"/>
            </c:dLbl>
            <c:dLbl>
              <c:idx val="8"/>
              <c:tx>
                <c:rich>
                  <a:bodyPr/>
                  <a:lstStyle/>
                  <a:p>
                    <a:r>
                      <a:rPr sz="1100">
                        <a:solidFill>
                          <a:srgbClr val="252423"/>
                        </a:solidFill>
                        <a:latin typeface="Segoe UI"/>
                      </a:rPr>
                      <a:t>42.5</a:t>
                    </a:r>
                  </a:p>
                </c:rich>
              </c:tx>
              <c:dLblPos val="ctr"/>
              <c:showLegendKey val="0"/>
              <c:showVal val="1"/>
              <c:showCatName val="0"/>
              <c:showSerName val="0"/>
              <c:showPercent val="0"/>
              <c:showBubbleSize val="0"/>
            </c:dLbl>
            <c:dLbl>
              <c:idx val="9"/>
              <c:tx>
                <c:rich>
                  <a:bodyPr/>
                  <a:lstStyle/>
                  <a:p>
                    <a:r>
                      <a:rPr sz="1100">
                        <a:solidFill>
                          <a:srgbClr val="252423"/>
                        </a:solidFill>
                        <a:latin typeface="Segoe UI"/>
                      </a:rPr>
                      <a:t>45.4</a:t>
                    </a:r>
                  </a:p>
                </c:rich>
              </c:tx>
              <c:dLblPos val="ctr"/>
              <c:showLegendKey val="0"/>
              <c:showVal val="1"/>
              <c:showCatName val="0"/>
              <c:showSerName val="0"/>
              <c:showPercent val="0"/>
              <c:showBubbleSize val="0"/>
            </c:dLbl>
            <c:dLbl>
              <c:idx val="10"/>
              <c:tx>
                <c:rich>
                  <a:bodyPr/>
                  <a:lstStyle/>
                  <a:p>
                    <a:r>
                      <a:rPr sz="1100">
                        <a:solidFill>
                          <a:srgbClr val="252423"/>
                        </a:solidFill>
                        <a:latin typeface="Segoe UI"/>
                      </a:rPr>
                      <a:t>48.4</a:t>
                    </a:r>
                  </a:p>
                </c:rich>
              </c:tx>
              <c:dLblPos val="ctr"/>
              <c:showLegendKey val="0"/>
              <c:showVal val="1"/>
              <c:showCatName val="0"/>
              <c:showSerName val="0"/>
              <c:showPercent val="0"/>
              <c:showBubbleSize val="0"/>
            </c:dLbl>
            <c:dLbl>
              <c:idx val="11"/>
              <c:tx>
                <c:rich>
                  <a:bodyPr/>
                  <a:lstStyle/>
                  <a:p>
                    <a:r>
                      <a:rPr sz="1100">
                        <a:solidFill>
                          <a:srgbClr val="252423"/>
                        </a:solidFill>
                        <a:latin typeface="Segoe UI"/>
                      </a:rPr>
                      <a:t>51.5</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54.8</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58.3</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62.0</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65.9</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Sheet1!$E$2:$E$17</c:f>
              <c:numCache>
                <c:formatCode>General</c:formatCode>
                <c:ptCount val="16"/>
                <c:pt idx="0">
                  <c:v>27.094</c:v>
                </c:pt>
                <c:pt idx="1">
                  <c:v>28.235</c:v>
                </c:pt>
                <c:pt idx="2">
                  <c:v>29.499</c:v>
                </c:pt>
                <c:pt idx="3">
                  <c:v>30.945</c:v>
                </c:pt>
                <c:pt idx="4">
                  <c:v>32.61</c:v>
                </c:pt>
                <c:pt idx="5">
                  <c:v>34.688</c:v>
                </c:pt>
                <c:pt idx="6">
                  <c:v>37.073</c:v>
                </c:pt>
                <c:pt idx="7">
                  <c:v>39.701</c:v>
                </c:pt>
                <c:pt idx="8">
                  <c:v>42.49</c:v>
                </c:pt>
                <c:pt idx="9">
                  <c:v>45.387</c:v>
                </c:pt>
                <c:pt idx="10">
                  <c:v>48.376</c:v>
                </c:pt>
                <c:pt idx="11">
                  <c:v>51.504</c:v>
                </c:pt>
                <c:pt idx="12">
                  <c:v>54.811</c:v>
                </c:pt>
                <c:pt idx="13">
                  <c:v>58.302</c:v>
                </c:pt>
                <c:pt idx="14">
                  <c:v>62.001</c:v>
                </c:pt>
                <c:pt idx="15">
                  <c:v>65.864</c:v>
                </c:pt>
              </c:numCache>
            </c:numRef>
          </c:val>
        </c:ser>
        <c:ser>
          <c:idx val="4"/>
          <c:order val="4"/>
          <c:tx>
            <c:strRef>
              <c:f>Sheet1!$F$1</c:f>
              <c:strCache>
                <c:ptCount val="1"/>
                <c:pt idx="0">
                  <c:v>South Africa</c:v>
                </c:pt>
              </c:strCache>
            </c:strRef>
          </c:tx>
          <c:spPr>
            <a:solidFill>
              <a:srgbClr val="EDA28B"/>
            </a:solidFill>
            <a:ln>
              <a:noFill/>
            </a:ln>
          </c:spPr>
          <c:dLbls>
            <c:dLbl>
              <c:idx val="11"/>
              <c:tx>
                <c:rich>
                  <a:bodyPr/>
                  <a:lstStyle/>
                  <a:p>
                    <a:r>
                      <a:rPr sz="1100">
                        <a:solidFill>
                          <a:srgbClr val="252423"/>
                        </a:solidFill>
                        <a:latin typeface="Segoe UI"/>
                      </a:rPr>
                      <a:t>30.8</a:t>
                    </a:r>
                  </a:p>
                </c:rich>
              </c:tx>
              <c:dLblPos val="ctr"/>
              <c:showLegendKey val="0"/>
              <c:showVal val="1"/>
              <c:showCatName val="0"/>
              <c:showSerName val="0"/>
              <c:showPercent val="0"/>
              <c:showBubbleSize val="0"/>
            </c:dLbl>
            <c:dLbl>
              <c:idx val="12"/>
              <c:tx>
                <c:rich>
                  <a:bodyPr/>
                  <a:lstStyle/>
                  <a:p>
                    <a:r>
                      <a:rPr sz="1100">
                        <a:solidFill>
                          <a:srgbClr val="252423"/>
                        </a:solidFill>
                        <a:latin typeface="Segoe UI"/>
                      </a:rPr>
                      <a:t>32.7</a:t>
                    </a:r>
                  </a:p>
                </c:rich>
              </c:tx>
              <c:dLblPos val="ctr"/>
              <c:showLegendKey val="0"/>
              <c:showVal val="1"/>
              <c:showCatName val="0"/>
              <c:showSerName val="0"/>
              <c:showPercent val="0"/>
              <c:showBubbleSize val="0"/>
            </c:dLbl>
            <c:dLbl>
              <c:idx val="13"/>
              <c:tx>
                <c:rich>
                  <a:bodyPr/>
                  <a:lstStyle/>
                  <a:p>
                    <a:r>
                      <a:rPr sz="1100">
                        <a:solidFill>
                          <a:srgbClr val="252423"/>
                        </a:solidFill>
                        <a:latin typeface="Segoe UI"/>
                      </a:rPr>
                      <a:t>34.8</a:t>
                    </a:r>
                  </a:p>
                </c:rich>
              </c:tx>
              <c:dLblPos val="ctr"/>
              <c:showLegendKey val="0"/>
              <c:showVal val="1"/>
              <c:showCatName val="0"/>
              <c:showSerName val="0"/>
              <c:showPercent val="0"/>
              <c:showBubbleSize val="0"/>
            </c:dLbl>
            <c:dLbl>
              <c:idx val="14"/>
              <c:tx>
                <c:rich>
                  <a:bodyPr/>
                  <a:lstStyle/>
                  <a:p>
                    <a:r>
                      <a:rPr sz="1100">
                        <a:solidFill>
                          <a:srgbClr val="252423"/>
                        </a:solidFill>
                        <a:latin typeface="Segoe UI"/>
                      </a:rPr>
                      <a:t>36.9</a:t>
                    </a:r>
                  </a:p>
                </c:rich>
              </c:tx>
              <c:dLblPos val="ctr"/>
              <c:showLegendKey val="0"/>
              <c:showVal val="1"/>
              <c:showCatName val="0"/>
              <c:showSerName val="0"/>
              <c:showPercent val="0"/>
              <c:showBubbleSize val="0"/>
            </c:dLbl>
            <c:dLbl>
              <c:idx val="15"/>
              <c:tx>
                <c:rich>
                  <a:bodyPr/>
                  <a:lstStyle/>
                  <a:p>
                    <a:r>
                      <a:rPr sz="1100">
                        <a:solidFill>
                          <a:srgbClr val="252423"/>
                        </a:solidFill>
                        <a:latin typeface="Segoe UI"/>
                      </a:rPr>
                      <a:t>39.2</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Sheet1!$F$2:$F$17</c:f>
              <c:numCache>
                <c:formatCode>General</c:formatCode>
                <c:ptCount val="16"/>
                <c:pt idx="0">
                  <c:v>18.051</c:v>
                </c:pt>
                <c:pt idx="1">
                  <c:v>18.809</c:v>
                </c:pt>
                <c:pt idx="2">
                  <c:v>19.6</c:v>
                </c:pt>
                <c:pt idx="3">
                  <c:v>20.437</c:v>
                </c:pt>
                <c:pt idx="4">
                  <c:v>21.324</c:v>
                </c:pt>
                <c:pt idx="5">
                  <c:v>22.347</c:v>
                </c:pt>
                <c:pt idx="6">
                  <c:v>23.456</c:v>
                </c:pt>
                <c:pt idx="7">
                  <c:v>24.665</c:v>
                </c:pt>
                <c:pt idx="8">
                  <c:v>25.984</c:v>
                </c:pt>
                <c:pt idx="9">
                  <c:v>27.432</c:v>
                </c:pt>
                <c:pt idx="10">
                  <c:v>29.034</c:v>
                </c:pt>
                <c:pt idx="11">
                  <c:v>30.798</c:v>
                </c:pt>
                <c:pt idx="12">
                  <c:v>32.714</c:v>
                </c:pt>
                <c:pt idx="13">
                  <c:v>34.76</c:v>
                </c:pt>
                <c:pt idx="14">
                  <c:v>36.919</c:v>
                </c:pt>
                <c:pt idx="15">
                  <c:v>39.205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8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Weft Knitted Fabrics</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78.55169682035876</c:v>
                </c:pt>
                <c:pt idx="1">
                  <c:v>78.372067511871</c:v>
                </c:pt>
                <c:pt idx="2">
                  <c:v>76.4248938113631</c:v>
                </c:pt>
              </c:numCache>
            </c:numRef>
          </c:val>
        </c:ser>
        <c:ser>
          <c:idx val="1"/>
          <c:order val="1"/>
          <c:tx>
            <c:strRef>
              <c:f>Sheet1!$C$1</c:f>
              <c:strCache>
                <c:ptCount val="1"/>
                <c:pt idx="0">
                  <c:v>Warp Knitted Fabrics</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21.44830317964124</c:v>
                </c:pt>
                <c:pt idx="1">
                  <c:v>21.627932488129005</c:v>
                </c:pt>
                <c:pt idx="2">
                  <c:v>23.575106188636894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49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Polyester</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55.80242086906422</c:v>
                </c:pt>
                <c:pt idx="1">
                  <c:v>54.18796989535463</c:v>
                </c:pt>
                <c:pt idx="2">
                  <c:v>51.62436537827448</c:v>
                </c:pt>
              </c:numCache>
            </c:numRef>
          </c:val>
        </c:ser>
        <c:ser>
          <c:idx val="1"/>
          <c:order val="1"/>
          <c:tx>
            <c:strRef>
              <c:f>Sheet1!$C$1</c:f>
              <c:strCache>
                <c:ptCount val="1"/>
                <c:pt idx="0">
                  <c:v>High-Performance &amp; Specialty Fibers</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10.875906025422728</c:v>
                </c:pt>
                <c:pt idx="1">
                  <c:v>11.749195864333204</c:v>
                </c:pt>
                <c:pt idx="2">
                  <c:v>13.723803613887847</c:v>
                </c:pt>
              </c:numCache>
            </c:numRef>
          </c:val>
        </c:ser>
        <c:ser>
          <c:idx val="2"/>
          <c:order val="2"/>
          <c:tx>
            <c:strRef>
              <c:f>Sheet1!$D$1</c:f>
              <c:strCache>
                <c:ptCount val="1"/>
                <c:pt idx="0">
                  <c:v>Polyamide or Nylon</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13.310664478659213</c:v>
                </c:pt>
                <c:pt idx="1">
                  <c:v>13.335527321023493</c:v>
                </c:pt>
                <c:pt idx="2">
                  <c:v>13.091178681215606</c:v>
                </c:pt>
              </c:numCache>
            </c:numRef>
          </c:val>
        </c:ser>
        <c:ser>
          <c:idx val="3"/>
          <c:order val="3"/>
          <c:tx>
            <c:strRef>
              <c:f>Sheet1!$E$1</c:f>
              <c:strCache>
                <c:ptCount val="1"/>
                <c:pt idx="0">
                  <c:v>Elastane or Spandex Blends</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10.31775835549634</c:v>
                </c:pt>
                <c:pt idx="1">
                  <c:v>11.295510552689006</c:v>
                </c:pt>
                <c:pt idx="2">
                  <c:v>12.388717198837558</c:v>
                </c:pt>
              </c:numCache>
            </c:numRef>
          </c:val>
        </c:ser>
        <c:ser>
          <c:idx val="4"/>
          <c:order val="4"/>
          <c:tx>
            <c:strRef>
              <c:f>Sheet1!$F$1</c:f>
              <c:strCache>
                <c:ptCount val="1"/>
                <c:pt idx="0">
                  <c:v>Polypropylene</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4.497589933793913</c:v>
                </c:pt>
                <c:pt idx="1">
                  <c:v>4.547431271376688</c:v>
                </c:pt>
                <c:pt idx="2">
                  <c:v>4.675362443501002</c:v>
                </c:pt>
              </c:numCache>
            </c:numRef>
          </c:val>
        </c:ser>
        <c:ser>
          <c:idx val="5"/>
          <c:order val="5"/>
          <c:tx>
            <c:strRef>
              <c:f>Sheet1!$G$1</c:f>
              <c:strCache>
                <c:ptCount val="1"/>
                <c:pt idx="0">
                  <c:v>Cellulosic Fibers</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5.195660337563597</c:v>
                </c:pt>
                <c:pt idx="1">
                  <c:v>4.884365095222984</c:v>
                </c:pt>
                <c:pt idx="2">
                  <c:v>4.4965726842835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5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Moisture Management &amp; Quick-Dry</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22.789003662702168</c:v>
                </c:pt>
                <c:pt idx="1">
                  <c:v>23.5256091301946</c:v>
                </c:pt>
                <c:pt idx="2">
                  <c:v>23.57613018706403</c:v>
                </c:pt>
              </c:numCache>
            </c:numRef>
          </c:val>
        </c:ser>
        <c:ser>
          <c:idx val="1"/>
          <c:order val="1"/>
          <c:tx>
            <c:strRef>
              <c:f>Sheet1!$C$1</c:f>
              <c:strCache>
                <c:ptCount val="1"/>
                <c:pt idx="0">
                  <c:v>Stretch &amp; Recovery</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14.850405366475986</c:v>
                </c:pt>
                <c:pt idx="1">
                  <c:v>14.914139969675718</c:v>
                </c:pt>
                <c:pt idx="2">
                  <c:v>14.651574295181883</c:v>
                </c:pt>
              </c:numCache>
            </c:numRef>
          </c:val>
        </c:ser>
        <c:ser>
          <c:idx val="2"/>
          <c:order val="2"/>
          <c:tx>
            <c:strRef>
              <c:f>Sheet1!$D$1</c:f>
              <c:strCache>
                <c:ptCount val="1"/>
                <c:pt idx="0">
                  <c:v>Abrasion &amp; Tear Resistance</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12.386826618379358</c:v>
                </c:pt>
                <c:pt idx="1">
                  <c:v>11.762608671804294</c:v>
                </c:pt>
                <c:pt idx="2">
                  <c:v>10.703241159821578</c:v>
                </c:pt>
              </c:numCache>
            </c:numRef>
          </c:val>
        </c:ser>
        <c:ser>
          <c:idx val="3"/>
          <c:order val="3"/>
          <c:tx>
            <c:strRef>
              <c:f>Sheet1!$E$1</c:f>
              <c:strCache>
                <c:ptCount val="1"/>
                <c:pt idx="0">
                  <c:v>Compression &amp; Support</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10.890365858677313</c:v>
                </c:pt>
                <c:pt idx="1">
                  <c:v>10.656203352909605</c:v>
                </c:pt>
                <c:pt idx="2">
                  <c:v>10.562134176561905</c:v>
                </c:pt>
              </c:numCache>
            </c:numRef>
          </c:val>
        </c:ser>
        <c:ser>
          <c:idx val="4"/>
          <c:order val="4"/>
          <c:tx>
            <c:strRef>
              <c:f>Sheet1!$F$1</c:f>
              <c:strCache>
                <c:ptCount val="1"/>
                <c:pt idx="0">
                  <c:v>Thermal Management</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9.777665747561628</c:v>
                </c:pt>
                <c:pt idx="1">
                  <c:v>9.718266265999585</c:v>
                </c:pt>
                <c:pt idx="2">
                  <c:v>10.329891333286913</c:v>
                </c:pt>
              </c:numCache>
            </c:numRef>
          </c:val>
        </c:ser>
        <c:ser>
          <c:idx val="5"/>
          <c:order val="5"/>
          <c:tx>
            <c:strRef>
              <c:f>Sheet1!$G$1</c:f>
              <c:strCache>
                <c:ptCount val="1"/>
                <c:pt idx="0">
                  <c:v>Water or Liquid Management</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8.071834231861393</c:v>
                </c:pt>
                <c:pt idx="1">
                  <c:v>7.8490524641417325</c:v>
                </c:pt>
                <c:pt idx="2">
                  <c:v>7.711117755723127</c:v>
                </c:pt>
              </c:numCache>
            </c:numRef>
          </c:val>
        </c:ser>
        <c:ser>
          <c:idx val="6"/>
          <c:order val="6"/>
          <c:tx>
            <c:strRef>
              <c:f>Sheet1!$H$1</c:f>
              <c:strCache>
                <c:ptCount val="1"/>
                <c:pt idx="0">
                  <c:v>UV Protection</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8.286349232478702</c:v>
                </c:pt>
                <c:pt idx="1">
                  <c:v>7.837298866561408</c:v>
                </c:pt>
                <c:pt idx="2">
                  <c:v>7.448564559004837</c:v>
                </c:pt>
              </c:numCache>
            </c:numRef>
          </c:val>
        </c:ser>
        <c:ser>
          <c:idx val="7"/>
          <c:order val="7"/>
          <c:tx>
            <c:strRef>
              <c:f>Sheet1!$I$1</c:f>
              <c:strCache>
                <c:ptCount val="1"/>
                <c:pt idx="0">
                  <c:v>Antimicrobial &amp; Odor Control</c:v>
                </c:pt>
              </c:strCache>
            </c:strRef>
          </c:tx>
          <c:spPr>
            <a:solidFill>
              <a:srgbClr val="7D72E5"/>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Sheet1!$I$2:$I$4</c:f>
              <c:numCache>
                <c:formatCode>General</c:formatCode>
                <c:ptCount val="3"/>
                <c:pt idx="0">
                  <c:v>6.290382320260093</c:v>
                </c:pt>
                <c:pt idx="1">
                  <c:v>6.778691511160042</c:v>
                </c:pt>
                <c:pt idx="2">
                  <c:v>7.376065470363437</c:v>
                </c:pt>
              </c:numCache>
            </c:numRef>
          </c:val>
        </c:ser>
        <c:ser>
          <c:idx val="8"/>
          <c:order val="8"/>
          <c:tx>
            <c:strRef>
              <c:f>Sheet1!$J$1</c:f>
              <c:strCache>
                <c:ptCount val="1"/>
                <c:pt idx="0">
                  <c:v>Other Specialized Performance</c:v>
                </c:pt>
              </c:strCache>
            </c:strRef>
          </c:tx>
          <c:spPr>
            <a:solidFill>
              <a:srgbClr val="CF72E5"/>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Sheet1!$J$2:$J$4</c:f>
              <c:numCache>
                <c:formatCode>General</c:formatCode>
                <c:ptCount val="3"/>
                <c:pt idx="0">
                  <c:v>3.1482777069015184</c:v>
                </c:pt>
                <c:pt idx="1">
                  <c:v>3.451639822755749</c:v>
                </c:pt>
                <c:pt idx="2">
                  <c:v>3.999737856402653</c:v>
                </c:pt>
              </c:numCache>
            </c:numRef>
          </c:val>
        </c:ser>
        <c:ser>
          <c:idx val="9"/>
          <c:order val="9"/>
          <c:tx>
            <c:strRef>
              <c:f>Sheet1!$K$1</c:f>
              <c:strCache>
                <c:ptCount val="1"/>
                <c:pt idx="0">
                  <c:v>Flame &amp; Heat Resistance</c:v>
                </c:pt>
              </c:strCache>
            </c:strRef>
          </c:tx>
          <c:spPr>
            <a:solidFill>
              <a:srgbClr val="E572A9"/>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Sheet1!$K$2:$K$4</c:f>
              <c:numCache>
                <c:formatCode>General</c:formatCode>
                <c:ptCount val="3"/>
                <c:pt idx="0">
                  <c:v>3.508889254701839</c:v>
                </c:pt>
                <c:pt idx="1">
                  <c:v>3.50648994479727</c:v>
                </c:pt>
                <c:pt idx="2">
                  <c:v>3.6415432065896347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5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Industrial &amp; Technical Applications</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21.607662787946133</c:v>
                </c:pt>
                <c:pt idx="1">
                  <c:v>21.808629423725627</c:v>
                </c:pt>
                <c:pt idx="2">
                  <c:v>22.63236688559708</c:v>
                </c:pt>
              </c:numCache>
            </c:numRef>
          </c:val>
        </c:ser>
        <c:ser>
          <c:idx val="1"/>
          <c:order val="1"/>
          <c:tx>
            <c:strRef>
              <c:f>Sheet1!$C$1</c:f>
              <c:strCache>
                <c:ptCount val="1"/>
                <c:pt idx="0">
                  <c:v>Protective &amp; Occupational Wear</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19.147710320277376</c:v>
                </c:pt>
                <c:pt idx="1">
                  <c:v>19.425018511771132</c:v>
                </c:pt>
                <c:pt idx="2">
                  <c:v>19.67895667061929</c:v>
                </c:pt>
              </c:numCache>
            </c:numRef>
          </c:val>
        </c:ser>
        <c:ser>
          <c:idx val="2"/>
          <c:order val="2"/>
          <c:tx>
            <c:strRef>
              <c:f>Sheet1!$D$1</c:f>
              <c:strCache>
                <c:ptCount val="1"/>
                <c:pt idx="0">
                  <c:v>Sports &amp; Activewear</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16.656892702449667</c:v>
                </c:pt>
                <c:pt idx="1">
                  <c:v>16.31504096096661</c:v>
                </c:pt>
                <c:pt idx="2">
                  <c:v>16.468932975344217</c:v>
                </c:pt>
              </c:numCache>
            </c:numRef>
          </c:val>
        </c:ser>
        <c:ser>
          <c:idx val="3"/>
          <c:order val="3"/>
          <c:tx>
            <c:strRef>
              <c:f>Sheet1!$E$1</c:f>
              <c:strCache>
                <c:ptCount val="1"/>
                <c:pt idx="0">
                  <c:v>Intimate &amp; Bodywear</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18.31229358930831</c:v>
                </c:pt>
                <c:pt idx="1">
                  <c:v>17.712140979380433</c:v>
                </c:pt>
                <c:pt idx="2">
                  <c:v>16.35670297757653</c:v>
                </c:pt>
              </c:numCache>
            </c:numRef>
          </c:val>
        </c:ser>
        <c:ser>
          <c:idx val="4"/>
          <c:order val="4"/>
          <c:tx>
            <c:strRef>
              <c:f>Sheet1!$F$1</c:f>
              <c:strCache>
                <c:ptCount val="1"/>
                <c:pt idx="0">
                  <c:v>Medical &amp; Healthcare</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9.712748335853986</c:v>
                </c:pt>
                <c:pt idx="1">
                  <c:v>10.12603675712948</c:v>
                </c:pt>
                <c:pt idx="2">
                  <c:v>10.430836215883001</c:v>
                </c:pt>
              </c:numCache>
            </c:numRef>
          </c:val>
        </c:ser>
        <c:ser>
          <c:idx val="5"/>
          <c:order val="5"/>
          <c:tx>
            <c:strRef>
              <c:f>Sheet1!$G$1</c:f>
              <c:strCache>
                <c:ptCount val="1"/>
                <c:pt idx="0">
                  <c:v>Footwear</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8.24768254164223</c:v>
                </c:pt>
                <c:pt idx="1">
                  <c:v>8.23372237436482</c:v>
                </c:pt>
                <c:pt idx="2">
                  <c:v>8.236207281433103</c:v>
                </c:pt>
              </c:numCache>
            </c:numRef>
          </c:val>
        </c:ser>
        <c:ser>
          <c:idx val="6"/>
          <c:order val="6"/>
          <c:tx>
            <c:strRef>
              <c:f>Sheet1!$H$1</c:f>
              <c:strCache>
                <c:ptCount val="1"/>
                <c:pt idx="0">
                  <c:v>Automotive &amp; Transportation</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6.3150097225223</c:v>
                </c:pt>
                <c:pt idx="1">
                  <c:v>6.379410992661895</c:v>
                </c:pt>
                <c:pt idx="2">
                  <c:v>6.195996993546774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5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Medium Weight 150–250 GSM</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51.63714742814813</c:v>
                </c:pt>
                <c:pt idx="1">
                  <c:v>51.219817977378426</c:v>
                </c:pt>
                <c:pt idx="2">
                  <c:v>49.061403041684926</c:v>
                </c:pt>
              </c:numCache>
            </c:numRef>
          </c:val>
        </c:ser>
        <c:ser>
          <c:idx val="1"/>
          <c:order val="1"/>
          <c:tx>
            <c:strRef>
              <c:f>Sheet1!$C$1</c:f>
              <c:strCache>
                <c:ptCount val="1"/>
                <c:pt idx="0">
                  <c:v>Lightweight Below 150 GSM</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28.910506036740006</c:v>
                </c:pt>
                <c:pt idx="1">
                  <c:v>29.509134432677875</c:v>
                </c:pt>
                <c:pt idx="2">
                  <c:v>29.98820353811936</c:v>
                </c:pt>
              </c:numCache>
            </c:numRef>
          </c:val>
        </c:ser>
        <c:ser>
          <c:idx val="2"/>
          <c:order val="2"/>
          <c:tx>
            <c:strRef>
              <c:f>Sheet1!$D$1</c:f>
              <c:strCache>
                <c:ptCount val="1"/>
                <c:pt idx="0">
                  <c:v>Heavyweight Above 250 GSM</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19.45234653511186</c:v>
                </c:pt>
                <c:pt idx="1">
                  <c:v>19.271047589943702</c:v>
                </c:pt>
                <c:pt idx="2">
                  <c:v>20.950393420195706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5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Industrial &amp; Technical Applications</c:v>
                </c:pt>
              </c:strCache>
            </c:strRef>
          </c:tx>
          <c:spPr>
            <a:solidFill>
              <a:srgbClr val="00A4DC"/>
            </a:solidFill>
            <a:ln>
              <a:noFill/>
            </a:ln>
          </c:spPr>
          <c:dLbls>
            <c:numFmt formatCode="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21.608288364292953</c:v>
                </c:pt>
                <c:pt idx="1">
                  <c:v>21.80893576342637</c:v>
                </c:pt>
                <c:pt idx="2">
                  <c:v>22.63257168486308</c:v>
                </c:pt>
              </c:numCache>
            </c:numRef>
          </c:val>
        </c:ser>
        <c:ser>
          <c:idx val="1"/>
          <c:order val="1"/>
          <c:tx>
            <c:strRef>
              <c:f>Sheet1!$C$1</c:f>
              <c:strCache>
                <c:ptCount val="1"/>
                <c:pt idx="0">
                  <c:v>Protective &amp; Occupational Wear</c:v>
                </c:pt>
              </c:strCache>
            </c:strRef>
          </c:tx>
          <c:spPr>
            <a:solidFill>
              <a:srgbClr val="6ECFF2"/>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19.148837663907653</c:v>
                </c:pt>
                <c:pt idx="1">
                  <c:v>19.424550626067607</c:v>
                </c:pt>
                <c:pt idx="2">
                  <c:v>19.67895667061929</c:v>
                </c:pt>
              </c:numCache>
            </c:numRef>
          </c:val>
        </c:ser>
        <c:ser>
          <c:idx val="2"/>
          <c:order val="2"/>
          <c:tx>
            <c:strRef>
              <c:f>Sheet1!$D$1</c:f>
              <c:strCache>
                <c:ptCount val="1"/>
                <c:pt idx="0">
                  <c:v>Sports &amp; Activewear</c:v>
                </c:pt>
              </c:strCache>
            </c:strRef>
          </c:tx>
          <c:spPr>
            <a:solidFill>
              <a:srgbClr val="D6CAC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16.656978389139528</c:v>
                </c:pt>
                <c:pt idx="1">
                  <c:v>16.31458525959474</c:v>
                </c:pt>
                <c:pt idx="2">
                  <c:v>16.468523376812215</c:v>
                </c:pt>
              </c:numCache>
            </c:numRef>
          </c:val>
        </c:ser>
        <c:ser>
          <c:idx val="3"/>
          <c:order val="3"/>
          <c:tx>
            <c:strRef>
              <c:f>Sheet1!$E$1</c:f>
              <c:strCache>
                <c:ptCount val="1"/>
                <c:pt idx="0">
                  <c:v>Intimate &amp; Bodywear</c:v>
                </c:pt>
              </c:strCache>
            </c:strRef>
          </c:tx>
          <c:spPr>
            <a:solidFill>
              <a:srgbClr val="EBC46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18.31238779174147</c:v>
                </c:pt>
                <c:pt idx="1">
                  <c:v>17.712855150365925</c:v>
                </c:pt>
                <c:pt idx="2">
                  <c:v>16.356498178310527</c:v>
                </c:pt>
              </c:numCache>
            </c:numRef>
          </c:val>
        </c:ser>
        <c:ser>
          <c:idx val="4"/>
          <c:order val="4"/>
          <c:tx>
            <c:strRef>
              <c:f>Sheet1!$F$1</c:f>
              <c:strCache>
                <c:ptCount val="1"/>
                <c:pt idx="0">
                  <c:v>Medical &amp; Healthcare</c:v>
                </c:pt>
              </c:strCache>
            </c:strRef>
          </c:tx>
          <c:spPr>
            <a:solidFill>
              <a:srgbClr val="EDA28B"/>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9.71228387853472</c:v>
                </c:pt>
                <c:pt idx="1">
                  <c:v>10.12599708514206</c:v>
                </c:pt>
                <c:pt idx="2">
                  <c:v>10.431245814415</c:v>
                </c:pt>
              </c:numCache>
            </c:numRef>
          </c:val>
        </c:ser>
        <c:ser>
          <c:idx val="5"/>
          <c:order val="5"/>
          <c:tx>
            <c:strRef>
              <c:f>Sheet1!$G$1</c:f>
              <c:strCache>
                <c:ptCount val="1"/>
                <c:pt idx="0">
                  <c:v>Footwear</c:v>
                </c:pt>
              </c:strCache>
            </c:strRef>
          </c:tx>
          <c:spPr>
            <a:solidFill>
              <a:srgbClr val="C4E2F4"/>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8.246696125889306</c:v>
                </c:pt>
                <c:pt idx="1">
                  <c:v>8.233690116124178</c:v>
                </c:pt>
                <c:pt idx="2">
                  <c:v>8.236207281433103</c:v>
                </c:pt>
              </c:numCache>
            </c:numRef>
          </c:val>
        </c:ser>
        <c:ser>
          <c:idx val="6"/>
          <c:order val="6"/>
          <c:tx>
            <c:strRef>
              <c:f>Sheet1!$H$1</c:f>
              <c:strCache>
                <c:ptCount val="1"/>
                <c:pt idx="0">
                  <c:v>Automotive &amp; Transportation</c:v>
                </c:pt>
              </c:strCache>
            </c:strRef>
          </c:tx>
          <c:spPr>
            <a:solidFill>
              <a:srgbClr val="9AB3C7"/>
            </a:solidFill>
            <a:ln>
              <a:noFill/>
            </a:ln>
          </c:spPr>
          <c:dLbls>
            <c:numFmt formatCode="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6.31452778649437</c:v>
                </c:pt>
                <c:pt idx="1">
                  <c:v>6.379385999279122</c:v>
                </c:pt>
                <c:pt idx="2">
                  <c:v>6.195996993546774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5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212.278</c:v>
                </c:pt>
                <c:pt idx="1">
                  <c:v>223.64200000000002</c:v>
                </c:pt>
                <c:pt idx="2">
                  <c:v>236.07299999999998</c:v>
                </c:pt>
                <c:pt idx="3">
                  <c:v>249.76100000000002</c:v>
                </c:pt>
                <c:pt idx="4">
                  <c:v>264.48400000000004</c:v>
                </c:pt>
                <c:pt idx="5">
                  <c:v>279.952</c:v>
                </c:pt>
                <c:pt idx="6">
                  <c:v>295.87</c:v>
                </c:pt>
                <c:pt idx="7">
                  <c:v>312.724</c:v>
                </c:pt>
                <c:pt idx="8">
                  <c:v>330.938</c:v>
                </c:pt>
                <c:pt idx="9">
                  <c:v>350.854</c:v>
                </c:pt>
                <c:pt idx="10">
                  <c:v>372.392</c:v>
                </c:pt>
                <c:pt idx="11">
                  <c:v>394.969</c:v>
                </c:pt>
                <c:pt idx="12">
                  <c:v>418.17500000000007</c:v>
                </c:pt>
                <c:pt idx="13">
                  <c:v>442.191</c:v>
                </c:pt>
                <c:pt idx="14">
                  <c:v>466.759</c:v>
                </c:pt>
                <c:pt idx="15">
                  <c:v>491.74799999999993</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5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North America</c:v>
                </c:pt>
                <c:pt idx="2">
                  <c:v>U.S.</c:v>
                </c:pt>
              </c:strCache>
            </c:strRef>
          </c:cat>
          <c:val>
            <c:numRef>
              <c:f>Sheet1!$B$2:$B$4</c:f>
              <c:numCache>
                <c:formatCode>General</c:formatCode>
                <c:ptCount val="3"/>
                <c:pt idx="0">
                  <c:v>0.05917522569547584</c:v>
                </c:pt>
                <c:pt idx="1">
                  <c:v>0.059005377581229146</c:v>
                </c:pt>
                <c:pt idx="2">
                  <c:v>0.05795185108083922</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7988655468889239"/>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5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279.952</c:v>
                </c:pt>
                <c:pt idx="2">
                  <c:v>295.87</c:v>
                </c:pt>
                <c:pt idx="3">
                  <c:v>312.724</c:v>
                </c:pt>
                <c:pt idx="4">
                  <c:v>330.938</c:v>
                </c:pt>
                <c:pt idx="5">
                  <c:v>350.854</c:v>
                </c:pt>
                <c:pt idx="6">
                  <c:v>372.392</c:v>
                </c:pt>
                <c:pt idx="7">
                  <c:v>394.969</c:v>
                </c:pt>
                <c:pt idx="8">
                  <c:v>418.17500000000007</c:v>
                </c:pt>
                <c:pt idx="9">
                  <c:v>442.191</c:v>
                </c:pt>
                <c:pt idx="10">
                  <c:v>466.759</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279.952</c:v>
                </c:pt>
                <c:pt idx="1">
                  <c:v>15.918000000000006</c:v>
                </c:pt>
                <c:pt idx="2">
                  <c:v>16.853999999999985</c:v>
                </c:pt>
                <c:pt idx="3">
                  <c:v>18.214</c:v>
                </c:pt>
                <c:pt idx="4">
                  <c:v>19.915999999999997</c:v>
                </c:pt>
                <c:pt idx="5">
                  <c:v>21.53800000000001</c:v>
                </c:pt>
                <c:pt idx="6">
                  <c:v>22.576999999999998</c:v>
                </c:pt>
                <c:pt idx="7">
                  <c:v>23.206000000000074</c:v>
                </c:pt>
                <c:pt idx="8">
                  <c:v>24.015999999999906</c:v>
                </c:pt>
                <c:pt idx="9">
                  <c:v>24.56800000000004</c:v>
                </c:pt>
                <c:pt idx="10">
                  <c:v>24.98899999999992</c:v>
                </c:pt>
                <c:pt idx="11">
                  <c:v>491.74799999999993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5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U.S.</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North America</c:v>
                </c:pt>
                <c:pt idx="1">
                  <c:v>Share of Global</c:v>
                </c:pt>
              </c:strCache>
            </c:strRef>
          </c:cat>
          <c:val>
            <c:numRef>
              <c:f>Sheet1!$B$2:$B$3</c:f>
              <c:numCache>
                <c:formatCode>General</c:formatCode>
                <c:ptCount val="2"/>
                <c:pt idx="0">
                  <c:v>78.9070625473876</c:v>
                </c:pt>
                <c:pt idx="1">
                  <c:v>16.489462899120785</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North America</c:v>
                </c:pt>
                <c:pt idx="1">
                  <c:v>Share of Global</c:v>
                </c:pt>
              </c:strCache>
            </c:strRef>
          </c:cat>
          <c:val>
            <c:numRef>
              <c:f>Sheet1!$C$2:$C$3</c:f>
              <c:numCache>
                <c:formatCode>General</c:formatCode>
                <c:ptCount val="2"/>
                <c:pt idx="0">
                  <c:v>21.092937452612404</c:v>
                </c:pt>
                <c:pt idx="1">
                  <c:v>83.51053710087922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5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747.721</c:v>
                </c:pt>
                <c:pt idx="1">
                  <c:v>791.958</c:v>
                </c:pt>
                <c:pt idx="2">
                  <c:v>840.6669999999999</c:v>
                </c:pt>
                <c:pt idx="3">
                  <c:v>895.174</c:v>
                </c:pt>
                <c:pt idx="4">
                  <c:v>954.371</c:v>
                </c:pt>
                <c:pt idx="5">
                  <c:v>1021.596</c:v>
                </c:pt>
                <c:pt idx="6">
                  <c:v>1093.024</c:v>
                </c:pt>
                <c:pt idx="7">
                  <c:v>1170.917</c:v>
                </c:pt>
                <c:pt idx="8">
                  <c:v>1256.893</c:v>
                </c:pt>
                <c:pt idx="9">
                  <c:v>1352.8899999999999</c:v>
                </c:pt>
                <c:pt idx="10">
                  <c:v>1459.154</c:v>
                </c:pt>
                <c:pt idx="11">
                  <c:v>1574.1779999999999</c:v>
                </c:pt>
                <c:pt idx="12">
                  <c:v>1697.263</c:v>
                </c:pt>
                <c:pt idx="13">
                  <c:v>1829.7549999999999</c:v>
                </c:pt>
                <c:pt idx="14">
                  <c:v>1971.019</c:v>
                </c:pt>
                <c:pt idx="15">
                  <c:v>2121.123</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5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North America</c:v>
                </c:pt>
                <c:pt idx="2">
                  <c:v>U.S.</c:v>
                </c:pt>
              </c:strCache>
            </c:strRef>
          </c:cat>
          <c:val>
            <c:numRef>
              <c:f>Sheet1!$B$2:$B$4</c:f>
              <c:numCache>
                <c:formatCode>General</c:formatCode>
                <c:ptCount val="3"/>
                <c:pt idx="0">
                  <c:v>0.07440747619145949</c:v>
                </c:pt>
                <c:pt idx="1">
                  <c:v>0.07599172854817082</c:v>
                </c:pt>
                <c:pt idx="2">
                  <c:v>0.0757928832346082</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258883354003062"/>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5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1021.596</c:v>
                </c:pt>
                <c:pt idx="2">
                  <c:v>1093.024</c:v>
                </c:pt>
                <c:pt idx="3">
                  <c:v>1170.917</c:v>
                </c:pt>
                <c:pt idx="4">
                  <c:v>1256.893</c:v>
                </c:pt>
                <c:pt idx="5">
                  <c:v>1352.8899999999999</c:v>
                </c:pt>
                <c:pt idx="6">
                  <c:v>1459.154</c:v>
                </c:pt>
                <c:pt idx="7">
                  <c:v>1574.1779999999999</c:v>
                </c:pt>
                <c:pt idx="8">
                  <c:v>1697.263</c:v>
                </c:pt>
                <c:pt idx="9">
                  <c:v>1829.7549999999999</c:v>
                </c:pt>
                <c:pt idx="10">
                  <c:v>1971.019</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1021.596</c:v>
                </c:pt>
                <c:pt idx="1">
                  <c:v>71.42799999999988</c:v>
                </c:pt>
                <c:pt idx="2">
                  <c:v>77.89300000000003</c:v>
                </c:pt>
                <c:pt idx="3">
                  <c:v>85.97600000000011</c:v>
                </c:pt>
                <c:pt idx="4">
                  <c:v>95.99699999999984</c:v>
                </c:pt>
                <c:pt idx="5">
                  <c:v>106.26400000000012</c:v>
                </c:pt>
                <c:pt idx="6">
                  <c:v>115.02399999999989</c:v>
                </c:pt>
                <c:pt idx="7">
                  <c:v>123.08500000000004</c:v>
                </c:pt>
                <c:pt idx="8">
                  <c:v>132.49199999999996</c:v>
                </c:pt>
                <c:pt idx="9">
                  <c:v>141.26400000000012</c:v>
                </c:pt>
                <c:pt idx="10">
                  <c:v>150.10400000000004</c:v>
                </c:pt>
                <c:pt idx="11">
                  <c:v>2121.123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5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U.S.</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North America</c:v>
                </c:pt>
                <c:pt idx="1">
                  <c:v>Share of Global</c:v>
                </c:pt>
              </c:strCache>
            </c:strRef>
          </c:cat>
          <c:val>
            <c:numRef>
              <c:f>Sheet1!$B$2:$B$3</c:f>
              <c:numCache>
                <c:formatCode>General</c:formatCode>
                <c:ptCount val="2"/>
                <c:pt idx="0">
                  <c:v>80.02945496562936</c:v>
                </c:pt>
                <c:pt idx="1">
                  <c:v>18.629596008261533</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North America</c:v>
                </c:pt>
                <c:pt idx="1">
                  <c:v>Share of Global</c:v>
                </c:pt>
              </c:strCache>
            </c:strRef>
          </c:cat>
          <c:val>
            <c:numRef>
              <c:f>Sheet1!$C$2:$C$3</c:f>
              <c:numCache>
                <c:formatCode>General</c:formatCode>
                <c:ptCount val="2"/>
                <c:pt idx="0">
                  <c:v>19.970545034370645</c:v>
                </c:pt>
                <c:pt idx="1">
                  <c:v>81.37040399173847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56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32.858999999999995</c:v>
                </c:pt>
                <c:pt idx="1">
                  <c:v>34.798</c:v>
                </c:pt>
                <c:pt idx="2">
                  <c:v>36.827</c:v>
                </c:pt>
                <c:pt idx="3">
                  <c:v>38.979</c:v>
                </c:pt>
                <c:pt idx="4">
                  <c:v>41.232</c:v>
                </c:pt>
                <c:pt idx="5">
                  <c:v>43.584</c:v>
                </c:pt>
                <c:pt idx="6">
                  <c:v>45.995</c:v>
                </c:pt>
                <c:pt idx="7">
                  <c:v>48.486</c:v>
                </c:pt>
                <c:pt idx="8">
                  <c:v>51.062</c:v>
                </c:pt>
                <c:pt idx="9">
                  <c:v>53.81700000000001</c:v>
                </c:pt>
                <c:pt idx="10">
                  <c:v>56.778999999999996</c:v>
                </c:pt>
                <c:pt idx="11">
                  <c:v>59.976</c:v>
                </c:pt>
                <c:pt idx="12">
                  <c:v>63.382999999999996</c:v>
                </c:pt>
                <c:pt idx="13">
                  <c:v>66.929</c:v>
                </c:pt>
                <c:pt idx="14">
                  <c:v>70.57</c:v>
                </c:pt>
                <c:pt idx="15">
                  <c:v>74.303</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56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North America</c:v>
                </c:pt>
                <c:pt idx="2">
                  <c:v>Canada</c:v>
                </c:pt>
              </c:strCache>
            </c:strRef>
          </c:cat>
          <c:val>
            <c:numRef>
              <c:f>Sheet1!$B$2:$B$4</c:f>
              <c:numCache>
                <c:formatCode>General</c:formatCode>
                <c:ptCount val="3"/>
                <c:pt idx="0">
                  <c:v>0.05917522569547584</c:v>
                </c:pt>
                <c:pt idx="1">
                  <c:v>0.059005377581229146</c:v>
                </c:pt>
                <c:pt idx="2">
                  <c:v>0.054794669292887344</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7988655468889239"/>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56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43.584</c:v>
                </c:pt>
                <c:pt idx="2">
                  <c:v>45.995</c:v>
                </c:pt>
                <c:pt idx="3">
                  <c:v>48.486</c:v>
                </c:pt>
                <c:pt idx="4">
                  <c:v>51.062</c:v>
                </c:pt>
                <c:pt idx="5">
                  <c:v>53.81700000000001</c:v>
                </c:pt>
                <c:pt idx="6">
                  <c:v>56.778999999999996</c:v>
                </c:pt>
                <c:pt idx="7">
                  <c:v>59.976</c:v>
                </c:pt>
                <c:pt idx="8">
                  <c:v>63.382999999999996</c:v>
                </c:pt>
                <c:pt idx="9">
                  <c:v>66.929</c:v>
                </c:pt>
                <c:pt idx="10">
                  <c:v>70.57</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43.584</c:v>
                </c:pt>
                <c:pt idx="1">
                  <c:v>2.4109999999999943</c:v>
                </c:pt>
                <c:pt idx="2">
                  <c:v>2.4909999999999997</c:v>
                </c:pt>
                <c:pt idx="3">
                  <c:v>2.5760000000000005</c:v>
                </c:pt>
                <c:pt idx="4">
                  <c:v>2.7550000000000097</c:v>
                </c:pt>
                <c:pt idx="5">
                  <c:v>2.961999999999989</c:v>
                </c:pt>
                <c:pt idx="6">
                  <c:v>3.1970000000000027</c:v>
                </c:pt>
                <c:pt idx="7">
                  <c:v>3.4069999999999965</c:v>
                </c:pt>
                <c:pt idx="8">
                  <c:v>3.5460000000000065</c:v>
                </c:pt>
                <c:pt idx="9">
                  <c:v>3.640999999999991</c:v>
                </c:pt>
                <c:pt idx="10">
                  <c:v>3.733000000000004</c:v>
                </c:pt>
                <c:pt idx="11">
                  <c:v>74.303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56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Canada</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North America</c:v>
                </c:pt>
                <c:pt idx="1">
                  <c:v>Share of Global</c:v>
                </c:pt>
              </c:strCache>
            </c:strRef>
          </c:cat>
          <c:val>
            <c:numRef>
              <c:f>Sheet1!$B$2:$B$3</c:f>
              <c:numCache>
                <c:formatCode>General</c:formatCode>
                <c:ptCount val="2"/>
                <c:pt idx="0">
                  <c:v>12.284553830890085</c:v>
                </c:pt>
                <c:pt idx="1">
                  <c:v>2.567142763742643</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North America</c:v>
                </c:pt>
                <c:pt idx="1">
                  <c:v>Share of Global</c:v>
                </c:pt>
              </c:strCache>
            </c:strRef>
          </c:cat>
          <c:val>
            <c:numRef>
              <c:f>Sheet1!$C$2:$C$3</c:f>
              <c:numCache>
                <c:formatCode>General</c:formatCode>
                <c:ptCount val="2"/>
                <c:pt idx="0">
                  <c:v>87.71544616910991</c:v>
                </c:pt>
                <c:pt idx="1">
                  <c:v>97.43285723625736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56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113.96600000000001</c:v>
                </c:pt>
                <c:pt idx="1">
                  <c:v>121.12899999999999</c:v>
                </c:pt>
                <c:pt idx="2">
                  <c:v>128.765</c:v>
                </c:pt>
                <c:pt idx="3">
                  <c:v>137.036</c:v>
                </c:pt>
                <c:pt idx="4">
                  <c:v>145.865</c:v>
                </c:pt>
                <c:pt idx="5">
                  <c:v>155.74200000000002</c:v>
                </c:pt>
                <c:pt idx="6">
                  <c:v>166.266</c:v>
                </c:pt>
                <c:pt idx="7">
                  <c:v>177.469</c:v>
                </c:pt>
                <c:pt idx="8">
                  <c:v>189.352</c:v>
                </c:pt>
                <c:pt idx="9">
                  <c:v>202.253</c:v>
                </c:pt>
                <c:pt idx="10">
                  <c:v>216.372</c:v>
                </c:pt>
                <c:pt idx="11">
                  <c:v>231.839</c:v>
                </c:pt>
                <c:pt idx="12">
                  <c:v>248.72899999999998</c:v>
                </c:pt>
                <c:pt idx="13">
                  <c:v>266.791</c:v>
                </c:pt>
                <c:pt idx="14">
                  <c:v>286.07399999999996</c:v>
                </c:pt>
                <c:pt idx="15">
                  <c:v>306.55</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56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North America</c:v>
                </c:pt>
                <c:pt idx="2">
                  <c:v>Canada</c:v>
                </c:pt>
              </c:strCache>
            </c:strRef>
          </c:cat>
          <c:val>
            <c:numRef>
              <c:f>Sheet1!$B$2:$B$4</c:f>
              <c:numCache>
                <c:formatCode>General</c:formatCode>
                <c:ptCount val="3"/>
                <c:pt idx="0">
                  <c:v>0.07440747619145949</c:v>
                </c:pt>
                <c:pt idx="1">
                  <c:v>0.07599172854817082</c:v>
                </c:pt>
                <c:pt idx="2">
                  <c:v>0.07006351681638479</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258883354003062"/>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56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155.74200000000002</c:v>
                </c:pt>
                <c:pt idx="2">
                  <c:v>166.266</c:v>
                </c:pt>
                <c:pt idx="3">
                  <c:v>177.469</c:v>
                </c:pt>
                <c:pt idx="4">
                  <c:v>189.352</c:v>
                </c:pt>
                <c:pt idx="5">
                  <c:v>202.253</c:v>
                </c:pt>
                <c:pt idx="6">
                  <c:v>216.372</c:v>
                </c:pt>
                <c:pt idx="7">
                  <c:v>231.839</c:v>
                </c:pt>
                <c:pt idx="8">
                  <c:v>248.72899999999998</c:v>
                </c:pt>
                <c:pt idx="9">
                  <c:v>266.791</c:v>
                </c:pt>
                <c:pt idx="10">
                  <c:v>286.07399999999996</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155.74200000000002</c:v>
                </c:pt>
                <c:pt idx="1">
                  <c:v>10.523999999999972</c:v>
                </c:pt>
                <c:pt idx="2">
                  <c:v>11.203000000000003</c:v>
                </c:pt>
                <c:pt idx="3">
                  <c:v>11.88300000000001</c:v>
                </c:pt>
                <c:pt idx="4">
                  <c:v>12.900999999999982</c:v>
                </c:pt>
                <c:pt idx="5">
                  <c:v>14.119000000000028</c:v>
                </c:pt>
                <c:pt idx="6">
                  <c:v>15.466999999999985</c:v>
                </c:pt>
                <c:pt idx="7">
                  <c:v>16.889999999999986</c:v>
                </c:pt>
                <c:pt idx="8">
                  <c:v>18.062000000000012</c:v>
                </c:pt>
                <c:pt idx="9">
                  <c:v>19.28299999999996</c:v>
                </c:pt>
                <c:pt idx="10">
                  <c:v>20.476000000000056</c:v>
                </c:pt>
                <c:pt idx="11">
                  <c:v>306.55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57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Canada</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North America</c:v>
                </c:pt>
                <c:pt idx="1">
                  <c:v>Share of Global</c:v>
                </c:pt>
              </c:strCache>
            </c:strRef>
          </c:cat>
          <c:val>
            <c:numRef>
              <c:f>Sheet1!$B$2:$B$3</c:f>
              <c:numCache>
                <c:formatCode>General</c:formatCode>
                <c:ptCount val="2"/>
                <c:pt idx="0">
                  <c:v>12.200466109163552</c:v>
                </c:pt>
                <c:pt idx="1">
                  <c:v>2.8400762547216982</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North America</c:v>
                </c:pt>
                <c:pt idx="1">
                  <c:v>Share of Global</c:v>
                </c:pt>
              </c:strCache>
            </c:strRef>
          </c:cat>
          <c:val>
            <c:numRef>
              <c:f>Sheet1!$C$2:$C$3</c:f>
              <c:numCache>
                <c:formatCode>General</c:formatCode>
                <c:ptCount val="2"/>
                <c:pt idx="0">
                  <c:v>87.79953389083644</c:v>
                </c:pt>
                <c:pt idx="1">
                  <c:v>97.1599237452783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58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23.643</c:v>
                </c:pt>
                <c:pt idx="1">
                  <c:v>25.018</c:v>
                </c:pt>
                <c:pt idx="2">
                  <c:v>26.435000000000002</c:v>
                </c:pt>
                <c:pt idx="3">
                  <c:v>27.92</c:v>
                </c:pt>
                <c:pt idx="4">
                  <c:v>29.497999999999998</c:v>
                </c:pt>
                <c:pt idx="5">
                  <c:v>31.253999999999998</c:v>
                </c:pt>
                <c:pt idx="6">
                  <c:v>33.238</c:v>
                </c:pt>
                <c:pt idx="7">
                  <c:v>35.485</c:v>
                </c:pt>
                <c:pt idx="8">
                  <c:v>38.007000000000005</c:v>
                </c:pt>
                <c:pt idx="9">
                  <c:v>40.822</c:v>
                </c:pt>
                <c:pt idx="10">
                  <c:v>43.927</c:v>
                </c:pt>
                <c:pt idx="11">
                  <c:v>47.332</c:v>
                </c:pt>
                <c:pt idx="12">
                  <c:v>51.010000000000005</c:v>
                </c:pt>
                <c:pt idx="13">
                  <c:v>54.941</c:v>
                </c:pt>
                <c:pt idx="14">
                  <c:v>59.064</c:v>
                </c:pt>
                <c:pt idx="15">
                  <c:v>63.379999999999995</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59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North America</c:v>
                </c:pt>
                <c:pt idx="2">
                  <c:v>Mexico</c:v>
                </c:pt>
              </c:strCache>
            </c:strRef>
          </c:cat>
          <c:val>
            <c:numRef>
              <c:f>Sheet1!$B$2:$B$4</c:f>
              <c:numCache>
                <c:formatCode>General</c:formatCode>
                <c:ptCount val="3"/>
                <c:pt idx="0">
                  <c:v>0.05917522569547584</c:v>
                </c:pt>
                <c:pt idx="1">
                  <c:v>0.059005377581229146</c:v>
                </c:pt>
                <c:pt idx="2">
                  <c:v>0.07325930565944039</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9890006264024453"/>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59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31.253999999999998</c:v>
                </c:pt>
                <c:pt idx="2">
                  <c:v>33.238</c:v>
                </c:pt>
                <c:pt idx="3">
                  <c:v>35.485</c:v>
                </c:pt>
                <c:pt idx="4">
                  <c:v>38.007000000000005</c:v>
                </c:pt>
                <c:pt idx="5">
                  <c:v>40.822</c:v>
                </c:pt>
                <c:pt idx="6">
                  <c:v>43.927</c:v>
                </c:pt>
                <c:pt idx="7">
                  <c:v>47.332</c:v>
                </c:pt>
                <c:pt idx="8">
                  <c:v>51.010000000000005</c:v>
                </c:pt>
                <c:pt idx="9">
                  <c:v>54.941</c:v>
                </c:pt>
                <c:pt idx="10">
                  <c:v>59.064</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31.253999999999998</c:v>
                </c:pt>
                <c:pt idx="1">
                  <c:v>1.9840000000000018</c:v>
                </c:pt>
                <c:pt idx="2">
                  <c:v>2.247</c:v>
                </c:pt>
                <c:pt idx="3">
                  <c:v>2.5220000000000056</c:v>
                </c:pt>
                <c:pt idx="4">
                  <c:v>2.8149999999999977</c:v>
                </c:pt>
                <c:pt idx="5">
                  <c:v>3.104999999999997</c:v>
                </c:pt>
                <c:pt idx="6">
                  <c:v>3.405000000000001</c:v>
                </c:pt>
                <c:pt idx="7">
                  <c:v>3.6780000000000044</c:v>
                </c:pt>
                <c:pt idx="8">
                  <c:v>3.9309999999999974</c:v>
                </c:pt>
                <c:pt idx="9">
                  <c:v>4.1229999999999976</c:v>
                </c:pt>
                <c:pt idx="10">
                  <c:v>4.315999999999995</c:v>
                </c:pt>
                <c:pt idx="11">
                  <c:v>63.379999999999995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59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Mexico</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North America</c:v>
                </c:pt>
                <c:pt idx="1">
                  <c:v>Share of Global</c:v>
                </c:pt>
              </c:strCache>
            </c:strRef>
          </c:cat>
          <c:val>
            <c:numRef>
              <c:f>Sheet1!$B$2:$B$3</c:f>
              <c:numCache>
                <c:formatCode>General</c:formatCode>
                <c:ptCount val="2"/>
                <c:pt idx="0">
                  <c:v>8.809229199491526</c:v>
                </c:pt>
                <c:pt idx="1">
                  <c:v>1.8408929868303174</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North America</c:v>
                </c:pt>
                <c:pt idx="1">
                  <c:v>Share of Global</c:v>
                </c:pt>
              </c:strCache>
            </c:strRef>
          </c:cat>
          <c:val>
            <c:numRef>
              <c:f>Sheet1!$C$2:$C$3</c:f>
              <c:numCache>
                <c:formatCode>General</c:formatCode>
                <c:ptCount val="2"/>
                <c:pt idx="0">
                  <c:v>91.19077080050847</c:v>
                </c:pt>
                <c:pt idx="1">
                  <c:v>98.15910701316969</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59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72.50099999999999</c:v>
                </c:pt>
                <c:pt idx="1">
                  <c:v>77.152</c:v>
                </c:pt>
                <c:pt idx="2">
                  <c:v>82.025</c:v>
                </c:pt>
                <c:pt idx="3">
                  <c:v>87.208</c:v>
                </c:pt>
                <c:pt idx="4">
                  <c:v>92.769</c:v>
                </c:pt>
                <c:pt idx="5">
                  <c:v>99.18599999999999</c:v>
                </c:pt>
                <c:pt idx="6">
                  <c:v>106.494</c:v>
                </c:pt>
                <c:pt idx="7">
                  <c:v>114.827</c:v>
                </c:pt>
                <c:pt idx="8">
                  <c:v>124.31700000000001</c:v>
                </c:pt>
                <c:pt idx="9">
                  <c:v>135.106</c:v>
                </c:pt>
                <c:pt idx="10">
                  <c:v>147.22</c:v>
                </c:pt>
                <c:pt idx="11">
                  <c:v>160.714</c:v>
                </c:pt>
                <c:pt idx="12">
                  <c:v>175.538</c:v>
                </c:pt>
                <c:pt idx="13">
                  <c:v>191.68099999999998</c:v>
                </c:pt>
                <c:pt idx="14">
                  <c:v>209.041</c:v>
                </c:pt>
                <c:pt idx="15">
                  <c:v>227.665</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59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North America</c:v>
                </c:pt>
                <c:pt idx="2">
                  <c:v>Mexico</c:v>
                </c:pt>
              </c:strCache>
            </c:strRef>
          </c:cat>
          <c:val>
            <c:numRef>
              <c:f>Sheet1!$B$2:$B$4</c:f>
              <c:numCache>
                <c:formatCode>General</c:formatCode>
                <c:ptCount val="3"/>
                <c:pt idx="0">
                  <c:v>0.07440747619145949</c:v>
                </c:pt>
                <c:pt idx="1">
                  <c:v>0.07599172854817082</c:v>
                </c:pt>
                <c:pt idx="2">
                  <c:v>0.08663725184872684</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1696028999578124"/>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59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99.18599999999999</c:v>
                </c:pt>
                <c:pt idx="2">
                  <c:v>106.494</c:v>
                </c:pt>
                <c:pt idx="3">
                  <c:v>114.827</c:v>
                </c:pt>
                <c:pt idx="4">
                  <c:v>124.31700000000001</c:v>
                </c:pt>
                <c:pt idx="5">
                  <c:v>135.106</c:v>
                </c:pt>
                <c:pt idx="6">
                  <c:v>147.22</c:v>
                </c:pt>
                <c:pt idx="7">
                  <c:v>160.714</c:v>
                </c:pt>
                <c:pt idx="8">
                  <c:v>175.538</c:v>
                </c:pt>
                <c:pt idx="9">
                  <c:v>191.68099999999998</c:v>
                </c:pt>
                <c:pt idx="10">
                  <c:v>209.041</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99.18599999999999</c:v>
                </c:pt>
                <c:pt idx="1">
                  <c:v>7.308000000000007</c:v>
                </c:pt>
                <c:pt idx="2">
                  <c:v>8.332999999999998</c:v>
                </c:pt>
                <c:pt idx="3">
                  <c:v>9.490000000000009</c:v>
                </c:pt>
                <c:pt idx="4">
                  <c:v>10.788999999999987</c:v>
                </c:pt>
                <c:pt idx="5">
                  <c:v>12.114000000000004</c:v>
                </c:pt>
                <c:pt idx="6">
                  <c:v>13.494</c:v>
                </c:pt>
                <c:pt idx="7">
                  <c:v>14.824000000000012</c:v>
                </c:pt>
                <c:pt idx="8">
                  <c:v>16.142999999999972</c:v>
                </c:pt>
                <c:pt idx="9">
                  <c:v>17.360000000000014</c:v>
                </c:pt>
                <c:pt idx="10">
                  <c:v>18.623999999999995</c:v>
                </c:pt>
                <c:pt idx="11">
                  <c:v>227.665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59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Mexico</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North America</c:v>
                </c:pt>
                <c:pt idx="1">
                  <c:v>Share of Global</c:v>
                </c:pt>
              </c:strCache>
            </c:strRef>
          </c:cat>
          <c:val>
            <c:numRef>
              <c:f>Sheet1!$B$2:$B$3</c:f>
              <c:numCache>
                <c:formatCode>General</c:formatCode>
                <c:ptCount val="2"/>
                <c:pt idx="0">
                  <c:v>7.770000587532559</c:v>
                </c:pt>
                <c:pt idx="1">
                  <c:v>1.8087336967601952</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North America</c:v>
                </c:pt>
                <c:pt idx="1">
                  <c:v>Share of Global</c:v>
                </c:pt>
              </c:strCache>
            </c:strRef>
          </c:cat>
          <c:val>
            <c:numRef>
              <c:f>Sheet1!$C$2:$C$3</c:f>
              <c:numCache>
                <c:formatCode>General</c:formatCode>
                <c:ptCount val="2"/>
                <c:pt idx="0">
                  <c:v>92.22999941246744</c:v>
                </c:pt>
                <c:pt idx="1">
                  <c:v>98.1912663032398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6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41.849000000000004</c:v>
                </c:pt>
                <c:pt idx="1">
                  <c:v>43.591</c:v>
                </c:pt>
                <c:pt idx="2">
                  <c:v>45.42</c:v>
                </c:pt>
                <c:pt idx="3">
                  <c:v>47.393</c:v>
                </c:pt>
                <c:pt idx="4">
                  <c:v>49.54299999999999</c:v>
                </c:pt>
                <c:pt idx="5">
                  <c:v>51.895</c:v>
                </c:pt>
                <c:pt idx="6">
                  <c:v>54.418000000000006</c:v>
                </c:pt>
                <c:pt idx="7">
                  <c:v>57.114</c:v>
                </c:pt>
                <c:pt idx="8">
                  <c:v>59.958</c:v>
                </c:pt>
                <c:pt idx="9">
                  <c:v>62.961999999999996</c:v>
                </c:pt>
                <c:pt idx="10">
                  <c:v>66.146</c:v>
                </c:pt>
                <c:pt idx="11">
                  <c:v>69.50099999999999</c:v>
                </c:pt>
                <c:pt idx="12">
                  <c:v>72.96700000000001</c:v>
                </c:pt>
                <c:pt idx="13">
                  <c:v>76.531</c:v>
                </c:pt>
                <c:pt idx="14">
                  <c:v>80.164</c:v>
                </c:pt>
                <c:pt idx="15">
                  <c:v>83.852</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6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Latin America</c:v>
                </c:pt>
                <c:pt idx="2">
                  <c:v>Brazil</c:v>
                </c:pt>
              </c:strCache>
            </c:strRef>
          </c:cat>
          <c:val>
            <c:numRef>
              <c:f>Sheet1!$B$2:$B$4</c:f>
              <c:numCache>
                <c:formatCode>General</c:formatCode>
                <c:ptCount val="3"/>
                <c:pt idx="0">
                  <c:v>0.05917522569547584</c:v>
                </c:pt>
                <c:pt idx="1">
                  <c:v>0.04988778577842701</c:v>
                </c:pt>
                <c:pt idx="2">
                  <c:v>0.04915291333608751</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7988655468889239"/>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6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51.895</c:v>
                </c:pt>
                <c:pt idx="2">
                  <c:v>54.418000000000006</c:v>
                </c:pt>
                <c:pt idx="3">
                  <c:v>57.114</c:v>
                </c:pt>
                <c:pt idx="4">
                  <c:v>59.958</c:v>
                </c:pt>
                <c:pt idx="5">
                  <c:v>62.961999999999996</c:v>
                </c:pt>
                <c:pt idx="6">
                  <c:v>66.146</c:v>
                </c:pt>
                <c:pt idx="7">
                  <c:v>69.50099999999999</c:v>
                </c:pt>
                <c:pt idx="8">
                  <c:v>72.96700000000001</c:v>
                </c:pt>
                <c:pt idx="9">
                  <c:v>76.531</c:v>
                </c:pt>
                <c:pt idx="10">
                  <c:v>80.164</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51.895</c:v>
                </c:pt>
                <c:pt idx="1">
                  <c:v>2.5230000000000032</c:v>
                </c:pt>
                <c:pt idx="2">
                  <c:v>2.695999999999991</c:v>
                </c:pt>
                <c:pt idx="3">
                  <c:v>2.844000000000001</c:v>
                </c:pt>
                <c:pt idx="4">
                  <c:v>3.003999999999998</c:v>
                </c:pt>
                <c:pt idx="5">
                  <c:v>3.1840000000000046</c:v>
                </c:pt>
                <c:pt idx="6">
                  <c:v>3.3549999999999898</c:v>
                </c:pt>
                <c:pt idx="7">
                  <c:v>3.4660000000000224</c:v>
                </c:pt>
                <c:pt idx="8">
                  <c:v>3.563999999999993</c:v>
                </c:pt>
                <c:pt idx="9">
                  <c:v>3.6329999999999956</c:v>
                </c:pt>
                <c:pt idx="10">
                  <c:v>3.6880000000000024</c:v>
                </c:pt>
                <c:pt idx="11">
                  <c:v>83.852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6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Brazil</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Latin America</c:v>
                </c:pt>
                <c:pt idx="1">
                  <c:v>Share of Global</c:v>
                </c:pt>
              </c:strCache>
            </c:strRef>
          </c:cat>
          <c:val>
            <c:numRef>
              <c:f>Sheet1!$B$2:$B$3</c:f>
              <c:numCache>
                <c:formatCode>General</c:formatCode>
                <c:ptCount val="2"/>
                <c:pt idx="0">
                  <c:v>39.09669642520812</c:v>
                </c:pt>
                <c:pt idx="1">
                  <c:v>3.0566692759825727</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Latin America</c:v>
                </c:pt>
                <c:pt idx="1">
                  <c:v>Share of Global</c:v>
                </c:pt>
              </c:strCache>
            </c:strRef>
          </c:cat>
          <c:val>
            <c:numRef>
              <c:f>Sheet1!$C$2:$C$3</c:f>
              <c:numCache>
                <c:formatCode>General</c:formatCode>
                <c:ptCount val="2"/>
                <c:pt idx="0">
                  <c:v>60.90330357479188</c:v>
                </c:pt>
                <c:pt idx="1">
                  <c:v>96.94333072401743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6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110.57499999999999</c:v>
                </c:pt>
                <c:pt idx="1">
                  <c:v>116.114</c:v>
                </c:pt>
                <c:pt idx="2">
                  <c:v>122.016</c:v>
                </c:pt>
                <c:pt idx="3">
                  <c:v>128.51</c:v>
                </c:pt>
                <c:pt idx="4">
                  <c:v>135.611</c:v>
                </c:pt>
                <c:pt idx="5">
                  <c:v>144.025</c:v>
                </c:pt>
                <c:pt idx="6">
                  <c:v>153.196</c:v>
                </c:pt>
                <c:pt idx="7">
                  <c:v>163.207</c:v>
                </c:pt>
                <c:pt idx="8">
                  <c:v>173.97899999999998</c:v>
                </c:pt>
                <c:pt idx="9">
                  <c:v>185.607</c:v>
                </c:pt>
                <c:pt idx="10">
                  <c:v>198.285</c:v>
                </c:pt>
                <c:pt idx="11">
                  <c:v>212.04399999999998</c:v>
                </c:pt>
                <c:pt idx="12">
                  <c:v>226.795</c:v>
                </c:pt>
                <c:pt idx="13">
                  <c:v>242.647</c:v>
                </c:pt>
                <c:pt idx="14">
                  <c:v>259.447</c:v>
                </c:pt>
                <c:pt idx="15">
                  <c:v>277.176</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6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Latin America</c:v>
                </c:pt>
                <c:pt idx="2">
                  <c:v>Brazil</c:v>
                </c:pt>
              </c:strCache>
            </c:strRef>
          </c:cat>
          <c:val>
            <c:numRef>
              <c:f>Sheet1!$B$2:$B$4</c:f>
              <c:numCache>
                <c:formatCode>General</c:formatCode>
                <c:ptCount val="3"/>
                <c:pt idx="0">
                  <c:v>0.07440747619145949</c:v>
                </c:pt>
                <c:pt idx="1">
                  <c:v>0.06906488328333693</c:v>
                </c:pt>
                <c:pt idx="2">
                  <c:v>0.06765705432258717</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045009285847031"/>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6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144.025</c:v>
                </c:pt>
                <c:pt idx="2">
                  <c:v>153.196</c:v>
                </c:pt>
                <c:pt idx="3">
                  <c:v>163.207</c:v>
                </c:pt>
                <c:pt idx="4">
                  <c:v>173.97899999999998</c:v>
                </c:pt>
                <c:pt idx="5">
                  <c:v>185.607</c:v>
                </c:pt>
                <c:pt idx="6">
                  <c:v>198.285</c:v>
                </c:pt>
                <c:pt idx="7">
                  <c:v>212.04399999999998</c:v>
                </c:pt>
                <c:pt idx="8">
                  <c:v>226.795</c:v>
                </c:pt>
                <c:pt idx="9">
                  <c:v>242.647</c:v>
                </c:pt>
                <c:pt idx="10">
                  <c:v>259.447</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144.025</c:v>
                </c:pt>
                <c:pt idx="1">
                  <c:v>9.170999999999992</c:v>
                </c:pt>
                <c:pt idx="2">
                  <c:v>10.010999999999996</c:v>
                </c:pt>
                <c:pt idx="3">
                  <c:v>10.771999999999991</c:v>
                </c:pt>
                <c:pt idx="4">
                  <c:v>11.628000000000014</c:v>
                </c:pt>
                <c:pt idx="5">
                  <c:v>12.677999999999997</c:v>
                </c:pt>
                <c:pt idx="6">
                  <c:v>13.758999999999986</c:v>
                </c:pt>
                <c:pt idx="7">
                  <c:v>14.751000000000005</c:v>
                </c:pt>
                <c:pt idx="8">
                  <c:v>15.852000000000004</c:v>
                </c:pt>
                <c:pt idx="9">
                  <c:v>16.80000000000001</c:v>
                </c:pt>
                <c:pt idx="10">
                  <c:v>17.728999999999985</c:v>
                </c:pt>
                <c:pt idx="11">
                  <c:v>277.176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6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Brazil</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Latin America</c:v>
                </c:pt>
                <c:pt idx="1">
                  <c:v>Share of Global</c:v>
                </c:pt>
              </c:strCache>
            </c:strRef>
          </c:cat>
          <c:val>
            <c:numRef>
              <c:f>Sheet1!$B$2:$B$3</c:f>
              <c:numCache>
                <c:formatCode>General</c:formatCode>
                <c:ptCount val="2"/>
                <c:pt idx="0">
                  <c:v>39.58285810084732</c:v>
                </c:pt>
                <c:pt idx="1">
                  <c:v>2.6264076651532187</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Latin America</c:v>
                </c:pt>
                <c:pt idx="1">
                  <c:v>Share of Global</c:v>
                </c:pt>
              </c:strCache>
            </c:strRef>
          </c:cat>
          <c:val>
            <c:numRef>
              <c:f>Sheet1!$C$2:$C$3</c:f>
              <c:numCache>
                <c:formatCode>General</c:formatCode>
                <c:ptCount val="2"/>
                <c:pt idx="0">
                  <c:v>60.41714189915268</c:v>
                </c:pt>
                <c:pt idx="1">
                  <c:v>97.37359233484678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6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7.0649999999999995</c:v>
                </c:pt>
                <c:pt idx="1">
                  <c:v>7.345</c:v>
                </c:pt>
                <c:pt idx="2">
                  <c:v>7.651</c:v>
                </c:pt>
                <c:pt idx="3">
                  <c:v>7.992000000000001</c:v>
                </c:pt>
                <c:pt idx="4">
                  <c:v>8.362</c:v>
                </c:pt>
                <c:pt idx="5">
                  <c:v>8.764</c:v>
                </c:pt>
                <c:pt idx="6">
                  <c:v>9.193</c:v>
                </c:pt>
                <c:pt idx="7">
                  <c:v>9.661</c:v>
                </c:pt>
                <c:pt idx="8">
                  <c:v>10.174</c:v>
                </c:pt>
                <c:pt idx="9">
                  <c:v>10.728</c:v>
                </c:pt>
                <c:pt idx="10">
                  <c:v>11.314</c:v>
                </c:pt>
                <c:pt idx="11">
                  <c:v>11.915</c:v>
                </c:pt>
                <c:pt idx="12">
                  <c:v>12.527</c:v>
                </c:pt>
                <c:pt idx="13">
                  <c:v>13.158000000000001</c:v>
                </c:pt>
                <c:pt idx="14">
                  <c:v>13.8</c:v>
                </c:pt>
                <c:pt idx="15">
                  <c:v>14.453000000000001</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6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Latin America</c:v>
                </c:pt>
                <c:pt idx="2">
                  <c:v>Chile</c:v>
                </c:pt>
              </c:strCache>
            </c:strRef>
          </c:cat>
          <c:val>
            <c:numRef>
              <c:f>Sheet1!$B$2:$B$4</c:f>
              <c:numCache>
                <c:formatCode>General</c:formatCode>
                <c:ptCount val="3"/>
                <c:pt idx="0">
                  <c:v>0.05917522569547584</c:v>
                </c:pt>
                <c:pt idx="1">
                  <c:v>0.04988778577842701</c:v>
                </c:pt>
                <c:pt idx="2">
                  <c:v>0.05129733471996967</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7988655468889239"/>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6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8.764</c:v>
                </c:pt>
                <c:pt idx="2">
                  <c:v>9.193</c:v>
                </c:pt>
                <c:pt idx="3">
                  <c:v>9.661</c:v>
                </c:pt>
                <c:pt idx="4">
                  <c:v>10.174</c:v>
                </c:pt>
                <c:pt idx="5">
                  <c:v>10.728</c:v>
                </c:pt>
                <c:pt idx="6">
                  <c:v>11.314</c:v>
                </c:pt>
                <c:pt idx="7">
                  <c:v>11.915</c:v>
                </c:pt>
                <c:pt idx="8">
                  <c:v>12.527</c:v>
                </c:pt>
                <c:pt idx="9">
                  <c:v>13.158000000000001</c:v>
                </c:pt>
                <c:pt idx="10">
                  <c:v>13.8</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8.764</c:v>
                </c:pt>
                <c:pt idx="1">
                  <c:v>0.42900000000000027</c:v>
                </c:pt>
                <c:pt idx="2">
                  <c:v>0.46799999999999997</c:v>
                </c:pt>
                <c:pt idx="3">
                  <c:v>0.5129999999999999</c:v>
                </c:pt>
                <c:pt idx="4">
                  <c:v>0.5540000000000003</c:v>
                </c:pt>
                <c:pt idx="5">
                  <c:v>0.5860000000000003</c:v>
                </c:pt>
                <c:pt idx="6">
                  <c:v>0.6009999999999991</c:v>
                </c:pt>
                <c:pt idx="7">
                  <c:v>0.6120000000000001</c:v>
                </c:pt>
                <c:pt idx="8">
                  <c:v>0.631000000000002</c:v>
                </c:pt>
                <c:pt idx="9">
                  <c:v>0.6419999999999995</c:v>
                </c:pt>
                <c:pt idx="10">
                  <c:v>0.6530000000000005</c:v>
                </c:pt>
                <c:pt idx="11">
                  <c:v>14.453000000000001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6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Chile</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Latin America</c:v>
                </c:pt>
                <c:pt idx="1">
                  <c:v>Share of Global</c:v>
                </c:pt>
              </c:strCache>
            </c:strRef>
          </c:cat>
          <c:val>
            <c:numRef>
              <c:f>Sheet1!$B$2:$B$3</c:f>
              <c:numCache>
                <c:formatCode>General</c:formatCode>
                <c:ptCount val="2"/>
                <c:pt idx="0">
                  <c:v>6.602629298979168</c:v>
                </c:pt>
                <c:pt idx="1">
                  <c:v>0.5162086816593364</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Latin America</c:v>
                </c:pt>
                <c:pt idx="1">
                  <c:v>Share of Global</c:v>
                </c:pt>
              </c:strCache>
            </c:strRef>
          </c:cat>
          <c:val>
            <c:numRef>
              <c:f>Sheet1!$C$2:$C$3</c:f>
              <c:numCache>
                <c:formatCode>General</c:formatCode>
                <c:ptCount val="2"/>
                <c:pt idx="0">
                  <c:v>93.39737070102083</c:v>
                </c:pt>
                <c:pt idx="1">
                  <c:v>99.48379131834066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6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20.431</c:v>
                </c:pt>
                <c:pt idx="1">
                  <c:v>21.353</c:v>
                </c:pt>
                <c:pt idx="2">
                  <c:v>22.377</c:v>
                </c:pt>
                <c:pt idx="3">
                  <c:v>23.515</c:v>
                </c:pt>
                <c:pt idx="4">
                  <c:v>24.754</c:v>
                </c:pt>
                <c:pt idx="5">
                  <c:v>26.174000000000003</c:v>
                </c:pt>
                <c:pt idx="6">
                  <c:v>27.706999999999997</c:v>
                </c:pt>
                <c:pt idx="7">
                  <c:v>29.398999999999997</c:v>
                </c:pt>
                <c:pt idx="8">
                  <c:v>31.272</c:v>
                </c:pt>
                <c:pt idx="9">
                  <c:v>33.337</c:v>
                </c:pt>
                <c:pt idx="10">
                  <c:v>35.581999999999994</c:v>
                </c:pt>
                <c:pt idx="11">
                  <c:v>37.971</c:v>
                </c:pt>
                <c:pt idx="12">
                  <c:v>40.503</c:v>
                </c:pt>
                <c:pt idx="13">
                  <c:v>43.193</c:v>
                </c:pt>
                <c:pt idx="14">
                  <c:v>46.034</c:v>
                </c:pt>
                <c:pt idx="15">
                  <c:v>49.033</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64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Latin America</c:v>
                </c:pt>
                <c:pt idx="2">
                  <c:v>Chile</c:v>
                </c:pt>
              </c:strCache>
            </c:strRef>
          </c:cat>
          <c:val>
            <c:numRef>
              <c:f>Sheet1!$B$2:$B$4</c:f>
              <c:numCache>
                <c:formatCode>General</c:formatCode>
                <c:ptCount val="3"/>
                <c:pt idx="0">
                  <c:v>0.07440747619145949</c:v>
                </c:pt>
                <c:pt idx="1">
                  <c:v>0.06906488328333693</c:v>
                </c:pt>
                <c:pt idx="2">
                  <c:v>0.06478478498970341</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045009285847031"/>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64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26.174000000000003</c:v>
                </c:pt>
                <c:pt idx="2">
                  <c:v>27.706999999999997</c:v>
                </c:pt>
                <c:pt idx="3">
                  <c:v>29.398999999999997</c:v>
                </c:pt>
                <c:pt idx="4">
                  <c:v>31.272</c:v>
                </c:pt>
                <c:pt idx="5">
                  <c:v>33.337</c:v>
                </c:pt>
                <c:pt idx="6">
                  <c:v>35.581999999999994</c:v>
                </c:pt>
                <c:pt idx="7">
                  <c:v>37.971</c:v>
                </c:pt>
                <c:pt idx="8">
                  <c:v>40.503</c:v>
                </c:pt>
                <c:pt idx="9">
                  <c:v>43.193</c:v>
                </c:pt>
                <c:pt idx="10">
                  <c:v>46.034</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26.174000000000003</c:v>
                </c:pt>
                <c:pt idx="1">
                  <c:v>1.5329999999999941</c:v>
                </c:pt>
                <c:pt idx="2">
                  <c:v>1.6920000000000002</c:v>
                </c:pt>
                <c:pt idx="3">
                  <c:v>1.873000000000001</c:v>
                </c:pt>
                <c:pt idx="4">
                  <c:v>2.065000000000005</c:v>
                </c:pt>
                <c:pt idx="5">
                  <c:v>2.2449999999999903</c:v>
                </c:pt>
                <c:pt idx="6">
                  <c:v>2.389000000000003</c:v>
                </c:pt>
                <c:pt idx="7">
                  <c:v>2.5320000000000036</c:v>
                </c:pt>
                <c:pt idx="8">
                  <c:v>2.6899999999999977</c:v>
                </c:pt>
                <c:pt idx="9">
                  <c:v>2.841000000000001</c:v>
                </c:pt>
                <c:pt idx="10">
                  <c:v>2.9990000000000023</c:v>
                </c:pt>
                <c:pt idx="11">
                  <c:v>49.033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6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Chile</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Latin America</c:v>
                </c:pt>
                <c:pt idx="1">
                  <c:v>Share of Global</c:v>
                </c:pt>
              </c:strCache>
            </c:strRef>
          </c:cat>
          <c:val>
            <c:numRef>
              <c:f>Sheet1!$B$2:$B$3</c:f>
              <c:numCache>
                <c:formatCode>General</c:formatCode>
                <c:ptCount val="2"/>
                <c:pt idx="0">
                  <c:v>7.193485352762213</c:v>
                </c:pt>
                <c:pt idx="1">
                  <c:v>0.477303205885925</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Latin America</c:v>
                </c:pt>
                <c:pt idx="1">
                  <c:v>Share of Global</c:v>
                </c:pt>
              </c:strCache>
            </c:strRef>
          </c:cat>
          <c:val>
            <c:numRef>
              <c:f>Sheet1!$C$2:$C$3</c:f>
              <c:numCache>
                <c:formatCode>General</c:formatCode>
                <c:ptCount val="2"/>
                <c:pt idx="0">
                  <c:v>92.80651464723779</c:v>
                </c:pt>
                <c:pt idx="1">
                  <c:v>99.52269679411407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66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57.928</c:v>
                </c:pt>
                <c:pt idx="1">
                  <c:v>60.269999999999996</c:v>
                </c:pt>
                <c:pt idx="2">
                  <c:v>62.879</c:v>
                </c:pt>
                <c:pt idx="3">
                  <c:v>65.727</c:v>
                </c:pt>
                <c:pt idx="4">
                  <c:v>68.80199999999999</c:v>
                </c:pt>
                <c:pt idx="5">
                  <c:v>72.078</c:v>
                </c:pt>
                <c:pt idx="6">
                  <c:v>75.564</c:v>
                </c:pt>
                <c:pt idx="7">
                  <c:v>79.356</c:v>
                </c:pt>
                <c:pt idx="8">
                  <c:v>83.46000000000001</c:v>
                </c:pt>
                <c:pt idx="9">
                  <c:v>87.867</c:v>
                </c:pt>
                <c:pt idx="10">
                  <c:v>92.491</c:v>
                </c:pt>
                <c:pt idx="11">
                  <c:v>97.25200000000001</c:v>
                </c:pt>
                <c:pt idx="12">
                  <c:v>102.168</c:v>
                </c:pt>
                <c:pt idx="13">
                  <c:v>107.244</c:v>
                </c:pt>
                <c:pt idx="14">
                  <c:v>112.41199999999999</c:v>
                </c:pt>
                <c:pt idx="15">
                  <c:v>117.67499999999998</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66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Latin America</c:v>
                </c:pt>
                <c:pt idx="2">
                  <c:v>Rest of LATAM</c:v>
                </c:pt>
              </c:strCache>
            </c:strRef>
          </c:cat>
          <c:val>
            <c:numRef>
              <c:f>Sheet1!$B$2:$B$4</c:f>
              <c:numCache>
                <c:formatCode>General</c:formatCode>
                <c:ptCount val="3"/>
                <c:pt idx="0">
                  <c:v>0.05917522569547584</c:v>
                </c:pt>
                <c:pt idx="1">
                  <c:v>0.04988778577842701</c:v>
                </c:pt>
                <c:pt idx="2">
                  <c:v>0.05023901556057786</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7988655468889239"/>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66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72.078</c:v>
                </c:pt>
                <c:pt idx="2">
                  <c:v>75.564</c:v>
                </c:pt>
                <c:pt idx="3">
                  <c:v>79.356</c:v>
                </c:pt>
                <c:pt idx="4">
                  <c:v>83.46000000000001</c:v>
                </c:pt>
                <c:pt idx="5">
                  <c:v>87.867</c:v>
                </c:pt>
                <c:pt idx="6">
                  <c:v>92.491</c:v>
                </c:pt>
                <c:pt idx="7">
                  <c:v>97.25200000000001</c:v>
                </c:pt>
                <c:pt idx="8">
                  <c:v>102.168</c:v>
                </c:pt>
                <c:pt idx="9">
                  <c:v>107.244</c:v>
                </c:pt>
                <c:pt idx="10">
                  <c:v>112.41199999999999</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72.078</c:v>
                </c:pt>
                <c:pt idx="1">
                  <c:v>3.48599999999999</c:v>
                </c:pt>
                <c:pt idx="2">
                  <c:v>3.7920000000000016</c:v>
                </c:pt>
                <c:pt idx="3">
                  <c:v>4.104000000000013</c:v>
                </c:pt>
                <c:pt idx="4">
                  <c:v>4.4069999999999965</c:v>
                </c:pt>
                <c:pt idx="5">
                  <c:v>4.623999999999995</c:v>
                </c:pt>
                <c:pt idx="6">
                  <c:v>4.76100000000001</c:v>
                </c:pt>
                <c:pt idx="7">
                  <c:v>4.915999999999997</c:v>
                </c:pt>
                <c:pt idx="8">
                  <c:v>5.075999999999993</c:v>
                </c:pt>
                <c:pt idx="9">
                  <c:v>5.167999999999992</c:v>
                </c:pt>
                <c:pt idx="10">
                  <c:v>5.262999999999991</c:v>
                </c:pt>
                <c:pt idx="11">
                  <c:v>117.67499999999998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67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Rest of LATAM</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Latin America</c:v>
                </c:pt>
                <c:pt idx="1">
                  <c:v>Share of Global</c:v>
                </c:pt>
              </c:strCache>
            </c:strRef>
          </c:cat>
          <c:val>
            <c:numRef>
              <c:f>Sheet1!$B$2:$B$3</c:f>
              <c:numCache>
                <c:formatCode>General</c:formatCode>
                <c:ptCount val="2"/>
                <c:pt idx="0">
                  <c:v>54.30218103740535</c:v>
                </c:pt>
                <c:pt idx="1">
                  <c:v>4.245468890534192</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Latin America</c:v>
                </c:pt>
                <c:pt idx="1">
                  <c:v>Share of Global</c:v>
                </c:pt>
              </c:strCache>
            </c:strRef>
          </c:cat>
          <c:val>
            <c:numRef>
              <c:f>Sheet1!$C$2:$C$3</c:f>
              <c:numCache>
                <c:formatCode>General</c:formatCode>
                <c:ptCount val="2"/>
                <c:pt idx="0">
                  <c:v>45.69781896259465</c:v>
                </c:pt>
                <c:pt idx="1">
                  <c:v>95.7545311094658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67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148.449</c:v>
                </c:pt>
                <c:pt idx="1">
                  <c:v>155.606</c:v>
                </c:pt>
                <c:pt idx="2">
                  <c:v>163.595</c:v>
                </c:pt>
                <c:pt idx="3">
                  <c:v>172.454</c:v>
                </c:pt>
                <c:pt idx="4">
                  <c:v>182.144</c:v>
                </c:pt>
                <c:pt idx="5">
                  <c:v>193.661</c:v>
                </c:pt>
                <c:pt idx="6">
                  <c:v>206.211</c:v>
                </c:pt>
                <c:pt idx="7">
                  <c:v>220.086</c:v>
                </c:pt>
                <c:pt idx="8">
                  <c:v>235.325</c:v>
                </c:pt>
                <c:pt idx="9">
                  <c:v>252.156</c:v>
                </c:pt>
                <c:pt idx="10">
                  <c:v>270.367</c:v>
                </c:pt>
                <c:pt idx="11">
                  <c:v>290.004</c:v>
                </c:pt>
                <c:pt idx="12">
                  <c:v>311.081</c:v>
                </c:pt>
                <c:pt idx="13">
                  <c:v>333.651</c:v>
                </c:pt>
                <c:pt idx="14">
                  <c:v>357.69399999999996</c:v>
                </c:pt>
                <c:pt idx="15">
                  <c:v>383.318</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6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Latin America</c:v>
                </c:pt>
                <c:pt idx="2">
                  <c:v>Rest of LATAM</c:v>
                </c:pt>
              </c:strCache>
            </c:strRef>
          </c:cat>
          <c:val>
            <c:numRef>
              <c:f>Sheet1!$B$2:$B$4</c:f>
              <c:numCache>
                <c:formatCode>General</c:formatCode>
                <c:ptCount val="3"/>
                <c:pt idx="0">
                  <c:v>0.07440747619145949</c:v>
                </c:pt>
                <c:pt idx="1">
                  <c:v>0.06906488328333693</c:v>
                </c:pt>
                <c:pt idx="2">
                  <c:v>0.0706603122645224</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045009285847031"/>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67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193.661</c:v>
                </c:pt>
                <c:pt idx="2">
                  <c:v>206.211</c:v>
                </c:pt>
                <c:pt idx="3">
                  <c:v>220.086</c:v>
                </c:pt>
                <c:pt idx="4">
                  <c:v>235.325</c:v>
                </c:pt>
                <c:pt idx="5">
                  <c:v>252.156</c:v>
                </c:pt>
                <c:pt idx="6">
                  <c:v>270.367</c:v>
                </c:pt>
                <c:pt idx="7">
                  <c:v>290.004</c:v>
                </c:pt>
                <c:pt idx="8">
                  <c:v>311.081</c:v>
                </c:pt>
                <c:pt idx="9">
                  <c:v>333.651</c:v>
                </c:pt>
                <c:pt idx="10">
                  <c:v>357.69399999999996</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193.661</c:v>
                </c:pt>
                <c:pt idx="1">
                  <c:v>12.550000000000011</c:v>
                </c:pt>
                <c:pt idx="2">
                  <c:v>13.875</c:v>
                </c:pt>
                <c:pt idx="3">
                  <c:v>15.238999999999976</c:v>
                </c:pt>
                <c:pt idx="4">
                  <c:v>16.831000000000017</c:v>
                </c:pt>
                <c:pt idx="5">
                  <c:v>18.211000000000013</c:v>
                </c:pt>
                <c:pt idx="6">
                  <c:v>19.637</c:v>
                </c:pt>
                <c:pt idx="7">
                  <c:v>21.076999999999998</c:v>
                </c:pt>
                <c:pt idx="8">
                  <c:v>22.569999999999993</c:v>
                </c:pt>
                <c:pt idx="9">
                  <c:v>24.04299999999995</c:v>
                </c:pt>
                <c:pt idx="10">
                  <c:v>25.624000000000024</c:v>
                </c:pt>
                <c:pt idx="11">
                  <c:v>383.318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67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Rest of LATAM</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Latin America</c:v>
                </c:pt>
                <c:pt idx="1">
                  <c:v>Share of Global</c:v>
                </c:pt>
              </c:strCache>
            </c:strRef>
          </c:cat>
          <c:val>
            <c:numRef>
              <c:f>Sheet1!$B$2:$B$3</c:f>
              <c:numCache>
                <c:formatCode>General</c:formatCode>
                <c:ptCount val="2"/>
                <c:pt idx="0">
                  <c:v>53.22448104612527</c:v>
                </c:pt>
                <c:pt idx="1">
                  <c:v>3.5315586519093034</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Latin America</c:v>
                </c:pt>
                <c:pt idx="1">
                  <c:v>Share of Global</c:v>
                </c:pt>
              </c:strCache>
            </c:strRef>
          </c:cat>
          <c:val>
            <c:numRef>
              <c:f>Sheet1!$C$2:$C$3</c:f>
              <c:numCache>
                <c:formatCode>General</c:formatCode>
                <c:ptCount val="2"/>
                <c:pt idx="0">
                  <c:v>46.77551895387473</c:v>
                </c:pt>
                <c:pt idx="1">
                  <c:v>96.46844134809069</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69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79.58</c:v>
                </c:pt>
                <c:pt idx="1">
                  <c:v>82.4</c:v>
                </c:pt>
                <c:pt idx="2">
                  <c:v>85.34100000000001</c:v>
                </c:pt>
                <c:pt idx="3">
                  <c:v>88.382</c:v>
                </c:pt>
                <c:pt idx="4">
                  <c:v>91.558</c:v>
                </c:pt>
                <c:pt idx="5">
                  <c:v>94.995</c:v>
                </c:pt>
                <c:pt idx="6">
                  <c:v>98.742</c:v>
                </c:pt>
                <c:pt idx="7">
                  <c:v>102.795</c:v>
                </c:pt>
                <c:pt idx="8">
                  <c:v>107.132</c:v>
                </c:pt>
                <c:pt idx="9">
                  <c:v>111.93100000000001</c:v>
                </c:pt>
                <c:pt idx="10">
                  <c:v>117.322</c:v>
                </c:pt>
                <c:pt idx="11">
                  <c:v>123.337</c:v>
                </c:pt>
                <c:pt idx="12">
                  <c:v>129.774</c:v>
                </c:pt>
                <c:pt idx="13">
                  <c:v>136.45499999999998</c:v>
                </c:pt>
                <c:pt idx="14">
                  <c:v>143.246</c:v>
                </c:pt>
                <c:pt idx="15">
                  <c:v>150.156</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69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Western Europe</c:v>
                </c:pt>
                <c:pt idx="2">
                  <c:v>Germany</c:v>
                </c:pt>
              </c:strCache>
            </c:strRef>
          </c:cat>
          <c:val>
            <c:numRef>
              <c:f>Sheet1!$B$2:$B$4</c:f>
              <c:numCache>
                <c:formatCode>General</c:formatCode>
                <c:ptCount val="3"/>
                <c:pt idx="0">
                  <c:v>0.05917522569547584</c:v>
                </c:pt>
                <c:pt idx="1">
                  <c:v>0.04809858394412103</c:v>
                </c:pt>
                <c:pt idx="2">
                  <c:v>0.04684936597999956</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7988655468889239"/>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69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94.995</c:v>
                </c:pt>
                <c:pt idx="2">
                  <c:v>98.742</c:v>
                </c:pt>
                <c:pt idx="3">
                  <c:v>102.795</c:v>
                </c:pt>
                <c:pt idx="4">
                  <c:v>107.132</c:v>
                </c:pt>
                <c:pt idx="5">
                  <c:v>111.93100000000001</c:v>
                </c:pt>
                <c:pt idx="6">
                  <c:v>117.322</c:v>
                </c:pt>
                <c:pt idx="7">
                  <c:v>123.337</c:v>
                </c:pt>
                <c:pt idx="8">
                  <c:v>129.774</c:v>
                </c:pt>
                <c:pt idx="9">
                  <c:v>136.45499999999998</c:v>
                </c:pt>
                <c:pt idx="10">
                  <c:v>143.246</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94.995</c:v>
                </c:pt>
                <c:pt idx="1">
                  <c:v>3.747</c:v>
                </c:pt>
                <c:pt idx="2">
                  <c:v>4.052999999999997</c:v>
                </c:pt>
                <c:pt idx="3">
                  <c:v>4.337000000000003</c:v>
                </c:pt>
                <c:pt idx="4">
                  <c:v>4.799000000000007</c:v>
                </c:pt>
                <c:pt idx="5">
                  <c:v>5.390999999999991</c:v>
                </c:pt>
                <c:pt idx="6">
                  <c:v>6.015000000000001</c:v>
                </c:pt>
                <c:pt idx="7">
                  <c:v>6.436999999999998</c:v>
                </c:pt>
                <c:pt idx="8">
                  <c:v>6.680999999999983</c:v>
                </c:pt>
                <c:pt idx="9">
                  <c:v>6.791000000000025</c:v>
                </c:pt>
                <c:pt idx="10">
                  <c:v>6.909999999999997</c:v>
                </c:pt>
                <c:pt idx="11">
                  <c:v>150.156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69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Germany</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Sheet1!$B$2:$B$3</c:f>
              <c:numCache>
                <c:formatCode>General</c:formatCode>
                <c:ptCount val="2"/>
                <c:pt idx="0">
                  <c:v>26.593153722117712</c:v>
                </c:pt>
                <c:pt idx="1">
                  <c:v>5.595303938182185</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Sheet1!$C$2:$C$3</c:f>
              <c:numCache>
                <c:formatCode>General</c:formatCode>
                <c:ptCount val="2"/>
                <c:pt idx="0">
                  <c:v>73.4068462778823</c:v>
                </c:pt>
                <c:pt idx="1">
                  <c:v>94.40469606181782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69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316.865</c:v>
                </c:pt>
                <c:pt idx="1">
                  <c:v>329.44899999999996</c:v>
                </c:pt>
                <c:pt idx="2">
                  <c:v>342.85400000000004</c:v>
                </c:pt>
                <c:pt idx="3">
                  <c:v>357.192</c:v>
                </c:pt>
                <c:pt idx="4">
                  <c:v>372.44899999999996</c:v>
                </c:pt>
                <c:pt idx="5">
                  <c:v>390.36</c:v>
                </c:pt>
                <c:pt idx="6">
                  <c:v>410.205</c:v>
                </c:pt>
                <c:pt idx="7">
                  <c:v>432.06100000000004</c:v>
                </c:pt>
                <c:pt idx="8">
                  <c:v>455.855</c:v>
                </c:pt>
                <c:pt idx="9">
                  <c:v>482.44399999999996</c:v>
                </c:pt>
                <c:pt idx="10">
                  <c:v>512.337</c:v>
                </c:pt>
                <c:pt idx="11">
                  <c:v>545.777</c:v>
                </c:pt>
                <c:pt idx="12">
                  <c:v>582.0150000000001</c:v>
                </c:pt>
                <c:pt idx="13">
                  <c:v>620.649</c:v>
                </c:pt>
                <c:pt idx="14">
                  <c:v>661.373</c:v>
                </c:pt>
                <c:pt idx="15">
                  <c:v>704.206</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69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Western Europe</c:v>
                </c:pt>
                <c:pt idx="2">
                  <c:v>Germany</c:v>
                </c:pt>
              </c:strCache>
            </c:strRef>
          </c:cat>
          <c:val>
            <c:numRef>
              <c:f>Sheet1!$B$2:$B$4</c:f>
              <c:numCache>
                <c:formatCode>General</c:formatCode>
                <c:ptCount val="3"/>
                <c:pt idx="0">
                  <c:v>0.07440747619145949</c:v>
                </c:pt>
                <c:pt idx="1">
                  <c:v>0.06304045750749321</c:v>
                </c:pt>
                <c:pt idx="2">
                  <c:v>0.06077540375142543</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045009285847031"/>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69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390.36</c:v>
                </c:pt>
                <c:pt idx="2">
                  <c:v>410.205</c:v>
                </c:pt>
                <c:pt idx="3">
                  <c:v>432.06100000000004</c:v>
                </c:pt>
                <c:pt idx="4">
                  <c:v>455.855</c:v>
                </c:pt>
                <c:pt idx="5">
                  <c:v>482.44399999999996</c:v>
                </c:pt>
                <c:pt idx="6">
                  <c:v>512.337</c:v>
                </c:pt>
                <c:pt idx="7">
                  <c:v>545.777</c:v>
                </c:pt>
                <c:pt idx="8">
                  <c:v>582.0150000000001</c:v>
                </c:pt>
                <c:pt idx="9">
                  <c:v>620.649</c:v>
                </c:pt>
                <c:pt idx="10">
                  <c:v>661.373</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390.36</c:v>
                </c:pt>
                <c:pt idx="1">
                  <c:v>19.84499999999997</c:v>
                </c:pt>
                <c:pt idx="2">
                  <c:v>21.85600000000005</c:v>
                </c:pt>
                <c:pt idx="3">
                  <c:v>23.793999999999983</c:v>
                </c:pt>
                <c:pt idx="4">
                  <c:v>26.588999999999942</c:v>
                </c:pt>
                <c:pt idx="5">
                  <c:v>29.89300000000003</c:v>
                </c:pt>
                <c:pt idx="6">
                  <c:v>33.440000000000055</c:v>
                </c:pt>
                <c:pt idx="7">
                  <c:v>36.238000000000056</c:v>
                </c:pt>
                <c:pt idx="8">
                  <c:v>38.6339999999999</c:v>
                </c:pt>
                <c:pt idx="9">
                  <c:v>40.724000000000046</c:v>
                </c:pt>
                <c:pt idx="10">
                  <c:v>42.83299999999997</c:v>
                </c:pt>
                <c:pt idx="11">
                  <c:v>704.206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0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Germany</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Sheet1!$B$2:$B$3</c:f>
              <c:numCache>
                <c:formatCode>General</c:formatCode>
                <c:ptCount val="2"/>
                <c:pt idx="0">
                  <c:v>26.916942655658826</c:v>
                </c:pt>
                <c:pt idx="1">
                  <c:v>7.118517591870928</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Sheet1!$C$2:$C$3</c:f>
              <c:numCache>
                <c:formatCode>General</c:formatCode>
                <c:ptCount val="2"/>
                <c:pt idx="0">
                  <c:v>73.08305734434117</c:v>
                </c:pt>
                <c:pt idx="1">
                  <c:v>92.88148240812907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7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40.492999999999995</c:v>
                </c:pt>
                <c:pt idx="1">
                  <c:v>42.326</c:v>
                </c:pt>
                <c:pt idx="2">
                  <c:v>44.287000000000006</c:v>
                </c:pt>
                <c:pt idx="3">
                  <c:v>46.358000000000004</c:v>
                </c:pt>
                <c:pt idx="4">
                  <c:v>48.512</c:v>
                </c:pt>
                <c:pt idx="5">
                  <c:v>50.757999999999996</c:v>
                </c:pt>
                <c:pt idx="6">
                  <c:v>53.105999999999995</c:v>
                </c:pt>
                <c:pt idx="7">
                  <c:v>55.653999999999996</c:v>
                </c:pt>
                <c:pt idx="8">
                  <c:v>58.44</c:v>
                </c:pt>
                <c:pt idx="9">
                  <c:v>61.446999999999996</c:v>
                </c:pt>
                <c:pt idx="10">
                  <c:v>64.608</c:v>
                </c:pt>
                <c:pt idx="11">
                  <c:v>67.885</c:v>
                </c:pt>
                <c:pt idx="12">
                  <c:v>71.322</c:v>
                </c:pt>
                <c:pt idx="13">
                  <c:v>74.869</c:v>
                </c:pt>
                <c:pt idx="14">
                  <c:v>78.473</c:v>
                </c:pt>
                <c:pt idx="15">
                  <c:v>82.106</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Western Europe</c:v>
                </c:pt>
                <c:pt idx="2">
                  <c:v>Italy</c:v>
                </c:pt>
              </c:strCache>
            </c:strRef>
          </c:cat>
          <c:val>
            <c:numRef>
              <c:f>Sheet1!$B$2:$B$4</c:f>
              <c:numCache>
                <c:formatCode>General</c:formatCode>
                <c:ptCount val="3"/>
                <c:pt idx="0">
                  <c:v>0.05917522569547584</c:v>
                </c:pt>
                <c:pt idx="1">
                  <c:v>0.04809858394412103</c:v>
                </c:pt>
                <c:pt idx="2">
                  <c:v>0.049269476581022875</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7988655468889239"/>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50.757999999999996</c:v>
                </c:pt>
                <c:pt idx="2">
                  <c:v>53.105999999999995</c:v>
                </c:pt>
                <c:pt idx="3">
                  <c:v>55.653999999999996</c:v>
                </c:pt>
                <c:pt idx="4">
                  <c:v>58.44</c:v>
                </c:pt>
                <c:pt idx="5">
                  <c:v>61.446999999999996</c:v>
                </c:pt>
                <c:pt idx="6">
                  <c:v>64.608</c:v>
                </c:pt>
                <c:pt idx="7">
                  <c:v>67.885</c:v>
                </c:pt>
                <c:pt idx="8">
                  <c:v>71.322</c:v>
                </c:pt>
                <c:pt idx="9">
                  <c:v>74.869</c:v>
                </c:pt>
                <c:pt idx="10">
                  <c:v>78.473</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50.757999999999996</c:v>
                </c:pt>
                <c:pt idx="1">
                  <c:v>2.347999999999999</c:v>
                </c:pt>
                <c:pt idx="2">
                  <c:v>2.548000000000002</c:v>
                </c:pt>
                <c:pt idx="3">
                  <c:v>2.7860000000000014</c:v>
                </c:pt>
                <c:pt idx="4">
                  <c:v>3.006999999999998</c:v>
                </c:pt>
                <c:pt idx="5">
                  <c:v>3.1610000000000085</c:v>
                </c:pt>
                <c:pt idx="6">
                  <c:v>3.277000000000001</c:v>
                </c:pt>
                <c:pt idx="7">
                  <c:v>3.4369999999999976</c:v>
                </c:pt>
                <c:pt idx="8">
                  <c:v>3.546999999999997</c:v>
                </c:pt>
                <c:pt idx="9">
                  <c:v>3.603999999999999</c:v>
                </c:pt>
                <c:pt idx="10">
                  <c:v>3.6329999999999956</c:v>
                </c:pt>
                <c:pt idx="11">
                  <c:v>82.106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Italy</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Sheet1!$B$2:$B$3</c:f>
              <c:numCache>
                <c:formatCode>General</c:formatCode>
                <c:ptCount val="2"/>
                <c:pt idx="0">
                  <c:v>14.20932992923049</c:v>
                </c:pt>
                <c:pt idx="1">
                  <c:v>2.989698797770949</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Sheet1!$C$2:$C$3</c:f>
              <c:numCache>
                <c:formatCode>General</c:formatCode>
                <c:ptCount val="2"/>
                <c:pt idx="0">
                  <c:v>85.79067007076951</c:v>
                </c:pt>
                <c:pt idx="1">
                  <c:v>97.01030120222904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7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166.215</c:v>
                </c:pt>
                <c:pt idx="1">
                  <c:v>174.963</c:v>
                </c:pt>
                <c:pt idx="2">
                  <c:v>184.457</c:v>
                </c:pt>
                <c:pt idx="3">
                  <c:v>194.802</c:v>
                </c:pt>
                <c:pt idx="4">
                  <c:v>205.765</c:v>
                </c:pt>
                <c:pt idx="5">
                  <c:v>218.477</c:v>
                </c:pt>
                <c:pt idx="6">
                  <c:v>232.17399999999998</c:v>
                </c:pt>
                <c:pt idx="7">
                  <c:v>247.255</c:v>
                </c:pt>
                <c:pt idx="8">
                  <c:v>263.959</c:v>
                </c:pt>
                <c:pt idx="9">
                  <c:v>282.462</c:v>
                </c:pt>
                <c:pt idx="10">
                  <c:v>302.476</c:v>
                </c:pt>
                <c:pt idx="11">
                  <c:v>323.981</c:v>
                </c:pt>
                <c:pt idx="12">
                  <c:v>347.135</c:v>
                </c:pt>
                <c:pt idx="13">
                  <c:v>371.96299999999997</c:v>
                </c:pt>
                <c:pt idx="14">
                  <c:v>398.289</c:v>
                </c:pt>
                <c:pt idx="15">
                  <c:v>426.145</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Western Europe</c:v>
                </c:pt>
                <c:pt idx="2">
                  <c:v>Italy</c:v>
                </c:pt>
              </c:strCache>
            </c:strRef>
          </c:cat>
          <c:val>
            <c:numRef>
              <c:f>Sheet1!$B$2:$B$4</c:f>
              <c:numCache>
                <c:formatCode>General</c:formatCode>
                <c:ptCount val="3"/>
                <c:pt idx="0">
                  <c:v>0.07440747619145949</c:v>
                </c:pt>
                <c:pt idx="1">
                  <c:v>0.06304045750749321</c:v>
                </c:pt>
                <c:pt idx="2">
                  <c:v>0.06909221566868551</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045009285847031"/>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218.477</c:v>
                </c:pt>
                <c:pt idx="2">
                  <c:v>232.17399999999998</c:v>
                </c:pt>
                <c:pt idx="3">
                  <c:v>247.255</c:v>
                </c:pt>
                <c:pt idx="4">
                  <c:v>263.959</c:v>
                </c:pt>
                <c:pt idx="5">
                  <c:v>282.462</c:v>
                </c:pt>
                <c:pt idx="6">
                  <c:v>302.476</c:v>
                </c:pt>
                <c:pt idx="7">
                  <c:v>323.981</c:v>
                </c:pt>
                <c:pt idx="8">
                  <c:v>347.135</c:v>
                </c:pt>
                <c:pt idx="9">
                  <c:v>371.96299999999997</c:v>
                </c:pt>
                <c:pt idx="10">
                  <c:v>398.289</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218.477</c:v>
                </c:pt>
                <c:pt idx="1">
                  <c:v>13.696999999999974</c:v>
                </c:pt>
                <c:pt idx="2">
                  <c:v>15.081000000000017</c:v>
                </c:pt>
                <c:pt idx="3">
                  <c:v>16.704000000000008</c:v>
                </c:pt>
                <c:pt idx="4">
                  <c:v>18.502999999999986</c:v>
                </c:pt>
                <c:pt idx="5">
                  <c:v>20.01400000000001</c:v>
                </c:pt>
                <c:pt idx="6">
                  <c:v>21.504999999999995</c:v>
                </c:pt>
                <c:pt idx="7">
                  <c:v>23.153999999999996</c:v>
                </c:pt>
                <c:pt idx="8">
                  <c:v>24.827999999999975</c:v>
                </c:pt>
                <c:pt idx="9">
                  <c:v>26.326000000000022</c:v>
                </c:pt>
                <c:pt idx="10">
                  <c:v>27.855999999999995</c:v>
                </c:pt>
                <c:pt idx="11">
                  <c:v>426.145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Italy</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Sheet1!$B$2:$B$3</c:f>
              <c:numCache>
                <c:formatCode>General</c:formatCode>
                <c:ptCount val="2"/>
                <c:pt idx="0">
                  <c:v>15.064896199867746</c:v>
                </c:pt>
                <c:pt idx="1">
                  <c:v>3.984097673734975</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Sheet1!$C$2:$C$3</c:f>
              <c:numCache>
                <c:formatCode>General</c:formatCode>
                <c:ptCount val="2"/>
                <c:pt idx="0">
                  <c:v>84.93510380013225</c:v>
                </c:pt>
                <c:pt idx="1">
                  <c:v>96.01590232626502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7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60.098</c:v>
                </c:pt>
                <c:pt idx="1">
                  <c:v>62.652</c:v>
                </c:pt>
                <c:pt idx="2">
                  <c:v>65.441</c:v>
                </c:pt>
                <c:pt idx="3">
                  <c:v>68.463</c:v>
                </c:pt>
                <c:pt idx="4">
                  <c:v>71.74300000000001</c:v>
                </c:pt>
                <c:pt idx="5">
                  <c:v>75.249</c:v>
                </c:pt>
                <c:pt idx="6">
                  <c:v>78.983</c:v>
                </c:pt>
                <c:pt idx="7">
                  <c:v>82.90700000000001</c:v>
                </c:pt>
                <c:pt idx="8">
                  <c:v>86.97800000000001</c:v>
                </c:pt>
                <c:pt idx="9">
                  <c:v>91.131</c:v>
                </c:pt>
                <c:pt idx="10">
                  <c:v>95.36</c:v>
                </c:pt>
                <c:pt idx="11">
                  <c:v>99.613</c:v>
                </c:pt>
                <c:pt idx="12">
                  <c:v>104.018</c:v>
                </c:pt>
                <c:pt idx="13">
                  <c:v>108.518</c:v>
                </c:pt>
                <c:pt idx="14">
                  <c:v>113.076</c:v>
                </c:pt>
                <c:pt idx="15">
                  <c:v>117.66</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4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Western Europe</c:v>
                </c:pt>
                <c:pt idx="2">
                  <c:v>France</c:v>
                </c:pt>
              </c:strCache>
            </c:strRef>
          </c:cat>
          <c:val>
            <c:numRef>
              <c:f>Sheet1!$B$2:$B$4</c:f>
              <c:numCache>
                <c:formatCode>General</c:formatCode>
                <c:ptCount val="3"/>
                <c:pt idx="0">
                  <c:v>0.05917522569547584</c:v>
                </c:pt>
                <c:pt idx="1">
                  <c:v>0.04809858394412103</c:v>
                </c:pt>
                <c:pt idx="2">
                  <c:v>0.04571373208747076</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7988655468889239"/>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4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75.249</c:v>
                </c:pt>
                <c:pt idx="2">
                  <c:v>78.983</c:v>
                </c:pt>
                <c:pt idx="3">
                  <c:v>82.90700000000001</c:v>
                </c:pt>
                <c:pt idx="4">
                  <c:v>86.97800000000001</c:v>
                </c:pt>
                <c:pt idx="5">
                  <c:v>91.131</c:v>
                </c:pt>
                <c:pt idx="6">
                  <c:v>95.36</c:v>
                </c:pt>
                <c:pt idx="7">
                  <c:v>99.613</c:v>
                </c:pt>
                <c:pt idx="8">
                  <c:v>104.018</c:v>
                </c:pt>
                <c:pt idx="9">
                  <c:v>108.518</c:v>
                </c:pt>
                <c:pt idx="10">
                  <c:v>113.076</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75.249</c:v>
                </c:pt>
                <c:pt idx="1">
                  <c:v>3.734000000000009</c:v>
                </c:pt>
                <c:pt idx="2">
                  <c:v>3.9240000000000066</c:v>
                </c:pt>
                <c:pt idx="3">
                  <c:v>4.070999999999998</c:v>
                </c:pt>
                <c:pt idx="4">
                  <c:v>4.152999999999992</c:v>
                </c:pt>
                <c:pt idx="5">
                  <c:v>4.228999999999999</c:v>
                </c:pt>
                <c:pt idx="6">
                  <c:v>4.253</c:v>
                </c:pt>
                <c:pt idx="7">
                  <c:v>4.405000000000001</c:v>
                </c:pt>
                <c:pt idx="8">
                  <c:v>4.5</c:v>
                </c:pt>
                <c:pt idx="9">
                  <c:v>4.557999999999993</c:v>
                </c:pt>
                <c:pt idx="10">
                  <c:v>4.584000000000003</c:v>
                </c:pt>
                <c:pt idx="11">
                  <c:v>117.66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France</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Sheet1!$B$2:$B$3</c:f>
              <c:numCache>
                <c:formatCode>General</c:formatCode>
                <c:ptCount val="2"/>
                <c:pt idx="0">
                  <c:v>21.065405804891157</c:v>
                </c:pt>
                <c:pt idx="1">
                  <c:v>4.432244076470037</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Sheet1!$C$2:$C$3</c:f>
              <c:numCache>
                <c:formatCode>General</c:formatCode>
                <c:ptCount val="2"/>
                <c:pt idx="0">
                  <c:v>78.93459419510884</c:v>
                </c:pt>
                <c:pt idx="1">
                  <c:v>95.56775592352996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74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236.979</c:v>
                </c:pt>
                <c:pt idx="1">
                  <c:v>248.099</c:v>
                </c:pt>
                <c:pt idx="2">
                  <c:v>260.18399999999997</c:v>
                </c:pt>
                <c:pt idx="3">
                  <c:v>273.397</c:v>
                </c:pt>
                <c:pt idx="4">
                  <c:v>287.679</c:v>
                </c:pt>
                <c:pt idx="5">
                  <c:v>303.985</c:v>
                </c:pt>
                <c:pt idx="6">
                  <c:v>321.58000000000004</c:v>
                </c:pt>
                <c:pt idx="7">
                  <c:v>340.524</c:v>
                </c:pt>
                <c:pt idx="8">
                  <c:v>360.744</c:v>
                </c:pt>
                <c:pt idx="9">
                  <c:v>382.154</c:v>
                </c:pt>
                <c:pt idx="10">
                  <c:v>404.685</c:v>
                </c:pt>
                <c:pt idx="11">
                  <c:v>428.24699999999996</c:v>
                </c:pt>
                <c:pt idx="12">
                  <c:v>453.339</c:v>
                </c:pt>
                <c:pt idx="13">
                  <c:v>479.772</c:v>
                </c:pt>
                <c:pt idx="14">
                  <c:v>507.424</c:v>
                </c:pt>
                <c:pt idx="15">
                  <c:v>536.1469999999999</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5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Western Europe</c:v>
                </c:pt>
                <c:pt idx="2">
                  <c:v>France</c:v>
                </c:pt>
              </c:strCache>
            </c:strRef>
          </c:cat>
          <c:val>
            <c:numRef>
              <c:f>Sheet1!$B$2:$B$4</c:f>
              <c:numCache>
                <c:formatCode>General</c:formatCode>
                <c:ptCount val="3"/>
                <c:pt idx="0">
                  <c:v>0.07440747619145949</c:v>
                </c:pt>
                <c:pt idx="1">
                  <c:v>0.06304045750749321</c:v>
                </c:pt>
                <c:pt idx="2">
                  <c:v>0.058383772834216474</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045009285847031"/>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303.985</c:v>
                </c:pt>
                <c:pt idx="2">
                  <c:v>321.58000000000004</c:v>
                </c:pt>
                <c:pt idx="3">
                  <c:v>340.524</c:v>
                </c:pt>
                <c:pt idx="4">
                  <c:v>360.744</c:v>
                </c:pt>
                <c:pt idx="5">
                  <c:v>382.154</c:v>
                </c:pt>
                <c:pt idx="6">
                  <c:v>404.685</c:v>
                </c:pt>
                <c:pt idx="7">
                  <c:v>428.24699999999996</c:v>
                </c:pt>
                <c:pt idx="8">
                  <c:v>453.339</c:v>
                </c:pt>
                <c:pt idx="9">
                  <c:v>479.772</c:v>
                </c:pt>
                <c:pt idx="10">
                  <c:v>507.424</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303.985</c:v>
                </c:pt>
                <c:pt idx="1">
                  <c:v>17.595000000000027</c:v>
                </c:pt>
                <c:pt idx="2">
                  <c:v>18.94399999999996</c:v>
                </c:pt>
                <c:pt idx="3">
                  <c:v>20.220000000000027</c:v>
                </c:pt>
                <c:pt idx="4">
                  <c:v>21.409999999999968</c:v>
                </c:pt>
                <c:pt idx="5">
                  <c:v>22.531000000000006</c:v>
                </c:pt>
                <c:pt idx="6">
                  <c:v>23.561999999999955</c:v>
                </c:pt>
                <c:pt idx="7">
                  <c:v>25.09200000000004</c:v>
                </c:pt>
                <c:pt idx="8">
                  <c:v>26.432999999999993</c:v>
                </c:pt>
                <c:pt idx="9">
                  <c:v>27.651999999999987</c:v>
                </c:pt>
                <c:pt idx="10">
                  <c:v>28.722999999999956</c:v>
                </c:pt>
                <c:pt idx="11">
                  <c:v>536.1469999999999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5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France</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Sheet1!$B$2:$B$3</c:f>
              <c:numCache>
                <c:formatCode>General</c:formatCode>
                <c:ptCount val="2"/>
                <c:pt idx="0">
                  <c:v>20.961027803003503</c:v>
                </c:pt>
                <c:pt idx="1">
                  <c:v>5.543402423826428</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Sheet1!$C$2:$C$3</c:f>
              <c:numCache>
                <c:formatCode>General</c:formatCode>
                <c:ptCount val="2"/>
                <c:pt idx="0">
                  <c:v>79.0389721969965</c:v>
                </c:pt>
                <c:pt idx="1">
                  <c:v>94.45659757617358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77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49.658</c:v>
                </c:pt>
                <c:pt idx="1">
                  <c:v>51.684</c:v>
                </c:pt>
                <c:pt idx="2">
                  <c:v>53.775999999999996</c:v>
                </c:pt>
                <c:pt idx="3">
                  <c:v>55.899</c:v>
                </c:pt>
                <c:pt idx="4">
                  <c:v>58.077999999999996</c:v>
                </c:pt>
                <c:pt idx="5">
                  <c:v>60.378</c:v>
                </c:pt>
                <c:pt idx="6">
                  <c:v>62.843999999999994</c:v>
                </c:pt>
                <c:pt idx="7">
                  <c:v>65.52600000000001</c:v>
                </c:pt>
                <c:pt idx="8">
                  <c:v>68.455</c:v>
                </c:pt>
                <c:pt idx="9">
                  <c:v>71.57300000000001</c:v>
                </c:pt>
                <c:pt idx="10">
                  <c:v>74.79599999999999</c:v>
                </c:pt>
                <c:pt idx="11">
                  <c:v>78.12</c:v>
                </c:pt>
                <c:pt idx="12">
                  <c:v>81.572</c:v>
                </c:pt>
                <c:pt idx="13">
                  <c:v>85.098</c:v>
                </c:pt>
                <c:pt idx="14">
                  <c:v>88.673</c:v>
                </c:pt>
                <c:pt idx="15">
                  <c:v>92.286</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Western Europe</c:v>
                </c:pt>
                <c:pt idx="2">
                  <c:v>U.K.</c:v>
                </c:pt>
              </c:strCache>
            </c:strRef>
          </c:cat>
          <c:val>
            <c:numRef>
              <c:f>Sheet1!$B$2:$B$4</c:f>
              <c:numCache>
                <c:formatCode>General</c:formatCode>
                <c:ptCount val="3"/>
                <c:pt idx="0">
                  <c:v>0.05917522569547584</c:v>
                </c:pt>
                <c:pt idx="1">
                  <c:v>0.04809858394412103</c:v>
                </c:pt>
                <c:pt idx="2">
                  <c:v>0.04333964465092688</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7988655468889239"/>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7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60.378</c:v>
                </c:pt>
                <c:pt idx="2">
                  <c:v>62.843999999999994</c:v>
                </c:pt>
                <c:pt idx="3">
                  <c:v>65.52600000000001</c:v>
                </c:pt>
                <c:pt idx="4">
                  <c:v>68.455</c:v>
                </c:pt>
                <c:pt idx="5">
                  <c:v>71.57300000000001</c:v>
                </c:pt>
                <c:pt idx="6">
                  <c:v>74.79599999999999</c:v>
                </c:pt>
                <c:pt idx="7">
                  <c:v>78.12</c:v>
                </c:pt>
                <c:pt idx="8">
                  <c:v>81.572</c:v>
                </c:pt>
                <c:pt idx="9">
                  <c:v>85.098</c:v>
                </c:pt>
                <c:pt idx="10">
                  <c:v>88.673</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60.378</c:v>
                </c:pt>
                <c:pt idx="1">
                  <c:v>2.465999999999994</c:v>
                </c:pt>
                <c:pt idx="2">
                  <c:v>2.6820000000000164</c:v>
                </c:pt>
                <c:pt idx="3">
                  <c:v>2.928999999999988</c:v>
                </c:pt>
                <c:pt idx="4">
                  <c:v>3.118000000000009</c:v>
                </c:pt>
                <c:pt idx="5">
                  <c:v>3.2229999999999848</c:v>
                </c:pt>
                <c:pt idx="6">
                  <c:v>3.3240000000000123</c:v>
                </c:pt>
                <c:pt idx="7">
                  <c:v>3.451999999999998</c:v>
                </c:pt>
                <c:pt idx="8">
                  <c:v>3.5259999999999962</c:v>
                </c:pt>
                <c:pt idx="9">
                  <c:v>3.575000000000003</c:v>
                </c:pt>
                <c:pt idx="10">
                  <c:v>3.6129999999999995</c:v>
                </c:pt>
                <c:pt idx="11">
                  <c:v>92.286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7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U.K.</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Sheet1!$B$2:$B$3</c:f>
              <c:numCache>
                <c:formatCode>General</c:formatCode>
                <c:ptCount val="2"/>
                <c:pt idx="0">
                  <c:v>16.90237839290513</c:v>
                </c:pt>
                <c:pt idx="1">
                  <c:v>3.5563267664568023</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Sheet1!$C$2:$C$3</c:f>
              <c:numCache>
                <c:formatCode>General</c:formatCode>
                <c:ptCount val="2"/>
                <c:pt idx="0">
                  <c:v>83.09762160709487</c:v>
                </c:pt>
                <c:pt idx="1">
                  <c:v>96.4436732335432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77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192.422</c:v>
                </c:pt>
                <c:pt idx="1">
                  <c:v>200.93900000000002</c:v>
                </c:pt>
                <c:pt idx="2">
                  <c:v>209.85</c:v>
                </c:pt>
                <c:pt idx="3">
                  <c:v>219.118</c:v>
                </c:pt>
                <c:pt idx="4">
                  <c:v>228.74599999999998</c:v>
                </c:pt>
                <c:pt idx="5">
                  <c:v>239.709</c:v>
                </c:pt>
                <c:pt idx="6">
                  <c:v>251.743</c:v>
                </c:pt>
                <c:pt idx="7">
                  <c:v>265.148</c:v>
                </c:pt>
                <c:pt idx="8">
                  <c:v>280.089</c:v>
                </c:pt>
                <c:pt idx="9">
                  <c:v>296.46799999999996</c:v>
                </c:pt>
                <c:pt idx="10">
                  <c:v>314.036</c:v>
                </c:pt>
                <c:pt idx="11">
                  <c:v>332.805</c:v>
                </c:pt>
                <c:pt idx="12">
                  <c:v>353.003</c:v>
                </c:pt>
                <c:pt idx="13">
                  <c:v>374.496</c:v>
                </c:pt>
                <c:pt idx="14">
                  <c:v>397.176</c:v>
                </c:pt>
                <c:pt idx="15">
                  <c:v>421.144</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7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Western Europe</c:v>
                </c:pt>
                <c:pt idx="2">
                  <c:v>U.K.</c:v>
                </c:pt>
              </c:strCache>
            </c:strRef>
          </c:cat>
          <c:val>
            <c:numRef>
              <c:f>Sheet1!$B$2:$B$4</c:f>
              <c:numCache>
                <c:formatCode>General</c:formatCode>
                <c:ptCount val="3"/>
                <c:pt idx="0">
                  <c:v>0.07440747619145949</c:v>
                </c:pt>
                <c:pt idx="1">
                  <c:v>0.06304045750749321</c:v>
                </c:pt>
                <c:pt idx="2">
                  <c:v>0.0579731055506183</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045009285847031"/>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7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239.709</c:v>
                </c:pt>
                <c:pt idx="2">
                  <c:v>251.743</c:v>
                </c:pt>
                <c:pt idx="3">
                  <c:v>265.148</c:v>
                </c:pt>
                <c:pt idx="4">
                  <c:v>280.089</c:v>
                </c:pt>
                <c:pt idx="5">
                  <c:v>296.46799999999996</c:v>
                </c:pt>
                <c:pt idx="6">
                  <c:v>314.036</c:v>
                </c:pt>
                <c:pt idx="7">
                  <c:v>332.805</c:v>
                </c:pt>
                <c:pt idx="8">
                  <c:v>353.003</c:v>
                </c:pt>
                <c:pt idx="9">
                  <c:v>374.496</c:v>
                </c:pt>
                <c:pt idx="10">
                  <c:v>397.176</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239.709</c:v>
                </c:pt>
                <c:pt idx="1">
                  <c:v>12.033999999999992</c:v>
                </c:pt>
                <c:pt idx="2">
                  <c:v>13.40500000000003</c:v>
                </c:pt>
                <c:pt idx="3">
                  <c:v>14.940999999999974</c:v>
                </c:pt>
                <c:pt idx="4">
                  <c:v>16.378999999999962</c:v>
                </c:pt>
                <c:pt idx="5">
                  <c:v>17.56800000000004</c:v>
                </c:pt>
                <c:pt idx="6">
                  <c:v>18.769000000000005</c:v>
                </c:pt>
                <c:pt idx="7">
                  <c:v>20.19799999999998</c:v>
                </c:pt>
                <c:pt idx="8">
                  <c:v>21.492999999999995</c:v>
                </c:pt>
                <c:pt idx="9">
                  <c:v>22.680000000000007</c:v>
                </c:pt>
                <c:pt idx="10">
                  <c:v>23.968000000000018</c:v>
                </c:pt>
                <c:pt idx="11">
                  <c:v>421.144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7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U.K.</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Sheet1!$B$2:$B$3</c:f>
              <c:numCache>
                <c:formatCode>General</c:formatCode>
                <c:ptCount val="2"/>
                <c:pt idx="0">
                  <c:v>16.528930748655913</c:v>
                </c:pt>
                <c:pt idx="1">
                  <c:v>4.371279673710903</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Sheet1!$C$2:$C$3</c:f>
              <c:numCache>
                <c:formatCode>General</c:formatCode>
                <c:ptCount val="2"/>
                <c:pt idx="0">
                  <c:v>83.47106925134409</c:v>
                </c:pt>
                <c:pt idx="1">
                  <c:v>95.6287203262891</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79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24.766</c:v>
                </c:pt>
                <c:pt idx="1">
                  <c:v>26.179000000000002</c:v>
                </c:pt>
                <c:pt idx="2">
                  <c:v>27.688</c:v>
                </c:pt>
                <c:pt idx="3">
                  <c:v>29.316000000000003</c:v>
                </c:pt>
                <c:pt idx="4">
                  <c:v>31.089</c:v>
                </c:pt>
                <c:pt idx="5">
                  <c:v>32.959</c:v>
                </c:pt>
                <c:pt idx="6">
                  <c:v>34.945</c:v>
                </c:pt>
                <c:pt idx="7">
                  <c:v>37.046</c:v>
                </c:pt>
                <c:pt idx="8">
                  <c:v>39.294</c:v>
                </c:pt>
                <c:pt idx="9">
                  <c:v>41.678</c:v>
                </c:pt>
                <c:pt idx="10">
                  <c:v>44.155</c:v>
                </c:pt>
                <c:pt idx="11">
                  <c:v>46.672</c:v>
                </c:pt>
                <c:pt idx="12">
                  <c:v>49.21</c:v>
                </c:pt>
                <c:pt idx="13">
                  <c:v>51.821</c:v>
                </c:pt>
                <c:pt idx="14">
                  <c:v>54.487</c:v>
                </c:pt>
                <c:pt idx="15">
                  <c:v>57.20399999999999</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9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Western Europe</c:v>
                </c:pt>
                <c:pt idx="2">
                  <c:v>Spain</c:v>
                </c:pt>
              </c:strCache>
            </c:strRef>
          </c:cat>
          <c:val>
            <c:numRef>
              <c:f>Sheet1!$B$2:$B$4</c:f>
              <c:numCache>
                <c:formatCode>General</c:formatCode>
                <c:ptCount val="3"/>
                <c:pt idx="0">
                  <c:v>0.05917522569547584</c:v>
                </c:pt>
                <c:pt idx="1">
                  <c:v>0.04809858394412103</c:v>
                </c:pt>
                <c:pt idx="2">
                  <c:v>0.056684257040023</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7988655468889239"/>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79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32.959</c:v>
                </c:pt>
                <c:pt idx="2">
                  <c:v>34.945</c:v>
                </c:pt>
                <c:pt idx="3">
                  <c:v>37.046</c:v>
                </c:pt>
                <c:pt idx="4">
                  <c:v>39.294</c:v>
                </c:pt>
                <c:pt idx="5">
                  <c:v>41.678</c:v>
                </c:pt>
                <c:pt idx="6">
                  <c:v>44.155</c:v>
                </c:pt>
                <c:pt idx="7">
                  <c:v>46.672</c:v>
                </c:pt>
                <c:pt idx="8">
                  <c:v>49.21</c:v>
                </c:pt>
                <c:pt idx="9">
                  <c:v>51.821</c:v>
                </c:pt>
                <c:pt idx="10">
                  <c:v>54.487</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32.959</c:v>
                </c:pt>
                <c:pt idx="1">
                  <c:v>1.985999999999997</c:v>
                </c:pt>
                <c:pt idx="2">
                  <c:v>2.100999999999999</c:v>
                </c:pt>
                <c:pt idx="3">
                  <c:v>2.2479999999999976</c:v>
                </c:pt>
                <c:pt idx="4">
                  <c:v>2.3840000000000003</c:v>
                </c:pt>
                <c:pt idx="5">
                  <c:v>2.477000000000004</c:v>
                </c:pt>
                <c:pt idx="6">
                  <c:v>2.516999999999996</c:v>
                </c:pt>
                <c:pt idx="7">
                  <c:v>2.538000000000004</c:v>
                </c:pt>
                <c:pt idx="8">
                  <c:v>2.610999999999997</c:v>
                </c:pt>
                <c:pt idx="9">
                  <c:v>2.666000000000004</c:v>
                </c:pt>
                <c:pt idx="10">
                  <c:v>2.7169999999999916</c:v>
                </c:pt>
                <c:pt idx="11">
                  <c:v>57.20399999999999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80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Spain</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Sheet1!$B$2:$B$3</c:f>
              <c:numCache>
                <c:formatCode>General</c:formatCode>
                <c:ptCount val="2"/>
                <c:pt idx="0">
                  <c:v>9.226630386096927</c:v>
                </c:pt>
                <c:pt idx="1">
                  <c:v>1.9413192536296295</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Sheet1!$C$2:$C$3</c:f>
              <c:numCache>
                <c:formatCode>General</c:formatCode>
                <c:ptCount val="2"/>
                <c:pt idx="0">
                  <c:v>90.77336961390307</c:v>
                </c:pt>
                <c:pt idx="1">
                  <c:v>98.05868074637037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80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91.607</c:v>
                </c:pt>
                <c:pt idx="1">
                  <c:v>97.25399999999999</c:v>
                </c:pt>
                <c:pt idx="2">
                  <c:v>103.323</c:v>
                </c:pt>
                <c:pt idx="3">
                  <c:v>109.946</c:v>
                </c:pt>
                <c:pt idx="4">
                  <c:v>117.176</c:v>
                </c:pt>
                <c:pt idx="5">
                  <c:v>125.286</c:v>
                </c:pt>
                <c:pt idx="6">
                  <c:v>134.108</c:v>
                </c:pt>
                <c:pt idx="7">
                  <c:v>143.703</c:v>
                </c:pt>
                <c:pt idx="8">
                  <c:v>154.23200000000003</c:v>
                </c:pt>
                <c:pt idx="9">
                  <c:v>165.765</c:v>
                </c:pt>
                <c:pt idx="10">
                  <c:v>178.144</c:v>
                </c:pt>
                <c:pt idx="11">
                  <c:v>191.183</c:v>
                </c:pt>
                <c:pt idx="12">
                  <c:v>204.897</c:v>
                </c:pt>
                <c:pt idx="13">
                  <c:v>219.485</c:v>
                </c:pt>
                <c:pt idx="14">
                  <c:v>234.966</c:v>
                </c:pt>
                <c:pt idx="15">
                  <c:v>251.356</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80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Western Europe</c:v>
                </c:pt>
                <c:pt idx="2">
                  <c:v>Spain</c:v>
                </c:pt>
              </c:strCache>
            </c:strRef>
          </c:cat>
          <c:val>
            <c:numRef>
              <c:f>Sheet1!$B$2:$B$4</c:f>
              <c:numCache>
                <c:formatCode>General</c:formatCode>
                <c:ptCount val="3"/>
                <c:pt idx="0">
                  <c:v>0.07440747619145949</c:v>
                </c:pt>
                <c:pt idx="1">
                  <c:v>0.06304045750749321</c:v>
                </c:pt>
                <c:pt idx="2">
                  <c:v>0.07210833221488122</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045009285847031"/>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80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125.286</c:v>
                </c:pt>
                <c:pt idx="2">
                  <c:v>134.108</c:v>
                </c:pt>
                <c:pt idx="3">
                  <c:v>143.703</c:v>
                </c:pt>
                <c:pt idx="4">
                  <c:v>154.23200000000003</c:v>
                </c:pt>
                <c:pt idx="5">
                  <c:v>165.765</c:v>
                </c:pt>
                <c:pt idx="6">
                  <c:v>178.144</c:v>
                </c:pt>
                <c:pt idx="7">
                  <c:v>191.183</c:v>
                </c:pt>
                <c:pt idx="8">
                  <c:v>204.897</c:v>
                </c:pt>
                <c:pt idx="9">
                  <c:v>219.485</c:v>
                </c:pt>
                <c:pt idx="10">
                  <c:v>234.966</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125.286</c:v>
                </c:pt>
                <c:pt idx="1">
                  <c:v>8.822000000000003</c:v>
                </c:pt>
                <c:pt idx="2">
                  <c:v>9.594999999999999</c:v>
                </c:pt>
                <c:pt idx="3">
                  <c:v>10.529000000000025</c:v>
                </c:pt>
                <c:pt idx="4">
                  <c:v>11.532999999999959</c:v>
                </c:pt>
                <c:pt idx="5">
                  <c:v>12.379000000000019</c:v>
                </c:pt>
                <c:pt idx="6">
                  <c:v>13.038999999999987</c:v>
                </c:pt>
                <c:pt idx="7">
                  <c:v>13.713999999999999</c:v>
                </c:pt>
                <c:pt idx="8">
                  <c:v>14.588000000000022</c:v>
                </c:pt>
                <c:pt idx="9">
                  <c:v>15.480999999999995</c:v>
                </c:pt>
                <c:pt idx="10">
                  <c:v>16.389999999999986</c:v>
                </c:pt>
                <c:pt idx="11">
                  <c:v>251.356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80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Spain</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Sheet1!$B$2:$B$3</c:f>
              <c:numCache>
                <c:formatCode>General</c:formatCode>
                <c:ptCount val="2"/>
                <c:pt idx="0">
                  <c:v>8.63898984925933</c:v>
                </c:pt>
                <c:pt idx="1">
                  <c:v>2.2846874552083745</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Sheet1!$C$2:$C$3</c:f>
              <c:numCache>
                <c:formatCode>General</c:formatCode>
                <c:ptCount val="2"/>
                <c:pt idx="0">
                  <c:v>91.36101015074067</c:v>
                </c:pt>
                <c:pt idx="1">
                  <c:v>97.71531254479163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8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14.192</c:v>
                </c:pt>
                <c:pt idx="1">
                  <c:v>15.088000000000001</c:v>
                </c:pt>
                <c:pt idx="2">
                  <c:v>15.987</c:v>
                </c:pt>
                <c:pt idx="3">
                  <c:v>16.877</c:v>
                </c:pt>
                <c:pt idx="4">
                  <c:v>17.766000000000002</c:v>
                </c:pt>
                <c:pt idx="5">
                  <c:v>18.655</c:v>
                </c:pt>
                <c:pt idx="6">
                  <c:v>19.592</c:v>
                </c:pt>
                <c:pt idx="7">
                  <c:v>20.581</c:v>
                </c:pt>
                <c:pt idx="8">
                  <c:v>21.634</c:v>
                </c:pt>
                <c:pt idx="9">
                  <c:v>22.778</c:v>
                </c:pt>
                <c:pt idx="10">
                  <c:v>24.011000000000003</c:v>
                </c:pt>
                <c:pt idx="11">
                  <c:v>25.343</c:v>
                </c:pt>
                <c:pt idx="12">
                  <c:v>26.764</c:v>
                </c:pt>
                <c:pt idx="13">
                  <c:v>28.253999999999998</c:v>
                </c:pt>
                <c:pt idx="14">
                  <c:v>29.783</c:v>
                </c:pt>
                <c:pt idx="15">
                  <c:v>31.352</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8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Western Europe</c:v>
                </c:pt>
                <c:pt idx="2">
                  <c:v>BENELUX</c:v>
                </c:pt>
              </c:strCache>
            </c:strRef>
          </c:cat>
          <c:val>
            <c:numRef>
              <c:f>Sheet1!$B$2:$B$4</c:f>
              <c:numCache>
                <c:formatCode>General</c:formatCode>
                <c:ptCount val="3"/>
                <c:pt idx="0">
                  <c:v>0.05917522569547584</c:v>
                </c:pt>
                <c:pt idx="1">
                  <c:v>0.04809858394412103</c:v>
                </c:pt>
                <c:pt idx="2">
                  <c:v>0.0532876686278041</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7988655468889239"/>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8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18.655</c:v>
                </c:pt>
                <c:pt idx="2">
                  <c:v>19.592</c:v>
                </c:pt>
                <c:pt idx="3">
                  <c:v>20.581</c:v>
                </c:pt>
                <c:pt idx="4">
                  <c:v>21.634</c:v>
                </c:pt>
                <c:pt idx="5">
                  <c:v>22.778</c:v>
                </c:pt>
                <c:pt idx="6">
                  <c:v>24.011000000000003</c:v>
                </c:pt>
                <c:pt idx="7">
                  <c:v>25.343</c:v>
                </c:pt>
                <c:pt idx="8">
                  <c:v>26.764</c:v>
                </c:pt>
                <c:pt idx="9">
                  <c:v>28.253999999999998</c:v>
                </c:pt>
                <c:pt idx="10">
                  <c:v>29.783</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18.655</c:v>
                </c:pt>
                <c:pt idx="1">
                  <c:v>0.9369999999999976</c:v>
                </c:pt>
                <c:pt idx="2">
                  <c:v>0.9890000000000008</c:v>
                </c:pt>
                <c:pt idx="3">
                  <c:v>1.0530000000000008</c:v>
                </c:pt>
                <c:pt idx="4">
                  <c:v>1.1439999999999984</c:v>
                </c:pt>
                <c:pt idx="5">
                  <c:v>1.233000000000004</c:v>
                </c:pt>
                <c:pt idx="6">
                  <c:v>1.3319999999999972</c:v>
                </c:pt>
                <c:pt idx="7">
                  <c:v>1.4209999999999994</c:v>
                </c:pt>
                <c:pt idx="8">
                  <c:v>1.4899999999999984</c:v>
                </c:pt>
                <c:pt idx="9">
                  <c:v>1.5290000000000035</c:v>
                </c:pt>
                <c:pt idx="10">
                  <c:v>1.568999999999999</c:v>
                </c:pt>
                <c:pt idx="11">
                  <c:v>31.352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8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BENELUX</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Sheet1!$B$2:$B$3</c:f>
              <c:numCache>
                <c:formatCode>General</c:formatCode>
                <c:ptCount val="2"/>
                <c:pt idx="0">
                  <c:v>5.222330466720416</c:v>
                </c:pt>
                <c:pt idx="1">
                  <c:v>1.0987988311678367</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Sheet1!$C$2:$C$3</c:f>
              <c:numCache>
                <c:formatCode>General</c:formatCode>
                <c:ptCount val="2"/>
                <c:pt idx="0">
                  <c:v>94.77766953327958</c:v>
                </c:pt>
                <c:pt idx="1">
                  <c:v>98.90120116883216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8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56.174</c:v>
                </c:pt>
                <c:pt idx="1">
                  <c:v>59.865</c:v>
                </c:pt>
                <c:pt idx="2">
                  <c:v>63.619</c:v>
                </c:pt>
                <c:pt idx="3">
                  <c:v>67.468</c:v>
                </c:pt>
                <c:pt idx="4">
                  <c:v>71.401</c:v>
                </c:pt>
                <c:pt idx="5">
                  <c:v>75.731</c:v>
                </c:pt>
                <c:pt idx="6">
                  <c:v>80.39099999999999</c:v>
                </c:pt>
                <c:pt idx="7">
                  <c:v>85.44200000000001</c:v>
                </c:pt>
                <c:pt idx="8">
                  <c:v>90.92699999999999</c:v>
                </c:pt>
                <c:pt idx="9">
                  <c:v>97.021</c:v>
                </c:pt>
                <c:pt idx="10">
                  <c:v>103.738</c:v>
                </c:pt>
                <c:pt idx="11">
                  <c:v>111.124</c:v>
                </c:pt>
                <c:pt idx="12">
                  <c:v>119.168</c:v>
                </c:pt>
                <c:pt idx="13">
                  <c:v>127.81200000000001</c:v>
                </c:pt>
                <c:pt idx="14">
                  <c:v>136.985</c:v>
                </c:pt>
                <c:pt idx="15">
                  <c:v>146.70600000000002</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8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Western Europe</c:v>
                </c:pt>
                <c:pt idx="2">
                  <c:v>BENELUX</c:v>
                </c:pt>
              </c:strCache>
            </c:strRef>
          </c:cat>
          <c:val>
            <c:numRef>
              <c:f>Sheet1!$B$2:$B$4</c:f>
              <c:numCache>
                <c:formatCode>General</c:formatCode>
                <c:ptCount val="3"/>
                <c:pt idx="0">
                  <c:v>0.07440747619145949</c:v>
                </c:pt>
                <c:pt idx="1">
                  <c:v>0.06304045750749321</c:v>
                </c:pt>
                <c:pt idx="2">
                  <c:v>0.06835950560034254</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045009285847031"/>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8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75.731</c:v>
                </c:pt>
                <c:pt idx="2">
                  <c:v>80.39099999999999</c:v>
                </c:pt>
                <c:pt idx="3">
                  <c:v>85.44200000000001</c:v>
                </c:pt>
                <c:pt idx="4">
                  <c:v>90.92699999999999</c:v>
                </c:pt>
                <c:pt idx="5">
                  <c:v>97.021</c:v>
                </c:pt>
                <c:pt idx="6">
                  <c:v>103.738</c:v>
                </c:pt>
                <c:pt idx="7">
                  <c:v>111.124</c:v>
                </c:pt>
                <c:pt idx="8">
                  <c:v>119.168</c:v>
                </c:pt>
                <c:pt idx="9">
                  <c:v>127.81200000000001</c:v>
                </c:pt>
                <c:pt idx="10">
                  <c:v>136.985</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75.731</c:v>
                </c:pt>
                <c:pt idx="1">
                  <c:v>4.659999999999997</c:v>
                </c:pt>
                <c:pt idx="2">
                  <c:v>5.051000000000016</c:v>
                </c:pt>
                <c:pt idx="3">
                  <c:v>5.484999999999985</c:v>
                </c:pt>
                <c:pt idx="4">
                  <c:v>6.094000000000008</c:v>
                </c:pt>
                <c:pt idx="5">
                  <c:v>6.716999999999999</c:v>
                </c:pt>
                <c:pt idx="6">
                  <c:v>7.385999999999996</c:v>
                </c:pt>
                <c:pt idx="7">
                  <c:v>8.044000000000011</c:v>
                </c:pt>
                <c:pt idx="8">
                  <c:v>8.644000000000005</c:v>
                </c:pt>
                <c:pt idx="9">
                  <c:v>9.173000000000002</c:v>
                </c:pt>
                <c:pt idx="10">
                  <c:v>9.721000000000004</c:v>
                </c:pt>
                <c:pt idx="11">
                  <c:v>146.70600000000002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8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BENELUX</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Sheet1!$B$2:$B$3</c:f>
              <c:numCache>
                <c:formatCode>General</c:formatCode>
                <c:ptCount val="2"/>
                <c:pt idx="0">
                  <c:v>5.221966862013778</c:v>
                </c:pt>
                <c:pt idx="1">
                  <c:v>1.3810135663233354</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Sheet1!$C$2:$C$3</c:f>
              <c:numCache>
                <c:formatCode>General</c:formatCode>
                <c:ptCount val="2"/>
                <c:pt idx="0">
                  <c:v>94.77803313798623</c:v>
                </c:pt>
                <c:pt idx="1">
                  <c:v>98.61898643367667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84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8.759</c:v>
                </c:pt>
                <c:pt idx="1">
                  <c:v>9.193999999999999</c:v>
                </c:pt>
                <c:pt idx="2">
                  <c:v>9.648</c:v>
                </c:pt>
                <c:pt idx="3">
                  <c:v>10.112</c:v>
                </c:pt>
                <c:pt idx="4">
                  <c:v>10.59</c:v>
                </c:pt>
                <c:pt idx="5">
                  <c:v>11.085</c:v>
                </c:pt>
                <c:pt idx="6">
                  <c:v>11.600999999999999</c:v>
                </c:pt>
                <c:pt idx="7">
                  <c:v>12.155999999999999</c:v>
                </c:pt>
                <c:pt idx="8">
                  <c:v>12.754000000000001</c:v>
                </c:pt>
                <c:pt idx="9">
                  <c:v>13.384</c:v>
                </c:pt>
                <c:pt idx="10">
                  <c:v>14.036000000000001</c:v>
                </c:pt>
                <c:pt idx="11">
                  <c:v>14.71</c:v>
                </c:pt>
                <c:pt idx="12">
                  <c:v>15.400000000000002</c:v>
                </c:pt>
                <c:pt idx="13">
                  <c:v>16.11</c:v>
                </c:pt>
                <c:pt idx="14">
                  <c:v>16.828</c:v>
                </c:pt>
                <c:pt idx="15">
                  <c:v>17.552</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85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Western Europe</c:v>
                </c:pt>
                <c:pt idx="2">
                  <c:v>Nordics</c:v>
                </c:pt>
              </c:strCache>
            </c:strRef>
          </c:cat>
          <c:val>
            <c:numRef>
              <c:f>Sheet1!$B$2:$B$4</c:f>
              <c:numCache>
                <c:formatCode>General</c:formatCode>
                <c:ptCount val="3"/>
                <c:pt idx="0">
                  <c:v>0.05917522569547584</c:v>
                </c:pt>
                <c:pt idx="1">
                  <c:v>0.04809858394412103</c:v>
                </c:pt>
                <c:pt idx="2">
                  <c:v>0.047029917570921675</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7988655468889239"/>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8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11.085</c:v>
                </c:pt>
                <c:pt idx="2">
                  <c:v>11.600999999999999</c:v>
                </c:pt>
                <c:pt idx="3">
                  <c:v>12.155999999999999</c:v>
                </c:pt>
                <c:pt idx="4">
                  <c:v>12.754000000000001</c:v>
                </c:pt>
                <c:pt idx="5">
                  <c:v>13.384</c:v>
                </c:pt>
                <c:pt idx="6">
                  <c:v>14.036000000000001</c:v>
                </c:pt>
                <c:pt idx="7">
                  <c:v>14.71</c:v>
                </c:pt>
                <c:pt idx="8">
                  <c:v>15.400000000000002</c:v>
                </c:pt>
                <c:pt idx="9">
                  <c:v>16.11</c:v>
                </c:pt>
                <c:pt idx="10">
                  <c:v>16.828</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11.085</c:v>
                </c:pt>
                <c:pt idx="1">
                  <c:v>0.5159999999999982</c:v>
                </c:pt>
                <c:pt idx="2">
                  <c:v>0.5549999999999997</c:v>
                </c:pt>
                <c:pt idx="3">
                  <c:v>0.5980000000000025</c:v>
                </c:pt>
                <c:pt idx="4">
                  <c:v>0.629999999999999</c:v>
                </c:pt>
                <c:pt idx="5">
                  <c:v>0.652000000000001</c:v>
                </c:pt>
                <c:pt idx="6">
                  <c:v>0.6739999999999995</c:v>
                </c:pt>
                <c:pt idx="7">
                  <c:v>0.6900000000000013</c:v>
                </c:pt>
                <c:pt idx="8">
                  <c:v>0.7099999999999973</c:v>
                </c:pt>
                <c:pt idx="9">
                  <c:v>0.718</c:v>
                </c:pt>
                <c:pt idx="10">
                  <c:v>0.7240000000000002</c:v>
                </c:pt>
                <c:pt idx="11">
                  <c:v>17.552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85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Nordics</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Sheet1!$B$2:$B$3</c:f>
              <c:numCache>
                <c:formatCode>General</c:formatCode>
                <c:ptCount val="2"/>
                <c:pt idx="0">
                  <c:v>3.103164471916152</c:v>
                </c:pt>
                <c:pt idx="1">
                  <c:v>0.6529179867861415</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Sheet1!$C$2:$C$3</c:f>
              <c:numCache>
                <c:formatCode>General</c:formatCode>
                <c:ptCount val="2"/>
                <c:pt idx="0">
                  <c:v>96.89683552808384</c:v>
                </c:pt>
                <c:pt idx="1">
                  <c:v>99.34708201321386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85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35.747</c:v>
                </c:pt>
                <c:pt idx="1">
                  <c:v>37.644999999999996</c:v>
                </c:pt>
                <c:pt idx="2">
                  <c:v>39.66</c:v>
                </c:pt>
                <c:pt idx="3">
                  <c:v>41.78</c:v>
                </c:pt>
                <c:pt idx="4">
                  <c:v>43.991</c:v>
                </c:pt>
                <c:pt idx="5">
                  <c:v>46.437</c:v>
                </c:pt>
                <c:pt idx="6">
                  <c:v>49.053000000000004</c:v>
                </c:pt>
                <c:pt idx="7">
                  <c:v>51.897999999999996</c:v>
                </c:pt>
                <c:pt idx="8">
                  <c:v>54.994</c:v>
                </c:pt>
                <c:pt idx="9">
                  <c:v>58.308</c:v>
                </c:pt>
                <c:pt idx="10">
                  <c:v>61.853</c:v>
                </c:pt>
                <c:pt idx="11">
                  <c:v>65.625</c:v>
                </c:pt>
                <c:pt idx="12">
                  <c:v>69.618</c:v>
                </c:pt>
                <c:pt idx="13">
                  <c:v>73.832</c:v>
                </c:pt>
                <c:pt idx="14">
                  <c:v>78.22800000000001</c:v>
                </c:pt>
                <c:pt idx="15">
                  <c:v>82.804</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85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Western Europe</c:v>
                </c:pt>
                <c:pt idx="2">
                  <c:v>Nordics</c:v>
                </c:pt>
              </c:strCache>
            </c:strRef>
          </c:cat>
          <c:val>
            <c:numRef>
              <c:f>Sheet1!$B$2:$B$4</c:f>
              <c:numCache>
                <c:formatCode>General</c:formatCode>
                <c:ptCount val="3"/>
                <c:pt idx="0">
                  <c:v>0.07440747619145949</c:v>
                </c:pt>
                <c:pt idx="1">
                  <c:v>0.06304045750749321</c:v>
                </c:pt>
                <c:pt idx="2">
                  <c:v>0.05954331609348462</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045009285847031"/>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85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46.437</c:v>
                </c:pt>
                <c:pt idx="2">
                  <c:v>49.053000000000004</c:v>
                </c:pt>
                <c:pt idx="3">
                  <c:v>51.897999999999996</c:v>
                </c:pt>
                <c:pt idx="4">
                  <c:v>54.994</c:v>
                </c:pt>
                <c:pt idx="5">
                  <c:v>58.308</c:v>
                </c:pt>
                <c:pt idx="6">
                  <c:v>61.853</c:v>
                </c:pt>
                <c:pt idx="7">
                  <c:v>65.625</c:v>
                </c:pt>
                <c:pt idx="8">
                  <c:v>69.618</c:v>
                </c:pt>
                <c:pt idx="9">
                  <c:v>73.832</c:v>
                </c:pt>
                <c:pt idx="10">
                  <c:v>78.22800000000001</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46.437</c:v>
                </c:pt>
                <c:pt idx="1">
                  <c:v>2.6160000000000068</c:v>
                </c:pt>
                <c:pt idx="2">
                  <c:v>2.8449999999999918</c:v>
                </c:pt>
                <c:pt idx="3">
                  <c:v>3.0960000000000036</c:v>
                </c:pt>
                <c:pt idx="4">
                  <c:v>3.314</c:v>
                </c:pt>
                <c:pt idx="5">
                  <c:v>3.5450000000000017</c:v>
                </c:pt>
                <c:pt idx="6">
                  <c:v>3.7719999999999985</c:v>
                </c:pt>
                <c:pt idx="7">
                  <c:v>3.992999999999995</c:v>
                </c:pt>
                <c:pt idx="8">
                  <c:v>4.213999999999999</c:v>
                </c:pt>
                <c:pt idx="9">
                  <c:v>4.396000000000015</c:v>
                </c:pt>
                <c:pt idx="10">
                  <c:v>4.575999999999993</c:v>
                </c:pt>
                <c:pt idx="11">
                  <c:v>82.804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85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Nordics</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Sheet1!$B$2:$B$3</c:f>
              <c:numCache>
                <c:formatCode>General</c:formatCode>
                <c:ptCount val="2"/>
                <c:pt idx="0">
                  <c:v>3.202023942260551</c:v>
                </c:pt>
                <c:pt idx="1">
                  <c:v>0.8468147387378581</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Sheet1!$C$2:$C$3</c:f>
              <c:numCache>
                <c:formatCode>General</c:formatCode>
                <c:ptCount val="2"/>
                <c:pt idx="0">
                  <c:v>96.79797605773945</c:v>
                </c:pt>
                <c:pt idx="1">
                  <c:v>99.15318526126214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87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9.603000000000002</c:v>
                </c:pt>
                <c:pt idx="1">
                  <c:v>10.175</c:v>
                </c:pt>
                <c:pt idx="2">
                  <c:v>10.809999999999999</c:v>
                </c:pt>
                <c:pt idx="3">
                  <c:v>11.517</c:v>
                </c:pt>
                <c:pt idx="4">
                  <c:v>12.299</c:v>
                </c:pt>
                <c:pt idx="5">
                  <c:v>13.14</c:v>
                </c:pt>
                <c:pt idx="6">
                  <c:v>14.034</c:v>
                </c:pt>
                <c:pt idx="7">
                  <c:v>14.957</c:v>
                </c:pt>
                <c:pt idx="8">
                  <c:v>15.897</c:v>
                </c:pt>
                <c:pt idx="9">
                  <c:v>16.851</c:v>
                </c:pt>
                <c:pt idx="10">
                  <c:v>17.837</c:v>
                </c:pt>
                <c:pt idx="11">
                  <c:v>18.837</c:v>
                </c:pt>
                <c:pt idx="12">
                  <c:v>19.872</c:v>
                </c:pt>
                <c:pt idx="13">
                  <c:v>20.932000000000002</c:v>
                </c:pt>
                <c:pt idx="14">
                  <c:v>22.012999999999998</c:v>
                </c:pt>
                <c:pt idx="15">
                  <c:v>23.106</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87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Western Europe</c:v>
                </c:pt>
                <c:pt idx="2">
                  <c:v>Rest of Western Europe</c:v>
                </c:pt>
              </c:strCache>
            </c:strRef>
          </c:cat>
          <c:val>
            <c:numRef>
              <c:f>Sheet1!$B$2:$B$4</c:f>
              <c:numCache>
                <c:formatCode>General</c:formatCode>
                <c:ptCount val="3"/>
                <c:pt idx="0">
                  <c:v>0.05917522569547584</c:v>
                </c:pt>
                <c:pt idx="1">
                  <c:v>0.04809858394412103</c:v>
                </c:pt>
                <c:pt idx="2">
                  <c:v>0.05806644201503941</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7988655468889239"/>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87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13.14</c:v>
                </c:pt>
                <c:pt idx="2">
                  <c:v>14.034</c:v>
                </c:pt>
                <c:pt idx="3">
                  <c:v>14.957</c:v>
                </c:pt>
                <c:pt idx="4">
                  <c:v>15.897</c:v>
                </c:pt>
                <c:pt idx="5">
                  <c:v>16.851</c:v>
                </c:pt>
                <c:pt idx="6">
                  <c:v>17.837</c:v>
                </c:pt>
                <c:pt idx="7">
                  <c:v>18.837</c:v>
                </c:pt>
                <c:pt idx="8">
                  <c:v>19.872</c:v>
                </c:pt>
                <c:pt idx="9">
                  <c:v>20.932000000000002</c:v>
                </c:pt>
                <c:pt idx="10">
                  <c:v>22.012999999999998</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13.14</c:v>
                </c:pt>
                <c:pt idx="1">
                  <c:v>0.8940000000000001</c:v>
                </c:pt>
                <c:pt idx="2">
                  <c:v>0.923</c:v>
                </c:pt>
                <c:pt idx="3">
                  <c:v>0.9399999999999995</c:v>
                </c:pt>
                <c:pt idx="4">
                  <c:v>0.9539999999999988</c:v>
                </c:pt>
                <c:pt idx="5">
                  <c:v>0.9860000000000007</c:v>
                </c:pt>
                <c:pt idx="6">
                  <c:v>1.0</c:v>
                </c:pt>
                <c:pt idx="7">
                  <c:v>1.0350000000000001</c:v>
                </c:pt>
                <c:pt idx="8">
                  <c:v>1.0600000000000023</c:v>
                </c:pt>
                <c:pt idx="9">
                  <c:v>1.080999999999996</c:v>
                </c:pt>
                <c:pt idx="10">
                  <c:v>1.0930000000000035</c:v>
                </c:pt>
                <c:pt idx="11">
                  <c:v>23.106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87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Rest of Western Europe</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Sheet1!$B$2:$B$3</c:f>
              <c:numCache>
                <c:formatCode>General</c:formatCode>
                <c:ptCount val="2"/>
                <c:pt idx="0">
                  <c:v>3.678446654125235</c:v>
                </c:pt>
                <c:pt idx="1">
                  <c:v>0.7739596162715291</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Sheet1!$C$2:$C$3</c:f>
              <c:numCache>
                <c:formatCode>General</c:formatCode>
                <c:ptCount val="2"/>
                <c:pt idx="0">
                  <c:v>96.32155334587476</c:v>
                </c:pt>
                <c:pt idx="1">
                  <c:v>99.22604038372847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87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35.489000000000004</c:v>
                </c:pt>
                <c:pt idx="1">
                  <c:v>37.8</c:v>
                </c:pt>
                <c:pt idx="2">
                  <c:v>40.382000000000005</c:v>
                </c:pt>
                <c:pt idx="3">
                  <c:v>43.288</c:v>
                </c:pt>
                <c:pt idx="4">
                  <c:v>46.531</c:v>
                </c:pt>
                <c:pt idx="5">
                  <c:v>50.254999999999995</c:v>
                </c:pt>
                <c:pt idx="6">
                  <c:v>54.339</c:v>
                </c:pt>
                <c:pt idx="7">
                  <c:v>58.706</c:v>
                </c:pt>
                <c:pt idx="8">
                  <c:v>63.29900000000001</c:v>
                </c:pt>
                <c:pt idx="9">
                  <c:v>68.124</c:v>
                </c:pt>
                <c:pt idx="10">
                  <c:v>73.255</c:v>
                </c:pt>
                <c:pt idx="11">
                  <c:v>78.678</c:v>
                </c:pt>
                <c:pt idx="12">
                  <c:v>84.503</c:v>
                </c:pt>
                <c:pt idx="13">
                  <c:v>90.66900000000001</c:v>
                </c:pt>
                <c:pt idx="14">
                  <c:v>97.223</c:v>
                </c:pt>
                <c:pt idx="15">
                  <c:v>104.112</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88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Western Europe</c:v>
                </c:pt>
                <c:pt idx="2">
                  <c:v>Rest of Western Europe</c:v>
                </c:pt>
              </c:strCache>
            </c:strRef>
          </c:cat>
          <c:val>
            <c:numRef>
              <c:f>Sheet1!$B$2:$B$4</c:f>
              <c:numCache>
                <c:formatCode>General</c:formatCode>
                <c:ptCount val="3"/>
                <c:pt idx="0">
                  <c:v>0.07440747619145949</c:v>
                </c:pt>
                <c:pt idx="1">
                  <c:v>0.06304045750749321</c:v>
                </c:pt>
                <c:pt idx="2">
                  <c:v>0.07555383023173468</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199767081284182"/>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88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50.254999999999995</c:v>
                </c:pt>
                <c:pt idx="2">
                  <c:v>54.339</c:v>
                </c:pt>
                <c:pt idx="3">
                  <c:v>58.706</c:v>
                </c:pt>
                <c:pt idx="4">
                  <c:v>63.29900000000001</c:v>
                </c:pt>
                <c:pt idx="5">
                  <c:v>68.124</c:v>
                </c:pt>
                <c:pt idx="6">
                  <c:v>73.255</c:v>
                </c:pt>
                <c:pt idx="7">
                  <c:v>78.678</c:v>
                </c:pt>
                <c:pt idx="8">
                  <c:v>84.503</c:v>
                </c:pt>
                <c:pt idx="9">
                  <c:v>90.66900000000001</c:v>
                </c:pt>
                <c:pt idx="10">
                  <c:v>97.223</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50.254999999999995</c:v>
                </c:pt>
                <c:pt idx="1">
                  <c:v>4.084000000000003</c:v>
                </c:pt>
                <c:pt idx="2">
                  <c:v>4.367000000000004</c:v>
                </c:pt>
                <c:pt idx="3">
                  <c:v>4.5930000000000035</c:v>
                </c:pt>
                <c:pt idx="4">
                  <c:v>4.824999999999989</c:v>
                </c:pt>
                <c:pt idx="5">
                  <c:v>5.131</c:v>
                </c:pt>
                <c:pt idx="6">
                  <c:v>5.423000000000002</c:v>
                </c:pt>
                <c:pt idx="7">
                  <c:v>5.825000000000003</c:v>
                </c:pt>
                <c:pt idx="8">
                  <c:v>6.166000000000011</c:v>
                </c:pt>
                <c:pt idx="9">
                  <c:v>6.553999999999988</c:v>
                </c:pt>
                <c:pt idx="10">
                  <c:v>6.888999999999996</c:v>
                </c:pt>
                <c:pt idx="11">
                  <c:v>104.112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88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Rest of Western Europe</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Sheet1!$B$2:$B$3</c:f>
              <c:numCache>
                <c:formatCode>General</c:formatCode>
                <c:ptCount val="2"/>
                <c:pt idx="0">
                  <c:v>3.465290893432048</c:v>
                </c:pt>
                <c:pt idx="1">
                  <c:v>0.9164389322150668</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Western Europe</c:v>
                </c:pt>
                <c:pt idx="1">
                  <c:v>Share of Global</c:v>
                </c:pt>
              </c:strCache>
            </c:strRef>
          </c:cat>
          <c:val>
            <c:numRef>
              <c:f>Sheet1!$C$2:$C$3</c:f>
              <c:numCache>
                <c:formatCode>General</c:formatCode>
                <c:ptCount val="2"/>
                <c:pt idx="0">
                  <c:v>96.53470910656796</c:v>
                </c:pt>
                <c:pt idx="1">
                  <c:v>99.08356106778493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90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35.295</c:v>
                </c:pt>
                <c:pt idx="1">
                  <c:v>36.336</c:v>
                </c:pt>
                <c:pt idx="2">
                  <c:v>37.418</c:v>
                </c:pt>
                <c:pt idx="3">
                  <c:v>38.547</c:v>
                </c:pt>
                <c:pt idx="4">
                  <c:v>39.721</c:v>
                </c:pt>
                <c:pt idx="5">
                  <c:v>40.955</c:v>
                </c:pt>
                <c:pt idx="6">
                  <c:v>42.259</c:v>
                </c:pt>
                <c:pt idx="7">
                  <c:v>43.64</c:v>
                </c:pt>
                <c:pt idx="8">
                  <c:v>45.093</c:v>
                </c:pt>
                <c:pt idx="9">
                  <c:v>46.6</c:v>
                </c:pt>
                <c:pt idx="10">
                  <c:v>48.15</c:v>
                </c:pt>
                <c:pt idx="11">
                  <c:v>49.730000000000004</c:v>
                </c:pt>
                <c:pt idx="12">
                  <c:v>51.334</c:v>
                </c:pt>
                <c:pt idx="13">
                  <c:v>52.954</c:v>
                </c:pt>
                <c:pt idx="14">
                  <c:v>54.57300000000001</c:v>
                </c:pt>
                <c:pt idx="15">
                  <c:v>56.17</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90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Eastern Europe</c:v>
                </c:pt>
                <c:pt idx="2">
                  <c:v>Russia</c:v>
                </c:pt>
              </c:strCache>
            </c:strRef>
          </c:cat>
          <c:val>
            <c:numRef>
              <c:f>Sheet1!$B$2:$B$4</c:f>
              <c:numCache>
                <c:formatCode>General</c:formatCode>
                <c:ptCount val="3"/>
                <c:pt idx="0">
                  <c:v>0.05917522569547584</c:v>
                </c:pt>
                <c:pt idx="1">
                  <c:v>0.04147216331139347</c:v>
                </c:pt>
                <c:pt idx="2">
                  <c:v>0.032095178832638016</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7988655468889239"/>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90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40.955</c:v>
                </c:pt>
                <c:pt idx="2">
                  <c:v>42.259</c:v>
                </c:pt>
                <c:pt idx="3">
                  <c:v>43.64</c:v>
                </c:pt>
                <c:pt idx="4">
                  <c:v>45.093</c:v>
                </c:pt>
                <c:pt idx="5">
                  <c:v>46.6</c:v>
                </c:pt>
                <c:pt idx="6">
                  <c:v>48.15</c:v>
                </c:pt>
                <c:pt idx="7">
                  <c:v>49.730000000000004</c:v>
                </c:pt>
                <c:pt idx="8">
                  <c:v>51.334</c:v>
                </c:pt>
                <c:pt idx="9">
                  <c:v>52.954</c:v>
                </c:pt>
                <c:pt idx="10">
                  <c:v>54.57300000000001</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40.955</c:v>
                </c:pt>
                <c:pt idx="1">
                  <c:v>1.304000000000002</c:v>
                </c:pt>
                <c:pt idx="2">
                  <c:v>1.3810000000000002</c:v>
                </c:pt>
                <c:pt idx="3">
                  <c:v>1.453000000000003</c:v>
                </c:pt>
                <c:pt idx="4">
                  <c:v>1.506999999999998</c:v>
                </c:pt>
                <c:pt idx="5">
                  <c:v>1.5499999999999972</c:v>
                </c:pt>
                <c:pt idx="6">
                  <c:v>1.5800000000000054</c:v>
                </c:pt>
                <c:pt idx="7">
                  <c:v>1.6039999999999992</c:v>
                </c:pt>
                <c:pt idx="8">
                  <c:v>1.6199999999999974</c:v>
                </c:pt>
                <c:pt idx="9">
                  <c:v>1.6190000000000069</c:v>
                </c:pt>
                <c:pt idx="10">
                  <c:v>1.5969999999999942</c:v>
                </c:pt>
                <c:pt idx="11">
                  <c:v>56.17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90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Russia</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Eastern Europe</c:v>
                </c:pt>
                <c:pt idx="1">
                  <c:v>Share of Global</c:v>
                </c:pt>
              </c:strCache>
            </c:strRef>
          </c:cat>
          <c:val>
            <c:numRef>
              <c:f>Sheet1!$B$2:$B$3</c:f>
              <c:numCache>
                <c:formatCode>General</c:formatCode>
                <c:ptCount val="2"/>
                <c:pt idx="0">
                  <c:v>42.28005698593933</c:v>
                </c:pt>
                <c:pt idx="1">
                  <c:v>2.412291939452091</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Eastern Europe</c:v>
                </c:pt>
                <c:pt idx="1">
                  <c:v>Share of Global</c:v>
                </c:pt>
              </c:strCache>
            </c:strRef>
          </c:cat>
          <c:val>
            <c:numRef>
              <c:f>Sheet1!$C$2:$C$3</c:f>
              <c:numCache>
                <c:formatCode>General</c:formatCode>
                <c:ptCount val="2"/>
                <c:pt idx="0">
                  <c:v>57.71994301406067</c:v>
                </c:pt>
                <c:pt idx="1">
                  <c:v>97.58770806054791</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90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96.414</c:v>
                </c:pt>
                <c:pt idx="1">
                  <c:v>99.762</c:v>
                </c:pt>
                <c:pt idx="2">
                  <c:v>103.29299999999999</c:v>
                </c:pt>
                <c:pt idx="3">
                  <c:v>107.05199999999999</c:v>
                </c:pt>
                <c:pt idx="4">
                  <c:v>110.99700000000001</c:v>
                </c:pt>
                <c:pt idx="5">
                  <c:v>115.55099999999999</c:v>
                </c:pt>
                <c:pt idx="6">
                  <c:v>120.44200000000001</c:v>
                </c:pt>
                <c:pt idx="7">
                  <c:v>125.7</c:v>
                </c:pt>
                <c:pt idx="8">
                  <c:v>131.324</c:v>
                </c:pt>
                <c:pt idx="9">
                  <c:v>137.27700000000002</c:v>
                </c:pt>
                <c:pt idx="10">
                  <c:v>143.548</c:v>
                </c:pt>
                <c:pt idx="11">
                  <c:v>150.164</c:v>
                </c:pt>
                <c:pt idx="12">
                  <c:v>157.12400000000002</c:v>
                </c:pt>
                <c:pt idx="13">
                  <c:v>164.375</c:v>
                </c:pt>
                <c:pt idx="14">
                  <c:v>171.933</c:v>
                </c:pt>
                <c:pt idx="15">
                  <c:v>179.764</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90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Eastern Europe</c:v>
                </c:pt>
                <c:pt idx="2">
                  <c:v>Russia</c:v>
                </c:pt>
              </c:strCache>
            </c:strRef>
          </c:cat>
          <c:val>
            <c:numRef>
              <c:f>Sheet1!$B$2:$B$4</c:f>
              <c:numCache>
                <c:formatCode>General</c:formatCode>
                <c:ptCount val="3"/>
                <c:pt idx="0">
                  <c:v>0.07440747619145949</c:v>
                </c:pt>
                <c:pt idx="1">
                  <c:v>0.05778038974308597</c:v>
                </c:pt>
                <c:pt idx="2">
                  <c:v>0.04518435785583863</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045009285847031"/>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90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115.55099999999999</c:v>
                </c:pt>
                <c:pt idx="2">
                  <c:v>120.44200000000001</c:v>
                </c:pt>
                <c:pt idx="3">
                  <c:v>125.7</c:v>
                </c:pt>
                <c:pt idx="4">
                  <c:v>131.324</c:v>
                </c:pt>
                <c:pt idx="5">
                  <c:v>137.27700000000002</c:v>
                </c:pt>
                <c:pt idx="6">
                  <c:v>143.548</c:v>
                </c:pt>
                <c:pt idx="7">
                  <c:v>150.164</c:v>
                </c:pt>
                <c:pt idx="8">
                  <c:v>157.12400000000002</c:v>
                </c:pt>
                <c:pt idx="9">
                  <c:v>164.375</c:v>
                </c:pt>
                <c:pt idx="10">
                  <c:v>171.933</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115.55099999999999</c:v>
                </c:pt>
                <c:pt idx="1">
                  <c:v>4.8910000000000196</c:v>
                </c:pt>
                <c:pt idx="2">
                  <c:v>5.257999999999996</c:v>
                </c:pt>
                <c:pt idx="3">
                  <c:v>5.624000000000009</c:v>
                </c:pt>
                <c:pt idx="4">
                  <c:v>5.953000000000003</c:v>
                </c:pt>
                <c:pt idx="5">
                  <c:v>6.270999999999987</c:v>
                </c:pt>
                <c:pt idx="6">
                  <c:v>6.6159999999999854</c:v>
                </c:pt>
                <c:pt idx="7">
                  <c:v>6.960000000000036</c:v>
                </c:pt>
                <c:pt idx="8">
                  <c:v>7.250999999999976</c:v>
                </c:pt>
                <c:pt idx="9">
                  <c:v>7.557999999999993</c:v>
                </c:pt>
                <c:pt idx="10">
                  <c:v>7.831000000000017</c:v>
                </c:pt>
                <c:pt idx="11">
                  <c:v>179.764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90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Russia</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Eastern Europe</c:v>
                </c:pt>
                <c:pt idx="1">
                  <c:v>Share of Global</c:v>
                </c:pt>
              </c:strCache>
            </c:strRef>
          </c:cat>
          <c:val>
            <c:numRef>
              <c:f>Sheet1!$B$2:$B$3</c:f>
              <c:numCache>
                <c:formatCode>General</c:formatCode>
                <c:ptCount val="2"/>
                <c:pt idx="0">
                  <c:v>40.61303893967671</c:v>
                </c:pt>
                <c:pt idx="1">
                  <c:v>2.107162174040059</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Eastern Europe</c:v>
                </c:pt>
                <c:pt idx="1">
                  <c:v>Share of Global</c:v>
                </c:pt>
              </c:strCache>
            </c:strRef>
          </c:cat>
          <c:val>
            <c:numRef>
              <c:f>Sheet1!$C$2:$C$3</c:f>
              <c:numCache>
                <c:formatCode>General</c:formatCode>
                <c:ptCount val="2"/>
                <c:pt idx="0">
                  <c:v>59.38696106032329</c:v>
                </c:pt>
                <c:pt idx="1">
                  <c:v>97.89283782595994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9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18.508000000000003</c:v>
                </c:pt>
                <c:pt idx="1">
                  <c:v>19.356</c:v>
                </c:pt>
                <c:pt idx="2">
                  <c:v>20.238</c:v>
                </c:pt>
                <c:pt idx="3">
                  <c:v>21.183</c:v>
                </c:pt>
                <c:pt idx="4">
                  <c:v>22.234</c:v>
                </c:pt>
                <c:pt idx="5">
                  <c:v>23.376</c:v>
                </c:pt>
                <c:pt idx="6">
                  <c:v>24.595999999999997</c:v>
                </c:pt>
                <c:pt idx="7">
                  <c:v>25.866</c:v>
                </c:pt>
                <c:pt idx="8">
                  <c:v>27.163999999999998</c:v>
                </c:pt>
                <c:pt idx="9">
                  <c:v>28.485</c:v>
                </c:pt>
                <c:pt idx="10">
                  <c:v>29.881</c:v>
                </c:pt>
                <c:pt idx="11">
                  <c:v>31.354</c:v>
                </c:pt>
                <c:pt idx="12">
                  <c:v>32.881</c:v>
                </c:pt>
                <c:pt idx="13">
                  <c:v>34.444</c:v>
                </c:pt>
                <c:pt idx="14">
                  <c:v>36.03</c:v>
                </c:pt>
                <c:pt idx="15">
                  <c:v>37.631</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9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Eastern Europe</c:v>
                </c:pt>
                <c:pt idx="2">
                  <c:v>Poland</c:v>
                </c:pt>
              </c:strCache>
            </c:strRef>
          </c:cat>
          <c:val>
            <c:numRef>
              <c:f>Sheet1!$B$2:$B$4</c:f>
              <c:numCache>
                <c:formatCode>General</c:formatCode>
                <c:ptCount val="3"/>
                <c:pt idx="0">
                  <c:v>0.05917522569547584</c:v>
                </c:pt>
                <c:pt idx="1">
                  <c:v>0.04147216331139347</c:v>
                </c:pt>
                <c:pt idx="2">
                  <c:v>0.04876348027789468</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7988655468889239"/>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9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23.376</c:v>
                </c:pt>
                <c:pt idx="2">
                  <c:v>24.595999999999997</c:v>
                </c:pt>
                <c:pt idx="3">
                  <c:v>25.866</c:v>
                </c:pt>
                <c:pt idx="4">
                  <c:v>27.163999999999998</c:v>
                </c:pt>
                <c:pt idx="5">
                  <c:v>28.485</c:v>
                </c:pt>
                <c:pt idx="6">
                  <c:v>29.881</c:v>
                </c:pt>
                <c:pt idx="7">
                  <c:v>31.354</c:v>
                </c:pt>
                <c:pt idx="8">
                  <c:v>32.881</c:v>
                </c:pt>
                <c:pt idx="9">
                  <c:v>34.444</c:v>
                </c:pt>
                <c:pt idx="10">
                  <c:v>36.03</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23.376</c:v>
                </c:pt>
                <c:pt idx="1">
                  <c:v>1.2199999999999953</c:v>
                </c:pt>
                <c:pt idx="2">
                  <c:v>1.2700000000000031</c:v>
                </c:pt>
                <c:pt idx="3">
                  <c:v>1.2979999999999983</c:v>
                </c:pt>
                <c:pt idx="4">
                  <c:v>1.3210000000000015</c:v>
                </c:pt>
                <c:pt idx="5">
                  <c:v>1.3960000000000008</c:v>
                </c:pt>
                <c:pt idx="6">
                  <c:v>1.472999999999999</c:v>
                </c:pt>
                <c:pt idx="7">
                  <c:v>1.527000000000001</c:v>
                </c:pt>
                <c:pt idx="8">
                  <c:v>1.5630000000000024</c:v>
                </c:pt>
                <c:pt idx="9">
                  <c:v>1.5859999999999985</c:v>
                </c:pt>
                <c:pt idx="10">
                  <c:v>1.600999999999999</c:v>
                </c:pt>
                <c:pt idx="11">
                  <c:v>37.631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9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Poland</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Eastern Europe</c:v>
                </c:pt>
                <c:pt idx="1">
                  <c:v>Share of Global</c:v>
                </c:pt>
              </c:strCache>
            </c:strRef>
          </c:cat>
          <c:val>
            <c:numRef>
              <c:f>Sheet1!$B$2:$B$3</c:f>
              <c:numCache>
                <c:formatCode>General</c:formatCode>
                <c:ptCount val="2"/>
                <c:pt idx="0">
                  <c:v>24.13230648524766</c:v>
                </c:pt>
                <c:pt idx="1">
                  <c:v>1.3768706232848755</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Eastern Europe</c:v>
                </c:pt>
                <c:pt idx="1">
                  <c:v>Share of Global</c:v>
                </c:pt>
              </c:strCache>
            </c:strRef>
          </c:cat>
          <c:val>
            <c:numRef>
              <c:f>Sheet1!$C$2:$C$3</c:f>
              <c:numCache>
                <c:formatCode>General</c:formatCode>
                <c:ptCount val="2"/>
                <c:pt idx="0">
                  <c:v>75.86769351475235</c:v>
                </c:pt>
                <c:pt idx="1">
                  <c:v>98.62312937671513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9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55.533</c:v>
                </c:pt>
                <c:pt idx="1">
                  <c:v>58.407000000000004</c:v>
                </c:pt>
                <c:pt idx="2">
                  <c:v>61.446</c:v>
                </c:pt>
                <c:pt idx="3">
                  <c:v>64.769</c:v>
                </c:pt>
                <c:pt idx="4">
                  <c:v>68.469</c:v>
                </c:pt>
                <c:pt idx="5">
                  <c:v>72.803</c:v>
                </c:pt>
                <c:pt idx="6">
                  <c:v>77.565</c:v>
                </c:pt>
                <c:pt idx="7">
                  <c:v>82.672</c:v>
                </c:pt>
                <c:pt idx="8">
                  <c:v>88.09</c:v>
                </c:pt>
                <c:pt idx="9">
                  <c:v>93.856</c:v>
                </c:pt>
                <c:pt idx="10">
                  <c:v>100.136</c:v>
                </c:pt>
                <c:pt idx="11">
                  <c:v>106.94</c:v>
                </c:pt>
                <c:pt idx="12">
                  <c:v>114.24199999999999</c:v>
                </c:pt>
                <c:pt idx="13">
                  <c:v>121.978</c:v>
                </c:pt>
                <c:pt idx="14">
                  <c:v>130.204</c:v>
                </c:pt>
                <c:pt idx="15">
                  <c:v>138.865</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9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Eastern Europe</c:v>
                </c:pt>
                <c:pt idx="2">
                  <c:v>Poland</c:v>
                </c:pt>
              </c:strCache>
            </c:strRef>
          </c:cat>
          <c:val>
            <c:numRef>
              <c:f>Sheet1!$B$2:$B$4</c:f>
              <c:numCache>
                <c:formatCode>General</c:formatCode>
                <c:ptCount val="3"/>
                <c:pt idx="0">
                  <c:v>0.07440747619145949</c:v>
                </c:pt>
                <c:pt idx="1">
                  <c:v>0.05778038974308597</c:v>
                </c:pt>
                <c:pt idx="2">
                  <c:v>0.06670505281291716</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045009285847031"/>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9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72.803</c:v>
                </c:pt>
                <c:pt idx="2">
                  <c:v>77.565</c:v>
                </c:pt>
                <c:pt idx="3">
                  <c:v>82.672</c:v>
                </c:pt>
                <c:pt idx="4">
                  <c:v>88.09</c:v>
                </c:pt>
                <c:pt idx="5">
                  <c:v>93.856</c:v>
                </c:pt>
                <c:pt idx="6">
                  <c:v>100.136</c:v>
                </c:pt>
                <c:pt idx="7">
                  <c:v>106.94</c:v>
                </c:pt>
                <c:pt idx="8">
                  <c:v>114.24199999999999</c:v>
                </c:pt>
                <c:pt idx="9">
                  <c:v>121.978</c:v>
                </c:pt>
                <c:pt idx="10">
                  <c:v>130.204</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72.803</c:v>
                </c:pt>
                <c:pt idx="1">
                  <c:v>4.7620000000000005</c:v>
                </c:pt>
                <c:pt idx="2">
                  <c:v>5.106999999999999</c:v>
                </c:pt>
                <c:pt idx="3">
                  <c:v>5.418000000000006</c:v>
                </c:pt>
                <c:pt idx="4">
                  <c:v>5.765999999999991</c:v>
                </c:pt>
                <c:pt idx="5">
                  <c:v>6.280000000000001</c:v>
                </c:pt>
                <c:pt idx="6">
                  <c:v>6.804000000000002</c:v>
                </c:pt>
                <c:pt idx="7">
                  <c:v>7.3019999999999925</c:v>
                </c:pt>
                <c:pt idx="8">
                  <c:v>7.736000000000004</c:v>
                </c:pt>
                <c:pt idx="9">
                  <c:v>8.226000000000013</c:v>
                </c:pt>
                <c:pt idx="10">
                  <c:v>8.661000000000001</c:v>
                </c:pt>
                <c:pt idx="11">
                  <c:v>138.865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9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Poland</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Eastern Europe</c:v>
                </c:pt>
                <c:pt idx="1">
                  <c:v>Share of Global</c:v>
                </c:pt>
              </c:strCache>
            </c:strRef>
          </c:cat>
          <c:val>
            <c:numRef>
              <c:f>Sheet1!$B$2:$B$3</c:f>
              <c:numCache>
                <c:formatCode>General</c:formatCode>
                <c:ptCount val="2"/>
                <c:pt idx="0">
                  <c:v>25.58827767760802</c:v>
                </c:pt>
                <c:pt idx="1">
                  <c:v>1.3276192136514477</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Eastern Europe</c:v>
                </c:pt>
                <c:pt idx="1">
                  <c:v>Share of Global</c:v>
                </c:pt>
              </c:strCache>
            </c:strRef>
          </c:cat>
          <c:val>
            <c:numRef>
              <c:f>Sheet1!$C$2:$C$3</c:f>
              <c:numCache>
                <c:formatCode>General</c:formatCode>
                <c:ptCount val="2"/>
                <c:pt idx="0">
                  <c:v>74.41172232239198</c:v>
                </c:pt>
                <c:pt idx="1">
                  <c:v>98.67238078634855</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95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7.912</c:v>
                </c:pt>
                <c:pt idx="1">
                  <c:v>8.196</c:v>
                </c:pt>
                <c:pt idx="2">
                  <c:v>8.503</c:v>
                </c:pt>
                <c:pt idx="3">
                  <c:v>8.837</c:v>
                </c:pt>
                <c:pt idx="4">
                  <c:v>9.209</c:v>
                </c:pt>
                <c:pt idx="5">
                  <c:v>9.638</c:v>
                </c:pt>
                <c:pt idx="6">
                  <c:v>10.119</c:v>
                </c:pt>
                <c:pt idx="7">
                  <c:v>10.643</c:v>
                </c:pt>
                <c:pt idx="8">
                  <c:v>11.190000000000001</c:v>
                </c:pt>
                <c:pt idx="9">
                  <c:v>11.742</c:v>
                </c:pt>
                <c:pt idx="10">
                  <c:v>12.293</c:v>
                </c:pt>
                <c:pt idx="11">
                  <c:v>12.857000000000001</c:v>
                </c:pt>
                <c:pt idx="12">
                  <c:v>13.44</c:v>
                </c:pt>
                <c:pt idx="13">
                  <c:v>14.041</c:v>
                </c:pt>
                <c:pt idx="14">
                  <c:v>14.649000000000001</c:v>
                </c:pt>
                <c:pt idx="15">
                  <c:v>15.262</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95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Eastern Europe</c:v>
                </c:pt>
                <c:pt idx="2">
                  <c:v>Hungary</c:v>
                </c:pt>
              </c:strCache>
            </c:strRef>
          </c:cat>
          <c:val>
            <c:numRef>
              <c:f>Sheet1!$B$2:$B$4</c:f>
              <c:numCache>
                <c:formatCode>General</c:formatCode>
                <c:ptCount val="3"/>
                <c:pt idx="0">
                  <c:v>0.05917522569547584</c:v>
                </c:pt>
                <c:pt idx="1">
                  <c:v>0.04147216331139347</c:v>
                </c:pt>
                <c:pt idx="2">
                  <c:v>0.047038021633185156</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7988655468889239"/>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95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9.638</c:v>
                </c:pt>
                <c:pt idx="2">
                  <c:v>10.119</c:v>
                </c:pt>
                <c:pt idx="3">
                  <c:v>10.643</c:v>
                </c:pt>
                <c:pt idx="4">
                  <c:v>11.190000000000001</c:v>
                </c:pt>
                <c:pt idx="5">
                  <c:v>11.742</c:v>
                </c:pt>
                <c:pt idx="6">
                  <c:v>12.293</c:v>
                </c:pt>
                <c:pt idx="7">
                  <c:v>12.857000000000001</c:v>
                </c:pt>
                <c:pt idx="8">
                  <c:v>13.44</c:v>
                </c:pt>
                <c:pt idx="9">
                  <c:v>14.041</c:v>
                </c:pt>
                <c:pt idx="10">
                  <c:v>14.649000000000001</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9.638</c:v>
                </c:pt>
                <c:pt idx="1">
                  <c:v>0.48099999999999987</c:v>
                </c:pt>
                <c:pt idx="2">
                  <c:v>0.5240000000000009</c:v>
                </c:pt>
                <c:pt idx="3">
                  <c:v>0.5470000000000006</c:v>
                </c:pt>
                <c:pt idx="4">
                  <c:v>0.5519999999999996</c:v>
                </c:pt>
                <c:pt idx="5">
                  <c:v>0.5509999999999984</c:v>
                </c:pt>
                <c:pt idx="6">
                  <c:v>0.5640000000000018</c:v>
                </c:pt>
                <c:pt idx="7">
                  <c:v>0.5829999999999984</c:v>
                </c:pt>
                <c:pt idx="8">
                  <c:v>0.6010000000000009</c:v>
                </c:pt>
                <c:pt idx="9">
                  <c:v>0.6080000000000005</c:v>
                </c:pt>
                <c:pt idx="10">
                  <c:v>0.6129999999999995</c:v>
                </c:pt>
                <c:pt idx="11">
                  <c:v>15.262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95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Hungary</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Eastern Europe</c:v>
                </c:pt>
                <c:pt idx="1">
                  <c:v>Share of Global</c:v>
                </c:pt>
              </c:strCache>
            </c:strRef>
          </c:cat>
          <c:val>
            <c:numRef>
              <c:f>Sheet1!$B$2:$B$3</c:f>
              <c:numCache>
                <c:formatCode>General</c:formatCode>
                <c:ptCount val="2"/>
                <c:pt idx="0">
                  <c:v>9.94982759688642</c:v>
                </c:pt>
                <c:pt idx="1">
                  <c:v>0.5676881873382799</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Eastern Europe</c:v>
                </c:pt>
                <c:pt idx="1">
                  <c:v>Share of Global</c:v>
                </c:pt>
              </c:strCache>
            </c:strRef>
          </c:cat>
          <c:val>
            <c:numRef>
              <c:f>Sheet1!$C$2:$C$3</c:f>
              <c:numCache>
                <c:formatCode>General</c:formatCode>
                <c:ptCount val="2"/>
                <c:pt idx="0">
                  <c:v>90.05017240311358</c:v>
                </c:pt>
                <c:pt idx="1">
                  <c:v>99.43231181266172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9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23.523</c:v>
                </c:pt>
                <c:pt idx="1">
                  <c:v>24.481</c:v>
                </c:pt>
                <c:pt idx="2">
                  <c:v>25.526</c:v>
                </c:pt>
                <c:pt idx="3">
                  <c:v>26.682</c:v>
                </c:pt>
                <c:pt idx="4">
                  <c:v>27.966</c:v>
                </c:pt>
                <c:pt idx="5">
                  <c:v>29.551000000000002</c:v>
                </c:pt>
                <c:pt idx="6">
                  <c:v>31.367</c:v>
                </c:pt>
                <c:pt idx="7">
                  <c:v>33.382999999999996</c:v>
                </c:pt>
                <c:pt idx="8">
                  <c:v>35.564</c:v>
                </c:pt>
                <c:pt idx="9">
                  <c:v>37.876000000000005</c:v>
                </c:pt>
                <c:pt idx="10">
                  <c:v>40.326</c:v>
                </c:pt>
                <c:pt idx="11">
                  <c:v>42.986</c:v>
                </c:pt>
                <c:pt idx="12">
                  <c:v>45.846999999999994</c:v>
                </c:pt>
                <c:pt idx="13">
                  <c:v>48.911</c:v>
                </c:pt>
                <c:pt idx="14">
                  <c:v>52.151</c:v>
                </c:pt>
                <c:pt idx="15">
                  <c:v>55.56399999999999</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95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Eastern Europe</c:v>
                </c:pt>
                <c:pt idx="2">
                  <c:v>Hungary</c:v>
                </c:pt>
              </c:strCache>
            </c:strRef>
          </c:cat>
          <c:val>
            <c:numRef>
              <c:f>Sheet1!$B$2:$B$4</c:f>
              <c:numCache>
                <c:formatCode>General</c:formatCode>
                <c:ptCount val="3"/>
                <c:pt idx="0">
                  <c:v>0.07440747619145949</c:v>
                </c:pt>
                <c:pt idx="1">
                  <c:v>0.05778038974308597</c:v>
                </c:pt>
                <c:pt idx="2">
                  <c:v>0.06517786278897186</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045009285847031"/>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95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29.551000000000002</c:v>
                </c:pt>
                <c:pt idx="2">
                  <c:v>31.367</c:v>
                </c:pt>
                <c:pt idx="3">
                  <c:v>33.382999999999996</c:v>
                </c:pt>
                <c:pt idx="4">
                  <c:v>35.564</c:v>
                </c:pt>
                <c:pt idx="5">
                  <c:v>37.876000000000005</c:v>
                </c:pt>
                <c:pt idx="6">
                  <c:v>40.326</c:v>
                </c:pt>
                <c:pt idx="7">
                  <c:v>42.986</c:v>
                </c:pt>
                <c:pt idx="8">
                  <c:v>45.846999999999994</c:v>
                </c:pt>
                <c:pt idx="9">
                  <c:v>48.911</c:v>
                </c:pt>
                <c:pt idx="10">
                  <c:v>52.151</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29.551000000000002</c:v>
                </c:pt>
                <c:pt idx="1">
                  <c:v>1.815999999999999</c:v>
                </c:pt>
                <c:pt idx="2">
                  <c:v>2.0159999999999947</c:v>
                </c:pt>
                <c:pt idx="3">
                  <c:v>2.1810000000000045</c:v>
                </c:pt>
                <c:pt idx="4">
                  <c:v>2.3120000000000047</c:v>
                </c:pt>
                <c:pt idx="5">
                  <c:v>2.4499999999999957</c:v>
                </c:pt>
                <c:pt idx="6">
                  <c:v>2.6599999999999966</c:v>
                </c:pt>
                <c:pt idx="7">
                  <c:v>2.860999999999997</c:v>
                </c:pt>
                <c:pt idx="8">
                  <c:v>3.064000000000007</c:v>
                </c:pt>
                <c:pt idx="9">
                  <c:v>3.240000000000002</c:v>
                </c:pt>
                <c:pt idx="10">
                  <c:v>3.4129999999999896</c:v>
                </c:pt>
                <c:pt idx="11">
                  <c:v>55.56399999999999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96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Hungary</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Eastern Europe</c:v>
                </c:pt>
                <c:pt idx="1">
                  <c:v>Share of Global</c:v>
                </c:pt>
              </c:strCache>
            </c:strRef>
          </c:cat>
          <c:val>
            <c:numRef>
              <c:f>Sheet1!$B$2:$B$3</c:f>
              <c:numCache>
                <c:formatCode>General</c:formatCode>
                <c:ptCount val="2"/>
                <c:pt idx="0">
                  <c:v>10.386374100668853</c:v>
                </c:pt>
                <c:pt idx="1">
                  <c:v>0.5388854220652163</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Eastern Europe</c:v>
                </c:pt>
                <c:pt idx="1">
                  <c:v>Share of Global</c:v>
                </c:pt>
              </c:strCache>
            </c:strRef>
          </c:cat>
          <c:val>
            <c:numRef>
              <c:f>Sheet1!$C$2:$C$3</c:f>
              <c:numCache>
                <c:formatCode>General</c:formatCode>
                <c:ptCount val="2"/>
                <c:pt idx="0">
                  <c:v>89.61362589933114</c:v>
                </c:pt>
                <c:pt idx="1">
                  <c:v>99.46111457793478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97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10.869</c:v>
                </c:pt>
                <c:pt idx="1">
                  <c:v>11.483</c:v>
                </c:pt>
                <c:pt idx="2">
                  <c:v>12.115</c:v>
                </c:pt>
                <c:pt idx="3">
                  <c:v>12.751000000000001</c:v>
                </c:pt>
                <c:pt idx="4">
                  <c:v>13.396</c:v>
                </c:pt>
                <c:pt idx="5">
                  <c:v>14.05</c:v>
                </c:pt>
                <c:pt idx="6">
                  <c:v>14.736</c:v>
                </c:pt>
                <c:pt idx="7">
                  <c:v>15.466</c:v>
                </c:pt>
                <c:pt idx="8">
                  <c:v>16.25</c:v>
                </c:pt>
                <c:pt idx="9">
                  <c:v>17.084</c:v>
                </c:pt>
                <c:pt idx="10">
                  <c:v>17.952</c:v>
                </c:pt>
                <c:pt idx="11">
                  <c:v>18.859</c:v>
                </c:pt>
                <c:pt idx="12">
                  <c:v>19.831</c:v>
                </c:pt>
                <c:pt idx="13">
                  <c:v>20.843</c:v>
                </c:pt>
                <c:pt idx="14">
                  <c:v>21.871000000000002</c:v>
                </c:pt>
                <c:pt idx="15">
                  <c:v>22.912</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98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Eastern Europe</c:v>
                </c:pt>
                <c:pt idx="2">
                  <c:v>Balkan &amp; Baltics</c:v>
                </c:pt>
              </c:strCache>
            </c:strRef>
          </c:cat>
          <c:val>
            <c:numRef>
              <c:f>Sheet1!$B$2:$B$4</c:f>
              <c:numCache>
                <c:formatCode>General</c:formatCode>
                <c:ptCount val="3"/>
                <c:pt idx="0">
                  <c:v>0.05917522569547584</c:v>
                </c:pt>
                <c:pt idx="1">
                  <c:v>0.04147216331139347</c:v>
                </c:pt>
                <c:pt idx="2">
                  <c:v>0.05011936588128618</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7988655468889239"/>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98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14.05</c:v>
                </c:pt>
                <c:pt idx="2">
                  <c:v>14.736</c:v>
                </c:pt>
                <c:pt idx="3">
                  <c:v>15.466</c:v>
                </c:pt>
                <c:pt idx="4">
                  <c:v>16.25</c:v>
                </c:pt>
                <c:pt idx="5">
                  <c:v>17.084</c:v>
                </c:pt>
                <c:pt idx="6">
                  <c:v>17.952</c:v>
                </c:pt>
                <c:pt idx="7">
                  <c:v>18.859</c:v>
                </c:pt>
                <c:pt idx="8">
                  <c:v>19.831</c:v>
                </c:pt>
                <c:pt idx="9">
                  <c:v>20.843</c:v>
                </c:pt>
                <c:pt idx="10">
                  <c:v>21.871000000000002</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14.05</c:v>
                </c:pt>
                <c:pt idx="1">
                  <c:v>0.6859999999999999</c:v>
                </c:pt>
                <c:pt idx="2">
                  <c:v>0.7299999999999986</c:v>
                </c:pt>
                <c:pt idx="3">
                  <c:v>0.7840000000000007</c:v>
                </c:pt>
                <c:pt idx="4">
                  <c:v>0.8339999999999996</c:v>
                </c:pt>
                <c:pt idx="5">
                  <c:v>0.8680000000000021</c:v>
                </c:pt>
                <c:pt idx="6">
                  <c:v>0.907</c:v>
                </c:pt>
                <c:pt idx="7">
                  <c:v>0.9719999999999978</c:v>
                </c:pt>
                <c:pt idx="8">
                  <c:v>1.0120000000000005</c:v>
                </c:pt>
                <c:pt idx="9">
                  <c:v>1.0280000000000022</c:v>
                </c:pt>
                <c:pt idx="10">
                  <c:v>1.0409999999999968</c:v>
                </c:pt>
                <c:pt idx="11">
                  <c:v>22.912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98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Balkan &amp; Baltics</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Eastern Europe</c:v>
                </c:pt>
                <c:pt idx="1">
                  <c:v>Share of Global</c:v>
                </c:pt>
              </c:strCache>
            </c:strRef>
          </c:cat>
          <c:val>
            <c:numRef>
              <c:f>Sheet1!$B$2:$B$3</c:f>
              <c:numCache>
                <c:formatCode>General</c:formatCode>
                <c:ptCount val="2"/>
                <c:pt idx="0">
                  <c:v>14.50457332810274</c:v>
                </c:pt>
                <c:pt idx="1">
                  <c:v>0.827559559255326</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Eastern Europe</c:v>
                </c:pt>
                <c:pt idx="1">
                  <c:v>Share of Global</c:v>
                </c:pt>
              </c:strCache>
            </c:strRef>
          </c:cat>
          <c:val>
            <c:numRef>
              <c:f>Sheet1!$C$2:$C$3</c:f>
              <c:numCache>
                <c:formatCode>General</c:formatCode>
                <c:ptCount val="2"/>
                <c:pt idx="0">
                  <c:v>85.49542667189726</c:v>
                </c:pt>
                <c:pt idx="1">
                  <c:v>99.17244044074468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98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30.948999999999998</c:v>
                </c:pt>
                <c:pt idx="1">
                  <c:v>32.848</c:v>
                </c:pt>
                <c:pt idx="2">
                  <c:v>34.831</c:v>
                </c:pt>
                <c:pt idx="3">
                  <c:v>36.869</c:v>
                </c:pt>
                <c:pt idx="4">
                  <c:v>38.96</c:v>
                </c:pt>
                <c:pt idx="5">
                  <c:v>41.269</c:v>
                </c:pt>
                <c:pt idx="6">
                  <c:v>43.775999999999996</c:v>
                </c:pt>
                <c:pt idx="7">
                  <c:v>46.537</c:v>
                </c:pt>
                <c:pt idx="8">
                  <c:v>49.599000000000004</c:v>
                </c:pt>
                <c:pt idx="9">
                  <c:v>53.013</c:v>
                </c:pt>
                <c:pt idx="10">
                  <c:v>56.699</c:v>
                </c:pt>
                <c:pt idx="11">
                  <c:v>60.701</c:v>
                </c:pt>
                <c:pt idx="12">
                  <c:v>65.103</c:v>
                </c:pt>
                <c:pt idx="13">
                  <c:v>69.879</c:v>
                </c:pt>
                <c:pt idx="14">
                  <c:v>74.975</c:v>
                </c:pt>
                <c:pt idx="15">
                  <c:v>80.392</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98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Eastern Europe</c:v>
                </c:pt>
                <c:pt idx="2">
                  <c:v>Balkan &amp; Baltics</c:v>
                </c:pt>
              </c:strCache>
            </c:strRef>
          </c:cat>
          <c:val>
            <c:numRef>
              <c:f>Sheet1!$B$2:$B$4</c:f>
              <c:numCache>
                <c:formatCode>General</c:formatCode>
                <c:ptCount val="3"/>
                <c:pt idx="0">
                  <c:v>0.07440747619145949</c:v>
                </c:pt>
                <c:pt idx="1">
                  <c:v>0.05778038974308597</c:v>
                </c:pt>
                <c:pt idx="2">
                  <c:v>0.0689536850307142</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045009285847031"/>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98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41.269</c:v>
                </c:pt>
                <c:pt idx="2">
                  <c:v>43.775999999999996</c:v>
                </c:pt>
                <c:pt idx="3">
                  <c:v>46.537</c:v>
                </c:pt>
                <c:pt idx="4">
                  <c:v>49.599000000000004</c:v>
                </c:pt>
                <c:pt idx="5">
                  <c:v>53.013</c:v>
                </c:pt>
                <c:pt idx="6">
                  <c:v>56.699</c:v>
                </c:pt>
                <c:pt idx="7">
                  <c:v>60.701</c:v>
                </c:pt>
                <c:pt idx="8">
                  <c:v>65.103</c:v>
                </c:pt>
                <c:pt idx="9">
                  <c:v>69.879</c:v>
                </c:pt>
                <c:pt idx="10">
                  <c:v>74.975</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41.269</c:v>
                </c:pt>
                <c:pt idx="1">
                  <c:v>2.506999999999998</c:v>
                </c:pt>
                <c:pt idx="2">
                  <c:v>2.761000000000003</c:v>
                </c:pt>
                <c:pt idx="3">
                  <c:v>3.0620000000000047</c:v>
                </c:pt>
                <c:pt idx="4">
                  <c:v>3.4139999999999944</c:v>
                </c:pt>
                <c:pt idx="5">
                  <c:v>3.686</c:v>
                </c:pt>
                <c:pt idx="6">
                  <c:v>4.0020000000000024</c:v>
                </c:pt>
                <c:pt idx="7">
                  <c:v>4.401999999999994</c:v>
                </c:pt>
                <c:pt idx="8">
                  <c:v>4.7760000000000105</c:v>
                </c:pt>
                <c:pt idx="9">
                  <c:v>5.095999999999989</c:v>
                </c:pt>
                <c:pt idx="10">
                  <c:v>5.417000000000002</c:v>
                </c:pt>
                <c:pt idx="11">
                  <c:v>80.392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98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Balkan &amp; Baltics</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Eastern Europe</c:v>
                </c:pt>
                <c:pt idx="1">
                  <c:v>Share of Global</c:v>
                </c:pt>
              </c:strCache>
            </c:strRef>
          </c:cat>
          <c:val>
            <c:numRef>
              <c:f>Sheet1!$B$2:$B$3</c:f>
              <c:numCache>
                <c:formatCode>General</c:formatCode>
                <c:ptCount val="2"/>
                <c:pt idx="0">
                  <c:v>14.504932921407157</c:v>
                </c:pt>
                <c:pt idx="1">
                  <c:v>0.7525722474098815</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Eastern Europe</c:v>
                </c:pt>
                <c:pt idx="1">
                  <c:v>Share of Global</c:v>
                </c:pt>
              </c:strCache>
            </c:strRef>
          </c:cat>
          <c:val>
            <c:numRef>
              <c:f>Sheet1!$C$2:$C$3</c:f>
              <c:numCache>
                <c:formatCode>General</c:formatCode>
                <c:ptCount val="2"/>
                <c:pt idx="0">
                  <c:v>85.49506707859284</c:v>
                </c:pt>
                <c:pt idx="1">
                  <c:v>99.24742775259011</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00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6.976</c:v>
                </c:pt>
                <c:pt idx="1">
                  <c:v>7.337</c:v>
                </c:pt>
                <c:pt idx="2">
                  <c:v>7.707</c:v>
                </c:pt>
                <c:pt idx="3">
                  <c:v>8.084</c:v>
                </c:pt>
                <c:pt idx="4">
                  <c:v>8.465</c:v>
                </c:pt>
                <c:pt idx="5">
                  <c:v>8.847</c:v>
                </c:pt>
                <c:pt idx="6">
                  <c:v>9.228</c:v>
                </c:pt>
                <c:pt idx="7">
                  <c:v>9.620999999999999</c:v>
                </c:pt>
                <c:pt idx="8">
                  <c:v>10.030000000000001</c:v>
                </c:pt>
                <c:pt idx="9">
                  <c:v>10.472000000000001</c:v>
                </c:pt>
                <c:pt idx="10">
                  <c:v>10.942</c:v>
                </c:pt>
                <c:pt idx="11">
                  <c:v>11.432</c:v>
                </c:pt>
                <c:pt idx="12">
                  <c:v>11.926</c:v>
                </c:pt>
                <c:pt idx="13">
                  <c:v>12.433</c:v>
                </c:pt>
                <c:pt idx="14">
                  <c:v>12.941</c:v>
                </c:pt>
                <c:pt idx="15">
                  <c:v>13.452000000000002</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00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Eastern Europe</c:v>
                </c:pt>
                <c:pt idx="2">
                  <c:v>Rest of Eastern Europe</c:v>
                </c:pt>
              </c:strCache>
            </c:strRef>
          </c:cat>
          <c:val>
            <c:numRef>
              <c:f>Sheet1!$B$2:$B$4</c:f>
              <c:numCache>
                <c:formatCode>General</c:formatCode>
                <c:ptCount val="3"/>
                <c:pt idx="0">
                  <c:v>0.05917522569547584</c:v>
                </c:pt>
                <c:pt idx="1">
                  <c:v>0.04147216331139347</c:v>
                </c:pt>
                <c:pt idx="2">
                  <c:v>0.04279534334577306</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7988655468889239"/>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00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8.847</c:v>
                </c:pt>
                <c:pt idx="2">
                  <c:v>9.228</c:v>
                </c:pt>
                <c:pt idx="3">
                  <c:v>9.620999999999999</c:v>
                </c:pt>
                <c:pt idx="4">
                  <c:v>10.030000000000001</c:v>
                </c:pt>
                <c:pt idx="5">
                  <c:v>10.472000000000001</c:v>
                </c:pt>
                <c:pt idx="6">
                  <c:v>10.942</c:v>
                </c:pt>
                <c:pt idx="7">
                  <c:v>11.432</c:v>
                </c:pt>
                <c:pt idx="8">
                  <c:v>11.926</c:v>
                </c:pt>
                <c:pt idx="9">
                  <c:v>12.433</c:v>
                </c:pt>
                <c:pt idx="10">
                  <c:v>12.941</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8.847</c:v>
                </c:pt>
                <c:pt idx="1">
                  <c:v>0.3810000000000002</c:v>
                </c:pt>
                <c:pt idx="2">
                  <c:v>0.3929999999999989</c:v>
                </c:pt>
                <c:pt idx="3">
                  <c:v>0.4090000000000025</c:v>
                </c:pt>
                <c:pt idx="4">
                  <c:v>0.44200000000000017</c:v>
                </c:pt>
                <c:pt idx="5">
                  <c:v>0.46999999999999886</c:v>
                </c:pt>
                <c:pt idx="6">
                  <c:v>0.4900000000000002</c:v>
                </c:pt>
                <c:pt idx="7">
                  <c:v>0.4939999999999998</c:v>
                </c:pt>
                <c:pt idx="8">
                  <c:v>0.5069999999999997</c:v>
                </c:pt>
                <c:pt idx="9">
                  <c:v>0.5080000000000009</c:v>
                </c:pt>
                <c:pt idx="10">
                  <c:v>0.511000000000001</c:v>
                </c:pt>
                <c:pt idx="11">
                  <c:v>13.452000000000002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00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Rest of Eastern Europe</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Eastern Europe</c:v>
                </c:pt>
                <c:pt idx="1">
                  <c:v>Share of Global</c:v>
                </c:pt>
              </c:strCache>
            </c:strRef>
          </c:cat>
          <c:val>
            <c:numRef>
              <c:f>Sheet1!$B$2:$B$3</c:f>
              <c:numCache>
                <c:formatCode>General</c:formatCode>
                <c:ptCount val="2"/>
                <c:pt idx="0">
                  <c:v>9.133235603823838</c:v>
                </c:pt>
                <c:pt idx="1">
                  <c:v>0.5210974676677487</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Eastern Europe</c:v>
                </c:pt>
                <c:pt idx="1">
                  <c:v>Share of Global</c:v>
                </c:pt>
              </c:strCache>
            </c:strRef>
          </c:cat>
          <c:val>
            <c:numRef>
              <c:f>Sheet1!$C$2:$C$3</c:f>
              <c:numCache>
                <c:formatCode>General</c:formatCode>
                <c:ptCount val="2"/>
                <c:pt idx="0">
                  <c:v>90.86676439617617</c:v>
                </c:pt>
                <c:pt idx="1">
                  <c:v>99.47890253233226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00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19.378999999999998</c:v>
                </c:pt>
                <c:pt idx="1">
                  <c:v>20.47</c:v>
                </c:pt>
                <c:pt idx="2">
                  <c:v>21.612000000000002</c:v>
                </c:pt>
                <c:pt idx="3">
                  <c:v>22.798</c:v>
                </c:pt>
                <c:pt idx="4">
                  <c:v>24.019</c:v>
                </c:pt>
                <c:pt idx="5">
                  <c:v>25.341</c:v>
                </c:pt>
                <c:pt idx="6">
                  <c:v>26.706000000000003</c:v>
                </c:pt>
                <c:pt idx="7">
                  <c:v>28.151000000000003</c:v>
                </c:pt>
                <c:pt idx="8">
                  <c:v>29.708</c:v>
                </c:pt>
                <c:pt idx="9">
                  <c:v>31.421999999999997</c:v>
                </c:pt>
                <c:pt idx="10">
                  <c:v>33.281</c:v>
                </c:pt>
                <c:pt idx="11">
                  <c:v>35.278</c:v>
                </c:pt>
                <c:pt idx="12">
                  <c:v>37.381</c:v>
                </c:pt>
                <c:pt idx="13">
                  <c:v>39.604</c:v>
                </c:pt>
                <c:pt idx="14">
                  <c:v>41.941</c:v>
                </c:pt>
                <c:pt idx="15">
                  <c:v>44.373000000000005</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0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Eastern Europe</c:v>
                </c:pt>
                <c:pt idx="2">
                  <c:v>Rest of Eastern Europe</c:v>
                </c:pt>
              </c:strCache>
            </c:strRef>
          </c:cat>
          <c:val>
            <c:numRef>
              <c:f>Sheet1!$B$2:$B$4</c:f>
              <c:numCache>
                <c:formatCode>General</c:formatCode>
                <c:ptCount val="3"/>
                <c:pt idx="0">
                  <c:v>0.07440747619145949</c:v>
                </c:pt>
                <c:pt idx="1">
                  <c:v>0.05778038974308597</c:v>
                </c:pt>
                <c:pt idx="2">
                  <c:v>0.05761963323501185</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045009285847031"/>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0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25.341</c:v>
                </c:pt>
                <c:pt idx="2">
                  <c:v>26.706000000000003</c:v>
                </c:pt>
                <c:pt idx="3">
                  <c:v>28.151000000000003</c:v>
                </c:pt>
                <c:pt idx="4">
                  <c:v>29.708</c:v>
                </c:pt>
                <c:pt idx="5">
                  <c:v>31.421999999999997</c:v>
                </c:pt>
                <c:pt idx="6">
                  <c:v>33.281</c:v>
                </c:pt>
                <c:pt idx="7">
                  <c:v>35.278</c:v>
                </c:pt>
                <c:pt idx="8">
                  <c:v>37.381</c:v>
                </c:pt>
                <c:pt idx="9">
                  <c:v>39.604</c:v>
                </c:pt>
                <c:pt idx="10">
                  <c:v>41.941</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25.341</c:v>
                </c:pt>
                <c:pt idx="1">
                  <c:v>1.365000000000002</c:v>
                </c:pt>
                <c:pt idx="2">
                  <c:v>1.4450000000000003</c:v>
                </c:pt>
                <c:pt idx="3">
                  <c:v>1.556999999999995</c:v>
                </c:pt>
                <c:pt idx="4">
                  <c:v>1.7139999999999986</c:v>
                </c:pt>
                <c:pt idx="5">
                  <c:v>1.8590000000000018</c:v>
                </c:pt>
                <c:pt idx="6">
                  <c:v>1.9969999999999999</c:v>
                </c:pt>
                <c:pt idx="7">
                  <c:v>2.1030000000000015</c:v>
                </c:pt>
                <c:pt idx="8">
                  <c:v>2.222999999999999</c:v>
                </c:pt>
                <c:pt idx="9">
                  <c:v>2.3370000000000033</c:v>
                </c:pt>
                <c:pt idx="10">
                  <c:v>2.432000000000002</c:v>
                </c:pt>
                <c:pt idx="11">
                  <c:v>44.373000000000005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0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Rest of Eastern Europe</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Eastern Europe</c:v>
                </c:pt>
                <c:pt idx="1">
                  <c:v>Share of Global</c:v>
                </c:pt>
              </c:strCache>
            </c:strRef>
          </c:cat>
          <c:val>
            <c:numRef>
              <c:f>Sheet1!$B$2:$B$3</c:f>
              <c:numCache>
                <c:formatCode>General</c:formatCode>
                <c:ptCount val="2"/>
                <c:pt idx="0">
                  <c:v>8.90667341494533</c:v>
                </c:pt>
                <c:pt idx="1">
                  <c:v>0.4621128043231919</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Eastern Europe</c:v>
                </c:pt>
                <c:pt idx="1">
                  <c:v>Share of Global</c:v>
                </c:pt>
              </c:strCache>
            </c:strRef>
          </c:cat>
          <c:val>
            <c:numRef>
              <c:f>Sheet1!$C$2:$C$3</c:f>
              <c:numCache>
                <c:formatCode>General</c:formatCode>
                <c:ptCount val="2"/>
                <c:pt idx="0">
                  <c:v>91.09332658505467</c:v>
                </c:pt>
                <c:pt idx="1">
                  <c:v>99.5378871956768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0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227.589</c:v>
                </c:pt>
                <c:pt idx="1">
                  <c:v>242.32100000000003</c:v>
                </c:pt>
                <c:pt idx="2">
                  <c:v>258.744</c:v>
                </c:pt>
                <c:pt idx="3">
                  <c:v>276.93399999999997</c:v>
                </c:pt>
                <c:pt idx="4">
                  <c:v>297.199</c:v>
                </c:pt>
                <c:pt idx="5">
                  <c:v>319.333</c:v>
                </c:pt>
                <c:pt idx="6">
                  <c:v>343.03700000000003</c:v>
                </c:pt>
                <c:pt idx="7">
                  <c:v>367.751</c:v>
                </c:pt>
                <c:pt idx="8">
                  <c:v>392.86400000000003</c:v>
                </c:pt>
                <c:pt idx="9">
                  <c:v>419.38800000000003</c:v>
                </c:pt>
                <c:pt idx="10">
                  <c:v>448.82800000000003</c:v>
                </c:pt>
                <c:pt idx="11">
                  <c:v>480.94100000000003</c:v>
                </c:pt>
                <c:pt idx="12">
                  <c:v>515.1669999999999</c:v>
                </c:pt>
                <c:pt idx="13">
                  <c:v>550.831</c:v>
                </c:pt>
                <c:pt idx="14">
                  <c:v>587.828</c:v>
                </c:pt>
                <c:pt idx="15">
                  <c:v>625.561</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0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East Asia</c:v>
                </c:pt>
                <c:pt idx="2">
                  <c:v>China</c:v>
                </c:pt>
              </c:strCache>
            </c:strRef>
          </c:cat>
          <c:val>
            <c:numRef>
              <c:f>Sheet1!$B$2:$B$4</c:f>
              <c:numCache>
                <c:formatCode>General</c:formatCode>
                <c:ptCount val="3"/>
                <c:pt idx="0">
                  <c:v>0.05917522569547584</c:v>
                </c:pt>
                <c:pt idx="1">
                  <c:v>0.06602926521398089</c:v>
                </c:pt>
                <c:pt idx="2">
                  <c:v>0.06955368022272124</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9389746830067368"/>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0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319.333</c:v>
                </c:pt>
                <c:pt idx="2">
                  <c:v>343.03700000000003</c:v>
                </c:pt>
                <c:pt idx="3">
                  <c:v>367.751</c:v>
                </c:pt>
                <c:pt idx="4">
                  <c:v>392.86400000000003</c:v>
                </c:pt>
                <c:pt idx="5">
                  <c:v>419.38800000000003</c:v>
                </c:pt>
                <c:pt idx="6">
                  <c:v>448.82800000000003</c:v>
                </c:pt>
                <c:pt idx="7">
                  <c:v>480.94100000000003</c:v>
                </c:pt>
                <c:pt idx="8">
                  <c:v>515.1669999999999</c:v>
                </c:pt>
                <c:pt idx="9">
                  <c:v>550.831</c:v>
                </c:pt>
                <c:pt idx="10">
                  <c:v>587.828</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319.333</c:v>
                </c:pt>
                <c:pt idx="1">
                  <c:v>23.704000000000008</c:v>
                </c:pt>
                <c:pt idx="2">
                  <c:v>24.713999999999942</c:v>
                </c:pt>
                <c:pt idx="3">
                  <c:v>25.113000000000056</c:v>
                </c:pt>
                <c:pt idx="4">
                  <c:v>26.524</c:v>
                </c:pt>
                <c:pt idx="5">
                  <c:v>29.439999999999998</c:v>
                </c:pt>
                <c:pt idx="6">
                  <c:v>32.113</c:v>
                </c:pt>
                <c:pt idx="7">
                  <c:v>34.225999999999885</c:v>
                </c:pt>
                <c:pt idx="8">
                  <c:v>35.6640000000001</c:v>
                </c:pt>
                <c:pt idx="9">
                  <c:v>36.99699999999996</c:v>
                </c:pt>
                <c:pt idx="10">
                  <c:v>37.73300000000006</c:v>
                </c:pt>
                <c:pt idx="11">
                  <c:v>625.561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0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China</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 Asia</c:v>
                </c:pt>
                <c:pt idx="1">
                  <c:v>Share of Global</c:v>
                </c:pt>
              </c:strCache>
            </c:strRef>
          </c:cat>
          <c:val>
            <c:numRef>
              <c:f>Sheet1!$B$2:$B$3</c:f>
              <c:numCache>
                <c:formatCode>General</c:formatCode>
                <c:ptCount val="2"/>
                <c:pt idx="0">
                  <c:v>69.62181795983152</c:v>
                </c:pt>
                <c:pt idx="1">
                  <c:v>18.809044607521784</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 Asia</c:v>
                </c:pt>
                <c:pt idx="1">
                  <c:v>Share of Global</c:v>
                </c:pt>
              </c:strCache>
            </c:strRef>
          </c:cat>
          <c:val>
            <c:numRef>
              <c:f>Sheet1!$C$2:$C$3</c:f>
              <c:numCache>
                <c:formatCode>General</c:formatCode>
                <c:ptCount val="2"/>
                <c:pt idx="0">
                  <c:v>30.378182040168483</c:v>
                </c:pt>
                <c:pt idx="1">
                  <c:v>81.19095539247822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0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569.101</c:v>
                </c:pt>
                <c:pt idx="1">
                  <c:v>609.122</c:v>
                </c:pt>
                <c:pt idx="2">
                  <c:v>654.226</c:v>
                </c:pt>
                <c:pt idx="3">
                  <c:v>705.174</c:v>
                </c:pt>
                <c:pt idx="4">
                  <c:v>762.35</c:v>
                </c:pt>
                <c:pt idx="5">
                  <c:v>829.1949999999999</c:v>
                </c:pt>
                <c:pt idx="6">
                  <c:v>902.883</c:v>
                </c:pt>
                <c:pt idx="7">
                  <c:v>982.459</c:v>
                </c:pt>
                <c:pt idx="8">
                  <c:v>1066.341</c:v>
                </c:pt>
                <c:pt idx="9">
                  <c:v>1157.926</c:v>
                </c:pt>
                <c:pt idx="10">
                  <c:v>1261.547</c:v>
                </c:pt>
                <c:pt idx="11">
                  <c:v>1377.432</c:v>
                </c:pt>
                <c:pt idx="12">
                  <c:v>1504.8000000000002</c:v>
                </c:pt>
                <c:pt idx="13">
                  <c:v>1642.6750000000002</c:v>
                </c:pt>
                <c:pt idx="14">
                  <c:v>1792.1750000000002</c:v>
                </c:pt>
                <c:pt idx="15">
                  <c:v>1951.882</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0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East Asia</c:v>
                </c:pt>
                <c:pt idx="2">
                  <c:v>China</c:v>
                </c:pt>
              </c:strCache>
            </c:strRef>
          </c:cat>
          <c:val>
            <c:numRef>
              <c:f>Sheet1!$B$2:$B$4</c:f>
              <c:numCache>
                <c:formatCode>General</c:formatCode>
                <c:ptCount val="3"/>
                <c:pt idx="0">
                  <c:v>0.07440747619145949</c:v>
                </c:pt>
                <c:pt idx="1">
                  <c:v>0.08325207813640212</c:v>
                </c:pt>
                <c:pt idx="2">
                  <c:v>0.08938072912202365</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2066398431473194"/>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0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829.1949999999999</c:v>
                </c:pt>
                <c:pt idx="2">
                  <c:v>902.883</c:v>
                </c:pt>
                <c:pt idx="3">
                  <c:v>982.459</c:v>
                </c:pt>
                <c:pt idx="4">
                  <c:v>1066.341</c:v>
                </c:pt>
                <c:pt idx="5">
                  <c:v>1157.926</c:v>
                </c:pt>
                <c:pt idx="6">
                  <c:v>1261.547</c:v>
                </c:pt>
                <c:pt idx="7">
                  <c:v>1377.432</c:v>
                </c:pt>
                <c:pt idx="8">
                  <c:v>1504.8000000000002</c:v>
                </c:pt>
                <c:pt idx="9">
                  <c:v>1642.6750000000002</c:v>
                </c:pt>
                <c:pt idx="10">
                  <c:v>1792.1750000000002</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829.1949999999999</c:v>
                </c:pt>
                <c:pt idx="1">
                  <c:v>73.6880000000001</c:v>
                </c:pt>
                <c:pt idx="2">
                  <c:v>79.57599999999991</c:v>
                </c:pt>
                <c:pt idx="3">
                  <c:v>83.88199999999995</c:v>
                </c:pt>
                <c:pt idx="4">
                  <c:v>91.58500000000004</c:v>
                </c:pt>
                <c:pt idx="5">
                  <c:v>103.6210000000001</c:v>
                </c:pt>
                <c:pt idx="6">
                  <c:v>115.88499999999999</c:v>
                </c:pt>
                <c:pt idx="7">
                  <c:v>127.36800000000017</c:v>
                </c:pt>
                <c:pt idx="8">
                  <c:v>137.875</c:v>
                </c:pt>
                <c:pt idx="9">
                  <c:v>149.5</c:v>
                </c:pt>
                <c:pt idx="10">
                  <c:v>159.70699999999988</c:v>
                </c:pt>
                <c:pt idx="11">
                  <c:v>1951.882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0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China</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 Asia</c:v>
                </c:pt>
                <c:pt idx="1">
                  <c:v>Share of Global</c:v>
                </c:pt>
              </c:strCache>
            </c:strRef>
          </c:cat>
          <c:val>
            <c:numRef>
              <c:f>Sheet1!$B$2:$B$3</c:f>
              <c:numCache>
                <c:formatCode>General</c:formatCode>
                <c:ptCount val="2"/>
                <c:pt idx="0">
                  <c:v>62.16912473111991</c:v>
                </c:pt>
                <c:pt idx="1">
                  <c:v>15.12101443434628</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 Asia</c:v>
                </c:pt>
                <c:pt idx="1">
                  <c:v>Share of Global</c:v>
                </c:pt>
              </c:strCache>
            </c:strRef>
          </c:cat>
          <c:val>
            <c:numRef>
              <c:f>Sheet1!$C$2:$C$3</c:f>
              <c:numCache>
                <c:formatCode>General</c:formatCode>
                <c:ptCount val="2"/>
                <c:pt idx="0">
                  <c:v>37.83087526888009</c:v>
                </c:pt>
                <c:pt idx="1">
                  <c:v>84.87898556565372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0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61.21</c:v>
                </c:pt>
                <c:pt idx="1">
                  <c:v>64.81899999999999</c:v>
                </c:pt>
                <c:pt idx="2">
                  <c:v>68.856</c:v>
                </c:pt>
                <c:pt idx="3">
                  <c:v>73.241</c:v>
                </c:pt>
                <c:pt idx="4">
                  <c:v>77.94</c:v>
                </c:pt>
                <c:pt idx="5">
                  <c:v>82.857</c:v>
                </c:pt>
                <c:pt idx="6">
                  <c:v>87.977</c:v>
                </c:pt>
                <c:pt idx="7">
                  <c:v>93.237</c:v>
                </c:pt>
                <c:pt idx="8">
                  <c:v>98.497</c:v>
                </c:pt>
                <c:pt idx="9">
                  <c:v>103.844</c:v>
                </c:pt>
                <c:pt idx="10">
                  <c:v>109.327</c:v>
                </c:pt>
                <c:pt idx="11">
                  <c:v>115.25</c:v>
                </c:pt>
                <c:pt idx="12">
                  <c:v>121.618</c:v>
                </c:pt>
                <c:pt idx="13">
                  <c:v>128.253</c:v>
                </c:pt>
                <c:pt idx="14">
                  <c:v>135.039</c:v>
                </c:pt>
                <c:pt idx="15">
                  <c:v>141.928</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05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East Asia</c:v>
                </c:pt>
                <c:pt idx="2">
                  <c:v>Japan</c:v>
                </c:pt>
              </c:strCache>
            </c:strRef>
          </c:cat>
          <c:val>
            <c:numRef>
              <c:f>Sheet1!$B$2:$B$4</c:f>
              <c:numCache>
                <c:formatCode>General</c:formatCode>
                <c:ptCount val="3"/>
                <c:pt idx="0">
                  <c:v>0.05917522569547584</c:v>
                </c:pt>
                <c:pt idx="1">
                  <c:v>0.06602926521398089</c:v>
                </c:pt>
                <c:pt idx="2">
                  <c:v>0.05529501788384761</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8913950803887422"/>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05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82.857</c:v>
                </c:pt>
                <c:pt idx="2">
                  <c:v>87.977</c:v>
                </c:pt>
                <c:pt idx="3">
                  <c:v>93.237</c:v>
                </c:pt>
                <c:pt idx="4">
                  <c:v>98.497</c:v>
                </c:pt>
                <c:pt idx="5">
                  <c:v>103.844</c:v>
                </c:pt>
                <c:pt idx="6">
                  <c:v>109.327</c:v>
                </c:pt>
                <c:pt idx="7">
                  <c:v>115.25</c:v>
                </c:pt>
                <c:pt idx="8">
                  <c:v>121.618</c:v>
                </c:pt>
                <c:pt idx="9">
                  <c:v>128.253</c:v>
                </c:pt>
                <c:pt idx="10">
                  <c:v>135.039</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82.857</c:v>
                </c:pt>
                <c:pt idx="1">
                  <c:v>5.1200000000000045</c:v>
                </c:pt>
                <c:pt idx="2">
                  <c:v>5.259999999999991</c:v>
                </c:pt>
                <c:pt idx="3">
                  <c:v>5.260000000000005</c:v>
                </c:pt>
                <c:pt idx="4">
                  <c:v>5.346999999999994</c:v>
                </c:pt>
                <c:pt idx="5">
                  <c:v>5.483000000000004</c:v>
                </c:pt>
                <c:pt idx="6">
                  <c:v>5.923000000000002</c:v>
                </c:pt>
                <c:pt idx="7">
                  <c:v>6.367999999999995</c:v>
                </c:pt>
                <c:pt idx="8">
                  <c:v>6.634999999999991</c:v>
                </c:pt>
                <c:pt idx="9">
                  <c:v>6.786000000000001</c:v>
                </c:pt>
                <c:pt idx="10">
                  <c:v>6.88900000000001</c:v>
                </c:pt>
                <c:pt idx="11">
                  <c:v>141.928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06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Japan</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 Asia</c:v>
                </c:pt>
                <c:pt idx="1">
                  <c:v>Share of Global</c:v>
                </c:pt>
              </c:strCache>
            </c:strRef>
          </c:cat>
          <c:val>
            <c:numRef>
              <c:f>Sheet1!$B$2:$B$3</c:f>
              <c:numCache>
                <c:formatCode>General</c:formatCode>
                <c:ptCount val="2"/>
                <c:pt idx="0">
                  <c:v>18.064700393312812</c:v>
                </c:pt>
                <c:pt idx="1">
                  <c:v>4.880363160229078</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 Asia</c:v>
                </c:pt>
                <c:pt idx="1">
                  <c:v>Share of Global</c:v>
                </c:pt>
              </c:strCache>
            </c:strRef>
          </c:cat>
          <c:val>
            <c:numRef>
              <c:f>Sheet1!$C$2:$C$3</c:f>
              <c:numCache>
                <c:formatCode>General</c:formatCode>
                <c:ptCount val="2"/>
                <c:pt idx="0">
                  <c:v>81.93529960668718</c:v>
                </c:pt>
                <c:pt idx="1">
                  <c:v>95.11963683977092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06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223.86599999999999</c:v>
                </c:pt>
                <c:pt idx="1">
                  <c:v>237.60700000000003</c:v>
                </c:pt>
                <c:pt idx="2">
                  <c:v>252.912</c:v>
                </c:pt>
                <c:pt idx="3">
                  <c:v>269.749</c:v>
                </c:pt>
                <c:pt idx="4">
                  <c:v>288.008</c:v>
                </c:pt>
                <c:pt idx="5">
                  <c:v>308.339</c:v>
                </c:pt>
                <c:pt idx="6">
                  <c:v>330.099</c:v>
                </c:pt>
                <c:pt idx="7">
                  <c:v>353.065</c:v>
                </c:pt>
                <c:pt idx="8">
                  <c:v>376.731</c:v>
                </c:pt>
                <c:pt idx="9">
                  <c:v>401.495</c:v>
                </c:pt>
                <c:pt idx="10">
                  <c:v>427.719</c:v>
                </c:pt>
                <c:pt idx="11">
                  <c:v>456.476</c:v>
                </c:pt>
                <c:pt idx="12">
                  <c:v>487.93399999999997</c:v>
                </c:pt>
                <c:pt idx="13">
                  <c:v>521.527</c:v>
                </c:pt>
                <c:pt idx="14">
                  <c:v>557.011</c:v>
                </c:pt>
                <c:pt idx="15">
                  <c:v>594.191</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06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East Asia</c:v>
                </c:pt>
                <c:pt idx="2">
                  <c:v>Japan</c:v>
                </c:pt>
              </c:strCache>
            </c:strRef>
          </c:cat>
          <c:val>
            <c:numRef>
              <c:f>Sheet1!$B$2:$B$4</c:f>
              <c:numCache>
                <c:formatCode>General</c:formatCode>
                <c:ptCount val="3"/>
                <c:pt idx="0">
                  <c:v>0.07440747619145949</c:v>
                </c:pt>
                <c:pt idx="1">
                  <c:v>0.08325207813640212</c:v>
                </c:pt>
                <c:pt idx="2">
                  <c:v>0.06779961757872632</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1239030548414287"/>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06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308.339</c:v>
                </c:pt>
                <c:pt idx="2">
                  <c:v>330.099</c:v>
                </c:pt>
                <c:pt idx="3">
                  <c:v>353.065</c:v>
                </c:pt>
                <c:pt idx="4">
                  <c:v>376.731</c:v>
                </c:pt>
                <c:pt idx="5">
                  <c:v>401.495</c:v>
                </c:pt>
                <c:pt idx="6">
                  <c:v>427.719</c:v>
                </c:pt>
                <c:pt idx="7">
                  <c:v>456.476</c:v>
                </c:pt>
                <c:pt idx="8">
                  <c:v>487.93399999999997</c:v>
                </c:pt>
                <c:pt idx="9">
                  <c:v>521.527</c:v>
                </c:pt>
                <c:pt idx="10">
                  <c:v>557.011</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308.339</c:v>
                </c:pt>
                <c:pt idx="1">
                  <c:v>21.75999999999999</c:v>
                </c:pt>
                <c:pt idx="2">
                  <c:v>22.966000000000008</c:v>
                </c:pt>
                <c:pt idx="3">
                  <c:v>23.665999999999997</c:v>
                </c:pt>
                <c:pt idx="4">
                  <c:v>24.76400000000001</c:v>
                </c:pt>
                <c:pt idx="5">
                  <c:v>26.22399999999999</c:v>
                </c:pt>
                <c:pt idx="6">
                  <c:v>28.757000000000005</c:v>
                </c:pt>
                <c:pt idx="7">
                  <c:v>31.45799999999997</c:v>
                </c:pt>
                <c:pt idx="8">
                  <c:v>33.593000000000075</c:v>
                </c:pt>
                <c:pt idx="9">
                  <c:v>35.483999999999924</c:v>
                </c:pt>
                <c:pt idx="10">
                  <c:v>37.180000000000064</c:v>
                </c:pt>
                <c:pt idx="11">
                  <c:v>594.191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06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Japan</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 Asia</c:v>
                </c:pt>
                <c:pt idx="1">
                  <c:v>Share of Global</c:v>
                </c:pt>
              </c:strCache>
            </c:strRef>
          </c:cat>
          <c:val>
            <c:numRef>
              <c:f>Sheet1!$B$2:$B$3</c:f>
              <c:numCache>
                <c:formatCode>General</c:formatCode>
                <c:ptCount val="2"/>
                <c:pt idx="0">
                  <c:v>23.11780190482188</c:v>
                </c:pt>
                <c:pt idx="1">
                  <c:v>5.6228009933392</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 Asia</c:v>
                </c:pt>
                <c:pt idx="1">
                  <c:v>Share of Global</c:v>
                </c:pt>
              </c:strCache>
            </c:strRef>
          </c:cat>
          <c:val>
            <c:numRef>
              <c:f>Sheet1!$C$2:$C$3</c:f>
              <c:numCache>
                <c:formatCode>General</c:formatCode>
                <c:ptCount val="2"/>
                <c:pt idx="0">
                  <c:v>76.88219809517813</c:v>
                </c:pt>
                <c:pt idx="1">
                  <c:v>94.3771990066608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08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39.626000000000005</c:v>
                </c:pt>
                <c:pt idx="1">
                  <c:v>42.955</c:v>
                </c:pt>
                <c:pt idx="2">
                  <c:v>46.329</c:v>
                </c:pt>
                <c:pt idx="3">
                  <c:v>49.712</c:v>
                </c:pt>
                <c:pt idx="4">
                  <c:v>53.101</c:v>
                </c:pt>
                <c:pt idx="5">
                  <c:v>56.479</c:v>
                </c:pt>
                <c:pt idx="6">
                  <c:v>59.954</c:v>
                </c:pt>
                <c:pt idx="7">
                  <c:v>63.556</c:v>
                </c:pt>
                <c:pt idx="8">
                  <c:v>67.352</c:v>
                </c:pt>
                <c:pt idx="9">
                  <c:v>71.465</c:v>
                </c:pt>
                <c:pt idx="10">
                  <c:v>75.88</c:v>
                </c:pt>
                <c:pt idx="11">
                  <c:v>80.61099999999999</c:v>
                </c:pt>
                <c:pt idx="12">
                  <c:v>85.629</c:v>
                </c:pt>
                <c:pt idx="13">
                  <c:v>90.876</c:v>
                </c:pt>
                <c:pt idx="14">
                  <c:v>96.279</c:v>
                </c:pt>
                <c:pt idx="15">
                  <c:v>101.85400000000001</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08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East Asia</c:v>
                </c:pt>
                <c:pt idx="2">
                  <c:v>South Korea</c:v>
                </c:pt>
              </c:strCache>
            </c:strRef>
          </c:cat>
          <c:val>
            <c:numRef>
              <c:f>Sheet1!$B$2:$B$4</c:f>
              <c:numCache>
                <c:formatCode>General</c:formatCode>
                <c:ptCount val="3"/>
                <c:pt idx="0">
                  <c:v>0.05917522569547584</c:v>
                </c:pt>
                <c:pt idx="1">
                  <c:v>0.06602926521398089</c:v>
                </c:pt>
                <c:pt idx="2">
                  <c:v>0.06074039778379725</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8913950803887422"/>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08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56.479</c:v>
                </c:pt>
                <c:pt idx="2">
                  <c:v>59.954</c:v>
                </c:pt>
                <c:pt idx="3">
                  <c:v>63.556</c:v>
                </c:pt>
                <c:pt idx="4">
                  <c:v>67.352</c:v>
                </c:pt>
                <c:pt idx="5">
                  <c:v>71.465</c:v>
                </c:pt>
                <c:pt idx="6">
                  <c:v>75.88</c:v>
                </c:pt>
                <c:pt idx="7">
                  <c:v>80.61099999999999</c:v>
                </c:pt>
                <c:pt idx="8">
                  <c:v>85.629</c:v>
                </c:pt>
                <c:pt idx="9">
                  <c:v>90.876</c:v>
                </c:pt>
                <c:pt idx="10">
                  <c:v>96.279</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56.479</c:v>
                </c:pt>
                <c:pt idx="1">
                  <c:v>3.4750000000000014</c:v>
                </c:pt>
                <c:pt idx="2">
                  <c:v>3.6019999999999968</c:v>
                </c:pt>
                <c:pt idx="3">
                  <c:v>3.7960000000000065</c:v>
                </c:pt>
                <c:pt idx="4">
                  <c:v>4.1129999999999995</c:v>
                </c:pt>
                <c:pt idx="5">
                  <c:v>4.414999999999992</c:v>
                </c:pt>
                <c:pt idx="6">
                  <c:v>4.7309999999999945</c:v>
                </c:pt>
                <c:pt idx="7">
                  <c:v>5.018000000000015</c:v>
                </c:pt>
                <c:pt idx="8">
                  <c:v>5.247</c:v>
                </c:pt>
                <c:pt idx="9">
                  <c:v>5.402999999999992</c:v>
                </c:pt>
                <c:pt idx="10">
                  <c:v>5.575000000000017</c:v>
                </c:pt>
                <c:pt idx="11">
                  <c:v>101.85400000000001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08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South Korea</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 Asia</c:v>
                </c:pt>
                <c:pt idx="1">
                  <c:v>Share of Global</c:v>
                </c:pt>
              </c:strCache>
            </c:strRef>
          </c:cat>
          <c:val>
            <c:numRef>
              <c:f>Sheet1!$B$2:$B$3</c:f>
              <c:numCache>
                <c:formatCode>General</c:formatCode>
                <c:ptCount val="2"/>
                <c:pt idx="0">
                  <c:v>12.313699669477707</c:v>
                </c:pt>
                <c:pt idx="1">
                  <c:v>3.3266716261339186</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 Asia</c:v>
                </c:pt>
                <c:pt idx="1">
                  <c:v>Share of Global</c:v>
                </c:pt>
              </c:strCache>
            </c:strRef>
          </c:cat>
          <c:val>
            <c:numRef>
              <c:f>Sheet1!$C$2:$C$3</c:f>
              <c:numCache>
                <c:formatCode>General</c:formatCode>
                <c:ptCount val="2"/>
                <c:pt idx="0">
                  <c:v>87.6863003305223</c:v>
                </c:pt>
                <c:pt idx="1">
                  <c:v>96.67332837386608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08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133.409</c:v>
                </c:pt>
                <c:pt idx="1">
                  <c:v>144.911</c:v>
                </c:pt>
                <c:pt idx="2">
                  <c:v>156.83100000000002</c:v>
                </c:pt>
                <c:pt idx="3">
                  <c:v>169.223</c:v>
                </c:pt>
                <c:pt idx="4">
                  <c:v>182.073</c:v>
                </c:pt>
                <c:pt idx="5">
                  <c:v>196.239</c:v>
                </c:pt>
                <c:pt idx="6">
                  <c:v>211.356</c:v>
                </c:pt>
                <c:pt idx="7">
                  <c:v>227.53</c:v>
                </c:pt>
                <c:pt idx="8">
                  <c:v>245.161</c:v>
                </c:pt>
                <c:pt idx="9">
                  <c:v>264.599</c:v>
                </c:pt>
                <c:pt idx="10">
                  <c:v>285.91200000000003</c:v>
                </c:pt>
                <c:pt idx="11">
                  <c:v>309.26</c:v>
                </c:pt>
                <c:pt idx="12">
                  <c:v>334.481</c:v>
                </c:pt>
                <c:pt idx="13">
                  <c:v>361.56899999999996</c:v>
                </c:pt>
                <c:pt idx="14">
                  <c:v>390.456</c:v>
                </c:pt>
                <c:pt idx="15">
                  <c:v>421.34</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08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East Asia</c:v>
                </c:pt>
                <c:pt idx="2">
                  <c:v>South Korea</c:v>
                </c:pt>
              </c:strCache>
            </c:strRef>
          </c:cat>
          <c:val>
            <c:numRef>
              <c:f>Sheet1!$B$2:$B$4</c:f>
              <c:numCache>
                <c:formatCode>General</c:formatCode>
                <c:ptCount val="3"/>
                <c:pt idx="0">
                  <c:v>0.07440747619145949</c:v>
                </c:pt>
                <c:pt idx="1">
                  <c:v>0.08325207813640212</c:v>
                </c:pt>
                <c:pt idx="2">
                  <c:v>0.07940577400000359</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1239030548414287"/>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08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196.239</c:v>
                </c:pt>
                <c:pt idx="2">
                  <c:v>211.356</c:v>
                </c:pt>
                <c:pt idx="3">
                  <c:v>227.53</c:v>
                </c:pt>
                <c:pt idx="4">
                  <c:v>245.161</c:v>
                </c:pt>
                <c:pt idx="5">
                  <c:v>264.599</c:v>
                </c:pt>
                <c:pt idx="6">
                  <c:v>285.91200000000003</c:v>
                </c:pt>
                <c:pt idx="7">
                  <c:v>309.26</c:v>
                </c:pt>
                <c:pt idx="8">
                  <c:v>334.481</c:v>
                </c:pt>
                <c:pt idx="9">
                  <c:v>361.56899999999996</c:v>
                </c:pt>
                <c:pt idx="10">
                  <c:v>390.456</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196.239</c:v>
                </c:pt>
                <c:pt idx="1">
                  <c:v>15.11699999999999</c:v>
                </c:pt>
                <c:pt idx="2">
                  <c:v>16.174000000000007</c:v>
                </c:pt>
                <c:pt idx="3">
                  <c:v>17.631</c:v>
                </c:pt>
                <c:pt idx="4">
                  <c:v>19.437999999999988</c:v>
                </c:pt>
                <c:pt idx="5">
                  <c:v>21.313000000000045</c:v>
                </c:pt>
                <c:pt idx="6">
                  <c:v>23.347999999999956</c:v>
                </c:pt>
                <c:pt idx="7">
                  <c:v>25.221000000000004</c:v>
                </c:pt>
                <c:pt idx="8">
                  <c:v>27.087999999999965</c:v>
                </c:pt>
                <c:pt idx="9">
                  <c:v>28.887000000000057</c:v>
                </c:pt>
                <c:pt idx="10">
                  <c:v>30.883999999999958</c:v>
                </c:pt>
                <c:pt idx="11">
                  <c:v>421.34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09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South Korea</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 Asia</c:v>
                </c:pt>
                <c:pt idx="1">
                  <c:v>Share of Global</c:v>
                </c:pt>
              </c:strCache>
            </c:strRef>
          </c:cat>
          <c:val>
            <c:numRef>
              <c:f>Sheet1!$B$2:$B$3</c:f>
              <c:numCache>
                <c:formatCode>General</c:formatCode>
                <c:ptCount val="2"/>
                <c:pt idx="0">
                  <c:v>14.713073364058202</c:v>
                </c:pt>
                <c:pt idx="1">
                  <c:v>3.5785704829161777</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East Asia</c:v>
                </c:pt>
                <c:pt idx="1">
                  <c:v>Share of Global</c:v>
                </c:pt>
              </c:strCache>
            </c:strRef>
          </c:cat>
          <c:val>
            <c:numRef>
              <c:f>Sheet1!$C$2:$C$3</c:f>
              <c:numCache>
                <c:formatCode>General</c:formatCode>
                <c:ptCount val="2"/>
                <c:pt idx="0">
                  <c:v>85.2869266359418</c:v>
                </c:pt>
                <c:pt idx="1">
                  <c:v>96.42142951708382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10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62.596</c:v>
                </c:pt>
                <c:pt idx="1">
                  <c:v>67.60600000000001</c:v>
                </c:pt>
                <c:pt idx="2">
                  <c:v>72.896</c:v>
                </c:pt>
                <c:pt idx="3">
                  <c:v>78.376</c:v>
                </c:pt>
                <c:pt idx="4">
                  <c:v>84.23800000000001</c:v>
                </c:pt>
                <c:pt idx="5">
                  <c:v>90.571</c:v>
                </c:pt>
                <c:pt idx="6">
                  <c:v>97.39699999999999</c:v>
                </c:pt>
                <c:pt idx="7">
                  <c:v>104.707</c:v>
                </c:pt>
                <c:pt idx="8">
                  <c:v>112.658</c:v>
                </c:pt>
                <c:pt idx="9">
                  <c:v>121.852</c:v>
                </c:pt>
                <c:pt idx="10">
                  <c:v>132.06</c:v>
                </c:pt>
                <c:pt idx="11">
                  <c:v>143.213</c:v>
                </c:pt>
                <c:pt idx="12">
                  <c:v>155.126</c:v>
                </c:pt>
                <c:pt idx="13">
                  <c:v>167.73</c:v>
                </c:pt>
                <c:pt idx="14">
                  <c:v>180.823</c:v>
                </c:pt>
                <c:pt idx="15">
                  <c:v>194.422</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1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South Asia Pacific</c:v>
                </c:pt>
                <c:pt idx="2">
                  <c:v>India</c:v>
                </c:pt>
              </c:strCache>
            </c:strRef>
          </c:cat>
          <c:val>
            <c:numRef>
              <c:f>Sheet1!$B$2:$B$4</c:f>
              <c:numCache>
                <c:formatCode>General</c:formatCode>
                <c:ptCount val="3"/>
                <c:pt idx="0">
                  <c:v>0.05917522569547584</c:v>
                </c:pt>
                <c:pt idx="1">
                  <c:v>0.07693225415033722</c:v>
                </c:pt>
                <c:pt idx="2">
                  <c:v>0.07938312574367656</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716721975396337"/>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1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90.571</c:v>
                </c:pt>
                <c:pt idx="2">
                  <c:v>97.39699999999999</c:v>
                </c:pt>
                <c:pt idx="3">
                  <c:v>104.707</c:v>
                </c:pt>
                <c:pt idx="4">
                  <c:v>112.658</c:v>
                </c:pt>
                <c:pt idx="5">
                  <c:v>121.852</c:v>
                </c:pt>
                <c:pt idx="6">
                  <c:v>132.06</c:v>
                </c:pt>
                <c:pt idx="7">
                  <c:v>143.213</c:v>
                </c:pt>
                <c:pt idx="8">
                  <c:v>155.126</c:v>
                </c:pt>
                <c:pt idx="9">
                  <c:v>167.73</c:v>
                </c:pt>
                <c:pt idx="10">
                  <c:v>180.823</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90.571</c:v>
                </c:pt>
                <c:pt idx="1">
                  <c:v>6.825999999999993</c:v>
                </c:pt>
                <c:pt idx="2">
                  <c:v>7.310000000000002</c:v>
                </c:pt>
                <c:pt idx="3">
                  <c:v>7.951000000000008</c:v>
                </c:pt>
                <c:pt idx="4">
                  <c:v>9.194000000000003</c:v>
                </c:pt>
                <c:pt idx="5">
                  <c:v>10.207999999999998</c:v>
                </c:pt>
                <c:pt idx="6">
                  <c:v>11.152999999999992</c:v>
                </c:pt>
                <c:pt idx="7">
                  <c:v>11.913000000000011</c:v>
                </c:pt>
                <c:pt idx="8">
                  <c:v>12.603999999999985</c:v>
                </c:pt>
                <c:pt idx="9">
                  <c:v>13.093000000000018</c:v>
                </c:pt>
                <c:pt idx="10">
                  <c:v>13.59899999999999</c:v>
                </c:pt>
                <c:pt idx="11">
                  <c:v>194.422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1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India</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South Asia Pacific</c:v>
                </c:pt>
                <c:pt idx="1">
                  <c:v>Share of Global</c:v>
                </c:pt>
              </c:strCache>
            </c:strRef>
          </c:cat>
          <c:val>
            <c:numRef>
              <c:f>Sheet1!$B$2:$B$3</c:f>
              <c:numCache>
                <c:formatCode>General</c:formatCode>
                <c:ptCount val="2"/>
                <c:pt idx="0">
                  <c:v>42.851938417282526</c:v>
                </c:pt>
                <c:pt idx="1">
                  <c:v>5.334725753830187</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South Asia Pacific</c:v>
                </c:pt>
                <c:pt idx="1">
                  <c:v>Share of Global</c:v>
                </c:pt>
              </c:strCache>
            </c:strRef>
          </c:cat>
          <c:val>
            <c:numRef>
              <c:f>Sheet1!$C$2:$C$3</c:f>
              <c:numCache>
                <c:formatCode>General</c:formatCode>
                <c:ptCount val="2"/>
                <c:pt idx="0">
                  <c:v>57.148061582717474</c:v>
                </c:pt>
                <c:pt idx="1">
                  <c:v>94.66527424616982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1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138.936</c:v>
                </c:pt>
                <c:pt idx="1">
                  <c:v>150.644</c:v>
                </c:pt>
                <c:pt idx="2">
                  <c:v>163.15</c:v>
                </c:pt>
                <c:pt idx="3">
                  <c:v>176.40200000000002</c:v>
                </c:pt>
                <c:pt idx="4">
                  <c:v>190.725</c:v>
                </c:pt>
                <c:pt idx="5">
                  <c:v>207.27700000000002</c:v>
                </c:pt>
                <c:pt idx="6">
                  <c:v>225.641</c:v>
                </c:pt>
                <c:pt idx="7">
                  <c:v>245.875</c:v>
                </c:pt>
                <c:pt idx="8">
                  <c:v>268.534</c:v>
                </c:pt>
                <c:pt idx="9">
                  <c:v>294.896</c:v>
                </c:pt>
                <c:pt idx="10">
                  <c:v>324.893</c:v>
                </c:pt>
                <c:pt idx="11">
                  <c:v>358.64300000000003</c:v>
                </c:pt>
                <c:pt idx="12">
                  <c:v>395.765</c:v>
                </c:pt>
                <c:pt idx="13">
                  <c:v>436.44100000000003</c:v>
                </c:pt>
                <c:pt idx="14">
                  <c:v>480.302</c:v>
                </c:pt>
                <c:pt idx="15">
                  <c:v>527.5930000000001</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1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South Asia Pacific</c:v>
                </c:pt>
                <c:pt idx="2">
                  <c:v>India</c:v>
                </c:pt>
              </c:strCache>
            </c:strRef>
          </c:cat>
          <c:val>
            <c:numRef>
              <c:f>Sheet1!$B$2:$B$4</c:f>
              <c:numCache>
                <c:formatCode>General</c:formatCode>
                <c:ptCount val="3"/>
                <c:pt idx="0">
                  <c:v>0.07440747619145949</c:v>
                </c:pt>
                <c:pt idx="1">
                  <c:v>0.09157049867933754</c:v>
                </c:pt>
                <c:pt idx="2">
                  <c:v>0.09793035159823082</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3220597465761164"/>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1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207.27700000000002</c:v>
                </c:pt>
                <c:pt idx="2">
                  <c:v>225.641</c:v>
                </c:pt>
                <c:pt idx="3">
                  <c:v>245.875</c:v>
                </c:pt>
                <c:pt idx="4">
                  <c:v>268.534</c:v>
                </c:pt>
                <c:pt idx="5">
                  <c:v>294.896</c:v>
                </c:pt>
                <c:pt idx="6">
                  <c:v>324.893</c:v>
                </c:pt>
                <c:pt idx="7">
                  <c:v>358.64300000000003</c:v>
                </c:pt>
                <c:pt idx="8">
                  <c:v>395.765</c:v>
                </c:pt>
                <c:pt idx="9">
                  <c:v>436.44100000000003</c:v>
                </c:pt>
                <c:pt idx="10">
                  <c:v>480.302</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207.27700000000002</c:v>
                </c:pt>
                <c:pt idx="1">
                  <c:v>18.363999999999976</c:v>
                </c:pt>
                <c:pt idx="2">
                  <c:v>20.23400000000001</c:v>
                </c:pt>
                <c:pt idx="3">
                  <c:v>22.658999999999992</c:v>
                </c:pt>
                <c:pt idx="4">
                  <c:v>26.362000000000023</c:v>
                </c:pt>
                <c:pt idx="5">
                  <c:v>29.996999999999957</c:v>
                </c:pt>
                <c:pt idx="6">
                  <c:v>33.75000000000006</c:v>
                </c:pt>
                <c:pt idx="7">
                  <c:v>37.12199999999996</c:v>
                </c:pt>
                <c:pt idx="8">
                  <c:v>40.676000000000045</c:v>
                </c:pt>
                <c:pt idx="9">
                  <c:v>43.86099999999999</c:v>
                </c:pt>
                <c:pt idx="10">
                  <c:v>47.291000000000054</c:v>
                </c:pt>
                <c:pt idx="11">
                  <c:v>527.5930000000001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1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India</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South Asia Pacific</c:v>
                </c:pt>
                <c:pt idx="1">
                  <c:v>Share of Global</c:v>
                </c:pt>
              </c:strCache>
            </c:strRef>
          </c:cat>
          <c:val>
            <c:numRef>
              <c:f>Sheet1!$B$2:$B$3</c:f>
              <c:numCache>
                <c:formatCode>General</c:formatCode>
                <c:ptCount val="2"/>
                <c:pt idx="0">
                  <c:v>39.89372042042215</c:v>
                </c:pt>
                <c:pt idx="1">
                  <c:v>3.77985698045453</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South Asia Pacific</c:v>
                </c:pt>
                <c:pt idx="1">
                  <c:v>Share of Global</c:v>
                </c:pt>
              </c:strCache>
            </c:strRef>
          </c:cat>
          <c:val>
            <c:numRef>
              <c:f>Sheet1!$C$2:$C$3</c:f>
              <c:numCache>
                <c:formatCode>General</c:formatCode>
                <c:ptCount val="2"/>
                <c:pt idx="0">
                  <c:v>60.10627957957785</c:v>
                </c:pt>
                <c:pt idx="1">
                  <c:v>96.22014301954547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1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62.766</c:v>
                </c:pt>
                <c:pt idx="1">
                  <c:v>66.134</c:v>
                </c:pt>
                <c:pt idx="2">
                  <c:v>69.979</c:v>
                </c:pt>
                <c:pt idx="3">
                  <c:v>74.346</c:v>
                </c:pt>
                <c:pt idx="4">
                  <c:v>79.306</c:v>
                </c:pt>
                <c:pt idx="5">
                  <c:v>84.88499999999999</c:v>
                </c:pt>
                <c:pt idx="6">
                  <c:v>91.083</c:v>
                </c:pt>
                <c:pt idx="7">
                  <c:v>98.025</c:v>
                </c:pt>
                <c:pt idx="8">
                  <c:v>105.789</c:v>
                </c:pt>
                <c:pt idx="9">
                  <c:v>114.45000000000002</c:v>
                </c:pt>
                <c:pt idx="10">
                  <c:v>123.912</c:v>
                </c:pt>
                <c:pt idx="11">
                  <c:v>133.93200000000002</c:v>
                </c:pt>
                <c:pt idx="12">
                  <c:v>144.485</c:v>
                </c:pt>
                <c:pt idx="13">
                  <c:v>155.611</c:v>
                </c:pt>
                <c:pt idx="14">
                  <c:v>167.219</c:v>
                </c:pt>
                <c:pt idx="15">
                  <c:v>179.34199999999998</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1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South Asia Pacific</c:v>
                </c:pt>
                <c:pt idx="2">
                  <c:v>ASEAN</c:v>
                </c:pt>
              </c:strCache>
            </c:strRef>
          </c:cat>
          <c:val>
            <c:numRef>
              <c:f>Sheet1!$B$2:$B$4</c:f>
              <c:numCache>
                <c:formatCode>General</c:formatCode>
                <c:ptCount val="3"/>
                <c:pt idx="0">
                  <c:v>0.05917522569547584</c:v>
                </c:pt>
                <c:pt idx="1">
                  <c:v>0.07693225415033722</c:v>
                </c:pt>
                <c:pt idx="2">
                  <c:v>0.07766829366965333</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4852196454032"/>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1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84.88499999999999</c:v>
                </c:pt>
                <c:pt idx="2">
                  <c:v>91.083</c:v>
                </c:pt>
                <c:pt idx="3">
                  <c:v>98.025</c:v>
                </c:pt>
                <c:pt idx="4">
                  <c:v>105.789</c:v>
                </c:pt>
                <c:pt idx="5">
                  <c:v>114.45000000000002</c:v>
                </c:pt>
                <c:pt idx="6">
                  <c:v>123.912</c:v>
                </c:pt>
                <c:pt idx="7">
                  <c:v>133.93200000000002</c:v>
                </c:pt>
                <c:pt idx="8">
                  <c:v>144.485</c:v>
                </c:pt>
                <c:pt idx="9">
                  <c:v>155.611</c:v>
                </c:pt>
                <c:pt idx="10">
                  <c:v>167.219</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84.88499999999999</c:v>
                </c:pt>
                <c:pt idx="1">
                  <c:v>6.1980000000000075</c:v>
                </c:pt>
                <c:pt idx="2">
                  <c:v>6.942000000000007</c:v>
                </c:pt>
                <c:pt idx="3">
                  <c:v>7.763999999999996</c:v>
                </c:pt>
                <c:pt idx="4">
                  <c:v>8.661000000000016</c:v>
                </c:pt>
                <c:pt idx="5">
                  <c:v>9.461999999999989</c:v>
                </c:pt>
                <c:pt idx="6">
                  <c:v>10.02000000000001</c:v>
                </c:pt>
                <c:pt idx="7">
                  <c:v>10.552999999999997</c:v>
                </c:pt>
                <c:pt idx="8">
                  <c:v>11.125999999999976</c:v>
                </c:pt>
                <c:pt idx="9">
                  <c:v>11.608000000000004</c:v>
                </c:pt>
                <c:pt idx="10">
                  <c:v>12.12299999999999</c:v>
                </c:pt>
                <c:pt idx="11">
                  <c:v>179.34199999999998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1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ASEAN</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South Asia Pacific</c:v>
                </c:pt>
                <c:pt idx="1">
                  <c:v>Share of Global</c:v>
                </c:pt>
              </c:strCache>
            </c:strRef>
          </c:cat>
          <c:val>
            <c:numRef>
              <c:f>Sheet1!$B$2:$B$3</c:f>
              <c:numCache>
                <c:formatCode>General</c:formatCode>
                <c:ptCount val="2"/>
                <c:pt idx="0">
                  <c:v>40.16171614038739</c:v>
                </c:pt>
                <c:pt idx="1">
                  <c:v>4.999814461735825</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South Asia Pacific</c:v>
                </c:pt>
                <c:pt idx="1">
                  <c:v>Share of Global</c:v>
                </c:pt>
              </c:strCache>
            </c:strRef>
          </c:cat>
          <c:val>
            <c:numRef>
              <c:f>Sheet1!$C$2:$C$3</c:f>
              <c:numCache>
                <c:formatCode>General</c:formatCode>
                <c:ptCount val="2"/>
                <c:pt idx="0">
                  <c:v>59.83828385961261</c:v>
                </c:pt>
                <c:pt idx="1">
                  <c:v>95.00018553826418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1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145.032</c:v>
                </c:pt>
                <c:pt idx="1">
                  <c:v>154.022</c:v>
                </c:pt>
                <c:pt idx="2">
                  <c:v>164.291</c:v>
                </c:pt>
                <c:pt idx="3">
                  <c:v>175.983</c:v>
                </c:pt>
                <c:pt idx="4">
                  <c:v>189.21800000000002</c:v>
                </c:pt>
                <c:pt idx="5">
                  <c:v>204.65400000000002</c:v>
                </c:pt>
                <c:pt idx="6">
                  <c:v>221.919</c:v>
                </c:pt>
                <c:pt idx="7">
                  <c:v>241.339</c:v>
                </c:pt>
                <c:pt idx="8">
                  <c:v>263.081</c:v>
                </c:pt>
                <c:pt idx="9">
                  <c:v>287.64099999999996</c:v>
                </c:pt>
                <c:pt idx="10">
                  <c:v>314.923</c:v>
                </c:pt>
                <c:pt idx="11">
                  <c:v>344.704</c:v>
                </c:pt>
                <c:pt idx="12">
                  <c:v>376.936</c:v>
                </c:pt>
                <c:pt idx="13">
                  <c:v>411.78799999999995</c:v>
                </c:pt>
                <c:pt idx="14">
                  <c:v>449.226</c:v>
                </c:pt>
                <c:pt idx="15">
                  <c:v>489.403</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1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South Asia Pacific</c:v>
                </c:pt>
                <c:pt idx="2">
                  <c:v>ASEAN</c:v>
                </c:pt>
              </c:strCache>
            </c:strRef>
          </c:cat>
          <c:val>
            <c:numRef>
              <c:f>Sheet1!$B$2:$B$4</c:f>
              <c:numCache>
                <c:formatCode>General</c:formatCode>
                <c:ptCount val="3"/>
                <c:pt idx="0">
                  <c:v>0.07440747619145949</c:v>
                </c:pt>
                <c:pt idx="1">
                  <c:v>0.09157049867933754</c:v>
                </c:pt>
                <c:pt idx="2">
                  <c:v>0.09110020903761384</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236201732171057"/>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1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204.65400000000002</c:v>
                </c:pt>
                <c:pt idx="2">
                  <c:v>221.919</c:v>
                </c:pt>
                <c:pt idx="3">
                  <c:v>241.339</c:v>
                </c:pt>
                <c:pt idx="4">
                  <c:v>263.081</c:v>
                </c:pt>
                <c:pt idx="5">
                  <c:v>287.64099999999996</c:v>
                </c:pt>
                <c:pt idx="6">
                  <c:v>314.923</c:v>
                </c:pt>
                <c:pt idx="7">
                  <c:v>344.704</c:v>
                </c:pt>
                <c:pt idx="8">
                  <c:v>376.936</c:v>
                </c:pt>
                <c:pt idx="9">
                  <c:v>411.78799999999995</c:v>
                </c:pt>
                <c:pt idx="10">
                  <c:v>449.226</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204.65400000000002</c:v>
                </c:pt>
                <c:pt idx="1">
                  <c:v>17.264999999999986</c:v>
                </c:pt>
                <c:pt idx="2">
                  <c:v>19.419999999999987</c:v>
                </c:pt>
                <c:pt idx="3">
                  <c:v>21.74200000000002</c:v>
                </c:pt>
                <c:pt idx="4">
                  <c:v>24.559999999999945</c:v>
                </c:pt>
                <c:pt idx="5">
                  <c:v>27.28200000000004</c:v>
                </c:pt>
                <c:pt idx="6">
                  <c:v>29.781000000000006</c:v>
                </c:pt>
                <c:pt idx="7">
                  <c:v>32.23199999999997</c:v>
                </c:pt>
                <c:pt idx="8">
                  <c:v>34.851999999999975</c:v>
                </c:pt>
                <c:pt idx="9">
                  <c:v>37.438000000000045</c:v>
                </c:pt>
                <c:pt idx="10">
                  <c:v>40.17700000000002</c:v>
                </c:pt>
                <c:pt idx="11">
                  <c:v>489.403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1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ASEAN</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South Asia Pacific</c:v>
                </c:pt>
                <c:pt idx="1">
                  <c:v>Share of Global</c:v>
                </c:pt>
              </c:strCache>
            </c:strRef>
          </c:cat>
          <c:val>
            <c:numRef>
              <c:f>Sheet1!$B$2:$B$3</c:f>
              <c:numCache>
                <c:formatCode>General</c:formatCode>
                <c:ptCount val="2"/>
                <c:pt idx="0">
                  <c:v>39.38888279414057</c:v>
                </c:pt>
                <c:pt idx="1">
                  <c:v>3.7320245395192977</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South Asia Pacific</c:v>
                </c:pt>
                <c:pt idx="1">
                  <c:v>Share of Global</c:v>
                </c:pt>
              </c:strCache>
            </c:strRef>
          </c:cat>
          <c:val>
            <c:numRef>
              <c:f>Sheet1!$C$2:$C$3</c:f>
              <c:numCache>
                <c:formatCode>General</c:formatCode>
                <c:ptCount val="2"/>
                <c:pt idx="0">
                  <c:v>60.61111720585943</c:v>
                </c:pt>
                <c:pt idx="1">
                  <c:v>96.2679754604807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16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16.643</c:v>
                </c:pt>
                <c:pt idx="1">
                  <c:v>17.42</c:v>
                </c:pt>
                <c:pt idx="2">
                  <c:v>18.274</c:v>
                </c:pt>
                <c:pt idx="3">
                  <c:v>19.228</c:v>
                </c:pt>
                <c:pt idx="4">
                  <c:v>20.32</c:v>
                </c:pt>
                <c:pt idx="5">
                  <c:v>21.560000000000002</c:v>
                </c:pt>
                <c:pt idx="6">
                  <c:v>22.953000000000003</c:v>
                </c:pt>
                <c:pt idx="7">
                  <c:v>24.486</c:v>
                </c:pt>
                <c:pt idx="8">
                  <c:v>26.157999999999998</c:v>
                </c:pt>
                <c:pt idx="9">
                  <c:v>27.961000000000002</c:v>
                </c:pt>
                <c:pt idx="10">
                  <c:v>29.878</c:v>
                </c:pt>
                <c:pt idx="11">
                  <c:v>31.872</c:v>
                </c:pt>
                <c:pt idx="12">
                  <c:v>33.95</c:v>
                </c:pt>
                <c:pt idx="13">
                  <c:v>36.111000000000004</c:v>
                </c:pt>
                <c:pt idx="14">
                  <c:v>38.338</c:v>
                </c:pt>
                <c:pt idx="15">
                  <c:v>40.622</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16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South Asia Pacific</c:v>
                </c:pt>
                <c:pt idx="2">
                  <c:v>ANZ</c:v>
                </c:pt>
              </c:strCache>
            </c:strRef>
          </c:cat>
          <c:val>
            <c:numRef>
              <c:f>Sheet1!$B$2:$B$4</c:f>
              <c:numCache>
                <c:formatCode>General</c:formatCode>
                <c:ptCount val="3"/>
                <c:pt idx="0">
                  <c:v>0.05917522569547584</c:v>
                </c:pt>
                <c:pt idx="1">
                  <c:v>0.07693225415033722</c:v>
                </c:pt>
                <c:pt idx="2">
                  <c:v>0.0653964725432421</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385854310295525"/>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16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21.560000000000002</c:v>
                </c:pt>
                <c:pt idx="2">
                  <c:v>22.953000000000003</c:v>
                </c:pt>
                <c:pt idx="3">
                  <c:v>24.486</c:v>
                </c:pt>
                <c:pt idx="4">
                  <c:v>26.157999999999998</c:v>
                </c:pt>
                <c:pt idx="5">
                  <c:v>27.961000000000002</c:v>
                </c:pt>
                <c:pt idx="6">
                  <c:v>29.878</c:v>
                </c:pt>
                <c:pt idx="7">
                  <c:v>31.872</c:v>
                </c:pt>
                <c:pt idx="8">
                  <c:v>33.95</c:v>
                </c:pt>
                <c:pt idx="9">
                  <c:v>36.111000000000004</c:v>
                </c:pt>
                <c:pt idx="10">
                  <c:v>38.338</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21.560000000000002</c:v>
                </c:pt>
                <c:pt idx="1">
                  <c:v>1.3930000000000007</c:v>
                </c:pt>
                <c:pt idx="2">
                  <c:v>1.5329999999999977</c:v>
                </c:pt>
                <c:pt idx="3">
                  <c:v>1.671999999999997</c:v>
                </c:pt>
                <c:pt idx="4">
                  <c:v>1.8030000000000044</c:v>
                </c:pt>
                <c:pt idx="5">
                  <c:v>1.916999999999998</c:v>
                </c:pt>
                <c:pt idx="6">
                  <c:v>1.9939999999999998</c:v>
                </c:pt>
                <c:pt idx="7">
                  <c:v>2.078000000000003</c:v>
                </c:pt>
                <c:pt idx="8">
                  <c:v>2.1610000000000014</c:v>
                </c:pt>
                <c:pt idx="9">
                  <c:v>2.2269999999999968</c:v>
                </c:pt>
                <c:pt idx="10">
                  <c:v>2.283999999999999</c:v>
                </c:pt>
                <c:pt idx="11">
                  <c:v>40.622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16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ANZ</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South Asia Pacific</c:v>
                </c:pt>
                <c:pt idx="1">
                  <c:v>Share of Global</c:v>
                </c:pt>
              </c:strCache>
            </c:strRef>
          </c:cat>
          <c:val>
            <c:numRef>
              <c:f>Sheet1!$B$2:$B$3</c:f>
              <c:numCache>
                <c:formatCode>General</c:formatCode>
                <c:ptCount val="2"/>
                <c:pt idx="0">
                  <c:v>10.200702126250249</c:v>
                </c:pt>
                <c:pt idx="1">
                  <c:v>1.2699063414622656</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South Asia Pacific</c:v>
                </c:pt>
                <c:pt idx="1">
                  <c:v>Share of Global</c:v>
                </c:pt>
              </c:strCache>
            </c:strRef>
          </c:cat>
          <c:val>
            <c:numRef>
              <c:f>Sheet1!$C$2:$C$3</c:f>
              <c:numCache>
                <c:formatCode>General</c:formatCode>
                <c:ptCount val="2"/>
                <c:pt idx="0">
                  <c:v>89.79929787374975</c:v>
                </c:pt>
                <c:pt idx="1">
                  <c:v>98.73009365853774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16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56.522</c:v>
                </c:pt>
                <c:pt idx="1">
                  <c:v>59.439</c:v>
                </c:pt>
                <c:pt idx="2">
                  <c:v>62.667</c:v>
                </c:pt>
                <c:pt idx="3">
                  <c:v>66.293</c:v>
                </c:pt>
                <c:pt idx="4">
                  <c:v>70.423</c:v>
                </c:pt>
                <c:pt idx="5">
                  <c:v>75.309</c:v>
                </c:pt>
                <c:pt idx="6">
                  <c:v>80.833</c:v>
                </c:pt>
                <c:pt idx="7">
                  <c:v>86.972</c:v>
                </c:pt>
                <c:pt idx="8">
                  <c:v>93.754</c:v>
                </c:pt>
                <c:pt idx="9">
                  <c:v>101.17500000000001</c:v>
                </c:pt>
                <c:pt idx="10">
                  <c:v>109.211</c:v>
                </c:pt>
                <c:pt idx="11">
                  <c:v>117.79299999999999</c:v>
                </c:pt>
                <c:pt idx="12">
                  <c:v>126.96600000000001</c:v>
                </c:pt>
                <c:pt idx="13">
                  <c:v>136.756</c:v>
                </c:pt>
                <c:pt idx="14">
                  <c:v>147.12099999999998</c:v>
                </c:pt>
                <c:pt idx="15">
                  <c:v>158.069</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16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South Asia Pacific</c:v>
                </c:pt>
                <c:pt idx="2">
                  <c:v>ANZ</c:v>
                </c:pt>
              </c:strCache>
            </c:strRef>
          </c:cat>
          <c:val>
            <c:numRef>
              <c:f>Sheet1!$B$2:$B$4</c:f>
              <c:numCache>
                <c:formatCode>General</c:formatCode>
                <c:ptCount val="3"/>
                <c:pt idx="0">
                  <c:v>0.07440747619145949</c:v>
                </c:pt>
                <c:pt idx="1">
                  <c:v>0.09157049867933754</c:v>
                </c:pt>
                <c:pt idx="2">
                  <c:v>0.07696101494691177</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236201732171057"/>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16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75.309</c:v>
                </c:pt>
                <c:pt idx="2">
                  <c:v>80.833</c:v>
                </c:pt>
                <c:pt idx="3">
                  <c:v>86.972</c:v>
                </c:pt>
                <c:pt idx="4">
                  <c:v>93.754</c:v>
                </c:pt>
                <c:pt idx="5">
                  <c:v>101.17500000000001</c:v>
                </c:pt>
                <c:pt idx="6">
                  <c:v>109.211</c:v>
                </c:pt>
                <c:pt idx="7">
                  <c:v>117.79299999999999</c:v>
                </c:pt>
                <c:pt idx="8">
                  <c:v>126.96600000000001</c:v>
                </c:pt>
                <c:pt idx="9">
                  <c:v>136.756</c:v>
                </c:pt>
                <c:pt idx="10">
                  <c:v>147.12099999999998</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75.309</c:v>
                </c:pt>
                <c:pt idx="1">
                  <c:v>5.524000000000001</c:v>
                </c:pt>
                <c:pt idx="2">
                  <c:v>6.138999999999996</c:v>
                </c:pt>
                <c:pt idx="3">
                  <c:v>6.782000000000011</c:v>
                </c:pt>
                <c:pt idx="4">
                  <c:v>7.4210000000000065</c:v>
                </c:pt>
                <c:pt idx="5">
                  <c:v>8.035999999999987</c:v>
                </c:pt>
                <c:pt idx="6">
                  <c:v>8.581999999999994</c:v>
                </c:pt>
                <c:pt idx="7">
                  <c:v>9.173000000000016</c:v>
                </c:pt>
                <c:pt idx="8">
                  <c:v>9.789999999999992</c:v>
                </c:pt>
                <c:pt idx="9">
                  <c:v>10.36499999999998</c:v>
                </c:pt>
                <c:pt idx="10">
                  <c:v>10.948000000000008</c:v>
                </c:pt>
                <c:pt idx="11">
                  <c:v>158.069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16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ANZ</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South Asia Pacific</c:v>
                </c:pt>
                <c:pt idx="1">
                  <c:v>Share of Global</c:v>
                </c:pt>
              </c:strCache>
            </c:strRef>
          </c:cat>
          <c:val>
            <c:numRef>
              <c:f>Sheet1!$B$2:$B$3</c:f>
              <c:numCache>
                <c:formatCode>General</c:formatCode>
                <c:ptCount val="2"/>
                <c:pt idx="0">
                  <c:v>14.494402134060081</c:v>
                </c:pt>
                <c:pt idx="1">
                  <c:v>1.3733180687729474</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South Asia Pacific</c:v>
                </c:pt>
                <c:pt idx="1">
                  <c:v>Share of Global</c:v>
                </c:pt>
              </c:strCache>
            </c:strRef>
          </c:cat>
          <c:val>
            <c:numRef>
              <c:f>Sheet1!$C$2:$C$3</c:f>
              <c:numCache>
                <c:formatCode>General</c:formatCode>
                <c:ptCount val="2"/>
                <c:pt idx="0">
                  <c:v>85.50559786593992</c:v>
                </c:pt>
                <c:pt idx="1">
                  <c:v>98.62668193122705</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18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10.261</c:v>
                </c:pt>
                <c:pt idx="1">
                  <c:v>10.963000000000001</c:v>
                </c:pt>
                <c:pt idx="2">
                  <c:v>11.722</c:v>
                </c:pt>
                <c:pt idx="3">
                  <c:v>12.541</c:v>
                </c:pt>
                <c:pt idx="4">
                  <c:v>13.415000000000001</c:v>
                </c:pt>
                <c:pt idx="5">
                  <c:v>14.34</c:v>
                </c:pt>
                <c:pt idx="6">
                  <c:v>15.303</c:v>
                </c:pt>
                <c:pt idx="7">
                  <c:v>16.344</c:v>
                </c:pt>
                <c:pt idx="8">
                  <c:v>17.503</c:v>
                </c:pt>
                <c:pt idx="9">
                  <c:v>18.832</c:v>
                </c:pt>
                <c:pt idx="10">
                  <c:v>20.313000000000002</c:v>
                </c:pt>
                <c:pt idx="11">
                  <c:v>21.917</c:v>
                </c:pt>
                <c:pt idx="12">
                  <c:v>23.609</c:v>
                </c:pt>
                <c:pt idx="13">
                  <c:v>25.384</c:v>
                </c:pt>
                <c:pt idx="14">
                  <c:v>27.223</c:v>
                </c:pt>
                <c:pt idx="15">
                  <c:v>29.121000000000002</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18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South Asia Pacific</c:v>
                </c:pt>
                <c:pt idx="2">
                  <c:v>Rest of South Asia Pacific</c:v>
                </c:pt>
              </c:strCache>
            </c:strRef>
          </c:cat>
          <c:val>
            <c:numRef>
              <c:f>Sheet1!$B$2:$B$4</c:f>
              <c:numCache>
                <c:formatCode>General</c:formatCode>
                <c:ptCount val="3"/>
                <c:pt idx="0">
                  <c:v>0.05917522569547584</c:v>
                </c:pt>
                <c:pt idx="1">
                  <c:v>0.07693225415033722</c:v>
                </c:pt>
                <c:pt idx="2">
                  <c:v>0.07341018882779426</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385854310295525"/>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18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14.34</c:v>
                </c:pt>
                <c:pt idx="2">
                  <c:v>15.303</c:v>
                </c:pt>
                <c:pt idx="3">
                  <c:v>16.344</c:v>
                </c:pt>
                <c:pt idx="4">
                  <c:v>17.503</c:v>
                </c:pt>
                <c:pt idx="5">
                  <c:v>18.832</c:v>
                </c:pt>
                <c:pt idx="6">
                  <c:v>20.313000000000002</c:v>
                </c:pt>
                <c:pt idx="7">
                  <c:v>21.917</c:v>
                </c:pt>
                <c:pt idx="8">
                  <c:v>23.609</c:v>
                </c:pt>
                <c:pt idx="9">
                  <c:v>25.384</c:v>
                </c:pt>
                <c:pt idx="10">
                  <c:v>27.223</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14.34</c:v>
                </c:pt>
                <c:pt idx="1">
                  <c:v>0.963000000000001</c:v>
                </c:pt>
                <c:pt idx="2">
                  <c:v>1.0410000000000004</c:v>
                </c:pt>
                <c:pt idx="3">
                  <c:v>1.158999999999999</c:v>
                </c:pt>
                <c:pt idx="4">
                  <c:v>1.3290000000000006</c:v>
                </c:pt>
                <c:pt idx="5">
                  <c:v>1.4810000000000016</c:v>
                </c:pt>
                <c:pt idx="6">
                  <c:v>1.6039999999999992</c:v>
                </c:pt>
                <c:pt idx="7">
                  <c:v>1.6920000000000002</c:v>
                </c:pt>
                <c:pt idx="8">
                  <c:v>1.7749999999999986</c:v>
                </c:pt>
                <c:pt idx="9">
                  <c:v>1.8389999999999986</c:v>
                </c:pt>
                <c:pt idx="10">
                  <c:v>1.8980000000000032</c:v>
                </c:pt>
                <c:pt idx="11">
                  <c:v>29.121000000000002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19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Rest of South Asia Pacific</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South Asia Pacific</c:v>
                </c:pt>
                <c:pt idx="1">
                  <c:v>Share of Global</c:v>
                </c:pt>
              </c:strCache>
            </c:strRef>
          </c:cat>
          <c:val>
            <c:numRef>
              <c:f>Sheet1!$B$2:$B$3</c:f>
              <c:numCache>
                <c:formatCode>General</c:formatCode>
                <c:ptCount val="2"/>
                <c:pt idx="0">
                  <c:v>6.784697054287039</c:v>
                </c:pt>
                <c:pt idx="1">
                  <c:v>0.8446408597666458</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South Asia Pacific</c:v>
                </c:pt>
                <c:pt idx="1">
                  <c:v>Share of Global</c:v>
                </c:pt>
              </c:strCache>
            </c:strRef>
          </c:cat>
          <c:val>
            <c:numRef>
              <c:f>Sheet1!$C$2:$C$3</c:f>
              <c:numCache>
                <c:formatCode>General</c:formatCode>
                <c:ptCount val="2"/>
                <c:pt idx="0">
                  <c:v>93.21530294571296</c:v>
                </c:pt>
                <c:pt idx="1">
                  <c:v>99.15535914023336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19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22.528</c:v>
                </c:pt>
                <c:pt idx="1">
                  <c:v>24.2</c:v>
                </c:pt>
                <c:pt idx="2">
                  <c:v>26.007</c:v>
                </c:pt>
                <c:pt idx="3">
                  <c:v>27.96</c:v>
                </c:pt>
                <c:pt idx="4">
                  <c:v>30.041999999999998</c:v>
                </c:pt>
                <c:pt idx="5">
                  <c:v>32.334</c:v>
                </c:pt>
                <c:pt idx="6">
                  <c:v>34.766</c:v>
                </c:pt>
                <c:pt idx="7">
                  <c:v>37.441</c:v>
                </c:pt>
                <c:pt idx="8">
                  <c:v>40.45</c:v>
                </c:pt>
                <c:pt idx="9">
                  <c:v>43.921</c:v>
                </c:pt>
                <c:pt idx="10">
                  <c:v>47.830999999999996</c:v>
                </c:pt>
                <c:pt idx="11">
                  <c:v>52.136</c:v>
                </c:pt>
                <c:pt idx="12">
                  <c:v>56.787</c:v>
                </c:pt>
                <c:pt idx="13">
                  <c:v>61.78</c:v>
                </c:pt>
                <c:pt idx="14">
                  <c:v>67.113</c:v>
                </c:pt>
                <c:pt idx="15">
                  <c:v>72.787</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19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South Asia Pacific</c:v>
                </c:pt>
                <c:pt idx="2">
                  <c:v>Rest of South Asia Pacific</c:v>
                </c:pt>
              </c:strCache>
            </c:strRef>
          </c:cat>
          <c:val>
            <c:numRef>
              <c:f>Sheet1!$B$2:$B$4</c:f>
              <c:numCache>
                <c:formatCode>General</c:formatCode>
                <c:ptCount val="3"/>
                <c:pt idx="0">
                  <c:v>0.07440747619145949</c:v>
                </c:pt>
                <c:pt idx="1">
                  <c:v>0.09157049867933754</c:v>
                </c:pt>
                <c:pt idx="2">
                  <c:v>0.08452467773132977</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236201732171057"/>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19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32.334</c:v>
                </c:pt>
                <c:pt idx="2">
                  <c:v>34.766</c:v>
                </c:pt>
                <c:pt idx="3">
                  <c:v>37.441</c:v>
                </c:pt>
                <c:pt idx="4">
                  <c:v>40.45</c:v>
                </c:pt>
                <c:pt idx="5">
                  <c:v>43.921</c:v>
                </c:pt>
                <c:pt idx="6">
                  <c:v>47.830999999999996</c:v>
                </c:pt>
                <c:pt idx="7">
                  <c:v>52.136</c:v>
                </c:pt>
                <c:pt idx="8">
                  <c:v>56.787</c:v>
                </c:pt>
                <c:pt idx="9">
                  <c:v>61.78</c:v>
                </c:pt>
                <c:pt idx="10">
                  <c:v>67.113</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32.334</c:v>
                </c:pt>
                <c:pt idx="1">
                  <c:v>2.431999999999995</c:v>
                </c:pt>
                <c:pt idx="2">
                  <c:v>2.6750000000000043</c:v>
                </c:pt>
                <c:pt idx="3">
                  <c:v>3.0090000000000003</c:v>
                </c:pt>
                <c:pt idx="4">
                  <c:v>3.4709999999999965</c:v>
                </c:pt>
                <c:pt idx="5">
                  <c:v>3.9099999999999966</c:v>
                </c:pt>
                <c:pt idx="6">
                  <c:v>4.305000000000007</c:v>
                </c:pt>
                <c:pt idx="7">
                  <c:v>4.650999999999996</c:v>
                </c:pt>
                <c:pt idx="8">
                  <c:v>4.993000000000002</c:v>
                </c:pt>
                <c:pt idx="9">
                  <c:v>5.332999999999998</c:v>
                </c:pt>
                <c:pt idx="10">
                  <c:v>5.674000000000007</c:v>
                </c:pt>
                <c:pt idx="11">
                  <c:v>72.787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19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Rest of South Asia Pacific</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South Asia Pacific</c:v>
                </c:pt>
                <c:pt idx="1">
                  <c:v>Share of Global</c:v>
                </c:pt>
              </c:strCache>
            </c:strRef>
          </c:cat>
          <c:val>
            <c:numRef>
              <c:f>Sheet1!$B$2:$B$3</c:f>
              <c:numCache>
                <c:formatCode>General</c:formatCode>
                <c:ptCount val="2"/>
                <c:pt idx="0">
                  <c:v>6.223187117113476</c:v>
                </c:pt>
                <c:pt idx="1">
                  <c:v>0.5896355871901695</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South Asia Pacific</c:v>
                </c:pt>
                <c:pt idx="1">
                  <c:v>Share of Global</c:v>
                </c:pt>
              </c:strCache>
            </c:strRef>
          </c:cat>
          <c:val>
            <c:numRef>
              <c:f>Sheet1!$C$2:$C$3</c:f>
              <c:numCache>
                <c:formatCode>General</c:formatCode>
                <c:ptCount val="2"/>
                <c:pt idx="0">
                  <c:v>93.77681288288653</c:v>
                </c:pt>
                <c:pt idx="1">
                  <c:v>99.41036441280983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2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13.63</c:v>
                </c:pt>
                <c:pt idx="1">
                  <c:v>14.568000000000001</c:v>
                </c:pt>
                <c:pt idx="2">
                  <c:v>15.616</c:v>
                </c:pt>
                <c:pt idx="3">
                  <c:v>16.737</c:v>
                </c:pt>
                <c:pt idx="4">
                  <c:v>17.916</c:v>
                </c:pt>
                <c:pt idx="5">
                  <c:v>19.104</c:v>
                </c:pt>
                <c:pt idx="6">
                  <c:v>20.312</c:v>
                </c:pt>
                <c:pt idx="7">
                  <c:v>21.538</c:v>
                </c:pt>
                <c:pt idx="8">
                  <c:v>22.766000000000002</c:v>
                </c:pt>
                <c:pt idx="9">
                  <c:v>24.034</c:v>
                </c:pt>
                <c:pt idx="10">
                  <c:v>25.368000000000002</c:v>
                </c:pt>
                <c:pt idx="11">
                  <c:v>26.843</c:v>
                </c:pt>
                <c:pt idx="12">
                  <c:v>28.446</c:v>
                </c:pt>
                <c:pt idx="13">
                  <c:v>30.133</c:v>
                </c:pt>
                <c:pt idx="14">
                  <c:v>31.872999999999998</c:v>
                </c:pt>
                <c:pt idx="15">
                  <c:v>33.655</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2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Middle East &amp; Africa</c:v>
                </c:pt>
                <c:pt idx="2">
                  <c:v>KSA</c:v>
                </c:pt>
              </c:strCache>
            </c:strRef>
          </c:cat>
          <c:val>
            <c:numRef>
              <c:f>Sheet1!$B$2:$B$4</c:f>
              <c:numCache>
                <c:formatCode>General</c:formatCode>
                <c:ptCount val="3"/>
                <c:pt idx="0">
                  <c:v>0.05917522569547584</c:v>
                </c:pt>
                <c:pt idx="1">
                  <c:v>0.05108115414440806</c:v>
                </c:pt>
                <c:pt idx="2">
                  <c:v>0.05826035947832797</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7988655468889239"/>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2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19.104</c:v>
                </c:pt>
                <c:pt idx="2">
                  <c:v>20.312</c:v>
                </c:pt>
                <c:pt idx="3">
                  <c:v>21.538</c:v>
                </c:pt>
                <c:pt idx="4">
                  <c:v>22.766000000000002</c:v>
                </c:pt>
                <c:pt idx="5">
                  <c:v>24.034</c:v>
                </c:pt>
                <c:pt idx="6">
                  <c:v>25.368000000000002</c:v>
                </c:pt>
                <c:pt idx="7">
                  <c:v>26.843</c:v>
                </c:pt>
                <c:pt idx="8">
                  <c:v>28.446</c:v>
                </c:pt>
                <c:pt idx="9">
                  <c:v>30.133</c:v>
                </c:pt>
                <c:pt idx="10">
                  <c:v>31.872999999999998</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19.104</c:v>
                </c:pt>
                <c:pt idx="1">
                  <c:v>1.208000000000002</c:v>
                </c:pt>
                <c:pt idx="2">
                  <c:v>1.225999999999999</c:v>
                </c:pt>
                <c:pt idx="3">
                  <c:v>1.2280000000000015</c:v>
                </c:pt>
                <c:pt idx="4">
                  <c:v>1.2679999999999971</c:v>
                </c:pt>
                <c:pt idx="5">
                  <c:v>1.3340000000000032</c:v>
                </c:pt>
                <c:pt idx="6">
                  <c:v>1.4749999999999979</c:v>
                </c:pt>
                <c:pt idx="7">
                  <c:v>1.6030000000000015</c:v>
                </c:pt>
                <c:pt idx="8">
                  <c:v>1.6869999999999976</c:v>
                </c:pt>
                <c:pt idx="9">
                  <c:v>1.7399999999999984</c:v>
                </c:pt>
                <c:pt idx="10">
                  <c:v>1.7820000000000036</c:v>
                </c:pt>
                <c:pt idx="11">
                  <c:v>33.655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2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KSA</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Middle East &amp; Africa</c:v>
                </c:pt>
                <c:pt idx="1">
                  <c:v>Share of Global</c:v>
                </c:pt>
              </c:strCache>
            </c:strRef>
          </c:cat>
          <c:val>
            <c:numRef>
              <c:f>Sheet1!$B$2:$B$3</c:f>
              <c:numCache>
                <c:formatCode>General</c:formatCode>
                <c:ptCount val="2"/>
                <c:pt idx="0">
                  <c:v>22.18068246467508</c:v>
                </c:pt>
                <c:pt idx="1">
                  <c:v>1.1252453964422597</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Middle East &amp; Africa</c:v>
                </c:pt>
                <c:pt idx="1">
                  <c:v>Share of Global</c:v>
                </c:pt>
              </c:strCache>
            </c:strRef>
          </c:cat>
          <c:val>
            <c:numRef>
              <c:f>Sheet1!$C$2:$C$3</c:f>
              <c:numCache>
                <c:formatCode>General</c:formatCode>
                <c:ptCount val="2"/>
                <c:pt idx="0">
                  <c:v>77.81931753532493</c:v>
                </c:pt>
                <c:pt idx="1">
                  <c:v>98.87475460355775</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2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41.248000000000005</c:v>
                </c:pt>
                <c:pt idx="1">
                  <c:v>44.29600000000001</c:v>
                </c:pt>
                <c:pt idx="2">
                  <c:v>47.672999999999995</c:v>
                </c:pt>
                <c:pt idx="3">
                  <c:v>51.342999999999996</c:v>
                </c:pt>
                <c:pt idx="4">
                  <c:v>55.242999999999995</c:v>
                </c:pt>
                <c:pt idx="5">
                  <c:v>59.439</c:v>
                </c:pt>
                <c:pt idx="6">
                  <c:v>63.824</c:v>
                </c:pt>
                <c:pt idx="7">
                  <c:v>68.414</c:v>
                </c:pt>
                <c:pt idx="8">
                  <c:v>73.166</c:v>
                </c:pt>
                <c:pt idx="9">
                  <c:v>78.227</c:v>
                </c:pt>
                <c:pt idx="10">
                  <c:v>83.71900000000001</c:v>
                </c:pt>
                <c:pt idx="11">
                  <c:v>89.895</c:v>
                </c:pt>
                <c:pt idx="12">
                  <c:v>96.721</c:v>
                </c:pt>
                <c:pt idx="13">
                  <c:v>104.09899999999999</c:v>
                </c:pt>
                <c:pt idx="14">
                  <c:v>111.97</c:v>
                </c:pt>
                <c:pt idx="15">
                  <c:v>120.31899999999999</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2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Middle East &amp; Africa</c:v>
                </c:pt>
                <c:pt idx="2">
                  <c:v>KSA</c:v>
                </c:pt>
              </c:strCache>
            </c:strRef>
          </c:cat>
          <c:val>
            <c:numRef>
              <c:f>Sheet1!$B$2:$B$4</c:f>
              <c:numCache>
                <c:formatCode>General</c:formatCode>
                <c:ptCount val="3"/>
                <c:pt idx="0">
                  <c:v>0.07440747619145949</c:v>
                </c:pt>
                <c:pt idx="1">
                  <c:v>0.06701743857221287</c:v>
                </c:pt>
                <c:pt idx="2">
                  <c:v>0.0730655983505002</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045009285847031"/>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2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59.439</c:v>
                </c:pt>
                <c:pt idx="2">
                  <c:v>63.824</c:v>
                </c:pt>
                <c:pt idx="3">
                  <c:v>68.414</c:v>
                </c:pt>
                <c:pt idx="4">
                  <c:v>73.166</c:v>
                </c:pt>
                <c:pt idx="5">
                  <c:v>78.227</c:v>
                </c:pt>
                <c:pt idx="6">
                  <c:v>83.71900000000001</c:v>
                </c:pt>
                <c:pt idx="7">
                  <c:v>89.895</c:v>
                </c:pt>
                <c:pt idx="8">
                  <c:v>96.721</c:v>
                </c:pt>
                <c:pt idx="9">
                  <c:v>104.09899999999999</c:v>
                </c:pt>
                <c:pt idx="10">
                  <c:v>111.97</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59.439</c:v>
                </c:pt>
                <c:pt idx="1">
                  <c:v>4.384999999999998</c:v>
                </c:pt>
                <c:pt idx="2">
                  <c:v>4.590000000000003</c:v>
                </c:pt>
                <c:pt idx="3">
                  <c:v>4.751999999999995</c:v>
                </c:pt>
                <c:pt idx="4">
                  <c:v>5.061000000000007</c:v>
                </c:pt>
                <c:pt idx="5">
                  <c:v>5.492000000000004</c:v>
                </c:pt>
                <c:pt idx="6">
                  <c:v>6.175999999999988</c:v>
                </c:pt>
                <c:pt idx="7">
                  <c:v>6.826000000000008</c:v>
                </c:pt>
                <c:pt idx="8">
                  <c:v>7.377999999999986</c:v>
                </c:pt>
                <c:pt idx="9">
                  <c:v>7.871000000000009</c:v>
                </c:pt>
                <c:pt idx="10">
                  <c:v>8.34899999999999</c:v>
                </c:pt>
                <c:pt idx="11">
                  <c:v>120.31899999999999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2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KSA</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Middle East &amp; Africa</c:v>
                </c:pt>
                <c:pt idx="1">
                  <c:v>Share of Global</c:v>
                </c:pt>
              </c:strCache>
            </c:strRef>
          </c:cat>
          <c:val>
            <c:numRef>
              <c:f>Sheet1!$B$2:$B$3</c:f>
              <c:numCache>
                <c:formatCode>General</c:formatCode>
                <c:ptCount val="2"/>
                <c:pt idx="0">
                  <c:v>23.287311649336708</c:v>
                </c:pt>
                <c:pt idx="1">
                  <c:v>1.0839163007050314</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Middle East &amp; Africa</c:v>
                </c:pt>
                <c:pt idx="1">
                  <c:v>Share of Global</c:v>
                </c:pt>
              </c:strCache>
            </c:strRef>
          </c:cat>
          <c:val>
            <c:numRef>
              <c:f>Sheet1!$C$2:$C$3</c:f>
              <c:numCache>
                <c:formatCode>General</c:formatCode>
                <c:ptCount val="2"/>
                <c:pt idx="0">
                  <c:v>76.71268835066329</c:v>
                </c:pt>
                <c:pt idx="1">
                  <c:v>98.91608369929497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2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17.835</c:v>
                </c:pt>
                <c:pt idx="1">
                  <c:v>18.508</c:v>
                </c:pt>
                <c:pt idx="2">
                  <c:v>19.253</c:v>
                </c:pt>
                <c:pt idx="3">
                  <c:v>20.082</c:v>
                </c:pt>
                <c:pt idx="4">
                  <c:v>21.022000000000002</c:v>
                </c:pt>
                <c:pt idx="5">
                  <c:v>22.076</c:v>
                </c:pt>
                <c:pt idx="6">
                  <c:v>23.247999999999998</c:v>
                </c:pt>
                <c:pt idx="7">
                  <c:v>24.552</c:v>
                </c:pt>
                <c:pt idx="8">
                  <c:v>25.982</c:v>
                </c:pt>
                <c:pt idx="9">
                  <c:v>27.513</c:v>
                </c:pt>
                <c:pt idx="10">
                  <c:v>29.099999999999998</c:v>
                </c:pt>
                <c:pt idx="11">
                  <c:v>30.705999999999996</c:v>
                </c:pt>
                <c:pt idx="12">
                  <c:v>32.341</c:v>
                </c:pt>
                <c:pt idx="13">
                  <c:v>34.025</c:v>
                </c:pt>
                <c:pt idx="14">
                  <c:v>35.741</c:v>
                </c:pt>
                <c:pt idx="15">
                  <c:v>37.492000000000004</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2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Middle East &amp; Africa</c:v>
                </c:pt>
                <c:pt idx="2">
                  <c:v>Other GCC</c:v>
                </c:pt>
              </c:strCache>
            </c:strRef>
          </c:cat>
          <c:val>
            <c:numRef>
              <c:f>Sheet1!$B$2:$B$4</c:f>
              <c:numCache>
                <c:formatCode>General</c:formatCode>
                <c:ptCount val="3"/>
                <c:pt idx="0">
                  <c:v>0.05917522569547584</c:v>
                </c:pt>
                <c:pt idx="1">
                  <c:v>0.05108115414440806</c:v>
                </c:pt>
                <c:pt idx="2">
                  <c:v>0.05439132059934937</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7988655468889239"/>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2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22.076</c:v>
                </c:pt>
                <c:pt idx="2">
                  <c:v>23.247999999999998</c:v>
                </c:pt>
                <c:pt idx="3">
                  <c:v>24.552</c:v>
                </c:pt>
                <c:pt idx="4">
                  <c:v>25.982</c:v>
                </c:pt>
                <c:pt idx="5">
                  <c:v>27.513</c:v>
                </c:pt>
                <c:pt idx="6">
                  <c:v>29.099999999999998</c:v>
                </c:pt>
                <c:pt idx="7">
                  <c:v>30.705999999999996</c:v>
                </c:pt>
                <c:pt idx="8">
                  <c:v>32.341</c:v>
                </c:pt>
                <c:pt idx="9">
                  <c:v>34.025</c:v>
                </c:pt>
                <c:pt idx="10">
                  <c:v>35.741</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22.076</c:v>
                </c:pt>
                <c:pt idx="1">
                  <c:v>1.171999999999997</c:v>
                </c:pt>
                <c:pt idx="2">
                  <c:v>1.304000000000002</c:v>
                </c:pt>
                <c:pt idx="3">
                  <c:v>1.4299999999999997</c:v>
                </c:pt>
                <c:pt idx="4">
                  <c:v>1.5310000000000024</c:v>
                </c:pt>
                <c:pt idx="5">
                  <c:v>1.5869999999999962</c:v>
                </c:pt>
                <c:pt idx="6">
                  <c:v>1.605999999999998</c:v>
                </c:pt>
                <c:pt idx="7">
                  <c:v>1.6350000000000051</c:v>
                </c:pt>
                <c:pt idx="8">
                  <c:v>1.6839999999999975</c:v>
                </c:pt>
                <c:pt idx="9">
                  <c:v>1.716000000000001</c:v>
                </c:pt>
                <c:pt idx="10">
                  <c:v>1.7510000000000048</c:v>
                </c:pt>
                <c:pt idx="11">
                  <c:v>37.492000000000004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2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Other GCC</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Middle East &amp; Africa</c:v>
                </c:pt>
                <c:pt idx="1">
                  <c:v>Share of Global</c:v>
                </c:pt>
              </c:strCache>
            </c:strRef>
          </c:cat>
          <c:val>
            <c:numRef>
              <c:f>Sheet1!$B$2:$B$3</c:f>
              <c:numCache>
                <c:formatCode>General</c:formatCode>
                <c:ptCount val="2"/>
                <c:pt idx="0">
                  <c:v>25.631320461168716</c:v>
                </c:pt>
                <c:pt idx="1">
                  <c:v>1.3002992761651657</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Middle East &amp; Africa</c:v>
                </c:pt>
                <c:pt idx="1">
                  <c:v>Share of Global</c:v>
                </c:pt>
              </c:strCache>
            </c:strRef>
          </c:cat>
          <c:val>
            <c:numRef>
              <c:f>Sheet1!$C$2:$C$3</c:f>
              <c:numCache>
                <c:formatCode>General</c:formatCode>
                <c:ptCount val="2"/>
                <c:pt idx="0">
                  <c:v>74.36867953883129</c:v>
                </c:pt>
                <c:pt idx="1">
                  <c:v>98.69970072383484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2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54.427</c:v>
                </c:pt>
                <c:pt idx="1">
                  <c:v>56.943999999999996</c:v>
                </c:pt>
                <c:pt idx="2">
                  <c:v>59.74</c:v>
                </c:pt>
                <c:pt idx="3">
                  <c:v>62.902</c:v>
                </c:pt>
                <c:pt idx="4">
                  <c:v>66.461</c:v>
                </c:pt>
                <c:pt idx="5">
                  <c:v>70.749</c:v>
                </c:pt>
                <c:pt idx="6">
                  <c:v>75.554</c:v>
                </c:pt>
                <c:pt idx="7">
                  <c:v>80.984</c:v>
                </c:pt>
                <c:pt idx="8">
                  <c:v>87.026</c:v>
                </c:pt>
                <c:pt idx="9">
                  <c:v>93.661</c:v>
                </c:pt>
                <c:pt idx="10">
                  <c:v>100.79899999999999</c:v>
                </c:pt>
                <c:pt idx="11">
                  <c:v>108.404</c:v>
                </c:pt>
                <c:pt idx="12">
                  <c:v>116.557</c:v>
                </c:pt>
                <c:pt idx="13">
                  <c:v>125.29799999999999</c:v>
                </c:pt>
                <c:pt idx="14">
                  <c:v>134.72199999999998</c:v>
                </c:pt>
                <c:pt idx="15">
                  <c:v>144.851</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2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Middle East &amp; Africa</c:v>
                </c:pt>
                <c:pt idx="2">
                  <c:v>Other GCC</c:v>
                </c:pt>
              </c:strCache>
            </c:strRef>
          </c:cat>
          <c:val>
            <c:numRef>
              <c:f>Sheet1!$B$2:$B$4</c:f>
              <c:numCache>
                <c:formatCode>General</c:formatCode>
                <c:ptCount val="3"/>
                <c:pt idx="0">
                  <c:v>0.07440747619145949</c:v>
                </c:pt>
                <c:pt idx="1">
                  <c:v>0.06701743857221287</c:v>
                </c:pt>
                <c:pt idx="2">
                  <c:v>0.07428650245428292</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045009285847031"/>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2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70.749</c:v>
                </c:pt>
                <c:pt idx="2">
                  <c:v>75.554</c:v>
                </c:pt>
                <c:pt idx="3">
                  <c:v>80.984</c:v>
                </c:pt>
                <c:pt idx="4">
                  <c:v>87.026</c:v>
                </c:pt>
                <c:pt idx="5">
                  <c:v>93.661</c:v>
                </c:pt>
                <c:pt idx="6">
                  <c:v>100.79899999999999</c:v>
                </c:pt>
                <c:pt idx="7">
                  <c:v>108.404</c:v>
                </c:pt>
                <c:pt idx="8">
                  <c:v>116.557</c:v>
                </c:pt>
                <c:pt idx="9">
                  <c:v>125.29799999999999</c:v>
                </c:pt>
                <c:pt idx="10">
                  <c:v>134.72199999999998</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70.749</c:v>
                </c:pt>
                <c:pt idx="1">
                  <c:v>4.805000000000007</c:v>
                </c:pt>
                <c:pt idx="2">
                  <c:v>5.429999999999993</c:v>
                </c:pt>
                <c:pt idx="3">
                  <c:v>6.042000000000002</c:v>
                </c:pt>
                <c:pt idx="4">
                  <c:v>6.635000000000005</c:v>
                </c:pt>
                <c:pt idx="5">
                  <c:v>7.137999999999991</c:v>
                </c:pt>
                <c:pt idx="6">
                  <c:v>7.605000000000004</c:v>
                </c:pt>
                <c:pt idx="7">
                  <c:v>8.153000000000006</c:v>
                </c:pt>
                <c:pt idx="8">
                  <c:v>8.740999999999985</c:v>
                </c:pt>
                <c:pt idx="9">
                  <c:v>9.423999999999992</c:v>
                </c:pt>
                <c:pt idx="10">
                  <c:v>10.129000000000019</c:v>
                </c:pt>
                <c:pt idx="11">
                  <c:v>144.851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24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Other GCC</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Middle East &amp; Africa</c:v>
                </c:pt>
                <c:pt idx="1">
                  <c:v>Share of Global</c:v>
                </c:pt>
              </c:strCache>
            </c:strRef>
          </c:cat>
          <c:val>
            <c:numRef>
              <c:f>Sheet1!$B$2:$B$3</c:f>
              <c:numCache>
                <c:formatCode>General</c:formatCode>
                <c:ptCount val="2"/>
                <c:pt idx="0">
                  <c:v>27.71840057670759</c:v>
                </c:pt>
                <c:pt idx="1">
                  <c:v>1.290162929365909</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Middle East &amp; Africa</c:v>
                </c:pt>
                <c:pt idx="1">
                  <c:v>Share of Global</c:v>
                </c:pt>
              </c:strCache>
            </c:strRef>
          </c:cat>
          <c:val>
            <c:numRef>
              <c:f>Sheet1!$C$2:$C$3</c:f>
              <c:numCache>
                <c:formatCode>General</c:formatCode>
                <c:ptCount val="2"/>
                <c:pt idx="0">
                  <c:v>72.2815994232924</c:v>
                </c:pt>
                <c:pt idx="1">
                  <c:v>98.7098370706341</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26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20.031</c:v>
                </c:pt>
                <c:pt idx="1">
                  <c:v>20.828</c:v>
                </c:pt>
                <c:pt idx="2">
                  <c:v>21.663999999999998</c:v>
                </c:pt>
                <c:pt idx="3">
                  <c:v>22.580000000000002</c:v>
                </c:pt>
                <c:pt idx="4">
                  <c:v>23.639</c:v>
                </c:pt>
                <c:pt idx="5">
                  <c:v>24.831000000000003</c:v>
                </c:pt>
                <c:pt idx="6">
                  <c:v>26.143</c:v>
                </c:pt>
                <c:pt idx="7">
                  <c:v>27.563</c:v>
                </c:pt>
                <c:pt idx="8">
                  <c:v>29.034</c:v>
                </c:pt>
                <c:pt idx="9">
                  <c:v>30.497999999999998</c:v>
                </c:pt>
                <c:pt idx="10">
                  <c:v>31.921999999999997</c:v>
                </c:pt>
                <c:pt idx="11">
                  <c:v>33.309</c:v>
                </c:pt>
                <c:pt idx="12">
                  <c:v>34.668</c:v>
                </c:pt>
                <c:pt idx="13">
                  <c:v>36.036</c:v>
                </c:pt>
                <c:pt idx="14">
                  <c:v>37.407</c:v>
                </c:pt>
                <c:pt idx="15">
                  <c:v>38.769000000000005</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26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Middle East &amp; Africa</c:v>
                </c:pt>
                <c:pt idx="2">
                  <c:v>Turkiye</c:v>
                </c:pt>
              </c:strCache>
            </c:strRef>
          </c:cat>
          <c:val>
            <c:numRef>
              <c:f>Sheet1!$B$2:$B$4</c:f>
              <c:numCache>
                <c:formatCode>General</c:formatCode>
                <c:ptCount val="3"/>
                <c:pt idx="0">
                  <c:v>0.05917522569547584</c:v>
                </c:pt>
                <c:pt idx="1">
                  <c:v>0.05108115414440806</c:v>
                </c:pt>
                <c:pt idx="2">
                  <c:v>0.045560189784757954</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7988655468889239"/>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26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24.831000000000003</c:v>
                </c:pt>
                <c:pt idx="2">
                  <c:v>26.143</c:v>
                </c:pt>
                <c:pt idx="3">
                  <c:v>27.563</c:v>
                </c:pt>
                <c:pt idx="4">
                  <c:v>29.034</c:v>
                </c:pt>
                <c:pt idx="5">
                  <c:v>30.497999999999998</c:v>
                </c:pt>
                <c:pt idx="6">
                  <c:v>31.921999999999997</c:v>
                </c:pt>
                <c:pt idx="7">
                  <c:v>33.309</c:v>
                </c:pt>
                <c:pt idx="8">
                  <c:v>34.668</c:v>
                </c:pt>
                <c:pt idx="9">
                  <c:v>36.036</c:v>
                </c:pt>
                <c:pt idx="10">
                  <c:v>37.407</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24.831000000000003</c:v>
                </c:pt>
                <c:pt idx="1">
                  <c:v>1.3119999999999976</c:v>
                </c:pt>
                <c:pt idx="2">
                  <c:v>1.4199999999999982</c:v>
                </c:pt>
                <c:pt idx="3">
                  <c:v>1.471</c:v>
                </c:pt>
                <c:pt idx="4">
                  <c:v>1.4639999999999986</c:v>
                </c:pt>
                <c:pt idx="5">
                  <c:v>1.4239999999999995</c:v>
                </c:pt>
                <c:pt idx="6">
                  <c:v>1.3870000000000005</c:v>
                </c:pt>
                <c:pt idx="7">
                  <c:v>1.3590000000000018</c:v>
                </c:pt>
                <c:pt idx="8">
                  <c:v>1.368000000000002</c:v>
                </c:pt>
                <c:pt idx="9">
                  <c:v>1.3709999999999951</c:v>
                </c:pt>
                <c:pt idx="10">
                  <c:v>1.362000000000009</c:v>
                </c:pt>
                <c:pt idx="11">
                  <c:v>38.769000000000005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26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Turkiye</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Middle East &amp; Africa</c:v>
                </c:pt>
                <c:pt idx="1">
                  <c:v>Share of Global</c:v>
                </c:pt>
              </c:strCache>
            </c:strRef>
          </c:cat>
          <c:val>
            <c:numRef>
              <c:f>Sheet1!$B$2:$B$3</c:f>
              <c:numCache>
                <c:formatCode>General</c:formatCode>
                <c:ptCount val="2"/>
                <c:pt idx="0">
                  <c:v>28.83001079775686</c:v>
                </c:pt>
                <c:pt idx="1">
                  <c:v>1.4625716310227048</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Middle East &amp; Africa</c:v>
                </c:pt>
                <c:pt idx="1">
                  <c:v>Share of Global</c:v>
                </c:pt>
              </c:strCache>
            </c:strRef>
          </c:cat>
          <c:val>
            <c:numRef>
              <c:f>Sheet1!$C$2:$C$3</c:f>
              <c:numCache>
                <c:formatCode>General</c:formatCode>
                <c:ptCount val="2"/>
                <c:pt idx="0">
                  <c:v>71.16998920224314</c:v>
                </c:pt>
                <c:pt idx="1">
                  <c:v>98.53742836897729</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26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53.572</c:v>
                </c:pt>
                <c:pt idx="1">
                  <c:v>55.92</c:v>
                </c:pt>
                <c:pt idx="2">
                  <c:v>58.415</c:v>
                </c:pt>
                <c:pt idx="3">
                  <c:v>61.177</c:v>
                </c:pt>
                <c:pt idx="4">
                  <c:v>64.338</c:v>
                </c:pt>
                <c:pt idx="5">
                  <c:v>68.018</c:v>
                </c:pt>
                <c:pt idx="6">
                  <c:v>72.10499999999999</c:v>
                </c:pt>
                <c:pt idx="7">
                  <c:v>76.581</c:v>
                </c:pt>
                <c:pt idx="8">
                  <c:v>81.347</c:v>
                </c:pt>
                <c:pt idx="9">
                  <c:v>86.258</c:v>
                </c:pt>
                <c:pt idx="10">
                  <c:v>91.21</c:v>
                </c:pt>
                <c:pt idx="11">
                  <c:v>96.228</c:v>
                </c:pt>
                <c:pt idx="12">
                  <c:v>101.349</c:v>
                </c:pt>
                <c:pt idx="13">
                  <c:v>106.69200000000001</c:v>
                </c:pt>
                <c:pt idx="14">
                  <c:v>112.262</c:v>
                </c:pt>
                <c:pt idx="15">
                  <c:v>118.045</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27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Middle East &amp; Africa</c:v>
                </c:pt>
                <c:pt idx="2">
                  <c:v>Turkiye</c:v>
                </c:pt>
              </c:strCache>
            </c:strRef>
          </c:cat>
          <c:val>
            <c:numRef>
              <c:f>Sheet1!$B$2:$B$4</c:f>
              <c:numCache>
                <c:formatCode>General</c:formatCode>
                <c:ptCount val="3"/>
                <c:pt idx="0">
                  <c:v>0.07440747619145949</c:v>
                </c:pt>
                <c:pt idx="1">
                  <c:v>0.06701743857221287</c:v>
                </c:pt>
                <c:pt idx="2">
                  <c:v>0.05667729038960889</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045009285847031"/>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27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68.018</c:v>
                </c:pt>
                <c:pt idx="2">
                  <c:v>72.10499999999999</c:v>
                </c:pt>
                <c:pt idx="3">
                  <c:v>76.581</c:v>
                </c:pt>
                <c:pt idx="4">
                  <c:v>81.347</c:v>
                </c:pt>
                <c:pt idx="5">
                  <c:v>86.258</c:v>
                </c:pt>
                <c:pt idx="6">
                  <c:v>91.21</c:v>
                </c:pt>
                <c:pt idx="7">
                  <c:v>96.228</c:v>
                </c:pt>
                <c:pt idx="8">
                  <c:v>101.349</c:v>
                </c:pt>
                <c:pt idx="9">
                  <c:v>106.69200000000001</c:v>
                </c:pt>
                <c:pt idx="10">
                  <c:v>112.262</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68.018</c:v>
                </c:pt>
                <c:pt idx="1">
                  <c:v>4.086999999999989</c:v>
                </c:pt>
                <c:pt idx="2">
                  <c:v>4.476000000000013</c:v>
                </c:pt>
                <c:pt idx="3">
                  <c:v>4.765999999999991</c:v>
                </c:pt>
                <c:pt idx="4">
                  <c:v>4.911000000000001</c:v>
                </c:pt>
                <c:pt idx="5">
                  <c:v>4.951999999999998</c:v>
                </c:pt>
                <c:pt idx="6">
                  <c:v>5.018000000000001</c:v>
                </c:pt>
                <c:pt idx="7">
                  <c:v>5.121000000000009</c:v>
                </c:pt>
                <c:pt idx="8">
                  <c:v>5.3430000000000035</c:v>
                </c:pt>
                <c:pt idx="9">
                  <c:v>5.569999999999993</c:v>
                </c:pt>
                <c:pt idx="10">
                  <c:v>5.783000000000001</c:v>
                </c:pt>
                <c:pt idx="11">
                  <c:v>118.045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2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Turkiye</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Middle East &amp; Africa</c:v>
                </c:pt>
                <c:pt idx="1">
                  <c:v>Share of Global</c:v>
                </c:pt>
              </c:strCache>
            </c:strRef>
          </c:cat>
          <c:val>
            <c:numRef>
              <c:f>Sheet1!$B$2:$B$3</c:f>
              <c:numCache>
                <c:formatCode>General</c:formatCode>
                <c:ptCount val="2"/>
                <c:pt idx="0">
                  <c:v>26.64843560229116</c:v>
                </c:pt>
                <c:pt idx="1">
                  <c:v>1.2403610246026149</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Middle East &amp; Africa</c:v>
                </c:pt>
                <c:pt idx="1">
                  <c:v>Share of Global</c:v>
                </c:pt>
              </c:strCache>
            </c:strRef>
          </c:cat>
          <c:val>
            <c:numRef>
              <c:f>Sheet1!$C$2:$C$3</c:f>
              <c:numCache>
                <c:formatCode>General</c:formatCode>
                <c:ptCount val="2"/>
                <c:pt idx="0">
                  <c:v>73.35156439770884</c:v>
                </c:pt>
                <c:pt idx="1">
                  <c:v>98.75963897539738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29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7.019</c:v>
                </c:pt>
                <c:pt idx="1">
                  <c:v>7.273000000000001</c:v>
                </c:pt>
                <c:pt idx="2">
                  <c:v>7.535</c:v>
                </c:pt>
                <c:pt idx="3">
                  <c:v>7.811</c:v>
                </c:pt>
                <c:pt idx="4">
                  <c:v>8.097999999999999</c:v>
                </c:pt>
                <c:pt idx="5">
                  <c:v>8.408</c:v>
                </c:pt>
                <c:pt idx="6">
                  <c:v>8.739</c:v>
                </c:pt>
                <c:pt idx="7">
                  <c:v>9.096</c:v>
                </c:pt>
                <c:pt idx="8">
                  <c:v>9.483</c:v>
                </c:pt>
                <c:pt idx="9">
                  <c:v>9.899000000000001</c:v>
                </c:pt>
                <c:pt idx="10">
                  <c:v>10.350000000000001</c:v>
                </c:pt>
                <c:pt idx="11">
                  <c:v>10.84</c:v>
                </c:pt>
                <c:pt idx="12">
                  <c:v>11.358</c:v>
                </c:pt>
                <c:pt idx="13">
                  <c:v>11.898</c:v>
                </c:pt>
                <c:pt idx="14">
                  <c:v>12.446</c:v>
                </c:pt>
                <c:pt idx="15">
                  <c:v>13.004000000000001</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29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Middle East &amp; Africa</c:v>
                </c:pt>
                <c:pt idx="2">
                  <c:v>South Africa</c:v>
                </c:pt>
              </c:strCache>
            </c:strRef>
          </c:cat>
          <c:val>
            <c:numRef>
              <c:f>Sheet1!$B$2:$B$4</c:f>
              <c:numCache>
                <c:formatCode>General</c:formatCode>
                <c:ptCount val="3"/>
                <c:pt idx="0">
                  <c:v>0.05917522569547584</c:v>
                </c:pt>
                <c:pt idx="1">
                  <c:v>0.05108115414440806</c:v>
                </c:pt>
                <c:pt idx="2">
                  <c:v>0.04457210941303469</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7988655468889239"/>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29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8.408</c:v>
                </c:pt>
                <c:pt idx="2">
                  <c:v>8.739</c:v>
                </c:pt>
                <c:pt idx="3">
                  <c:v>9.096</c:v>
                </c:pt>
                <c:pt idx="4">
                  <c:v>9.483</c:v>
                </c:pt>
                <c:pt idx="5">
                  <c:v>9.899000000000001</c:v>
                </c:pt>
                <c:pt idx="6">
                  <c:v>10.350000000000001</c:v>
                </c:pt>
                <c:pt idx="7">
                  <c:v>10.84</c:v>
                </c:pt>
                <c:pt idx="8">
                  <c:v>11.358</c:v>
                </c:pt>
                <c:pt idx="9">
                  <c:v>11.898</c:v>
                </c:pt>
                <c:pt idx="10">
                  <c:v>12.446</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8.408</c:v>
                </c:pt>
                <c:pt idx="1">
                  <c:v>0.3310000000000013</c:v>
                </c:pt>
                <c:pt idx="2">
                  <c:v>0.3569999999999993</c:v>
                </c:pt>
                <c:pt idx="3">
                  <c:v>0.38700000000000045</c:v>
                </c:pt>
                <c:pt idx="4">
                  <c:v>0.41600000000000037</c:v>
                </c:pt>
                <c:pt idx="5">
                  <c:v>0.4510000000000005</c:v>
                </c:pt>
                <c:pt idx="6">
                  <c:v>0.48999999999999844</c:v>
                </c:pt>
                <c:pt idx="7">
                  <c:v>0.5180000000000007</c:v>
                </c:pt>
                <c:pt idx="8">
                  <c:v>0.5399999999999991</c:v>
                </c:pt>
                <c:pt idx="9">
                  <c:v>0.548</c:v>
                </c:pt>
                <c:pt idx="10">
                  <c:v>0.5580000000000016</c:v>
                </c:pt>
                <c:pt idx="11">
                  <c:v>13.004000000000001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29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South Africa</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Middle East &amp; Africa</c:v>
                </c:pt>
                <c:pt idx="1">
                  <c:v>Share of Global</c:v>
                </c:pt>
              </c:strCache>
            </c:strRef>
          </c:cat>
          <c:val>
            <c:numRef>
              <c:f>Sheet1!$B$2:$B$3</c:f>
              <c:numCache>
                <c:formatCode>General</c:formatCode>
                <c:ptCount val="2"/>
                <c:pt idx="0">
                  <c:v>9.762101034494771</c:v>
                </c:pt>
                <c:pt idx="1">
                  <c:v>0.4952399127557851</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Middle East &amp; Africa</c:v>
                </c:pt>
                <c:pt idx="1">
                  <c:v>Share of Global</c:v>
                </c:pt>
              </c:strCache>
            </c:strRef>
          </c:cat>
          <c:val>
            <c:numRef>
              <c:f>Sheet1!$C$2:$C$3</c:f>
              <c:numCache>
                <c:formatCode>General</c:formatCode>
                <c:ptCount val="2"/>
                <c:pt idx="0">
                  <c:v>90.23789896550522</c:v>
                </c:pt>
                <c:pt idx="1">
                  <c:v>99.50476008724422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29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18.051</c:v>
                </c:pt>
                <c:pt idx="1">
                  <c:v>18.808999999999997</c:v>
                </c:pt>
                <c:pt idx="2">
                  <c:v>19.6</c:v>
                </c:pt>
                <c:pt idx="3">
                  <c:v>20.438</c:v>
                </c:pt>
                <c:pt idx="4">
                  <c:v>21.322999999999997</c:v>
                </c:pt>
                <c:pt idx="5">
                  <c:v>22.347</c:v>
                </c:pt>
                <c:pt idx="6">
                  <c:v>23.455000000000002</c:v>
                </c:pt>
                <c:pt idx="7">
                  <c:v>24.665</c:v>
                </c:pt>
                <c:pt idx="8">
                  <c:v>25.984</c:v>
                </c:pt>
                <c:pt idx="9">
                  <c:v>27.431</c:v>
                </c:pt>
                <c:pt idx="10">
                  <c:v>29.034000000000002</c:v>
                </c:pt>
                <c:pt idx="11">
                  <c:v>30.798</c:v>
                </c:pt>
                <c:pt idx="12">
                  <c:v>32.714</c:v>
                </c:pt>
                <c:pt idx="13">
                  <c:v>34.76</c:v>
                </c:pt>
                <c:pt idx="14">
                  <c:v>36.919</c:v>
                </c:pt>
                <c:pt idx="15">
                  <c:v>39.204</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29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Middle East &amp; Africa</c:v>
                </c:pt>
                <c:pt idx="2">
                  <c:v>South Africa</c:v>
                </c:pt>
              </c:strCache>
            </c:strRef>
          </c:cat>
          <c:val>
            <c:numRef>
              <c:f>Sheet1!$B$2:$B$4</c:f>
              <c:numCache>
                <c:formatCode>General</c:formatCode>
                <c:ptCount val="3"/>
                <c:pt idx="0">
                  <c:v>0.07440747619145949</c:v>
                </c:pt>
                <c:pt idx="1">
                  <c:v>0.06701743857221287</c:v>
                </c:pt>
                <c:pt idx="2">
                  <c:v>0.05781839551850965</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045009285847031"/>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29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22.347</c:v>
                </c:pt>
                <c:pt idx="2">
                  <c:v>23.455000000000002</c:v>
                </c:pt>
                <c:pt idx="3">
                  <c:v>24.665</c:v>
                </c:pt>
                <c:pt idx="4">
                  <c:v>25.984</c:v>
                </c:pt>
                <c:pt idx="5">
                  <c:v>27.431</c:v>
                </c:pt>
                <c:pt idx="6">
                  <c:v>29.034000000000002</c:v>
                </c:pt>
                <c:pt idx="7">
                  <c:v>30.798</c:v>
                </c:pt>
                <c:pt idx="8">
                  <c:v>32.714</c:v>
                </c:pt>
                <c:pt idx="9">
                  <c:v>34.76</c:v>
                </c:pt>
                <c:pt idx="10">
                  <c:v>36.919</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22.347</c:v>
                </c:pt>
                <c:pt idx="1">
                  <c:v>1.1080000000000005</c:v>
                </c:pt>
                <c:pt idx="2">
                  <c:v>1.2099999999999973</c:v>
                </c:pt>
                <c:pt idx="3">
                  <c:v>1.3190000000000026</c:v>
                </c:pt>
                <c:pt idx="4">
                  <c:v>1.4469999999999992</c:v>
                </c:pt>
                <c:pt idx="5">
                  <c:v>1.6030000000000015</c:v>
                </c:pt>
                <c:pt idx="6">
                  <c:v>1.7639999999999958</c:v>
                </c:pt>
                <c:pt idx="7">
                  <c:v>1.9160000000000004</c:v>
                </c:pt>
                <c:pt idx="8">
                  <c:v>2.0459999999999994</c:v>
                </c:pt>
                <c:pt idx="9">
                  <c:v>2.158999999999999</c:v>
                </c:pt>
                <c:pt idx="10">
                  <c:v>2.2850000000000037</c:v>
                </c:pt>
                <c:pt idx="11">
                  <c:v>39.204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29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South Africa</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Middle East &amp; Africa</c:v>
                </c:pt>
                <c:pt idx="1">
                  <c:v>Share of Global</c:v>
                </c:pt>
              </c:strCache>
            </c:strRef>
          </c:cat>
          <c:val>
            <c:numRef>
              <c:f>Sheet1!$B$2:$B$3</c:f>
              <c:numCache>
                <c:formatCode>General</c:formatCode>
                <c:ptCount val="2"/>
                <c:pt idx="0">
                  <c:v>8.755220535805236</c:v>
                </c:pt>
                <c:pt idx="1">
                  <c:v>0.40751489042304445</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Middle East &amp; Africa</c:v>
                </c:pt>
                <c:pt idx="1">
                  <c:v>Share of Global</c:v>
                </c:pt>
              </c:strCache>
            </c:strRef>
          </c:cat>
          <c:val>
            <c:numRef>
              <c:f>Sheet1!$C$2:$C$3</c:f>
              <c:numCache>
                <c:formatCode>General</c:formatCode>
                <c:ptCount val="2"/>
                <c:pt idx="0">
                  <c:v>91.24477946419476</c:v>
                </c:pt>
                <c:pt idx="1">
                  <c:v>99.59248510957696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3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(Mn Sq. Yards)</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9.471</c:v>
                </c:pt>
                <c:pt idx="1">
                  <c:v>9.817</c:v>
                </c:pt>
                <c:pt idx="2">
                  <c:v>10.195</c:v>
                </c:pt>
                <c:pt idx="3">
                  <c:v>10.625</c:v>
                </c:pt>
                <c:pt idx="4">
                  <c:v>11.125</c:v>
                </c:pt>
                <c:pt idx="5">
                  <c:v>11.712</c:v>
                </c:pt>
                <c:pt idx="6">
                  <c:v>12.374</c:v>
                </c:pt>
                <c:pt idx="7">
                  <c:v>13.093</c:v>
                </c:pt>
                <c:pt idx="8">
                  <c:v>13.828000000000001</c:v>
                </c:pt>
                <c:pt idx="9">
                  <c:v>14.556</c:v>
                </c:pt>
                <c:pt idx="10">
                  <c:v>15.260000000000002</c:v>
                </c:pt>
                <c:pt idx="11">
                  <c:v>15.959</c:v>
                </c:pt>
                <c:pt idx="12">
                  <c:v>16.665</c:v>
                </c:pt>
                <c:pt idx="13">
                  <c:v>17.38</c:v>
                </c:pt>
                <c:pt idx="14">
                  <c:v>18.107</c:v>
                </c:pt>
                <c:pt idx="15">
                  <c:v>18.829</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3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Middle East &amp; Africa</c:v>
                </c:pt>
                <c:pt idx="2">
                  <c:v>Other African Union</c:v>
                </c:pt>
              </c:strCache>
            </c:strRef>
          </c:cat>
          <c:val>
            <c:numRef>
              <c:f>Sheet1!$B$2:$B$4</c:f>
              <c:numCache>
                <c:formatCode>General</c:formatCode>
                <c:ptCount val="3"/>
                <c:pt idx="0">
                  <c:v>0.05917522569547584</c:v>
                </c:pt>
                <c:pt idx="1">
                  <c:v>0.05108115414440806</c:v>
                </c:pt>
                <c:pt idx="2">
                  <c:v>0.04862357968580966</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7988655468889239"/>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3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11.712</c:v>
                </c:pt>
                <c:pt idx="2">
                  <c:v>12.374</c:v>
                </c:pt>
                <c:pt idx="3">
                  <c:v>13.093</c:v>
                </c:pt>
                <c:pt idx="4">
                  <c:v>13.828000000000001</c:v>
                </c:pt>
                <c:pt idx="5">
                  <c:v>14.556</c:v>
                </c:pt>
                <c:pt idx="6">
                  <c:v>15.260000000000002</c:v>
                </c:pt>
                <c:pt idx="7">
                  <c:v>15.959</c:v>
                </c:pt>
                <c:pt idx="8">
                  <c:v>16.665</c:v>
                </c:pt>
                <c:pt idx="9">
                  <c:v>17.38</c:v>
                </c:pt>
                <c:pt idx="10">
                  <c:v>18.107</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11.712</c:v>
                </c:pt>
                <c:pt idx="1">
                  <c:v>0.6620000000000008</c:v>
                </c:pt>
                <c:pt idx="2">
                  <c:v>0.7189999999999994</c:v>
                </c:pt>
                <c:pt idx="3">
                  <c:v>0.7350000000000012</c:v>
                </c:pt>
                <c:pt idx="4">
                  <c:v>0.727999999999998</c:v>
                </c:pt>
                <c:pt idx="5">
                  <c:v>0.7040000000000024</c:v>
                </c:pt>
                <c:pt idx="6">
                  <c:v>0.6989999999999981</c:v>
                </c:pt>
                <c:pt idx="7">
                  <c:v>0.7059999999999995</c:v>
                </c:pt>
                <c:pt idx="8">
                  <c:v>0.7149999999999999</c:v>
                </c:pt>
                <c:pt idx="9">
                  <c:v>0.7270000000000003</c:v>
                </c:pt>
                <c:pt idx="10">
                  <c:v>0.7220000000000013</c:v>
                </c:pt>
                <c:pt idx="11">
                  <c:v>18.829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3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Other African Union</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Middle East &amp; Africa</c:v>
                </c:pt>
                <c:pt idx="1">
                  <c:v>Share of Global</c:v>
                </c:pt>
              </c:strCache>
            </c:strRef>
          </c:cat>
          <c:val>
            <c:numRef>
              <c:f>Sheet1!$B$2:$B$3</c:f>
              <c:numCache>
                <c:formatCode>General</c:formatCode>
                <c:ptCount val="2"/>
                <c:pt idx="0">
                  <c:v>13.598207340152562</c:v>
                </c:pt>
                <c:pt idx="1">
                  <c:v>0.6898489365123401</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Middle East &amp; Africa</c:v>
                </c:pt>
                <c:pt idx="1">
                  <c:v>Share of Global</c:v>
                </c:pt>
              </c:strCache>
            </c:strRef>
          </c:cat>
          <c:val>
            <c:numRef>
              <c:f>Sheet1!$C$2:$C$3</c:f>
              <c:numCache>
                <c:formatCode>General</c:formatCode>
                <c:ptCount val="2"/>
                <c:pt idx="0">
                  <c:v>86.40179265984744</c:v>
                </c:pt>
                <c:pt idx="1">
                  <c:v>99.31015106348767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charts/chart13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00A4DC"/>
            </a:solidFill>
            <a:ln>
              <a:noFill/>
            </a:ln>
          </c:spPr>
          <c:dLbls>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numFmt formatCode="0.0" sourceLinked="0"/>
            <c:txPr>
              <a:bodyPr rot="0" vert="horz"/>
              <a:lstStyle/>
              <a:p>
                <a:pPr>
                  <a:defRPr sz="1100">
                    <a:solidFill>
                      <a:srgbClr val="605E5C"/>
                    </a:solidFill>
                    <a:latin typeface="Segoe U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27.094</c:v>
                </c:pt>
                <c:pt idx="1">
                  <c:v>28.236</c:v>
                </c:pt>
                <c:pt idx="2">
                  <c:v>29.499000000000002</c:v>
                </c:pt>
                <c:pt idx="3">
                  <c:v>30.945</c:v>
                </c:pt>
                <c:pt idx="4">
                  <c:v>32.611000000000004</c:v>
                </c:pt>
                <c:pt idx="5">
                  <c:v>34.688</c:v>
                </c:pt>
                <c:pt idx="6">
                  <c:v>37.073</c:v>
                </c:pt>
                <c:pt idx="7">
                  <c:v>39.701</c:v>
                </c:pt>
                <c:pt idx="8">
                  <c:v>42.491</c:v>
                </c:pt>
                <c:pt idx="9">
                  <c:v>45.388000000000005</c:v>
                </c:pt>
                <c:pt idx="10">
                  <c:v>48.376</c:v>
                </c:pt>
                <c:pt idx="11">
                  <c:v>51.504</c:v>
                </c:pt>
                <c:pt idx="12">
                  <c:v>54.81100000000001</c:v>
                </c:pt>
                <c:pt idx="13">
                  <c:v>58.303</c:v>
                </c:pt>
                <c:pt idx="14">
                  <c:v>62.001999999999995</c:v>
                </c:pt>
                <c:pt idx="15">
                  <c:v>65.86500000000001</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3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CAGR</c:v>
                </c:pt>
              </c:strCache>
            </c:strRef>
          </c:tx>
          <c:spPr>
            <a:solidFill>
              <a:srgbClr val="00A4DC"/>
            </a:solidFill>
            <a:ln>
              <a:noFill/>
            </a:ln>
          </c:spPr>
          <c:dPt>
            <c:idx val="0"/>
            <c:spPr>
              <a:solidFill>
                <a:srgbClr val="D6CAC4"/>
              </a:solidFill>
            </c:spPr>
          </c:dPt>
          <c:dPt>
            <c:idx val="1"/>
            <c:spPr>
              <a:solidFill>
                <a:srgbClr val="6ECFF2"/>
              </a:solidFill>
            </c:spPr>
          </c:dPt>
          <c:dPt>
            <c:idx val="2"/>
            <c:spPr>
              <a:solidFill>
                <a:srgbClr val="00A4DC"/>
              </a:solidFill>
            </c:spPr>
          </c:dPt>
          <c:dLbls>
            <c:numFmt formatCode="0.0%" sourceLinked="0"/>
            <c:txPr>
              <a:bodyPr rot="0" vert="horz"/>
              <a:lstStyle/>
              <a:p>
                <a:pPr>
                  <a:defRPr sz="1100">
                    <a:solidFill>
                      <a:srgbClr val="252423"/>
                    </a:solidFill>
                    <a:latin typeface="Segoe UI"/>
                  </a:defRPr>
                </a:pPr>
              </a:p>
            </c:txPr>
            <c:dLblPos val="outEnd"/>
            <c:showLegendKey val="0"/>
            <c:showVal val="1"/>
            <c:showCatName val="0"/>
            <c:showSerName val="0"/>
            <c:showPercent val="0"/>
            <c:showBubbleSize val="0"/>
            <c:showLeaderLines val="1"/>
          </c:dLbls>
          <c:cat>
            <c:strRef>
              <c:f>Sheet1!$A$2:$A$4</c:f>
              <c:strCache>
                <c:ptCount val="3"/>
                <c:pt idx="0">
                  <c:v>Global</c:v>
                </c:pt>
                <c:pt idx="1">
                  <c:v>Middle East &amp; Africa</c:v>
                </c:pt>
                <c:pt idx="2">
                  <c:v>Other African Union</c:v>
                </c:pt>
              </c:strCache>
            </c:strRef>
          </c:cat>
          <c:val>
            <c:numRef>
              <c:f>Sheet1!$B$2:$B$4</c:f>
              <c:numCache>
                <c:formatCode>General</c:formatCode>
                <c:ptCount val="3"/>
                <c:pt idx="0">
                  <c:v>0.07440747619145949</c:v>
                </c:pt>
                <c:pt idx="1">
                  <c:v>0.06701743857221287</c:v>
                </c:pt>
                <c:pt idx="2">
                  <c:v>0.06622176486121445</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10045009285847031"/>
          <c:min val="0.0"/>
        </c:scaling>
        <c:delete/>
        <c:axPos val="b"/>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3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34.688</c:v>
                </c:pt>
                <c:pt idx="2">
                  <c:v>37.073</c:v>
                </c:pt>
                <c:pt idx="3">
                  <c:v>39.701</c:v>
                </c:pt>
                <c:pt idx="4">
                  <c:v>42.491</c:v>
                </c:pt>
                <c:pt idx="5">
                  <c:v>45.388000000000005</c:v>
                </c:pt>
                <c:pt idx="6">
                  <c:v>48.376</c:v>
                </c:pt>
                <c:pt idx="7">
                  <c:v>51.504</c:v>
                </c:pt>
                <c:pt idx="8">
                  <c:v>54.81100000000001</c:v>
                </c:pt>
                <c:pt idx="9">
                  <c:v>58.303</c:v>
                </c:pt>
                <c:pt idx="10">
                  <c:v>62.001999999999995</c:v>
                </c:pt>
                <c:pt idx="11">
                  <c:v>0.0</c:v>
                </c:pt>
              </c:numCache>
            </c:numRef>
          </c:val>
        </c:ser>
        <c:ser>
          <c:idx val="1"/>
          <c:order val="1"/>
          <c:tx>
            <c:strRef>
              <c:f>Sheet1!$C$1</c:f>
              <c:strCache>
                <c:ptCount val="1"/>
                <c:pt idx="0">
                  <c:v>value</c:v>
                </c:pt>
              </c:strCache>
            </c:strRef>
          </c:tx>
          <c:dPt>
            <c:idx val="0"/>
            <c:spPr>
              <a:solidFill>
                <a:srgbClr val="00A4DC"/>
              </a:solidFill>
            </c:spPr>
          </c:dPt>
          <c:dPt>
            <c:idx val="1"/>
            <c:spPr>
              <a:solidFill>
                <a:srgbClr val="2F6FB0"/>
              </a:solidFill>
            </c:spPr>
          </c:dPt>
          <c:dPt>
            <c:idx val="2"/>
            <c:spPr>
              <a:solidFill>
                <a:srgbClr val="2F6FB0"/>
              </a:solidFill>
            </c:spPr>
          </c:dPt>
          <c:dPt>
            <c:idx val="3"/>
            <c:spPr>
              <a:solidFill>
                <a:srgbClr val="2F6FB0"/>
              </a:solidFill>
            </c:spPr>
          </c:dPt>
          <c:dPt>
            <c:idx val="4"/>
            <c:spPr>
              <a:solidFill>
                <a:srgbClr val="2F6FB0"/>
              </a:solidFill>
            </c:spPr>
          </c:dPt>
          <c:dPt>
            <c:idx val="5"/>
            <c:spPr>
              <a:solidFill>
                <a:srgbClr val="2F6FB0"/>
              </a:solidFill>
            </c:spPr>
          </c:dPt>
          <c:dPt>
            <c:idx val="6"/>
            <c:spPr>
              <a:solidFill>
                <a:srgbClr val="2F6FB0"/>
              </a:solidFill>
            </c:spPr>
          </c:dPt>
          <c:dPt>
            <c:idx val="7"/>
            <c:spPr>
              <a:solidFill>
                <a:srgbClr val="2F6FB0"/>
              </a:solidFill>
            </c:spPr>
          </c:dPt>
          <c:dPt>
            <c:idx val="8"/>
            <c:spPr>
              <a:solidFill>
                <a:srgbClr val="2F6FB0"/>
              </a:solidFill>
            </c:spPr>
          </c:dPt>
          <c:dPt>
            <c:idx val="9"/>
            <c:spPr>
              <a:solidFill>
                <a:srgbClr val="2F6FB0"/>
              </a:solidFill>
            </c:spPr>
          </c:dPt>
          <c:dPt>
            <c:idx val="10"/>
            <c:spPr>
              <a:solidFill>
                <a:srgbClr val="2F6FB0"/>
              </a:solidFill>
            </c:spPr>
          </c:dPt>
          <c:dPt>
            <c:idx val="11"/>
            <c:spPr>
              <a:solidFill>
                <a:srgbClr val="00A4DC"/>
              </a:solidFill>
            </c:spPr>
          </c:dPt>
          <c:dLbls>
            <c:numFmt formatCode="0.0" sourceLinked="0"/>
            <c:txPr>
              <a:bodyPr/>
              <a:lstStyle/>
              <a:p>
                <a:pPr>
                  <a:defRPr sz="1100">
                    <a:latin typeface="Segoe U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34.688</c:v>
                </c:pt>
                <c:pt idx="1">
                  <c:v>2.384999999999998</c:v>
                </c:pt>
                <c:pt idx="2">
                  <c:v>2.628</c:v>
                </c:pt>
                <c:pt idx="3">
                  <c:v>2.789999999999999</c:v>
                </c:pt>
                <c:pt idx="4">
                  <c:v>2.8970000000000056</c:v>
                </c:pt>
                <c:pt idx="5">
                  <c:v>2.9879999999999924</c:v>
                </c:pt>
                <c:pt idx="6">
                  <c:v>3.128</c:v>
                </c:pt>
                <c:pt idx="7">
                  <c:v>3.3070000000000093</c:v>
                </c:pt>
                <c:pt idx="8">
                  <c:v>3.4919999999999902</c:v>
                </c:pt>
                <c:pt idx="9">
                  <c:v>3.698999999999998</c:v>
                </c:pt>
                <c:pt idx="10">
                  <c:v>3.8630000000000138</c:v>
                </c:pt>
                <c:pt idx="11">
                  <c:v>65.86500000000001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BFBFBF"/>
            </a:solidFill>
          </a:ln>
        </c:spPr>
        <c:txPr>
          <a:bodyPr/>
          <a:lstStyle/>
          <a:p>
            <a:pPr>
              <a:defRPr sz="1100"/>
            </a:pPr>
          </a:p>
        </c:txPr>
        <c:crossAx val="-2068027336"/>
        <c:crosses val="autoZero"/>
      </c:valAx>
    </c:plotArea>
    <c:dispBlanksAs val="gap"/>
  </c:chart>
  <c:txPr>
    <a:bodyPr/>
    <a:lstStyle/>
    <a:p>
      <a:pPr>
        <a:defRPr sz="1100">
          <a:latin typeface="Segoe UI"/>
        </a:defRPr>
      </a:pPr>
      <a:endParaRPr lang="en-US"/>
    </a:p>
  </c:txPr>
  <c:externalData r:id="rId1">
    <c:autoUpdate val="0"/>
  </c:externalData>
</c:chartSpace>
</file>

<file path=ppt/charts/chart13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Other African Union</c:v>
                </c:pt>
              </c:strCache>
            </c:strRef>
          </c:tx>
          <c:spPr>
            <a:solidFill>
              <a:srgbClr val="00A4DC"/>
            </a:solidFill>
            <a:ln>
              <a:noFill/>
            </a:ln>
          </c:spPr>
          <c:dLbls>
            <c:numFmt formatCode="0.0&quot;%&quot;" sourceLinked="0"/>
            <c:txPr>
              <a:bodyPr rot="0" vert="horz"/>
              <a:lstStyle/>
              <a:p>
                <a:pPr>
                  <a:defRPr sz="1100">
                    <a:solidFill>
                      <a:srgbClr val="FFFFFF"/>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Middle East &amp; Africa</c:v>
                </c:pt>
                <c:pt idx="1">
                  <c:v>Share of Global</c:v>
                </c:pt>
              </c:strCache>
            </c:strRef>
          </c:cat>
          <c:val>
            <c:numRef>
              <c:f>Sheet1!$B$2:$B$3</c:f>
              <c:numCache>
                <c:formatCode>General</c:formatCode>
                <c:ptCount val="2"/>
                <c:pt idx="0">
                  <c:v>13.590239850808253</c:v>
                </c:pt>
                <c:pt idx="1">
                  <c:v>0.6325626043314345</c:v>
                </c:pt>
              </c:numCache>
            </c:numRef>
          </c:val>
        </c:ser>
        <c:ser>
          <c:idx val="1"/>
          <c:order val="1"/>
          <c:tx>
            <c:strRef>
              <c:f>Sheet1!$C$1</c:f>
              <c:strCache>
                <c:ptCount val="1"/>
                <c:pt idx="0">
                  <c:v>Rest of the market</c:v>
                </c:pt>
              </c:strCache>
            </c:strRef>
          </c:tx>
          <c:spPr>
            <a:solidFill>
              <a:srgbClr val="6ECFF2"/>
            </a:solidFill>
            <a:ln>
              <a:noFill/>
            </a:ln>
          </c:spPr>
          <c:dLbls>
            <c:numFmt formatCode="0.0&quot;%&quot;" sourceLinked="0"/>
            <c:txPr>
              <a:bodyPr rot="0" vert="horz"/>
              <a:lstStyle/>
              <a:p>
                <a:pPr>
                  <a:defRPr sz="1100">
                    <a:solidFill>
                      <a:srgbClr val="252423"/>
                    </a:solidFill>
                    <a:latin typeface="Segoe UI"/>
                  </a:defRPr>
                </a:pPr>
              </a:p>
            </c:txPr>
            <c:dLblPos val="ctr"/>
            <c:showLegendKey val="0"/>
            <c:showVal val="1"/>
            <c:showCatName val="0"/>
            <c:showSerName val="0"/>
            <c:showPercent val="0"/>
            <c:showBubbleSize val="0"/>
            <c:showLeaderLines val="1"/>
          </c:dLbls>
          <c:cat>
            <c:strRef>
              <c:f>Sheet1!$A$2:$A$3</c:f>
              <c:strCache>
                <c:ptCount val="2"/>
                <c:pt idx="0">
                  <c:v>Share of Middle East &amp; Africa</c:v>
                </c:pt>
                <c:pt idx="1">
                  <c:v>Share of Global</c:v>
                </c:pt>
              </c:strCache>
            </c:strRef>
          </c:cat>
          <c:val>
            <c:numRef>
              <c:f>Sheet1!$C$2:$C$3</c:f>
              <c:numCache>
                <c:formatCode>General</c:formatCode>
                <c:ptCount val="2"/>
                <c:pt idx="0">
                  <c:v>86.40976014919175</c:v>
                </c:pt>
                <c:pt idx="1">
                  <c:v>99.36743739566856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BFBFBF"/>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3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3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3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3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3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3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3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3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3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3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3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3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3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3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3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3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3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3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3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3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3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3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3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3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4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4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4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4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4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4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4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4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4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4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4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4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4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4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4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4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4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4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4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4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4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4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4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4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4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4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4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4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4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4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4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4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5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5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5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5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5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5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5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5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5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5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5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5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5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5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5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5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5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5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5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5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5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5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5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5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5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5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5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5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5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5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5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6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6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6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6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6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6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6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6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6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6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6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6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6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6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6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6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6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6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6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6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6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6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6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6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6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6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6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6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6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6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6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7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7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7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7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7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7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7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7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7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7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8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8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8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8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9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9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9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9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9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9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10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10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10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10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1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1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1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1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1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1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1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1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1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1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1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1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13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13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13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13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14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14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14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14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14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14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15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15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15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15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16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16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16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16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16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16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17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17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17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17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17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17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18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18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18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18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Global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Global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Global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Global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Global Overview Country Outlook  (1/2)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Global Overview Country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Global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Global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Global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Global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Region Global Performance Knitted Fabrics – Regional Outlook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Region Market Analysis By Region (1/2)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Region Market Analysis By Region (2/2)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Region Volume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Region Value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Region Market Trends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Region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Construction By Fabric Construction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Construction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Material By Material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Material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Primary Performance Function By Primary Performance Function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Primary Performance Function By Primary Performance Function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Primary Performance Function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By End-Use Application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By End-Use Application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Weight By Fabric Weight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Weight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Vs Material By End-Use Application Vs Material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Vs Material By End-Use Application Vs Material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Vs Material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North America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North America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North America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North America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North America Overview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North America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North America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North America Performance Knitted Fabrics –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Market Analysis By Country (1/2)</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Market Analysis By Country (2/2)</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Volume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Value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Market Trends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Construction By Fabric Construction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Construction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Material By Material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Material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Primary Performance Function By Primary Performance Function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Primary Performance Function By Primary Performance Function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Primary Performance Function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By End-Use Application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By End-Use Application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Weight By Fabric Weight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Weight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Vs Material By End-Use Application Vs Material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Vs Material By End-Use Application Vs Material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Vs Material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Latin America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Latin America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Latin America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Latin America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Latin America Overview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Latin America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Latin America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Latin America Performance Knitted Fabrics –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Market Analysis By Country (1/2)</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Market Analysis By Country (2/2)</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Volume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Value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Market Trends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Construction By Fabric Construction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Construction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Material By Material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Material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Primary Performance Function By Primary Performance Function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Primary Performance Function By Primary Performance Function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Primary Performance Function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By End-Use Application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By End-Use Application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Weight By Fabric Weight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Weight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Vs Material By End-Use Application Vs Material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Vs Material By End-Use Application Vs Material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Vs Material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Western Europe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Western Europe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Western Europe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Western Europe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Western Europe Overview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Western Europe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Western Europe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Western Europe Performance Knitted Fabrics – Country Outlook  (1/2)</a:t>
            </a:r>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Western Europe Performance Knitted Fabrics – Country Outlook  (2/2)</a:t>
            </a:r>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Market Analysis By Country (1/2)</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Market Analysis By Country (2/2)</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Volume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Value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Market Trends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Construction By Fabric Construction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2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Construction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3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Material By Material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3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Material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3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Primary Performance Function By Primary Performance Function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3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Primary Performance Function By Primary Performance Function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3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Primary Performance Function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3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By End-Use Application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3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By End-Use Application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3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3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Weight By Fabric Weight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3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Weight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3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Vs Material By End-Use Application Vs Material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3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Vs Material By End-Use Application Vs Material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3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Vs Material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3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Eastern Europe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3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Eastern Europe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3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Eastern Europe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3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Eastern Europe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3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Eastern Europe Overview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3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Eastern Europe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3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Eastern Europe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3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Eastern Europe Performance Knitted Fabrics –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3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Market Analysis By Country (1/2)</a:t>
            </a:r>
          </a:p>
        </p:txBody>
      </p:sp>
      <p:sp>
        <p:nvSpPr>
          <p:cNvPr id="4" name="Slide Number Placeholder 3"/>
          <p:cNvSpPr>
            <a:spLocks noGrp="1"/>
          </p:cNvSpPr>
          <p:nvPr>
            <p:ph type="sldNum" idx="5" sz="quarter"/>
          </p:nvPr>
        </p:nvSpPr>
        <p:spPr/>
      </p:sp>
    </p:spTree>
  </p:cSld>
  <p:clrMapOvr>
    <a:masterClrMapping/>
  </p:clrMapOvr>
</p:notes>
</file>

<file path=ppt/notesSlides/notesSlide3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Market Analysis By Country (2/2)</a:t>
            </a:r>
          </a:p>
        </p:txBody>
      </p:sp>
      <p:sp>
        <p:nvSpPr>
          <p:cNvPr id="4" name="Slide Number Placeholder 3"/>
          <p:cNvSpPr>
            <a:spLocks noGrp="1"/>
          </p:cNvSpPr>
          <p:nvPr>
            <p:ph type="sldNum" idx="5" sz="quarter"/>
          </p:nvPr>
        </p:nvSpPr>
        <p:spPr/>
      </p:sp>
    </p:spTree>
  </p:cSld>
  <p:clrMapOvr>
    <a:masterClrMapping/>
  </p:clrMapOvr>
</p:notes>
</file>

<file path=ppt/notesSlides/notesSlide3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Volume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3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Value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3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Market Trends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3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3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Construction By Fabric Construction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3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Construction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3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Material By Material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3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Material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Primary Performance Function By Primary Performance Function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4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Primary Performance Function By Primary Performance Function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4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Primary Performance Function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By End-Use Application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4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By End-Use Application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4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Weight By Fabric Weight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4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Weight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Vs Material By End-Use Application Vs Material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4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Vs Material By End-Use Application Vs Material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4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Vs Material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East Asia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4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East Asia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4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East Asia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4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East Asia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4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East Asia Overview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4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East Asia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4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East Asia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4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East Asia Performance Knitted Fabrics –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4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Market Analysis By Country (1/2)</a:t>
            </a:r>
          </a:p>
        </p:txBody>
      </p:sp>
      <p:sp>
        <p:nvSpPr>
          <p:cNvPr id="4" name="Slide Number Placeholder 3"/>
          <p:cNvSpPr>
            <a:spLocks noGrp="1"/>
          </p:cNvSpPr>
          <p:nvPr>
            <p:ph type="sldNum" idx="5" sz="quarter"/>
          </p:nvPr>
        </p:nvSpPr>
        <p:spPr/>
      </p:sp>
    </p:spTree>
  </p:cSld>
  <p:clrMapOvr>
    <a:masterClrMapping/>
  </p:clrMapOvr>
</p:notes>
</file>

<file path=ppt/notesSlides/notesSlide4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Market Analysis By Country (2/2)</a:t>
            </a:r>
          </a:p>
        </p:txBody>
      </p:sp>
      <p:sp>
        <p:nvSpPr>
          <p:cNvPr id="4" name="Slide Number Placeholder 3"/>
          <p:cNvSpPr>
            <a:spLocks noGrp="1"/>
          </p:cNvSpPr>
          <p:nvPr>
            <p:ph type="sldNum" idx="5" sz="quarter"/>
          </p:nvPr>
        </p:nvSpPr>
        <p:spPr/>
      </p:sp>
    </p:spTree>
  </p:cSld>
  <p:clrMapOvr>
    <a:masterClrMapping/>
  </p:clrMapOvr>
</p:notes>
</file>

<file path=ppt/notesSlides/notesSlide4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Volume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4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Value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4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Market Trends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4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4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Construction By Fabric Construction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4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Construction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Material By Material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4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Material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Primary Performance Function By Primary Performance Function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4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Primary Performance Function By Primary Performance Function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4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Primary Performance Function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By End-Use Application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5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By End-Use Application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5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Weight By Fabric Weight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5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Weight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Vs Material By End-Use Application Vs Material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5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Vs Material By End-Use Application Vs Material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5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Vs Material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South Asia Pacific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5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South Asia Pacific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5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South Asia Pacific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5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South Asia Pacific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5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South Asia Pacific Overview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5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South Asia Pacific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5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South Asia Pacific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5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South Asia Pacific Performance Knitted Fabrics –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5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Market Analysis By Country (1/2)</a:t>
            </a:r>
          </a:p>
        </p:txBody>
      </p:sp>
      <p:sp>
        <p:nvSpPr>
          <p:cNvPr id="4" name="Slide Number Placeholder 3"/>
          <p:cNvSpPr>
            <a:spLocks noGrp="1"/>
          </p:cNvSpPr>
          <p:nvPr>
            <p:ph type="sldNum" idx="5" sz="quarter"/>
          </p:nvPr>
        </p:nvSpPr>
        <p:spPr/>
      </p:sp>
    </p:spTree>
  </p:cSld>
  <p:clrMapOvr>
    <a:masterClrMapping/>
  </p:clrMapOvr>
</p:notes>
</file>

<file path=ppt/notesSlides/notesSlide5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Market Analysis By Country (2/2)</a:t>
            </a:r>
          </a:p>
        </p:txBody>
      </p:sp>
      <p:sp>
        <p:nvSpPr>
          <p:cNvPr id="4" name="Slide Number Placeholder 3"/>
          <p:cNvSpPr>
            <a:spLocks noGrp="1"/>
          </p:cNvSpPr>
          <p:nvPr>
            <p:ph type="sldNum" idx="5" sz="quarter"/>
          </p:nvPr>
        </p:nvSpPr>
        <p:spPr/>
      </p:sp>
    </p:spTree>
  </p:cSld>
  <p:clrMapOvr>
    <a:masterClrMapping/>
  </p:clrMapOvr>
</p:notes>
</file>

<file path=ppt/notesSlides/notesSlide5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Volume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5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Value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5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Market Trends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5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5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Construction By Fabric Construction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5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Construction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Material By Material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5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Material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Primary Performance Function By Primary Performance Function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5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Primary Performance Function By Primary Performance Function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5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Primary Performance Function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By End-Use Application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5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By End-Use Application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6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6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Weight By Fabric Weight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6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Weight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6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Vs Material By End-Use Application Vs Material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6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Vs Material By End-Use Application Vs Material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6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Vs Material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6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Middle East &amp; Africa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6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Middle East &amp; Africa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6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Middle East &amp; Africa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6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Middle East &amp; Africa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6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Middle East &amp; Africa Overview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6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Middle East &amp; Africa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6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Middle East &amp; Africa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6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Middle East &amp; Africa Performance Knitted Fabrics –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6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Market Analysis By Country (1/2)</a:t>
            </a:r>
          </a:p>
        </p:txBody>
      </p:sp>
      <p:sp>
        <p:nvSpPr>
          <p:cNvPr id="4" name="Slide Number Placeholder 3"/>
          <p:cNvSpPr>
            <a:spLocks noGrp="1"/>
          </p:cNvSpPr>
          <p:nvPr>
            <p:ph type="sldNum" idx="5" sz="quarter"/>
          </p:nvPr>
        </p:nvSpPr>
        <p:spPr/>
      </p:sp>
    </p:spTree>
  </p:cSld>
  <p:clrMapOvr>
    <a:masterClrMapping/>
  </p:clrMapOvr>
</p:notes>
</file>

<file path=ppt/notesSlides/notesSlide6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Market Analysis By Country (2/2)</a:t>
            </a:r>
          </a:p>
        </p:txBody>
      </p:sp>
      <p:sp>
        <p:nvSpPr>
          <p:cNvPr id="4" name="Slide Number Placeholder 3"/>
          <p:cNvSpPr>
            <a:spLocks noGrp="1"/>
          </p:cNvSpPr>
          <p:nvPr>
            <p:ph type="sldNum" idx="5" sz="quarter"/>
          </p:nvPr>
        </p:nvSpPr>
        <p:spPr/>
      </p:sp>
    </p:spTree>
  </p:cSld>
  <p:clrMapOvr>
    <a:masterClrMapping/>
  </p:clrMapOvr>
</p:notes>
</file>

<file path=ppt/notesSlides/notesSlide6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Volume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6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Value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6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Market Trends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6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By Country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6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Construction By Fabric Construction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6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Construction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6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Material By Material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6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Material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6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Primary Performance Function By Primary Performance Function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6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Primary Performance Function By Primary Performance Function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6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Primary Performance Function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6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By End-Use Application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6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By End-Use Application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6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6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Weight By Fabric Weight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7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Fabric Weight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7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Vs Material By End-Use Application Vs Material Segment Outlook  (1/2)</a:t>
            </a:r>
          </a:p>
        </p:txBody>
      </p:sp>
      <p:sp>
        <p:nvSpPr>
          <p:cNvPr id="4" name="Slide Number Placeholder 3"/>
          <p:cNvSpPr>
            <a:spLocks noGrp="1"/>
          </p:cNvSpPr>
          <p:nvPr>
            <p:ph type="sldNum" idx="5" sz="quarter"/>
          </p:nvPr>
        </p:nvSpPr>
        <p:spPr/>
      </p:sp>
    </p:spTree>
  </p:cSld>
  <p:clrMapOvr>
    <a:masterClrMapping/>
  </p:clrMapOvr>
</p:notes>
</file>

<file path=ppt/notesSlides/notesSlide7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Vs Material By End-Use Application Vs Material Segment Outlook  (2/2)</a:t>
            </a:r>
          </a:p>
        </p:txBody>
      </p:sp>
      <p:sp>
        <p:nvSpPr>
          <p:cNvPr id="4" name="Slide Number Placeholder 3"/>
          <p:cNvSpPr>
            <a:spLocks noGrp="1"/>
          </p:cNvSpPr>
          <p:nvPr>
            <p:ph type="sldNum" idx="5" sz="quarter"/>
          </p:nvPr>
        </p:nvSpPr>
        <p:spPr/>
      </p:sp>
    </p:spTree>
  </p:cSld>
  <p:clrMapOvr>
    <a:masterClrMapping/>
  </p:clrMapOvr>
</p:notes>
</file>

<file path=ppt/notesSlides/notesSlide7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End-Use Application Vs Material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7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7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7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7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7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7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8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8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8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8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9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9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9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9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9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9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0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0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0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0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2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3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3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3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3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4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4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4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4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4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4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5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5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5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5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6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6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6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6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6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6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7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7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7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7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7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7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8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8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8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8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Knitted Fabrics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xml"/><Relationship Id="rId4" Type="http://schemas.openxmlformats.org/officeDocument/2006/relationships/notesSlide" Target="../notesSlides/notesSlide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xml"/><Relationship Id="rId4" Type="http://schemas.openxmlformats.org/officeDocument/2006/relationships/notesSlide" Target="../notesSlides/notesSlide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xml"/><Relationship Id="rId4" Type="http://schemas.openxmlformats.org/officeDocument/2006/relationships/notesSlide" Target="../notesSlides/notesSlide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xml"/><Relationship Id="rId4" Type="http://schemas.openxmlformats.org/officeDocument/2006/relationships/notesSlide" Target="../notesSlides/notesSlide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notesSlide" Target="../notesSlides/notesSlide2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9.xml"/><Relationship Id="rId4" Type="http://schemas.openxmlformats.org/officeDocument/2006/relationships/notesSlide" Target="../notesSlides/notesSlide3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8.xml"/><Relationship Id="rId4" Type="http://schemas.openxmlformats.org/officeDocument/2006/relationships/notesSlide" Target="../notesSlides/notesSlide3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1.xml"/><Relationship Id="rId4" Type="http://schemas.openxmlformats.org/officeDocument/2006/relationships/notesSlide" Target="../notesSlides/notesSlide5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1.xml"/><Relationship Id="rId4" Type="http://schemas.openxmlformats.org/officeDocument/2006/relationships/notesSlide" Target="../notesSlides/notesSlide6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7.xml"/><Relationship Id="rId4" Type="http://schemas.openxmlformats.org/officeDocument/2006/relationships/notesSlide" Target="../notesSlides/notesSlide7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7.xml"/><Relationship Id="rId4" Type="http://schemas.openxmlformats.org/officeDocument/2006/relationships/notesSlide" Target="../notesSlides/notesSlide9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8.xml"/><Relationship Id="rId4" Type="http://schemas.openxmlformats.org/officeDocument/2006/relationships/chart" Target="../charts/chart69.xml"/><Relationship Id="rId5" Type="http://schemas.openxmlformats.org/officeDocument/2006/relationships/notesSlide" Target="../notesSlides/notesSlide9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0.xml"/><Relationship Id="rId4" Type="http://schemas.openxmlformats.org/officeDocument/2006/relationships/chart" Target="../charts/chart71.xml"/><Relationship Id="rId5" Type="http://schemas.openxmlformats.org/officeDocument/2006/relationships/notesSlide" Target="../notesSlides/notesSlide10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2.xml"/><Relationship Id="rId4" Type="http://schemas.openxmlformats.org/officeDocument/2006/relationships/chart" Target="../charts/chart73.xml"/><Relationship Id="rId5" Type="http://schemas.openxmlformats.org/officeDocument/2006/relationships/notesSlide" Target="../notesSlides/notesSlide10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4.xml"/><Relationship Id="rId4" Type="http://schemas.openxmlformats.org/officeDocument/2006/relationships/chart" Target="../charts/chart75.xml"/><Relationship Id="rId5" Type="http://schemas.openxmlformats.org/officeDocument/2006/relationships/notesSlide" Target="../notesSlides/notesSlide10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6.xml"/><Relationship Id="rId4" Type="http://schemas.openxmlformats.org/officeDocument/2006/relationships/notesSlide" Target="../notesSlides/notesSlide10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8.xml"/><Relationship Id="rId4" Type="http://schemas.openxmlformats.org/officeDocument/2006/relationships/notesSlide" Target="../notesSlides/notesSlide10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9.xml"/><Relationship Id="rId4" Type="http://schemas.openxmlformats.org/officeDocument/2006/relationships/notesSlide" Target="../notesSlides/notesSlide10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0.xml"/><Relationship Id="rId4" Type="http://schemas.openxmlformats.org/officeDocument/2006/relationships/chart" Target="../charts/chart81.xml"/><Relationship Id="rId5" Type="http://schemas.openxmlformats.org/officeDocument/2006/relationships/notesSlide" Target="../notesSlides/notesSlide1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6.xml"/><Relationship Id="rId4" Type="http://schemas.openxmlformats.org/officeDocument/2006/relationships/notesSlide" Target="../notesSlides/notesSlide11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5.xml"/><Relationship Id="rId4" Type="http://schemas.openxmlformats.org/officeDocument/2006/relationships/notesSlide" Target="../notesSlides/notesSlide12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8.xml"/><Relationship Id="rId4" Type="http://schemas.openxmlformats.org/officeDocument/2006/relationships/notesSlide" Target="../notesSlides/notesSlide14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8.xml"/><Relationship Id="rId4" Type="http://schemas.openxmlformats.org/officeDocument/2006/relationships/notesSlide" Target="../notesSlides/notesSlide1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4.xml"/><Relationship Id="rId4" Type="http://schemas.openxmlformats.org/officeDocument/2006/relationships/notesSlide" Target="../notesSlides/notesSlide16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4.xml"/><Relationship Id="rId4" Type="http://schemas.openxmlformats.org/officeDocument/2006/relationships/notesSlide" Target="../notesSlides/notesSlide17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5.xml"/><Relationship Id="rId4" Type="http://schemas.openxmlformats.org/officeDocument/2006/relationships/chart" Target="../charts/chart136.xml"/><Relationship Id="rId5" Type="http://schemas.openxmlformats.org/officeDocument/2006/relationships/notesSlide" Target="../notesSlides/notesSlide18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7.xml"/><Relationship Id="rId4" Type="http://schemas.openxmlformats.org/officeDocument/2006/relationships/chart" Target="../charts/chart138.xml"/><Relationship Id="rId5" Type="http://schemas.openxmlformats.org/officeDocument/2006/relationships/notesSlide" Target="../notesSlides/notesSlide18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9.xml"/><Relationship Id="rId4" Type="http://schemas.openxmlformats.org/officeDocument/2006/relationships/chart" Target="../charts/chart140.xml"/><Relationship Id="rId5" Type="http://schemas.openxmlformats.org/officeDocument/2006/relationships/notesSlide" Target="../notesSlides/notesSlide19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1.xml"/><Relationship Id="rId4" Type="http://schemas.openxmlformats.org/officeDocument/2006/relationships/chart" Target="../charts/chart142.xml"/><Relationship Id="rId5" Type="http://schemas.openxmlformats.org/officeDocument/2006/relationships/notesSlide" Target="../notesSlides/notesSlide19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3.xml"/><Relationship Id="rId4" Type="http://schemas.openxmlformats.org/officeDocument/2006/relationships/notesSlide" Target="../notesSlides/notesSlide19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5.xml"/><Relationship Id="rId4" Type="http://schemas.openxmlformats.org/officeDocument/2006/relationships/notesSlide" Target="../notesSlides/notesSlide19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6.xml"/><Relationship Id="rId4" Type="http://schemas.openxmlformats.org/officeDocument/2006/relationships/notesSlide" Target="../notesSlides/notesSlide19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7.xml"/><Relationship Id="rId4" Type="http://schemas.openxmlformats.org/officeDocument/2006/relationships/chart" Target="../charts/chart148.xml"/><Relationship Id="rId5" Type="http://schemas.openxmlformats.org/officeDocument/2006/relationships/notesSlide" Target="../notesSlides/notesSlide20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3.xml"/><Relationship Id="rId4" Type="http://schemas.openxmlformats.org/officeDocument/2006/relationships/notesSlide" Target="../notesSlides/notesSlide20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62.xml"/><Relationship Id="rId4" Type="http://schemas.openxmlformats.org/officeDocument/2006/relationships/notesSlide" Target="../notesSlides/notesSlide21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5.xml"/><Relationship Id="rId4" Type="http://schemas.openxmlformats.org/officeDocument/2006/relationships/notesSlide" Target="../notesSlides/notesSlide23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85.xml"/><Relationship Id="rId4" Type="http://schemas.openxmlformats.org/officeDocument/2006/relationships/notesSlide" Target="../notesSlides/notesSlide24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91.xml"/><Relationship Id="rId4" Type="http://schemas.openxmlformats.org/officeDocument/2006/relationships/notesSlide" Target="../notesSlides/notesSlide25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01.xml"/><Relationship Id="rId4" Type="http://schemas.openxmlformats.org/officeDocument/2006/relationships/notesSlide" Target="../notesSlides/notesSlide26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02.xml"/><Relationship Id="rId4" Type="http://schemas.openxmlformats.org/officeDocument/2006/relationships/chart" Target="../charts/chart203.xml"/><Relationship Id="rId5" Type="http://schemas.openxmlformats.org/officeDocument/2006/relationships/notesSlide" Target="../notesSlides/notesSlide27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04.xml"/><Relationship Id="rId4" Type="http://schemas.openxmlformats.org/officeDocument/2006/relationships/chart" Target="../charts/chart205.xml"/><Relationship Id="rId5" Type="http://schemas.openxmlformats.org/officeDocument/2006/relationships/notesSlide" Target="../notesSlides/notesSlide27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06.xml"/><Relationship Id="rId4" Type="http://schemas.openxmlformats.org/officeDocument/2006/relationships/chart" Target="../charts/chart207.xml"/><Relationship Id="rId5" Type="http://schemas.openxmlformats.org/officeDocument/2006/relationships/notesSlide" Target="../notesSlides/notesSlide279.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08.xml"/><Relationship Id="rId4" Type="http://schemas.openxmlformats.org/officeDocument/2006/relationships/chart" Target="../charts/chart209.xml"/><Relationship Id="rId5" Type="http://schemas.openxmlformats.org/officeDocument/2006/relationships/notesSlide" Target="../notesSlides/notesSlide280.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10.xml"/><Relationship Id="rId4" Type="http://schemas.openxmlformats.org/officeDocument/2006/relationships/notesSlide" Target="../notesSlides/notesSlide28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12.xml"/><Relationship Id="rId4" Type="http://schemas.openxmlformats.org/officeDocument/2006/relationships/notesSlide" Target="../notesSlides/notesSlide28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13.xml"/><Relationship Id="rId4" Type="http://schemas.openxmlformats.org/officeDocument/2006/relationships/notesSlide" Target="../notesSlides/notesSlide28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9.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14.xml"/><Relationship Id="rId4" Type="http://schemas.openxmlformats.org/officeDocument/2006/relationships/chart" Target="../charts/chart215.xml"/><Relationship Id="rId5" Type="http://schemas.openxmlformats.org/officeDocument/2006/relationships/notesSlide" Target="../notesSlides/notesSlide29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20.xml"/><Relationship Id="rId4" Type="http://schemas.openxmlformats.org/officeDocument/2006/relationships/notesSlide" Target="../notesSlides/notesSlide29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29.xml"/><Relationship Id="rId4" Type="http://schemas.openxmlformats.org/officeDocument/2006/relationships/notesSlide" Target="../notesSlides/notesSlide30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42.xml"/><Relationship Id="rId4" Type="http://schemas.openxmlformats.org/officeDocument/2006/relationships/notesSlide" Target="../notesSlides/notesSlide320.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52.xml"/><Relationship Id="rId4" Type="http://schemas.openxmlformats.org/officeDocument/2006/relationships/notesSlide" Target="../notesSlides/notesSlide33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9.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58.xml"/><Relationship Id="rId4" Type="http://schemas.openxmlformats.org/officeDocument/2006/relationships/notesSlide" Target="../notesSlides/notesSlide34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8.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68.xml"/><Relationship Id="rId4" Type="http://schemas.openxmlformats.org/officeDocument/2006/relationships/notesSlide" Target="../notesSlides/notesSlide358.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69.xml"/><Relationship Id="rId4" Type="http://schemas.openxmlformats.org/officeDocument/2006/relationships/chart" Target="../charts/chart270.xml"/><Relationship Id="rId5" Type="http://schemas.openxmlformats.org/officeDocument/2006/relationships/notesSlide" Target="../notesSlides/notesSlide366.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71.xml"/><Relationship Id="rId4" Type="http://schemas.openxmlformats.org/officeDocument/2006/relationships/chart" Target="../charts/chart272.xml"/><Relationship Id="rId5" Type="http://schemas.openxmlformats.org/officeDocument/2006/relationships/notesSlide" Target="../notesSlides/notesSlide368.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73.xml"/><Relationship Id="rId4" Type="http://schemas.openxmlformats.org/officeDocument/2006/relationships/chart" Target="../charts/chart274.xml"/><Relationship Id="rId5" Type="http://schemas.openxmlformats.org/officeDocument/2006/relationships/notesSlide" Target="../notesSlides/notesSlide369.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75.xml"/><Relationship Id="rId4" Type="http://schemas.openxmlformats.org/officeDocument/2006/relationships/chart" Target="../charts/chart276.xml"/><Relationship Id="rId5" Type="http://schemas.openxmlformats.org/officeDocument/2006/relationships/notesSlide" Target="../notesSlides/notesSlide370.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77.xml"/><Relationship Id="rId4" Type="http://schemas.openxmlformats.org/officeDocument/2006/relationships/notesSlide" Target="../notesSlides/notesSlide37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79.xml"/><Relationship Id="rId4" Type="http://schemas.openxmlformats.org/officeDocument/2006/relationships/notesSlide" Target="../notesSlides/notesSlide37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80.xml"/><Relationship Id="rId4" Type="http://schemas.openxmlformats.org/officeDocument/2006/relationships/notesSlide" Target="../notesSlides/notesSlide37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8.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9.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81.xml"/><Relationship Id="rId4" Type="http://schemas.openxmlformats.org/officeDocument/2006/relationships/chart" Target="../charts/chart282.xml"/><Relationship Id="rId5" Type="http://schemas.openxmlformats.org/officeDocument/2006/relationships/notesSlide" Target="../notesSlides/notesSlide380.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87.xml"/><Relationship Id="rId4" Type="http://schemas.openxmlformats.org/officeDocument/2006/relationships/notesSlide" Target="../notesSlides/notesSlide38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0.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96.xml"/><Relationship Id="rId4" Type="http://schemas.openxmlformats.org/officeDocument/2006/relationships/notesSlide" Target="../notesSlides/notesSlide396.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09.xml"/><Relationship Id="rId4" Type="http://schemas.openxmlformats.org/officeDocument/2006/relationships/notesSlide" Target="../notesSlides/notesSlide409.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4.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5.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19.xml"/><Relationship Id="rId4" Type="http://schemas.openxmlformats.org/officeDocument/2006/relationships/notesSlide" Target="../notesSlides/notesSlide42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8.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25.xml"/><Relationship Id="rId4" Type="http://schemas.openxmlformats.org/officeDocument/2006/relationships/notesSlide" Target="../notesSlides/notesSlide43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6.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35.xml"/><Relationship Id="rId4" Type="http://schemas.openxmlformats.org/officeDocument/2006/relationships/notesSlide" Target="../notesSlides/notesSlide44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36.xml"/><Relationship Id="rId4" Type="http://schemas.openxmlformats.org/officeDocument/2006/relationships/chart" Target="../charts/chart337.xml"/><Relationship Id="rId5" Type="http://schemas.openxmlformats.org/officeDocument/2006/relationships/notesSlide" Target="../notesSlides/notesSlide455.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6.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38.xml"/><Relationship Id="rId4" Type="http://schemas.openxmlformats.org/officeDocument/2006/relationships/chart" Target="../charts/chart339.xml"/><Relationship Id="rId5" Type="http://schemas.openxmlformats.org/officeDocument/2006/relationships/notesSlide" Target="../notesSlides/notesSlide45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40.xml"/><Relationship Id="rId4" Type="http://schemas.openxmlformats.org/officeDocument/2006/relationships/chart" Target="../charts/chart341.xml"/><Relationship Id="rId5" Type="http://schemas.openxmlformats.org/officeDocument/2006/relationships/notesSlide" Target="../notesSlides/notesSlide458.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42.xml"/><Relationship Id="rId4" Type="http://schemas.openxmlformats.org/officeDocument/2006/relationships/chart" Target="../charts/chart343.xml"/><Relationship Id="rId5" Type="http://schemas.openxmlformats.org/officeDocument/2006/relationships/notesSlide" Target="../notesSlides/notesSlide459.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44.xml"/><Relationship Id="rId4" Type="http://schemas.openxmlformats.org/officeDocument/2006/relationships/notesSlide" Target="../notesSlides/notesSlide46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4.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46.xml"/><Relationship Id="rId4" Type="http://schemas.openxmlformats.org/officeDocument/2006/relationships/notesSlide" Target="../notesSlides/notesSlide465.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47.xml"/><Relationship Id="rId4" Type="http://schemas.openxmlformats.org/officeDocument/2006/relationships/notesSlide" Target="../notesSlides/notesSlide466.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8.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48.xml"/><Relationship Id="rId4" Type="http://schemas.openxmlformats.org/officeDocument/2006/relationships/chart" Target="../charts/chart349.xml"/><Relationship Id="rId5" Type="http://schemas.openxmlformats.org/officeDocument/2006/relationships/notesSlide" Target="../notesSlides/notesSlide469.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0.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54.xml"/><Relationship Id="rId4" Type="http://schemas.openxmlformats.org/officeDocument/2006/relationships/notesSlide" Target="../notesSlides/notesSlide47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9.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63.xml"/><Relationship Id="rId4" Type="http://schemas.openxmlformats.org/officeDocument/2006/relationships/notesSlide" Target="../notesSlides/notesSlide485.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0.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76.xml"/><Relationship Id="rId4" Type="http://schemas.openxmlformats.org/officeDocument/2006/relationships/notesSlide" Target="../notesSlides/notesSlide498.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03.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04.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86.xml"/><Relationship Id="rId4" Type="http://schemas.openxmlformats.org/officeDocument/2006/relationships/notesSlide" Target="../notesSlides/notesSlide51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1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92.xml"/><Relationship Id="rId4" Type="http://schemas.openxmlformats.org/officeDocument/2006/relationships/notesSlide" Target="../notesSlides/notesSlide52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5.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6.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02.xml"/><Relationship Id="rId4" Type="http://schemas.openxmlformats.org/officeDocument/2006/relationships/notesSlide" Target="../notesSlides/notesSlide536.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03.xml"/><Relationship Id="rId4" Type="http://schemas.openxmlformats.org/officeDocument/2006/relationships/chart" Target="../charts/chart404.xml"/><Relationship Id="rId5" Type="http://schemas.openxmlformats.org/officeDocument/2006/relationships/notesSlide" Target="../notesSlides/notesSlide544.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45.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05.xml"/><Relationship Id="rId4" Type="http://schemas.openxmlformats.org/officeDocument/2006/relationships/chart" Target="../charts/chart406.xml"/><Relationship Id="rId5" Type="http://schemas.openxmlformats.org/officeDocument/2006/relationships/notesSlide" Target="../notesSlides/notesSlide546.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07.xml"/><Relationship Id="rId4" Type="http://schemas.openxmlformats.org/officeDocument/2006/relationships/chart" Target="../charts/chart408.xml"/><Relationship Id="rId5" Type="http://schemas.openxmlformats.org/officeDocument/2006/relationships/notesSlide" Target="../notesSlides/notesSlide54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09.xml"/><Relationship Id="rId4" Type="http://schemas.openxmlformats.org/officeDocument/2006/relationships/chart" Target="../charts/chart410.xml"/><Relationship Id="rId5" Type="http://schemas.openxmlformats.org/officeDocument/2006/relationships/notesSlide" Target="../notesSlides/notesSlide548.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11.xml"/><Relationship Id="rId4" Type="http://schemas.openxmlformats.org/officeDocument/2006/relationships/notesSlide" Target="../notesSlides/notesSlide550.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3.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13.xml"/><Relationship Id="rId4" Type="http://schemas.openxmlformats.org/officeDocument/2006/relationships/notesSlide" Target="../notesSlides/notesSlide554.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14.xml"/><Relationship Id="rId4" Type="http://schemas.openxmlformats.org/officeDocument/2006/relationships/notesSlide" Target="../notesSlides/notesSlide555.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6.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15.xml"/><Relationship Id="rId4" Type="http://schemas.openxmlformats.org/officeDocument/2006/relationships/chart" Target="../charts/chart416.xml"/><Relationship Id="rId5" Type="http://schemas.openxmlformats.org/officeDocument/2006/relationships/notesSlide" Target="../notesSlides/notesSlide558.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9.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0.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21.xml"/><Relationship Id="rId4" Type="http://schemas.openxmlformats.org/officeDocument/2006/relationships/notesSlide" Target="../notesSlides/notesSlide56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8.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30.xml"/><Relationship Id="rId4" Type="http://schemas.openxmlformats.org/officeDocument/2006/relationships/notesSlide" Target="../notesSlides/notesSlide574.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79.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80.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43.xml"/><Relationship Id="rId4" Type="http://schemas.openxmlformats.org/officeDocument/2006/relationships/notesSlide" Target="../notesSlides/notesSlide58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9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93.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53.xml"/><Relationship Id="rId4" Type="http://schemas.openxmlformats.org/officeDocument/2006/relationships/notesSlide" Target="../notesSlides/notesSlide601.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06.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59.xml"/><Relationship Id="rId4" Type="http://schemas.openxmlformats.org/officeDocument/2006/relationships/notesSlide" Target="../notesSlides/notesSlide611.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14.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15.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69.xml"/><Relationship Id="rId4" Type="http://schemas.openxmlformats.org/officeDocument/2006/relationships/notesSlide" Target="../notesSlides/notesSlide625.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70.xml"/><Relationship Id="rId4" Type="http://schemas.openxmlformats.org/officeDocument/2006/relationships/chart" Target="../charts/chart471.xml"/><Relationship Id="rId5" Type="http://schemas.openxmlformats.org/officeDocument/2006/relationships/notesSlide" Target="../notesSlides/notesSlide633.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34.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72.xml"/><Relationship Id="rId4" Type="http://schemas.openxmlformats.org/officeDocument/2006/relationships/chart" Target="../charts/chart473.xml"/><Relationship Id="rId5" Type="http://schemas.openxmlformats.org/officeDocument/2006/relationships/notesSlide" Target="../notesSlides/notesSlide635.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74.xml"/><Relationship Id="rId4" Type="http://schemas.openxmlformats.org/officeDocument/2006/relationships/chart" Target="../charts/chart475.xml"/><Relationship Id="rId5" Type="http://schemas.openxmlformats.org/officeDocument/2006/relationships/notesSlide" Target="../notesSlides/notesSlide636.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76.xml"/><Relationship Id="rId4" Type="http://schemas.openxmlformats.org/officeDocument/2006/relationships/chart" Target="../charts/chart477.xml"/><Relationship Id="rId5" Type="http://schemas.openxmlformats.org/officeDocument/2006/relationships/notesSlide" Target="../notesSlides/notesSlide63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78.xml"/><Relationship Id="rId4" Type="http://schemas.openxmlformats.org/officeDocument/2006/relationships/notesSlide" Target="../notesSlides/notesSlide639.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0.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80.xml"/><Relationship Id="rId4" Type="http://schemas.openxmlformats.org/officeDocument/2006/relationships/notesSlide" Target="../notesSlides/notesSlide643.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81.xml"/><Relationship Id="rId4" Type="http://schemas.openxmlformats.org/officeDocument/2006/relationships/notesSlide" Target="../notesSlides/notesSlide644.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5.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6.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82.xml"/><Relationship Id="rId4" Type="http://schemas.openxmlformats.org/officeDocument/2006/relationships/chart" Target="../charts/chart483.xml"/><Relationship Id="rId5" Type="http://schemas.openxmlformats.org/officeDocument/2006/relationships/notesSlide" Target="../notesSlides/notesSlide64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8.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9.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88.xml"/><Relationship Id="rId4" Type="http://schemas.openxmlformats.org/officeDocument/2006/relationships/notesSlide" Target="../notesSlides/notesSlide65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5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97.xml"/><Relationship Id="rId4" Type="http://schemas.openxmlformats.org/officeDocument/2006/relationships/notesSlide" Target="../notesSlides/notesSlide663.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68.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69.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10.xml"/><Relationship Id="rId4" Type="http://schemas.openxmlformats.org/officeDocument/2006/relationships/notesSlide" Target="../notesSlides/notesSlide676.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81.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8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20.xml"/><Relationship Id="rId4" Type="http://schemas.openxmlformats.org/officeDocument/2006/relationships/notesSlide" Target="../notesSlides/notesSlide690.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95.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26.xml"/><Relationship Id="rId4" Type="http://schemas.openxmlformats.org/officeDocument/2006/relationships/notesSlide" Target="../notesSlides/notesSlide700.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3.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4.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36.xml"/><Relationship Id="rId4" Type="http://schemas.openxmlformats.org/officeDocument/2006/relationships/notesSlide" Target="../notesSlides/notesSlide714.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37.xml"/><Relationship Id="rId4" Type="http://schemas.openxmlformats.org/officeDocument/2006/relationships/chart" Target="../charts/chart538.xml"/><Relationship Id="rId5" Type="http://schemas.openxmlformats.org/officeDocument/2006/relationships/chart" Target="../charts/chart539.xml"/><Relationship Id="rId6" Type="http://schemas.openxmlformats.org/officeDocument/2006/relationships/chart" Target="../charts/chart540.xml"/><Relationship Id="rId7" Type="http://schemas.openxmlformats.org/officeDocument/2006/relationships/notesSlide" Target="../notesSlides/notesSlide72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41.xml"/><Relationship Id="rId4" Type="http://schemas.openxmlformats.org/officeDocument/2006/relationships/chart" Target="../charts/chart542.xml"/><Relationship Id="rId5" Type="http://schemas.openxmlformats.org/officeDocument/2006/relationships/chart" Target="../charts/chart543.xml"/><Relationship Id="rId6" Type="http://schemas.openxmlformats.org/officeDocument/2006/relationships/chart" Target="../charts/chart544.xml"/><Relationship Id="rId7" Type="http://schemas.openxmlformats.org/officeDocument/2006/relationships/notesSlide" Target="../notesSlides/notesSlide723.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63.xml"/><Relationship Id="rId4" Type="http://schemas.openxmlformats.org/officeDocument/2006/relationships/chart" Target="../charts/chart564.xml"/><Relationship Id="rId5" Type="http://schemas.openxmlformats.org/officeDocument/2006/relationships/chart" Target="../charts/chart565.xml"/><Relationship Id="rId6" Type="http://schemas.openxmlformats.org/officeDocument/2006/relationships/chart" Target="../charts/chart566.xml"/><Relationship Id="rId7" Type="http://schemas.openxmlformats.org/officeDocument/2006/relationships/notesSlide" Target="../notesSlides/notesSlide76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67.xml"/><Relationship Id="rId4" Type="http://schemas.openxmlformats.org/officeDocument/2006/relationships/chart" Target="../charts/chart568.xml"/><Relationship Id="rId5" Type="http://schemas.openxmlformats.org/officeDocument/2006/relationships/chart" Target="../charts/chart569.xml"/><Relationship Id="rId6" Type="http://schemas.openxmlformats.org/officeDocument/2006/relationships/chart" Target="../charts/chart570.xml"/><Relationship Id="rId7" Type="http://schemas.openxmlformats.org/officeDocument/2006/relationships/notesSlide" Target="../notesSlides/notesSlide76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89.xml"/><Relationship Id="rId4" Type="http://schemas.openxmlformats.org/officeDocument/2006/relationships/chart" Target="../charts/chart590.xml"/><Relationship Id="rId5" Type="http://schemas.openxmlformats.org/officeDocument/2006/relationships/chart" Target="../charts/chart591.xml"/><Relationship Id="rId6" Type="http://schemas.openxmlformats.org/officeDocument/2006/relationships/chart" Target="../charts/chart592.xml"/><Relationship Id="rId7" Type="http://schemas.openxmlformats.org/officeDocument/2006/relationships/notesSlide" Target="../notesSlides/notesSlide798.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93.xml"/><Relationship Id="rId4" Type="http://schemas.openxmlformats.org/officeDocument/2006/relationships/chart" Target="../charts/chart594.xml"/><Relationship Id="rId5" Type="http://schemas.openxmlformats.org/officeDocument/2006/relationships/chart" Target="../charts/chart595.xml"/><Relationship Id="rId6" Type="http://schemas.openxmlformats.org/officeDocument/2006/relationships/chart" Target="../charts/chart596.xml"/><Relationship Id="rId7" Type="http://schemas.openxmlformats.org/officeDocument/2006/relationships/notesSlide" Target="../notesSlides/notesSlide799.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15.xml"/><Relationship Id="rId4" Type="http://schemas.openxmlformats.org/officeDocument/2006/relationships/chart" Target="../charts/chart616.xml"/><Relationship Id="rId5" Type="http://schemas.openxmlformats.org/officeDocument/2006/relationships/chart" Target="../charts/chart617.xml"/><Relationship Id="rId6" Type="http://schemas.openxmlformats.org/officeDocument/2006/relationships/chart" Target="../charts/chart618.xml"/><Relationship Id="rId7" Type="http://schemas.openxmlformats.org/officeDocument/2006/relationships/notesSlide" Target="../notesSlides/notesSlide83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19.xml"/><Relationship Id="rId4" Type="http://schemas.openxmlformats.org/officeDocument/2006/relationships/chart" Target="../charts/chart620.xml"/><Relationship Id="rId5" Type="http://schemas.openxmlformats.org/officeDocument/2006/relationships/chart" Target="../charts/chart621.xml"/><Relationship Id="rId6" Type="http://schemas.openxmlformats.org/officeDocument/2006/relationships/chart" Target="../charts/chart622.xml"/><Relationship Id="rId7" Type="http://schemas.openxmlformats.org/officeDocument/2006/relationships/notesSlide" Target="../notesSlides/notesSlide838.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41.xml"/><Relationship Id="rId4" Type="http://schemas.openxmlformats.org/officeDocument/2006/relationships/chart" Target="../charts/chart642.xml"/><Relationship Id="rId5" Type="http://schemas.openxmlformats.org/officeDocument/2006/relationships/chart" Target="../charts/chart643.xml"/><Relationship Id="rId6" Type="http://schemas.openxmlformats.org/officeDocument/2006/relationships/chart" Target="../charts/chart644.xml"/><Relationship Id="rId7" Type="http://schemas.openxmlformats.org/officeDocument/2006/relationships/notesSlide" Target="../notesSlides/notesSlide875.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45.xml"/><Relationship Id="rId4" Type="http://schemas.openxmlformats.org/officeDocument/2006/relationships/chart" Target="../charts/chart646.xml"/><Relationship Id="rId5" Type="http://schemas.openxmlformats.org/officeDocument/2006/relationships/chart" Target="../charts/chart647.xml"/><Relationship Id="rId6" Type="http://schemas.openxmlformats.org/officeDocument/2006/relationships/chart" Target="../charts/chart648.xml"/><Relationship Id="rId7" Type="http://schemas.openxmlformats.org/officeDocument/2006/relationships/notesSlide" Target="../notesSlides/notesSlide876.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67.xml"/><Relationship Id="rId4" Type="http://schemas.openxmlformats.org/officeDocument/2006/relationships/chart" Target="../charts/chart668.xml"/><Relationship Id="rId5" Type="http://schemas.openxmlformats.org/officeDocument/2006/relationships/chart" Target="../charts/chart669.xml"/><Relationship Id="rId6" Type="http://schemas.openxmlformats.org/officeDocument/2006/relationships/chart" Target="../charts/chart670.xml"/><Relationship Id="rId7" Type="http://schemas.openxmlformats.org/officeDocument/2006/relationships/notesSlide" Target="../notesSlides/notesSlide913.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71.xml"/><Relationship Id="rId4" Type="http://schemas.openxmlformats.org/officeDocument/2006/relationships/chart" Target="../charts/chart672.xml"/><Relationship Id="rId5" Type="http://schemas.openxmlformats.org/officeDocument/2006/relationships/chart" Target="../charts/chart673.xml"/><Relationship Id="rId6" Type="http://schemas.openxmlformats.org/officeDocument/2006/relationships/chart" Target="../charts/chart674.xml"/><Relationship Id="rId7" Type="http://schemas.openxmlformats.org/officeDocument/2006/relationships/notesSlide" Target="../notesSlides/notesSlide914.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93.xml"/><Relationship Id="rId4" Type="http://schemas.openxmlformats.org/officeDocument/2006/relationships/chart" Target="../charts/chart694.xml"/><Relationship Id="rId5" Type="http://schemas.openxmlformats.org/officeDocument/2006/relationships/chart" Target="../charts/chart695.xml"/><Relationship Id="rId6" Type="http://schemas.openxmlformats.org/officeDocument/2006/relationships/chart" Target="../charts/chart696.xml"/><Relationship Id="rId7" Type="http://schemas.openxmlformats.org/officeDocument/2006/relationships/notesSlide" Target="../notesSlides/notesSlide951.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97.xml"/><Relationship Id="rId4" Type="http://schemas.openxmlformats.org/officeDocument/2006/relationships/chart" Target="../charts/chart698.xml"/><Relationship Id="rId5" Type="http://schemas.openxmlformats.org/officeDocument/2006/relationships/chart" Target="../charts/chart699.xml"/><Relationship Id="rId6" Type="http://schemas.openxmlformats.org/officeDocument/2006/relationships/chart" Target="../charts/chart700.xml"/><Relationship Id="rId7" Type="http://schemas.openxmlformats.org/officeDocument/2006/relationships/notesSlide" Target="../notesSlides/notesSlide95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19.xml"/><Relationship Id="rId4" Type="http://schemas.openxmlformats.org/officeDocument/2006/relationships/chart" Target="../charts/chart720.xml"/><Relationship Id="rId5" Type="http://schemas.openxmlformats.org/officeDocument/2006/relationships/chart" Target="../charts/chart721.xml"/><Relationship Id="rId6" Type="http://schemas.openxmlformats.org/officeDocument/2006/relationships/chart" Target="../charts/chart722.xml"/><Relationship Id="rId7" Type="http://schemas.openxmlformats.org/officeDocument/2006/relationships/notesSlide" Target="../notesSlides/notesSlide989.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23.xml"/><Relationship Id="rId4" Type="http://schemas.openxmlformats.org/officeDocument/2006/relationships/chart" Target="../charts/chart724.xml"/><Relationship Id="rId5" Type="http://schemas.openxmlformats.org/officeDocument/2006/relationships/chart" Target="../charts/chart725.xml"/><Relationship Id="rId6" Type="http://schemas.openxmlformats.org/officeDocument/2006/relationships/chart" Target="../charts/chart726.xml"/><Relationship Id="rId7" Type="http://schemas.openxmlformats.org/officeDocument/2006/relationships/notesSlide" Target="../notesSlides/notesSlide990.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45.xml"/><Relationship Id="rId4" Type="http://schemas.openxmlformats.org/officeDocument/2006/relationships/chart" Target="../charts/chart746.xml"/><Relationship Id="rId5" Type="http://schemas.openxmlformats.org/officeDocument/2006/relationships/chart" Target="../charts/chart747.xml"/><Relationship Id="rId6" Type="http://schemas.openxmlformats.org/officeDocument/2006/relationships/chart" Target="../charts/chart748.xml"/><Relationship Id="rId7" Type="http://schemas.openxmlformats.org/officeDocument/2006/relationships/notesSlide" Target="../notesSlides/notesSlide102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49.xml"/><Relationship Id="rId4" Type="http://schemas.openxmlformats.org/officeDocument/2006/relationships/chart" Target="../charts/chart750.xml"/><Relationship Id="rId5" Type="http://schemas.openxmlformats.org/officeDocument/2006/relationships/chart" Target="../charts/chart751.xml"/><Relationship Id="rId6" Type="http://schemas.openxmlformats.org/officeDocument/2006/relationships/chart" Target="../charts/chart752.xml"/><Relationship Id="rId7" Type="http://schemas.openxmlformats.org/officeDocument/2006/relationships/notesSlide" Target="../notesSlides/notesSlide1028.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71.xml"/><Relationship Id="rId4" Type="http://schemas.openxmlformats.org/officeDocument/2006/relationships/chart" Target="../charts/chart772.xml"/><Relationship Id="rId5" Type="http://schemas.openxmlformats.org/officeDocument/2006/relationships/chart" Target="../charts/chart773.xml"/><Relationship Id="rId6" Type="http://schemas.openxmlformats.org/officeDocument/2006/relationships/chart" Target="../charts/chart774.xml"/><Relationship Id="rId7" Type="http://schemas.openxmlformats.org/officeDocument/2006/relationships/notesSlide" Target="../notesSlides/notesSlide1065.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75.xml"/><Relationship Id="rId4" Type="http://schemas.openxmlformats.org/officeDocument/2006/relationships/chart" Target="../charts/chart776.xml"/><Relationship Id="rId5" Type="http://schemas.openxmlformats.org/officeDocument/2006/relationships/chart" Target="../charts/chart777.xml"/><Relationship Id="rId6" Type="http://schemas.openxmlformats.org/officeDocument/2006/relationships/chart" Target="../charts/chart778.xml"/><Relationship Id="rId7" Type="http://schemas.openxmlformats.org/officeDocument/2006/relationships/notesSlide" Target="../notesSlides/notesSlide1066.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97.xml"/><Relationship Id="rId4" Type="http://schemas.openxmlformats.org/officeDocument/2006/relationships/chart" Target="../charts/chart798.xml"/><Relationship Id="rId5" Type="http://schemas.openxmlformats.org/officeDocument/2006/relationships/chart" Target="../charts/chart799.xml"/><Relationship Id="rId6" Type="http://schemas.openxmlformats.org/officeDocument/2006/relationships/chart" Target="../charts/chart800.xml"/><Relationship Id="rId7" Type="http://schemas.openxmlformats.org/officeDocument/2006/relationships/notesSlide" Target="../notesSlides/notesSlide1103.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01.xml"/><Relationship Id="rId4" Type="http://schemas.openxmlformats.org/officeDocument/2006/relationships/chart" Target="../charts/chart802.xml"/><Relationship Id="rId5" Type="http://schemas.openxmlformats.org/officeDocument/2006/relationships/chart" Target="../charts/chart803.xml"/><Relationship Id="rId6" Type="http://schemas.openxmlformats.org/officeDocument/2006/relationships/chart" Target="../charts/chart804.xml"/><Relationship Id="rId7" Type="http://schemas.openxmlformats.org/officeDocument/2006/relationships/notesSlide" Target="../notesSlides/notesSlide1104.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23.xml"/><Relationship Id="rId4" Type="http://schemas.openxmlformats.org/officeDocument/2006/relationships/chart" Target="../charts/chart824.xml"/><Relationship Id="rId5" Type="http://schemas.openxmlformats.org/officeDocument/2006/relationships/chart" Target="../charts/chart825.xml"/><Relationship Id="rId6" Type="http://schemas.openxmlformats.org/officeDocument/2006/relationships/chart" Target="../charts/chart826.xml"/><Relationship Id="rId7" Type="http://schemas.openxmlformats.org/officeDocument/2006/relationships/notesSlide" Target="../notesSlides/notesSlide1141.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27.xml"/><Relationship Id="rId4" Type="http://schemas.openxmlformats.org/officeDocument/2006/relationships/chart" Target="../charts/chart828.xml"/><Relationship Id="rId5" Type="http://schemas.openxmlformats.org/officeDocument/2006/relationships/chart" Target="../charts/chart829.xml"/><Relationship Id="rId6" Type="http://schemas.openxmlformats.org/officeDocument/2006/relationships/chart" Target="../charts/chart830.xml"/><Relationship Id="rId7" Type="http://schemas.openxmlformats.org/officeDocument/2006/relationships/notesSlide" Target="../notesSlides/notesSlide114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49.xml"/><Relationship Id="rId4" Type="http://schemas.openxmlformats.org/officeDocument/2006/relationships/chart" Target="../charts/chart850.xml"/><Relationship Id="rId5" Type="http://schemas.openxmlformats.org/officeDocument/2006/relationships/chart" Target="../charts/chart851.xml"/><Relationship Id="rId6" Type="http://schemas.openxmlformats.org/officeDocument/2006/relationships/chart" Target="../charts/chart852.xml"/><Relationship Id="rId7" Type="http://schemas.openxmlformats.org/officeDocument/2006/relationships/notesSlide" Target="../notesSlides/notesSlide1179.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53.xml"/><Relationship Id="rId4" Type="http://schemas.openxmlformats.org/officeDocument/2006/relationships/chart" Target="../charts/chart854.xml"/><Relationship Id="rId5" Type="http://schemas.openxmlformats.org/officeDocument/2006/relationships/chart" Target="../charts/chart855.xml"/><Relationship Id="rId6" Type="http://schemas.openxmlformats.org/officeDocument/2006/relationships/chart" Target="../charts/chart856.xml"/><Relationship Id="rId7" Type="http://schemas.openxmlformats.org/officeDocument/2006/relationships/notesSlide" Target="../notesSlides/notesSlide1180.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75.xml"/><Relationship Id="rId4" Type="http://schemas.openxmlformats.org/officeDocument/2006/relationships/chart" Target="../charts/chart876.xml"/><Relationship Id="rId5" Type="http://schemas.openxmlformats.org/officeDocument/2006/relationships/chart" Target="../charts/chart877.xml"/><Relationship Id="rId6" Type="http://schemas.openxmlformats.org/officeDocument/2006/relationships/chart" Target="../charts/chart878.xml"/><Relationship Id="rId7" Type="http://schemas.openxmlformats.org/officeDocument/2006/relationships/notesSlide" Target="../notesSlides/notesSlide121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79.xml"/><Relationship Id="rId4" Type="http://schemas.openxmlformats.org/officeDocument/2006/relationships/chart" Target="../charts/chart880.xml"/><Relationship Id="rId5" Type="http://schemas.openxmlformats.org/officeDocument/2006/relationships/chart" Target="../charts/chart881.xml"/><Relationship Id="rId6" Type="http://schemas.openxmlformats.org/officeDocument/2006/relationships/chart" Target="../charts/chart882.xml"/><Relationship Id="rId7" Type="http://schemas.openxmlformats.org/officeDocument/2006/relationships/notesSlide" Target="../notesSlides/notesSlide1218.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01.xml"/><Relationship Id="rId4" Type="http://schemas.openxmlformats.org/officeDocument/2006/relationships/chart" Target="../charts/chart902.xml"/><Relationship Id="rId5" Type="http://schemas.openxmlformats.org/officeDocument/2006/relationships/chart" Target="../charts/chart903.xml"/><Relationship Id="rId6" Type="http://schemas.openxmlformats.org/officeDocument/2006/relationships/chart" Target="../charts/chart904.xml"/><Relationship Id="rId7" Type="http://schemas.openxmlformats.org/officeDocument/2006/relationships/notesSlide" Target="../notesSlides/notesSlide125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05.xml"/><Relationship Id="rId4" Type="http://schemas.openxmlformats.org/officeDocument/2006/relationships/chart" Target="../charts/chart906.xml"/><Relationship Id="rId5" Type="http://schemas.openxmlformats.org/officeDocument/2006/relationships/chart" Target="../charts/chart907.xml"/><Relationship Id="rId6" Type="http://schemas.openxmlformats.org/officeDocument/2006/relationships/chart" Target="../charts/chart908.xml"/><Relationship Id="rId7" Type="http://schemas.openxmlformats.org/officeDocument/2006/relationships/notesSlide" Target="../notesSlides/notesSlide125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27.xml"/><Relationship Id="rId4" Type="http://schemas.openxmlformats.org/officeDocument/2006/relationships/chart" Target="../charts/chart928.xml"/><Relationship Id="rId5" Type="http://schemas.openxmlformats.org/officeDocument/2006/relationships/chart" Target="../charts/chart929.xml"/><Relationship Id="rId6" Type="http://schemas.openxmlformats.org/officeDocument/2006/relationships/chart" Target="../charts/chart930.xml"/><Relationship Id="rId7" Type="http://schemas.openxmlformats.org/officeDocument/2006/relationships/notesSlide" Target="../notesSlides/notesSlide1294.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31.xml"/><Relationship Id="rId4" Type="http://schemas.openxmlformats.org/officeDocument/2006/relationships/chart" Target="../charts/chart932.xml"/><Relationship Id="rId5" Type="http://schemas.openxmlformats.org/officeDocument/2006/relationships/chart" Target="../charts/chart933.xml"/><Relationship Id="rId6" Type="http://schemas.openxmlformats.org/officeDocument/2006/relationships/chart" Target="../charts/chart934.xml"/><Relationship Id="rId7" Type="http://schemas.openxmlformats.org/officeDocument/2006/relationships/notesSlide" Target="../notesSlides/notesSlide1295.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53.xml"/><Relationship Id="rId4" Type="http://schemas.openxmlformats.org/officeDocument/2006/relationships/chart" Target="../charts/chart954.xml"/><Relationship Id="rId5" Type="http://schemas.openxmlformats.org/officeDocument/2006/relationships/chart" Target="../charts/chart955.xml"/><Relationship Id="rId6" Type="http://schemas.openxmlformats.org/officeDocument/2006/relationships/chart" Target="../charts/chart956.xml"/><Relationship Id="rId7" Type="http://schemas.openxmlformats.org/officeDocument/2006/relationships/notesSlide" Target="../notesSlides/notesSlide133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57.xml"/><Relationship Id="rId4" Type="http://schemas.openxmlformats.org/officeDocument/2006/relationships/chart" Target="../charts/chart958.xml"/><Relationship Id="rId5" Type="http://schemas.openxmlformats.org/officeDocument/2006/relationships/chart" Target="../charts/chart959.xml"/><Relationship Id="rId6" Type="http://schemas.openxmlformats.org/officeDocument/2006/relationships/chart" Target="../charts/chart960.xml"/><Relationship Id="rId7" Type="http://schemas.openxmlformats.org/officeDocument/2006/relationships/notesSlide" Target="../notesSlides/notesSlide1333.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79.xml"/><Relationship Id="rId4" Type="http://schemas.openxmlformats.org/officeDocument/2006/relationships/chart" Target="../charts/chart980.xml"/><Relationship Id="rId5" Type="http://schemas.openxmlformats.org/officeDocument/2006/relationships/chart" Target="../charts/chart981.xml"/><Relationship Id="rId6" Type="http://schemas.openxmlformats.org/officeDocument/2006/relationships/chart" Target="../charts/chart982.xml"/><Relationship Id="rId7" Type="http://schemas.openxmlformats.org/officeDocument/2006/relationships/notesSlide" Target="../notesSlides/notesSlide1370.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83.xml"/><Relationship Id="rId4" Type="http://schemas.openxmlformats.org/officeDocument/2006/relationships/chart" Target="../charts/chart984.xml"/><Relationship Id="rId5" Type="http://schemas.openxmlformats.org/officeDocument/2006/relationships/chart" Target="../charts/chart985.xml"/><Relationship Id="rId6" Type="http://schemas.openxmlformats.org/officeDocument/2006/relationships/chart" Target="../charts/chart986.xml"/><Relationship Id="rId7" Type="http://schemas.openxmlformats.org/officeDocument/2006/relationships/notesSlide" Target="../notesSlides/notesSlide1371.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05.xml"/><Relationship Id="rId4" Type="http://schemas.openxmlformats.org/officeDocument/2006/relationships/chart" Target="../charts/chart1006.xml"/><Relationship Id="rId5" Type="http://schemas.openxmlformats.org/officeDocument/2006/relationships/chart" Target="../charts/chart1007.xml"/><Relationship Id="rId6" Type="http://schemas.openxmlformats.org/officeDocument/2006/relationships/chart" Target="../charts/chart1008.xml"/><Relationship Id="rId7" Type="http://schemas.openxmlformats.org/officeDocument/2006/relationships/notesSlide" Target="../notesSlides/notesSlide1408.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09.xml"/><Relationship Id="rId4" Type="http://schemas.openxmlformats.org/officeDocument/2006/relationships/chart" Target="../charts/chart1010.xml"/><Relationship Id="rId5" Type="http://schemas.openxmlformats.org/officeDocument/2006/relationships/chart" Target="../charts/chart1011.xml"/><Relationship Id="rId6" Type="http://schemas.openxmlformats.org/officeDocument/2006/relationships/chart" Target="../charts/chart1012.xml"/><Relationship Id="rId7" Type="http://schemas.openxmlformats.org/officeDocument/2006/relationships/notesSlide" Target="../notesSlides/notesSlide1409.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31.xml"/><Relationship Id="rId4" Type="http://schemas.openxmlformats.org/officeDocument/2006/relationships/chart" Target="../charts/chart1032.xml"/><Relationship Id="rId5" Type="http://schemas.openxmlformats.org/officeDocument/2006/relationships/chart" Target="../charts/chart1033.xml"/><Relationship Id="rId6" Type="http://schemas.openxmlformats.org/officeDocument/2006/relationships/chart" Target="../charts/chart1034.xml"/><Relationship Id="rId7" Type="http://schemas.openxmlformats.org/officeDocument/2006/relationships/notesSlide" Target="../notesSlides/notesSlide1446.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35.xml"/><Relationship Id="rId4" Type="http://schemas.openxmlformats.org/officeDocument/2006/relationships/chart" Target="../charts/chart1036.xml"/><Relationship Id="rId5" Type="http://schemas.openxmlformats.org/officeDocument/2006/relationships/chart" Target="../charts/chart1037.xml"/><Relationship Id="rId6" Type="http://schemas.openxmlformats.org/officeDocument/2006/relationships/chart" Target="../charts/chart1038.xml"/><Relationship Id="rId7" Type="http://schemas.openxmlformats.org/officeDocument/2006/relationships/notesSlide" Target="../notesSlides/notesSlide144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57.xml"/><Relationship Id="rId4" Type="http://schemas.openxmlformats.org/officeDocument/2006/relationships/chart" Target="../charts/chart1058.xml"/><Relationship Id="rId5" Type="http://schemas.openxmlformats.org/officeDocument/2006/relationships/chart" Target="../charts/chart1059.xml"/><Relationship Id="rId6" Type="http://schemas.openxmlformats.org/officeDocument/2006/relationships/chart" Target="../charts/chart1060.xml"/><Relationship Id="rId7" Type="http://schemas.openxmlformats.org/officeDocument/2006/relationships/notesSlide" Target="../notesSlides/notesSlide1485.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61.xml"/><Relationship Id="rId4" Type="http://schemas.openxmlformats.org/officeDocument/2006/relationships/chart" Target="../charts/chart1062.xml"/><Relationship Id="rId5" Type="http://schemas.openxmlformats.org/officeDocument/2006/relationships/chart" Target="../charts/chart1063.xml"/><Relationship Id="rId6" Type="http://schemas.openxmlformats.org/officeDocument/2006/relationships/chart" Target="../charts/chart1064.xml"/><Relationship Id="rId7" Type="http://schemas.openxmlformats.org/officeDocument/2006/relationships/notesSlide" Target="../notesSlides/notesSlide1486.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83.xml"/><Relationship Id="rId4" Type="http://schemas.openxmlformats.org/officeDocument/2006/relationships/chart" Target="../charts/chart1084.xml"/><Relationship Id="rId5" Type="http://schemas.openxmlformats.org/officeDocument/2006/relationships/chart" Target="../charts/chart1085.xml"/><Relationship Id="rId6" Type="http://schemas.openxmlformats.org/officeDocument/2006/relationships/chart" Target="../charts/chart1086.xml"/><Relationship Id="rId7" Type="http://schemas.openxmlformats.org/officeDocument/2006/relationships/notesSlide" Target="../notesSlides/notesSlide1523.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87.xml"/><Relationship Id="rId4" Type="http://schemas.openxmlformats.org/officeDocument/2006/relationships/chart" Target="../charts/chart1088.xml"/><Relationship Id="rId5" Type="http://schemas.openxmlformats.org/officeDocument/2006/relationships/chart" Target="../charts/chart1089.xml"/><Relationship Id="rId6" Type="http://schemas.openxmlformats.org/officeDocument/2006/relationships/chart" Target="../charts/chart1090.xml"/><Relationship Id="rId7" Type="http://schemas.openxmlformats.org/officeDocument/2006/relationships/notesSlide" Target="../notesSlides/notesSlide1524.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09.xml"/><Relationship Id="rId4" Type="http://schemas.openxmlformats.org/officeDocument/2006/relationships/chart" Target="../charts/chart1110.xml"/><Relationship Id="rId5" Type="http://schemas.openxmlformats.org/officeDocument/2006/relationships/chart" Target="../charts/chart1111.xml"/><Relationship Id="rId6" Type="http://schemas.openxmlformats.org/officeDocument/2006/relationships/chart" Target="../charts/chart1112.xml"/><Relationship Id="rId7" Type="http://schemas.openxmlformats.org/officeDocument/2006/relationships/notesSlide" Target="../notesSlides/notesSlide156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13.xml"/><Relationship Id="rId4" Type="http://schemas.openxmlformats.org/officeDocument/2006/relationships/chart" Target="../charts/chart1114.xml"/><Relationship Id="rId5" Type="http://schemas.openxmlformats.org/officeDocument/2006/relationships/chart" Target="../charts/chart1115.xml"/><Relationship Id="rId6" Type="http://schemas.openxmlformats.org/officeDocument/2006/relationships/chart" Target="../charts/chart1116.xml"/><Relationship Id="rId7" Type="http://schemas.openxmlformats.org/officeDocument/2006/relationships/notesSlide" Target="../notesSlides/notesSlide1563.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35.xml"/><Relationship Id="rId4" Type="http://schemas.openxmlformats.org/officeDocument/2006/relationships/chart" Target="../charts/chart1136.xml"/><Relationship Id="rId5" Type="http://schemas.openxmlformats.org/officeDocument/2006/relationships/chart" Target="../charts/chart1137.xml"/><Relationship Id="rId6" Type="http://schemas.openxmlformats.org/officeDocument/2006/relationships/chart" Target="../charts/chart1138.xml"/><Relationship Id="rId7" Type="http://schemas.openxmlformats.org/officeDocument/2006/relationships/notesSlide" Target="../notesSlides/notesSlide1601.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39.xml"/><Relationship Id="rId4" Type="http://schemas.openxmlformats.org/officeDocument/2006/relationships/chart" Target="../charts/chart1140.xml"/><Relationship Id="rId5" Type="http://schemas.openxmlformats.org/officeDocument/2006/relationships/chart" Target="../charts/chart1141.xml"/><Relationship Id="rId6" Type="http://schemas.openxmlformats.org/officeDocument/2006/relationships/chart" Target="../charts/chart1142.xml"/><Relationship Id="rId7" Type="http://schemas.openxmlformats.org/officeDocument/2006/relationships/notesSlide" Target="../notesSlides/notesSlide160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61.xml"/><Relationship Id="rId4" Type="http://schemas.openxmlformats.org/officeDocument/2006/relationships/chart" Target="../charts/chart1162.xml"/><Relationship Id="rId5" Type="http://schemas.openxmlformats.org/officeDocument/2006/relationships/chart" Target="../charts/chart1163.xml"/><Relationship Id="rId6" Type="http://schemas.openxmlformats.org/officeDocument/2006/relationships/chart" Target="../charts/chart1164.xml"/><Relationship Id="rId7" Type="http://schemas.openxmlformats.org/officeDocument/2006/relationships/notesSlide" Target="../notesSlides/notesSlide1640.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65.xml"/><Relationship Id="rId4" Type="http://schemas.openxmlformats.org/officeDocument/2006/relationships/chart" Target="../charts/chart1166.xml"/><Relationship Id="rId5" Type="http://schemas.openxmlformats.org/officeDocument/2006/relationships/chart" Target="../charts/chart1167.xml"/><Relationship Id="rId6" Type="http://schemas.openxmlformats.org/officeDocument/2006/relationships/chart" Target="../charts/chart1168.xml"/><Relationship Id="rId7" Type="http://schemas.openxmlformats.org/officeDocument/2006/relationships/notesSlide" Target="../notesSlides/notesSlide1641.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87.xml"/><Relationship Id="rId4" Type="http://schemas.openxmlformats.org/officeDocument/2006/relationships/chart" Target="../charts/chart1188.xml"/><Relationship Id="rId5" Type="http://schemas.openxmlformats.org/officeDocument/2006/relationships/chart" Target="../charts/chart1189.xml"/><Relationship Id="rId6" Type="http://schemas.openxmlformats.org/officeDocument/2006/relationships/chart" Target="../charts/chart1190.xml"/><Relationship Id="rId7" Type="http://schemas.openxmlformats.org/officeDocument/2006/relationships/notesSlide" Target="../notesSlides/notesSlide1679.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91.xml"/><Relationship Id="rId4" Type="http://schemas.openxmlformats.org/officeDocument/2006/relationships/chart" Target="../charts/chart1192.xml"/><Relationship Id="rId5" Type="http://schemas.openxmlformats.org/officeDocument/2006/relationships/chart" Target="../charts/chart1193.xml"/><Relationship Id="rId6" Type="http://schemas.openxmlformats.org/officeDocument/2006/relationships/chart" Target="../charts/chart1194.xml"/><Relationship Id="rId7" Type="http://schemas.openxmlformats.org/officeDocument/2006/relationships/notesSlide" Target="../notesSlides/notesSlide1680.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13.xml"/><Relationship Id="rId4" Type="http://schemas.openxmlformats.org/officeDocument/2006/relationships/chart" Target="../charts/chart1214.xml"/><Relationship Id="rId5" Type="http://schemas.openxmlformats.org/officeDocument/2006/relationships/chart" Target="../charts/chart1215.xml"/><Relationship Id="rId6" Type="http://schemas.openxmlformats.org/officeDocument/2006/relationships/chart" Target="../charts/chart1216.xml"/><Relationship Id="rId7" Type="http://schemas.openxmlformats.org/officeDocument/2006/relationships/notesSlide" Target="../notesSlides/notesSlide1718.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17.xml"/><Relationship Id="rId4" Type="http://schemas.openxmlformats.org/officeDocument/2006/relationships/chart" Target="../charts/chart1218.xml"/><Relationship Id="rId5" Type="http://schemas.openxmlformats.org/officeDocument/2006/relationships/chart" Target="../charts/chart1219.xml"/><Relationship Id="rId6" Type="http://schemas.openxmlformats.org/officeDocument/2006/relationships/chart" Target="../charts/chart1220.xml"/><Relationship Id="rId7" Type="http://schemas.openxmlformats.org/officeDocument/2006/relationships/notesSlide" Target="../notesSlides/notesSlide1719.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39.xml"/><Relationship Id="rId4" Type="http://schemas.openxmlformats.org/officeDocument/2006/relationships/chart" Target="../charts/chart1240.xml"/><Relationship Id="rId5" Type="http://schemas.openxmlformats.org/officeDocument/2006/relationships/chart" Target="../charts/chart1241.xml"/><Relationship Id="rId6" Type="http://schemas.openxmlformats.org/officeDocument/2006/relationships/chart" Target="../charts/chart1242.xml"/><Relationship Id="rId7" Type="http://schemas.openxmlformats.org/officeDocument/2006/relationships/notesSlide" Target="../notesSlides/notesSlide1756.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43.xml"/><Relationship Id="rId4" Type="http://schemas.openxmlformats.org/officeDocument/2006/relationships/chart" Target="../charts/chart1244.xml"/><Relationship Id="rId5" Type="http://schemas.openxmlformats.org/officeDocument/2006/relationships/chart" Target="../charts/chart1245.xml"/><Relationship Id="rId6" Type="http://schemas.openxmlformats.org/officeDocument/2006/relationships/chart" Target="../charts/chart1246.xml"/><Relationship Id="rId7" Type="http://schemas.openxmlformats.org/officeDocument/2006/relationships/notesSlide" Target="../notesSlides/notesSlide175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65.xml"/><Relationship Id="rId4" Type="http://schemas.openxmlformats.org/officeDocument/2006/relationships/chart" Target="../charts/chart1266.xml"/><Relationship Id="rId5" Type="http://schemas.openxmlformats.org/officeDocument/2006/relationships/chart" Target="../charts/chart1267.xml"/><Relationship Id="rId6" Type="http://schemas.openxmlformats.org/officeDocument/2006/relationships/chart" Target="../charts/chart1268.xml"/><Relationship Id="rId7" Type="http://schemas.openxmlformats.org/officeDocument/2006/relationships/notesSlide" Target="../notesSlides/notesSlide1795.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69.xml"/><Relationship Id="rId4" Type="http://schemas.openxmlformats.org/officeDocument/2006/relationships/chart" Target="../charts/chart1270.xml"/><Relationship Id="rId5" Type="http://schemas.openxmlformats.org/officeDocument/2006/relationships/chart" Target="../charts/chart1271.xml"/><Relationship Id="rId6" Type="http://schemas.openxmlformats.org/officeDocument/2006/relationships/chart" Target="../charts/chart1272.xml"/><Relationship Id="rId7" Type="http://schemas.openxmlformats.org/officeDocument/2006/relationships/notesSlide" Target="../notesSlides/notesSlide1796.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91.xml"/><Relationship Id="rId4" Type="http://schemas.openxmlformats.org/officeDocument/2006/relationships/chart" Target="../charts/chart1292.xml"/><Relationship Id="rId5" Type="http://schemas.openxmlformats.org/officeDocument/2006/relationships/chart" Target="../charts/chart1293.xml"/><Relationship Id="rId6" Type="http://schemas.openxmlformats.org/officeDocument/2006/relationships/chart" Target="../charts/chart1294.xml"/><Relationship Id="rId7" Type="http://schemas.openxmlformats.org/officeDocument/2006/relationships/notesSlide" Target="../notesSlides/notesSlide1833.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95.xml"/><Relationship Id="rId4" Type="http://schemas.openxmlformats.org/officeDocument/2006/relationships/chart" Target="../charts/chart1296.xml"/><Relationship Id="rId5" Type="http://schemas.openxmlformats.org/officeDocument/2006/relationships/chart" Target="../charts/chart1297.xml"/><Relationship Id="rId6" Type="http://schemas.openxmlformats.org/officeDocument/2006/relationships/chart" Target="../charts/chart1298.xml"/><Relationship Id="rId7" Type="http://schemas.openxmlformats.org/officeDocument/2006/relationships/notesSlide" Target="../notesSlides/notesSlide1834.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17.xml"/><Relationship Id="rId4" Type="http://schemas.openxmlformats.org/officeDocument/2006/relationships/chart" Target="../charts/chart1318.xml"/><Relationship Id="rId5" Type="http://schemas.openxmlformats.org/officeDocument/2006/relationships/chart" Target="../charts/chart1319.xml"/><Relationship Id="rId6" Type="http://schemas.openxmlformats.org/officeDocument/2006/relationships/chart" Target="../charts/chart1320.xml"/><Relationship Id="rId7" Type="http://schemas.openxmlformats.org/officeDocument/2006/relationships/notesSlide" Target="../notesSlides/notesSlide1871.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21.xml"/><Relationship Id="rId4" Type="http://schemas.openxmlformats.org/officeDocument/2006/relationships/chart" Target="../charts/chart1322.xml"/><Relationship Id="rId5" Type="http://schemas.openxmlformats.org/officeDocument/2006/relationships/chart" Target="../charts/chart1323.xml"/><Relationship Id="rId6" Type="http://schemas.openxmlformats.org/officeDocument/2006/relationships/chart" Target="../charts/chart1324.xml"/><Relationship Id="rId7" Type="http://schemas.openxmlformats.org/officeDocument/2006/relationships/notesSlide" Target="../notesSlides/notesSlide187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03E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905000" y="4476750"/>
            <a:ext cx="5334000" cy="5334000"/>
          </a:xfrm>
          <a:prstGeom prst="ellipse">
            <a:avLst/>
          </a:prstGeom>
          <a:solidFill>
            <a:srgbClr val="00688F">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001000" y="-2000250"/>
            <a:ext cx="5334000" cy="5334000"/>
          </a:xfrm>
          <a:prstGeom prst="ellipse">
            <a:avLst/>
          </a:prstGeom>
          <a:noFill/>
          <a:ln w="19050">
            <a:solidFill>
              <a:srgbClr val="4FB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715375" y="-1285875"/>
            <a:ext cx="3905250" cy="3905250"/>
          </a:xfrm>
          <a:prstGeom prst="ellipse">
            <a:avLst/>
          </a:prstGeom>
          <a:noFill/>
          <a:ln w="19050">
            <a:solidFill>
              <a:srgbClr val="4FB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82125" y="-619125"/>
            <a:ext cx="2571750" cy="2571750"/>
          </a:xfrm>
          <a:prstGeom prst="ellipse">
            <a:avLst/>
          </a:prstGeom>
          <a:noFill/>
          <a:ln w="19050">
            <a:solidFill>
              <a:srgbClr val="4FB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96500" y="95250"/>
            <a:ext cx="1143000" cy="1143000"/>
          </a:xfrm>
          <a:prstGeom prst="ellipse">
            <a:avLst/>
          </a:prstGeom>
          <a:solidFill>
            <a:srgbClr val="00A4DC">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010650" y="5848350"/>
            <a:ext cx="228600" cy="247650"/>
          </a:xfrm>
          <a:prstGeom prst="roundRect">
            <a:avLst/>
          </a:prstGeom>
          <a:solidFill>
            <a:srgbClr val="3E93BC">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91650" y="5676900"/>
            <a:ext cx="228600" cy="419100"/>
          </a:xfrm>
          <a:prstGeom prst="roundRect">
            <a:avLst/>
          </a:prstGeom>
          <a:solidFill>
            <a:srgbClr val="3E93BC">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772650" y="5772150"/>
            <a:ext cx="228600" cy="323850"/>
          </a:xfrm>
          <a:prstGeom prst="roundRect">
            <a:avLst/>
          </a:prstGeom>
          <a:solidFill>
            <a:srgbClr val="3E93BC">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153650" y="5524500"/>
            <a:ext cx="228600" cy="571500"/>
          </a:xfrm>
          <a:prstGeom prst="roundRect">
            <a:avLst/>
          </a:prstGeom>
          <a:solidFill>
            <a:srgbClr val="3E93BC">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534650" y="5314950"/>
            <a:ext cx="228600" cy="781050"/>
          </a:xfrm>
          <a:prstGeom prst="roundRect">
            <a:avLst/>
          </a:prstGeom>
          <a:solidFill>
            <a:srgbClr val="3E93BC">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915650" y="5600700"/>
            <a:ext cx="228600" cy="495300"/>
          </a:xfrm>
          <a:prstGeom prst="roundRect">
            <a:avLst/>
          </a:prstGeom>
          <a:solidFill>
            <a:srgbClr val="3E93BC">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296650" y="5181600"/>
            <a:ext cx="228600" cy="914400"/>
          </a:xfrm>
          <a:prstGeom prst="roundRect">
            <a:avLst/>
          </a:prstGeom>
          <a:solidFill>
            <a:srgbClr val="3E93BC">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4400" y="609600"/>
            <a:ext cx="1823095" cy="685800"/>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actmr_logo.png"/>
          <p:cNvPicPr>
            <a:picLocks noChangeAspect="1"/>
          </p:cNvPicPr>
          <p:nvPr/>
        </p:nvPicPr>
        <p:blipFill>
          <a:blip r:embed="rId2"/>
          <a:stretch>
            <a:fillRect/>
          </a:stretch>
        </p:blipFill>
        <p:spPr>
          <a:xfrm>
            <a:off x="1019175" y="695325"/>
            <a:ext cx="1613545" cy="514350"/>
          </a:xfrm>
          <a:prstGeom prst="rect">
            <a:avLst/>
          </a:prstGeom>
        </p:spPr>
      </p:pic>
      <p:sp>
        <p:nvSpPr>
          <p:cNvPr id="17" name="TextBox 16"/>
          <p:cNvSpPr txBox="1"/>
          <p:nvPr/>
        </p:nvSpPr>
        <p:spPr>
          <a:xfrm>
            <a:off x="1143000" y="2667000"/>
            <a:ext cx="9334500" cy="1809750"/>
          </a:xfrm>
          <a:prstGeom prst="rect">
            <a:avLst/>
          </a:prstGeom>
          <a:noFill/>
        </p:spPr>
        <p:txBody>
          <a:bodyPr wrap="square" lIns="28575" rIns="28575" tIns="9525" bIns="9525" anchor="ctr">
            <a:spAutoFit/>
          </a:bodyPr>
          <a:lstStyle/>
          <a:p>
            <a:pPr algn="l"/>
            <a:r>
              <a:rPr sz="3400" b="1">
                <a:solidFill>
                  <a:srgbClr val="FFFFFF"/>
                </a:solidFill>
                <a:latin typeface="Segoe UI"/>
              </a:rPr>
              <a:t>Global Performance Knitted Fabrics Market</a:t>
            </a:r>
          </a:p>
        </p:txBody>
      </p:sp>
      <p:sp>
        <p:nvSpPr>
          <p:cNvPr id="18" name="TextBox 17"/>
          <p:cNvSpPr txBox="1"/>
          <p:nvPr/>
        </p:nvSpPr>
        <p:spPr>
          <a:xfrm>
            <a:off x="1162050" y="4686300"/>
            <a:ext cx="9334500" cy="857250"/>
          </a:xfrm>
          <a:prstGeom prst="rect">
            <a:avLst/>
          </a:prstGeom>
          <a:noFill/>
        </p:spPr>
        <p:txBody>
          <a:bodyPr wrap="square" lIns="28575" rIns="28575" tIns="9525" bIns="9525">
            <a:spAutoFit/>
          </a:bodyPr>
          <a:lstStyle/>
          <a:p>
            <a:pPr algn="l"/>
            <a:r>
              <a:rPr sz="1600" b="0">
                <a:solidFill>
                  <a:srgbClr val="C4E7F5"/>
                </a:solidFill>
                <a:latin typeface="Segoe UI"/>
              </a:rPr>
              <a:t>Value (US$ Mn) and Volume (Mn Sq. Yards) Analysis and Forecast, 2021–2036</a:t>
            </a:r>
          </a:p>
          <a:p>
            <a:pPr algn="l"/>
            <a:r>
              <a:rPr sz="1100" b="0">
                <a:solidFill>
                  <a:srgbClr val="8FCBE6"/>
                </a:solidFill>
                <a:latin typeface="Segoe UI"/>
              </a:rPr>
              <a:t>Region focus: Global  ·  Generated 12 Oct 2026   ·   Source: Fact.MR</a:t>
            </a:r>
          </a:p>
        </p:txBody>
      </p:sp>
      <p:sp>
        <p:nvSpPr>
          <p:cNvPr id="19" name="TextBox 1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4E2F4"/>
                </a:solidFill>
                <a:latin typeface="Segoe UI"/>
              </a:rPr>
              <a:t>© Fact.MR  ·  www.factmr.com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Performance Knitted Fabrics Market Summary, By Volume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global market volume growth, incremental opportunity and the geographies driving it, 2021–2036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Global</a:t>
            </a:r>
          </a:p>
        </p:txBody>
      </p:sp>
      <p:sp>
        <p:nvSpPr>
          <p:cNvPr id="9" name="Rounded Rectangle 8"/>
          <p:cNvSpPr/>
          <p:nvPr/>
        </p:nvSpPr>
        <p:spPr>
          <a:xfrm>
            <a:off x="142875"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MARKET SIZE (MN SQ. YARDS)</a:t>
            </a:r>
          </a:p>
          <a:p>
            <a:pPr algn="ctr">
              <a:lnSpc>
                <a:spcPct val="95000"/>
              </a:lnSpc>
            </a:pPr>
            <a:r>
              <a:rPr sz="1500" b="1">
                <a:solidFill>
                  <a:srgbClr val="00A4DC"/>
                </a:solidFill>
                <a:latin typeface="Segoe UI"/>
              </a:rPr>
              <a:t>1,698</a:t>
            </a:r>
          </a:p>
        </p:txBody>
      </p:sp>
      <p:sp>
        <p:nvSpPr>
          <p:cNvPr id="10" name="Rounded Rectangle 9"/>
          <p:cNvSpPr/>
          <p:nvPr/>
        </p:nvSpPr>
        <p:spPr>
          <a:xfrm>
            <a:off x="31432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3,017</a:t>
            </a:r>
          </a:p>
        </p:txBody>
      </p:sp>
      <p:sp>
        <p:nvSpPr>
          <p:cNvPr id="11" name="Rounded Rectangle 10"/>
          <p:cNvSpPr/>
          <p:nvPr/>
        </p:nvSpPr>
        <p:spPr>
          <a:xfrm>
            <a:off x="61531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2021–2025</a:t>
            </a:r>
          </a:p>
          <a:p>
            <a:pPr algn="ctr">
              <a:lnSpc>
                <a:spcPct val="95000"/>
              </a:lnSpc>
            </a:pPr>
            <a:r>
              <a:rPr sz="1500" b="1">
                <a:solidFill>
                  <a:srgbClr val="00A4DC"/>
                </a:solidFill>
                <a:latin typeface="Segoe UI"/>
              </a:rPr>
              <a:t>5.6%</a:t>
            </a:r>
          </a:p>
        </p:txBody>
      </p:sp>
      <p:sp>
        <p:nvSpPr>
          <p:cNvPr id="12" name="Rounded Rectangle 11"/>
          <p:cNvSpPr/>
          <p:nvPr/>
        </p:nvSpPr>
        <p:spPr>
          <a:xfrm>
            <a:off x="91630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1500" b="1">
                <a:solidFill>
                  <a:srgbClr val="00A4DC"/>
                </a:solidFill>
                <a:latin typeface="Segoe UI"/>
              </a:rPr>
              <a:t>5.9%</a:t>
            </a:r>
          </a:p>
        </p:txBody>
      </p:sp>
      <p:sp>
        <p:nvSpPr>
          <p:cNvPr id="13" name="Rectangle 12"/>
          <p:cNvSpPr/>
          <p:nvPr/>
        </p:nvSpPr>
        <p:spPr>
          <a:xfrm>
            <a:off x="142875" y="1627887"/>
            <a:ext cx="769620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(2021–2036)</a:t>
            </a:r>
          </a:p>
        </p:txBody>
      </p:sp>
      <p:graphicFrame>
        <p:nvGraphicFramePr>
          <p:cNvPr id="15" name="Chart 14"/>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6" name="Rectangle 15"/>
          <p:cNvSpPr/>
          <p:nvPr/>
        </p:nvSpPr>
        <p:spPr>
          <a:xfrm>
            <a:off x="142875" y="4037375"/>
            <a:ext cx="769620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Incremental Market Addition (Mn Sq. Yards)</a:t>
            </a:r>
          </a:p>
        </p:txBody>
      </p:sp>
      <p:graphicFrame>
        <p:nvGraphicFramePr>
          <p:cNvPr id="18" name="Chart 17"/>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9" name="Rectangle 18"/>
          <p:cNvSpPr/>
          <p:nvPr/>
        </p:nvSpPr>
        <p:spPr>
          <a:xfrm>
            <a:off x="7915275" y="1627887"/>
            <a:ext cx="413385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21" name="Rectangle 20"/>
          <p:cNvSpPr/>
          <p:nvPr/>
        </p:nvSpPr>
        <p:spPr>
          <a:xfrm>
            <a:off x="8048625" y="195173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52423"/>
                </a:solidFill>
                <a:latin typeface="Segoe UI"/>
              </a:rPr>
              <a:t>Global performance knitted fabrics market is projected to register 1.9X increase in volume by the end of forecast period, 2036. Global performance knitted fabrics market volume stood at 1,604 Mn Sq. Yards in 2025 and is expected to reach 3,017 Mn Sq. Yards by 2036 end, at a CAGR of 5.9%.</a:t>
            </a:r>
          </a:p>
          <a:p>
            <a:pPr algn="l">
              <a:lnSpc>
                <a:spcPct val="110000"/>
              </a:lnSpc>
              <a:spcBef>
                <a:spcPts val="0"/>
              </a:spcBef>
              <a:spcAft>
                <a:spcPts val="500"/>
              </a:spcAft>
            </a:pPr>
            <a:r>
              <a:rPr sz="1100" b="0">
                <a:solidFill>
                  <a:srgbClr val="252423"/>
                </a:solidFill>
                <a:latin typeface="Segoe UI"/>
              </a:rPr>
              <a:t>Value is projected to grow faster than volume over the forecast period, owing to an increase in average selling price.</a:t>
            </a:r>
          </a:p>
        </p:txBody>
      </p:sp>
      <p:sp>
        <p:nvSpPr>
          <p:cNvPr id="23" name="Rectangle 22"/>
          <p:cNvSpPr/>
          <p:nvPr/>
        </p:nvSpPr>
        <p:spPr>
          <a:xfrm>
            <a:off x="7915275" y="4037375"/>
            <a:ext cx="413385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07BA5"/>
                </a:solidFill>
                <a:latin typeface="Segoe UI"/>
              </a:rPr>
              <a:t>Growth Drivers</a:t>
            </a:r>
          </a:p>
        </p:txBody>
      </p:sp>
      <p:sp>
        <p:nvSpPr>
          <p:cNvPr id="25" name="Rectangle 24"/>
          <p:cNvSpPr/>
          <p:nvPr/>
        </p:nvSpPr>
        <p:spPr>
          <a:xfrm>
            <a:off x="8048625" y="436122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'South Asia Pacific' leads regional growth at 7.7% CAGR.</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Demand concentrates in 'Weft Knitted Fabrics' within Fabric Construction.</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Product innovation and premiumisation lifting value.</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Expanding end-use applications and access.</a:t>
            </a:r>
          </a:p>
        </p:txBody>
      </p:sp>
      <p:sp>
        <p:nvSpPr>
          <p:cNvPr id="27" name="TextBox 2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Performance Knitted Fabrics Market Pricing &amp; Regional Price Index</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average price by sub-segment and price variation by region, highlighting where pricing power sits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Global</a:t>
            </a:r>
          </a:p>
        </p:txBody>
      </p:sp>
      <p:sp>
        <p:nvSpPr>
          <p:cNvPr id="9" name="Rectangle 8"/>
          <p:cNvSpPr/>
          <p:nvPr/>
        </p:nvSpPr>
        <p:spPr>
          <a:xfrm>
            <a:off x="142875" y="1052895"/>
            <a:ext cx="7696200" cy="266504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Average Price by Fabric Construction  ·  range across 2021–2036 (US$/Sq. Yards)</a:t>
            </a:r>
          </a:p>
        </p:txBody>
      </p:sp>
      <p:cxnSp>
        <p:nvCxnSpPr>
          <p:cNvPr id="11" name="Connector 10"/>
          <p:cNvCxnSpPr/>
          <p:nvPr/>
        </p:nvCxnSpPr>
        <p:spPr>
          <a:xfrm>
            <a:off x="657225" y="333693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7225" y="286593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239494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192394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452945"/>
            <a:ext cx="0" cy="188399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8650" y="3336935"/>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2865938"/>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2394940"/>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1923943"/>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1452945"/>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sp>
        <p:nvSpPr>
          <p:cNvPr id="22" name="FMI Scale tick"/>
          <p:cNvSpPr txBox="1"/>
          <p:nvPr/>
        </p:nvSpPr>
        <p:spPr>
          <a:xfrm>
            <a:off x="219075" y="3270260"/>
            <a:ext cx="381000" cy="133350"/>
          </a:xfrm>
          <a:prstGeom prst="rect">
            <a:avLst/>
          </a:prstGeom>
          <a:noFill/>
        </p:spPr>
        <p:txBody>
          <a:bodyPr wrap="none" lIns="0" rIns="0" tIns="0" bIns="0" anchor="ctr">
            <a:spAutoFit/>
          </a:bodyPr>
          <a:lstStyle/>
          <a:p>
            <a:pPr algn="r"/>
            <a:r>
              <a:rPr sz="1100" b="0">
                <a:solidFill>
                  <a:srgbClr val="605E5C"/>
                </a:solidFill>
                <a:latin typeface="Segoe UI"/>
              </a:rPr>
              <a:t>3.01</a:t>
            </a:r>
          </a:p>
        </p:txBody>
      </p:sp>
      <p:sp>
        <p:nvSpPr>
          <p:cNvPr id="23" name="FMI Scale tick"/>
          <p:cNvSpPr txBox="1"/>
          <p:nvPr/>
        </p:nvSpPr>
        <p:spPr>
          <a:xfrm>
            <a:off x="219075" y="2328265"/>
            <a:ext cx="381000" cy="133350"/>
          </a:xfrm>
          <a:prstGeom prst="rect">
            <a:avLst/>
          </a:prstGeom>
          <a:noFill/>
        </p:spPr>
        <p:txBody>
          <a:bodyPr wrap="none" lIns="0" rIns="0" tIns="0" bIns="0" anchor="ctr">
            <a:spAutoFit/>
          </a:bodyPr>
          <a:lstStyle/>
          <a:p>
            <a:pPr algn="r"/>
            <a:r>
              <a:rPr sz="1100" b="0">
                <a:solidFill>
                  <a:srgbClr val="605E5C"/>
                </a:solidFill>
                <a:latin typeface="Segoe UI"/>
              </a:rPr>
              <a:t>3.45</a:t>
            </a:r>
          </a:p>
        </p:txBody>
      </p:sp>
      <p:sp>
        <p:nvSpPr>
          <p:cNvPr id="24" name="FMI Scale tick"/>
          <p:cNvSpPr txBox="1"/>
          <p:nvPr/>
        </p:nvSpPr>
        <p:spPr>
          <a:xfrm>
            <a:off x="219075" y="1386270"/>
            <a:ext cx="381000" cy="133350"/>
          </a:xfrm>
          <a:prstGeom prst="rect">
            <a:avLst/>
          </a:prstGeom>
          <a:noFill/>
        </p:spPr>
        <p:txBody>
          <a:bodyPr wrap="none" lIns="0" rIns="0" tIns="0" bIns="0" anchor="ctr">
            <a:spAutoFit/>
          </a:bodyPr>
          <a:lstStyle/>
          <a:p>
            <a:pPr algn="r"/>
            <a:r>
              <a:rPr sz="1100" b="0">
                <a:solidFill>
                  <a:srgbClr val="605E5C"/>
                </a:solidFill>
                <a:latin typeface="Segoe UI"/>
              </a:rPr>
              <a:t>3.89</a:t>
            </a:r>
          </a:p>
        </p:txBody>
      </p:sp>
      <p:cxnSp>
        <p:nvCxnSpPr>
          <p:cNvPr id="25" name="Connector 24"/>
          <p:cNvCxnSpPr/>
          <p:nvPr/>
        </p:nvCxnSpPr>
        <p:spPr>
          <a:xfrm flipV="1">
            <a:off x="2409825" y="1670329"/>
            <a:ext cx="0" cy="1257682"/>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278380" y="292801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278380" y="16703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2190750" y="2165570"/>
            <a:ext cx="438150" cy="649204"/>
          </a:xfrm>
          <a:prstGeom prst="rect">
            <a:avLst/>
          </a:prstGeom>
          <a:solidFill>
            <a:srgbClr val="CFE7F5"/>
          </a:solidFill>
          <a:ln w="15875">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2190750" y="2546547"/>
            <a:ext cx="438150" cy="0"/>
          </a:xfrm>
          <a:prstGeom prst="line">
            <a:avLst/>
          </a:prstGeom>
          <a:ln w="2540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57225" y="1517929"/>
            <a:ext cx="3505200" cy="133350"/>
          </a:xfrm>
          <a:prstGeom prst="rect">
            <a:avLst/>
          </a:prstGeom>
          <a:noFill/>
        </p:spPr>
        <p:txBody>
          <a:bodyPr wrap="square" lIns="28575" rIns="28575" tIns="9525" bIns="9525">
            <a:spAutoFit/>
          </a:bodyPr>
          <a:lstStyle/>
          <a:p>
            <a:pPr algn="ctr"/>
            <a:r>
              <a:rPr sz="1100" b="1">
                <a:solidFill>
                  <a:srgbClr val="007BA5"/>
                </a:solidFill>
                <a:latin typeface="Segoe UI"/>
              </a:rPr>
              <a:t>3.38</a:t>
            </a:r>
          </a:p>
        </p:txBody>
      </p:sp>
      <p:cxnSp>
        <p:nvCxnSpPr>
          <p:cNvPr id="31" name="Connector 30"/>
          <p:cNvCxnSpPr/>
          <p:nvPr/>
        </p:nvCxnSpPr>
        <p:spPr>
          <a:xfrm flipV="1">
            <a:off x="5915025" y="1894425"/>
            <a:ext cx="0" cy="1225127"/>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783580" y="311955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783580" y="189442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695950" y="2378209"/>
            <a:ext cx="438150" cy="623816"/>
          </a:xfrm>
          <a:prstGeom prst="rect">
            <a:avLst/>
          </a:prstGeom>
          <a:solidFill>
            <a:srgbClr val="CFE7F5"/>
          </a:solidFill>
          <a:ln w="15875">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5695950" y="2741859"/>
            <a:ext cx="438150" cy="0"/>
          </a:xfrm>
          <a:prstGeom prst="line">
            <a:avLst/>
          </a:prstGeom>
          <a:ln w="2540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162425" y="1742025"/>
            <a:ext cx="3505200" cy="133350"/>
          </a:xfrm>
          <a:prstGeom prst="rect">
            <a:avLst/>
          </a:prstGeom>
          <a:noFill/>
        </p:spPr>
        <p:txBody>
          <a:bodyPr wrap="square" lIns="28575" rIns="28575" tIns="9525" bIns="9525">
            <a:spAutoFit/>
          </a:bodyPr>
          <a:lstStyle/>
          <a:p>
            <a:pPr algn="ctr"/>
            <a:r>
              <a:rPr sz="1100" b="1">
                <a:solidFill>
                  <a:srgbClr val="007BA5"/>
                </a:solidFill>
                <a:latin typeface="Segoe UI"/>
              </a:rPr>
              <a:t>3.29</a:t>
            </a:r>
          </a:p>
        </p:txBody>
      </p:sp>
      <p:sp>
        <p:nvSpPr>
          <p:cNvPr id="37" name="TextBox 36"/>
          <p:cNvSpPr txBox="1"/>
          <p:nvPr/>
        </p:nvSpPr>
        <p:spPr>
          <a:xfrm>
            <a:off x="657225" y="3365510"/>
            <a:ext cx="3505200" cy="285750"/>
          </a:xfrm>
          <a:prstGeom prst="rect">
            <a:avLst/>
          </a:prstGeom>
          <a:noFill/>
        </p:spPr>
        <p:txBody>
          <a:bodyPr wrap="square" lIns="28575" rIns="28575" tIns="9525" bIns="9525">
            <a:spAutoFit/>
          </a:bodyPr>
          <a:lstStyle/>
          <a:p>
            <a:pPr algn="ctr"/>
            <a:r>
              <a:rPr sz="1100" b="0">
                <a:solidFill>
                  <a:srgbClr val="252423"/>
                </a:solidFill>
                <a:latin typeface="Segoe UI"/>
              </a:rPr>
              <a:t>Warp Knitted Fabrics</a:t>
            </a:r>
          </a:p>
        </p:txBody>
      </p:sp>
      <p:sp>
        <p:nvSpPr>
          <p:cNvPr id="38" name="TextBox 37"/>
          <p:cNvSpPr txBox="1"/>
          <p:nvPr/>
        </p:nvSpPr>
        <p:spPr>
          <a:xfrm>
            <a:off x="4162425" y="3365510"/>
            <a:ext cx="3505200" cy="285750"/>
          </a:xfrm>
          <a:prstGeom prst="rect">
            <a:avLst/>
          </a:prstGeom>
          <a:noFill/>
        </p:spPr>
        <p:txBody>
          <a:bodyPr wrap="square" lIns="28575" rIns="28575" tIns="9525" bIns="9525">
            <a:spAutoFit/>
          </a:bodyPr>
          <a:lstStyle/>
          <a:p>
            <a:pPr algn="ctr"/>
            <a:r>
              <a:rPr sz="1100" b="0">
                <a:solidFill>
                  <a:srgbClr val="252423"/>
                </a:solidFill>
                <a:latin typeface="Segoe UI"/>
              </a:rPr>
              <a:t>Weft Knitted Fabrics</a:t>
            </a:r>
          </a:p>
        </p:txBody>
      </p:sp>
      <p:sp>
        <p:nvSpPr>
          <p:cNvPr id="39" name="Rectangle 38"/>
          <p:cNvSpPr/>
          <p:nvPr/>
        </p:nvSpPr>
        <p:spPr>
          <a:xfrm>
            <a:off x="142875" y="3772696"/>
            <a:ext cx="7696200" cy="278368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Price Variation by Region vs Global  ·  2026–2036</a:t>
            </a:r>
          </a:p>
        </p:txBody>
      </p:sp>
      <p:cxnSp>
        <p:nvCxnSpPr>
          <p:cNvPr id="41" name="Connector 40"/>
          <p:cNvCxnSpPr/>
          <p:nvPr/>
        </p:nvCxnSpPr>
        <p:spPr>
          <a:xfrm>
            <a:off x="619125" y="4316653"/>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19125" y="4728214"/>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19125" y="51397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19125" y="5551337"/>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19125" y="596289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19125" y="4316653"/>
            <a:ext cx="0" cy="1646245"/>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90550" y="4316653"/>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90550" y="4728214"/>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90550" y="5139776"/>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90550" y="5551337"/>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90550" y="5962898"/>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sp>
        <p:nvSpPr>
          <p:cNvPr id="52" name="FMI Scale tick"/>
          <p:cNvSpPr txBox="1"/>
          <p:nvPr/>
        </p:nvSpPr>
        <p:spPr>
          <a:xfrm>
            <a:off x="219075" y="4249978"/>
            <a:ext cx="361950" cy="133350"/>
          </a:xfrm>
          <a:prstGeom prst="rect">
            <a:avLst/>
          </a:prstGeom>
          <a:noFill/>
        </p:spPr>
        <p:txBody>
          <a:bodyPr wrap="none" lIns="0" rIns="0" tIns="0" bIns="0" anchor="ctr">
            <a:spAutoFit/>
          </a:bodyPr>
          <a:lstStyle/>
          <a:p>
            <a:pPr algn="r"/>
            <a:r>
              <a:rPr sz="1100" b="0">
                <a:solidFill>
                  <a:srgbClr val="605E5C"/>
                </a:solidFill>
                <a:latin typeface="Segoe UI"/>
              </a:rPr>
              <a:t>+29%</a:t>
            </a:r>
          </a:p>
        </p:txBody>
      </p:sp>
      <p:sp>
        <p:nvSpPr>
          <p:cNvPr id="53" name="FMI Scale tick"/>
          <p:cNvSpPr txBox="1"/>
          <p:nvPr/>
        </p:nvSpPr>
        <p:spPr>
          <a:xfrm>
            <a:off x="219075" y="4661539"/>
            <a:ext cx="361950" cy="133350"/>
          </a:xfrm>
          <a:prstGeom prst="rect">
            <a:avLst/>
          </a:prstGeom>
          <a:noFill/>
        </p:spPr>
        <p:txBody>
          <a:bodyPr wrap="none" lIns="0" rIns="0" tIns="0" bIns="0" anchor="ctr">
            <a:spAutoFit/>
          </a:bodyPr>
          <a:lstStyle/>
          <a:p>
            <a:pPr algn="r"/>
            <a:r>
              <a:rPr sz="1100" b="0">
                <a:solidFill>
                  <a:srgbClr val="605E5C"/>
                </a:solidFill>
                <a:latin typeface="Segoe UI"/>
              </a:rPr>
              <a:t>+15%</a:t>
            </a:r>
          </a:p>
        </p:txBody>
      </p:sp>
      <p:sp>
        <p:nvSpPr>
          <p:cNvPr id="54" name="FMI Scale tick"/>
          <p:cNvSpPr txBox="1"/>
          <p:nvPr/>
        </p:nvSpPr>
        <p:spPr>
          <a:xfrm>
            <a:off x="57150" y="5073101"/>
            <a:ext cx="526219" cy="133350"/>
          </a:xfrm>
          <a:prstGeom prst="rect">
            <a:avLst/>
          </a:prstGeom>
          <a:noFill/>
        </p:spPr>
        <p:txBody>
          <a:bodyPr wrap="square" lIns="28575" rIns="28575" tIns="9525" bIns="9525" anchor="ctr">
            <a:spAutoFit/>
          </a:bodyPr>
          <a:lstStyle/>
          <a:p>
            <a:pPr algn="r"/>
            <a:r>
              <a:rPr sz="1100" b="1">
                <a:solidFill>
                  <a:srgbClr val="605E5C"/>
                </a:solidFill>
                <a:latin typeface="Segoe UI"/>
              </a:rPr>
              <a:t>Global</a:t>
            </a:r>
          </a:p>
        </p:txBody>
      </p:sp>
      <p:sp>
        <p:nvSpPr>
          <p:cNvPr id="55" name="FMI Scale tick"/>
          <p:cNvSpPr txBox="1"/>
          <p:nvPr/>
        </p:nvSpPr>
        <p:spPr>
          <a:xfrm>
            <a:off x="219075" y="5484662"/>
            <a:ext cx="361950" cy="133350"/>
          </a:xfrm>
          <a:prstGeom prst="rect">
            <a:avLst/>
          </a:prstGeom>
          <a:noFill/>
        </p:spPr>
        <p:txBody>
          <a:bodyPr wrap="none" lIns="0" rIns="0" tIns="0" bIns="0" anchor="ctr">
            <a:spAutoFit/>
          </a:bodyPr>
          <a:lstStyle/>
          <a:p>
            <a:pPr algn="r"/>
            <a:r>
              <a:rPr sz="1100" b="0">
                <a:solidFill>
                  <a:srgbClr val="605E5C"/>
                </a:solidFill>
                <a:latin typeface="Segoe UI"/>
              </a:rPr>
              <a:t>-15%</a:t>
            </a:r>
          </a:p>
        </p:txBody>
      </p:sp>
      <p:sp>
        <p:nvSpPr>
          <p:cNvPr id="56" name="FMI Scale tick"/>
          <p:cNvSpPr txBox="1"/>
          <p:nvPr/>
        </p:nvSpPr>
        <p:spPr>
          <a:xfrm>
            <a:off x="219075" y="5896223"/>
            <a:ext cx="361950" cy="133350"/>
          </a:xfrm>
          <a:prstGeom prst="rect">
            <a:avLst/>
          </a:prstGeom>
          <a:noFill/>
        </p:spPr>
        <p:txBody>
          <a:bodyPr wrap="none" lIns="0" rIns="0" tIns="0" bIns="0" anchor="ctr">
            <a:spAutoFit/>
          </a:bodyPr>
          <a:lstStyle/>
          <a:p>
            <a:pPr algn="r"/>
            <a:r>
              <a:rPr sz="1100" b="0">
                <a:solidFill>
                  <a:srgbClr val="605E5C"/>
                </a:solidFill>
                <a:latin typeface="Segoe UI"/>
              </a:rPr>
              <a:t>-29%</a:t>
            </a:r>
          </a:p>
        </p:txBody>
      </p:sp>
      <p:cxnSp>
        <p:nvCxnSpPr>
          <p:cNvPr id="57" name="Connector 56"/>
          <p:cNvCxnSpPr/>
          <p:nvPr/>
        </p:nvCxnSpPr>
        <p:spPr>
          <a:xfrm>
            <a:off x="619125" y="5139776"/>
            <a:ext cx="7048500" cy="0"/>
          </a:xfrm>
          <a:prstGeom prst="line">
            <a:avLst/>
          </a:prstGeom>
          <a:ln w="13970">
            <a:solidFill>
              <a:srgbClr val="605E5C"/>
            </a:solidFill>
            <a:prstDash val="dash"/>
          </a:ln>
          <a:effectLst/>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893989" y="4790409"/>
            <a:ext cx="457200" cy="349367"/>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MI Data Label"/>
          <p:cNvSpPr txBox="1"/>
          <p:nvPr/>
        </p:nvSpPr>
        <p:spPr>
          <a:xfrm>
            <a:off x="619125" y="4647534"/>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+12.4%</a:t>
            </a:r>
          </a:p>
        </p:txBody>
      </p:sp>
      <p:sp>
        <p:nvSpPr>
          <p:cNvPr id="60" name="Rectangle 59"/>
          <p:cNvSpPr/>
          <p:nvPr/>
        </p:nvSpPr>
        <p:spPr>
          <a:xfrm>
            <a:off x="1900918" y="5139776"/>
            <a:ext cx="457200" cy="375961"/>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MI Data Label"/>
          <p:cNvSpPr txBox="1"/>
          <p:nvPr/>
        </p:nvSpPr>
        <p:spPr>
          <a:xfrm>
            <a:off x="1626054" y="5525262"/>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-13.4%</a:t>
            </a:r>
          </a:p>
        </p:txBody>
      </p:sp>
      <p:sp>
        <p:nvSpPr>
          <p:cNvPr id="62" name="Rectangle 61"/>
          <p:cNvSpPr/>
          <p:nvPr/>
        </p:nvSpPr>
        <p:spPr>
          <a:xfrm>
            <a:off x="2907846" y="4423458"/>
            <a:ext cx="457200" cy="716318"/>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MI Data Label"/>
          <p:cNvSpPr txBox="1"/>
          <p:nvPr/>
        </p:nvSpPr>
        <p:spPr>
          <a:xfrm>
            <a:off x="2632982" y="4280583"/>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+25.5%</a:t>
            </a:r>
          </a:p>
        </p:txBody>
      </p:sp>
      <p:sp>
        <p:nvSpPr>
          <p:cNvPr id="64" name="Rectangle 63"/>
          <p:cNvSpPr/>
          <p:nvPr/>
        </p:nvSpPr>
        <p:spPr>
          <a:xfrm>
            <a:off x="3914775" y="5139776"/>
            <a:ext cx="457200" cy="243901"/>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MI Data Label"/>
          <p:cNvSpPr txBox="1"/>
          <p:nvPr/>
        </p:nvSpPr>
        <p:spPr>
          <a:xfrm>
            <a:off x="3639911" y="5393202"/>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-8.7%</a:t>
            </a:r>
          </a:p>
        </p:txBody>
      </p:sp>
      <p:sp>
        <p:nvSpPr>
          <p:cNvPr id="66" name="Rectangle 65"/>
          <p:cNvSpPr/>
          <p:nvPr/>
        </p:nvSpPr>
        <p:spPr>
          <a:xfrm>
            <a:off x="4921704" y="5139776"/>
            <a:ext cx="457200" cy="252990"/>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MI Data Label"/>
          <p:cNvSpPr txBox="1"/>
          <p:nvPr/>
        </p:nvSpPr>
        <p:spPr>
          <a:xfrm>
            <a:off x="4646839" y="5402291"/>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-9.0%</a:t>
            </a:r>
          </a:p>
        </p:txBody>
      </p:sp>
      <p:sp>
        <p:nvSpPr>
          <p:cNvPr id="68" name="Rectangle 67"/>
          <p:cNvSpPr/>
          <p:nvPr/>
        </p:nvSpPr>
        <p:spPr>
          <a:xfrm>
            <a:off x="5928632" y="5139776"/>
            <a:ext cx="457200" cy="674553"/>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MI Data Label"/>
          <p:cNvSpPr txBox="1"/>
          <p:nvPr/>
        </p:nvSpPr>
        <p:spPr>
          <a:xfrm>
            <a:off x="5653768" y="5823854"/>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-24.0%</a:t>
            </a:r>
          </a:p>
        </p:txBody>
      </p:sp>
      <p:sp>
        <p:nvSpPr>
          <p:cNvPr id="70" name="Rectangle 69"/>
          <p:cNvSpPr/>
          <p:nvPr/>
        </p:nvSpPr>
        <p:spPr>
          <a:xfrm>
            <a:off x="6935561" y="5139776"/>
            <a:ext cx="457200" cy="226571"/>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MI Data Label"/>
          <p:cNvSpPr txBox="1"/>
          <p:nvPr/>
        </p:nvSpPr>
        <p:spPr>
          <a:xfrm>
            <a:off x="6660696" y="5375872"/>
            <a:ext cx="1006929" cy="133350"/>
          </a:xfrm>
          <a:prstGeom prst="rect">
            <a:avLst/>
          </a:prstGeom>
          <a:noFill/>
        </p:spPr>
        <p:txBody>
          <a:bodyPr wrap="square" lIns="28575" rIns="28575" tIns="9525" bIns="9525">
            <a:spAutoFit/>
          </a:bodyPr>
          <a:lstStyle/>
          <a:p>
            <a:pPr algn="ctr"/>
            <a:r>
              <a:rPr sz="1100" b="1">
                <a:solidFill>
                  <a:srgbClr val="252423"/>
                </a:solidFill>
                <a:latin typeface="Segoe UI"/>
              </a:rPr>
              <a:t>-8.1%</a:t>
            </a:r>
          </a:p>
        </p:txBody>
      </p:sp>
      <p:sp>
        <p:nvSpPr>
          <p:cNvPr id="72" name="TextBox 71"/>
          <p:cNvSpPr txBox="1"/>
          <p:nvPr/>
        </p:nvSpPr>
        <p:spPr>
          <a:xfrm>
            <a:off x="619125"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North America</a:t>
            </a:r>
          </a:p>
        </p:txBody>
      </p:sp>
      <p:sp>
        <p:nvSpPr>
          <p:cNvPr id="73" name="TextBox 72"/>
          <p:cNvSpPr txBox="1"/>
          <p:nvPr/>
        </p:nvSpPr>
        <p:spPr>
          <a:xfrm>
            <a:off x="1626054"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Latin America</a:t>
            </a:r>
          </a:p>
        </p:txBody>
      </p:sp>
      <p:sp>
        <p:nvSpPr>
          <p:cNvPr id="74" name="TextBox 73"/>
          <p:cNvSpPr txBox="1"/>
          <p:nvPr/>
        </p:nvSpPr>
        <p:spPr>
          <a:xfrm>
            <a:off x="2632982"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Western Europe</a:t>
            </a:r>
          </a:p>
        </p:txBody>
      </p:sp>
      <p:sp>
        <p:nvSpPr>
          <p:cNvPr id="75" name="TextBox 74"/>
          <p:cNvSpPr txBox="1"/>
          <p:nvPr/>
        </p:nvSpPr>
        <p:spPr>
          <a:xfrm>
            <a:off x="3639911"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Eastern Europe</a:t>
            </a:r>
          </a:p>
        </p:txBody>
      </p:sp>
      <p:sp>
        <p:nvSpPr>
          <p:cNvPr id="76" name="TextBox 75"/>
          <p:cNvSpPr txBox="1"/>
          <p:nvPr/>
        </p:nvSpPr>
        <p:spPr>
          <a:xfrm>
            <a:off x="4646839"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East Asia</a:t>
            </a:r>
          </a:p>
        </p:txBody>
      </p:sp>
      <p:sp>
        <p:nvSpPr>
          <p:cNvPr id="77" name="TextBox 76"/>
          <p:cNvSpPr txBox="1"/>
          <p:nvPr/>
        </p:nvSpPr>
        <p:spPr>
          <a:xfrm>
            <a:off x="5653768"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South Asia Pacific</a:t>
            </a:r>
          </a:p>
        </p:txBody>
      </p:sp>
      <p:sp>
        <p:nvSpPr>
          <p:cNvPr id="78" name="TextBox 77"/>
          <p:cNvSpPr txBox="1"/>
          <p:nvPr/>
        </p:nvSpPr>
        <p:spPr>
          <a:xfrm>
            <a:off x="6660696" y="6135380"/>
            <a:ext cx="1006929" cy="247650"/>
          </a:xfrm>
          <a:prstGeom prst="rect">
            <a:avLst/>
          </a:prstGeom>
          <a:noFill/>
        </p:spPr>
        <p:txBody>
          <a:bodyPr wrap="square" lIns="28575" rIns="28575" tIns="9525" bIns="9525">
            <a:spAutoFit/>
          </a:bodyPr>
          <a:lstStyle/>
          <a:p>
            <a:pPr algn="ctr"/>
            <a:r>
              <a:rPr sz="1100" b="0">
                <a:solidFill>
                  <a:srgbClr val="252423"/>
                </a:solidFill>
                <a:latin typeface="Segoe UI"/>
              </a:rPr>
              <a:t>Middle East &amp; Africa</a:t>
            </a:r>
          </a:p>
        </p:txBody>
      </p:sp>
      <p:sp>
        <p:nvSpPr>
          <p:cNvPr id="79" name="Rectangle 78"/>
          <p:cNvSpPr/>
          <p:nvPr/>
        </p:nvSpPr>
        <p:spPr>
          <a:xfrm>
            <a:off x="7915275" y="1052895"/>
            <a:ext cx="4133850" cy="550349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07BA5"/>
                </a:solidFill>
                <a:latin typeface="Segoe UI"/>
              </a:rPr>
              <a:t>Key Takeaways</a:t>
            </a:r>
          </a:p>
        </p:txBody>
      </p:sp>
      <p:sp>
        <p:nvSpPr>
          <p:cNvPr id="81" name="Rectangle 80"/>
          <p:cNvSpPr/>
          <p:nvPr/>
        </p:nvSpPr>
        <p:spPr>
          <a:xfrm>
            <a:off x="8048625" y="137674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Warp knitted fabrics segment is expected to command the highest average price of US$ 3.79 per Sq. Yard in 2036. Average selling price of performance knitted fabrics is estimated at US$ 3.20 per Sq. Yard in 2025 and is projected to increase to US$ 3.73 per Sq. Yard by 2036.</a:t>
            </a:r>
          </a:p>
          <a:p>
            <a:pPr algn="l">
              <a:lnSpc>
                <a:spcPct val="110000"/>
              </a:lnSpc>
              <a:spcBef>
                <a:spcPts val="0"/>
              </a:spcBef>
              <a:spcAft>
                <a:spcPts val="500"/>
              </a:spcAft>
            </a:pPr>
            <a:r>
              <a:rPr sz="1150" b="0">
                <a:solidFill>
                  <a:srgbClr val="252423"/>
                </a:solidFill>
                <a:latin typeface="Segoe UI"/>
              </a:rPr>
              <a:t>Western Europe is the highest-priced region, while South Asia Pacific is the most price-competitive market. Against the global price of 3.48 US$/Sq. Yards, 2 of 7 regions price above and 5 below.</a:t>
            </a:r>
          </a:p>
          <a:p>
            <a:pPr algn="l">
              <a:lnSpc>
                <a:spcPct val="110000"/>
              </a:lnSpc>
              <a:spcBef>
                <a:spcPts val="0"/>
              </a:spcBef>
              <a:spcAft>
                <a:spcPts val="500"/>
              </a:spcAft>
            </a:pPr>
            <a:r>
              <a:rPr sz="1150" b="0">
                <a:solidFill>
                  <a:srgbClr val="252423"/>
                </a:solidFill>
                <a:latin typeface="Segoe UI"/>
              </a:rPr>
              <a:t>'Western Europe' is the dearest at +25.5% versus Global, 'South Asia Pacific' the cheapest at -24.0% pointing to premiumisation headroom in the lower-priced regions.</a:t>
            </a:r>
          </a:p>
        </p:txBody>
      </p:sp>
      <p:sp>
        <p:nvSpPr>
          <p:cNvPr id="83" name="TextBox 8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Performance Knitted Fabrics Market Summary, By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global market value growth, incremental opportunity and the geographies driving it, 2021–2036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Global</a:t>
            </a:r>
          </a:p>
        </p:txBody>
      </p:sp>
      <p:sp>
        <p:nvSpPr>
          <p:cNvPr id="9" name="Rounded Rectangle 8"/>
          <p:cNvSpPr/>
          <p:nvPr/>
        </p:nvSpPr>
        <p:spPr>
          <a:xfrm>
            <a:off x="142875"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MARKET SIZE (US$ MN)</a:t>
            </a:r>
          </a:p>
          <a:p>
            <a:pPr algn="ctr">
              <a:lnSpc>
                <a:spcPct val="95000"/>
              </a:lnSpc>
            </a:pPr>
            <a:r>
              <a:rPr sz="1500" b="1">
                <a:solidFill>
                  <a:srgbClr val="00A4DC"/>
                </a:solidFill>
                <a:latin typeface="Segoe UI"/>
              </a:rPr>
              <a:t>5,484</a:t>
            </a:r>
          </a:p>
        </p:txBody>
      </p:sp>
      <p:sp>
        <p:nvSpPr>
          <p:cNvPr id="10" name="Rounded Rectangle 9"/>
          <p:cNvSpPr/>
          <p:nvPr/>
        </p:nvSpPr>
        <p:spPr>
          <a:xfrm>
            <a:off x="31432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11,240</a:t>
            </a:r>
          </a:p>
        </p:txBody>
      </p:sp>
      <p:sp>
        <p:nvSpPr>
          <p:cNvPr id="11" name="Rounded Rectangle 10"/>
          <p:cNvSpPr/>
          <p:nvPr/>
        </p:nvSpPr>
        <p:spPr>
          <a:xfrm>
            <a:off x="61531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2021–2025</a:t>
            </a:r>
          </a:p>
          <a:p>
            <a:pPr algn="ctr">
              <a:lnSpc>
                <a:spcPct val="95000"/>
              </a:lnSpc>
            </a:pPr>
            <a:r>
              <a:rPr sz="1500" b="1">
                <a:solidFill>
                  <a:srgbClr val="00A4DC"/>
                </a:solidFill>
                <a:latin typeface="Segoe UI"/>
              </a:rPr>
              <a:t>6.1%</a:t>
            </a:r>
          </a:p>
        </p:txBody>
      </p:sp>
      <p:sp>
        <p:nvSpPr>
          <p:cNvPr id="12" name="Rounded Rectangle 11"/>
          <p:cNvSpPr/>
          <p:nvPr/>
        </p:nvSpPr>
        <p:spPr>
          <a:xfrm>
            <a:off x="91630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1500" b="1">
                <a:solidFill>
                  <a:srgbClr val="00A4DC"/>
                </a:solidFill>
                <a:latin typeface="Segoe UI"/>
              </a:rPr>
              <a:t>7.4%</a:t>
            </a:r>
          </a:p>
        </p:txBody>
      </p:sp>
      <p:sp>
        <p:nvSpPr>
          <p:cNvPr id="13" name="Rectangle 12"/>
          <p:cNvSpPr/>
          <p:nvPr/>
        </p:nvSpPr>
        <p:spPr>
          <a:xfrm>
            <a:off x="142875" y="1627887"/>
            <a:ext cx="769620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(2021–2036)</a:t>
            </a:r>
          </a:p>
        </p:txBody>
      </p:sp>
      <p:graphicFrame>
        <p:nvGraphicFramePr>
          <p:cNvPr id="15" name="Chart 14"/>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6" name="Rectangle 15"/>
          <p:cNvSpPr/>
          <p:nvPr/>
        </p:nvSpPr>
        <p:spPr>
          <a:xfrm>
            <a:off x="142875" y="4037375"/>
            <a:ext cx="769620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Incremental Market Addition (US$ Mn)</a:t>
            </a:r>
          </a:p>
        </p:txBody>
      </p:sp>
      <p:graphicFrame>
        <p:nvGraphicFramePr>
          <p:cNvPr id="18" name="Chart 17"/>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9" name="Rectangle 18"/>
          <p:cNvSpPr/>
          <p:nvPr/>
        </p:nvSpPr>
        <p:spPr>
          <a:xfrm>
            <a:off x="7915275" y="1627887"/>
            <a:ext cx="413385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21" name="Rectangle 20"/>
          <p:cNvSpPr/>
          <p:nvPr/>
        </p:nvSpPr>
        <p:spPr>
          <a:xfrm>
            <a:off x="8048625" y="195173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Performance knitted fabrics market is projected to register 2.2X increase in its revenue by the end of forecast period, 2036. Global performance knitted fabrics market is expected to be valued at US$ 11,240 Mn by 2036 end.</a:t>
            </a:r>
          </a:p>
          <a:p>
            <a:pPr algn="l">
              <a:lnSpc>
                <a:spcPct val="110000"/>
              </a:lnSpc>
              <a:spcBef>
                <a:spcPts val="0"/>
              </a:spcBef>
              <a:spcAft>
                <a:spcPts val="500"/>
              </a:spcAft>
            </a:pPr>
            <a:r>
              <a:rPr sz="1150" b="0">
                <a:solidFill>
                  <a:srgbClr val="252423"/>
                </a:solidFill>
                <a:latin typeface="Segoe UI"/>
              </a:rPr>
              <a:t>It is projected to create overall incremental opportunity of US$ 6,108 Mn from 2025 to 2036.</a:t>
            </a:r>
          </a:p>
        </p:txBody>
      </p:sp>
      <p:sp>
        <p:nvSpPr>
          <p:cNvPr id="23" name="Rectangle 22"/>
          <p:cNvSpPr/>
          <p:nvPr/>
        </p:nvSpPr>
        <p:spPr>
          <a:xfrm>
            <a:off x="7915275" y="4037375"/>
            <a:ext cx="413385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07BA5"/>
                </a:solidFill>
                <a:latin typeface="Segoe UI"/>
              </a:rPr>
              <a:t>Growth Drivers</a:t>
            </a:r>
          </a:p>
        </p:txBody>
      </p:sp>
      <p:sp>
        <p:nvSpPr>
          <p:cNvPr id="25" name="Rectangle 24"/>
          <p:cNvSpPr/>
          <p:nvPr/>
        </p:nvSpPr>
        <p:spPr>
          <a:xfrm>
            <a:off x="8048625" y="436122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'South Asia Pacific' leads regional growth at 9.2% CAGR.</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Demand concentrates in 'Weft Knitted Fabrics' within Fabric Construction.</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Product innovation and premiumisation lifting value.</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Expanding end-use applications and access.</a:t>
            </a:r>
          </a:p>
        </p:txBody>
      </p:sp>
      <p:sp>
        <p:nvSpPr>
          <p:cNvPr id="27" name="TextBox 2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Performance Knitted Fabrics Market Volume &amp; Value Analysis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volume and value growth of the global market and the incremental $ opportunity it creates, 2021–2036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Global</a:t>
            </a:r>
          </a:p>
        </p:txBody>
      </p:sp>
      <p:sp>
        <p:nvSpPr>
          <p:cNvPr id="9" name="Rectangle 8"/>
          <p:cNvSpPr/>
          <p:nvPr/>
        </p:nvSpPr>
        <p:spPr>
          <a:xfrm>
            <a:off x="142875" y="981075"/>
            <a:ext cx="4695825" cy="25717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Market, 2021–2025 (Historical)</a:t>
            </a:r>
          </a:p>
        </p:txBody>
      </p:sp>
      <p:graphicFrame>
        <p:nvGraphicFramePr>
          <p:cNvPr id="11" name="Chart 10"/>
          <p:cNvGraphicFramePr>
            <a:graphicFrameLocks noGrp="1"/>
          </p:cNvGraphicFramePr>
          <p:nvPr/>
        </p:nvGraphicFramePr>
        <p:xfrm>
          <a:off x="238125" y="1266825"/>
          <a:ext cx="4505325" cy="2228850"/>
        </p:xfrm>
        <a:graphic>
          <a:graphicData uri="http://schemas.openxmlformats.org/drawingml/2006/chart">
            <c:chart xmlns:c="http://schemas.openxmlformats.org/drawingml/2006/chart" r:id="rId3"/>
          </a:graphicData>
        </a:graphic>
      </p:graphicFrame>
      <p:sp>
        <p:nvSpPr>
          <p:cNvPr id="12" name="Rectangle 11"/>
          <p:cNvSpPr/>
          <p:nvPr/>
        </p:nvSpPr>
        <p:spPr>
          <a:xfrm>
            <a:off x="4991100" y="981075"/>
            <a:ext cx="7048500" cy="25717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Market, 2026–2036 (Forecast)</a:t>
            </a:r>
          </a:p>
        </p:txBody>
      </p:sp>
      <p:graphicFrame>
        <p:nvGraphicFramePr>
          <p:cNvPr id="14" name="Chart 13"/>
          <p:cNvGraphicFramePr>
            <a:graphicFrameLocks noGrp="1"/>
          </p:cNvGraphicFramePr>
          <p:nvPr/>
        </p:nvGraphicFramePr>
        <p:xfrm>
          <a:off x="5086350" y="1266825"/>
          <a:ext cx="6858000" cy="2228850"/>
        </p:xfrm>
        <a:graphic>
          <a:graphicData uri="http://schemas.openxmlformats.org/drawingml/2006/chart">
            <c:chart xmlns:c="http://schemas.openxmlformats.org/drawingml/2006/chart" r:id="rId4"/>
          </a:graphicData>
        </a:graphic>
      </p:graphicFrame>
      <p:sp>
        <p:nvSpPr>
          <p:cNvPr id="15" name="Rounded Rectangle 14"/>
          <p:cNvSpPr/>
          <p:nvPr/>
        </p:nvSpPr>
        <p:spPr>
          <a:xfrm>
            <a:off x="142875" y="3686175"/>
            <a:ext cx="2514600" cy="7334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VALUE CAGR 2021–2025</a:t>
            </a:r>
          </a:p>
          <a:p>
            <a:pPr algn="ctr">
              <a:lnSpc>
                <a:spcPct val="95000"/>
              </a:lnSpc>
            </a:pPr>
            <a:r>
              <a:rPr sz="1500" b="1">
                <a:solidFill>
                  <a:srgbClr val="00A4DC"/>
                </a:solidFill>
                <a:latin typeface="Segoe UI"/>
              </a:rPr>
              <a:t>6.1%</a:t>
            </a:r>
          </a:p>
        </p:txBody>
      </p:sp>
      <p:sp>
        <p:nvSpPr>
          <p:cNvPr id="16" name="Rounded Rectangle 15"/>
          <p:cNvSpPr/>
          <p:nvPr/>
        </p:nvSpPr>
        <p:spPr>
          <a:xfrm>
            <a:off x="2809875" y="3686175"/>
            <a:ext cx="2514600" cy="7334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VALUE CAGR 2026–2036</a:t>
            </a:r>
          </a:p>
          <a:p>
            <a:pPr algn="ctr">
              <a:lnSpc>
                <a:spcPct val="95000"/>
              </a:lnSpc>
            </a:pPr>
            <a:r>
              <a:rPr sz="1500" b="1">
                <a:solidFill>
                  <a:srgbClr val="00A4DC"/>
                </a:solidFill>
                <a:latin typeface="Segoe UI"/>
              </a:rPr>
              <a:t>7.4%</a:t>
            </a:r>
          </a:p>
        </p:txBody>
      </p:sp>
      <p:sp>
        <p:nvSpPr>
          <p:cNvPr id="17" name="Rounded Rectangle 16"/>
          <p:cNvSpPr/>
          <p:nvPr/>
        </p:nvSpPr>
        <p:spPr>
          <a:xfrm>
            <a:off x="5476875" y="3686175"/>
            <a:ext cx="3200400" cy="7334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INCREMENTAL $ OPPORTUNITY 2026–2031</a:t>
            </a:r>
          </a:p>
          <a:p>
            <a:pPr algn="ctr">
              <a:lnSpc>
                <a:spcPct val="95000"/>
              </a:lnSpc>
            </a:pPr>
            <a:r>
              <a:rPr sz="1500" b="1">
                <a:solidFill>
                  <a:srgbClr val="00A4DC"/>
                </a:solidFill>
                <a:latin typeface="Segoe UI"/>
              </a:rPr>
              <a:t>2,293 US$ Mn</a:t>
            </a:r>
          </a:p>
        </p:txBody>
      </p:sp>
      <p:sp>
        <p:nvSpPr>
          <p:cNvPr id="18" name="Rounded Rectangle 17"/>
          <p:cNvSpPr/>
          <p:nvPr/>
        </p:nvSpPr>
        <p:spPr>
          <a:xfrm>
            <a:off x="8829675" y="3686175"/>
            <a:ext cx="3200400" cy="7334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INCREMENTAL $ OPPORTUNITY 2026–2036</a:t>
            </a:r>
          </a:p>
          <a:p>
            <a:pPr algn="ctr">
              <a:lnSpc>
                <a:spcPct val="95000"/>
              </a:lnSpc>
            </a:pPr>
            <a:r>
              <a:rPr sz="1500" b="1">
                <a:solidFill>
                  <a:srgbClr val="00A4DC"/>
                </a:solidFill>
                <a:latin typeface="Segoe UI"/>
              </a:rPr>
              <a:t>5,756 US$ Mn</a:t>
            </a:r>
          </a:p>
        </p:txBody>
      </p:sp>
      <p:sp>
        <p:nvSpPr>
          <p:cNvPr id="19" name="Rectangle 18"/>
          <p:cNvSpPr/>
          <p:nvPr/>
        </p:nvSpPr>
        <p:spPr>
          <a:xfrm>
            <a:off x="142875" y="4552950"/>
            <a:ext cx="11906250" cy="2057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07BA5"/>
                </a:solidFill>
                <a:latin typeface="Segoe UI"/>
              </a:rPr>
              <a:t>Global Volume &amp; Value Analysis</a:t>
            </a:r>
          </a:p>
        </p:txBody>
      </p:sp>
      <p:sp>
        <p:nvSpPr>
          <p:cNvPr id="21" name="Rectangle 20"/>
          <p:cNvSpPr/>
          <p:nvPr/>
        </p:nvSpPr>
        <p:spPr>
          <a:xfrm>
            <a:off x="276225" y="48768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Performance knitted fabrics market is projected to register 2.2X increase in its revenue by the end of forecast period, 2036. Global performance knitted fabrics market is expected to be valued at US$ 11,240 Mn by 2036 end.</a:t>
            </a:r>
          </a:p>
          <a:p>
            <a:pPr algn="l">
              <a:lnSpc>
                <a:spcPct val="110000"/>
              </a:lnSpc>
              <a:spcBef>
                <a:spcPts val="0"/>
              </a:spcBef>
              <a:spcAft>
                <a:spcPts val="500"/>
              </a:spcAft>
            </a:pPr>
            <a:r>
              <a:rPr sz="1150" b="0">
                <a:solidFill>
                  <a:srgbClr val="252423"/>
                </a:solidFill>
                <a:latin typeface="Segoe UI"/>
              </a:rPr>
              <a:t>It is projected to create overall incremental opportunity of US$ 6,108 Mn from 2025 to 2036. Global performance knitted fabrics market is projected to register 1.9X increase in volume by the end of forecast period, 2036.</a:t>
            </a:r>
          </a:p>
          <a:p>
            <a:pPr algn="l">
              <a:lnSpc>
                <a:spcPct val="110000"/>
              </a:lnSpc>
              <a:spcBef>
                <a:spcPts val="0"/>
              </a:spcBef>
              <a:spcAft>
                <a:spcPts val="500"/>
              </a:spcAft>
            </a:pPr>
            <a:r>
              <a:rPr sz="1150" b="0">
                <a:solidFill>
                  <a:srgbClr val="252423"/>
                </a:solidFill>
                <a:latin typeface="Segoe UI"/>
              </a:rPr>
              <a:t>Global performance knitted fabrics market volume stood at 1,604 Mn Sq. Yards in 2025 and is expected to reach 3,017 Mn Sq. Yards by 2036 end, at a CAGR of 5.9%. Value is projected to grow faster than volume over the forecast period, owing to an increase in average selling price.</a:t>
            </a:r>
          </a:p>
        </p:txBody>
      </p:sp>
      <p:sp>
        <p:nvSpPr>
          <p:cNvPr id="23" name="TextBox 2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Performance Knitted Fabrics Market Summary Country Indices (Value)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outlook ranking 2036 market size, growth and absolute-growth indices to highlight the strongest markets</a:t>
            </a:r>
          </a:p>
        </p:txBody>
      </p:sp>
      <p:sp>
        <p:nvSpPr>
          <p:cNvPr id="8" name="Rectangle 7"/>
          <p:cNvSpPr/>
          <p:nvPr/>
        </p:nvSpPr>
        <p:spPr>
          <a:xfrm>
            <a:off x="142875" y="1007261"/>
            <a:ext cx="3933825" cy="244599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Top 10 Countries By CAGR Index</a:t>
            </a:r>
          </a:p>
        </p:txBody>
      </p:sp>
      <p:graphicFrame>
        <p:nvGraphicFramePr>
          <p:cNvPr id="10" name="Chart 9"/>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1" name="Rectangle 10"/>
          <p:cNvSpPr/>
          <p:nvPr/>
        </p:nvSpPr>
        <p:spPr>
          <a:xfrm>
            <a:off x="142875" y="3489764"/>
            <a:ext cx="3933825" cy="243686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3565964"/>
          <a:ext cx="3914775" cy="2132070"/>
        </p:xfrm>
        <a:graphic>
          <a:graphicData uri="http://schemas.openxmlformats.org/drawingml/2006/table">
            <a:tbl>
              <a:tblPr>
                <a:tableStyleId>{5C22544A-7EE6-4342-B048-85BDC9FD1C3A}</a:tableStyleId>
              </a:tblPr>
              <a:tblGrid>
                <a:gridCol w="998195"/>
                <a:gridCol w="974781"/>
                <a:gridCol w="667807"/>
                <a:gridCol w="1273992"/>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CAGR Index</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 Opp (US$ Mn)</a:t>
                      </a:r>
                      <a:endParaRPr sz="1100"/>
                    </a:p>
                  </a:txBody>
                  <a:tcPr marL="47625" marR="38100" marT="19050" marB="19050" anchor="ctr">
                    <a:solidFill>
                      <a:srgbClr val="007BA5"/>
                    </a:solidFill>
                  </a:tcPr>
                </a:tc>
              </a:tr>
              <a:tr h="383361">
                <a:tc>
                  <a:txBody>
                    <a:bodyPr wrap="none"/>
                    <a:lstStyle/>
                    <a:p>
                      <a:pPr algn="l"/>
                      <a:r>
                        <a:rPr sz="1100" b="1">
                          <a:solidFill>
                            <a:srgbClr val="252423"/>
                          </a:solidFill>
                          <a:latin typeface="Segoe UI"/>
                        </a:rPr>
                        <a:t>India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132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320.3</a:t>
                      </a:r>
                      <a:endParaRPr sz="1100"/>
                    </a:p>
                  </a:txBody>
                  <a:tcPr marL="47625" marR="38100" marT="19050" marB="19050" anchor="ctr">
                    <a:solidFill>
                      <a:srgbClr val="FFFFFF"/>
                    </a:solidFill>
                  </a:tcPr>
                </a:tc>
              </a:tr>
              <a:tr h="383361">
                <a:tc>
                  <a:txBody>
                    <a:bodyPr wrap="none"/>
                    <a:lstStyle/>
                    <a:p>
                      <a:pPr algn="l"/>
                      <a:r>
                        <a:rPr sz="1100" b="1">
                          <a:solidFill>
                            <a:srgbClr val="252423"/>
                          </a:solidFill>
                          <a:latin typeface="Segoe UI"/>
                        </a:rPr>
                        <a:t>ASEAN</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122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284.7</a:t>
                      </a:r>
                      <a:endParaRPr sz="1100"/>
                    </a:p>
                  </a:txBody>
                  <a:tcPr marL="47625" marR="38100" marT="19050" marB="19050" anchor="ctr">
                    <a:solidFill>
                      <a:srgbClr val="F2FAFD"/>
                    </a:solidFill>
                  </a:tcPr>
                </a:tc>
              </a:tr>
              <a:tr h="383361">
                <a:tc>
                  <a:txBody>
                    <a:bodyPr wrap="none"/>
                    <a:lstStyle/>
                    <a:p>
                      <a:pPr algn="l"/>
                      <a:r>
                        <a:rPr sz="1100" b="1">
                          <a:solidFill>
                            <a:srgbClr val="252423"/>
                          </a:solidFill>
                          <a:latin typeface="Segoe UI"/>
                        </a:rPr>
                        <a:t>China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1,123</a:t>
                      </a:r>
                      <a:endParaRPr sz="1100"/>
                    </a:p>
                  </a:txBody>
                  <a:tcPr marL="47625" marR="38100" marT="19050" marB="19050" anchor="ctr">
                    <a:solidFill>
                      <a:srgbClr val="FFFFFF"/>
                    </a:solidFill>
                  </a:tcPr>
                </a:tc>
              </a:tr>
              <a:tr h="383361">
                <a:tc>
                  <a:txBody>
                    <a:bodyPr wrap="none"/>
                    <a:lstStyle/>
                    <a:p>
                      <a:pPr algn="l"/>
                      <a:r>
                        <a:rPr sz="1100" b="1">
                          <a:solidFill>
                            <a:srgbClr val="252423"/>
                          </a:solidFill>
                          <a:latin typeface="Segoe UI"/>
                        </a:rPr>
                        <a:t>Mexico</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128.5</a:t>
                      </a:r>
                      <a:endParaRPr sz="1100"/>
                    </a:p>
                  </a:txBody>
                  <a:tcPr marL="47625" marR="38100" marT="19050" marB="19050" anchor="ctr">
                    <a:solidFill>
                      <a:srgbClr val="F2FAFD"/>
                    </a:solidFill>
                  </a:tcPr>
                </a:tc>
              </a:tr>
              <a:tr h="383361">
                <a:tc>
                  <a:txBody>
                    <a:bodyPr wrap="none"/>
                    <a:lstStyle/>
                    <a:p>
                      <a:pPr algn="l"/>
                      <a:r>
                        <a:rPr sz="1100" b="1">
                          <a:solidFill>
                            <a:srgbClr val="252423"/>
                          </a:solidFill>
                          <a:latin typeface="Segoe UI"/>
                        </a:rPr>
                        <a:t>South Korea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225.1</a:t>
                      </a:r>
                      <a:endParaRPr sz="1100"/>
                    </a:p>
                  </a:txBody>
                  <a:tcPr marL="47625" marR="38100" marT="19050" marB="19050" anchor="ctr">
                    <a:solidFill>
                      <a:srgbClr val="FFFFFF"/>
                    </a:solidFill>
                  </a:tcPr>
                </a:tc>
              </a:tr>
            </a:tbl>
          </a:graphicData>
        </a:graphic>
      </p:graphicFrame>
      <p:sp>
        <p:nvSpPr>
          <p:cNvPr id="13" name="TextBox 12"/>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4" name="Rectangle 13"/>
          <p:cNvSpPr/>
          <p:nvPr/>
        </p:nvSpPr>
        <p:spPr>
          <a:xfrm>
            <a:off x="4114800" y="1007261"/>
            <a:ext cx="3933825" cy="4928498"/>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2036 Market By Country (US$ Mn)  ·  Top 10</a:t>
            </a:r>
          </a:p>
        </p:txBody>
      </p:sp>
      <p:sp>
        <p:nvSpPr>
          <p:cNvPr id="16" name="Rectangle 15"/>
          <p:cNvSpPr/>
          <p:nvPr/>
        </p:nvSpPr>
        <p:spPr>
          <a:xfrm>
            <a:off x="4210050" y="1293011"/>
            <a:ext cx="1949434" cy="2279601"/>
          </a:xfrm>
          <a:prstGeom prst="rect">
            <a:avLst/>
          </a:prstGeom>
          <a:solidFill>
            <a:srgbClr val="00A4D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U.S.</a:t>
            </a:r>
          </a:p>
          <a:p>
            <a:pPr algn="ctr"/>
            <a:r>
              <a:rPr sz="1100" b="0">
                <a:solidFill>
                  <a:srgbClr val="FFFFFF"/>
                </a:solidFill>
                <a:latin typeface="Segoe UI"/>
              </a:rPr>
              <a:t>2,121</a:t>
            </a:r>
          </a:p>
        </p:txBody>
      </p:sp>
      <p:sp>
        <p:nvSpPr>
          <p:cNvPr id="17" name="Rectangle 16"/>
          <p:cNvSpPr/>
          <p:nvPr/>
        </p:nvSpPr>
        <p:spPr>
          <a:xfrm>
            <a:off x="6159484" y="1293011"/>
            <a:ext cx="1793891" cy="2279601"/>
          </a:xfrm>
          <a:prstGeom prst="rect">
            <a:avLst/>
          </a:prstGeom>
          <a:solidFill>
            <a:srgbClr val="6ECFF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China</a:t>
            </a:r>
          </a:p>
          <a:p>
            <a:pPr algn="ctr"/>
            <a:r>
              <a:rPr sz="1100" b="0">
                <a:solidFill>
                  <a:srgbClr val="252423"/>
                </a:solidFill>
                <a:latin typeface="Segoe UI"/>
              </a:rPr>
              <a:t>1,952</a:t>
            </a:r>
          </a:p>
        </p:txBody>
      </p:sp>
      <p:sp>
        <p:nvSpPr>
          <p:cNvPr id="18" name="Rectangle 17"/>
          <p:cNvSpPr/>
          <p:nvPr/>
        </p:nvSpPr>
        <p:spPr>
          <a:xfrm>
            <a:off x="4210050" y="3572612"/>
            <a:ext cx="1179641" cy="1250694"/>
          </a:xfrm>
          <a:prstGeom prst="rect">
            <a:avLst/>
          </a:prstGeom>
          <a:solidFill>
            <a:srgbClr val="D6CA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Germany</a:t>
            </a:r>
          </a:p>
          <a:p>
            <a:pPr algn="ctr"/>
            <a:r>
              <a:rPr sz="1100" b="0">
                <a:solidFill>
                  <a:srgbClr val="252423"/>
                </a:solidFill>
                <a:latin typeface="Segoe UI"/>
              </a:rPr>
              <a:t>704</a:t>
            </a:r>
          </a:p>
        </p:txBody>
      </p:sp>
      <p:sp>
        <p:nvSpPr>
          <p:cNvPr id="19" name="Rectangle 18"/>
          <p:cNvSpPr/>
          <p:nvPr/>
        </p:nvSpPr>
        <p:spPr>
          <a:xfrm>
            <a:off x="4210050" y="4823306"/>
            <a:ext cx="1179641" cy="1055304"/>
          </a:xfrm>
          <a:prstGeom prst="rect">
            <a:avLst/>
          </a:prstGeom>
          <a:solidFill>
            <a:srgbClr val="EBC4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Japan</a:t>
            </a:r>
          </a:p>
          <a:p>
            <a:pPr algn="ctr"/>
            <a:r>
              <a:rPr sz="1100" b="0">
                <a:solidFill>
                  <a:srgbClr val="252423"/>
                </a:solidFill>
                <a:latin typeface="Segoe UI"/>
              </a:rPr>
              <a:t>594</a:t>
            </a:r>
          </a:p>
        </p:txBody>
      </p:sp>
      <p:sp>
        <p:nvSpPr>
          <p:cNvPr id="20" name="Rectangle 19"/>
          <p:cNvSpPr/>
          <p:nvPr/>
        </p:nvSpPr>
        <p:spPr>
          <a:xfrm>
            <a:off x="5389691" y="3572612"/>
            <a:ext cx="966447" cy="1162271"/>
          </a:xfrm>
          <a:prstGeom prst="rect">
            <a:avLst/>
          </a:prstGeom>
          <a:solidFill>
            <a:srgbClr val="EDA28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France</a:t>
            </a:r>
          </a:p>
          <a:p>
            <a:pPr algn="ctr"/>
            <a:r>
              <a:rPr sz="1100" b="0">
                <a:solidFill>
                  <a:srgbClr val="252423"/>
                </a:solidFill>
                <a:latin typeface="Segoe UI"/>
              </a:rPr>
              <a:t>536</a:t>
            </a:r>
          </a:p>
        </p:txBody>
      </p:sp>
      <p:sp>
        <p:nvSpPr>
          <p:cNvPr id="21" name="Rectangle 20"/>
          <p:cNvSpPr/>
          <p:nvPr/>
        </p:nvSpPr>
        <p:spPr>
          <a:xfrm>
            <a:off x="5389691" y="4734882"/>
            <a:ext cx="966447" cy="1143727"/>
          </a:xfrm>
          <a:prstGeom prst="rect">
            <a:avLst/>
          </a:prstGeom>
          <a:solidFill>
            <a:srgbClr val="C4E2F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India</a:t>
            </a:r>
          </a:p>
          <a:p>
            <a:pPr algn="ctr"/>
            <a:r>
              <a:rPr sz="1100" b="0">
                <a:solidFill>
                  <a:srgbClr val="252423"/>
                </a:solidFill>
                <a:latin typeface="Segoe UI"/>
              </a:rPr>
              <a:t>528</a:t>
            </a:r>
          </a:p>
        </p:txBody>
      </p:sp>
      <p:sp>
        <p:nvSpPr>
          <p:cNvPr id="22" name="Rectangle 21"/>
          <p:cNvSpPr/>
          <p:nvPr/>
        </p:nvSpPr>
        <p:spPr>
          <a:xfrm>
            <a:off x="6356138" y="3572612"/>
            <a:ext cx="853797" cy="1200918"/>
          </a:xfrm>
          <a:prstGeom prst="rect">
            <a:avLst/>
          </a:prstGeom>
          <a:solidFill>
            <a:srgbClr val="9AB3C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ASEAN</a:t>
            </a:r>
          </a:p>
          <a:p>
            <a:pPr algn="ctr"/>
            <a:r>
              <a:rPr sz="1100" b="0">
                <a:solidFill>
                  <a:srgbClr val="252423"/>
                </a:solidFill>
                <a:latin typeface="Segoe UI"/>
              </a:rPr>
              <a:t>489</a:t>
            </a:r>
          </a:p>
        </p:txBody>
      </p:sp>
      <p:sp>
        <p:nvSpPr>
          <p:cNvPr id="23" name="Rectangle 22"/>
          <p:cNvSpPr/>
          <p:nvPr/>
        </p:nvSpPr>
        <p:spPr>
          <a:xfrm>
            <a:off x="7209936" y="3572612"/>
            <a:ext cx="743439" cy="1200918"/>
          </a:xfrm>
          <a:prstGeom prst="rect">
            <a:avLst/>
          </a:prstGeom>
          <a:solidFill>
            <a:srgbClr val="7D72E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Italy</a:t>
            </a:r>
          </a:p>
          <a:p>
            <a:pPr algn="ctr"/>
            <a:r>
              <a:rPr sz="1100" b="0">
                <a:solidFill>
                  <a:srgbClr val="FFFFFF"/>
                </a:solidFill>
                <a:latin typeface="Segoe UI"/>
              </a:rPr>
              <a:t>426</a:t>
            </a:r>
          </a:p>
        </p:txBody>
      </p:sp>
      <p:sp>
        <p:nvSpPr>
          <p:cNvPr id="24" name="Rectangle 23"/>
          <p:cNvSpPr/>
          <p:nvPr/>
        </p:nvSpPr>
        <p:spPr>
          <a:xfrm>
            <a:off x="6356138" y="4773529"/>
            <a:ext cx="798804" cy="1105080"/>
          </a:xfrm>
          <a:prstGeom prst="rect">
            <a:avLst/>
          </a:prstGeom>
          <a:solidFill>
            <a:srgbClr val="CF72E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South Korea</a:t>
            </a:r>
          </a:p>
          <a:p>
            <a:pPr algn="ctr"/>
            <a:r>
              <a:rPr sz="1100" b="0">
                <a:solidFill>
                  <a:srgbClr val="252423"/>
                </a:solidFill>
                <a:latin typeface="Segoe UI"/>
              </a:rPr>
              <a:t>421</a:t>
            </a:r>
          </a:p>
        </p:txBody>
      </p:sp>
      <p:sp>
        <p:nvSpPr>
          <p:cNvPr id="25" name="Rectangle 24"/>
          <p:cNvSpPr/>
          <p:nvPr/>
        </p:nvSpPr>
        <p:spPr>
          <a:xfrm>
            <a:off x="7154942" y="4773529"/>
            <a:ext cx="798433" cy="1105080"/>
          </a:xfrm>
          <a:prstGeom prst="rect">
            <a:avLst/>
          </a:prstGeom>
          <a:solidFill>
            <a:srgbClr val="E572A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U.K.</a:t>
            </a:r>
          </a:p>
          <a:p>
            <a:pPr algn="ctr"/>
            <a:r>
              <a:rPr sz="1100" b="0">
                <a:solidFill>
                  <a:srgbClr val="252423"/>
                </a:solidFill>
                <a:latin typeface="Segoe UI"/>
              </a:rPr>
              <a:t>421</a:t>
            </a:r>
          </a:p>
        </p:txBody>
      </p:sp>
      <p:sp>
        <p:nvSpPr>
          <p:cNvPr id="26" name="Rectangle 25"/>
          <p:cNvSpPr/>
          <p:nvPr/>
        </p:nvSpPr>
        <p:spPr>
          <a:xfrm>
            <a:off x="8086725" y="1007261"/>
            <a:ext cx="3933825" cy="243686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Top 10 Countries By Absolute Index</a:t>
            </a:r>
          </a:p>
        </p:txBody>
      </p:sp>
      <p:graphicFrame>
        <p:nvGraphicFramePr>
          <p:cNvPr id="28" name="Chart 27"/>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9" name="Rectangle 28"/>
          <p:cNvSpPr/>
          <p:nvPr/>
        </p:nvSpPr>
        <p:spPr>
          <a:xfrm>
            <a:off x="8086725" y="3471510"/>
            <a:ext cx="3933825" cy="246424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0" name="Table 29"/>
          <p:cNvGraphicFramePr>
            <a:graphicFrameLocks noGrp="1"/>
          </p:cNvGraphicFramePr>
          <p:nvPr/>
        </p:nvGraphicFramePr>
        <p:xfrm>
          <a:off x="8096250" y="3547710"/>
          <a:ext cx="3914775" cy="2159450"/>
        </p:xfrm>
        <a:graphic>
          <a:graphicData uri="http://schemas.openxmlformats.org/drawingml/2006/table">
            <a:tbl>
              <a:tblPr>
                <a:tableStyleId>{5C22544A-7EE6-4342-B048-85BDC9FD1C3A}</a:tableStyleId>
              </a:tblPr>
              <a:tblGrid>
                <a:gridCol w="764594"/>
                <a:gridCol w="1207131"/>
                <a:gridCol w="668237"/>
                <a:gridCol w="1274813"/>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Absolute Index</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 Opp (US$ Mn)</a:t>
                      </a:r>
                      <a:endParaRPr sz="1100"/>
                    </a:p>
                  </a:txBody>
                  <a:tcPr marL="47625" marR="38100" marT="19050" marB="19050" anchor="ctr">
                    <a:solidFill>
                      <a:srgbClr val="007BA5"/>
                    </a:solidFill>
                  </a:tcPr>
                </a:tc>
              </a:tr>
              <a:tr h="388837">
                <a:tc>
                  <a:txBody>
                    <a:bodyPr wrap="none"/>
                    <a:lstStyle/>
                    <a:p>
                      <a:pPr algn="l"/>
                      <a:r>
                        <a:rPr sz="1100" b="1">
                          <a:solidFill>
                            <a:srgbClr val="252423"/>
                          </a:solidFill>
                          <a:latin typeface="Segoe UI"/>
                        </a:rPr>
                        <a:t>China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1,123</a:t>
                      </a:r>
                      <a:endParaRPr sz="1100"/>
                    </a:p>
                  </a:txBody>
                  <a:tcPr marL="47625" marR="38100" marT="19050" marB="19050" anchor="ctr">
                    <a:solidFill>
                      <a:srgbClr val="FFFFFF"/>
                    </a:solidFill>
                  </a:tcPr>
                </a:tc>
              </a:tr>
              <a:tr h="388837">
                <a:tc>
                  <a:txBody>
                    <a:bodyPr wrap="none"/>
                    <a:lstStyle/>
                    <a:p>
                      <a:pPr algn="l"/>
                      <a:r>
                        <a:rPr sz="1100" b="1">
                          <a:solidFill>
                            <a:srgbClr val="252423"/>
                          </a:solidFill>
                          <a:latin typeface="Segoe UI"/>
                        </a:rPr>
                        <a:t>U.S.</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1,100</a:t>
                      </a:r>
                      <a:endParaRPr sz="1100"/>
                    </a:p>
                  </a:txBody>
                  <a:tcPr marL="47625" marR="38100" marT="19050" marB="19050" anchor="ctr">
                    <a:solidFill>
                      <a:srgbClr val="F2FAFD"/>
                    </a:solidFill>
                  </a:tcPr>
                </a:tc>
              </a:tr>
              <a:tr h="388837">
                <a:tc>
                  <a:txBody>
                    <a:bodyPr wrap="none"/>
                    <a:lstStyle/>
                    <a:p>
                      <a:pPr algn="l"/>
                      <a:r>
                        <a:rPr sz="1100" b="1">
                          <a:solidFill>
                            <a:srgbClr val="252423"/>
                          </a:solidFill>
                          <a:latin typeface="Segoe UI"/>
                        </a:rPr>
                        <a:t>India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320.3</a:t>
                      </a:r>
                      <a:endParaRPr sz="1100"/>
                    </a:p>
                  </a:txBody>
                  <a:tcPr marL="47625" marR="38100" marT="19050" marB="19050" anchor="ctr">
                    <a:solidFill>
                      <a:srgbClr val="FFFFFF"/>
                    </a:solidFill>
                  </a:tcPr>
                </a:tc>
              </a:tr>
              <a:tr h="388837">
                <a:tc>
                  <a:txBody>
                    <a:bodyPr wrap="none"/>
                    <a:lstStyle/>
                    <a:p>
                      <a:pPr algn="l"/>
                      <a:r>
                        <a:rPr sz="1100" b="1">
                          <a:solidFill>
                            <a:srgbClr val="252423"/>
                          </a:solidFill>
                          <a:latin typeface="Segoe UI"/>
                        </a:rPr>
                        <a:t>Germany</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313.8</a:t>
                      </a:r>
                      <a:endParaRPr sz="1100"/>
                    </a:p>
                  </a:txBody>
                  <a:tcPr marL="47625" marR="38100" marT="19050" marB="19050" anchor="ctr">
                    <a:solidFill>
                      <a:srgbClr val="F2FAFD"/>
                    </a:solidFill>
                  </a:tcPr>
                </a:tc>
              </a:tr>
              <a:tr h="388837">
                <a:tc>
                  <a:txBody>
                    <a:bodyPr wrap="none"/>
                    <a:lstStyle/>
                    <a:p>
                      <a:pPr algn="l"/>
                      <a:r>
                        <a:rPr sz="1100" b="1">
                          <a:solidFill>
                            <a:srgbClr val="252423"/>
                          </a:solidFill>
                          <a:latin typeface="Segoe UI"/>
                        </a:rPr>
                        <a:t>Japan</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285.9</a:t>
                      </a:r>
                      <a:endParaRPr sz="1100"/>
                    </a:p>
                  </a:txBody>
                  <a:tcPr marL="47625" marR="38100" marT="19050" marB="19050" anchor="ctr">
                    <a:solidFill>
                      <a:srgbClr val="FFFFFF"/>
                    </a:solidFill>
                  </a:tcPr>
                </a:tc>
              </a:tr>
            </a:tbl>
          </a:graphicData>
        </a:graphic>
      </p:graphicFrame>
      <p:sp>
        <p:nvSpPr>
          <p:cNvPr id="31" name="TextBox 30"/>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32" name="Rectangle 31"/>
          <p:cNvSpPr/>
          <p:nvPr/>
        </p:nvSpPr>
        <p:spPr>
          <a:xfrm>
            <a:off x="142875" y="6027028"/>
            <a:ext cx="10858500" cy="60237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U.S. performance knitted fabrics market is projected to register 1.1X higher value than China in 2036. India posts the highest CAGR Index (132), growing at 9.8% against the global benchmark, while China offers the largest absolute opportunity 1,123 US$ Mn of incremental market between 2026 and 2036 (20% of the global increment).</a:t>
            </a:r>
          </a:p>
        </p:txBody>
      </p:sp>
      <p:sp>
        <p:nvSpPr>
          <p:cNvPr id="33" name="TextBox 3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Performance Knitted Fabrics Market Summary Country Indices (Value)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outlook ranking 2036 market size, growth and absolute-growth indices to highlight the strongest markets</a:t>
            </a:r>
          </a:p>
        </p:txBody>
      </p:sp>
      <p:sp>
        <p:nvSpPr>
          <p:cNvPr id="8" name="Rectangle 7"/>
          <p:cNvSpPr/>
          <p:nvPr/>
        </p:nvSpPr>
        <p:spPr>
          <a:xfrm>
            <a:off x="142875" y="981075"/>
            <a:ext cx="11906250" cy="16002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152400" y="1057275"/>
          <a:ext cx="11887201" cy="1295400"/>
        </p:xfrm>
        <a:graphic>
          <a:graphicData uri="http://schemas.openxmlformats.org/drawingml/2006/table">
            <a:tbl>
              <a:tblPr>
                <a:tableStyleId>{5C22544A-7EE6-4342-B048-85BDC9FD1C3A}</a:tableStyleId>
              </a:tblPr>
              <a:tblGrid>
                <a:gridCol w="1820860"/>
                <a:gridCol w="3355447"/>
                <a:gridCol w="3355447"/>
                <a:gridCol w="3355447"/>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CAGR Index</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 Opp (US$ Mn)</a:t>
                      </a:r>
                      <a:endParaRPr sz="1100"/>
                    </a:p>
                  </a:txBody>
                  <a:tcPr marL="47625" marR="38100" marT="19050" marB="19050" anchor="ctr">
                    <a:solidFill>
                      <a:srgbClr val="007BA5"/>
                    </a:solidFill>
                  </a:tcPr>
                </a:tc>
              </a:tr>
              <a:tr h="216027">
                <a:tc>
                  <a:txBody>
                    <a:bodyPr wrap="none"/>
                    <a:lstStyle/>
                    <a:p>
                      <a:pPr algn="l"/>
                      <a:r>
                        <a:rPr sz="1100" b="1">
                          <a:solidFill>
                            <a:srgbClr val="252423"/>
                          </a:solidFill>
                          <a:latin typeface="Segoe UI"/>
                        </a:rPr>
                        <a:t>ANZ</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82.8</a:t>
                      </a:r>
                      <a:endParaRPr sz="1100"/>
                    </a:p>
                  </a:txBody>
                  <a:tcPr marL="47625" marR="38100" marT="19050" marB="19050" anchor="ctr">
                    <a:solidFill>
                      <a:srgbClr val="FFFFFF"/>
                    </a:solidFill>
                  </a:tcPr>
                </a:tc>
              </a:tr>
              <a:tr h="216027">
                <a:tc>
                  <a:txBody>
                    <a:bodyPr wrap="none"/>
                    <a:lstStyle/>
                    <a:p>
                      <a:pPr algn="l"/>
                      <a:r>
                        <a:rPr sz="1100" b="1">
                          <a:solidFill>
                            <a:srgbClr val="252423"/>
                          </a:solidFill>
                          <a:latin typeface="Segoe UI"/>
                        </a:rPr>
                        <a:t>U.S.</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102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1,100</a:t>
                      </a:r>
                      <a:endParaRPr sz="1100"/>
                    </a:p>
                  </a:txBody>
                  <a:tcPr marL="47625" marR="38100" marT="19050" marB="19050" anchor="ctr">
                    <a:solidFill>
                      <a:srgbClr val="F2FAFD"/>
                    </a:solidFill>
                  </a:tcPr>
                </a:tc>
              </a:tr>
              <a:tr h="216027">
                <a:tc>
                  <a:txBody>
                    <a:bodyPr wrap="none"/>
                    <a:lstStyle/>
                    <a:p>
                      <a:pPr algn="l"/>
                      <a:r>
                        <a:rPr sz="1100" b="1">
                          <a:solidFill>
                            <a:srgbClr val="252423"/>
                          </a:solidFill>
                          <a:latin typeface="Segoe UI"/>
                        </a:rPr>
                        <a:t>KSA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60.9</a:t>
                      </a:r>
                      <a:endParaRPr sz="1100"/>
                    </a:p>
                  </a:txBody>
                  <a:tcPr marL="47625" marR="38100" marT="19050" marB="19050" anchor="ctr">
                    <a:solidFill>
                      <a:srgbClr val="FFFFFF"/>
                    </a:solidFill>
                  </a:tcPr>
                </a:tc>
              </a:tr>
              <a:tr h="216027">
                <a:tc>
                  <a:txBody>
                    <a:bodyPr wrap="none"/>
                    <a:lstStyle/>
                    <a:p>
                      <a:pPr algn="l"/>
                      <a:r>
                        <a:rPr sz="1100" b="1">
                          <a:solidFill>
                            <a:srgbClr val="252423"/>
                          </a:solidFill>
                          <a:latin typeface="Segoe UI"/>
                        </a:rPr>
                        <a:t>Spain</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126.1</a:t>
                      </a:r>
                      <a:endParaRPr sz="1100"/>
                    </a:p>
                  </a:txBody>
                  <a:tcPr marL="47625" marR="38100" marT="19050" marB="19050" anchor="ctr">
                    <a:solidFill>
                      <a:srgbClr val="F2FAFD"/>
                    </a:solidFill>
                  </a:tcPr>
                </a:tc>
              </a:tr>
              <a:tr h="216027">
                <a:tc>
                  <a:txBody>
                    <a:bodyPr wrap="none"/>
                    <a:lstStyle/>
                    <a:p>
                      <a:pPr algn="l"/>
                      <a:r>
                        <a:rPr sz="1100" b="1">
                          <a:solidFill>
                            <a:srgbClr val="252423"/>
                          </a:solidFill>
                          <a:latin typeface="Segoe UI"/>
                        </a:rPr>
                        <a:t>Canada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150.8</a:t>
                      </a:r>
                      <a:endParaRPr sz="1100"/>
                    </a:p>
                  </a:txBody>
                  <a:tcPr marL="47625" marR="38100" marT="19050" marB="19050" anchor="ctr">
                    <a:solidFill>
                      <a:srgbClr val="FFFFFF"/>
                    </a:solidFill>
                  </a:tcPr>
                </a:tc>
              </a:tr>
            </a:tbl>
          </a:graphicData>
        </a:graphic>
      </p:graphicFrame>
      <p:sp>
        <p:nvSpPr>
          <p:cNvPr id="10" name="TextBox 9"/>
          <p:cNvSpPr txBox="1"/>
          <p:nvPr/>
        </p:nvSpPr>
        <p:spPr>
          <a:xfrm>
            <a:off x="219075" y="236220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1" name="Rectangle 10"/>
          <p:cNvSpPr/>
          <p:nvPr/>
        </p:nvSpPr>
        <p:spPr>
          <a:xfrm>
            <a:off x="142875" y="2714625"/>
            <a:ext cx="11906250" cy="16002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2790825"/>
          <a:ext cx="11887201" cy="1295400"/>
        </p:xfrm>
        <a:graphic>
          <a:graphicData uri="http://schemas.openxmlformats.org/drawingml/2006/table">
            <a:tbl>
              <a:tblPr>
                <a:tableStyleId>{5C22544A-7EE6-4342-B048-85BDC9FD1C3A}</a:tableStyleId>
              </a:tblPr>
              <a:tblGrid>
                <a:gridCol w="2461684"/>
                <a:gridCol w="3141839"/>
                <a:gridCol w="3141839"/>
                <a:gridCol w="3141839"/>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Absolute Index</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 Opp (US$ Mn)</a:t>
                      </a:r>
                      <a:endParaRPr sz="1100"/>
                    </a:p>
                  </a:txBody>
                  <a:tcPr marL="47625" marR="38100" marT="19050" marB="19050" anchor="ctr">
                    <a:solidFill>
                      <a:srgbClr val="007BA5"/>
                    </a:solidFill>
                  </a:tcPr>
                </a:tc>
              </a:tr>
              <a:tr h="216027">
                <a:tc>
                  <a:txBody>
                    <a:bodyPr wrap="none"/>
                    <a:lstStyle/>
                    <a:p>
                      <a:pPr algn="l"/>
                      <a:r>
                        <a:rPr sz="1100" b="1">
                          <a:solidFill>
                            <a:srgbClr val="252423"/>
                          </a:solidFill>
                          <a:latin typeface="Segoe UI"/>
                        </a:rPr>
                        <a:t>ASEAN</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284.7</a:t>
                      </a:r>
                      <a:endParaRPr sz="1100"/>
                    </a:p>
                  </a:txBody>
                  <a:tcPr marL="47625" marR="38100" marT="19050" marB="19050" anchor="ctr">
                    <a:solidFill>
                      <a:srgbClr val="FFFFFF"/>
                    </a:solidFill>
                  </a:tcPr>
                </a:tc>
              </a:tr>
              <a:tr h="216027">
                <a:tc>
                  <a:txBody>
                    <a:bodyPr wrap="none"/>
                    <a:lstStyle/>
                    <a:p>
                      <a:pPr algn="l"/>
                      <a:r>
                        <a:rPr sz="1100" b="1">
                          <a:solidFill>
                            <a:srgbClr val="252423"/>
                          </a:solidFill>
                          <a:latin typeface="Segoe UI"/>
                        </a:rPr>
                        <a:t>France</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232.2</a:t>
                      </a:r>
                      <a:endParaRPr sz="1100"/>
                    </a:p>
                  </a:txBody>
                  <a:tcPr marL="47625" marR="38100" marT="19050" marB="19050" anchor="ctr">
                    <a:solidFill>
                      <a:srgbClr val="F2FAFD"/>
                    </a:solidFill>
                  </a:tcPr>
                </a:tc>
              </a:tr>
              <a:tr h="216027">
                <a:tc>
                  <a:txBody>
                    <a:bodyPr wrap="none"/>
                    <a:lstStyle/>
                    <a:p>
                      <a:pPr algn="l"/>
                      <a:r>
                        <a:rPr sz="1100" b="1">
                          <a:solidFill>
                            <a:srgbClr val="252423"/>
                          </a:solidFill>
                          <a:latin typeface="Segoe UI"/>
                        </a:rPr>
                        <a:t>South Korea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225.1</a:t>
                      </a:r>
                      <a:endParaRPr sz="1100"/>
                    </a:p>
                  </a:txBody>
                  <a:tcPr marL="47625" marR="38100" marT="19050" marB="19050" anchor="ctr">
                    <a:solidFill>
                      <a:srgbClr val="FFFFFF"/>
                    </a:solidFill>
                  </a:tcPr>
                </a:tc>
              </a:tr>
              <a:tr h="216027">
                <a:tc>
                  <a:txBody>
                    <a:bodyPr wrap="none"/>
                    <a:lstStyle/>
                    <a:p>
                      <a:pPr algn="l"/>
                      <a:r>
                        <a:rPr sz="1100" b="1">
                          <a:solidFill>
                            <a:srgbClr val="252423"/>
                          </a:solidFill>
                          <a:latin typeface="Segoe UI"/>
                        </a:rPr>
                        <a:t>Italy</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207.7</a:t>
                      </a:r>
                      <a:endParaRPr sz="1100"/>
                    </a:p>
                  </a:txBody>
                  <a:tcPr marL="47625" marR="38100" marT="19050" marB="19050" anchor="ctr">
                    <a:solidFill>
                      <a:srgbClr val="F2FAFD"/>
                    </a:solidFill>
                  </a:tcPr>
                </a:tc>
              </a:tr>
              <a:tr h="216027">
                <a:tc>
                  <a:txBody>
                    <a:bodyPr wrap="none"/>
                    <a:lstStyle/>
                    <a:p>
                      <a:pPr algn="l"/>
                      <a:r>
                        <a:rPr sz="1100" b="1">
                          <a:solidFill>
                            <a:srgbClr val="252423"/>
                          </a:solidFill>
                          <a:latin typeface="Segoe UI"/>
                        </a:rPr>
                        <a:t>U.K.</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181.4</a:t>
                      </a:r>
                      <a:endParaRPr sz="1100"/>
                    </a:p>
                  </a:txBody>
                  <a:tcPr marL="47625" marR="38100" marT="19050" marB="19050" anchor="ctr">
                    <a:solidFill>
                      <a:srgbClr val="FFFFFF"/>
                    </a:solidFill>
                  </a:tcPr>
                </a:tc>
              </a:tr>
            </a:tbl>
          </a:graphicData>
        </a:graphic>
      </p:graphicFrame>
      <p:sp>
        <p:nvSpPr>
          <p:cNvPr id="13" name="TextBox 12"/>
          <p:cNvSpPr txBox="1"/>
          <p:nvPr/>
        </p:nvSpPr>
        <p:spPr>
          <a:xfrm>
            <a:off x="219075" y="409575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4" name="TextBox 1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Market Overview (1/4)</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market size, competitive landscape and the drivers, restraints and trends shaping demand</a:t>
            </a:r>
          </a:p>
        </p:txBody>
      </p:sp>
      <p:sp>
        <p:nvSpPr>
          <p:cNvPr id="8" name="Rectangle 7"/>
          <p:cNvSpPr/>
          <p:nvPr/>
        </p:nvSpPr>
        <p:spPr>
          <a:xfrm>
            <a:off x="142875" y="981075"/>
            <a:ext cx="11906250" cy="18764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07BA5"/>
                </a:solidFill>
                <a:latin typeface="Segoe UI"/>
              </a:rPr>
              <a:t>Market Overview</a:t>
            </a:r>
          </a:p>
        </p:txBody>
      </p:sp>
      <p:sp>
        <p:nvSpPr>
          <p:cNvPr id="10" name="Rectangle 9"/>
          <p:cNvSpPr/>
          <p:nvPr/>
        </p:nvSpPr>
        <p:spPr>
          <a:xfrm>
            <a:off x="276225" y="130492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11639550" cy="13906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Global performance knitted fabrics market is expected to witness 2.2X increase in revenue by 2036 end. Global performance knitted fabrics market accounted for US$ 5,132 Mn in 2025, which is expected to increase to US$ 11,240 Mn in 2036 at a CAGR of 7.4%.</a:t>
            </a:r>
          </a:p>
          <a:p>
            <a:pPr algn="l">
              <a:lnSpc>
                <a:spcPct val="110000"/>
              </a:lnSpc>
              <a:spcBef>
                <a:spcPts val="0"/>
              </a:spcBef>
              <a:spcAft>
                <a:spcPts val="500"/>
              </a:spcAft>
            </a:pPr>
            <a:r>
              <a:rPr sz="1150" b="0">
                <a:solidFill>
                  <a:srgbClr val="252423"/>
                </a:solidFill>
                <a:latin typeface="Segoe UI"/>
              </a:rPr>
              <a:t>The global performance knitted fabrics market has been analysed on the basis of fabric construction, material, primary performance function and end-use application across the globe. East Asia is expected to remain the largest market for performance knitted fabrics, while demand in South Asia Pacific is projected to increase at the highest CAGR of 9.2% throughout the forecast period.</a:t>
            </a:r>
          </a:p>
        </p:txBody>
      </p:sp>
      <p:sp>
        <p:nvSpPr>
          <p:cNvPr id="12" name="Rectangle 11"/>
          <p:cNvSpPr/>
          <p:nvPr/>
        </p:nvSpPr>
        <p:spPr>
          <a:xfrm>
            <a:off x="142875" y="2990850"/>
            <a:ext cx="11906250" cy="1571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3076575"/>
            <a:ext cx="11639550" cy="209550"/>
          </a:xfrm>
          <a:prstGeom prst="rect">
            <a:avLst/>
          </a:prstGeom>
          <a:noFill/>
        </p:spPr>
        <p:txBody>
          <a:bodyPr wrap="square" lIns="0" rIns="19050" tIns="9525" bIns="9525">
            <a:spAutoFit/>
          </a:bodyPr>
          <a:lstStyle/>
          <a:p>
            <a:pPr algn="l"/>
            <a:r>
              <a:rPr sz="1300" b="1">
                <a:solidFill>
                  <a:srgbClr val="007BA5"/>
                </a:solidFill>
                <a:latin typeface="Segoe UI"/>
              </a:rPr>
              <a:t>Competitive Landscape</a:t>
            </a:r>
          </a:p>
        </p:txBody>
      </p:sp>
      <p:sp>
        <p:nvSpPr>
          <p:cNvPr id="14" name="Rectangle 13"/>
          <p:cNvSpPr/>
          <p:nvPr/>
        </p:nvSpPr>
        <p:spPr>
          <a:xfrm>
            <a:off x="276225" y="33147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400425"/>
            <a:ext cx="11639550" cy="10858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The market is consolidated: the leading fabric construction category 'Weft Knitted Fabrics' holds 59.8% of 2036 value.</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Demand spans 7 regions and 6 segmentation lenses (2 fabric construction categories).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East Asia is the largest regional market at 26.4% of 2036 value.</a:t>
            </a:r>
          </a:p>
        </p:txBody>
      </p:sp>
      <p:sp>
        <p:nvSpPr>
          <p:cNvPr id="16" name="Rectangle 15"/>
          <p:cNvSpPr/>
          <p:nvPr/>
        </p:nvSpPr>
        <p:spPr>
          <a:xfrm>
            <a:off x="142875" y="4695825"/>
            <a:ext cx="3943350" cy="19335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781550"/>
            <a:ext cx="3676650" cy="209550"/>
          </a:xfrm>
          <a:prstGeom prst="rect">
            <a:avLst/>
          </a:prstGeom>
          <a:noFill/>
        </p:spPr>
        <p:txBody>
          <a:bodyPr wrap="square" lIns="0" rIns="19050" tIns="9525" bIns="9525">
            <a:spAutoFit/>
          </a:bodyPr>
          <a:lstStyle/>
          <a:p>
            <a:pPr algn="l"/>
            <a:r>
              <a:rPr sz="1300" b="1">
                <a:solidFill>
                  <a:srgbClr val="007BA5"/>
                </a:solidFill>
                <a:latin typeface="Segoe UI"/>
              </a:rPr>
              <a:t>Drivers</a:t>
            </a:r>
          </a:p>
        </p:txBody>
      </p:sp>
      <p:sp>
        <p:nvSpPr>
          <p:cNvPr id="18" name="Rectangle 17"/>
          <p:cNvSpPr/>
          <p:nvPr/>
        </p:nvSpPr>
        <p:spPr>
          <a:xfrm>
            <a:off x="276225" y="5019675"/>
            <a:ext cx="36766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5105400"/>
            <a:ext cx="3676650" cy="14478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Accelerating uptake of 'Warp Knitted Fabrics' (8.1% CAGR).</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Fast-growing demand in South Asia Pacific (9.2%).</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Momentum in Industrial &amp; Technical Applications within end-use application (7.9%).</a:t>
            </a:r>
          </a:p>
        </p:txBody>
      </p:sp>
      <p:sp>
        <p:nvSpPr>
          <p:cNvPr id="20" name="Rectangle 19"/>
          <p:cNvSpPr/>
          <p:nvPr/>
        </p:nvSpPr>
        <p:spPr>
          <a:xfrm>
            <a:off x="4238625" y="4695825"/>
            <a:ext cx="3819525" cy="19335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71975" y="4781550"/>
            <a:ext cx="3552825" cy="209550"/>
          </a:xfrm>
          <a:prstGeom prst="rect">
            <a:avLst/>
          </a:prstGeom>
          <a:noFill/>
        </p:spPr>
        <p:txBody>
          <a:bodyPr wrap="square" lIns="0" rIns="19050" tIns="9525" bIns="9525">
            <a:spAutoFit/>
          </a:bodyPr>
          <a:lstStyle/>
          <a:p>
            <a:pPr algn="l"/>
            <a:r>
              <a:rPr sz="1300" b="1">
                <a:solidFill>
                  <a:srgbClr val="007BA5"/>
                </a:solidFill>
                <a:latin typeface="Segoe UI"/>
              </a:rPr>
              <a:t>Restraints</a:t>
            </a:r>
          </a:p>
        </p:txBody>
      </p:sp>
      <p:sp>
        <p:nvSpPr>
          <p:cNvPr id="22" name="Rectangle 21"/>
          <p:cNvSpPr/>
          <p:nvPr/>
        </p:nvSpPr>
        <p:spPr>
          <a:xfrm>
            <a:off x="4371975" y="5019675"/>
            <a:ext cx="35528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5105400"/>
            <a:ext cx="3552825" cy="14478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Slower momentum in 'Weft Knitted Fabrics' (7.0%).</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Maturing demand in established categories caps the blended 7.4% CAGR.</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Value concentration in 'Weft Knitted Fabrics' raises barriers for new entrants.</a:t>
            </a:r>
          </a:p>
        </p:txBody>
      </p:sp>
      <p:sp>
        <p:nvSpPr>
          <p:cNvPr id="24" name="Rectangle 23"/>
          <p:cNvSpPr/>
          <p:nvPr/>
        </p:nvSpPr>
        <p:spPr>
          <a:xfrm>
            <a:off x="8210550" y="4695825"/>
            <a:ext cx="3819525" cy="19335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43900" y="4781550"/>
            <a:ext cx="3552825" cy="209550"/>
          </a:xfrm>
          <a:prstGeom prst="rect">
            <a:avLst/>
          </a:prstGeom>
          <a:noFill/>
        </p:spPr>
        <p:txBody>
          <a:bodyPr wrap="square" lIns="0" rIns="19050" tIns="9525" bIns="9525">
            <a:spAutoFit/>
          </a:bodyPr>
          <a:lstStyle/>
          <a:p>
            <a:pPr algn="l"/>
            <a:r>
              <a:rPr sz="1300" b="1">
                <a:solidFill>
                  <a:srgbClr val="007BA5"/>
                </a:solidFill>
                <a:latin typeface="Segoe UI"/>
              </a:rPr>
              <a:t>Trends</a:t>
            </a:r>
          </a:p>
        </p:txBody>
      </p:sp>
      <p:sp>
        <p:nvSpPr>
          <p:cNvPr id="26" name="Rectangle 25"/>
          <p:cNvSpPr/>
          <p:nvPr/>
        </p:nvSpPr>
        <p:spPr>
          <a:xfrm>
            <a:off x="8343900" y="5019675"/>
            <a:ext cx="35528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5105400"/>
            <a:ext cx="3552825" cy="14478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Mix shifting toward 'Warp Knitted Fabrics' and higher-growth tiers.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South Asia Pacific outpacing the global average.</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Demand broadening across 2 fabric construction categories.</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Supply Side Trends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recent developments, investments and R&amp;D activity shaping the supply side of the market</a:t>
            </a:r>
          </a:p>
        </p:txBody>
      </p:sp>
      <p:sp>
        <p:nvSpPr>
          <p:cNvPr id="8" name="Rectangle 7"/>
          <p:cNvSpPr/>
          <p:nvPr/>
        </p:nvSpPr>
        <p:spPr>
          <a:xfrm>
            <a:off x="142875" y="981075"/>
            <a:ext cx="58769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Recent Developments &amp; Key Industry Activities</a:t>
            </a:r>
          </a:p>
        </p:txBody>
      </p:sp>
      <p:sp>
        <p:nvSpPr>
          <p:cNvPr id="10" name="Rectangle 9"/>
          <p:cNvSpPr/>
          <p:nvPr/>
        </p:nvSpPr>
        <p:spPr>
          <a:xfrm>
            <a:off x="276225"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Capacity and product development are concentrating in 'Warp Knitted Fabrics' and South Asia Pacific.</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Portfolio expansion tracks the shift toward higher-growth fabric construction categories.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Commercial focus is intensifying across East Asia and South Asia Pacific.</a:t>
            </a:r>
          </a:p>
        </p:txBody>
      </p:sp>
      <p:sp>
        <p:nvSpPr>
          <p:cNvPr id="12" name="Rectangle 11"/>
          <p:cNvSpPr/>
          <p:nvPr/>
        </p:nvSpPr>
        <p:spPr>
          <a:xfrm>
            <a:off x="6172200" y="981075"/>
            <a:ext cx="58769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14" name="Rectangle 13"/>
          <p:cNvSpPr/>
          <p:nvPr/>
        </p:nvSpPr>
        <p:spPr>
          <a:xfrm>
            <a:off x="6305550"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2026 size 5,484 US$ Mn; 2036 11,240 US$ Mn.</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Forecast CAGR 7.4% (2026–2036).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Lead category 'Weft Knitted Fabrics' 59.8% of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Lead region East Asia 26.4%.</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Incremental opportunity 5,756 US$ Mn.</a:t>
            </a:r>
          </a:p>
        </p:txBody>
      </p:sp>
      <p:sp>
        <p:nvSpPr>
          <p:cNvPr id="16" name="Rectangle 15"/>
          <p:cNvSpPr/>
          <p:nvPr/>
        </p:nvSpPr>
        <p:spPr>
          <a:xfrm>
            <a:off x="142875" y="2895600"/>
            <a:ext cx="5876925" cy="1285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5610225" cy="209550"/>
          </a:xfrm>
          <a:prstGeom prst="rect">
            <a:avLst/>
          </a:prstGeom>
          <a:noFill/>
        </p:spPr>
        <p:txBody>
          <a:bodyPr wrap="square" lIns="0" rIns="19050" tIns="9525" bIns="9525">
            <a:spAutoFit/>
          </a:bodyPr>
          <a:lstStyle/>
          <a:p>
            <a:pPr algn="l"/>
            <a:r>
              <a:rPr sz="1300" b="1">
                <a:solidFill>
                  <a:srgbClr val="007BA5"/>
                </a:solidFill>
                <a:latin typeface="Segoe UI"/>
              </a:rPr>
              <a:t>Strategic Acquisitions &amp; New Investments</a:t>
            </a:r>
          </a:p>
        </p:txBody>
      </p:sp>
      <p:sp>
        <p:nvSpPr>
          <p:cNvPr id="18" name="Rectangle 17"/>
          <p:cNvSpPr/>
          <p:nvPr/>
        </p:nvSpPr>
        <p:spPr>
          <a:xfrm>
            <a:off x="276225" y="32194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Investment is flowing toward the fastest-growing tier 'Warp Knitted Fabrics' (8.1%).</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South Asia Pacific (9.2%) is a priority region for new capacity.</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Scale players anchor around 'Weft Knitted Fabrics' (59.8% share).</a:t>
            </a:r>
          </a:p>
        </p:txBody>
      </p:sp>
      <p:sp>
        <p:nvSpPr>
          <p:cNvPr id="20" name="Rectangle 19"/>
          <p:cNvSpPr/>
          <p:nvPr/>
        </p:nvSpPr>
        <p:spPr>
          <a:xfrm>
            <a:off x="6172200" y="2895600"/>
            <a:ext cx="5876925" cy="1285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2981325"/>
            <a:ext cx="5610225" cy="209550"/>
          </a:xfrm>
          <a:prstGeom prst="rect">
            <a:avLst/>
          </a:prstGeom>
          <a:noFill/>
        </p:spPr>
        <p:txBody>
          <a:bodyPr wrap="square" lIns="0" rIns="19050" tIns="9525" bIns="9525">
            <a:spAutoFit/>
          </a:bodyPr>
          <a:lstStyle/>
          <a:p>
            <a:pPr algn="l"/>
            <a:r>
              <a:rPr sz="1300" b="1">
                <a:solidFill>
                  <a:srgbClr val="007BA5"/>
                </a:solidFill>
                <a:latin typeface="Segoe UI"/>
              </a:rPr>
              <a:t>Substantial Investment in R&amp;D</a:t>
            </a:r>
          </a:p>
        </p:txBody>
      </p:sp>
      <p:sp>
        <p:nvSpPr>
          <p:cNvPr id="22" name="Rectangle 21"/>
          <p:cNvSpPr/>
          <p:nvPr/>
        </p:nvSpPr>
        <p:spPr>
          <a:xfrm>
            <a:off x="6305550" y="32194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R&amp;D aligns with the migration to 'Warp Knitted Fabrics' and adjacent premium tiers.</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Development spend targets fabric construction categories gaining share to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Innovation underpins the 7.4% forecast CAGR.</a:t>
            </a:r>
          </a:p>
        </p:txBody>
      </p:sp>
      <p:sp>
        <p:nvSpPr>
          <p:cNvPr id="24" name="Rectangle 23"/>
          <p:cNvSpPr/>
          <p:nvPr/>
        </p:nvSpPr>
        <p:spPr>
          <a:xfrm>
            <a:off x="142875" y="4314825"/>
            <a:ext cx="11906250" cy="22955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8125" y="437197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structure fabric construction share (2036)</a:t>
            </a:r>
          </a:p>
        </p:txBody>
      </p:sp>
      <p:graphicFrame>
        <p:nvGraphicFramePr>
          <p:cNvPr id="26" name="Chart 25"/>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r:id="rId3"/>
          </a:graphicData>
        </a:graphic>
      </p:graphicFrame>
      <p:sp>
        <p:nvSpPr>
          <p:cNvPr id="27" name="TextBox 26"/>
          <p:cNvSpPr txBox="1"/>
          <p:nvPr/>
        </p:nvSpPr>
        <p:spPr>
          <a:xfrm>
            <a:off x="3871570" y="5462588"/>
            <a:ext cx="934136" cy="228600"/>
          </a:xfrm>
          <a:prstGeom prst="rect">
            <a:avLst/>
          </a:prstGeom>
          <a:noFill/>
        </p:spPr>
        <p:txBody>
          <a:bodyPr wrap="square" lIns="28575" rIns="28575" tIns="9525" bIns="9525" anchor="ctr">
            <a:spAutoFit/>
          </a:bodyPr>
          <a:lstStyle/>
          <a:p>
            <a:pPr algn="ctr"/>
            <a:r>
              <a:rPr sz="1300" b="1">
                <a:solidFill>
                  <a:srgbClr val="252423"/>
                </a:solidFill>
                <a:latin typeface="Segoe UI"/>
              </a:rPr>
              <a:t>2036</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Analysis and Recommendation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the market approach, differentiating strategy and FMI's analysis and recommendation</a:t>
            </a:r>
          </a:p>
        </p:txBody>
      </p:sp>
      <p:sp>
        <p:nvSpPr>
          <p:cNvPr id="8" name="Rectangle 7"/>
          <p:cNvSpPr/>
          <p:nvPr/>
        </p:nvSpPr>
        <p:spPr>
          <a:xfrm>
            <a:off x="142875" y="981075"/>
            <a:ext cx="58769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Overall Market Approach</a:t>
            </a:r>
          </a:p>
        </p:txBody>
      </p:sp>
      <p:sp>
        <p:nvSpPr>
          <p:cNvPr id="10" name="Rectangle 9"/>
          <p:cNvSpPr/>
          <p:nvPr/>
        </p:nvSpPr>
        <p:spPr>
          <a:xfrm>
            <a:off x="276225"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Balance scale in 'Weft Knitted Fabrics' with targeted growth in 'Warp Knitted Fabrics', pursuing the 7.4% CAGR trajectory to 2036.</a:t>
            </a:r>
          </a:p>
        </p:txBody>
      </p:sp>
      <p:sp>
        <p:nvSpPr>
          <p:cNvPr id="12" name="Rectangle 11"/>
          <p:cNvSpPr/>
          <p:nvPr/>
        </p:nvSpPr>
        <p:spPr>
          <a:xfrm>
            <a:off x="6172200" y="981075"/>
            <a:ext cx="58769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Differentiating Strategy</a:t>
            </a:r>
          </a:p>
        </p:txBody>
      </p:sp>
      <p:sp>
        <p:nvSpPr>
          <p:cNvPr id="14" name="Rectangle 13"/>
          <p:cNvSpPr/>
          <p:nvPr/>
        </p:nvSpPr>
        <p:spPr>
          <a:xfrm>
            <a:off x="6305550"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Differentiate through the high-growth 'Warp Knitted Fabrics' tier and Industrial &amp; Technical Applications within end-use application.</a:t>
            </a:r>
          </a:p>
        </p:txBody>
      </p:sp>
      <p:sp>
        <p:nvSpPr>
          <p:cNvPr id="16" name="Rectangle 15"/>
          <p:cNvSpPr/>
          <p:nvPr/>
        </p:nvSpPr>
        <p:spPr>
          <a:xfrm>
            <a:off x="142875" y="2857500"/>
            <a:ext cx="5876925" cy="1562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43225"/>
            <a:ext cx="5610225" cy="209550"/>
          </a:xfrm>
          <a:prstGeom prst="rect">
            <a:avLst/>
          </a:prstGeom>
          <a:noFill/>
        </p:spPr>
        <p:txBody>
          <a:bodyPr wrap="square" lIns="0" rIns="19050" tIns="9525" bIns="9525">
            <a:spAutoFit/>
          </a:bodyPr>
          <a:lstStyle/>
          <a:p>
            <a:pPr algn="l"/>
            <a:r>
              <a:rPr sz="1300" b="1">
                <a:solidFill>
                  <a:srgbClr val="007BA5"/>
                </a:solidFill>
                <a:latin typeface="Segoe UI"/>
              </a:rPr>
              <a:t>Market Segment</a:t>
            </a:r>
          </a:p>
        </p:txBody>
      </p:sp>
      <p:sp>
        <p:nvSpPr>
          <p:cNvPr id="18" name="Rectangle 17"/>
          <p:cNvSpPr/>
          <p:nvPr/>
        </p:nvSpPr>
        <p:spPr>
          <a:xfrm>
            <a:off x="276225" y="31813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Prioritise 'Warp Knitted Fabrics' (8.1%); 'Weft Knitted Fabrics' anchors 59.8% of value.</a:t>
            </a:r>
          </a:p>
        </p:txBody>
      </p:sp>
      <p:sp>
        <p:nvSpPr>
          <p:cNvPr id="20" name="Rectangle 19"/>
          <p:cNvSpPr/>
          <p:nvPr/>
        </p:nvSpPr>
        <p:spPr>
          <a:xfrm>
            <a:off x="6172200" y="2857500"/>
            <a:ext cx="5876925" cy="1562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2943225"/>
            <a:ext cx="5610225" cy="209550"/>
          </a:xfrm>
          <a:prstGeom prst="rect">
            <a:avLst/>
          </a:prstGeom>
          <a:noFill/>
        </p:spPr>
        <p:txBody>
          <a:bodyPr wrap="square" lIns="0" rIns="19050" tIns="9525" bIns="9525">
            <a:spAutoFit/>
          </a:bodyPr>
          <a:lstStyle/>
          <a:p>
            <a:pPr algn="l"/>
            <a:r>
              <a:rPr sz="1300" b="1">
                <a:solidFill>
                  <a:srgbClr val="007BA5"/>
                </a:solidFill>
                <a:latin typeface="Segoe UI"/>
              </a:rPr>
              <a:t>Market Region</a:t>
            </a:r>
          </a:p>
        </p:txBody>
      </p:sp>
      <p:sp>
        <p:nvSpPr>
          <p:cNvPr id="22" name="Rectangle 21"/>
          <p:cNvSpPr/>
          <p:nvPr/>
        </p:nvSpPr>
        <p:spPr>
          <a:xfrm>
            <a:off x="6305550" y="31813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Lead with East Asia (26.4%); capture upside in South Asia Pacific (9.2%).</a:t>
            </a:r>
          </a:p>
        </p:txBody>
      </p:sp>
      <p:sp>
        <p:nvSpPr>
          <p:cNvPr id="24" name="Rectangle 23"/>
          <p:cNvSpPr/>
          <p:nvPr/>
        </p:nvSpPr>
        <p:spPr>
          <a:xfrm>
            <a:off x="142875" y="4552950"/>
            <a:ext cx="11906250" cy="2057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07BA5"/>
                </a:solidFill>
                <a:latin typeface="Segoe UI"/>
              </a:rPr>
              <a:t>Fact.MR Analysis &amp; Recommendation</a:t>
            </a:r>
          </a:p>
        </p:txBody>
      </p:sp>
      <p:sp>
        <p:nvSpPr>
          <p:cNvPr id="26" name="Rectangle 25"/>
          <p:cNvSpPr/>
          <p:nvPr/>
        </p:nvSpPr>
        <p:spPr>
          <a:xfrm>
            <a:off x="276225" y="48768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Performance Knitted Fabrics adds 5,756 US$ Mn of demand to 2036 a 2.0× expansion.</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Concentrate resources on the leading segment/region while seeding the fastest-growing pockets early.</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Defend share in 'Weft Knitted Fabrics' as the value anchor of the portfolio.</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Scenario Outlook (4/4)</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Scenario outlook comparing optimistic, likely and conservative outcomes for 2036 and the CAGR behind each</a:t>
            </a:r>
          </a:p>
        </p:txBody>
      </p:sp>
      <p:sp>
        <p:nvSpPr>
          <p:cNvPr id="8" name="Rounded Rectangle 7"/>
          <p:cNvSpPr/>
          <p:nvPr/>
        </p:nvSpPr>
        <p:spPr>
          <a:xfrm>
            <a:off x="142875" y="981075"/>
            <a:ext cx="3943350" cy="6953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OPTIMISTIC (2036)</a:t>
            </a:r>
          </a:p>
          <a:p>
            <a:pPr algn="ctr">
              <a:lnSpc>
                <a:spcPct val="95000"/>
              </a:lnSpc>
            </a:pPr>
            <a:r>
              <a:rPr sz="1500" b="1">
                <a:solidFill>
                  <a:srgbClr val="00A4DC"/>
                </a:solidFill>
                <a:latin typeface="Segoe UI"/>
              </a:rPr>
              <a:t>13,558 US$ Mn</a:t>
            </a:r>
          </a:p>
          <a:p>
            <a:pPr algn="ctr">
              <a:lnSpc>
                <a:spcPct val="95000"/>
              </a:lnSpc>
            </a:pPr>
            <a:r>
              <a:rPr sz="1100" b="0">
                <a:solidFill>
                  <a:srgbClr val="605E5C"/>
                </a:solidFill>
                <a:latin typeface="Segoe UI"/>
              </a:rPr>
              <a:t>CAGR 9.2%</a:t>
            </a:r>
          </a:p>
        </p:txBody>
      </p:sp>
      <p:sp>
        <p:nvSpPr>
          <p:cNvPr id="9" name="Rounded Rectangle 8"/>
          <p:cNvSpPr/>
          <p:nvPr/>
        </p:nvSpPr>
        <p:spPr>
          <a:xfrm>
            <a:off x="4238625" y="981075"/>
            <a:ext cx="3819525" cy="6953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LIKELY (2036)</a:t>
            </a:r>
          </a:p>
          <a:p>
            <a:pPr algn="ctr">
              <a:lnSpc>
                <a:spcPct val="95000"/>
              </a:lnSpc>
            </a:pPr>
            <a:r>
              <a:rPr sz="1500" b="1">
                <a:solidFill>
                  <a:srgbClr val="00A4DC"/>
                </a:solidFill>
                <a:latin typeface="Segoe UI"/>
              </a:rPr>
              <a:t>11,240 US$ Mn</a:t>
            </a:r>
          </a:p>
          <a:p>
            <a:pPr algn="ctr">
              <a:lnSpc>
                <a:spcPct val="95000"/>
              </a:lnSpc>
            </a:pPr>
            <a:r>
              <a:rPr sz="1100" b="0">
                <a:solidFill>
                  <a:srgbClr val="605E5C"/>
                </a:solidFill>
                <a:latin typeface="Segoe UI"/>
              </a:rPr>
              <a:t>CAGR 7.4%</a:t>
            </a:r>
          </a:p>
        </p:txBody>
      </p:sp>
      <p:sp>
        <p:nvSpPr>
          <p:cNvPr id="10" name="Rounded Rectangle 9"/>
          <p:cNvSpPr/>
          <p:nvPr/>
        </p:nvSpPr>
        <p:spPr>
          <a:xfrm>
            <a:off x="8210550" y="981075"/>
            <a:ext cx="3819525" cy="69532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CONSERVATIVE (2036)</a:t>
            </a:r>
          </a:p>
          <a:p>
            <a:pPr algn="ctr">
              <a:lnSpc>
                <a:spcPct val="95000"/>
              </a:lnSpc>
            </a:pPr>
            <a:r>
              <a:rPr sz="1500" b="1">
                <a:solidFill>
                  <a:srgbClr val="00A4DC"/>
                </a:solidFill>
                <a:latin typeface="Segoe UI"/>
              </a:rPr>
              <a:t>9,288 US$ Mn</a:t>
            </a:r>
          </a:p>
          <a:p>
            <a:pPr algn="ctr">
              <a:lnSpc>
                <a:spcPct val="95000"/>
              </a:lnSpc>
            </a:pPr>
            <a:r>
              <a:rPr sz="1100" b="0">
                <a:solidFill>
                  <a:srgbClr val="605E5C"/>
                </a:solidFill>
                <a:latin typeface="Segoe UI"/>
              </a:rPr>
              <a:t>CAGR 5.6%</a:t>
            </a:r>
          </a:p>
        </p:txBody>
      </p:sp>
      <p:sp>
        <p:nvSpPr>
          <p:cNvPr id="11" name="Rectangle 10"/>
          <p:cNvSpPr/>
          <p:nvPr/>
        </p:nvSpPr>
        <p:spPr>
          <a:xfrm>
            <a:off x="142875" y="1809750"/>
            <a:ext cx="5876925" cy="3009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8669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Performance Knitted Fabrics Market Value (US$ Mn) Scenario Forecast, 2025 &amp; 2036</a:t>
            </a:r>
          </a:p>
        </p:txBody>
      </p:sp>
      <p:cxnSp>
        <p:nvCxnSpPr>
          <p:cNvPr id="13" name="Connector 12"/>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706342" y="3661694"/>
            <a:ext cx="635826" cy="643606"/>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043936" y="3140638"/>
            <a:ext cx="635826" cy="1164662"/>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5725" y="2895820"/>
            <a:ext cx="635826" cy="14094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07515" y="2605088"/>
            <a:ext cx="635826" cy="1700212"/>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1456468" y="3007288"/>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570768" y="2902513"/>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Segoe UI"/>
              </a:rPr>
              <a:t>CAGR: 5.6%</a:t>
            </a:r>
          </a:p>
        </p:txBody>
      </p:sp>
      <p:cxnSp>
        <p:nvCxnSpPr>
          <p:cNvPr id="20" name="Connector 19"/>
          <p:cNvCxnSpPr/>
          <p:nvPr/>
        </p:nvCxnSpPr>
        <p:spPr>
          <a:xfrm>
            <a:off x="1456468" y="2750113"/>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645338"/>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Segoe UI"/>
              </a:rPr>
              <a:t>CAGR: 7.4%</a:t>
            </a:r>
          </a:p>
        </p:txBody>
      </p:sp>
      <p:cxnSp>
        <p:nvCxnSpPr>
          <p:cNvPr id="22" name="Connector 21"/>
          <p:cNvCxnSpPr/>
          <p:nvPr/>
        </p:nvCxnSpPr>
        <p:spPr>
          <a:xfrm>
            <a:off x="1456468" y="2471738"/>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366962"/>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Segoe UI"/>
              </a:rPr>
              <a:t>CAGR: 9.2%</a:t>
            </a:r>
          </a:p>
        </p:txBody>
      </p:sp>
      <p:sp>
        <p:nvSpPr>
          <p:cNvPr id="24" name="TextBox 23"/>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52423"/>
                </a:solidFill>
                <a:latin typeface="Segoe UI"/>
              </a:rPr>
              <a:t>2025</a:t>
            </a:r>
          </a:p>
        </p:txBody>
      </p:sp>
      <p:sp>
        <p:nvSpPr>
          <p:cNvPr id="25" name="TextBox 24"/>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52423"/>
                </a:solidFill>
                <a:latin typeface="Segoe UI"/>
              </a:rPr>
              <a:t>2036</a:t>
            </a:r>
          </a:p>
        </p:txBody>
      </p:sp>
      <p:sp>
        <p:nvSpPr>
          <p:cNvPr id="26" name="Oval 25"/>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52423"/>
                </a:solidFill>
                <a:latin typeface="Segoe UI"/>
              </a:rPr>
              <a:t>Conservative Scenario</a:t>
            </a:r>
          </a:p>
        </p:txBody>
      </p:sp>
      <p:sp>
        <p:nvSpPr>
          <p:cNvPr id="28" name="Oval 27"/>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52423"/>
                </a:solidFill>
                <a:latin typeface="Segoe UI"/>
              </a:rPr>
              <a:t>Likely Scenario</a:t>
            </a:r>
          </a:p>
        </p:txBody>
      </p:sp>
      <p:sp>
        <p:nvSpPr>
          <p:cNvPr id="30" name="Oval 29"/>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52423"/>
                </a:solidFill>
                <a:latin typeface="Segoe UI"/>
              </a:rPr>
              <a:t>Optimistic Scenario</a:t>
            </a:r>
          </a:p>
        </p:txBody>
      </p:sp>
      <p:sp>
        <p:nvSpPr>
          <p:cNvPr id="32" name="Rectangle 31"/>
          <p:cNvSpPr/>
          <p:nvPr/>
        </p:nvSpPr>
        <p:spPr>
          <a:xfrm>
            <a:off x="6172200" y="1809750"/>
            <a:ext cx="5876925" cy="3009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67450" y="1866900"/>
            <a:ext cx="5686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Performance Knitted Fabrics Market Attractiveness Analysis By Region, 2026–2036</a:t>
            </a:r>
          </a:p>
        </p:txBody>
      </p:sp>
      <p:graphicFrame>
        <p:nvGraphicFramePr>
          <p:cNvPr id="34" name="Chart 33"/>
          <p:cNvGraphicFramePr>
            <a:graphicFrameLocks noGrp="1"/>
          </p:cNvGraphicFramePr>
          <p:nvPr/>
        </p:nvGraphicFramePr>
        <p:xfrm>
          <a:off x="6267450" y="2266950"/>
          <a:ext cx="5686425" cy="2495550"/>
        </p:xfrm>
        <a:graphic>
          <a:graphicData uri="http://schemas.openxmlformats.org/drawingml/2006/chart">
            <c:chart xmlns:c="http://schemas.openxmlformats.org/drawingml/2006/chart" r:id="rId3"/>
          </a:graphicData>
        </a:graphic>
      </p:graphicFrame>
      <p:sp>
        <p:nvSpPr>
          <p:cNvPr id="35" name="Rectangle 34"/>
          <p:cNvSpPr/>
          <p:nvPr/>
        </p:nvSpPr>
        <p:spPr>
          <a:xfrm>
            <a:off x="142875" y="4953000"/>
            <a:ext cx="11906250" cy="1676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07BA5"/>
                </a:solidFill>
                <a:latin typeface="Segoe UI"/>
              </a:rPr>
              <a:t>Scenario Assumptions &amp; Outlook</a:t>
            </a:r>
          </a:p>
        </p:txBody>
      </p:sp>
      <p:sp>
        <p:nvSpPr>
          <p:cNvPr id="37" name="Rectangle 36"/>
          <p:cNvSpPr/>
          <p:nvPr/>
        </p:nvSpPr>
        <p:spPr>
          <a:xfrm>
            <a:off x="276225" y="527685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Optimistic: 13,558 US$ Mn by 2036 at 9.2% CAGR.</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Likely (base forecast): 11,240 US$ Mn at 7.4% CAGR.</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Conservative: 9,288 US$ Mn at 5.6% CAGR.</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Scenarios flex the base forecast's year-on-year growth by ±25% across the 2026–2036 horizon.</a:t>
            </a:r>
          </a:p>
        </p:txBody>
      </p:sp>
      <p:sp>
        <p:nvSpPr>
          <p:cNvPr id="39" name="TextBox 3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Performance Knitted Fabrics – Regional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Regional analysis of size, growth and share across 7 regions, highlighting where value concentrates,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Global</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By Region view breaks the Global market down geographically. Each region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Region</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1330779"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1330779"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Segoe UI"/>
              </a:rPr>
              <a:t>Western Europe</a:t>
            </a:r>
          </a:p>
        </p:txBody>
      </p:sp>
      <p:sp>
        <p:nvSpPr>
          <p:cNvPr id="21" name="Rectangle 20"/>
          <p:cNvSpPr/>
          <p:nvPr/>
        </p:nvSpPr>
        <p:spPr>
          <a:xfrm>
            <a:off x="1866900"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1,450</a:t>
            </a:r>
          </a:p>
        </p:txBody>
      </p:sp>
      <p:sp>
        <p:nvSpPr>
          <p:cNvPr id="22" name="Rectangle 21"/>
          <p:cNvSpPr/>
          <p:nvPr/>
        </p:nvSpPr>
        <p:spPr>
          <a:xfrm>
            <a:off x="1866900"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2,673</a:t>
            </a:r>
          </a:p>
        </p:txBody>
      </p:sp>
      <p:sp>
        <p:nvSpPr>
          <p:cNvPr id="23" name="Rectangle 22"/>
          <p:cNvSpPr/>
          <p:nvPr/>
        </p:nvSpPr>
        <p:spPr>
          <a:xfrm>
            <a:off x="1866900"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6.3%</a:t>
            </a:r>
          </a:p>
        </p:txBody>
      </p:sp>
      <p:sp>
        <p:nvSpPr>
          <p:cNvPr id="24" name="Oval 23"/>
          <p:cNvSpPr/>
          <p:nvPr/>
        </p:nvSpPr>
        <p:spPr>
          <a:xfrm>
            <a:off x="2370364"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3311979" y="1773916"/>
            <a:ext cx="1330779"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311979" y="1992961"/>
            <a:ext cx="1330779"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50079"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Segoe UI"/>
              </a:rPr>
              <a:t>East Asia</a:t>
            </a:r>
          </a:p>
        </p:txBody>
      </p:sp>
      <p:sp>
        <p:nvSpPr>
          <p:cNvPr id="28" name="Rectangle 27"/>
          <p:cNvSpPr/>
          <p:nvPr/>
        </p:nvSpPr>
        <p:spPr>
          <a:xfrm>
            <a:off x="3311979"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1,334</a:t>
            </a:r>
          </a:p>
        </p:txBody>
      </p:sp>
      <p:sp>
        <p:nvSpPr>
          <p:cNvPr id="29" name="Rectangle 28"/>
          <p:cNvSpPr/>
          <p:nvPr/>
        </p:nvSpPr>
        <p:spPr>
          <a:xfrm>
            <a:off x="3311979"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2,967</a:t>
            </a:r>
          </a:p>
        </p:txBody>
      </p:sp>
      <p:sp>
        <p:nvSpPr>
          <p:cNvPr id="30" name="Rectangle 29"/>
          <p:cNvSpPr/>
          <p:nvPr/>
        </p:nvSpPr>
        <p:spPr>
          <a:xfrm>
            <a:off x="3311979"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8.3%</a:t>
            </a:r>
          </a:p>
        </p:txBody>
      </p:sp>
      <p:sp>
        <p:nvSpPr>
          <p:cNvPr id="31" name="Oval 30"/>
          <p:cNvSpPr/>
          <p:nvPr/>
        </p:nvSpPr>
        <p:spPr>
          <a:xfrm>
            <a:off x="3815443"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4757057" y="1773916"/>
            <a:ext cx="1330779"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757057" y="1992961"/>
            <a:ext cx="1330779"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95157"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Segoe UI"/>
              </a:rPr>
              <a:t>North America</a:t>
            </a:r>
          </a:p>
        </p:txBody>
      </p:sp>
      <p:sp>
        <p:nvSpPr>
          <p:cNvPr id="35" name="Rectangle 34"/>
          <p:cNvSpPr/>
          <p:nvPr/>
        </p:nvSpPr>
        <p:spPr>
          <a:xfrm>
            <a:off x="4757057"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1,277</a:t>
            </a:r>
          </a:p>
        </p:txBody>
      </p:sp>
      <p:sp>
        <p:nvSpPr>
          <p:cNvPr id="36" name="Rectangle 35"/>
          <p:cNvSpPr/>
          <p:nvPr/>
        </p:nvSpPr>
        <p:spPr>
          <a:xfrm>
            <a:off x="4757057"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2,655</a:t>
            </a:r>
          </a:p>
        </p:txBody>
      </p:sp>
      <p:sp>
        <p:nvSpPr>
          <p:cNvPr id="37" name="Rectangle 36"/>
          <p:cNvSpPr/>
          <p:nvPr/>
        </p:nvSpPr>
        <p:spPr>
          <a:xfrm>
            <a:off x="4757057"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7.6%</a:t>
            </a:r>
          </a:p>
        </p:txBody>
      </p:sp>
      <p:sp>
        <p:nvSpPr>
          <p:cNvPr id="38" name="Oval 37"/>
          <p:cNvSpPr/>
          <p:nvPr/>
        </p:nvSpPr>
        <p:spPr>
          <a:xfrm>
            <a:off x="5260521"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6202136" y="1773916"/>
            <a:ext cx="1330779"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02136" y="1992961"/>
            <a:ext cx="1330779"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40236"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Segoe UI"/>
              </a:rPr>
              <a:t>South Asia Pacific</a:t>
            </a:r>
          </a:p>
        </p:txBody>
      </p:sp>
      <p:sp>
        <p:nvSpPr>
          <p:cNvPr id="42" name="Rectangle 41"/>
          <p:cNvSpPr/>
          <p:nvPr/>
        </p:nvSpPr>
        <p:spPr>
          <a:xfrm>
            <a:off x="6202136"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519.6</a:t>
            </a:r>
          </a:p>
        </p:txBody>
      </p:sp>
      <p:sp>
        <p:nvSpPr>
          <p:cNvPr id="43" name="Rectangle 42"/>
          <p:cNvSpPr/>
          <p:nvPr/>
        </p:nvSpPr>
        <p:spPr>
          <a:xfrm>
            <a:off x="6202136"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1,248</a:t>
            </a:r>
          </a:p>
        </p:txBody>
      </p:sp>
      <p:sp>
        <p:nvSpPr>
          <p:cNvPr id="44" name="Rectangle 43"/>
          <p:cNvSpPr/>
          <p:nvPr/>
        </p:nvSpPr>
        <p:spPr>
          <a:xfrm>
            <a:off x="6202136"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9.2%</a:t>
            </a:r>
          </a:p>
        </p:txBody>
      </p:sp>
      <p:sp>
        <p:nvSpPr>
          <p:cNvPr id="45" name="Oval 44"/>
          <p:cNvSpPr/>
          <p:nvPr/>
        </p:nvSpPr>
        <p:spPr>
          <a:xfrm>
            <a:off x="6705600"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7647214" y="1773916"/>
            <a:ext cx="1330779"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647214" y="1992961"/>
            <a:ext cx="1330779"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85314"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Segoe UI"/>
              </a:rPr>
              <a:t>Latin America</a:t>
            </a:r>
          </a:p>
        </p:txBody>
      </p:sp>
      <p:sp>
        <p:nvSpPr>
          <p:cNvPr id="49" name="Rectangle 48"/>
          <p:cNvSpPr/>
          <p:nvPr/>
        </p:nvSpPr>
        <p:spPr>
          <a:xfrm>
            <a:off x="7647214"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363.9</a:t>
            </a:r>
          </a:p>
        </p:txBody>
      </p:sp>
      <p:sp>
        <p:nvSpPr>
          <p:cNvPr id="50" name="Rectangle 49"/>
          <p:cNvSpPr/>
          <p:nvPr/>
        </p:nvSpPr>
        <p:spPr>
          <a:xfrm>
            <a:off x="7647214"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709.5</a:t>
            </a:r>
          </a:p>
        </p:txBody>
      </p:sp>
      <p:sp>
        <p:nvSpPr>
          <p:cNvPr id="51" name="Rectangle 50"/>
          <p:cNvSpPr/>
          <p:nvPr/>
        </p:nvSpPr>
        <p:spPr>
          <a:xfrm>
            <a:off x="7647214"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6.9%</a:t>
            </a:r>
          </a:p>
        </p:txBody>
      </p:sp>
      <p:sp>
        <p:nvSpPr>
          <p:cNvPr id="52" name="Oval 51"/>
          <p:cNvSpPr/>
          <p:nvPr/>
        </p:nvSpPr>
        <p:spPr>
          <a:xfrm>
            <a:off x="8150679"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53" name="Rounded Rectangle 52"/>
          <p:cNvSpPr/>
          <p:nvPr/>
        </p:nvSpPr>
        <p:spPr>
          <a:xfrm>
            <a:off x="9092293" y="1773916"/>
            <a:ext cx="1330779"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092293" y="1992961"/>
            <a:ext cx="1330779"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30393"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Segoe UI"/>
              </a:rPr>
              <a:t>Eastern Europe</a:t>
            </a:r>
          </a:p>
        </p:txBody>
      </p:sp>
      <p:sp>
        <p:nvSpPr>
          <p:cNvPr id="56" name="Rectangle 55"/>
          <p:cNvSpPr/>
          <p:nvPr/>
        </p:nvSpPr>
        <p:spPr>
          <a:xfrm>
            <a:off x="9092293"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284.5</a:t>
            </a:r>
          </a:p>
        </p:txBody>
      </p:sp>
      <p:sp>
        <p:nvSpPr>
          <p:cNvPr id="57" name="Rectangle 56"/>
          <p:cNvSpPr/>
          <p:nvPr/>
        </p:nvSpPr>
        <p:spPr>
          <a:xfrm>
            <a:off x="9092293"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499.0</a:t>
            </a:r>
          </a:p>
        </p:txBody>
      </p:sp>
      <p:sp>
        <p:nvSpPr>
          <p:cNvPr id="58" name="Rectangle 57"/>
          <p:cNvSpPr/>
          <p:nvPr/>
        </p:nvSpPr>
        <p:spPr>
          <a:xfrm>
            <a:off x="9092293"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5.8%</a:t>
            </a:r>
          </a:p>
        </p:txBody>
      </p:sp>
      <p:sp>
        <p:nvSpPr>
          <p:cNvPr id="59" name="Oval 58"/>
          <p:cNvSpPr/>
          <p:nvPr/>
        </p:nvSpPr>
        <p:spPr>
          <a:xfrm>
            <a:off x="9595757"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60" name="Rounded Rectangle 59"/>
          <p:cNvSpPr/>
          <p:nvPr/>
        </p:nvSpPr>
        <p:spPr>
          <a:xfrm>
            <a:off x="10537371" y="1773916"/>
            <a:ext cx="1330779"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0537371" y="1992961"/>
            <a:ext cx="1330779"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575471" y="1773916"/>
            <a:ext cx="1254579" cy="438089"/>
          </a:xfrm>
          <a:prstGeom prst="rect">
            <a:avLst/>
          </a:prstGeom>
          <a:noFill/>
        </p:spPr>
        <p:txBody>
          <a:bodyPr wrap="square" lIns="28575" rIns="28575" tIns="9525" bIns="9525" anchor="ctr">
            <a:spAutoFit/>
          </a:bodyPr>
          <a:lstStyle/>
          <a:p>
            <a:pPr algn="ctr"/>
            <a:r>
              <a:rPr sz="1100" b="1">
                <a:solidFill>
                  <a:srgbClr val="FFFFFF"/>
                </a:solidFill>
                <a:latin typeface="Segoe UI"/>
              </a:rPr>
              <a:t>Middle East &amp; Africa</a:t>
            </a:r>
          </a:p>
        </p:txBody>
      </p:sp>
      <p:sp>
        <p:nvSpPr>
          <p:cNvPr id="63" name="Rectangle 62"/>
          <p:cNvSpPr/>
          <p:nvPr/>
        </p:nvSpPr>
        <p:spPr>
          <a:xfrm>
            <a:off x="10537371" y="22302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255.2</a:t>
            </a:r>
          </a:p>
        </p:txBody>
      </p:sp>
      <p:sp>
        <p:nvSpPr>
          <p:cNvPr id="64" name="Rectangle 63"/>
          <p:cNvSpPr/>
          <p:nvPr/>
        </p:nvSpPr>
        <p:spPr>
          <a:xfrm>
            <a:off x="10537371" y="2723109"/>
            <a:ext cx="1330779"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488.3</a:t>
            </a:r>
          </a:p>
        </p:txBody>
      </p:sp>
      <p:sp>
        <p:nvSpPr>
          <p:cNvPr id="65" name="Rectangle 64"/>
          <p:cNvSpPr/>
          <p:nvPr/>
        </p:nvSpPr>
        <p:spPr>
          <a:xfrm>
            <a:off x="10537371" y="3215959"/>
            <a:ext cx="1330779"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6.7%</a:t>
            </a:r>
          </a:p>
        </p:txBody>
      </p:sp>
      <p:sp>
        <p:nvSpPr>
          <p:cNvPr id="66" name="Oval 65"/>
          <p:cNvSpPr/>
          <p:nvPr/>
        </p:nvSpPr>
        <p:spPr>
          <a:xfrm>
            <a:off x="11040836"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67" name="Rounded Rectangle 6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69" name="Rectangle 68"/>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East Asia performance knitted fabrics market is projected to register 1.1X higher value than Western Europe in 2036. Among performance knitted fabrics by region, South Asia Pacific is expected to witness the highest CAGR of 9.2% over the forecast period.</a:t>
            </a:r>
          </a:p>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In terms of value share by region, East Asia is expected to dominate the market, gaining 208 BPS and accounting for 26.4% share by 2036. Western Europe is expected to lose 267 BPS over the forecast period to account for 23.8% share by 2036.</a:t>
            </a:r>
          </a:p>
        </p:txBody>
      </p:sp>
      <p:sp>
        <p:nvSpPr>
          <p:cNvPr id="71" name="Rounded Rectangle 7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73" name="Rectangle 72"/>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Western Europe: </a:t>
            </a:r>
            <a:r>
              <a:rPr sz="1100" b="0">
                <a:solidFill>
                  <a:srgbClr val="252423"/>
                </a:solidFill>
                <a:latin typeface="Segoe UI"/>
              </a:rPr>
              <a:t>26% of 2026 value · 6.3% CAGR leads the market.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East Asia: </a:t>
            </a:r>
            <a:r>
              <a:rPr sz="1100" b="0">
                <a:solidFill>
                  <a:srgbClr val="252423"/>
                </a:solidFill>
                <a:latin typeface="Segoe UI"/>
              </a:rPr>
              <a:t>24% of 2026 value · 8.3% CAGR a smaller market.</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North America: </a:t>
            </a:r>
            <a:r>
              <a:rPr sz="1100" b="0">
                <a:solidFill>
                  <a:srgbClr val="252423"/>
                </a:solidFill>
                <a:latin typeface="Segoe UI"/>
              </a:rPr>
              <a:t>23% of 2026 value · 7.6% CAGR a smaller market.</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South Asia Pacific: </a:t>
            </a:r>
            <a:r>
              <a:rPr sz="1100" b="0">
                <a:solidFill>
                  <a:srgbClr val="252423"/>
                </a:solidFill>
                <a:latin typeface="Segoe UI"/>
              </a:rPr>
              <a:t>9% of 2026 value · 9.2% CAGR grows fastest.</a:t>
            </a:r>
          </a:p>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Latin America: </a:t>
            </a:r>
            <a:r>
              <a:rPr sz="1100" b="0">
                <a:solidFill>
                  <a:srgbClr val="252423"/>
                </a:solidFill>
                <a:latin typeface="Segoe UI"/>
              </a:rPr>
              <a:t>7% of 2026 value · 6.9% CAGR a smaller market.</a:t>
            </a:r>
          </a:p>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Eastern Europe: </a:t>
            </a:r>
            <a:r>
              <a:rPr sz="1100" b="0">
                <a:solidFill>
                  <a:srgbClr val="252423"/>
                </a:solidFill>
                <a:latin typeface="Segoe UI"/>
              </a:rPr>
              <a:t>5% of 2026 value · 5.8% CAGR a smaller market.</a:t>
            </a:r>
          </a:p>
          <a:p>
            <a:pPr algn="l">
              <a:lnSpc>
                <a:spcPct val="110000"/>
              </a:lnSpc>
              <a:spcBef>
                <a:spcPts val="0"/>
              </a:spcBef>
              <a:spcAft>
                <a:spcPts val="500"/>
              </a:spcAft>
            </a:pPr>
            <a:r>
              <a:rPr sz="1100" b="0">
                <a:solidFill>
                  <a:srgbClr val="2C6E7F"/>
                </a:solidFill>
                <a:latin typeface="Segoe UI"/>
              </a:rPr>
              <a:t>●  </a:t>
            </a:r>
            <a:r>
              <a:rPr sz="1100" b="1">
                <a:solidFill>
                  <a:srgbClr val="2C6E7F"/>
                </a:solidFill>
                <a:latin typeface="Segoe UI"/>
              </a:rPr>
              <a:t>Middle East &amp; Africa: </a:t>
            </a:r>
            <a:r>
              <a:rPr sz="1100" b="0">
                <a:solidFill>
                  <a:srgbClr val="252423"/>
                </a:solidFill>
                <a:latin typeface="Segoe UI"/>
              </a:rPr>
              <a:t>5% of 2026 value · 6.7% CAGR a smaller market.</a:t>
            </a:r>
          </a:p>
        </p:txBody>
      </p:sp>
      <p:sp>
        <p:nvSpPr>
          <p:cNvPr id="75" name="Rounded Rectangle 7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77" name="Rectangle 76"/>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By Region split shows where market value concentrates and where growth is fastest.</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demand and access dynamics are rebalancing the geographic mix through 2036.</a:t>
            </a:r>
          </a:p>
        </p:txBody>
      </p:sp>
      <p:sp>
        <p:nvSpPr>
          <p:cNvPr id="79" name="Rectangle 7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Global market is projected to grow at a CAGR of 7.4% from 2026 to 2036.</a:t>
            </a:r>
          </a:p>
        </p:txBody>
      </p:sp>
      <p:sp>
        <p:nvSpPr>
          <p:cNvPr id="81" name="TextBox 80"/>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82" name="TextBox 8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Performance Knitted Fabrics Market Analysis, By Region Volume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volume share by region in 2026 and 2036, highlighting share gains and losses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Global</a:t>
            </a:r>
          </a:p>
        </p:txBody>
      </p:sp>
      <p:sp>
        <p:nvSpPr>
          <p:cNvPr id="9" name="Rectangle 8"/>
          <p:cNvSpPr/>
          <p:nvPr/>
        </p:nvSpPr>
        <p:spPr>
          <a:xfrm>
            <a:off x="142875" y="981075"/>
            <a:ext cx="6810375"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Share and BPS Assessment By Region, 2026 &amp; 2036</a:t>
            </a:r>
          </a:p>
        </p:txBody>
      </p:sp>
      <p:graphicFrame>
        <p:nvGraphicFramePr>
          <p:cNvPr id="11" name="Chart 10"/>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2" name="TextBox 11"/>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0A4DC"/>
                </a:solidFill>
                <a:latin typeface="Segoe UI"/>
              </a:rPr>
              <a:t>BPS Δ  (2026→2036)</a:t>
            </a:r>
          </a:p>
        </p:txBody>
      </p:sp>
      <p:sp>
        <p:nvSpPr>
          <p:cNvPr id="13" name="FMI Lock Anchor"/>
          <p:cNvSpPr txBox="1"/>
          <p:nvPr/>
        </p:nvSpPr>
        <p:spPr>
          <a:xfrm>
            <a:off x="2489835" y="3352800"/>
            <a:ext cx="38100" cy="38100"/>
          </a:xfrm>
          <a:prstGeom prst="rect">
            <a:avLst/>
          </a:prstGeom>
          <a:noFill/>
        </p:spPr>
        <p:txBody>
          <a:bodyPr wrap="none">
            <a:spAutoFit/>
          </a:bodyPr>
          <a:lstStyle/>
          <a:p/>
        </p:txBody>
      </p:sp>
      <p:sp>
        <p:nvSpPr>
          <p:cNvPr id="14" name="FMI Legend Chip"/>
          <p:cNvSpPr/>
          <p:nvPr/>
        </p:nvSpPr>
        <p:spPr>
          <a:xfrm>
            <a:off x="4551045" y="1548239"/>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4712970" y="154347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4855845" y="1467276"/>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Middle East &amp; Africa</a:t>
            </a:r>
          </a:p>
        </p:txBody>
      </p:sp>
      <p:sp>
        <p:nvSpPr>
          <p:cNvPr id="17" name="BPS Value 1"/>
          <p:cNvSpPr txBox="1"/>
          <p:nvPr/>
        </p:nvSpPr>
        <p:spPr>
          <a:xfrm>
            <a:off x="6305550" y="1529189"/>
            <a:ext cx="514350" cy="123825"/>
          </a:xfrm>
          <a:prstGeom prst="rect">
            <a:avLst/>
          </a:prstGeom>
          <a:noFill/>
        </p:spPr>
        <p:txBody>
          <a:bodyPr wrap="none" lIns="0" rIns="0" tIns="0" bIns="0" anchor="ctr">
            <a:spAutoFit/>
          </a:bodyPr>
          <a:lstStyle/>
          <a:p>
            <a:pPr algn="r"/>
            <a:r>
              <a:rPr sz="900" b="1">
                <a:solidFill>
                  <a:srgbClr val="D64545"/>
                </a:solidFill>
                <a:latin typeface="Segoe UI"/>
              </a:rPr>
              <a:t>-37</a:t>
            </a:r>
          </a:p>
        </p:txBody>
      </p:sp>
      <p:sp>
        <p:nvSpPr>
          <p:cNvPr id="18" name="FMI Legend Chip"/>
          <p:cNvSpPr/>
          <p:nvPr/>
        </p:nvSpPr>
        <p:spPr>
          <a:xfrm>
            <a:off x="4551045" y="1722776"/>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4712970" y="171801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4855845" y="1641814"/>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Eastern Europe</a:t>
            </a:r>
          </a:p>
        </p:txBody>
      </p:sp>
      <p:sp>
        <p:nvSpPr>
          <p:cNvPr id="21" name="BPS Value 2"/>
          <p:cNvSpPr txBox="1"/>
          <p:nvPr/>
        </p:nvSpPr>
        <p:spPr>
          <a:xfrm>
            <a:off x="6305550" y="1703726"/>
            <a:ext cx="514350" cy="123825"/>
          </a:xfrm>
          <a:prstGeom prst="rect">
            <a:avLst/>
          </a:prstGeom>
          <a:noFill/>
        </p:spPr>
        <p:txBody>
          <a:bodyPr wrap="none" lIns="0" rIns="0" tIns="0" bIns="0" anchor="ctr">
            <a:spAutoFit/>
          </a:bodyPr>
          <a:lstStyle/>
          <a:p>
            <a:pPr algn="r"/>
            <a:r>
              <a:rPr sz="900" b="1">
                <a:solidFill>
                  <a:srgbClr val="D64545"/>
                </a:solidFill>
                <a:latin typeface="Segoe UI"/>
              </a:rPr>
              <a:t>-89</a:t>
            </a:r>
          </a:p>
        </p:txBody>
      </p:sp>
      <p:sp>
        <p:nvSpPr>
          <p:cNvPr id="22" name="FMI Legend Chip"/>
          <p:cNvSpPr/>
          <p:nvPr/>
        </p:nvSpPr>
        <p:spPr>
          <a:xfrm>
            <a:off x="4551045" y="1942430"/>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rot="10800000">
            <a:off x="4712970" y="1937668"/>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4855845" y="1861468"/>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Latin America</a:t>
            </a:r>
          </a:p>
        </p:txBody>
      </p:sp>
      <p:sp>
        <p:nvSpPr>
          <p:cNvPr id="25" name="BPS Value 3"/>
          <p:cNvSpPr txBox="1"/>
          <p:nvPr/>
        </p:nvSpPr>
        <p:spPr>
          <a:xfrm>
            <a:off x="6305550" y="1923380"/>
            <a:ext cx="514350" cy="123825"/>
          </a:xfrm>
          <a:prstGeom prst="rect">
            <a:avLst/>
          </a:prstGeom>
          <a:noFill/>
        </p:spPr>
        <p:txBody>
          <a:bodyPr wrap="none" lIns="0" rIns="0" tIns="0" bIns="0" anchor="ctr">
            <a:spAutoFit/>
          </a:bodyPr>
          <a:lstStyle/>
          <a:p>
            <a:pPr algn="r"/>
            <a:r>
              <a:rPr sz="900" b="1">
                <a:solidFill>
                  <a:srgbClr val="D64545"/>
                </a:solidFill>
                <a:latin typeface="Segoe UI"/>
              </a:rPr>
              <a:t>-66</a:t>
            </a:r>
          </a:p>
        </p:txBody>
      </p:sp>
      <p:sp>
        <p:nvSpPr>
          <p:cNvPr id="26" name="FMI Legend Chip"/>
          <p:cNvSpPr/>
          <p:nvPr/>
        </p:nvSpPr>
        <p:spPr>
          <a:xfrm>
            <a:off x="4551045" y="2343249"/>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4712970" y="2338486"/>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4855845" y="2262286"/>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South Asia Pacific</a:t>
            </a:r>
          </a:p>
        </p:txBody>
      </p:sp>
      <p:sp>
        <p:nvSpPr>
          <p:cNvPr id="29" name="BPS Value 4"/>
          <p:cNvSpPr txBox="1"/>
          <p:nvPr/>
        </p:nvSpPr>
        <p:spPr>
          <a:xfrm>
            <a:off x="6305550" y="2324199"/>
            <a:ext cx="514350" cy="123825"/>
          </a:xfrm>
          <a:prstGeom prst="rect">
            <a:avLst/>
          </a:prstGeom>
          <a:noFill/>
        </p:spPr>
        <p:txBody>
          <a:bodyPr wrap="none" lIns="0" rIns="0" tIns="0" bIns="0" anchor="ctr">
            <a:spAutoFit/>
          </a:bodyPr>
          <a:lstStyle/>
          <a:p>
            <a:pPr algn="r"/>
            <a:r>
              <a:rPr sz="900" b="1">
                <a:solidFill>
                  <a:srgbClr val="1E8E3E"/>
                </a:solidFill>
                <a:latin typeface="Segoe UI"/>
              </a:rPr>
              <a:t>+225</a:t>
            </a:r>
          </a:p>
        </p:txBody>
      </p:sp>
      <p:sp>
        <p:nvSpPr>
          <p:cNvPr id="30" name="FMI Legend Chip"/>
          <p:cNvSpPr/>
          <p:nvPr/>
        </p:nvSpPr>
        <p:spPr>
          <a:xfrm>
            <a:off x="4551045" y="2960093"/>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rot="10800000">
            <a:off x="4712970" y="295533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4855845" y="2879130"/>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Western Europe</a:t>
            </a:r>
          </a:p>
        </p:txBody>
      </p:sp>
      <p:sp>
        <p:nvSpPr>
          <p:cNvPr id="33" name="BPS Value 5"/>
          <p:cNvSpPr txBox="1"/>
          <p:nvPr/>
        </p:nvSpPr>
        <p:spPr>
          <a:xfrm>
            <a:off x="6305550" y="2941043"/>
            <a:ext cx="514350" cy="123825"/>
          </a:xfrm>
          <a:prstGeom prst="rect">
            <a:avLst/>
          </a:prstGeom>
          <a:noFill/>
        </p:spPr>
        <p:txBody>
          <a:bodyPr wrap="none" lIns="0" rIns="0" tIns="0" bIns="0" anchor="ctr">
            <a:spAutoFit/>
          </a:bodyPr>
          <a:lstStyle/>
          <a:p>
            <a:pPr algn="r"/>
            <a:r>
              <a:rPr sz="900" b="1">
                <a:solidFill>
                  <a:srgbClr val="D64545"/>
                </a:solidFill>
                <a:latin typeface="Segoe UI"/>
              </a:rPr>
              <a:t>-210</a:t>
            </a:r>
          </a:p>
        </p:txBody>
      </p:sp>
      <p:sp>
        <p:nvSpPr>
          <p:cNvPr id="34" name="FMI Legend Chip"/>
          <p:cNvSpPr/>
          <p:nvPr/>
        </p:nvSpPr>
        <p:spPr>
          <a:xfrm>
            <a:off x="4551045" y="3689937"/>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rot="10800000">
            <a:off x="4712970" y="368517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4855845" y="3608974"/>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North America</a:t>
            </a:r>
          </a:p>
        </p:txBody>
      </p:sp>
      <p:sp>
        <p:nvSpPr>
          <p:cNvPr id="37" name="BPS Value 6"/>
          <p:cNvSpPr txBox="1"/>
          <p:nvPr/>
        </p:nvSpPr>
        <p:spPr>
          <a:xfrm>
            <a:off x="6305550" y="3670887"/>
            <a:ext cx="514350" cy="123825"/>
          </a:xfrm>
          <a:prstGeom prst="rect">
            <a:avLst/>
          </a:prstGeom>
          <a:noFill/>
        </p:spPr>
        <p:txBody>
          <a:bodyPr wrap="none" lIns="0" rIns="0" tIns="0" bIns="0" anchor="ctr">
            <a:spAutoFit/>
          </a:bodyPr>
          <a:lstStyle/>
          <a:p>
            <a:pPr algn="r"/>
            <a:r>
              <a:rPr sz="900" b="1">
                <a:solidFill>
                  <a:srgbClr val="D64545"/>
                </a:solidFill>
                <a:latin typeface="Segoe UI"/>
              </a:rPr>
              <a:t>-3</a:t>
            </a:r>
          </a:p>
        </p:txBody>
      </p:sp>
      <p:sp>
        <p:nvSpPr>
          <p:cNvPr id="38" name="FMI Legend Chip"/>
          <p:cNvSpPr/>
          <p:nvPr/>
        </p:nvSpPr>
        <p:spPr>
          <a:xfrm>
            <a:off x="4551045" y="4600850"/>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a:off x="4712970" y="4596088"/>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4855845" y="4519888"/>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East Asia</a:t>
            </a:r>
          </a:p>
        </p:txBody>
      </p:sp>
      <p:sp>
        <p:nvSpPr>
          <p:cNvPr id="41" name="BPS Value 7"/>
          <p:cNvSpPr txBox="1"/>
          <p:nvPr/>
        </p:nvSpPr>
        <p:spPr>
          <a:xfrm>
            <a:off x="6305550" y="4581800"/>
            <a:ext cx="514350" cy="123825"/>
          </a:xfrm>
          <a:prstGeom prst="rect">
            <a:avLst/>
          </a:prstGeom>
          <a:noFill/>
        </p:spPr>
        <p:txBody>
          <a:bodyPr wrap="none" lIns="0" rIns="0" tIns="0" bIns="0" anchor="ctr">
            <a:spAutoFit/>
          </a:bodyPr>
          <a:lstStyle/>
          <a:p>
            <a:pPr algn="r"/>
            <a:r>
              <a:rPr sz="900" b="1">
                <a:solidFill>
                  <a:srgbClr val="1E8E3E"/>
                </a:solidFill>
                <a:latin typeface="Segoe UI"/>
              </a:rPr>
              <a:t>+180</a:t>
            </a:r>
          </a:p>
        </p:txBody>
      </p:sp>
      <p:sp>
        <p:nvSpPr>
          <p:cNvPr id="42" name="Rectangle 41"/>
          <p:cNvSpPr/>
          <p:nvPr/>
        </p:nvSpPr>
        <p:spPr>
          <a:xfrm>
            <a:off x="7105650" y="981075"/>
            <a:ext cx="4933950"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07BA5"/>
                </a:solidFill>
                <a:latin typeface="Segoe UI"/>
              </a:rPr>
              <a:t>Regional Highlights</a:t>
            </a:r>
          </a:p>
        </p:txBody>
      </p:sp>
      <p:sp>
        <p:nvSpPr>
          <p:cNvPr id="44" name="Rectangle 43"/>
          <p:cNvSpPr/>
          <p:nvPr/>
        </p:nvSpPr>
        <p:spPr>
          <a:xfrm>
            <a:off x="7239000" y="1304925"/>
            <a:ext cx="46672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East Asia performance knitted fabrics market is projected to register 1.4X higher volume than North America in 2036. Among performance knitted fabrics by region, South Asia Pacific is expected to witness the highest CAGR of 7.7% over the forecast period.</a:t>
            </a:r>
          </a:p>
          <a:p>
            <a:pPr algn="l">
              <a:lnSpc>
                <a:spcPct val="110000"/>
              </a:lnSpc>
              <a:spcBef>
                <a:spcPts val="0"/>
              </a:spcBef>
              <a:spcAft>
                <a:spcPts val="500"/>
              </a:spcAft>
            </a:pPr>
            <a:r>
              <a:rPr sz="1150" b="0">
                <a:solidFill>
                  <a:srgbClr val="252423"/>
                </a:solidFill>
                <a:latin typeface="Segoe UI"/>
              </a:rPr>
              <a:t>In terms of volume share by region, East Asia is expected to dominate the market, gaining 180 BPS and accounting for 28.8% share by 2036. Western Europe is expected to lose 210 BPS over the forecast period to account for 18.9% share by 2036.</a:t>
            </a:r>
          </a:p>
        </p:txBody>
      </p:sp>
      <p:sp>
        <p:nvSpPr>
          <p:cNvPr id="46" name="Rounded Rectangle 45"/>
          <p:cNvSpPr/>
          <p:nvPr/>
        </p:nvSpPr>
        <p:spPr>
          <a:xfrm>
            <a:off x="142875" y="5648325"/>
            <a:ext cx="3943350"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TOTAL (MN SQ. YARDS)</a:t>
            </a:r>
          </a:p>
          <a:p>
            <a:pPr algn="ctr">
              <a:lnSpc>
                <a:spcPct val="95000"/>
              </a:lnSpc>
            </a:pPr>
            <a:r>
              <a:rPr sz="2000" b="1">
                <a:solidFill>
                  <a:srgbClr val="00A4DC"/>
                </a:solidFill>
                <a:latin typeface="Segoe UI"/>
              </a:rPr>
              <a:t>1,698</a:t>
            </a:r>
          </a:p>
        </p:txBody>
      </p:sp>
      <p:sp>
        <p:nvSpPr>
          <p:cNvPr id="47" name="Rounded Rectangle 46"/>
          <p:cNvSpPr/>
          <p:nvPr/>
        </p:nvSpPr>
        <p:spPr>
          <a:xfrm>
            <a:off x="4238625"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TOTAL (MN SQ. YARDS)</a:t>
            </a:r>
          </a:p>
          <a:p>
            <a:pPr algn="ctr">
              <a:lnSpc>
                <a:spcPct val="95000"/>
              </a:lnSpc>
            </a:pPr>
            <a:r>
              <a:rPr sz="2000" b="1">
                <a:solidFill>
                  <a:srgbClr val="00A4DC"/>
                </a:solidFill>
                <a:latin typeface="Segoe UI"/>
              </a:rPr>
              <a:t>3,017</a:t>
            </a:r>
          </a:p>
        </p:txBody>
      </p:sp>
      <p:sp>
        <p:nvSpPr>
          <p:cNvPr id="48" name="Rounded Rectangle 47"/>
          <p:cNvSpPr/>
          <p:nvPr/>
        </p:nvSpPr>
        <p:spPr>
          <a:xfrm>
            <a:off x="8210550"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2000" b="1">
                <a:solidFill>
                  <a:srgbClr val="00A4DC"/>
                </a:solidFill>
                <a:latin typeface="Segoe UI"/>
              </a:rPr>
              <a:t>5.9%</a:t>
            </a:r>
          </a:p>
        </p:txBody>
      </p:sp>
      <p:sp>
        <p:nvSpPr>
          <p:cNvPr id="49" name="TextBox 4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Performance Knitted Fabrics Market Analysis, By Region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value share by region in 2026 and 2036, highlighting share gains and losses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Global</a:t>
            </a:r>
          </a:p>
        </p:txBody>
      </p:sp>
      <p:sp>
        <p:nvSpPr>
          <p:cNvPr id="9" name="Rectangle 8"/>
          <p:cNvSpPr/>
          <p:nvPr/>
        </p:nvSpPr>
        <p:spPr>
          <a:xfrm>
            <a:off x="142875" y="981075"/>
            <a:ext cx="6810375"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Share and BPS Assessment By Region, 2026 &amp; 2036</a:t>
            </a:r>
          </a:p>
        </p:txBody>
      </p:sp>
      <p:graphicFrame>
        <p:nvGraphicFramePr>
          <p:cNvPr id="11" name="Chart 10"/>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2" name="TextBox 11"/>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0A4DC"/>
                </a:solidFill>
                <a:latin typeface="Segoe UI"/>
              </a:rPr>
              <a:t>BPS Δ  (2026→2036)</a:t>
            </a:r>
          </a:p>
        </p:txBody>
      </p:sp>
      <p:sp>
        <p:nvSpPr>
          <p:cNvPr id="13" name="FMI Lock Anchor"/>
          <p:cNvSpPr txBox="1"/>
          <p:nvPr/>
        </p:nvSpPr>
        <p:spPr>
          <a:xfrm>
            <a:off x="2489835" y="3352800"/>
            <a:ext cx="38100" cy="38100"/>
          </a:xfrm>
          <a:prstGeom prst="rect">
            <a:avLst/>
          </a:prstGeom>
          <a:noFill/>
        </p:spPr>
        <p:txBody>
          <a:bodyPr wrap="none">
            <a:spAutoFit/>
          </a:bodyPr>
          <a:lstStyle/>
          <a:p/>
        </p:txBody>
      </p:sp>
      <p:sp>
        <p:nvSpPr>
          <p:cNvPr id="14" name="FMI Legend Chip"/>
          <p:cNvSpPr/>
          <p:nvPr/>
        </p:nvSpPr>
        <p:spPr>
          <a:xfrm>
            <a:off x="4551045" y="1541740"/>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4712970" y="1536978"/>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4855845" y="1460778"/>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Middle East &amp; Africa</a:t>
            </a:r>
          </a:p>
        </p:txBody>
      </p:sp>
      <p:sp>
        <p:nvSpPr>
          <p:cNvPr id="17" name="BPS Value 1"/>
          <p:cNvSpPr txBox="1"/>
          <p:nvPr/>
        </p:nvSpPr>
        <p:spPr>
          <a:xfrm>
            <a:off x="6305550" y="1522690"/>
            <a:ext cx="514350" cy="123825"/>
          </a:xfrm>
          <a:prstGeom prst="rect">
            <a:avLst/>
          </a:prstGeom>
          <a:noFill/>
        </p:spPr>
        <p:txBody>
          <a:bodyPr wrap="none" lIns="0" rIns="0" tIns="0" bIns="0" anchor="ctr">
            <a:spAutoFit/>
          </a:bodyPr>
          <a:lstStyle/>
          <a:p>
            <a:pPr algn="r"/>
            <a:r>
              <a:rPr sz="900" b="1">
                <a:solidFill>
                  <a:srgbClr val="D64545"/>
                </a:solidFill>
                <a:latin typeface="Segoe UI"/>
              </a:rPr>
              <a:t>-31</a:t>
            </a:r>
          </a:p>
        </p:txBody>
      </p:sp>
      <p:sp>
        <p:nvSpPr>
          <p:cNvPr id="18" name="FMI Legend Chip"/>
          <p:cNvSpPr/>
          <p:nvPr/>
        </p:nvSpPr>
        <p:spPr>
          <a:xfrm>
            <a:off x="4551045" y="1702787"/>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4712970" y="1698025"/>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4855845" y="1621825"/>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Eastern Europe</a:t>
            </a:r>
          </a:p>
        </p:txBody>
      </p:sp>
      <p:sp>
        <p:nvSpPr>
          <p:cNvPr id="21" name="BPS Value 2"/>
          <p:cNvSpPr txBox="1"/>
          <p:nvPr/>
        </p:nvSpPr>
        <p:spPr>
          <a:xfrm>
            <a:off x="6305550" y="1683737"/>
            <a:ext cx="514350" cy="123825"/>
          </a:xfrm>
          <a:prstGeom prst="rect">
            <a:avLst/>
          </a:prstGeom>
          <a:noFill/>
        </p:spPr>
        <p:txBody>
          <a:bodyPr wrap="none" lIns="0" rIns="0" tIns="0" bIns="0" anchor="ctr">
            <a:spAutoFit/>
          </a:bodyPr>
          <a:lstStyle/>
          <a:p>
            <a:pPr algn="r"/>
            <a:r>
              <a:rPr sz="900" b="1">
                <a:solidFill>
                  <a:srgbClr val="D64545"/>
                </a:solidFill>
                <a:latin typeface="Segoe UI"/>
              </a:rPr>
              <a:t>-75</a:t>
            </a:r>
          </a:p>
        </p:txBody>
      </p:sp>
      <p:sp>
        <p:nvSpPr>
          <p:cNvPr id="22" name="FMI Legend Chip"/>
          <p:cNvSpPr/>
          <p:nvPr/>
        </p:nvSpPr>
        <p:spPr>
          <a:xfrm>
            <a:off x="4551045" y="1899926"/>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rot="10800000">
            <a:off x="4712970" y="189516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4855845" y="1818964"/>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Latin America</a:t>
            </a:r>
          </a:p>
        </p:txBody>
      </p:sp>
      <p:sp>
        <p:nvSpPr>
          <p:cNvPr id="25" name="BPS Value 3"/>
          <p:cNvSpPr txBox="1"/>
          <p:nvPr/>
        </p:nvSpPr>
        <p:spPr>
          <a:xfrm>
            <a:off x="6305550" y="1880876"/>
            <a:ext cx="514350" cy="123825"/>
          </a:xfrm>
          <a:prstGeom prst="rect">
            <a:avLst/>
          </a:prstGeom>
          <a:noFill/>
        </p:spPr>
        <p:txBody>
          <a:bodyPr wrap="none" lIns="0" rIns="0" tIns="0" bIns="0" anchor="ctr">
            <a:spAutoFit/>
          </a:bodyPr>
          <a:lstStyle/>
          <a:p>
            <a:pPr algn="r"/>
            <a:r>
              <a:rPr sz="900" b="1">
                <a:solidFill>
                  <a:srgbClr val="D64545"/>
                </a:solidFill>
                <a:latin typeface="Segoe UI"/>
              </a:rPr>
              <a:t>-32</a:t>
            </a:r>
          </a:p>
        </p:txBody>
      </p:sp>
      <p:sp>
        <p:nvSpPr>
          <p:cNvPr id="26" name="FMI Legend Chip"/>
          <p:cNvSpPr/>
          <p:nvPr/>
        </p:nvSpPr>
        <p:spPr>
          <a:xfrm>
            <a:off x="4551045" y="2219232"/>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4712970" y="221446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4855845" y="2138269"/>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South Asia Pacific</a:t>
            </a:r>
          </a:p>
        </p:txBody>
      </p:sp>
      <p:sp>
        <p:nvSpPr>
          <p:cNvPr id="29" name="BPS Value 4"/>
          <p:cNvSpPr txBox="1"/>
          <p:nvPr/>
        </p:nvSpPr>
        <p:spPr>
          <a:xfrm>
            <a:off x="6305550" y="2200182"/>
            <a:ext cx="514350" cy="123825"/>
          </a:xfrm>
          <a:prstGeom prst="rect">
            <a:avLst/>
          </a:prstGeom>
          <a:noFill/>
        </p:spPr>
        <p:txBody>
          <a:bodyPr wrap="none" lIns="0" rIns="0" tIns="0" bIns="0" anchor="ctr">
            <a:spAutoFit/>
          </a:bodyPr>
          <a:lstStyle/>
          <a:p>
            <a:pPr algn="r"/>
            <a:r>
              <a:rPr sz="900" b="1">
                <a:solidFill>
                  <a:srgbClr val="1E8E3E"/>
                </a:solidFill>
                <a:latin typeface="Segoe UI"/>
              </a:rPr>
              <a:t>+163</a:t>
            </a:r>
          </a:p>
        </p:txBody>
      </p:sp>
      <p:sp>
        <p:nvSpPr>
          <p:cNvPr id="30" name="FMI Legend Chip"/>
          <p:cNvSpPr/>
          <p:nvPr/>
        </p:nvSpPr>
        <p:spPr>
          <a:xfrm>
            <a:off x="4551045" y="2855953"/>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4712970" y="2851190"/>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4855845" y="2774990"/>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North America</a:t>
            </a:r>
          </a:p>
        </p:txBody>
      </p:sp>
      <p:sp>
        <p:nvSpPr>
          <p:cNvPr id="33" name="BPS Value 5"/>
          <p:cNvSpPr txBox="1"/>
          <p:nvPr/>
        </p:nvSpPr>
        <p:spPr>
          <a:xfrm>
            <a:off x="6305550" y="2836903"/>
            <a:ext cx="514350" cy="123825"/>
          </a:xfrm>
          <a:prstGeom prst="rect">
            <a:avLst/>
          </a:prstGeom>
          <a:noFill/>
        </p:spPr>
        <p:txBody>
          <a:bodyPr wrap="none" lIns="0" rIns="0" tIns="0" bIns="0" anchor="ctr">
            <a:spAutoFit/>
          </a:bodyPr>
          <a:lstStyle/>
          <a:p>
            <a:pPr algn="r"/>
            <a:r>
              <a:rPr sz="900" b="1">
                <a:solidFill>
                  <a:srgbClr val="1E8E3E"/>
                </a:solidFill>
                <a:latin typeface="Segoe UI"/>
              </a:rPr>
              <a:t>+35</a:t>
            </a:r>
          </a:p>
        </p:txBody>
      </p:sp>
      <p:sp>
        <p:nvSpPr>
          <p:cNvPr id="34" name="FMI Legend Chip"/>
          <p:cNvSpPr/>
          <p:nvPr/>
        </p:nvSpPr>
        <p:spPr>
          <a:xfrm>
            <a:off x="4551045" y="3725094"/>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rot="10800000">
            <a:off x="4712970" y="3720331"/>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4855845" y="3644131"/>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Western Europe</a:t>
            </a:r>
          </a:p>
        </p:txBody>
      </p:sp>
      <p:sp>
        <p:nvSpPr>
          <p:cNvPr id="37" name="BPS Value 6"/>
          <p:cNvSpPr txBox="1"/>
          <p:nvPr/>
        </p:nvSpPr>
        <p:spPr>
          <a:xfrm>
            <a:off x="6305550" y="3706044"/>
            <a:ext cx="514350" cy="123825"/>
          </a:xfrm>
          <a:prstGeom prst="rect">
            <a:avLst/>
          </a:prstGeom>
          <a:noFill/>
        </p:spPr>
        <p:txBody>
          <a:bodyPr wrap="none" lIns="0" rIns="0" tIns="0" bIns="0" anchor="ctr">
            <a:spAutoFit/>
          </a:bodyPr>
          <a:lstStyle/>
          <a:p>
            <a:pPr algn="r"/>
            <a:r>
              <a:rPr sz="900" b="1">
                <a:solidFill>
                  <a:srgbClr val="D64545"/>
                </a:solidFill>
                <a:latin typeface="Segoe UI"/>
              </a:rPr>
              <a:t>-267</a:t>
            </a:r>
          </a:p>
        </p:txBody>
      </p:sp>
      <p:sp>
        <p:nvSpPr>
          <p:cNvPr id="38" name="FMI Legend Chip"/>
          <p:cNvSpPr/>
          <p:nvPr/>
        </p:nvSpPr>
        <p:spPr>
          <a:xfrm>
            <a:off x="4551045" y="4645143"/>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a:off x="4712970" y="464038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4855845" y="4564181"/>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East Asia</a:t>
            </a:r>
          </a:p>
        </p:txBody>
      </p:sp>
      <p:sp>
        <p:nvSpPr>
          <p:cNvPr id="41" name="BPS Value 7"/>
          <p:cNvSpPr txBox="1"/>
          <p:nvPr/>
        </p:nvSpPr>
        <p:spPr>
          <a:xfrm>
            <a:off x="6305550" y="4626093"/>
            <a:ext cx="514350" cy="123825"/>
          </a:xfrm>
          <a:prstGeom prst="rect">
            <a:avLst/>
          </a:prstGeom>
          <a:noFill/>
        </p:spPr>
        <p:txBody>
          <a:bodyPr wrap="none" lIns="0" rIns="0" tIns="0" bIns="0" anchor="ctr">
            <a:spAutoFit/>
          </a:bodyPr>
          <a:lstStyle/>
          <a:p>
            <a:pPr algn="r"/>
            <a:r>
              <a:rPr sz="900" b="1">
                <a:solidFill>
                  <a:srgbClr val="1E8E3E"/>
                </a:solidFill>
                <a:latin typeface="Segoe UI"/>
              </a:rPr>
              <a:t>+208</a:t>
            </a:r>
          </a:p>
        </p:txBody>
      </p:sp>
      <p:sp>
        <p:nvSpPr>
          <p:cNvPr id="42" name="Rectangle 41"/>
          <p:cNvSpPr/>
          <p:nvPr/>
        </p:nvSpPr>
        <p:spPr>
          <a:xfrm>
            <a:off x="7105650" y="981075"/>
            <a:ext cx="4933950"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07BA5"/>
                </a:solidFill>
                <a:latin typeface="Segoe UI"/>
              </a:rPr>
              <a:t>Regional Highlights</a:t>
            </a:r>
          </a:p>
        </p:txBody>
      </p:sp>
      <p:sp>
        <p:nvSpPr>
          <p:cNvPr id="44" name="Rectangle 43"/>
          <p:cNvSpPr/>
          <p:nvPr/>
        </p:nvSpPr>
        <p:spPr>
          <a:xfrm>
            <a:off x="7239000" y="1304925"/>
            <a:ext cx="46672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East Asia performance knitted fabrics market is projected to register 1.1X higher value than Western Europe in 2036. Among performance knitted fabrics by region, South Asia Pacific is expected to witness the highest CAGR of 9.2% over the forecast period.</a:t>
            </a:r>
          </a:p>
          <a:p>
            <a:pPr algn="l">
              <a:lnSpc>
                <a:spcPct val="110000"/>
              </a:lnSpc>
              <a:spcBef>
                <a:spcPts val="0"/>
              </a:spcBef>
              <a:spcAft>
                <a:spcPts val="500"/>
              </a:spcAft>
            </a:pPr>
            <a:r>
              <a:rPr sz="1150" b="0">
                <a:solidFill>
                  <a:srgbClr val="252423"/>
                </a:solidFill>
                <a:latin typeface="Segoe UI"/>
              </a:rPr>
              <a:t>In terms of value share by region, East Asia is expected to dominate the market, gaining 208 BPS and accounting for 26.4% share by 2036. Western Europe is expected to lose 267 BPS over the forecast period to account for 23.8% share by 2036.</a:t>
            </a:r>
          </a:p>
        </p:txBody>
      </p:sp>
      <p:sp>
        <p:nvSpPr>
          <p:cNvPr id="46" name="Rounded Rectangle 45"/>
          <p:cNvSpPr/>
          <p:nvPr/>
        </p:nvSpPr>
        <p:spPr>
          <a:xfrm>
            <a:off x="142875" y="5648325"/>
            <a:ext cx="3943350"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TOTAL (US$ MN)</a:t>
            </a:r>
          </a:p>
          <a:p>
            <a:pPr algn="ctr">
              <a:lnSpc>
                <a:spcPct val="95000"/>
              </a:lnSpc>
            </a:pPr>
            <a:r>
              <a:rPr sz="2000" b="1">
                <a:solidFill>
                  <a:srgbClr val="00A4DC"/>
                </a:solidFill>
                <a:latin typeface="Segoe UI"/>
              </a:rPr>
              <a:t>5,484</a:t>
            </a:r>
          </a:p>
        </p:txBody>
      </p:sp>
      <p:sp>
        <p:nvSpPr>
          <p:cNvPr id="47" name="Rounded Rectangle 46"/>
          <p:cNvSpPr/>
          <p:nvPr/>
        </p:nvSpPr>
        <p:spPr>
          <a:xfrm>
            <a:off x="4238625"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TOTAL (US$ MN)</a:t>
            </a:r>
          </a:p>
          <a:p>
            <a:pPr algn="ctr">
              <a:lnSpc>
                <a:spcPct val="95000"/>
              </a:lnSpc>
            </a:pPr>
            <a:r>
              <a:rPr sz="2000" b="1">
                <a:solidFill>
                  <a:srgbClr val="00A4DC"/>
                </a:solidFill>
                <a:latin typeface="Segoe UI"/>
              </a:rPr>
              <a:t>11,240</a:t>
            </a:r>
          </a:p>
        </p:txBody>
      </p:sp>
      <p:sp>
        <p:nvSpPr>
          <p:cNvPr id="48" name="Rounded Rectangle 47"/>
          <p:cNvSpPr/>
          <p:nvPr/>
        </p:nvSpPr>
        <p:spPr>
          <a:xfrm>
            <a:off x="8210550"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2000" b="1">
                <a:solidFill>
                  <a:srgbClr val="00A4DC"/>
                </a:solidFill>
                <a:latin typeface="Segoe UI"/>
              </a:rPr>
              <a:t>7.4%</a:t>
            </a:r>
          </a:p>
        </p:txBody>
      </p:sp>
      <p:sp>
        <p:nvSpPr>
          <p:cNvPr id="49" name="TextBox 4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Performance Knitted Fabrics Market Share Analysis, By Region Volume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volume and share by region, 2021–2036, highlighting the geographies gaining and ceding ground</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Global</a:t>
            </a:r>
          </a:p>
        </p:txBody>
      </p:sp>
      <p:sp>
        <p:nvSpPr>
          <p:cNvPr id="9" name="Rectangle 8"/>
          <p:cNvSpPr/>
          <p:nvPr/>
        </p:nvSpPr>
        <p:spPr>
          <a:xfrm>
            <a:off x="142875" y="981075"/>
            <a:ext cx="11906250" cy="24098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Market Size, By Region (Mn Sq. Yards)</a:t>
            </a:r>
          </a:p>
        </p:txBody>
      </p:sp>
      <p:graphicFrame>
        <p:nvGraphicFramePr>
          <p:cNvPr id="11" name="Table 10"/>
          <p:cNvGraphicFramePr>
            <a:graphicFrameLocks noGrp="1"/>
          </p:cNvGraphicFramePr>
          <p:nvPr/>
        </p:nvGraphicFramePr>
        <p:xfrm>
          <a:off x="152400" y="1238250"/>
          <a:ext cx="11887199" cy="1943097"/>
        </p:xfrm>
        <a:graphic>
          <a:graphicData uri="http://schemas.openxmlformats.org/drawingml/2006/table">
            <a:tbl>
              <a:tblPr>
                <a:tableStyleId>{5C22544A-7EE6-4342-B048-85BDC9FD1C3A}</a:tableStyleId>
              </a:tblPr>
              <a:tblGrid>
                <a:gridCol w="1703778"/>
                <a:gridCol w="610968"/>
                <a:gridCol w="610968"/>
                <a:gridCol w="610968"/>
                <a:gridCol w="610968"/>
                <a:gridCol w="610968"/>
                <a:gridCol w="583161"/>
                <a:gridCol w="583161"/>
                <a:gridCol w="583161"/>
                <a:gridCol w="583161"/>
                <a:gridCol w="583161"/>
                <a:gridCol w="583161"/>
                <a:gridCol w="583161"/>
                <a:gridCol w="583161"/>
                <a:gridCol w="583161"/>
                <a:gridCol w="583161"/>
                <a:gridCol w="583161"/>
                <a:gridCol w="713810"/>
              </a:tblGrid>
              <a:tr h="215265">
                <a:tc>
                  <a:txBody>
                    <a:bodyPr wrap="none"/>
                    <a:lstStyle/>
                    <a:p>
                      <a:pPr algn="l"/>
                      <a:r>
                        <a:rPr sz="1100" b="1">
                          <a:solidFill>
                            <a:srgbClr val="FFFFFF"/>
                          </a:solidFill>
                          <a:latin typeface="Segoe UI"/>
                        </a:rPr>
                        <a:t>Region</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r>
              <a:tr h="215979">
                <a:tc>
                  <a:txBody>
                    <a:bodyPr wrap="none"/>
                    <a:lstStyle/>
                    <a:p>
                      <a:pPr algn="l"/>
                      <a:r>
                        <a:rPr sz="1100" b="1">
                          <a:solidFill>
                            <a:srgbClr val="252423"/>
                          </a:solidFill>
                          <a:latin typeface="Segoe UI"/>
                        </a:rPr>
                        <a:t>North America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268.8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283.5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299.3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316.7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335.2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354.8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375.1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396.7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420.0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445.5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473.1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502.3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532.6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564.1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596.4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629.4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5.9%</a:t>
                      </a:r>
                      <a:endParaRPr sz="1100"/>
                    </a:p>
                  </a:txBody>
                  <a:tcPr marL="47625" marR="38100" marT="19050" marB="19050" anchor="ctr">
                    <a:solidFill>
                      <a:srgbClr val="FFFFFF"/>
                    </a:solidFill>
                  </a:tcPr>
                </a:tc>
              </a:tr>
              <a:tr h="215979">
                <a:tc>
                  <a:txBody>
                    <a:bodyPr wrap="none"/>
                    <a:lstStyle/>
                    <a:p>
                      <a:pPr algn="l"/>
                      <a:r>
                        <a:rPr sz="1100" b="1">
                          <a:solidFill>
                            <a:srgbClr val="252423"/>
                          </a:solidFill>
                          <a:latin typeface="Segoe UI"/>
                        </a:rPr>
                        <a:t>Latin America</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106.8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111.2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115.9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121.1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126.7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132.7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139.2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146.1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153.6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161.6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169.9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178.7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187.7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196.9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206.4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216.0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5.0%</a:t>
                      </a:r>
                      <a:endParaRPr sz="1100"/>
                    </a:p>
                  </a:txBody>
                  <a:tcPr marL="47625" marR="38100" marT="19050" marB="19050" anchor="ctr">
                    <a:solidFill>
                      <a:srgbClr val="F2FAFD"/>
                    </a:solidFill>
                  </a:tcPr>
                </a:tc>
              </a:tr>
              <a:tr h="215979">
                <a:tc>
                  <a:txBody>
                    <a:bodyPr wrap="none"/>
                    <a:lstStyle/>
                    <a:p>
                      <a:pPr algn="l"/>
                      <a:r>
                        <a:rPr sz="1100" b="1">
                          <a:solidFill>
                            <a:srgbClr val="252423"/>
                          </a:solidFill>
                          <a:latin typeface="Segoe UI"/>
                        </a:rPr>
                        <a:t>Western Europe</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287.2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299.7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313.0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326.9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341.6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357.2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373.8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391.6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410.6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430.8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452.1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474.5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497.9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522.1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546.6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571.4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4.8%</a:t>
                      </a:r>
                      <a:endParaRPr sz="1100"/>
                    </a:p>
                  </a:txBody>
                  <a:tcPr marL="47625" marR="38100" marT="19050" marB="19050" anchor="ctr">
                    <a:solidFill>
                      <a:srgbClr val="FFFFFF"/>
                    </a:solidFill>
                  </a:tcPr>
                </a:tc>
              </a:tr>
              <a:tr h="215979">
                <a:tc>
                  <a:txBody>
                    <a:bodyPr wrap="none"/>
                    <a:lstStyle/>
                    <a:p>
                      <a:pPr algn="l"/>
                      <a:r>
                        <a:rPr sz="1100" b="1">
                          <a:solidFill>
                            <a:srgbClr val="252423"/>
                          </a:solidFill>
                          <a:latin typeface="Segoe UI"/>
                        </a:rPr>
                        <a:t>Eastern Europe</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79.6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82.7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86.0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89.4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93.0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96.9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100.9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105.2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109.7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114.4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119.2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124.2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129.4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134.7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140.1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145.4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4.1%</a:t>
                      </a:r>
                      <a:endParaRPr sz="1100"/>
                    </a:p>
                  </a:txBody>
                  <a:tcPr marL="47625" marR="38100" marT="19050" marB="19050" anchor="ctr">
                    <a:solidFill>
                      <a:srgbClr val="F2FAFD"/>
                    </a:solidFill>
                  </a:tcPr>
                </a:tc>
              </a:tr>
              <a:tr h="215979">
                <a:tc>
                  <a:txBody>
                    <a:bodyPr wrap="none"/>
                    <a:lstStyle/>
                    <a:p>
                      <a:pPr algn="l"/>
                      <a:r>
                        <a:rPr sz="1100" b="1">
                          <a:solidFill>
                            <a:srgbClr val="252423"/>
                          </a:solidFill>
                          <a:latin typeface="Segoe UI"/>
                        </a:rPr>
                        <a:t>East Asia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328.4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350.1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373.9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399.9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428.2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458.7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491.0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524.5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558.7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594.7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634.0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676.8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722.4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770.0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819.1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869.3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6.6%</a:t>
                      </a:r>
                      <a:endParaRPr sz="1100"/>
                    </a:p>
                  </a:txBody>
                  <a:tcPr marL="47625" marR="38100" marT="19050" marB="19050" anchor="ctr">
                    <a:solidFill>
                      <a:srgbClr val="FFFFFF"/>
                    </a:solidFill>
                  </a:tcPr>
                </a:tc>
              </a:tr>
              <a:tr h="215979">
                <a:tc>
                  <a:txBody>
                    <a:bodyPr wrap="none"/>
                    <a:lstStyle/>
                    <a:p>
                      <a:pPr algn="l"/>
                      <a:r>
                        <a:rPr sz="1100" b="1">
                          <a:solidFill>
                            <a:srgbClr val="252423"/>
                          </a:solidFill>
                          <a:latin typeface="Segoe UI"/>
                        </a:rPr>
                        <a:t>South Asia Pacific</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152.3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162.1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172.9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184.5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197.3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211.4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226.7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243.6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262.1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283.1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306.2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330.9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357.2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384.8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413.6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443.5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7.7%</a:t>
                      </a:r>
                      <a:endParaRPr sz="1100"/>
                    </a:p>
                  </a:txBody>
                  <a:tcPr marL="47625" marR="38100" marT="19050" marB="19050" anchor="ctr">
                    <a:solidFill>
                      <a:srgbClr val="F2FAFD"/>
                    </a:solidFill>
                  </a:tcPr>
                </a:tc>
              </a:tr>
              <a:tr h="215979">
                <a:tc>
                  <a:txBody>
                    <a:bodyPr wrap="none"/>
                    <a:lstStyle/>
                    <a:p>
                      <a:pPr algn="l"/>
                      <a:r>
                        <a:rPr sz="1100" b="1">
                          <a:solidFill>
                            <a:srgbClr val="252423"/>
                          </a:solidFill>
                          <a:latin typeface="Segoe UI"/>
                        </a:rPr>
                        <a:t>Middle East &amp; Africa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68.0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71.0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74.3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77.8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81.8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86.1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90.8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95.8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101.1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106.5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112.0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117.7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123.5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129.5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135.6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141.7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5.1%</a:t>
                      </a:r>
                      <a:endParaRPr sz="1100"/>
                    </a:p>
                  </a:txBody>
                  <a:tcPr marL="47625" marR="38100" marT="19050" marB="19050" anchor="ctr">
                    <a:solidFill>
                      <a:srgbClr val="FFFFFF"/>
                    </a:solidFill>
                  </a:tcPr>
                </a:tc>
              </a:tr>
              <a:tr h="215979">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1,291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1,360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1,435</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1,516</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1,604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1,698</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1,798</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1,904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2,016</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2,136</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2,267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2,405</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2,551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2,702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2,858</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3,017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5.9%</a:t>
                      </a:r>
                      <a:endParaRPr sz="1100"/>
                    </a:p>
                  </a:txBody>
                  <a:tcPr marL="47625" marR="38100" marT="19050" marB="19050" anchor="ctr">
                    <a:solidFill>
                      <a:srgbClr val="E0F2FA"/>
                    </a:solidFill>
                  </a:tcPr>
                </a:tc>
              </a:tr>
            </a:tbl>
          </a:graphicData>
        </a:graphic>
      </p:graphicFrame>
      <p:sp>
        <p:nvSpPr>
          <p:cNvPr id="12" name="TextBox 11"/>
          <p:cNvSpPr txBox="1"/>
          <p:nvPr/>
        </p:nvSpPr>
        <p:spPr>
          <a:xfrm>
            <a:off x="219075" y="31908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3" name="Rectangle 12"/>
          <p:cNvSpPr/>
          <p:nvPr/>
        </p:nvSpPr>
        <p:spPr>
          <a:xfrm>
            <a:off x="142875" y="3524250"/>
            <a:ext cx="11906250" cy="31051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609975"/>
            <a:ext cx="11639550" cy="209550"/>
          </a:xfrm>
          <a:prstGeom prst="rect">
            <a:avLst/>
          </a:prstGeom>
          <a:noFill/>
        </p:spPr>
        <p:txBody>
          <a:bodyPr wrap="square" lIns="0" rIns="19050" tIns="9525" bIns="9525">
            <a:spAutoFit/>
          </a:bodyPr>
          <a:lstStyle/>
          <a:p>
            <a:pPr algn="l"/>
            <a:r>
              <a:rPr sz="1300" b="1">
                <a:solidFill>
                  <a:srgbClr val="007BA5"/>
                </a:solidFill>
                <a:latin typeface="Segoe UI"/>
              </a:rPr>
              <a:t>Global Volume Share Read-out, By Region</a:t>
            </a:r>
          </a:p>
        </p:txBody>
      </p:sp>
      <p:sp>
        <p:nvSpPr>
          <p:cNvPr id="15" name="Rectangle 14"/>
          <p:cNvSpPr/>
          <p:nvPr/>
        </p:nvSpPr>
        <p:spPr>
          <a:xfrm>
            <a:off x="276225" y="38481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933825"/>
            <a:ext cx="11639550" cy="26193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East Asia performance knitted fabrics market is projected to register 1.4X higher volume than North America in 2036. Among performance knitted fabrics by region, South Asia Pacific is expected to witness the highest CAGR of 7.7% over the forecast period.</a:t>
            </a:r>
          </a:p>
          <a:p>
            <a:pPr algn="l">
              <a:lnSpc>
                <a:spcPct val="110000"/>
              </a:lnSpc>
              <a:spcBef>
                <a:spcPts val="0"/>
              </a:spcBef>
              <a:spcAft>
                <a:spcPts val="500"/>
              </a:spcAft>
            </a:pPr>
            <a:r>
              <a:rPr sz="1150" b="0">
                <a:solidFill>
                  <a:srgbClr val="252423"/>
                </a:solidFill>
                <a:latin typeface="Segoe UI"/>
              </a:rPr>
              <a:t>In terms of volume share by region, East Asia is expected to dominate the market, gaining 180 BPS and accounting for 28.8% share by 2036. Western Europe is expected to lose 210 BPS over the forecast period to account for 18.9% share by 2036.</a:t>
            </a:r>
          </a:p>
        </p:txBody>
      </p:sp>
      <p:sp>
        <p:nvSpPr>
          <p:cNvPr id="17" name="TextBox 1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Performance Knitted Fabrics Market Share Analysis, By Region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and share by region, 2021–2036, highlighting the geographies gaining and ceding ground</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Global</a:t>
            </a:r>
          </a:p>
        </p:txBody>
      </p:sp>
      <p:sp>
        <p:nvSpPr>
          <p:cNvPr id="9" name="Rectangle 8"/>
          <p:cNvSpPr/>
          <p:nvPr/>
        </p:nvSpPr>
        <p:spPr>
          <a:xfrm>
            <a:off x="142875" y="981075"/>
            <a:ext cx="11906250" cy="24098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Market Size, By Region (US$ Mn)</a:t>
            </a:r>
          </a:p>
        </p:txBody>
      </p:sp>
      <p:graphicFrame>
        <p:nvGraphicFramePr>
          <p:cNvPr id="11" name="Table 10"/>
          <p:cNvGraphicFramePr>
            <a:graphicFrameLocks noGrp="1"/>
          </p:cNvGraphicFramePr>
          <p:nvPr/>
        </p:nvGraphicFramePr>
        <p:xfrm>
          <a:off x="152400" y="1238250"/>
          <a:ext cx="11887201" cy="1943097"/>
        </p:xfrm>
        <a:graphic>
          <a:graphicData uri="http://schemas.openxmlformats.org/drawingml/2006/table">
            <a:tbl>
              <a:tblPr>
                <a:tableStyleId>{5C22544A-7EE6-4342-B048-85BDC9FD1C3A}</a:tableStyleId>
              </a:tblPr>
              <a:tblGrid>
                <a:gridCol w="1688766"/>
                <a:gridCol w="605585"/>
                <a:gridCol w="605585"/>
                <a:gridCol w="605585"/>
                <a:gridCol w="605585"/>
                <a:gridCol w="605585"/>
                <a:gridCol w="578023"/>
                <a:gridCol w="578023"/>
                <a:gridCol w="578023"/>
                <a:gridCol w="578023"/>
                <a:gridCol w="578023"/>
                <a:gridCol w="578023"/>
                <a:gridCol w="578023"/>
                <a:gridCol w="578023"/>
                <a:gridCol w="578023"/>
                <a:gridCol w="630391"/>
                <a:gridCol w="630391"/>
                <a:gridCol w="707521"/>
              </a:tblGrid>
              <a:tr h="215265">
                <a:tc>
                  <a:txBody>
                    <a:bodyPr wrap="none"/>
                    <a:lstStyle/>
                    <a:p>
                      <a:pPr algn="l"/>
                      <a:r>
                        <a:rPr sz="1100" b="1">
                          <a:solidFill>
                            <a:srgbClr val="FFFFFF"/>
                          </a:solidFill>
                          <a:latin typeface="Segoe UI"/>
                        </a:rPr>
                        <a:t>Region</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r>
              <a:tr h="215979">
                <a:tc>
                  <a:txBody>
                    <a:bodyPr wrap="none"/>
                    <a:lstStyle/>
                    <a:p>
                      <a:pPr algn="l"/>
                      <a:r>
                        <a:rPr sz="1100" b="1">
                          <a:solidFill>
                            <a:srgbClr val="252423"/>
                          </a:solidFill>
                          <a:latin typeface="Segoe UI"/>
                        </a:rPr>
                        <a:t>North America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934.2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990.2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1,051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1,119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1,193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1,277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1,366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1,463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1,571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1,690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1,823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1,967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2,122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2,288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2,466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2,655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7.6%</a:t>
                      </a:r>
                      <a:endParaRPr sz="1100"/>
                    </a:p>
                  </a:txBody>
                  <a:tcPr marL="47625" marR="38100" marT="19050" marB="19050" anchor="ctr">
                    <a:solidFill>
                      <a:srgbClr val="FFFFFF"/>
                    </a:solidFill>
                  </a:tcPr>
                </a:tc>
              </a:tr>
              <a:tr h="215979">
                <a:tc>
                  <a:txBody>
                    <a:bodyPr wrap="none"/>
                    <a:lstStyle/>
                    <a:p>
                      <a:pPr algn="l"/>
                      <a:r>
                        <a:rPr sz="1100" b="1">
                          <a:solidFill>
                            <a:srgbClr val="252423"/>
                          </a:solidFill>
                          <a:latin typeface="Segoe UI"/>
                        </a:rPr>
                        <a:t>Latin America</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279.5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293.1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308.0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324.5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342.5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363.9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387.1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412.7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440.6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471.1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504.2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540.0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578.4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619.5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663.2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709.5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6.9%</a:t>
                      </a:r>
                      <a:endParaRPr sz="1100"/>
                    </a:p>
                  </a:txBody>
                  <a:tcPr marL="47625" marR="38100" marT="19050" marB="19050" anchor="ctr">
                    <a:solidFill>
                      <a:srgbClr val="F2FAFD"/>
                    </a:solidFill>
                  </a:tcPr>
                </a:tc>
              </a:tr>
              <a:tr h="215979">
                <a:tc>
                  <a:txBody>
                    <a:bodyPr wrap="none"/>
                    <a:lstStyle/>
                    <a:p>
                      <a:pPr algn="l"/>
                      <a:r>
                        <a:rPr sz="1100" b="1">
                          <a:solidFill>
                            <a:srgbClr val="252423"/>
                          </a:solidFill>
                          <a:latin typeface="Segoe UI"/>
                        </a:rPr>
                        <a:t>Western Europe</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1,131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1,186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1,244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1,307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1,374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1,450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1,534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1,625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1,724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1,833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1,951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2,077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2,214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2,359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2,512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2,673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6.3%</a:t>
                      </a:r>
                      <a:endParaRPr sz="1100"/>
                    </a:p>
                  </a:txBody>
                  <a:tcPr marL="47625" marR="38100" marT="19050" marB="19050" anchor="ctr">
                    <a:solidFill>
                      <a:srgbClr val="FFFFFF"/>
                    </a:solidFill>
                  </a:tcPr>
                </a:tc>
              </a:tr>
              <a:tr h="215979">
                <a:tc>
                  <a:txBody>
                    <a:bodyPr wrap="none"/>
                    <a:lstStyle/>
                    <a:p>
                      <a:pPr algn="l"/>
                      <a:r>
                        <a:rPr sz="1100" b="1">
                          <a:solidFill>
                            <a:srgbClr val="252423"/>
                          </a:solidFill>
                          <a:latin typeface="Segoe UI"/>
                        </a:rPr>
                        <a:t>Eastern Europe</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225.8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236.0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246.7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258.2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270.4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284.5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299.9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316.4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334.3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353.4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374.0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396.1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419.7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444.7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471.2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499.0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5.8%</a:t>
                      </a:r>
                      <a:endParaRPr sz="1100"/>
                    </a:p>
                  </a:txBody>
                  <a:tcPr marL="47625" marR="38100" marT="19050" marB="19050" anchor="ctr">
                    <a:solidFill>
                      <a:srgbClr val="F2FAFD"/>
                    </a:solidFill>
                  </a:tcPr>
                </a:tc>
              </a:tr>
              <a:tr h="215979">
                <a:tc>
                  <a:txBody>
                    <a:bodyPr wrap="none"/>
                    <a:lstStyle/>
                    <a:p>
                      <a:pPr algn="l"/>
                      <a:r>
                        <a:rPr sz="1100" b="1">
                          <a:solidFill>
                            <a:srgbClr val="252423"/>
                          </a:solidFill>
                          <a:latin typeface="Segoe UI"/>
                        </a:rPr>
                        <a:t>East Asia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926.4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991.6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1,064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1,144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1,232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1,334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1,444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1,563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1,688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1,824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1,975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2,143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2,327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2,526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2,740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2,967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8.3%</a:t>
                      </a:r>
                      <a:endParaRPr sz="1100"/>
                    </a:p>
                  </a:txBody>
                  <a:tcPr marL="47625" marR="38100" marT="19050" marB="19050" anchor="ctr">
                    <a:solidFill>
                      <a:srgbClr val="FFFFFF"/>
                    </a:solidFill>
                  </a:tcPr>
                </a:tc>
              </a:tr>
              <a:tr h="215979">
                <a:tc>
                  <a:txBody>
                    <a:bodyPr wrap="none"/>
                    <a:lstStyle/>
                    <a:p>
                      <a:pPr algn="l"/>
                      <a:r>
                        <a:rPr sz="1100" b="1">
                          <a:solidFill>
                            <a:srgbClr val="252423"/>
                          </a:solidFill>
                          <a:latin typeface="Segoe UI"/>
                        </a:rPr>
                        <a:t>South Asia Pacific</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363.0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388.3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416.1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446.6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480.4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519.6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563.2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611.6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665.8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727.6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796.9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873.3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956.5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1,047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1,144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1,248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9.2%</a:t>
                      </a:r>
                      <a:endParaRPr sz="1100"/>
                    </a:p>
                  </a:txBody>
                  <a:tcPr marL="47625" marR="38100" marT="19050" marB="19050" anchor="ctr">
                    <a:solidFill>
                      <a:srgbClr val="F2FAFD"/>
                    </a:solidFill>
                  </a:tcPr>
                </a:tc>
              </a:tr>
              <a:tr h="215979">
                <a:tc>
                  <a:txBody>
                    <a:bodyPr wrap="none"/>
                    <a:lstStyle/>
                    <a:p>
                      <a:pPr algn="l"/>
                      <a:r>
                        <a:rPr sz="1100" b="1">
                          <a:solidFill>
                            <a:srgbClr val="252423"/>
                          </a:solidFill>
                          <a:latin typeface="Segoe UI"/>
                        </a:rPr>
                        <a:t>Middle East &amp; Africa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194.4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204.2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214.9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226.8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240.0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255.2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272.0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290.3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310.0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331.0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353.1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376.8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402.2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429.2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457.9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488.3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6.7%</a:t>
                      </a:r>
                      <a:endParaRPr sz="1100"/>
                    </a:p>
                  </a:txBody>
                  <a:tcPr marL="47625" marR="38100" marT="19050" marB="19050" anchor="ctr">
                    <a:solidFill>
                      <a:srgbClr val="FFFFFF"/>
                    </a:solidFill>
                  </a:tcPr>
                </a:tc>
              </a:tr>
              <a:tr h="215979">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4,055</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4,289</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4,545</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4,827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5,132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5,484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5,866</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6,282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6,734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7,230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7,777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8,374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9,019</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9,713</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10,453</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11,240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7.4%</a:t>
                      </a:r>
                      <a:endParaRPr sz="1100"/>
                    </a:p>
                  </a:txBody>
                  <a:tcPr marL="47625" marR="38100" marT="19050" marB="19050" anchor="ctr">
                    <a:solidFill>
                      <a:srgbClr val="E0F2FA"/>
                    </a:solidFill>
                  </a:tcPr>
                </a:tc>
              </a:tr>
            </a:tbl>
          </a:graphicData>
        </a:graphic>
      </p:graphicFrame>
      <p:sp>
        <p:nvSpPr>
          <p:cNvPr id="12" name="TextBox 11"/>
          <p:cNvSpPr txBox="1"/>
          <p:nvPr/>
        </p:nvSpPr>
        <p:spPr>
          <a:xfrm>
            <a:off x="219075" y="31908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3" name="Rectangle 12"/>
          <p:cNvSpPr/>
          <p:nvPr/>
        </p:nvSpPr>
        <p:spPr>
          <a:xfrm>
            <a:off x="142875" y="3524250"/>
            <a:ext cx="11906250" cy="31051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609975"/>
            <a:ext cx="11639550" cy="209550"/>
          </a:xfrm>
          <a:prstGeom prst="rect">
            <a:avLst/>
          </a:prstGeom>
          <a:noFill/>
        </p:spPr>
        <p:txBody>
          <a:bodyPr wrap="square" lIns="0" rIns="19050" tIns="9525" bIns="9525">
            <a:spAutoFit/>
          </a:bodyPr>
          <a:lstStyle/>
          <a:p>
            <a:pPr algn="l"/>
            <a:r>
              <a:rPr sz="1300" b="1">
                <a:solidFill>
                  <a:srgbClr val="007BA5"/>
                </a:solidFill>
                <a:latin typeface="Segoe UI"/>
              </a:rPr>
              <a:t>Global Value Share Read-out, By Region</a:t>
            </a:r>
          </a:p>
        </p:txBody>
      </p:sp>
      <p:sp>
        <p:nvSpPr>
          <p:cNvPr id="15" name="Rectangle 14"/>
          <p:cNvSpPr/>
          <p:nvPr/>
        </p:nvSpPr>
        <p:spPr>
          <a:xfrm>
            <a:off x="276225" y="38481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933825"/>
            <a:ext cx="11639550" cy="26193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East Asia performance knitted fabrics market is projected to register 1.1X higher value than Western Europe in 2036. Among performance knitted fabrics by region, South Asia Pacific is expected to witness the highest CAGR of 9.2% over the forecast period.</a:t>
            </a:r>
          </a:p>
          <a:p>
            <a:pPr algn="l">
              <a:lnSpc>
                <a:spcPct val="110000"/>
              </a:lnSpc>
              <a:spcBef>
                <a:spcPts val="0"/>
              </a:spcBef>
              <a:spcAft>
                <a:spcPts val="500"/>
              </a:spcAft>
            </a:pPr>
            <a:r>
              <a:rPr sz="1150" b="0">
                <a:solidFill>
                  <a:srgbClr val="252423"/>
                </a:solidFill>
                <a:latin typeface="Segoe UI"/>
              </a:rPr>
              <a:t>In terms of value share by region, East Asia is expected to dominate the market, gaining 208 BPS and accounting for 26.4% share by 2036. Western Europe is expected to lose 267 BPS over the forecast period to account for 23.8% share by 2036.</a:t>
            </a:r>
          </a:p>
        </p:txBody>
      </p:sp>
      <p:sp>
        <p:nvSpPr>
          <p:cNvPr id="17" name="TextBox 1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Performance Knitted Fabrics Market Trends, By Region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how regional volume and value shares shift over 2021–2036, highlighting who gains ground</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Global</a:t>
            </a:r>
          </a:p>
        </p:txBody>
      </p:sp>
      <p:sp>
        <p:nvSpPr>
          <p:cNvPr id="9" name="Rectangle 8"/>
          <p:cNvSpPr/>
          <p:nvPr/>
        </p:nvSpPr>
        <p:spPr>
          <a:xfrm>
            <a:off x="142875" y="981075"/>
            <a:ext cx="11906250"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Volume By Region (Mn Sq. Yards)</a:t>
            </a:r>
          </a:p>
        </p:txBody>
      </p:sp>
      <p:graphicFrame>
        <p:nvGraphicFramePr>
          <p:cNvPr id="11" name="Chart 10"/>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r:id="rId3"/>
          </a:graphicData>
        </a:graphic>
      </p:graphicFrame>
      <p:sp>
        <p:nvSpPr>
          <p:cNvPr id="12" name="Rectangle 11"/>
          <p:cNvSpPr/>
          <p:nvPr/>
        </p:nvSpPr>
        <p:spPr>
          <a:xfrm>
            <a:off x="9763125" y="1304925"/>
            <a:ext cx="2190750" cy="2333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MI Dense Legend"/>
          <p:cNvSpPr txBox="1"/>
          <p:nvPr/>
        </p:nvSpPr>
        <p:spPr>
          <a:xfrm>
            <a:off x="9839325" y="1362075"/>
            <a:ext cx="2057400" cy="171450"/>
          </a:xfrm>
          <a:prstGeom prst="rect">
            <a:avLst/>
          </a:prstGeom>
          <a:noFill/>
        </p:spPr>
        <p:txBody>
          <a:bodyPr wrap="none">
            <a:spAutoFit/>
          </a:bodyPr>
          <a:lstStyle/>
          <a:p>
            <a:r>
              <a:rPr sz="850" b="1">
                <a:solidFill>
                  <a:srgbClr val="605E5C"/>
                </a:solidFill>
                <a:latin typeface="Segoe UI"/>
              </a:rPr>
              <a:t>By segment</a:t>
            </a:r>
          </a:p>
        </p:txBody>
      </p:sp>
      <p:sp>
        <p:nvSpPr>
          <p:cNvPr id="14" name="FMI Dense Legend"/>
          <p:cNvSpPr txBox="1"/>
          <p:nvPr/>
        </p:nvSpPr>
        <p:spPr>
          <a:xfrm>
            <a:off x="9839325" y="1533525"/>
            <a:ext cx="2057400" cy="2047875"/>
          </a:xfrm>
          <a:prstGeom prst="rect">
            <a:avLst/>
          </a:prstGeom>
          <a:noFill/>
        </p:spPr>
        <p:txBody>
          <a:bodyPr wrap="square">
            <a:spAutoFit/>
          </a:bodyPr>
          <a:lstStyle/>
          <a:p>
            <a:pPr>
              <a:spcBef>
                <a:spcPts val="500"/>
              </a:spcBef>
            </a:pPr>
            <a:r>
              <a:rPr sz="900">
                <a:solidFill>
                  <a:srgbClr val="00A4DC"/>
                </a:solidFill>
                <a:latin typeface="Segoe UI"/>
              </a:rPr>
              <a:t>■  </a:t>
            </a:r>
            <a:r>
              <a:rPr sz="750">
                <a:solidFill>
                  <a:srgbClr val="252423"/>
                </a:solidFill>
                <a:latin typeface="Segoe UI"/>
              </a:rPr>
              <a:t>   East Asia</a:t>
            </a:r>
          </a:p>
          <a:p>
            <a:pPr>
              <a:spcBef>
                <a:spcPts val="500"/>
              </a:spcBef>
            </a:pPr>
            <a:r>
              <a:rPr sz="900">
                <a:solidFill>
                  <a:srgbClr val="D6CAC4"/>
                </a:solidFill>
                <a:latin typeface="Segoe UI"/>
              </a:rPr>
              <a:t>■  </a:t>
            </a:r>
            <a:r>
              <a:rPr sz="750">
                <a:solidFill>
                  <a:srgbClr val="252423"/>
                </a:solidFill>
                <a:latin typeface="Segoe UI"/>
              </a:rPr>
              <a:t>   North America</a:t>
            </a:r>
          </a:p>
          <a:p>
            <a:pPr>
              <a:spcBef>
                <a:spcPts val="500"/>
              </a:spcBef>
            </a:pPr>
            <a:r>
              <a:rPr sz="900">
                <a:solidFill>
                  <a:srgbClr val="6ECFF2"/>
                </a:solidFill>
                <a:latin typeface="Segoe UI"/>
              </a:rPr>
              <a:t>■  </a:t>
            </a:r>
            <a:r>
              <a:rPr sz="750">
                <a:solidFill>
                  <a:srgbClr val="252423"/>
                </a:solidFill>
                <a:latin typeface="Segoe UI"/>
              </a:rPr>
              <a:t>   Western Europe</a:t>
            </a:r>
          </a:p>
          <a:p>
            <a:pPr>
              <a:spcBef>
                <a:spcPts val="500"/>
              </a:spcBef>
            </a:pPr>
            <a:r>
              <a:rPr sz="900">
                <a:solidFill>
                  <a:srgbClr val="EBC46B"/>
                </a:solidFill>
                <a:latin typeface="Segoe UI"/>
              </a:rPr>
              <a:t>■  </a:t>
            </a:r>
            <a:r>
              <a:rPr sz="750">
                <a:solidFill>
                  <a:srgbClr val="252423"/>
                </a:solidFill>
                <a:latin typeface="Segoe UI"/>
              </a:rPr>
              <a:t>   South Asia Pacific</a:t>
            </a:r>
          </a:p>
          <a:p>
            <a:pPr>
              <a:spcBef>
                <a:spcPts val="500"/>
              </a:spcBef>
            </a:pPr>
            <a:r>
              <a:rPr sz="900">
                <a:solidFill>
                  <a:srgbClr val="EDA28B"/>
                </a:solidFill>
                <a:latin typeface="Segoe UI"/>
              </a:rPr>
              <a:t>■  </a:t>
            </a:r>
            <a:r>
              <a:rPr sz="750">
                <a:solidFill>
                  <a:srgbClr val="252423"/>
                </a:solidFill>
                <a:latin typeface="Segoe UI"/>
              </a:rPr>
              <a:t>   Latin America</a:t>
            </a:r>
          </a:p>
          <a:p>
            <a:pPr>
              <a:spcBef>
                <a:spcPts val="500"/>
              </a:spcBef>
            </a:pPr>
            <a:r>
              <a:rPr sz="900">
                <a:solidFill>
                  <a:srgbClr val="C4E2F4"/>
                </a:solidFill>
                <a:latin typeface="Segoe UI"/>
              </a:rPr>
              <a:t>■  </a:t>
            </a:r>
            <a:r>
              <a:rPr sz="750">
                <a:solidFill>
                  <a:srgbClr val="252423"/>
                </a:solidFill>
                <a:latin typeface="Segoe UI"/>
              </a:rPr>
              <a:t>   Eastern Europe</a:t>
            </a:r>
          </a:p>
          <a:p>
            <a:pPr>
              <a:spcBef>
                <a:spcPts val="500"/>
              </a:spcBef>
            </a:pPr>
            <a:r>
              <a:rPr sz="900">
                <a:solidFill>
                  <a:srgbClr val="9AB3C7"/>
                </a:solidFill>
                <a:latin typeface="Segoe UI"/>
              </a:rPr>
              <a:t>■  </a:t>
            </a:r>
            <a:r>
              <a:rPr sz="750">
                <a:solidFill>
                  <a:srgbClr val="252423"/>
                </a:solidFill>
                <a:latin typeface="Segoe UI"/>
              </a:rPr>
              <a:t>   Middle East &amp; Africa</a:t>
            </a:r>
          </a:p>
        </p:txBody>
      </p:sp>
      <p:sp>
        <p:nvSpPr>
          <p:cNvPr id="15" name="Rectangle 14"/>
          <p:cNvSpPr/>
          <p:nvPr/>
        </p:nvSpPr>
        <p:spPr>
          <a:xfrm>
            <a:off x="142875" y="3867150"/>
            <a:ext cx="11906250"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By Region (US$ Mn)</a:t>
            </a:r>
          </a:p>
        </p:txBody>
      </p:sp>
      <p:graphicFrame>
        <p:nvGraphicFramePr>
          <p:cNvPr id="17" name="Chart 16"/>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r:id="rId4"/>
          </a:graphicData>
        </a:graphic>
      </p:graphicFrame>
      <p:sp>
        <p:nvSpPr>
          <p:cNvPr id="18" name="Rectangle 17"/>
          <p:cNvSpPr/>
          <p:nvPr/>
        </p:nvSpPr>
        <p:spPr>
          <a:xfrm>
            <a:off x="9763125" y="4191000"/>
            <a:ext cx="2190750" cy="2333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MI Dense Legend"/>
          <p:cNvSpPr txBox="1"/>
          <p:nvPr/>
        </p:nvSpPr>
        <p:spPr>
          <a:xfrm>
            <a:off x="9839325" y="4248150"/>
            <a:ext cx="2057400" cy="171450"/>
          </a:xfrm>
          <a:prstGeom prst="rect">
            <a:avLst/>
          </a:prstGeom>
          <a:noFill/>
        </p:spPr>
        <p:txBody>
          <a:bodyPr wrap="none">
            <a:spAutoFit/>
          </a:bodyPr>
          <a:lstStyle/>
          <a:p>
            <a:r>
              <a:rPr sz="850" b="1">
                <a:solidFill>
                  <a:srgbClr val="605E5C"/>
                </a:solidFill>
                <a:latin typeface="Segoe UI"/>
              </a:rPr>
              <a:t>By segment</a:t>
            </a:r>
          </a:p>
        </p:txBody>
      </p:sp>
      <p:sp>
        <p:nvSpPr>
          <p:cNvPr id="20" name="FMI Dense Legend"/>
          <p:cNvSpPr txBox="1"/>
          <p:nvPr/>
        </p:nvSpPr>
        <p:spPr>
          <a:xfrm>
            <a:off x="9839325" y="4419600"/>
            <a:ext cx="2057400" cy="2047875"/>
          </a:xfrm>
          <a:prstGeom prst="rect">
            <a:avLst/>
          </a:prstGeom>
          <a:noFill/>
        </p:spPr>
        <p:txBody>
          <a:bodyPr wrap="square">
            <a:spAutoFit/>
          </a:bodyPr>
          <a:lstStyle/>
          <a:p>
            <a:pPr>
              <a:spcBef>
                <a:spcPts val="500"/>
              </a:spcBef>
            </a:pPr>
            <a:r>
              <a:rPr sz="900">
                <a:solidFill>
                  <a:srgbClr val="D6CAC4"/>
                </a:solidFill>
                <a:latin typeface="Segoe UI"/>
              </a:rPr>
              <a:t>■  </a:t>
            </a:r>
            <a:r>
              <a:rPr sz="750">
                <a:solidFill>
                  <a:srgbClr val="252423"/>
                </a:solidFill>
                <a:latin typeface="Segoe UI"/>
              </a:rPr>
              <a:t>   East Asia</a:t>
            </a:r>
          </a:p>
          <a:p>
            <a:pPr>
              <a:spcBef>
                <a:spcPts val="500"/>
              </a:spcBef>
            </a:pPr>
            <a:r>
              <a:rPr sz="900">
                <a:solidFill>
                  <a:srgbClr val="00A4DC"/>
                </a:solidFill>
                <a:latin typeface="Segoe UI"/>
              </a:rPr>
              <a:t>■  </a:t>
            </a:r>
            <a:r>
              <a:rPr sz="750">
                <a:solidFill>
                  <a:srgbClr val="252423"/>
                </a:solidFill>
                <a:latin typeface="Segoe UI"/>
              </a:rPr>
              <a:t>   Western Europe</a:t>
            </a:r>
          </a:p>
          <a:p>
            <a:pPr>
              <a:spcBef>
                <a:spcPts val="500"/>
              </a:spcBef>
            </a:pPr>
            <a:r>
              <a:rPr sz="900">
                <a:solidFill>
                  <a:srgbClr val="6ECFF2"/>
                </a:solidFill>
                <a:latin typeface="Segoe UI"/>
              </a:rPr>
              <a:t>■  </a:t>
            </a:r>
            <a:r>
              <a:rPr sz="750">
                <a:solidFill>
                  <a:srgbClr val="252423"/>
                </a:solidFill>
                <a:latin typeface="Segoe UI"/>
              </a:rPr>
              <a:t>   North America</a:t>
            </a:r>
          </a:p>
          <a:p>
            <a:pPr>
              <a:spcBef>
                <a:spcPts val="500"/>
              </a:spcBef>
            </a:pPr>
            <a:r>
              <a:rPr sz="900">
                <a:solidFill>
                  <a:srgbClr val="EBC46B"/>
                </a:solidFill>
                <a:latin typeface="Segoe UI"/>
              </a:rPr>
              <a:t>■  </a:t>
            </a:r>
            <a:r>
              <a:rPr sz="750">
                <a:solidFill>
                  <a:srgbClr val="252423"/>
                </a:solidFill>
                <a:latin typeface="Segoe UI"/>
              </a:rPr>
              <a:t>   South Asia Pacific</a:t>
            </a:r>
          </a:p>
          <a:p>
            <a:pPr>
              <a:spcBef>
                <a:spcPts val="500"/>
              </a:spcBef>
            </a:pPr>
            <a:r>
              <a:rPr sz="900">
                <a:solidFill>
                  <a:srgbClr val="EDA28B"/>
                </a:solidFill>
                <a:latin typeface="Segoe UI"/>
              </a:rPr>
              <a:t>■  </a:t>
            </a:r>
            <a:r>
              <a:rPr sz="750">
                <a:solidFill>
                  <a:srgbClr val="252423"/>
                </a:solidFill>
                <a:latin typeface="Segoe UI"/>
              </a:rPr>
              <a:t>   Latin America</a:t>
            </a:r>
          </a:p>
          <a:p>
            <a:pPr>
              <a:spcBef>
                <a:spcPts val="500"/>
              </a:spcBef>
            </a:pPr>
            <a:r>
              <a:rPr sz="900">
                <a:solidFill>
                  <a:srgbClr val="C4E2F4"/>
                </a:solidFill>
                <a:latin typeface="Segoe UI"/>
              </a:rPr>
              <a:t>■  </a:t>
            </a:r>
            <a:r>
              <a:rPr sz="750">
                <a:solidFill>
                  <a:srgbClr val="252423"/>
                </a:solidFill>
                <a:latin typeface="Segoe UI"/>
              </a:rPr>
              <a:t>   Eastern Europe</a:t>
            </a:r>
          </a:p>
          <a:p>
            <a:pPr>
              <a:spcBef>
                <a:spcPts val="500"/>
              </a:spcBef>
            </a:pPr>
            <a:r>
              <a:rPr sz="900">
                <a:solidFill>
                  <a:srgbClr val="9AB3C7"/>
                </a:solidFill>
                <a:latin typeface="Segoe UI"/>
              </a:rPr>
              <a:t>■  </a:t>
            </a:r>
            <a:r>
              <a:rPr sz="750">
                <a:solidFill>
                  <a:srgbClr val="252423"/>
                </a:solidFill>
                <a:latin typeface="Segoe UI"/>
              </a:rPr>
              <a:t>   Middle East &amp; Africa</a:t>
            </a:r>
          </a:p>
        </p:txBody>
      </p:sp>
      <p:sp>
        <p:nvSpPr>
          <p:cNvPr id="21" name="TextBox 2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Performance Knitted Fabrics Market Top 10 Countries (2036)</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hierarchy of the global market in 2036, highlighting the leading countries within each region by value</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Global</a:t>
            </a:r>
          </a:p>
        </p:txBody>
      </p:sp>
      <p:sp>
        <p:nvSpPr>
          <p:cNvPr id="9" name="Rectangle 8"/>
          <p:cNvSpPr/>
          <p:nvPr/>
        </p:nvSpPr>
        <p:spPr>
          <a:xfrm>
            <a:off x="142875" y="981075"/>
            <a:ext cx="1190625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market by country  ·  2036 (US$ Mn)  ·  tile size = market value</a:t>
            </a:r>
          </a:p>
        </p:txBody>
      </p:sp>
      <p:sp>
        <p:nvSpPr>
          <p:cNvPr id="11" name="Rectangle 10"/>
          <p:cNvSpPr/>
          <p:nvPr/>
        </p:nvSpPr>
        <p:spPr>
          <a:xfrm>
            <a:off x="238125" y="1266825"/>
            <a:ext cx="3033079" cy="5305425"/>
          </a:xfrm>
          <a:prstGeom prst="rect">
            <a:avLst/>
          </a:prstGeom>
          <a:solidFill>
            <a:srgbClr val="00A4D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U.S.</a:t>
            </a:r>
          </a:p>
          <a:p>
            <a:pPr algn="ctr"/>
            <a:r>
              <a:rPr sz="1100" b="0">
                <a:solidFill>
                  <a:srgbClr val="FFFFFF"/>
                </a:solidFill>
                <a:latin typeface="Segoe UI"/>
              </a:rPr>
              <a:t>2,121</a:t>
            </a:r>
          </a:p>
        </p:txBody>
      </p:sp>
      <p:sp>
        <p:nvSpPr>
          <p:cNvPr id="12" name="Rectangle 11"/>
          <p:cNvSpPr/>
          <p:nvPr/>
        </p:nvSpPr>
        <p:spPr>
          <a:xfrm>
            <a:off x="3271204" y="1266825"/>
            <a:ext cx="2791078" cy="5305425"/>
          </a:xfrm>
          <a:prstGeom prst="rect">
            <a:avLst/>
          </a:prstGeom>
          <a:solidFill>
            <a:srgbClr val="6ECFF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China</a:t>
            </a:r>
          </a:p>
          <a:p>
            <a:pPr algn="ctr"/>
            <a:r>
              <a:rPr sz="1100" b="0">
                <a:solidFill>
                  <a:srgbClr val="252423"/>
                </a:solidFill>
                <a:latin typeface="Segoe UI"/>
              </a:rPr>
              <a:t>1,952</a:t>
            </a:r>
          </a:p>
        </p:txBody>
      </p:sp>
      <p:sp>
        <p:nvSpPr>
          <p:cNvPr id="13" name="Rectangle 12"/>
          <p:cNvSpPr/>
          <p:nvPr/>
        </p:nvSpPr>
        <p:spPr>
          <a:xfrm>
            <a:off x="6062282" y="1266825"/>
            <a:ext cx="1856628" cy="2877481"/>
          </a:xfrm>
          <a:prstGeom prst="rect">
            <a:avLst/>
          </a:prstGeom>
          <a:solidFill>
            <a:srgbClr val="D6CA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Germany</a:t>
            </a:r>
          </a:p>
          <a:p>
            <a:pPr algn="ctr"/>
            <a:r>
              <a:rPr sz="1100" b="0">
                <a:solidFill>
                  <a:srgbClr val="252423"/>
                </a:solidFill>
                <a:latin typeface="Segoe UI"/>
              </a:rPr>
              <a:t>704</a:t>
            </a:r>
          </a:p>
        </p:txBody>
      </p:sp>
      <p:sp>
        <p:nvSpPr>
          <p:cNvPr id="14" name="Rectangle 13"/>
          <p:cNvSpPr/>
          <p:nvPr/>
        </p:nvSpPr>
        <p:spPr>
          <a:xfrm>
            <a:off x="6062282" y="4144306"/>
            <a:ext cx="1856628" cy="2427944"/>
          </a:xfrm>
          <a:prstGeom prst="rect">
            <a:avLst/>
          </a:prstGeom>
          <a:solidFill>
            <a:srgbClr val="EBC4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Japan</a:t>
            </a:r>
          </a:p>
          <a:p>
            <a:pPr algn="ctr"/>
            <a:r>
              <a:rPr sz="1100" b="0">
                <a:solidFill>
                  <a:srgbClr val="252423"/>
                </a:solidFill>
                <a:latin typeface="Segoe UI"/>
              </a:rPr>
              <a:t>594</a:t>
            </a:r>
          </a:p>
        </p:txBody>
      </p:sp>
      <p:sp>
        <p:nvSpPr>
          <p:cNvPr id="15" name="Rectangle 14"/>
          <p:cNvSpPr/>
          <p:nvPr/>
        </p:nvSpPr>
        <p:spPr>
          <a:xfrm>
            <a:off x="7918910" y="1266825"/>
            <a:ext cx="2033704" cy="2000021"/>
          </a:xfrm>
          <a:prstGeom prst="rect">
            <a:avLst/>
          </a:prstGeom>
          <a:solidFill>
            <a:srgbClr val="EDA28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France</a:t>
            </a:r>
          </a:p>
          <a:p>
            <a:pPr algn="ctr"/>
            <a:r>
              <a:rPr sz="1100" b="0">
                <a:solidFill>
                  <a:srgbClr val="252423"/>
                </a:solidFill>
                <a:latin typeface="Segoe UI"/>
              </a:rPr>
              <a:t>536</a:t>
            </a:r>
          </a:p>
        </p:txBody>
      </p:sp>
      <p:sp>
        <p:nvSpPr>
          <p:cNvPr id="16" name="Rectangle 15"/>
          <p:cNvSpPr/>
          <p:nvPr/>
        </p:nvSpPr>
        <p:spPr>
          <a:xfrm>
            <a:off x="9952614" y="1266825"/>
            <a:ext cx="2001261" cy="2000021"/>
          </a:xfrm>
          <a:prstGeom prst="rect">
            <a:avLst/>
          </a:prstGeom>
          <a:solidFill>
            <a:srgbClr val="C4E2F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India</a:t>
            </a:r>
          </a:p>
          <a:p>
            <a:pPr algn="ctr"/>
            <a:r>
              <a:rPr sz="1100" b="0">
                <a:solidFill>
                  <a:srgbClr val="252423"/>
                </a:solidFill>
                <a:latin typeface="Segoe UI"/>
              </a:rPr>
              <a:t>528</a:t>
            </a:r>
          </a:p>
        </p:txBody>
      </p:sp>
      <p:sp>
        <p:nvSpPr>
          <p:cNvPr id="17" name="Rectangle 16"/>
          <p:cNvSpPr/>
          <p:nvPr/>
        </p:nvSpPr>
        <p:spPr>
          <a:xfrm>
            <a:off x="7918910" y="3266846"/>
            <a:ext cx="2101330" cy="1766894"/>
          </a:xfrm>
          <a:prstGeom prst="rect">
            <a:avLst/>
          </a:prstGeom>
          <a:solidFill>
            <a:srgbClr val="9AB3C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ASEAN</a:t>
            </a:r>
          </a:p>
          <a:p>
            <a:pPr algn="ctr"/>
            <a:r>
              <a:rPr sz="1100" b="0">
                <a:solidFill>
                  <a:srgbClr val="252423"/>
                </a:solidFill>
                <a:latin typeface="Segoe UI"/>
              </a:rPr>
              <a:t>489</a:t>
            </a:r>
          </a:p>
        </p:txBody>
      </p:sp>
      <p:sp>
        <p:nvSpPr>
          <p:cNvPr id="18" name="Rectangle 17"/>
          <p:cNvSpPr/>
          <p:nvPr/>
        </p:nvSpPr>
        <p:spPr>
          <a:xfrm>
            <a:off x="7918910" y="5033740"/>
            <a:ext cx="2101330" cy="1538510"/>
          </a:xfrm>
          <a:prstGeom prst="rect">
            <a:avLst/>
          </a:prstGeom>
          <a:solidFill>
            <a:srgbClr val="7D72E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Italy</a:t>
            </a:r>
          </a:p>
          <a:p>
            <a:pPr algn="ctr"/>
            <a:r>
              <a:rPr sz="1100" b="0">
                <a:solidFill>
                  <a:srgbClr val="FFFFFF"/>
                </a:solidFill>
                <a:latin typeface="Segoe UI"/>
              </a:rPr>
              <a:t>426</a:t>
            </a:r>
          </a:p>
        </p:txBody>
      </p:sp>
      <p:sp>
        <p:nvSpPr>
          <p:cNvPr id="19" name="Rectangle 18"/>
          <p:cNvSpPr/>
          <p:nvPr/>
        </p:nvSpPr>
        <p:spPr>
          <a:xfrm>
            <a:off x="10020241" y="3266846"/>
            <a:ext cx="1933634" cy="1653083"/>
          </a:xfrm>
          <a:prstGeom prst="rect">
            <a:avLst/>
          </a:prstGeom>
          <a:solidFill>
            <a:srgbClr val="CF72E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South Korea</a:t>
            </a:r>
          </a:p>
          <a:p>
            <a:pPr algn="ctr"/>
            <a:r>
              <a:rPr sz="1100" b="0">
                <a:solidFill>
                  <a:srgbClr val="252423"/>
                </a:solidFill>
                <a:latin typeface="Segoe UI"/>
              </a:rPr>
              <a:t>421</a:t>
            </a:r>
          </a:p>
        </p:txBody>
      </p:sp>
      <p:sp>
        <p:nvSpPr>
          <p:cNvPr id="20" name="Rectangle 19"/>
          <p:cNvSpPr/>
          <p:nvPr/>
        </p:nvSpPr>
        <p:spPr>
          <a:xfrm>
            <a:off x="10020241" y="4919928"/>
            <a:ext cx="1933634" cy="1652322"/>
          </a:xfrm>
          <a:prstGeom prst="rect">
            <a:avLst/>
          </a:prstGeom>
          <a:solidFill>
            <a:srgbClr val="E572A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U.K.</a:t>
            </a:r>
          </a:p>
          <a:p>
            <a:pPr algn="ctr"/>
            <a:r>
              <a:rPr sz="1100" b="0">
                <a:solidFill>
                  <a:srgbClr val="252423"/>
                </a:solidFill>
                <a:latin typeface="Segoe UI"/>
              </a:rPr>
              <a:t>421</a:t>
            </a:r>
          </a:p>
        </p:txBody>
      </p:sp>
      <p:sp>
        <p:nvSpPr>
          <p:cNvPr id="21" name="TextBox 2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Fabric Construction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2 sub-segments of Fabric Construction,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Global</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Fabric Construction segment categorizes the market by fabric construction.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4943475"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4943475"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Weft Knitted Fabrics</a:t>
            </a:r>
          </a:p>
        </p:txBody>
      </p:sp>
      <p:sp>
        <p:nvSpPr>
          <p:cNvPr id="21" name="Rectangle 20"/>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3,411</a:t>
            </a:r>
          </a:p>
        </p:txBody>
      </p:sp>
      <p:sp>
        <p:nvSpPr>
          <p:cNvPr id="22" name="Rectangle 21"/>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6,721</a:t>
            </a:r>
          </a:p>
        </p:txBody>
      </p:sp>
      <p:sp>
        <p:nvSpPr>
          <p:cNvPr id="23" name="Rectangle 22"/>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7.0%</a:t>
            </a:r>
          </a:p>
        </p:txBody>
      </p:sp>
      <p:sp>
        <p:nvSpPr>
          <p:cNvPr id="24" name="Oval 23"/>
          <p:cNvSpPr/>
          <p:nvPr/>
        </p:nvSpPr>
        <p:spPr>
          <a:xfrm>
            <a:off x="4176712"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6924675" y="1773916"/>
            <a:ext cx="4943475"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24675" y="1992961"/>
            <a:ext cx="4943475"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Warp Knitted Fabrics</a:t>
            </a:r>
          </a:p>
        </p:txBody>
      </p:sp>
      <p:sp>
        <p:nvSpPr>
          <p:cNvPr id="28" name="Rectangle 27"/>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2,073</a:t>
            </a:r>
          </a:p>
        </p:txBody>
      </p:sp>
      <p:sp>
        <p:nvSpPr>
          <p:cNvPr id="29" name="Rectangle 28"/>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4,519</a:t>
            </a:r>
          </a:p>
        </p:txBody>
      </p:sp>
      <p:sp>
        <p:nvSpPr>
          <p:cNvPr id="30" name="Rectangle 29"/>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8.1%</a:t>
            </a:r>
          </a:p>
        </p:txBody>
      </p:sp>
      <p:sp>
        <p:nvSpPr>
          <p:cNvPr id="31" name="Oval 30"/>
          <p:cNvSpPr/>
          <p:nvPr/>
        </p:nvSpPr>
        <p:spPr>
          <a:xfrm>
            <a:off x="9234488"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34" name="Rectangle 33"/>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fabric construction, warp knitted fabrics segment is expected to witness the highest CAGR of 8.1% over the forecast period. In terms of value share by fabric construction, the weft knitted fabrics segment is expected to dominate the market, losing 241 BPS and accounting for 59.8%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Weft knitted fabrics segment is projected to register 1.5X higher value than warp knitted fabrics segment in 2036.</a:t>
            </a:r>
          </a:p>
        </p:txBody>
      </p:sp>
      <p:sp>
        <p:nvSpPr>
          <p:cNvPr id="36" name="Rounded Rectangle 35"/>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38" name="Rectangle 37"/>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Weft Knitted Fabrics: </a:t>
            </a:r>
            <a:r>
              <a:rPr sz="1100" b="0">
                <a:solidFill>
                  <a:srgbClr val="252423"/>
                </a:solidFill>
                <a:latin typeface="Segoe UI"/>
              </a:rPr>
              <a:t>62% of 2026 value · 7.0%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Warp Knitted Fabrics: </a:t>
            </a:r>
            <a:r>
              <a:rPr sz="1100" b="0">
                <a:solidFill>
                  <a:srgbClr val="252423"/>
                </a:solidFill>
                <a:latin typeface="Segoe UI"/>
              </a:rPr>
              <a:t>38% of 2026 value · 8.1% CAGR grows fastest.</a:t>
            </a:r>
          </a:p>
        </p:txBody>
      </p:sp>
      <p:sp>
        <p:nvSpPr>
          <p:cNvPr id="40" name="Rounded Rectangle 39"/>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2" name="Rectangle 41"/>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Fabric Construction split shows how demand is distributed across fabric construction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44" name="Rectangle 43"/>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Fabric Construction segment is projected to grow at a CAGR of 7.4% from 2026 to 2036.</a:t>
            </a:r>
          </a:p>
        </p:txBody>
      </p:sp>
      <p:sp>
        <p:nvSpPr>
          <p:cNvPr id="46" name="TextBox 45"/>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7" name="TextBox 4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&amp; Share Shift, By Fabric Construction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Fabric Construction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Global</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Composition, By Fabric Construction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2590462"/>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2585700"/>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250950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Warp Knitted Fabrics</a:t>
            </a:r>
          </a:p>
        </p:txBody>
      </p:sp>
      <p:sp>
        <p:nvSpPr>
          <p:cNvPr id="17" name="BPS Value 1"/>
          <p:cNvSpPr txBox="1"/>
          <p:nvPr/>
        </p:nvSpPr>
        <p:spPr>
          <a:xfrm>
            <a:off x="6896100" y="2571412"/>
            <a:ext cx="514350" cy="123825"/>
          </a:xfrm>
          <a:prstGeom prst="rect">
            <a:avLst/>
          </a:prstGeom>
          <a:noFill/>
        </p:spPr>
        <p:txBody>
          <a:bodyPr wrap="none" lIns="0" rIns="0" tIns="0" bIns="0" anchor="ctr">
            <a:spAutoFit/>
          </a:bodyPr>
          <a:lstStyle/>
          <a:p>
            <a:pPr algn="r"/>
            <a:r>
              <a:rPr sz="900" b="1">
                <a:solidFill>
                  <a:srgbClr val="1E8E3E"/>
                </a:solidFill>
                <a:latin typeface="Segoe UI"/>
              </a:rPr>
              <a:t>+241</a:t>
            </a:r>
          </a:p>
        </p:txBody>
      </p:sp>
      <p:sp>
        <p:nvSpPr>
          <p:cNvPr id="18" name="FMI Legend Chip"/>
          <p:cNvSpPr/>
          <p:nvPr/>
        </p:nvSpPr>
        <p:spPr>
          <a:xfrm>
            <a:off x="4928997" y="4876653"/>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5090922" y="487189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479569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Weft Knitted Fabrics</a:t>
            </a:r>
          </a:p>
        </p:txBody>
      </p:sp>
      <p:sp>
        <p:nvSpPr>
          <p:cNvPr id="21" name="BPS Value 2"/>
          <p:cNvSpPr txBox="1"/>
          <p:nvPr/>
        </p:nvSpPr>
        <p:spPr>
          <a:xfrm>
            <a:off x="6896100" y="4857603"/>
            <a:ext cx="514350" cy="123825"/>
          </a:xfrm>
          <a:prstGeom prst="rect">
            <a:avLst/>
          </a:prstGeom>
          <a:noFill/>
        </p:spPr>
        <p:txBody>
          <a:bodyPr wrap="none" lIns="0" rIns="0" tIns="0" bIns="0" anchor="ctr">
            <a:spAutoFit/>
          </a:bodyPr>
          <a:lstStyle/>
          <a:p>
            <a:pPr algn="r"/>
            <a:r>
              <a:rPr sz="900" b="1">
                <a:solidFill>
                  <a:srgbClr val="D64545"/>
                </a:solidFill>
                <a:latin typeface="Segoe UI"/>
              </a:rPr>
              <a:t>-241</a:t>
            </a:r>
          </a:p>
        </p:txBody>
      </p:sp>
      <p:sp>
        <p:nvSpPr>
          <p:cNvPr id="22" name="Rectangle 21"/>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Global Read-out, By Fabric Construction</a:t>
            </a:r>
          </a:p>
        </p:txBody>
      </p:sp>
      <p:sp>
        <p:nvSpPr>
          <p:cNvPr id="24" name="Rectangle 23"/>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fabric construction, warp knitted fabrics segment is expected to witness the highest CAGR of 8.1% over the forecast period.</a:t>
            </a:r>
          </a:p>
          <a:p>
            <a:pPr algn="l">
              <a:lnSpc>
                <a:spcPct val="110000"/>
              </a:lnSpc>
              <a:spcBef>
                <a:spcPts val="0"/>
              </a:spcBef>
              <a:spcAft>
                <a:spcPts val="500"/>
              </a:spcAft>
            </a:pPr>
            <a:r>
              <a:rPr sz="1150" b="0">
                <a:solidFill>
                  <a:srgbClr val="252423"/>
                </a:solidFill>
                <a:latin typeface="Segoe UI"/>
              </a:rPr>
              <a:t>In terms of value share by fabric construction, the weft knitted fabrics segment is expected to dominate the market, losing 241 BPS and accounting for 59.8% share by 2036.</a:t>
            </a:r>
          </a:p>
        </p:txBody>
      </p:sp>
      <p:sp>
        <p:nvSpPr>
          <p:cNvPr id="26" name="TextBox 2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Material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6 sub-segments of Material,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Global</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Material segment categorizes the market by material.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1571625"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1571625"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Polyester</a:t>
            </a:r>
          </a:p>
        </p:txBody>
      </p:sp>
      <p:sp>
        <p:nvSpPr>
          <p:cNvPr id="21" name="Rectangle 20"/>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2,401</a:t>
            </a:r>
          </a:p>
        </p:txBody>
      </p:sp>
      <p:sp>
        <p:nvSpPr>
          <p:cNvPr id="22" name="Rectangle 21"/>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4,747</a:t>
            </a:r>
          </a:p>
        </p:txBody>
      </p:sp>
      <p:sp>
        <p:nvSpPr>
          <p:cNvPr id="23" name="Rectangle 22"/>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7.1%</a:t>
            </a:r>
          </a:p>
        </p:txBody>
      </p:sp>
      <p:sp>
        <p:nvSpPr>
          <p:cNvPr id="24" name="Oval 23"/>
          <p:cNvSpPr/>
          <p:nvPr/>
        </p:nvSpPr>
        <p:spPr>
          <a:xfrm>
            <a:off x="2490788"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3552825" y="1773916"/>
            <a:ext cx="1571625"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552825" y="1992961"/>
            <a:ext cx="1571625"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Polyamide or Nylon</a:t>
            </a:r>
          </a:p>
        </p:txBody>
      </p:sp>
      <p:sp>
        <p:nvSpPr>
          <p:cNvPr id="28" name="Rectangle 27"/>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1,156</a:t>
            </a:r>
          </a:p>
        </p:txBody>
      </p:sp>
      <p:sp>
        <p:nvSpPr>
          <p:cNvPr id="29" name="Rectangle 28"/>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2,313</a:t>
            </a:r>
          </a:p>
        </p:txBody>
      </p:sp>
      <p:sp>
        <p:nvSpPr>
          <p:cNvPr id="30" name="Rectangle 29"/>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7.2%</a:t>
            </a:r>
          </a:p>
        </p:txBody>
      </p:sp>
      <p:sp>
        <p:nvSpPr>
          <p:cNvPr id="31" name="Oval 30"/>
          <p:cNvSpPr/>
          <p:nvPr/>
        </p:nvSpPr>
        <p:spPr>
          <a:xfrm>
            <a:off x="4176712"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5238750" y="1773916"/>
            <a:ext cx="1571625"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238750" y="1992961"/>
            <a:ext cx="1571625"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Elastane or Spandex Blends</a:t>
            </a:r>
          </a:p>
        </p:txBody>
      </p:sp>
      <p:sp>
        <p:nvSpPr>
          <p:cNvPr id="35" name="Rectangle 34"/>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736.1</a:t>
            </a:r>
          </a:p>
        </p:txBody>
      </p:sp>
      <p:sp>
        <p:nvSpPr>
          <p:cNvPr id="36" name="Rectangle 35"/>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1,624</a:t>
            </a:r>
          </a:p>
        </p:txBody>
      </p:sp>
      <p:sp>
        <p:nvSpPr>
          <p:cNvPr id="37" name="Rectangle 36"/>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8.2%</a:t>
            </a:r>
          </a:p>
        </p:txBody>
      </p:sp>
      <p:sp>
        <p:nvSpPr>
          <p:cNvPr id="38" name="Oval 37"/>
          <p:cNvSpPr/>
          <p:nvPr/>
        </p:nvSpPr>
        <p:spPr>
          <a:xfrm>
            <a:off x="5862638"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6924675" y="1773916"/>
            <a:ext cx="1571625"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924675" y="1992961"/>
            <a:ext cx="1571625"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High-Performance &amp; Specialty Fibe…</a:t>
            </a:r>
          </a:p>
        </p:txBody>
      </p:sp>
      <p:sp>
        <p:nvSpPr>
          <p:cNvPr id="42" name="Rectangle 41"/>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686.7</a:t>
            </a:r>
          </a:p>
        </p:txBody>
      </p:sp>
      <p:sp>
        <p:nvSpPr>
          <p:cNvPr id="43" name="Rectangle 42"/>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1,573</a:t>
            </a:r>
          </a:p>
        </p:txBody>
      </p:sp>
      <p:sp>
        <p:nvSpPr>
          <p:cNvPr id="44" name="Rectangle 43"/>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8.6%</a:t>
            </a:r>
          </a:p>
        </p:txBody>
      </p:sp>
      <p:sp>
        <p:nvSpPr>
          <p:cNvPr id="45" name="Oval 44"/>
          <p:cNvSpPr/>
          <p:nvPr/>
        </p:nvSpPr>
        <p:spPr>
          <a:xfrm>
            <a:off x="7548562"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8610600" y="1773916"/>
            <a:ext cx="1571625"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610600" y="1992961"/>
            <a:ext cx="1571625"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Cellulosic Fibers</a:t>
            </a:r>
          </a:p>
        </p:txBody>
      </p:sp>
      <p:sp>
        <p:nvSpPr>
          <p:cNvPr id="49" name="Rectangle 48"/>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269.1</a:t>
            </a:r>
          </a:p>
        </p:txBody>
      </p:sp>
      <p:sp>
        <p:nvSpPr>
          <p:cNvPr id="50" name="Rectangle 49"/>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497.1</a:t>
            </a:r>
          </a:p>
        </p:txBody>
      </p:sp>
      <p:sp>
        <p:nvSpPr>
          <p:cNvPr id="51" name="Rectangle 50"/>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6.3%</a:t>
            </a:r>
          </a:p>
        </p:txBody>
      </p:sp>
      <p:sp>
        <p:nvSpPr>
          <p:cNvPr id="52" name="Oval 51"/>
          <p:cNvSpPr/>
          <p:nvPr/>
        </p:nvSpPr>
        <p:spPr>
          <a:xfrm>
            <a:off x="9234488"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53" name="Rounded Rectangle 52"/>
          <p:cNvSpPr/>
          <p:nvPr/>
        </p:nvSpPr>
        <p:spPr>
          <a:xfrm>
            <a:off x="10296525" y="1773916"/>
            <a:ext cx="1571625"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296525" y="1992961"/>
            <a:ext cx="1571625"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Polypropylene</a:t>
            </a:r>
          </a:p>
        </p:txBody>
      </p:sp>
      <p:sp>
        <p:nvSpPr>
          <p:cNvPr id="56" name="Rectangle 55"/>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234.6</a:t>
            </a:r>
          </a:p>
        </p:txBody>
      </p:sp>
      <p:sp>
        <p:nvSpPr>
          <p:cNvPr id="57" name="Rectangle 56"/>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486.5</a:t>
            </a:r>
          </a:p>
        </p:txBody>
      </p:sp>
      <p:sp>
        <p:nvSpPr>
          <p:cNvPr id="58" name="Rectangle 57"/>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7.6%</a:t>
            </a:r>
          </a:p>
        </p:txBody>
      </p:sp>
      <p:sp>
        <p:nvSpPr>
          <p:cNvPr id="59" name="Oval 58"/>
          <p:cNvSpPr/>
          <p:nvPr/>
        </p:nvSpPr>
        <p:spPr>
          <a:xfrm>
            <a:off x="10920412"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60" name="Rounded Rectangle 5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62" name="Rectangle 61"/>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material, high-performance &amp; specialty fibers segment is expected to witness the highest CAGR of 8.6% over the forecast period. In terms of value share by material, the polyester segment is expected to dominate the market, losing 156 BPS and accounting for 42.2%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Polyester segment is projected to register 2.1X higher value than polyamide or nylon segment in 2036.</a:t>
            </a:r>
          </a:p>
        </p:txBody>
      </p:sp>
      <p:sp>
        <p:nvSpPr>
          <p:cNvPr id="64" name="Rounded Rectangle 6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66" name="Rectangle 65"/>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Polyester: </a:t>
            </a:r>
            <a:r>
              <a:rPr sz="1100" b="0">
                <a:solidFill>
                  <a:srgbClr val="252423"/>
                </a:solidFill>
                <a:latin typeface="Segoe UI"/>
              </a:rPr>
              <a:t>44% of 2026 value · 7.1%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Polyamide or Nylon: </a:t>
            </a:r>
            <a:r>
              <a:rPr sz="1100" b="0">
                <a:solidFill>
                  <a:srgbClr val="252423"/>
                </a:solidFill>
                <a:latin typeface="Segoe UI"/>
              </a:rPr>
              <a:t>21% of 2026 value · 7.2%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Elastane or Spandex Blends: </a:t>
            </a:r>
            <a:r>
              <a:rPr sz="1100" b="0">
                <a:solidFill>
                  <a:srgbClr val="252423"/>
                </a:solidFill>
                <a:latin typeface="Segoe UI"/>
              </a:rPr>
              <a:t>13% of 2026 value · 8.2% CAGR serves a niche.</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High-Performance &amp; Specialty Fibers: </a:t>
            </a:r>
            <a:r>
              <a:rPr sz="1100" b="0">
                <a:solidFill>
                  <a:srgbClr val="252423"/>
                </a:solidFill>
                <a:latin typeface="Segoe UI"/>
              </a:rPr>
              <a:t>13% of 2026 value · 8.6% CAGR grows fastest.</a:t>
            </a:r>
          </a:p>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Cellulosic Fibers: </a:t>
            </a:r>
            <a:r>
              <a:rPr sz="1100" b="0">
                <a:solidFill>
                  <a:srgbClr val="252423"/>
                </a:solidFill>
                <a:latin typeface="Segoe UI"/>
              </a:rPr>
              <a:t>5% of 2026 value · 6.3% CAGR serves a niche.</a:t>
            </a:r>
          </a:p>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Polypropylene: </a:t>
            </a:r>
            <a:r>
              <a:rPr sz="1100" b="0">
                <a:solidFill>
                  <a:srgbClr val="252423"/>
                </a:solidFill>
                <a:latin typeface="Segoe UI"/>
              </a:rPr>
              <a:t>4% of 2026 value · 7.6% CAGR serves a niche.</a:t>
            </a:r>
          </a:p>
        </p:txBody>
      </p:sp>
      <p:sp>
        <p:nvSpPr>
          <p:cNvPr id="68" name="Rounded Rectangle 6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70" name="Rectangle 69"/>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Material split shows how demand is distributed across material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72" name="Rectangle 7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Material segment is projected to grow at a CAGR of 7.4% from 2026 to 2036.</a:t>
            </a:r>
          </a:p>
        </p:txBody>
      </p:sp>
      <p:sp>
        <p:nvSpPr>
          <p:cNvPr id="74" name="TextBox 73"/>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75" name="TextBox 7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&amp; Share Shift, By Material</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Material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Global</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Composition, By Material ·  2021 / 2026 / 2036 (US$ Mn)  ·  right axis = BPS share shift</a:t>
            </a:r>
          </a:p>
        </p:txBody>
      </p:sp>
      <p:graphicFrame>
        <p:nvGraphicFramePr>
          <p:cNvPr id="11" name="Chart 10"/>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3932301"/>
            <a:ext cx="38100" cy="38100"/>
          </a:xfrm>
          <a:prstGeom prst="rect">
            <a:avLst/>
          </a:prstGeom>
          <a:noFill/>
        </p:spPr>
        <p:txBody>
          <a:bodyPr wrap="none">
            <a:spAutoFit/>
          </a:bodyPr>
          <a:lstStyle/>
          <a:p/>
        </p:txBody>
      </p:sp>
      <p:sp>
        <p:nvSpPr>
          <p:cNvPr id="14" name="FMI Legend Chip"/>
          <p:cNvSpPr/>
          <p:nvPr/>
        </p:nvSpPr>
        <p:spPr>
          <a:xfrm>
            <a:off x="4928997" y="1609169"/>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1604407"/>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52820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Polypropylene</a:t>
            </a:r>
          </a:p>
        </p:txBody>
      </p:sp>
      <p:sp>
        <p:nvSpPr>
          <p:cNvPr id="17" name="BPS Value 1"/>
          <p:cNvSpPr txBox="1"/>
          <p:nvPr/>
        </p:nvSpPr>
        <p:spPr>
          <a:xfrm>
            <a:off x="6896100" y="1590119"/>
            <a:ext cx="514350" cy="123825"/>
          </a:xfrm>
          <a:prstGeom prst="rect">
            <a:avLst/>
          </a:prstGeom>
          <a:noFill/>
        </p:spPr>
        <p:txBody>
          <a:bodyPr wrap="none" lIns="0" rIns="0" tIns="0" bIns="0" anchor="ctr">
            <a:spAutoFit/>
          </a:bodyPr>
          <a:lstStyle/>
          <a:p>
            <a:pPr algn="r"/>
            <a:r>
              <a:rPr sz="900" b="1">
                <a:solidFill>
                  <a:srgbClr val="1E8E3E"/>
                </a:solidFill>
                <a:latin typeface="Segoe UI"/>
              </a:rPr>
              <a:t>+5</a:t>
            </a:r>
          </a:p>
        </p:txBody>
      </p:sp>
      <p:sp>
        <p:nvSpPr>
          <p:cNvPr id="18" name="FMI Legend Chip"/>
          <p:cNvSpPr/>
          <p:nvPr/>
        </p:nvSpPr>
        <p:spPr>
          <a:xfrm>
            <a:off x="4928997" y="1816433"/>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5090922" y="1811671"/>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173547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Cellulosic Fibers</a:t>
            </a:r>
          </a:p>
        </p:txBody>
      </p:sp>
      <p:sp>
        <p:nvSpPr>
          <p:cNvPr id="21" name="BPS Value 2"/>
          <p:cNvSpPr txBox="1"/>
          <p:nvPr/>
        </p:nvSpPr>
        <p:spPr>
          <a:xfrm>
            <a:off x="6896100" y="1797383"/>
            <a:ext cx="514350" cy="123825"/>
          </a:xfrm>
          <a:prstGeom prst="rect">
            <a:avLst/>
          </a:prstGeom>
          <a:noFill/>
        </p:spPr>
        <p:txBody>
          <a:bodyPr wrap="none" lIns="0" rIns="0" tIns="0" bIns="0" anchor="ctr">
            <a:spAutoFit/>
          </a:bodyPr>
          <a:lstStyle/>
          <a:p>
            <a:pPr algn="r"/>
            <a:r>
              <a:rPr sz="900" b="1">
                <a:solidFill>
                  <a:srgbClr val="D64545"/>
                </a:solidFill>
                <a:latin typeface="Segoe UI"/>
              </a:rPr>
              <a:t>-48</a:t>
            </a:r>
          </a:p>
        </p:txBody>
      </p:sp>
      <p:sp>
        <p:nvSpPr>
          <p:cNvPr id="22" name="FMI Legend Chip"/>
          <p:cNvSpPr/>
          <p:nvPr/>
        </p:nvSpPr>
        <p:spPr>
          <a:xfrm>
            <a:off x="4928997" y="2252629"/>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5090922" y="2247866"/>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17166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High-Performance &amp; Specialty Fibers</a:t>
            </a:r>
          </a:p>
        </p:txBody>
      </p:sp>
      <p:sp>
        <p:nvSpPr>
          <p:cNvPr id="25" name="BPS Value 3"/>
          <p:cNvSpPr txBox="1"/>
          <p:nvPr/>
        </p:nvSpPr>
        <p:spPr>
          <a:xfrm>
            <a:off x="6896100" y="2233579"/>
            <a:ext cx="514350" cy="123825"/>
          </a:xfrm>
          <a:prstGeom prst="rect">
            <a:avLst/>
          </a:prstGeom>
          <a:noFill/>
        </p:spPr>
        <p:txBody>
          <a:bodyPr wrap="none" lIns="0" rIns="0" tIns="0" bIns="0" anchor="ctr">
            <a:spAutoFit/>
          </a:bodyPr>
          <a:lstStyle/>
          <a:p>
            <a:pPr algn="r"/>
            <a:r>
              <a:rPr sz="900" b="1">
                <a:solidFill>
                  <a:srgbClr val="1E8E3E"/>
                </a:solidFill>
                <a:latin typeface="Segoe UI"/>
              </a:rPr>
              <a:t>+147</a:t>
            </a:r>
          </a:p>
        </p:txBody>
      </p:sp>
      <p:sp>
        <p:nvSpPr>
          <p:cNvPr id="26" name="FMI Legend Chip"/>
          <p:cNvSpPr/>
          <p:nvPr/>
        </p:nvSpPr>
        <p:spPr>
          <a:xfrm>
            <a:off x="4928997" y="2926316"/>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5090922" y="292155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284535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Elastane or Spandex Blends</a:t>
            </a:r>
          </a:p>
        </p:txBody>
      </p:sp>
      <p:sp>
        <p:nvSpPr>
          <p:cNvPr id="29" name="BPS Value 4"/>
          <p:cNvSpPr txBox="1"/>
          <p:nvPr/>
        </p:nvSpPr>
        <p:spPr>
          <a:xfrm>
            <a:off x="6896100" y="2907266"/>
            <a:ext cx="514350" cy="123825"/>
          </a:xfrm>
          <a:prstGeom prst="rect">
            <a:avLst/>
          </a:prstGeom>
          <a:noFill/>
        </p:spPr>
        <p:txBody>
          <a:bodyPr wrap="none" lIns="0" rIns="0" tIns="0" bIns="0" anchor="ctr">
            <a:spAutoFit/>
          </a:bodyPr>
          <a:lstStyle/>
          <a:p>
            <a:pPr algn="r"/>
            <a:r>
              <a:rPr sz="900" b="1">
                <a:solidFill>
                  <a:srgbClr val="1E8E3E"/>
                </a:solidFill>
                <a:latin typeface="Segoe UI"/>
              </a:rPr>
              <a:t>+103</a:t>
            </a:r>
          </a:p>
        </p:txBody>
      </p:sp>
      <p:sp>
        <p:nvSpPr>
          <p:cNvPr id="30" name="FMI Legend Chip"/>
          <p:cNvSpPr/>
          <p:nvPr/>
        </p:nvSpPr>
        <p:spPr>
          <a:xfrm>
            <a:off x="4928997" y="3755881"/>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rot="10800000">
            <a:off x="5090922" y="3751119"/>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367491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Polyamide or Nylon</a:t>
            </a:r>
          </a:p>
        </p:txBody>
      </p:sp>
      <p:sp>
        <p:nvSpPr>
          <p:cNvPr id="33" name="BPS Value 5"/>
          <p:cNvSpPr txBox="1"/>
          <p:nvPr/>
        </p:nvSpPr>
        <p:spPr>
          <a:xfrm>
            <a:off x="6896100" y="3736831"/>
            <a:ext cx="514350" cy="123825"/>
          </a:xfrm>
          <a:prstGeom prst="rect">
            <a:avLst/>
          </a:prstGeom>
          <a:noFill/>
        </p:spPr>
        <p:txBody>
          <a:bodyPr wrap="none" lIns="0" rIns="0" tIns="0" bIns="0" anchor="ctr">
            <a:spAutoFit/>
          </a:bodyPr>
          <a:lstStyle/>
          <a:p>
            <a:pPr algn="r"/>
            <a:r>
              <a:rPr sz="900" b="1">
                <a:solidFill>
                  <a:srgbClr val="D64545"/>
                </a:solidFill>
                <a:latin typeface="Segoe UI"/>
              </a:rPr>
              <a:t>-51</a:t>
            </a:r>
          </a:p>
        </p:txBody>
      </p:sp>
      <p:sp>
        <p:nvSpPr>
          <p:cNvPr id="34" name="FMI Legend Chip"/>
          <p:cNvSpPr/>
          <p:nvPr/>
        </p:nvSpPr>
        <p:spPr>
          <a:xfrm>
            <a:off x="4928997" y="5243417"/>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rot="10800000">
            <a:off x="5090922" y="523865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516245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Polyester</a:t>
            </a:r>
          </a:p>
        </p:txBody>
      </p:sp>
      <p:sp>
        <p:nvSpPr>
          <p:cNvPr id="37" name="BPS Value 6"/>
          <p:cNvSpPr txBox="1"/>
          <p:nvPr/>
        </p:nvSpPr>
        <p:spPr>
          <a:xfrm>
            <a:off x="6896100" y="5224367"/>
            <a:ext cx="514350" cy="123825"/>
          </a:xfrm>
          <a:prstGeom prst="rect">
            <a:avLst/>
          </a:prstGeom>
          <a:noFill/>
        </p:spPr>
        <p:txBody>
          <a:bodyPr wrap="none" lIns="0" rIns="0" tIns="0" bIns="0" anchor="ctr">
            <a:spAutoFit/>
          </a:bodyPr>
          <a:lstStyle/>
          <a:p>
            <a:pPr algn="r"/>
            <a:r>
              <a:rPr sz="900" b="1">
                <a:solidFill>
                  <a:srgbClr val="D64545"/>
                </a:solidFill>
                <a:latin typeface="Segoe UI"/>
              </a:rPr>
              <a:t>-156</a:t>
            </a:r>
          </a:p>
        </p:txBody>
      </p:sp>
      <p:sp>
        <p:nvSpPr>
          <p:cNvPr id="38" name="Rectangle 37"/>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Global Read-out, By Material</a:t>
            </a:r>
          </a:p>
        </p:txBody>
      </p:sp>
      <p:sp>
        <p:nvSpPr>
          <p:cNvPr id="40" name="Rectangle 39"/>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material, high-performance &amp; specialty fibers segment is expected to witness the highest CAGR of 8.6% over the forecast period.</a:t>
            </a:r>
          </a:p>
          <a:p>
            <a:pPr algn="l">
              <a:lnSpc>
                <a:spcPct val="110000"/>
              </a:lnSpc>
              <a:spcBef>
                <a:spcPts val="0"/>
              </a:spcBef>
              <a:spcAft>
                <a:spcPts val="500"/>
              </a:spcAft>
            </a:pPr>
            <a:r>
              <a:rPr sz="1150" b="0">
                <a:solidFill>
                  <a:srgbClr val="252423"/>
                </a:solidFill>
                <a:latin typeface="Segoe UI"/>
              </a:rPr>
              <a:t>In terms of value share by material, the polyester segment is expected to dominate the market, losing 156 BPS and accounting for 42.2% share by 2036.</a:t>
            </a:r>
          </a:p>
        </p:txBody>
      </p:sp>
      <p:sp>
        <p:nvSpPr>
          <p:cNvPr id="42" name="TextBox 4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Primary Performance Function Segment Outlook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10 sub-segments of Primary Performance Function,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Global</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Primary Performance Function segment categorizes the market by primary performance function.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190881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190881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Moisture Management &amp; Quick-Dry</a:t>
            </a:r>
          </a:p>
        </p:txBody>
      </p:sp>
      <p:sp>
        <p:nvSpPr>
          <p:cNvPr id="21" name="Rectangle 20"/>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1,163</a:t>
            </a:r>
          </a:p>
        </p:txBody>
      </p:sp>
      <p:sp>
        <p:nvSpPr>
          <p:cNvPr id="22" name="Rectangle 21"/>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2,390</a:t>
            </a:r>
          </a:p>
        </p:txBody>
      </p:sp>
      <p:sp>
        <p:nvSpPr>
          <p:cNvPr id="23" name="Rectangle 22"/>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7.5%</a:t>
            </a:r>
          </a:p>
        </p:txBody>
      </p:sp>
      <p:sp>
        <p:nvSpPr>
          <p:cNvPr id="24" name="Oval 23"/>
          <p:cNvSpPr/>
          <p:nvPr/>
        </p:nvSpPr>
        <p:spPr>
          <a:xfrm>
            <a:off x="265938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3890010" y="1773916"/>
            <a:ext cx="190881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890010" y="1992961"/>
            <a:ext cx="190881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Stretch &amp; Recovery</a:t>
            </a:r>
          </a:p>
        </p:txBody>
      </p:sp>
      <p:sp>
        <p:nvSpPr>
          <p:cNvPr id="28" name="Rectangle 27"/>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953.2</a:t>
            </a:r>
          </a:p>
        </p:txBody>
      </p:sp>
      <p:sp>
        <p:nvSpPr>
          <p:cNvPr id="29" name="Rectangle 28"/>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1,876</a:t>
            </a:r>
          </a:p>
        </p:txBody>
      </p:sp>
      <p:sp>
        <p:nvSpPr>
          <p:cNvPr id="30" name="Rectangle 29"/>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7.0%</a:t>
            </a:r>
          </a:p>
        </p:txBody>
      </p:sp>
      <p:sp>
        <p:nvSpPr>
          <p:cNvPr id="31" name="Oval 30"/>
          <p:cNvSpPr/>
          <p:nvPr/>
        </p:nvSpPr>
        <p:spPr>
          <a:xfrm>
            <a:off x="468249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5913120" y="1773916"/>
            <a:ext cx="190881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913120" y="1992961"/>
            <a:ext cx="190881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Thermal Management</a:t>
            </a:r>
          </a:p>
        </p:txBody>
      </p:sp>
      <p:sp>
        <p:nvSpPr>
          <p:cNvPr id="35" name="Rectangle 34"/>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869.6</a:t>
            </a:r>
          </a:p>
        </p:txBody>
      </p:sp>
      <p:sp>
        <p:nvSpPr>
          <p:cNvPr id="36" name="Rectangle 35"/>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1,913</a:t>
            </a:r>
          </a:p>
        </p:txBody>
      </p:sp>
      <p:sp>
        <p:nvSpPr>
          <p:cNvPr id="37" name="Rectangle 36"/>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8.2%</a:t>
            </a:r>
          </a:p>
        </p:txBody>
      </p:sp>
      <p:sp>
        <p:nvSpPr>
          <p:cNvPr id="38" name="Oval 37"/>
          <p:cNvSpPr/>
          <p:nvPr/>
        </p:nvSpPr>
        <p:spPr>
          <a:xfrm>
            <a:off x="670560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7936230" y="1773916"/>
            <a:ext cx="1908810"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36230" y="1992961"/>
            <a:ext cx="1908810"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Compression &amp; Support</a:t>
            </a:r>
          </a:p>
        </p:txBody>
      </p:sp>
      <p:sp>
        <p:nvSpPr>
          <p:cNvPr id="42" name="Rectangle 41"/>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668.6</a:t>
            </a:r>
          </a:p>
        </p:txBody>
      </p:sp>
      <p:sp>
        <p:nvSpPr>
          <p:cNvPr id="43" name="Rectangle 42"/>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1,327</a:t>
            </a:r>
          </a:p>
        </p:txBody>
      </p:sp>
      <p:sp>
        <p:nvSpPr>
          <p:cNvPr id="44" name="Rectangle 43"/>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7.1%</a:t>
            </a:r>
          </a:p>
        </p:txBody>
      </p:sp>
      <p:sp>
        <p:nvSpPr>
          <p:cNvPr id="45" name="Oval 44"/>
          <p:cNvSpPr/>
          <p:nvPr/>
        </p:nvSpPr>
        <p:spPr>
          <a:xfrm>
            <a:off x="8728710"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9959340" y="1773916"/>
            <a:ext cx="1908810"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959340" y="1992961"/>
            <a:ext cx="1908810"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Abrasion &amp; Tear Resistance</a:t>
            </a:r>
          </a:p>
        </p:txBody>
      </p:sp>
      <p:sp>
        <p:nvSpPr>
          <p:cNvPr id="49" name="Rectangle 48"/>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516.7</a:t>
            </a:r>
          </a:p>
        </p:txBody>
      </p:sp>
      <p:sp>
        <p:nvSpPr>
          <p:cNvPr id="50" name="Rectangle 49"/>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975.8</a:t>
            </a:r>
          </a:p>
        </p:txBody>
      </p:sp>
      <p:sp>
        <p:nvSpPr>
          <p:cNvPr id="51" name="Rectangle 50"/>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6.6%</a:t>
            </a:r>
          </a:p>
        </p:txBody>
      </p:sp>
      <p:sp>
        <p:nvSpPr>
          <p:cNvPr id="52" name="Oval 51"/>
          <p:cNvSpPr/>
          <p:nvPr/>
        </p:nvSpPr>
        <p:spPr>
          <a:xfrm>
            <a:off x="10751820"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53" name="Rounded Rectangle 5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55" name="Rectangle 54"/>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Among performance knitted fabrics by primary performance function, other specialized performance segment is expected to witness the highest CAGR of 8.9% over the forecast period. In terms of value share by primary performance function, the moisture management &amp; quick-dry segment is expected to dominate the market, maintaining its share and accounting for 21.3% share by 2036.</a:t>
            </a:r>
          </a:p>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Moisture management &amp; quick-dry segment is projected to register 1.2X higher value than thermal management segment in 2036.</a:t>
            </a:r>
          </a:p>
        </p:txBody>
      </p:sp>
      <p:sp>
        <p:nvSpPr>
          <p:cNvPr id="57" name="Rounded Rectangle 5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9" name="Rectangle 58"/>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Moisture Management &amp; Quick-Dry: </a:t>
            </a:r>
            <a:r>
              <a:rPr sz="1100" b="0">
                <a:solidFill>
                  <a:srgbClr val="252423"/>
                </a:solidFill>
                <a:latin typeface="Segoe UI"/>
              </a:rPr>
              <a:t>21% of 2026 value · 7.5%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Stretch &amp; Recovery: </a:t>
            </a:r>
            <a:r>
              <a:rPr sz="1100" b="0">
                <a:solidFill>
                  <a:srgbClr val="252423"/>
                </a:solidFill>
                <a:latin typeface="Segoe UI"/>
              </a:rPr>
              <a:t>17% of 2026 value · 7.0%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Thermal Management: </a:t>
            </a:r>
            <a:r>
              <a:rPr sz="1100" b="0">
                <a:solidFill>
                  <a:srgbClr val="252423"/>
                </a:solidFill>
                <a:latin typeface="Segoe UI"/>
              </a:rPr>
              <a:t>16% of 2026 value · 8.2% CAGR serves a niche.</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Compression &amp; Support: </a:t>
            </a:r>
            <a:r>
              <a:rPr sz="1100" b="0">
                <a:solidFill>
                  <a:srgbClr val="252423"/>
                </a:solidFill>
                <a:latin typeface="Segoe UI"/>
              </a:rPr>
              <a:t>12% of 2026 value · 7.1% CAGR serves a niche.</a:t>
            </a:r>
          </a:p>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Abrasion &amp; Tear Resistance: </a:t>
            </a:r>
            <a:r>
              <a:rPr sz="1100" b="0">
                <a:solidFill>
                  <a:srgbClr val="252423"/>
                </a:solidFill>
                <a:latin typeface="Segoe UI"/>
              </a:rPr>
              <a:t>9% of 2026 value · 6.6% CAGR serves a niche.</a:t>
            </a:r>
          </a:p>
        </p:txBody>
      </p:sp>
      <p:sp>
        <p:nvSpPr>
          <p:cNvPr id="61" name="Rounded Rectangle 6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63" name="Rectangle 62"/>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Primary Performance Function split shows how demand is distributed across primary performance function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65" name="Rectangle 6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Primary Performance Function segment is projected to grow at a CAGR of 7.4% from 2026 to 2036.</a:t>
            </a:r>
          </a:p>
        </p:txBody>
      </p:sp>
      <p:sp>
        <p:nvSpPr>
          <p:cNvPr id="67" name="TextBox 66"/>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8" name="TextBox 6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Primary Performance Function Segment Outlook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10 sub-segments of Primary Performance Function,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Primary Performance Function segment categorizes the market by primary performance function.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1908810"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1908810"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Antimicrobial &amp; Odor Control</a:t>
            </a:r>
          </a:p>
        </p:txBody>
      </p:sp>
      <p:sp>
        <p:nvSpPr>
          <p:cNvPr id="20" name="Rectangle 19"/>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466.4</a:t>
            </a:r>
          </a:p>
        </p:txBody>
      </p:sp>
      <p:sp>
        <p:nvSpPr>
          <p:cNvPr id="21" name="Rectangle 20"/>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1,037</a:t>
            </a:r>
          </a:p>
        </p:txBody>
      </p:sp>
      <p:sp>
        <p:nvSpPr>
          <p:cNvPr id="22" name="Rectangle 21"/>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8.3%</a:t>
            </a:r>
          </a:p>
        </p:txBody>
      </p:sp>
      <p:sp>
        <p:nvSpPr>
          <p:cNvPr id="23" name="Oval 22"/>
          <p:cNvSpPr/>
          <p:nvPr/>
        </p:nvSpPr>
        <p:spPr>
          <a:xfrm>
            <a:off x="2659380"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24" name="Rounded Rectangle 23"/>
          <p:cNvSpPr/>
          <p:nvPr/>
        </p:nvSpPr>
        <p:spPr>
          <a:xfrm>
            <a:off x="3890010" y="1773916"/>
            <a:ext cx="1908810"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90010" y="1992961"/>
            <a:ext cx="1908810"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Water or Liquid Management</a:t>
            </a:r>
          </a:p>
        </p:txBody>
      </p:sp>
      <p:sp>
        <p:nvSpPr>
          <p:cNvPr id="27" name="Rectangle 26"/>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302.2</a:t>
            </a:r>
          </a:p>
        </p:txBody>
      </p:sp>
      <p:sp>
        <p:nvSpPr>
          <p:cNvPr id="28" name="Rectangle 27"/>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589.0</a:t>
            </a:r>
          </a:p>
        </p:txBody>
      </p:sp>
      <p:sp>
        <p:nvSpPr>
          <p:cNvPr id="29" name="Rectangle 28"/>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6.9%</a:t>
            </a:r>
          </a:p>
        </p:txBody>
      </p:sp>
      <p:sp>
        <p:nvSpPr>
          <p:cNvPr id="30" name="Oval 29"/>
          <p:cNvSpPr/>
          <p:nvPr/>
        </p:nvSpPr>
        <p:spPr>
          <a:xfrm>
            <a:off x="4682490"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31" name="Rounded Rectangle 30"/>
          <p:cNvSpPr/>
          <p:nvPr/>
        </p:nvSpPr>
        <p:spPr>
          <a:xfrm>
            <a:off x="5913120" y="1773916"/>
            <a:ext cx="190881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913120" y="1992961"/>
            <a:ext cx="190881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UV Protection</a:t>
            </a:r>
          </a:p>
        </p:txBody>
      </p:sp>
      <p:sp>
        <p:nvSpPr>
          <p:cNvPr id="34" name="Rectangle 33"/>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238.0</a:t>
            </a:r>
          </a:p>
        </p:txBody>
      </p:sp>
      <p:sp>
        <p:nvSpPr>
          <p:cNvPr id="35" name="Rectangle 34"/>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453.0</a:t>
            </a:r>
          </a:p>
        </p:txBody>
      </p:sp>
      <p:sp>
        <p:nvSpPr>
          <p:cNvPr id="36" name="Rectangle 35"/>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6.6%</a:t>
            </a:r>
          </a:p>
        </p:txBody>
      </p:sp>
      <p:sp>
        <p:nvSpPr>
          <p:cNvPr id="37" name="Oval 36"/>
          <p:cNvSpPr/>
          <p:nvPr/>
        </p:nvSpPr>
        <p:spPr>
          <a:xfrm>
            <a:off x="670560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8</a:t>
            </a:r>
          </a:p>
        </p:txBody>
      </p:sp>
      <p:sp>
        <p:nvSpPr>
          <p:cNvPr id="38" name="Rounded Rectangle 37"/>
          <p:cNvSpPr/>
          <p:nvPr/>
        </p:nvSpPr>
        <p:spPr>
          <a:xfrm>
            <a:off x="7936230" y="1773916"/>
            <a:ext cx="190881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936230" y="1992961"/>
            <a:ext cx="190881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Flame &amp; Heat Resistance</a:t>
            </a:r>
          </a:p>
        </p:txBody>
      </p:sp>
      <p:sp>
        <p:nvSpPr>
          <p:cNvPr id="41" name="Rectangle 40"/>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159.6</a:t>
            </a:r>
          </a:p>
        </p:txBody>
      </p:sp>
      <p:sp>
        <p:nvSpPr>
          <p:cNvPr id="42" name="Rectangle 41"/>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334.7</a:t>
            </a:r>
          </a:p>
        </p:txBody>
      </p:sp>
      <p:sp>
        <p:nvSpPr>
          <p:cNvPr id="43" name="Rectangle 42"/>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7.7%</a:t>
            </a:r>
          </a:p>
        </p:txBody>
      </p:sp>
      <p:sp>
        <p:nvSpPr>
          <p:cNvPr id="44" name="Oval 43"/>
          <p:cNvSpPr/>
          <p:nvPr/>
        </p:nvSpPr>
        <p:spPr>
          <a:xfrm>
            <a:off x="872871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9</a:t>
            </a:r>
          </a:p>
        </p:txBody>
      </p:sp>
      <p:sp>
        <p:nvSpPr>
          <p:cNvPr id="45" name="Rounded Rectangle 44"/>
          <p:cNvSpPr/>
          <p:nvPr/>
        </p:nvSpPr>
        <p:spPr>
          <a:xfrm>
            <a:off x="9959340" y="1773916"/>
            <a:ext cx="190881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959340" y="1992961"/>
            <a:ext cx="190881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Other Specialized Performance</a:t>
            </a:r>
          </a:p>
        </p:txBody>
      </p:sp>
      <p:sp>
        <p:nvSpPr>
          <p:cNvPr id="48" name="Rectangle 47"/>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146.9</a:t>
            </a:r>
          </a:p>
        </p:txBody>
      </p:sp>
      <p:sp>
        <p:nvSpPr>
          <p:cNvPr id="49" name="Rectangle 48"/>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343.5</a:t>
            </a:r>
          </a:p>
        </p:txBody>
      </p:sp>
      <p:sp>
        <p:nvSpPr>
          <p:cNvPr id="50" name="Rectangle 49"/>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8.9%</a:t>
            </a:r>
          </a:p>
        </p:txBody>
      </p:sp>
      <p:sp>
        <p:nvSpPr>
          <p:cNvPr id="51" name="Oval 50"/>
          <p:cNvSpPr/>
          <p:nvPr/>
        </p:nvSpPr>
        <p:spPr>
          <a:xfrm>
            <a:off x="1075182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10</a:t>
            </a:r>
          </a:p>
        </p:txBody>
      </p:sp>
      <p:sp>
        <p:nvSpPr>
          <p:cNvPr id="52" name="Rounded Rectangle 51"/>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4" name="Rectangle 53"/>
          <p:cNvSpPr/>
          <p:nvPr/>
        </p:nvSpPr>
        <p:spPr>
          <a:xfrm>
            <a:off x="457200" y="4146897"/>
            <a:ext cx="112776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Antimicrobial &amp; Odor Control: </a:t>
            </a:r>
            <a:r>
              <a:rPr sz="1100" b="0">
                <a:solidFill>
                  <a:srgbClr val="252423"/>
                </a:solidFill>
                <a:latin typeface="Segoe UI"/>
              </a:rPr>
              <a:t>9% of 2026 value · 8.3% CAGR serves a niche.</a:t>
            </a:r>
          </a:p>
          <a:p>
            <a:pPr algn="l">
              <a:lnSpc>
                <a:spcPct val="110000"/>
              </a:lnSpc>
              <a:spcBef>
                <a:spcPts val="0"/>
              </a:spcBef>
              <a:spcAft>
                <a:spcPts val="500"/>
              </a:spcAft>
            </a:pPr>
            <a:r>
              <a:rPr sz="1100" b="0">
                <a:solidFill>
                  <a:srgbClr val="2C6E7F"/>
                </a:solidFill>
                <a:latin typeface="Segoe UI"/>
              </a:rPr>
              <a:t>●  </a:t>
            </a:r>
            <a:r>
              <a:rPr sz="1100" b="1">
                <a:solidFill>
                  <a:srgbClr val="2C6E7F"/>
                </a:solidFill>
                <a:latin typeface="Segoe UI"/>
              </a:rPr>
              <a:t>Water or Liquid Management: </a:t>
            </a:r>
            <a:r>
              <a:rPr sz="1100" b="0">
                <a:solidFill>
                  <a:srgbClr val="252423"/>
                </a:solidFill>
                <a:latin typeface="Segoe UI"/>
              </a:rPr>
              <a:t>6% of 2026 value · 6.9% CAGR serves a niche.</a:t>
            </a:r>
          </a:p>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UV Protection: </a:t>
            </a:r>
            <a:r>
              <a:rPr sz="1100" b="0">
                <a:solidFill>
                  <a:srgbClr val="252423"/>
                </a:solidFill>
                <a:latin typeface="Segoe UI"/>
              </a:rPr>
              <a:t>4% of 2026 value · 6.6% CAGR serves a niche.</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Flame &amp; Heat Resistance: </a:t>
            </a:r>
            <a:r>
              <a:rPr sz="1100" b="0">
                <a:solidFill>
                  <a:srgbClr val="252423"/>
                </a:solidFill>
                <a:latin typeface="Segoe UI"/>
              </a:rPr>
              <a:t>3% of 2026 value · 7.7%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Other Specialized Performance: </a:t>
            </a:r>
            <a:r>
              <a:rPr sz="1100" b="0">
                <a:solidFill>
                  <a:srgbClr val="252423"/>
                </a:solidFill>
                <a:latin typeface="Segoe UI"/>
              </a:rPr>
              <a:t>3% of 2026 value · 8.9% CAGR grows fastest.</a:t>
            </a:r>
          </a:p>
        </p:txBody>
      </p:sp>
      <p:sp>
        <p:nvSpPr>
          <p:cNvPr id="56" name="TextBox 55"/>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57" name="TextBox 5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&amp; Share Shift, By Primary Performance Function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Primary Performance Function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Global</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Composition, By Primary Performance Function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739330"/>
            <a:ext cx="85725" cy="85725"/>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1734567"/>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65836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Flame &amp; Heat Resistance</a:t>
            </a:r>
          </a:p>
        </p:txBody>
      </p:sp>
      <p:sp>
        <p:nvSpPr>
          <p:cNvPr id="17" name="BPS Value 1"/>
          <p:cNvSpPr txBox="1"/>
          <p:nvPr/>
        </p:nvSpPr>
        <p:spPr>
          <a:xfrm>
            <a:off x="6896100" y="1720280"/>
            <a:ext cx="514350" cy="123825"/>
          </a:xfrm>
          <a:prstGeom prst="rect">
            <a:avLst/>
          </a:prstGeom>
          <a:noFill/>
        </p:spPr>
        <p:txBody>
          <a:bodyPr wrap="none" lIns="0" rIns="0" tIns="0" bIns="0" anchor="ctr">
            <a:spAutoFit/>
          </a:bodyPr>
          <a:lstStyle/>
          <a:p>
            <a:pPr algn="r"/>
            <a:r>
              <a:rPr sz="900" b="1">
                <a:solidFill>
                  <a:srgbClr val="1E8E3E"/>
                </a:solidFill>
                <a:latin typeface="Segoe UI"/>
              </a:rPr>
              <a:t>+7</a:t>
            </a:r>
          </a:p>
        </p:txBody>
      </p:sp>
      <p:sp>
        <p:nvSpPr>
          <p:cNvPr id="18" name="FMI Legend Chip"/>
          <p:cNvSpPr/>
          <p:nvPr/>
        </p:nvSpPr>
        <p:spPr>
          <a:xfrm>
            <a:off x="4928997" y="1877277"/>
            <a:ext cx="85725" cy="85725"/>
          </a:xfrm>
          <a:prstGeom prst="rect">
            <a:avLst/>
          </a:prstGeom>
          <a:solidFill>
            <a:srgbClr val="CF7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187251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179631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Other Specialized Performance</a:t>
            </a:r>
          </a:p>
        </p:txBody>
      </p:sp>
      <p:sp>
        <p:nvSpPr>
          <p:cNvPr id="21" name="BPS Value 2"/>
          <p:cNvSpPr txBox="1"/>
          <p:nvPr/>
        </p:nvSpPr>
        <p:spPr>
          <a:xfrm>
            <a:off x="6896100" y="1858227"/>
            <a:ext cx="514350" cy="123825"/>
          </a:xfrm>
          <a:prstGeom prst="rect">
            <a:avLst/>
          </a:prstGeom>
          <a:noFill/>
        </p:spPr>
        <p:txBody>
          <a:bodyPr wrap="none" lIns="0" rIns="0" tIns="0" bIns="0" anchor="ctr">
            <a:spAutoFit/>
          </a:bodyPr>
          <a:lstStyle/>
          <a:p>
            <a:pPr algn="r"/>
            <a:r>
              <a:rPr sz="900" b="1">
                <a:solidFill>
                  <a:srgbClr val="1E8E3E"/>
                </a:solidFill>
                <a:latin typeface="Segoe UI"/>
              </a:rPr>
              <a:t>+38</a:t>
            </a:r>
          </a:p>
        </p:txBody>
      </p:sp>
      <p:sp>
        <p:nvSpPr>
          <p:cNvPr id="22" name="FMI Legend Chip"/>
          <p:cNvSpPr/>
          <p:nvPr/>
        </p:nvSpPr>
        <p:spPr>
          <a:xfrm>
            <a:off x="4928997" y="2039284"/>
            <a:ext cx="85725" cy="85725"/>
          </a:xfrm>
          <a:prstGeom prst="rect">
            <a:avLst/>
          </a:prstGeom>
          <a:solidFill>
            <a:srgbClr val="7D7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rot="10800000">
            <a:off x="5090922" y="2034521"/>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195832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UV Protection</a:t>
            </a:r>
          </a:p>
        </p:txBody>
      </p:sp>
      <p:sp>
        <p:nvSpPr>
          <p:cNvPr id="25" name="BPS Value 3"/>
          <p:cNvSpPr txBox="1"/>
          <p:nvPr/>
        </p:nvSpPr>
        <p:spPr>
          <a:xfrm>
            <a:off x="6896100" y="2020234"/>
            <a:ext cx="514350" cy="123825"/>
          </a:xfrm>
          <a:prstGeom prst="rect">
            <a:avLst/>
          </a:prstGeom>
          <a:noFill/>
        </p:spPr>
        <p:txBody>
          <a:bodyPr wrap="none" lIns="0" rIns="0" tIns="0" bIns="0" anchor="ctr">
            <a:spAutoFit/>
          </a:bodyPr>
          <a:lstStyle/>
          <a:p>
            <a:pPr algn="r"/>
            <a:r>
              <a:rPr sz="900" b="1">
                <a:solidFill>
                  <a:srgbClr val="D64545"/>
                </a:solidFill>
                <a:latin typeface="Segoe UI"/>
              </a:rPr>
              <a:t>-31</a:t>
            </a:r>
          </a:p>
        </p:txBody>
      </p:sp>
      <p:sp>
        <p:nvSpPr>
          <p:cNvPr id="26" name="FMI Legend Chip"/>
          <p:cNvSpPr/>
          <p:nvPr/>
        </p:nvSpPr>
        <p:spPr>
          <a:xfrm>
            <a:off x="4928997" y="2251218"/>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rot="10800000">
            <a:off x="5090922" y="224645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217025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Water or Liquid Management</a:t>
            </a:r>
          </a:p>
        </p:txBody>
      </p:sp>
      <p:sp>
        <p:nvSpPr>
          <p:cNvPr id="29" name="BPS Value 4"/>
          <p:cNvSpPr txBox="1"/>
          <p:nvPr/>
        </p:nvSpPr>
        <p:spPr>
          <a:xfrm>
            <a:off x="6896100" y="2232168"/>
            <a:ext cx="514350" cy="123825"/>
          </a:xfrm>
          <a:prstGeom prst="rect">
            <a:avLst/>
          </a:prstGeom>
          <a:noFill/>
        </p:spPr>
        <p:txBody>
          <a:bodyPr wrap="none" lIns="0" rIns="0" tIns="0" bIns="0" anchor="ctr">
            <a:spAutoFit/>
          </a:bodyPr>
          <a:lstStyle/>
          <a:p>
            <a:pPr algn="r"/>
            <a:r>
              <a:rPr sz="900" b="1">
                <a:solidFill>
                  <a:srgbClr val="D64545"/>
                </a:solidFill>
                <a:latin typeface="Segoe UI"/>
              </a:rPr>
              <a:t>-27</a:t>
            </a:r>
          </a:p>
        </p:txBody>
      </p:sp>
      <p:sp>
        <p:nvSpPr>
          <p:cNvPr id="30" name="FMI Legend Chip"/>
          <p:cNvSpPr/>
          <p:nvPr/>
        </p:nvSpPr>
        <p:spPr>
          <a:xfrm>
            <a:off x="4928997" y="2569505"/>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rot="10800000">
            <a:off x="5090922" y="2564743"/>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248854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Abrasion &amp; Tear Resistance</a:t>
            </a:r>
          </a:p>
        </p:txBody>
      </p:sp>
      <p:sp>
        <p:nvSpPr>
          <p:cNvPr id="33" name="BPS Value 5"/>
          <p:cNvSpPr txBox="1"/>
          <p:nvPr/>
        </p:nvSpPr>
        <p:spPr>
          <a:xfrm>
            <a:off x="6896100" y="2550455"/>
            <a:ext cx="514350" cy="123825"/>
          </a:xfrm>
          <a:prstGeom prst="rect">
            <a:avLst/>
          </a:prstGeom>
          <a:noFill/>
        </p:spPr>
        <p:txBody>
          <a:bodyPr wrap="none" lIns="0" rIns="0" tIns="0" bIns="0" anchor="ctr">
            <a:spAutoFit/>
          </a:bodyPr>
          <a:lstStyle/>
          <a:p>
            <a:pPr algn="r"/>
            <a:r>
              <a:rPr sz="900" b="1">
                <a:solidFill>
                  <a:srgbClr val="D64545"/>
                </a:solidFill>
                <a:latin typeface="Segoe UI"/>
              </a:rPr>
              <a:t>-74</a:t>
            </a:r>
          </a:p>
        </p:txBody>
      </p:sp>
      <p:sp>
        <p:nvSpPr>
          <p:cNvPr id="34" name="FMI Legend Chip"/>
          <p:cNvSpPr/>
          <p:nvPr/>
        </p:nvSpPr>
        <p:spPr>
          <a:xfrm>
            <a:off x="4928997" y="2978880"/>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a:off x="5090922" y="2974118"/>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2897918"/>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Antimicrobial &amp; Odor Control</a:t>
            </a:r>
          </a:p>
        </p:txBody>
      </p:sp>
      <p:sp>
        <p:nvSpPr>
          <p:cNvPr id="37" name="BPS Value 6"/>
          <p:cNvSpPr txBox="1"/>
          <p:nvPr/>
        </p:nvSpPr>
        <p:spPr>
          <a:xfrm>
            <a:off x="6896100" y="2959830"/>
            <a:ext cx="514350" cy="123825"/>
          </a:xfrm>
          <a:prstGeom prst="rect">
            <a:avLst/>
          </a:prstGeom>
          <a:noFill/>
        </p:spPr>
        <p:txBody>
          <a:bodyPr wrap="none" lIns="0" rIns="0" tIns="0" bIns="0" anchor="ctr">
            <a:spAutoFit/>
          </a:bodyPr>
          <a:lstStyle/>
          <a:p>
            <a:pPr algn="r"/>
            <a:r>
              <a:rPr sz="900" b="1">
                <a:solidFill>
                  <a:srgbClr val="1E8E3E"/>
                </a:solidFill>
                <a:latin typeface="Segoe UI"/>
              </a:rPr>
              <a:t>+72</a:t>
            </a:r>
          </a:p>
        </p:txBody>
      </p:sp>
      <p:sp>
        <p:nvSpPr>
          <p:cNvPr id="38" name="FMI Legend Chip"/>
          <p:cNvSpPr/>
          <p:nvPr/>
        </p:nvSpPr>
        <p:spPr>
          <a:xfrm>
            <a:off x="4928997" y="3459665"/>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rot="10800000">
            <a:off x="5090922" y="345490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5233797" y="337870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Compression &amp; Support</a:t>
            </a:r>
          </a:p>
        </p:txBody>
      </p:sp>
      <p:sp>
        <p:nvSpPr>
          <p:cNvPr id="41" name="BPS Value 7"/>
          <p:cNvSpPr txBox="1"/>
          <p:nvPr/>
        </p:nvSpPr>
        <p:spPr>
          <a:xfrm>
            <a:off x="6896100" y="3440615"/>
            <a:ext cx="514350" cy="123825"/>
          </a:xfrm>
          <a:prstGeom prst="rect">
            <a:avLst/>
          </a:prstGeom>
          <a:noFill/>
        </p:spPr>
        <p:txBody>
          <a:bodyPr wrap="none" lIns="0" rIns="0" tIns="0" bIns="0" anchor="ctr">
            <a:spAutoFit/>
          </a:bodyPr>
          <a:lstStyle/>
          <a:p>
            <a:pPr algn="r"/>
            <a:r>
              <a:rPr sz="900" b="1">
                <a:solidFill>
                  <a:srgbClr val="D64545"/>
                </a:solidFill>
                <a:latin typeface="Segoe UI"/>
              </a:rPr>
              <a:t>-39</a:t>
            </a:r>
          </a:p>
        </p:txBody>
      </p:sp>
      <p:sp>
        <p:nvSpPr>
          <p:cNvPr id="42" name="FMI Legend Chip"/>
          <p:cNvSpPr/>
          <p:nvPr/>
        </p:nvSpPr>
        <p:spPr>
          <a:xfrm>
            <a:off x="4928997" y="4111189"/>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Isosceles Triangle 42"/>
          <p:cNvSpPr/>
          <p:nvPr/>
        </p:nvSpPr>
        <p:spPr>
          <a:xfrm rot="10800000">
            <a:off x="5090922" y="410642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PS Name 8"/>
          <p:cNvSpPr txBox="1"/>
          <p:nvPr/>
        </p:nvSpPr>
        <p:spPr>
          <a:xfrm>
            <a:off x="5233797" y="403022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Stretch &amp; Recovery</a:t>
            </a:r>
          </a:p>
        </p:txBody>
      </p:sp>
      <p:sp>
        <p:nvSpPr>
          <p:cNvPr id="45" name="BPS Value 8"/>
          <p:cNvSpPr txBox="1"/>
          <p:nvPr/>
        </p:nvSpPr>
        <p:spPr>
          <a:xfrm>
            <a:off x="6896100" y="4092139"/>
            <a:ext cx="514350" cy="123825"/>
          </a:xfrm>
          <a:prstGeom prst="rect">
            <a:avLst/>
          </a:prstGeom>
          <a:noFill/>
        </p:spPr>
        <p:txBody>
          <a:bodyPr wrap="none" lIns="0" rIns="0" tIns="0" bIns="0" anchor="ctr">
            <a:spAutoFit/>
          </a:bodyPr>
          <a:lstStyle/>
          <a:p>
            <a:pPr algn="r"/>
            <a:r>
              <a:rPr sz="900" b="1">
                <a:solidFill>
                  <a:srgbClr val="D64545"/>
                </a:solidFill>
                <a:latin typeface="Segoe UI"/>
              </a:rPr>
              <a:t>-69</a:t>
            </a:r>
          </a:p>
        </p:txBody>
      </p:sp>
      <p:sp>
        <p:nvSpPr>
          <p:cNvPr id="46" name="FMI Legend Chip"/>
          <p:cNvSpPr/>
          <p:nvPr/>
        </p:nvSpPr>
        <p:spPr>
          <a:xfrm>
            <a:off x="4928997" y="4882008"/>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Isosceles Triangle 46"/>
          <p:cNvSpPr/>
          <p:nvPr/>
        </p:nvSpPr>
        <p:spPr>
          <a:xfrm>
            <a:off x="5090922" y="4877245"/>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PS Name 9"/>
          <p:cNvSpPr txBox="1"/>
          <p:nvPr/>
        </p:nvSpPr>
        <p:spPr>
          <a:xfrm>
            <a:off x="5233797" y="480104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Thermal Management</a:t>
            </a:r>
          </a:p>
        </p:txBody>
      </p:sp>
      <p:sp>
        <p:nvSpPr>
          <p:cNvPr id="49" name="BPS Value 9"/>
          <p:cNvSpPr txBox="1"/>
          <p:nvPr/>
        </p:nvSpPr>
        <p:spPr>
          <a:xfrm>
            <a:off x="6896100" y="4862958"/>
            <a:ext cx="514350" cy="123825"/>
          </a:xfrm>
          <a:prstGeom prst="rect">
            <a:avLst/>
          </a:prstGeom>
          <a:noFill/>
        </p:spPr>
        <p:txBody>
          <a:bodyPr wrap="none" lIns="0" rIns="0" tIns="0" bIns="0" anchor="ctr">
            <a:spAutoFit/>
          </a:bodyPr>
          <a:lstStyle/>
          <a:p>
            <a:pPr algn="r"/>
            <a:r>
              <a:rPr sz="900" b="1">
                <a:solidFill>
                  <a:srgbClr val="1E8E3E"/>
                </a:solidFill>
                <a:latin typeface="Segoe UI"/>
              </a:rPr>
              <a:t>+117</a:t>
            </a:r>
          </a:p>
        </p:txBody>
      </p:sp>
      <p:sp>
        <p:nvSpPr>
          <p:cNvPr id="50" name="FMI Legend Chip"/>
          <p:cNvSpPr/>
          <p:nvPr/>
        </p:nvSpPr>
        <p:spPr>
          <a:xfrm>
            <a:off x="4928997" y="5757417"/>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Isosceles Triangle 50"/>
          <p:cNvSpPr/>
          <p:nvPr/>
        </p:nvSpPr>
        <p:spPr>
          <a:xfrm>
            <a:off x="5090922" y="5752655"/>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PS Name 10"/>
          <p:cNvSpPr txBox="1"/>
          <p:nvPr/>
        </p:nvSpPr>
        <p:spPr>
          <a:xfrm>
            <a:off x="5233797" y="567645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Moisture Management &amp; Quick-Dry</a:t>
            </a:r>
          </a:p>
        </p:txBody>
      </p:sp>
      <p:sp>
        <p:nvSpPr>
          <p:cNvPr id="53" name="BPS Value 10"/>
          <p:cNvSpPr txBox="1"/>
          <p:nvPr/>
        </p:nvSpPr>
        <p:spPr>
          <a:xfrm>
            <a:off x="6896100" y="5738367"/>
            <a:ext cx="514350" cy="123825"/>
          </a:xfrm>
          <a:prstGeom prst="rect">
            <a:avLst/>
          </a:prstGeom>
          <a:noFill/>
        </p:spPr>
        <p:txBody>
          <a:bodyPr wrap="none" lIns="0" rIns="0" tIns="0" bIns="0" anchor="ctr">
            <a:spAutoFit/>
          </a:bodyPr>
          <a:lstStyle/>
          <a:p>
            <a:pPr algn="r"/>
            <a:r>
              <a:rPr sz="900" b="1">
                <a:solidFill>
                  <a:srgbClr val="1E8E3E"/>
                </a:solidFill>
                <a:latin typeface="Segoe UI"/>
              </a:rPr>
              <a:t>+7</a:t>
            </a:r>
          </a:p>
        </p:txBody>
      </p:sp>
      <p:sp>
        <p:nvSpPr>
          <p:cNvPr id="54" name="Rectangle 53"/>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Global Read-out, By Primary Performance Function</a:t>
            </a:r>
          </a:p>
        </p:txBody>
      </p:sp>
      <p:sp>
        <p:nvSpPr>
          <p:cNvPr id="56" name="Rectangle 55"/>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primary performance function, other specialized performance segment is expected to witness the highest CAGR of 8.9% over the forecast period. In terms of value share by primary performance function, the moisture management &amp; quick-dry segment is expected to dominate the market, maintaining its share and accounting for 21.3% share by 2036.</a:t>
            </a:r>
          </a:p>
          <a:p>
            <a:pPr algn="l">
              <a:lnSpc>
                <a:spcPct val="110000"/>
              </a:lnSpc>
              <a:spcBef>
                <a:spcPts val="0"/>
              </a:spcBef>
              <a:spcAft>
                <a:spcPts val="500"/>
              </a:spcAft>
            </a:pPr>
            <a:r>
              <a:rPr sz="1150" b="0">
                <a:solidFill>
                  <a:srgbClr val="252423"/>
                </a:solidFill>
                <a:latin typeface="Segoe UI"/>
              </a:rPr>
              <a:t>The abrasion &amp; tear resistance segment is expected to lose 74 BPS over the forecast period to account for 8.7% share by 2036.</a:t>
            </a:r>
          </a:p>
        </p:txBody>
      </p:sp>
      <p:sp>
        <p:nvSpPr>
          <p:cNvPr id="58" name="TextBox 5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Segment Outlook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Global</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segment categorizes the market by end-use application.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Sports &amp; Activewear</a:t>
            </a:r>
          </a:p>
        </p:txBody>
      </p:sp>
      <p:sp>
        <p:nvSpPr>
          <p:cNvPr id="21" name="Rectangle 20"/>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1,249</a:t>
            </a:r>
          </a:p>
        </p:txBody>
      </p:sp>
      <p:sp>
        <p:nvSpPr>
          <p:cNvPr id="22" name="Rectangle 21"/>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2,604</a:t>
            </a:r>
          </a:p>
        </p:txBody>
      </p:sp>
      <p:sp>
        <p:nvSpPr>
          <p:cNvPr id="23" name="Rectangle 22"/>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7.6%</a:t>
            </a:r>
          </a:p>
        </p:txBody>
      </p:sp>
      <p:sp>
        <p:nvSpPr>
          <p:cNvPr id="24" name="Oval 23"/>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Intimate &amp; Bodywear</a:t>
            </a:r>
          </a:p>
        </p:txBody>
      </p:sp>
      <p:sp>
        <p:nvSpPr>
          <p:cNvPr id="28" name="Rectangle 27"/>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836.7</a:t>
            </a:r>
          </a:p>
        </p:txBody>
      </p:sp>
      <p:sp>
        <p:nvSpPr>
          <p:cNvPr id="29" name="Rectangle 28"/>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1,546</a:t>
            </a:r>
          </a:p>
        </p:txBody>
      </p:sp>
      <p:sp>
        <p:nvSpPr>
          <p:cNvPr id="30" name="Rectangle 29"/>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6.3%</a:t>
            </a:r>
          </a:p>
        </p:txBody>
      </p:sp>
      <p:sp>
        <p:nvSpPr>
          <p:cNvPr id="31" name="Oval 30"/>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Medical &amp; Healthcare</a:t>
            </a:r>
          </a:p>
        </p:txBody>
      </p:sp>
      <p:sp>
        <p:nvSpPr>
          <p:cNvPr id="35" name="Rectangle 34"/>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804.5</a:t>
            </a:r>
          </a:p>
        </p:txBody>
      </p:sp>
      <p:sp>
        <p:nvSpPr>
          <p:cNvPr id="36" name="Rectangle 35"/>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1,717</a:t>
            </a:r>
          </a:p>
        </p:txBody>
      </p:sp>
      <p:sp>
        <p:nvSpPr>
          <p:cNvPr id="37" name="Rectangle 36"/>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7.9%</a:t>
            </a:r>
          </a:p>
        </p:txBody>
      </p:sp>
      <p:sp>
        <p:nvSpPr>
          <p:cNvPr id="38" name="Oval 37"/>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Protective &amp; Occupational Wear</a:t>
            </a:r>
          </a:p>
        </p:txBody>
      </p:sp>
      <p:sp>
        <p:nvSpPr>
          <p:cNvPr id="42" name="Rectangle 41"/>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804.2</a:t>
            </a:r>
          </a:p>
        </p:txBody>
      </p:sp>
      <p:sp>
        <p:nvSpPr>
          <p:cNvPr id="43" name="Rectangle 42"/>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1,665</a:t>
            </a:r>
          </a:p>
        </p:txBody>
      </p:sp>
      <p:sp>
        <p:nvSpPr>
          <p:cNvPr id="44" name="Rectangle 43"/>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7.6%</a:t>
            </a:r>
          </a:p>
        </p:txBody>
      </p:sp>
      <p:sp>
        <p:nvSpPr>
          <p:cNvPr id="45" name="Oval 44"/>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8" name="Rectangle 47"/>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End-Use application, industrial &amp; technical applications segment is expected to witness the highest CAGR of 7.9% over the forecast period. In terms of value share by End-Use application, the sports &amp; activewear segment is expected to dominate the market, gaining 38 BPS and accounting for 23.2%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Sports &amp; activewear segment is projected to register 1.5X higher value than medical &amp; healthcare segment in 2036.</a:t>
            </a:r>
          </a:p>
        </p:txBody>
      </p:sp>
      <p:sp>
        <p:nvSpPr>
          <p:cNvPr id="50" name="Rounded Rectangle 49"/>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2" name="Rectangle 51"/>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Sports &amp; Activewear: </a:t>
            </a:r>
            <a:r>
              <a:rPr sz="1100" b="0">
                <a:solidFill>
                  <a:srgbClr val="252423"/>
                </a:solidFill>
                <a:latin typeface="Segoe UI"/>
              </a:rPr>
              <a:t>23% of 2026 value · 7.6%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Intimate &amp; Bodywear: </a:t>
            </a:r>
            <a:r>
              <a:rPr sz="1100" b="0">
                <a:solidFill>
                  <a:srgbClr val="252423"/>
                </a:solidFill>
                <a:latin typeface="Segoe UI"/>
              </a:rPr>
              <a:t>15% of 2026 value · 6.3%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Medical &amp; Healthcare: </a:t>
            </a:r>
            <a:r>
              <a:rPr sz="1100" b="0">
                <a:solidFill>
                  <a:srgbClr val="252423"/>
                </a:solidFill>
                <a:latin typeface="Segoe UI"/>
              </a:rPr>
              <a:t>15% of 2026 value · 7.9% CAGR serves a niche.</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Protective &amp; Occupational Wear: </a:t>
            </a:r>
            <a:r>
              <a:rPr sz="1100" b="0">
                <a:solidFill>
                  <a:srgbClr val="252423"/>
                </a:solidFill>
                <a:latin typeface="Segoe UI"/>
              </a:rPr>
              <a:t>15% of 2026 value · 7.6% CAGR serves a niche.</a:t>
            </a:r>
          </a:p>
        </p:txBody>
      </p:sp>
      <p:sp>
        <p:nvSpPr>
          <p:cNvPr id="54" name="Rounded Rectangle 53"/>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6" name="Rectangle 55"/>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End-Use Application split shows how demand is distributed across end-use application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8" name="Rectangle 57"/>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End-Use Application segment is projected to grow at a CAGR of 7.4% from 2026 to 2036.</a:t>
            </a:r>
          </a:p>
        </p:txBody>
      </p:sp>
      <p:sp>
        <p:nvSpPr>
          <p:cNvPr id="60" name="TextBox 59"/>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1" name="TextBox 6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Segment Outlook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segment categorizes the market by end-use application.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3257550"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3257550"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Industrial &amp; Technical Applicatio…</a:t>
            </a:r>
          </a:p>
        </p:txBody>
      </p:sp>
      <p:sp>
        <p:nvSpPr>
          <p:cNvPr id="20" name="Rectangle 19"/>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634.0</a:t>
            </a:r>
          </a:p>
        </p:txBody>
      </p:sp>
      <p:sp>
        <p:nvSpPr>
          <p:cNvPr id="21" name="Rectangle 20"/>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1,354</a:t>
            </a:r>
          </a:p>
        </p:txBody>
      </p:sp>
      <p:sp>
        <p:nvSpPr>
          <p:cNvPr id="22" name="Rectangle 21"/>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7.9%</a:t>
            </a:r>
          </a:p>
        </p:txBody>
      </p:sp>
      <p:sp>
        <p:nvSpPr>
          <p:cNvPr id="23" name="Oval 22"/>
          <p:cNvSpPr/>
          <p:nvPr/>
        </p:nvSpPr>
        <p:spPr>
          <a:xfrm>
            <a:off x="3333750"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24" name="Rounded Rectangle 23"/>
          <p:cNvSpPr/>
          <p:nvPr/>
        </p:nvSpPr>
        <p:spPr>
          <a:xfrm>
            <a:off x="5238750" y="1773916"/>
            <a:ext cx="3257550"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38750" y="1992961"/>
            <a:ext cx="3257550"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Footwear</a:t>
            </a:r>
          </a:p>
        </p:txBody>
      </p:sp>
      <p:sp>
        <p:nvSpPr>
          <p:cNvPr id="27" name="Rectangle 26"/>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591.3</a:t>
            </a:r>
          </a:p>
        </p:txBody>
      </p:sp>
      <p:sp>
        <p:nvSpPr>
          <p:cNvPr id="28" name="Rectangle 27"/>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1,244</a:t>
            </a:r>
          </a:p>
        </p:txBody>
      </p:sp>
      <p:sp>
        <p:nvSpPr>
          <p:cNvPr id="29" name="Rectangle 28"/>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7.7%</a:t>
            </a:r>
          </a:p>
        </p:txBody>
      </p:sp>
      <p:sp>
        <p:nvSpPr>
          <p:cNvPr id="30" name="Oval 29"/>
          <p:cNvSpPr/>
          <p:nvPr/>
        </p:nvSpPr>
        <p:spPr>
          <a:xfrm>
            <a:off x="6705600"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31" name="Rounded Rectangle 30"/>
          <p:cNvSpPr/>
          <p:nvPr/>
        </p:nvSpPr>
        <p:spPr>
          <a:xfrm>
            <a:off x="8610600" y="1773916"/>
            <a:ext cx="3257550"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10600" y="1992961"/>
            <a:ext cx="3257550"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Automotive &amp; Transportation</a:t>
            </a:r>
          </a:p>
        </p:txBody>
      </p:sp>
      <p:sp>
        <p:nvSpPr>
          <p:cNvPr id="34" name="Rectangle 33"/>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563.6</a:t>
            </a:r>
          </a:p>
        </p:txBody>
      </p:sp>
      <p:sp>
        <p:nvSpPr>
          <p:cNvPr id="35" name="Rectangle 34"/>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1,110</a:t>
            </a:r>
          </a:p>
        </p:txBody>
      </p:sp>
      <p:sp>
        <p:nvSpPr>
          <p:cNvPr id="36" name="Rectangle 35"/>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7.0%</a:t>
            </a:r>
          </a:p>
        </p:txBody>
      </p:sp>
      <p:sp>
        <p:nvSpPr>
          <p:cNvPr id="37" name="Oval 36"/>
          <p:cNvSpPr/>
          <p:nvPr/>
        </p:nvSpPr>
        <p:spPr>
          <a:xfrm>
            <a:off x="10077450"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38" name="Rounded Rectangle 37"/>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0" name="Rectangle 39"/>
          <p:cNvSpPr/>
          <p:nvPr/>
        </p:nvSpPr>
        <p:spPr>
          <a:xfrm>
            <a:off x="457200" y="4146897"/>
            <a:ext cx="112776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Industrial &amp; Technical Applications: </a:t>
            </a:r>
            <a:r>
              <a:rPr sz="1100" b="0">
                <a:solidFill>
                  <a:srgbClr val="252423"/>
                </a:solidFill>
                <a:latin typeface="Segoe UI"/>
              </a:rPr>
              <a:t>12% of 2026 value · 7.9% CAGR grows fastest.</a:t>
            </a:r>
          </a:p>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Footwear: </a:t>
            </a:r>
            <a:r>
              <a:rPr sz="1100" b="0">
                <a:solidFill>
                  <a:srgbClr val="252423"/>
                </a:solidFill>
                <a:latin typeface="Segoe UI"/>
              </a:rPr>
              <a:t>11% of 2026 value · 7.7% CAGR serves a niche.</a:t>
            </a:r>
          </a:p>
          <a:p>
            <a:pPr algn="l">
              <a:lnSpc>
                <a:spcPct val="110000"/>
              </a:lnSpc>
              <a:spcBef>
                <a:spcPts val="0"/>
              </a:spcBef>
              <a:spcAft>
                <a:spcPts val="500"/>
              </a:spcAft>
            </a:pPr>
            <a:r>
              <a:rPr sz="1100" b="0">
                <a:solidFill>
                  <a:srgbClr val="2C6E7F"/>
                </a:solidFill>
                <a:latin typeface="Segoe UI"/>
              </a:rPr>
              <a:t>●  </a:t>
            </a:r>
            <a:r>
              <a:rPr sz="1100" b="1">
                <a:solidFill>
                  <a:srgbClr val="2C6E7F"/>
                </a:solidFill>
                <a:latin typeface="Segoe UI"/>
              </a:rPr>
              <a:t>Automotive &amp; Transportation: </a:t>
            </a:r>
            <a:r>
              <a:rPr sz="1100" b="0">
                <a:solidFill>
                  <a:srgbClr val="252423"/>
                </a:solidFill>
                <a:latin typeface="Segoe UI"/>
              </a:rPr>
              <a:t>10% of 2026 value · 7.0% CAGR serves a niche.</a:t>
            </a:r>
          </a:p>
        </p:txBody>
      </p:sp>
      <p:sp>
        <p:nvSpPr>
          <p:cNvPr id="42" name="TextBox 41"/>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3" name="TextBox 4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&amp; Share Shift, By End-Use Application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End-Use Application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Global</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Composition, By End-Use Application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897042"/>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5090922" y="189228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81608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Automotive &amp; Transportation</a:t>
            </a:r>
          </a:p>
        </p:txBody>
      </p:sp>
      <p:sp>
        <p:nvSpPr>
          <p:cNvPr id="17" name="BPS Value 1"/>
          <p:cNvSpPr txBox="1"/>
          <p:nvPr/>
        </p:nvSpPr>
        <p:spPr>
          <a:xfrm>
            <a:off x="6896100" y="1877992"/>
            <a:ext cx="514350" cy="123825"/>
          </a:xfrm>
          <a:prstGeom prst="rect">
            <a:avLst/>
          </a:prstGeom>
          <a:noFill/>
        </p:spPr>
        <p:txBody>
          <a:bodyPr wrap="none" lIns="0" rIns="0" tIns="0" bIns="0" anchor="ctr">
            <a:spAutoFit/>
          </a:bodyPr>
          <a:lstStyle/>
          <a:p>
            <a:pPr algn="r"/>
            <a:r>
              <a:rPr sz="900" b="1">
                <a:solidFill>
                  <a:srgbClr val="D64545"/>
                </a:solidFill>
                <a:latin typeface="Segoe UI"/>
              </a:rPr>
              <a:t>-40</a:t>
            </a:r>
          </a:p>
        </p:txBody>
      </p:sp>
      <p:sp>
        <p:nvSpPr>
          <p:cNvPr id="18" name="FMI Legend Chip"/>
          <p:cNvSpPr/>
          <p:nvPr/>
        </p:nvSpPr>
        <p:spPr>
          <a:xfrm>
            <a:off x="4928997" y="2375774"/>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237101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229481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Footwear</a:t>
            </a:r>
          </a:p>
        </p:txBody>
      </p:sp>
      <p:sp>
        <p:nvSpPr>
          <p:cNvPr id="21" name="BPS Value 2"/>
          <p:cNvSpPr txBox="1"/>
          <p:nvPr/>
        </p:nvSpPr>
        <p:spPr>
          <a:xfrm>
            <a:off x="6896100" y="2356724"/>
            <a:ext cx="514350" cy="123825"/>
          </a:xfrm>
          <a:prstGeom prst="rect">
            <a:avLst/>
          </a:prstGeom>
          <a:noFill/>
        </p:spPr>
        <p:txBody>
          <a:bodyPr wrap="none" lIns="0" rIns="0" tIns="0" bIns="0" anchor="ctr">
            <a:spAutoFit/>
          </a:bodyPr>
          <a:lstStyle/>
          <a:p>
            <a:pPr algn="r"/>
            <a:r>
              <a:rPr sz="900" b="1">
                <a:solidFill>
                  <a:srgbClr val="1E8E3E"/>
                </a:solidFill>
                <a:latin typeface="Segoe UI"/>
              </a:rPr>
              <a:t>+28</a:t>
            </a:r>
          </a:p>
        </p:txBody>
      </p:sp>
      <p:sp>
        <p:nvSpPr>
          <p:cNvPr id="22" name="FMI Legend Chip"/>
          <p:cNvSpPr/>
          <p:nvPr/>
        </p:nvSpPr>
        <p:spPr>
          <a:xfrm>
            <a:off x="4928997" y="2904215"/>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5090922" y="289945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82325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Industrial &amp; Technical Applications</a:t>
            </a:r>
          </a:p>
        </p:txBody>
      </p:sp>
      <p:sp>
        <p:nvSpPr>
          <p:cNvPr id="25" name="BPS Value 3"/>
          <p:cNvSpPr txBox="1"/>
          <p:nvPr/>
        </p:nvSpPr>
        <p:spPr>
          <a:xfrm>
            <a:off x="6896100" y="2885165"/>
            <a:ext cx="514350" cy="123825"/>
          </a:xfrm>
          <a:prstGeom prst="rect">
            <a:avLst/>
          </a:prstGeom>
          <a:noFill/>
        </p:spPr>
        <p:txBody>
          <a:bodyPr wrap="none" lIns="0" rIns="0" tIns="0" bIns="0" anchor="ctr">
            <a:spAutoFit/>
          </a:bodyPr>
          <a:lstStyle/>
          <a:p>
            <a:pPr algn="r"/>
            <a:r>
              <a:rPr sz="900" b="1">
                <a:solidFill>
                  <a:srgbClr val="1E8E3E"/>
                </a:solidFill>
                <a:latin typeface="Segoe UI"/>
              </a:rPr>
              <a:t>+49</a:t>
            </a:r>
          </a:p>
        </p:txBody>
      </p:sp>
      <p:sp>
        <p:nvSpPr>
          <p:cNvPr id="26" name="FMI Legend Chip"/>
          <p:cNvSpPr/>
          <p:nvPr/>
        </p:nvSpPr>
        <p:spPr>
          <a:xfrm>
            <a:off x="4928997" y="3494143"/>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rot="10800000">
            <a:off x="5090922" y="3489381"/>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341318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Intimate &amp; Bodywear</a:t>
            </a:r>
          </a:p>
        </p:txBody>
      </p:sp>
      <p:sp>
        <p:nvSpPr>
          <p:cNvPr id="29" name="BPS Value 4"/>
          <p:cNvSpPr txBox="1"/>
          <p:nvPr/>
        </p:nvSpPr>
        <p:spPr>
          <a:xfrm>
            <a:off x="6896100" y="3475093"/>
            <a:ext cx="514350" cy="123825"/>
          </a:xfrm>
          <a:prstGeom prst="rect">
            <a:avLst/>
          </a:prstGeom>
          <a:noFill/>
        </p:spPr>
        <p:txBody>
          <a:bodyPr wrap="none" lIns="0" rIns="0" tIns="0" bIns="0" anchor="ctr">
            <a:spAutoFit/>
          </a:bodyPr>
          <a:lstStyle/>
          <a:p>
            <a:pPr algn="r"/>
            <a:r>
              <a:rPr sz="900" b="1">
                <a:solidFill>
                  <a:srgbClr val="D64545"/>
                </a:solidFill>
                <a:latin typeface="Segoe UI"/>
              </a:rPr>
              <a:t>-150</a:t>
            </a:r>
          </a:p>
        </p:txBody>
      </p:sp>
      <p:sp>
        <p:nvSpPr>
          <p:cNvPr id="30" name="FMI Legend Chip"/>
          <p:cNvSpPr/>
          <p:nvPr/>
        </p:nvSpPr>
        <p:spPr>
          <a:xfrm>
            <a:off x="4928997" y="4147275"/>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5090922" y="4142513"/>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406631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Protective &amp; Occupational Wear</a:t>
            </a:r>
          </a:p>
        </p:txBody>
      </p:sp>
      <p:sp>
        <p:nvSpPr>
          <p:cNvPr id="33" name="BPS Value 5"/>
          <p:cNvSpPr txBox="1"/>
          <p:nvPr/>
        </p:nvSpPr>
        <p:spPr>
          <a:xfrm>
            <a:off x="6896100" y="4128225"/>
            <a:ext cx="514350" cy="123825"/>
          </a:xfrm>
          <a:prstGeom prst="rect">
            <a:avLst/>
          </a:prstGeom>
          <a:noFill/>
        </p:spPr>
        <p:txBody>
          <a:bodyPr wrap="none" lIns="0" rIns="0" tIns="0" bIns="0" anchor="ctr">
            <a:spAutoFit/>
          </a:bodyPr>
          <a:lstStyle/>
          <a:p>
            <a:pPr algn="r"/>
            <a:r>
              <a:rPr sz="900" b="1">
                <a:solidFill>
                  <a:srgbClr val="1E8E3E"/>
                </a:solidFill>
                <a:latin typeface="Segoe UI"/>
              </a:rPr>
              <a:t>+15</a:t>
            </a:r>
          </a:p>
        </p:txBody>
      </p:sp>
      <p:sp>
        <p:nvSpPr>
          <p:cNvPr id="34" name="FMI Legend Chip"/>
          <p:cNvSpPr/>
          <p:nvPr/>
        </p:nvSpPr>
        <p:spPr>
          <a:xfrm>
            <a:off x="4928997" y="4835172"/>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a:off x="5090922" y="483040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475420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Medical &amp; Healthcare</a:t>
            </a:r>
          </a:p>
        </p:txBody>
      </p:sp>
      <p:sp>
        <p:nvSpPr>
          <p:cNvPr id="37" name="BPS Value 6"/>
          <p:cNvSpPr txBox="1"/>
          <p:nvPr/>
        </p:nvSpPr>
        <p:spPr>
          <a:xfrm>
            <a:off x="6896100" y="4816122"/>
            <a:ext cx="514350" cy="123825"/>
          </a:xfrm>
          <a:prstGeom prst="rect">
            <a:avLst/>
          </a:prstGeom>
          <a:noFill/>
        </p:spPr>
        <p:txBody>
          <a:bodyPr wrap="none" lIns="0" rIns="0" tIns="0" bIns="0" anchor="ctr">
            <a:spAutoFit/>
          </a:bodyPr>
          <a:lstStyle/>
          <a:p>
            <a:pPr algn="r"/>
            <a:r>
              <a:rPr sz="900" b="1">
                <a:solidFill>
                  <a:srgbClr val="1E8E3E"/>
                </a:solidFill>
                <a:latin typeface="Segoe UI"/>
              </a:rPr>
              <a:t>+60</a:t>
            </a:r>
          </a:p>
        </p:txBody>
      </p:sp>
      <p:sp>
        <p:nvSpPr>
          <p:cNvPr id="38" name="FMI Legend Chip"/>
          <p:cNvSpPr/>
          <p:nvPr/>
        </p:nvSpPr>
        <p:spPr>
          <a:xfrm>
            <a:off x="4928997" y="5714004"/>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a:off x="5090922" y="570924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5233797" y="563304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Sports &amp; Activewear</a:t>
            </a:r>
          </a:p>
        </p:txBody>
      </p:sp>
      <p:sp>
        <p:nvSpPr>
          <p:cNvPr id="41" name="BPS Value 7"/>
          <p:cNvSpPr txBox="1"/>
          <p:nvPr/>
        </p:nvSpPr>
        <p:spPr>
          <a:xfrm>
            <a:off x="6896100" y="5694954"/>
            <a:ext cx="514350" cy="123825"/>
          </a:xfrm>
          <a:prstGeom prst="rect">
            <a:avLst/>
          </a:prstGeom>
          <a:noFill/>
        </p:spPr>
        <p:txBody>
          <a:bodyPr wrap="none" lIns="0" rIns="0" tIns="0" bIns="0" anchor="ctr">
            <a:spAutoFit/>
          </a:bodyPr>
          <a:lstStyle/>
          <a:p>
            <a:pPr algn="r"/>
            <a:r>
              <a:rPr sz="900" b="1">
                <a:solidFill>
                  <a:srgbClr val="1E8E3E"/>
                </a:solidFill>
                <a:latin typeface="Segoe UI"/>
              </a:rPr>
              <a:t>+38</a:t>
            </a:r>
          </a:p>
        </p:txBody>
      </p:sp>
      <p:sp>
        <p:nvSpPr>
          <p:cNvPr id="42" name="Rectangle 41"/>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Global Read-out, By End-Use Application</a:t>
            </a:r>
          </a:p>
        </p:txBody>
      </p:sp>
      <p:sp>
        <p:nvSpPr>
          <p:cNvPr id="44" name="Rectangle 43"/>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End-Use application, industrial &amp; technical applications segment is expected to witness the highest CAGR of 7.9% over the forecast period. In terms of value share by End-Use application, the sports &amp; activewear segment is expected to dominate the market, gaining 38 BPS and accounting for 23.2% share by 2036.</a:t>
            </a:r>
          </a:p>
          <a:p>
            <a:pPr algn="l">
              <a:lnSpc>
                <a:spcPct val="110000"/>
              </a:lnSpc>
              <a:spcBef>
                <a:spcPts val="0"/>
              </a:spcBef>
              <a:spcAft>
                <a:spcPts val="500"/>
              </a:spcAft>
            </a:pPr>
            <a:r>
              <a:rPr sz="1150" b="0">
                <a:solidFill>
                  <a:srgbClr val="252423"/>
                </a:solidFill>
                <a:latin typeface="Segoe UI"/>
              </a:rPr>
              <a:t>The intimate &amp; bodywear segment is expected to lose 150 BPS over the forecast period to account for 13.8% share by 2036.</a:t>
            </a:r>
          </a:p>
        </p:txBody>
      </p:sp>
      <p:sp>
        <p:nvSpPr>
          <p:cNvPr id="46" name="TextBox 4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Fabric Weight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3 sub-segments of Fabric Weight,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Global</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Fabric Weight segment categorizes the market by fabric weight.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325755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325755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Medium Weight 150–250 GSM</a:t>
            </a:r>
          </a:p>
        </p:txBody>
      </p:sp>
      <p:sp>
        <p:nvSpPr>
          <p:cNvPr id="21" name="Rectangle 20"/>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2,672</a:t>
            </a:r>
          </a:p>
        </p:txBody>
      </p:sp>
      <p:sp>
        <p:nvSpPr>
          <p:cNvPr id="22" name="Rectangle 21"/>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5,240</a:t>
            </a:r>
          </a:p>
        </p:txBody>
      </p:sp>
      <p:sp>
        <p:nvSpPr>
          <p:cNvPr id="23" name="Rectangle 22"/>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7.0%</a:t>
            </a:r>
          </a:p>
        </p:txBody>
      </p:sp>
      <p:sp>
        <p:nvSpPr>
          <p:cNvPr id="24" name="Oval 23"/>
          <p:cNvSpPr/>
          <p:nvPr/>
        </p:nvSpPr>
        <p:spPr>
          <a:xfrm>
            <a:off x="333375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5238750" y="1773916"/>
            <a:ext cx="325755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238750" y="1992961"/>
            <a:ext cx="325755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Lightweight Below 150 GSM</a:t>
            </a:r>
          </a:p>
        </p:txBody>
      </p:sp>
      <p:sp>
        <p:nvSpPr>
          <p:cNvPr id="28" name="Rectangle 27"/>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1,815</a:t>
            </a:r>
          </a:p>
        </p:txBody>
      </p:sp>
      <p:sp>
        <p:nvSpPr>
          <p:cNvPr id="29" name="Rectangle 28"/>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3,788</a:t>
            </a:r>
          </a:p>
        </p:txBody>
      </p:sp>
      <p:sp>
        <p:nvSpPr>
          <p:cNvPr id="30" name="Rectangle 29"/>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7.6%</a:t>
            </a:r>
          </a:p>
        </p:txBody>
      </p:sp>
      <p:sp>
        <p:nvSpPr>
          <p:cNvPr id="31" name="Oval 30"/>
          <p:cNvSpPr/>
          <p:nvPr/>
        </p:nvSpPr>
        <p:spPr>
          <a:xfrm>
            <a:off x="670560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8610600" y="1773916"/>
            <a:ext cx="325755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10600" y="1992961"/>
            <a:ext cx="325755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Heavyweight Above 250 GSM</a:t>
            </a:r>
          </a:p>
        </p:txBody>
      </p:sp>
      <p:sp>
        <p:nvSpPr>
          <p:cNvPr id="35" name="Rectangle 34"/>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996.2</a:t>
            </a:r>
          </a:p>
        </p:txBody>
      </p:sp>
      <p:sp>
        <p:nvSpPr>
          <p:cNvPr id="36" name="Rectangle 35"/>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2,212</a:t>
            </a:r>
          </a:p>
        </p:txBody>
      </p:sp>
      <p:sp>
        <p:nvSpPr>
          <p:cNvPr id="37" name="Rectangle 36"/>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8.3%</a:t>
            </a:r>
          </a:p>
        </p:txBody>
      </p:sp>
      <p:sp>
        <p:nvSpPr>
          <p:cNvPr id="38" name="Oval 37"/>
          <p:cNvSpPr/>
          <p:nvPr/>
        </p:nvSpPr>
        <p:spPr>
          <a:xfrm>
            <a:off x="1007745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1" name="Rectangle 40"/>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fabric weight, heavyweight above 250 GSM segment is expected to witness the highest CAGR of 8.3% over the forecast period. In terms of value share by fabric weight, the medium weight 150-250 GSM segment is expected to dominate the market, losing 211 BPS and accounting for 46.6%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Medium weight 150-250 GSM segment is projected to register 1.4X higher value than lightweight below 150 GSM segment in 2036.</a:t>
            </a:r>
          </a:p>
        </p:txBody>
      </p:sp>
      <p:sp>
        <p:nvSpPr>
          <p:cNvPr id="43" name="Rounded Rectangle 42"/>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5" name="Rectangle 44"/>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Medium Weight 150–250 GSM: </a:t>
            </a:r>
            <a:r>
              <a:rPr sz="1100" b="0">
                <a:solidFill>
                  <a:srgbClr val="252423"/>
                </a:solidFill>
                <a:latin typeface="Segoe UI"/>
              </a:rPr>
              <a:t>49% of 2026 value · 7.0%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Lightweight Below 150 GSM: </a:t>
            </a:r>
            <a:r>
              <a:rPr sz="1100" b="0">
                <a:solidFill>
                  <a:srgbClr val="252423"/>
                </a:solidFill>
                <a:latin typeface="Segoe UI"/>
              </a:rPr>
              <a:t>33% of 2026 value · 7.6%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Heavyweight Above 250 GSM: </a:t>
            </a:r>
            <a:r>
              <a:rPr sz="1100" b="0">
                <a:solidFill>
                  <a:srgbClr val="252423"/>
                </a:solidFill>
                <a:latin typeface="Segoe UI"/>
              </a:rPr>
              <a:t>18% of 2026 value · 8.3% CAGR grows fastest.</a:t>
            </a:r>
          </a:p>
        </p:txBody>
      </p:sp>
      <p:sp>
        <p:nvSpPr>
          <p:cNvPr id="47" name="Rounded Rectangle 46"/>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9" name="Rectangle 48"/>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Fabric Weight split shows how demand is distributed across fabric weight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1" name="Rectangle 50"/>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Fabric Weight segment is projected to grow at a CAGR of 7.4% from 2026 to 2036.</a:t>
            </a:r>
          </a:p>
        </p:txBody>
      </p:sp>
      <p:sp>
        <p:nvSpPr>
          <p:cNvPr id="53" name="TextBox 52"/>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54" name="TextBox 5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&amp; Share Shift, By Fabric Weight</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Fabric Weight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Global</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Composition, By Fabric Weight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2121217"/>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2116455"/>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204025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Heavyweight Above 250 GSM</a:t>
            </a:r>
          </a:p>
        </p:txBody>
      </p:sp>
      <p:sp>
        <p:nvSpPr>
          <p:cNvPr id="17" name="BPS Value 1"/>
          <p:cNvSpPr txBox="1"/>
          <p:nvPr/>
        </p:nvSpPr>
        <p:spPr>
          <a:xfrm>
            <a:off x="6896100" y="2102167"/>
            <a:ext cx="514350" cy="123825"/>
          </a:xfrm>
          <a:prstGeom prst="rect">
            <a:avLst/>
          </a:prstGeom>
          <a:noFill/>
        </p:spPr>
        <p:txBody>
          <a:bodyPr wrap="none" lIns="0" rIns="0" tIns="0" bIns="0" anchor="ctr">
            <a:spAutoFit/>
          </a:bodyPr>
          <a:lstStyle/>
          <a:p>
            <a:pPr algn="r"/>
            <a:r>
              <a:rPr sz="900" b="1">
                <a:solidFill>
                  <a:srgbClr val="1E8E3E"/>
                </a:solidFill>
                <a:latin typeface="Segoe UI"/>
              </a:rPr>
              <a:t>+152</a:t>
            </a:r>
          </a:p>
        </p:txBody>
      </p:sp>
      <p:sp>
        <p:nvSpPr>
          <p:cNvPr id="18" name="FMI Legend Chip"/>
          <p:cNvSpPr/>
          <p:nvPr/>
        </p:nvSpPr>
        <p:spPr>
          <a:xfrm>
            <a:off x="4928997" y="3341568"/>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3336806"/>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326060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Lightweight Below 150 GSM</a:t>
            </a:r>
          </a:p>
        </p:txBody>
      </p:sp>
      <p:sp>
        <p:nvSpPr>
          <p:cNvPr id="21" name="BPS Value 2"/>
          <p:cNvSpPr txBox="1"/>
          <p:nvPr/>
        </p:nvSpPr>
        <p:spPr>
          <a:xfrm>
            <a:off x="6896100" y="3322518"/>
            <a:ext cx="514350" cy="123825"/>
          </a:xfrm>
          <a:prstGeom prst="rect">
            <a:avLst/>
          </a:prstGeom>
          <a:noFill/>
        </p:spPr>
        <p:txBody>
          <a:bodyPr wrap="none" lIns="0" rIns="0" tIns="0" bIns="0" anchor="ctr">
            <a:spAutoFit/>
          </a:bodyPr>
          <a:lstStyle/>
          <a:p>
            <a:pPr algn="r"/>
            <a:r>
              <a:rPr sz="900" b="1">
                <a:solidFill>
                  <a:srgbClr val="1E8E3E"/>
                </a:solidFill>
                <a:latin typeface="Segoe UI"/>
              </a:rPr>
              <a:t>+60</a:t>
            </a:r>
          </a:p>
        </p:txBody>
      </p:sp>
      <p:sp>
        <p:nvSpPr>
          <p:cNvPr id="22" name="FMI Legend Chip"/>
          <p:cNvSpPr/>
          <p:nvPr/>
        </p:nvSpPr>
        <p:spPr>
          <a:xfrm>
            <a:off x="4928997" y="5177798"/>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rot="10800000">
            <a:off x="5090922" y="517303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509683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Medium Weight 150–250 GSM</a:t>
            </a:r>
          </a:p>
        </p:txBody>
      </p:sp>
      <p:sp>
        <p:nvSpPr>
          <p:cNvPr id="25" name="BPS Value 3"/>
          <p:cNvSpPr txBox="1"/>
          <p:nvPr/>
        </p:nvSpPr>
        <p:spPr>
          <a:xfrm>
            <a:off x="6896100" y="5158748"/>
            <a:ext cx="514350" cy="123825"/>
          </a:xfrm>
          <a:prstGeom prst="rect">
            <a:avLst/>
          </a:prstGeom>
          <a:noFill/>
        </p:spPr>
        <p:txBody>
          <a:bodyPr wrap="none" lIns="0" rIns="0" tIns="0" bIns="0" anchor="ctr">
            <a:spAutoFit/>
          </a:bodyPr>
          <a:lstStyle/>
          <a:p>
            <a:pPr algn="r"/>
            <a:r>
              <a:rPr sz="900" b="1">
                <a:solidFill>
                  <a:srgbClr val="D64545"/>
                </a:solidFill>
                <a:latin typeface="Segoe UI"/>
              </a:rPr>
              <a:t>-211</a:t>
            </a:r>
          </a:p>
        </p:txBody>
      </p:sp>
      <p:sp>
        <p:nvSpPr>
          <p:cNvPr id="26" name="Rectangle 25"/>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Global Read-out, By Fabric Weight</a:t>
            </a:r>
          </a:p>
        </p:txBody>
      </p:sp>
      <p:sp>
        <p:nvSpPr>
          <p:cNvPr id="28" name="Rectangle 27"/>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fabric weight, heavyweight above 250 GSM segment is expected to witness the highest CAGR of 8.3% over the forecast period.</a:t>
            </a:r>
          </a:p>
          <a:p>
            <a:pPr algn="l">
              <a:lnSpc>
                <a:spcPct val="110000"/>
              </a:lnSpc>
              <a:spcBef>
                <a:spcPts val="0"/>
              </a:spcBef>
              <a:spcAft>
                <a:spcPts val="500"/>
              </a:spcAft>
            </a:pPr>
            <a:r>
              <a:rPr sz="1150" b="0">
                <a:solidFill>
                  <a:srgbClr val="252423"/>
                </a:solidFill>
                <a:latin typeface="Segoe UI"/>
              </a:rPr>
              <a:t>In terms of value share by fabric weight, the medium weight 150-250 GSM segment is expected to dominate the market, losing 211 BPS and accounting for 46.6% share by 2036.</a:t>
            </a:r>
          </a:p>
        </p:txBody>
      </p:sp>
      <p:sp>
        <p:nvSpPr>
          <p:cNvPr id="30" name="TextBox 2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Vs Material Segment Outlook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Vs Material,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Global</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Vs Material segment categorizes the market by end-use application vs material.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Sports &amp; Activewear</a:t>
            </a:r>
          </a:p>
        </p:txBody>
      </p:sp>
      <p:sp>
        <p:nvSpPr>
          <p:cNvPr id="21" name="Rectangle 20"/>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1,249</a:t>
            </a:r>
          </a:p>
        </p:txBody>
      </p:sp>
      <p:sp>
        <p:nvSpPr>
          <p:cNvPr id="22" name="Rectangle 21"/>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2,604</a:t>
            </a:r>
          </a:p>
        </p:txBody>
      </p:sp>
      <p:sp>
        <p:nvSpPr>
          <p:cNvPr id="23" name="Rectangle 22"/>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7.6%</a:t>
            </a:r>
          </a:p>
        </p:txBody>
      </p:sp>
      <p:sp>
        <p:nvSpPr>
          <p:cNvPr id="24" name="Oval 23"/>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Intimate &amp; Bodywear</a:t>
            </a:r>
          </a:p>
        </p:txBody>
      </p:sp>
      <p:sp>
        <p:nvSpPr>
          <p:cNvPr id="28" name="Rectangle 27"/>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836.7</a:t>
            </a:r>
          </a:p>
        </p:txBody>
      </p:sp>
      <p:sp>
        <p:nvSpPr>
          <p:cNvPr id="29" name="Rectangle 28"/>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1,546</a:t>
            </a:r>
          </a:p>
        </p:txBody>
      </p:sp>
      <p:sp>
        <p:nvSpPr>
          <p:cNvPr id="30" name="Rectangle 29"/>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6.3%</a:t>
            </a:r>
          </a:p>
        </p:txBody>
      </p:sp>
      <p:sp>
        <p:nvSpPr>
          <p:cNvPr id="31" name="Oval 30"/>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Medical &amp; Healthcare</a:t>
            </a:r>
          </a:p>
        </p:txBody>
      </p:sp>
      <p:sp>
        <p:nvSpPr>
          <p:cNvPr id="35" name="Rectangle 34"/>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804.5</a:t>
            </a:r>
          </a:p>
        </p:txBody>
      </p:sp>
      <p:sp>
        <p:nvSpPr>
          <p:cNvPr id="36" name="Rectangle 35"/>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1,717</a:t>
            </a:r>
          </a:p>
        </p:txBody>
      </p:sp>
      <p:sp>
        <p:nvSpPr>
          <p:cNvPr id="37" name="Rectangle 36"/>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7.9%</a:t>
            </a:r>
          </a:p>
        </p:txBody>
      </p:sp>
      <p:sp>
        <p:nvSpPr>
          <p:cNvPr id="38" name="Oval 37"/>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Protective &amp; Occupational Wear</a:t>
            </a:r>
          </a:p>
        </p:txBody>
      </p:sp>
      <p:sp>
        <p:nvSpPr>
          <p:cNvPr id="42" name="Rectangle 41"/>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804.2</a:t>
            </a:r>
          </a:p>
        </p:txBody>
      </p:sp>
      <p:sp>
        <p:nvSpPr>
          <p:cNvPr id="43" name="Rectangle 42"/>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1,665</a:t>
            </a:r>
          </a:p>
        </p:txBody>
      </p:sp>
      <p:sp>
        <p:nvSpPr>
          <p:cNvPr id="44" name="Rectangle 43"/>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7.6%</a:t>
            </a:r>
          </a:p>
        </p:txBody>
      </p:sp>
      <p:sp>
        <p:nvSpPr>
          <p:cNvPr id="45" name="Oval 44"/>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8" name="Rectangle 47"/>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Among performance knitted fabrics by End-Use application vs material, industrial &amp; technical applications segment is expected to witness the highest CAGR of 7.9% over the forecast period. In terms of value share by End-Use application vs material, the sports &amp; activewear segment is expected to dominate the market, gaining 38 BPS and accounting for 23.2% share by 2036.</a:t>
            </a:r>
          </a:p>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Sports &amp; activewear segment is projected to register 1.5X higher value than medical &amp; healthcare segment in 2036.</a:t>
            </a:r>
          </a:p>
        </p:txBody>
      </p:sp>
      <p:sp>
        <p:nvSpPr>
          <p:cNvPr id="50" name="Rounded Rectangle 49"/>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2" name="Rectangle 51"/>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Sports &amp; Activewear: </a:t>
            </a:r>
            <a:r>
              <a:rPr sz="1100" b="0">
                <a:solidFill>
                  <a:srgbClr val="252423"/>
                </a:solidFill>
                <a:latin typeface="Segoe UI"/>
              </a:rPr>
              <a:t>23% of 2026 value · 7.6%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Intimate &amp; Bodywear: </a:t>
            </a:r>
            <a:r>
              <a:rPr sz="1100" b="0">
                <a:solidFill>
                  <a:srgbClr val="252423"/>
                </a:solidFill>
                <a:latin typeface="Segoe UI"/>
              </a:rPr>
              <a:t>15% of 2026 value · 6.3%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Medical &amp; Healthcare: </a:t>
            </a:r>
            <a:r>
              <a:rPr sz="1100" b="0">
                <a:solidFill>
                  <a:srgbClr val="252423"/>
                </a:solidFill>
                <a:latin typeface="Segoe UI"/>
              </a:rPr>
              <a:t>15% of 2026 value · 7.9% CAGR serves a niche.</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Protective &amp; Occupational Wear: </a:t>
            </a:r>
            <a:r>
              <a:rPr sz="1100" b="0">
                <a:solidFill>
                  <a:srgbClr val="252423"/>
                </a:solidFill>
                <a:latin typeface="Segoe UI"/>
              </a:rPr>
              <a:t>15% of 2026 value · 7.6% CAGR serves a niche.</a:t>
            </a:r>
          </a:p>
        </p:txBody>
      </p:sp>
      <p:sp>
        <p:nvSpPr>
          <p:cNvPr id="54" name="Rounded Rectangle 53"/>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6" name="Rectangle 55"/>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End-Use Application Vs Material split shows how demand is distributed across end-use application vs material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8" name="Rectangle 57"/>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End-Use Application Vs Material segment is projected to grow at a CAGR of 7.4% from 2026 to 2036.</a:t>
            </a:r>
          </a:p>
        </p:txBody>
      </p:sp>
      <p:sp>
        <p:nvSpPr>
          <p:cNvPr id="60" name="TextBox 59"/>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1" name="TextBox 6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Vs Material Segment Outlook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Vs Material,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Vs Material segment categorizes the market by end-use application vs material.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3257550"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3257550"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Industrial &amp; Technical Applicatio…</a:t>
            </a:r>
          </a:p>
        </p:txBody>
      </p:sp>
      <p:sp>
        <p:nvSpPr>
          <p:cNvPr id="20" name="Rectangle 19"/>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634.0</a:t>
            </a:r>
          </a:p>
        </p:txBody>
      </p:sp>
      <p:sp>
        <p:nvSpPr>
          <p:cNvPr id="21" name="Rectangle 20"/>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1,354</a:t>
            </a:r>
          </a:p>
        </p:txBody>
      </p:sp>
      <p:sp>
        <p:nvSpPr>
          <p:cNvPr id="22" name="Rectangle 21"/>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7.9%</a:t>
            </a:r>
          </a:p>
        </p:txBody>
      </p:sp>
      <p:sp>
        <p:nvSpPr>
          <p:cNvPr id="23" name="Oval 22"/>
          <p:cNvSpPr/>
          <p:nvPr/>
        </p:nvSpPr>
        <p:spPr>
          <a:xfrm>
            <a:off x="3333750"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24" name="Rounded Rectangle 23"/>
          <p:cNvSpPr/>
          <p:nvPr/>
        </p:nvSpPr>
        <p:spPr>
          <a:xfrm>
            <a:off x="5238750" y="1773916"/>
            <a:ext cx="3257550"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38750" y="1992961"/>
            <a:ext cx="3257550"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Footwear</a:t>
            </a:r>
          </a:p>
        </p:txBody>
      </p:sp>
      <p:sp>
        <p:nvSpPr>
          <p:cNvPr id="27" name="Rectangle 26"/>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591.3</a:t>
            </a:r>
          </a:p>
        </p:txBody>
      </p:sp>
      <p:sp>
        <p:nvSpPr>
          <p:cNvPr id="28" name="Rectangle 27"/>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1,244</a:t>
            </a:r>
          </a:p>
        </p:txBody>
      </p:sp>
      <p:sp>
        <p:nvSpPr>
          <p:cNvPr id="29" name="Rectangle 28"/>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7.7%</a:t>
            </a:r>
          </a:p>
        </p:txBody>
      </p:sp>
      <p:sp>
        <p:nvSpPr>
          <p:cNvPr id="30" name="Oval 29"/>
          <p:cNvSpPr/>
          <p:nvPr/>
        </p:nvSpPr>
        <p:spPr>
          <a:xfrm>
            <a:off x="6705600"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31" name="Rounded Rectangle 30"/>
          <p:cNvSpPr/>
          <p:nvPr/>
        </p:nvSpPr>
        <p:spPr>
          <a:xfrm>
            <a:off x="8610600" y="1773916"/>
            <a:ext cx="3257550"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10600" y="1992961"/>
            <a:ext cx="3257550"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Automotive &amp; Transportation</a:t>
            </a:r>
          </a:p>
        </p:txBody>
      </p:sp>
      <p:sp>
        <p:nvSpPr>
          <p:cNvPr id="34" name="Rectangle 33"/>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563.6</a:t>
            </a:r>
          </a:p>
        </p:txBody>
      </p:sp>
      <p:sp>
        <p:nvSpPr>
          <p:cNvPr id="35" name="Rectangle 34"/>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1,110</a:t>
            </a:r>
          </a:p>
        </p:txBody>
      </p:sp>
      <p:sp>
        <p:nvSpPr>
          <p:cNvPr id="36" name="Rectangle 35"/>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7.0%</a:t>
            </a:r>
          </a:p>
        </p:txBody>
      </p:sp>
      <p:sp>
        <p:nvSpPr>
          <p:cNvPr id="37" name="Oval 36"/>
          <p:cNvSpPr/>
          <p:nvPr/>
        </p:nvSpPr>
        <p:spPr>
          <a:xfrm>
            <a:off x="10077450"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38" name="Rounded Rectangle 37"/>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0" name="Rectangle 39"/>
          <p:cNvSpPr/>
          <p:nvPr/>
        </p:nvSpPr>
        <p:spPr>
          <a:xfrm>
            <a:off x="457200" y="4146897"/>
            <a:ext cx="112776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Industrial &amp; Technical Applications: </a:t>
            </a:r>
            <a:r>
              <a:rPr sz="1100" b="0">
                <a:solidFill>
                  <a:srgbClr val="252423"/>
                </a:solidFill>
                <a:latin typeface="Segoe UI"/>
              </a:rPr>
              <a:t>12% of 2026 value · 7.9% CAGR grows fastest.</a:t>
            </a:r>
          </a:p>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Footwear: </a:t>
            </a:r>
            <a:r>
              <a:rPr sz="1100" b="0">
                <a:solidFill>
                  <a:srgbClr val="252423"/>
                </a:solidFill>
                <a:latin typeface="Segoe UI"/>
              </a:rPr>
              <a:t>11% of 2026 value · 7.7% CAGR serves a niche.</a:t>
            </a:r>
          </a:p>
          <a:p>
            <a:pPr algn="l">
              <a:lnSpc>
                <a:spcPct val="110000"/>
              </a:lnSpc>
              <a:spcBef>
                <a:spcPts val="0"/>
              </a:spcBef>
              <a:spcAft>
                <a:spcPts val="500"/>
              </a:spcAft>
            </a:pPr>
            <a:r>
              <a:rPr sz="1100" b="0">
                <a:solidFill>
                  <a:srgbClr val="2C6E7F"/>
                </a:solidFill>
                <a:latin typeface="Segoe UI"/>
              </a:rPr>
              <a:t>●  </a:t>
            </a:r>
            <a:r>
              <a:rPr sz="1100" b="1">
                <a:solidFill>
                  <a:srgbClr val="2C6E7F"/>
                </a:solidFill>
                <a:latin typeface="Segoe UI"/>
              </a:rPr>
              <a:t>Automotive &amp; Transportation: </a:t>
            </a:r>
            <a:r>
              <a:rPr sz="1100" b="0">
                <a:solidFill>
                  <a:srgbClr val="252423"/>
                </a:solidFill>
                <a:latin typeface="Segoe UI"/>
              </a:rPr>
              <a:t>10% of 2026 value · 7.0% CAGR serves a niche.</a:t>
            </a:r>
          </a:p>
        </p:txBody>
      </p:sp>
      <p:sp>
        <p:nvSpPr>
          <p:cNvPr id="42" name="TextBox 41"/>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3" name="TextBox 4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Global Market Value &amp; Share Shift, By End-Use Application Vs Material</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End-Use Application Vs Material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Global</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Global Value Composition, By End-Use Application Vs Material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897042"/>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5090922" y="189228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81608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Automotive &amp; Transportation</a:t>
            </a:r>
          </a:p>
        </p:txBody>
      </p:sp>
      <p:sp>
        <p:nvSpPr>
          <p:cNvPr id="17" name="BPS Value 1"/>
          <p:cNvSpPr txBox="1"/>
          <p:nvPr/>
        </p:nvSpPr>
        <p:spPr>
          <a:xfrm>
            <a:off x="6896100" y="1877992"/>
            <a:ext cx="514350" cy="123825"/>
          </a:xfrm>
          <a:prstGeom prst="rect">
            <a:avLst/>
          </a:prstGeom>
          <a:noFill/>
        </p:spPr>
        <p:txBody>
          <a:bodyPr wrap="none" lIns="0" rIns="0" tIns="0" bIns="0" anchor="ctr">
            <a:spAutoFit/>
          </a:bodyPr>
          <a:lstStyle/>
          <a:p>
            <a:pPr algn="r"/>
            <a:r>
              <a:rPr sz="900" b="1">
                <a:solidFill>
                  <a:srgbClr val="D64545"/>
                </a:solidFill>
                <a:latin typeface="Segoe UI"/>
              </a:rPr>
              <a:t>-40</a:t>
            </a:r>
          </a:p>
        </p:txBody>
      </p:sp>
      <p:sp>
        <p:nvSpPr>
          <p:cNvPr id="18" name="FMI Legend Chip"/>
          <p:cNvSpPr/>
          <p:nvPr/>
        </p:nvSpPr>
        <p:spPr>
          <a:xfrm>
            <a:off x="4928997" y="2375774"/>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237101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229481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Footwear</a:t>
            </a:r>
          </a:p>
        </p:txBody>
      </p:sp>
      <p:sp>
        <p:nvSpPr>
          <p:cNvPr id="21" name="BPS Value 2"/>
          <p:cNvSpPr txBox="1"/>
          <p:nvPr/>
        </p:nvSpPr>
        <p:spPr>
          <a:xfrm>
            <a:off x="6896100" y="2356724"/>
            <a:ext cx="514350" cy="123825"/>
          </a:xfrm>
          <a:prstGeom prst="rect">
            <a:avLst/>
          </a:prstGeom>
          <a:noFill/>
        </p:spPr>
        <p:txBody>
          <a:bodyPr wrap="none" lIns="0" rIns="0" tIns="0" bIns="0" anchor="ctr">
            <a:spAutoFit/>
          </a:bodyPr>
          <a:lstStyle/>
          <a:p>
            <a:pPr algn="r"/>
            <a:r>
              <a:rPr sz="900" b="1">
                <a:solidFill>
                  <a:srgbClr val="1E8E3E"/>
                </a:solidFill>
                <a:latin typeface="Segoe UI"/>
              </a:rPr>
              <a:t>+28</a:t>
            </a:r>
          </a:p>
        </p:txBody>
      </p:sp>
      <p:sp>
        <p:nvSpPr>
          <p:cNvPr id="22" name="FMI Legend Chip"/>
          <p:cNvSpPr/>
          <p:nvPr/>
        </p:nvSpPr>
        <p:spPr>
          <a:xfrm>
            <a:off x="4928997" y="2904215"/>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5090922" y="289945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82325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Industrial &amp; Technical Applications</a:t>
            </a:r>
          </a:p>
        </p:txBody>
      </p:sp>
      <p:sp>
        <p:nvSpPr>
          <p:cNvPr id="25" name="BPS Value 3"/>
          <p:cNvSpPr txBox="1"/>
          <p:nvPr/>
        </p:nvSpPr>
        <p:spPr>
          <a:xfrm>
            <a:off x="6896100" y="2885165"/>
            <a:ext cx="514350" cy="123825"/>
          </a:xfrm>
          <a:prstGeom prst="rect">
            <a:avLst/>
          </a:prstGeom>
          <a:noFill/>
        </p:spPr>
        <p:txBody>
          <a:bodyPr wrap="none" lIns="0" rIns="0" tIns="0" bIns="0" anchor="ctr">
            <a:spAutoFit/>
          </a:bodyPr>
          <a:lstStyle/>
          <a:p>
            <a:pPr algn="r"/>
            <a:r>
              <a:rPr sz="900" b="1">
                <a:solidFill>
                  <a:srgbClr val="1E8E3E"/>
                </a:solidFill>
                <a:latin typeface="Segoe UI"/>
              </a:rPr>
              <a:t>+49</a:t>
            </a:r>
          </a:p>
        </p:txBody>
      </p:sp>
      <p:sp>
        <p:nvSpPr>
          <p:cNvPr id="26" name="FMI Legend Chip"/>
          <p:cNvSpPr/>
          <p:nvPr/>
        </p:nvSpPr>
        <p:spPr>
          <a:xfrm>
            <a:off x="4928997" y="3494144"/>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rot="10800000">
            <a:off x="5090922" y="3489381"/>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341318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Intimate &amp; Bodywear</a:t>
            </a:r>
          </a:p>
        </p:txBody>
      </p:sp>
      <p:sp>
        <p:nvSpPr>
          <p:cNvPr id="29" name="BPS Value 4"/>
          <p:cNvSpPr txBox="1"/>
          <p:nvPr/>
        </p:nvSpPr>
        <p:spPr>
          <a:xfrm>
            <a:off x="6896100" y="3475094"/>
            <a:ext cx="514350" cy="123825"/>
          </a:xfrm>
          <a:prstGeom prst="rect">
            <a:avLst/>
          </a:prstGeom>
          <a:noFill/>
        </p:spPr>
        <p:txBody>
          <a:bodyPr wrap="none" lIns="0" rIns="0" tIns="0" bIns="0" anchor="ctr">
            <a:spAutoFit/>
          </a:bodyPr>
          <a:lstStyle/>
          <a:p>
            <a:pPr algn="r"/>
            <a:r>
              <a:rPr sz="900" b="1">
                <a:solidFill>
                  <a:srgbClr val="D64545"/>
                </a:solidFill>
                <a:latin typeface="Segoe UI"/>
              </a:rPr>
              <a:t>-150</a:t>
            </a:r>
          </a:p>
        </p:txBody>
      </p:sp>
      <p:sp>
        <p:nvSpPr>
          <p:cNvPr id="30" name="FMI Legend Chip"/>
          <p:cNvSpPr/>
          <p:nvPr/>
        </p:nvSpPr>
        <p:spPr>
          <a:xfrm>
            <a:off x="4928997" y="4147276"/>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5090922" y="414251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406631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Protective &amp; Occupational Wear</a:t>
            </a:r>
          </a:p>
        </p:txBody>
      </p:sp>
      <p:sp>
        <p:nvSpPr>
          <p:cNvPr id="33" name="BPS Value 5"/>
          <p:cNvSpPr txBox="1"/>
          <p:nvPr/>
        </p:nvSpPr>
        <p:spPr>
          <a:xfrm>
            <a:off x="6896100" y="4128226"/>
            <a:ext cx="514350" cy="123825"/>
          </a:xfrm>
          <a:prstGeom prst="rect">
            <a:avLst/>
          </a:prstGeom>
          <a:noFill/>
        </p:spPr>
        <p:txBody>
          <a:bodyPr wrap="none" lIns="0" rIns="0" tIns="0" bIns="0" anchor="ctr">
            <a:spAutoFit/>
          </a:bodyPr>
          <a:lstStyle/>
          <a:p>
            <a:pPr algn="r"/>
            <a:r>
              <a:rPr sz="900" b="1">
                <a:solidFill>
                  <a:srgbClr val="1E8E3E"/>
                </a:solidFill>
                <a:latin typeface="Segoe UI"/>
              </a:rPr>
              <a:t>+15</a:t>
            </a:r>
          </a:p>
        </p:txBody>
      </p:sp>
      <p:sp>
        <p:nvSpPr>
          <p:cNvPr id="34" name="FMI Legend Chip"/>
          <p:cNvSpPr/>
          <p:nvPr/>
        </p:nvSpPr>
        <p:spPr>
          <a:xfrm>
            <a:off x="4928997" y="4835172"/>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a:off x="5090922" y="4830410"/>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475421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Medical &amp; Healthcare</a:t>
            </a:r>
          </a:p>
        </p:txBody>
      </p:sp>
      <p:sp>
        <p:nvSpPr>
          <p:cNvPr id="37" name="BPS Value 6"/>
          <p:cNvSpPr txBox="1"/>
          <p:nvPr/>
        </p:nvSpPr>
        <p:spPr>
          <a:xfrm>
            <a:off x="6896100" y="4816122"/>
            <a:ext cx="514350" cy="123825"/>
          </a:xfrm>
          <a:prstGeom prst="rect">
            <a:avLst/>
          </a:prstGeom>
          <a:noFill/>
        </p:spPr>
        <p:txBody>
          <a:bodyPr wrap="none" lIns="0" rIns="0" tIns="0" bIns="0" anchor="ctr">
            <a:spAutoFit/>
          </a:bodyPr>
          <a:lstStyle/>
          <a:p>
            <a:pPr algn="r"/>
            <a:r>
              <a:rPr sz="900" b="1">
                <a:solidFill>
                  <a:srgbClr val="1E8E3E"/>
                </a:solidFill>
                <a:latin typeface="Segoe UI"/>
              </a:rPr>
              <a:t>+60</a:t>
            </a:r>
          </a:p>
        </p:txBody>
      </p:sp>
      <p:sp>
        <p:nvSpPr>
          <p:cNvPr id="38" name="FMI Legend Chip"/>
          <p:cNvSpPr/>
          <p:nvPr/>
        </p:nvSpPr>
        <p:spPr>
          <a:xfrm>
            <a:off x="4928997" y="5714004"/>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a:off x="5090922" y="570924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5233797" y="563304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Sports &amp; Activewear</a:t>
            </a:r>
          </a:p>
        </p:txBody>
      </p:sp>
      <p:sp>
        <p:nvSpPr>
          <p:cNvPr id="41" name="BPS Value 7"/>
          <p:cNvSpPr txBox="1"/>
          <p:nvPr/>
        </p:nvSpPr>
        <p:spPr>
          <a:xfrm>
            <a:off x="6896100" y="5694954"/>
            <a:ext cx="514350" cy="123825"/>
          </a:xfrm>
          <a:prstGeom prst="rect">
            <a:avLst/>
          </a:prstGeom>
          <a:noFill/>
        </p:spPr>
        <p:txBody>
          <a:bodyPr wrap="none" lIns="0" rIns="0" tIns="0" bIns="0" anchor="ctr">
            <a:spAutoFit/>
          </a:bodyPr>
          <a:lstStyle/>
          <a:p>
            <a:pPr algn="r"/>
            <a:r>
              <a:rPr sz="900" b="1">
                <a:solidFill>
                  <a:srgbClr val="1E8E3E"/>
                </a:solidFill>
                <a:latin typeface="Segoe UI"/>
              </a:rPr>
              <a:t>+38</a:t>
            </a:r>
          </a:p>
        </p:txBody>
      </p:sp>
      <p:sp>
        <p:nvSpPr>
          <p:cNvPr id="42" name="Rectangle 41"/>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Global Read-out, By End-Use Application Vs Material</a:t>
            </a:r>
          </a:p>
        </p:txBody>
      </p:sp>
      <p:sp>
        <p:nvSpPr>
          <p:cNvPr id="44" name="Rectangle 43"/>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End-Use application vs material, industrial &amp; technical applications segment is expected to witness the highest CAGR of 7.9% over the forecast period. In terms of value share by End-Use application vs material, the sports &amp; activewear segment is expected to dominate the market, gaining 38 BPS and accounting for 23.2% share by 2036.</a:t>
            </a:r>
          </a:p>
          <a:p>
            <a:pPr algn="l">
              <a:lnSpc>
                <a:spcPct val="110000"/>
              </a:lnSpc>
              <a:spcBef>
                <a:spcPts val="0"/>
              </a:spcBef>
              <a:spcAft>
                <a:spcPts val="500"/>
              </a:spcAft>
            </a:pPr>
            <a:r>
              <a:rPr sz="1150" b="0">
                <a:solidFill>
                  <a:srgbClr val="252423"/>
                </a:solidFill>
                <a:latin typeface="Segoe UI"/>
              </a:rPr>
              <a:t>The intimate &amp; bodywear segment is expected to lose 150 BPS over the forecast period to account for 13.8% share by 2036.</a:t>
            </a:r>
          </a:p>
        </p:txBody>
      </p:sp>
      <p:sp>
        <p:nvSpPr>
          <p:cNvPr id="46" name="TextBox 4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Performance Knitted Fabrics Market Summary, By Volume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North America market volume growth, incremental opportunity and the geographies driving it, 2021–2036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North America</a:t>
            </a:r>
          </a:p>
        </p:txBody>
      </p:sp>
      <p:sp>
        <p:nvSpPr>
          <p:cNvPr id="9" name="Rounded Rectangle 8"/>
          <p:cNvSpPr/>
          <p:nvPr/>
        </p:nvSpPr>
        <p:spPr>
          <a:xfrm>
            <a:off x="142875"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MARKET SIZE (MN SQ. YARDS)</a:t>
            </a:r>
          </a:p>
          <a:p>
            <a:pPr algn="ctr">
              <a:lnSpc>
                <a:spcPct val="95000"/>
              </a:lnSpc>
            </a:pPr>
            <a:r>
              <a:rPr sz="1500" b="1">
                <a:solidFill>
                  <a:srgbClr val="00A4DC"/>
                </a:solidFill>
                <a:latin typeface="Segoe UI"/>
              </a:rPr>
              <a:t>354.8</a:t>
            </a:r>
          </a:p>
        </p:txBody>
      </p:sp>
      <p:sp>
        <p:nvSpPr>
          <p:cNvPr id="10" name="Rounded Rectangle 9"/>
          <p:cNvSpPr/>
          <p:nvPr/>
        </p:nvSpPr>
        <p:spPr>
          <a:xfrm>
            <a:off x="31432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629.4</a:t>
            </a:r>
          </a:p>
        </p:txBody>
      </p:sp>
      <p:sp>
        <p:nvSpPr>
          <p:cNvPr id="11" name="Rounded Rectangle 10"/>
          <p:cNvSpPr/>
          <p:nvPr/>
        </p:nvSpPr>
        <p:spPr>
          <a:xfrm>
            <a:off x="61531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2021–2025</a:t>
            </a:r>
          </a:p>
          <a:p>
            <a:pPr algn="ctr">
              <a:lnSpc>
                <a:spcPct val="95000"/>
              </a:lnSpc>
            </a:pPr>
            <a:r>
              <a:rPr sz="1500" b="1">
                <a:solidFill>
                  <a:srgbClr val="00A4DC"/>
                </a:solidFill>
                <a:latin typeface="Segoe UI"/>
              </a:rPr>
              <a:t>5.7%</a:t>
            </a:r>
          </a:p>
        </p:txBody>
      </p:sp>
      <p:sp>
        <p:nvSpPr>
          <p:cNvPr id="12" name="Rounded Rectangle 11"/>
          <p:cNvSpPr/>
          <p:nvPr/>
        </p:nvSpPr>
        <p:spPr>
          <a:xfrm>
            <a:off x="91630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1500" b="1">
                <a:solidFill>
                  <a:srgbClr val="00A4DC"/>
                </a:solidFill>
                <a:latin typeface="Segoe UI"/>
              </a:rPr>
              <a:t>5.9%</a:t>
            </a:r>
          </a:p>
        </p:txBody>
      </p:sp>
      <p:sp>
        <p:nvSpPr>
          <p:cNvPr id="13" name="Rectangle 12"/>
          <p:cNvSpPr/>
          <p:nvPr/>
        </p:nvSpPr>
        <p:spPr>
          <a:xfrm>
            <a:off x="142875" y="1627887"/>
            <a:ext cx="769620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(2021–2036)</a:t>
            </a:r>
          </a:p>
        </p:txBody>
      </p:sp>
      <p:graphicFrame>
        <p:nvGraphicFramePr>
          <p:cNvPr id="15" name="Chart 14"/>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6" name="Rectangle 15"/>
          <p:cNvSpPr/>
          <p:nvPr/>
        </p:nvSpPr>
        <p:spPr>
          <a:xfrm>
            <a:off x="142875" y="4037375"/>
            <a:ext cx="769620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Incremental Market Addition (Mn Sq. Yards)</a:t>
            </a:r>
          </a:p>
        </p:txBody>
      </p:sp>
      <p:graphicFrame>
        <p:nvGraphicFramePr>
          <p:cNvPr id="18" name="Chart 17"/>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9" name="Rectangle 18"/>
          <p:cNvSpPr/>
          <p:nvPr/>
        </p:nvSpPr>
        <p:spPr>
          <a:xfrm>
            <a:off x="7915275" y="1627887"/>
            <a:ext cx="413385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21" name="Rectangle 20"/>
          <p:cNvSpPr/>
          <p:nvPr/>
        </p:nvSpPr>
        <p:spPr>
          <a:xfrm>
            <a:off x="8048625" y="195173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52423"/>
                </a:solidFill>
                <a:latin typeface="Segoe UI"/>
              </a:rPr>
              <a:t>North America performance knitted fabrics market is projected to register 1.9X increase in volume by the end of forecast period, 2036. North America performance knitted fabrics market volume stood at 335.2 Mn Sq. Yards in 2025 and is expected to reach 629.4 Mn Sq. Yards by 2036 end, at a CAGR of 5.9%.</a:t>
            </a:r>
          </a:p>
          <a:p>
            <a:pPr algn="l">
              <a:lnSpc>
                <a:spcPct val="110000"/>
              </a:lnSpc>
              <a:spcBef>
                <a:spcPts val="0"/>
              </a:spcBef>
              <a:spcAft>
                <a:spcPts val="500"/>
              </a:spcAft>
            </a:pPr>
            <a:r>
              <a:rPr sz="1100" b="0">
                <a:solidFill>
                  <a:srgbClr val="252423"/>
                </a:solidFill>
                <a:latin typeface="Segoe UI"/>
              </a:rPr>
              <a:t>Value is projected to grow faster than volume over the forecast period, owing to an increase in average selling price.</a:t>
            </a:r>
          </a:p>
        </p:txBody>
      </p:sp>
      <p:sp>
        <p:nvSpPr>
          <p:cNvPr id="23" name="Rectangle 22"/>
          <p:cNvSpPr/>
          <p:nvPr/>
        </p:nvSpPr>
        <p:spPr>
          <a:xfrm>
            <a:off x="7915275" y="4037375"/>
            <a:ext cx="413385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07BA5"/>
                </a:solidFill>
                <a:latin typeface="Segoe UI"/>
              </a:rPr>
              <a:t>Growth Drivers</a:t>
            </a:r>
          </a:p>
        </p:txBody>
      </p:sp>
      <p:sp>
        <p:nvSpPr>
          <p:cNvPr id="25" name="Rectangle 24"/>
          <p:cNvSpPr/>
          <p:nvPr/>
        </p:nvSpPr>
        <p:spPr>
          <a:xfrm>
            <a:off x="8048625" y="436122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'Mexico' leads regional growth at 7.3% CAGR.</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Demand concentrates in 'Weft Knitted Fabrics' within Fabric Construction.</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Product innovation and premiumisation lifting value.</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Expanding end-use applications and access.</a:t>
            </a:r>
          </a:p>
        </p:txBody>
      </p:sp>
      <p:sp>
        <p:nvSpPr>
          <p:cNvPr id="27" name="TextBox 2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Performance Knitted Fabrics Market Pricing &amp; Regional Price Index</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average price by sub-segment and price variation by country, highlighting where pricing power sits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North America</a:t>
            </a:r>
          </a:p>
        </p:txBody>
      </p:sp>
      <p:sp>
        <p:nvSpPr>
          <p:cNvPr id="9" name="Rectangle 8"/>
          <p:cNvSpPr/>
          <p:nvPr/>
        </p:nvSpPr>
        <p:spPr>
          <a:xfrm>
            <a:off x="142875" y="1052895"/>
            <a:ext cx="7696200" cy="266504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Average Price by Fabric Construction  ·  range across 2021–2036 (US$/Sq. Yards)</a:t>
            </a:r>
          </a:p>
        </p:txBody>
      </p:sp>
      <p:cxnSp>
        <p:nvCxnSpPr>
          <p:cNvPr id="11" name="Connector 10"/>
          <p:cNvCxnSpPr/>
          <p:nvPr/>
        </p:nvCxnSpPr>
        <p:spPr>
          <a:xfrm>
            <a:off x="657225" y="333693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7225" y="286593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239494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192394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452945"/>
            <a:ext cx="0" cy="188399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8650" y="3336935"/>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2865938"/>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2394940"/>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1923943"/>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1452945"/>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sp>
        <p:nvSpPr>
          <p:cNvPr id="22" name="FMI Scale tick"/>
          <p:cNvSpPr txBox="1"/>
          <p:nvPr/>
        </p:nvSpPr>
        <p:spPr>
          <a:xfrm>
            <a:off x="219075" y="3270260"/>
            <a:ext cx="381000" cy="133350"/>
          </a:xfrm>
          <a:prstGeom prst="rect">
            <a:avLst/>
          </a:prstGeom>
          <a:noFill/>
        </p:spPr>
        <p:txBody>
          <a:bodyPr wrap="none" lIns="0" rIns="0" tIns="0" bIns="0" anchor="ctr">
            <a:spAutoFit/>
          </a:bodyPr>
          <a:lstStyle/>
          <a:p>
            <a:pPr algn="r"/>
            <a:r>
              <a:rPr sz="1100" b="0">
                <a:solidFill>
                  <a:srgbClr val="605E5C"/>
                </a:solidFill>
                <a:latin typeface="Segoe UI"/>
              </a:rPr>
              <a:t>3.36</a:t>
            </a:r>
          </a:p>
        </p:txBody>
      </p:sp>
      <p:sp>
        <p:nvSpPr>
          <p:cNvPr id="23" name="FMI Scale tick"/>
          <p:cNvSpPr txBox="1"/>
          <p:nvPr/>
        </p:nvSpPr>
        <p:spPr>
          <a:xfrm>
            <a:off x="219075" y="2328265"/>
            <a:ext cx="381000" cy="133350"/>
          </a:xfrm>
          <a:prstGeom prst="rect">
            <a:avLst/>
          </a:prstGeom>
          <a:noFill/>
        </p:spPr>
        <p:txBody>
          <a:bodyPr wrap="none" lIns="0" rIns="0" tIns="0" bIns="0" anchor="ctr">
            <a:spAutoFit/>
          </a:bodyPr>
          <a:lstStyle/>
          <a:p>
            <a:pPr algn="r"/>
            <a:r>
              <a:rPr sz="1100" b="0">
                <a:solidFill>
                  <a:srgbClr val="605E5C"/>
                </a:solidFill>
                <a:latin typeface="Segoe UI"/>
              </a:rPr>
              <a:t>3.85</a:t>
            </a:r>
          </a:p>
        </p:txBody>
      </p:sp>
      <p:sp>
        <p:nvSpPr>
          <p:cNvPr id="24" name="FMI Scale tick"/>
          <p:cNvSpPr txBox="1"/>
          <p:nvPr/>
        </p:nvSpPr>
        <p:spPr>
          <a:xfrm>
            <a:off x="219075" y="1386270"/>
            <a:ext cx="381000" cy="133350"/>
          </a:xfrm>
          <a:prstGeom prst="rect">
            <a:avLst/>
          </a:prstGeom>
          <a:noFill/>
        </p:spPr>
        <p:txBody>
          <a:bodyPr wrap="none" lIns="0" rIns="0" tIns="0" bIns="0" anchor="ctr">
            <a:spAutoFit/>
          </a:bodyPr>
          <a:lstStyle/>
          <a:p>
            <a:pPr algn="r"/>
            <a:r>
              <a:rPr sz="1100" b="0">
                <a:solidFill>
                  <a:srgbClr val="605E5C"/>
                </a:solidFill>
                <a:latin typeface="Segoe UI"/>
              </a:rPr>
              <a:t>4.33</a:t>
            </a:r>
          </a:p>
        </p:txBody>
      </p:sp>
      <p:cxnSp>
        <p:nvCxnSpPr>
          <p:cNvPr id="25" name="Connector 24"/>
          <p:cNvCxnSpPr/>
          <p:nvPr/>
        </p:nvCxnSpPr>
        <p:spPr>
          <a:xfrm flipV="1">
            <a:off x="2409825" y="1670329"/>
            <a:ext cx="0" cy="1445249"/>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278380" y="311557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278380" y="16703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2190750" y="2228394"/>
            <a:ext cx="438150" cy="736856"/>
          </a:xfrm>
          <a:prstGeom prst="rect">
            <a:avLst/>
          </a:prstGeom>
          <a:solidFill>
            <a:srgbClr val="CFE7F5"/>
          </a:solidFill>
          <a:ln w="15875">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2190750" y="2654016"/>
            <a:ext cx="438150" cy="0"/>
          </a:xfrm>
          <a:prstGeom prst="line">
            <a:avLst/>
          </a:prstGeom>
          <a:ln w="2540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57225" y="1517929"/>
            <a:ext cx="3505200" cy="133350"/>
          </a:xfrm>
          <a:prstGeom prst="rect">
            <a:avLst/>
          </a:prstGeom>
          <a:noFill/>
        </p:spPr>
        <p:txBody>
          <a:bodyPr wrap="square" lIns="28575" rIns="28575" tIns="9525" bIns="9525">
            <a:spAutoFit/>
          </a:bodyPr>
          <a:lstStyle/>
          <a:p>
            <a:pPr algn="ctr"/>
            <a:r>
              <a:rPr sz="1100" b="1">
                <a:solidFill>
                  <a:srgbClr val="007BA5"/>
                </a:solidFill>
                <a:latin typeface="Segoe UI"/>
              </a:rPr>
              <a:t>3.71</a:t>
            </a:r>
          </a:p>
        </p:txBody>
      </p:sp>
      <p:cxnSp>
        <p:nvCxnSpPr>
          <p:cNvPr id="31" name="Connector 30"/>
          <p:cNvCxnSpPr/>
          <p:nvPr/>
        </p:nvCxnSpPr>
        <p:spPr>
          <a:xfrm flipV="1">
            <a:off x="5915025" y="1673967"/>
            <a:ext cx="0" cy="1445585"/>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783580" y="311955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783580" y="167396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695950" y="2229494"/>
            <a:ext cx="438150" cy="739570"/>
          </a:xfrm>
          <a:prstGeom prst="rect">
            <a:avLst/>
          </a:prstGeom>
          <a:solidFill>
            <a:srgbClr val="CFE7F5"/>
          </a:solidFill>
          <a:ln w="15875">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5695950" y="2654851"/>
            <a:ext cx="438150" cy="0"/>
          </a:xfrm>
          <a:prstGeom prst="line">
            <a:avLst/>
          </a:prstGeom>
          <a:ln w="2540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162425" y="1521567"/>
            <a:ext cx="3505200" cy="133350"/>
          </a:xfrm>
          <a:prstGeom prst="rect">
            <a:avLst/>
          </a:prstGeom>
          <a:noFill/>
        </p:spPr>
        <p:txBody>
          <a:bodyPr wrap="square" lIns="28575" rIns="28575" tIns="9525" bIns="9525">
            <a:spAutoFit/>
          </a:bodyPr>
          <a:lstStyle/>
          <a:p>
            <a:pPr algn="ctr"/>
            <a:r>
              <a:rPr sz="1100" b="1">
                <a:solidFill>
                  <a:srgbClr val="007BA5"/>
                </a:solidFill>
                <a:latin typeface="Segoe UI"/>
              </a:rPr>
              <a:t>3.71</a:t>
            </a:r>
          </a:p>
        </p:txBody>
      </p:sp>
      <p:sp>
        <p:nvSpPr>
          <p:cNvPr id="37" name="TextBox 36"/>
          <p:cNvSpPr txBox="1"/>
          <p:nvPr/>
        </p:nvSpPr>
        <p:spPr>
          <a:xfrm>
            <a:off x="657225" y="3365510"/>
            <a:ext cx="3505200" cy="285750"/>
          </a:xfrm>
          <a:prstGeom prst="rect">
            <a:avLst/>
          </a:prstGeom>
          <a:noFill/>
        </p:spPr>
        <p:txBody>
          <a:bodyPr wrap="square" lIns="28575" rIns="28575" tIns="9525" bIns="9525">
            <a:spAutoFit/>
          </a:bodyPr>
          <a:lstStyle/>
          <a:p>
            <a:pPr algn="ctr"/>
            <a:r>
              <a:rPr sz="1100" b="0">
                <a:solidFill>
                  <a:srgbClr val="252423"/>
                </a:solidFill>
                <a:latin typeface="Segoe UI"/>
              </a:rPr>
              <a:t>Warp Knitted Fabrics</a:t>
            </a:r>
          </a:p>
        </p:txBody>
      </p:sp>
      <p:sp>
        <p:nvSpPr>
          <p:cNvPr id="38" name="TextBox 37"/>
          <p:cNvSpPr txBox="1"/>
          <p:nvPr/>
        </p:nvSpPr>
        <p:spPr>
          <a:xfrm>
            <a:off x="4162425" y="3365510"/>
            <a:ext cx="3505200" cy="285750"/>
          </a:xfrm>
          <a:prstGeom prst="rect">
            <a:avLst/>
          </a:prstGeom>
          <a:noFill/>
        </p:spPr>
        <p:txBody>
          <a:bodyPr wrap="square" lIns="28575" rIns="28575" tIns="9525" bIns="9525">
            <a:spAutoFit/>
          </a:bodyPr>
          <a:lstStyle/>
          <a:p>
            <a:pPr algn="ctr"/>
            <a:r>
              <a:rPr sz="1100" b="0">
                <a:solidFill>
                  <a:srgbClr val="252423"/>
                </a:solidFill>
                <a:latin typeface="Segoe UI"/>
              </a:rPr>
              <a:t>Weft Knitted Fabrics</a:t>
            </a:r>
          </a:p>
        </p:txBody>
      </p:sp>
      <p:sp>
        <p:nvSpPr>
          <p:cNvPr id="39" name="Rectangle 38"/>
          <p:cNvSpPr/>
          <p:nvPr/>
        </p:nvSpPr>
        <p:spPr>
          <a:xfrm>
            <a:off x="142875" y="3772696"/>
            <a:ext cx="7696200" cy="278368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Price Variation by Country vs North America  ·  2026–2036</a:t>
            </a:r>
          </a:p>
        </p:txBody>
      </p:sp>
      <p:cxnSp>
        <p:nvCxnSpPr>
          <p:cNvPr id="41" name="Connector 40"/>
          <p:cNvCxnSpPr/>
          <p:nvPr/>
        </p:nvCxnSpPr>
        <p:spPr>
          <a:xfrm>
            <a:off x="619125" y="432345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19125" y="4758283"/>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19125" y="519311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19125" y="562794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19125" y="606278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19125" y="4323451"/>
            <a:ext cx="0" cy="1739329"/>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90550" y="4323451"/>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90550" y="4758283"/>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90550" y="5193116"/>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90550" y="5627948"/>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90550" y="6062780"/>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sp>
        <p:nvSpPr>
          <p:cNvPr id="52" name="FMI Scale tick"/>
          <p:cNvSpPr txBox="1"/>
          <p:nvPr/>
        </p:nvSpPr>
        <p:spPr>
          <a:xfrm>
            <a:off x="219075" y="4256776"/>
            <a:ext cx="361950" cy="133350"/>
          </a:xfrm>
          <a:prstGeom prst="rect">
            <a:avLst/>
          </a:prstGeom>
          <a:noFill/>
        </p:spPr>
        <p:txBody>
          <a:bodyPr wrap="none" lIns="0" rIns="0" tIns="0" bIns="0" anchor="ctr">
            <a:spAutoFit/>
          </a:bodyPr>
          <a:lstStyle/>
          <a:p>
            <a:pPr algn="r"/>
            <a:r>
              <a:rPr sz="1100" b="0">
                <a:solidFill>
                  <a:srgbClr val="605E5C"/>
                </a:solidFill>
                <a:latin typeface="Segoe UI"/>
              </a:rPr>
              <a:t>+15%</a:t>
            </a:r>
          </a:p>
        </p:txBody>
      </p:sp>
      <p:sp>
        <p:nvSpPr>
          <p:cNvPr id="53" name="FMI Scale tick"/>
          <p:cNvSpPr txBox="1"/>
          <p:nvPr/>
        </p:nvSpPr>
        <p:spPr>
          <a:xfrm>
            <a:off x="219075" y="4691608"/>
            <a:ext cx="361950" cy="133350"/>
          </a:xfrm>
          <a:prstGeom prst="rect">
            <a:avLst/>
          </a:prstGeom>
          <a:noFill/>
        </p:spPr>
        <p:txBody>
          <a:bodyPr wrap="none" lIns="0" rIns="0" tIns="0" bIns="0" anchor="ctr">
            <a:spAutoFit/>
          </a:bodyPr>
          <a:lstStyle/>
          <a:p>
            <a:pPr algn="r"/>
            <a:r>
              <a:rPr sz="1100" b="0">
                <a:solidFill>
                  <a:srgbClr val="605E5C"/>
                </a:solidFill>
                <a:latin typeface="Segoe UI"/>
              </a:rPr>
              <a:t>+8%</a:t>
            </a:r>
          </a:p>
        </p:txBody>
      </p:sp>
      <p:sp>
        <p:nvSpPr>
          <p:cNvPr id="54" name="FMI Scale tick"/>
          <p:cNvSpPr txBox="1"/>
          <p:nvPr/>
        </p:nvSpPr>
        <p:spPr>
          <a:xfrm>
            <a:off x="219075" y="5126441"/>
            <a:ext cx="361950" cy="133350"/>
          </a:xfrm>
          <a:prstGeom prst="rect">
            <a:avLst/>
          </a:prstGeom>
          <a:noFill/>
        </p:spPr>
        <p:txBody>
          <a:bodyPr wrap="square" lIns="28575" rIns="28575" tIns="9525" bIns="9525" anchor="ctr">
            <a:spAutoFit/>
          </a:bodyPr>
          <a:lstStyle/>
          <a:p>
            <a:pPr algn="r"/>
            <a:r>
              <a:rPr sz="1100" b="1">
                <a:solidFill>
                  <a:srgbClr val="605E5C"/>
                </a:solidFill>
                <a:latin typeface="Segoe UI"/>
              </a:rPr>
              <a:t>North America</a:t>
            </a:r>
          </a:p>
        </p:txBody>
      </p:sp>
      <p:sp>
        <p:nvSpPr>
          <p:cNvPr id="55" name="FMI Scale tick"/>
          <p:cNvSpPr txBox="1"/>
          <p:nvPr/>
        </p:nvSpPr>
        <p:spPr>
          <a:xfrm>
            <a:off x="219075" y="5561273"/>
            <a:ext cx="361950" cy="133350"/>
          </a:xfrm>
          <a:prstGeom prst="rect">
            <a:avLst/>
          </a:prstGeom>
          <a:noFill/>
        </p:spPr>
        <p:txBody>
          <a:bodyPr wrap="none" lIns="0" rIns="0" tIns="0" bIns="0" anchor="ctr">
            <a:spAutoFit/>
          </a:bodyPr>
          <a:lstStyle/>
          <a:p>
            <a:pPr algn="r"/>
            <a:r>
              <a:rPr sz="1100" b="0">
                <a:solidFill>
                  <a:srgbClr val="605E5C"/>
                </a:solidFill>
                <a:latin typeface="Segoe UI"/>
              </a:rPr>
              <a:t>-8%</a:t>
            </a:r>
          </a:p>
        </p:txBody>
      </p:sp>
      <p:sp>
        <p:nvSpPr>
          <p:cNvPr id="56" name="FMI Scale tick"/>
          <p:cNvSpPr txBox="1"/>
          <p:nvPr/>
        </p:nvSpPr>
        <p:spPr>
          <a:xfrm>
            <a:off x="219075" y="5996105"/>
            <a:ext cx="361950" cy="133350"/>
          </a:xfrm>
          <a:prstGeom prst="rect">
            <a:avLst/>
          </a:prstGeom>
          <a:noFill/>
        </p:spPr>
        <p:txBody>
          <a:bodyPr wrap="none" lIns="0" rIns="0" tIns="0" bIns="0" anchor="ctr">
            <a:spAutoFit/>
          </a:bodyPr>
          <a:lstStyle/>
          <a:p>
            <a:pPr algn="r"/>
            <a:r>
              <a:rPr sz="1100" b="0">
                <a:solidFill>
                  <a:srgbClr val="605E5C"/>
                </a:solidFill>
                <a:latin typeface="Segoe UI"/>
              </a:rPr>
              <a:t>-15%</a:t>
            </a:r>
          </a:p>
        </p:txBody>
      </p:sp>
      <p:cxnSp>
        <p:nvCxnSpPr>
          <p:cNvPr id="57" name="Connector 56"/>
          <p:cNvCxnSpPr/>
          <p:nvPr/>
        </p:nvCxnSpPr>
        <p:spPr>
          <a:xfrm>
            <a:off x="619125" y="5193116"/>
            <a:ext cx="7048500" cy="0"/>
          </a:xfrm>
          <a:prstGeom prst="line">
            <a:avLst/>
          </a:prstGeom>
          <a:ln w="13970">
            <a:solidFill>
              <a:srgbClr val="605E5C"/>
            </a:solidFill>
            <a:prstDash val="dash"/>
          </a:ln>
          <a:effectLst/>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1565275" y="5090026"/>
            <a:ext cx="457200" cy="103090"/>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MI Data Label"/>
          <p:cNvSpPr txBox="1"/>
          <p:nvPr/>
        </p:nvSpPr>
        <p:spPr>
          <a:xfrm>
            <a:off x="619125" y="4947151"/>
            <a:ext cx="2349500" cy="133350"/>
          </a:xfrm>
          <a:prstGeom prst="rect">
            <a:avLst/>
          </a:prstGeom>
          <a:noFill/>
        </p:spPr>
        <p:txBody>
          <a:bodyPr wrap="square" lIns="28575" rIns="28575" tIns="9525" bIns="9525">
            <a:spAutoFit/>
          </a:bodyPr>
          <a:lstStyle/>
          <a:p>
            <a:pPr algn="ctr"/>
            <a:r>
              <a:rPr sz="1100" b="1">
                <a:solidFill>
                  <a:srgbClr val="252423"/>
                </a:solidFill>
                <a:latin typeface="Segoe UI"/>
              </a:rPr>
              <a:t>+1.8%</a:t>
            </a:r>
          </a:p>
        </p:txBody>
      </p:sp>
      <p:sp>
        <p:nvSpPr>
          <p:cNvPr id="60" name="Rectangle 59"/>
          <p:cNvSpPr/>
          <p:nvPr/>
        </p:nvSpPr>
        <p:spPr>
          <a:xfrm>
            <a:off x="3914775" y="5193116"/>
            <a:ext cx="457200" cy="81531"/>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MI Data Label"/>
          <p:cNvSpPr txBox="1"/>
          <p:nvPr/>
        </p:nvSpPr>
        <p:spPr>
          <a:xfrm>
            <a:off x="2968625" y="5284172"/>
            <a:ext cx="2349500" cy="133350"/>
          </a:xfrm>
          <a:prstGeom prst="rect">
            <a:avLst/>
          </a:prstGeom>
          <a:noFill/>
        </p:spPr>
        <p:txBody>
          <a:bodyPr wrap="square" lIns="28575" rIns="28575" tIns="9525" bIns="9525">
            <a:spAutoFit/>
          </a:bodyPr>
          <a:lstStyle/>
          <a:p>
            <a:pPr algn="ctr"/>
            <a:r>
              <a:rPr sz="1100" b="1">
                <a:solidFill>
                  <a:srgbClr val="252423"/>
                </a:solidFill>
                <a:latin typeface="Segoe UI"/>
              </a:rPr>
              <a:t>-1.4%</a:t>
            </a:r>
          </a:p>
        </p:txBody>
      </p:sp>
      <p:sp>
        <p:nvSpPr>
          <p:cNvPr id="62" name="Rectangle 61"/>
          <p:cNvSpPr/>
          <p:nvPr/>
        </p:nvSpPr>
        <p:spPr>
          <a:xfrm>
            <a:off x="6264275" y="5193116"/>
            <a:ext cx="457200" cy="755829"/>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MI Data Label"/>
          <p:cNvSpPr txBox="1"/>
          <p:nvPr/>
        </p:nvSpPr>
        <p:spPr>
          <a:xfrm>
            <a:off x="5318125" y="5958470"/>
            <a:ext cx="2349500" cy="133350"/>
          </a:xfrm>
          <a:prstGeom prst="rect">
            <a:avLst/>
          </a:prstGeom>
          <a:noFill/>
        </p:spPr>
        <p:txBody>
          <a:bodyPr wrap="square" lIns="28575" rIns="28575" tIns="9525" bIns="9525">
            <a:spAutoFit/>
          </a:bodyPr>
          <a:lstStyle/>
          <a:p>
            <a:pPr algn="ctr"/>
            <a:r>
              <a:rPr sz="1100" b="1">
                <a:solidFill>
                  <a:srgbClr val="252423"/>
                </a:solidFill>
                <a:latin typeface="Segoe UI"/>
              </a:rPr>
              <a:t>-13.2%</a:t>
            </a:r>
          </a:p>
        </p:txBody>
      </p:sp>
      <p:sp>
        <p:nvSpPr>
          <p:cNvPr id="64" name="TextBox 63"/>
          <p:cNvSpPr txBox="1"/>
          <p:nvPr/>
        </p:nvSpPr>
        <p:spPr>
          <a:xfrm>
            <a:off x="619125" y="6242060"/>
            <a:ext cx="2349500" cy="247650"/>
          </a:xfrm>
          <a:prstGeom prst="rect">
            <a:avLst/>
          </a:prstGeom>
          <a:noFill/>
        </p:spPr>
        <p:txBody>
          <a:bodyPr wrap="square" lIns="28575" rIns="28575" tIns="9525" bIns="9525">
            <a:spAutoFit/>
          </a:bodyPr>
          <a:lstStyle/>
          <a:p>
            <a:pPr algn="ctr"/>
            <a:r>
              <a:rPr sz="1100" b="0">
                <a:solidFill>
                  <a:srgbClr val="252423"/>
                </a:solidFill>
                <a:latin typeface="Segoe UI"/>
              </a:rPr>
              <a:t>U.S.</a:t>
            </a:r>
          </a:p>
        </p:txBody>
      </p:sp>
      <p:sp>
        <p:nvSpPr>
          <p:cNvPr id="65" name="TextBox 64"/>
          <p:cNvSpPr txBox="1"/>
          <p:nvPr/>
        </p:nvSpPr>
        <p:spPr>
          <a:xfrm>
            <a:off x="2968625" y="6242060"/>
            <a:ext cx="2349500" cy="247650"/>
          </a:xfrm>
          <a:prstGeom prst="rect">
            <a:avLst/>
          </a:prstGeom>
          <a:noFill/>
        </p:spPr>
        <p:txBody>
          <a:bodyPr wrap="square" lIns="28575" rIns="28575" tIns="9525" bIns="9525">
            <a:spAutoFit/>
          </a:bodyPr>
          <a:lstStyle/>
          <a:p>
            <a:pPr algn="ctr"/>
            <a:r>
              <a:rPr sz="1100" b="0">
                <a:solidFill>
                  <a:srgbClr val="252423"/>
                </a:solidFill>
                <a:latin typeface="Segoe UI"/>
              </a:rPr>
              <a:t>Canada</a:t>
            </a:r>
          </a:p>
        </p:txBody>
      </p:sp>
      <p:sp>
        <p:nvSpPr>
          <p:cNvPr id="66" name="TextBox 65"/>
          <p:cNvSpPr txBox="1"/>
          <p:nvPr/>
        </p:nvSpPr>
        <p:spPr>
          <a:xfrm>
            <a:off x="5318125" y="6242060"/>
            <a:ext cx="2349500" cy="247650"/>
          </a:xfrm>
          <a:prstGeom prst="rect">
            <a:avLst/>
          </a:prstGeom>
          <a:noFill/>
        </p:spPr>
        <p:txBody>
          <a:bodyPr wrap="square" lIns="28575" rIns="28575" tIns="9525" bIns="9525">
            <a:spAutoFit/>
          </a:bodyPr>
          <a:lstStyle/>
          <a:p>
            <a:pPr algn="ctr"/>
            <a:r>
              <a:rPr sz="1100" b="0">
                <a:solidFill>
                  <a:srgbClr val="252423"/>
                </a:solidFill>
                <a:latin typeface="Segoe UI"/>
              </a:rPr>
              <a:t>Mexico</a:t>
            </a:r>
          </a:p>
        </p:txBody>
      </p:sp>
      <p:sp>
        <p:nvSpPr>
          <p:cNvPr id="67" name="Rectangle 66"/>
          <p:cNvSpPr/>
          <p:nvPr/>
        </p:nvSpPr>
        <p:spPr>
          <a:xfrm>
            <a:off x="7915275" y="1052895"/>
            <a:ext cx="4133850" cy="550349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07BA5"/>
                </a:solidFill>
                <a:latin typeface="Segoe UI"/>
              </a:rPr>
              <a:t>Key Takeaways</a:t>
            </a:r>
          </a:p>
        </p:txBody>
      </p:sp>
      <p:sp>
        <p:nvSpPr>
          <p:cNvPr id="69" name="Rectangle 68"/>
          <p:cNvSpPr/>
          <p:nvPr/>
        </p:nvSpPr>
        <p:spPr>
          <a:xfrm>
            <a:off x="8048625" y="137674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Warp knitted fabrics segment is expected to command the highest average price of US$ 4.22 per Sq. Yard in 2036. Average selling price of performance knitted fabrics is estimated at US$ 3.56 per Sq. Yard in 2025 and is projected to increase to US$ 4.22 per Sq. Yard by 2036.</a:t>
            </a:r>
          </a:p>
          <a:p>
            <a:pPr algn="l">
              <a:lnSpc>
                <a:spcPct val="110000"/>
              </a:lnSpc>
              <a:spcBef>
                <a:spcPts val="0"/>
              </a:spcBef>
              <a:spcAft>
                <a:spcPts val="500"/>
              </a:spcAft>
            </a:pPr>
            <a:r>
              <a:rPr sz="1150" b="0">
                <a:solidFill>
                  <a:srgbClr val="252423"/>
                </a:solidFill>
                <a:latin typeface="Segoe UI"/>
              </a:rPr>
              <a:t>U.S. is the highest-priced country, while Mexico is the most price-competitive market. Against the North America price of 3.91 US$/Sq. Yards, 1 of 3 countries price above and 2 below.</a:t>
            </a:r>
          </a:p>
          <a:p>
            <a:pPr algn="l">
              <a:lnSpc>
                <a:spcPct val="110000"/>
              </a:lnSpc>
              <a:spcBef>
                <a:spcPts val="0"/>
              </a:spcBef>
              <a:spcAft>
                <a:spcPts val="500"/>
              </a:spcAft>
            </a:pPr>
            <a:r>
              <a:rPr sz="1150" b="0">
                <a:solidFill>
                  <a:srgbClr val="252423"/>
                </a:solidFill>
                <a:latin typeface="Segoe UI"/>
              </a:rPr>
              <a:t>'U.S.' is the dearest at +1.8% versus North America, 'Mexico' the cheapest at -13.2% pointing to premiumisation headroom in the lower-priced countries.</a:t>
            </a:r>
          </a:p>
        </p:txBody>
      </p:sp>
      <p:sp>
        <p:nvSpPr>
          <p:cNvPr id="71" name="TextBox 7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Performance Knitted Fabrics Market Summary, By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North America market value growth, incremental opportunity and the geographies driving it, 2021–2036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North America</a:t>
            </a:r>
          </a:p>
        </p:txBody>
      </p:sp>
      <p:sp>
        <p:nvSpPr>
          <p:cNvPr id="9" name="Rounded Rectangle 8"/>
          <p:cNvSpPr/>
          <p:nvPr/>
        </p:nvSpPr>
        <p:spPr>
          <a:xfrm>
            <a:off x="142875"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MARKET SIZE (US$ MN)</a:t>
            </a:r>
          </a:p>
          <a:p>
            <a:pPr algn="ctr">
              <a:lnSpc>
                <a:spcPct val="95000"/>
              </a:lnSpc>
            </a:pPr>
            <a:r>
              <a:rPr sz="1500" b="1">
                <a:solidFill>
                  <a:srgbClr val="00A4DC"/>
                </a:solidFill>
                <a:latin typeface="Segoe UI"/>
              </a:rPr>
              <a:t>1,277</a:t>
            </a:r>
          </a:p>
        </p:txBody>
      </p:sp>
      <p:sp>
        <p:nvSpPr>
          <p:cNvPr id="10" name="Rounded Rectangle 9"/>
          <p:cNvSpPr/>
          <p:nvPr/>
        </p:nvSpPr>
        <p:spPr>
          <a:xfrm>
            <a:off x="31432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2,655</a:t>
            </a:r>
          </a:p>
        </p:txBody>
      </p:sp>
      <p:sp>
        <p:nvSpPr>
          <p:cNvPr id="11" name="Rounded Rectangle 10"/>
          <p:cNvSpPr/>
          <p:nvPr/>
        </p:nvSpPr>
        <p:spPr>
          <a:xfrm>
            <a:off x="61531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2021–2025</a:t>
            </a:r>
          </a:p>
          <a:p>
            <a:pPr algn="ctr">
              <a:lnSpc>
                <a:spcPct val="95000"/>
              </a:lnSpc>
            </a:pPr>
            <a:r>
              <a:rPr sz="1500" b="1">
                <a:solidFill>
                  <a:srgbClr val="00A4DC"/>
                </a:solidFill>
                <a:latin typeface="Segoe UI"/>
              </a:rPr>
              <a:t>6.3%</a:t>
            </a:r>
          </a:p>
        </p:txBody>
      </p:sp>
      <p:sp>
        <p:nvSpPr>
          <p:cNvPr id="12" name="Rounded Rectangle 11"/>
          <p:cNvSpPr/>
          <p:nvPr/>
        </p:nvSpPr>
        <p:spPr>
          <a:xfrm>
            <a:off x="91630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1500" b="1">
                <a:solidFill>
                  <a:srgbClr val="00A4DC"/>
                </a:solidFill>
                <a:latin typeface="Segoe UI"/>
              </a:rPr>
              <a:t>7.6%</a:t>
            </a:r>
          </a:p>
        </p:txBody>
      </p:sp>
      <p:sp>
        <p:nvSpPr>
          <p:cNvPr id="13" name="Rectangle 12"/>
          <p:cNvSpPr/>
          <p:nvPr/>
        </p:nvSpPr>
        <p:spPr>
          <a:xfrm>
            <a:off x="142875" y="1627887"/>
            <a:ext cx="769620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(2021–2036)</a:t>
            </a:r>
          </a:p>
        </p:txBody>
      </p:sp>
      <p:graphicFrame>
        <p:nvGraphicFramePr>
          <p:cNvPr id="15" name="Chart 14"/>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6" name="Rectangle 15"/>
          <p:cNvSpPr/>
          <p:nvPr/>
        </p:nvSpPr>
        <p:spPr>
          <a:xfrm>
            <a:off x="142875" y="4037375"/>
            <a:ext cx="769620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Incremental Market Addition (US$ Mn)</a:t>
            </a:r>
          </a:p>
        </p:txBody>
      </p:sp>
      <p:graphicFrame>
        <p:nvGraphicFramePr>
          <p:cNvPr id="18" name="Chart 17"/>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9" name="Rectangle 18"/>
          <p:cNvSpPr/>
          <p:nvPr/>
        </p:nvSpPr>
        <p:spPr>
          <a:xfrm>
            <a:off x="7915275" y="1627887"/>
            <a:ext cx="4133850" cy="314171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21" name="Rectangle 20"/>
          <p:cNvSpPr/>
          <p:nvPr/>
        </p:nvSpPr>
        <p:spPr>
          <a:xfrm>
            <a:off x="8048625" y="195173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2037462"/>
            <a:ext cx="3867150" cy="265594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52423"/>
                </a:solidFill>
                <a:latin typeface="Segoe UI"/>
              </a:rPr>
              <a:t>Performance knitted fabrics market value in North America is expected to increase 2.2X between 2025 and 2036. In 2025, the performance knitted fabrics market in North America was valued at US$ 1,193 Mn and is estimated to account for US$ 1,277 Mn by the end of 2026, reflecting a Y-o-Y growth rate of 7.0%.</a:t>
            </a:r>
          </a:p>
          <a:p>
            <a:pPr algn="l">
              <a:lnSpc>
                <a:spcPct val="110000"/>
              </a:lnSpc>
              <a:spcBef>
                <a:spcPts val="0"/>
              </a:spcBef>
              <a:spcAft>
                <a:spcPts val="500"/>
              </a:spcAft>
            </a:pPr>
            <a:r>
              <a:rPr sz="1100" b="0">
                <a:solidFill>
                  <a:srgbClr val="252423"/>
                </a:solidFill>
                <a:latin typeface="Segoe UI"/>
              </a:rPr>
              <a:t>The market in North America is expected to account for US$ 2,655 Mn by 2036 at a CAGR of 7.6% over the forecast period. North America is expected to create an incremental opportunity of US$ 1,462 Mn for the overall performance knitted fabrics market from 2025 to 2036.</a:t>
            </a:r>
          </a:p>
          <a:p>
            <a:pPr algn="l">
              <a:lnSpc>
                <a:spcPct val="110000"/>
              </a:lnSpc>
              <a:spcBef>
                <a:spcPts val="0"/>
              </a:spcBef>
              <a:spcAft>
                <a:spcPts val="500"/>
              </a:spcAft>
            </a:pPr>
            <a:r>
              <a:rPr sz="1100" b="0">
                <a:solidFill>
                  <a:srgbClr val="252423"/>
                </a:solidFill>
                <a:latin typeface="Segoe UI"/>
              </a:rPr>
              <a:t>Absolute $ value for 2026 is estimated to be US$ 83.5 Mn.</a:t>
            </a:r>
          </a:p>
        </p:txBody>
      </p:sp>
      <p:sp>
        <p:nvSpPr>
          <p:cNvPr id="23" name="Rectangle 22"/>
          <p:cNvSpPr/>
          <p:nvPr/>
        </p:nvSpPr>
        <p:spPr>
          <a:xfrm>
            <a:off x="7915275" y="4824367"/>
            <a:ext cx="4133850" cy="173201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910092"/>
            <a:ext cx="3867150" cy="209550"/>
          </a:xfrm>
          <a:prstGeom prst="rect">
            <a:avLst/>
          </a:prstGeom>
          <a:noFill/>
        </p:spPr>
        <p:txBody>
          <a:bodyPr wrap="square" lIns="0" rIns="19050" tIns="9525" bIns="9525">
            <a:spAutoFit/>
          </a:bodyPr>
          <a:lstStyle/>
          <a:p>
            <a:pPr algn="l"/>
            <a:r>
              <a:rPr sz="1300" b="1">
                <a:solidFill>
                  <a:srgbClr val="007BA5"/>
                </a:solidFill>
                <a:latin typeface="Segoe UI"/>
              </a:rPr>
              <a:t>Growth Drivers</a:t>
            </a:r>
          </a:p>
        </p:txBody>
      </p:sp>
      <p:sp>
        <p:nvSpPr>
          <p:cNvPr id="25" name="Rectangle 24"/>
          <p:cNvSpPr/>
          <p:nvPr/>
        </p:nvSpPr>
        <p:spPr>
          <a:xfrm>
            <a:off x="8048625" y="514821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5233942"/>
            <a:ext cx="3867150" cy="124624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'Mexico' leads regional growth at 8.7% CAGR.</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Demand concentrates in 'Weft Knitted Fabrics' within Fabric Construction.</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Product innovation and premiumisation lifting value.</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Expanding end-use applications and access.</a:t>
            </a:r>
          </a:p>
        </p:txBody>
      </p:sp>
      <p:sp>
        <p:nvSpPr>
          <p:cNvPr id="27" name="TextBox 2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Performance Knitted Fabrics Market Volume &amp; Value Analysis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volume and value growth of the North America market and the incremental $ opportunity it creates, 2021–2036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North America</a:t>
            </a:r>
          </a:p>
        </p:txBody>
      </p:sp>
      <p:sp>
        <p:nvSpPr>
          <p:cNvPr id="9" name="Rectangle 8"/>
          <p:cNvSpPr/>
          <p:nvPr/>
        </p:nvSpPr>
        <p:spPr>
          <a:xfrm>
            <a:off x="142875" y="981075"/>
            <a:ext cx="4695825" cy="2524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Market, 2021–2025 (Historical)</a:t>
            </a:r>
          </a:p>
        </p:txBody>
      </p:sp>
      <p:graphicFrame>
        <p:nvGraphicFramePr>
          <p:cNvPr id="11" name="Chart 10"/>
          <p:cNvGraphicFramePr>
            <a:graphicFrameLocks noGrp="1"/>
          </p:cNvGraphicFramePr>
          <p:nvPr/>
        </p:nvGraphicFramePr>
        <p:xfrm>
          <a:off x="238125" y="1266825"/>
          <a:ext cx="4505325" cy="2181225"/>
        </p:xfrm>
        <a:graphic>
          <a:graphicData uri="http://schemas.openxmlformats.org/drawingml/2006/chart">
            <c:chart xmlns:c="http://schemas.openxmlformats.org/drawingml/2006/chart" r:id="rId3"/>
          </a:graphicData>
        </a:graphic>
      </p:graphicFrame>
      <p:sp>
        <p:nvSpPr>
          <p:cNvPr id="12" name="Rectangle 11"/>
          <p:cNvSpPr/>
          <p:nvPr/>
        </p:nvSpPr>
        <p:spPr>
          <a:xfrm>
            <a:off x="4991100" y="981075"/>
            <a:ext cx="7048500" cy="2524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Market, 2026–2036 (Forecast)</a:t>
            </a:r>
          </a:p>
        </p:txBody>
      </p:sp>
      <p:graphicFrame>
        <p:nvGraphicFramePr>
          <p:cNvPr id="14" name="Chart 13"/>
          <p:cNvGraphicFramePr>
            <a:graphicFrameLocks noGrp="1"/>
          </p:cNvGraphicFramePr>
          <p:nvPr/>
        </p:nvGraphicFramePr>
        <p:xfrm>
          <a:off x="5086350" y="1266825"/>
          <a:ext cx="6858000" cy="2181225"/>
        </p:xfrm>
        <a:graphic>
          <a:graphicData uri="http://schemas.openxmlformats.org/drawingml/2006/chart">
            <c:chart xmlns:c="http://schemas.openxmlformats.org/drawingml/2006/chart" r:id="rId4"/>
          </a:graphicData>
        </a:graphic>
      </p:graphicFrame>
      <p:sp>
        <p:nvSpPr>
          <p:cNvPr id="15" name="Rounded Rectangle 14"/>
          <p:cNvSpPr/>
          <p:nvPr/>
        </p:nvSpPr>
        <p:spPr>
          <a:xfrm>
            <a:off x="142875" y="3638550"/>
            <a:ext cx="25146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VALUE CAGR 2021–2025</a:t>
            </a:r>
          </a:p>
          <a:p>
            <a:pPr algn="ctr">
              <a:lnSpc>
                <a:spcPct val="95000"/>
              </a:lnSpc>
            </a:pPr>
            <a:r>
              <a:rPr sz="1500" b="1">
                <a:solidFill>
                  <a:srgbClr val="00A4DC"/>
                </a:solidFill>
                <a:latin typeface="Segoe UI"/>
              </a:rPr>
              <a:t>6.3%</a:t>
            </a:r>
          </a:p>
        </p:txBody>
      </p:sp>
      <p:sp>
        <p:nvSpPr>
          <p:cNvPr id="16" name="Rounded Rectangle 15"/>
          <p:cNvSpPr/>
          <p:nvPr/>
        </p:nvSpPr>
        <p:spPr>
          <a:xfrm>
            <a:off x="2809875" y="3638550"/>
            <a:ext cx="25146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VALUE CAGR 2026–2036</a:t>
            </a:r>
          </a:p>
          <a:p>
            <a:pPr algn="ctr">
              <a:lnSpc>
                <a:spcPct val="95000"/>
              </a:lnSpc>
            </a:pPr>
            <a:r>
              <a:rPr sz="1500" b="1">
                <a:solidFill>
                  <a:srgbClr val="00A4DC"/>
                </a:solidFill>
                <a:latin typeface="Segoe UI"/>
              </a:rPr>
              <a:t>7.6%</a:t>
            </a:r>
          </a:p>
        </p:txBody>
      </p:sp>
      <p:sp>
        <p:nvSpPr>
          <p:cNvPr id="17" name="Rounded Rectangle 16"/>
          <p:cNvSpPr/>
          <p:nvPr/>
        </p:nvSpPr>
        <p:spPr>
          <a:xfrm>
            <a:off x="5476875" y="3638550"/>
            <a:ext cx="32004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INCREMENTAL $ OPPORTUNITY 2026–2031</a:t>
            </a:r>
          </a:p>
          <a:p>
            <a:pPr algn="ctr">
              <a:lnSpc>
                <a:spcPct val="95000"/>
              </a:lnSpc>
            </a:pPr>
            <a:r>
              <a:rPr sz="1500" b="1">
                <a:solidFill>
                  <a:srgbClr val="00A4DC"/>
                </a:solidFill>
                <a:latin typeface="Segoe UI"/>
              </a:rPr>
              <a:t>546.2 US$ Mn</a:t>
            </a:r>
          </a:p>
        </p:txBody>
      </p:sp>
      <p:sp>
        <p:nvSpPr>
          <p:cNvPr id="18" name="Rounded Rectangle 17"/>
          <p:cNvSpPr/>
          <p:nvPr/>
        </p:nvSpPr>
        <p:spPr>
          <a:xfrm>
            <a:off x="8829675" y="3638550"/>
            <a:ext cx="32004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INCREMENTAL $ OPPORTUNITY 2026–2036</a:t>
            </a:r>
          </a:p>
          <a:p>
            <a:pPr algn="ctr">
              <a:lnSpc>
                <a:spcPct val="95000"/>
              </a:lnSpc>
            </a:pPr>
            <a:r>
              <a:rPr sz="1500" b="1">
                <a:solidFill>
                  <a:srgbClr val="00A4DC"/>
                </a:solidFill>
                <a:latin typeface="Segoe UI"/>
              </a:rPr>
              <a:t>1,379 US$ Mn</a:t>
            </a:r>
          </a:p>
        </p:txBody>
      </p:sp>
      <p:sp>
        <p:nvSpPr>
          <p:cNvPr id="19" name="Rectangle 18"/>
          <p:cNvSpPr/>
          <p:nvPr/>
        </p:nvSpPr>
        <p:spPr>
          <a:xfrm>
            <a:off x="142875" y="4457700"/>
            <a:ext cx="11906250" cy="21526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543425"/>
            <a:ext cx="11639550" cy="209550"/>
          </a:xfrm>
          <a:prstGeom prst="rect">
            <a:avLst/>
          </a:prstGeom>
          <a:noFill/>
        </p:spPr>
        <p:txBody>
          <a:bodyPr wrap="square" lIns="0" rIns="19050" tIns="9525" bIns="9525">
            <a:spAutoFit/>
          </a:bodyPr>
          <a:lstStyle/>
          <a:p>
            <a:pPr algn="l"/>
            <a:r>
              <a:rPr sz="1300" b="1">
                <a:solidFill>
                  <a:srgbClr val="007BA5"/>
                </a:solidFill>
                <a:latin typeface="Segoe UI"/>
              </a:rPr>
              <a:t>North America Volume &amp; Value Analysis</a:t>
            </a:r>
          </a:p>
        </p:txBody>
      </p:sp>
      <p:sp>
        <p:nvSpPr>
          <p:cNvPr id="21" name="Rectangle 20"/>
          <p:cNvSpPr/>
          <p:nvPr/>
        </p:nvSpPr>
        <p:spPr>
          <a:xfrm>
            <a:off x="276225" y="478155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867275"/>
            <a:ext cx="11639550" cy="16668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52423"/>
                </a:solidFill>
                <a:latin typeface="Segoe UI"/>
              </a:rPr>
              <a:t>Performance knitted fabrics market value in North America is expected to increase 2.2X between 2025 and 2036. In 2025, the performance knitted fabrics market in North America was valued at US$ 1,193 Mn and is estimated to account for US$ 1,277 Mn by the end of 2026, reflecting a Y-o-Y growth rate of 7.0%. The market in North America is expected to account for US$ 2,655 Mn by 2036 at a CAGR of 7.6% over the forecast period.</a:t>
            </a:r>
          </a:p>
          <a:p>
            <a:pPr algn="l">
              <a:lnSpc>
                <a:spcPct val="110000"/>
              </a:lnSpc>
              <a:spcBef>
                <a:spcPts val="0"/>
              </a:spcBef>
              <a:spcAft>
                <a:spcPts val="500"/>
              </a:spcAft>
            </a:pPr>
            <a:r>
              <a:rPr sz="1100" b="0">
                <a:solidFill>
                  <a:srgbClr val="252423"/>
                </a:solidFill>
                <a:latin typeface="Segoe UI"/>
              </a:rPr>
              <a:t>North America is expected to create an incremental opportunity of US$ 1,462 Mn for the overall performance knitted fabrics market from 2025 to 2036. Absolute $ value for 2026 is estimated to be US$ 83.5 Mn. North America performance knitted fabrics market is projected to register 1.9X increase in volume by the end of forecast period, 2036.</a:t>
            </a:r>
          </a:p>
          <a:p>
            <a:pPr algn="l">
              <a:lnSpc>
                <a:spcPct val="110000"/>
              </a:lnSpc>
              <a:spcBef>
                <a:spcPts val="0"/>
              </a:spcBef>
              <a:spcAft>
                <a:spcPts val="500"/>
              </a:spcAft>
            </a:pPr>
            <a:r>
              <a:rPr sz="1100" b="0">
                <a:solidFill>
                  <a:srgbClr val="252423"/>
                </a:solidFill>
                <a:latin typeface="Segoe UI"/>
              </a:rPr>
              <a:t>North America performance knitted fabrics market volume stood at 335.2 Mn Sq. Yards in 2025 and is expected to reach 629.4 Mn Sq. Yards by 2036 end, at a CAGR of 5.9%. Value is projected to grow faster than volume over the forecast period, owing to an increase in average selling price.</a:t>
            </a:r>
          </a:p>
        </p:txBody>
      </p:sp>
      <p:sp>
        <p:nvSpPr>
          <p:cNvPr id="23" name="TextBox 2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Performance Knitted Fabrics Market Summary Country Indices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outlook ranking 2036 market size, growth and absolute-growth indices to highlight the strongest markets</a:t>
            </a:r>
          </a:p>
        </p:txBody>
      </p:sp>
      <p:sp>
        <p:nvSpPr>
          <p:cNvPr id="8" name="Rectangle 7"/>
          <p:cNvSpPr/>
          <p:nvPr/>
        </p:nvSpPr>
        <p:spPr>
          <a:xfrm>
            <a:off x="142875" y="1007261"/>
            <a:ext cx="3933825" cy="244599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Top 10 Countries By CAGR Index</a:t>
            </a:r>
          </a:p>
        </p:txBody>
      </p:sp>
      <p:graphicFrame>
        <p:nvGraphicFramePr>
          <p:cNvPr id="10" name="Chart 9"/>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1" name="Rectangle 10"/>
          <p:cNvSpPr/>
          <p:nvPr/>
        </p:nvSpPr>
        <p:spPr>
          <a:xfrm>
            <a:off x="142875" y="3489764"/>
            <a:ext cx="3933825" cy="243686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3565964"/>
          <a:ext cx="3914776" cy="2132070"/>
        </p:xfrm>
        <a:graphic>
          <a:graphicData uri="http://schemas.openxmlformats.org/drawingml/2006/table">
            <a:tbl>
              <a:tblPr>
                <a:tableStyleId>{5C22544A-7EE6-4342-B048-85BDC9FD1C3A}</a:tableStyleId>
              </a:tblPr>
              <a:tblGrid>
                <a:gridCol w="750141"/>
                <a:gridCol w="1057686"/>
                <a:gridCol w="724604"/>
                <a:gridCol w="1382345"/>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CAGR Index</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 Opp (US$ Mn)</a:t>
                      </a:r>
                      <a:endParaRPr sz="1100"/>
                    </a:p>
                  </a:txBody>
                  <a:tcPr marL="47625" marR="38100" marT="19050" marB="19050" anchor="ctr">
                    <a:solidFill>
                      <a:srgbClr val="007BA5"/>
                    </a:solidFill>
                  </a:tcPr>
                </a:tc>
              </a:tr>
              <a:tr h="638935">
                <a:tc>
                  <a:txBody>
                    <a:bodyPr wrap="none"/>
                    <a:lstStyle/>
                    <a:p>
                      <a:pPr algn="l"/>
                      <a:r>
                        <a:rPr sz="1100" b="1">
                          <a:solidFill>
                            <a:srgbClr val="252423"/>
                          </a:solidFill>
                          <a:latin typeface="Segoe UI"/>
                        </a:rPr>
                        <a:t>Mexico</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128.5</a:t>
                      </a:r>
                      <a:endParaRPr sz="1100"/>
                    </a:p>
                  </a:txBody>
                  <a:tcPr marL="47625" marR="38100" marT="19050" marB="19050" anchor="ctr">
                    <a:solidFill>
                      <a:srgbClr val="FFFFFF"/>
                    </a:solidFill>
                  </a:tcPr>
                </a:tc>
              </a:tr>
              <a:tr h="638935">
                <a:tc>
                  <a:txBody>
                    <a:bodyPr wrap="none"/>
                    <a:lstStyle/>
                    <a:p>
                      <a:pPr algn="l"/>
                      <a:r>
                        <a:rPr sz="1100" b="1">
                          <a:solidFill>
                            <a:srgbClr val="252423"/>
                          </a:solidFill>
                          <a:latin typeface="Segoe UI"/>
                        </a:rPr>
                        <a:t>U.S.</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100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1,100</a:t>
                      </a:r>
                      <a:endParaRPr sz="1100"/>
                    </a:p>
                  </a:txBody>
                  <a:tcPr marL="47625" marR="38100" marT="19050" marB="19050" anchor="ctr">
                    <a:solidFill>
                      <a:srgbClr val="F2FAFD"/>
                    </a:solidFill>
                  </a:tcPr>
                </a:tc>
              </a:tr>
              <a:tr h="638935">
                <a:tc>
                  <a:txBody>
                    <a:bodyPr wrap="none"/>
                    <a:lstStyle/>
                    <a:p>
                      <a:pPr algn="l"/>
                      <a:r>
                        <a:rPr sz="1100" b="1">
                          <a:solidFill>
                            <a:srgbClr val="252423"/>
                          </a:solidFill>
                          <a:latin typeface="Segoe UI"/>
                        </a:rPr>
                        <a:t>Canada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150.8</a:t>
                      </a:r>
                      <a:endParaRPr sz="1100"/>
                    </a:p>
                  </a:txBody>
                  <a:tcPr marL="47625" marR="38100" marT="19050" marB="19050" anchor="ctr">
                    <a:solidFill>
                      <a:srgbClr val="FFFFFF"/>
                    </a:solidFill>
                  </a:tcPr>
                </a:tc>
              </a:tr>
            </a:tbl>
          </a:graphicData>
        </a:graphic>
      </p:graphicFrame>
      <p:sp>
        <p:nvSpPr>
          <p:cNvPr id="13" name="TextBox 12"/>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4" name="Rectangle 13"/>
          <p:cNvSpPr/>
          <p:nvPr/>
        </p:nvSpPr>
        <p:spPr>
          <a:xfrm>
            <a:off x="4114800" y="1007261"/>
            <a:ext cx="3933825" cy="4928498"/>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2036 Market By Country (US$ Mn)  ·  Top 10</a:t>
            </a:r>
          </a:p>
        </p:txBody>
      </p:sp>
      <p:sp>
        <p:nvSpPr>
          <p:cNvPr id="16" name="Rectangle 15"/>
          <p:cNvSpPr/>
          <p:nvPr/>
        </p:nvSpPr>
        <p:spPr>
          <a:xfrm>
            <a:off x="4210050" y="1293011"/>
            <a:ext cx="3743325" cy="3663043"/>
          </a:xfrm>
          <a:prstGeom prst="rect">
            <a:avLst/>
          </a:prstGeom>
          <a:solidFill>
            <a:srgbClr val="00A4D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U.S.</a:t>
            </a:r>
          </a:p>
          <a:p>
            <a:pPr algn="ctr"/>
            <a:r>
              <a:rPr sz="1100" b="0">
                <a:solidFill>
                  <a:srgbClr val="FFFFFF"/>
                </a:solidFill>
                <a:latin typeface="Segoe UI"/>
              </a:rPr>
              <a:t>2,121</a:t>
            </a:r>
          </a:p>
        </p:txBody>
      </p:sp>
      <p:sp>
        <p:nvSpPr>
          <p:cNvPr id="17" name="Rectangle 16"/>
          <p:cNvSpPr/>
          <p:nvPr/>
        </p:nvSpPr>
        <p:spPr>
          <a:xfrm>
            <a:off x="4210050" y="4956054"/>
            <a:ext cx="2148042" cy="922555"/>
          </a:xfrm>
          <a:prstGeom prst="rect">
            <a:avLst/>
          </a:prstGeom>
          <a:solidFill>
            <a:srgbClr val="6ECFF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Canada</a:t>
            </a:r>
          </a:p>
          <a:p>
            <a:pPr algn="ctr"/>
            <a:r>
              <a:rPr sz="1100" b="0">
                <a:solidFill>
                  <a:srgbClr val="252423"/>
                </a:solidFill>
                <a:latin typeface="Segoe UI"/>
              </a:rPr>
              <a:t>307</a:t>
            </a:r>
          </a:p>
        </p:txBody>
      </p:sp>
      <p:sp>
        <p:nvSpPr>
          <p:cNvPr id="18" name="Rectangle 17"/>
          <p:cNvSpPr/>
          <p:nvPr/>
        </p:nvSpPr>
        <p:spPr>
          <a:xfrm>
            <a:off x="6358092" y="4956054"/>
            <a:ext cx="1595283" cy="922555"/>
          </a:xfrm>
          <a:prstGeom prst="rect">
            <a:avLst/>
          </a:prstGeom>
          <a:solidFill>
            <a:srgbClr val="D6CA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Mexico</a:t>
            </a:r>
          </a:p>
          <a:p>
            <a:pPr algn="ctr"/>
            <a:r>
              <a:rPr sz="1100" b="0">
                <a:solidFill>
                  <a:srgbClr val="252423"/>
                </a:solidFill>
                <a:latin typeface="Segoe UI"/>
              </a:rPr>
              <a:t>228</a:t>
            </a:r>
          </a:p>
        </p:txBody>
      </p:sp>
      <p:sp>
        <p:nvSpPr>
          <p:cNvPr id="19" name="Rectangle 18"/>
          <p:cNvSpPr/>
          <p:nvPr/>
        </p:nvSpPr>
        <p:spPr>
          <a:xfrm>
            <a:off x="8086725" y="1007261"/>
            <a:ext cx="3933825" cy="243686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Top 10 Countries By Absolute Index</a:t>
            </a:r>
          </a:p>
        </p:txBody>
      </p:sp>
      <p:graphicFrame>
        <p:nvGraphicFramePr>
          <p:cNvPr id="21" name="Chart 20"/>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2" name="Rectangle 21"/>
          <p:cNvSpPr/>
          <p:nvPr/>
        </p:nvSpPr>
        <p:spPr>
          <a:xfrm>
            <a:off x="8086725" y="3471510"/>
            <a:ext cx="3933825" cy="246424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3" name="Table 22"/>
          <p:cNvGraphicFramePr>
            <a:graphicFrameLocks noGrp="1"/>
          </p:cNvGraphicFramePr>
          <p:nvPr/>
        </p:nvGraphicFramePr>
        <p:xfrm>
          <a:off x="8096250" y="3547710"/>
          <a:ext cx="3914774" cy="2159448"/>
        </p:xfrm>
        <a:graphic>
          <a:graphicData uri="http://schemas.openxmlformats.org/drawingml/2006/table">
            <a:tbl>
              <a:tblPr>
                <a:tableStyleId>{5C22544A-7EE6-4342-B048-85BDC9FD1C3A}</a:tableStyleId>
              </a:tblPr>
              <a:tblGrid>
                <a:gridCol w="704897"/>
                <a:gridCol w="1230006"/>
                <a:gridCol w="680900"/>
                <a:gridCol w="1298971"/>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Absolute Index</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 Opp (US$ Mn)</a:t>
                      </a:r>
                      <a:endParaRPr sz="1100"/>
                    </a:p>
                  </a:txBody>
                  <a:tcPr marL="47625" marR="38100" marT="19050" marB="19050" anchor="ctr">
                    <a:solidFill>
                      <a:srgbClr val="007BA5"/>
                    </a:solidFill>
                  </a:tcPr>
                </a:tc>
              </a:tr>
              <a:tr h="648061">
                <a:tc>
                  <a:txBody>
                    <a:bodyPr wrap="none"/>
                    <a:lstStyle/>
                    <a:p>
                      <a:pPr algn="l"/>
                      <a:r>
                        <a:rPr sz="1100" b="1">
                          <a:solidFill>
                            <a:srgbClr val="252423"/>
                          </a:solidFill>
                          <a:latin typeface="Segoe UI"/>
                        </a:rPr>
                        <a:t>U.S.</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1,100</a:t>
                      </a:r>
                      <a:endParaRPr sz="1100"/>
                    </a:p>
                  </a:txBody>
                  <a:tcPr marL="47625" marR="38100" marT="19050" marB="19050" anchor="ctr">
                    <a:solidFill>
                      <a:srgbClr val="FFFFFF"/>
                    </a:solidFill>
                  </a:tcPr>
                </a:tc>
              </a:tr>
              <a:tr h="648061">
                <a:tc>
                  <a:txBody>
                    <a:bodyPr wrap="none"/>
                    <a:lstStyle/>
                    <a:p>
                      <a:pPr algn="l"/>
                      <a:r>
                        <a:rPr sz="1100" b="1">
                          <a:solidFill>
                            <a:srgbClr val="252423"/>
                          </a:solidFill>
                          <a:latin typeface="Segoe UI"/>
                        </a:rPr>
                        <a:t>Canada</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150.8</a:t>
                      </a:r>
                      <a:endParaRPr sz="1100"/>
                    </a:p>
                  </a:txBody>
                  <a:tcPr marL="47625" marR="38100" marT="19050" marB="19050" anchor="ctr">
                    <a:solidFill>
                      <a:srgbClr val="F2FAFD"/>
                    </a:solidFill>
                  </a:tcPr>
                </a:tc>
              </a:tr>
              <a:tr h="648061">
                <a:tc>
                  <a:txBody>
                    <a:bodyPr wrap="none"/>
                    <a:lstStyle/>
                    <a:p>
                      <a:pPr algn="l"/>
                      <a:r>
                        <a:rPr sz="1100" b="1">
                          <a:solidFill>
                            <a:srgbClr val="252423"/>
                          </a:solidFill>
                          <a:latin typeface="Segoe UI"/>
                        </a:rPr>
                        <a:t>Mexico</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128.5</a:t>
                      </a:r>
                      <a:endParaRPr sz="1100"/>
                    </a:p>
                  </a:txBody>
                  <a:tcPr marL="47625" marR="38100" marT="19050" marB="19050" anchor="ctr">
                    <a:solidFill>
                      <a:srgbClr val="FFFFFF"/>
                    </a:solidFill>
                  </a:tcPr>
                </a:tc>
              </a:tr>
            </a:tbl>
          </a:graphicData>
        </a:graphic>
      </p:graphicFrame>
      <p:sp>
        <p:nvSpPr>
          <p:cNvPr id="24" name="TextBox 23"/>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25" name="Rectangle 24"/>
          <p:cNvSpPr/>
          <p:nvPr/>
        </p:nvSpPr>
        <p:spPr>
          <a:xfrm>
            <a:off x="142875" y="6027028"/>
            <a:ext cx="10858500" cy="60237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U.S. performance knitted fabrics market is projected to register 6.9X higher value than Canada in 2036. Mexico posts the highest CAGR Index (114), growing at 8.7% against the North America benchmark, while U.S. offers the largest absolute opportunity 1,100 US$ Mn of incremental market between 2026 and 2036 (80% of the North America increment).</a:t>
            </a:r>
          </a:p>
        </p:txBody>
      </p:sp>
      <p:sp>
        <p:nvSpPr>
          <p:cNvPr id="26" name="TextBox 2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Supply Side Trends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recent developments, investments and R&amp;D activity shaping the supply side of the market</a:t>
            </a:r>
          </a:p>
        </p:txBody>
      </p:sp>
      <p:sp>
        <p:nvSpPr>
          <p:cNvPr id="8" name="Rectangle 7"/>
          <p:cNvSpPr/>
          <p:nvPr/>
        </p:nvSpPr>
        <p:spPr>
          <a:xfrm>
            <a:off x="142875" y="981075"/>
            <a:ext cx="58769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Recent Developments &amp; Key Industry Activities</a:t>
            </a:r>
          </a:p>
        </p:txBody>
      </p:sp>
      <p:sp>
        <p:nvSpPr>
          <p:cNvPr id="10" name="Rectangle 9"/>
          <p:cNvSpPr/>
          <p:nvPr/>
        </p:nvSpPr>
        <p:spPr>
          <a:xfrm>
            <a:off x="276225"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Capacity and product development are concentrating in 'Warp Knitted Fabrics' and Mexico.</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Portfolio expansion tracks the shift toward higher-growth fabric construction categories.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Commercial focus is intensifying across U.S. and Mexico.</a:t>
            </a:r>
          </a:p>
        </p:txBody>
      </p:sp>
      <p:sp>
        <p:nvSpPr>
          <p:cNvPr id="12" name="Rectangle 11"/>
          <p:cNvSpPr/>
          <p:nvPr/>
        </p:nvSpPr>
        <p:spPr>
          <a:xfrm>
            <a:off x="6172200" y="981075"/>
            <a:ext cx="58769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14" name="Rectangle 13"/>
          <p:cNvSpPr/>
          <p:nvPr/>
        </p:nvSpPr>
        <p:spPr>
          <a:xfrm>
            <a:off x="6305550"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2026 size 1,277 US$ Mn; 2036 2,655 US$ Mn.</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Forecast CAGR 7.6% (2026–2036).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Lead category 'Weft Knitted Fabrics' 62.5% of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Lead country U.S. 79.9%.</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Incremental opportunity 1,379 US$ Mn.</a:t>
            </a:r>
          </a:p>
        </p:txBody>
      </p:sp>
      <p:sp>
        <p:nvSpPr>
          <p:cNvPr id="16" name="Rectangle 15"/>
          <p:cNvSpPr/>
          <p:nvPr/>
        </p:nvSpPr>
        <p:spPr>
          <a:xfrm>
            <a:off x="142875" y="2895600"/>
            <a:ext cx="5876925" cy="1285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5610225" cy="209550"/>
          </a:xfrm>
          <a:prstGeom prst="rect">
            <a:avLst/>
          </a:prstGeom>
          <a:noFill/>
        </p:spPr>
        <p:txBody>
          <a:bodyPr wrap="square" lIns="0" rIns="19050" tIns="9525" bIns="9525">
            <a:spAutoFit/>
          </a:bodyPr>
          <a:lstStyle/>
          <a:p>
            <a:pPr algn="l"/>
            <a:r>
              <a:rPr sz="1300" b="1">
                <a:solidFill>
                  <a:srgbClr val="007BA5"/>
                </a:solidFill>
                <a:latin typeface="Segoe UI"/>
              </a:rPr>
              <a:t>Strategic Acquisitions &amp; New Investments</a:t>
            </a:r>
          </a:p>
        </p:txBody>
      </p:sp>
      <p:sp>
        <p:nvSpPr>
          <p:cNvPr id="18" name="Rectangle 17"/>
          <p:cNvSpPr/>
          <p:nvPr/>
        </p:nvSpPr>
        <p:spPr>
          <a:xfrm>
            <a:off x="276225" y="32194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Investment is flowing toward the fastest-growing tier 'Warp Knitted Fabrics' (8.4%).</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Mexico (8.7%) is a priority country for new capacity.</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Scale players anchor around 'Weft Knitted Fabrics' (62.5% share).</a:t>
            </a:r>
          </a:p>
        </p:txBody>
      </p:sp>
      <p:sp>
        <p:nvSpPr>
          <p:cNvPr id="20" name="Rectangle 19"/>
          <p:cNvSpPr/>
          <p:nvPr/>
        </p:nvSpPr>
        <p:spPr>
          <a:xfrm>
            <a:off x="6172200" y="2895600"/>
            <a:ext cx="5876925" cy="1285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2981325"/>
            <a:ext cx="5610225" cy="209550"/>
          </a:xfrm>
          <a:prstGeom prst="rect">
            <a:avLst/>
          </a:prstGeom>
          <a:noFill/>
        </p:spPr>
        <p:txBody>
          <a:bodyPr wrap="square" lIns="0" rIns="19050" tIns="9525" bIns="9525">
            <a:spAutoFit/>
          </a:bodyPr>
          <a:lstStyle/>
          <a:p>
            <a:pPr algn="l"/>
            <a:r>
              <a:rPr sz="1300" b="1">
                <a:solidFill>
                  <a:srgbClr val="007BA5"/>
                </a:solidFill>
                <a:latin typeface="Segoe UI"/>
              </a:rPr>
              <a:t>Substantial Investment in R&amp;D</a:t>
            </a:r>
          </a:p>
        </p:txBody>
      </p:sp>
      <p:sp>
        <p:nvSpPr>
          <p:cNvPr id="22" name="Rectangle 21"/>
          <p:cNvSpPr/>
          <p:nvPr/>
        </p:nvSpPr>
        <p:spPr>
          <a:xfrm>
            <a:off x="6305550" y="32194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R&amp;D aligns with the migration to 'Warp Knitted Fabrics' and adjacent premium tiers.</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Development spend targets fabric construction categories gaining share to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Innovation underpins the 7.6% forecast CAGR.</a:t>
            </a:r>
          </a:p>
        </p:txBody>
      </p:sp>
      <p:sp>
        <p:nvSpPr>
          <p:cNvPr id="24" name="Rectangle 23"/>
          <p:cNvSpPr/>
          <p:nvPr/>
        </p:nvSpPr>
        <p:spPr>
          <a:xfrm>
            <a:off x="142875" y="4314825"/>
            <a:ext cx="11906250" cy="22955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8125" y="437197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structure fabric construction share (2036)</a:t>
            </a:r>
          </a:p>
        </p:txBody>
      </p:sp>
      <p:graphicFrame>
        <p:nvGraphicFramePr>
          <p:cNvPr id="26" name="Chart 25"/>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r:id="rId3"/>
          </a:graphicData>
        </a:graphic>
      </p:graphicFrame>
      <p:sp>
        <p:nvSpPr>
          <p:cNvPr id="27" name="TextBox 26"/>
          <p:cNvSpPr txBox="1"/>
          <p:nvPr/>
        </p:nvSpPr>
        <p:spPr>
          <a:xfrm>
            <a:off x="3871570" y="5462588"/>
            <a:ext cx="934136" cy="228600"/>
          </a:xfrm>
          <a:prstGeom prst="rect">
            <a:avLst/>
          </a:prstGeom>
          <a:noFill/>
        </p:spPr>
        <p:txBody>
          <a:bodyPr wrap="square" lIns="28575" rIns="28575" tIns="9525" bIns="9525" anchor="ctr">
            <a:spAutoFit/>
          </a:bodyPr>
          <a:lstStyle/>
          <a:p>
            <a:pPr algn="ctr"/>
            <a:r>
              <a:rPr sz="1300" b="1">
                <a:solidFill>
                  <a:srgbClr val="252423"/>
                </a:solidFill>
                <a:latin typeface="Segoe UI"/>
              </a:rPr>
              <a:t>2036</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Analysis and Recommendation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the market approach, differentiating strategy and FMI's analysis and recommendation</a:t>
            </a:r>
          </a:p>
        </p:txBody>
      </p:sp>
      <p:sp>
        <p:nvSpPr>
          <p:cNvPr id="8" name="Rectangle 7"/>
          <p:cNvSpPr/>
          <p:nvPr/>
        </p:nvSpPr>
        <p:spPr>
          <a:xfrm>
            <a:off x="142875" y="981075"/>
            <a:ext cx="58769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Overall Market Approach</a:t>
            </a:r>
          </a:p>
        </p:txBody>
      </p:sp>
      <p:sp>
        <p:nvSpPr>
          <p:cNvPr id="10" name="Rectangle 9"/>
          <p:cNvSpPr/>
          <p:nvPr/>
        </p:nvSpPr>
        <p:spPr>
          <a:xfrm>
            <a:off x="276225"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Balance scale in 'Weft Knitted Fabrics' with targeted growth in 'Warp Knitted Fabrics', pursuing the 7.6% CAGR trajectory to 2036.</a:t>
            </a:r>
          </a:p>
        </p:txBody>
      </p:sp>
      <p:sp>
        <p:nvSpPr>
          <p:cNvPr id="12" name="Rectangle 11"/>
          <p:cNvSpPr/>
          <p:nvPr/>
        </p:nvSpPr>
        <p:spPr>
          <a:xfrm>
            <a:off x="6172200" y="981075"/>
            <a:ext cx="58769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Differentiating Strategy</a:t>
            </a:r>
          </a:p>
        </p:txBody>
      </p:sp>
      <p:sp>
        <p:nvSpPr>
          <p:cNvPr id="14" name="Rectangle 13"/>
          <p:cNvSpPr/>
          <p:nvPr/>
        </p:nvSpPr>
        <p:spPr>
          <a:xfrm>
            <a:off x="6305550"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Differentiate through the high-growth 'Warp Knitted Fabrics' tier and Industrial &amp; Technical Applications within end-use application.</a:t>
            </a:r>
          </a:p>
        </p:txBody>
      </p:sp>
      <p:sp>
        <p:nvSpPr>
          <p:cNvPr id="16" name="Rectangle 15"/>
          <p:cNvSpPr/>
          <p:nvPr/>
        </p:nvSpPr>
        <p:spPr>
          <a:xfrm>
            <a:off x="142875" y="2857500"/>
            <a:ext cx="5876925" cy="1562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43225"/>
            <a:ext cx="5610225" cy="209550"/>
          </a:xfrm>
          <a:prstGeom prst="rect">
            <a:avLst/>
          </a:prstGeom>
          <a:noFill/>
        </p:spPr>
        <p:txBody>
          <a:bodyPr wrap="square" lIns="0" rIns="19050" tIns="9525" bIns="9525">
            <a:spAutoFit/>
          </a:bodyPr>
          <a:lstStyle/>
          <a:p>
            <a:pPr algn="l"/>
            <a:r>
              <a:rPr sz="1300" b="1">
                <a:solidFill>
                  <a:srgbClr val="007BA5"/>
                </a:solidFill>
                <a:latin typeface="Segoe UI"/>
              </a:rPr>
              <a:t>Market Segment</a:t>
            </a:r>
          </a:p>
        </p:txBody>
      </p:sp>
      <p:sp>
        <p:nvSpPr>
          <p:cNvPr id="18" name="Rectangle 17"/>
          <p:cNvSpPr/>
          <p:nvPr/>
        </p:nvSpPr>
        <p:spPr>
          <a:xfrm>
            <a:off x="276225" y="31813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Prioritise 'Warp Knitted Fabrics' (8.4%); 'Weft Knitted Fabrics' anchors 62.5% of value.</a:t>
            </a:r>
          </a:p>
        </p:txBody>
      </p:sp>
      <p:sp>
        <p:nvSpPr>
          <p:cNvPr id="20" name="Rectangle 19"/>
          <p:cNvSpPr/>
          <p:nvPr/>
        </p:nvSpPr>
        <p:spPr>
          <a:xfrm>
            <a:off x="6172200" y="2857500"/>
            <a:ext cx="5876925" cy="1562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2943225"/>
            <a:ext cx="5610225" cy="209550"/>
          </a:xfrm>
          <a:prstGeom prst="rect">
            <a:avLst/>
          </a:prstGeom>
          <a:noFill/>
        </p:spPr>
        <p:txBody>
          <a:bodyPr wrap="square" lIns="0" rIns="19050" tIns="9525" bIns="9525">
            <a:spAutoFit/>
          </a:bodyPr>
          <a:lstStyle/>
          <a:p>
            <a:pPr algn="l"/>
            <a:r>
              <a:rPr sz="1300" b="1">
                <a:solidFill>
                  <a:srgbClr val="007BA5"/>
                </a:solidFill>
                <a:latin typeface="Segoe UI"/>
              </a:rPr>
              <a:t>Market Country</a:t>
            </a:r>
          </a:p>
        </p:txBody>
      </p:sp>
      <p:sp>
        <p:nvSpPr>
          <p:cNvPr id="22" name="Rectangle 21"/>
          <p:cNvSpPr/>
          <p:nvPr/>
        </p:nvSpPr>
        <p:spPr>
          <a:xfrm>
            <a:off x="6305550" y="31813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Lead with U.S. (79.9%); capture upside in Mexico (8.7%).</a:t>
            </a:r>
          </a:p>
        </p:txBody>
      </p:sp>
      <p:sp>
        <p:nvSpPr>
          <p:cNvPr id="24" name="Rectangle 23"/>
          <p:cNvSpPr/>
          <p:nvPr/>
        </p:nvSpPr>
        <p:spPr>
          <a:xfrm>
            <a:off x="142875" y="4552950"/>
            <a:ext cx="11906250" cy="2057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07BA5"/>
                </a:solidFill>
                <a:latin typeface="Segoe UI"/>
              </a:rPr>
              <a:t>Fact.MR Analysis &amp; Recommendation</a:t>
            </a:r>
          </a:p>
        </p:txBody>
      </p:sp>
      <p:sp>
        <p:nvSpPr>
          <p:cNvPr id="26" name="Rectangle 25"/>
          <p:cNvSpPr/>
          <p:nvPr/>
        </p:nvSpPr>
        <p:spPr>
          <a:xfrm>
            <a:off x="276225" y="48768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Performance Knitted Fabrics adds 1,379 US$ Mn of demand to 2036 a 2.1× expansion.</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Concentrate resources on the leading segment/country while seeding the fastest-growing pockets early.</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Defend share in 'Weft Knitted Fabrics' as the value anchor of the portfolio.</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Performance Knitted Fabrics – Country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Regional analysis of size, growth and share across 3 countries, highlighting where value concentrates,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North America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By Country view breaks the North America market down geographically. Each country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Country</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325755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325755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U.S.</a:t>
            </a:r>
          </a:p>
        </p:txBody>
      </p:sp>
      <p:sp>
        <p:nvSpPr>
          <p:cNvPr id="21" name="Rectangle 20"/>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1,022</a:t>
            </a:r>
          </a:p>
        </p:txBody>
      </p:sp>
      <p:sp>
        <p:nvSpPr>
          <p:cNvPr id="22" name="Rectangle 21"/>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2,121</a:t>
            </a:r>
          </a:p>
        </p:txBody>
      </p:sp>
      <p:sp>
        <p:nvSpPr>
          <p:cNvPr id="23" name="Rectangle 22"/>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7.6%</a:t>
            </a:r>
          </a:p>
        </p:txBody>
      </p:sp>
      <p:sp>
        <p:nvSpPr>
          <p:cNvPr id="24" name="Oval 23"/>
          <p:cNvSpPr/>
          <p:nvPr/>
        </p:nvSpPr>
        <p:spPr>
          <a:xfrm>
            <a:off x="333375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5238750" y="1773916"/>
            <a:ext cx="325755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238750" y="1992961"/>
            <a:ext cx="325755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Canada</a:t>
            </a:r>
          </a:p>
        </p:txBody>
      </p:sp>
      <p:sp>
        <p:nvSpPr>
          <p:cNvPr id="28" name="Rectangle 27"/>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155.7</a:t>
            </a:r>
          </a:p>
        </p:txBody>
      </p:sp>
      <p:sp>
        <p:nvSpPr>
          <p:cNvPr id="29" name="Rectangle 28"/>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306.5</a:t>
            </a:r>
          </a:p>
        </p:txBody>
      </p:sp>
      <p:sp>
        <p:nvSpPr>
          <p:cNvPr id="30" name="Rectangle 29"/>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7.0%</a:t>
            </a:r>
          </a:p>
        </p:txBody>
      </p:sp>
      <p:sp>
        <p:nvSpPr>
          <p:cNvPr id="31" name="Oval 30"/>
          <p:cNvSpPr/>
          <p:nvPr/>
        </p:nvSpPr>
        <p:spPr>
          <a:xfrm>
            <a:off x="670560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8610600" y="1773916"/>
            <a:ext cx="325755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10600" y="1992961"/>
            <a:ext cx="325755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Mexico</a:t>
            </a:r>
          </a:p>
        </p:txBody>
      </p:sp>
      <p:sp>
        <p:nvSpPr>
          <p:cNvPr id="35" name="Rectangle 34"/>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99.2</a:t>
            </a:r>
          </a:p>
        </p:txBody>
      </p:sp>
      <p:sp>
        <p:nvSpPr>
          <p:cNvPr id="36" name="Rectangle 35"/>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227.7</a:t>
            </a:r>
          </a:p>
        </p:txBody>
      </p:sp>
      <p:sp>
        <p:nvSpPr>
          <p:cNvPr id="37" name="Rectangle 36"/>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8.7%</a:t>
            </a:r>
          </a:p>
        </p:txBody>
      </p:sp>
      <p:sp>
        <p:nvSpPr>
          <p:cNvPr id="38" name="Oval 37"/>
          <p:cNvSpPr/>
          <p:nvPr/>
        </p:nvSpPr>
        <p:spPr>
          <a:xfrm>
            <a:off x="1007745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1" name="Rectangle 40"/>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The U.S. performance knitted fabrics market is projected to register 6.9X higher value than Canada in 2036. Among performance knitted fabrics by country, Mexico is expected to witness the highest CAGR of 8.7% over the forecast period.</a:t>
            </a:r>
          </a:p>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In terms of value share by country, U.S. is expected to dominate the market, losing 15 BPS and accounting for 79.9% share by 2036. Canada is expected to lose 66 BPS over the forecast period to account for 11.5% share by 2036.</a:t>
            </a:r>
          </a:p>
        </p:txBody>
      </p:sp>
      <p:sp>
        <p:nvSpPr>
          <p:cNvPr id="43" name="Rounded Rectangle 42"/>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5" name="Rectangle 44"/>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U.S.: </a:t>
            </a:r>
            <a:r>
              <a:rPr sz="1100" b="0">
                <a:solidFill>
                  <a:srgbClr val="252423"/>
                </a:solidFill>
                <a:latin typeface="Segoe UI"/>
              </a:rPr>
              <a:t>80% of 2026 value · 7.6% CAGR leads the market.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Canada: </a:t>
            </a:r>
            <a:r>
              <a:rPr sz="1100" b="0">
                <a:solidFill>
                  <a:srgbClr val="252423"/>
                </a:solidFill>
                <a:latin typeface="Segoe UI"/>
              </a:rPr>
              <a:t>12% of 2026 value · 7.0% CAGR a smaller market.</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Mexico: </a:t>
            </a:r>
            <a:r>
              <a:rPr sz="1100" b="0">
                <a:solidFill>
                  <a:srgbClr val="252423"/>
                </a:solidFill>
                <a:latin typeface="Segoe UI"/>
              </a:rPr>
              <a:t>8% of 2026 value · 8.7% CAGR grows fastest.</a:t>
            </a:r>
          </a:p>
        </p:txBody>
      </p:sp>
      <p:sp>
        <p:nvSpPr>
          <p:cNvPr id="47" name="Rounded Rectangle 46"/>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9" name="Rectangle 48"/>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By Country split shows where market value concentrates and where growth is fastest.</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demand and access dynamics are rebalancing the geographic mix through 2036.</a:t>
            </a:r>
          </a:p>
        </p:txBody>
      </p:sp>
      <p:sp>
        <p:nvSpPr>
          <p:cNvPr id="51" name="Rectangle 50"/>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North America market is projected to grow at a CAGR of 7.6% from 2026 to 2036.</a:t>
            </a:r>
          </a:p>
        </p:txBody>
      </p:sp>
      <p:sp>
        <p:nvSpPr>
          <p:cNvPr id="53" name="TextBox 52"/>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54" name="TextBox 5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Performance Knitted Fabrics Market Analysis, By Country Volume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volume share by country in 2026 and 2036, highlighting share gains and losses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North America</a:t>
            </a:r>
          </a:p>
        </p:txBody>
      </p:sp>
      <p:sp>
        <p:nvSpPr>
          <p:cNvPr id="9" name="Rectangle 8"/>
          <p:cNvSpPr/>
          <p:nvPr/>
        </p:nvSpPr>
        <p:spPr>
          <a:xfrm>
            <a:off x="142875" y="981075"/>
            <a:ext cx="6810375"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Share and BPS Assessment By Country, 2026 &amp; 2036</a:t>
            </a:r>
          </a:p>
        </p:txBody>
      </p:sp>
      <p:graphicFrame>
        <p:nvGraphicFramePr>
          <p:cNvPr id="11" name="Chart 10"/>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2" name="TextBox 11"/>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0A4DC"/>
                </a:solidFill>
                <a:latin typeface="Segoe UI"/>
              </a:rPr>
              <a:t>BPS Δ  (2026→2036)</a:t>
            </a:r>
          </a:p>
        </p:txBody>
      </p:sp>
      <p:sp>
        <p:nvSpPr>
          <p:cNvPr id="13" name="FMI Lock Anchor"/>
          <p:cNvSpPr txBox="1"/>
          <p:nvPr/>
        </p:nvSpPr>
        <p:spPr>
          <a:xfrm>
            <a:off x="2489835" y="3352800"/>
            <a:ext cx="38100" cy="38100"/>
          </a:xfrm>
          <a:prstGeom prst="rect">
            <a:avLst/>
          </a:prstGeom>
          <a:noFill/>
        </p:spPr>
        <p:txBody>
          <a:bodyPr wrap="none">
            <a:spAutoFit/>
          </a:bodyPr>
          <a:lstStyle/>
          <a:p/>
        </p:txBody>
      </p:sp>
      <p:sp>
        <p:nvSpPr>
          <p:cNvPr id="14" name="FMI Legend Chip"/>
          <p:cNvSpPr/>
          <p:nvPr/>
        </p:nvSpPr>
        <p:spPr>
          <a:xfrm>
            <a:off x="4551045" y="1646716"/>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4712970" y="164195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4855845" y="1565754"/>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Mexico</a:t>
            </a:r>
          </a:p>
        </p:txBody>
      </p:sp>
      <p:sp>
        <p:nvSpPr>
          <p:cNvPr id="17" name="BPS Value 1"/>
          <p:cNvSpPr txBox="1"/>
          <p:nvPr/>
        </p:nvSpPr>
        <p:spPr>
          <a:xfrm>
            <a:off x="6305550" y="1627666"/>
            <a:ext cx="514350" cy="123825"/>
          </a:xfrm>
          <a:prstGeom prst="rect">
            <a:avLst/>
          </a:prstGeom>
          <a:noFill/>
        </p:spPr>
        <p:txBody>
          <a:bodyPr wrap="none" lIns="0" rIns="0" tIns="0" bIns="0" anchor="ctr">
            <a:spAutoFit/>
          </a:bodyPr>
          <a:lstStyle/>
          <a:p>
            <a:pPr algn="r"/>
            <a:r>
              <a:rPr sz="900" b="1">
                <a:solidFill>
                  <a:srgbClr val="1E8E3E"/>
                </a:solidFill>
                <a:latin typeface="Segoe UI"/>
              </a:rPr>
              <a:t>+126</a:t>
            </a:r>
          </a:p>
        </p:txBody>
      </p:sp>
      <p:sp>
        <p:nvSpPr>
          <p:cNvPr id="18" name="FMI Legend Chip"/>
          <p:cNvSpPr/>
          <p:nvPr/>
        </p:nvSpPr>
        <p:spPr>
          <a:xfrm>
            <a:off x="4551045" y="2047794"/>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4712970" y="2043031"/>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4855845" y="1966831"/>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Canada</a:t>
            </a:r>
          </a:p>
        </p:txBody>
      </p:sp>
      <p:sp>
        <p:nvSpPr>
          <p:cNvPr id="21" name="BPS Value 2"/>
          <p:cNvSpPr txBox="1"/>
          <p:nvPr/>
        </p:nvSpPr>
        <p:spPr>
          <a:xfrm>
            <a:off x="6305550" y="2028744"/>
            <a:ext cx="514350" cy="123825"/>
          </a:xfrm>
          <a:prstGeom prst="rect">
            <a:avLst/>
          </a:prstGeom>
          <a:noFill/>
        </p:spPr>
        <p:txBody>
          <a:bodyPr wrap="none" lIns="0" rIns="0" tIns="0" bIns="0" anchor="ctr">
            <a:spAutoFit/>
          </a:bodyPr>
          <a:lstStyle/>
          <a:p>
            <a:pPr algn="r"/>
            <a:r>
              <a:rPr sz="900" b="1">
                <a:solidFill>
                  <a:srgbClr val="D64545"/>
                </a:solidFill>
                <a:latin typeface="Segoe UI"/>
              </a:rPr>
              <a:t>-48</a:t>
            </a:r>
          </a:p>
        </p:txBody>
      </p:sp>
      <p:sp>
        <p:nvSpPr>
          <p:cNvPr id="22" name="FMI Legend Chip"/>
          <p:cNvSpPr/>
          <p:nvPr/>
        </p:nvSpPr>
        <p:spPr>
          <a:xfrm>
            <a:off x="4551045" y="3696727"/>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rot="10800000">
            <a:off x="4712970" y="3691965"/>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4855845" y="3615765"/>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U.S.</a:t>
            </a:r>
          </a:p>
        </p:txBody>
      </p:sp>
      <p:sp>
        <p:nvSpPr>
          <p:cNvPr id="25" name="BPS Value 3"/>
          <p:cNvSpPr txBox="1"/>
          <p:nvPr/>
        </p:nvSpPr>
        <p:spPr>
          <a:xfrm>
            <a:off x="6305550" y="3677677"/>
            <a:ext cx="514350" cy="123825"/>
          </a:xfrm>
          <a:prstGeom prst="rect">
            <a:avLst/>
          </a:prstGeom>
          <a:noFill/>
        </p:spPr>
        <p:txBody>
          <a:bodyPr wrap="none" lIns="0" rIns="0" tIns="0" bIns="0" anchor="ctr">
            <a:spAutoFit/>
          </a:bodyPr>
          <a:lstStyle/>
          <a:p>
            <a:pPr algn="r"/>
            <a:r>
              <a:rPr sz="900" b="1">
                <a:solidFill>
                  <a:srgbClr val="D64545"/>
                </a:solidFill>
                <a:latin typeface="Segoe UI"/>
              </a:rPr>
              <a:t>-78</a:t>
            </a:r>
          </a:p>
        </p:txBody>
      </p:sp>
      <p:sp>
        <p:nvSpPr>
          <p:cNvPr id="26" name="Rectangle 25"/>
          <p:cNvSpPr/>
          <p:nvPr/>
        </p:nvSpPr>
        <p:spPr>
          <a:xfrm>
            <a:off x="7105650" y="981075"/>
            <a:ext cx="4933950"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07BA5"/>
                </a:solidFill>
                <a:latin typeface="Segoe UI"/>
              </a:rPr>
              <a:t>Regional Highlights</a:t>
            </a:r>
          </a:p>
        </p:txBody>
      </p:sp>
      <p:sp>
        <p:nvSpPr>
          <p:cNvPr id="28" name="Rectangle 27"/>
          <p:cNvSpPr/>
          <p:nvPr/>
        </p:nvSpPr>
        <p:spPr>
          <a:xfrm>
            <a:off x="7239000" y="1304925"/>
            <a:ext cx="46672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The U.S. performance knitted fabrics market is projected to register 6.6X higher volume than Canada in 2036. Among performance knitted fabrics by country, Mexico is expected to witness the highest CAGR of 7.3% over the forecast period.</a:t>
            </a:r>
          </a:p>
          <a:p>
            <a:pPr algn="l">
              <a:lnSpc>
                <a:spcPct val="110000"/>
              </a:lnSpc>
              <a:spcBef>
                <a:spcPts val="0"/>
              </a:spcBef>
              <a:spcAft>
                <a:spcPts val="500"/>
              </a:spcAft>
            </a:pPr>
            <a:r>
              <a:rPr sz="1150" b="0">
                <a:solidFill>
                  <a:srgbClr val="252423"/>
                </a:solidFill>
                <a:latin typeface="Segoe UI"/>
              </a:rPr>
              <a:t>In terms of volume share by country, U.S. is expected to dominate the market, losing 78 BPS and accounting for 78.1% share by 2036.</a:t>
            </a:r>
          </a:p>
        </p:txBody>
      </p:sp>
      <p:sp>
        <p:nvSpPr>
          <p:cNvPr id="30" name="Rounded Rectangle 29"/>
          <p:cNvSpPr/>
          <p:nvPr/>
        </p:nvSpPr>
        <p:spPr>
          <a:xfrm>
            <a:off x="142875" y="5648325"/>
            <a:ext cx="3943350"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TOTAL (MN SQ. YARDS)</a:t>
            </a:r>
          </a:p>
          <a:p>
            <a:pPr algn="ctr">
              <a:lnSpc>
                <a:spcPct val="95000"/>
              </a:lnSpc>
            </a:pPr>
            <a:r>
              <a:rPr sz="2000" b="1">
                <a:solidFill>
                  <a:srgbClr val="00A4DC"/>
                </a:solidFill>
                <a:latin typeface="Segoe UI"/>
              </a:rPr>
              <a:t>354.8</a:t>
            </a:r>
          </a:p>
        </p:txBody>
      </p:sp>
      <p:sp>
        <p:nvSpPr>
          <p:cNvPr id="31" name="Rounded Rectangle 30"/>
          <p:cNvSpPr/>
          <p:nvPr/>
        </p:nvSpPr>
        <p:spPr>
          <a:xfrm>
            <a:off x="4238625"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TOTAL (MN SQ. YARDS)</a:t>
            </a:r>
          </a:p>
          <a:p>
            <a:pPr algn="ctr">
              <a:lnSpc>
                <a:spcPct val="95000"/>
              </a:lnSpc>
            </a:pPr>
            <a:r>
              <a:rPr sz="2000" b="1">
                <a:solidFill>
                  <a:srgbClr val="00A4DC"/>
                </a:solidFill>
                <a:latin typeface="Segoe UI"/>
              </a:rPr>
              <a:t>629.4</a:t>
            </a:r>
          </a:p>
        </p:txBody>
      </p:sp>
      <p:sp>
        <p:nvSpPr>
          <p:cNvPr id="32" name="Rounded Rectangle 31"/>
          <p:cNvSpPr/>
          <p:nvPr/>
        </p:nvSpPr>
        <p:spPr>
          <a:xfrm>
            <a:off x="8210550"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2000" b="1">
                <a:solidFill>
                  <a:srgbClr val="00A4DC"/>
                </a:solidFill>
                <a:latin typeface="Segoe UI"/>
              </a:rPr>
              <a:t>5.9%</a:t>
            </a:r>
          </a:p>
        </p:txBody>
      </p:sp>
      <p:sp>
        <p:nvSpPr>
          <p:cNvPr id="33" name="TextBox 3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Performance Knitted Fabrics Market Analysis, By Country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value share by country in 2026 and 2036, highlighting share gains and losses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North America</a:t>
            </a:r>
          </a:p>
        </p:txBody>
      </p:sp>
      <p:sp>
        <p:nvSpPr>
          <p:cNvPr id="9" name="Rectangle 8"/>
          <p:cNvSpPr/>
          <p:nvPr/>
        </p:nvSpPr>
        <p:spPr>
          <a:xfrm>
            <a:off x="142875" y="981075"/>
            <a:ext cx="6810375"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Share and BPS Assessment By Country, 2026 &amp; 2036</a:t>
            </a:r>
          </a:p>
        </p:txBody>
      </p:sp>
      <p:graphicFrame>
        <p:nvGraphicFramePr>
          <p:cNvPr id="11" name="Chart 10"/>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2" name="TextBox 11"/>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0A4DC"/>
                </a:solidFill>
                <a:latin typeface="Segoe UI"/>
              </a:rPr>
              <a:t>BPS Δ  (2026→2036)</a:t>
            </a:r>
          </a:p>
        </p:txBody>
      </p:sp>
      <p:sp>
        <p:nvSpPr>
          <p:cNvPr id="13" name="FMI Lock Anchor"/>
          <p:cNvSpPr txBox="1"/>
          <p:nvPr/>
        </p:nvSpPr>
        <p:spPr>
          <a:xfrm>
            <a:off x="2489835" y="3352800"/>
            <a:ext cx="38100" cy="38100"/>
          </a:xfrm>
          <a:prstGeom prst="rect">
            <a:avLst/>
          </a:prstGeom>
          <a:noFill/>
        </p:spPr>
        <p:txBody>
          <a:bodyPr wrap="none">
            <a:spAutoFit/>
          </a:bodyPr>
          <a:lstStyle/>
          <a:p/>
        </p:txBody>
      </p:sp>
      <p:sp>
        <p:nvSpPr>
          <p:cNvPr id="14" name="FMI Legend Chip"/>
          <p:cNvSpPr/>
          <p:nvPr/>
        </p:nvSpPr>
        <p:spPr>
          <a:xfrm>
            <a:off x="4551045" y="1619293"/>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4712970" y="161453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4855845" y="1538331"/>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Mexico</a:t>
            </a:r>
          </a:p>
        </p:txBody>
      </p:sp>
      <p:sp>
        <p:nvSpPr>
          <p:cNvPr id="17" name="BPS Value 1"/>
          <p:cNvSpPr txBox="1"/>
          <p:nvPr/>
        </p:nvSpPr>
        <p:spPr>
          <a:xfrm>
            <a:off x="6305550" y="1600243"/>
            <a:ext cx="514350" cy="123825"/>
          </a:xfrm>
          <a:prstGeom prst="rect">
            <a:avLst/>
          </a:prstGeom>
          <a:noFill/>
        </p:spPr>
        <p:txBody>
          <a:bodyPr wrap="none" lIns="0" rIns="0" tIns="0" bIns="0" anchor="ctr">
            <a:spAutoFit/>
          </a:bodyPr>
          <a:lstStyle/>
          <a:p>
            <a:pPr algn="r"/>
            <a:r>
              <a:rPr sz="900" b="1">
                <a:solidFill>
                  <a:srgbClr val="1E8E3E"/>
                </a:solidFill>
                <a:latin typeface="Segoe UI"/>
              </a:rPr>
              <a:t>+80</a:t>
            </a:r>
          </a:p>
        </p:txBody>
      </p:sp>
      <p:sp>
        <p:nvSpPr>
          <p:cNvPr id="18" name="FMI Legend Chip"/>
          <p:cNvSpPr/>
          <p:nvPr/>
        </p:nvSpPr>
        <p:spPr>
          <a:xfrm>
            <a:off x="4551045" y="1988178"/>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4712970" y="1983415"/>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4855845" y="1907215"/>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Canada</a:t>
            </a:r>
          </a:p>
        </p:txBody>
      </p:sp>
      <p:sp>
        <p:nvSpPr>
          <p:cNvPr id="21" name="BPS Value 2"/>
          <p:cNvSpPr txBox="1"/>
          <p:nvPr/>
        </p:nvSpPr>
        <p:spPr>
          <a:xfrm>
            <a:off x="6305550" y="1969128"/>
            <a:ext cx="514350" cy="123825"/>
          </a:xfrm>
          <a:prstGeom prst="rect">
            <a:avLst/>
          </a:prstGeom>
          <a:noFill/>
        </p:spPr>
        <p:txBody>
          <a:bodyPr wrap="none" lIns="0" rIns="0" tIns="0" bIns="0" anchor="ctr">
            <a:spAutoFit/>
          </a:bodyPr>
          <a:lstStyle/>
          <a:p>
            <a:pPr algn="r"/>
            <a:r>
              <a:rPr sz="900" b="1">
                <a:solidFill>
                  <a:srgbClr val="D64545"/>
                </a:solidFill>
                <a:latin typeface="Segoe UI"/>
              </a:rPr>
              <a:t>-66</a:t>
            </a:r>
          </a:p>
        </p:txBody>
      </p:sp>
      <p:sp>
        <p:nvSpPr>
          <p:cNvPr id="22" name="FMI Legend Chip"/>
          <p:cNvSpPr/>
          <p:nvPr/>
        </p:nvSpPr>
        <p:spPr>
          <a:xfrm>
            <a:off x="4551045" y="3664534"/>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rot="10800000">
            <a:off x="4712970" y="365977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4855845" y="3583572"/>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U.S.</a:t>
            </a:r>
          </a:p>
        </p:txBody>
      </p:sp>
      <p:sp>
        <p:nvSpPr>
          <p:cNvPr id="25" name="BPS Value 3"/>
          <p:cNvSpPr txBox="1"/>
          <p:nvPr/>
        </p:nvSpPr>
        <p:spPr>
          <a:xfrm>
            <a:off x="6305550" y="3645484"/>
            <a:ext cx="514350" cy="123825"/>
          </a:xfrm>
          <a:prstGeom prst="rect">
            <a:avLst/>
          </a:prstGeom>
          <a:noFill/>
        </p:spPr>
        <p:txBody>
          <a:bodyPr wrap="none" lIns="0" rIns="0" tIns="0" bIns="0" anchor="ctr">
            <a:spAutoFit/>
          </a:bodyPr>
          <a:lstStyle/>
          <a:p>
            <a:pPr algn="r"/>
            <a:r>
              <a:rPr sz="900" b="1">
                <a:solidFill>
                  <a:srgbClr val="D64545"/>
                </a:solidFill>
                <a:latin typeface="Segoe UI"/>
              </a:rPr>
              <a:t>-15</a:t>
            </a:r>
          </a:p>
        </p:txBody>
      </p:sp>
      <p:sp>
        <p:nvSpPr>
          <p:cNvPr id="26" name="Rectangle 25"/>
          <p:cNvSpPr/>
          <p:nvPr/>
        </p:nvSpPr>
        <p:spPr>
          <a:xfrm>
            <a:off x="7105650" y="981075"/>
            <a:ext cx="4933950"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07BA5"/>
                </a:solidFill>
                <a:latin typeface="Segoe UI"/>
              </a:rPr>
              <a:t>Regional Highlights</a:t>
            </a:r>
          </a:p>
        </p:txBody>
      </p:sp>
      <p:sp>
        <p:nvSpPr>
          <p:cNvPr id="28" name="Rectangle 27"/>
          <p:cNvSpPr/>
          <p:nvPr/>
        </p:nvSpPr>
        <p:spPr>
          <a:xfrm>
            <a:off x="7239000" y="1304925"/>
            <a:ext cx="46672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The U.S. performance knitted fabrics market is projected to register 6.9X higher value than Canada in 2036. Among performance knitted fabrics by country, Mexico is expected to witness the highest CAGR of 8.7% over the forecast period.</a:t>
            </a:r>
          </a:p>
          <a:p>
            <a:pPr algn="l">
              <a:lnSpc>
                <a:spcPct val="110000"/>
              </a:lnSpc>
              <a:spcBef>
                <a:spcPts val="0"/>
              </a:spcBef>
              <a:spcAft>
                <a:spcPts val="500"/>
              </a:spcAft>
            </a:pPr>
            <a:r>
              <a:rPr sz="1150" b="0">
                <a:solidFill>
                  <a:srgbClr val="252423"/>
                </a:solidFill>
                <a:latin typeface="Segoe UI"/>
              </a:rPr>
              <a:t>In terms of value share by country, U.S. is expected to dominate the market, losing 15 BPS and accounting for 79.9% share by 2036. Canada is expected to lose 66 BPS over the forecast period to account for 11.5% share by 2036.</a:t>
            </a:r>
          </a:p>
        </p:txBody>
      </p:sp>
      <p:sp>
        <p:nvSpPr>
          <p:cNvPr id="30" name="Rounded Rectangle 29"/>
          <p:cNvSpPr/>
          <p:nvPr/>
        </p:nvSpPr>
        <p:spPr>
          <a:xfrm>
            <a:off x="142875" y="5648325"/>
            <a:ext cx="3943350"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TOTAL (US$ MN)</a:t>
            </a:r>
          </a:p>
          <a:p>
            <a:pPr algn="ctr">
              <a:lnSpc>
                <a:spcPct val="95000"/>
              </a:lnSpc>
            </a:pPr>
            <a:r>
              <a:rPr sz="2000" b="1">
                <a:solidFill>
                  <a:srgbClr val="00A4DC"/>
                </a:solidFill>
                <a:latin typeface="Segoe UI"/>
              </a:rPr>
              <a:t>1,277</a:t>
            </a:r>
          </a:p>
        </p:txBody>
      </p:sp>
      <p:sp>
        <p:nvSpPr>
          <p:cNvPr id="31" name="Rounded Rectangle 30"/>
          <p:cNvSpPr/>
          <p:nvPr/>
        </p:nvSpPr>
        <p:spPr>
          <a:xfrm>
            <a:off x="4238625"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TOTAL (US$ MN)</a:t>
            </a:r>
          </a:p>
          <a:p>
            <a:pPr algn="ctr">
              <a:lnSpc>
                <a:spcPct val="95000"/>
              </a:lnSpc>
            </a:pPr>
            <a:r>
              <a:rPr sz="2000" b="1">
                <a:solidFill>
                  <a:srgbClr val="00A4DC"/>
                </a:solidFill>
                <a:latin typeface="Segoe UI"/>
              </a:rPr>
              <a:t>2,655</a:t>
            </a:r>
          </a:p>
        </p:txBody>
      </p:sp>
      <p:sp>
        <p:nvSpPr>
          <p:cNvPr id="32" name="Rounded Rectangle 31"/>
          <p:cNvSpPr/>
          <p:nvPr/>
        </p:nvSpPr>
        <p:spPr>
          <a:xfrm>
            <a:off x="8210550"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2000" b="1">
                <a:solidFill>
                  <a:srgbClr val="00A4DC"/>
                </a:solidFill>
                <a:latin typeface="Segoe UI"/>
              </a:rPr>
              <a:t>7.6%</a:t>
            </a:r>
          </a:p>
        </p:txBody>
      </p:sp>
      <p:sp>
        <p:nvSpPr>
          <p:cNvPr id="33" name="TextBox 3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Performance Knitted Fabrics Market Share Analysis, By Country Volume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volume and share by country, 2021–2036, highlighting the geographies gaining and ceding ground</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North America</a:t>
            </a:r>
          </a:p>
        </p:txBody>
      </p:sp>
      <p:sp>
        <p:nvSpPr>
          <p:cNvPr id="9" name="Rectangle 8"/>
          <p:cNvSpPr/>
          <p:nvPr/>
        </p:nvSpPr>
        <p:spPr>
          <a:xfrm>
            <a:off x="142875" y="981075"/>
            <a:ext cx="11906250" cy="15430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Market Size, By Country (Mn Sq. Yards)</a:t>
            </a:r>
          </a:p>
        </p:txBody>
      </p:sp>
      <p:graphicFrame>
        <p:nvGraphicFramePr>
          <p:cNvPr id="11" name="Table 10"/>
          <p:cNvGraphicFramePr>
            <a:graphicFrameLocks noGrp="1"/>
          </p:cNvGraphicFramePr>
          <p:nvPr/>
        </p:nvGraphicFramePr>
        <p:xfrm>
          <a:off x="152400" y="1238250"/>
          <a:ext cx="11887208" cy="1076325"/>
        </p:xfrm>
        <a:graphic>
          <a:graphicData uri="http://schemas.openxmlformats.org/drawingml/2006/table">
            <a:tbl>
              <a:tblPr>
                <a:tableStyleId>{5C22544A-7EE6-4342-B048-85BDC9FD1C3A}</a:tableStyleId>
              </a:tblPr>
              <a:tblGrid>
                <a:gridCol w="682338"/>
                <a:gridCol w="659110"/>
                <a:gridCol w="659110"/>
                <a:gridCol w="659110"/>
                <a:gridCol w="659110"/>
                <a:gridCol w="659110"/>
                <a:gridCol w="659110"/>
                <a:gridCol w="659110"/>
                <a:gridCol w="659110"/>
                <a:gridCol w="659110"/>
                <a:gridCol w="659110"/>
                <a:gridCol w="659110"/>
                <a:gridCol w="659110"/>
                <a:gridCol w="659110"/>
                <a:gridCol w="659110"/>
                <a:gridCol w="659110"/>
                <a:gridCol w="659110"/>
                <a:gridCol w="659110"/>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r>
              <a:tr h="215265">
                <a:tc>
                  <a:txBody>
                    <a:bodyPr wrap="none"/>
                    <a:lstStyle/>
                    <a:p>
                      <a:pPr algn="l"/>
                      <a:r>
                        <a:rPr sz="1100" b="1">
                          <a:solidFill>
                            <a:srgbClr val="252423"/>
                          </a:solidFill>
                          <a:latin typeface="Segoe UI"/>
                        </a:rPr>
                        <a:t>U.S.</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212.3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223.6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236.1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249.8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264.5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280.0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295.9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312.7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330.9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350.9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372.4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395.0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418.2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442.2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466.8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491.7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5.8%</a:t>
                      </a:r>
                      <a:endParaRPr sz="1100"/>
                    </a:p>
                  </a:txBody>
                  <a:tcPr marL="47625" marR="38100" marT="19050" marB="19050" anchor="ctr">
                    <a:solidFill>
                      <a:srgbClr val="FFFFFF"/>
                    </a:solidFill>
                  </a:tcPr>
                </a:tc>
              </a:tr>
              <a:tr h="215265">
                <a:tc>
                  <a:txBody>
                    <a:bodyPr wrap="none"/>
                    <a:lstStyle/>
                    <a:p>
                      <a:pPr algn="l"/>
                      <a:r>
                        <a:rPr sz="1100" b="1">
                          <a:solidFill>
                            <a:srgbClr val="252423"/>
                          </a:solidFill>
                          <a:latin typeface="Segoe UI"/>
                        </a:rPr>
                        <a:t>Canada</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32.9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34.8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36.8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39.0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41.2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43.6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46.0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48.5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51.1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53.8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56.8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60.0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63.4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66.9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70.6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74.3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5.5%</a:t>
                      </a:r>
                      <a:endParaRPr sz="1100"/>
                    </a:p>
                  </a:txBody>
                  <a:tcPr marL="47625" marR="38100" marT="19050" marB="19050" anchor="ctr">
                    <a:solidFill>
                      <a:srgbClr val="F2FAFD"/>
                    </a:solidFill>
                  </a:tcPr>
                </a:tc>
              </a:tr>
              <a:tr h="215265">
                <a:tc>
                  <a:txBody>
                    <a:bodyPr wrap="none"/>
                    <a:lstStyle/>
                    <a:p>
                      <a:pPr algn="l"/>
                      <a:r>
                        <a:rPr sz="1100" b="1">
                          <a:solidFill>
                            <a:srgbClr val="252423"/>
                          </a:solidFill>
                          <a:latin typeface="Segoe UI"/>
                        </a:rPr>
                        <a:t>Mexico</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23.6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25.0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26.4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27.9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29.5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31.3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33.2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35.5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38.0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40.8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43.9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47.3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51.0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54.9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59.1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63.4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7.3%</a:t>
                      </a:r>
                      <a:endParaRPr sz="1100"/>
                    </a:p>
                  </a:txBody>
                  <a:tcPr marL="47625" marR="38100" marT="19050" marB="19050" anchor="ctr">
                    <a:solidFill>
                      <a:srgbClr val="FFFFFF"/>
                    </a:solidFill>
                  </a:tcPr>
                </a:tc>
              </a:tr>
              <a:tr h="215265">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268.8</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283.5</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299.3</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316.7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335.2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354.8</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375.1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396.7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420.0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445.5</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473.1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502.3</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532.6</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564.1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596.4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629.4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5.9%</a:t>
                      </a:r>
                      <a:endParaRPr sz="1100"/>
                    </a:p>
                  </a:txBody>
                  <a:tcPr marL="47625" marR="38100" marT="19050" marB="19050" anchor="ctr">
                    <a:solidFill>
                      <a:srgbClr val="E0F2FA"/>
                    </a:solidFill>
                  </a:tcPr>
                </a:tc>
              </a:tr>
            </a:tbl>
          </a:graphicData>
        </a:graphic>
      </p:graphicFrame>
      <p:sp>
        <p:nvSpPr>
          <p:cNvPr id="12" name="TextBox 11"/>
          <p:cNvSpPr txBox="1"/>
          <p:nvPr/>
        </p:nvSpPr>
        <p:spPr>
          <a:xfrm>
            <a:off x="219075" y="232410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3" name="Rectangle 12"/>
          <p:cNvSpPr/>
          <p:nvPr/>
        </p:nvSpPr>
        <p:spPr>
          <a:xfrm>
            <a:off x="142875" y="2657475"/>
            <a:ext cx="11906250" cy="39719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2743200"/>
            <a:ext cx="11639550" cy="209550"/>
          </a:xfrm>
          <a:prstGeom prst="rect">
            <a:avLst/>
          </a:prstGeom>
          <a:noFill/>
        </p:spPr>
        <p:txBody>
          <a:bodyPr wrap="square" lIns="0" rIns="19050" tIns="9525" bIns="9525">
            <a:spAutoFit/>
          </a:bodyPr>
          <a:lstStyle/>
          <a:p>
            <a:pPr algn="l"/>
            <a:r>
              <a:rPr sz="1300" b="1">
                <a:solidFill>
                  <a:srgbClr val="007BA5"/>
                </a:solidFill>
                <a:latin typeface="Segoe UI"/>
              </a:rPr>
              <a:t>North America Volume Share Read-out, By Country</a:t>
            </a:r>
          </a:p>
        </p:txBody>
      </p:sp>
      <p:sp>
        <p:nvSpPr>
          <p:cNvPr id="15" name="Rectangle 14"/>
          <p:cNvSpPr/>
          <p:nvPr/>
        </p:nvSpPr>
        <p:spPr>
          <a:xfrm>
            <a:off x="276225" y="298132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067050"/>
            <a:ext cx="11639550" cy="3486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The U.S. performance knitted fabrics market is projected to register 6.6X higher volume than Canada in 2036. Among performance knitted fabrics by country, Mexico is expected to witness the highest CAGR of 7.3% over the forecast period.</a:t>
            </a:r>
          </a:p>
          <a:p>
            <a:pPr algn="l">
              <a:lnSpc>
                <a:spcPct val="110000"/>
              </a:lnSpc>
              <a:spcBef>
                <a:spcPts val="0"/>
              </a:spcBef>
              <a:spcAft>
                <a:spcPts val="500"/>
              </a:spcAft>
            </a:pPr>
            <a:r>
              <a:rPr sz="1150" b="0">
                <a:solidFill>
                  <a:srgbClr val="252423"/>
                </a:solidFill>
                <a:latin typeface="Segoe UI"/>
              </a:rPr>
              <a:t>In terms of volume share by country, U.S. is expected to dominate the market, losing 78 BPS and accounting for 78.1% share by 2036.</a:t>
            </a:r>
          </a:p>
        </p:txBody>
      </p:sp>
      <p:sp>
        <p:nvSpPr>
          <p:cNvPr id="17" name="TextBox 1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Performance Knitted Fabrics Market Share Analysis, By Country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and share by country, 2021–2036, highlighting the geographies gaining and ceding ground</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North America</a:t>
            </a:r>
          </a:p>
        </p:txBody>
      </p:sp>
      <p:sp>
        <p:nvSpPr>
          <p:cNvPr id="9" name="Rectangle 8"/>
          <p:cNvSpPr/>
          <p:nvPr/>
        </p:nvSpPr>
        <p:spPr>
          <a:xfrm>
            <a:off x="142875" y="981075"/>
            <a:ext cx="11906250" cy="15430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Market Size, By Country (US$ Mn)</a:t>
            </a:r>
          </a:p>
        </p:txBody>
      </p:sp>
      <p:graphicFrame>
        <p:nvGraphicFramePr>
          <p:cNvPr id="11" name="Table 10"/>
          <p:cNvGraphicFramePr>
            <a:graphicFrameLocks noGrp="1"/>
          </p:cNvGraphicFramePr>
          <p:nvPr/>
        </p:nvGraphicFramePr>
        <p:xfrm>
          <a:off x="152400" y="1238250"/>
          <a:ext cx="11887208" cy="1076325"/>
        </p:xfrm>
        <a:graphic>
          <a:graphicData uri="http://schemas.openxmlformats.org/drawingml/2006/table">
            <a:tbl>
              <a:tblPr>
                <a:tableStyleId>{5C22544A-7EE6-4342-B048-85BDC9FD1C3A}</a:tableStyleId>
              </a:tblPr>
              <a:tblGrid>
                <a:gridCol w="682338"/>
                <a:gridCol w="659110"/>
                <a:gridCol w="659110"/>
                <a:gridCol w="659110"/>
                <a:gridCol w="659110"/>
                <a:gridCol w="659110"/>
                <a:gridCol w="659110"/>
                <a:gridCol w="659110"/>
                <a:gridCol w="659110"/>
                <a:gridCol w="659110"/>
                <a:gridCol w="659110"/>
                <a:gridCol w="659110"/>
                <a:gridCol w="659110"/>
                <a:gridCol w="659110"/>
                <a:gridCol w="659110"/>
                <a:gridCol w="659110"/>
                <a:gridCol w="659110"/>
                <a:gridCol w="659110"/>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r>
              <a:tr h="215265">
                <a:tc>
                  <a:txBody>
                    <a:bodyPr wrap="none"/>
                    <a:lstStyle/>
                    <a:p>
                      <a:pPr algn="l"/>
                      <a:r>
                        <a:rPr sz="1100" b="1">
                          <a:solidFill>
                            <a:srgbClr val="252423"/>
                          </a:solidFill>
                          <a:latin typeface="Segoe UI"/>
                        </a:rPr>
                        <a:t>U.S.</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747.7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792.0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840.7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895.2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954.4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1,022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1,093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1,171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1,257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1,353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1,459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1,574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1,697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1,830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1,971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2,121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7.6%</a:t>
                      </a:r>
                      <a:endParaRPr sz="1100"/>
                    </a:p>
                  </a:txBody>
                  <a:tcPr marL="47625" marR="38100" marT="19050" marB="19050" anchor="ctr">
                    <a:solidFill>
                      <a:srgbClr val="FFFFFF"/>
                    </a:solidFill>
                  </a:tcPr>
                </a:tc>
              </a:tr>
              <a:tr h="215265">
                <a:tc>
                  <a:txBody>
                    <a:bodyPr wrap="none"/>
                    <a:lstStyle/>
                    <a:p>
                      <a:pPr algn="l"/>
                      <a:r>
                        <a:rPr sz="1100" b="1">
                          <a:solidFill>
                            <a:srgbClr val="252423"/>
                          </a:solidFill>
                          <a:latin typeface="Segoe UI"/>
                        </a:rPr>
                        <a:t>Canada</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114.0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121.1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128.8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137.0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145.9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155.7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166.3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177.5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189.4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202.3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216.4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231.8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248.7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266.8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286.1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306.5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7.0%</a:t>
                      </a:r>
                      <a:endParaRPr sz="1100"/>
                    </a:p>
                  </a:txBody>
                  <a:tcPr marL="47625" marR="38100" marT="19050" marB="19050" anchor="ctr">
                    <a:solidFill>
                      <a:srgbClr val="F2FAFD"/>
                    </a:solidFill>
                  </a:tcPr>
                </a:tc>
              </a:tr>
              <a:tr h="215265">
                <a:tc>
                  <a:txBody>
                    <a:bodyPr wrap="none"/>
                    <a:lstStyle/>
                    <a:p>
                      <a:pPr algn="l"/>
                      <a:r>
                        <a:rPr sz="1100" b="1">
                          <a:solidFill>
                            <a:srgbClr val="252423"/>
                          </a:solidFill>
                          <a:latin typeface="Segoe UI"/>
                        </a:rPr>
                        <a:t>Mexico</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72.5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77.2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82.0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87.2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92.8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99.2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106.5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114.8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124.3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135.1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147.2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160.7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175.5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191.7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209.0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227.7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8.7%</a:t>
                      </a:r>
                      <a:endParaRPr sz="1100"/>
                    </a:p>
                  </a:txBody>
                  <a:tcPr marL="47625" marR="38100" marT="19050" marB="19050" anchor="ctr">
                    <a:solidFill>
                      <a:srgbClr val="FFFFFF"/>
                    </a:solidFill>
                  </a:tcPr>
                </a:tc>
              </a:tr>
              <a:tr h="215265">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934.2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990.2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1,051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1,119</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1,193</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1,277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1,366</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1,463</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1,571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1,690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1,823</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1,967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2,122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2,288</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2,466</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2,655</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7.6%</a:t>
                      </a:r>
                      <a:endParaRPr sz="1100"/>
                    </a:p>
                  </a:txBody>
                  <a:tcPr marL="47625" marR="38100" marT="19050" marB="19050" anchor="ctr">
                    <a:solidFill>
                      <a:srgbClr val="E0F2FA"/>
                    </a:solidFill>
                  </a:tcPr>
                </a:tc>
              </a:tr>
            </a:tbl>
          </a:graphicData>
        </a:graphic>
      </p:graphicFrame>
      <p:sp>
        <p:nvSpPr>
          <p:cNvPr id="12" name="TextBox 11"/>
          <p:cNvSpPr txBox="1"/>
          <p:nvPr/>
        </p:nvSpPr>
        <p:spPr>
          <a:xfrm>
            <a:off x="219075" y="232410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3" name="Rectangle 12"/>
          <p:cNvSpPr/>
          <p:nvPr/>
        </p:nvSpPr>
        <p:spPr>
          <a:xfrm>
            <a:off x="142875" y="2657475"/>
            <a:ext cx="11906250" cy="39719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2743200"/>
            <a:ext cx="11639550" cy="209550"/>
          </a:xfrm>
          <a:prstGeom prst="rect">
            <a:avLst/>
          </a:prstGeom>
          <a:noFill/>
        </p:spPr>
        <p:txBody>
          <a:bodyPr wrap="square" lIns="0" rIns="19050" tIns="9525" bIns="9525">
            <a:spAutoFit/>
          </a:bodyPr>
          <a:lstStyle/>
          <a:p>
            <a:pPr algn="l"/>
            <a:r>
              <a:rPr sz="1300" b="1">
                <a:solidFill>
                  <a:srgbClr val="007BA5"/>
                </a:solidFill>
                <a:latin typeface="Segoe UI"/>
              </a:rPr>
              <a:t>North America Value Share Read-out, By Country</a:t>
            </a:r>
          </a:p>
        </p:txBody>
      </p:sp>
      <p:sp>
        <p:nvSpPr>
          <p:cNvPr id="15" name="Rectangle 14"/>
          <p:cNvSpPr/>
          <p:nvPr/>
        </p:nvSpPr>
        <p:spPr>
          <a:xfrm>
            <a:off x="276225" y="298132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067050"/>
            <a:ext cx="11639550" cy="3486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The U.S. performance knitted fabrics market is projected to register 6.9X higher value than Canada in 2036. Among performance knitted fabrics by country, Mexico is expected to witness the highest CAGR of 8.7% over the forecast period.</a:t>
            </a:r>
          </a:p>
          <a:p>
            <a:pPr algn="l">
              <a:lnSpc>
                <a:spcPct val="110000"/>
              </a:lnSpc>
              <a:spcBef>
                <a:spcPts val="0"/>
              </a:spcBef>
              <a:spcAft>
                <a:spcPts val="500"/>
              </a:spcAft>
            </a:pPr>
            <a:r>
              <a:rPr sz="1150" b="0">
                <a:solidFill>
                  <a:srgbClr val="252423"/>
                </a:solidFill>
                <a:latin typeface="Segoe UI"/>
              </a:rPr>
              <a:t>In terms of value share by country, U.S. is expected to dominate the market, losing 15 BPS and accounting for 79.9% share by 2036. Canada is expected to lose 66 BPS over the forecast period to account for 11.5% share by 2036.</a:t>
            </a:r>
          </a:p>
        </p:txBody>
      </p:sp>
      <p:sp>
        <p:nvSpPr>
          <p:cNvPr id="17" name="TextBox 1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Performance Knitted Fabrics Market Trends, By Country</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how country volume and value shares shift over 2021–2036, highlighting who gains ground</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North America</a:t>
            </a:r>
          </a:p>
        </p:txBody>
      </p:sp>
      <p:sp>
        <p:nvSpPr>
          <p:cNvPr id="9" name="Rectangle 8"/>
          <p:cNvSpPr/>
          <p:nvPr/>
        </p:nvSpPr>
        <p:spPr>
          <a:xfrm>
            <a:off x="142875" y="981075"/>
            <a:ext cx="11906250"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Volume By Country (Mn Sq. Yards)</a:t>
            </a:r>
          </a:p>
        </p:txBody>
      </p:sp>
      <p:graphicFrame>
        <p:nvGraphicFramePr>
          <p:cNvPr id="11" name="Chart 10"/>
          <p:cNvGraphicFramePr>
            <a:graphicFrameLocks noGrp="1"/>
          </p:cNvGraphicFramePr>
          <p:nvPr/>
        </p:nvGraphicFramePr>
        <p:xfrm>
          <a:off x="238125" y="1266825"/>
          <a:ext cx="11715750" cy="2409825"/>
        </p:xfrm>
        <a:graphic>
          <a:graphicData uri="http://schemas.openxmlformats.org/drawingml/2006/chart">
            <c:chart xmlns:c="http://schemas.openxmlformats.org/drawingml/2006/chart" r:id="rId3"/>
          </a:graphicData>
        </a:graphic>
      </p:graphicFrame>
      <p:sp>
        <p:nvSpPr>
          <p:cNvPr id="12" name="Rectangle 11"/>
          <p:cNvSpPr/>
          <p:nvPr/>
        </p:nvSpPr>
        <p:spPr>
          <a:xfrm>
            <a:off x="142875" y="3867150"/>
            <a:ext cx="11906250"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Value By Country (US$ Mn)</a:t>
            </a:r>
          </a:p>
        </p:txBody>
      </p:sp>
      <p:graphicFrame>
        <p:nvGraphicFramePr>
          <p:cNvPr id="14" name="Chart 13"/>
          <p:cNvGraphicFramePr>
            <a:graphicFrameLocks noGrp="1"/>
          </p:cNvGraphicFramePr>
          <p:nvPr/>
        </p:nvGraphicFramePr>
        <p:xfrm>
          <a:off x="238125" y="4152900"/>
          <a:ext cx="11715750" cy="2409825"/>
        </p:xfrm>
        <a:graphic>
          <a:graphicData uri="http://schemas.openxmlformats.org/drawingml/2006/chart">
            <c:chart xmlns:c="http://schemas.openxmlformats.org/drawingml/2006/chart" r:id="rId4"/>
          </a:graphicData>
        </a:graphic>
      </p:graphicFrame>
      <p:sp>
        <p:nvSpPr>
          <p:cNvPr id="15" name="TextBox 1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Performance Knitted Fabrics Market Top 3 Countries (2036)</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hierarchy of the North America market in 2036, highlighting the leading countries within each region by value</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North America</a:t>
            </a:r>
          </a:p>
        </p:txBody>
      </p:sp>
      <p:sp>
        <p:nvSpPr>
          <p:cNvPr id="9" name="Rectangle 8"/>
          <p:cNvSpPr/>
          <p:nvPr/>
        </p:nvSpPr>
        <p:spPr>
          <a:xfrm>
            <a:off x="142875" y="981075"/>
            <a:ext cx="1190625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market by country  ·  2036 (US$ Mn)  ·  tile size = market value</a:t>
            </a:r>
          </a:p>
        </p:txBody>
      </p:sp>
      <p:sp>
        <p:nvSpPr>
          <p:cNvPr id="11" name="Rectangle 10"/>
          <p:cNvSpPr/>
          <p:nvPr/>
        </p:nvSpPr>
        <p:spPr>
          <a:xfrm>
            <a:off x="238125" y="1266825"/>
            <a:ext cx="9358723" cy="5305425"/>
          </a:xfrm>
          <a:prstGeom prst="rect">
            <a:avLst/>
          </a:prstGeom>
          <a:solidFill>
            <a:srgbClr val="00A4D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U.S.</a:t>
            </a:r>
          </a:p>
          <a:p>
            <a:pPr algn="ctr"/>
            <a:r>
              <a:rPr sz="1100" b="0">
                <a:solidFill>
                  <a:srgbClr val="FFFFFF"/>
                </a:solidFill>
                <a:latin typeface="Segoe UI"/>
              </a:rPr>
              <a:t>2,121</a:t>
            </a:r>
          </a:p>
        </p:txBody>
      </p:sp>
      <p:sp>
        <p:nvSpPr>
          <p:cNvPr id="12" name="Rectangle 11"/>
          <p:cNvSpPr/>
          <p:nvPr/>
        </p:nvSpPr>
        <p:spPr>
          <a:xfrm>
            <a:off x="9596848" y="1266825"/>
            <a:ext cx="2357027" cy="3044433"/>
          </a:xfrm>
          <a:prstGeom prst="rect">
            <a:avLst/>
          </a:prstGeom>
          <a:solidFill>
            <a:srgbClr val="6ECFF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Canada</a:t>
            </a:r>
          </a:p>
          <a:p>
            <a:pPr algn="ctr"/>
            <a:r>
              <a:rPr sz="1100" b="0">
                <a:solidFill>
                  <a:srgbClr val="252423"/>
                </a:solidFill>
                <a:latin typeface="Segoe UI"/>
              </a:rPr>
              <a:t>307</a:t>
            </a:r>
          </a:p>
        </p:txBody>
      </p:sp>
      <p:sp>
        <p:nvSpPr>
          <p:cNvPr id="13" name="Rectangle 12"/>
          <p:cNvSpPr/>
          <p:nvPr/>
        </p:nvSpPr>
        <p:spPr>
          <a:xfrm>
            <a:off x="9596848" y="4311258"/>
            <a:ext cx="2357027" cy="2260992"/>
          </a:xfrm>
          <a:prstGeom prst="rect">
            <a:avLst/>
          </a:prstGeom>
          <a:solidFill>
            <a:srgbClr val="D6CA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Mexico</a:t>
            </a:r>
          </a:p>
          <a:p>
            <a:pPr algn="ctr"/>
            <a:r>
              <a:rPr sz="1100" b="0">
                <a:solidFill>
                  <a:srgbClr val="252423"/>
                </a:solidFill>
                <a:latin typeface="Segoe UI"/>
              </a:rPr>
              <a:t>228</a:t>
            </a:r>
          </a:p>
        </p:txBody>
      </p:sp>
      <p:sp>
        <p:nvSpPr>
          <p:cNvPr id="14" name="TextBox 1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Fabric Construction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2 sub-segments of Fabric Construction,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North America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Fabric Construction segment categorizes the market by fabric construction.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4943475"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4943475"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Weft Knitted Fabrics</a:t>
            </a:r>
          </a:p>
        </p:txBody>
      </p:sp>
      <p:sp>
        <p:nvSpPr>
          <p:cNvPr id="21" name="Rectangle 20"/>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831.5</a:t>
            </a:r>
          </a:p>
        </p:txBody>
      </p:sp>
      <p:sp>
        <p:nvSpPr>
          <p:cNvPr id="22" name="Rectangle 21"/>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1,660</a:t>
            </a:r>
          </a:p>
        </p:txBody>
      </p:sp>
      <p:sp>
        <p:nvSpPr>
          <p:cNvPr id="23" name="Rectangle 22"/>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7.2%</a:t>
            </a:r>
          </a:p>
        </p:txBody>
      </p:sp>
      <p:sp>
        <p:nvSpPr>
          <p:cNvPr id="24" name="Oval 23"/>
          <p:cNvSpPr/>
          <p:nvPr/>
        </p:nvSpPr>
        <p:spPr>
          <a:xfrm>
            <a:off x="4176712"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6924675" y="1773916"/>
            <a:ext cx="4943475"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24675" y="1992961"/>
            <a:ext cx="4943475"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Warp Knitted Fabrics</a:t>
            </a:r>
          </a:p>
        </p:txBody>
      </p:sp>
      <p:sp>
        <p:nvSpPr>
          <p:cNvPr id="28" name="Rectangle 27"/>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445.1</a:t>
            </a:r>
          </a:p>
        </p:txBody>
      </p:sp>
      <p:sp>
        <p:nvSpPr>
          <p:cNvPr id="29" name="Rectangle 28"/>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995.8</a:t>
            </a:r>
          </a:p>
        </p:txBody>
      </p:sp>
      <p:sp>
        <p:nvSpPr>
          <p:cNvPr id="30" name="Rectangle 29"/>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8.4%</a:t>
            </a:r>
          </a:p>
        </p:txBody>
      </p:sp>
      <p:sp>
        <p:nvSpPr>
          <p:cNvPr id="31" name="Oval 30"/>
          <p:cNvSpPr/>
          <p:nvPr/>
        </p:nvSpPr>
        <p:spPr>
          <a:xfrm>
            <a:off x="9234488"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34" name="Rectangle 33"/>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fabric construction, warp knitted fabrics segment is expected to witness the highest CAGR of 8.4% over the forecast period. In terms of value share by fabric construction, the weft knitted fabrics segment is expected to dominate the market, losing 264 BPS and accounting for 62.5%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Weft knitted fabrics segment is projected to register 1.7X higher value than warp knitted fabrics segment in 2036.</a:t>
            </a:r>
          </a:p>
        </p:txBody>
      </p:sp>
      <p:sp>
        <p:nvSpPr>
          <p:cNvPr id="36" name="Rounded Rectangle 35"/>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38" name="Rectangle 37"/>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Weft Knitted Fabrics: </a:t>
            </a:r>
            <a:r>
              <a:rPr sz="1100" b="0">
                <a:solidFill>
                  <a:srgbClr val="252423"/>
                </a:solidFill>
                <a:latin typeface="Segoe UI"/>
              </a:rPr>
              <a:t>65% of 2026 value · 7.2%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Warp Knitted Fabrics: </a:t>
            </a:r>
            <a:r>
              <a:rPr sz="1100" b="0">
                <a:solidFill>
                  <a:srgbClr val="252423"/>
                </a:solidFill>
                <a:latin typeface="Segoe UI"/>
              </a:rPr>
              <a:t>35% of 2026 value · 8.4% CAGR grows fastest.</a:t>
            </a:r>
          </a:p>
        </p:txBody>
      </p:sp>
      <p:sp>
        <p:nvSpPr>
          <p:cNvPr id="40" name="Rounded Rectangle 39"/>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2" name="Rectangle 41"/>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Fabric Construction split shows how demand is distributed across fabric construction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44" name="Rectangle 43"/>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Fabric Construction segment is projected to grow at a CAGR of 7.6% from 2026 to 2036.</a:t>
            </a:r>
          </a:p>
        </p:txBody>
      </p:sp>
      <p:sp>
        <p:nvSpPr>
          <p:cNvPr id="46" name="TextBox 45"/>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7" name="TextBox 4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Value &amp; Share Shift, By Fabric Construction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Fabric Construction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North America</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Value Composition, By Fabric Construction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2528646"/>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252388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244768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Warp Knitted Fabrics</a:t>
            </a:r>
          </a:p>
        </p:txBody>
      </p:sp>
      <p:sp>
        <p:nvSpPr>
          <p:cNvPr id="17" name="BPS Value 1"/>
          <p:cNvSpPr txBox="1"/>
          <p:nvPr/>
        </p:nvSpPr>
        <p:spPr>
          <a:xfrm>
            <a:off x="6896100" y="2509596"/>
            <a:ext cx="514350" cy="123825"/>
          </a:xfrm>
          <a:prstGeom prst="rect">
            <a:avLst/>
          </a:prstGeom>
          <a:noFill/>
        </p:spPr>
        <p:txBody>
          <a:bodyPr wrap="none" lIns="0" rIns="0" tIns="0" bIns="0" anchor="ctr">
            <a:spAutoFit/>
          </a:bodyPr>
          <a:lstStyle/>
          <a:p>
            <a:pPr algn="r"/>
            <a:r>
              <a:rPr sz="900" b="1">
                <a:solidFill>
                  <a:srgbClr val="1E8E3E"/>
                </a:solidFill>
                <a:latin typeface="Segoe UI"/>
              </a:rPr>
              <a:t>+264</a:t>
            </a:r>
          </a:p>
        </p:txBody>
      </p:sp>
      <p:sp>
        <p:nvSpPr>
          <p:cNvPr id="18" name="FMI Legend Chip"/>
          <p:cNvSpPr/>
          <p:nvPr/>
        </p:nvSpPr>
        <p:spPr>
          <a:xfrm>
            <a:off x="4928997" y="4814837"/>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5090922" y="481007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473387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Weft Knitted Fabrics</a:t>
            </a:r>
          </a:p>
        </p:txBody>
      </p:sp>
      <p:sp>
        <p:nvSpPr>
          <p:cNvPr id="21" name="BPS Value 2"/>
          <p:cNvSpPr txBox="1"/>
          <p:nvPr/>
        </p:nvSpPr>
        <p:spPr>
          <a:xfrm>
            <a:off x="6896100" y="4795787"/>
            <a:ext cx="514350" cy="123825"/>
          </a:xfrm>
          <a:prstGeom prst="rect">
            <a:avLst/>
          </a:prstGeom>
          <a:noFill/>
        </p:spPr>
        <p:txBody>
          <a:bodyPr wrap="none" lIns="0" rIns="0" tIns="0" bIns="0" anchor="ctr">
            <a:spAutoFit/>
          </a:bodyPr>
          <a:lstStyle/>
          <a:p>
            <a:pPr algn="r"/>
            <a:r>
              <a:rPr sz="900" b="1">
                <a:solidFill>
                  <a:srgbClr val="D64545"/>
                </a:solidFill>
                <a:latin typeface="Segoe UI"/>
              </a:rPr>
              <a:t>-264</a:t>
            </a:r>
          </a:p>
        </p:txBody>
      </p:sp>
      <p:sp>
        <p:nvSpPr>
          <p:cNvPr id="22" name="Rectangle 21"/>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North America Read-out, By Fabric Construction</a:t>
            </a:r>
          </a:p>
        </p:txBody>
      </p:sp>
      <p:sp>
        <p:nvSpPr>
          <p:cNvPr id="24" name="Rectangle 23"/>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fabric construction, warp knitted fabrics segment is expected to witness the highest CAGR of 8.4% over the forecast period.</a:t>
            </a:r>
          </a:p>
          <a:p>
            <a:pPr algn="l">
              <a:lnSpc>
                <a:spcPct val="110000"/>
              </a:lnSpc>
              <a:spcBef>
                <a:spcPts val="0"/>
              </a:spcBef>
              <a:spcAft>
                <a:spcPts val="500"/>
              </a:spcAft>
            </a:pPr>
            <a:r>
              <a:rPr sz="1150" b="0">
                <a:solidFill>
                  <a:srgbClr val="252423"/>
                </a:solidFill>
                <a:latin typeface="Segoe UI"/>
              </a:rPr>
              <a:t>In terms of value share by fabric construction, the weft knitted fabrics segment is expected to dominate the market, losing 264 BPS and accounting for 62.5% share by 2036.</a:t>
            </a:r>
          </a:p>
        </p:txBody>
      </p:sp>
      <p:sp>
        <p:nvSpPr>
          <p:cNvPr id="26" name="TextBox 2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Material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6 sub-segments of Material,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North America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Material segment categorizes the market by material.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1571625"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1571625"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Polyester</a:t>
            </a:r>
          </a:p>
        </p:txBody>
      </p:sp>
      <p:sp>
        <p:nvSpPr>
          <p:cNvPr id="21" name="Rectangle 20"/>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524.3</a:t>
            </a:r>
          </a:p>
        </p:txBody>
      </p:sp>
      <p:sp>
        <p:nvSpPr>
          <p:cNvPr id="22" name="Rectangle 21"/>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1,022</a:t>
            </a:r>
          </a:p>
        </p:txBody>
      </p:sp>
      <p:sp>
        <p:nvSpPr>
          <p:cNvPr id="23" name="Rectangle 22"/>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6.9%</a:t>
            </a:r>
          </a:p>
        </p:txBody>
      </p:sp>
      <p:sp>
        <p:nvSpPr>
          <p:cNvPr id="24" name="Oval 23"/>
          <p:cNvSpPr/>
          <p:nvPr/>
        </p:nvSpPr>
        <p:spPr>
          <a:xfrm>
            <a:off x="2490788"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3552825" y="1773916"/>
            <a:ext cx="1571625"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552825" y="1992961"/>
            <a:ext cx="1571625"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Polyamide or Nylon</a:t>
            </a:r>
          </a:p>
        </p:txBody>
      </p:sp>
      <p:sp>
        <p:nvSpPr>
          <p:cNvPr id="28" name="Rectangle 27"/>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255.8</a:t>
            </a:r>
          </a:p>
        </p:txBody>
      </p:sp>
      <p:sp>
        <p:nvSpPr>
          <p:cNvPr id="29" name="Rectangle 28"/>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516.8</a:t>
            </a:r>
          </a:p>
        </p:txBody>
      </p:sp>
      <p:sp>
        <p:nvSpPr>
          <p:cNvPr id="30" name="Rectangle 29"/>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7.3%</a:t>
            </a:r>
          </a:p>
        </p:txBody>
      </p:sp>
      <p:sp>
        <p:nvSpPr>
          <p:cNvPr id="31" name="Oval 30"/>
          <p:cNvSpPr/>
          <p:nvPr/>
        </p:nvSpPr>
        <p:spPr>
          <a:xfrm>
            <a:off x="4176712"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5238750" y="1773916"/>
            <a:ext cx="1571625"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238750" y="1992961"/>
            <a:ext cx="1571625"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High-Performance &amp; Specialty Fibe…</a:t>
            </a:r>
          </a:p>
        </p:txBody>
      </p:sp>
      <p:sp>
        <p:nvSpPr>
          <p:cNvPr id="35" name="Rectangle 34"/>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217.4</a:t>
            </a:r>
          </a:p>
        </p:txBody>
      </p:sp>
      <p:sp>
        <p:nvSpPr>
          <p:cNvPr id="36" name="Rectangle 35"/>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512.6</a:t>
            </a:r>
          </a:p>
        </p:txBody>
      </p:sp>
      <p:sp>
        <p:nvSpPr>
          <p:cNvPr id="37" name="Rectangle 36"/>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9.0%</a:t>
            </a:r>
          </a:p>
        </p:txBody>
      </p:sp>
      <p:sp>
        <p:nvSpPr>
          <p:cNvPr id="38" name="Oval 37"/>
          <p:cNvSpPr/>
          <p:nvPr/>
        </p:nvSpPr>
        <p:spPr>
          <a:xfrm>
            <a:off x="5862638"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6924675" y="1773916"/>
            <a:ext cx="1571625"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924675" y="1992961"/>
            <a:ext cx="1571625"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Elastane or Spandex Blends</a:t>
            </a:r>
          </a:p>
        </p:txBody>
      </p:sp>
      <p:sp>
        <p:nvSpPr>
          <p:cNvPr id="42" name="Rectangle 41"/>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158.1</a:t>
            </a:r>
          </a:p>
        </p:txBody>
      </p:sp>
      <p:sp>
        <p:nvSpPr>
          <p:cNvPr id="43" name="Rectangle 42"/>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366.5</a:t>
            </a:r>
          </a:p>
        </p:txBody>
      </p:sp>
      <p:sp>
        <p:nvSpPr>
          <p:cNvPr id="44" name="Rectangle 43"/>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8.8%</a:t>
            </a:r>
          </a:p>
        </p:txBody>
      </p:sp>
      <p:sp>
        <p:nvSpPr>
          <p:cNvPr id="45" name="Oval 44"/>
          <p:cNvSpPr/>
          <p:nvPr/>
        </p:nvSpPr>
        <p:spPr>
          <a:xfrm>
            <a:off x="7548562"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8610600" y="1773916"/>
            <a:ext cx="1571625"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610600" y="1992961"/>
            <a:ext cx="1571625"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Cellulosic Fibers</a:t>
            </a:r>
          </a:p>
        </p:txBody>
      </p:sp>
      <p:sp>
        <p:nvSpPr>
          <p:cNvPr id="49" name="Rectangle 48"/>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68.2</a:t>
            </a:r>
          </a:p>
        </p:txBody>
      </p:sp>
      <p:sp>
        <p:nvSpPr>
          <p:cNvPr id="50" name="Rectangle 49"/>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127.7</a:t>
            </a:r>
          </a:p>
        </p:txBody>
      </p:sp>
      <p:sp>
        <p:nvSpPr>
          <p:cNvPr id="51" name="Rectangle 50"/>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6.5%</a:t>
            </a:r>
          </a:p>
        </p:txBody>
      </p:sp>
      <p:sp>
        <p:nvSpPr>
          <p:cNvPr id="52" name="Oval 51"/>
          <p:cNvSpPr/>
          <p:nvPr/>
        </p:nvSpPr>
        <p:spPr>
          <a:xfrm>
            <a:off x="9234488"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53" name="Rounded Rectangle 52"/>
          <p:cNvSpPr/>
          <p:nvPr/>
        </p:nvSpPr>
        <p:spPr>
          <a:xfrm>
            <a:off x="10296525" y="1773916"/>
            <a:ext cx="1571625"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296525" y="1992961"/>
            <a:ext cx="1571625"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Polypropylene</a:t>
            </a:r>
          </a:p>
        </p:txBody>
      </p:sp>
      <p:sp>
        <p:nvSpPr>
          <p:cNvPr id="56" name="Rectangle 55"/>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52.8</a:t>
            </a:r>
          </a:p>
        </p:txBody>
      </p:sp>
      <p:sp>
        <p:nvSpPr>
          <p:cNvPr id="57" name="Rectangle 56"/>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109.6</a:t>
            </a:r>
          </a:p>
        </p:txBody>
      </p:sp>
      <p:sp>
        <p:nvSpPr>
          <p:cNvPr id="58" name="Rectangle 57"/>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7.6%</a:t>
            </a:r>
          </a:p>
        </p:txBody>
      </p:sp>
      <p:sp>
        <p:nvSpPr>
          <p:cNvPr id="59" name="Oval 58"/>
          <p:cNvSpPr/>
          <p:nvPr/>
        </p:nvSpPr>
        <p:spPr>
          <a:xfrm>
            <a:off x="10920412"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60" name="Rounded Rectangle 5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62" name="Rectangle 61"/>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material, high-performance &amp; specialty fibers segment is expected to witness the highest CAGR of 9.0% over the forecast period. In terms of value share by material, the polyester segment is expected to dominate the market, losing 258 BPS and accounting for 38.5%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Polyester segment is projected to register 2.0X higher value than polyamide or nylon segment in 2036.</a:t>
            </a:r>
          </a:p>
        </p:txBody>
      </p:sp>
      <p:sp>
        <p:nvSpPr>
          <p:cNvPr id="64" name="Rounded Rectangle 6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66" name="Rectangle 65"/>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Polyester: </a:t>
            </a:r>
            <a:r>
              <a:rPr sz="1100" b="0">
                <a:solidFill>
                  <a:srgbClr val="252423"/>
                </a:solidFill>
                <a:latin typeface="Segoe UI"/>
              </a:rPr>
              <a:t>41% of 2026 value · 6.9%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Polyamide or Nylon: </a:t>
            </a:r>
            <a:r>
              <a:rPr sz="1100" b="0">
                <a:solidFill>
                  <a:srgbClr val="252423"/>
                </a:solidFill>
                <a:latin typeface="Segoe UI"/>
              </a:rPr>
              <a:t>20% of 2026 value · 7.3%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High-Performance &amp; Specialty Fibers: </a:t>
            </a:r>
            <a:r>
              <a:rPr sz="1100" b="0">
                <a:solidFill>
                  <a:srgbClr val="252423"/>
                </a:solidFill>
                <a:latin typeface="Segoe UI"/>
              </a:rPr>
              <a:t>17% of 2026 value · 9.0% CAGR grows fastest.</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Elastane or Spandex Blends: </a:t>
            </a:r>
            <a:r>
              <a:rPr sz="1100" b="0">
                <a:solidFill>
                  <a:srgbClr val="252423"/>
                </a:solidFill>
                <a:latin typeface="Segoe UI"/>
              </a:rPr>
              <a:t>12% of 2026 value · 8.8% CAGR serves a niche.</a:t>
            </a:r>
          </a:p>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Cellulosic Fibers: </a:t>
            </a:r>
            <a:r>
              <a:rPr sz="1100" b="0">
                <a:solidFill>
                  <a:srgbClr val="252423"/>
                </a:solidFill>
                <a:latin typeface="Segoe UI"/>
              </a:rPr>
              <a:t>5% of 2026 value · 6.5% CAGR serves a niche.</a:t>
            </a:r>
          </a:p>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Polypropylene: </a:t>
            </a:r>
            <a:r>
              <a:rPr sz="1100" b="0">
                <a:solidFill>
                  <a:srgbClr val="252423"/>
                </a:solidFill>
                <a:latin typeface="Segoe UI"/>
              </a:rPr>
              <a:t>4% of 2026 value · 7.6% CAGR serves a niche.</a:t>
            </a:r>
          </a:p>
        </p:txBody>
      </p:sp>
      <p:sp>
        <p:nvSpPr>
          <p:cNvPr id="68" name="Rounded Rectangle 6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70" name="Rectangle 69"/>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Material split shows how demand is distributed across material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72" name="Rectangle 7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Material segment is projected to grow at a CAGR of 7.6% from 2026 to 2036.</a:t>
            </a:r>
          </a:p>
        </p:txBody>
      </p:sp>
      <p:sp>
        <p:nvSpPr>
          <p:cNvPr id="74" name="TextBox 73"/>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75" name="TextBox 7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Value &amp; Share Shift, By Material</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Material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North America</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Value Composition, By Material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765627"/>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5090922" y="176086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68466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Polypropylene</a:t>
            </a:r>
          </a:p>
        </p:txBody>
      </p:sp>
      <p:sp>
        <p:nvSpPr>
          <p:cNvPr id="17" name="BPS Value 1"/>
          <p:cNvSpPr txBox="1"/>
          <p:nvPr/>
        </p:nvSpPr>
        <p:spPr>
          <a:xfrm>
            <a:off x="6896100" y="1746577"/>
            <a:ext cx="514350" cy="123825"/>
          </a:xfrm>
          <a:prstGeom prst="rect">
            <a:avLst/>
          </a:prstGeom>
          <a:noFill/>
        </p:spPr>
        <p:txBody>
          <a:bodyPr wrap="none" lIns="0" rIns="0" tIns="0" bIns="0" anchor="ctr">
            <a:spAutoFit/>
          </a:bodyPr>
          <a:lstStyle/>
          <a:p>
            <a:pPr algn="r"/>
            <a:r>
              <a:rPr sz="900" b="1">
                <a:solidFill>
                  <a:srgbClr val="D64545"/>
                </a:solidFill>
                <a:latin typeface="Segoe UI"/>
              </a:rPr>
              <a:t>-1</a:t>
            </a:r>
          </a:p>
        </p:txBody>
      </p:sp>
      <p:sp>
        <p:nvSpPr>
          <p:cNvPr id="18" name="FMI Legend Chip"/>
          <p:cNvSpPr/>
          <p:nvPr/>
        </p:nvSpPr>
        <p:spPr>
          <a:xfrm>
            <a:off x="4928997" y="1969920"/>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5090922" y="1965158"/>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1888958"/>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Cellulosic Fibers</a:t>
            </a:r>
          </a:p>
        </p:txBody>
      </p:sp>
      <p:sp>
        <p:nvSpPr>
          <p:cNvPr id="21" name="BPS Value 2"/>
          <p:cNvSpPr txBox="1"/>
          <p:nvPr/>
        </p:nvSpPr>
        <p:spPr>
          <a:xfrm>
            <a:off x="6896100" y="1950870"/>
            <a:ext cx="514350" cy="123825"/>
          </a:xfrm>
          <a:prstGeom prst="rect">
            <a:avLst/>
          </a:prstGeom>
          <a:noFill/>
        </p:spPr>
        <p:txBody>
          <a:bodyPr wrap="none" lIns="0" rIns="0" tIns="0" bIns="0" anchor="ctr">
            <a:spAutoFit/>
          </a:bodyPr>
          <a:lstStyle/>
          <a:p>
            <a:pPr algn="r"/>
            <a:r>
              <a:rPr sz="900" b="1">
                <a:solidFill>
                  <a:srgbClr val="D64545"/>
                </a:solidFill>
                <a:latin typeface="Segoe UI"/>
              </a:rPr>
              <a:t>-53</a:t>
            </a:r>
          </a:p>
        </p:txBody>
      </p:sp>
      <p:sp>
        <p:nvSpPr>
          <p:cNvPr id="22" name="FMI Legend Chip"/>
          <p:cNvSpPr/>
          <p:nvPr/>
        </p:nvSpPr>
        <p:spPr>
          <a:xfrm>
            <a:off x="4928997" y="2395424"/>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5090922" y="239066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31446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Elastane or Spandex Blends</a:t>
            </a:r>
          </a:p>
        </p:txBody>
      </p:sp>
      <p:sp>
        <p:nvSpPr>
          <p:cNvPr id="25" name="BPS Value 3"/>
          <p:cNvSpPr txBox="1"/>
          <p:nvPr/>
        </p:nvSpPr>
        <p:spPr>
          <a:xfrm>
            <a:off x="6896100" y="2376374"/>
            <a:ext cx="514350" cy="123825"/>
          </a:xfrm>
          <a:prstGeom prst="rect">
            <a:avLst/>
          </a:prstGeom>
          <a:noFill/>
        </p:spPr>
        <p:txBody>
          <a:bodyPr wrap="none" lIns="0" rIns="0" tIns="0" bIns="0" anchor="ctr">
            <a:spAutoFit/>
          </a:bodyPr>
          <a:lstStyle/>
          <a:p>
            <a:pPr algn="r"/>
            <a:r>
              <a:rPr sz="900" b="1">
                <a:solidFill>
                  <a:srgbClr val="1E8E3E"/>
                </a:solidFill>
                <a:latin typeface="Segoe UI"/>
              </a:rPr>
              <a:t>+142</a:t>
            </a:r>
          </a:p>
        </p:txBody>
      </p:sp>
      <p:sp>
        <p:nvSpPr>
          <p:cNvPr id="26" name="FMI Legend Chip"/>
          <p:cNvSpPr/>
          <p:nvPr/>
        </p:nvSpPr>
        <p:spPr>
          <a:xfrm>
            <a:off x="4928997" y="3152312"/>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5090922" y="3147550"/>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307135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High-Performance &amp; Specialty Fibers</a:t>
            </a:r>
          </a:p>
        </p:txBody>
      </p:sp>
      <p:sp>
        <p:nvSpPr>
          <p:cNvPr id="29" name="BPS Value 4"/>
          <p:cNvSpPr txBox="1"/>
          <p:nvPr/>
        </p:nvSpPr>
        <p:spPr>
          <a:xfrm>
            <a:off x="6896100" y="3133262"/>
            <a:ext cx="514350" cy="123825"/>
          </a:xfrm>
          <a:prstGeom prst="rect">
            <a:avLst/>
          </a:prstGeom>
          <a:noFill/>
        </p:spPr>
        <p:txBody>
          <a:bodyPr wrap="none" lIns="0" rIns="0" tIns="0" bIns="0" anchor="ctr">
            <a:spAutoFit/>
          </a:bodyPr>
          <a:lstStyle/>
          <a:p>
            <a:pPr algn="r"/>
            <a:r>
              <a:rPr sz="900" b="1">
                <a:solidFill>
                  <a:srgbClr val="1E8E3E"/>
                </a:solidFill>
                <a:latin typeface="Segoe UI"/>
              </a:rPr>
              <a:t>+227</a:t>
            </a:r>
          </a:p>
        </p:txBody>
      </p:sp>
      <p:sp>
        <p:nvSpPr>
          <p:cNvPr id="30" name="FMI Legend Chip"/>
          <p:cNvSpPr/>
          <p:nvPr/>
        </p:nvSpPr>
        <p:spPr>
          <a:xfrm>
            <a:off x="4928997" y="4038615"/>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rot="10800000">
            <a:off x="5090922" y="4033853"/>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395765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Polyamide or Nylon</a:t>
            </a:r>
          </a:p>
        </p:txBody>
      </p:sp>
      <p:sp>
        <p:nvSpPr>
          <p:cNvPr id="33" name="BPS Value 5"/>
          <p:cNvSpPr txBox="1"/>
          <p:nvPr/>
        </p:nvSpPr>
        <p:spPr>
          <a:xfrm>
            <a:off x="6896100" y="4019565"/>
            <a:ext cx="514350" cy="123825"/>
          </a:xfrm>
          <a:prstGeom prst="rect">
            <a:avLst/>
          </a:prstGeom>
          <a:noFill/>
        </p:spPr>
        <p:txBody>
          <a:bodyPr wrap="none" lIns="0" rIns="0" tIns="0" bIns="0" anchor="ctr">
            <a:spAutoFit/>
          </a:bodyPr>
          <a:lstStyle/>
          <a:p>
            <a:pPr algn="r"/>
            <a:r>
              <a:rPr sz="900" b="1">
                <a:solidFill>
                  <a:srgbClr val="D64545"/>
                </a:solidFill>
                <a:latin typeface="Segoe UI"/>
              </a:rPr>
              <a:t>-58</a:t>
            </a:r>
          </a:p>
        </p:txBody>
      </p:sp>
      <p:sp>
        <p:nvSpPr>
          <p:cNvPr id="34" name="FMI Legend Chip"/>
          <p:cNvSpPr/>
          <p:nvPr/>
        </p:nvSpPr>
        <p:spPr>
          <a:xfrm>
            <a:off x="4928997" y="5363623"/>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rot="10800000">
            <a:off x="5090922" y="5358861"/>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528266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Polyester</a:t>
            </a:r>
          </a:p>
        </p:txBody>
      </p:sp>
      <p:sp>
        <p:nvSpPr>
          <p:cNvPr id="37" name="BPS Value 6"/>
          <p:cNvSpPr txBox="1"/>
          <p:nvPr/>
        </p:nvSpPr>
        <p:spPr>
          <a:xfrm>
            <a:off x="6896100" y="5344573"/>
            <a:ext cx="514350" cy="123825"/>
          </a:xfrm>
          <a:prstGeom prst="rect">
            <a:avLst/>
          </a:prstGeom>
          <a:noFill/>
        </p:spPr>
        <p:txBody>
          <a:bodyPr wrap="none" lIns="0" rIns="0" tIns="0" bIns="0" anchor="ctr">
            <a:spAutoFit/>
          </a:bodyPr>
          <a:lstStyle/>
          <a:p>
            <a:pPr algn="r"/>
            <a:r>
              <a:rPr sz="900" b="1">
                <a:solidFill>
                  <a:srgbClr val="D64545"/>
                </a:solidFill>
                <a:latin typeface="Segoe UI"/>
              </a:rPr>
              <a:t>-258</a:t>
            </a:r>
          </a:p>
        </p:txBody>
      </p:sp>
      <p:sp>
        <p:nvSpPr>
          <p:cNvPr id="38" name="Rectangle 37"/>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North America Read-out, By Material</a:t>
            </a:r>
          </a:p>
        </p:txBody>
      </p:sp>
      <p:sp>
        <p:nvSpPr>
          <p:cNvPr id="40" name="Rectangle 39"/>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material, high-performance &amp; specialty fibers segment is expected to witness the highest CAGR of 9.0% over the forecast period.</a:t>
            </a:r>
          </a:p>
          <a:p>
            <a:pPr algn="l">
              <a:lnSpc>
                <a:spcPct val="110000"/>
              </a:lnSpc>
              <a:spcBef>
                <a:spcPts val="0"/>
              </a:spcBef>
              <a:spcAft>
                <a:spcPts val="500"/>
              </a:spcAft>
            </a:pPr>
            <a:r>
              <a:rPr sz="1150" b="0">
                <a:solidFill>
                  <a:srgbClr val="252423"/>
                </a:solidFill>
                <a:latin typeface="Segoe UI"/>
              </a:rPr>
              <a:t>In terms of value share by material, the polyester segment is expected to dominate the market, losing 258 BPS and accounting for 38.5% share by 2036.</a:t>
            </a:r>
          </a:p>
        </p:txBody>
      </p:sp>
      <p:sp>
        <p:nvSpPr>
          <p:cNvPr id="42" name="TextBox 4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Primary Performance Function Segment Outlook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10 sub-segments of Primary Performance Function,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North America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Primary Performance Function segment categorizes the market by primary performance function.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190881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190881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Moisture Management &amp; Quick-Dry</a:t>
            </a:r>
          </a:p>
        </p:txBody>
      </p:sp>
      <p:sp>
        <p:nvSpPr>
          <p:cNvPr id="21" name="Rectangle 20"/>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274.8</a:t>
            </a:r>
          </a:p>
        </p:txBody>
      </p:sp>
      <p:sp>
        <p:nvSpPr>
          <p:cNvPr id="22" name="Rectangle 21"/>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559.6</a:t>
            </a:r>
          </a:p>
        </p:txBody>
      </p:sp>
      <p:sp>
        <p:nvSpPr>
          <p:cNvPr id="23" name="Rectangle 22"/>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7.4%</a:t>
            </a:r>
          </a:p>
        </p:txBody>
      </p:sp>
      <p:sp>
        <p:nvSpPr>
          <p:cNvPr id="24" name="Oval 23"/>
          <p:cNvSpPr/>
          <p:nvPr/>
        </p:nvSpPr>
        <p:spPr>
          <a:xfrm>
            <a:off x="265938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3890010" y="1773916"/>
            <a:ext cx="190881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890010" y="1992961"/>
            <a:ext cx="190881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Stretch &amp; Recovery</a:t>
            </a:r>
          </a:p>
        </p:txBody>
      </p:sp>
      <p:sp>
        <p:nvSpPr>
          <p:cNvPr id="28" name="Rectangle 27"/>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233.6</a:t>
            </a:r>
          </a:p>
        </p:txBody>
      </p:sp>
      <p:sp>
        <p:nvSpPr>
          <p:cNvPr id="29" name="Rectangle 28"/>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467.4</a:t>
            </a:r>
          </a:p>
        </p:txBody>
      </p:sp>
      <p:sp>
        <p:nvSpPr>
          <p:cNvPr id="30" name="Rectangle 29"/>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7.2%</a:t>
            </a:r>
          </a:p>
        </p:txBody>
      </p:sp>
      <p:sp>
        <p:nvSpPr>
          <p:cNvPr id="31" name="Oval 30"/>
          <p:cNvSpPr/>
          <p:nvPr/>
        </p:nvSpPr>
        <p:spPr>
          <a:xfrm>
            <a:off x="468249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5913120" y="1773916"/>
            <a:ext cx="190881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913120" y="1992961"/>
            <a:ext cx="190881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Thermal Management</a:t>
            </a:r>
          </a:p>
        </p:txBody>
      </p:sp>
      <p:sp>
        <p:nvSpPr>
          <p:cNvPr id="35" name="Rectangle 34"/>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196.5</a:t>
            </a:r>
          </a:p>
        </p:txBody>
      </p:sp>
      <p:sp>
        <p:nvSpPr>
          <p:cNvPr id="36" name="Rectangle 35"/>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441.2</a:t>
            </a:r>
          </a:p>
        </p:txBody>
      </p:sp>
      <p:sp>
        <p:nvSpPr>
          <p:cNvPr id="37" name="Rectangle 36"/>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8.4%</a:t>
            </a:r>
          </a:p>
        </p:txBody>
      </p:sp>
      <p:sp>
        <p:nvSpPr>
          <p:cNvPr id="38" name="Oval 37"/>
          <p:cNvSpPr/>
          <p:nvPr/>
        </p:nvSpPr>
        <p:spPr>
          <a:xfrm>
            <a:off x="670560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7936230" y="1773916"/>
            <a:ext cx="1908810"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36230" y="1992961"/>
            <a:ext cx="1908810"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Compression &amp; Support</a:t>
            </a:r>
          </a:p>
        </p:txBody>
      </p:sp>
      <p:sp>
        <p:nvSpPr>
          <p:cNvPr id="42" name="Rectangle 41"/>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153.6</a:t>
            </a:r>
          </a:p>
        </p:txBody>
      </p:sp>
      <p:sp>
        <p:nvSpPr>
          <p:cNvPr id="43" name="Rectangle 42"/>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322.1</a:t>
            </a:r>
          </a:p>
        </p:txBody>
      </p:sp>
      <p:sp>
        <p:nvSpPr>
          <p:cNvPr id="44" name="Rectangle 43"/>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7.7%</a:t>
            </a:r>
          </a:p>
        </p:txBody>
      </p:sp>
      <p:sp>
        <p:nvSpPr>
          <p:cNvPr id="45" name="Oval 44"/>
          <p:cNvSpPr/>
          <p:nvPr/>
        </p:nvSpPr>
        <p:spPr>
          <a:xfrm>
            <a:off x="8728710"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9959340" y="1773916"/>
            <a:ext cx="1908810"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959340" y="1992961"/>
            <a:ext cx="1908810"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Abrasion &amp; Tear Resistance</a:t>
            </a:r>
          </a:p>
        </p:txBody>
      </p:sp>
      <p:sp>
        <p:nvSpPr>
          <p:cNvPr id="49" name="Rectangle 48"/>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129.4</a:t>
            </a:r>
          </a:p>
        </p:txBody>
      </p:sp>
      <p:sp>
        <p:nvSpPr>
          <p:cNvPr id="50" name="Rectangle 49"/>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250.0</a:t>
            </a:r>
          </a:p>
        </p:txBody>
      </p:sp>
      <p:sp>
        <p:nvSpPr>
          <p:cNvPr id="51" name="Rectangle 50"/>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6.8%</a:t>
            </a:r>
          </a:p>
        </p:txBody>
      </p:sp>
      <p:sp>
        <p:nvSpPr>
          <p:cNvPr id="52" name="Oval 51"/>
          <p:cNvSpPr/>
          <p:nvPr/>
        </p:nvSpPr>
        <p:spPr>
          <a:xfrm>
            <a:off x="10751820"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53" name="Rounded Rectangle 5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55" name="Rectangle 54"/>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Among performance knitted fabrics by primary performance function, other specialized performance segment is expected to witness the highest CAGR of 9.2% over the forecast period. In terms of value share by primary performance function, the moisture management &amp; quick-dry segment is expected to dominate the market, losing 46 BPS and accounting for 21.1% share by 2036.</a:t>
            </a:r>
          </a:p>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Moisture management &amp; quick-dry segment is projected to register 1.2X higher value than stretch &amp; recovery segment in 2036.</a:t>
            </a:r>
          </a:p>
        </p:txBody>
      </p:sp>
      <p:sp>
        <p:nvSpPr>
          <p:cNvPr id="57" name="Rounded Rectangle 5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9" name="Rectangle 58"/>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Moisture Management &amp; Quick-Dry: </a:t>
            </a:r>
            <a:r>
              <a:rPr sz="1100" b="0">
                <a:solidFill>
                  <a:srgbClr val="252423"/>
                </a:solidFill>
                <a:latin typeface="Segoe UI"/>
              </a:rPr>
              <a:t>22% of 2026 value · 7.4%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Stretch &amp; Recovery: </a:t>
            </a:r>
            <a:r>
              <a:rPr sz="1100" b="0">
                <a:solidFill>
                  <a:srgbClr val="252423"/>
                </a:solidFill>
                <a:latin typeface="Segoe UI"/>
              </a:rPr>
              <a:t>18% of 2026 value · 7.2%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Thermal Management: </a:t>
            </a:r>
            <a:r>
              <a:rPr sz="1100" b="0">
                <a:solidFill>
                  <a:srgbClr val="252423"/>
                </a:solidFill>
                <a:latin typeface="Segoe UI"/>
              </a:rPr>
              <a:t>15% of 2026 value · 8.4% CAGR serves a niche.</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Compression &amp; Support: </a:t>
            </a:r>
            <a:r>
              <a:rPr sz="1100" b="0">
                <a:solidFill>
                  <a:srgbClr val="252423"/>
                </a:solidFill>
                <a:latin typeface="Segoe UI"/>
              </a:rPr>
              <a:t>12% of 2026 value · 7.7% CAGR serves a niche.</a:t>
            </a:r>
          </a:p>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Abrasion &amp; Tear Resistance: </a:t>
            </a:r>
            <a:r>
              <a:rPr sz="1100" b="0">
                <a:solidFill>
                  <a:srgbClr val="252423"/>
                </a:solidFill>
                <a:latin typeface="Segoe UI"/>
              </a:rPr>
              <a:t>10% of 2026 value · 6.8% CAGR serves a niche.</a:t>
            </a:r>
          </a:p>
        </p:txBody>
      </p:sp>
      <p:sp>
        <p:nvSpPr>
          <p:cNvPr id="61" name="Rounded Rectangle 6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63" name="Rectangle 62"/>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Primary Performance Function split shows how demand is distributed across primary performance function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65" name="Rectangle 6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Primary Performance Function segment is projected to grow at a CAGR of 7.6% from 2026 to 2036.</a:t>
            </a:r>
          </a:p>
        </p:txBody>
      </p:sp>
      <p:sp>
        <p:nvSpPr>
          <p:cNvPr id="67" name="TextBox 66"/>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8" name="TextBox 6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Primary Performance Function Segment Outlook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10 sub-segments of Primary Performance Function,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Primary Performance Function segment categorizes the market by primary performance function.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1908810"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1908810"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Antimicrobial &amp; Odor Control</a:t>
            </a:r>
          </a:p>
        </p:txBody>
      </p:sp>
      <p:sp>
        <p:nvSpPr>
          <p:cNvPr id="20" name="Rectangle 19"/>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107.9</a:t>
            </a:r>
          </a:p>
        </p:txBody>
      </p:sp>
      <p:sp>
        <p:nvSpPr>
          <p:cNvPr id="21" name="Rectangle 20"/>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244.2</a:t>
            </a:r>
          </a:p>
        </p:txBody>
      </p:sp>
      <p:sp>
        <p:nvSpPr>
          <p:cNvPr id="22" name="Rectangle 21"/>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8.5%</a:t>
            </a:r>
          </a:p>
        </p:txBody>
      </p:sp>
      <p:sp>
        <p:nvSpPr>
          <p:cNvPr id="23" name="Oval 22"/>
          <p:cNvSpPr/>
          <p:nvPr/>
        </p:nvSpPr>
        <p:spPr>
          <a:xfrm>
            <a:off x="2659380"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24" name="Rounded Rectangle 23"/>
          <p:cNvSpPr/>
          <p:nvPr/>
        </p:nvSpPr>
        <p:spPr>
          <a:xfrm>
            <a:off x="3890010" y="1773916"/>
            <a:ext cx="1908810"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90010" y="1992961"/>
            <a:ext cx="1908810"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Water or Liquid Management</a:t>
            </a:r>
          </a:p>
        </p:txBody>
      </p:sp>
      <p:sp>
        <p:nvSpPr>
          <p:cNvPr id="27" name="Rectangle 26"/>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81.5</a:t>
            </a:r>
          </a:p>
        </p:txBody>
      </p:sp>
      <p:sp>
        <p:nvSpPr>
          <p:cNvPr id="28" name="Rectangle 27"/>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165.5</a:t>
            </a:r>
          </a:p>
        </p:txBody>
      </p:sp>
      <p:sp>
        <p:nvSpPr>
          <p:cNvPr id="29" name="Rectangle 28"/>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7.3%</a:t>
            </a:r>
          </a:p>
        </p:txBody>
      </p:sp>
      <p:sp>
        <p:nvSpPr>
          <p:cNvPr id="30" name="Oval 29"/>
          <p:cNvSpPr/>
          <p:nvPr/>
        </p:nvSpPr>
        <p:spPr>
          <a:xfrm>
            <a:off x="4682490"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31" name="Rounded Rectangle 30"/>
          <p:cNvSpPr/>
          <p:nvPr/>
        </p:nvSpPr>
        <p:spPr>
          <a:xfrm>
            <a:off x="5913120" y="1773916"/>
            <a:ext cx="190881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913120" y="1992961"/>
            <a:ext cx="190881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UV Protection</a:t>
            </a:r>
          </a:p>
        </p:txBody>
      </p:sp>
      <p:sp>
        <p:nvSpPr>
          <p:cNvPr id="34" name="Rectangle 33"/>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55.3</a:t>
            </a:r>
          </a:p>
        </p:txBody>
      </p:sp>
      <p:sp>
        <p:nvSpPr>
          <p:cNvPr id="35" name="Rectangle 34"/>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105.2</a:t>
            </a:r>
          </a:p>
        </p:txBody>
      </p:sp>
      <p:sp>
        <p:nvSpPr>
          <p:cNvPr id="36" name="Rectangle 35"/>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6.7%</a:t>
            </a:r>
          </a:p>
        </p:txBody>
      </p:sp>
      <p:sp>
        <p:nvSpPr>
          <p:cNvPr id="37" name="Oval 36"/>
          <p:cNvSpPr/>
          <p:nvPr/>
        </p:nvSpPr>
        <p:spPr>
          <a:xfrm>
            <a:off x="670560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8</a:t>
            </a:r>
          </a:p>
        </p:txBody>
      </p:sp>
      <p:sp>
        <p:nvSpPr>
          <p:cNvPr id="38" name="Rounded Rectangle 37"/>
          <p:cNvSpPr/>
          <p:nvPr/>
        </p:nvSpPr>
        <p:spPr>
          <a:xfrm>
            <a:off x="7936230" y="1773916"/>
            <a:ext cx="190881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936230" y="1992961"/>
            <a:ext cx="190881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Flame &amp; Heat Resistance</a:t>
            </a:r>
          </a:p>
        </p:txBody>
      </p:sp>
      <p:sp>
        <p:nvSpPr>
          <p:cNvPr id="41" name="Rectangle 40"/>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27.2</a:t>
            </a:r>
          </a:p>
        </p:txBody>
      </p:sp>
      <p:sp>
        <p:nvSpPr>
          <p:cNvPr id="42" name="Rectangle 41"/>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59.8</a:t>
            </a:r>
          </a:p>
        </p:txBody>
      </p:sp>
      <p:sp>
        <p:nvSpPr>
          <p:cNvPr id="43" name="Rectangle 42"/>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8.2%</a:t>
            </a:r>
          </a:p>
        </p:txBody>
      </p:sp>
      <p:sp>
        <p:nvSpPr>
          <p:cNvPr id="44" name="Oval 43"/>
          <p:cNvSpPr/>
          <p:nvPr/>
        </p:nvSpPr>
        <p:spPr>
          <a:xfrm>
            <a:off x="872871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9</a:t>
            </a:r>
          </a:p>
        </p:txBody>
      </p:sp>
      <p:sp>
        <p:nvSpPr>
          <p:cNvPr id="45" name="Rounded Rectangle 44"/>
          <p:cNvSpPr/>
          <p:nvPr/>
        </p:nvSpPr>
        <p:spPr>
          <a:xfrm>
            <a:off x="9959340" y="1773916"/>
            <a:ext cx="190881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959340" y="1992961"/>
            <a:ext cx="190881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Other Specialized Performance</a:t>
            </a:r>
          </a:p>
        </p:txBody>
      </p:sp>
      <p:sp>
        <p:nvSpPr>
          <p:cNvPr id="48" name="Rectangle 47"/>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16.7</a:t>
            </a:r>
          </a:p>
        </p:txBody>
      </p:sp>
      <p:sp>
        <p:nvSpPr>
          <p:cNvPr id="49" name="Rectangle 48"/>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40.2</a:t>
            </a:r>
          </a:p>
        </p:txBody>
      </p:sp>
      <p:sp>
        <p:nvSpPr>
          <p:cNvPr id="50" name="Rectangle 49"/>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9.2%</a:t>
            </a:r>
          </a:p>
        </p:txBody>
      </p:sp>
      <p:sp>
        <p:nvSpPr>
          <p:cNvPr id="51" name="Oval 50"/>
          <p:cNvSpPr/>
          <p:nvPr/>
        </p:nvSpPr>
        <p:spPr>
          <a:xfrm>
            <a:off x="1075182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10</a:t>
            </a:r>
          </a:p>
        </p:txBody>
      </p:sp>
      <p:sp>
        <p:nvSpPr>
          <p:cNvPr id="52" name="Rounded Rectangle 51"/>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4" name="Rectangle 53"/>
          <p:cNvSpPr/>
          <p:nvPr/>
        </p:nvSpPr>
        <p:spPr>
          <a:xfrm>
            <a:off x="457200" y="4146897"/>
            <a:ext cx="112776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Antimicrobial &amp; Odor Control: </a:t>
            </a:r>
            <a:r>
              <a:rPr sz="1100" b="0">
                <a:solidFill>
                  <a:srgbClr val="252423"/>
                </a:solidFill>
                <a:latin typeface="Segoe UI"/>
              </a:rPr>
              <a:t>8% of 2026 value · 8.5% CAGR serves a niche.</a:t>
            </a:r>
          </a:p>
          <a:p>
            <a:pPr algn="l">
              <a:lnSpc>
                <a:spcPct val="110000"/>
              </a:lnSpc>
              <a:spcBef>
                <a:spcPts val="0"/>
              </a:spcBef>
              <a:spcAft>
                <a:spcPts val="500"/>
              </a:spcAft>
            </a:pPr>
            <a:r>
              <a:rPr sz="1100" b="0">
                <a:solidFill>
                  <a:srgbClr val="2C6E7F"/>
                </a:solidFill>
                <a:latin typeface="Segoe UI"/>
              </a:rPr>
              <a:t>●  </a:t>
            </a:r>
            <a:r>
              <a:rPr sz="1100" b="1">
                <a:solidFill>
                  <a:srgbClr val="2C6E7F"/>
                </a:solidFill>
                <a:latin typeface="Segoe UI"/>
              </a:rPr>
              <a:t>Water or Liquid Management: </a:t>
            </a:r>
            <a:r>
              <a:rPr sz="1100" b="0">
                <a:solidFill>
                  <a:srgbClr val="252423"/>
                </a:solidFill>
                <a:latin typeface="Segoe UI"/>
              </a:rPr>
              <a:t>6% of 2026 value · 7.3% CAGR serves a niche.</a:t>
            </a:r>
          </a:p>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UV Protection: </a:t>
            </a:r>
            <a:r>
              <a:rPr sz="1100" b="0">
                <a:solidFill>
                  <a:srgbClr val="252423"/>
                </a:solidFill>
                <a:latin typeface="Segoe UI"/>
              </a:rPr>
              <a:t>4% of 2026 value · 6.7% CAGR serves a niche.</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Flame &amp; Heat Resistance: </a:t>
            </a:r>
            <a:r>
              <a:rPr sz="1100" b="0">
                <a:solidFill>
                  <a:srgbClr val="252423"/>
                </a:solidFill>
                <a:latin typeface="Segoe UI"/>
              </a:rPr>
              <a:t>2% of 2026 value · 8.2%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Other Specialized Performance: </a:t>
            </a:r>
            <a:r>
              <a:rPr sz="1100" b="0">
                <a:solidFill>
                  <a:srgbClr val="252423"/>
                </a:solidFill>
                <a:latin typeface="Segoe UI"/>
              </a:rPr>
              <a:t>1% of 2026 value · 9.2% CAGR grows fastest.</a:t>
            </a:r>
          </a:p>
        </p:txBody>
      </p:sp>
      <p:sp>
        <p:nvSpPr>
          <p:cNvPr id="56" name="TextBox 55"/>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57" name="TextBox 5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Value &amp; Share Shift, By Primary Performance Function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Primary Performance Function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North America</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Value Composition, By Primary Performance Function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705905"/>
            <a:ext cx="85725" cy="85725"/>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170114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62494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Other Specialized Performance</a:t>
            </a:r>
          </a:p>
        </p:txBody>
      </p:sp>
      <p:sp>
        <p:nvSpPr>
          <p:cNvPr id="17" name="BPS Value 1"/>
          <p:cNvSpPr txBox="1"/>
          <p:nvPr/>
        </p:nvSpPr>
        <p:spPr>
          <a:xfrm>
            <a:off x="6896100" y="1686855"/>
            <a:ext cx="514350" cy="123825"/>
          </a:xfrm>
          <a:prstGeom prst="rect">
            <a:avLst/>
          </a:prstGeom>
          <a:noFill/>
        </p:spPr>
        <p:txBody>
          <a:bodyPr wrap="none" lIns="0" rIns="0" tIns="0" bIns="0" anchor="ctr">
            <a:spAutoFit/>
          </a:bodyPr>
          <a:lstStyle/>
          <a:p>
            <a:pPr algn="r"/>
            <a:r>
              <a:rPr sz="900" b="1">
                <a:solidFill>
                  <a:srgbClr val="1E8E3E"/>
                </a:solidFill>
                <a:latin typeface="Segoe UI"/>
              </a:rPr>
              <a:t>+21</a:t>
            </a:r>
          </a:p>
        </p:txBody>
      </p:sp>
      <p:sp>
        <p:nvSpPr>
          <p:cNvPr id="18" name="FMI Legend Chip"/>
          <p:cNvSpPr/>
          <p:nvPr/>
        </p:nvSpPr>
        <p:spPr>
          <a:xfrm>
            <a:off x="4928997" y="1829730"/>
            <a:ext cx="85725" cy="85725"/>
          </a:xfrm>
          <a:prstGeom prst="rect">
            <a:avLst/>
          </a:prstGeom>
          <a:solidFill>
            <a:srgbClr val="CF7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1824967"/>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174876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Flame &amp; Heat Resistance</a:t>
            </a:r>
          </a:p>
        </p:txBody>
      </p:sp>
      <p:sp>
        <p:nvSpPr>
          <p:cNvPr id="21" name="BPS Value 2"/>
          <p:cNvSpPr txBox="1"/>
          <p:nvPr/>
        </p:nvSpPr>
        <p:spPr>
          <a:xfrm>
            <a:off x="6896100" y="1810680"/>
            <a:ext cx="514350" cy="123825"/>
          </a:xfrm>
          <a:prstGeom prst="rect">
            <a:avLst/>
          </a:prstGeom>
          <a:noFill/>
        </p:spPr>
        <p:txBody>
          <a:bodyPr wrap="none" lIns="0" rIns="0" tIns="0" bIns="0" anchor="ctr">
            <a:spAutoFit/>
          </a:bodyPr>
          <a:lstStyle/>
          <a:p>
            <a:pPr algn="r"/>
            <a:r>
              <a:rPr sz="900" b="1">
                <a:solidFill>
                  <a:srgbClr val="1E8E3E"/>
                </a:solidFill>
                <a:latin typeface="Segoe UI"/>
              </a:rPr>
              <a:t>+12</a:t>
            </a:r>
          </a:p>
        </p:txBody>
      </p:sp>
      <p:sp>
        <p:nvSpPr>
          <p:cNvPr id="22" name="FMI Legend Chip"/>
          <p:cNvSpPr/>
          <p:nvPr/>
        </p:nvSpPr>
        <p:spPr>
          <a:xfrm>
            <a:off x="4928997" y="1953555"/>
            <a:ext cx="85725" cy="85725"/>
          </a:xfrm>
          <a:prstGeom prst="rect">
            <a:avLst/>
          </a:prstGeom>
          <a:solidFill>
            <a:srgbClr val="7D7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rot="10800000">
            <a:off x="5090922" y="194879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187259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UV Protection</a:t>
            </a:r>
          </a:p>
        </p:txBody>
      </p:sp>
      <p:sp>
        <p:nvSpPr>
          <p:cNvPr id="25" name="BPS Value 3"/>
          <p:cNvSpPr txBox="1"/>
          <p:nvPr/>
        </p:nvSpPr>
        <p:spPr>
          <a:xfrm>
            <a:off x="6896100" y="1934505"/>
            <a:ext cx="514350" cy="123825"/>
          </a:xfrm>
          <a:prstGeom prst="rect">
            <a:avLst/>
          </a:prstGeom>
          <a:noFill/>
        </p:spPr>
        <p:txBody>
          <a:bodyPr wrap="none" lIns="0" rIns="0" tIns="0" bIns="0" anchor="ctr">
            <a:spAutoFit/>
          </a:bodyPr>
          <a:lstStyle/>
          <a:p>
            <a:pPr algn="r"/>
            <a:r>
              <a:rPr sz="900" b="1">
                <a:solidFill>
                  <a:srgbClr val="D64545"/>
                </a:solidFill>
                <a:latin typeface="Segoe UI"/>
              </a:rPr>
              <a:t>-37</a:t>
            </a:r>
          </a:p>
        </p:txBody>
      </p:sp>
      <p:sp>
        <p:nvSpPr>
          <p:cNvPr id="26" name="FMI Legend Chip"/>
          <p:cNvSpPr/>
          <p:nvPr/>
        </p:nvSpPr>
        <p:spPr>
          <a:xfrm>
            <a:off x="4928997" y="2167256"/>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rot="10800000">
            <a:off x="5090922" y="2162493"/>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208629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Water or Liquid Management</a:t>
            </a:r>
          </a:p>
        </p:txBody>
      </p:sp>
      <p:sp>
        <p:nvSpPr>
          <p:cNvPr id="29" name="BPS Value 4"/>
          <p:cNvSpPr txBox="1"/>
          <p:nvPr/>
        </p:nvSpPr>
        <p:spPr>
          <a:xfrm>
            <a:off x="6896100" y="2148206"/>
            <a:ext cx="514350" cy="123825"/>
          </a:xfrm>
          <a:prstGeom prst="rect">
            <a:avLst/>
          </a:prstGeom>
          <a:noFill/>
        </p:spPr>
        <p:txBody>
          <a:bodyPr wrap="none" lIns="0" rIns="0" tIns="0" bIns="0" anchor="ctr">
            <a:spAutoFit/>
          </a:bodyPr>
          <a:lstStyle/>
          <a:p>
            <a:pPr algn="r"/>
            <a:r>
              <a:rPr sz="900" b="1">
                <a:solidFill>
                  <a:srgbClr val="D64545"/>
                </a:solidFill>
                <a:latin typeface="Segoe UI"/>
              </a:rPr>
              <a:t>-15</a:t>
            </a:r>
          </a:p>
        </p:txBody>
      </p:sp>
      <p:sp>
        <p:nvSpPr>
          <p:cNvPr id="30" name="FMI Legend Chip"/>
          <p:cNvSpPr/>
          <p:nvPr/>
        </p:nvSpPr>
        <p:spPr>
          <a:xfrm>
            <a:off x="4928997" y="2520022"/>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5090922" y="251525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243905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Antimicrobial &amp; Odor Control</a:t>
            </a:r>
          </a:p>
        </p:txBody>
      </p:sp>
      <p:sp>
        <p:nvSpPr>
          <p:cNvPr id="33" name="BPS Value 5"/>
          <p:cNvSpPr txBox="1"/>
          <p:nvPr/>
        </p:nvSpPr>
        <p:spPr>
          <a:xfrm>
            <a:off x="6896100" y="2500972"/>
            <a:ext cx="514350" cy="123825"/>
          </a:xfrm>
          <a:prstGeom prst="rect">
            <a:avLst/>
          </a:prstGeom>
          <a:noFill/>
        </p:spPr>
        <p:txBody>
          <a:bodyPr wrap="none" lIns="0" rIns="0" tIns="0" bIns="0" anchor="ctr">
            <a:spAutoFit/>
          </a:bodyPr>
          <a:lstStyle/>
          <a:p>
            <a:pPr algn="r"/>
            <a:r>
              <a:rPr sz="900" b="1">
                <a:solidFill>
                  <a:srgbClr val="1E8E3E"/>
                </a:solidFill>
                <a:latin typeface="Segoe UI"/>
              </a:rPr>
              <a:t>+75</a:t>
            </a:r>
          </a:p>
        </p:txBody>
      </p:sp>
      <p:sp>
        <p:nvSpPr>
          <p:cNvPr id="34" name="FMI Legend Chip"/>
          <p:cNvSpPr/>
          <p:nvPr/>
        </p:nvSpPr>
        <p:spPr>
          <a:xfrm>
            <a:off x="4928997" y="2945535"/>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rot="10800000">
            <a:off x="5090922" y="2940773"/>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286457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Abrasion &amp; Tear Resistance</a:t>
            </a:r>
          </a:p>
        </p:txBody>
      </p:sp>
      <p:sp>
        <p:nvSpPr>
          <p:cNvPr id="37" name="BPS Value 6"/>
          <p:cNvSpPr txBox="1"/>
          <p:nvPr/>
        </p:nvSpPr>
        <p:spPr>
          <a:xfrm>
            <a:off x="6896100" y="2926485"/>
            <a:ext cx="514350" cy="123825"/>
          </a:xfrm>
          <a:prstGeom prst="rect">
            <a:avLst/>
          </a:prstGeom>
          <a:noFill/>
        </p:spPr>
        <p:txBody>
          <a:bodyPr wrap="none" lIns="0" rIns="0" tIns="0" bIns="0" anchor="ctr">
            <a:spAutoFit/>
          </a:bodyPr>
          <a:lstStyle/>
          <a:p>
            <a:pPr algn="r"/>
            <a:r>
              <a:rPr sz="900" b="1">
                <a:solidFill>
                  <a:srgbClr val="D64545"/>
                </a:solidFill>
                <a:latin typeface="Segoe UI"/>
              </a:rPr>
              <a:t>-72</a:t>
            </a:r>
          </a:p>
        </p:txBody>
      </p:sp>
      <p:sp>
        <p:nvSpPr>
          <p:cNvPr id="38" name="FMI Legend Chip"/>
          <p:cNvSpPr/>
          <p:nvPr/>
        </p:nvSpPr>
        <p:spPr>
          <a:xfrm>
            <a:off x="4928997" y="3438102"/>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a:off x="5090922" y="3433340"/>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5233797" y="335714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Compression &amp; Support</a:t>
            </a:r>
          </a:p>
        </p:txBody>
      </p:sp>
      <p:sp>
        <p:nvSpPr>
          <p:cNvPr id="41" name="BPS Value 7"/>
          <p:cNvSpPr txBox="1"/>
          <p:nvPr/>
        </p:nvSpPr>
        <p:spPr>
          <a:xfrm>
            <a:off x="6896100" y="3419052"/>
            <a:ext cx="514350" cy="123825"/>
          </a:xfrm>
          <a:prstGeom prst="rect">
            <a:avLst/>
          </a:prstGeom>
          <a:noFill/>
        </p:spPr>
        <p:txBody>
          <a:bodyPr wrap="none" lIns="0" rIns="0" tIns="0" bIns="0" anchor="ctr">
            <a:spAutoFit/>
          </a:bodyPr>
          <a:lstStyle/>
          <a:p>
            <a:pPr algn="r"/>
            <a:r>
              <a:rPr sz="900" b="1">
                <a:solidFill>
                  <a:srgbClr val="1E8E3E"/>
                </a:solidFill>
                <a:latin typeface="Segoe UI"/>
              </a:rPr>
              <a:t>+10</a:t>
            </a:r>
          </a:p>
        </p:txBody>
      </p:sp>
      <p:sp>
        <p:nvSpPr>
          <p:cNvPr id="42" name="FMI Legend Chip"/>
          <p:cNvSpPr/>
          <p:nvPr/>
        </p:nvSpPr>
        <p:spPr>
          <a:xfrm>
            <a:off x="4928997" y="4095287"/>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Isosceles Triangle 42"/>
          <p:cNvSpPr/>
          <p:nvPr/>
        </p:nvSpPr>
        <p:spPr>
          <a:xfrm>
            <a:off x="5090922" y="4090525"/>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PS Name 8"/>
          <p:cNvSpPr txBox="1"/>
          <p:nvPr/>
        </p:nvSpPr>
        <p:spPr>
          <a:xfrm>
            <a:off x="5233797" y="401432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Thermal Management</a:t>
            </a:r>
          </a:p>
        </p:txBody>
      </p:sp>
      <p:sp>
        <p:nvSpPr>
          <p:cNvPr id="45" name="BPS Value 8"/>
          <p:cNvSpPr txBox="1"/>
          <p:nvPr/>
        </p:nvSpPr>
        <p:spPr>
          <a:xfrm>
            <a:off x="6896100" y="4076237"/>
            <a:ext cx="514350" cy="123825"/>
          </a:xfrm>
          <a:prstGeom prst="rect">
            <a:avLst/>
          </a:prstGeom>
          <a:noFill/>
        </p:spPr>
        <p:txBody>
          <a:bodyPr wrap="none" lIns="0" rIns="0" tIns="0" bIns="0" anchor="ctr">
            <a:spAutoFit/>
          </a:bodyPr>
          <a:lstStyle/>
          <a:p>
            <a:pPr algn="r"/>
            <a:r>
              <a:rPr sz="900" b="1">
                <a:solidFill>
                  <a:srgbClr val="1E8E3E"/>
                </a:solidFill>
                <a:latin typeface="Segoe UI"/>
              </a:rPr>
              <a:t>+122</a:t>
            </a:r>
          </a:p>
        </p:txBody>
      </p:sp>
      <p:sp>
        <p:nvSpPr>
          <p:cNvPr id="46" name="FMI Legend Chip"/>
          <p:cNvSpPr/>
          <p:nvPr/>
        </p:nvSpPr>
        <p:spPr>
          <a:xfrm>
            <a:off x="4928997" y="4877608"/>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Isosceles Triangle 46"/>
          <p:cNvSpPr/>
          <p:nvPr/>
        </p:nvSpPr>
        <p:spPr>
          <a:xfrm rot="10800000">
            <a:off x="5090922" y="487284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PS Name 9"/>
          <p:cNvSpPr txBox="1"/>
          <p:nvPr/>
        </p:nvSpPr>
        <p:spPr>
          <a:xfrm>
            <a:off x="5233797" y="479664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Stretch &amp; Recovery</a:t>
            </a:r>
          </a:p>
        </p:txBody>
      </p:sp>
      <p:sp>
        <p:nvSpPr>
          <p:cNvPr id="49" name="BPS Value 9"/>
          <p:cNvSpPr txBox="1"/>
          <p:nvPr/>
        </p:nvSpPr>
        <p:spPr>
          <a:xfrm>
            <a:off x="6896100" y="4858558"/>
            <a:ext cx="514350" cy="123825"/>
          </a:xfrm>
          <a:prstGeom prst="rect">
            <a:avLst/>
          </a:prstGeom>
          <a:noFill/>
        </p:spPr>
        <p:txBody>
          <a:bodyPr wrap="none" lIns="0" rIns="0" tIns="0" bIns="0" anchor="ctr">
            <a:spAutoFit/>
          </a:bodyPr>
          <a:lstStyle/>
          <a:p>
            <a:pPr algn="r"/>
            <a:r>
              <a:rPr sz="900" b="1">
                <a:solidFill>
                  <a:srgbClr val="D64545"/>
                </a:solidFill>
                <a:latin typeface="Segoe UI"/>
              </a:rPr>
              <a:t>-70</a:t>
            </a:r>
          </a:p>
        </p:txBody>
      </p:sp>
      <p:sp>
        <p:nvSpPr>
          <p:cNvPr id="50" name="FMI Legend Chip"/>
          <p:cNvSpPr/>
          <p:nvPr/>
        </p:nvSpPr>
        <p:spPr>
          <a:xfrm>
            <a:off x="4928997" y="5761853"/>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Isosceles Triangle 50"/>
          <p:cNvSpPr/>
          <p:nvPr/>
        </p:nvSpPr>
        <p:spPr>
          <a:xfrm rot="10800000">
            <a:off x="5090922" y="575709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PS Name 10"/>
          <p:cNvSpPr txBox="1"/>
          <p:nvPr/>
        </p:nvSpPr>
        <p:spPr>
          <a:xfrm>
            <a:off x="5233797" y="568089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Moisture Management &amp; Quick-Dry</a:t>
            </a:r>
          </a:p>
        </p:txBody>
      </p:sp>
      <p:sp>
        <p:nvSpPr>
          <p:cNvPr id="53" name="BPS Value 10"/>
          <p:cNvSpPr txBox="1"/>
          <p:nvPr/>
        </p:nvSpPr>
        <p:spPr>
          <a:xfrm>
            <a:off x="6896100" y="5742803"/>
            <a:ext cx="514350" cy="123825"/>
          </a:xfrm>
          <a:prstGeom prst="rect">
            <a:avLst/>
          </a:prstGeom>
          <a:noFill/>
        </p:spPr>
        <p:txBody>
          <a:bodyPr wrap="none" lIns="0" rIns="0" tIns="0" bIns="0" anchor="ctr">
            <a:spAutoFit/>
          </a:bodyPr>
          <a:lstStyle/>
          <a:p>
            <a:pPr algn="r"/>
            <a:r>
              <a:rPr sz="900" b="1">
                <a:solidFill>
                  <a:srgbClr val="D64545"/>
                </a:solidFill>
                <a:latin typeface="Segoe UI"/>
              </a:rPr>
              <a:t>-46</a:t>
            </a:r>
          </a:p>
        </p:txBody>
      </p:sp>
      <p:sp>
        <p:nvSpPr>
          <p:cNvPr id="54" name="Rectangle 53"/>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North America Read-out, By Primary Performance Function</a:t>
            </a:r>
          </a:p>
        </p:txBody>
      </p:sp>
      <p:sp>
        <p:nvSpPr>
          <p:cNvPr id="56" name="Rectangle 55"/>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primary performance function, other specialized performance segment is expected to witness the highest CAGR of 9.2% over the forecast period. In terms of value share by primary performance function, the moisture management &amp; quick-dry segment is expected to dominate the market, losing 46 BPS and accounting for 21.1% share by 2036.</a:t>
            </a:r>
          </a:p>
          <a:p>
            <a:pPr algn="l">
              <a:lnSpc>
                <a:spcPct val="110000"/>
              </a:lnSpc>
              <a:spcBef>
                <a:spcPts val="0"/>
              </a:spcBef>
              <a:spcAft>
                <a:spcPts val="500"/>
              </a:spcAft>
            </a:pPr>
            <a:r>
              <a:rPr sz="1150" b="0">
                <a:solidFill>
                  <a:srgbClr val="252423"/>
                </a:solidFill>
                <a:latin typeface="Segoe UI"/>
              </a:rPr>
              <a:t>The abrasion &amp; tear resistance segment is expected to lose 72 BPS over the forecast period to account for 9.4% share by 2036.</a:t>
            </a:r>
          </a:p>
        </p:txBody>
      </p:sp>
      <p:sp>
        <p:nvSpPr>
          <p:cNvPr id="58" name="TextBox 5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Segment Outlook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North America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segment categorizes the market by end-use application.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Sports &amp; Activewear</a:t>
            </a:r>
          </a:p>
        </p:txBody>
      </p:sp>
      <p:sp>
        <p:nvSpPr>
          <p:cNvPr id="21" name="Rectangle 20"/>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282.4</a:t>
            </a:r>
          </a:p>
        </p:txBody>
      </p:sp>
      <p:sp>
        <p:nvSpPr>
          <p:cNvPr id="22" name="Rectangle 21"/>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590.2</a:t>
            </a:r>
          </a:p>
        </p:txBody>
      </p:sp>
      <p:sp>
        <p:nvSpPr>
          <p:cNvPr id="23" name="Rectangle 22"/>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7.7%</a:t>
            </a:r>
          </a:p>
        </p:txBody>
      </p:sp>
      <p:sp>
        <p:nvSpPr>
          <p:cNvPr id="24" name="Oval 23"/>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Intimate &amp; Bodywear</a:t>
            </a:r>
          </a:p>
        </p:txBody>
      </p:sp>
      <p:sp>
        <p:nvSpPr>
          <p:cNvPr id="28" name="Rectangle 27"/>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198.3</a:t>
            </a:r>
          </a:p>
        </p:txBody>
      </p:sp>
      <p:sp>
        <p:nvSpPr>
          <p:cNvPr id="29" name="Rectangle 28"/>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368.6</a:t>
            </a:r>
          </a:p>
        </p:txBody>
      </p:sp>
      <p:sp>
        <p:nvSpPr>
          <p:cNvPr id="30" name="Rectangle 29"/>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6.4%</a:t>
            </a:r>
          </a:p>
        </p:txBody>
      </p:sp>
      <p:sp>
        <p:nvSpPr>
          <p:cNvPr id="31" name="Oval 30"/>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Protective &amp; Occupational Wear</a:t>
            </a:r>
          </a:p>
        </p:txBody>
      </p:sp>
      <p:sp>
        <p:nvSpPr>
          <p:cNvPr id="35" name="Rectangle 34"/>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192.2</a:t>
            </a:r>
          </a:p>
        </p:txBody>
      </p:sp>
      <p:sp>
        <p:nvSpPr>
          <p:cNvPr id="36" name="Rectangle 35"/>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408.4</a:t>
            </a:r>
          </a:p>
        </p:txBody>
      </p:sp>
      <p:sp>
        <p:nvSpPr>
          <p:cNvPr id="37" name="Rectangle 36"/>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7.8%</a:t>
            </a:r>
          </a:p>
        </p:txBody>
      </p:sp>
      <p:sp>
        <p:nvSpPr>
          <p:cNvPr id="38" name="Oval 37"/>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Medical &amp; Healthcare</a:t>
            </a:r>
          </a:p>
        </p:txBody>
      </p:sp>
      <p:sp>
        <p:nvSpPr>
          <p:cNvPr id="42" name="Rectangle 41"/>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178.4</a:t>
            </a:r>
          </a:p>
        </p:txBody>
      </p:sp>
      <p:sp>
        <p:nvSpPr>
          <p:cNvPr id="43" name="Rectangle 42"/>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389.3</a:t>
            </a:r>
          </a:p>
        </p:txBody>
      </p:sp>
      <p:sp>
        <p:nvSpPr>
          <p:cNvPr id="44" name="Rectangle 43"/>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8.1%</a:t>
            </a:r>
          </a:p>
        </p:txBody>
      </p:sp>
      <p:sp>
        <p:nvSpPr>
          <p:cNvPr id="45" name="Oval 44"/>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8" name="Rectangle 47"/>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End-Use application, industrial &amp; technical applications segment is expected to witness the highest CAGR of 8.4% over the forecast period. In terms of value share by End-Use application, the sports &amp; activewear segment is expected to dominate the market, gaining 11 BPS and accounting for 22.2%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Sports &amp; activewear segment is projected to register 1.4X higher value than protective &amp; occupational wear segment in 2036.</a:t>
            </a:r>
          </a:p>
        </p:txBody>
      </p:sp>
      <p:sp>
        <p:nvSpPr>
          <p:cNvPr id="50" name="Rounded Rectangle 49"/>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2" name="Rectangle 51"/>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Sports &amp; Activewear: </a:t>
            </a:r>
            <a:r>
              <a:rPr sz="1100" b="0">
                <a:solidFill>
                  <a:srgbClr val="252423"/>
                </a:solidFill>
                <a:latin typeface="Segoe UI"/>
              </a:rPr>
              <a:t>22% of 2026 value · 7.7%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Intimate &amp; Bodywear: </a:t>
            </a:r>
            <a:r>
              <a:rPr sz="1100" b="0">
                <a:solidFill>
                  <a:srgbClr val="252423"/>
                </a:solidFill>
                <a:latin typeface="Segoe UI"/>
              </a:rPr>
              <a:t>16% of 2026 value · 6.4%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Protective &amp; Occupational Wear: </a:t>
            </a:r>
            <a:r>
              <a:rPr sz="1100" b="0">
                <a:solidFill>
                  <a:srgbClr val="252423"/>
                </a:solidFill>
                <a:latin typeface="Segoe UI"/>
              </a:rPr>
              <a:t>15% of 2026 value · 7.8% CAGR serves a niche.</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Medical &amp; Healthcare: </a:t>
            </a:r>
            <a:r>
              <a:rPr sz="1100" b="0">
                <a:solidFill>
                  <a:srgbClr val="252423"/>
                </a:solidFill>
                <a:latin typeface="Segoe UI"/>
              </a:rPr>
              <a:t>14% of 2026 value · 8.1% CAGR serves a niche.</a:t>
            </a:r>
          </a:p>
        </p:txBody>
      </p:sp>
      <p:sp>
        <p:nvSpPr>
          <p:cNvPr id="54" name="Rounded Rectangle 53"/>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6" name="Rectangle 55"/>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End-Use Application split shows how demand is distributed across end-use application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8" name="Rectangle 57"/>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End-Use Application segment is projected to grow at a CAGR of 7.6% from 2026 to 2036.</a:t>
            </a:r>
          </a:p>
        </p:txBody>
      </p:sp>
      <p:sp>
        <p:nvSpPr>
          <p:cNvPr id="60" name="TextBox 59"/>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1" name="TextBox 6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Segment Outlook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segment categorizes the market by end-use application.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3257550"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3257550"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Industrial &amp; Technical Applicatio…</a:t>
            </a:r>
          </a:p>
        </p:txBody>
      </p:sp>
      <p:sp>
        <p:nvSpPr>
          <p:cNvPr id="20" name="Rectangle 19"/>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170.7</a:t>
            </a:r>
          </a:p>
        </p:txBody>
      </p:sp>
      <p:sp>
        <p:nvSpPr>
          <p:cNvPr id="21" name="Rectangle 20"/>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383.0</a:t>
            </a:r>
          </a:p>
        </p:txBody>
      </p:sp>
      <p:sp>
        <p:nvSpPr>
          <p:cNvPr id="22" name="Rectangle 21"/>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8.4%</a:t>
            </a:r>
          </a:p>
        </p:txBody>
      </p:sp>
      <p:sp>
        <p:nvSpPr>
          <p:cNvPr id="23" name="Oval 22"/>
          <p:cNvSpPr/>
          <p:nvPr/>
        </p:nvSpPr>
        <p:spPr>
          <a:xfrm>
            <a:off x="3333750"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24" name="Rounded Rectangle 23"/>
          <p:cNvSpPr/>
          <p:nvPr/>
        </p:nvSpPr>
        <p:spPr>
          <a:xfrm>
            <a:off x="5238750" y="1773916"/>
            <a:ext cx="3257550"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38750" y="1992961"/>
            <a:ext cx="3257550"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Automotive &amp; Transportation</a:t>
            </a:r>
          </a:p>
        </p:txBody>
      </p:sp>
      <p:sp>
        <p:nvSpPr>
          <p:cNvPr id="27" name="Rectangle 26"/>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130.1</a:t>
            </a:r>
          </a:p>
        </p:txBody>
      </p:sp>
      <p:sp>
        <p:nvSpPr>
          <p:cNvPr id="28" name="Rectangle 27"/>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261.9</a:t>
            </a:r>
          </a:p>
        </p:txBody>
      </p:sp>
      <p:sp>
        <p:nvSpPr>
          <p:cNvPr id="29" name="Rectangle 28"/>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7.2%</a:t>
            </a:r>
          </a:p>
        </p:txBody>
      </p:sp>
      <p:sp>
        <p:nvSpPr>
          <p:cNvPr id="30" name="Oval 29"/>
          <p:cNvSpPr/>
          <p:nvPr/>
        </p:nvSpPr>
        <p:spPr>
          <a:xfrm>
            <a:off x="6705600"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31" name="Rounded Rectangle 30"/>
          <p:cNvSpPr/>
          <p:nvPr/>
        </p:nvSpPr>
        <p:spPr>
          <a:xfrm>
            <a:off x="8610600" y="1773916"/>
            <a:ext cx="3257550"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10600" y="1992961"/>
            <a:ext cx="3257550"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Footwear</a:t>
            </a:r>
          </a:p>
        </p:txBody>
      </p:sp>
      <p:sp>
        <p:nvSpPr>
          <p:cNvPr id="34" name="Rectangle 33"/>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124.5</a:t>
            </a:r>
          </a:p>
        </p:txBody>
      </p:sp>
      <p:sp>
        <p:nvSpPr>
          <p:cNvPr id="35" name="Rectangle 34"/>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253.8</a:t>
            </a:r>
          </a:p>
        </p:txBody>
      </p:sp>
      <p:sp>
        <p:nvSpPr>
          <p:cNvPr id="36" name="Rectangle 35"/>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7.4%</a:t>
            </a:r>
          </a:p>
        </p:txBody>
      </p:sp>
      <p:sp>
        <p:nvSpPr>
          <p:cNvPr id="37" name="Oval 36"/>
          <p:cNvSpPr/>
          <p:nvPr/>
        </p:nvSpPr>
        <p:spPr>
          <a:xfrm>
            <a:off x="10077450"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38" name="Rounded Rectangle 37"/>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0" name="Rectangle 39"/>
          <p:cNvSpPr/>
          <p:nvPr/>
        </p:nvSpPr>
        <p:spPr>
          <a:xfrm>
            <a:off x="457200" y="4146897"/>
            <a:ext cx="112776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Industrial &amp; Technical Applications: </a:t>
            </a:r>
            <a:r>
              <a:rPr sz="1100" b="0">
                <a:solidFill>
                  <a:srgbClr val="252423"/>
                </a:solidFill>
                <a:latin typeface="Segoe UI"/>
              </a:rPr>
              <a:t>13% of 2026 value · 8.4% CAGR grows fastest.</a:t>
            </a:r>
          </a:p>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Automotive &amp; Transportation: </a:t>
            </a:r>
            <a:r>
              <a:rPr sz="1100" b="0">
                <a:solidFill>
                  <a:srgbClr val="252423"/>
                </a:solidFill>
                <a:latin typeface="Segoe UI"/>
              </a:rPr>
              <a:t>10% of 2026 value · 7.2% CAGR serves a niche.</a:t>
            </a:r>
          </a:p>
          <a:p>
            <a:pPr algn="l">
              <a:lnSpc>
                <a:spcPct val="110000"/>
              </a:lnSpc>
              <a:spcBef>
                <a:spcPts val="0"/>
              </a:spcBef>
              <a:spcAft>
                <a:spcPts val="500"/>
              </a:spcAft>
            </a:pPr>
            <a:r>
              <a:rPr sz="1100" b="0">
                <a:solidFill>
                  <a:srgbClr val="2C6E7F"/>
                </a:solidFill>
                <a:latin typeface="Segoe UI"/>
              </a:rPr>
              <a:t>●  </a:t>
            </a:r>
            <a:r>
              <a:rPr sz="1100" b="1">
                <a:solidFill>
                  <a:srgbClr val="2C6E7F"/>
                </a:solidFill>
                <a:latin typeface="Segoe UI"/>
              </a:rPr>
              <a:t>Footwear: </a:t>
            </a:r>
            <a:r>
              <a:rPr sz="1100" b="0">
                <a:solidFill>
                  <a:srgbClr val="252423"/>
                </a:solidFill>
                <a:latin typeface="Segoe UI"/>
              </a:rPr>
              <a:t>10% of 2026 value · 7.4% CAGR serves a niche.</a:t>
            </a:r>
          </a:p>
        </p:txBody>
      </p:sp>
      <p:sp>
        <p:nvSpPr>
          <p:cNvPr id="42" name="TextBox 41"/>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3" name="TextBox 4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Value &amp; Share Shift, By End-Use Application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End-Use Application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North America</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Value Composition, By End-Use Application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889773"/>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5090922" y="1885011"/>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80881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Footwear</a:t>
            </a:r>
          </a:p>
        </p:txBody>
      </p:sp>
      <p:sp>
        <p:nvSpPr>
          <p:cNvPr id="17" name="BPS Value 1"/>
          <p:cNvSpPr txBox="1"/>
          <p:nvPr/>
        </p:nvSpPr>
        <p:spPr>
          <a:xfrm>
            <a:off x="6896100" y="1870723"/>
            <a:ext cx="514350" cy="123825"/>
          </a:xfrm>
          <a:prstGeom prst="rect">
            <a:avLst/>
          </a:prstGeom>
          <a:noFill/>
        </p:spPr>
        <p:txBody>
          <a:bodyPr wrap="none" lIns="0" rIns="0" tIns="0" bIns="0" anchor="ctr">
            <a:spAutoFit/>
          </a:bodyPr>
          <a:lstStyle/>
          <a:p>
            <a:pPr algn="r"/>
            <a:r>
              <a:rPr sz="900" b="1">
                <a:solidFill>
                  <a:srgbClr val="D64545"/>
                </a:solidFill>
                <a:latin typeface="Segoe UI"/>
              </a:rPr>
              <a:t>-20</a:t>
            </a:r>
          </a:p>
        </p:txBody>
      </p:sp>
      <p:sp>
        <p:nvSpPr>
          <p:cNvPr id="18" name="FMI Legend Chip"/>
          <p:cNvSpPr/>
          <p:nvPr/>
        </p:nvSpPr>
        <p:spPr>
          <a:xfrm>
            <a:off x="4928997" y="2333812"/>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5090922" y="2329049"/>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225284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Automotive &amp; Transportation</a:t>
            </a:r>
          </a:p>
        </p:txBody>
      </p:sp>
      <p:sp>
        <p:nvSpPr>
          <p:cNvPr id="21" name="BPS Value 2"/>
          <p:cNvSpPr txBox="1"/>
          <p:nvPr/>
        </p:nvSpPr>
        <p:spPr>
          <a:xfrm>
            <a:off x="6896100" y="2314762"/>
            <a:ext cx="514350" cy="123825"/>
          </a:xfrm>
          <a:prstGeom prst="rect">
            <a:avLst/>
          </a:prstGeom>
          <a:noFill/>
        </p:spPr>
        <p:txBody>
          <a:bodyPr wrap="none" lIns="0" rIns="0" tIns="0" bIns="0" anchor="ctr">
            <a:spAutoFit/>
          </a:bodyPr>
          <a:lstStyle/>
          <a:p>
            <a:pPr algn="r"/>
            <a:r>
              <a:rPr sz="900" b="1">
                <a:solidFill>
                  <a:srgbClr val="D64545"/>
                </a:solidFill>
                <a:latin typeface="Segoe UI"/>
              </a:rPr>
              <a:t>-33</a:t>
            </a:r>
          </a:p>
        </p:txBody>
      </p:sp>
      <p:sp>
        <p:nvSpPr>
          <p:cNvPr id="22" name="FMI Legend Chip"/>
          <p:cNvSpPr/>
          <p:nvPr/>
        </p:nvSpPr>
        <p:spPr>
          <a:xfrm>
            <a:off x="4928997" y="2876712"/>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rot="10800000">
            <a:off x="5090922" y="2871949"/>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79574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Intimate &amp; Bodywear</a:t>
            </a:r>
          </a:p>
        </p:txBody>
      </p:sp>
      <p:sp>
        <p:nvSpPr>
          <p:cNvPr id="25" name="BPS Value 3"/>
          <p:cNvSpPr txBox="1"/>
          <p:nvPr/>
        </p:nvSpPr>
        <p:spPr>
          <a:xfrm>
            <a:off x="6896100" y="2857662"/>
            <a:ext cx="514350" cy="123825"/>
          </a:xfrm>
          <a:prstGeom prst="rect">
            <a:avLst/>
          </a:prstGeom>
          <a:noFill/>
        </p:spPr>
        <p:txBody>
          <a:bodyPr wrap="none" lIns="0" rIns="0" tIns="0" bIns="0" anchor="ctr">
            <a:spAutoFit/>
          </a:bodyPr>
          <a:lstStyle/>
          <a:p>
            <a:pPr algn="r"/>
            <a:r>
              <a:rPr sz="900" b="1">
                <a:solidFill>
                  <a:srgbClr val="D64545"/>
                </a:solidFill>
                <a:latin typeface="Segoe UI"/>
              </a:rPr>
              <a:t>-165</a:t>
            </a:r>
          </a:p>
        </p:txBody>
      </p:sp>
      <p:sp>
        <p:nvSpPr>
          <p:cNvPr id="26" name="FMI Legend Chip"/>
          <p:cNvSpPr/>
          <p:nvPr/>
        </p:nvSpPr>
        <p:spPr>
          <a:xfrm>
            <a:off x="4928997" y="3523856"/>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5090922" y="3519093"/>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344289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Industrial &amp; Technical Applications</a:t>
            </a:r>
          </a:p>
        </p:txBody>
      </p:sp>
      <p:sp>
        <p:nvSpPr>
          <p:cNvPr id="29" name="BPS Value 4"/>
          <p:cNvSpPr txBox="1"/>
          <p:nvPr/>
        </p:nvSpPr>
        <p:spPr>
          <a:xfrm>
            <a:off x="6896100" y="3504806"/>
            <a:ext cx="514350" cy="123825"/>
          </a:xfrm>
          <a:prstGeom prst="rect">
            <a:avLst/>
          </a:prstGeom>
          <a:noFill/>
        </p:spPr>
        <p:txBody>
          <a:bodyPr wrap="none" lIns="0" rIns="0" tIns="0" bIns="0" anchor="ctr">
            <a:spAutoFit/>
          </a:bodyPr>
          <a:lstStyle/>
          <a:p>
            <a:pPr algn="r"/>
            <a:r>
              <a:rPr sz="900" b="1">
                <a:solidFill>
                  <a:srgbClr val="1E8E3E"/>
                </a:solidFill>
                <a:latin typeface="Segoe UI"/>
              </a:rPr>
              <a:t>+105</a:t>
            </a:r>
          </a:p>
        </p:txBody>
      </p:sp>
      <p:sp>
        <p:nvSpPr>
          <p:cNvPr id="30" name="FMI Legend Chip"/>
          <p:cNvSpPr/>
          <p:nvPr/>
        </p:nvSpPr>
        <p:spPr>
          <a:xfrm>
            <a:off x="4928997" y="4188783"/>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5090922" y="4184020"/>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410782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Medical &amp; Healthcare</a:t>
            </a:r>
          </a:p>
        </p:txBody>
      </p:sp>
      <p:sp>
        <p:nvSpPr>
          <p:cNvPr id="33" name="BPS Value 5"/>
          <p:cNvSpPr txBox="1"/>
          <p:nvPr/>
        </p:nvSpPr>
        <p:spPr>
          <a:xfrm>
            <a:off x="6896100" y="4169733"/>
            <a:ext cx="514350" cy="123825"/>
          </a:xfrm>
          <a:prstGeom prst="rect">
            <a:avLst/>
          </a:prstGeom>
          <a:noFill/>
        </p:spPr>
        <p:txBody>
          <a:bodyPr wrap="none" lIns="0" rIns="0" tIns="0" bIns="0" anchor="ctr">
            <a:spAutoFit/>
          </a:bodyPr>
          <a:lstStyle/>
          <a:p>
            <a:pPr algn="r"/>
            <a:r>
              <a:rPr sz="900" b="1">
                <a:solidFill>
                  <a:srgbClr val="1E8E3E"/>
                </a:solidFill>
                <a:latin typeface="Segoe UI"/>
              </a:rPr>
              <a:t>+69</a:t>
            </a:r>
          </a:p>
        </p:txBody>
      </p:sp>
      <p:sp>
        <p:nvSpPr>
          <p:cNvPr id="34" name="FMI Legend Chip"/>
          <p:cNvSpPr/>
          <p:nvPr/>
        </p:nvSpPr>
        <p:spPr>
          <a:xfrm>
            <a:off x="4928997" y="4875597"/>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a:off x="5090922" y="4870835"/>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479463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Protective &amp; Occupational Wear</a:t>
            </a:r>
          </a:p>
        </p:txBody>
      </p:sp>
      <p:sp>
        <p:nvSpPr>
          <p:cNvPr id="37" name="BPS Value 6"/>
          <p:cNvSpPr txBox="1"/>
          <p:nvPr/>
        </p:nvSpPr>
        <p:spPr>
          <a:xfrm>
            <a:off x="6896100" y="4856547"/>
            <a:ext cx="514350" cy="123825"/>
          </a:xfrm>
          <a:prstGeom prst="rect">
            <a:avLst/>
          </a:prstGeom>
          <a:noFill/>
        </p:spPr>
        <p:txBody>
          <a:bodyPr wrap="none" lIns="0" rIns="0" tIns="0" bIns="0" anchor="ctr">
            <a:spAutoFit/>
          </a:bodyPr>
          <a:lstStyle/>
          <a:p>
            <a:pPr algn="r"/>
            <a:r>
              <a:rPr sz="900" b="1">
                <a:solidFill>
                  <a:srgbClr val="1E8E3E"/>
                </a:solidFill>
                <a:latin typeface="Segoe UI"/>
              </a:rPr>
              <a:t>+33</a:t>
            </a:r>
          </a:p>
        </p:txBody>
      </p:sp>
      <p:sp>
        <p:nvSpPr>
          <p:cNvPr id="38" name="FMI Legend Chip"/>
          <p:cNvSpPr/>
          <p:nvPr/>
        </p:nvSpPr>
        <p:spPr>
          <a:xfrm>
            <a:off x="4928997" y="5735444"/>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a:off x="5090922" y="573068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5233797" y="565448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Sports &amp; Activewear</a:t>
            </a:r>
          </a:p>
        </p:txBody>
      </p:sp>
      <p:sp>
        <p:nvSpPr>
          <p:cNvPr id="41" name="BPS Value 7"/>
          <p:cNvSpPr txBox="1"/>
          <p:nvPr/>
        </p:nvSpPr>
        <p:spPr>
          <a:xfrm>
            <a:off x="6896100" y="5716394"/>
            <a:ext cx="514350" cy="123825"/>
          </a:xfrm>
          <a:prstGeom prst="rect">
            <a:avLst/>
          </a:prstGeom>
          <a:noFill/>
        </p:spPr>
        <p:txBody>
          <a:bodyPr wrap="none" lIns="0" rIns="0" tIns="0" bIns="0" anchor="ctr">
            <a:spAutoFit/>
          </a:bodyPr>
          <a:lstStyle/>
          <a:p>
            <a:pPr algn="r"/>
            <a:r>
              <a:rPr sz="900" b="1">
                <a:solidFill>
                  <a:srgbClr val="1E8E3E"/>
                </a:solidFill>
                <a:latin typeface="Segoe UI"/>
              </a:rPr>
              <a:t>+11</a:t>
            </a:r>
          </a:p>
        </p:txBody>
      </p:sp>
      <p:sp>
        <p:nvSpPr>
          <p:cNvPr id="42" name="Rectangle 41"/>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North America Read-out, By End-Use Application</a:t>
            </a:r>
          </a:p>
        </p:txBody>
      </p:sp>
      <p:sp>
        <p:nvSpPr>
          <p:cNvPr id="44" name="Rectangle 43"/>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End-Use application, industrial &amp; technical applications segment is expected to witness the highest CAGR of 8.4% over the forecast period. In terms of value share by End-Use application, the sports &amp; activewear segment is expected to dominate the market, gaining 11 BPS and accounting for 22.2% share by 2036.</a:t>
            </a:r>
          </a:p>
          <a:p>
            <a:pPr algn="l">
              <a:lnSpc>
                <a:spcPct val="110000"/>
              </a:lnSpc>
              <a:spcBef>
                <a:spcPts val="0"/>
              </a:spcBef>
              <a:spcAft>
                <a:spcPts val="500"/>
              </a:spcAft>
            </a:pPr>
            <a:r>
              <a:rPr sz="1150" b="0">
                <a:solidFill>
                  <a:srgbClr val="252423"/>
                </a:solidFill>
                <a:latin typeface="Segoe UI"/>
              </a:rPr>
              <a:t>The intimate &amp; bodywear segment is expected to lose 165 BPS over the forecast period to account for 13.9% share by 2036.</a:t>
            </a:r>
          </a:p>
        </p:txBody>
      </p:sp>
      <p:sp>
        <p:nvSpPr>
          <p:cNvPr id="46" name="TextBox 4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Fabric Weight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3 sub-segments of Fabric Weight,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North America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Fabric Weight segment categorizes the market by fabric weight.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325755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325755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Medium Weight 150–250 GSM</a:t>
            </a:r>
          </a:p>
        </p:txBody>
      </p:sp>
      <p:sp>
        <p:nvSpPr>
          <p:cNvPr id="21" name="Rectangle 20"/>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629.5</a:t>
            </a:r>
          </a:p>
        </p:txBody>
      </p:sp>
      <p:sp>
        <p:nvSpPr>
          <p:cNvPr id="22" name="Rectangle 21"/>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1,275</a:t>
            </a:r>
          </a:p>
        </p:txBody>
      </p:sp>
      <p:sp>
        <p:nvSpPr>
          <p:cNvPr id="23" name="Rectangle 22"/>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7.3%</a:t>
            </a:r>
          </a:p>
        </p:txBody>
      </p:sp>
      <p:sp>
        <p:nvSpPr>
          <p:cNvPr id="24" name="Oval 23"/>
          <p:cNvSpPr/>
          <p:nvPr/>
        </p:nvSpPr>
        <p:spPr>
          <a:xfrm>
            <a:off x="333375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5238750" y="1773916"/>
            <a:ext cx="325755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238750" y="1992961"/>
            <a:ext cx="325755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Lightweight Below 150 GSM</a:t>
            </a:r>
          </a:p>
        </p:txBody>
      </p:sp>
      <p:sp>
        <p:nvSpPr>
          <p:cNvPr id="28" name="Rectangle 27"/>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409.1</a:t>
            </a:r>
          </a:p>
        </p:txBody>
      </p:sp>
      <p:sp>
        <p:nvSpPr>
          <p:cNvPr id="29" name="Rectangle 28"/>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836.6</a:t>
            </a:r>
          </a:p>
        </p:txBody>
      </p:sp>
      <p:sp>
        <p:nvSpPr>
          <p:cNvPr id="30" name="Rectangle 29"/>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7.4%</a:t>
            </a:r>
          </a:p>
        </p:txBody>
      </p:sp>
      <p:sp>
        <p:nvSpPr>
          <p:cNvPr id="31" name="Oval 30"/>
          <p:cNvSpPr/>
          <p:nvPr/>
        </p:nvSpPr>
        <p:spPr>
          <a:xfrm>
            <a:off x="670560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8610600" y="1773916"/>
            <a:ext cx="325755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10600" y="1992961"/>
            <a:ext cx="325755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Heavyweight Above 250 GSM</a:t>
            </a:r>
          </a:p>
        </p:txBody>
      </p:sp>
      <p:sp>
        <p:nvSpPr>
          <p:cNvPr id="35" name="Rectangle 34"/>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237.9</a:t>
            </a:r>
          </a:p>
        </p:txBody>
      </p:sp>
      <p:sp>
        <p:nvSpPr>
          <p:cNvPr id="36" name="Rectangle 35"/>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543.6</a:t>
            </a:r>
          </a:p>
        </p:txBody>
      </p:sp>
      <p:sp>
        <p:nvSpPr>
          <p:cNvPr id="37" name="Rectangle 36"/>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8.6%</a:t>
            </a:r>
          </a:p>
        </p:txBody>
      </p:sp>
      <p:sp>
        <p:nvSpPr>
          <p:cNvPr id="38" name="Oval 37"/>
          <p:cNvSpPr/>
          <p:nvPr/>
        </p:nvSpPr>
        <p:spPr>
          <a:xfrm>
            <a:off x="1007745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1" name="Rectangle 40"/>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fabric weight, heavyweight above 250 GSM segment is expected to witness the highest CAGR of 8.6% over the forecast period. In terms of value share by fabric weight, the medium weight 150-250 GSM segment is expected to dominate the market, losing 129 BPS and accounting for 48.0%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Medium weight 150-250 GSM segment is projected to register 1.5X higher value than lightweight below 150 GSM segment in 2036.</a:t>
            </a:r>
          </a:p>
        </p:txBody>
      </p:sp>
      <p:sp>
        <p:nvSpPr>
          <p:cNvPr id="43" name="Rounded Rectangle 42"/>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5" name="Rectangle 44"/>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Medium Weight 150–250 GSM: </a:t>
            </a:r>
            <a:r>
              <a:rPr sz="1100" b="0">
                <a:solidFill>
                  <a:srgbClr val="252423"/>
                </a:solidFill>
                <a:latin typeface="Segoe UI"/>
              </a:rPr>
              <a:t>49% of 2026 value · 7.3%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Lightweight Below 150 GSM: </a:t>
            </a:r>
            <a:r>
              <a:rPr sz="1100" b="0">
                <a:solidFill>
                  <a:srgbClr val="252423"/>
                </a:solidFill>
                <a:latin typeface="Segoe UI"/>
              </a:rPr>
              <a:t>32% of 2026 value · 7.4%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Heavyweight Above 250 GSM: </a:t>
            </a:r>
            <a:r>
              <a:rPr sz="1100" b="0">
                <a:solidFill>
                  <a:srgbClr val="252423"/>
                </a:solidFill>
                <a:latin typeface="Segoe UI"/>
              </a:rPr>
              <a:t>19% of 2026 value · 8.6% CAGR grows fastest.</a:t>
            </a:r>
          </a:p>
        </p:txBody>
      </p:sp>
      <p:sp>
        <p:nvSpPr>
          <p:cNvPr id="47" name="Rounded Rectangle 46"/>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9" name="Rectangle 48"/>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Fabric Weight split shows how demand is distributed across fabric weight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1" name="Rectangle 50"/>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Fabric Weight segment is projected to grow at a CAGR of 7.6% from 2026 to 2036.</a:t>
            </a:r>
          </a:p>
        </p:txBody>
      </p:sp>
      <p:sp>
        <p:nvSpPr>
          <p:cNvPr id="53" name="TextBox 52"/>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54" name="TextBox 5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Value &amp; Share Shift, By Fabric Weight</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Fabric Weight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North America</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Value Composition, By Fabric Weight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2139315"/>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213455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205835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Heavyweight Above 250 GSM</a:t>
            </a:r>
          </a:p>
        </p:txBody>
      </p:sp>
      <p:sp>
        <p:nvSpPr>
          <p:cNvPr id="17" name="BPS Value 1"/>
          <p:cNvSpPr txBox="1"/>
          <p:nvPr/>
        </p:nvSpPr>
        <p:spPr>
          <a:xfrm>
            <a:off x="6896100" y="2120265"/>
            <a:ext cx="514350" cy="123825"/>
          </a:xfrm>
          <a:prstGeom prst="rect">
            <a:avLst/>
          </a:prstGeom>
          <a:noFill/>
        </p:spPr>
        <p:txBody>
          <a:bodyPr wrap="none" lIns="0" rIns="0" tIns="0" bIns="0" anchor="ctr">
            <a:spAutoFit/>
          </a:bodyPr>
          <a:lstStyle/>
          <a:p>
            <a:pPr algn="r"/>
            <a:r>
              <a:rPr sz="900" b="1">
                <a:solidFill>
                  <a:srgbClr val="1E8E3E"/>
                </a:solidFill>
                <a:latin typeface="Segoe UI"/>
              </a:rPr>
              <a:t>+183</a:t>
            </a:r>
          </a:p>
        </p:txBody>
      </p:sp>
      <p:sp>
        <p:nvSpPr>
          <p:cNvPr id="18" name="FMI Legend Chip"/>
          <p:cNvSpPr/>
          <p:nvPr/>
        </p:nvSpPr>
        <p:spPr>
          <a:xfrm>
            <a:off x="4928997" y="3327650"/>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5090922" y="3322888"/>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3246688"/>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Lightweight Below 150 GSM</a:t>
            </a:r>
          </a:p>
        </p:txBody>
      </p:sp>
      <p:sp>
        <p:nvSpPr>
          <p:cNvPr id="21" name="BPS Value 2"/>
          <p:cNvSpPr txBox="1"/>
          <p:nvPr/>
        </p:nvSpPr>
        <p:spPr>
          <a:xfrm>
            <a:off x="6896100" y="3308600"/>
            <a:ext cx="514350" cy="123825"/>
          </a:xfrm>
          <a:prstGeom prst="rect">
            <a:avLst/>
          </a:prstGeom>
          <a:noFill/>
        </p:spPr>
        <p:txBody>
          <a:bodyPr wrap="none" lIns="0" rIns="0" tIns="0" bIns="0" anchor="ctr">
            <a:spAutoFit/>
          </a:bodyPr>
          <a:lstStyle/>
          <a:p>
            <a:pPr algn="r"/>
            <a:r>
              <a:rPr sz="900" b="1">
                <a:solidFill>
                  <a:srgbClr val="D64545"/>
                </a:solidFill>
                <a:latin typeface="Segoe UI"/>
              </a:rPr>
              <a:t>-54</a:t>
            </a:r>
          </a:p>
        </p:txBody>
      </p:sp>
      <p:sp>
        <p:nvSpPr>
          <p:cNvPr id="22" name="FMI Legend Chip"/>
          <p:cNvSpPr/>
          <p:nvPr/>
        </p:nvSpPr>
        <p:spPr>
          <a:xfrm>
            <a:off x="4928997" y="5145782"/>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rot="10800000">
            <a:off x="5090922" y="514102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506482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Medium Weight 150–250 GSM</a:t>
            </a:r>
          </a:p>
        </p:txBody>
      </p:sp>
      <p:sp>
        <p:nvSpPr>
          <p:cNvPr id="25" name="BPS Value 3"/>
          <p:cNvSpPr txBox="1"/>
          <p:nvPr/>
        </p:nvSpPr>
        <p:spPr>
          <a:xfrm>
            <a:off x="6896100" y="5126732"/>
            <a:ext cx="514350" cy="123825"/>
          </a:xfrm>
          <a:prstGeom prst="rect">
            <a:avLst/>
          </a:prstGeom>
          <a:noFill/>
        </p:spPr>
        <p:txBody>
          <a:bodyPr wrap="none" lIns="0" rIns="0" tIns="0" bIns="0" anchor="ctr">
            <a:spAutoFit/>
          </a:bodyPr>
          <a:lstStyle/>
          <a:p>
            <a:pPr algn="r"/>
            <a:r>
              <a:rPr sz="900" b="1">
                <a:solidFill>
                  <a:srgbClr val="D64545"/>
                </a:solidFill>
                <a:latin typeface="Segoe UI"/>
              </a:rPr>
              <a:t>-129</a:t>
            </a:r>
          </a:p>
        </p:txBody>
      </p:sp>
      <p:sp>
        <p:nvSpPr>
          <p:cNvPr id="26" name="Rectangle 25"/>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North America Read-out, By Fabric Weight</a:t>
            </a:r>
          </a:p>
        </p:txBody>
      </p:sp>
      <p:sp>
        <p:nvSpPr>
          <p:cNvPr id="28" name="Rectangle 27"/>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fabric weight, heavyweight above 250 GSM segment is expected to witness the highest CAGR of 8.6% over the forecast period.</a:t>
            </a:r>
          </a:p>
          <a:p>
            <a:pPr algn="l">
              <a:lnSpc>
                <a:spcPct val="110000"/>
              </a:lnSpc>
              <a:spcBef>
                <a:spcPts val="0"/>
              </a:spcBef>
              <a:spcAft>
                <a:spcPts val="500"/>
              </a:spcAft>
            </a:pPr>
            <a:r>
              <a:rPr sz="1150" b="0">
                <a:solidFill>
                  <a:srgbClr val="252423"/>
                </a:solidFill>
                <a:latin typeface="Segoe UI"/>
              </a:rPr>
              <a:t>In terms of value share by fabric weight, the medium weight 150-250 GSM segment is expected to dominate the market, losing 129 BPS and accounting for 48.0% share by 2036.</a:t>
            </a:r>
          </a:p>
        </p:txBody>
      </p:sp>
      <p:sp>
        <p:nvSpPr>
          <p:cNvPr id="30" name="TextBox 2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Vs Material Segment Outlook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Vs Material,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North America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Vs Material segment categorizes the market by end-use application vs material.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Sports &amp; Activewear</a:t>
            </a:r>
          </a:p>
        </p:txBody>
      </p:sp>
      <p:sp>
        <p:nvSpPr>
          <p:cNvPr id="21" name="Rectangle 20"/>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282.4</a:t>
            </a:r>
          </a:p>
        </p:txBody>
      </p:sp>
      <p:sp>
        <p:nvSpPr>
          <p:cNvPr id="22" name="Rectangle 21"/>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590.2</a:t>
            </a:r>
          </a:p>
        </p:txBody>
      </p:sp>
      <p:sp>
        <p:nvSpPr>
          <p:cNvPr id="23" name="Rectangle 22"/>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7.7%</a:t>
            </a:r>
          </a:p>
        </p:txBody>
      </p:sp>
      <p:sp>
        <p:nvSpPr>
          <p:cNvPr id="24" name="Oval 23"/>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Intimate &amp; Bodywear</a:t>
            </a:r>
          </a:p>
        </p:txBody>
      </p:sp>
      <p:sp>
        <p:nvSpPr>
          <p:cNvPr id="28" name="Rectangle 27"/>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198.3</a:t>
            </a:r>
          </a:p>
        </p:txBody>
      </p:sp>
      <p:sp>
        <p:nvSpPr>
          <p:cNvPr id="29" name="Rectangle 28"/>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368.6</a:t>
            </a:r>
          </a:p>
        </p:txBody>
      </p:sp>
      <p:sp>
        <p:nvSpPr>
          <p:cNvPr id="30" name="Rectangle 29"/>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6.4%</a:t>
            </a:r>
          </a:p>
        </p:txBody>
      </p:sp>
      <p:sp>
        <p:nvSpPr>
          <p:cNvPr id="31" name="Oval 30"/>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Protective &amp; Occupational Wear</a:t>
            </a:r>
          </a:p>
        </p:txBody>
      </p:sp>
      <p:sp>
        <p:nvSpPr>
          <p:cNvPr id="35" name="Rectangle 34"/>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192.2</a:t>
            </a:r>
          </a:p>
        </p:txBody>
      </p:sp>
      <p:sp>
        <p:nvSpPr>
          <p:cNvPr id="36" name="Rectangle 35"/>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408.4</a:t>
            </a:r>
          </a:p>
        </p:txBody>
      </p:sp>
      <p:sp>
        <p:nvSpPr>
          <p:cNvPr id="37" name="Rectangle 36"/>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7.8%</a:t>
            </a:r>
          </a:p>
        </p:txBody>
      </p:sp>
      <p:sp>
        <p:nvSpPr>
          <p:cNvPr id="38" name="Oval 37"/>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Medical &amp; Healthcare</a:t>
            </a:r>
          </a:p>
        </p:txBody>
      </p:sp>
      <p:sp>
        <p:nvSpPr>
          <p:cNvPr id="42" name="Rectangle 41"/>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178.4</a:t>
            </a:r>
          </a:p>
        </p:txBody>
      </p:sp>
      <p:sp>
        <p:nvSpPr>
          <p:cNvPr id="43" name="Rectangle 42"/>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389.3</a:t>
            </a:r>
          </a:p>
        </p:txBody>
      </p:sp>
      <p:sp>
        <p:nvSpPr>
          <p:cNvPr id="44" name="Rectangle 43"/>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8.1%</a:t>
            </a:r>
          </a:p>
        </p:txBody>
      </p:sp>
      <p:sp>
        <p:nvSpPr>
          <p:cNvPr id="45" name="Oval 44"/>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8" name="Rectangle 47"/>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Among performance knitted fabrics by End-Use application vs material, industrial &amp; technical applications segment is expected to witness the highest CAGR of 8.4% over the forecast period. In terms of value share by End-Use application vs material, the sports &amp; activewear segment is expected to dominate the market, gaining 11 BPS and accounting for 22.2% share by 2036.</a:t>
            </a:r>
          </a:p>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Sports &amp; activewear segment is projected to register 1.4X higher value than protective &amp; occupational wear segment in 2036.</a:t>
            </a:r>
          </a:p>
        </p:txBody>
      </p:sp>
      <p:sp>
        <p:nvSpPr>
          <p:cNvPr id="50" name="Rounded Rectangle 49"/>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2" name="Rectangle 51"/>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Sports &amp; Activewear: </a:t>
            </a:r>
            <a:r>
              <a:rPr sz="1100" b="0">
                <a:solidFill>
                  <a:srgbClr val="252423"/>
                </a:solidFill>
                <a:latin typeface="Segoe UI"/>
              </a:rPr>
              <a:t>22% of 2026 value · 7.7%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Intimate &amp; Bodywear: </a:t>
            </a:r>
            <a:r>
              <a:rPr sz="1100" b="0">
                <a:solidFill>
                  <a:srgbClr val="252423"/>
                </a:solidFill>
                <a:latin typeface="Segoe UI"/>
              </a:rPr>
              <a:t>16% of 2026 value · 6.4%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Protective &amp; Occupational Wear: </a:t>
            </a:r>
            <a:r>
              <a:rPr sz="1100" b="0">
                <a:solidFill>
                  <a:srgbClr val="252423"/>
                </a:solidFill>
                <a:latin typeface="Segoe UI"/>
              </a:rPr>
              <a:t>15% of 2026 value · 7.8% CAGR serves a niche.</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Medical &amp; Healthcare: </a:t>
            </a:r>
            <a:r>
              <a:rPr sz="1100" b="0">
                <a:solidFill>
                  <a:srgbClr val="252423"/>
                </a:solidFill>
                <a:latin typeface="Segoe UI"/>
              </a:rPr>
              <a:t>14% of 2026 value · 8.1% CAGR serves a niche.</a:t>
            </a:r>
          </a:p>
        </p:txBody>
      </p:sp>
      <p:sp>
        <p:nvSpPr>
          <p:cNvPr id="54" name="Rounded Rectangle 53"/>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6" name="Rectangle 55"/>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End-Use Application Vs Material split shows how demand is distributed across end-use application vs material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8" name="Rectangle 57"/>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End-Use Application Vs Material segment is projected to grow at a CAGR of 7.6% from 2026 to 2036.</a:t>
            </a:r>
          </a:p>
        </p:txBody>
      </p:sp>
      <p:sp>
        <p:nvSpPr>
          <p:cNvPr id="60" name="TextBox 59"/>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1" name="TextBox 6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Vs Material Segment Outlook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Vs Material,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Vs Material segment categorizes the market by end-use application vs material.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3257550"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3257550"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Industrial &amp; Technical Applicatio…</a:t>
            </a:r>
          </a:p>
        </p:txBody>
      </p:sp>
      <p:sp>
        <p:nvSpPr>
          <p:cNvPr id="20" name="Rectangle 19"/>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170.7</a:t>
            </a:r>
          </a:p>
        </p:txBody>
      </p:sp>
      <p:sp>
        <p:nvSpPr>
          <p:cNvPr id="21" name="Rectangle 20"/>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383.0</a:t>
            </a:r>
          </a:p>
        </p:txBody>
      </p:sp>
      <p:sp>
        <p:nvSpPr>
          <p:cNvPr id="22" name="Rectangle 21"/>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8.4%</a:t>
            </a:r>
          </a:p>
        </p:txBody>
      </p:sp>
      <p:sp>
        <p:nvSpPr>
          <p:cNvPr id="23" name="Oval 22"/>
          <p:cNvSpPr/>
          <p:nvPr/>
        </p:nvSpPr>
        <p:spPr>
          <a:xfrm>
            <a:off x="3333750"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24" name="Rounded Rectangle 23"/>
          <p:cNvSpPr/>
          <p:nvPr/>
        </p:nvSpPr>
        <p:spPr>
          <a:xfrm>
            <a:off x="5238750" y="1773916"/>
            <a:ext cx="3257550"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38750" y="1992961"/>
            <a:ext cx="3257550"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Automotive &amp; Transportation</a:t>
            </a:r>
          </a:p>
        </p:txBody>
      </p:sp>
      <p:sp>
        <p:nvSpPr>
          <p:cNvPr id="27" name="Rectangle 26"/>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130.1</a:t>
            </a:r>
          </a:p>
        </p:txBody>
      </p:sp>
      <p:sp>
        <p:nvSpPr>
          <p:cNvPr id="28" name="Rectangle 27"/>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261.9</a:t>
            </a:r>
          </a:p>
        </p:txBody>
      </p:sp>
      <p:sp>
        <p:nvSpPr>
          <p:cNvPr id="29" name="Rectangle 28"/>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7.2%</a:t>
            </a:r>
          </a:p>
        </p:txBody>
      </p:sp>
      <p:sp>
        <p:nvSpPr>
          <p:cNvPr id="30" name="Oval 29"/>
          <p:cNvSpPr/>
          <p:nvPr/>
        </p:nvSpPr>
        <p:spPr>
          <a:xfrm>
            <a:off x="6705600"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31" name="Rounded Rectangle 30"/>
          <p:cNvSpPr/>
          <p:nvPr/>
        </p:nvSpPr>
        <p:spPr>
          <a:xfrm>
            <a:off x="8610600" y="1773916"/>
            <a:ext cx="3257550"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10600" y="1992961"/>
            <a:ext cx="3257550"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Footwear</a:t>
            </a:r>
          </a:p>
        </p:txBody>
      </p:sp>
      <p:sp>
        <p:nvSpPr>
          <p:cNvPr id="34" name="Rectangle 33"/>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124.5</a:t>
            </a:r>
          </a:p>
        </p:txBody>
      </p:sp>
      <p:sp>
        <p:nvSpPr>
          <p:cNvPr id="35" name="Rectangle 34"/>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253.8</a:t>
            </a:r>
          </a:p>
        </p:txBody>
      </p:sp>
      <p:sp>
        <p:nvSpPr>
          <p:cNvPr id="36" name="Rectangle 35"/>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7.4%</a:t>
            </a:r>
          </a:p>
        </p:txBody>
      </p:sp>
      <p:sp>
        <p:nvSpPr>
          <p:cNvPr id="37" name="Oval 36"/>
          <p:cNvSpPr/>
          <p:nvPr/>
        </p:nvSpPr>
        <p:spPr>
          <a:xfrm>
            <a:off x="10077450"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38" name="Rounded Rectangle 37"/>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0" name="Rectangle 39"/>
          <p:cNvSpPr/>
          <p:nvPr/>
        </p:nvSpPr>
        <p:spPr>
          <a:xfrm>
            <a:off x="457200" y="4146897"/>
            <a:ext cx="112776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Industrial &amp; Technical Applications: </a:t>
            </a:r>
            <a:r>
              <a:rPr sz="1100" b="0">
                <a:solidFill>
                  <a:srgbClr val="252423"/>
                </a:solidFill>
                <a:latin typeface="Segoe UI"/>
              </a:rPr>
              <a:t>13% of 2026 value · 8.4% CAGR grows fastest.</a:t>
            </a:r>
          </a:p>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Automotive &amp; Transportation: </a:t>
            </a:r>
            <a:r>
              <a:rPr sz="1100" b="0">
                <a:solidFill>
                  <a:srgbClr val="252423"/>
                </a:solidFill>
                <a:latin typeface="Segoe UI"/>
              </a:rPr>
              <a:t>10% of 2026 value · 7.2% CAGR serves a niche.</a:t>
            </a:r>
          </a:p>
          <a:p>
            <a:pPr algn="l">
              <a:lnSpc>
                <a:spcPct val="110000"/>
              </a:lnSpc>
              <a:spcBef>
                <a:spcPts val="0"/>
              </a:spcBef>
              <a:spcAft>
                <a:spcPts val="500"/>
              </a:spcAft>
            </a:pPr>
            <a:r>
              <a:rPr sz="1100" b="0">
                <a:solidFill>
                  <a:srgbClr val="2C6E7F"/>
                </a:solidFill>
                <a:latin typeface="Segoe UI"/>
              </a:rPr>
              <a:t>●  </a:t>
            </a:r>
            <a:r>
              <a:rPr sz="1100" b="1">
                <a:solidFill>
                  <a:srgbClr val="2C6E7F"/>
                </a:solidFill>
                <a:latin typeface="Segoe UI"/>
              </a:rPr>
              <a:t>Footwear: </a:t>
            </a:r>
            <a:r>
              <a:rPr sz="1100" b="0">
                <a:solidFill>
                  <a:srgbClr val="252423"/>
                </a:solidFill>
                <a:latin typeface="Segoe UI"/>
              </a:rPr>
              <a:t>10% of 2026 value · 7.4% CAGR serves a niche.</a:t>
            </a:r>
          </a:p>
        </p:txBody>
      </p:sp>
      <p:sp>
        <p:nvSpPr>
          <p:cNvPr id="42" name="TextBox 41"/>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3" name="TextBox 4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North America Market Value &amp; Share Shift, By End-Use Application Vs Material</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End-Use Application Vs Material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North America</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North America Value Composition, By End-Use Application Vs Material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889773"/>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5090922" y="1885011"/>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80881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Footwear</a:t>
            </a:r>
          </a:p>
        </p:txBody>
      </p:sp>
      <p:sp>
        <p:nvSpPr>
          <p:cNvPr id="17" name="BPS Value 1"/>
          <p:cNvSpPr txBox="1"/>
          <p:nvPr/>
        </p:nvSpPr>
        <p:spPr>
          <a:xfrm>
            <a:off x="6896100" y="1870723"/>
            <a:ext cx="514350" cy="123825"/>
          </a:xfrm>
          <a:prstGeom prst="rect">
            <a:avLst/>
          </a:prstGeom>
          <a:noFill/>
        </p:spPr>
        <p:txBody>
          <a:bodyPr wrap="none" lIns="0" rIns="0" tIns="0" bIns="0" anchor="ctr">
            <a:spAutoFit/>
          </a:bodyPr>
          <a:lstStyle/>
          <a:p>
            <a:pPr algn="r"/>
            <a:r>
              <a:rPr sz="900" b="1">
                <a:solidFill>
                  <a:srgbClr val="D64545"/>
                </a:solidFill>
                <a:latin typeface="Segoe UI"/>
              </a:rPr>
              <a:t>-20</a:t>
            </a:r>
          </a:p>
        </p:txBody>
      </p:sp>
      <p:sp>
        <p:nvSpPr>
          <p:cNvPr id="18" name="FMI Legend Chip"/>
          <p:cNvSpPr/>
          <p:nvPr/>
        </p:nvSpPr>
        <p:spPr>
          <a:xfrm>
            <a:off x="4928997" y="2333812"/>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5090922" y="232905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225285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Automotive &amp; Transportation</a:t>
            </a:r>
          </a:p>
        </p:txBody>
      </p:sp>
      <p:sp>
        <p:nvSpPr>
          <p:cNvPr id="21" name="BPS Value 2"/>
          <p:cNvSpPr txBox="1"/>
          <p:nvPr/>
        </p:nvSpPr>
        <p:spPr>
          <a:xfrm>
            <a:off x="6896100" y="2314762"/>
            <a:ext cx="514350" cy="123825"/>
          </a:xfrm>
          <a:prstGeom prst="rect">
            <a:avLst/>
          </a:prstGeom>
          <a:noFill/>
        </p:spPr>
        <p:txBody>
          <a:bodyPr wrap="none" lIns="0" rIns="0" tIns="0" bIns="0" anchor="ctr">
            <a:spAutoFit/>
          </a:bodyPr>
          <a:lstStyle/>
          <a:p>
            <a:pPr algn="r"/>
            <a:r>
              <a:rPr sz="900" b="1">
                <a:solidFill>
                  <a:srgbClr val="D64545"/>
                </a:solidFill>
                <a:latin typeface="Segoe UI"/>
              </a:rPr>
              <a:t>-33</a:t>
            </a:r>
          </a:p>
        </p:txBody>
      </p:sp>
      <p:sp>
        <p:nvSpPr>
          <p:cNvPr id="22" name="FMI Legend Chip"/>
          <p:cNvSpPr/>
          <p:nvPr/>
        </p:nvSpPr>
        <p:spPr>
          <a:xfrm>
            <a:off x="4928997" y="2876712"/>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rot="10800000">
            <a:off x="5090922" y="287195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79575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Intimate &amp; Bodywear</a:t>
            </a:r>
          </a:p>
        </p:txBody>
      </p:sp>
      <p:sp>
        <p:nvSpPr>
          <p:cNvPr id="25" name="BPS Value 3"/>
          <p:cNvSpPr txBox="1"/>
          <p:nvPr/>
        </p:nvSpPr>
        <p:spPr>
          <a:xfrm>
            <a:off x="6896100" y="2857662"/>
            <a:ext cx="514350" cy="123825"/>
          </a:xfrm>
          <a:prstGeom prst="rect">
            <a:avLst/>
          </a:prstGeom>
          <a:noFill/>
        </p:spPr>
        <p:txBody>
          <a:bodyPr wrap="none" lIns="0" rIns="0" tIns="0" bIns="0" anchor="ctr">
            <a:spAutoFit/>
          </a:bodyPr>
          <a:lstStyle/>
          <a:p>
            <a:pPr algn="r"/>
            <a:r>
              <a:rPr sz="900" b="1">
                <a:solidFill>
                  <a:srgbClr val="D64545"/>
                </a:solidFill>
                <a:latin typeface="Segoe UI"/>
              </a:rPr>
              <a:t>-165</a:t>
            </a:r>
          </a:p>
        </p:txBody>
      </p:sp>
      <p:sp>
        <p:nvSpPr>
          <p:cNvPr id="26" name="FMI Legend Chip"/>
          <p:cNvSpPr/>
          <p:nvPr/>
        </p:nvSpPr>
        <p:spPr>
          <a:xfrm>
            <a:off x="4928997" y="3523855"/>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5090922" y="3519093"/>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344289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Industrial &amp; Technical Applications</a:t>
            </a:r>
          </a:p>
        </p:txBody>
      </p:sp>
      <p:sp>
        <p:nvSpPr>
          <p:cNvPr id="29" name="BPS Value 4"/>
          <p:cNvSpPr txBox="1"/>
          <p:nvPr/>
        </p:nvSpPr>
        <p:spPr>
          <a:xfrm>
            <a:off x="6896100" y="3504805"/>
            <a:ext cx="514350" cy="123825"/>
          </a:xfrm>
          <a:prstGeom prst="rect">
            <a:avLst/>
          </a:prstGeom>
          <a:noFill/>
        </p:spPr>
        <p:txBody>
          <a:bodyPr wrap="none" lIns="0" rIns="0" tIns="0" bIns="0" anchor="ctr">
            <a:spAutoFit/>
          </a:bodyPr>
          <a:lstStyle/>
          <a:p>
            <a:pPr algn="r"/>
            <a:r>
              <a:rPr sz="900" b="1">
                <a:solidFill>
                  <a:srgbClr val="1E8E3E"/>
                </a:solidFill>
                <a:latin typeface="Segoe UI"/>
              </a:rPr>
              <a:t>+105</a:t>
            </a:r>
          </a:p>
        </p:txBody>
      </p:sp>
      <p:sp>
        <p:nvSpPr>
          <p:cNvPr id="30" name="FMI Legend Chip"/>
          <p:cNvSpPr/>
          <p:nvPr/>
        </p:nvSpPr>
        <p:spPr>
          <a:xfrm>
            <a:off x="4928997" y="4188782"/>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5090922" y="4184020"/>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410782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Medical &amp; Healthcare</a:t>
            </a:r>
          </a:p>
        </p:txBody>
      </p:sp>
      <p:sp>
        <p:nvSpPr>
          <p:cNvPr id="33" name="BPS Value 5"/>
          <p:cNvSpPr txBox="1"/>
          <p:nvPr/>
        </p:nvSpPr>
        <p:spPr>
          <a:xfrm>
            <a:off x="6896100" y="4169732"/>
            <a:ext cx="514350" cy="123825"/>
          </a:xfrm>
          <a:prstGeom prst="rect">
            <a:avLst/>
          </a:prstGeom>
          <a:noFill/>
        </p:spPr>
        <p:txBody>
          <a:bodyPr wrap="none" lIns="0" rIns="0" tIns="0" bIns="0" anchor="ctr">
            <a:spAutoFit/>
          </a:bodyPr>
          <a:lstStyle/>
          <a:p>
            <a:pPr algn="r"/>
            <a:r>
              <a:rPr sz="900" b="1">
                <a:solidFill>
                  <a:srgbClr val="1E8E3E"/>
                </a:solidFill>
                <a:latin typeface="Segoe UI"/>
              </a:rPr>
              <a:t>+69</a:t>
            </a:r>
          </a:p>
        </p:txBody>
      </p:sp>
      <p:sp>
        <p:nvSpPr>
          <p:cNvPr id="34" name="FMI Legend Chip"/>
          <p:cNvSpPr/>
          <p:nvPr/>
        </p:nvSpPr>
        <p:spPr>
          <a:xfrm>
            <a:off x="4928997" y="4875597"/>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a:off x="5090922" y="487083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479463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Protective &amp; Occupational Wear</a:t>
            </a:r>
          </a:p>
        </p:txBody>
      </p:sp>
      <p:sp>
        <p:nvSpPr>
          <p:cNvPr id="37" name="BPS Value 6"/>
          <p:cNvSpPr txBox="1"/>
          <p:nvPr/>
        </p:nvSpPr>
        <p:spPr>
          <a:xfrm>
            <a:off x="6896100" y="4856547"/>
            <a:ext cx="514350" cy="123825"/>
          </a:xfrm>
          <a:prstGeom prst="rect">
            <a:avLst/>
          </a:prstGeom>
          <a:noFill/>
        </p:spPr>
        <p:txBody>
          <a:bodyPr wrap="none" lIns="0" rIns="0" tIns="0" bIns="0" anchor="ctr">
            <a:spAutoFit/>
          </a:bodyPr>
          <a:lstStyle/>
          <a:p>
            <a:pPr algn="r"/>
            <a:r>
              <a:rPr sz="900" b="1">
                <a:solidFill>
                  <a:srgbClr val="1E8E3E"/>
                </a:solidFill>
                <a:latin typeface="Segoe UI"/>
              </a:rPr>
              <a:t>+33</a:t>
            </a:r>
          </a:p>
        </p:txBody>
      </p:sp>
      <p:sp>
        <p:nvSpPr>
          <p:cNvPr id="38" name="FMI Legend Chip"/>
          <p:cNvSpPr/>
          <p:nvPr/>
        </p:nvSpPr>
        <p:spPr>
          <a:xfrm>
            <a:off x="4928997" y="5735444"/>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a:off x="5090922" y="573068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5233797" y="565448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Sports &amp; Activewear</a:t>
            </a:r>
          </a:p>
        </p:txBody>
      </p:sp>
      <p:sp>
        <p:nvSpPr>
          <p:cNvPr id="41" name="BPS Value 7"/>
          <p:cNvSpPr txBox="1"/>
          <p:nvPr/>
        </p:nvSpPr>
        <p:spPr>
          <a:xfrm>
            <a:off x="6896100" y="5716394"/>
            <a:ext cx="514350" cy="123825"/>
          </a:xfrm>
          <a:prstGeom prst="rect">
            <a:avLst/>
          </a:prstGeom>
          <a:noFill/>
        </p:spPr>
        <p:txBody>
          <a:bodyPr wrap="none" lIns="0" rIns="0" tIns="0" bIns="0" anchor="ctr">
            <a:spAutoFit/>
          </a:bodyPr>
          <a:lstStyle/>
          <a:p>
            <a:pPr algn="r"/>
            <a:r>
              <a:rPr sz="900" b="1">
                <a:solidFill>
                  <a:srgbClr val="1E8E3E"/>
                </a:solidFill>
                <a:latin typeface="Segoe UI"/>
              </a:rPr>
              <a:t>+11</a:t>
            </a:r>
          </a:p>
        </p:txBody>
      </p:sp>
      <p:sp>
        <p:nvSpPr>
          <p:cNvPr id="42" name="Rectangle 41"/>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North America Read-out, By End-Use Application Vs Material</a:t>
            </a:r>
          </a:p>
        </p:txBody>
      </p:sp>
      <p:sp>
        <p:nvSpPr>
          <p:cNvPr id="44" name="Rectangle 43"/>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End-Use application vs material, industrial &amp; technical applications segment is expected to witness the highest CAGR of 8.4% over the forecast period. In terms of value share by End-Use application vs material, the sports &amp; activewear segment is expected to dominate the market, gaining 11 BPS and accounting for 22.2% share by 2036.</a:t>
            </a:r>
          </a:p>
          <a:p>
            <a:pPr algn="l">
              <a:lnSpc>
                <a:spcPct val="110000"/>
              </a:lnSpc>
              <a:spcBef>
                <a:spcPts val="0"/>
              </a:spcBef>
              <a:spcAft>
                <a:spcPts val="500"/>
              </a:spcAft>
            </a:pPr>
            <a:r>
              <a:rPr sz="1150" b="0">
                <a:solidFill>
                  <a:srgbClr val="252423"/>
                </a:solidFill>
                <a:latin typeface="Segoe UI"/>
              </a:rPr>
              <a:t>The intimate &amp; bodywear segment is expected to lose 165 BPS over the forecast period to account for 13.9% share by 2036.</a:t>
            </a:r>
          </a:p>
        </p:txBody>
      </p:sp>
      <p:sp>
        <p:nvSpPr>
          <p:cNvPr id="46" name="TextBox 4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Latin America Performance Knitted Fabrics Market Summary, By Volume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Latin America market volume growth, incremental opportunity and the geographies driving it, 2021–2036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Latin America</a:t>
            </a:r>
          </a:p>
        </p:txBody>
      </p:sp>
      <p:sp>
        <p:nvSpPr>
          <p:cNvPr id="9" name="Rounded Rectangle 8"/>
          <p:cNvSpPr/>
          <p:nvPr/>
        </p:nvSpPr>
        <p:spPr>
          <a:xfrm>
            <a:off x="142875"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MARKET SIZE (MN SQ. YARDS)</a:t>
            </a:r>
          </a:p>
          <a:p>
            <a:pPr algn="ctr">
              <a:lnSpc>
                <a:spcPct val="95000"/>
              </a:lnSpc>
            </a:pPr>
            <a:r>
              <a:rPr sz="1500" b="1">
                <a:solidFill>
                  <a:srgbClr val="00A4DC"/>
                </a:solidFill>
                <a:latin typeface="Segoe UI"/>
              </a:rPr>
              <a:t>132.7</a:t>
            </a:r>
          </a:p>
        </p:txBody>
      </p:sp>
      <p:sp>
        <p:nvSpPr>
          <p:cNvPr id="10" name="Rounded Rectangle 9"/>
          <p:cNvSpPr/>
          <p:nvPr/>
        </p:nvSpPr>
        <p:spPr>
          <a:xfrm>
            <a:off x="31432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216.0</a:t>
            </a:r>
          </a:p>
        </p:txBody>
      </p:sp>
      <p:sp>
        <p:nvSpPr>
          <p:cNvPr id="11" name="Rounded Rectangle 10"/>
          <p:cNvSpPr/>
          <p:nvPr/>
        </p:nvSpPr>
        <p:spPr>
          <a:xfrm>
            <a:off x="61531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2021–2025</a:t>
            </a:r>
          </a:p>
          <a:p>
            <a:pPr algn="ctr">
              <a:lnSpc>
                <a:spcPct val="95000"/>
              </a:lnSpc>
            </a:pPr>
            <a:r>
              <a:rPr sz="1500" b="1">
                <a:solidFill>
                  <a:srgbClr val="00A4DC"/>
                </a:solidFill>
                <a:latin typeface="Segoe UI"/>
              </a:rPr>
              <a:t>4.4%</a:t>
            </a:r>
          </a:p>
        </p:txBody>
      </p:sp>
      <p:sp>
        <p:nvSpPr>
          <p:cNvPr id="12" name="Rounded Rectangle 11"/>
          <p:cNvSpPr/>
          <p:nvPr/>
        </p:nvSpPr>
        <p:spPr>
          <a:xfrm>
            <a:off x="91630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1500" b="1">
                <a:solidFill>
                  <a:srgbClr val="00A4DC"/>
                </a:solidFill>
                <a:latin typeface="Segoe UI"/>
              </a:rPr>
              <a:t>5.0%</a:t>
            </a:r>
          </a:p>
        </p:txBody>
      </p:sp>
      <p:sp>
        <p:nvSpPr>
          <p:cNvPr id="13" name="Rectangle 12"/>
          <p:cNvSpPr/>
          <p:nvPr/>
        </p:nvSpPr>
        <p:spPr>
          <a:xfrm>
            <a:off x="142875" y="1627887"/>
            <a:ext cx="769620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(2021–2036)</a:t>
            </a:r>
          </a:p>
        </p:txBody>
      </p:sp>
      <p:graphicFrame>
        <p:nvGraphicFramePr>
          <p:cNvPr id="15" name="Chart 14"/>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6" name="Rectangle 15"/>
          <p:cNvSpPr/>
          <p:nvPr/>
        </p:nvSpPr>
        <p:spPr>
          <a:xfrm>
            <a:off x="142875" y="4037375"/>
            <a:ext cx="769620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Incremental Market Addition (Mn Sq. Yards)</a:t>
            </a:r>
          </a:p>
        </p:txBody>
      </p:sp>
      <p:graphicFrame>
        <p:nvGraphicFramePr>
          <p:cNvPr id="18" name="Chart 17"/>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9" name="Rectangle 18"/>
          <p:cNvSpPr/>
          <p:nvPr/>
        </p:nvSpPr>
        <p:spPr>
          <a:xfrm>
            <a:off x="7915275" y="1627887"/>
            <a:ext cx="413385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21" name="Rectangle 20"/>
          <p:cNvSpPr/>
          <p:nvPr/>
        </p:nvSpPr>
        <p:spPr>
          <a:xfrm>
            <a:off x="8048625" y="195173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52423"/>
                </a:solidFill>
                <a:latin typeface="Segoe UI"/>
              </a:rPr>
              <a:t>Latin America performance knitted fabrics market is projected to register 1.7X increase in volume by the end of forecast period, 2036. Latin America performance knitted fabrics market volume stood at 126.7 Mn Sq. Yards in 2025 and is expected to reach 216.0 Mn Sq. Yards by 2036 end, at a CAGR of 5.0%.</a:t>
            </a:r>
          </a:p>
          <a:p>
            <a:pPr algn="l">
              <a:lnSpc>
                <a:spcPct val="110000"/>
              </a:lnSpc>
              <a:spcBef>
                <a:spcPts val="0"/>
              </a:spcBef>
              <a:spcAft>
                <a:spcPts val="500"/>
              </a:spcAft>
            </a:pPr>
            <a:r>
              <a:rPr sz="1100" b="0">
                <a:solidFill>
                  <a:srgbClr val="252423"/>
                </a:solidFill>
                <a:latin typeface="Segoe UI"/>
              </a:rPr>
              <a:t>Value is projected to grow faster than volume over the forecast period, owing to an increase in average selling price.</a:t>
            </a:r>
          </a:p>
        </p:txBody>
      </p:sp>
      <p:sp>
        <p:nvSpPr>
          <p:cNvPr id="23" name="Rectangle 22"/>
          <p:cNvSpPr/>
          <p:nvPr/>
        </p:nvSpPr>
        <p:spPr>
          <a:xfrm>
            <a:off x="7915275" y="4037375"/>
            <a:ext cx="413385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07BA5"/>
                </a:solidFill>
                <a:latin typeface="Segoe UI"/>
              </a:rPr>
              <a:t>Growth Drivers</a:t>
            </a:r>
          </a:p>
        </p:txBody>
      </p:sp>
      <p:sp>
        <p:nvSpPr>
          <p:cNvPr id="25" name="Rectangle 24"/>
          <p:cNvSpPr/>
          <p:nvPr/>
        </p:nvSpPr>
        <p:spPr>
          <a:xfrm>
            <a:off x="8048625" y="436122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'Chile' leads regional growth at 5.1% CAGR.</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Demand concentrates in 'Weft Knitted Fabrics' within Fabric Construction.</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Product innovation and premiumisation lifting value.</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Expanding end-use applications and access.</a:t>
            </a:r>
          </a:p>
        </p:txBody>
      </p:sp>
      <p:sp>
        <p:nvSpPr>
          <p:cNvPr id="27" name="TextBox 2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Latin America Performance Knitted Fabrics Market Pricing &amp; Regional Price Index</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average price by sub-segment and price variation by country, highlighting where pricing power sits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Latin America</a:t>
            </a:r>
          </a:p>
        </p:txBody>
      </p:sp>
      <p:sp>
        <p:nvSpPr>
          <p:cNvPr id="9" name="Rectangle 8"/>
          <p:cNvSpPr/>
          <p:nvPr/>
        </p:nvSpPr>
        <p:spPr>
          <a:xfrm>
            <a:off x="142875" y="1052895"/>
            <a:ext cx="7696200" cy="266504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Average Price by Fabric Construction  ·  range across 2021–2036 (US$/Sq. Yards)</a:t>
            </a:r>
          </a:p>
        </p:txBody>
      </p:sp>
      <p:cxnSp>
        <p:nvCxnSpPr>
          <p:cNvPr id="11" name="Connector 10"/>
          <p:cNvCxnSpPr/>
          <p:nvPr/>
        </p:nvCxnSpPr>
        <p:spPr>
          <a:xfrm>
            <a:off x="657225" y="333693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7225" y="286593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239494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192394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452945"/>
            <a:ext cx="0" cy="188399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8650" y="3336935"/>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2865938"/>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2394940"/>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1923943"/>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1452945"/>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sp>
        <p:nvSpPr>
          <p:cNvPr id="22" name="FMI Scale tick"/>
          <p:cNvSpPr txBox="1"/>
          <p:nvPr/>
        </p:nvSpPr>
        <p:spPr>
          <a:xfrm>
            <a:off x="219075" y="3270260"/>
            <a:ext cx="381000" cy="133350"/>
          </a:xfrm>
          <a:prstGeom prst="rect">
            <a:avLst/>
          </a:prstGeom>
          <a:noFill/>
        </p:spPr>
        <p:txBody>
          <a:bodyPr wrap="none" lIns="0" rIns="0" tIns="0" bIns="0" anchor="ctr">
            <a:spAutoFit/>
          </a:bodyPr>
          <a:lstStyle/>
          <a:p>
            <a:pPr algn="r"/>
            <a:r>
              <a:rPr sz="1100" b="0">
                <a:solidFill>
                  <a:srgbClr val="605E5C"/>
                </a:solidFill>
                <a:latin typeface="Segoe UI"/>
              </a:rPr>
              <a:t>2.51</a:t>
            </a:r>
          </a:p>
        </p:txBody>
      </p:sp>
      <p:sp>
        <p:nvSpPr>
          <p:cNvPr id="23" name="FMI Scale tick"/>
          <p:cNvSpPr txBox="1"/>
          <p:nvPr/>
        </p:nvSpPr>
        <p:spPr>
          <a:xfrm>
            <a:off x="219075" y="2328265"/>
            <a:ext cx="381000" cy="133350"/>
          </a:xfrm>
          <a:prstGeom prst="rect">
            <a:avLst/>
          </a:prstGeom>
          <a:noFill/>
        </p:spPr>
        <p:txBody>
          <a:bodyPr wrap="none" lIns="0" rIns="0" tIns="0" bIns="0" anchor="ctr">
            <a:spAutoFit/>
          </a:bodyPr>
          <a:lstStyle/>
          <a:p>
            <a:pPr algn="r"/>
            <a:r>
              <a:rPr sz="1100" b="0">
                <a:solidFill>
                  <a:srgbClr val="605E5C"/>
                </a:solidFill>
                <a:latin typeface="Segoe UI"/>
              </a:rPr>
              <a:t>2.95</a:t>
            </a:r>
          </a:p>
        </p:txBody>
      </p:sp>
      <p:sp>
        <p:nvSpPr>
          <p:cNvPr id="24" name="FMI Scale tick"/>
          <p:cNvSpPr txBox="1"/>
          <p:nvPr/>
        </p:nvSpPr>
        <p:spPr>
          <a:xfrm>
            <a:off x="219075" y="1386270"/>
            <a:ext cx="381000" cy="133350"/>
          </a:xfrm>
          <a:prstGeom prst="rect">
            <a:avLst/>
          </a:prstGeom>
          <a:noFill/>
        </p:spPr>
        <p:txBody>
          <a:bodyPr wrap="none" lIns="0" rIns="0" tIns="0" bIns="0" anchor="ctr">
            <a:spAutoFit/>
          </a:bodyPr>
          <a:lstStyle/>
          <a:p>
            <a:pPr algn="r"/>
            <a:r>
              <a:rPr sz="1100" b="0">
                <a:solidFill>
                  <a:srgbClr val="605E5C"/>
                </a:solidFill>
                <a:latin typeface="Segoe UI"/>
              </a:rPr>
              <a:t>3.39</a:t>
            </a:r>
          </a:p>
        </p:txBody>
      </p:sp>
      <p:cxnSp>
        <p:nvCxnSpPr>
          <p:cNvPr id="25" name="Connector 24"/>
          <p:cNvCxnSpPr/>
          <p:nvPr/>
        </p:nvCxnSpPr>
        <p:spPr>
          <a:xfrm flipV="1">
            <a:off x="2409825" y="1673658"/>
            <a:ext cx="0" cy="144589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278380" y="311955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278380" y="167365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2190750" y="2211793"/>
            <a:ext cx="438150" cy="735049"/>
          </a:xfrm>
          <a:prstGeom prst="rect">
            <a:avLst/>
          </a:prstGeom>
          <a:solidFill>
            <a:srgbClr val="CFE7F5"/>
          </a:solidFill>
          <a:ln w="15875">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2190750" y="2626413"/>
            <a:ext cx="438150" cy="0"/>
          </a:xfrm>
          <a:prstGeom prst="line">
            <a:avLst/>
          </a:prstGeom>
          <a:ln w="2540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57225" y="1521258"/>
            <a:ext cx="3505200" cy="133350"/>
          </a:xfrm>
          <a:prstGeom prst="rect">
            <a:avLst/>
          </a:prstGeom>
          <a:noFill/>
        </p:spPr>
        <p:txBody>
          <a:bodyPr wrap="square" lIns="28575" rIns="28575" tIns="9525" bIns="9525">
            <a:spAutoFit/>
          </a:bodyPr>
          <a:lstStyle/>
          <a:p>
            <a:pPr algn="ctr"/>
            <a:r>
              <a:rPr sz="1100" b="1">
                <a:solidFill>
                  <a:srgbClr val="007BA5"/>
                </a:solidFill>
                <a:latin typeface="Segoe UI"/>
              </a:rPr>
              <a:t>2.84</a:t>
            </a:r>
          </a:p>
        </p:txBody>
      </p:sp>
      <p:cxnSp>
        <p:nvCxnSpPr>
          <p:cNvPr id="31" name="Connector 30"/>
          <p:cNvCxnSpPr/>
          <p:nvPr/>
        </p:nvCxnSpPr>
        <p:spPr>
          <a:xfrm flipV="1">
            <a:off x="5915025" y="1670329"/>
            <a:ext cx="0" cy="144881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783580" y="311913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783580" y="16703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695950" y="2205186"/>
            <a:ext cx="438150" cy="736094"/>
          </a:xfrm>
          <a:prstGeom prst="rect">
            <a:avLst/>
          </a:prstGeom>
          <a:solidFill>
            <a:srgbClr val="CFE7F5"/>
          </a:solidFill>
          <a:ln w="15875">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5695950" y="2617933"/>
            <a:ext cx="438150" cy="0"/>
          </a:xfrm>
          <a:prstGeom prst="line">
            <a:avLst/>
          </a:prstGeom>
          <a:ln w="2540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162425" y="1517929"/>
            <a:ext cx="3505200" cy="133350"/>
          </a:xfrm>
          <a:prstGeom prst="rect">
            <a:avLst/>
          </a:prstGeom>
          <a:noFill/>
        </p:spPr>
        <p:txBody>
          <a:bodyPr wrap="square" lIns="28575" rIns="28575" tIns="9525" bIns="9525">
            <a:spAutoFit/>
          </a:bodyPr>
          <a:lstStyle/>
          <a:p>
            <a:pPr algn="ctr"/>
            <a:r>
              <a:rPr sz="1100" b="1">
                <a:solidFill>
                  <a:srgbClr val="007BA5"/>
                </a:solidFill>
                <a:latin typeface="Segoe UI"/>
              </a:rPr>
              <a:t>2.85</a:t>
            </a:r>
          </a:p>
        </p:txBody>
      </p:sp>
      <p:sp>
        <p:nvSpPr>
          <p:cNvPr id="37" name="TextBox 36"/>
          <p:cNvSpPr txBox="1"/>
          <p:nvPr/>
        </p:nvSpPr>
        <p:spPr>
          <a:xfrm>
            <a:off x="657225" y="3365510"/>
            <a:ext cx="3505200" cy="285750"/>
          </a:xfrm>
          <a:prstGeom prst="rect">
            <a:avLst/>
          </a:prstGeom>
          <a:noFill/>
        </p:spPr>
        <p:txBody>
          <a:bodyPr wrap="square" lIns="28575" rIns="28575" tIns="9525" bIns="9525">
            <a:spAutoFit/>
          </a:bodyPr>
          <a:lstStyle/>
          <a:p>
            <a:pPr algn="ctr"/>
            <a:r>
              <a:rPr sz="1100" b="0">
                <a:solidFill>
                  <a:srgbClr val="252423"/>
                </a:solidFill>
                <a:latin typeface="Segoe UI"/>
              </a:rPr>
              <a:t>Warp Knitted Fabrics</a:t>
            </a:r>
          </a:p>
        </p:txBody>
      </p:sp>
      <p:sp>
        <p:nvSpPr>
          <p:cNvPr id="38" name="TextBox 37"/>
          <p:cNvSpPr txBox="1"/>
          <p:nvPr/>
        </p:nvSpPr>
        <p:spPr>
          <a:xfrm>
            <a:off x="4162425" y="3365510"/>
            <a:ext cx="3505200" cy="285750"/>
          </a:xfrm>
          <a:prstGeom prst="rect">
            <a:avLst/>
          </a:prstGeom>
          <a:noFill/>
        </p:spPr>
        <p:txBody>
          <a:bodyPr wrap="square" lIns="28575" rIns="28575" tIns="9525" bIns="9525">
            <a:spAutoFit/>
          </a:bodyPr>
          <a:lstStyle/>
          <a:p>
            <a:pPr algn="ctr"/>
            <a:r>
              <a:rPr sz="1100" b="0">
                <a:solidFill>
                  <a:srgbClr val="252423"/>
                </a:solidFill>
                <a:latin typeface="Segoe UI"/>
              </a:rPr>
              <a:t>Weft Knitted Fabrics</a:t>
            </a:r>
          </a:p>
        </p:txBody>
      </p:sp>
      <p:sp>
        <p:nvSpPr>
          <p:cNvPr id="39" name="Rectangle 38"/>
          <p:cNvSpPr/>
          <p:nvPr/>
        </p:nvSpPr>
        <p:spPr>
          <a:xfrm>
            <a:off x="142875" y="3772696"/>
            <a:ext cx="7696200" cy="278368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Price Variation by Country vs Latin America  ·  2026–2036</a:t>
            </a:r>
          </a:p>
        </p:txBody>
      </p:sp>
      <p:cxnSp>
        <p:nvCxnSpPr>
          <p:cNvPr id="41" name="Connector 40"/>
          <p:cNvCxnSpPr/>
          <p:nvPr/>
        </p:nvCxnSpPr>
        <p:spPr>
          <a:xfrm>
            <a:off x="619125" y="433000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19125" y="4761559"/>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19125" y="519311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19125" y="5624673"/>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19125" y="605623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19125" y="4330001"/>
            <a:ext cx="0" cy="1726229"/>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90550" y="4330001"/>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90550" y="4761559"/>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90550" y="5193116"/>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90550" y="5624673"/>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90550" y="6056230"/>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sp>
        <p:nvSpPr>
          <p:cNvPr id="52" name="FMI Scale tick"/>
          <p:cNvSpPr txBox="1"/>
          <p:nvPr/>
        </p:nvSpPr>
        <p:spPr>
          <a:xfrm>
            <a:off x="92869" y="4263326"/>
            <a:ext cx="488156" cy="133350"/>
          </a:xfrm>
          <a:prstGeom prst="rect">
            <a:avLst/>
          </a:prstGeom>
          <a:noFill/>
        </p:spPr>
        <p:txBody>
          <a:bodyPr wrap="square" lIns="28575" rIns="28575" tIns="9525" bIns="9525" anchor="ctr">
            <a:spAutoFit/>
          </a:bodyPr>
          <a:lstStyle/>
          <a:p>
            <a:pPr algn="r"/>
            <a:r>
              <a:rPr sz="1100" b="0">
                <a:solidFill>
                  <a:srgbClr val="605E5C"/>
                </a:solidFill>
                <a:latin typeface="Segoe UI"/>
              </a:rPr>
              <a:t>+6.5%</a:t>
            </a:r>
          </a:p>
        </p:txBody>
      </p:sp>
      <p:sp>
        <p:nvSpPr>
          <p:cNvPr id="53" name="FMI Scale tick"/>
          <p:cNvSpPr txBox="1"/>
          <p:nvPr/>
        </p:nvSpPr>
        <p:spPr>
          <a:xfrm>
            <a:off x="92869" y="4694884"/>
            <a:ext cx="488156" cy="133350"/>
          </a:xfrm>
          <a:prstGeom prst="rect">
            <a:avLst/>
          </a:prstGeom>
          <a:noFill/>
        </p:spPr>
        <p:txBody>
          <a:bodyPr wrap="square" lIns="28575" rIns="28575" tIns="9525" bIns="9525" anchor="ctr">
            <a:spAutoFit/>
          </a:bodyPr>
          <a:lstStyle/>
          <a:p>
            <a:pPr algn="r"/>
            <a:r>
              <a:rPr sz="1100" b="0">
                <a:solidFill>
                  <a:srgbClr val="605E5C"/>
                </a:solidFill>
                <a:latin typeface="Segoe UI"/>
              </a:rPr>
              <a:t>+3.2%</a:t>
            </a:r>
          </a:p>
        </p:txBody>
      </p:sp>
      <p:sp>
        <p:nvSpPr>
          <p:cNvPr id="54" name="FMI Scale tick"/>
          <p:cNvSpPr txBox="1"/>
          <p:nvPr/>
        </p:nvSpPr>
        <p:spPr>
          <a:xfrm>
            <a:off x="219075" y="5126441"/>
            <a:ext cx="361950" cy="133350"/>
          </a:xfrm>
          <a:prstGeom prst="rect">
            <a:avLst/>
          </a:prstGeom>
          <a:noFill/>
        </p:spPr>
        <p:txBody>
          <a:bodyPr wrap="square" lIns="28575" rIns="28575" tIns="9525" bIns="9525" anchor="ctr">
            <a:spAutoFit/>
          </a:bodyPr>
          <a:lstStyle/>
          <a:p>
            <a:pPr algn="r"/>
            <a:r>
              <a:rPr sz="1100" b="1">
                <a:solidFill>
                  <a:srgbClr val="605E5C"/>
                </a:solidFill>
                <a:latin typeface="Segoe UI"/>
              </a:rPr>
              <a:t>Latin America</a:t>
            </a:r>
          </a:p>
        </p:txBody>
      </p:sp>
      <p:sp>
        <p:nvSpPr>
          <p:cNvPr id="55" name="FMI Scale tick"/>
          <p:cNvSpPr txBox="1"/>
          <p:nvPr/>
        </p:nvSpPr>
        <p:spPr>
          <a:xfrm>
            <a:off x="130969" y="5557998"/>
            <a:ext cx="450056" cy="133350"/>
          </a:xfrm>
          <a:prstGeom prst="rect">
            <a:avLst/>
          </a:prstGeom>
          <a:noFill/>
        </p:spPr>
        <p:txBody>
          <a:bodyPr wrap="square" lIns="28575" rIns="28575" tIns="9525" bIns="9525" anchor="ctr">
            <a:spAutoFit/>
          </a:bodyPr>
          <a:lstStyle/>
          <a:p>
            <a:pPr algn="r"/>
            <a:r>
              <a:rPr sz="1100" b="0">
                <a:solidFill>
                  <a:srgbClr val="605E5C"/>
                </a:solidFill>
                <a:latin typeface="Segoe UI"/>
              </a:rPr>
              <a:t>-3.2%</a:t>
            </a:r>
          </a:p>
        </p:txBody>
      </p:sp>
      <p:sp>
        <p:nvSpPr>
          <p:cNvPr id="56" name="FMI Scale tick"/>
          <p:cNvSpPr txBox="1"/>
          <p:nvPr/>
        </p:nvSpPr>
        <p:spPr>
          <a:xfrm>
            <a:off x="130969" y="5989555"/>
            <a:ext cx="450056" cy="133350"/>
          </a:xfrm>
          <a:prstGeom prst="rect">
            <a:avLst/>
          </a:prstGeom>
          <a:noFill/>
        </p:spPr>
        <p:txBody>
          <a:bodyPr wrap="square" lIns="28575" rIns="28575" tIns="9525" bIns="9525" anchor="ctr">
            <a:spAutoFit/>
          </a:bodyPr>
          <a:lstStyle/>
          <a:p>
            <a:pPr algn="r"/>
            <a:r>
              <a:rPr sz="1100" b="0">
                <a:solidFill>
                  <a:srgbClr val="605E5C"/>
                </a:solidFill>
                <a:latin typeface="Segoe UI"/>
              </a:rPr>
              <a:t>-6.5%</a:t>
            </a:r>
          </a:p>
        </p:txBody>
      </p:sp>
      <p:cxnSp>
        <p:nvCxnSpPr>
          <p:cNvPr id="57" name="Connector 56"/>
          <p:cNvCxnSpPr/>
          <p:nvPr/>
        </p:nvCxnSpPr>
        <p:spPr>
          <a:xfrm>
            <a:off x="619125" y="5193116"/>
            <a:ext cx="7048500" cy="0"/>
          </a:xfrm>
          <a:prstGeom prst="line">
            <a:avLst/>
          </a:prstGeom>
          <a:ln w="13970">
            <a:solidFill>
              <a:srgbClr val="605E5C"/>
            </a:solidFill>
            <a:prstDash val="dash"/>
          </a:ln>
          <a:effectLst/>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1565275" y="5069753"/>
            <a:ext cx="457200" cy="123362"/>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MI Data Label"/>
          <p:cNvSpPr txBox="1"/>
          <p:nvPr/>
        </p:nvSpPr>
        <p:spPr>
          <a:xfrm>
            <a:off x="619125" y="4926878"/>
            <a:ext cx="2349500" cy="133350"/>
          </a:xfrm>
          <a:prstGeom prst="rect">
            <a:avLst/>
          </a:prstGeom>
          <a:noFill/>
        </p:spPr>
        <p:txBody>
          <a:bodyPr wrap="square" lIns="28575" rIns="28575" tIns="9525" bIns="9525">
            <a:spAutoFit/>
          </a:bodyPr>
          <a:lstStyle/>
          <a:p>
            <a:pPr algn="ctr"/>
            <a:r>
              <a:rPr sz="1100" b="1">
                <a:solidFill>
                  <a:srgbClr val="252423"/>
                </a:solidFill>
                <a:latin typeface="Segoe UI"/>
              </a:rPr>
              <a:t>+0.9%</a:t>
            </a:r>
          </a:p>
        </p:txBody>
      </p:sp>
      <p:sp>
        <p:nvSpPr>
          <p:cNvPr id="60" name="Rectangle 59"/>
          <p:cNvSpPr/>
          <p:nvPr/>
        </p:nvSpPr>
        <p:spPr>
          <a:xfrm>
            <a:off x="3914775" y="4437287"/>
            <a:ext cx="457200" cy="755829"/>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MI Data Label"/>
          <p:cNvSpPr txBox="1"/>
          <p:nvPr/>
        </p:nvSpPr>
        <p:spPr>
          <a:xfrm>
            <a:off x="2968625" y="4294412"/>
            <a:ext cx="2349500" cy="133350"/>
          </a:xfrm>
          <a:prstGeom prst="rect">
            <a:avLst/>
          </a:prstGeom>
          <a:noFill/>
        </p:spPr>
        <p:txBody>
          <a:bodyPr wrap="square" lIns="28575" rIns="28575" tIns="9525" bIns="9525">
            <a:spAutoFit/>
          </a:bodyPr>
          <a:lstStyle/>
          <a:p>
            <a:pPr algn="ctr"/>
            <a:r>
              <a:rPr sz="1100" b="1">
                <a:solidFill>
                  <a:srgbClr val="252423"/>
                </a:solidFill>
                <a:latin typeface="Segoe UI"/>
              </a:rPr>
              <a:t>+5.7%</a:t>
            </a:r>
          </a:p>
        </p:txBody>
      </p:sp>
      <p:sp>
        <p:nvSpPr>
          <p:cNvPr id="62" name="Rectangle 61"/>
          <p:cNvSpPr/>
          <p:nvPr/>
        </p:nvSpPr>
        <p:spPr>
          <a:xfrm>
            <a:off x="6264275" y="5193116"/>
            <a:ext cx="457200" cy="180703"/>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MI Data Label"/>
          <p:cNvSpPr txBox="1"/>
          <p:nvPr/>
        </p:nvSpPr>
        <p:spPr>
          <a:xfrm>
            <a:off x="5318125" y="5383344"/>
            <a:ext cx="2349500" cy="133350"/>
          </a:xfrm>
          <a:prstGeom prst="rect">
            <a:avLst/>
          </a:prstGeom>
          <a:noFill/>
        </p:spPr>
        <p:txBody>
          <a:bodyPr wrap="square" lIns="28575" rIns="28575" tIns="9525" bIns="9525">
            <a:spAutoFit/>
          </a:bodyPr>
          <a:lstStyle/>
          <a:p>
            <a:pPr algn="ctr"/>
            <a:r>
              <a:rPr sz="1100" b="1">
                <a:solidFill>
                  <a:srgbClr val="252423"/>
                </a:solidFill>
                <a:latin typeface="Segoe UI"/>
              </a:rPr>
              <a:t>-1.4%</a:t>
            </a:r>
          </a:p>
        </p:txBody>
      </p:sp>
      <p:sp>
        <p:nvSpPr>
          <p:cNvPr id="64" name="TextBox 63"/>
          <p:cNvSpPr txBox="1"/>
          <p:nvPr/>
        </p:nvSpPr>
        <p:spPr>
          <a:xfrm>
            <a:off x="619125" y="6242060"/>
            <a:ext cx="2349500" cy="247650"/>
          </a:xfrm>
          <a:prstGeom prst="rect">
            <a:avLst/>
          </a:prstGeom>
          <a:noFill/>
        </p:spPr>
        <p:txBody>
          <a:bodyPr wrap="square" lIns="28575" rIns="28575" tIns="9525" bIns="9525">
            <a:spAutoFit/>
          </a:bodyPr>
          <a:lstStyle/>
          <a:p>
            <a:pPr algn="ctr"/>
            <a:r>
              <a:rPr sz="1100" b="0">
                <a:solidFill>
                  <a:srgbClr val="252423"/>
                </a:solidFill>
                <a:latin typeface="Segoe UI"/>
              </a:rPr>
              <a:t>Brazil</a:t>
            </a:r>
          </a:p>
        </p:txBody>
      </p:sp>
      <p:sp>
        <p:nvSpPr>
          <p:cNvPr id="65" name="TextBox 64"/>
          <p:cNvSpPr txBox="1"/>
          <p:nvPr/>
        </p:nvSpPr>
        <p:spPr>
          <a:xfrm>
            <a:off x="2968625" y="6242060"/>
            <a:ext cx="2349500" cy="247650"/>
          </a:xfrm>
          <a:prstGeom prst="rect">
            <a:avLst/>
          </a:prstGeom>
          <a:noFill/>
        </p:spPr>
        <p:txBody>
          <a:bodyPr wrap="square" lIns="28575" rIns="28575" tIns="9525" bIns="9525">
            <a:spAutoFit/>
          </a:bodyPr>
          <a:lstStyle/>
          <a:p>
            <a:pPr algn="ctr"/>
            <a:r>
              <a:rPr sz="1100" b="0">
                <a:solidFill>
                  <a:srgbClr val="252423"/>
                </a:solidFill>
                <a:latin typeface="Segoe UI"/>
              </a:rPr>
              <a:t>Chile</a:t>
            </a:r>
          </a:p>
        </p:txBody>
      </p:sp>
      <p:sp>
        <p:nvSpPr>
          <p:cNvPr id="66" name="TextBox 65"/>
          <p:cNvSpPr txBox="1"/>
          <p:nvPr/>
        </p:nvSpPr>
        <p:spPr>
          <a:xfrm>
            <a:off x="5318125" y="6242060"/>
            <a:ext cx="2349500" cy="247650"/>
          </a:xfrm>
          <a:prstGeom prst="rect">
            <a:avLst/>
          </a:prstGeom>
          <a:noFill/>
        </p:spPr>
        <p:txBody>
          <a:bodyPr wrap="square" lIns="28575" rIns="28575" tIns="9525" bIns="9525">
            <a:spAutoFit/>
          </a:bodyPr>
          <a:lstStyle/>
          <a:p>
            <a:pPr algn="ctr"/>
            <a:r>
              <a:rPr sz="1100" b="0">
                <a:solidFill>
                  <a:srgbClr val="252423"/>
                </a:solidFill>
                <a:latin typeface="Segoe UI"/>
              </a:rPr>
              <a:t>Rest of LATAM</a:t>
            </a:r>
          </a:p>
        </p:txBody>
      </p:sp>
      <p:sp>
        <p:nvSpPr>
          <p:cNvPr id="67" name="Rectangle 66"/>
          <p:cNvSpPr/>
          <p:nvPr/>
        </p:nvSpPr>
        <p:spPr>
          <a:xfrm>
            <a:off x="7915275" y="1052895"/>
            <a:ext cx="4133850" cy="550349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07BA5"/>
                </a:solidFill>
                <a:latin typeface="Segoe UI"/>
              </a:rPr>
              <a:t>Key Takeaways</a:t>
            </a:r>
          </a:p>
        </p:txBody>
      </p:sp>
      <p:sp>
        <p:nvSpPr>
          <p:cNvPr id="69" name="Rectangle 68"/>
          <p:cNvSpPr/>
          <p:nvPr/>
        </p:nvSpPr>
        <p:spPr>
          <a:xfrm>
            <a:off x="8048625" y="137674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Weft knitted fabrics segment is expected to command the highest average price of US$ 3.29 per Sq. Yard in 2036. Average selling price of performance knitted fabrics is estimated at US$ 2.70 per Sq. Yard in 2025 and is projected to increase to US$ 3.29 per Sq. Yard by 2036.</a:t>
            </a:r>
          </a:p>
          <a:p>
            <a:pPr algn="l">
              <a:lnSpc>
                <a:spcPct val="110000"/>
              </a:lnSpc>
              <a:spcBef>
                <a:spcPts val="0"/>
              </a:spcBef>
              <a:spcAft>
                <a:spcPts val="500"/>
              </a:spcAft>
            </a:pPr>
            <a:r>
              <a:rPr sz="1150" b="0">
                <a:solidFill>
                  <a:srgbClr val="252423"/>
                </a:solidFill>
                <a:latin typeface="Segoe UI"/>
              </a:rPr>
              <a:t>Chile is the highest-priced country, while Brazil is the most price-competitive market. Against the Latin America price of 3.01 US$/Sq. Yards, 2 of 3 countries price above and 1 below.</a:t>
            </a:r>
          </a:p>
          <a:p>
            <a:pPr algn="l">
              <a:lnSpc>
                <a:spcPct val="110000"/>
              </a:lnSpc>
              <a:spcBef>
                <a:spcPts val="0"/>
              </a:spcBef>
              <a:spcAft>
                <a:spcPts val="500"/>
              </a:spcAft>
            </a:pPr>
            <a:r>
              <a:rPr sz="1150" b="0">
                <a:solidFill>
                  <a:srgbClr val="252423"/>
                </a:solidFill>
                <a:latin typeface="Segoe UI"/>
              </a:rPr>
              <a:t>'Chile' is the dearest at +5.7% versus Latin America, 'Rest of LATAM' the cheapest at -1.4% pointing to premiumisation headroom in the lower-priced countries.</a:t>
            </a:r>
          </a:p>
        </p:txBody>
      </p:sp>
      <p:sp>
        <p:nvSpPr>
          <p:cNvPr id="71" name="TextBox 7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Latin America Performance Knitted Fabrics Market Summary, By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Latin America market value growth, incremental opportunity and the geographies driving it, 2021–2036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Latin America</a:t>
            </a:r>
          </a:p>
        </p:txBody>
      </p:sp>
      <p:sp>
        <p:nvSpPr>
          <p:cNvPr id="9" name="Rounded Rectangle 8"/>
          <p:cNvSpPr/>
          <p:nvPr/>
        </p:nvSpPr>
        <p:spPr>
          <a:xfrm>
            <a:off x="142875"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MARKET SIZE (US$ MN)</a:t>
            </a:r>
          </a:p>
          <a:p>
            <a:pPr algn="ctr">
              <a:lnSpc>
                <a:spcPct val="95000"/>
              </a:lnSpc>
            </a:pPr>
            <a:r>
              <a:rPr sz="1500" b="1">
                <a:solidFill>
                  <a:srgbClr val="00A4DC"/>
                </a:solidFill>
                <a:latin typeface="Segoe UI"/>
              </a:rPr>
              <a:t>363.9</a:t>
            </a:r>
          </a:p>
        </p:txBody>
      </p:sp>
      <p:sp>
        <p:nvSpPr>
          <p:cNvPr id="10" name="Rounded Rectangle 9"/>
          <p:cNvSpPr/>
          <p:nvPr/>
        </p:nvSpPr>
        <p:spPr>
          <a:xfrm>
            <a:off x="31432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709.5</a:t>
            </a:r>
          </a:p>
        </p:txBody>
      </p:sp>
      <p:sp>
        <p:nvSpPr>
          <p:cNvPr id="11" name="Rounded Rectangle 10"/>
          <p:cNvSpPr/>
          <p:nvPr/>
        </p:nvSpPr>
        <p:spPr>
          <a:xfrm>
            <a:off x="61531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2021–2025</a:t>
            </a:r>
          </a:p>
          <a:p>
            <a:pPr algn="ctr">
              <a:lnSpc>
                <a:spcPct val="95000"/>
              </a:lnSpc>
            </a:pPr>
            <a:r>
              <a:rPr sz="1500" b="1">
                <a:solidFill>
                  <a:srgbClr val="00A4DC"/>
                </a:solidFill>
                <a:latin typeface="Segoe UI"/>
              </a:rPr>
              <a:t>5.2%</a:t>
            </a:r>
          </a:p>
        </p:txBody>
      </p:sp>
      <p:sp>
        <p:nvSpPr>
          <p:cNvPr id="12" name="Rounded Rectangle 11"/>
          <p:cNvSpPr/>
          <p:nvPr/>
        </p:nvSpPr>
        <p:spPr>
          <a:xfrm>
            <a:off x="91630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1500" b="1">
                <a:solidFill>
                  <a:srgbClr val="00A4DC"/>
                </a:solidFill>
                <a:latin typeface="Segoe UI"/>
              </a:rPr>
              <a:t>6.9%</a:t>
            </a:r>
          </a:p>
        </p:txBody>
      </p:sp>
      <p:sp>
        <p:nvSpPr>
          <p:cNvPr id="13" name="Rectangle 12"/>
          <p:cNvSpPr/>
          <p:nvPr/>
        </p:nvSpPr>
        <p:spPr>
          <a:xfrm>
            <a:off x="142875" y="1627887"/>
            <a:ext cx="769620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(2021–2036)</a:t>
            </a:r>
          </a:p>
        </p:txBody>
      </p:sp>
      <p:graphicFrame>
        <p:nvGraphicFramePr>
          <p:cNvPr id="15" name="Chart 14"/>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6" name="Rectangle 15"/>
          <p:cNvSpPr/>
          <p:nvPr/>
        </p:nvSpPr>
        <p:spPr>
          <a:xfrm>
            <a:off x="142875" y="4037375"/>
            <a:ext cx="769620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Incremental Market Addition (US$ Mn)</a:t>
            </a:r>
          </a:p>
        </p:txBody>
      </p:sp>
      <p:graphicFrame>
        <p:nvGraphicFramePr>
          <p:cNvPr id="18" name="Chart 17"/>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9" name="Rectangle 18"/>
          <p:cNvSpPr/>
          <p:nvPr/>
        </p:nvSpPr>
        <p:spPr>
          <a:xfrm>
            <a:off x="7915275" y="1627887"/>
            <a:ext cx="4133850" cy="314171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21" name="Rectangle 20"/>
          <p:cNvSpPr/>
          <p:nvPr/>
        </p:nvSpPr>
        <p:spPr>
          <a:xfrm>
            <a:off x="8048625" y="195173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2037462"/>
            <a:ext cx="3867150" cy="265594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52423"/>
                </a:solidFill>
                <a:latin typeface="Segoe UI"/>
              </a:rPr>
              <a:t>Performance knitted fabrics market value in Latin America is expected to increase 2.1X between 2025 and 2036. In 2025, the performance knitted fabrics market in Latin America was valued at US$ 342.5 Mn and is estimated to account for US$ 363.9 Mn by the end of 2026, reflecting a Y-o-Y growth rate of 6.2%.</a:t>
            </a:r>
          </a:p>
          <a:p>
            <a:pPr algn="l">
              <a:lnSpc>
                <a:spcPct val="110000"/>
              </a:lnSpc>
              <a:spcBef>
                <a:spcPts val="0"/>
              </a:spcBef>
              <a:spcAft>
                <a:spcPts val="500"/>
              </a:spcAft>
            </a:pPr>
            <a:r>
              <a:rPr sz="1100" b="0">
                <a:solidFill>
                  <a:srgbClr val="252423"/>
                </a:solidFill>
                <a:latin typeface="Segoe UI"/>
              </a:rPr>
              <a:t>The market in Latin America is expected to account for US$ 709.5 Mn by 2036 at a CAGR of 6.9% over the forecast period. Latin America is expected to create an incremental opportunity of US$ 367.0 Mn for the overall performance knitted fabrics market from 2025 to 2036.</a:t>
            </a:r>
          </a:p>
          <a:p>
            <a:pPr algn="l">
              <a:lnSpc>
                <a:spcPct val="110000"/>
              </a:lnSpc>
              <a:spcBef>
                <a:spcPts val="0"/>
              </a:spcBef>
              <a:spcAft>
                <a:spcPts val="500"/>
              </a:spcAft>
            </a:pPr>
            <a:r>
              <a:rPr sz="1100" b="0">
                <a:solidFill>
                  <a:srgbClr val="252423"/>
                </a:solidFill>
                <a:latin typeface="Segoe UI"/>
              </a:rPr>
              <a:t>Absolute $ value for 2026 is estimated to be US$ 21.3 Mn.</a:t>
            </a:r>
          </a:p>
        </p:txBody>
      </p:sp>
      <p:sp>
        <p:nvSpPr>
          <p:cNvPr id="23" name="Rectangle 22"/>
          <p:cNvSpPr/>
          <p:nvPr/>
        </p:nvSpPr>
        <p:spPr>
          <a:xfrm>
            <a:off x="7915275" y="4824367"/>
            <a:ext cx="4133850" cy="173201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910092"/>
            <a:ext cx="3867150" cy="209550"/>
          </a:xfrm>
          <a:prstGeom prst="rect">
            <a:avLst/>
          </a:prstGeom>
          <a:noFill/>
        </p:spPr>
        <p:txBody>
          <a:bodyPr wrap="square" lIns="0" rIns="19050" tIns="9525" bIns="9525">
            <a:spAutoFit/>
          </a:bodyPr>
          <a:lstStyle/>
          <a:p>
            <a:pPr algn="l"/>
            <a:r>
              <a:rPr sz="1300" b="1">
                <a:solidFill>
                  <a:srgbClr val="007BA5"/>
                </a:solidFill>
                <a:latin typeface="Segoe UI"/>
              </a:rPr>
              <a:t>Growth Drivers</a:t>
            </a:r>
          </a:p>
        </p:txBody>
      </p:sp>
      <p:sp>
        <p:nvSpPr>
          <p:cNvPr id="25" name="Rectangle 24"/>
          <p:cNvSpPr/>
          <p:nvPr/>
        </p:nvSpPr>
        <p:spPr>
          <a:xfrm>
            <a:off x="8048625" y="514821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5233942"/>
            <a:ext cx="3867150" cy="124624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'Rest of LATAM' leads regional growth at 7.1% CAGR.</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Demand concentrates in 'Weft Knitted Fabrics' within Fabric Construction.</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Product innovation and premiumisation lifting value.</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Expanding end-use applications and access.</a:t>
            </a:r>
          </a:p>
        </p:txBody>
      </p:sp>
      <p:sp>
        <p:nvSpPr>
          <p:cNvPr id="27" name="TextBox 2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Latin America Performance Knitted Fabrics Market Volume &amp; Value Analysis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volume and value growth of the Latin America market and the incremental $ opportunity it creates, 2021–2036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Latin America</a:t>
            </a:r>
          </a:p>
        </p:txBody>
      </p:sp>
      <p:sp>
        <p:nvSpPr>
          <p:cNvPr id="9" name="Rectangle 8"/>
          <p:cNvSpPr/>
          <p:nvPr/>
        </p:nvSpPr>
        <p:spPr>
          <a:xfrm>
            <a:off x="142875" y="981075"/>
            <a:ext cx="4695825" cy="2524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Latin America Market, 2021–2025 (Historical)</a:t>
            </a:r>
          </a:p>
        </p:txBody>
      </p:sp>
      <p:graphicFrame>
        <p:nvGraphicFramePr>
          <p:cNvPr id="11" name="Chart 10"/>
          <p:cNvGraphicFramePr>
            <a:graphicFrameLocks noGrp="1"/>
          </p:cNvGraphicFramePr>
          <p:nvPr/>
        </p:nvGraphicFramePr>
        <p:xfrm>
          <a:off x="238125" y="1266825"/>
          <a:ext cx="4505325" cy="2181225"/>
        </p:xfrm>
        <a:graphic>
          <a:graphicData uri="http://schemas.openxmlformats.org/drawingml/2006/chart">
            <c:chart xmlns:c="http://schemas.openxmlformats.org/drawingml/2006/chart" r:id="rId3"/>
          </a:graphicData>
        </a:graphic>
      </p:graphicFrame>
      <p:sp>
        <p:nvSpPr>
          <p:cNvPr id="12" name="Rectangle 11"/>
          <p:cNvSpPr/>
          <p:nvPr/>
        </p:nvSpPr>
        <p:spPr>
          <a:xfrm>
            <a:off x="4991100" y="981075"/>
            <a:ext cx="7048500" cy="2524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Latin America Market, 2026–2036 (Forecast)</a:t>
            </a:r>
          </a:p>
        </p:txBody>
      </p:sp>
      <p:graphicFrame>
        <p:nvGraphicFramePr>
          <p:cNvPr id="14" name="Chart 13"/>
          <p:cNvGraphicFramePr>
            <a:graphicFrameLocks noGrp="1"/>
          </p:cNvGraphicFramePr>
          <p:nvPr/>
        </p:nvGraphicFramePr>
        <p:xfrm>
          <a:off x="5086350" y="1266825"/>
          <a:ext cx="6858000" cy="2181225"/>
        </p:xfrm>
        <a:graphic>
          <a:graphicData uri="http://schemas.openxmlformats.org/drawingml/2006/chart">
            <c:chart xmlns:c="http://schemas.openxmlformats.org/drawingml/2006/chart" r:id="rId4"/>
          </a:graphicData>
        </a:graphic>
      </p:graphicFrame>
      <p:sp>
        <p:nvSpPr>
          <p:cNvPr id="15" name="Rounded Rectangle 14"/>
          <p:cNvSpPr/>
          <p:nvPr/>
        </p:nvSpPr>
        <p:spPr>
          <a:xfrm>
            <a:off x="142875" y="3638550"/>
            <a:ext cx="25146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VALUE CAGR 2021–2025</a:t>
            </a:r>
          </a:p>
          <a:p>
            <a:pPr algn="ctr">
              <a:lnSpc>
                <a:spcPct val="95000"/>
              </a:lnSpc>
            </a:pPr>
            <a:r>
              <a:rPr sz="1500" b="1">
                <a:solidFill>
                  <a:srgbClr val="00A4DC"/>
                </a:solidFill>
                <a:latin typeface="Segoe UI"/>
              </a:rPr>
              <a:t>5.2%</a:t>
            </a:r>
          </a:p>
        </p:txBody>
      </p:sp>
      <p:sp>
        <p:nvSpPr>
          <p:cNvPr id="16" name="Rounded Rectangle 15"/>
          <p:cNvSpPr/>
          <p:nvPr/>
        </p:nvSpPr>
        <p:spPr>
          <a:xfrm>
            <a:off x="2809875" y="3638550"/>
            <a:ext cx="25146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VALUE CAGR 2026–2036</a:t>
            </a:r>
          </a:p>
          <a:p>
            <a:pPr algn="ctr">
              <a:lnSpc>
                <a:spcPct val="95000"/>
              </a:lnSpc>
            </a:pPr>
            <a:r>
              <a:rPr sz="1500" b="1">
                <a:solidFill>
                  <a:srgbClr val="00A4DC"/>
                </a:solidFill>
                <a:latin typeface="Segoe UI"/>
              </a:rPr>
              <a:t>6.9%</a:t>
            </a:r>
          </a:p>
        </p:txBody>
      </p:sp>
      <p:sp>
        <p:nvSpPr>
          <p:cNvPr id="17" name="Rounded Rectangle 16"/>
          <p:cNvSpPr/>
          <p:nvPr/>
        </p:nvSpPr>
        <p:spPr>
          <a:xfrm>
            <a:off x="5476875" y="3638550"/>
            <a:ext cx="32004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INCREMENTAL $ OPPORTUNITY 2026–2031</a:t>
            </a:r>
          </a:p>
          <a:p>
            <a:pPr algn="ctr">
              <a:lnSpc>
                <a:spcPct val="95000"/>
              </a:lnSpc>
            </a:pPr>
            <a:r>
              <a:rPr sz="1500" b="1">
                <a:solidFill>
                  <a:srgbClr val="00A4DC"/>
                </a:solidFill>
                <a:latin typeface="Segoe UI"/>
              </a:rPr>
              <a:t>140.4 US$ Mn</a:t>
            </a:r>
          </a:p>
        </p:txBody>
      </p:sp>
      <p:sp>
        <p:nvSpPr>
          <p:cNvPr id="18" name="Rounded Rectangle 17"/>
          <p:cNvSpPr/>
          <p:nvPr/>
        </p:nvSpPr>
        <p:spPr>
          <a:xfrm>
            <a:off x="8829675" y="3638550"/>
            <a:ext cx="32004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INCREMENTAL $ OPPORTUNITY 2026–2036</a:t>
            </a:r>
          </a:p>
          <a:p>
            <a:pPr algn="ctr">
              <a:lnSpc>
                <a:spcPct val="95000"/>
              </a:lnSpc>
            </a:pPr>
            <a:r>
              <a:rPr sz="1500" b="1">
                <a:solidFill>
                  <a:srgbClr val="00A4DC"/>
                </a:solidFill>
                <a:latin typeface="Segoe UI"/>
              </a:rPr>
              <a:t>345.7 US$ Mn</a:t>
            </a:r>
          </a:p>
        </p:txBody>
      </p:sp>
      <p:sp>
        <p:nvSpPr>
          <p:cNvPr id="19" name="Rectangle 18"/>
          <p:cNvSpPr/>
          <p:nvPr/>
        </p:nvSpPr>
        <p:spPr>
          <a:xfrm>
            <a:off x="142875" y="4457700"/>
            <a:ext cx="11906250" cy="21526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543425"/>
            <a:ext cx="11639550" cy="209550"/>
          </a:xfrm>
          <a:prstGeom prst="rect">
            <a:avLst/>
          </a:prstGeom>
          <a:noFill/>
        </p:spPr>
        <p:txBody>
          <a:bodyPr wrap="square" lIns="0" rIns="19050" tIns="9525" bIns="9525">
            <a:spAutoFit/>
          </a:bodyPr>
          <a:lstStyle/>
          <a:p>
            <a:pPr algn="l"/>
            <a:r>
              <a:rPr sz="1300" b="1">
                <a:solidFill>
                  <a:srgbClr val="007BA5"/>
                </a:solidFill>
                <a:latin typeface="Segoe UI"/>
              </a:rPr>
              <a:t>Latin America Volume &amp; Value Analysis</a:t>
            </a:r>
          </a:p>
        </p:txBody>
      </p:sp>
      <p:sp>
        <p:nvSpPr>
          <p:cNvPr id="21" name="Rectangle 20"/>
          <p:cNvSpPr/>
          <p:nvPr/>
        </p:nvSpPr>
        <p:spPr>
          <a:xfrm>
            <a:off x="276225" y="478155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867275"/>
            <a:ext cx="11639550" cy="16668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52423"/>
                </a:solidFill>
                <a:latin typeface="Segoe UI"/>
              </a:rPr>
              <a:t>Performance knitted fabrics market value in Latin America is expected to increase 2.1X between 2025 and 2036. In 2025, the performance knitted fabrics market in Latin America was valued at US$ 342.5 Mn and is estimated to account for US$ 363.9 Mn by the end of 2026, reflecting a Y-o-Y growth rate of 6.2%. The market in Latin America is expected to account for US$ 709.5 Mn by 2036 at a CAGR of 6.9% over the forecast period.</a:t>
            </a:r>
          </a:p>
          <a:p>
            <a:pPr algn="l">
              <a:lnSpc>
                <a:spcPct val="110000"/>
              </a:lnSpc>
              <a:spcBef>
                <a:spcPts val="0"/>
              </a:spcBef>
              <a:spcAft>
                <a:spcPts val="500"/>
              </a:spcAft>
            </a:pPr>
            <a:r>
              <a:rPr sz="1100" b="0">
                <a:solidFill>
                  <a:srgbClr val="252423"/>
                </a:solidFill>
                <a:latin typeface="Segoe UI"/>
              </a:rPr>
              <a:t>Latin America is expected to create an incremental opportunity of US$ 367.0 Mn for the overall performance knitted fabrics market from 2025 to 2036. Absolute $ value for 2026 is estimated to be US$ 21.3 Mn. Latin America performance knitted fabrics market is projected to register 1.7X increase in volume by the end of forecast period, 2036.</a:t>
            </a:r>
          </a:p>
          <a:p>
            <a:pPr algn="l">
              <a:lnSpc>
                <a:spcPct val="110000"/>
              </a:lnSpc>
              <a:spcBef>
                <a:spcPts val="0"/>
              </a:spcBef>
              <a:spcAft>
                <a:spcPts val="500"/>
              </a:spcAft>
            </a:pPr>
            <a:r>
              <a:rPr sz="1100" b="0">
                <a:solidFill>
                  <a:srgbClr val="252423"/>
                </a:solidFill>
                <a:latin typeface="Segoe UI"/>
              </a:rPr>
              <a:t>Latin America performance knitted fabrics market volume stood at 126.7 Mn Sq. Yards in 2025 and is expected to reach 216.0 Mn Sq. Yards by 2036 end, at a CAGR of 5.0%. Value is projected to grow faster than volume over the forecast period, owing to an increase in average selling price.</a:t>
            </a:r>
          </a:p>
        </p:txBody>
      </p:sp>
      <p:sp>
        <p:nvSpPr>
          <p:cNvPr id="23" name="TextBox 2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Latin America Performance Knitted Fabrics Market Summary Country Indices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outlook ranking 2036 market size, growth and absolute-growth indices to highlight the strongest markets</a:t>
            </a:r>
          </a:p>
        </p:txBody>
      </p:sp>
      <p:sp>
        <p:nvSpPr>
          <p:cNvPr id="8" name="Rectangle 7"/>
          <p:cNvSpPr/>
          <p:nvPr/>
        </p:nvSpPr>
        <p:spPr>
          <a:xfrm>
            <a:off x="142875" y="1007261"/>
            <a:ext cx="3933825" cy="244599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Top 10 Countries By CAGR Index</a:t>
            </a:r>
          </a:p>
        </p:txBody>
      </p:sp>
      <p:graphicFrame>
        <p:nvGraphicFramePr>
          <p:cNvPr id="10" name="Chart 9"/>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1" name="Rectangle 10"/>
          <p:cNvSpPr/>
          <p:nvPr/>
        </p:nvSpPr>
        <p:spPr>
          <a:xfrm>
            <a:off x="142875" y="3489764"/>
            <a:ext cx="3933825" cy="243686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3565964"/>
          <a:ext cx="3914776" cy="2132069"/>
        </p:xfrm>
        <a:graphic>
          <a:graphicData uri="http://schemas.openxmlformats.org/drawingml/2006/table">
            <a:tbl>
              <a:tblPr>
                <a:tableStyleId>{5C22544A-7EE6-4342-B048-85BDC9FD1C3A}</a:tableStyleId>
              </a:tblPr>
              <a:tblGrid>
                <a:gridCol w="750141"/>
                <a:gridCol w="1057686"/>
                <a:gridCol w="724604"/>
                <a:gridCol w="1382345"/>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CAGR Index</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 Opp (US$ Mn)</a:t>
                      </a:r>
                      <a:endParaRPr sz="1100"/>
                    </a:p>
                  </a:txBody>
                  <a:tcPr marL="47625" marR="38100" marT="19050" marB="19050" anchor="ctr">
                    <a:solidFill>
                      <a:srgbClr val="007BA5"/>
                    </a:solidFill>
                  </a:tcPr>
                </a:tc>
              </a:tr>
              <a:tr h="958402">
                <a:tc>
                  <a:txBody>
                    <a:bodyPr wrap="none"/>
                    <a:lstStyle/>
                    <a:p>
                      <a:pPr algn="l"/>
                      <a:r>
                        <a:rPr sz="1100" b="1">
                          <a:solidFill>
                            <a:srgbClr val="252423"/>
                          </a:solidFill>
                          <a:latin typeface="Segoe UI"/>
                        </a:rPr>
                        <a:t>Brazil</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133.2</a:t>
                      </a:r>
                      <a:endParaRPr sz="1100"/>
                    </a:p>
                  </a:txBody>
                  <a:tcPr marL="47625" marR="38100" marT="19050" marB="19050" anchor="ctr">
                    <a:solidFill>
                      <a:srgbClr val="FFFFFF"/>
                    </a:solidFill>
                  </a:tcPr>
                </a:tc>
              </a:tr>
              <a:tr h="958402">
                <a:tc>
                  <a:txBody>
                    <a:bodyPr wrap="none"/>
                    <a:lstStyle/>
                    <a:p>
                      <a:pPr algn="l"/>
                      <a:r>
                        <a:rPr sz="1100" b="1">
                          <a:solidFill>
                            <a:srgbClr val="252423"/>
                          </a:solidFill>
                          <a:latin typeface="Segoe UI"/>
                        </a:rPr>
                        <a:t>Chile</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22.9</a:t>
                      </a:r>
                      <a:endParaRPr sz="1100"/>
                    </a:p>
                  </a:txBody>
                  <a:tcPr marL="47625" marR="38100" marT="19050" marB="19050" anchor="ctr">
                    <a:solidFill>
                      <a:srgbClr val="F2FAFD"/>
                    </a:solidFill>
                  </a:tcPr>
                </a:tc>
              </a:tr>
            </a:tbl>
          </a:graphicData>
        </a:graphic>
      </p:graphicFrame>
      <p:sp>
        <p:nvSpPr>
          <p:cNvPr id="13" name="TextBox 12"/>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4" name="Rectangle 13"/>
          <p:cNvSpPr/>
          <p:nvPr/>
        </p:nvSpPr>
        <p:spPr>
          <a:xfrm>
            <a:off x="4114800" y="1007261"/>
            <a:ext cx="3933825" cy="4928498"/>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2036 Market By Country (US$ Mn)  ·  Top 10</a:t>
            </a:r>
          </a:p>
        </p:txBody>
      </p:sp>
      <p:sp>
        <p:nvSpPr>
          <p:cNvPr id="16" name="Rectangle 15"/>
          <p:cNvSpPr/>
          <p:nvPr/>
        </p:nvSpPr>
        <p:spPr>
          <a:xfrm>
            <a:off x="4210050" y="1293011"/>
            <a:ext cx="3743325" cy="3896330"/>
          </a:xfrm>
          <a:prstGeom prst="rect">
            <a:avLst/>
          </a:prstGeom>
          <a:solidFill>
            <a:srgbClr val="00A4D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Brazil</a:t>
            </a:r>
          </a:p>
          <a:p>
            <a:pPr algn="ctr"/>
            <a:r>
              <a:rPr sz="1100" b="0">
                <a:solidFill>
                  <a:srgbClr val="FFFFFF"/>
                </a:solidFill>
                <a:latin typeface="Segoe UI"/>
              </a:rPr>
              <a:t>277</a:t>
            </a:r>
          </a:p>
        </p:txBody>
      </p:sp>
      <p:sp>
        <p:nvSpPr>
          <p:cNvPr id="17" name="Rectangle 16"/>
          <p:cNvSpPr/>
          <p:nvPr/>
        </p:nvSpPr>
        <p:spPr>
          <a:xfrm>
            <a:off x="4210050" y="5189341"/>
            <a:ext cx="3743325" cy="689269"/>
          </a:xfrm>
          <a:prstGeom prst="rect">
            <a:avLst/>
          </a:prstGeom>
          <a:solidFill>
            <a:srgbClr val="6ECFF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Chile</a:t>
            </a:r>
          </a:p>
          <a:p>
            <a:pPr algn="ctr"/>
            <a:r>
              <a:rPr sz="1100" b="0">
                <a:solidFill>
                  <a:srgbClr val="252423"/>
                </a:solidFill>
                <a:latin typeface="Segoe UI"/>
              </a:rPr>
              <a:t>49.0</a:t>
            </a:r>
          </a:p>
        </p:txBody>
      </p:sp>
      <p:sp>
        <p:nvSpPr>
          <p:cNvPr id="18" name="Rectangle 17"/>
          <p:cNvSpPr/>
          <p:nvPr/>
        </p:nvSpPr>
        <p:spPr>
          <a:xfrm>
            <a:off x="8086725" y="1007261"/>
            <a:ext cx="3933825" cy="243686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Top 10 Countries By Absolute Index</a:t>
            </a:r>
          </a:p>
        </p:txBody>
      </p:sp>
      <p:graphicFrame>
        <p:nvGraphicFramePr>
          <p:cNvPr id="20" name="Chart 19"/>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1" name="Rectangle 20"/>
          <p:cNvSpPr/>
          <p:nvPr/>
        </p:nvSpPr>
        <p:spPr>
          <a:xfrm>
            <a:off x="8086725" y="3471510"/>
            <a:ext cx="3933825" cy="246424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2" name="Table 21"/>
          <p:cNvGraphicFramePr>
            <a:graphicFrameLocks noGrp="1"/>
          </p:cNvGraphicFramePr>
          <p:nvPr/>
        </p:nvGraphicFramePr>
        <p:xfrm>
          <a:off x="8096250" y="3547710"/>
          <a:ext cx="3914774" cy="2159449"/>
        </p:xfrm>
        <a:graphic>
          <a:graphicData uri="http://schemas.openxmlformats.org/drawingml/2006/table">
            <a:tbl>
              <a:tblPr>
                <a:tableStyleId>{5C22544A-7EE6-4342-B048-85BDC9FD1C3A}</a:tableStyleId>
              </a:tblPr>
              <a:tblGrid>
                <a:gridCol w="704897"/>
                <a:gridCol w="1230006"/>
                <a:gridCol w="680900"/>
                <a:gridCol w="1298971"/>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Absolute Index</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 Opp (US$ Mn)</a:t>
                      </a:r>
                      <a:endParaRPr sz="1100"/>
                    </a:p>
                  </a:txBody>
                  <a:tcPr marL="47625" marR="38100" marT="19050" marB="19050" anchor="ctr">
                    <a:solidFill>
                      <a:srgbClr val="007BA5"/>
                    </a:solidFill>
                  </a:tcPr>
                </a:tc>
              </a:tr>
              <a:tr h="972092">
                <a:tc>
                  <a:txBody>
                    <a:bodyPr wrap="none"/>
                    <a:lstStyle/>
                    <a:p>
                      <a:pPr algn="l"/>
                      <a:r>
                        <a:rPr sz="1100" b="1">
                          <a:solidFill>
                            <a:srgbClr val="252423"/>
                          </a:solidFill>
                          <a:latin typeface="Segoe UI"/>
                        </a:rPr>
                        <a:t>Brazil</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133.2</a:t>
                      </a:r>
                      <a:endParaRPr sz="1100"/>
                    </a:p>
                  </a:txBody>
                  <a:tcPr marL="47625" marR="38100" marT="19050" marB="19050" anchor="ctr">
                    <a:solidFill>
                      <a:srgbClr val="FFFFFF"/>
                    </a:solidFill>
                  </a:tcPr>
                </a:tc>
              </a:tr>
              <a:tr h="972092">
                <a:tc>
                  <a:txBody>
                    <a:bodyPr wrap="none"/>
                    <a:lstStyle/>
                    <a:p>
                      <a:pPr algn="l"/>
                      <a:r>
                        <a:rPr sz="1100" b="1">
                          <a:solidFill>
                            <a:srgbClr val="252423"/>
                          </a:solidFill>
                          <a:latin typeface="Segoe UI"/>
                        </a:rPr>
                        <a:t>Chile</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22.9</a:t>
                      </a:r>
                      <a:endParaRPr sz="1100"/>
                    </a:p>
                  </a:txBody>
                  <a:tcPr marL="47625" marR="38100" marT="19050" marB="19050" anchor="ctr">
                    <a:solidFill>
                      <a:srgbClr val="F2FAFD"/>
                    </a:solidFill>
                  </a:tcPr>
                </a:tc>
              </a:tr>
            </a:tbl>
          </a:graphicData>
        </a:graphic>
      </p:graphicFrame>
      <p:sp>
        <p:nvSpPr>
          <p:cNvPr id="23" name="TextBox 22"/>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24" name="Rectangle 23"/>
          <p:cNvSpPr/>
          <p:nvPr/>
        </p:nvSpPr>
        <p:spPr>
          <a:xfrm>
            <a:off x="142875" y="6027028"/>
            <a:ext cx="10858500" cy="60237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Brazil performance knitted fabrics market is projected to register 5.7X higher value than Chile in 2036. Brazil posts the highest CAGR Index (98), growing at 6.8% against the Latin America benchmark, while Brazil offers the largest absolute opportunity 133.2 US$ Mn of incremental market between 2026 and 2036 (39% of the Latin America increment).</a:t>
            </a:r>
          </a:p>
        </p:txBody>
      </p:sp>
      <p:sp>
        <p:nvSpPr>
          <p:cNvPr id="25" name="TextBox 2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Supply Side Trends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recent developments, investments and R&amp;D activity shaping the supply side of the market</a:t>
            </a:r>
          </a:p>
        </p:txBody>
      </p:sp>
      <p:sp>
        <p:nvSpPr>
          <p:cNvPr id="8" name="Rectangle 7"/>
          <p:cNvSpPr/>
          <p:nvPr/>
        </p:nvSpPr>
        <p:spPr>
          <a:xfrm>
            <a:off x="142875" y="981075"/>
            <a:ext cx="58769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Recent Developments &amp; Key Industry Activities</a:t>
            </a:r>
          </a:p>
        </p:txBody>
      </p:sp>
      <p:sp>
        <p:nvSpPr>
          <p:cNvPr id="10" name="Rectangle 9"/>
          <p:cNvSpPr/>
          <p:nvPr/>
        </p:nvSpPr>
        <p:spPr>
          <a:xfrm>
            <a:off x="276225"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Capacity and product development are concentrating in 'Warp Knitted Fabrics' and Rest of LATAM.</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Portfolio expansion tracks the shift toward higher-growth fabric construction categories.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Commercial focus is intensifying across Rest of LATAM and Rest of LATAM.</a:t>
            </a:r>
          </a:p>
        </p:txBody>
      </p:sp>
      <p:sp>
        <p:nvSpPr>
          <p:cNvPr id="12" name="Rectangle 11"/>
          <p:cNvSpPr/>
          <p:nvPr/>
        </p:nvSpPr>
        <p:spPr>
          <a:xfrm>
            <a:off x="6172200" y="981075"/>
            <a:ext cx="58769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14" name="Rectangle 13"/>
          <p:cNvSpPr/>
          <p:nvPr/>
        </p:nvSpPr>
        <p:spPr>
          <a:xfrm>
            <a:off x="6305550"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2026 size 363.9 US$ Mn; 2036 709.5 US$ Mn.</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Forecast CAGR 6.9% (2026–2036).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Lead category 'Weft Knitted Fabrics' 70.3% of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Lead country Rest of LATAM 54.0%.</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Incremental opportunity 345.7 US$ Mn.</a:t>
            </a:r>
          </a:p>
        </p:txBody>
      </p:sp>
      <p:sp>
        <p:nvSpPr>
          <p:cNvPr id="16" name="Rectangle 15"/>
          <p:cNvSpPr/>
          <p:nvPr/>
        </p:nvSpPr>
        <p:spPr>
          <a:xfrm>
            <a:off x="142875" y="2895600"/>
            <a:ext cx="5876925" cy="1285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5610225" cy="209550"/>
          </a:xfrm>
          <a:prstGeom prst="rect">
            <a:avLst/>
          </a:prstGeom>
          <a:noFill/>
        </p:spPr>
        <p:txBody>
          <a:bodyPr wrap="square" lIns="0" rIns="19050" tIns="9525" bIns="9525">
            <a:spAutoFit/>
          </a:bodyPr>
          <a:lstStyle/>
          <a:p>
            <a:pPr algn="l"/>
            <a:r>
              <a:rPr sz="1300" b="1">
                <a:solidFill>
                  <a:srgbClr val="007BA5"/>
                </a:solidFill>
                <a:latin typeface="Segoe UI"/>
              </a:rPr>
              <a:t>Strategic Acquisitions &amp; New Investments</a:t>
            </a:r>
          </a:p>
        </p:txBody>
      </p:sp>
      <p:sp>
        <p:nvSpPr>
          <p:cNvPr id="18" name="Rectangle 17"/>
          <p:cNvSpPr/>
          <p:nvPr/>
        </p:nvSpPr>
        <p:spPr>
          <a:xfrm>
            <a:off x="276225" y="32194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Investment is flowing toward the fastest-growing tier 'Warp Knitted Fabrics' (7.7%).</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Rest of LATAM (7.1%) is a priority country for new capacity.</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Scale players anchor around 'Weft Knitted Fabrics' (70.3% share).</a:t>
            </a:r>
          </a:p>
        </p:txBody>
      </p:sp>
      <p:sp>
        <p:nvSpPr>
          <p:cNvPr id="20" name="Rectangle 19"/>
          <p:cNvSpPr/>
          <p:nvPr/>
        </p:nvSpPr>
        <p:spPr>
          <a:xfrm>
            <a:off x="6172200" y="2895600"/>
            <a:ext cx="5876925" cy="1285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2981325"/>
            <a:ext cx="5610225" cy="209550"/>
          </a:xfrm>
          <a:prstGeom prst="rect">
            <a:avLst/>
          </a:prstGeom>
          <a:noFill/>
        </p:spPr>
        <p:txBody>
          <a:bodyPr wrap="square" lIns="0" rIns="19050" tIns="9525" bIns="9525">
            <a:spAutoFit/>
          </a:bodyPr>
          <a:lstStyle/>
          <a:p>
            <a:pPr algn="l"/>
            <a:r>
              <a:rPr sz="1300" b="1">
                <a:solidFill>
                  <a:srgbClr val="007BA5"/>
                </a:solidFill>
                <a:latin typeface="Segoe UI"/>
              </a:rPr>
              <a:t>Substantial Investment in R&amp;D</a:t>
            </a:r>
          </a:p>
        </p:txBody>
      </p:sp>
      <p:sp>
        <p:nvSpPr>
          <p:cNvPr id="22" name="Rectangle 21"/>
          <p:cNvSpPr/>
          <p:nvPr/>
        </p:nvSpPr>
        <p:spPr>
          <a:xfrm>
            <a:off x="6305550" y="32194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R&amp;D aligns with the migration to 'Warp Knitted Fabrics' and adjacent premium tiers.</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Development spend targets fabric construction categories gaining share to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Innovation underpins the 6.9% forecast CAGR.</a:t>
            </a:r>
          </a:p>
        </p:txBody>
      </p:sp>
      <p:sp>
        <p:nvSpPr>
          <p:cNvPr id="24" name="Rectangle 23"/>
          <p:cNvSpPr/>
          <p:nvPr/>
        </p:nvSpPr>
        <p:spPr>
          <a:xfrm>
            <a:off x="142875" y="4314825"/>
            <a:ext cx="11906250" cy="22955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8125" y="437197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structure fabric construction share (2036)</a:t>
            </a:r>
          </a:p>
        </p:txBody>
      </p:sp>
      <p:graphicFrame>
        <p:nvGraphicFramePr>
          <p:cNvPr id="26" name="Chart 25"/>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r:id="rId3"/>
          </a:graphicData>
        </a:graphic>
      </p:graphicFrame>
      <p:sp>
        <p:nvSpPr>
          <p:cNvPr id="27" name="TextBox 26"/>
          <p:cNvSpPr txBox="1"/>
          <p:nvPr/>
        </p:nvSpPr>
        <p:spPr>
          <a:xfrm>
            <a:off x="3871570" y="5462588"/>
            <a:ext cx="934136" cy="228600"/>
          </a:xfrm>
          <a:prstGeom prst="rect">
            <a:avLst/>
          </a:prstGeom>
          <a:noFill/>
        </p:spPr>
        <p:txBody>
          <a:bodyPr wrap="square" lIns="28575" rIns="28575" tIns="9525" bIns="9525" anchor="ctr">
            <a:spAutoFit/>
          </a:bodyPr>
          <a:lstStyle/>
          <a:p>
            <a:pPr algn="ctr"/>
            <a:r>
              <a:rPr sz="1300" b="1">
                <a:solidFill>
                  <a:srgbClr val="252423"/>
                </a:solidFill>
                <a:latin typeface="Segoe UI"/>
              </a:rPr>
              <a:t>2036</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Analysis and Recommendation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the market approach, differentiating strategy and FMI's analysis and recommendation</a:t>
            </a:r>
          </a:p>
        </p:txBody>
      </p:sp>
      <p:sp>
        <p:nvSpPr>
          <p:cNvPr id="8" name="Rectangle 7"/>
          <p:cNvSpPr/>
          <p:nvPr/>
        </p:nvSpPr>
        <p:spPr>
          <a:xfrm>
            <a:off x="142875" y="981075"/>
            <a:ext cx="58769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Overall Market Approach</a:t>
            </a:r>
          </a:p>
        </p:txBody>
      </p:sp>
      <p:sp>
        <p:nvSpPr>
          <p:cNvPr id="10" name="Rectangle 9"/>
          <p:cNvSpPr/>
          <p:nvPr/>
        </p:nvSpPr>
        <p:spPr>
          <a:xfrm>
            <a:off x="276225"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Balance scale in 'Weft Knitted Fabrics' with targeted growth in 'Warp Knitted Fabrics', pursuing the 6.9% CAGR trajectory to 2036.</a:t>
            </a:r>
          </a:p>
        </p:txBody>
      </p:sp>
      <p:sp>
        <p:nvSpPr>
          <p:cNvPr id="12" name="Rectangle 11"/>
          <p:cNvSpPr/>
          <p:nvPr/>
        </p:nvSpPr>
        <p:spPr>
          <a:xfrm>
            <a:off x="6172200" y="981075"/>
            <a:ext cx="58769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Differentiating Strategy</a:t>
            </a:r>
          </a:p>
        </p:txBody>
      </p:sp>
      <p:sp>
        <p:nvSpPr>
          <p:cNvPr id="14" name="Rectangle 13"/>
          <p:cNvSpPr/>
          <p:nvPr/>
        </p:nvSpPr>
        <p:spPr>
          <a:xfrm>
            <a:off x="6305550"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Differentiate through the high-growth 'Warp Knitted Fabrics' tier and Medical &amp; Healthcare within end-use application.</a:t>
            </a:r>
          </a:p>
        </p:txBody>
      </p:sp>
      <p:sp>
        <p:nvSpPr>
          <p:cNvPr id="16" name="Rectangle 15"/>
          <p:cNvSpPr/>
          <p:nvPr/>
        </p:nvSpPr>
        <p:spPr>
          <a:xfrm>
            <a:off x="142875" y="2857500"/>
            <a:ext cx="5876925" cy="1562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43225"/>
            <a:ext cx="5610225" cy="209550"/>
          </a:xfrm>
          <a:prstGeom prst="rect">
            <a:avLst/>
          </a:prstGeom>
          <a:noFill/>
        </p:spPr>
        <p:txBody>
          <a:bodyPr wrap="square" lIns="0" rIns="19050" tIns="9525" bIns="9525">
            <a:spAutoFit/>
          </a:bodyPr>
          <a:lstStyle/>
          <a:p>
            <a:pPr algn="l"/>
            <a:r>
              <a:rPr sz="1300" b="1">
                <a:solidFill>
                  <a:srgbClr val="007BA5"/>
                </a:solidFill>
                <a:latin typeface="Segoe UI"/>
              </a:rPr>
              <a:t>Market Segment</a:t>
            </a:r>
          </a:p>
        </p:txBody>
      </p:sp>
      <p:sp>
        <p:nvSpPr>
          <p:cNvPr id="18" name="Rectangle 17"/>
          <p:cNvSpPr/>
          <p:nvPr/>
        </p:nvSpPr>
        <p:spPr>
          <a:xfrm>
            <a:off x="276225" y="31813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Prioritise 'Warp Knitted Fabrics' (7.7%); 'Weft Knitted Fabrics' anchors 70.3% of value.</a:t>
            </a:r>
          </a:p>
        </p:txBody>
      </p:sp>
      <p:sp>
        <p:nvSpPr>
          <p:cNvPr id="20" name="Rectangle 19"/>
          <p:cNvSpPr/>
          <p:nvPr/>
        </p:nvSpPr>
        <p:spPr>
          <a:xfrm>
            <a:off x="6172200" y="2857500"/>
            <a:ext cx="5876925" cy="1562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2943225"/>
            <a:ext cx="5610225" cy="209550"/>
          </a:xfrm>
          <a:prstGeom prst="rect">
            <a:avLst/>
          </a:prstGeom>
          <a:noFill/>
        </p:spPr>
        <p:txBody>
          <a:bodyPr wrap="square" lIns="0" rIns="19050" tIns="9525" bIns="9525">
            <a:spAutoFit/>
          </a:bodyPr>
          <a:lstStyle/>
          <a:p>
            <a:pPr algn="l"/>
            <a:r>
              <a:rPr sz="1300" b="1">
                <a:solidFill>
                  <a:srgbClr val="007BA5"/>
                </a:solidFill>
                <a:latin typeface="Segoe UI"/>
              </a:rPr>
              <a:t>Market Country</a:t>
            </a:r>
          </a:p>
        </p:txBody>
      </p:sp>
      <p:sp>
        <p:nvSpPr>
          <p:cNvPr id="22" name="Rectangle 21"/>
          <p:cNvSpPr/>
          <p:nvPr/>
        </p:nvSpPr>
        <p:spPr>
          <a:xfrm>
            <a:off x="6305550" y="31813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Lead with Rest of LATAM (54.0%); capture upside in Rest of LATAM (7.1%).</a:t>
            </a:r>
          </a:p>
        </p:txBody>
      </p:sp>
      <p:sp>
        <p:nvSpPr>
          <p:cNvPr id="24" name="Rectangle 23"/>
          <p:cNvSpPr/>
          <p:nvPr/>
        </p:nvSpPr>
        <p:spPr>
          <a:xfrm>
            <a:off x="142875" y="4552950"/>
            <a:ext cx="11906250" cy="2057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07BA5"/>
                </a:solidFill>
                <a:latin typeface="Segoe UI"/>
              </a:rPr>
              <a:t>Fact.MR Analysis &amp; Recommendation</a:t>
            </a:r>
          </a:p>
        </p:txBody>
      </p:sp>
      <p:sp>
        <p:nvSpPr>
          <p:cNvPr id="26" name="Rectangle 25"/>
          <p:cNvSpPr/>
          <p:nvPr/>
        </p:nvSpPr>
        <p:spPr>
          <a:xfrm>
            <a:off x="276225" y="48768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Performance Knitted Fabrics adds 345.7 US$ Mn of demand to 2036 a 2.0× expansion.</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Concentrate resources on the leading segment/country while seeding the fastest-growing pockets early.</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Defend share in 'Weft Knitted Fabrics' as the value anchor of the portfolio.</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Latin America Performance Knitted Fabrics – Country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Regional analysis of size, growth and share across 3 countries, highlighting where value concentrates,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Latin America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By Country view breaks the Latin America market down geographically. Each country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Country</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325755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325755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Rest of LATAM</a:t>
            </a:r>
          </a:p>
        </p:txBody>
      </p:sp>
      <p:sp>
        <p:nvSpPr>
          <p:cNvPr id="21" name="Rectangle 20"/>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193.7</a:t>
            </a:r>
          </a:p>
        </p:txBody>
      </p:sp>
      <p:sp>
        <p:nvSpPr>
          <p:cNvPr id="22" name="Rectangle 21"/>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383.3</a:t>
            </a:r>
          </a:p>
        </p:txBody>
      </p:sp>
      <p:sp>
        <p:nvSpPr>
          <p:cNvPr id="23" name="Rectangle 22"/>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7.1%</a:t>
            </a:r>
          </a:p>
        </p:txBody>
      </p:sp>
      <p:sp>
        <p:nvSpPr>
          <p:cNvPr id="24" name="Oval 23"/>
          <p:cNvSpPr/>
          <p:nvPr/>
        </p:nvSpPr>
        <p:spPr>
          <a:xfrm>
            <a:off x="333375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5238750" y="1773916"/>
            <a:ext cx="325755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238750" y="1992961"/>
            <a:ext cx="325755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Brazil</a:t>
            </a:r>
          </a:p>
        </p:txBody>
      </p:sp>
      <p:sp>
        <p:nvSpPr>
          <p:cNvPr id="28" name="Rectangle 27"/>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144.0</a:t>
            </a:r>
          </a:p>
        </p:txBody>
      </p:sp>
      <p:sp>
        <p:nvSpPr>
          <p:cNvPr id="29" name="Rectangle 28"/>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277.2</a:t>
            </a:r>
          </a:p>
        </p:txBody>
      </p:sp>
      <p:sp>
        <p:nvSpPr>
          <p:cNvPr id="30" name="Rectangle 29"/>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6.8%</a:t>
            </a:r>
          </a:p>
        </p:txBody>
      </p:sp>
      <p:sp>
        <p:nvSpPr>
          <p:cNvPr id="31" name="Oval 30"/>
          <p:cNvSpPr/>
          <p:nvPr/>
        </p:nvSpPr>
        <p:spPr>
          <a:xfrm>
            <a:off x="670560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8610600" y="1773916"/>
            <a:ext cx="325755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10600" y="1992961"/>
            <a:ext cx="325755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Chile</a:t>
            </a:r>
          </a:p>
        </p:txBody>
      </p:sp>
      <p:sp>
        <p:nvSpPr>
          <p:cNvPr id="35" name="Rectangle 34"/>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26.2</a:t>
            </a:r>
          </a:p>
        </p:txBody>
      </p:sp>
      <p:sp>
        <p:nvSpPr>
          <p:cNvPr id="36" name="Rectangle 35"/>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49.0</a:t>
            </a:r>
          </a:p>
        </p:txBody>
      </p:sp>
      <p:sp>
        <p:nvSpPr>
          <p:cNvPr id="37" name="Rectangle 36"/>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6.5%</a:t>
            </a:r>
          </a:p>
        </p:txBody>
      </p:sp>
      <p:sp>
        <p:nvSpPr>
          <p:cNvPr id="38" name="Oval 37"/>
          <p:cNvSpPr/>
          <p:nvPr/>
        </p:nvSpPr>
        <p:spPr>
          <a:xfrm>
            <a:off x="1007745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1" name="Rectangle 40"/>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Brazil performance knitted fabrics market is projected to register 5.7X higher value than Chile in 2036. Among performance knitted fabrics by country, Brazil is expected to witness the highest CAGR of 6.8% over the forecast period.</a:t>
            </a:r>
          </a:p>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In terms of value share by country, Brazil is expected to dominate the market, gaining 35 BPS and accounting for 85.0% share by 2036. Chile is expected to lose 35 BPS over the forecast period to account for 15.0% share by 2036.</a:t>
            </a:r>
          </a:p>
        </p:txBody>
      </p:sp>
      <p:sp>
        <p:nvSpPr>
          <p:cNvPr id="43" name="Rounded Rectangle 42"/>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5" name="Rectangle 44"/>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Rest of LATAM: </a:t>
            </a:r>
            <a:r>
              <a:rPr sz="1100" b="0">
                <a:solidFill>
                  <a:srgbClr val="252423"/>
                </a:solidFill>
                <a:latin typeface="Segoe UI"/>
              </a:rPr>
              <a:t>53% of 2026 value · 7.1% CAGR leads the market.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Brazil: </a:t>
            </a:r>
            <a:r>
              <a:rPr sz="1100" b="0">
                <a:solidFill>
                  <a:srgbClr val="252423"/>
                </a:solidFill>
                <a:latin typeface="Segoe UI"/>
              </a:rPr>
              <a:t>40% of 2026 value · 6.8% CAGR a smaller market.</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Chile: </a:t>
            </a:r>
            <a:r>
              <a:rPr sz="1100" b="0">
                <a:solidFill>
                  <a:srgbClr val="252423"/>
                </a:solidFill>
                <a:latin typeface="Segoe UI"/>
              </a:rPr>
              <a:t>7% of 2026 value · 6.5% CAGR a smaller market.</a:t>
            </a:r>
          </a:p>
        </p:txBody>
      </p:sp>
      <p:sp>
        <p:nvSpPr>
          <p:cNvPr id="47" name="Rounded Rectangle 46"/>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9" name="Rectangle 48"/>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By Country split shows where market value concentrates and where growth is fastest.</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demand and access dynamics are rebalancing the geographic mix through 2036.</a:t>
            </a:r>
          </a:p>
        </p:txBody>
      </p:sp>
      <p:sp>
        <p:nvSpPr>
          <p:cNvPr id="51" name="Rectangle 50"/>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Latin America market is projected to grow at a CAGR of 6.9% from 2026 to 2036.</a:t>
            </a:r>
          </a:p>
        </p:txBody>
      </p:sp>
      <p:sp>
        <p:nvSpPr>
          <p:cNvPr id="53" name="TextBox 52"/>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54" name="TextBox 5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Latin America Performance Knitted Fabrics Market Analysis, By Country Volume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volume share by country in 2026 and 2036, highlighting share gains and losses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Latin America</a:t>
            </a:r>
          </a:p>
        </p:txBody>
      </p:sp>
      <p:sp>
        <p:nvSpPr>
          <p:cNvPr id="9" name="Rectangle 8"/>
          <p:cNvSpPr/>
          <p:nvPr/>
        </p:nvSpPr>
        <p:spPr>
          <a:xfrm>
            <a:off x="142875" y="981075"/>
            <a:ext cx="6810375"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Share and BPS Assessment By Country, 2026 &amp; 2036</a:t>
            </a:r>
          </a:p>
        </p:txBody>
      </p:sp>
      <p:graphicFrame>
        <p:nvGraphicFramePr>
          <p:cNvPr id="11" name="Chart 10"/>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2" name="TextBox 11"/>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0A4DC"/>
                </a:solidFill>
                <a:latin typeface="Segoe UI"/>
              </a:rPr>
              <a:t>BPS Δ  (2026→2036)</a:t>
            </a:r>
          </a:p>
        </p:txBody>
      </p:sp>
      <p:sp>
        <p:nvSpPr>
          <p:cNvPr id="13" name="FMI Lock Anchor"/>
          <p:cNvSpPr txBox="1"/>
          <p:nvPr/>
        </p:nvSpPr>
        <p:spPr>
          <a:xfrm>
            <a:off x="2489835" y="3352800"/>
            <a:ext cx="38100" cy="38100"/>
          </a:xfrm>
          <a:prstGeom prst="rect">
            <a:avLst/>
          </a:prstGeom>
          <a:noFill/>
        </p:spPr>
        <p:txBody>
          <a:bodyPr wrap="none">
            <a:spAutoFit/>
          </a:bodyPr>
          <a:lstStyle/>
          <a:p/>
        </p:txBody>
      </p:sp>
      <p:sp>
        <p:nvSpPr>
          <p:cNvPr id="14" name="FMI Legend Chip"/>
          <p:cNvSpPr/>
          <p:nvPr/>
        </p:nvSpPr>
        <p:spPr>
          <a:xfrm>
            <a:off x="4551045" y="1584794"/>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4712970" y="158003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4855845" y="1503831"/>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Chile</a:t>
            </a:r>
          </a:p>
        </p:txBody>
      </p:sp>
      <p:sp>
        <p:nvSpPr>
          <p:cNvPr id="17" name="BPS Value 1"/>
          <p:cNvSpPr txBox="1"/>
          <p:nvPr/>
        </p:nvSpPr>
        <p:spPr>
          <a:xfrm>
            <a:off x="6305550" y="1565744"/>
            <a:ext cx="514350" cy="123825"/>
          </a:xfrm>
          <a:prstGeom prst="rect">
            <a:avLst/>
          </a:prstGeom>
          <a:noFill/>
        </p:spPr>
        <p:txBody>
          <a:bodyPr wrap="none" lIns="0" rIns="0" tIns="0" bIns="0" anchor="ctr">
            <a:spAutoFit/>
          </a:bodyPr>
          <a:lstStyle/>
          <a:p>
            <a:pPr algn="r"/>
            <a:r>
              <a:rPr sz="900" b="1">
                <a:solidFill>
                  <a:srgbClr val="1E8E3E"/>
                </a:solidFill>
                <a:latin typeface="Segoe UI"/>
              </a:rPr>
              <a:t>+9</a:t>
            </a:r>
          </a:p>
        </p:txBody>
      </p:sp>
      <p:sp>
        <p:nvSpPr>
          <p:cNvPr id="18" name="FMI Legend Chip"/>
          <p:cNvSpPr/>
          <p:nvPr/>
        </p:nvSpPr>
        <p:spPr>
          <a:xfrm>
            <a:off x="4551045" y="2419355"/>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4712970" y="241459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4855845" y="2338392"/>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Brazil</a:t>
            </a:r>
          </a:p>
        </p:txBody>
      </p:sp>
      <p:sp>
        <p:nvSpPr>
          <p:cNvPr id="21" name="BPS Value 2"/>
          <p:cNvSpPr txBox="1"/>
          <p:nvPr/>
        </p:nvSpPr>
        <p:spPr>
          <a:xfrm>
            <a:off x="6305550" y="2400305"/>
            <a:ext cx="514350" cy="123825"/>
          </a:xfrm>
          <a:prstGeom prst="rect">
            <a:avLst/>
          </a:prstGeom>
          <a:noFill/>
        </p:spPr>
        <p:txBody>
          <a:bodyPr wrap="none" lIns="0" rIns="0" tIns="0" bIns="0" anchor="ctr">
            <a:spAutoFit/>
          </a:bodyPr>
          <a:lstStyle/>
          <a:p>
            <a:pPr algn="r"/>
            <a:r>
              <a:rPr sz="900" b="1">
                <a:solidFill>
                  <a:srgbClr val="D64545"/>
                </a:solidFill>
                <a:latin typeface="Segoe UI"/>
              </a:rPr>
              <a:t>-27</a:t>
            </a:r>
          </a:p>
        </p:txBody>
      </p:sp>
      <p:sp>
        <p:nvSpPr>
          <p:cNvPr id="22" name="FMI Legend Chip"/>
          <p:cNvSpPr/>
          <p:nvPr/>
        </p:nvSpPr>
        <p:spPr>
          <a:xfrm>
            <a:off x="4551045" y="4130211"/>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4712970" y="412544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4855845" y="4049249"/>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Rest of LATAM</a:t>
            </a:r>
          </a:p>
        </p:txBody>
      </p:sp>
      <p:sp>
        <p:nvSpPr>
          <p:cNvPr id="25" name="BPS Value 3"/>
          <p:cNvSpPr txBox="1"/>
          <p:nvPr/>
        </p:nvSpPr>
        <p:spPr>
          <a:xfrm>
            <a:off x="6305550" y="4111161"/>
            <a:ext cx="514350" cy="123825"/>
          </a:xfrm>
          <a:prstGeom prst="rect">
            <a:avLst/>
          </a:prstGeom>
          <a:noFill/>
        </p:spPr>
        <p:txBody>
          <a:bodyPr wrap="none" lIns="0" rIns="0" tIns="0" bIns="0" anchor="ctr">
            <a:spAutoFit/>
          </a:bodyPr>
          <a:lstStyle/>
          <a:p>
            <a:pPr algn="r"/>
            <a:r>
              <a:rPr sz="900" b="1">
                <a:solidFill>
                  <a:srgbClr val="1E8E3E"/>
                </a:solidFill>
                <a:latin typeface="Segoe UI"/>
              </a:rPr>
              <a:t>+18</a:t>
            </a:r>
          </a:p>
        </p:txBody>
      </p:sp>
      <p:sp>
        <p:nvSpPr>
          <p:cNvPr id="26" name="Rectangle 25"/>
          <p:cNvSpPr/>
          <p:nvPr/>
        </p:nvSpPr>
        <p:spPr>
          <a:xfrm>
            <a:off x="7105650" y="981075"/>
            <a:ext cx="4933950"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07BA5"/>
                </a:solidFill>
                <a:latin typeface="Segoe UI"/>
              </a:rPr>
              <a:t>Regional Highlights</a:t>
            </a:r>
          </a:p>
        </p:txBody>
      </p:sp>
      <p:sp>
        <p:nvSpPr>
          <p:cNvPr id="28" name="Rectangle 27"/>
          <p:cNvSpPr/>
          <p:nvPr/>
        </p:nvSpPr>
        <p:spPr>
          <a:xfrm>
            <a:off x="7239000" y="1304925"/>
            <a:ext cx="46672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Brazil performance knitted fabrics market is projected to register 5.8X higher volume than Chile in 2036. Among performance knitted fabrics by country, Chile is expected to witness the highest CAGR of 5.1% over the forecast period.</a:t>
            </a:r>
          </a:p>
          <a:p>
            <a:pPr algn="l">
              <a:lnSpc>
                <a:spcPct val="110000"/>
              </a:lnSpc>
              <a:spcBef>
                <a:spcPts val="0"/>
              </a:spcBef>
              <a:spcAft>
                <a:spcPts val="500"/>
              </a:spcAft>
            </a:pPr>
            <a:r>
              <a:rPr sz="1150" b="0">
                <a:solidFill>
                  <a:srgbClr val="252423"/>
                </a:solidFill>
                <a:latin typeface="Segoe UI"/>
              </a:rPr>
              <a:t>In terms of volume share by country, Brazil is expected to dominate the market, losing 25 BPS and accounting for 85.3% share by 2036.</a:t>
            </a:r>
          </a:p>
        </p:txBody>
      </p:sp>
      <p:sp>
        <p:nvSpPr>
          <p:cNvPr id="30" name="Rounded Rectangle 29"/>
          <p:cNvSpPr/>
          <p:nvPr/>
        </p:nvSpPr>
        <p:spPr>
          <a:xfrm>
            <a:off x="142875" y="5648325"/>
            <a:ext cx="3943350"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TOTAL (MN SQ. YARDS)</a:t>
            </a:r>
          </a:p>
          <a:p>
            <a:pPr algn="ctr">
              <a:lnSpc>
                <a:spcPct val="95000"/>
              </a:lnSpc>
            </a:pPr>
            <a:r>
              <a:rPr sz="2000" b="1">
                <a:solidFill>
                  <a:srgbClr val="00A4DC"/>
                </a:solidFill>
                <a:latin typeface="Segoe UI"/>
              </a:rPr>
              <a:t>132.7</a:t>
            </a:r>
          </a:p>
        </p:txBody>
      </p:sp>
      <p:sp>
        <p:nvSpPr>
          <p:cNvPr id="31" name="Rounded Rectangle 30"/>
          <p:cNvSpPr/>
          <p:nvPr/>
        </p:nvSpPr>
        <p:spPr>
          <a:xfrm>
            <a:off x="4238625"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TOTAL (MN SQ. YARDS)</a:t>
            </a:r>
          </a:p>
          <a:p>
            <a:pPr algn="ctr">
              <a:lnSpc>
                <a:spcPct val="95000"/>
              </a:lnSpc>
            </a:pPr>
            <a:r>
              <a:rPr sz="2000" b="1">
                <a:solidFill>
                  <a:srgbClr val="00A4DC"/>
                </a:solidFill>
                <a:latin typeface="Segoe UI"/>
              </a:rPr>
              <a:t>216.0</a:t>
            </a:r>
          </a:p>
        </p:txBody>
      </p:sp>
      <p:sp>
        <p:nvSpPr>
          <p:cNvPr id="32" name="Rounded Rectangle 31"/>
          <p:cNvSpPr/>
          <p:nvPr/>
        </p:nvSpPr>
        <p:spPr>
          <a:xfrm>
            <a:off x="8210550"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2000" b="1">
                <a:solidFill>
                  <a:srgbClr val="00A4DC"/>
                </a:solidFill>
                <a:latin typeface="Segoe UI"/>
              </a:rPr>
              <a:t>5.0%</a:t>
            </a:r>
          </a:p>
        </p:txBody>
      </p:sp>
      <p:sp>
        <p:nvSpPr>
          <p:cNvPr id="33" name="TextBox 3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Latin America Performance Knitted Fabrics Market Analysis, By Country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value share by country in 2026 and 2036, highlighting share gains and losses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Latin America</a:t>
            </a:r>
          </a:p>
        </p:txBody>
      </p:sp>
      <p:sp>
        <p:nvSpPr>
          <p:cNvPr id="9" name="Rectangle 8"/>
          <p:cNvSpPr/>
          <p:nvPr/>
        </p:nvSpPr>
        <p:spPr>
          <a:xfrm>
            <a:off x="142875" y="981075"/>
            <a:ext cx="6810375"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Share and BPS Assessment By Country, 2026 &amp; 2036</a:t>
            </a:r>
          </a:p>
        </p:txBody>
      </p:sp>
      <p:graphicFrame>
        <p:nvGraphicFramePr>
          <p:cNvPr id="11" name="Chart 10"/>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2" name="TextBox 11"/>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0A4DC"/>
                </a:solidFill>
                <a:latin typeface="Segoe UI"/>
              </a:rPr>
              <a:t>BPS Δ  (2026→2036)</a:t>
            </a:r>
          </a:p>
        </p:txBody>
      </p:sp>
      <p:sp>
        <p:nvSpPr>
          <p:cNvPr id="13" name="FMI Lock Anchor"/>
          <p:cNvSpPr txBox="1"/>
          <p:nvPr/>
        </p:nvSpPr>
        <p:spPr>
          <a:xfrm>
            <a:off x="2489835" y="3352800"/>
            <a:ext cx="38100" cy="38100"/>
          </a:xfrm>
          <a:prstGeom prst="rect">
            <a:avLst/>
          </a:prstGeom>
          <a:noFill/>
        </p:spPr>
        <p:txBody>
          <a:bodyPr wrap="none">
            <a:spAutoFit/>
          </a:bodyPr>
          <a:lstStyle/>
          <a:p/>
        </p:txBody>
      </p:sp>
      <p:sp>
        <p:nvSpPr>
          <p:cNvPr id="14" name="FMI Legend Chip"/>
          <p:cNvSpPr/>
          <p:nvPr/>
        </p:nvSpPr>
        <p:spPr>
          <a:xfrm>
            <a:off x="4551045" y="1588798"/>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4712970" y="158403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4855845" y="1507836"/>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Chile</a:t>
            </a:r>
          </a:p>
        </p:txBody>
      </p:sp>
      <p:sp>
        <p:nvSpPr>
          <p:cNvPr id="17" name="BPS Value 1"/>
          <p:cNvSpPr txBox="1"/>
          <p:nvPr/>
        </p:nvSpPr>
        <p:spPr>
          <a:xfrm>
            <a:off x="6305550" y="1569748"/>
            <a:ext cx="514350" cy="123825"/>
          </a:xfrm>
          <a:prstGeom prst="rect">
            <a:avLst/>
          </a:prstGeom>
          <a:noFill/>
        </p:spPr>
        <p:txBody>
          <a:bodyPr wrap="none" lIns="0" rIns="0" tIns="0" bIns="0" anchor="ctr">
            <a:spAutoFit/>
          </a:bodyPr>
          <a:lstStyle/>
          <a:p>
            <a:pPr algn="r"/>
            <a:r>
              <a:rPr sz="900" b="1">
                <a:solidFill>
                  <a:srgbClr val="D64545"/>
                </a:solidFill>
                <a:latin typeface="Segoe UI"/>
              </a:rPr>
              <a:t>-28</a:t>
            </a:r>
          </a:p>
        </p:txBody>
      </p:sp>
      <p:sp>
        <p:nvSpPr>
          <p:cNvPr id="18" name="FMI Legend Chip"/>
          <p:cNvSpPr/>
          <p:nvPr/>
        </p:nvSpPr>
        <p:spPr>
          <a:xfrm>
            <a:off x="4551045" y="2431790"/>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4712970" y="2427028"/>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4855845" y="2350828"/>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Brazil</a:t>
            </a:r>
          </a:p>
        </p:txBody>
      </p:sp>
      <p:sp>
        <p:nvSpPr>
          <p:cNvPr id="21" name="BPS Value 2"/>
          <p:cNvSpPr txBox="1"/>
          <p:nvPr/>
        </p:nvSpPr>
        <p:spPr>
          <a:xfrm>
            <a:off x="6305550" y="2412740"/>
            <a:ext cx="514350" cy="123825"/>
          </a:xfrm>
          <a:prstGeom prst="rect">
            <a:avLst/>
          </a:prstGeom>
          <a:noFill/>
        </p:spPr>
        <p:txBody>
          <a:bodyPr wrap="none" lIns="0" rIns="0" tIns="0" bIns="0" anchor="ctr">
            <a:spAutoFit/>
          </a:bodyPr>
          <a:lstStyle/>
          <a:p>
            <a:pPr algn="r"/>
            <a:r>
              <a:rPr sz="900" b="1">
                <a:solidFill>
                  <a:srgbClr val="D64545"/>
                </a:solidFill>
                <a:latin typeface="Segoe UI"/>
              </a:rPr>
              <a:t>-52</a:t>
            </a:r>
          </a:p>
        </p:txBody>
      </p:sp>
      <p:sp>
        <p:nvSpPr>
          <p:cNvPr id="22" name="FMI Legend Chip"/>
          <p:cNvSpPr/>
          <p:nvPr/>
        </p:nvSpPr>
        <p:spPr>
          <a:xfrm>
            <a:off x="4551045" y="4138642"/>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4712970" y="4133880"/>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4855845" y="4057680"/>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Rest of LATAM</a:t>
            </a:r>
          </a:p>
        </p:txBody>
      </p:sp>
      <p:sp>
        <p:nvSpPr>
          <p:cNvPr id="25" name="BPS Value 3"/>
          <p:cNvSpPr txBox="1"/>
          <p:nvPr/>
        </p:nvSpPr>
        <p:spPr>
          <a:xfrm>
            <a:off x="6305550" y="4119592"/>
            <a:ext cx="514350" cy="123825"/>
          </a:xfrm>
          <a:prstGeom prst="rect">
            <a:avLst/>
          </a:prstGeom>
          <a:noFill/>
        </p:spPr>
        <p:txBody>
          <a:bodyPr wrap="none" lIns="0" rIns="0" tIns="0" bIns="0" anchor="ctr">
            <a:spAutoFit/>
          </a:bodyPr>
          <a:lstStyle/>
          <a:p>
            <a:pPr algn="r"/>
            <a:r>
              <a:rPr sz="900" b="1">
                <a:solidFill>
                  <a:srgbClr val="1E8E3E"/>
                </a:solidFill>
                <a:latin typeface="Segoe UI"/>
              </a:rPr>
              <a:t>+80</a:t>
            </a:r>
          </a:p>
        </p:txBody>
      </p:sp>
      <p:sp>
        <p:nvSpPr>
          <p:cNvPr id="26" name="Rectangle 25"/>
          <p:cNvSpPr/>
          <p:nvPr/>
        </p:nvSpPr>
        <p:spPr>
          <a:xfrm>
            <a:off x="7105650" y="981075"/>
            <a:ext cx="4933950"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07BA5"/>
                </a:solidFill>
                <a:latin typeface="Segoe UI"/>
              </a:rPr>
              <a:t>Regional Highlights</a:t>
            </a:r>
          </a:p>
        </p:txBody>
      </p:sp>
      <p:sp>
        <p:nvSpPr>
          <p:cNvPr id="28" name="Rectangle 27"/>
          <p:cNvSpPr/>
          <p:nvPr/>
        </p:nvSpPr>
        <p:spPr>
          <a:xfrm>
            <a:off x="7239000" y="1304925"/>
            <a:ext cx="46672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Brazil performance knitted fabrics market is projected to register 5.7X higher value than Chile in 2036. Among performance knitted fabrics by country, Brazil is expected to witness the highest CAGR of 6.8% over the forecast period.</a:t>
            </a:r>
          </a:p>
          <a:p>
            <a:pPr algn="l">
              <a:lnSpc>
                <a:spcPct val="110000"/>
              </a:lnSpc>
              <a:spcBef>
                <a:spcPts val="0"/>
              </a:spcBef>
              <a:spcAft>
                <a:spcPts val="500"/>
              </a:spcAft>
            </a:pPr>
            <a:r>
              <a:rPr sz="1150" b="0">
                <a:solidFill>
                  <a:srgbClr val="252423"/>
                </a:solidFill>
                <a:latin typeface="Segoe UI"/>
              </a:rPr>
              <a:t>In terms of value share by country, Brazil is expected to dominate the market, gaining 35 BPS and accounting for 85.0% share by 2036. Chile is expected to lose 35 BPS over the forecast period to account for 15.0% share by 2036.</a:t>
            </a:r>
          </a:p>
        </p:txBody>
      </p:sp>
      <p:sp>
        <p:nvSpPr>
          <p:cNvPr id="30" name="Rounded Rectangle 29"/>
          <p:cNvSpPr/>
          <p:nvPr/>
        </p:nvSpPr>
        <p:spPr>
          <a:xfrm>
            <a:off x="142875" y="5648325"/>
            <a:ext cx="3943350"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TOTAL (US$ MN)</a:t>
            </a:r>
          </a:p>
          <a:p>
            <a:pPr algn="ctr">
              <a:lnSpc>
                <a:spcPct val="95000"/>
              </a:lnSpc>
            </a:pPr>
            <a:r>
              <a:rPr sz="2000" b="1">
                <a:solidFill>
                  <a:srgbClr val="00A4DC"/>
                </a:solidFill>
                <a:latin typeface="Segoe UI"/>
              </a:rPr>
              <a:t>363.9</a:t>
            </a:r>
          </a:p>
        </p:txBody>
      </p:sp>
      <p:sp>
        <p:nvSpPr>
          <p:cNvPr id="31" name="Rounded Rectangle 30"/>
          <p:cNvSpPr/>
          <p:nvPr/>
        </p:nvSpPr>
        <p:spPr>
          <a:xfrm>
            <a:off x="4238625"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TOTAL (US$ MN)</a:t>
            </a:r>
          </a:p>
          <a:p>
            <a:pPr algn="ctr">
              <a:lnSpc>
                <a:spcPct val="95000"/>
              </a:lnSpc>
            </a:pPr>
            <a:r>
              <a:rPr sz="2000" b="1">
                <a:solidFill>
                  <a:srgbClr val="00A4DC"/>
                </a:solidFill>
                <a:latin typeface="Segoe UI"/>
              </a:rPr>
              <a:t>709.5</a:t>
            </a:r>
          </a:p>
        </p:txBody>
      </p:sp>
      <p:sp>
        <p:nvSpPr>
          <p:cNvPr id="32" name="Rounded Rectangle 31"/>
          <p:cNvSpPr/>
          <p:nvPr/>
        </p:nvSpPr>
        <p:spPr>
          <a:xfrm>
            <a:off x="8210550"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2000" b="1">
                <a:solidFill>
                  <a:srgbClr val="00A4DC"/>
                </a:solidFill>
                <a:latin typeface="Segoe UI"/>
              </a:rPr>
              <a:t>6.9%</a:t>
            </a:r>
          </a:p>
        </p:txBody>
      </p:sp>
      <p:sp>
        <p:nvSpPr>
          <p:cNvPr id="33" name="TextBox 3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Latin America Performance Knitted Fabrics Market Share Analysis, By Country Volume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volume and share by country, 2021–2036, highlighting the geographies gaining and ceding ground</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Latin America</a:t>
            </a:r>
          </a:p>
        </p:txBody>
      </p:sp>
      <p:sp>
        <p:nvSpPr>
          <p:cNvPr id="9" name="Rectangle 8"/>
          <p:cNvSpPr/>
          <p:nvPr/>
        </p:nvSpPr>
        <p:spPr>
          <a:xfrm>
            <a:off x="142875" y="981075"/>
            <a:ext cx="11906250" cy="15430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Latin America Market Size, By Country (Mn Sq. Yards)</a:t>
            </a:r>
          </a:p>
        </p:txBody>
      </p:sp>
      <p:graphicFrame>
        <p:nvGraphicFramePr>
          <p:cNvPr id="11" name="Table 10"/>
          <p:cNvGraphicFramePr>
            <a:graphicFrameLocks noGrp="1"/>
          </p:cNvGraphicFramePr>
          <p:nvPr/>
        </p:nvGraphicFramePr>
        <p:xfrm>
          <a:off x="152400" y="1238250"/>
          <a:ext cx="11887206" cy="1076325"/>
        </p:xfrm>
        <a:graphic>
          <a:graphicData uri="http://schemas.openxmlformats.org/drawingml/2006/table">
            <a:tbl>
              <a:tblPr>
                <a:tableStyleId>{5C22544A-7EE6-4342-B048-85BDC9FD1C3A}</a:tableStyleId>
              </a:tblPr>
              <a:tblGrid>
                <a:gridCol w="1125900"/>
                <a:gridCol w="633018"/>
                <a:gridCol w="633018"/>
                <a:gridCol w="633018"/>
                <a:gridCol w="633018"/>
                <a:gridCol w="633018"/>
                <a:gridCol w="633018"/>
                <a:gridCol w="633018"/>
                <a:gridCol w="633018"/>
                <a:gridCol w="633018"/>
                <a:gridCol w="633018"/>
                <a:gridCol w="633018"/>
                <a:gridCol w="633018"/>
                <a:gridCol w="633018"/>
                <a:gridCol w="633018"/>
                <a:gridCol w="633018"/>
                <a:gridCol w="633018"/>
                <a:gridCol w="633018"/>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r>
              <a:tr h="215265">
                <a:tc>
                  <a:txBody>
                    <a:bodyPr wrap="none"/>
                    <a:lstStyle/>
                    <a:p>
                      <a:pPr algn="l"/>
                      <a:r>
                        <a:rPr sz="1100" b="1">
                          <a:solidFill>
                            <a:srgbClr val="252423"/>
                          </a:solidFill>
                          <a:latin typeface="Segoe UI"/>
                        </a:rPr>
                        <a:t>Brazil</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41.8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43.6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45.4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47.4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49.5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51.9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54.4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57.1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60.0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63.0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66.1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69.5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73.0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76.5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80.2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83.9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4.9%</a:t>
                      </a:r>
                      <a:endParaRPr sz="1100"/>
                    </a:p>
                  </a:txBody>
                  <a:tcPr marL="47625" marR="38100" marT="19050" marB="19050" anchor="ctr">
                    <a:solidFill>
                      <a:srgbClr val="FFFFFF"/>
                    </a:solidFill>
                  </a:tcPr>
                </a:tc>
              </a:tr>
              <a:tr h="215265">
                <a:tc>
                  <a:txBody>
                    <a:bodyPr wrap="none"/>
                    <a:lstStyle/>
                    <a:p>
                      <a:pPr algn="l"/>
                      <a:r>
                        <a:rPr sz="1100" b="1">
                          <a:solidFill>
                            <a:srgbClr val="252423"/>
                          </a:solidFill>
                          <a:latin typeface="Segoe UI"/>
                        </a:rPr>
                        <a:t>Chile</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7.07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7.34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7.65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7.99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8.36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8.76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9.19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9.66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10.2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10.7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12.5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13.2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13.8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14.5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5.1%</a:t>
                      </a:r>
                      <a:endParaRPr sz="1100"/>
                    </a:p>
                  </a:txBody>
                  <a:tcPr marL="47625" marR="38100" marT="19050" marB="19050" anchor="ctr">
                    <a:solidFill>
                      <a:srgbClr val="F2FAFD"/>
                    </a:solidFill>
                  </a:tcPr>
                </a:tc>
              </a:tr>
              <a:tr h="215265">
                <a:tc>
                  <a:txBody>
                    <a:bodyPr wrap="none"/>
                    <a:lstStyle/>
                    <a:p>
                      <a:pPr algn="l"/>
                      <a:r>
                        <a:rPr sz="1100" b="1">
                          <a:solidFill>
                            <a:srgbClr val="252423"/>
                          </a:solidFill>
                          <a:latin typeface="Segoe UI"/>
                        </a:rPr>
                        <a:t>Rest of LATAM</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57.9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60.3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62.9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65.7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68.8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72.1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75.6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79.4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83.5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87.9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92.5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97.3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102.2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107.2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112.4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117.7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5.0%</a:t>
                      </a:r>
                      <a:endParaRPr sz="1100"/>
                    </a:p>
                  </a:txBody>
                  <a:tcPr marL="47625" marR="38100" marT="19050" marB="19050" anchor="ctr">
                    <a:solidFill>
                      <a:srgbClr val="FFFFFF"/>
                    </a:solidFill>
                  </a:tcPr>
                </a:tc>
              </a:tr>
              <a:tr h="215265">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106.8</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111.2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115.9</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121.1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126.7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132.7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139.2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146.1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153.6</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161.6</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169.9</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178.7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187.7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196.9</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206.4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216.0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5.0%</a:t>
                      </a:r>
                      <a:endParaRPr sz="1100"/>
                    </a:p>
                  </a:txBody>
                  <a:tcPr marL="47625" marR="38100" marT="19050" marB="19050" anchor="ctr">
                    <a:solidFill>
                      <a:srgbClr val="E0F2FA"/>
                    </a:solidFill>
                  </a:tcPr>
                </a:tc>
              </a:tr>
            </a:tbl>
          </a:graphicData>
        </a:graphic>
      </p:graphicFrame>
      <p:sp>
        <p:nvSpPr>
          <p:cNvPr id="12" name="TextBox 11"/>
          <p:cNvSpPr txBox="1"/>
          <p:nvPr/>
        </p:nvSpPr>
        <p:spPr>
          <a:xfrm>
            <a:off x="219075" y="232410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3" name="Rectangle 12"/>
          <p:cNvSpPr/>
          <p:nvPr/>
        </p:nvSpPr>
        <p:spPr>
          <a:xfrm>
            <a:off x="142875" y="2657475"/>
            <a:ext cx="11906250" cy="39719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2743200"/>
            <a:ext cx="11639550" cy="209550"/>
          </a:xfrm>
          <a:prstGeom prst="rect">
            <a:avLst/>
          </a:prstGeom>
          <a:noFill/>
        </p:spPr>
        <p:txBody>
          <a:bodyPr wrap="square" lIns="0" rIns="19050" tIns="9525" bIns="9525">
            <a:spAutoFit/>
          </a:bodyPr>
          <a:lstStyle/>
          <a:p>
            <a:pPr algn="l"/>
            <a:r>
              <a:rPr sz="1300" b="1">
                <a:solidFill>
                  <a:srgbClr val="007BA5"/>
                </a:solidFill>
                <a:latin typeface="Segoe UI"/>
              </a:rPr>
              <a:t>Latin America Volume Share Read-out, By Country</a:t>
            </a:r>
          </a:p>
        </p:txBody>
      </p:sp>
      <p:sp>
        <p:nvSpPr>
          <p:cNvPr id="15" name="Rectangle 14"/>
          <p:cNvSpPr/>
          <p:nvPr/>
        </p:nvSpPr>
        <p:spPr>
          <a:xfrm>
            <a:off x="276225" y="298132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067050"/>
            <a:ext cx="11639550" cy="3486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Brazil performance knitted fabrics market is projected to register 5.8X higher volume than Chile in 2036. Among performance knitted fabrics by country, Chile is expected to witness the highest CAGR of 5.1% over the forecast period.</a:t>
            </a:r>
          </a:p>
          <a:p>
            <a:pPr algn="l">
              <a:lnSpc>
                <a:spcPct val="110000"/>
              </a:lnSpc>
              <a:spcBef>
                <a:spcPts val="0"/>
              </a:spcBef>
              <a:spcAft>
                <a:spcPts val="500"/>
              </a:spcAft>
            </a:pPr>
            <a:r>
              <a:rPr sz="1150" b="0">
                <a:solidFill>
                  <a:srgbClr val="252423"/>
                </a:solidFill>
                <a:latin typeface="Segoe UI"/>
              </a:rPr>
              <a:t>In terms of volume share by country, Brazil is expected to dominate the market, losing 25 BPS and accounting for 85.3% share by 2036.</a:t>
            </a:r>
          </a:p>
        </p:txBody>
      </p:sp>
      <p:sp>
        <p:nvSpPr>
          <p:cNvPr id="17" name="TextBox 1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Latin America Performance Knitted Fabrics Market Share Analysis, By Country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and share by country, 2021–2036, highlighting the geographies gaining and ceding ground</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Latin America</a:t>
            </a:r>
          </a:p>
        </p:txBody>
      </p:sp>
      <p:sp>
        <p:nvSpPr>
          <p:cNvPr id="9" name="Rectangle 8"/>
          <p:cNvSpPr/>
          <p:nvPr/>
        </p:nvSpPr>
        <p:spPr>
          <a:xfrm>
            <a:off x="142875" y="981075"/>
            <a:ext cx="11906250" cy="15430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Latin America Market Size, By Country (US$ Mn)</a:t>
            </a:r>
          </a:p>
        </p:txBody>
      </p:sp>
      <p:graphicFrame>
        <p:nvGraphicFramePr>
          <p:cNvPr id="11" name="Table 10"/>
          <p:cNvGraphicFramePr>
            <a:graphicFrameLocks noGrp="1"/>
          </p:cNvGraphicFramePr>
          <p:nvPr/>
        </p:nvGraphicFramePr>
        <p:xfrm>
          <a:off x="152400" y="1238250"/>
          <a:ext cx="11887206" cy="1076325"/>
        </p:xfrm>
        <a:graphic>
          <a:graphicData uri="http://schemas.openxmlformats.org/drawingml/2006/table">
            <a:tbl>
              <a:tblPr>
                <a:tableStyleId>{5C22544A-7EE6-4342-B048-85BDC9FD1C3A}</a:tableStyleId>
              </a:tblPr>
              <a:tblGrid>
                <a:gridCol w="1125900"/>
                <a:gridCol w="633018"/>
                <a:gridCol w="633018"/>
                <a:gridCol w="633018"/>
                <a:gridCol w="633018"/>
                <a:gridCol w="633018"/>
                <a:gridCol w="633018"/>
                <a:gridCol w="633018"/>
                <a:gridCol w="633018"/>
                <a:gridCol w="633018"/>
                <a:gridCol w="633018"/>
                <a:gridCol w="633018"/>
                <a:gridCol w="633018"/>
                <a:gridCol w="633018"/>
                <a:gridCol w="633018"/>
                <a:gridCol w="633018"/>
                <a:gridCol w="633018"/>
                <a:gridCol w="633018"/>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r>
              <a:tr h="215265">
                <a:tc>
                  <a:txBody>
                    <a:bodyPr wrap="none"/>
                    <a:lstStyle/>
                    <a:p>
                      <a:pPr algn="l"/>
                      <a:r>
                        <a:rPr sz="1100" b="1">
                          <a:solidFill>
                            <a:srgbClr val="252423"/>
                          </a:solidFill>
                          <a:latin typeface="Segoe UI"/>
                        </a:rPr>
                        <a:t>Brazil</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110.6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116.1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122.0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128.5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135.6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144.0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153.2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163.2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174.0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185.6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198.3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212.0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226.8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242.6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259.4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277.2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6.8%</a:t>
                      </a:r>
                      <a:endParaRPr sz="1100"/>
                    </a:p>
                  </a:txBody>
                  <a:tcPr marL="47625" marR="38100" marT="19050" marB="19050" anchor="ctr">
                    <a:solidFill>
                      <a:srgbClr val="FFFFFF"/>
                    </a:solidFill>
                  </a:tcPr>
                </a:tc>
              </a:tr>
              <a:tr h="215265">
                <a:tc>
                  <a:txBody>
                    <a:bodyPr wrap="none"/>
                    <a:lstStyle/>
                    <a:p>
                      <a:pPr algn="l"/>
                      <a:r>
                        <a:rPr sz="1100" b="1">
                          <a:solidFill>
                            <a:srgbClr val="252423"/>
                          </a:solidFill>
                          <a:latin typeface="Segoe UI"/>
                        </a:rPr>
                        <a:t>Chile</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20.4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21.4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22.4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23.5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24.8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26.2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27.7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29.4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31.3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33.3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35.6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38.0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40.5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43.2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46.0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49.0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6.5%</a:t>
                      </a:r>
                      <a:endParaRPr sz="1100"/>
                    </a:p>
                  </a:txBody>
                  <a:tcPr marL="47625" marR="38100" marT="19050" marB="19050" anchor="ctr">
                    <a:solidFill>
                      <a:srgbClr val="F2FAFD"/>
                    </a:solidFill>
                  </a:tcPr>
                </a:tc>
              </a:tr>
              <a:tr h="215265">
                <a:tc>
                  <a:txBody>
                    <a:bodyPr wrap="none"/>
                    <a:lstStyle/>
                    <a:p>
                      <a:pPr algn="l"/>
                      <a:r>
                        <a:rPr sz="1100" b="1">
                          <a:solidFill>
                            <a:srgbClr val="252423"/>
                          </a:solidFill>
                          <a:latin typeface="Segoe UI"/>
                        </a:rPr>
                        <a:t>Rest of LATAM</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148.4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155.6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163.6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172.5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182.1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193.7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206.2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220.1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235.3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252.2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270.4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290.0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311.1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333.7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357.7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383.3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7.1%</a:t>
                      </a:r>
                      <a:endParaRPr sz="1100"/>
                    </a:p>
                  </a:txBody>
                  <a:tcPr marL="47625" marR="38100" marT="19050" marB="19050" anchor="ctr">
                    <a:solidFill>
                      <a:srgbClr val="FFFFFF"/>
                    </a:solidFill>
                  </a:tcPr>
                </a:tc>
              </a:tr>
              <a:tr h="215265">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279.5</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293.1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308.0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324.5</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342.5</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363.9</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387.1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412.7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440.6</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471.1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504.2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540.0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578.4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619.5</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663.2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709.5</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6.9%</a:t>
                      </a:r>
                      <a:endParaRPr sz="1100"/>
                    </a:p>
                  </a:txBody>
                  <a:tcPr marL="47625" marR="38100" marT="19050" marB="19050" anchor="ctr">
                    <a:solidFill>
                      <a:srgbClr val="E0F2FA"/>
                    </a:solidFill>
                  </a:tcPr>
                </a:tc>
              </a:tr>
            </a:tbl>
          </a:graphicData>
        </a:graphic>
      </p:graphicFrame>
      <p:sp>
        <p:nvSpPr>
          <p:cNvPr id="12" name="TextBox 11"/>
          <p:cNvSpPr txBox="1"/>
          <p:nvPr/>
        </p:nvSpPr>
        <p:spPr>
          <a:xfrm>
            <a:off x="219075" y="232410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3" name="Rectangle 12"/>
          <p:cNvSpPr/>
          <p:nvPr/>
        </p:nvSpPr>
        <p:spPr>
          <a:xfrm>
            <a:off x="142875" y="2657475"/>
            <a:ext cx="11906250" cy="39719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2743200"/>
            <a:ext cx="11639550" cy="209550"/>
          </a:xfrm>
          <a:prstGeom prst="rect">
            <a:avLst/>
          </a:prstGeom>
          <a:noFill/>
        </p:spPr>
        <p:txBody>
          <a:bodyPr wrap="square" lIns="0" rIns="19050" tIns="9525" bIns="9525">
            <a:spAutoFit/>
          </a:bodyPr>
          <a:lstStyle/>
          <a:p>
            <a:pPr algn="l"/>
            <a:r>
              <a:rPr sz="1300" b="1">
                <a:solidFill>
                  <a:srgbClr val="007BA5"/>
                </a:solidFill>
                <a:latin typeface="Segoe UI"/>
              </a:rPr>
              <a:t>Latin America Value Share Read-out, By Country</a:t>
            </a:r>
          </a:p>
        </p:txBody>
      </p:sp>
      <p:sp>
        <p:nvSpPr>
          <p:cNvPr id="15" name="Rectangle 14"/>
          <p:cNvSpPr/>
          <p:nvPr/>
        </p:nvSpPr>
        <p:spPr>
          <a:xfrm>
            <a:off x="276225" y="298132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067050"/>
            <a:ext cx="11639550" cy="3486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Brazil performance knitted fabrics market is projected to register 5.7X higher value than Chile in 2036. Among performance knitted fabrics by country, Brazil is expected to witness the highest CAGR of 6.8% over the forecast period.</a:t>
            </a:r>
          </a:p>
          <a:p>
            <a:pPr algn="l">
              <a:lnSpc>
                <a:spcPct val="110000"/>
              </a:lnSpc>
              <a:spcBef>
                <a:spcPts val="0"/>
              </a:spcBef>
              <a:spcAft>
                <a:spcPts val="500"/>
              </a:spcAft>
            </a:pPr>
            <a:r>
              <a:rPr sz="1150" b="0">
                <a:solidFill>
                  <a:srgbClr val="252423"/>
                </a:solidFill>
                <a:latin typeface="Segoe UI"/>
              </a:rPr>
              <a:t>In terms of value share by country, Brazil is expected to dominate the market, gaining 35 BPS and accounting for 85.0% share by 2036. Chile is expected to lose 35 BPS over the forecast period to account for 15.0% share by 2036.</a:t>
            </a:r>
          </a:p>
        </p:txBody>
      </p:sp>
      <p:sp>
        <p:nvSpPr>
          <p:cNvPr id="17" name="TextBox 1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Latin America Performance Knitted Fabrics Market Trends, By Country</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how country volume and value shares shift over 2021–2036, highlighting who gains ground</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Latin America</a:t>
            </a:r>
          </a:p>
        </p:txBody>
      </p:sp>
      <p:sp>
        <p:nvSpPr>
          <p:cNvPr id="9" name="Rectangle 8"/>
          <p:cNvSpPr/>
          <p:nvPr/>
        </p:nvSpPr>
        <p:spPr>
          <a:xfrm>
            <a:off x="142875" y="981075"/>
            <a:ext cx="11906250"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Latin America Volume By Country (Mn Sq. Yards)</a:t>
            </a:r>
          </a:p>
        </p:txBody>
      </p:sp>
      <p:graphicFrame>
        <p:nvGraphicFramePr>
          <p:cNvPr id="11" name="Chart 10"/>
          <p:cNvGraphicFramePr>
            <a:graphicFrameLocks noGrp="1"/>
          </p:cNvGraphicFramePr>
          <p:nvPr/>
        </p:nvGraphicFramePr>
        <p:xfrm>
          <a:off x="238125" y="1266825"/>
          <a:ext cx="11715750" cy="2409825"/>
        </p:xfrm>
        <a:graphic>
          <a:graphicData uri="http://schemas.openxmlformats.org/drawingml/2006/chart">
            <c:chart xmlns:c="http://schemas.openxmlformats.org/drawingml/2006/chart" r:id="rId3"/>
          </a:graphicData>
        </a:graphic>
      </p:graphicFrame>
      <p:sp>
        <p:nvSpPr>
          <p:cNvPr id="12" name="Rectangle 11"/>
          <p:cNvSpPr/>
          <p:nvPr/>
        </p:nvSpPr>
        <p:spPr>
          <a:xfrm>
            <a:off x="142875" y="3867150"/>
            <a:ext cx="11906250"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Latin America Value By Country (US$ Mn)</a:t>
            </a:r>
          </a:p>
        </p:txBody>
      </p:sp>
      <p:graphicFrame>
        <p:nvGraphicFramePr>
          <p:cNvPr id="14" name="Chart 13"/>
          <p:cNvGraphicFramePr>
            <a:graphicFrameLocks noGrp="1"/>
          </p:cNvGraphicFramePr>
          <p:nvPr/>
        </p:nvGraphicFramePr>
        <p:xfrm>
          <a:off x="238125" y="4152900"/>
          <a:ext cx="11715750" cy="2409825"/>
        </p:xfrm>
        <a:graphic>
          <a:graphicData uri="http://schemas.openxmlformats.org/drawingml/2006/chart">
            <c:chart xmlns:c="http://schemas.openxmlformats.org/drawingml/2006/chart" r:id="rId4"/>
          </a:graphicData>
        </a:graphic>
      </p:graphicFrame>
      <p:sp>
        <p:nvSpPr>
          <p:cNvPr id="15" name="TextBox 1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Latin America Performance Knitted Fabrics Market Top 2 Countries (2036)</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hierarchy of the Latin America market in 2036, highlighting the leading countries within each region by value</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Latin America</a:t>
            </a:r>
          </a:p>
        </p:txBody>
      </p:sp>
      <p:sp>
        <p:nvSpPr>
          <p:cNvPr id="9" name="Rectangle 8"/>
          <p:cNvSpPr/>
          <p:nvPr/>
        </p:nvSpPr>
        <p:spPr>
          <a:xfrm>
            <a:off x="142875" y="981075"/>
            <a:ext cx="1190625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Latin America market by country  ·  2036 (US$ Mn)  ·  tile size = market value</a:t>
            </a:r>
          </a:p>
        </p:txBody>
      </p:sp>
      <p:sp>
        <p:nvSpPr>
          <p:cNvPr id="11" name="Rectangle 10"/>
          <p:cNvSpPr/>
          <p:nvPr/>
        </p:nvSpPr>
        <p:spPr>
          <a:xfrm>
            <a:off x="238125" y="1266825"/>
            <a:ext cx="9954748" cy="5305425"/>
          </a:xfrm>
          <a:prstGeom prst="rect">
            <a:avLst/>
          </a:prstGeom>
          <a:solidFill>
            <a:srgbClr val="00A4D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Brazil</a:t>
            </a:r>
          </a:p>
          <a:p>
            <a:pPr algn="ctr"/>
            <a:r>
              <a:rPr sz="1100" b="0">
                <a:solidFill>
                  <a:srgbClr val="FFFFFF"/>
                </a:solidFill>
                <a:latin typeface="Segoe UI"/>
              </a:rPr>
              <a:t>277</a:t>
            </a:r>
          </a:p>
        </p:txBody>
      </p:sp>
      <p:sp>
        <p:nvSpPr>
          <p:cNvPr id="12" name="Rectangle 11"/>
          <p:cNvSpPr/>
          <p:nvPr/>
        </p:nvSpPr>
        <p:spPr>
          <a:xfrm>
            <a:off x="10192873" y="1266825"/>
            <a:ext cx="1761002" cy="5305425"/>
          </a:xfrm>
          <a:prstGeom prst="rect">
            <a:avLst/>
          </a:prstGeom>
          <a:solidFill>
            <a:srgbClr val="6ECFF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Chile</a:t>
            </a:r>
          </a:p>
          <a:p>
            <a:pPr algn="ctr"/>
            <a:r>
              <a:rPr sz="1100" b="0">
                <a:solidFill>
                  <a:srgbClr val="252423"/>
                </a:solidFill>
                <a:latin typeface="Segoe UI"/>
              </a:rPr>
              <a:t>49.0</a:t>
            </a:r>
          </a:p>
        </p:txBody>
      </p:sp>
      <p:sp>
        <p:nvSpPr>
          <p:cNvPr id="13" name="TextBox 1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Fabric Construction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2 sub-segments of Fabric Construction,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Latin America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Fabric Construction segment categorizes the market by fabric construction.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4943475"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4943475"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Weft Knitted Fabrics</a:t>
            </a:r>
          </a:p>
        </p:txBody>
      </p:sp>
      <p:sp>
        <p:nvSpPr>
          <p:cNvPr id="21" name="Rectangle 20"/>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263.5</a:t>
            </a:r>
          </a:p>
        </p:txBody>
      </p:sp>
      <p:sp>
        <p:nvSpPr>
          <p:cNvPr id="22" name="Rectangle 21"/>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498.9</a:t>
            </a:r>
          </a:p>
        </p:txBody>
      </p:sp>
      <p:sp>
        <p:nvSpPr>
          <p:cNvPr id="23" name="Rectangle 22"/>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6.6%</a:t>
            </a:r>
          </a:p>
        </p:txBody>
      </p:sp>
      <p:sp>
        <p:nvSpPr>
          <p:cNvPr id="24" name="Oval 23"/>
          <p:cNvSpPr/>
          <p:nvPr/>
        </p:nvSpPr>
        <p:spPr>
          <a:xfrm>
            <a:off x="4176712"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6924675" y="1773916"/>
            <a:ext cx="4943475"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24675" y="1992961"/>
            <a:ext cx="4943475"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Warp Knitted Fabrics</a:t>
            </a:r>
          </a:p>
        </p:txBody>
      </p:sp>
      <p:sp>
        <p:nvSpPr>
          <p:cNvPr id="28" name="Rectangle 27"/>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100.3</a:t>
            </a:r>
          </a:p>
        </p:txBody>
      </p:sp>
      <p:sp>
        <p:nvSpPr>
          <p:cNvPr id="29" name="Rectangle 28"/>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210.6</a:t>
            </a:r>
          </a:p>
        </p:txBody>
      </p:sp>
      <p:sp>
        <p:nvSpPr>
          <p:cNvPr id="30" name="Rectangle 29"/>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7.7%</a:t>
            </a:r>
          </a:p>
        </p:txBody>
      </p:sp>
      <p:sp>
        <p:nvSpPr>
          <p:cNvPr id="31" name="Oval 30"/>
          <p:cNvSpPr/>
          <p:nvPr/>
        </p:nvSpPr>
        <p:spPr>
          <a:xfrm>
            <a:off x="9234488"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34" name="Rectangle 33"/>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fabric construction, warp knitted fabrics segment is expected to witness the highest CAGR of 7.7% over the forecast period. In terms of value share by fabric construction, the weft knitted fabrics segment is expected to dominate the market, losing 211 BPS and accounting for 70.3%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Weft knitted fabrics segment is projected to register 2.4X higher value than warp knitted fabrics segment in 2036.</a:t>
            </a:r>
          </a:p>
        </p:txBody>
      </p:sp>
      <p:sp>
        <p:nvSpPr>
          <p:cNvPr id="36" name="Rounded Rectangle 35"/>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38" name="Rectangle 37"/>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Weft Knitted Fabrics: </a:t>
            </a:r>
            <a:r>
              <a:rPr sz="1100" b="0">
                <a:solidFill>
                  <a:srgbClr val="252423"/>
                </a:solidFill>
                <a:latin typeface="Segoe UI"/>
              </a:rPr>
              <a:t>72% of 2026 value · 6.6%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Warp Knitted Fabrics: </a:t>
            </a:r>
            <a:r>
              <a:rPr sz="1100" b="0">
                <a:solidFill>
                  <a:srgbClr val="252423"/>
                </a:solidFill>
                <a:latin typeface="Segoe UI"/>
              </a:rPr>
              <a:t>28% of 2026 value · 7.7% CAGR grows fastest.</a:t>
            </a:r>
          </a:p>
        </p:txBody>
      </p:sp>
      <p:sp>
        <p:nvSpPr>
          <p:cNvPr id="40" name="Rounded Rectangle 39"/>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2" name="Rectangle 41"/>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Fabric Construction split shows how demand is distributed across fabric construction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44" name="Rectangle 43"/>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Fabric Construction segment is projected to grow at a CAGR of 6.9% from 2026 to 2036.</a:t>
            </a:r>
          </a:p>
        </p:txBody>
      </p:sp>
      <p:sp>
        <p:nvSpPr>
          <p:cNvPr id="46" name="TextBox 45"/>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7" name="TextBox 4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Latin America Market Value &amp; Share Shift, By Fabric Construction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Fabric Construction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Latin America</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Latin America Value Composition, By Fabric Construction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2349908"/>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2345146"/>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226894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Warp Knitted Fabrics</a:t>
            </a:r>
          </a:p>
        </p:txBody>
      </p:sp>
      <p:sp>
        <p:nvSpPr>
          <p:cNvPr id="17" name="BPS Value 1"/>
          <p:cNvSpPr txBox="1"/>
          <p:nvPr/>
        </p:nvSpPr>
        <p:spPr>
          <a:xfrm>
            <a:off x="6896100" y="2330858"/>
            <a:ext cx="514350" cy="123825"/>
          </a:xfrm>
          <a:prstGeom prst="rect">
            <a:avLst/>
          </a:prstGeom>
          <a:noFill/>
        </p:spPr>
        <p:txBody>
          <a:bodyPr wrap="none" lIns="0" rIns="0" tIns="0" bIns="0" anchor="ctr">
            <a:spAutoFit/>
          </a:bodyPr>
          <a:lstStyle/>
          <a:p>
            <a:pPr algn="r"/>
            <a:r>
              <a:rPr sz="900" b="1">
                <a:solidFill>
                  <a:srgbClr val="1E8E3E"/>
                </a:solidFill>
                <a:latin typeface="Segoe UI"/>
              </a:rPr>
              <a:t>+211</a:t>
            </a:r>
          </a:p>
        </p:txBody>
      </p:sp>
      <p:sp>
        <p:nvSpPr>
          <p:cNvPr id="18" name="FMI Legend Chip"/>
          <p:cNvSpPr/>
          <p:nvPr/>
        </p:nvSpPr>
        <p:spPr>
          <a:xfrm>
            <a:off x="4928997" y="4636099"/>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5090922" y="463133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455513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Weft Knitted Fabrics</a:t>
            </a:r>
          </a:p>
        </p:txBody>
      </p:sp>
      <p:sp>
        <p:nvSpPr>
          <p:cNvPr id="21" name="BPS Value 2"/>
          <p:cNvSpPr txBox="1"/>
          <p:nvPr/>
        </p:nvSpPr>
        <p:spPr>
          <a:xfrm>
            <a:off x="6896100" y="4617049"/>
            <a:ext cx="514350" cy="123825"/>
          </a:xfrm>
          <a:prstGeom prst="rect">
            <a:avLst/>
          </a:prstGeom>
          <a:noFill/>
        </p:spPr>
        <p:txBody>
          <a:bodyPr wrap="none" lIns="0" rIns="0" tIns="0" bIns="0" anchor="ctr">
            <a:spAutoFit/>
          </a:bodyPr>
          <a:lstStyle/>
          <a:p>
            <a:pPr algn="r"/>
            <a:r>
              <a:rPr sz="900" b="1">
                <a:solidFill>
                  <a:srgbClr val="D64545"/>
                </a:solidFill>
                <a:latin typeface="Segoe UI"/>
              </a:rPr>
              <a:t>-211</a:t>
            </a:r>
          </a:p>
        </p:txBody>
      </p:sp>
      <p:sp>
        <p:nvSpPr>
          <p:cNvPr id="22" name="Rectangle 21"/>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Latin America Read-out, By Fabric Construction</a:t>
            </a:r>
          </a:p>
        </p:txBody>
      </p:sp>
      <p:sp>
        <p:nvSpPr>
          <p:cNvPr id="24" name="Rectangle 23"/>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fabric construction, warp knitted fabrics segment is expected to witness the highest CAGR of 7.7% over the forecast period.</a:t>
            </a:r>
          </a:p>
          <a:p>
            <a:pPr algn="l">
              <a:lnSpc>
                <a:spcPct val="110000"/>
              </a:lnSpc>
              <a:spcBef>
                <a:spcPts val="0"/>
              </a:spcBef>
              <a:spcAft>
                <a:spcPts val="500"/>
              </a:spcAft>
            </a:pPr>
            <a:r>
              <a:rPr sz="1150" b="0">
                <a:solidFill>
                  <a:srgbClr val="252423"/>
                </a:solidFill>
                <a:latin typeface="Segoe UI"/>
              </a:rPr>
              <a:t>In terms of value share by fabric construction, the weft knitted fabrics segment is expected to dominate the market, losing 211 BPS and accounting for 70.3% share by 2036.</a:t>
            </a:r>
          </a:p>
        </p:txBody>
      </p:sp>
      <p:sp>
        <p:nvSpPr>
          <p:cNvPr id="26" name="TextBox 2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Material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6 sub-segments of Material,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Latin America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Material segment categorizes the market by material.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1571625"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1571625"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Polyester</a:t>
            </a:r>
          </a:p>
        </p:txBody>
      </p:sp>
      <p:sp>
        <p:nvSpPr>
          <p:cNvPr id="21" name="Rectangle 20"/>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180.4</a:t>
            </a:r>
          </a:p>
        </p:txBody>
      </p:sp>
      <p:sp>
        <p:nvSpPr>
          <p:cNvPr id="22" name="Rectangle 21"/>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345.0</a:t>
            </a:r>
          </a:p>
        </p:txBody>
      </p:sp>
      <p:sp>
        <p:nvSpPr>
          <p:cNvPr id="23" name="Rectangle 22"/>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6.7%</a:t>
            </a:r>
          </a:p>
        </p:txBody>
      </p:sp>
      <p:sp>
        <p:nvSpPr>
          <p:cNvPr id="24" name="Oval 23"/>
          <p:cNvSpPr/>
          <p:nvPr/>
        </p:nvSpPr>
        <p:spPr>
          <a:xfrm>
            <a:off x="2490788"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3552825" y="1773916"/>
            <a:ext cx="1571625"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552825" y="1992961"/>
            <a:ext cx="1571625"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Polyamide or Nylon</a:t>
            </a:r>
          </a:p>
        </p:txBody>
      </p:sp>
      <p:sp>
        <p:nvSpPr>
          <p:cNvPr id="28" name="Rectangle 27"/>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63.5</a:t>
            </a:r>
          </a:p>
        </p:txBody>
      </p:sp>
      <p:sp>
        <p:nvSpPr>
          <p:cNvPr id="29" name="Rectangle 28"/>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124.4</a:t>
            </a:r>
          </a:p>
        </p:txBody>
      </p:sp>
      <p:sp>
        <p:nvSpPr>
          <p:cNvPr id="30" name="Rectangle 29"/>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7.0%</a:t>
            </a:r>
          </a:p>
        </p:txBody>
      </p:sp>
      <p:sp>
        <p:nvSpPr>
          <p:cNvPr id="31" name="Oval 30"/>
          <p:cNvSpPr/>
          <p:nvPr/>
        </p:nvSpPr>
        <p:spPr>
          <a:xfrm>
            <a:off x="4176712"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5238750" y="1773916"/>
            <a:ext cx="1571625"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238750" y="1992961"/>
            <a:ext cx="1571625"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Elastane or Spandex Blends</a:t>
            </a:r>
          </a:p>
        </p:txBody>
      </p:sp>
      <p:sp>
        <p:nvSpPr>
          <p:cNvPr id="35" name="Rectangle 34"/>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54.7</a:t>
            </a:r>
          </a:p>
        </p:txBody>
      </p:sp>
      <p:sp>
        <p:nvSpPr>
          <p:cNvPr id="36" name="Rectangle 35"/>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113.7</a:t>
            </a:r>
          </a:p>
        </p:txBody>
      </p:sp>
      <p:sp>
        <p:nvSpPr>
          <p:cNvPr id="37" name="Rectangle 36"/>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7.6%</a:t>
            </a:r>
          </a:p>
        </p:txBody>
      </p:sp>
      <p:sp>
        <p:nvSpPr>
          <p:cNvPr id="38" name="Oval 37"/>
          <p:cNvSpPr/>
          <p:nvPr/>
        </p:nvSpPr>
        <p:spPr>
          <a:xfrm>
            <a:off x="5862638"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6924675" y="1773916"/>
            <a:ext cx="1571625"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924675" y="1992961"/>
            <a:ext cx="1571625"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High-Performance &amp; Specialty Fibe…</a:t>
            </a:r>
          </a:p>
        </p:txBody>
      </p:sp>
      <p:sp>
        <p:nvSpPr>
          <p:cNvPr id="42" name="Rectangle 41"/>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29.2</a:t>
            </a:r>
          </a:p>
        </p:txBody>
      </p:sp>
      <p:sp>
        <p:nvSpPr>
          <p:cNvPr id="43" name="Rectangle 42"/>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62.9</a:t>
            </a:r>
          </a:p>
        </p:txBody>
      </p:sp>
      <p:sp>
        <p:nvSpPr>
          <p:cNvPr id="44" name="Rectangle 43"/>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8.0%</a:t>
            </a:r>
          </a:p>
        </p:txBody>
      </p:sp>
      <p:sp>
        <p:nvSpPr>
          <p:cNvPr id="45" name="Oval 44"/>
          <p:cNvSpPr/>
          <p:nvPr/>
        </p:nvSpPr>
        <p:spPr>
          <a:xfrm>
            <a:off x="7548562"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8610600" y="1773916"/>
            <a:ext cx="1571625"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610600" y="1992961"/>
            <a:ext cx="1571625"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Cellulosic Fibers</a:t>
            </a:r>
          </a:p>
        </p:txBody>
      </p:sp>
      <p:sp>
        <p:nvSpPr>
          <p:cNvPr id="49" name="Rectangle 48"/>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20.9</a:t>
            </a:r>
          </a:p>
        </p:txBody>
      </p:sp>
      <p:sp>
        <p:nvSpPr>
          <p:cNvPr id="50" name="Rectangle 49"/>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35.8</a:t>
            </a:r>
          </a:p>
        </p:txBody>
      </p:sp>
      <p:sp>
        <p:nvSpPr>
          <p:cNvPr id="51" name="Rectangle 50"/>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5.5%</a:t>
            </a:r>
          </a:p>
        </p:txBody>
      </p:sp>
      <p:sp>
        <p:nvSpPr>
          <p:cNvPr id="52" name="Oval 51"/>
          <p:cNvSpPr/>
          <p:nvPr/>
        </p:nvSpPr>
        <p:spPr>
          <a:xfrm>
            <a:off x="9234488"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53" name="Rounded Rectangle 52"/>
          <p:cNvSpPr/>
          <p:nvPr/>
        </p:nvSpPr>
        <p:spPr>
          <a:xfrm>
            <a:off x="10296525" y="1773916"/>
            <a:ext cx="1571625"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296525" y="1992961"/>
            <a:ext cx="1571625"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Polypropylene</a:t>
            </a:r>
          </a:p>
        </p:txBody>
      </p:sp>
      <p:sp>
        <p:nvSpPr>
          <p:cNvPr id="56" name="Rectangle 55"/>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15.1</a:t>
            </a:r>
          </a:p>
        </p:txBody>
      </p:sp>
      <p:sp>
        <p:nvSpPr>
          <p:cNvPr id="57" name="Rectangle 56"/>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27.7</a:t>
            </a:r>
          </a:p>
        </p:txBody>
      </p:sp>
      <p:sp>
        <p:nvSpPr>
          <p:cNvPr id="58" name="Rectangle 57"/>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6.3%</a:t>
            </a:r>
          </a:p>
        </p:txBody>
      </p:sp>
      <p:sp>
        <p:nvSpPr>
          <p:cNvPr id="59" name="Oval 58"/>
          <p:cNvSpPr/>
          <p:nvPr/>
        </p:nvSpPr>
        <p:spPr>
          <a:xfrm>
            <a:off x="10920412"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60" name="Rounded Rectangle 5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62" name="Rectangle 61"/>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material, high-performance &amp; specialty fibers segment is expected to witness the highest CAGR of 8.0% over the forecast period. In terms of value share by material, the polyester segment is expected to dominate the market, losing 96 BPS and accounting for 48.6%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Polyester segment is projected to register 2.8X higher value than polyamide or nylon segment in 2036.</a:t>
            </a:r>
          </a:p>
        </p:txBody>
      </p:sp>
      <p:sp>
        <p:nvSpPr>
          <p:cNvPr id="64" name="Rounded Rectangle 6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66" name="Rectangle 65"/>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Polyester: </a:t>
            </a:r>
            <a:r>
              <a:rPr sz="1100" b="0">
                <a:solidFill>
                  <a:srgbClr val="252423"/>
                </a:solidFill>
                <a:latin typeface="Segoe UI"/>
              </a:rPr>
              <a:t>50% of 2026 value · 6.7%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Polyamide or Nylon: </a:t>
            </a:r>
            <a:r>
              <a:rPr sz="1100" b="0">
                <a:solidFill>
                  <a:srgbClr val="252423"/>
                </a:solidFill>
                <a:latin typeface="Segoe UI"/>
              </a:rPr>
              <a:t>17% of 2026 value · 7.0%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Elastane or Spandex Blends: </a:t>
            </a:r>
            <a:r>
              <a:rPr sz="1100" b="0">
                <a:solidFill>
                  <a:srgbClr val="252423"/>
                </a:solidFill>
                <a:latin typeface="Segoe UI"/>
              </a:rPr>
              <a:t>15% of 2026 value · 7.6% CAGR serves a niche.</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High-Performance &amp; Specialty Fibers: </a:t>
            </a:r>
            <a:r>
              <a:rPr sz="1100" b="0">
                <a:solidFill>
                  <a:srgbClr val="252423"/>
                </a:solidFill>
                <a:latin typeface="Segoe UI"/>
              </a:rPr>
              <a:t>8% of 2026 value · 8.0% CAGR grows fastest.</a:t>
            </a:r>
          </a:p>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Cellulosic Fibers: </a:t>
            </a:r>
            <a:r>
              <a:rPr sz="1100" b="0">
                <a:solidFill>
                  <a:srgbClr val="252423"/>
                </a:solidFill>
                <a:latin typeface="Segoe UI"/>
              </a:rPr>
              <a:t>6% of 2026 value · 5.5% CAGR serves a niche.</a:t>
            </a:r>
          </a:p>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Polypropylene: </a:t>
            </a:r>
            <a:r>
              <a:rPr sz="1100" b="0">
                <a:solidFill>
                  <a:srgbClr val="252423"/>
                </a:solidFill>
                <a:latin typeface="Segoe UI"/>
              </a:rPr>
              <a:t>4% of 2026 value · 6.3% CAGR serves a niche.</a:t>
            </a:r>
          </a:p>
        </p:txBody>
      </p:sp>
      <p:sp>
        <p:nvSpPr>
          <p:cNvPr id="68" name="Rounded Rectangle 6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70" name="Rectangle 69"/>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Material split shows how demand is distributed across material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72" name="Rectangle 7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Material segment is projected to grow at a CAGR of 6.9% from 2026 to 2036.</a:t>
            </a:r>
          </a:p>
        </p:txBody>
      </p:sp>
      <p:sp>
        <p:nvSpPr>
          <p:cNvPr id="74" name="TextBox 73"/>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75" name="TextBox 7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Latin America Market Value &amp; Share Shift, By Material</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Material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Latin America</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Latin America Value Composition, By Material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760664"/>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5090922" y="1755901"/>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67970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Polypropylene</a:t>
            </a:r>
          </a:p>
        </p:txBody>
      </p:sp>
      <p:sp>
        <p:nvSpPr>
          <p:cNvPr id="17" name="BPS Value 1"/>
          <p:cNvSpPr txBox="1"/>
          <p:nvPr/>
        </p:nvSpPr>
        <p:spPr>
          <a:xfrm>
            <a:off x="6896100" y="1741614"/>
            <a:ext cx="514350" cy="123825"/>
          </a:xfrm>
          <a:prstGeom prst="rect">
            <a:avLst/>
          </a:prstGeom>
          <a:noFill/>
        </p:spPr>
        <p:txBody>
          <a:bodyPr wrap="none" lIns="0" rIns="0" tIns="0" bIns="0" anchor="ctr">
            <a:spAutoFit/>
          </a:bodyPr>
          <a:lstStyle/>
          <a:p>
            <a:pPr algn="r"/>
            <a:r>
              <a:rPr sz="900" b="1">
                <a:solidFill>
                  <a:srgbClr val="D64545"/>
                </a:solidFill>
                <a:latin typeface="Segoe UI"/>
              </a:rPr>
              <a:t>-24</a:t>
            </a:r>
          </a:p>
        </p:txBody>
      </p:sp>
      <p:sp>
        <p:nvSpPr>
          <p:cNvPr id="18" name="FMI Legend Chip"/>
          <p:cNvSpPr/>
          <p:nvPr/>
        </p:nvSpPr>
        <p:spPr>
          <a:xfrm>
            <a:off x="4928997" y="1965445"/>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5090922" y="1960683"/>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188448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Cellulosic Fibers</a:t>
            </a:r>
          </a:p>
        </p:txBody>
      </p:sp>
      <p:sp>
        <p:nvSpPr>
          <p:cNvPr id="21" name="BPS Value 2"/>
          <p:cNvSpPr txBox="1"/>
          <p:nvPr/>
        </p:nvSpPr>
        <p:spPr>
          <a:xfrm>
            <a:off x="6896100" y="1946395"/>
            <a:ext cx="514350" cy="123825"/>
          </a:xfrm>
          <a:prstGeom prst="rect">
            <a:avLst/>
          </a:prstGeom>
          <a:noFill/>
        </p:spPr>
        <p:txBody>
          <a:bodyPr wrap="none" lIns="0" rIns="0" tIns="0" bIns="0" anchor="ctr">
            <a:spAutoFit/>
          </a:bodyPr>
          <a:lstStyle/>
          <a:p>
            <a:pPr algn="r"/>
            <a:r>
              <a:rPr sz="900" b="1">
                <a:solidFill>
                  <a:srgbClr val="D64545"/>
                </a:solidFill>
                <a:latin typeface="Segoe UI"/>
              </a:rPr>
              <a:t>-69</a:t>
            </a:r>
          </a:p>
        </p:txBody>
      </p:sp>
      <p:sp>
        <p:nvSpPr>
          <p:cNvPr id="22" name="FMI Legend Chip"/>
          <p:cNvSpPr/>
          <p:nvPr/>
        </p:nvSpPr>
        <p:spPr>
          <a:xfrm>
            <a:off x="4928997" y="2283474"/>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5090922" y="227871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20251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High-Performance &amp; Specialty Fibers</a:t>
            </a:r>
          </a:p>
        </p:txBody>
      </p:sp>
      <p:sp>
        <p:nvSpPr>
          <p:cNvPr id="25" name="BPS Value 3"/>
          <p:cNvSpPr txBox="1"/>
          <p:nvPr/>
        </p:nvSpPr>
        <p:spPr>
          <a:xfrm>
            <a:off x="6896100" y="2264424"/>
            <a:ext cx="514350" cy="123825"/>
          </a:xfrm>
          <a:prstGeom prst="rect">
            <a:avLst/>
          </a:prstGeom>
          <a:noFill/>
        </p:spPr>
        <p:txBody>
          <a:bodyPr wrap="none" lIns="0" rIns="0" tIns="0" bIns="0" anchor="ctr">
            <a:spAutoFit/>
          </a:bodyPr>
          <a:lstStyle/>
          <a:p>
            <a:pPr algn="r"/>
            <a:r>
              <a:rPr sz="900" b="1">
                <a:solidFill>
                  <a:srgbClr val="1E8E3E"/>
                </a:solidFill>
                <a:latin typeface="Segoe UI"/>
              </a:rPr>
              <a:t>+83</a:t>
            </a:r>
          </a:p>
        </p:txBody>
      </p:sp>
      <p:sp>
        <p:nvSpPr>
          <p:cNvPr id="26" name="FMI Legend Chip"/>
          <p:cNvSpPr/>
          <p:nvPr/>
        </p:nvSpPr>
        <p:spPr>
          <a:xfrm>
            <a:off x="4928997" y="2852387"/>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5090922" y="2847625"/>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277142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Elastane or Spandex Blends</a:t>
            </a:r>
          </a:p>
        </p:txBody>
      </p:sp>
      <p:sp>
        <p:nvSpPr>
          <p:cNvPr id="29" name="BPS Value 4"/>
          <p:cNvSpPr txBox="1"/>
          <p:nvPr/>
        </p:nvSpPr>
        <p:spPr>
          <a:xfrm>
            <a:off x="6896100" y="2833337"/>
            <a:ext cx="514350" cy="123825"/>
          </a:xfrm>
          <a:prstGeom prst="rect">
            <a:avLst/>
          </a:prstGeom>
          <a:noFill/>
        </p:spPr>
        <p:txBody>
          <a:bodyPr wrap="none" lIns="0" rIns="0" tIns="0" bIns="0" anchor="ctr">
            <a:spAutoFit/>
          </a:bodyPr>
          <a:lstStyle/>
          <a:p>
            <a:pPr algn="r"/>
            <a:r>
              <a:rPr sz="900" b="1">
                <a:solidFill>
                  <a:srgbClr val="1E8E3E"/>
                </a:solidFill>
                <a:latin typeface="Segoe UI"/>
              </a:rPr>
              <a:t>+98</a:t>
            </a:r>
          </a:p>
        </p:txBody>
      </p:sp>
      <p:sp>
        <p:nvSpPr>
          <p:cNvPr id="30" name="FMI Legend Chip"/>
          <p:cNvSpPr/>
          <p:nvPr/>
        </p:nvSpPr>
        <p:spPr>
          <a:xfrm>
            <a:off x="4928997" y="3619618"/>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5090922" y="3614855"/>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353865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Polyamide or Nylon</a:t>
            </a:r>
          </a:p>
        </p:txBody>
      </p:sp>
      <p:sp>
        <p:nvSpPr>
          <p:cNvPr id="33" name="BPS Value 5"/>
          <p:cNvSpPr txBox="1"/>
          <p:nvPr/>
        </p:nvSpPr>
        <p:spPr>
          <a:xfrm>
            <a:off x="6896100" y="3600568"/>
            <a:ext cx="514350" cy="123825"/>
          </a:xfrm>
          <a:prstGeom prst="rect">
            <a:avLst/>
          </a:prstGeom>
          <a:noFill/>
        </p:spPr>
        <p:txBody>
          <a:bodyPr wrap="none" lIns="0" rIns="0" tIns="0" bIns="0" anchor="ctr">
            <a:spAutoFit/>
          </a:bodyPr>
          <a:lstStyle/>
          <a:p>
            <a:pPr algn="r"/>
            <a:r>
              <a:rPr sz="900" b="1">
                <a:solidFill>
                  <a:srgbClr val="1E8E3E"/>
                </a:solidFill>
                <a:latin typeface="Segoe UI"/>
              </a:rPr>
              <a:t>+8</a:t>
            </a:r>
          </a:p>
        </p:txBody>
      </p:sp>
      <p:sp>
        <p:nvSpPr>
          <p:cNvPr id="34" name="FMI Legend Chip"/>
          <p:cNvSpPr/>
          <p:nvPr/>
        </p:nvSpPr>
        <p:spPr>
          <a:xfrm>
            <a:off x="4928997" y="5132114"/>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rot="10800000">
            <a:off x="5090922" y="512735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505115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Polyester</a:t>
            </a:r>
          </a:p>
        </p:txBody>
      </p:sp>
      <p:sp>
        <p:nvSpPr>
          <p:cNvPr id="37" name="BPS Value 6"/>
          <p:cNvSpPr txBox="1"/>
          <p:nvPr/>
        </p:nvSpPr>
        <p:spPr>
          <a:xfrm>
            <a:off x="6896100" y="5113064"/>
            <a:ext cx="514350" cy="123825"/>
          </a:xfrm>
          <a:prstGeom prst="rect">
            <a:avLst/>
          </a:prstGeom>
          <a:noFill/>
        </p:spPr>
        <p:txBody>
          <a:bodyPr wrap="none" lIns="0" rIns="0" tIns="0" bIns="0" anchor="ctr">
            <a:spAutoFit/>
          </a:bodyPr>
          <a:lstStyle/>
          <a:p>
            <a:pPr algn="r"/>
            <a:r>
              <a:rPr sz="900" b="1">
                <a:solidFill>
                  <a:srgbClr val="D64545"/>
                </a:solidFill>
                <a:latin typeface="Segoe UI"/>
              </a:rPr>
              <a:t>-96</a:t>
            </a:r>
          </a:p>
        </p:txBody>
      </p:sp>
      <p:sp>
        <p:nvSpPr>
          <p:cNvPr id="38" name="Rectangle 37"/>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Latin America Read-out, By Material</a:t>
            </a:r>
          </a:p>
        </p:txBody>
      </p:sp>
      <p:sp>
        <p:nvSpPr>
          <p:cNvPr id="40" name="Rectangle 39"/>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material, high-performance &amp; specialty fibers segment is expected to witness the highest CAGR of 8.0% over the forecast period.</a:t>
            </a:r>
          </a:p>
          <a:p>
            <a:pPr algn="l">
              <a:lnSpc>
                <a:spcPct val="110000"/>
              </a:lnSpc>
              <a:spcBef>
                <a:spcPts val="0"/>
              </a:spcBef>
              <a:spcAft>
                <a:spcPts val="500"/>
              </a:spcAft>
            </a:pPr>
            <a:r>
              <a:rPr sz="1150" b="0">
                <a:solidFill>
                  <a:srgbClr val="252423"/>
                </a:solidFill>
                <a:latin typeface="Segoe UI"/>
              </a:rPr>
              <a:t>In terms of value share by material, the polyester segment is expected to dominate the market, losing 96 BPS and accounting for 48.6% share by 2036.</a:t>
            </a:r>
          </a:p>
        </p:txBody>
      </p:sp>
      <p:sp>
        <p:nvSpPr>
          <p:cNvPr id="42" name="TextBox 4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Primary Performance Function Segment Outlook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10 sub-segments of Primary Performance Function,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Latin America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Primary Performance Function segment categorizes the market by primary performance function.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190881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190881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Moisture Management &amp; Quick-Dry</a:t>
            </a:r>
          </a:p>
        </p:txBody>
      </p:sp>
      <p:sp>
        <p:nvSpPr>
          <p:cNvPr id="21" name="Rectangle 20"/>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93.3</a:t>
            </a:r>
          </a:p>
        </p:txBody>
      </p:sp>
      <p:sp>
        <p:nvSpPr>
          <p:cNvPr id="22" name="Rectangle 21"/>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181.3</a:t>
            </a:r>
          </a:p>
        </p:txBody>
      </p:sp>
      <p:sp>
        <p:nvSpPr>
          <p:cNvPr id="23" name="Rectangle 22"/>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6.9%</a:t>
            </a:r>
          </a:p>
        </p:txBody>
      </p:sp>
      <p:sp>
        <p:nvSpPr>
          <p:cNvPr id="24" name="Oval 23"/>
          <p:cNvSpPr/>
          <p:nvPr/>
        </p:nvSpPr>
        <p:spPr>
          <a:xfrm>
            <a:off x="265938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3890010" y="1773916"/>
            <a:ext cx="190881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890010" y="1992961"/>
            <a:ext cx="190881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Stretch &amp; Recovery</a:t>
            </a:r>
          </a:p>
        </p:txBody>
      </p:sp>
      <p:sp>
        <p:nvSpPr>
          <p:cNvPr id="28" name="Rectangle 27"/>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77.6</a:t>
            </a:r>
          </a:p>
        </p:txBody>
      </p:sp>
      <p:sp>
        <p:nvSpPr>
          <p:cNvPr id="29" name="Rectangle 28"/>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149.5</a:t>
            </a:r>
          </a:p>
        </p:txBody>
      </p:sp>
      <p:sp>
        <p:nvSpPr>
          <p:cNvPr id="30" name="Rectangle 29"/>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6.8%</a:t>
            </a:r>
          </a:p>
        </p:txBody>
      </p:sp>
      <p:sp>
        <p:nvSpPr>
          <p:cNvPr id="31" name="Oval 30"/>
          <p:cNvSpPr/>
          <p:nvPr/>
        </p:nvSpPr>
        <p:spPr>
          <a:xfrm>
            <a:off x="468249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5913120" y="1773916"/>
            <a:ext cx="190881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913120" y="1992961"/>
            <a:ext cx="190881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Thermal Management</a:t>
            </a:r>
          </a:p>
        </p:txBody>
      </p:sp>
      <p:sp>
        <p:nvSpPr>
          <p:cNvPr id="35" name="Rectangle 34"/>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43.6</a:t>
            </a:r>
          </a:p>
        </p:txBody>
      </p:sp>
      <p:sp>
        <p:nvSpPr>
          <p:cNvPr id="36" name="Rectangle 35"/>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92.6</a:t>
            </a:r>
          </a:p>
        </p:txBody>
      </p:sp>
      <p:sp>
        <p:nvSpPr>
          <p:cNvPr id="37" name="Rectangle 36"/>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7.8%</a:t>
            </a:r>
          </a:p>
        </p:txBody>
      </p:sp>
      <p:sp>
        <p:nvSpPr>
          <p:cNvPr id="38" name="Oval 37"/>
          <p:cNvSpPr/>
          <p:nvPr/>
        </p:nvSpPr>
        <p:spPr>
          <a:xfrm>
            <a:off x="670560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7936230" y="1773916"/>
            <a:ext cx="1908810"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36230" y="1992961"/>
            <a:ext cx="1908810"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Compression &amp; Support</a:t>
            </a:r>
          </a:p>
        </p:txBody>
      </p:sp>
      <p:sp>
        <p:nvSpPr>
          <p:cNvPr id="42" name="Rectangle 41"/>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39.7</a:t>
            </a:r>
          </a:p>
        </p:txBody>
      </p:sp>
      <p:sp>
        <p:nvSpPr>
          <p:cNvPr id="43" name="Rectangle 42"/>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75.0</a:t>
            </a:r>
          </a:p>
        </p:txBody>
      </p:sp>
      <p:sp>
        <p:nvSpPr>
          <p:cNvPr id="44" name="Rectangle 43"/>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6.6%</a:t>
            </a:r>
          </a:p>
        </p:txBody>
      </p:sp>
      <p:sp>
        <p:nvSpPr>
          <p:cNvPr id="45" name="Oval 44"/>
          <p:cNvSpPr/>
          <p:nvPr/>
        </p:nvSpPr>
        <p:spPr>
          <a:xfrm>
            <a:off x="8728710"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9959340" y="1773916"/>
            <a:ext cx="1908810"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959340" y="1992961"/>
            <a:ext cx="1908810"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Abrasion &amp; Tear Resistance</a:t>
            </a:r>
          </a:p>
        </p:txBody>
      </p:sp>
      <p:sp>
        <p:nvSpPr>
          <p:cNvPr id="49" name="Rectangle 48"/>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31.6</a:t>
            </a:r>
          </a:p>
        </p:txBody>
      </p:sp>
      <p:sp>
        <p:nvSpPr>
          <p:cNvPr id="50" name="Rectangle 49"/>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55.9</a:t>
            </a:r>
          </a:p>
        </p:txBody>
      </p:sp>
      <p:sp>
        <p:nvSpPr>
          <p:cNvPr id="51" name="Rectangle 50"/>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5.9%</a:t>
            </a:r>
          </a:p>
        </p:txBody>
      </p:sp>
      <p:sp>
        <p:nvSpPr>
          <p:cNvPr id="52" name="Oval 51"/>
          <p:cNvSpPr/>
          <p:nvPr/>
        </p:nvSpPr>
        <p:spPr>
          <a:xfrm>
            <a:off x="10751820"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53" name="Rounded Rectangle 5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55" name="Rectangle 54"/>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Among performance knitted fabrics by primary performance function, other specialized performance segment is expected to witness the highest CAGR of 9.0% over the forecast period. In terms of value share by primary performance function, the moisture management &amp; quick-dry segment is expected to dominate the market, maintaining its share and accounting for 25.6% share by 2036.</a:t>
            </a:r>
          </a:p>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Moisture management &amp; quick-dry segment is projected to register 1.2X higher value than stretch &amp; recovery segment in 2036.</a:t>
            </a:r>
          </a:p>
        </p:txBody>
      </p:sp>
      <p:sp>
        <p:nvSpPr>
          <p:cNvPr id="57" name="Rounded Rectangle 5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9" name="Rectangle 58"/>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Moisture Management &amp; Quick-Dry: </a:t>
            </a:r>
            <a:r>
              <a:rPr sz="1100" b="0">
                <a:solidFill>
                  <a:srgbClr val="252423"/>
                </a:solidFill>
                <a:latin typeface="Segoe UI"/>
              </a:rPr>
              <a:t>26% of 2026 value · 6.9%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Stretch &amp; Recovery: </a:t>
            </a:r>
            <a:r>
              <a:rPr sz="1100" b="0">
                <a:solidFill>
                  <a:srgbClr val="252423"/>
                </a:solidFill>
                <a:latin typeface="Segoe UI"/>
              </a:rPr>
              <a:t>21% of 2026 value · 6.8%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Thermal Management: </a:t>
            </a:r>
            <a:r>
              <a:rPr sz="1100" b="0">
                <a:solidFill>
                  <a:srgbClr val="252423"/>
                </a:solidFill>
                <a:latin typeface="Segoe UI"/>
              </a:rPr>
              <a:t>12% of 2026 value · 7.8% CAGR serves a niche.</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Compression &amp; Support: </a:t>
            </a:r>
            <a:r>
              <a:rPr sz="1100" b="0">
                <a:solidFill>
                  <a:srgbClr val="252423"/>
                </a:solidFill>
                <a:latin typeface="Segoe UI"/>
              </a:rPr>
              <a:t>11% of 2026 value · 6.6% CAGR serves a niche.</a:t>
            </a:r>
          </a:p>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Abrasion &amp; Tear Resistance: </a:t>
            </a:r>
            <a:r>
              <a:rPr sz="1100" b="0">
                <a:solidFill>
                  <a:srgbClr val="252423"/>
                </a:solidFill>
                <a:latin typeface="Segoe UI"/>
              </a:rPr>
              <a:t>9% of 2026 value · 5.9% CAGR serves a niche.</a:t>
            </a:r>
          </a:p>
        </p:txBody>
      </p:sp>
      <p:sp>
        <p:nvSpPr>
          <p:cNvPr id="61" name="Rounded Rectangle 6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63" name="Rectangle 62"/>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Primary Performance Function split shows how demand is distributed across primary performance function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65" name="Rectangle 6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Primary Performance Function segment is projected to grow at a CAGR of 6.9% from 2026 to 2036.</a:t>
            </a:r>
          </a:p>
        </p:txBody>
      </p:sp>
      <p:sp>
        <p:nvSpPr>
          <p:cNvPr id="67" name="TextBox 66"/>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8" name="TextBox 6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Primary Performance Function Segment Outlook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10 sub-segments of Primary Performance Function,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Primary Performance Function segment categorizes the market by primary performance function.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1908810"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1908810"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UV Protection</a:t>
            </a:r>
          </a:p>
        </p:txBody>
      </p:sp>
      <p:sp>
        <p:nvSpPr>
          <p:cNvPr id="20" name="Rectangle 19"/>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26.9</a:t>
            </a:r>
          </a:p>
        </p:txBody>
      </p:sp>
      <p:sp>
        <p:nvSpPr>
          <p:cNvPr id="21" name="Rectangle 20"/>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48.7</a:t>
            </a:r>
          </a:p>
        </p:txBody>
      </p:sp>
      <p:sp>
        <p:nvSpPr>
          <p:cNvPr id="22" name="Rectangle 21"/>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6.1%</a:t>
            </a:r>
          </a:p>
        </p:txBody>
      </p:sp>
      <p:sp>
        <p:nvSpPr>
          <p:cNvPr id="23" name="Oval 22"/>
          <p:cNvSpPr/>
          <p:nvPr/>
        </p:nvSpPr>
        <p:spPr>
          <a:xfrm>
            <a:off x="2659380"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24" name="Rounded Rectangle 23"/>
          <p:cNvSpPr/>
          <p:nvPr/>
        </p:nvSpPr>
        <p:spPr>
          <a:xfrm>
            <a:off x="3890010" y="1773916"/>
            <a:ext cx="1908810"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90010" y="1992961"/>
            <a:ext cx="1908810"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Antimicrobial &amp; Odor Control</a:t>
            </a:r>
          </a:p>
        </p:txBody>
      </p:sp>
      <p:sp>
        <p:nvSpPr>
          <p:cNvPr id="27" name="Rectangle 26"/>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26.4</a:t>
            </a:r>
          </a:p>
        </p:txBody>
      </p:sp>
      <p:sp>
        <p:nvSpPr>
          <p:cNvPr id="28" name="Rectangle 27"/>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57.0</a:t>
            </a:r>
          </a:p>
        </p:txBody>
      </p:sp>
      <p:sp>
        <p:nvSpPr>
          <p:cNvPr id="29" name="Rectangle 28"/>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8.0%</a:t>
            </a:r>
          </a:p>
        </p:txBody>
      </p:sp>
      <p:sp>
        <p:nvSpPr>
          <p:cNvPr id="30" name="Oval 29"/>
          <p:cNvSpPr/>
          <p:nvPr/>
        </p:nvSpPr>
        <p:spPr>
          <a:xfrm>
            <a:off x="4682490"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31" name="Rounded Rectangle 30"/>
          <p:cNvSpPr/>
          <p:nvPr/>
        </p:nvSpPr>
        <p:spPr>
          <a:xfrm>
            <a:off x="5913120" y="1773916"/>
            <a:ext cx="190881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913120" y="1992961"/>
            <a:ext cx="190881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Water or Liquid Management</a:t>
            </a:r>
          </a:p>
        </p:txBody>
      </p:sp>
      <p:sp>
        <p:nvSpPr>
          <p:cNvPr id="34" name="Rectangle 33"/>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15.0</a:t>
            </a:r>
          </a:p>
        </p:txBody>
      </p:sp>
      <p:sp>
        <p:nvSpPr>
          <p:cNvPr id="35" name="Rectangle 34"/>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28.2</a:t>
            </a:r>
          </a:p>
        </p:txBody>
      </p:sp>
      <p:sp>
        <p:nvSpPr>
          <p:cNvPr id="36" name="Rectangle 35"/>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6.5%</a:t>
            </a:r>
          </a:p>
        </p:txBody>
      </p:sp>
      <p:sp>
        <p:nvSpPr>
          <p:cNvPr id="37" name="Oval 36"/>
          <p:cNvSpPr/>
          <p:nvPr/>
        </p:nvSpPr>
        <p:spPr>
          <a:xfrm>
            <a:off x="670560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8</a:t>
            </a:r>
          </a:p>
        </p:txBody>
      </p:sp>
      <p:sp>
        <p:nvSpPr>
          <p:cNvPr id="38" name="Rounded Rectangle 37"/>
          <p:cNvSpPr/>
          <p:nvPr/>
        </p:nvSpPr>
        <p:spPr>
          <a:xfrm>
            <a:off x="7936230" y="1773916"/>
            <a:ext cx="190881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936230" y="1992961"/>
            <a:ext cx="190881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Flame &amp; Heat Resistance</a:t>
            </a:r>
          </a:p>
        </p:txBody>
      </p:sp>
      <p:sp>
        <p:nvSpPr>
          <p:cNvPr id="41" name="Rectangle 40"/>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6.21</a:t>
            </a:r>
          </a:p>
        </p:txBody>
      </p:sp>
      <p:sp>
        <p:nvSpPr>
          <p:cNvPr id="42" name="Rectangle 41"/>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12.7</a:t>
            </a:r>
          </a:p>
        </p:txBody>
      </p:sp>
      <p:sp>
        <p:nvSpPr>
          <p:cNvPr id="43" name="Rectangle 42"/>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7.4%</a:t>
            </a:r>
          </a:p>
        </p:txBody>
      </p:sp>
      <p:sp>
        <p:nvSpPr>
          <p:cNvPr id="44" name="Oval 43"/>
          <p:cNvSpPr/>
          <p:nvPr/>
        </p:nvSpPr>
        <p:spPr>
          <a:xfrm>
            <a:off x="872871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9</a:t>
            </a:r>
          </a:p>
        </p:txBody>
      </p:sp>
      <p:sp>
        <p:nvSpPr>
          <p:cNvPr id="45" name="Rounded Rectangle 44"/>
          <p:cNvSpPr/>
          <p:nvPr/>
        </p:nvSpPr>
        <p:spPr>
          <a:xfrm>
            <a:off x="9959340" y="1773916"/>
            <a:ext cx="190881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959340" y="1992961"/>
            <a:ext cx="190881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Other Specialized Performance</a:t>
            </a:r>
          </a:p>
        </p:txBody>
      </p:sp>
      <p:sp>
        <p:nvSpPr>
          <p:cNvPr id="48" name="Rectangle 47"/>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3.67</a:t>
            </a:r>
          </a:p>
        </p:txBody>
      </p:sp>
      <p:sp>
        <p:nvSpPr>
          <p:cNvPr id="49" name="Rectangle 48"/>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8.69</a:t>
            </a:r>
          </a:p>
        </p:txBody>
      </p:sp>
      <p:sp>
        <p:nvSpPr>
          <p:cNvPr id="50" name="Rectangle 49"/>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9.0%</a:t>
            </a:r>
          </a:p>
        </p:txBody>
      </p:sp>
      <p:sp>
        <p:nvSpPr>
          <p:cNvPr id="51" name="Oval 50"/>
          <p:cNvSpPr/>
          <p:nvPr/>
        </p:nvSpPr>
        <p:spPr>
          <a:xfrm>
            <a:off x="1075182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10</a:t>
            </a:r>
          </a:p>
        </p:txBody>
      </p:sp>
      <p:sp>
        <p:nvSpPr>
          <p:cNvPr id="52" name="Rounded Rectangle 51"/>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4" name="Rectangle 53"/>
          <p:cNvSpPr/>
          <p:nvPr/>
        </p:nvSpPr>
        <p:spPr>
          <a:xfrm>
            <a:off x="457200" y="4146897"/>
            <a:ext cx="112776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UV Protection: </a:t>
            </a:r>
            <a:r>
              <a:rPr sz="1100" b="0">
                <a:solidFill>
                  <a:srgbClr val="252423"/>
                </a:solidFill>
                <a:latin typeface="Segoe UI"/>
              </a:rPr>
              <a:t>7% of 2026 value · 6.1% CAGR serves a niche.</a:t>
            </a:r>
          </a:p>
          <a:p>
            <a:pPr algn="l">
              <a:lnSpc>
                <a:spcPct val="110000"/>
              </a:lnSpc>
              <a:spcBef>
                <a:spcPts val="0"/>
              </a:spcBef>
              <a:spcAft>
                <a:spcPts val="500"/>
              </a:spcAft>
            </a:pPr>
            <a:r>
              <a:rPr sz="1100" b="0">
                <a:solidFill>
                  <a:srgbClr val="2C6E7F"/>
                </a:solidFill>
                <a:latin typeface="Segoe UI"/>
              </a:rPr>
              <a:t>●  </a:t>
            </a:r>
            <a:r>
              <a:rPr sz="1100" b="1">
                <a:solidFill>
                  <a:srgbClr val="2C6E7F"/>
                </a:solidFill>
                <a:latin typeface="Segoe UI"/>
              </a:rPr>
              <a:t>Antimicrobial &amp; Odor Control: </a:t>
            </a:r>
            <a:r>
              <a:rPr sz="1100" b="0">
                <a:solidFill>
                  <a:srgbClr val="252423"/>
                </a:solidFill>
                <a:latin typeface="Segoe UI"/>
              </a:rPr>
              <a:t>7% of 2026 value · 8.0% CAGR serves a niche.</a:t>
            </a:r>
          </a:p>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Water or Liquid Management: </a:t>
            </a:r>
            <a:r>
              <a:rPr sz="1100" b="0">
                <a:solidFill>
                  <a:srgbClr val="252423"/>
                </a:solidFill>
                <a:latin typeface="Segoe UI"/>
              </a:rPr>
              <a:t>4% of 2026 value · 6.5% CAGR serves a niche.</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Flame &amp; Heat Resistance: </a:t>
            </a:r>
            <a:r>
              <a:rPr sz="1100" b="0">
                <a:solidFill>
                  <a:srgbClr val="252423"/>
                </a:solidFill>
                <a:latin typeface="Segoe UI"/>
              </a:rPr>
              <a:t>2% of 2026 value · 7.4%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Other Specialized Performance: </a:t>
            </a:r>
            <a:r>
              <a:rPr sz="1100" b="0">
                <a:solidFill>
                  <a:srgbClr val="252423"/>
                </a:solidFill>
                <a:latin typeface="Segoe UI"/>
              </a:rPr>
              <a:t>1% of 2026 value · 9.0% CAGR grows fastest.</a:t>
            </a:r>
          </a:p>
        </p:txBody>
      </p:sp>
      <p:sp>
        <p:nvSpPr>
          <p:cNvPr id="56" name="TextBox 55"/>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57" name="TextBox 5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Latin America Market Value &amp; Share Shift, By Primary Performance Function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Primary Performance Function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Latin America</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Latin America Value Composition, By Primary Performance Function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699266"/>
            <a:ext cx="85725" cy="85725"/>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169450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61830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Other Specialized Performance</a:t>
            </a:r>
          </a:p>
        </p:txBody>
      </p:sp>
      <p:sp>
        <p:nvSpPr>
          <p:cNvPr id="17" name="BPS Value 1"/>
          <p:cNvSpPr txBox="1"/>
          <p:nvPr/>
        </p:nvSpPr>
        <p:spPr>
          <a:xfrm>
            <a:off x="6896100" y="1680216"/>
            <a:ext cx="514350" cy="123825"/>
          </a:xfrm>
          <a:prstGeom prst="rect">
            <a:avLst/>
          </a:prstGeom>
          <a:noFill/>
        </p:spPr>
        <p:txBody>
          <a:bodyPr wrap="none" lIns="0" rIns="0" tIns="0" bIns="0" anchor="ctr">
            <a:spAutoFit/>
          </a:bodyPr>
          <a:lstStyle/>
          <a:p>
            <a:pPr algn="r"/>
            <a:r>
              <a:rPr sz="900" b="1">
                <a:solidFill>
                  <a:srgbClr val="1E8E3E"/>
                </a:solidFill>
                <a:latin typeface="Segoe UI"/>
              </a:rPr>
              <a:t>+22</a:t>
            </a:r>
          </a:p>
        </p:txBody>
      </p:sp>
      <p:sp>
        <p:nvSpPr>
          <p:cNvPr id="18" name="FMI Legend Chip"/>
          <p:cNvSpPr/>
          <p:nvPr/>
        </p:nvSpPr>
        <p:spPr>
          <a:xfrm>
            <a:off x="4928997" y="1823091"/>
            <a:ext cx="85725" cy="85725"/>
          </a:xfrm>
          <a:prstGeom prst="rect">
            <a:avLst/>
          </a:prstGeom>
          <a:solidFill>
            <a:srgbClr val="CF7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181832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174212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Flame &amp; Heat Resistance</a:t>
            </a:r>
          </a:p>
        </p:txBody>
      </p:sp>
      <p:sp>
        <p:nvSpPr>
          <p:cNvPr id="21" name="BPS Value 2"/>
          <p:cNvSpPr txBox="1"/>
          <p:nvPr/>
        </p:nvSpPr>
        <p:spPr>
          <a:xfrm>
            <a:off x="6896100" y="1804041"/>
            <a:ext cx="514350" cy="123825"/>
          </a:xfrm>
          <a:prstGeom prst="rect">
            <a:avLst/>
          </a:prstGeom>
          <a:noFill/>
        </p:spPr>
        <p:txBody>
          <a:bodyPr wrap="none" lIns="0" rIns="0" tIns="0" bIns="0" anchor="ctr">
            <a:spAutoFit/>
          </a:bodyPr>
          <a:lstStyle/>
          <a:p>
            <a:pPr algn="r"/>
            <a:r>
              <a:rPr sz="900" b="1">
                <a:solidFill>
                  <a:srgbClr val="1E8E3E"/>
                </a:solidFill>
                <a:latin typeface="Segoe UI"/>
              </a:rPr>
              <a:t>+9</a:t>
            </a:r>
          </a:p>
        </p:txBody>
      </p:sp>
      <p:sp>
        <p:nvSpPr>
          <p:cNvPr id="22" name="FMI Legend Chip"/>
          <p:cNvSpPr/>
          <p:nvPr/>
        </p:nvSpPr>
        <p:spPr>
          <a:xfrm>
            <a:off x="4928997" y="1946916"/>
            <a:ext cx="85725" cy="85725"/>
          </a:xfrm>
          <a:prstGeom prst="rect">
            <a:avLst/>
          </a:prstGeom>
          <a:solidFill>
            <a:srgbClr val="7D7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rot="10800000">
            <a:off x="5090922" y="194215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186595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Water or Liquid Management</a:t>
            </a:r>
          </a:p>
        </p:txBody>
      </p:sp>
      <p:sp>
        <p:nvSpPr>
          <p:cNvPr id="25" name="BPS Value 3"/>
          <p:cNvSpPr txBox="1"/>
          <p:nvPr/>
        </p:nvSpPr>
        <p:spPr>
          <a:xfrm>
            <a:off x="6896100" y="1927866"/>
            <a:ext cx="514350" cy="123825"/>
          </a:xfrm>
          <a:prstGeom prst="rect">
            <a:avLst/>
          </a:prstGeom>
          <a:noFill/>
        </p:spPr>
        <p:txBody>
          <a:bodyPr wrap="none" lIns="0" rIns="0" tIns="0" bIns="0" anchor="ctr">
            <a:spAutoFit/>
          </a:bodyPr>
          <a:lstStyle/>
          <a:p>
            <a:pPr algn="r"/>
            <a:r>
              <a:rPr sz="900" b="1">
                <a:solidFill>
                  <a:srgbClr val="D64545"/>
                </a:solidFill>
                <a:latin typeface="Segoe UI"/>
              </a:rPr>
              <a:t>-15</a:t>
            </a:r>
          </a:p>
        </p:txBody>
      </p:sp>
      <p:sp>
        <p:nvSpPr>
          <p:cNvPr id="26" name="FMI Legend Chip"/>
          <p:cNvSpPr/>
          <p:nvPr/>
        </p:nvSpPr>
        <p:spPr>
          <a:xfrm>
            <a:off x="4928997" y="2147575"/>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rot="10800000">
            <a:off x="5090922" y="2142813"/>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206661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UV Protection</a:t>
            </a:r>
          </a:p>
        </p:txBody>
      </p:sp>
      <p:sp>
        <p:nvSpPr>
          <p:cNvPr id="29" name="BPS Value 4"/>
          <p:cNvSpPr txBox="1"/>
          <p:nvPr/>
        </p:nvSpPr>
        <p:spPr>
          <a:xfrm>
            <a:off x="6896100" y="2128525"/>
            <a:ext cx="514350" cy="123825"/>
          </a:xfrm>
          <a:prstGeom prst="rect">
            <a:avLst/>
          </a:prstGeom>
          <a:noFill/>
        </p:spPr>
        <p:txBody>
          <a:bodyPr wrap="none" lIns="0" rIns="0" tIns="0" bIns="0" anchor="ctr">
            <a:spAutoFit/>
          </a:bodyPr>
          <a:lstStyle/>
          <a:p>
            <a:pPr algn="r"/>
            <a:r>
              <a:rPr sz="900" b="1">
                <a:solidFill>
                  <a:srgbClr val="D64545"/>
                </a:solidFill>
                <a:latin typeface="Segoe UI"/>
              </a:rPr>
              <a:t>-53</a:t>
            </a:r>
          </a:p>
        </p:txBody>
      </p:sp>
      <p:sp>
        <p:nvSpPr>
          <p:cNvPr id="30" name="FMI Legend Chip"/>
          <p:cNvSpPr/>
          <p:nvPr/>
        </p:nvSpPr>
        <p:spPr>
          <a:xfrm>
            <a:off x="4928997" y="2484625"/>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rot="10800000">
            <a:off x="5090922" y="247986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240366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Abrasion &amp; Tear Resistance</a:t>
            </a:r>
          </a:p>
        </p:txBody>
      </p:sp>
      <p:sp>
        <p:nvSpPr>
          <p:cNvPr id="33" name="BPS Value 5"/>
          <p:cNvSpPr txBox="1"/>
          <p:nvPr/>
        </p:nvSpPr>
        <p:spPr>
          <a:xfrm>
            <a:off x="6896100" y="2465575"/>
            <a:ext cx="514350" cy="123825"/>
          </a:xfrm>
          <a:prstGeom prst="rect">
            <a:avLst/>
          </a:prstGeom>
          <a:noFill/>
        </p:spPr>
        <p:txBody>
          <a:bodyPr wrap="none" lIns="0" rIns="0" tIns="0" bIns="0" anchor="ctr">
            <a:spAutoFit/>
          </a:bodyPr>
          <a:lstStyle/>
          <a:p>
            <a:pPr algn="r"/>
            <a:r>
              <a:rPr sz="900" b="1">
                <a:solidFill>
                  <a:srgbClr val="D64545"/>
                </a:solidFill>
                <a:latin typeface="Segoe UI"/>
              </a:rPr>
              <a:t>-80</a:t>
            </a:r>
          </a:p>
        </p:txBody>
      </p:sp>
      <p:sp>
        <p:nvSpPr>
          <p:cNvPr id="34" name="FMI Legend Chip"/>
          <p:cNvSpPr/>
          <p:nvPr/>
        </p:nvSpPr>
        <p:spPr>
          <a:xfrm>
            <a:off x="4928997" y="2848447"/>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a:off x="5090922" y="284368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276748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Antimicrobial &amp; Odor Control</a:t>
            </a:r>
          </a:p>
        </p:txBody>
      </p:sp>
      <p:sp>
        <p:nvSpPr>
          <p:cNvPr id="37" name="BPS Value 6"/>
          <p:cNvSpPr txBox="1"/>
          <p:nvPr/>
        </p:nvSpPr>
        <p:spPr>
          <a:xfrm>
            <a:off x="6896100" y="2829397"/>
            <a:ext cx="514350" cy="123825"/>
          </a:xfrm>
          <a:prstGeom prst="rect">
            <a:avLst/>
          </a:prstGeom>
          <a:noFill/>
        </p:spPr>
        <p:txBody>
          <a:bodyPr wrap="none" lIns="0" rIns="0" tIns="0" bIns="0" anchor="ctr">
            <a:spAutoFit/>
          </a:bodyPr>
          <a:lstStyle/>
          <a:p>
            <a:pPr algn="r"/>
            <a:r>
              <a:rPr sz="900" b="1">
                <a:solidFill>
                  <a:srgbClr val="1E8E3E"/>
                </a:solidFill>
                <a:latin typeface="Segoe UI"/>
              </a:rPr>
              <a:t>+77</a:t>
            </a:r>
          </a:p>
        </p:txBody>
      </p:sp>
      <p:sp>
        <p:nvSpPr>
          <p:cNvPr id="38" name="FMI Legend Chip"/>
          <p:cNvSpPr/>
          <p:nvPr/>
        </p:nvSpPr>
        <p:spPr>
          <a:xfrm>
            <a:off x="4928997" y="3273663"/>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rot="10800000">
            <a:off x="5090922" y="326890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5233797" y="319270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Compression &amp; Support</a:t>
            </a:r>
          </a:p>
        </p:txBody>
      </p:sp>
      <p:sp>
        <p:nvSpPr>
          <p:cNvPr id="41" name="BPS Value 7"/>
          <p:cNvSpPr txBox="1"/>
          <p:nvPr/>
        </p:nvSpPr>
        <p:spPr>
          <a:xfrm>
            <a:off x="6896100" y="3254613"/>
            <a:ext cx="514350" cy="123825"/>
          </a:xfrm>
          <a:prstGeom prst="rect">
            <a:avLst/>
          </a:prstGeom>
          <a:noFill/>
        </p:spPr>
        <p:txBody>
          <a:bodyPr wrap="none" lIns="0" rIns="0" tIns="0" bIns="0" anchor="ctr">
            <a:spAutoFit/>
          </a:bodyPr>
          <a:lstStyle/>
          <a:p>
            <a:pPr algn="r"/>
            <a:r>
              <a:rPr sz="900" b="1">
                <a:solidFill>
                  <a:srgbClr val="D64545"/>
                </a:solidFill>
                <a:latin typeface="Segoe UI"/>
              </a:rPr>
              <a:t>-36</a:t>
            </a:r>
          </a:p>
        </p:txBody>
      </p:sp>
      <p:sp>
        <p:nvSpPr>
          <p:cNvPr id="42" name="FMI Legend Chip"/>
          <p:cNvSpPr/>
          <p:nvPr/>
        </p:nvSpPr>
        <p:spPr>
          <a:xfrm>
            <a:off x="4928997" y="3813444"/>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Isosceles Triangle 42"/>
          <p:cNvSpPr/>
          <p:nvPr/>
        </p:nvSpPr>
        <p:spPr>
          <a:xfrm>
            <a:off x="5090922" y="380868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PS Name 8"/>
          <p:cNvSpPr txBox="1"/>
          <p:nvPr/>
        </p:nvSpPr>
        <p:spPr>
          <a:xfrm>
            <a:off x="5233797" y="373248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Thermal Management</a:t>
            </a:r>
          </a:p>
        </p:txBody>
      </p:sp>
      <p:sp>
        <p:nvSpPr>
          <p:cNvPr id="45" name="BPS Value 8"/>
          <p:cNvSpPr txBox="1"/>
          <p:nvPr/>
        </p:nvSpPr>
        <p:spPr>
          <a:xfrm>
            <a:off x="6896100" y="3794394"/>
            <a:ext cx="514350" cy="123825"/>
          </a:xfrm>
          <a:prstGeom prst="rect">
            <a:avLst/>
          </a:prstGeom>
          <a:noFill/>
        </p:spPr>
        <p:txBody>
          <a:bodyPr wrap="none" lIns="0" rIns="0" tIns="0" bIns="0" anchor="ctr">
            <a:spAutoFit/>
          </a:bodyPr>
          <a:lstStyle/>
          <a:p>
            <a:pPr algn="r"/>
            <a:r>
              <a:rPr sz="900" b="1">
                <a:solidFill>
                  <a:srgbClr val="1E8E3E"/>
                </a:solidFill>
                <a:latin typeface="Segoe UI"/>
              </a:rPr>
              <a:t>+107</a:t>
            </a:r>
          </a:p>
        </p:txBody>
      </p:sp>
      <p:sp>
        <p:nvSpPr>
          <p:cNvPr id="46" name="FMI Legend Chip"/>
          <p:cNvSpPr/>
          <p:nvPr/>
        </p:nvSpPr>
        <p:spPr>
          <a:xfrm>
            <a:off x="4928997" y="4593486"/>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Isosceles Triangle 46"/>
          <p:cNvSpPr/>
          <p:nvPr/>
        </p:nvSpPr>
        <p:spPr>
          <a:xfrm rot="10800000">
            <a:off x="5090922" y="458872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PS Name 9"/>
          <p:cNvSpPr txBox="1"/>
          <p:nvPr/>
        </p:nvSpPr>
        <p:spPr>
          <a:xfrm>
            <a:off x="5233797" y="451252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Stretch &amp; Recovery</a:t>
            </a:r>
          </a:p>
        </p:txBody>
      </p:sp>
      <p:sp>
        <p:nvSpPr>
          <p:cNvPr id="49" name="BPS Value 9"/>
          <p:cNvSpPr txBox="1"/>
          <p:nvPr/>
        </p:nvSpPr>
        <p:spPr>
          <a:xfrm>
            <a:off x="6896100" y="4574436"/>
            <a:ext cx="514350" cy="123825"/>
          </a:xfrm>
          <a:prstGeom prst="rect">
            <a:avLst/>
          </a:prstGeom>
          <a:noFill/>
        </p:spPr>
        <p:txBody>
          <a:bodyPr wrap="none" lIns="0" rIns="0" tIns="0" bIns="0" anchor="ctr">
            <a:spAutoFit/>
          </a:bodyPr>
          <a:lstStyle/>
          <a:p>
            <a:pPr algn="r"/>
            <a:r>
              <a:rPr sz="900" b="1">
                <a:solidFill>
                  <a:srgbClr val="D64545"/>
                </a:solidFill>
                <a:latin typeface="Segoe UI"/>
              </a:rPr>
              <a:t>-24</a:t>
            </a:r>
          </a:p>
        </p:txBody>
      </p:sp>
      <p:sp>
        <p:nvSpPr>
          <p:cNvPr id="50" name="FMI Legend Chip"/>
          <p:cNvSpPr/>
          <p:nvPr/>
        </p:nvSpPr>
        <p:spPr>
          <a:xfrm>
            <a:off x="4928997" y="5659471"/>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Isosceles Triangle 50"/>
          <p:cNvSpPr/>
          <p:nvPr/>
        </p:nvSpPr>
        <p:spPr>
          <a:xfrm rot="10800000">
            <a:off x="5090922" y="5654709"/>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PS Name 10"/>
          <p:cNvSpPr txBox="1"/>
          <p:nvPr/>
        </p:nvSpPr>
        <p:spPr>
          <a:xfrm>
            <a:off x="5233797" y="557850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Moisture Management &amp; Quick-Dry</a:t>
            </a:r>
          </a:p>
        </p:txBody>
      </p:sp>
      <p:sp>
        <p:nvSpPr>
          <p:cNvPr id="53" name="BPS Value 10"/>
          <p:cNvSpPr txBox="1"/>
          <p:nvPr/>
        </p:nvSpPr>
        <p:spPr>
          <a:xfrm>
            <a:off x="6896100" y="5640421"/>
            <a:ext cx="514350" cy="123825"/>
          </a:xfrm>
          <a:prstGeom prst="rect">
            <a:avLst/>
          </a:prstGeom>
          <a:noFill/>
        </p:spPr>
        <p:txBody>
          <a:bodyPr wrap="none" lIns="0" rIns="0" tIns="0" bIns="0" anchor="ctr">
            <a:spAutoFit/>
          </a:bodyPr>
          <a:lstStyle/>
          <a:p>
            <a:pPr algn="r"/>
            <a:r>
              <a:rPr sz="900" b="1">
                <a:solidFill>
                  <a:srgbClr val="D64545"/>
                </a:solidFill>
                <a:latin typeface="Segoe UI"/>
              </a:rPr>
              <a:t>-8</a:t>
            </a:r>
          </a:p>
        </p:txBody>
      </p:sp>
      <p:sp>
        <p:nvSpPr>
          <p:cNvPr id="54" name="Rectangle 53"/>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Latin America Read-out, By Primary Performance Function</a:t>
            </a:r>
          </a:p>
        </p:txBody>
      </p:sp>
      <p:sp>
        <p:nvSpPr>
          <p:cNvPr id="56" name="Rectangle 55"/>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primary performance function, other specialized performance segment is expected to witness the highest CAGR of 9.0% over the forecast period. In terms of value share by primary performance function, the moisture management &amp; quick-dry segment is expected to dominate the market, maintaining its share and accounting for 25.6% share by 2036.</a:t>
            </a:r>
          </a:p>
          <a:p>
            <a:pPr algn="l">
              <a:lnSpc>
                <a:spcPct val="110000"/>
              </a:lnSpc>
              <a:spcBef>
                <a:spcPts val="0"/>
              </a:spcBef>
              <a:spcAft>
                <a:spcPts val="500"/>
              </a:spcAft>
            </a:pPr>
            <a:r>
              <a:rPr sz="1150" b="0">
                <a:solidFill>
                  <a:srgbClr val="252423"/>
                </a:solidFill>
                <a:latin typeface="Segoe UI"/>
              </a:rPr>
              <a:t>The abrasion &amp; tear resistance segment is expected to lose 80 BPS over the forecast period to account for 7.9% share by 2036.</a:t>
            </a:r>
          </a:p>
        </p:txBody>
      </p:sp>
      <p:sp>
        <p:nvSpPr>
          <p:cNvPr id="58" name="TextBox 5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Segment Outlook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Latin America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segment categorizes the market by end-use application.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Sports &amp; Activewear</a:t>
            </a:r>
          </a:p>
        </p:txBody>
      </p:sp>
      <p:sp>
        <p:nvSpPr>
          <p:cNvPr id="21" name="Rectangle 20"/>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97.4</a:t>
            </a:r>
          </a:p>
        </p:txBody>
      </p:sp>
      <p:sp>
        <p:nvSpPr>
          <p:cNvPr id="22" name="Rectangle 21"/>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192.3</a:t>
            </a:r>
          </a:p>
        </p:txBody>
      </p:sp>
      <p:sp>
        <p:nvSpPr>
          <p:cNvPr id="23" name="Rectangle 22"/>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7.0%</a:t>
            </a:r>
          </a:p>
        </p:txBody>
      </p:sp>
      <p:sp>
        <p:nvSpPr>
          <p:cNvPr id="24" name="Oval 23"/>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Intimate &amp; Bodywear</a:t>
            </a:r>
          </a:p>
        </p:txBody>
      </p:sp>
      <p:sp>
        <p:nvSpPr>
          <p:cNvPr id="28" name="Rectangle 27"/>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67.7</a:t>
            </a:r>
          </a:p>
        </p:txBody>
      </p:sp>
      <p:sp>
        <p:nvSpPr>
          <p:cNvPr id="29" name="Rectangle 28"/>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119.8</a:t>
            </a:r>
          </a:p>
        </p:txBody>
      </p:sp>
      <p:sp>
        <p:nvSpPr>
          <p:cNvPr id="30" name="Rectangle 29"/>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5.9%</a:t>
            </a:r>
          </a:p>
        </p:txBody>
      </p:sp>
      <p:sp>
        <p:nvSpPr>
          <p:cNvPr id="31" name="Oval 30"/>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Medical &amp; Healthcare</a:t>
            </a:r>
          </a:p>
        </p:txBody>
      </p:sp>
      <p:sp>
        <p:nvSpPr>
          <p:cNvPr id="35" name="Rectangle 34"/>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43.6</a:t>
            </a:r>
          </a:p>
        </p:txBody>
      </p:sp>
      <p:sp>
        <p:nvSpPr>
          <p:cNvPr id="36" name="Rectangle 35"/>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89.7</a:t>
            </a:r>
          </a:p>
        </p:txBody>
      </p:sp>
      <p:sp>
        <p:nvSpPr>
          <p:cNvPr id="37" name="Rectangle 36"/>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7.5%</a:t>
            </a:r>
          </a:p>
        </p:txBody>
      </p:sp>
      <p:sp>
        <p:nvSpPr>
          <p:cNvPr id="38" name="Oval 37"/>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Footwear</a:t>
            </a:r>
          </a:p>
        </p:txBody>
      </p:sp>
      <p:sp>
        <p:nvSpPr>
          <p:cNvPr id="42" name="Rectangle 41"/>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41.9</a:t>
            </a:r>
          </a:p>
        </p:txBody>
      </p:sp>
      <p:sp>
        <p:nvSpPr>
          <p:cNvPr id="43" name="Rectangle 42"/>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82.8</a:t>
            </a:r>
          </a:p>
        </p:txBody>
      </p:sp>
      <p:sp>
        <p:nvSpPr>
          <p:cNvPr id="44" name="Rectangle 43"/>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7.0%</a:t>
            </a:r>
          </a:p>
        </p:txBody>
      </p:sp>
      <p:sp>
        <p:nvSpPr>
          <p:cNvPr id="45" name="Oval 44"/>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8" name="Rectangle 47"/>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End-Use application, medical &amp; healthcare segment is expected to witness the highest CAGR of 7.5% over the forecast period. In terms of value share by End-Use application, the sports &amp; activewear segment is expected to dominate the market, gaining 33 BPS and accounting for 27.1%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Sports &amp; activewear segment is projected to register 1.6X higher value than intimate &amp; bodywear segment in 2036.</a:t>
            </a:r>
          </a:p>
        </p:txBody>
      </p:sp>
      <p:sp>
        <p:nvSpPr>
          <p:cNvPr id="50" name="Rounded Rectangle 49"/>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2" name="Rectangle 51"/>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Sports &amp; Activewear: </a:t>
            </a:r>
            <a:r>
              <a:rPr sz="1100" b="0">
                <a:solidFill>
                  <a:srgbClr val="252423"/>
                </a:solidFill>
                <a:latin typeface="Segoe UI"/>
              </a:rPr>
              <a:t>27% of 2026 value · 7.0%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Intimate &amp; Bodywear: </a:t>
            </a:r>
            <a:r>
              <a:rPr sz="1100" b="0">
                <a:solidFill>
                  <a:srgbClr val="252423"/>
                </a:solidFill>
                <a:latin typeface="Segoe UI"/>
              </a:rPr>
              <a:t>19% of 2026 value · 5.9%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Medical &amp; Healthcare: </a:t>
            </a:r>
            <a:r>
              <a:rPr sz="1100" b="0">
                <a:solidFill>
                  <a:srgbClr val="252423"/>
                </a:solidFill>
                <a:latin typeface="Segoe UI"/>
              </a:rPr>
              <a:t>12% of 2026 value · 7.5% CAGR grows fastest.</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Footwear: </a:t>
            </a:r>
            <a:r>
              <a:rPr sz="1100" b="0">
                <a:solidFill>
                  <a:srgbClr val="252423"/>
                </a:solidFill>
                <a:latin typeface="Segoe UI"/>
              </a:rPr>
              <a:t>12% of 2026 value · 7.0% CAGR serves a niche.</a:t>
            </a:r>
          </a:p>
        </p:txBody>
      </p:sp>
      <p:sp>
        <p:nvSpPr>
          <p:cNvPr id="54" name="Rounded Rectangle 53"/>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6" name="Rectangle 55"/>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End-Use Application split shows how demand is distributed across end-use application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8" name="Rectangle 57"/>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End-Use Application segment is projected to grow at a CAGR of 6.9% from 2026 to 2036.</a:t>
            </a:r>
          </a:p>
        </p:txBody>
      </p:sp>
      <p:sp>
        <p:nvSpPr>
          <p:cNvPr id="60" name="TextBox 59"/>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1" name="TextBox 6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Segment Outlook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segment categorizes the market by end-use application.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3257550"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3257550"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Protective &amp; Occupational Wear</a:t>
            </a:r>
          </a:p>
        </p:txBody>
      </p:sp>
      <p:sp>
        <p:nvSpPr>
          <p:cNvPr id="20" name="Rectangle 19"/>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41.8</a:t>
            </a:r>
          </a:p>
        </p:txBody>
      </p:sp>
      <p:sp>
        <p:nvSpPr>
          <p:cNvPr id="21" name="Rectangle 20"/>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82.3</a:t>
            </a:r>
          </a:p>
        </p:txBody>
      </p:sp>
      <p:sp>
        <p:nvSpPr>
          <p:cNvPr id="22" name="Rectangle 21"/>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7.0%</a:t>
            </a:r>
          </a:p>
        </p:txBody>
      </p:sp>
      <p:sp>
        <p:nvSpPr>
          <p:cNvPr id="23" name="Oval 22"/>
          <p:cNvSpPr/>
          <p:nvPr/>
        </p:nvSpPr>
        <p:spPr>
          <a:xfrm>
            <a:off x="3333750"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24" name="Rounded Rectangle 23"/>
          <p:cNvSpPr/>
          <p:nvPr/>
        </p:nvSpPr>
        <p:spPr>
          <a:xfrm>
            <a:off x="5238750" y="1773916"/>
            <a:ext cx="3257550"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38750" y="1992961"/>
            <a:ext cx="3257550"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Industrial &amp; Technical Applicatio…</a:t>
            </a:r>
          </a:p>
        </p:txBody>
      </p:sp>
      <p:sp>
        <p:nvSpPr>
          <p:cNvPr id="27" name="Rectangle 26"/>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37.5</a:t>
            </a:r>
          </a:p>
        </p:txBody>
      </p:sp>
      <p:sp>
        <p:nvSpPr>
          <p:cNvPr id="28" name="Rectangle 27"/>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76.5</a:t>
            </a:r>
          </a:p>
        </p:txBody>
      </p:sp>
      <p:sp>
        <p:nvSpPr>
          <p:cNvPr id="29" name="Rectangle 28"/>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7.4%</a:t>
            </a:r>
          </a:p>
        </p:txBody>
      </p:sp>
      <p:sp>
        <p:nvSpPr>
          <p:cNvPr id="30" name="Oval 29"/>
          <p:cNvSpPr/>
          <p:nvPr/>
        </p:nvSpPr>
        <p:spPr>
          <a:xfrm>
            <a:off x="6705600"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31" name="Rounded Rectangle 30"/>
          <p:cNvSpPr/>
          <p:nvPr/>
        </p:nvSpPr>
        <p:spPr>
          <a:xfrm>
            <a:off x="8610600" y="1773916"/>
            <a:ext cx="3257550"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10600" y="1992961"/>
            <a:ext cx="3257550"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Automotive &amp; Transportation</a:t>
            </a:r>
          </a:p>
        </p:txBody>
      </p:sp>
      <p:sp>
        <p:nvSpPr>
          <p:cNvPr id="34" name="Rectangle 33"/>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33.9</a:t>
            </a:r>
          </a:p>
        </p:txBody>
      </p:sp>
      <p:sp>
        <p:nvSpPr>
          <p:cNvPr id="35" name="Rectangle 34"/>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66.0</a:t>
            </a:r>
          </a:p>
        </p:txBody>
      </p:sp>
      <p:sp>
        <p:nvSpPr>
          <p:cNvPr id="36" name="Rectangle 35"/>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6.9%</a:t>
            </a:r>
          </a:p>
        </p:txBody>
      </p:sp>
      <p:sp>
        <p:nvSpPr>
          <p:cNvPr id="37" name="Oval 36"/>
          <p:cNvSpPr/>
          <p:nvPr/>
        </p:nvSpPr>
        <p:spPr>
          <a:xfrm>
            <a:off x="10077450"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38" name="Rounded Rectangle 37"/>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0" name="Rectangle 39"/>
          <p:cNvSpPr/>
          <p:nvPr/>
        </p:nvSpPr>
        <p:spPr>
          <a:xfrm>
            <a:off x="457200" y="4146897"/>
            <a:ext cx="112776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Protective &amp; Occupational Wear: </a:t>
            </a:r>
            <a:r>
              <a:rPr sz="1100" b="0">
                <a:solidFill>
                  <a:srgbClr val="252423"/>
                </a:solidFill>
                <a:latin typeface="Segoe UI"/>
              </a:rPr>
              <a:t>11% of 2026 value · 7.0% CAGR serves a niche.</a:t>
            </a:r>
          </a:p>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Industrial &amp; Technical Applications: </a:t>
            </a:r>
            <a:r>
              <a:rPr sz="1100" b="0">
                <a:solidFill>
                  <a:srgbClr val="252423"/>
                </a:solidFill>
                <a:latin typeface="Segoe UI"/>
              </a:rPr>
              <a:t>10% of 2026 value · 7.4% CAGR serves a niche.</a:t>
            </a:r>
          </a:p>
          <a:p>
            <a:pPr algn="l">
              <a:lnSpc>
                <a:spcPct val="110000"/>
              </a:lnSpc>
              <a:spcBef>
                <a:spcPts val="0"/>
              </a:spcBef>
              <a:spcAft>
                <a:spcPts val="500"/>
              </a:spcAft>
            </a:pPr>
            <a:r>
              <a:rPr sz="1100" b="0">
                <a:solidFill>
                  <a:srgbClr val="2C6E7F"/>
                </a:solidFill>
                <a:latin typeface="Segoe UI"/>
              </a:rPr>
              <a:t>●  </a:t>
            </a:r>
            <a:r>
              <a:rPr sz="1100" b="1">
                <a:solidFill>
                  <a:srgbClr val="2C6E7F"/>
                </a:solidFill>
                <a:latin typeface="Segoe UI"/>
              </a:rPr>
              <a:t>Automotive &amp; Transportation: </a:t>
            </a:r>
            <a:r>
              <a:rPr sz="1100" b="0">
                <a:solidFill>
                  <a:srgbClr val="252423"/>
                </a:solidFill>
                <a:latin typeface="Segoe UI"/>
              </a:rPr>
              <a:t>9% of 2026 value · 6.9% CAGR serves a niche.</a:t>
            </a:r>
          </a:p>
        </p:txBody>
      </p:sp>
      <p:sp>
        <p:nvSpPr>
          <p:cNvPr id="42" name="TextBox 41"/>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3" name="TextBox 4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Latin America Market Value &amp; Share Shift, By End-Use Application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End-Use Application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Latin America</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Latin America Value Composition, By End-Use Application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884032"/>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5090922" y="187927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80307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Automotive &amp; Transportation</a:t>
            </a:r>
          </a:p>
        </p:txBody>
      </p:sp>
      <p:sp>
        <p:nvSpPr>
          <p:cNvPr id="17" name="BPS Value 1"/>
          <p:cNvSpPr txBox="1"/>
          <p:nvPr/>
        </p:nvSpPr>
        <p:spPr>
          <a:xfrm>
            <a:off x="6896100" y="1864982"/>
            <a:ext cx="514350" cy="123825"/>
          </a:xfrm>
          <a:prstGeom prst="rect">
            <a:avLst/>
          </a:prstGeom>
          <a:noFill/>
        </p:spPr>
        <p:txBody>
          <a:bodyPr wrap="none" lIns="0" rIns="0" tIns="0" bIns="0" anchor="ctr">
            <a:spAutoFit/>
          </a:bodyPr>
          <a:lstStyle/>
          <a:p>
            <a:pPr algn="r"/>
            <a:r>
              <a:rPr sz="900" b="1">
                <a:solidFill>
                  <a:srgbClr val="D64545"/>
                </a:solidFill>
                <a:latin typeface="Segoe UI"/>
              </a:rPr>
              <a:t>-2</a:t>
            </a:r>
          </a:p>
        </p:txBody>
      </p:sp>
      <p:sp>
        <p:nvSpPr>
          <p:cNvPr id="18" name="FMI Legend Chip"/>
          <p:cNvSpPr/>
          <p:nvPr/>
        </p:nvSpPr>
        <p:spPr>
          <a:xfrm>
            <a:off x="4928997" y="2343452"/>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233868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226248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Industrial &amp; Technical Applications</a:t>
            </a:r>
          </a:p>
        </p:txBody>
      </p:sp>
      <p:sp>
        <p:nvSpPr>
          <p:cNvPr id="21" name="BPS Value 2"/>
          <p:cNvSpPr txBox="1"/>
          <p:nvPr/>
        </p:nvSpPr>
        <p:spPr>
          <a:xfrm>
            <a:off x="6896100" y="2324402"/>
            <a:ext cx="514350" cy="123825"/>
          </a:xfrm>
          <a:prstGeom prst="rect">
            <a:avLst/>
          </a:prstGeom>
          <a:noFill/>
        </p:spPr>
        <p:txBody>
          <a:bodyPr wrap="none" lIns="0" rIns="0" tIns="0" bIns="0" anchor="ctr">
            <a:spAutoFit/>
          </a:bodyPr>
          <a:lstStyle/>
          <a:p>
            <a:pPr algn="r"/>
            <a:r>
              <a:rPr sz="900" b="1">
                <a:solidFill>
                  <a:srgbClr val="1E8E3E"/>
                </a:solidFill>
                <a:latin typeface="Segoe UI"/>
              </a:rPr>
              <a:t>+48</a:t>
            </a:r>
          </a:p>
        </p:txBody>
      </p:sp>
      <p:sp>
        <p:nvSpPr>
          <p:cNvPr id="22" name="FMI Legend Chip"/>
          <p:cNvSpPr/>
          <p:nvPr/>
        </p:nvSpPr>
        <p:spPr>
          <a:xfrm>
            <a:off x="4928997" y="2855327"/>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5090922" y="2850565"/>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77436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Protective &amp; Occupational Wear</a:t>
            </a:r>
          </a:p>
        </p:txBody>
      </p:sp>
      <p:sp>
        <p:nvSpPr>
          <p:cNvPr id="25" name="BPS Value 3"/>
          <p:cNvSpPr txBox="1"/>
          <p:nvPr/>
        </p:nvSpPr>
        <p:spPr>
          <a:xfrm>
            <a:off x="6896100" y="2836277"/>
            <a:ext cx="514350" cy="123825"/>
          </a:xfrm>
          <a:prstGeom prst="rect">
            <a:avLst/>
          </a:prstGeom>
          <a:noFill/>
        </p:spPr>
        <p:txBody>
          <a:bodyPr wrap="none" lIns="0" rIns="0" tIns="0" bIns="0" anchor="ctr">
            <a:spAutoFit/>
          </a:bodyPr>
          <a:lstStyle/>
          <a:p>
            <a:pPr algn="r"/>
            <a:r>
              <a:rPr sz="900" b="1">
                <a:solidFill>
                  <a:srgbClr val="1E8E3E"/>
                </a:solidFill>
                <a:latin typeface="Segoe UI"/>
              </a:rPr>
              <a:t>+13</a:t>
            </a:r>
          </a:p>
        </p:txBody>
      </p:sp>
      <p:sp>
        <p:nvSpPr>
          <p:cNvPr id="26" name="FMI Legend Chip"/>
          <p:cNvSpPr/>
          <p:nvPr/>
        </p:nvSpPr>
        <p:spPr>
          <a:xfrm>
            <a:off x="4928997" y="3387293"/>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5090922" y="3382530"/>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330633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Footwear</a:t>
            </a:r>
          </a:p>
        </p:txBody>
      </p:sp>
      <p:sp>
        <p:nvSpPr>
          <p:cNvPr id="29" name="BPS Value 4"/>
          <p:cNvSpPr txBox="1"/>
          <p:nvPr/>
        </p:nvSpPr>
        <p:spPr>
          <a:xfrm>
            <a:off x="6896100" y="3368243"/>
            <a:ext cx="514350" cy="123825"/>
          </a:xfrm>
          <a:prstGeom prst="rect">
            <a:avLst/>
          </a:prstGeom>
          <a:noFill/>
        </p:spPr>
        <p:txBody>
          <a:bodyPr wrap="none" lIns="0" rIns="0" tIns="0" bIns="0" anchor="ctr">
            <a:spAutoFit/>
          </a:bodyPr>
          <a:lstStyle/>
          <a:p>
            <a:pPr algn="r"/>
            <a:r>
              <a:rPr sz="900" b="1">
                <a:solidFill>
                  <a:srgbClr val="1E8E3E"/>
                </a:solidFill>
                <a:latin typeface="Segoe UI"/>
              </a:rPr>
              <a:t>+14</a:t>
            </a:r>
          </a:p>
        </p:txBody>
      </p:sp>
      <p:sp>
        <p:nvSpPr>
          <p:cNvPr id="30" name="FMI Legend Chip"/>
          <p:cNvSpPr/>
          <p:nvPr/>
        </p:nvSpPr>
        <p:spPr>
          <a:xfrm>
            <a:off x="4928997" y="3942980"/>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5090922" y="3938217"/>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386201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Medical &amp; Healthcare</a:t>
            </a:r>
          </a:p>
        </p:txBody>
      </p:sp>
      <p:sp>
        <p:nvSpPr>
          <p:cNvPr id="33" name="BPS Value 5"/>
          <p:cNvSpPr txBox="1"/>
          <p:nvPr/>
        </p:nvSpPr>
        <p:spPr>
          <a:xfrm>
            <a:off x="6896100" y="3923930"/>
            <a:ext cx="514350" cy="123825"/>
          </a:xfrm>
          <a:prstGeom prst="rect">
            <a:avLst/>
          </a:prstGeom>
          <a:noFill/>
        </p:spPr>
        <p:txBody>
          <a:bodyPr wrap="none" lIns="0" rIns="0" tIns="0" bIns="0" anchor="ctr">
            <a:spAutoFit/>
          </a:bodyPr>
          <a:lstStyle/>
          <a:p>
            <a:pPr algn="r"/>
            <a:r>
              <a:rPr sz="900" b="1">
                <a:solidFill>
                  <a:srgbClr val="1E8E3E"/>
                </a:solidFill>
                <a:latin typeface="Segoe UI"/>
              </a:rPr>
              <a:t>+67</a:t>
            </a:r>
          </a:p>
        </p:txBody>
      </p:sp>
      <p:sp>
        <p:nvSpPr>
          <p:cNvPr id="34" name="FMI Legend Chip"/>
          <p:cNvSpPr/>
          <p:nvPr/>
        </p:nvSpPr>
        <p:spPr>
          <a:xfrm>
            <a:off x="4928997" y="4618052"/>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rot="10800000">
            <a:off x="5090922" y="461329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453709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Intimate &amp; Bodywear</a:t>
            </a:r>
          </a:p>
        </p:txBody>
      </p:sp>
      <p:sp>
        <p:nvSpPr>
          <p:cNvPr id="37" name="BPS Value 6"/>
          <p:cNvSpPr txBox="1"/>
          <p:nvPr/>
        </p:nvSpPr>
        <p:spPr>
          <a:xfrm>
            <a:off x="6896100" y="4599002"/>
            <a:ext cx="514350" cy="123825"/>
          </a:xfrm>
          <a:prstGeom prst="rect">
            <a:avLst/>
          </a:prstGeom>
          <a:noFill/>
        </p:spPr>
        <p:txBody>
          <a:bodyPr wrap="none" lIns="0" rIns="0" tIns="0" bIns="0" anchor="ctr">
            <a:spAutoFit/>
          </a:bodyPr>
          <a:lstStyle/>
          <a:p>
            <a:pPr algn="r"/>
            <a:r>
              <a:rPr sz="900" b="1">
                <a:solidFill>
                  <a:srgbClr val="D64545"/>
                </a:solidFill>
                <a:latin typeface="Segoe UI"/>
              </a:rPr>
              <a:t>-171</a:t>
            </a:r>
          </a:p>
        </p:txBody>
      </p:sp>
      <p:sp>
        <p:nvSpPr>
          <p:cNvPr id="38" name="FMI Legend Chip"/>
          <p:cNvSpPr/>
          <p:nvPr/>
        </p:nvSpPr>
        <p:spPr>
          <a:xfrm>
            <a:off x="4928997" y="5623905"/>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a:off x="5090922" y="561914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5233797" y="554294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Sports &amp; Activewear</a:t>
            </a:r>
          </a:p>
        </p:txBody>
      </p:sp>
      <p:sp>
        <p:nvSpPr>
          <p:cNvPr id="41" name="BPS Value 7"/>
          <p:cNvSpPr txBox="1"/>
          <p:nvPr/>
        </p:nvSpPr>
        <p:spPr>
          <a:xfrm>
            <a:off x="6896100" y="5604855"/>
            <a:ext cx="514350" cy="123825"/>
          </a:xfrm>
          <a:prstGeom prst="rect">
            <a:avLst/>
          </a:prstGeom>
          <a:noFill/>
        </p:spPr>
        <p:txBody>
          <a:bodyPr wrap="none" lIns="0" rIns="0" tIns="0" bIns="0" anchor="ctr">
            <a:spAutoFit/>
          </a:bodyPr>
          <a:lstStyle/>
          <a:p>
            <a:pPr algn="r"/>
            <a:r>
              <a:rPr sz="900" b="1">
                <a:solidFill>
                  <a:srgbClr val="1E8E3E"/>
                </a:solidFill>
                <a:latin typeface="Segoe UI"/>
              </a:rPr>
              <a:t>+33</a:t>
            </a:r>
          </a:p>
        </p:txBody>
      </p:sp>
      <p:sp>
        <p:nvSpPr>
          <p:cNvPr id="42" name="Rectangle 41"/>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Latin America Read-out, By End-Use Application</a:t>
            </a:r>
          </a:p>
        </p:txBody>
      </p:sp>
      <p:sp>
        <p:nvSpPr>
          <p:cNvPr id="44" name="Rectangle 43"/>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End-Use application, medical &amp; healthcare segment is expected to witness the highest CAGR of 7.5% over the forecast period. In terms of value share by End-Use application, the sports &amp; activewear segment is expected to dominate the market, gaining 33 BPS and accounting for 27.1% share by 2036.</a:t>
            </a:r>
          </a:p>
          <a:p>
            <a:pPr algn="l">
              <a:lnSpc>
                <a:spcPct val="110000"/>
              </a:lnSpc>
              <a:spcBef>
                <a:spcPts val="0"/>
              </a:spcBef>
              <a:spcAft>
                <a:spcPts val="500"/>
              </a:spcAft>
            </a:pPr>
            <a:r>
              <a:rPr sz="1150" b="0">
                <a:solidFill>
                  <a:srgbClr val="252423"/>
                </a:solidFill>
                <a:latin typeface="Segoe UI"/>
              </a:rPr>
              <a:t>The intimate &amp; bodywear segment is expected to lose 171 BPS over the forecast period to account for 16.9% share by 2036.</a:t>
            </a:r>
          </a:p>
        </p:txBody>
      </p:sp>
      <p:sp>
        <p:nvSpPr>
          <p:cNvPr id="46" name="TextBox 4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Fabric Weight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3 sub-segments of Fabric Weight,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Latin America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Fabric Weight segment categorizes the market by fabric weight.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325755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325755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Medium Weight 150–250 GSM</a:t>
            </a:r>
          </a:p>
        </p:txBody>
      </p:sp>
      <p:sp>
        <p:nvSpPr>
          <p:cNvPr id="21" name="Rectangle 20"/>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166.4</a:t>
            </a:r>
          </a:p>
        </p:txBody>
      </p:sp>
      <p:sp>
        <p:nvSpPr>
          <p:cNvPr id="22" name="Rectangle 21"/>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310.5</a:t>
            </a:r>
          </a:p>
        </p:txBody>
      </p:sp>
      <p:sp>
        <p:nvSpPr>
          <p:cNvPr id="23" name="Rectangle 22"/>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6.4%</a:t>
            </a:r>
          </a:p>
        </p:txBody>
      </p:sp>
      <p:sp>
        <p:nvSpPr>
          <p:cNvPr id="24" name="Oval 23"/>
          <p:cNvSpPr/>
          <p:nvPr/>
        </p:nvSpPr>
        <p:spPr>
          <a:xfrm>
            <a:off x="333375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5238750" y="1773916"/>
            <a:ext cx="325755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238750" y="1992961"/>
            <a:ext cx="325755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Lightweight Below 150 GSM</a:t>
            </a:r>
          </a:p>
        </p:txBody>
      </p:sp>
      <p:sp>
        <p:nvSpPr>
          <p:cNvPr id="28" name="Rectangle 27"/>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134.9</a:t>
            </a:r>
          </a:p>
        </p:txBody>
      </p:sp>
      <p:sp>
        <p:nvSpPr>
          <p:cNvPr id="29" name="Rectangle 28"/>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267.1</a:t>
            </a:r>
          </a:p>
        </p:txBody>
      </p:sp>
      <p:sp>
        <p:nvSpPr>
          <p:cNvPr id="30" name="Rectangle 29"/>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7.1%</a:t>
            </a:r>
          </a:p>
        </p:txBody>
      </p:sp>
      <p:sp>
        <p:nvSpPr>
          <p:cNvPr id="31" name="Oval 30"/>
          <p:cNvSpPr/>
          <p:nvPr/>
        </p:nvSpPr>
        <p:spPr>
          <a:xfrm>
            <a:off x="670560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8610600" y="1773916"/>
            <a:ext cx="325755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10600" y="1992961"/>
            <a:ext cx="325755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Heavyweight Above 250 GSM</a:t>
            </a:r>
          </a:p>
        </p:txBody>
      </p:sp>
      <p:sp>
        <p:nvSpPr>
          <p:cNvPr id="35" name="Rectangle 34"/>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62.5</a:t>
            </a:r>
          </a:p>
        </p:txBody>
      </p:sp>
      <p:sp>
        <p:nvSpPr>
          <p:cNvPr id="36" name="Rectangle 35"/>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131.9</a:t>
            </a:r>
          </a:p>
        </p:txBody>
      </p:sp>
      <p:sp>
        <p:nvSpPr>
          <p:cNvPr id="37" name="Rectangle 36"/>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7.8%</a:t>
            </a:r>
          </a:p>
        </p:txBody>
      </p:sp>
      <p:sp>
        <p:nvSpPr>
          <p:cNvPr id="38" name="Oval 37"/>
          <p:cNvSpPr/>
          <p:nvPr/>
        </p:nvSpPr>
        <p:spPr>
          <a:xfrm>
            <a:off x="1007745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1" name="Rectangle 40"/>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fabric weight, heavyweight above 250 GSM segment is expected to witness the highest CAGR of 7.8% over the forecast period. In terms of value share by fabric weight, the medium weight 150-250 GSM segment is expected to dominate the market, losing 198 BPS and accounting for 43.8%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Medium weight 150-250 GSM segment is projected to register 1.2X higher value than lightweight below 150 GSM segment in 2036.</a:t>
            </a:r>
          </a:p>
        </p:txBody>
      </p:sp>
      <p:sp>
        <p:nvSpPr>
          <p:cNvPr id="43" name="Rounded Rectangle 42"/>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5" name="Rectangle 44"/>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Medium Weight 150–250 GSM: </a:t>
            </a:r>
            <a:r>
              <a:rPr sz="1100" b="0">
                <a:solidFill>
                  <a:srgbClr val="252423"/>
                </a:solidFill>
                <a:latin typeface="Segoe UI"/>
              </a:rPr>
              <a:t>46% of 2026 value · 6.4%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Lightweight Below 150 GSM: </a:t>
            </a:r>
            <a:r>
              <a:rPr sz="1100" b="0">
                <a:solidFill>
                  <a:srgbClr val="252423"/>
                </a:solidFill>
                <a:latin typeface="Segoe UI"/>
              </a:rPr>
              <a:t>37% of 2026 value · 7.1%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Heavyweight Above 250 GSM: </a:t>
            </a:r>
            <a:r>
              <a:rPr sz="1100" b="0">
                <a:solidFill>
                  <a:srgbClr val="252423"/>
                </a:solidFill>
                <a:latin typeface="Segoe UI"/>
              </a:rPr>
              <a:t>17% of 2026 value · 7.8% CAGR grows fastest.</a:t>
            </a:r>
          </a:p>
        </p:txBody>
      </p:sp>
      <p:sp>
        <p:nvSpPr>
          <p:cNvPr id="47" name="Rounded Rectangle 46"/>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9" name="Rectangle 48"/>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Fabric Weight split shows how demand is distributed across fabric weight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1" name="Rectangle 50"/>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Fabric Weight segment is projected to grow at a CAGR of 6.9% from 2026 to 2036.</a:t>
            </a:r>
          </a:p>
        </p:txBody>
      </p:sp>
      <p:sp>
        <p:nvSpPr>
          <p:cNvPr id="53" name="TextBox 52"/>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54" name="TextBox 5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Latin America Market Value &amp; Share Shift, By Fabric Weight</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Fabric Weight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Latin America</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Latin America Value Composition, By Fabric Weight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2096224"/>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209146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201526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Heavyweight Above 250 GSM</a:t>
            </a:r>
          </a:p>
        </p:txBody>
      </p:sp>
      <p:sp>
        <p:nvSpPr>
          <p:cNvPr id="17" name="BPS Value 1"/>
          <p:cNvSpPr txBox="1"/>
          <p:nvPr/>
        </p:nvSpPr>
        <p:spPr>
          <a:xfrm>
            <a:off x="6896100" y="2077174"/>
            <a:ext cx="514350" cy="123825"/>
          </a:xfrm>
          <a:prstGeom prst="rect">
            <a:avLst/>
          </a:prstGeom>
          <a:noFill/>
        </p:spPr>
        <p:txBody>
          <a:bodyPr wrap="none" lIns="0" rIns="0" tIns="0" bIns="0" anchor="ctr">
            <a:spAutoFit/>
          </a:bodyPr>
          <a:lstStyle/>
          <a:p>
            <a:pPr algn="r"/>
            <a:r>
              <a:rPr sz="900" b="1">
                <a:solidFill>
                  <a:srgbClr val="1E8E3E"/>
                </a:solidFill>
                <a:latin typeface="Segoe UI"/>
              </a:rPr>
              <a:t>+142</a:t>
            </a:r>
          </a:p>
        </p:txBody>
      </p:sp>
      <p:sp>
        <p:nvSpPr>
          <p:cNvPr id="18" name="FMI Legend Chip"/>
          <p:cNvSpPr/>
          <p:nvPr/>
        </p:nvSpPr>
        <p:spPr>
          <a:xfrm>
            <a:off x="4928997" y="3381881"/>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3377118"/>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3300918"/>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Lightweight Below 150 GSM</a:t>
            </a:r>
          </a:p>
        </p:txBody>
      </p:sp>
      <p:sp>
        <p:nvSpPr>
          <p:cNvPr id="21" name="BPS Value 2"/>
          <p:cNvSpPr txBox="1"/>
          <p:nvPr/>
        </p:nvSpPr>
        <p:spPr>
          <a:xfrm>
            <a:off x="6896100" y="3362831"/>
            <a:ext cx="514350" cy="123825"/>
          </a:xfrm>
          <a:prstGeom prst="rect">
            <a:avLst/>
          </a:prstGeom>
          <a:noFill/>
        </p:spPr>
        <p:txBody>
          <a:bodyPr wrap="none" lIns="0" rIns="0" tIns="0" bIns="0" anchor="ctr">
            <a:spAutoFit/>
          </a:bodyPr>
          <a:lstStyle/>
          <a:p>
            <a:pPr algn="r"/>
            <a:r>
              <a:rPr sz="900" b="1">
                <a:solidFill>
                  <a:srgbClr val="1E8E3E"/>
                </a:solidFill>
                <a:latin typeface="Segoe UI"/>
              </a:rPr>
              <a:t>+56</a:t>
            </a:r>
          </a:p>
        </p:txBody>
      </p:sp>
      <p:sp>
        <p:nvSpPr>
          <p:cNvPr id="22" name="FMI Legend Chip"/>
          <p:cNvSpPr/>
          <p:nvPr/>
        </p:nvSpPr>
        <p:spPr>
          <a:xfrm>
            <a:off x="4928997" y="5243103"/>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rot="10800000">
            <a:off x="5090922" y="5238341"/>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516214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Medium Weight 150–250 GSM</a:t>
            </a:r>
          </a:p>
        </p:txBody>
      </p:sp>
      <p:sp>
        <p:nvSpPr>
          <p:cNvPr id="25" name="BPS Value 3"/>
          <p:cNvSpPr txBox="1"/>
          <p:nvPr/>
        </p:nvSpPr>
        <p:spPr>
          <a:xfrm>
            <a:off x="6896100" y="5224053"/>
            <a:ext cx="514350" cy="123825"/>
          </a:xfrm>
          <a:prstGeom prst="rect">
            <a:avLst/>
          </a:prstGeom>
          <a:noFill/>
        </p:spPr>
        <p:txBody>
          <a:bodyPr wrap="none" lIns="0" rIns="0" tIns="0" bIns="0" anchor="ctr">
            <a:spAutoFit/>
          </a:bodyPr>
          <a:lstStyle/>
          <a:p>
            <a:pPr algn="r"/>
            <a:r>
              <a:rPr sz="900" b="1">
                <a:solidFill>
                  <a:srgbClr val="D64545"/>
                </a:solidFill>
                <a:latin typeface="Segoe UI"/>
              </a:rPr>
              <a:t>-198</a:t>
            </a:r>
          </a:p>
        </p:txBody>
      </p:sp>
      <p:sp>
        <p:nvSpPr>
          <p:cNvPr id="26" name="Rectangle 25"/>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Latin America Read-out, By Fabric Weight</a:t>
            </a:r>
          </a:p>
        </p:txBody>
      </p:sp>
      <p:sp>
        <p:nvSpPr>
          <p:cNvPr id="28" name="Rectangle 27"/>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fabric weight, heavyweight above 250 GSM segment is expected to witness the highest CAGR of 7.8% over the forecast period.</a:t>
            </a:r>
          </a:p>
          <a:p>
            <a:pPr algn="l">
              <a:lnSpc>
                <a:spcPct val="110000"/>
              </a:lnSpc>
              <a:spcBef>
                <a:spcPts val="0"/>
              </a:spcBef>
              <a:spcAft>
                <a:spcPts val="500"/>
              </a:spcAft>
            </a:pPr>
            <a:r>
              <a:rPr sz="1150" b="0">
                <a:solidFill>
                  <a:srgbClr val="252423"/>
                </a:solidFill>
                <a:latin typeface="Segoe UI"/>
              </a:rPr>
              <a:t>In terms of value share by fabric weight, the medium weight 150-250 GSM segment is expected to dominate the market, losing 198 BPS and accounting for 43.8% share by 2036.</a:t>
            </a:r>
          </a:p>
        </p:txBody>
      </p:sp>
      <p:sp>
        <p:nvSpPr>
          <p:cNvPr id="30" name="TextBox 2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Vs Material Segment Outlook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Vs Material,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Latin America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Vs Material segment categorizes the market by end-use application vs material.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Sports &amp; Activewear</a:t>
            </a:r>
          </a:p>
        </p:txBody>
      </p:sp>
      <p:sp>
        <p:nvSpPr>
          <p:cNvPr id="21" name="Rectangle 20"/>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97.4</a:t>
            </a:r>
          </a:p>
        </p:txBody>
      </p:sp>
      <p:sp>
        <p:nvSpPr>
          <p:cNvPr id="22" name="Rectangle 21"/>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192.3</a:t>
            </a:r>
          </a:p>
        </p:txBody>
      </p:sp>
      <p:sp>
        <p:nvSpPr>
          <p:cNvPr id="23" name="Rectangle 22"/>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7.0%</a:t>
            </a:r>
          </a:p>
        </p:txBody>
      </p:sp>
      <p:sp>
        <p:nvSpPr>
          <p:cNvPr id="24" name="Oval 23"/>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Intimate &amp; Bodywear</a:t>
            </a:r>
          </a:p>
        </p:txBody>
      </p:sp>
      <p:sp>
        <p:nvSpPr>
          <p:cNvPr id="28" name="Rectangle 27"/>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67.7</a:t>
            </a:r>
          </a:p>
        </p:txBody>
      </p:sp>
      <p:sp>
        <p:nvSpPr>
          <p:cNvPr id="29" name="Rectangle 28"/>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119.8</a:t>
            </a:r>
          </a:p>
        </p:txBody>
      </p:sp>
      <p:sp>
        <p:nvSpPr>
          <p:cNvPr id="30" name="Rectangle 29"/>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5.9%</a:t>
            </a:r>
          </a:p>
        </p:txBody>
      </p:sp>
      <p:sp>
        <p:nvSpPr>
          <p:cNvPr id="31" name="Oval 30"/>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Medical &amp; Healthcare</a:t>
            </a:r>
          </a:p>
        </p:txBody>
      </p:sp>
      <p:sp>
        <p:nvSpPr>
          <p:cNvPr id="35" name="Rectangle 34"/>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43.6</a:t>
            </a:r>
          </a:p>
        </p:txBody>
      </p:sp>
      <p:sp>
        <p:nvSpPr>
          <p:cNvPr id="36" name="Rectangle 35"/>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89.7</a:t>
            </a:r>
          </a:p>
        </p:txBody>
      </p:sp>
      <p:sp>
        <p:nvSpPr>
          <p:cNvPr id="37" name="Rectangle 36"/>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7.5%</a:t>
            </a:r>
          </a:p>
        </p:txBody>
      </p:sp>
      <p:sp>
        <p:nvSpPr>
          <p:cNvPr id="38" name="Oval 37"/>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Footwear</a:t>
            </a:r>
          </a:p>
        </p:txBody>
      </p:sp>
      <p:sp>
        <p:nvSpPr>
          <p:cNvPr id="42" name="Rectangle 41"/>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41.9</a:t>
            </a:r>
          </a:p>
        </p:txBody>
      </p:sp>
      <p:sp>
        <p:nvSpPr>
          <p:cNvPr id="43" name="Rectangle 42"/>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82.8</a:t>
            </a:r>
          </a:p>
        </p:txBody>
      </p:sp>
      <p:sp>
        <p:nvSpPr>
          <p:cNvPr id="44" name="Rectangle 43"/>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7.0%</a:t>
            </a:r>
          </a:p>
        </p:txBody>
      </p:sp>
      <p:sp>
        <p:nvSpPr>
          <p:cNvPr id="45" name="Oval 44"/>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8" name="Rectangle 47"/>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End-Use application vs material, medical &amp; healthcare segment is expected to witness the highest CAGR of 7.5% over the forecast period. In terms of value share by End-Use application vs material, the sports &amp; activewear segment is expected to dominate the market, gaining 33 BPS and accounting for 27.1%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Sports &amp; activewear segment is projected to register 1.6X higher value than intimate &amp; bodywear segment in 2036.</a:t>
            </a:r>
          </a:p>
        </p:txBody>
      </p:sp>
      <p:sp>
        <p:nvSpPr>
          <p:cNvPr id="50" name="Rounded Rectangle 49"/>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2" name="Rectangle 51"/>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Sports &amp; Activewear: </a:t>
            </a:r>
            <a:r>
              <a:rPr sz="1100" b="0">
                <a:solidFill>
                  <a:srgbClr val="252423"/>
                </a:solidFill>
                <a:latin typeface="Segoe UI"/>
              </a:rPr>
              <a:t>27% of 2026 value · 7.0%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Intimate &amp; Bodywear: </a:t>
            </a:r>
            <a:r>
              <a:rPr sz="1100" b="0">
                <a:solidFill>
                  <a:srgbClr val="252423"/>
                </a:solidFill>
                <a:latin typeface="Segoe UI"/>
              </a:rPr>
              <a:t>19% of 2026 value · 5.9%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Medical &amp; Healthcare: </a:t>
            </a:r>
            <a:r>
              <a:rPr sz="1100" b="0">
                <a:solidFill>
                  <a:srgbClr val="252423"/>
                </a:solidFill>
                <a:latin typeface="Segoe UI"/>
              </a:rPr>
              <a:t>12% of 2026 value · 7.5% CAGR grows fastest.</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Footwear: </a:t>
            </a:r>
            <a:r>
              <a:rPr sz="1100" b="0">
                <a:solidFill>
                  <a:srgbClr val="252423"/>
                </a:solidFill>
                <a:latin typeface="Segoe UI"/>
              </a:rPr>
              <a:t>12% of 2026 value · 7.0% CAGR serves a niche.</a:t>
            </a:r>
          </a:p>
        </p:txBody>
      </p:sp>
      <p:sp>
        <p:nvSpPr>
          <p:cNvPr id="54" name="Rounded Rectangle 53"/>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6" name="Rectangle 55"/>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End-Use Application Vs Material split shows how demand is distributed across end-use application vs material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8" name="Rectangle 57"/>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End-Use Application Vs Material segment is projected to grow at a CAGR of 6.9% from 2026 to 2036.</a:t>
            </a:r>
          </a:p>
        </p:txBody>
      </p:sp>
      <p:sp>
        <p:nvSpPr>
          <p:cNvPr id="60" name="TextBox 59"/>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1" name="TextBox 6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Vs Material Segment Outlook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Vs Material,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Vs Material segment categorizes the market by end-use application vs material.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3257550"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3257550"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Protective &amp; Occupational Wear</a:t>
            </a:r>
          </a:p>
        </p:txBody>
      </p:sp>
      <p:sp>
        <p:nvSpPr>
          <p:cNvPr id="20" name="Rectangle 19"/>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41.8</a:t>
            </a:r>
          </a:p>
        </p:txBody>
      </p:sp>
      <p:sp>
        <p:nvSpPr>
          <p:cNvPr id="21" name="Rectangle 20"/>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82.3</a:t>
            </a:r>
          </a:p>
        </p:txBody>
      </p:sp>
      <p:sp>
        <p:nvSpPr>
          <p:cNvPr id="22" name="Rectangle 21"/>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7.0%</a:t>
            </a:r>
          </a:p>
        </p:txBody>
      </p:sp>
      <p:sp>
        <p:nvSpPr>
          <p:cNvPr id="23" name="Oval 22"/>
          <p:cNvSpPr/>
          <p:nvPr/>
        </p:nvSpPr>
        <p:spPr>
          <a:xfrm>
            <a:off x="3333750"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24" name="Rounded Rectangle 23"/>
          <p:cNvSpPr/>
          <p:nvPr/>
        </p:nvSpPr>
        <p:spPr>
          <a:xfrm>
            <a:off x="5238750" y="1773916"/>
            <a:ext cx="3257550"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38750" y="1992961"/>
            <a:ext cx="3257550"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Industrial &amp; Technical Applicatio…</a:t>
            </a:r>
          </a:p>
        </p:txBody>
      </p:sp>
      <p:sp>
        <p:nvSpPr>
          <p:cNvPr id="27" name="Rectangle 26"/>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37.5</a:t>
            </a:r>
          </a:p>
        </p:txBody>
      </p:sp>
      <p:sp>
        <p:nvSpPr>
          <p:cNvPr id="28" name="Rectangle 27"/>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76.5</a:t>
            </a:r>
          </a:p>
        </p:txBody>
      </p:sp>
      <p:sp>
        <p:nvSpPr>
          <p:cNvPr id="29" name="Rectangle 28"/>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7.4%</a:t>
            </a:r>
          </a:p>
        </p:txBody>
      </p:sp>
      <p:sp>
        <p:nvSpPr>
          <p:cNvPr id="30" name="Oval 29"/>
          <p:cNvSpPr/>
          <p:nvPr/>
        </p:nvSpPr>
        <p:spPr>
          <a:xfrm>
            <a:off x="6705600"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31" name="Rounded Rectangle 30"/>
          <p:cNvSpPr/>
          <p:nvPr/>
        </p:nvSpPr>
        <p:spPr>
          <a:xfrm>
            <a:off x="8610600" y="1773916"/>
            <a:ext cx="3257550"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10600" y="1992961"/>
            <a:ext cx="3257550"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Automotive &amp; Transportation</a:t>
            </a:r>
          </a:p>
        </p:txBody>
      </p:sp>
      <p:sp>
        <p:nvSpPr>
          <p:cNvPr id="34" name="Rectangle 33"/>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33.9</a:t>
            </a:r>
          </a:p>
        </p:txBody>
      </p:sp>
      <p:sp>
        <p:nvSpPr>
          <p:cNvPr id="35" name="Rectangle 34"/>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66.0</a:t>
            </a:r>
          </a:p>
        </p:txBody>
      </p:sp>
      <p:sp>
        <p:nvSpPr>
          <p:cNvPr id="36" name="Rectangle 35"/>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6.9%</a:t>
            </a:r>
          </a:p>
        </p:txBody>
      </p:sp>
      <p:sp>
        <p:nvSpPr>
          <p:cNvPr id="37" name="Oval 36"/>
          <p:cNvSpPr/>
          <p:nvPr/>
        </p:nvSpPr>
        <p:spPr>
          <a:xfrm>
            <a:off x="10077450"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38" name="Rounded Rectangle 37"/>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0" name="Rectangle 39"/>
          <p:cNvSpPr/>
          <p:nvPr/>
        </p:nvSpPr>
        <p:spPr>
          <a:xfrm>
            <a:off x="457200" y="4146897"/>
            <a:ext cx="112776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Protective &amp; Occupational Wear: </a:t>
            </a:r>
            <a:r>
              <a:rPr sz="1100" b="0">
                <a:solidFill>
                  <a:srgbClr val="252423"/>
                </a:solidFill>
                <a:latin typeface="Segoe UI"/>
              </a:rPr>
              <a:t>11% of 2026 value · 7.0% CAGR serves a niche.</a:t>
            </a:r>
          </a:p>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Industrial &amp; Technical Applications: </a:t>
            </a:r>
            <a:r>
              <a:rPr sz="1100" b="0">
                <a:solidFill>
                  <a:srgbClr val="252423"/>
                </a:solidFill>
                <a:latin typeface="Segoe UI"/>
              </a:rPr>
              <a:t>10% of 2026 value · 7.4% CAGR serves a niche.</a:t>
            </a:r>
          </a:p>
          <a:p>
            <a:pPr algn="l">
              <a:lnSpc>
                <a:spcPct val="110000"/>
              </a:lnSpc>
              <a:spcBef>
                <a:spcPts val="0"/>
              </a:spcBef>
              <a:spcAft>
                <a:spcPts val="500"/>
              </a:spcAft>
            </a:pPr>
            <a:r>
              <a:rPr sz="1100" b="0">
                <a:solidFill>
                  <a:srgbClr val="2C6E7F"/>
                </a:solidFill>
                <a:latin typeface="Segoe UI"/>
              </a:rPr>
              <a:t>●  </a:t>
            </a:r>
            <a:r>
              <a:rPr sz="1100" b="1">
                <a:solidFill>
                  <a:srgbClr val="2C6E7F"/>
                </a:solidFill>
                <a:latin typeface="Segoe UI"/>
              </a:rPr>
              <a:t>Automotive &amp; Transportation: </a:t>
            </a:r>
            <a:r>
              <a:rPr sz="1100" b="0">
                <a:solidFill>
                  <a:srgbClr val="252423"/>
                </a:solidFill>
                <a:latin typeface="Segoe UI"/>
              </a:rPr>
              <a:t>9% of 2026 value · 6.9% CAGR serves a niche.</a:t>
            </a:r>
          </a:p>
        </p:txBody>
      </p:sp>
      <p:sp>
        <p:nvSpPr>
          <p:cNvPr id="42" name="TextBox 41"/>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3" name="TextBox 4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Latin America Market Value &amp; Share Shift, By End-Use Application Vs Material</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End-Use Application Vs Material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Latin America</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Latin America Value Composition, By End-Use Application Vs Material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884032"/>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5090922" y="187927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80307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Automotive &amp; Transportation</a:t>
            </a:r>
          </a:p>
        </p:txBody>
      </p:sp>
      <p:sp>
        <p:nvSpPr>
          <p:cNvPr id="17" name="BPS Value 1"/>
          <p:cNvSpPr txBox="1"/>
          <p:nvPr/>
        </p:nvSpPr>
        <p:spPr>
          <a:xfrm>
            <a:off x="6896100" y="1864982"/>
            <a:ext cx="514350" cy="123825"/>
          </a:xfrm>
          <a:prstGeom prst="rect">
            <a:avLst/>
          </a:prstGeom>
          <a:noFill/>
        </p:spPr>
        <p:txBody>
          <a:bodyPr wrap="none" lIns="0" rIns="0" tIns="0" bIns="0" anchor="ctr">
            <a:spAutoFit/>
          </a:bodyPr>
          <a:lstStyle/>
          <a:p>
            <a:pPr algn="r"/>
            <a:r>
              <a:rPr sz="900" b="1">
                <a:solidFill>
                  <a:srgbClr val="D64545"/>
                </a:solidFill>
                <a:latin typeface="Segoe UI"/>
              </a:rPr>
              <a:t>-2</a:t>
            </a:r>
          </a:p>
        </p:txBody>
      </p:sp>
      <p:sp>
        <p:nvSpPr>
          <p:cNvPr id="18" name="FMI Legend Chip"/>
          <p:cNvSpPr/>
          <p:nvPr/>
        </p:nvSpPr>
        <p:spPr>
          <a:xfrm>
            <a:off x="4928997" y="2343452"/>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233868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226248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Industrial &amp; Technical Applications</a:t>
            </a:r>
          </a:p>
        </p:txBody>
      </p:sp>
      <p:sp>
        <p:nvSpPr>
          <p:cNvPr id="21" name="BPS Value 2"/>
          <p:cNvSpPr txBox="1"/>
          <p:nvPr/>
        </p:nvSpPr>
        <p:spPr>
          <a:xfrm>
            <a:off x="6896100" y="2324402"/>
            <a:ext cx="514350" cy="123825"/>
          </a:xfrm>
          <a:prstGeom prst="rect">
            <a:avLst/>
          </a:prstGeom>
          <a:noFill/>
        </p:spPr>
        <p:txBody>
          <a:bodyPr wrap="none" lIns="0" rIns="0" tIns="0" bIns="0" anchor="ctr">
            <a:spAutoFit/>
          </a:bodyPr>
          <a:lstStyle/>
          <a:p>
            <a:pPr algn="r"/>
            <a:r>
              <a:rPr sz="900" b="1">
                <a:solidFill>
                  <a:srgbClr val="1E8E3E"/>
                </a:solidFill>
                <a:latin typeface="Segoe UI"/>
              </a:rPr>
              <a:t>+48</a:t>
            </a:r>
          </a:p>
        </p:txBody>
      </p:sp>
      <p:sp>
        <p:nvSpPr>
          <p:cNvPr id="22" name="FMI Legend Chip"/>
          <p:cNvSpPr/>
          <p:nvPr/>
        </p:nvSpPr>
        <p:spPr>
          <a:xfrm>
            <a:off x="4928997" y="2855324"/>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5090922" y="285056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77436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Protective &amp; Occupational Wear</a:t>
            </a:r>
          </a:p>
        </p:txBody>
      </p:sp>
      <p:sp>
        <p:nvSpPr>
          <p:cNvPr id="25" name="BPS Value 3"/>
          <p:cNvSpPr txBox="1"/>
          <p:nvPr/>
        </p:nvSpPr>
        <p:spPr>
          <a:xfrm>
            <a:off x="6896100" y="2836274"/>
            <a:ext cx="514350" cy="123825"/>
          </a:xfrm>
          <a:prstGeom prst="rect">
            <a:avLst/>
          </a:prstGeom>
          <a:noFill/>
        </p:spPr>
        <p:txBody>
          <a:bodyPr wrap="none" lIns="0" rIns="0" tIns="0" bIns="0" anchor="ctr">
            <a:spAutoFit/>
          </a:bodyPr>
          <a:lstStyle/>
          <a:p>
            <a:pPr algn="r"/>
            <a:r>
              <a:rPr sz="900" b="1">
                <a:solidFill>
                  <a:srgbClr val="1E8E3E"/>
                </a:solidFill>
                <a:latin typeface="Segoe UI"/>
              </a:rPr>
              <a:t>+13</a:t>
            </a:r>
          </a:p>
        </p:txBody>
      </p:sp>
      <p:sp>
        <p:nvSpPr>
          <p:cNvPr id="26" name="FMI Legend Chip"/>
          <p:cNvSpPr/>
          <p:nvPr/>
        </p:nvSpPr>
        <p:spPr>
          <a:xfrm>
            <a:off x="4928997" y="3387286"/>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5090922" y="338252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330632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Footwear</a:t>
            </a:r>
          </a:p>
        </p:txBody>
      </p:sp>
      <p:sp>
        <p:nvSpPr>
          <p:cNvPr id="29" name="BPS Value 4"/>
          <p:cNvSpPr txBox="1"/>
          <p:nvPr/>
        </p:nvSpPr>
        <p:spPr>
          <a:xfrm>
            <a:off x="6896100" y="3368236"/>
            <a:ext cx="514350" cy="123825"/>
          </a:xfrm>
          <a:prstGeom prst="rect">
            <a:avLst/>
          </a:prstGeom>
          <a:noFill/>
        </p:spPr>
        <p:txBody>
          <a:bodyPr wrap="none" lIns="0" rIns="0" tIns="0" bIns="0" anchor="ctr">
            <a:spAutoFit/>
          </a:bodyPr>
          <a:lstStyle/>
          <a:p>
            <a:pPr algn="r"/>
            <a:r>
              <a:rPr sz="900" b="1">
                <a:solidFill>
                  <a:srgbClr val="1E8E3E"/>
                </a:solidFill>
                <a:latin typeface="Segoe UI"/>
              </a:rPr>
              <a:t>+14</a:t>
            </a:r>
          </a:p>
        </p:txBody>
      </p:sp>
      <p:sp>
        <p:nvSpPr>
          <p:cNvPr id="30" name="FMI Legend Chip"/>
          <p:cNvSpPr/>
          <p:nvPr/>
        </p:nvSpPr>
        <p:spPr>
          <a:xfrm>
            <a:off x="4928997" y="3942973"/>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5090922" y="393821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386201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Medical &amp; Healthcare</a:t>
            </a:r>
          </a:p>
        </p:txBody>
      </p:sp>
      <p:sp>
        <p:nvSpPr>
          <p:cNvPr id="33" name="BPS Value 5"/>
          <p:cNvSpPr txBox="1"/>
          <p:nvPr/>
        </p:nvSpPr>
        <p:spPr>
          <a:xfrm>
            <a:off x="6896100" y="3923923"/>
            <a:ext cx="514350" cy="123825"/>
          </a:xfrm>
          <a:prstGeom prst="rect">
            <a:avLst/>
          </a:prstGeom>
          <a:noFill/>
        </p:spPr>
        <p:txBody>
          <a:bodyPr wrap="none" lIns="0" rIns="0" tIns="0" bIns="0" anchor="ctr">
            <a:spAutoFit/>
          </a:bodyPr>
          <a:lstStyle/>
          <a:p>
            <a:pPr algn="r"/>
            <a:r>
              <a:rPr sz="900" b="1">
                <a:solidFill>
                  <a:srgbClr val="1E8E3E"/>
                </a:solidFill>
                <a:latin typeface="Segoe UI"/>
              </a:rPr>
              <a:t>+67</a:t>
            </a:r>
          </a:p>
        </p:txBody>
      </p:sp>
      <p:sp>
        <p:nvSpPr>
          <p:cNvPr id="34" name="FMI Legend Chip"/>
          <p:cNvSpPr/>
          <p:nvPr/>
        </p:nvSpPr>
        <p:spPr>
          <a:xfrm>
            <a:off x="4928997" y="4618043"/>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rot="10800000">
            <a:off x="5090922" y="461328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453708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Intimate &amp; Bodywear</a:t>
            </a:r>
          </a:p>
        </p:txBody>
      </p:sp>
      <p:sp>
        <p:nvSpPr>
          <p:cNvPr id="37" name="BPS Value 6"/>
          <p:cNvSpPr txBox="1"/>
          <p:nvPr/>
        </p:nvSpPr>
        <p:spPr>
          <a:xfrm>
            <a:off x="6896100" y="4598993"/>
            <a:ext cx="514350" cy="123825"/>
          </a:xfrm>
          <a:prstGeom prst="rect">
            <a:avLst/>
          </a:prstGeom>
          <a:noFill/>
        </p:spPr>
        <p:txBody>
          <a:bodyPr wrap="none" lIns="0" rIns="0" tIns="0" bIns="0" anchor="ctr">
            <a:spAutoFit/>
          </a:bodyPr>
          <a:lstStyle/>
          <a:p>
            <a:pPr algn="r"/>
            <a:r>
              <a:rPr sz="900" b="1">
                <a:solidFill>
                  <a:srgbClr val="D64545"/>
                </a:solidFill>
                <a:latin typeface="Segoe UI"/>
              </a:rPr>
              <a:t>-171</a:t>
            </a:r>
          </a:p>
        </p:txBody>
      </p:sp>
      <p:sp>
        <p:nvSpPr>
          <p:cNvPr id="38" name="FMI Legend Chip"/>
          <p:cNvSpPr/>
          <p:nvPr/>
        </p:nvSpPr>
        <p:spPr>
          <a:xfrm>
            <a:off x="4928997" y="5623898"/>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a:off x="5090922" y="5619136"/>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5233797" y="554293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Sports &amp; Activewear</a:t>
            </a:r>
          </a:p>
        </p:txBody>
      </p:sp>
      <p:sp>
        <p:nvSpPr>
          <p:cNvPr id="41" name="BPS Value 7"/>
          <p:cNvSpPr txBox="1"/>
          <p:nvPr/>
        </p:nvSpPr>
        <p:spPr>
          <a:xfrm>
            <a:off x="6896100" y="5604848"/>
            <a:ext cx="514350" cy="123825"/>
          </a:xfrm>
          <a:prstGeom prst="rect">
            <a:avLst/>
          </a:prstGeom>
          <a:noFill/>
        </p:spPr>
        <p:txBody>
          <a:bodyPr wrap="none" lIns="0" rIns="0" tIns="0" bIns="0" anchor="ctr">
            <a:spAutoFit/>
          </a:bodyPr>
          <a:lstStyle/>
          <a:p>
            <a:pPr algn="r"/>
            <a:r>
              <a:rPr sz="900" b="1">
                <a:solidFill>
                  <a:srgbClr val="1E8E3E"/>
                </a:solidFill>
                <a:latin typeface="Segoe UI"/>
              </a:rPr>
              <a:t>+33</a:t>
            </a:r>
          </a:p>
        </p:txBody>
      </p:sp>
      <p:sp>
        <p:nvSpPr>
          <p:cNvPr id="42" name="Rectangle 41"/>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Latin America Read-out, By End-Use Application Vs Material</a:t>
            </a:r>
          </a:p>
        </p:txBody>
      </p:sp>
      <p:sp>
        <p:nvSpPr>
          <p:cNvPr id="44" name="Rectangle 43"/>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End-Use application vs material, medical &amp; healthcare segment is expected to witness the highest CAGR of 7.5% over the forecast period. In terms of value share by End-Use application vs material, the sports &amp; activewear segment is expected to dominate the market, gaining 33 BPS and accounting for 27.1% share by 2036.</a:t>
            </a:r>
          </a:p>
          <a:p>
            <a:pPr algn="l">
              <a:lnSpc>
                <a:spcPct val="110000"/>
              </a:lnSpc>
              <a:spcBef>
                <a:spcPts val="0"/>
              </a:spcBef>
              <a:spcAft>
                <a:spcPts val="500"/>
              </a:spcAft>
            </a:pPr>
            <a:r>
              <a:rPr sz="1150" b="0">
                <a:solidFill>
                  <a:srgbClr val="252423"/>
                </a:solidFill>
                <a:latin typeface="Segoe UI"/>
              </a:rPr>
              <a:t>The intimate &amp; bodywear segment is expected to lose 171 BPS over the forecast period to account for 16.9% share by 2036.</a:t>
            </a:r>
          </a:p>
        </p:txBody>
      </p:sp>
      <p:sp>
        <p:nvSpPr>
          <p:cNvPr id="46" name="TextBox 4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Performance Knitted Fabrics Market Summary, By Volume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Western Europe market volume growth, incremental opportunity and the geographies driving it, 2021–2036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Western Europe</a:t>
            </a:r>
          </a:p>
        </p:txBody>
      </p:sp>
      <p:sp>
        <p:nvSpPr>
          <p:cNvPr id="9" name="Rounded Rectangle 8"/>
          <p:cNvSpPr/>
          <p:nvPr/>
        </p:nvSpPr>
        <p:spPr>
          <a:xfrm>
            <a:off x="142875"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MARKET SIZE (MN SQ. YARDS)</a:t>
            </a:r>
          </a:p>
          <a:p>
            <a:pPr algn="ctr">
              <a:lnSpc>
                <a:spcPct val="95000"/>
              </a:lnSpc>
            </a:pPr>
            <a:r>
              <a:rPr sz="1500" b="1">
                <a:solidFill>
                  <a:srgbClr val="00A4DC"/>
                </a:solidFill>
                <a:latin typeface="Segoe UI"/>
              </a:rPr>
              <a:t>357.2</a:t>
            </a:r>
          </a:p>
        </p:txBody>
      </p:sp>
      <p:sp>
        <p:nvSpPr>
          <p:cNvPr id="10" name="Rounded Rectangle 9"/>
          <p:cNvSpPr/>
          <p:nvPr/>
        </p:nvSpPr>
        <p:spPr>
          <a:xfrm>
            <a:off x="31432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571.4</a:t>
            </a:r>
          </a:p>
        </p:txBody>
      </p:sp>
      <p:sp>
        <p:nvSpPr>
          <p:cNvPr id="11" name="Rounded Rectangle 10"/>
          <p:cNvSpPr/>
          <p:nvPr/>
        </p:nvSpPr>
        <p:spPr>
          <a:xfrm>
            <a:off x="61531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2021–2025</a:t>
            </a:r>
          </a:p>
          <a:p>
            <a:pPr algn="ctr">
              <a:lnSpc>
                <a:spcPct val="95000"/>
              </a:lnSpc>
            </a:pPr>
            <a:r>
              <a:rPr sz="1500" b="1">
                <a:solidFill>
                  <a:srgbClr val="00A4DC"/>
                </a:solidFill>
                <a:latin typeface="Segoe UI"/>
              </a:rPr>
              <a:t>4.4%</a:t>
            </a:r>
          </a:p>
        </p:txBody>
      </p:sp>
      <p:sp>
        <p:nvSpPr>
          <p:cNvPr id="12" name="Rounded Rectangle 11"/>
          <p:cNvSpPr/>
          <p:nvPr/>
        </p:nvSpPr>
        <p:spPr>
          <a:xfrm>
            <a:off x="91630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1500" b="1">
                <a:solidFill>
                  <a:srgbClr val="00A4DC"/>
                </a:solidFill>
                <a:latin typeface="Segoe UI"/>
              </a:rPr>
              <a:t>4.8%</a:t>
            </a:r>
          </a:p>
        </p:txBody>
      </p:sp>
      <p:sp>
        <p:nvSpPr>
          <p:cNvPr id="13" name="Rectangle 12"/>
          <p:cNvSpPr/>
          <p:nvPr/>
        </p:nvSpPr>
        <p:spPr>
          <a:xfrm>
            <a:off x="142875" y="1627887"/>
            <a:ext cx="769620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(2021–2036)</a:t>
            </a:r>
          </a:p>
        </p:txBody>
      </p:sp>
      <p:graphicFrame>
        <p:nvGraphicFramePr>
          <p:cNvPr id="15" name="Chart 14"/>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6" name="Rectangle 15"/>
          <p:cNvSpPr/>
          <p:nvPr/>
        </p:nvSpPr>
        <p:spPr>
          <a:xfrm>
            <a:off x="142875" y="4037375"/>
            <a:ext cx="769620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Incremental Market Addition (Mn Sq. Yards)</a:t>
            </a:r>
          </a:p>
        </p:txBody>
      </p:sp>
      <p:graphicFrame>
        <p:nvGraphicFramePr>
          <p:cNvPr id="18" name="Chart 17"/>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9" name="Rectangle 18"/>
          <p:cNvSpPr/>
          <p:nvPr/>
        </p:nvSpPr>
        <p:spPr>
          <a:xfrm>
            <a:off x="7915275" y="1627887"/>
            <a:ext cx="413385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21" name="Rectangle 20"/>
          <p:cNvSpPr/>
          <p:nvPr/>
        </p:nvSpPr>
        <p:spPr>
          <a:xfrm>
            <a:off x="8048625" y="195173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52423"/>
                </a:solidFill>
                <a:latin typeface="Segoe UI"/>
              </a:rPr>
              <a:t>Western Europe performance knitted fabrics market is projected to register 1.7X increase in volume by the end of forecast period, 2036. Western Europe performance knitted fabrics market volume stood at 341.6 Mn Sq. Yards in 2025 and is expected to reach 571.4 Mn Sq. Yards by 2036 end, at a CAGR of 4.8%.</a:t>
            </a:r>
          </a:p>
          <a:p>
            <a:pPr algn="l">
              <a:lnSpc>
                <a:spcPct val="110000"/>
              </a:lnSpc>
              <a:spcBef>
                <a:spcPts val="0"/>
              </a:spcBef>
              <a:spcAft>
                <a:spcPts val="500"/>
              </a:spcAft>
            </a:pPr>
            <a:r>
              <a:rPr sz="1100" b="0">
                <a:solidFill>
                  <a:srgbClr val="252423"/>
                </a:solidFill>
                <a:latin typeface="Segoe UI"/>
              </a:rPr>
              <a:t>Value is projected to grow faster than volume over the forecast period, owing to an increase in average selling price.</a:t>
            </a:r>
          </a:p>
        </p:txBody>
      </p:sp>
      <p:sp>
        <p:nvSpPr>
          <p:cNvPr id="23" name="Rectangle 22"/>
          <p:cNvSpPr/>
          <p:nvPr/>
        </p:nvSpPr>
        <p:spPr>
          <a:xfrm>
            <a:off x="7915275" y="4037375"/>
            <a:ext cx="413385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07BA5"/>
                </a:solidFill>
                <a:latin typeface="Segoe UI"/>
              </a:rPr>
              <a:t>Growth Drivers</a:t>
            </a:r>
          </a:p>
        </p:txBody>
      </p:sp>
      <p:sp>
        <p:nvSpPr>
          <p:cNvPr id="25" name="Rectangle 24"/>
          <p:cNvSpPr/>
          <p:nvPr/>
        </p:nvSpPr>
        <p:spPr>
          <a:xfrm>
            <a:off x="8048625" y="436122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'Rest of Western Europe' leads regional growth at 5.8% CAGR.</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Demand concentrates in 'Weft Knitted Fabrics' within Fabric Construction.</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Product innovation and premiumisation lifting value.</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Expanding end-use applications and access.</a:t>
            </a:r>
          </a:p>
        </p:txBody>
      </p:sp>
      <p:sp>
        <p:nvSpPr>
          <p:cNvPr id="27" name="TextBox 2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Performance Knitted Fabrics Market Pricing &amp; Regional Price Index</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average price by sub-segment and price variation by country, highlighting where pricing power sits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Western Europe</a:t>
            </a:r>
          </a:p>
        </p:txBody>
      </p:sp>
      <p:sp>
        <p:nvSpPr>
          <p:cNvPr id="9" name="Rectangle 8"/>
          <p:cNvSpPr/>
          <p:nvPr/>
        </p:nvSpPr>
        <p:spPr>
          <a:xfrm>
            <a:off x="142875" y="1052895"/>
            <a:ext cx="7696200" cy="266504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Average Price by Fabric Construction  ·  range across 2021–2036 (US$/Sq. Yards)</a:t>
            </a:r>
          </a:p>
        </p:txBody>
      </p:sp>
      <p:cxnSp>
        <p:nvCxnSpPr>
          <p:cNvPr id="11" name="Connector 10"/>
          <p:cNvCxnSpPr/>
          <p:nvPr/>
        </p:nvCxnSpPr>
        <p:spPr>
          <a:xfrm>
            <a:off x="657225" y="333693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7225" y="286593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239494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192394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452945"/>
            <a:ext cx="0" cy="188399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8650" y="3336935"/>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2865938"/>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2394940"/>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1923943"/>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1452945"/>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sp>
        <p:nvSpPr>
          <p:cNvPr id="22" name="FMI Scale tick"/>
          <p:cNvSpPr txBox="1"/>
          <p:nvPr/>
        </p:nvSpPr>
        <p:spPr>
          <a:xfrm>
            <a:off x="219075" y="3270260"/>
            <a:ext cx="381000" cy="133350"/>
          </a:xfrm>
          <a:prstGeom prst="rect">
            <a:avLst/>
          </a:prstGeom>
          <a:noFill/>
        </p:spPr>
        <p:txBody>
          <a:bodyPr wrap="none" lIns="0" rIns="0" tIns="0" bIns="0" anchor="ctr">
            <a:spAutoFit/>
          </a:bodyPr>
          <a:lstStyle/>
          <a:p>
            <a:pPr algn="r"/>
            <a:r>
              <a:rPr sz="1100" b="0">
                <a:solidFill>
                  <a:srgbClr val="605E5C"/>
                </a:solidFill>
                <a:latin typeface="Segoe UI"/>
              </a:rPr>
              <a:t>3.83</a:t>
            </a:r>
          </a:p>
        </p:txBody>
      </p:sp>
      <p:sp>
        <p:nvSpPr>
          <p:cNvPr id="23" name="FMI Scale tick"/>
          <p:cNvSpPr txBox="1"/>
          <p:nvPr/>
        </p:nvSpPr>
        <p:spPr>
          <a:xfrm>
            <a:off x="219075" y="2328265"/>
            <a:ext cx="381000" cy="133350"/>
          </a:xfrm>
          <a:prstGeom prst="rect">
            <a:avLst/>
          </a:prstGeom>
          <a:noFill/>
        </p:spPr>
        <p:txBody>
          <a:bodyPr wrap="none" lIns="0" rIns="0" tIns="0" bIns="0" anchor="ctr">
            <a:spAutoFit/>
          </a:bodyPr>
          <a:lstStyle/>
          <a:p>
            <a:pPr algn="r"/>
            <a:r>
              <a:rPr sz="1100" b="0">
                <a:solidFill>
                  <a:srgbClr val="605E5C"/>
                </a:solidFill>
                <a:latin typeface="Segoe UI"/>
              </a:rPr>
              <a:t>4.31</a:t>
            </a:r>
          </a:p>
        </p:txBody>
      </p:sp>
      <p:sp>
        <p:nvSpPr>
          <p:cNvPr id="24" name="FMI Scale tick"/>
          <p:cNvSpPr txBox="1"/>
          <p:nvPr/>
        </p:nvSpPr>
        <p:spPr>
          <a:xfrm>
            <a:off x="219075" y="1386270"/>
            <a:ext cx="381000" cy="133350"/>
          </a:xfrm>
          <a:prstGeom prst="rect">
            <a:avLst/>
          </a:prstGeom>
          <a:noFill/>
        </p:spPr>
        <p:txBody>
          <a:bodyPr wrap="none" lIns="0" rIns="0" tIns="0" bIns="0" anchor="ctr">
            <a:spAutoFit/>
          </a:bodyPr>
          <a:lstStyle/>
          <a:p>
            <a:pPr algn="r"/>
            <a:r>
              <a:rPr sz="1100" b="0">
                <a:solidFill>
                  <a:srgbClr val="605E5C"/>
                </a:solidFill>
                <a:latin typeface="Segoe UI"/>
              </a:rPr>
              <a:t>4.79</a:t>
            </a:r>
          </a:p>
        </p:txBody>
      </p:sp>
      <p:cxnSp>
        <p:nvCxnSpPr>
          <p:cNvPr id="25" name="Connector 24"/>
          <p:cNvCxnSpPr/>
          <p:nvPr/>
        </p:nvCxnSpPr>
        <p:spPr>
          <a:xfrm flipV="1">
            <a:off x="2409825" y="1674000"/>
            <a:ext cx="0" cy="1443217"/>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278380" y="311721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278380" y="1674000"/>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2190750" y="2227208"/>
            <a:ext cx="438150" cy="744816"/>
          </a:xfrm>
          <a:prstGeom prst="rect">
            <a:avLst/>
          </a:prstGeom>
          <a:solidFill>
            <a:srgbClr val="CFE7F5"/>
          </a:solidFill>
          <a:ln w="15875">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2190750" y="2661309"/>
            <a:ext cx="438150" cy="0"/>
          </a:xfrm>
          <a:prstGeom prst="line">
            <a:avLst/>
          </a:prstGeom>
          <a:ln w="2540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57225" y="1521600"/>
            <a:ext cx="3505200" cy="133350"/>
          </a:xfrm>
          <a:prstGeom prst="rect">
            <a:avLst/>
          </a:prstGeom>
          <a:noFill/>
        </p:spPr>
        <p:txBody>
          <a:bodyPr wrap="square" lIns="28575" rIns="28575" tIns="9525" bIns="9525">
            <a:spAutoFit/>
          </a:bodyPr>
          <a:lstStyle/>
          <a:p>
            <a:pPr algn="ctr"/>
            <a:r>
              <a:rPr sz="1100" b="1">
                <a:solidFill>
                  <a:srgbClr val="007BA5"/>
                </a:solidFill>
                <a:latin typeface="Segoe UI"/>
              </a:rPr>
              <a:t>4.17</a:t>
            </a:r>
          </a:p>
        </p:txBody>
      </p:sp>
      <p:cxnSp>
        <p:nvCxnSpPr>
          <p:cNvPr id="31" name="Connector 30"/>
          <p:cNvCxnSpPr/>
          <p:nvPr/>
        </p:nvCxnSpPr>
        <p:spPr>
          <a:xfrm flipV="1">
            <a:off x="5915025" y="1670329"/>
            <a:ext cx="0" cy="1449223"/>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783580" y="311955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783580" y="16703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695950" y="2225333"/>
            <a:ext cx="438150" cy="745785"/>
          </a:xfrm>
          <a:prstGeom prst="rect">
            <a:avLst/>
          </a:prstGeom>
          <a:solidFill>
            <a:srgbClr val="CFE7F5"/>
          </a:solidFill>
          <a:ln w="15875">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5695950" y="2659020"/>
            <a:ext cx="438150" cy="0"/>
          </a:xfrm>
          <a:prstGeom prst="line">
            <a:avLst/>
          </a:prstGeom>
          <a:ln w="2540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162425" y="1517929"/>
            <a:ext cx="3505200" cy="133350"/>
          </a:xfrm>
          <a:prstGeom prst="rect">
            <a:avLst/>
          </a:prstGeom>
          <a:noFill/>
        </p:spPr>
        <p:txBody>
          <a:bodyPr wrap="square" lIns="28575" rIns="28575" tIns="9525" bIns="9525">
            <a:spAutoFit/>
          </a:bodyPr>
          <a:lstStyle/>
          <a:p>
            <a:pPr algn="ctr"/>
            <a:r>
              <a:rPr sz="1100" b="1">
                <a:solidFill>
                  <a:srgbClr val="007BA5"/>
                </a:solidFill>
                <a:latin typeface="Segoe UI"/>
              </a:rPr>
              <a:t>4.17</a:t>
            </a:r>
          </a:p>
        </p:txBody>
      </p:sp>
      <p:sp>
        <p:nvSpPr>
          <p:cNvPr id="37" name="TextBox 36"/>
          <p:cNvSpPr txBox="1"/>
          <p:nvPr/>
        </p:nvSpPr>
        <p:spPr>
          <a:xfrm>
            <a:off x="657225" y="3365510"/>
            <a:ext cx="3505200" cy="285750"/>
          </a:xfrm>
          <a:prstGeom prst="rect">
            <a:avLst/>
          </a:prstGeom>
          <a:noFill/>
        </p:spPr>
        <p:txBody>
          <a:bodyPr wrap="square" lIns="28575" rIns="28575" tIns="9525" bIns="9525">
            <a:spAutoFit/>
          </a:bodyPr>
          <a:lstStyle/>
          <a:p>
            <a:pPr algn="ctr"/>
            <a:r>
              <a:rPr sz="1100" b="0">
                <a:solidFill>
                  <a:srgbClr val="252423"/>
                </a:solidFill>
                <a:latin typeface="Segoe UI"/>
              </a:rPr>
              <a:t>Warp Knitted Fabrics</a:t>
            </a:r>
          </a:p>
        </p:txBody>
      </p:sp>
      <p:sp>
        <p:nvSpPr>
          <p:cNvPr id="38" name="TextBox 37"/>
          <p:cNvSpPr txBox="1"/>
          <p:nvPr/>
        </p:nvSpPr>
        <p:spPr>
          <a:xfrm>
            <a:off x="4162425" y="3365510"/>
            <a:ext cx="3505200" cy="285750"/>
          </a:xfrm>
          <a:prstGeom prst="rect">
            <a:avLst/>
          </a:prstGeom>
          <a:noFill/>
        </p:spPr>
        <p:txBody>
          <a:bodyPr wrap="square" lIns="28575" rIns="28575" tIns="9525" bIns="9525">
            <a:spAutoFit/>
          </a:bodyPr>
          <a:lstStyle/>
          <a:p>
            <a:pPr algn="ctr"/>
            <a:r>
              <a:rPr sz="1100" b="0">
                <a:solidFill>
                  <a:srgbClr val="252423"/>
                </a:solidFill>
                <a:latin typeface="Segoe UI"/>
              </a:rPr>
              <a:t>Weft Knitted Fabrics</a:t>
            </a:r>
          </a:p>
        </p:txBody>
      </p:sp>
      <p:sp>
        <p:nvSpPr>
          <p:cNvPr id="39" name="Rectangle 38"/>
          <p:cNvSpPr/>
          <p:nvPr/>
        </p:nvSpPr>
        <p:spPr>
          <a:xfrm>
            <a:off x="142875" y="3772696"/>
            <a:ext cx="7696200" cy="278368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Price Variation by Country vs Western Europe  ·  2026–2036</a:t>
            </a:r>
          </a:p>
        </p:txBody>
      </p:sp>
      <p:cxnSp>
        <p:nvCxnSpPr>
          <p:cNvPr id="41" name="Connector 40"/>
          <p:cNvCxnSpPr/>
          <p:nvPr/>
        </p:nvCxnSpPr>
        <p:spPr>
          <a:xfrm>
            <a:off x="619125" y="4308603"/>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19125" y="4682279"/>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19125" y="505595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19125" y="5429632"/>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19125" y="580330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19125" y="4308603"/>
            <a:ext cx="0" cy="1494705"/>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90550" y="4308603"/>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90550" y="4682279"/>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90550" y="5055956"/>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90550" y="5429632"/>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90550" y="5803308"/>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sp>
        <p:nvSpPr>
          <p:cNvPr id="52" name="FMI Scale tick"/>
          <p:cNvSpPr txBox="1"/>
          <p:nvPr/>
        </p:nvSpPr>
        <p:spPr>
          <a:xfrm>
            <a:off x="219075" y="4241928"/>
            <a:ext cx="361950" cy="133350"/>
          </a:xfrm>
          <a:prstGeom prst="rect">
            <a:avLst/>
          </a:prstGeom>
          <a:noFill/>
        </p:spPr>
        <p:txBody>
          <a:bodyPr wrap="none" lIns="0" rIns="0" tIns="0" bIns="0" anchor="ctr">
            <a:spAutoFit/>
          </a:bodyPr>
          <a:lstStyle/>
          <a:p>
            <a:pPr algn="r"/>
            <a:r>
              <a:rPr sz="1100" b="0">
                <a:solidFill>
                  <a:srgbClr val="605E5C"/>
                </a:solidFill>
                <a:latin typeface="Segoe UI"/>
              </a:rPr>
              <a:t>+10%</a:t>
            </a:r>
          </a:p>
        </p:txBody>
      </p:sp>
      <p:sp>
        <p:nvSpPr>
          <p:cNvPr id="53" name="FMI Scale tick"/>
          <p:cNvSpPr txBox="1"/>
          <p:nvPr/>
        </p:nvSpPr>
        <p:spPr>
          <a:xfrm>
            <a:off x="219075" y="4615604"/>
            <a:ext cx="361950" cy="133350"/>
          </a:xfrm>
          <a:prstGeom prst="rect">
            <a:avLst/>
          </a:prstGeom>
          <a:noFill/>
        </p:spPr>
        <p:txBody>
          <a:bodyPr wrap="none" lIns="0" rIns="0" tIns="0" bIns="0" anchor="ctr">
            <a:spAutoFit/>
          </a:bodyPr>
          <a:lstStyle/>
          <a:p>
            <a:pPr algn="r"/>
            <a:r>
              <a:rPr sz="1100" b="0">
                <a:solidFill>
                  <a:srgbClr val="605E5C"/>
                </a:solidFill>
                <a:latin typeface="Segoe UI"/>
              </a:rPr>
              <a:t>+5%</a:t>
            </a:r>
          </a:p>
        </p:txBody>
      </p:sp>
      <p:sp>
        <p:nvSpPr>
          <p:cNvPr id="54" name="FMI Scale tick"/>
          <p:cNvSpPr txBox="1"/>
          <p:nvPr/>
        </p:nvSpPr>
        <p:spPr>
          <a:xfrm>
            <a:off x="219075" y="4989281"/>
            <a:ext cx="361950" cy="133350"/>
          </a:xfrm>
          <a:prstGeom prst="rect">
            <a:avLst/>
          </a:prstGeom>
          <a:noFill/>
        </p:spPr>
        <p:txBody>
          <a:bodyPr wrap="square" lIns="28575" rIns="28575" tIns="9525" bIns="9525" anchor="ctr">
            <a:spAutoFit/>
          </a:bodyPr>
          <a:lstStyle/>
          <a:p>
            <a:pPr algn="r"/>
            <a:r>
              <a:rPr sz="1100" b="1">
                <a:solidFill>
                  <a:srgbClr val="605E5C"/>
                </a:solidFill>
                <a:latin typeface="Segoe UI"/>
              </a:rPr>
              <a:t>Western Europe</a:t>
            </a:r>
          </a:p>
        </p:txBody>
      </p:sp>
      <p:sp>
        <p:nvSpPr>
          <p:cNvPr id="55" name="FMI Scale tick"/>
          <p:cNvSpPr txBox="1"/>
          <p:nvPr/>
        </p:nvSpPr>
        <p:spPr>
          <a:xfrm>
            <a:off x="219075" y="5362957"/>
            <a:ext cx="361950" cy="133350"/>
          </a:xfrm>
          <a:prstGeom prst="rect">
            <a:avLst/>
          </a:prstGeom>
          <a:noFill/>
        </p:spPr>
        <p:txBody>
          <a:bodyPr wrap="none" lIns="0" rIns="0" tIns="0" bIns="0" anchor="ctr">
            <a:spAutoFit/>
          </a:bodyPr>
          <a:lstStyle/>
          <a:p>
            <a:pPr algn="r"/>
            <a:r>
              <a:rPr sz="1100" b="0">
                <a:solidFill>
                  <a:srgbClr val="605E5C"/>
                </a:solidFill>
                <a:latin typeface="Segoe UI"/>
              </a:rPr>
              <a:t>-5%</a:t>
            </a:r>
          </a:p>
        </p:txBody>
      </p:sp>
      <p:sp>
        <p:nvSpPr>
          <p:cNvPr id="56" name="FMI Scale tick"/>
          <p:cNvSpPr txBox="1"/>
          <p:nvPr/>
        </p:nvSpPr>
        <p:spPr>
          <a:xfrm>
            <a:off x="219075" y="5736633"/>
            <a:ext cx="361950" cy="133350"/>
          </a:xfrm>
          <a:prstGeom prst="rect">
            <a:avLst/>
          </a:prstGeom>
          <a:noFill/>
        </p:spPr>
        <p:txBody>
          <a:bodyPr wrap="none" lIns="0" rIns="0" tIns="0" bIns="0" anchor="ctr">
            <a:spAutoFit/>
          </a:bodyPr>
          <a:lstStyle/>
          <a:p>
            <a:pPr algn="r"/>
            <a:r>
              <a:rPr sz="1100" b="0">
                <a:solidFill>
                  <a:srgbClr val="605E5C"/>
                </a:solidFill>
                <a:latin typeface="Segoe UI"/>
              </a:rPr>
              <a:t>-10%</a:t>
            </a:r>
          </a:p>
        </p:txBody>
      </p:sp>
      <p:cxnSp>
        <p:nvCxnSpPr>
          <p:cNvPr id="57" name="Connector 56"/>
          <p:cNvCxnSpPr/>
          <p:nvPr/>
        </p:nvCxnSpPr>
        <p:spPr>
          <a:xfrm>
            <a:off x="619125" y="5055956"/>
            <a:ext cx="7048500" cy="0"/>
          </a:xfrm>
          <a:prstGeom prst="line">
            <a:avLst/>
          </a:prstGeom>
          <a:ln w="13970">
            <a:solidFill>
              <a:srgbClr val="605E5C"/>
            </a:solidFill>
            <a:prstDash val="dash"/>
          </a:ln>
          <a:effectLst/>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831056" y="4987037"/>
            <a:ext cx="457200" cy="68919"/>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MI Data Label"/>
          <p:cNvSpPr txBox="1"/>
          <p:nvPr/>
        </p:nvSpPr>
        <p:spPr>
          <a:xfrm>
            <a:off x="619125" y="4844162"/>
            <a:ext cx="881062" cy="133350"/>
          </a:xfrm>
          <a:prstGeom prst="rect">
            <a:avLst/>
          </a:prstGeom>
          <a:noFill/>
        </p:spPr>
        <p:txBody>
          <a:bodyPr wrap="square" lIns="28575" rIns="28575" tIns="9525" bIns="9525">
            <a:spAutoFit/>
          </a:bodyPr>
          <a:lstStyle/>
          <a:p>
            <a:pPr algn="ctr"/>
            <a:r>
              <a:rPr sz="1100" b="1">
                <a:solidFill>
                  <a:srgbClr val="252423"/>
                </a:solidFill>
                <a:latin typeface="Segoe UI"/>
              </a:rPr>
              <a:t>+0.9%</a:t>
            </a:r>
          </a:p>
        </p:txBody>
      </p:sp>
      <p:sp>
        <p:nvSpPr>
          <p:cNvPr id="60" name="Rectangle 59"/>
          <p:cNvSpPr/>
          <p:nvPr/>
        </p:nvSpPr>
        <p:spPr>
          <a:xfrm>
            <a:off x="1712119" y="4401727"/>
            <a:ext cx="457200" cy="654229"/>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MI Data Label"/>
          <p:cNvSpPr txBox="1"/>
          <p:nvPr/>
        </p:nvSpPr>
        <p:spPr>
          <a:xfrm>
            <a:off x="1500188" y="4258852"/>
            <a:ext cx="881062" cy="133350"/>
          </a:xfrm>
          <a:prstGeom prst="rect">
            <a:avLst/>
          </a:prstGeom>
          <a:noFill/>
        </p:spPr>
        <p:txBody>
          <a:bodyPr wrap="square" lIns="28575" rIns="28575" tIns="9525" bIns="9525">
            <a:spAutoFit/>
          </a:bodyPr>
          <a:lstStyle/>
          <a:p>
            <a:pPr algn="ctr"/>
            <a:r>
              <a:rPr sz="1100" b="1">
                <a:solidFill>
                  <a:srgbClr val="252423"/>
                </a:solidFill>
                <a:latin typeface="Segoe UI"/>
              </a:rPr>
              <a:t>+8.8%</a:t>
            </a:r>
          </a:p>
        </p:txBody>
      </p:sp>
      <p:sp>
        <p:nvSpPr>
          <p:cNvPr id="62" name="Rectangle 61"/>
          <p:cNvSpPr/>
          <p:nvPr/>
        </p:nvSpPr>
        <p:spPr>
          <a:xfrm>
            <a:off x="2593181" y="5055956"/>
            <a:ext cx="457200" cy="128527"/>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MI Data Label"/>
          <p:cNvSpPr txBox="1"/>
          <p:nvPr/>
        </p:nvSpPr>
        <p:spPr>
          <a:xfrm>
            <a:off x="2381250" y="5194007"/>
            <a:ext cx="881062" cy="133350"/>
          </a:xfrm>
          <a:prstGeom prst="rect">
            <a:avLst/>
          </a:prstGeom>
          <a:noFill/>
        </p:spPr>
        <p:txBody>
          <a:bodyPr wrap="square" lIns="28575" rIns="28575" tIns="9525" bIns="9525">
            <a:spAutoFit/>
          </a:bodyPr>
          <a:lstStyle/>
          <a:p>
            <a:pPr algn="ctr"/>
            <a:r>
              <a:rPr sz="1100" b="1">
                <a:solidFill>
                  <a:srgbClr val="252423"/>
                </a:solidFill>
                <a:latin typeface="Segoe UI"/>
              </a:rPr>
              <a:t>-1.7%</a:t>
            </a:r>
          </a:p>
        </p:txBody>
      </p:sp>
      <p:sp>
        <p:nvSpPr>
          <p:cNvPr id="64" name="Rectangle 63"/>
          <p:cNvSpPr/>
          <p:nvPr/>
        </p:nvSpPr>
        <p:spPr>
          <a:xfrm>
            <a:off x="3474244" y="5055956"/>
            <a:ext cx="457200" cy="192382"/>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MI Data Label"/>
          <p:cNvSpPr txBox="1"/>
          <p:nvPr/>
        </p:nvSpPr>
        <p:spPr>
          <a:xfrm>
            <a:off x="3262312" y="5257863"/>
            <a:ext cx="881062" cy="133350"/>
          </a:xfrm>
          <a:prstGeom prst="rect">
            <a:avLst/>
          </a:prstGeom>
          <a:noFill/>
        </p:spPr>
        <p:txBody>
          <a:bodyPr wrap="square" lIns="28575" rIns="28575" tIns="9525" bIns="9525">
            <a:spAutoFit/>
          </a:bodyPr>
          <a:lstStyle/>
          <a:p>
            <a:pPr algn="ctr"/>
            <a:r>
              <a:rPr sz="1100" b="1">
                <a:solidFill>
                  <a:srgbClr val="252423"/>
                </a:solidFill>
                <a:latin typeface="Segoe UI"/>
              </a:rPr>
              <a:t>-2.6%</a:t>
            </a:r>
          </a:p>
        </p:txBody>
      </p:sp>
      <p:sp>
        <p:nvSpPr>
          <p:cNvPr id="66" name="Rectangle 65"/>
          <p:cNvSpPr/>
          <p:nvPr/>
        </p:nvSpPr>
        <p:spPr>
          <a:xfrm>
            <a:off x="4355306" y="5055956"/>
            <a:ext cx="457200" cy="462058"/>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MI Data Label"/>
          <p:cNvSpPr txBox="1"/>
          <p:nvPr/>
        </p:nvSpPr>
        <p:spPr>
          <a:xfrm>
            <a:off x="4143375" y="5527539"/>
            <a:ext cx="881062" cy="133350"/>
          </a:xfrm>
          <a:prstGeom prst="rect">
            <a:avLst/>
          </a:prstGeom>
          <a:noFill/>
        </p:spPr>
        <p:txBody>
          <a:bodyPr wrap="square" lIns="28575" rIns="28575" tIns="9525" bIns="9525">
            <a:spAutoFit/>
          </a:bodyPr>
          <a:lstStyle/>
          <a:p>
            <a:pPr algn="ctr"/>
            <a:r>
              <a:rPr sz="1100" b="1">
                <a:solidFill>
                  <a:srgbClr val="252423"/>
                </a:solidFill>
                <a:latin typeface="Segoe UI"/>
              </a:rPr>
              <a:t>-6.2%</a:t>
            </a:r>
          </a:p>
        </p:txBody>
      </p:sp>
      <p:sp>
        <p:nvSpPr>
          <p:cNvPr id="68" name="Rectangle 67"/>
          <p:cNvSpPr/>
          <p:nvPr/>
        </p:nvSpPr>
        <p:spPr>
          <a:xfrm>
            <a:off x="5236369" y="5043577"/>
            <a:ext cx="457200" cy="12378"/>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MI Data Label"/>
          <p:cNvSpPr txBox="1"/>
          <p:nvPr/>
        </p:nvSpPr>
        <p:spPr>
          <a:xfrm>
            <a:off x="5024438" y="4900702"/>
            <a:ext cx="881062" cy="133350"/>
          </a:xfrm>
          <a:prstGeom prst="rect">
            <a:avLst/>
          </a:prstGeom>
          <a:noFill/>
        </p:spPr>
        <p:txBody>
          <a:bodyPr wrap="square" lIns="28575" rIns="28575" tIns="9525" bIns="9525">
            <a:spAutoFit/>
          </a:bodyPr>
          <a:lstStyle/>
          <a:p>
            <a:pPr algn="ctr"/>
            <a:r>
              <a:rPr sz="1100" b="1">
                <a:solidFill>
                  <a:srgbClr val="252423"/>
                </a:solidFill>
                <a:latin typeface="Segoe UI"/>
              </a:rPr>
              <a:t>+0.2%</a:t>
            </a:r>
          </a:p>
        </p:txBody>
      </p:sp>
      <p:sp>
        <p:nvSpPr>
          <p:cNvPr id="70" name="Rectangle 69"/>
          <p:cNvSpPr/>
          <p:nvPr/>
        </p:nvSpPr>
        <p:spPr>
          <a:xfrm>
            <a:off x="6117431" y="4909972"/>
            <a:ext cx="457200" cy="145984"/>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MI Data Label"/>
          <p:cNvSpPr txBox="1"/>
          <p:nvPr/>
        </p:nvSpPr>
        <p:spPr>
          <a:xfrm>
            <a:off x="5905500" y="4767097"/>
            <a:ext cx="881062" cy="133350"/>
          </a:xfrm>
          <a:prstGeom prst="rect">
            <a:avLst/>
          </a:prstGeom>
          <a:noFill/>
        </p:spPr>
        <p:txBody>
          <a:bodyPr wrap="square" lIns="28575" rIns="28575" tIns="9525" bIns="9525">
            <a:spAutoFit/>
          </a:bodyPr>
          <a:lstStyle/>
          <a:p>
            <a:pPr algn="ctr"/>
            <a:r>
              <a:rPr sz="1100" b="1">
                <a:solidFill>
                  <a:srgbClr val="252423"/>
                </a:solidFill>
                <a:latin typeface="Segoe UI"/>
              </a:rPr>
              <a:t>+2.0%</a:t>
            </a:r>
          </a:p>
        </p:txBody>
      </p:sp>
      <p:sp>
        <p:nvSpPr>
          <p:cNvPr id="72" name="Rectangle 71"/>
          <p:cNvSpPr/>
          <p:nvPr/>
        </p:nvSpPr>
        <p:spPr>
          <a:xfrm>
            <a:off x="6998494" y="5055956"/>
            <a:ext cx="457200" cy="333154"/>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MI Data Label"/>
          <p:cNvSpPr txBox="1"/>
          <p:nvPr/>
        </p:nvSpPr>
        <p:spPr>
          <a:xfrm>
            <a:off x="6786562" y="5398635"/>
            <a:ext cx="881062" cy="133350"/>
          </a:xfrm>
          <a:prstGeom prst="rect">
            <a:avLst/>
          </a:prstGeom>
          <a:noFill/>
        </p:spPr>
        <p:txBody>
          <a:bodyPr wrap="square" lIns="28575" rIns="28575" tIns="9525" bIns="9525">
            <a:spAutoFit/>
          </a:bodyPr>
          <a:lstStyle/>
          <a:p>
            <a:pPr algn="ctr"/>
            <a:r>
              <a:rPr sz="1100" b="1">
                <a:solidFill>
                  <a:srgbClr val="252423"/>
                </a:solidFill>
                <a:latin typeface="Segoe UI"/>
              </a:rPr>
              <a:t>-4.5%</a:t>
            </a:r>
          </a:p>
        </p:txBody>
      </p:sp>
      <p:sp>
        <p:nvSpPr>
          <p:cNvPr id="74" name="TextBox 73"/>
          <p:cNvSpPr txBox="1"/>
          <p:nvPr/>
        </p:nvSpPr>
        <p:spPr>
          <a:xfrm>
            <a:off x="619125" y="5967740"/>
            <a:ext cx="881062" cy="247650"/>
          </a:xfrm>
          <a:prstGeom prst="rect">
            <a:avLst/>
          </a:prstGeom>
          <a:noFill/>
        </p:spPr>
        <p:txBody>
          <a:bodyPr wrap="square" lIns="28575" rIns="28575" tIns="9525" bIns="9525">
            <a:spAutoFit/>
          </a:bodyPr>
          <a:lstStyle/>
          <a:p>
            <a:pPr algn="ctr"/>
            <a:r>
              <a:rPr sz="1100" b="0">
                <a:solidFill>
                  <a:srgbClr val="252423"/>
                </a:solidFill>
                <a:latin typeface="Segoe UI"/>
              </a:rPr>
              <a:t>Germany</a:t>
            </a:r>
          </a:p>
        </p:txBody>
      </p:sp>
      <p:sp>
        <p:nvSpPr>
          <p:cNvPr id="75" name="TextBox 74"/>
          <p:cNvSpPr txBox="1"/>
          <p:nvPr/>
        </p:nvSpPr>
        <p:spPr>
          <a:xfrm>
            <a:off x="1500188" y="5967740"/>
            <a:ext cx="881062" cy="247650"/>
          </a:xfrm>
          <a:prstGeom prst="rect">
            <a:avLst/>
          </a:prstGeom>
          <a:noFill/>
        </p:spPr>
        <p:txBody>
          <a:bodyPr wrap="square" lIns="28575" rIns="28575" tIns="9525" bIns="9525">
            <a:spAutoFit/>
          </a:bodyPr>
          <a:lstStyle/>
          <a:p>
            <a:pPr algn="ctr"/>
            <a:r>
              <a:rPr sz="1100" b="0">
                <a:solidFill>
                  <a:srgbClr val="252423"/>
                </a:solidFill>
                <a:latin typeface="Segoe UI"/>
              </a:rPr>
              <a:t>Italy</a:t>
            </a:r>
          </a:p>
        </p:txBody>
      </p:sp>
      <p:sp>
        <p:nvSpPr>
          <p:cNvPr id="76" name="TextBox 75"/>
          <p:cNvSpPr txBox="1"/>
          <p:nvPr/>
        </p:nvSpPr>
        <p:spPr>
          <a:xfrm>
            <a:off x="2381250" y="5967740"/>
            <a:ext cx="881062" cy="247650"/>
          </a:xfrm>
          <a:prstGeom prst="rect">
            <a:avLst/>
          </a:prstGeom>
          <a:noFill/>
        </p:spPr>
        <p:txBody>
          <a:bodyPr wrap="square" lIns="28575" rIns="28575" tIns="9525" bIns="9525">
            <a:spAutoFit/>
          </a:bodyPr>
          <a:lstStyle/>
          <a:p>
            <a:pPr algn="ctr"/>
            <a:r>
              <a:rPr sz="1100" b="0">
                <a:solidFill>
                  <a:srgbClr val="252423"/>
                </a:solidFill>
                <a:latin typeface="Segoe UI"/>
              </a:rPr>
              <a:t>France</a:t>
            </a:r>
          </a:p>
        </p:txBody>
      </p:sp>
      <p:sp>
        <p:nvSpPr>
          <p:cNvPr id="77" name="TextBox 76"/>
          <p:cNvSpPr txBox="1"/>
          <p:nvPr/>
        </p:nvSpPr>
        <p:spPr>
          <a:xfrm>
            <a:off x="3262312" y="5967740"/>
            <a:ext cx="881062" cy="247650"/>
          </a:xfrm>
          <a:prstGeom prst="rect">
            <a:avLst/>
          </a:prstGeom>
          <a:noFill/>
        </p:spPr>
        <p:txBody>
          <a:bodyPr wrap="square" lIns="28575" rIns="28575" tIns="9525" bIns="9525">
            <a:spAutoFit/>
          </a:bodyPr>
          <a:lstStyle/>
          <a:p>
            <a:pPr algn="ctr"/>
            <a:r>
              <a:rPr sz="1100" b="0">
                <a:solidFill>
                  <a:srgbClr val="252423"/>
                </a:solidFill>
                <a:latin typeface="Segoe UI"/>
              </a:rPr>
              <a:t>U.K.</a:t>
            </a:r>
          </a:p>
        </p:txBody>
      </p:sp>
      <p:sp>
        <p:nvSpPr>
          <p:cNvPr id="78" name="TextBox 77"/>
          <p:cNvSpPr txBox="1"/>
          <p:nvPr/>
        </p:nvSpPr>
        <p:spPr>
          <a:xfrm>
            <a:off x="4143375" y="5967740"/>
            <a:ext cx="881062" cy="247650"/>
          </a:xfrm>
          <a:prstGeom prst="rect">
            <a:avLst/>
          </a:prstGeom>
          <a:noFill/>
        </p:spPr>
        <p:txBody>
          <a:bodyPr wrap="square" lIns="28575" rIns="28575" tIns="9525" bIns="9525">
            <a:spAutoFit/>
          </a:bodyPr>
          <a:lstStyle/>
          <a:p>
            <a:pPr algn="ctr"/>
            <a:r>
              <a:rPr sz="1100" b="0">
                <a:solidFill>
                  <a:srgbClr val="252423"/>
                </a:solidFill>
                <a:latin typeface="Segoe UI"/>
              </a:rPr>
              <a:t>Spain</a:t>
            </a:r>
          </a:p>
        </p:txBody>
      </p:sp>
      <p:sp>
        <p:nvSpPr>
          <p:cNvPr id="79" name="TextBox 78"/>
          <p:cNvSpPr txBox="1"/>
          <p:nvPr/>
        </p:nvSpPr>
        <p:spPr>
          <a:xfrm>
            <a:off x="5024438" y="5967740"/>
            <a:ext cx="881062" cy="247650"/>
          </a:xfrm>
          <a:prstGeom prst="rect">
            <a:avLst/>
          </a:prstGeom>
          <a:noFill/>
        </p:spPr>
        <p:txBody>
          <a:bodyPr wrap="square" lIns="28575" rIns="28575" tIns="9525" bIns="9525">
            <a:spAutoFit/>
          </a:bodyPr>
          <a:lstStyle/>
          <a:p>
            <a:pPr algn="ctr"/>
            <a:r>
              <a:rPr sz="1100" b="0">
                <a:solidFill>
                  <a:srgbClr val="252423"/>
                </a:solidFill>
                <a:latin typeface="Segoe UI"/>
              </a:rPr>
              <a:t>BENELUX</a:t>
            </a:r>
          </a:p>
        </p:txBody>
      </p:sp>
      <p:sp>
        <p:nvSpPr>
          <p:cNvPr id="80" name="TextBox 79"/>
          <p:cNvSpPr txBox="1"/>
          <p:nvPr/>
        </p:nvSpPr>
        <p:spPr>
          <a:xfrm>
            <a:off x="5905500" y="5967740"/>
            <a:ext cx="881062" cy="247650"/>
          </a:xfrm>
          <a:prstGeom prst="rect">
            <a:avLst/>
          </a:prstGeom>
          <a:noFill/>
        </p:spPr>
        <p:txBody>
          <a:bodyPr wrap="square" lIns="28575" rIns="28575" tIns="9525" bIns="9525">
            <a:spAutoFit/>
          </a:bodyPr>
          <a:lstStyle/>
          <a:p>
            <a:pPr algn="ctr"/>
            <a:r>
              <a:rPr sz="1100" b="0">
                <a:solidFill>
                  <a:srgbClr val="252423"/>
                </a:solidFill>
                <a:latin typeface="Segoe UI"/>
              </a:rPr>
              <a:t>Nordics</a:t>
            </a:r>
          </a:p>
        </p:txBody>
      </p:sp>
      <p:sp>
        <p:nvSpPr>
          <p:cNvPr id="81" name="TextBox 80"/>
          <p:cNvSpPr txBox="1"/>
          <p:nvPr/>
        </p:nvSpPr>
        <p:spPr>
          <a:xfrm>
            <a:off x="6786562" y="5967740"/>
            <a:ext cx="881062" cy="247650"/>
          </a:xfrm>
          <a:prstGeom prst="rect">
            <a:avLst/>
          </a:prstGeom>
          <a:noFill/>
        </p:spPr>
        <p:txBody>
          <a:bodyPr wrap="square" lIns="28575" rIns="28575" tIns="9525" bIns="9525">
            <a:spAutoFit/>
          </a:bodyPr>
          <a:lstStyle/>
          <a:p>
            <a:pPr algn="ctr"/>
            <a:r>
              <a:rPr sz="1100" b="0">
                <a:solidFill>
                  <a:srgbClr val="252423"/>
                </a:solidFill>
                <a:latin typeface="Segoe UI"/>
              </a:rPr>
              <a:t>Rest of Western Europe</a:t>
            </a:r>
          </a:p>
        </p:txBody>
      </p:sp>
      <p:sp>
        <p:nvSpPr>
          <p:cNvPr id="82" name="Rectangle 81"/>
          <p:cNvSpPr/>
          <p:nvPr/>
        </p:nvSpPr>
        <p:spPr>
          <a:xfrm>
            <a:off x="7915275" y="1052895"/>
            <a:ext cx="4133850" cy="550349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07BA5"/>
                </a:solidFill>
                <a:latin typeface="Segoe UI"/>
              </a:rPr>
              <a:t>Key Takeaways</a:t>
            </a:r>
          </a:p>
        </p:txBody>
      </p:sp>
      <p:sp>
        <p:nvSpPr>
          <p:cNvPr id="84" name="Rectangle 83"/>
          <p:cNvSpPr/>
          <p:nvPr/>
        </p:nvSpPr>
        <p:spPr>
          <a:xfrm>
            <a:off x="8048625" y="137674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Weft knitted fabrics segment is expected to command the highest average price of US$ 4.68 per Sq. Yard in 2036. Average selling price of performance knitted fabrics is estimated at US$ 4.02 per Sq. Yard in 2025 and is projected to increase to US$ 4.68 per Sq. Yard by 2036.</a:t>
            </a:r>
          </a:p>
          <a:p>
            <a:pPr algn="l">
              <a:lnSpc>
                <a:spcPct val="110000"/>
              </a:lnSpc>
              <a:spcBef>
                <a:spcPts val="0"/>
              </a:spcBef>
              <a:spcAft>
                <a:spcPts val="500"/>
              </a:spcAft>
            </a:pPr>
            <a:r>
              <a:rPr sz="1150" b="0">
                <a:solidFill>
                  <a:srgbClr val="252423"/>
                </a:solidFill>
                <a:latin typeface="Segoe UI"/>
              </a:rPr>
              <a:t>Italy is the highest-priced country, while Spain is the most price-competitive market. Against the Western Europe price of 4.36 US$/Sq. Yards, 4 of 8 countries price above and 4 below.</a:t>
            </a:r>
          </a:p>
          <a:p>
            <a:pPr algn="l">
              <a:lnSpc>
                <a:spcPct val="110000"/>
              </a:lnSpc>
              <a:spcBef>
                <a:spcPts val="0"/>
              </a:spcBef>
              <a:spcAft>
                <a:spcPts val="500"/>
              </a:spcAft>
            </a:pPr>
            <a:r>
              <a:rPr sz="1150" b="0">
                <a:solidFill>
                  <a:srgbClr val="252423"/>
                </a:solidFill>
                <a:latin typeface="Segoe UI"/>
              </a:rPr>
              <a:t>'Italy' is the dearest at +8.8% versus Western Europe, 'Spain' the cheapest at -6.2% pointing to premiumisation headroom in the lower-priced countries.</a:t>
            </a:r>
          </a:p>
        </p:txBody>
      </p:sp>
      <p:sp>
        <p:nvSpPr>
          <p:cNvPr id="86" name="TextBox 8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Performance Knitted Fabrics Market Summary, By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Western Europe market value growth, incremental opportunity and the geographies driving it, 2021–2036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Western Europe</a:t>
            </a:r>
          </a:p>
        </p:txBody>
      </p:sp>
      <p:sp>
        <p:nvSpPr>
          <p:cNvPr id="9" name="Rounded Rectangle 8"/>
          <p:cNvSpPr/>
          <p:nvPr/>
        </p:nvSpPr>
        <p:spPr>
          <a:xfrm>
            <a:off x="142875"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MARKET SIZE (US$ MN)</a:t>
            </a:r>
          </a:p>
          <a:p>
            <a:pPr algn="ctr">
              <a:lnSpc>
                <a:spcPct val="95000"/>
              </a:lnSpc>
            </a:pPr>
            <a:r>
              <a:rPr sz="1500" b="1">
                <a:solidFill>
                  <a:srgbClr val="00A4DC"/>
                </a:solidFill>
                <a:latin typeface="Segoe UI"/>
              </a:rPr>
              <a:t>1,450</a:t>
            </a:r>
          </a:p>
        </p:txBody>
      </p:sp>
      <p:sp>
        <p:nvSpPr>
          <p:cNvPr id="10" name="Rounded Rectangle 9"/>
          <p:cNvSpPr/>
          <p:nvPr/>
        </p:nvSpPr>
        <p:spPr>
          <a:xfrm>
            <a:off x="31432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2,673</a:t>
            </a:r>
          </a:p>
        </p:txBody>
      </p:sp>
      <p:sp>
        <p:nvSpPr>
          <p:cNvPr id="11" name="Rounded Rectangle 10"/>
          <p:cNvSpPr/>
          <p:nvPr/>
        </p:nvSpPr>
        <p:spPr>
          <a:xfrm>
            <a:off x="61531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2021–2025</a:t>
            </a:r>
          </a:p>
          <a:p>
            <a:pPr algn="ctr">
              <a:lnSpc>
                <a:spcPct val="95000"/>
              </a:lnSpc>
            </a:pPr>
            <a:r>
              <a:rPr sz="1500" b="1">
                <a:solidFill>
                  <a:srgbClr val="00A4DC"/>
                </a:solidFill>
                <a:latin typeface="Segoe UI"/>
              </a:rPr>
              <a:t>5.0%</a:t>
            </a:r>
          </a:p>
        </p:txBody>
      </p:sp>
      <p:sp>
        <p:nvSpPr>
          <p:cNvPr id="12" name="Rounded Rectangle 11"/>
          <p:cNvSpPr/>
          <p:nvPr/>
        </p:nvSpPr>
        <p:spPr>
          <a:xfrm>
            <a:off x="91630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1500" b="1">
                <a:solidFill>
                  <a:srgbClr val="00A4DC"/>
                </a:solidFill>
                <a:latin typeface="Segoe UI"/>
              </a:rPr>
              <a:t>6.3%</a:t>
            </a:r>
          </a:p>
        </p:txBody>
      </p:sp>
      <p:sp>
        <p:nvSpPr>
          <p:cNvPr id="13" name="Rectangle 12"/>
          <p:cNvSpPr/>
          <p:nvPr/>
        </p:nvSpPr>
        <p:spPr>
          <a:xfrm>
            <a:off x="142875" y="1627887"/>
            <a:ext cx="769620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(2021–2036)</a:t>
            </a:r>
          </a:p>
        </p:txBody>
      </p:sp>
      <p:graphicFrame>
        <p:nvGraphicFramePr>
          <p:cNvPr id="15" name="Chart 14"/>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6" name="Rectangle 15"/>
          <p:cNvSpPr/>
          <p:nvPr/>
        </p:nvSpPr>
        <p:spPr>
          <a:xfrm>
            <a:off x="142875" y="4037375"/>
            <a:ext cx="769620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Incremental Market Addition (US$ Mn)</a:t>
            </a:r>
          </a:p>
        </p:txBody>
      </p:sp>
      <p:graphicFrame>
        <p:nvGraphicFramePr>
          <p:cNvPr id="18" name="Chart 17"/>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9" name="Rectangle 18"/>
          <p:cNvSpPr/>
          <p:nvPr/>
        </p:nvSpPr>
        <p:spPr>
          <a:xfrm>
            <a:off x="7915275" y="1627887"/>
            <a:ext cx="4133850" cy="3003606"/>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21" name="Rectangle 20"/>
          <p:cNvSpPr/>
          <p:nvPr/>
        </p:nvSpPr>
        <p:spPr>
          <a:xfrm>
            <a:off x="8048625" y="195173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2037462"/>
            <a:ext cx="3867150" cy="2517831"/>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52423"/>
                </a:solidFill>
                <a:latin typeface="Segoe UI"/>
              </a:rPr>
              <a:t>Performance knitted fabrics market value in Western Europe is expected to increase 1.9X between 2025 and 2036. In 2025, the performance knitted fabrics market in Western Europe was valued at US$ 1,374 Mn and is estimated to account for US$ 1,450 Mn by the end of 2026, reflecting a Y-o-Y growth rate of 5.6%.</a:t>
            </a:r>
          </a:p>
          <a:p>
            <a:pPr algn="l">
              <a:lnSpc>
                <a:spcPct val="100000"/>
              </a:lnSpc>
              <a:spcBef>
                <a:spcPts val="0"/>
              </a:spcBef>
              <a:spcAft>
                <a:spcPts val="300"/>
              </a:spcAft>
            </a:pPr>
            <a:r>
              <a:rPr sz="1100" b="0">
                <a:solidFill>
                  <a:srgbClr val="252423"/>
                </a:solidFill>
                <a:latin typeface="Segoe UI"/>
              </a:rPr>
              <a:t>The market in Western Europe is expected to account for US$ 2,673 Mn by 2036 at a CAGR of 6.3% over the forecast period. Western Europe is expected to create an incremental opportunity of US$ 1,299 Mn for the overall performance knitted fabrics market from 2025 to 2036.</a:t>
            </a:r>
          </a:p>
          <a:p>
            <a:pPr algn="l">
              <a:lnSpc>
                <a:spcPct val="100000"/>
              </a:lnSpc>
              <a:spcBef>
                <a:spcPts val="0"/>
              </a:spcBef>
              <a:spcAft>
                <a:spcPts val="300"/>
              </a:spcAft>
            </a:pPr>
            <a:r>
              <a:rPr sz="1100" b="0">
                <a:solidFill>
                  <a:srgbClr val="252423"/>
                </a:solidFill>
                <a:latin typeface="Segoe UI"/>
              </a:rPr>
              <a:t>Absolute $ value for 2026 is estimated to be US$ 76.5 Mn.</a:t>
            </a:r>
          </a:p>
        </p:txBody>
      </p:sp>
      <p:sp>
        <p:nvSpPr>
          <p:cNvPr id="23" name="Rectangle 22"/>
          <p:cNvSpPr/>
          <p:nvPr/>
        </p:nvSpPr>
        <p:spPr>
          <a:xfrm>
            <a:off x="7915275" y="4686254"/>
            <a:ext cx="4133850" cy="18859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771979"/>
            <a:ext cx="3867150" cy="209550"/>
          </a:xfrm>
          <a:prstGeom prst="rect">
            <a:avLst/>
          </a:prstGeom>
          <a:noFill/>
        </p:spPr>
        <p:txBody>
          <a:bodyPr wrap="square" lIns="0" rIns="19050" tIns="9525" bIns="9525">
            <a:spAutoFit/>
          </a:bodyPr>
          <a:lstStyle/>
          <a:p>
            <a:pPr algn="l"/>
            <a:r>
              <a:rPr sz="1300" b="1">
                <a:solidFill>
                  <a:srgbClr val="007BA5"/>
                </a:solidFill>
                <a:latin typeface="Segoe UI"/>
              </a:rPr>
              <a:t>Growth Drivers</a:t>
            </a:r>
          </a:p>
        </p:txBody>
      </p:sp>
      <p:sp>
        <p:nvSpPr>
          <p:cNvPr id="25" name="Rectangle 24"/>
          <p:cNvSpPr/>
          <p:nvPr/>
        </p:nvSpPr>
        <p:spPr>
          <a:xfrm>
            <a:off x="8048625" y="5010104"/>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5095829"/>
            <a:ext cx="3867150" cy="14001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'Rest of Western Europe' leads regional growth at 7.6% CAGR.</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Demand concentrates in 'Weft Knitted Fabrics' within Fabric Construction.</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Product innovation and premiumisation lifting value.</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Expanding end-use applications and access.</a:t>
            </a:r>
          </a:p>
        </p:txBody>
      </p:sp>
      <p:sp>
        <p:nvSpPr>
          <p:cNvPr id="27" name="TextBox 2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Performance Knitted Fabrics Market Volume &amp; Value Analysis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volume and value growth of the Western Europe market and the incremental $ opportunity it creates, 2021–2036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Western Europe</a:t>
            </a:r>
          </a:p>
        </p:txBody>
      </p:sp>
      <p:sp>
        <p:nvSpPr>
          <p:cNvPr id="9" name="Rectangle 8"/>
          <p:cNvSpPr/>
          <p:nvPr/>
        </p:nvSpPr>
        <p:spPr>
          <a:xfrm>
            <a:off x="142875" y="981075"/>
            <a:ext cx="4695825" cy="2524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Market, 2021–2025 (Historical)</a:t>
            </a:r>
          </a:p>
        </p:txBody>
      </p:sp>
      <p:graphicFrame>
        <p:nvGraphicFramePr>
          <p:cNvPr id="11" name="Chart 10"/>
          <p:cNvGraphicFramePr>
            <a:graphicFrameLocks noGrp="1"/>
          </p:cNvGraphicFramePr>
          <p:nvPr/>
        </p:nvGraphicFramePr>
        <p:xfrm>
          <a:off x="238125" y="1266825"/>
          <a:ext cx="4505325" cy="2181225"/>
        </p:xfrm>
        <a:graphic>
          <a:graphicData uri="http://schemas.openxmlformats.org/drawingml/2006/chart">
            <c:chart xmlns:c="http://schemas.openxmlformats.org/drawingml/2006/chart" r:id="rId3"/>
          </a:graphicData>
        </a:graphic>
      </p:graphicFrame>
      <p:sp>
        <p:nvSpPr>
          <p:cNvPr id="12" name="Rectangle 11"/>
          <p:cNvSpPr/>
          <p:nvPr/>
        </p:nvSpPr>
        <p:spPr>
          <a:xfrm>
            <a:off x="4991100" y="981075"/>
            <a:ext cx="7048500" cy="2524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Market, 2026–2036 (Forecast)</a:t>
            </a:r>
          </a:p>
        </p:txBody>
      </p:sp>
      <p:graphicFrame>
        <p:nvGraphicFramePr>
          <p:cNvPr id="14" name="Chart 13"/>
          <p:cNvGraphicFramePr>
            <a:graphicFrameLocks noGrp="1"/>
          </p:cNvGraphicFramePr>
          <p:nvPr/>
        </p:nvGraphicFramePr>
        <p:xfrm>
          <a:off x="5086350" y="1266825"/>
          <a:ext cx="6858000" cy="2181225"/>
        </p:xfrm>
        <a:graphic>
          <a:graphicData uri="http://schemas.openxmlformats.org/drawingml/2006/chart">
            <c:chart xmlns:c="http://schemas.openxmlformats.org/drawingml/2006/chart" r:id="rId4"/>
          </a:graphicData>
        </a:graphic>
      </p:graphicFrame>
      <p:sp>
        <p:nvSpPr>
          <p:cNvPr id="15" name="Rounded Rectangle 14"/>
          <p:cNvSpPr/>
          <p:nvPr/>
        </p:nvSpPr>
        <p:spPr>
          <a:xfrm>
            <a:off x="142875" y="3638550"/>
            <a:ext cx="25146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VALUE CAGR 2021–2025</a:t>
            </a:r>
          </a:p>
          <a:p>
            <a:pPr algn="ctr">
              <a:lnSpc>
                <a:spcPct val="95000"/>
              </a:lnSpc>
            </a:pPr>
            <a:r>
              <a:rPr sz="1500" b="1">
                <a:solidFill>
                  <a:srgbClr val="00A4DC"/>
                </a:solidFill>
                <a:latin typeface="Segoe UI"/>
              </a:rPr>
              <a:t>5.0%</a:t>
            </a:r>
          </a:p>
        </p:txBody>
      </p:sp>
      <p:sp>
        <p:nvSpPr>
          <p:cNvPr id="16" name="Rounded Rectangle 15"/>
          <p:cNvSpPr/>
          <p:nvPr/>
        </p:nvSpPr>
        <p:spPr>
          <a:xfrm>
            <a:off x="2809875" y="3638550"/>
            <a:ext cx="25146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VALUE CAGR 2026–2036</a:t>
            </a:r>
          </a:p>
          <a:p>
            <a:pPr algn="ctr">
              <a:lnSpc>
                <a:spcPct val="95000"/>
              </a:lnSpc>
            </a:pPr>
            <a:r>
              <a:rPr sz="1500" b="1">
                <a:solidFill>
                  <a:srgbClr val="00A4DC"/>
                </a:solidFill>
                <a:latin typeface="Segoe UI"/>
              </a:rPr>
              <a:t>6.3%</a:t>
            </a:r>
          </a:p>
        </p:txBody>
      </p:sp>
      <p:sp>
        <p:nvSpPr>
          <p:cNvPr id="17" name="Rounded Rectangle 16"/>
          <p:cNvSpPr/>
          <p:nvPr/>
        </p:nvSpPr>
        <p:spPr>
          <a:xfrm>
            <a:off x="5476875" y="3638550"/>
            <a:ext cx="32004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INCREMENTAL $ OPPORTUNITY 2026–2031</a:t>
            </a:r>
          </a:p>
          <a:p>
            <a:pPr algn="ctr">
              <a:lnSpc>
                <a:spcPct val="95000"/>
              </a:lnSpc>
            </a:pPr>
            <a:r>
              <a:rPr sz="1500" b="1">
                <a:solidFill>
                  <a:srgbClr val="00A4DC"/>
                </a:solidFill>
                <a:latin typeface="Segoe UI"/>
              </a:rPr>
              <a:t>500.3 US$ Mn</a:t>
            </a:r>
          </a:p>
        </p:txBody>
      </p:sp>
      <p:sp>
        <p:nvSpPr>
          <p:cNvPr id="18" name="Rounded Rectangle 17"/>
          <p:cNvSpPr/>
          <p:nvPr/>
        </p:nvSpPr>
        <p:spPr>
          <a:xfrm>
            <a:off x="8829675" y="3638550"/>
            <a:ext cx="32004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INCREMENTAL $ OPPORTUNITY 2026–2036</a:t>
            </a:r>
          </a:p>
          <a:p>
            <a:pPr algn="ctr">
              <a:lnSpc>
                <a:spcPct val="95000"/>
              </a:lnSpc>
            </a:pPr>
            <a:r>
              <a:rPr sz="1500" b="1">
                <a:solidFill>
                  <a:srgbClr val="00A4DC"/>
                </a:solidFill>
                <a:latin typeface="Segoe UI"/>
              </a:rPr>
              <a:t>1,222 US$ Mn</a:t>
            </a:r>
          </a:p>
        </p:txBody>
      </p:sp>
      <p:sp>
        <p:nvSpPr>
          <p:cNvPr id="19" name="Rectangle 18"/>
          <p:cNvSpPr/>
          <p:nvPr/>
        </p:nvSpPr>
        <p:spPr>
          <a:xfrm>
            <a:off x="142875" y="4457700"/>
            <a:ext cx="11906250" cy="21526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543425"/>
            <a:ext cx="11639550" cy="209550"/>
          </a:xfrm>
          <a:prstGeom prst="rect">
            <a:avLst/>
          </a:prstGeom>
          <a:noFill/>
        </p:spPr>
        <p:txBody>
          <a:bodyPr wrap="square" lIns="0" rIns="19050" tIns="9525" bIns="9525">
            <a:spAutoFit/>
          </a:bodyPr>
          <a:lstStyle/>
          <a:p>
            <a:pPr algn="l"/>
            <a:r>
              <a:rPr sz="1300" b="1">
                <a:solidFill>
                  <a:srgbClr val="007BA5"/>
                </a:solidFill>
                <a:latin typeface="Segoe UI"/>
              </a:rPr>
              <a:t>Western Europe Volume &amp; Value Analysis</a:t>
            </a:r>
          </a:p>
        </p:txBody>
      </p:sp>
      <p:sp>
        <p:nvSpPr>
          <p:cNvPr id="21" name="Rectangle 20"/>
          <p:cNvSpPr/>
          <p:nvPr/>
        </p:nvSpPr>
        <p:spPr>
          <a:xfrm>
            <a:off x="276225" y="478155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867275"/>
            <a:ext cx="11639550" cy="16668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52423"/>
                </a:solidFill>
                <a:latin typeface="Segoe UI"/>
              </a:rPr>
              <a:t>Performance knitted fabrics market value in Western Europe is expected to increase 1.9X between 2025 and 2036. In 2025, the performance knitted fabrics market in Western Europe was valued at US$ 1,374 Mn and is estimated to account for US$ 1,450 Mn by the end of 2026, reflecting a Y-o-Y growth rate of 5.6%. The market in Western Europe is expected to account for US$ 2,673 Mn by 2036 at a CAGR of 6.3% over the forecast period.</a:t>
            </a:r>
          </a:p>
          <a:p>
            <a:pPr algn="l">
              <a:lnSpc>
                <a:spcPct val="110000"/>
              </a:lnSpc>
              <a:spcBef>
                <a:spcPts val="0"/>
              </a:spcBef>
              <a:spcAft>
                <a:spcPts val="500"/>
              </a:spcAft>
            </a:pPr>
            <a:r>
              <a:rPr sz="1100" b="0">
                <a:solidFill>
                  <a:srgbClr val="252423"/>
                </a:solidFill>
                <a:latin typeface="Segoe UI"/>
              </a:rPr>
              <a:t>Western Europe is expected to create an incremental opportunity of US$ 1,299 Mn for the overall performance knitted fabrics market from 2025 to 2036. Absolute $ value for 2026 is estimated to be US$ 76.5 Mn. Western Europe performance knitted fabrics market is projected to register 1.7X increase in volume by the end of forecast period, 2036.</a:t>
            </a:r>
          </a:p>
          <a:p>
            <a:pPr algn="l">
              <a:lnSpc>
                <a:spcPct val="110000"/>
              </a:lnSpc>
              <a:spcBef>
                <a:spcPts val="0"/>
              </a:spcBef>
              <a:spcAft>
                <a:spcPts val="500"/>
              </a:spcAft>
            </a:pPr>
            <a:r>
              <a:rPr sz="1100" b="0">
                <a:solidFill>
                  <a:srgbClr val="252423"/>
                </a:solidFill>
                <a:latin typeface="Segoe UI"/>
              </a:rPr>
              <a:t>Western Europe performance knitted fabrics market volume stood at 341.6 Mn Sq. Yards in 2025 and is expected to reach 571.4 Mn Sq. Yards by 2036 end, at a CAGR of 4.8%. Value is projected to grow faster than volume over the forecast period, owing to an increase in average selling price.</a:t>
            </a:r>
          </a:p>
        </p:txBody>
      </p:sp>
      <p:sp>
        <p:nvSpPr>
          <p:cNvPr id="23" name="TextBox 2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Performance Knitted Fabrics Market Summary Country Indices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outlook ranking 2036 market size, growth and absolute-growth indices to highlight the strongest markets</a:t>
            </a:r>
          </a:p>
        </p:txBody>
      </p:sp>
      <p:sp>
        <p:nvSpPr>
          <p:cNvPr id="8" name="Rectangle 7"/>
          <p:cNvSpPr/>
          <p:nvPr/>
        </p:nvSpPr>
        <p:spPr>
          <a:xfrm>
            <a:off x="142875" y="1007261"/>
            <a:ext cx="3933825" cy="244599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Top 10 Countries By CAGR Index</a:t>
            </a:r>
          </a:p>
        </p:txBody>
      </p:sp>
      <p:graphicFrame>
        <p:nvGraphicFramePr>
          <p:cNvPr id="10" name="Chart 9"/>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1" name="Rectangle 10"/>
          <p:cNvSpPr/>
          <p:nvPr/>
        </p:nvSpPr>
        <p:spPr>
          <a:xfrm>
            <a:off x="142875" y="3489764"/>
            <a:ext cx="3933825" cy="243686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3565964"/>
          <a:ext cx="3914775" cy="2132068"/>
        </p:xfrm>
        <a:graphic>
          <a:graphicData uri="http://schemas.openxmlformats.org/drawingml/2006/table">
            <a:tbl>
              <a:tblPr>
                <a:tableStyleId>{5C22544A-7EE6-4342-B048-85BDC9FD1C3A}</a:tableStyleId>
              </a:tblPr>
              <a:tblGrid>
                <a:gridCol w="830107"/>
                <a:gridCol w="1030960"/>
                <a:gridCol w="706294"/>
                <a:gridCol w="1347414"/>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CAGR Index</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 Opp (US$ Mn)</a:t>
                      </a:r>
                      <a:endParaRPr sz="1100"/>
                    </a:p>
                  </a:txBody>
                  <a:tcPr marL="47625" marR="38100" marT="19050" marB="19050" anchor="ctr">
                    <a:solidFill>
                      <a:srgbClr val="007BA5"/>
                    </a:solidFill>
                  </a:tcPr>
                </a:tc>
              </a:tr>
              <a:tr h="273829">
                <a:tc>
                  <a:txBody>
                    <a:bodyPr wrap="none"/>
                    <a:lstStyle/>
                    <a:p>
                      <a:pPr algn="l"/>
                      <a:r>
                        <a:rPr sz="1100" b="1">
                          <a:solidFill>
                            <a:srgbClr val="252423"/>
                          </a:solidFill>
                          <a:latin typeface="Segoe UI"/>
                        </a:rPr>
                        <a:t>Spain</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126.1</a:t>
                      </a:r>
                      <a:endParaRPr sz="1100"/>
                    </a:p>
                  </a:txBody>
                  <a:tcPr marL="47625" marR="38100" marT="19050" marB="19050" anchor="ctr">
                    <a:solidFill>
                      <a:srgbClr val="FFFFFF"/>
                    </a:solidFill>
                  </a:tcPr>
                </a:tc>
              </a:tr>
              <a:tr h="273829">
                <a:tc>
                  <a:txBody>
                    <a:bodyPr wrap="none"/>
                    <a:lstStyle/>
                    <a:p>
                      <a:pPr algn="l"/>
                      <a:r>
                        <a:rPr sz="1100" b="1">
                          <a:solidFill>
                            <a:srgbClr val="252423"/>
                          </a:solidFill>
                          <a:latin typeface="Segoe UI"/>
                        </a:rPr>
                        <a:t>Italy</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207.7</a:t>
                      </a:r>
                      <a:endParaRPr sz="1100"/>
                    </a:p>
                  </a:txBody>
                  <a:tcPr marL="47625" marR="38100" marT="19050" marB="19050" anchor="ctr">
                    <a:solidFill>
                      <a:srgbClr val="F2FAFD"/>
                    </a:solidFill>
                  </a:tcPr>
                </a:tc>
              </a:tr>
              <a:tr h="273829">
                <a:tc>
                  <a:txBody>
                    <a:bodyPr wrap="none"/>
                    <a:lstStyle/>
                    <a:p>
                      <a:pPr algn="l"/>
                      <a:r>
                        <a:rPr sz="1100" b="1">
                          <a:solidFill>
                            <a:srgbClr val="252423"/>
                          </a:solidFill>
                          <a:latin typeface="Segoe UI"/>
                        </a:rPr>
                        <a:t>BENELUX</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71.0</a:t>
                      </a:r>
                      <a:endParaRPr sz="1100"/>
                    </a:p>
                  </a:txBody>
                  <a:tcPr marL="47625" marR="38100" marT="19050" marB="19050" anchor="ctr">
                    <a:solidFill>
                      <a:srgbClr val="FFFFFF"/>
                    </a:solidFill>
                  </a:tcPr>
                </a:tc>
              </a:tr>
              <a:tr h="273829">
                <a:tc>
                  <a:txBody>
                    <a:bodyPr wrap="none"/>
                    <a:lstStyle/>
                    <a:p>
                      <a:pPr algn="l"/>
                      <a:r>
                        <a:rPr sz="1100" b="1">
                          <a:solidFill>
                            <a:srgbClr val="252423"/>
                          </a:solidFill>
                          <a:latin typeface="Segoe UI"/>
                        </a:rPr>
                        <a:t>Germany</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313.8</a:t>
                      </a:r>
                      <a:endParaRPr sz="1100"/>
                    </a:p>
                  </a:txBody>
                  <a:tcPr marL="47625" marR="38100" marT="19050" marB="19050" anchor="ctr">
                    <a:solidFill>
                      <a:srgbClr val="F2FAFD"/>
                    </a:solidFill>
                  </a:tcPr>
                </a:tc>
              </a:tr>
              <a:tr h="273829">
                <a:tc>
                  <a:txBody>
                    <a:bodyPr wrap="none"/>
                    <a:lstStyle/>
                    <a:p>
                      <a:pPr algn="l"/>
                      <a:r>
                        <a:rPr sz="1100" b="1">
                          <a:solidFill>
                            <a:srgbClr val="252423"/>
                          </a:solidFill>
                          <a:latin typeface="Segoe UI"/>
                        </a:rPr>
                        <a:t>Nordics</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36.4</a:t>
                      </a:r>
                      <a:endParaRPr sz="1100"/>
                    </a:p>
                  </a:txBody>
                  <a:tcPr marL="47625" marR="38100" marT="19050" marB="19050" anchor="ctr">
                    <a:solidFill>
                      <a:srgbClr val="FFFFFF"/>
                    </a:solidFill>
                  </a:tcPr>
                </a:tc>
              </a:tr>
              <a:tr h="273829">
                <a:tc>
                  <a:txBody>
                    <a:bodyPr wrap="none"/>
                    <a:lstStyle/>
                    <a:p>
                      <a:pPr algn="l"/>
                      <a:r>
                        <a:rPr sz="1100" b="1">
                          <a:solidFill>
                            <a:srgbClr val="252423"/>
                          </a:solidFill>
                          <a:latin typeface="Segoe UI"/>
                        </a:rPr>
                        <a:t>France</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232.2</a:t>
                      </a:r>
                      <a:endParaRPr sz="1100"/>
                    </a:p>
                  </a:txBody>
                  <a:tcPr marL="47625" marR="38100" marT="19050" marB="19050" anchor="ctr">
                    <a:solidFill>
                      <a:srgbClr val="F2FAFD"/>
                    </a:solidFill>
                  </a:tcPr>
                </a:tc>
              </a:tr>
              <a:tr h="273829">
                <a:tc>
                  <a:txBody>
                    <a:bodyPr wrap="none"/>
                    <a:lstStyle/>
                    <a:p>
                      <a:pPr algn="l"/>
                      <a:r>
                        <a:rPr sz="1100" b="1">
                          <a:solidFill>
                            <a:srgbClr val="252423"/>
                          </a:solidFill>
                          <a:latin typeface="Segoe UI"/>
                        </a:rPr>
                        <a:t>U.K.</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181.4</a:t>
                      </a:r>
                      <a:endParaRPr sz="1100"/>
                    </a:p>
                  </a:txBody>
                  <a:tcPr marL="47625" marR="38100" marT="19050" marB="19050" anchor="ctr">
                    <a:solidFill>
                      <a:srgbClr val="FFFFFF"/>
                    </a:solidFill>
                  </a:tcPr>
                </a:tc>
              </a:tr>
            </a:tbl>
          </a:graphicData>
        </a:graphic>
      </p:graphicFrame>
      <p:sp>
        <p:nvSpPr>
          <p:cNvPr id="13" name="TextBox 12"/>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4" name="Rectangle 13"/>
          <p:cNvSpPr/>
          <p:nvPr/>
        </p:nvSpPr>
        <p:spPr>
          <a:xfrm>
            <a:off x="4114800" y="1007261"/>
            <a:ext cx="3933825" cy="4928498"/>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2036 Market By Country (US$ Mn)  ·  Top 10</a:t>
            </a:r>
          </a:p>
        </p:txBody>
      </p:sp>
      <p:sp>
        <p:nvSpPr>
          <p:cNvPr id="16" name="Rectangle 15"/>
          <p:cNvSpPr/>
          <p:nvPr/>
        </p:nvSpPr>
        <p:spPr>
          <a:xfrm>
            <a:off x="4210050" y="1293011"/>
            <a:ext cx="2125259" cy="2214422"/>
          </a:xfrm>
          <a:prstGeom prst="rect">
            <a:avLst/>
          </a:prstGeom>
          <a:solidFill>
            <a:srgbClr val="00A4D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Germany</a:t>
            </a:r>
          </a:p>
          <a:p>
            <a:pPr algn="ctr"/>
            <a:r>
              <a:rPr sz="1100" b="0">
                <a:solidFill>
                  <a:srgbClr val="FFFFFF"/>
                </a:solidFill>
                <a:latin typeface="Segoe UI"/>
              </a:rPr>
              <a:t>704</a:t>
            </a:r>
          </a:p>
        </p:txBody>
      </p:sp>
      <p:sp>
        <p:nvSpPr>
          <p:cNvPr id="17" name="Rectangle 16"/>
          <p:cNvSpPr/>
          <p:nvPr/>
        </p:nvSpPr>
        <p:spPr>
          <a:xfrm>
            <a:off x="6335309" y="1293011"/>
            <a:ext cx="1618066" cy="2214422"/>
          </a:xfrm>
          <a:prstGeom prst="rect">
            <a:avLst/>
          </a:prstGeom>
          <a:solidFill>
            <a:srgbClr val="6ECFF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France</a:t>
            </a:r>
          </a:p>
          <a:p>
            <a:pPr algn="ctr"/>
            <a:r>
              <a:rPr sz="1100" b="0">
                <a:solidFill>
                  <a:srgbClr val="252423"/>
                </a:solidFill>
                <a:latin typeface="Segoe UI"/>
              </a:rPr>
              <a:t>536</a:t>
            </a:r>
          </a:p>
        </p:txBody>
      </p:sp>
      <p:sp>
        <p:nvSpPr>
          <p:cNvPr id="18" name="Rectangle 17"/>
          <p:cNvSpPr/>
          <p:nvPr/>
        </p:nvSpPr>
        <p:spPr>
          <a:xfrm>
            <a:off x="4210050" y="3507433"/>
            <a:ext cx="1201064" cy="2371176"/>
          </a:xfrm>
          <a:prstGeom prst="rect">
            <a:avLst/>
          </a:prstGeom>
          <a:solidFill>
            <a:srgbClr val="D6CA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Italy</a:t>
            </a:r>
          </a:p>
          <a:p>
            <a:pPr algn="ctr"/>
            <a:r>
              <a:rPr sz="1100" b="0">
                <a:solidFill>
                  <a:srgbClr val="252423"/>
                </a:solidFill>
                <a:latin typeface="Segoe UI"/>
              </a:rPr>
              <a:t>426</a:t>
            </a:r>
          </a:p>
        </p:txBody>
      </p:sp>
      <p:sp>
        <p:nvSpPr>
          <p:cNvPr id="19" name="Rectangle 18"/>
          <p:cNvSpPr/>
          <p:nvPr/>
        </p:nvSpPr>
        <p:spPr>
          <a:xfrm>
            <a:off x="5411114" y="3507433"/>
            <a:ext cx="1186969" cy="2371176"/>
          </a:xfrm>
          <a:prstGeom prst="rect">
            <a:avLst/>
          </a:prstGeom>
          <a:solidFill>
            <a:srgbClr val="EBC4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U.K.</a:t>
            </a:r>
          </a:p>
          <a:p>
            <a:pPr algn="ctr"/>
            <a:r>
              <a:rPr sz="1100" b="0">
                <a:solidFill>
                  <a:srgbClr val="252423"/>
                </a:solidFill>
                <a:latin typeface="Segoe UI"/>
              </a:rPr>
              <a:t>421</a:t>
            </a:r>
          </a:p>
        </p:txBody>
      </p:sp>
      <p:sp>
        <p:nvSpPr>
          <p:cNvPr id="20" name="Rectangle 19"/>
          <p:cNvSpPr/>
          <p:nvPr/>
        </p:nvSpPr>
        <p:spPr>
          <a:xfrm>
            <a:off x="6598083" y="3507433"/>
            <a:ext cx="1355292" cy="1239450"/>
          </a:xfrm>
          <a:prstGeom prst="rect">
            <a:avLst/>
          </a:prstGeom>
          <a:solidFill>
            <a:srgbClr val="EDA28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Spain</a:t>
            </a:r>
          </a:p>
          <a:p>
            <a:pPr algn="ctr"/>
            <a:r>
              <a:rPr sz="1100" b="0">
                <a:solidFill>
                  <a:srgbClr val="252423"/>
                </a:solidFill>
                <a:latin typeface="Segoe UI"/>
              </a:rPr>
              <a:t>251</a:t>
            </a:r>
          </a:p>
        </p:txBody>
      </p:sp>
      <p:sp>
        <p:nvSpPr>
          <p:cNvPr id="21" name="Rectangle 20"/>
          <p:cNvSpPr/>
          <p:nvPr/>
        </p:nvSpPr>
        <p:spPr>
          <a:xfrm>
            <a:off x="6598083" y="4746883"/>
            <a:ext cx="866322" cy="1131726"/>
          </a:xfrm>
          <a:prstGeom prst="rect">
            <a:avLst/>
          </a:prstGeom>
          <a:solidFill>
            <a:srgbClr val="C4E2F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BENELUX</a:t>
            </a:r>
          </a:p>
          <a:p>
            <a:pPr algn="ctr"/>
            <a:r>
              <a:rPr sz="1100" b="0">
                <a:solidFill>
                  <a:srgbClr val="252423"/>
                </a:solidFill>
                <a:latin typeface="Segoe UI"/>
              </a:rPr>
              <a:t>147</a:t>
            </a:r>
          </a:p>
        </p:txBody>
      </p:sp>
      <p:sp>
        <p:nvSpPr>
          <p:cNvPr id="22" name="Rectangle 21"/>
          <p:cNvSpPr/>
          <p:nvPr/>
        </p:nvSpPr>
        <p:spPr>
          <a:xfrm>
            <a:off x="7464405" y="4746883"/>
            <a:ext cx="488970" cy="1131726"/>
          </a:xfrm>
          <a:prstGeom prst="rect">
            <a:avLst/>
          </a:prstGeom>
          <a:solidFill>
            <a:srgbClr val="9AB3C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Nordics</a:t>
            </a:r>
          </a:p>
          <a:p>
            <a:pPr algn="ctr"/>
            <a:r>
              <a:rPr sz="1100" b="0">
                <a:solidFill>
                  <a:srgbClr val="252423"/>
                </a:solidFill>
                <a:latin typeface="Segoe UI"/>
              </a:rPr>
              <a:t>82.8</a:t>
            </a:r>
          </a:p>
        </p:txBody>
      </p:sp>
      <p:sp>
        <p:nvSpPr>
          <p:cNvPr id="23" name="Rectangle 22"/>
          <p:cNvSpPr/>
          <p:nvPr/>
        </p:nvSpPr>
        <p:spPr>
          <a:xfrm>
            <a:off x="8086725" y="1007261"/>
            <a:ext cx="3933825" cy="243686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Top 10 Countries By Absolute Index</a:t>
            </a:r>
          </a:p>
        </p:txBody>
      </p:sp>
      <p:graphicFrame>
        <p:nvGraphicFramePr>
          <p:cNvPr id="25" name="Chart 24"/>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6" name="Rectangle 25"/>
          <p:cNvSpPr/>
          <p:nvPr/>
        </p:nvSpPr>
        <p:spPr>
          <a:xfrm>
            <a:off x="8086725" y="3471510"/>
            <a:ext cx="3933825" cy="246424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7" name="Table 26"/>
          <p:cNvGraphicFramePr>
            <a:graphicFrameLocks noGrp="1"/>
          </p:cNvGraphicFramePr>
          <p:nvPr/>
        </p:nvGraphicFramePr>
        <p:xfrm>
          <a:off x="8096250" y="3547710"/>
          <a:ext cx="3914775" cy="2159452"/>
        </p:xfrm>
        <a:graphic>
          <a:graphicData uri="http://schemas.openxmlformats.org/drawingml/2006/table">
            <a:tbl>
              <a:tblPr>
                <a:tableStyleId>{5C22544A-7EE6-4342-B048-85BDC9FD1C3A}</a:tableStyleId>
              </a:tblPr>
              <a:tblGrid>
                <a:gridCol w="781231"/>
                <a:gridCol w="1200756"/>
                <a:gridCol w="664708"/>
                <a:gridCol w="1268080"/>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Absolute Index</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 Opp (US$ Mn)</a:t>
                      </a:r>
                      <a:endParaRPr sz="1100"/>
                    </a:p>
                  </a:txBody>
                  <a:tcPr marL="47625" marR="38100" marT="19050" marB="19050" anchor="ctr">
                    <a:solidFill>
                      <a:srgbClr val="007BA5"/>
                    </a:solidFill>
                  </a:tcPr>
                </a:tc>
              </a:tr>
              <a:tr h="277741">
                <a:tc>
                  <a:txBody>
                    <a:bodyPr wrap="none"/>
                    <a:lstStyle/>
                    <a:p>
                      <a:pPr algn="l"/>
                      <a:r>
                        <a:rPr sz="1100" b="1">
                          <a:solidFill>
                            <a:srgbClr val="252423"/>
                          </a:solidFill>
                          <a:latin typeface="Segoe UI"/>
                        </a:rPr>
                        <a:t>Germany</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313.8</a:t>
                      </a:r>
                      <a:endParaRPr sz="1100"/>
                    </a:p>
                  </a:txBody>
                  <a:tcPr marL="47625" marR="38100" marT="19050" marB="19050" anchor="ctr">
                    <a:solidFill>
                      <a:srgbClr val="FFFFFF"/>
                    </a:solidFill>
                  </a:tcPr>
                </a:tc>
              </a:tr>
              <a:tr h="277741">
                <a:tc>
                  <a:txBody>
                    <a:bodyPr wrap="none"/>
                    <a:lstStyle/>
                    <a:p>
                      <a:pPr algn="l"/>
                      <a:r>
                        <a:rPr sz="1100" b="1">
                          <a:solidFill>
                            <a:srgbClr val="252423"/>
                          </a:solidFill>
                          <a:latin typeface="Segoe UI"/>
                        </a:rPr>
                        <a:t>France</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232.2</a:t>
                      </a:r>
                      <a:endParaRPr sz="1100"/>
                    </a:p>
                  </a:txBody>
                  <a:tcPr marL="47625" marR="38100" marT="19050" marB="19050" anchor="ctr">
                    <a:solidFill>
                      <a:srgbClr val="F2FAFD"/>
                    </a:solidFill>
                  </a:tcPr>
                </a:tc>
              </a:tr>
              <a:tr h="277741">
                <a:tc>
                  <a:txBody>
                    <a:bodyPr wrap="none"/>
                    <a:lstStyle/>
                    <a:p>
                      <a:pPr algn="l"/>
                      <a:r>
                        <a:rPr sz="1100" b="1">
                          <a:solidFill>
                            <a:srgbClr val="252423"/>
                          </a:solidFill>
                          <a:latin typeface="Segoe UI"/>
                        </a:rPr>
                        <a:t>Italy</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207.7</a:t>
                      </a:r>
                      <a:endParaRPr sz="1100"/>
                    </a:p>
                  </a:txBody>
                  <a:tcPr marL="47625" marR="38100" marT="19050" marB="19050" anchor="ctr">
                    <a:solidFill>
                      <a:srgbClr val="FFFFFF"/>
                    </a:solidFill>
                  </a:tcPr>
                </a:tc>
              </a:tr>
              <a:tr h="277741">
                <a:tc>
                  <a:txBody>
                    <a:bodyPr wrap="none"/>
                    <a:lstStyle/>
                    <a:p>
                      <a:pPr algn="l"/>
                      <a:r>
                        <a:rPr sz="1100" b="1">
                          <a:solidFill>
                            <a:srgbClr val="252423"/>
                          </a:solidFill>
                          <a:latin typeface="Segoe UI"/>
                        </a:rPr>
                        <a:t>U.K.</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181.4</a:t>
                      </a:r>
                      <a:endParaRPr sz="1100"/>
                    </a:p>
                  </a:txBody>
                  <a:tcPr marL="47625" marR="38100" marT="19050" marB="19050" anchor="ctr">
                    <a:solidFill>
                      <a:srgbClr val="F2FAFD"/>
                    </a:solidFill>
                  </a:tcPr>
                </a:tc>
              </a:tr>
              <a:tr h="277741">
                <a:tc>
                  <a:txBody>
                    <a:bodyPr wrap="none"/>
                    <a:lstStyle/>
                    <a:p>
                      <a:pPr algn="l"/>
                      <a:r>
                        <a:rPr sz="1100" b="1">
                          <a:solidFill>
                            <a:srgbClr val="252423"/>
                          </a:solidFill>
                          <a:latin typeface="Segoe UI"/>
                        </a:rPr>
                        <a:t>Spain</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126.1</a:t>
                      </a:r>
                      <a:endParaRPr sz="1100"/>
                    </a:p>
                  </a:txBody>
                  <a:tcPr marL="47625" marR="38100" marT="19050" marB="19050" anchor="ctr">
                    <a:solidFill>
                      <a:srgbClr val="FFFFFF"/>
                    </a:solidFill>
                  </a:tcPr>
                </a:tc>
              </a:tr>
              <a:tr h="277741">
                <a:tc>
                  <a:txBody>
                    <a:bodyPr wrap="none"/>
                    <a:lstStyle/>
                    <a:p>
                      <a:pPr algn="l"/>
                      <a:r>
                        <a:rPr sz="1100" b="1">
                          <a:solidFill>
                            <a:srgbClr val="252423"/>
                          </a:solidFill>
                          <a:latin typeface="Segoe UI"/>
                        </a:rPr>
                        <a:t>BENELUX</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71.0</a:t>
                      </a:r>
                      <a:endParaRPr sz="1100"/>
                    </a:p>
                  </a:txBody>
                  <a:tcPr marL="47625" marR="38100" marT="19050" marB="19050" anchor="ctr">
                    <a:solidFill>
                      <a:srgbClr val="F2FAFD"/>
                    </a:solidFill>
                  </a:tcPr>
                </a:tc>
              </a:tr>
              <a:tr h="277741">
                <a:tc>
                  <a:txBody>
                    <a:bodyPr wrap="none"/>
                    <a:lstStyle/>
                    <a:p>
                      <a:pPr algn="l"/>
                      <a:r>
                        <a:rPr sz="1100" b="1">
                          <a:solidFill>
                            <a:srgbClr val="252423"/>
                          </a:solidFill>
                          <a:latin typeface="Segoe UI"/>
                        </a:rPr>
                        <a:t>Nordics</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36.4</a:t>
                      </a:r>
                      <a:endParaRPr sz="1100"/>
                    </a:p>
                  </a:txBody>
                  <a:tcPr marL="47625" marR="38100" marT="19050" marB="19050" anchor="ctr">
                    <a:solidFill>
                      <a:srgbClr val="FFFFFF"/>
                    </a:solidFill>
                  </a:tcPr>
                </a:tc>
              </a:tr>
            </a:tbl>
          </a:graphicData>
        </a:graphic>
      </p:graphicFrame>
      <p:sp>
        <p:nvSpPr>
          <p:cNvPr id="28" name="TextBox 27"/>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29" name="Rectangle 28"/>
          <p:cNvSpPr/>
          <p:nvPr/>
        </p:nvSpPr>
        <p:spPr>
          <a:xfrm>
            <a:off x="142875" y="6027028"/>
            <a:ext cx="10858500" cy="60237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Germany performance knitted fabrics market is projected to register 1.3X higher value than France in 2036. Spain posts the highest CAGR Index (114), growing at 7.2% against the Western Europe benchmark, while Germany offers the largest absolute opportunity 313.8 US$ Mn of incremental market between 2026 and 2036 (26% of the Western Europe increment).</a:t>
            </a:r>
          </a:p>
        </p:txBody>
      </p:sp>
      <p:sp>
        <p:nvSpPr>
          <p:cNvPr id="30" name="TextBox 2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Supply Side Trends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recent developments, investments and R&amp;D activity shaping the supply side of the market</a:t>
            </a:r>
          </a:p>
        </p:txBody>
      </p:sp>
      <p:sp>
        <p:nvSpPr>
          <p:cNvPr id="8" name="Rectangle 7"/>
          <p:cNvSpPr/>
          <p:nvPr/>
        </p:nvSpPr>
        <p:spPr>
          <a:xfrm>
            <a:off x="142875" y="981075"/>
            <a:ext cx="58769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Recent Developments &amp; Key Industry Activities</a:t>
            </a:r>
          </a:p>
        </p:txBody>
      </p:sp>
      <p:sp>
        <p:nvSpPr>
          <p:cNvPr id="10" name="Rectangle 9"/>
          <p:cNvSpPr/>
          <p:nvPr/>
        </p:nvSpPr>
        <p:spPr>
          <a:xfrm>
            <a:off x="276225"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Capacity and product development are concentrating in 'Warp Knitted Fabrics' and Rest of Western Europe.</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Portfolio expansion tracks the shift toward higher-growth fabric construction categories.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Commercial focus is intensifying across Germany and Rest of Western Europe.</a:t>
            </a:r>
          </a:p>
        </p:txBody>
      </p:sp>
      <p:sp>
        <p:nvSpPr>
          <p:cNvPr id="12" name="Rectangle 11"/>
          <p:cNvSpPr/>
          <p:nvPr/>
        </p:nvSpPr>
        <p:spPr>
          <a:xfrm>
            <a:off x="6172200" y="981075"/>
            <a:ext cx="58769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14" name="Rectangle 13"/>
          <p:cNvSpPr/>
          <p:nvPr/>
        </p:nvSpPr>
        <p:spPr>
          <a:xfrm>
            <a:off x="6305550"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2026 size 1,450 US$ Mn; 2036 2,673 US$ Mn.</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Forecast CAGR 6.3% (2026–2036).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Lead category 'Weft Knitted Fabrics' 54.0% of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Lead country Germany 26.3%.</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Incremental opportunity 1,222 US$ Mn.</a:t>
            </a:r>
          </a:p>
        </p:txBody>
      </p:sp>
      <p:sp>
        <p:nvSpPr>
          <p:cNvPr id="16" name="Rectangle 15"/>
          <p:cNvSpPr/>
          <p:nvPr/>
        </p:nvSpPr>
        <p:spPr>
          <a:xfrm>
            <a:off x="142875" y="2895600"/>
            <a:ext cx="5876925" cy="1285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5610225" cy="209550"/>
          </a:xfrm>
          <a:prstGeom prst="rect">
            <a:avLst/>
          </a:prstGeom>
          <a:noFill/>
        </p:spPr>
        <p:txBody>
          <a:bodyPr wrap="square" lIns="0" rIns="19050" tIns="9525" bIns="9525">
            <a:spAutoFit/>
          </a:bodyPr>
          <a:lstStyle/>
          <a:p>
            <a:pPr algn="l"/>
            <a:r>
              <a:rPr sz="1300" b="1">
                <a:solidFill>
                  <a:srgbClr val="007BA5"/>
                </a:solidFill>
                <a:latin typeface="Segoe UI"/>
              </a:rPr>
              <a:t>Strategic Acquisitions &amp; New Investments</a:t>
            </a:r>
          </a:p>
        </p:txBody>
      </p:sp>
      <p:sp>
        <p:nvSpPr>
          <p:cNvPr id="18" name="Rectangle 17"/>
          <p:cNvSpPr/>
          <p:nvPr/>
        </p:nvSpPr>
        <p:spPr>
          <a:xfrm>
            <a:off x="276225" y="32194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Investment is flowing toward the fastest-growing tier 'Warp Knitted Fabrics' (6.9%).</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Rest of Western Europe (7.6%) is a priority country for new capacity.</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Scale players anchor around 'Weft Knitted Fabrics' (54.0% share).</a:t>
            </a:r>
          </a:p>
        </p:txBody>
      </p:sp>
      <p:sp>
        <p:nvSpPr>
          <p:cNvPr id="20" name="Rectangle 19"/>
          <p:cNvSpPr/>
          <p:nvPr/>
        </p:nvSpPr>
        <p:spPr>
          <a:xfrm>
            <a:off x="6172200" y="2895600"/>
            <a:ext cx="5876925" cy="1285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2981325"/>
            <a:ext cx="5610225" cy="209550"/>
          </a:xfrm>
          <a:prstGeom prst="rect">
            <a:avLst/>
          </a:prstGeom>
          <a:noFill/>
        </p:spPr>
        <p:txBody>
          <a:bodyPr wrap="square" lIns="0" rIns="19050" tIns="9525" bIns="9525">
            <a:spAutoFit/>
          </a:bodyPr>
          <a:lstStyle/>
          <a:p>
            <a:pPr algn="l"/>
            <a:r>
              <a:rPr sz="1300" b="1">
                <a:solidFill>
                  <a:srgbClr val="007BA5"/>
                </a:solidFill>
                <a:latin typeface="Segoe UI"/>
              </a:rPr>
              <a:t>Substantial Investment in R&amp;D</a:t>
            </a:r>
          </a:p>
        </p:txBody>
      </p:sp>
      <p:sp>
        <p:nvSpPr>
          <p:cNvPr id="22" name="Rectangle 21"/>
          <p:cNvSpPr/>
          <p:nvPr/>
        </p:nvSpPr>
        <p:spPr>
          <a:xfrm>
            <a:off x="6305550" y="32194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R&amp;D aligns with the migration to 'Warp Knitted Fabrics' and adjacent premium tiers.</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Development spend targets fabric construction categories gaining share to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Innovation underpins the 6.3% forecast CAGR.</a:t>
            </a:r>
          </a:p>
        </p:txBody>
      </p:sp>
      <p:sp>
        <p:nvSpPr>
          <p:cNvPr id="24" name="Rectangle 23"/>
          <p:cNvSpPr/>
          <p:nvPr/>
        </p:nvSpPr>
        <p:spPr>
          <a:xfrm>
            <a:off x="142875" y="4314825"/>
            <a:ext cx="11906250" cy="22955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8125" y="437197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structure fabric construction share (2036)</a:t>
            </a:r>
          </a:p>
        </p:txBody>
      </p:sp>
      <p:graphicFrame>
        <p:nvGraphicFramePr>
          <p:cNvPr id="26" name="Chart 25"/>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r:id="rId3"/>
          </a:graphicData>
        </a:graphic>
      </p:graphicFrame>
      <p:sp>
        <p:nvSpPr>
          <p:cNvPr id="27" name="TextBox 26"/>
          <p:cNvSpPr txBox="1"/>
          <p:nvPr/>
        </p:nvSpPr>
        <p:spPr>
          <a:xfrm>
            <a:off x="3871570" y="5462588"/>
            <a:ext cx="934136" cy="228600"/>
          </a:xfrm>
          <a:prstGeom prst="rect">
            <a:avLst/>
          </a:prstGeom>
          <a:noFill/>
        </p:spPr>
        <p:txBody>
          <a:bodyPr wrap="square" lIns="28575" rIns="28575" tIns="9525" bIns="9525" anchor="ctr">
            <a:spAutoFit/>
          </a:bodyPr>
          <a:lstStyle/>
          <a:p>
            <a:pPr algn="ctr"/>
            <a:r>
              <a:rPr sz="1300" b="1">
                <a:solidFill>
                  <a:srgbClr val="252423"/>
                </a:solidFill>
                <a:latin typeface="Segoe UI"/>
              </a:rPr>
              <a:t>2036</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Analysis and Recommendation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the market approach, differentiating strategy and FMI's analysis and recommendation</a:t>
            </a:r>
          </a:p>
        </p:txBody>
      </p:sp>
      <p:sp>
        <p:nvSpPr>
          <p:cNvPr id="8" name="Rectangle 7"/>
          <p:cNvSpPr/>
          <p:nvPr/>
        </p:nvSpPr>
        <p:spPr>
          <a:xfrm>
            <a:off x="142875" y="981075"/>
            <a:ext cx="58769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Overall Market Approach</a:t>
            </a:r>
          </a:p>
        </p:txBody>
      </p:sp>
      <p:sp>
        <p:nvSpPr>
          <p:cNvPr id="10" name="Rectangle 9"/>
          <p:cNvSpPr/>
          <p:nvPr/>
        </p:nvSpPr>
        <p:spPr>
          <a:xfrm>
            <a:off x="276225"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Balance scale in 'Weft Knitted Fabrics' with targeted growth in 'Warp Knitted Fabrics', pursuing the 6.3% CAGR trajectory to 2036.</a:t>
            </a:r>
          </a:p>
        </p:txBody>
      </p:sp>
      <p:sp>
        <p:nvSpPr>
          <p:cNvPr id="12" name="Rectangle 11"/>
          <p:cNvSpPr/>
          <p:nvPr/>
        </p:nvSpPr>
        <p:spPr>
          <a:xfrm>
            <a:off x="6172200" y="981075"/>
            <a:ext cx="58769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Differentiating Strategy</a:t>
            </a:r>
          </a:p>
        </p:txBody>
      </p:sp>
      <p:sp>
        <p:nvSpPr>
          <p:cNvPr id="14" name="Rectangle 13"/>
          <p:cNvSpPr/>
          <p:nvPr/>
        </p:nvSpPr>
        <p:spPr>
          <a:xfrm>
            <a:off x="6305550"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Differentiate through the high-growth 'Warp Knitted Fabrics' tier and Industrial &amp; Technical Applications within end-use application.</a:t>
            </a:r>
          </a:p>
        </p:txBody>
      </p:sp>
      <p:sp>
        <p:nvSpPr>
          <p:cNvPr id="16" name="Rectangle 15"/>
          <p:cNvSpPr/>
          <p:nvPr/>
        </p:nvSpPr>
        <p:spPr>
          <a:xfrm>
            <a:off x="142875" y="2857500"/>
            <a:ext cx="5876925" cy="1562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43225"/>
            <a:ext cx="5610225" cy="209550"/>
          </a:xfrm>
          <a:prstGeom prst="rect">
            <a:avLst/>
          </a:prstGeom>
          <a:noFill/>
        </p:spPr>
        <p:txBody>
          <a:bodyPr wrap="square" lIns="0" rIns="19050" tIns="9525" bIns="9525">
            <a:spAutoFit/>
          </a:bodyPr>
          <a:lstStyle/>
          <a:p>
            <a:pPr algn="l"/>
            <a:r>
              <a:rPr sz="1300" b="1">
                <a:solidFill>
                  <a:srgbClr val="007BA5"/>
                </a:solidFill>
                <a:latin typeface="Segoe UI"/>
              </a:rPr>
              <a:t>Market Segment</a:t>
            </a:r>
          </a:p>
        </p:txBody>
      </p:sp>
      <p:sp>
        <p:nvSpPr>
          <p:cNvPr id="18" name="Rectangle 17"/>
          <p:cNvSpPr/>
          <p:nvPr/>
        </p:nvSpPr>
        <p:spPr>
          <a:xfrm>
            <a:off x="276225" y="31813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Prioritise 'Warp Knitted Fabrics' (6.9%); 'Weft Knitted Fabrics' anchors 54.0% of value.</a:t>
            </a:r>
          </a:p>
        </p:txBody>
      </p:sp>
      <p:sp>
        <p:nvSpPr>
          <p:cNvPr id="20" name="Rectangle 19"/>
          <p:cNvSpPr/>
          <p:nvPr/>
        </p:nvSpPr>
        <p:spPr>
          <a:xfrm>
            <a:off x="6172200" y="2857500"/>
            <a:ext cx="5876925" cy="1562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2943225"/>
            <a:ext cx="5610225" cy="209550"/>
          </a:xfrm>
          <a:prstGeom prst="rect">
            <a:avLst/>
          </a:prstGeom>
          <a:noFill/>
        </p:spPr>
        <p:txBody>
          <a:bodyPr wrap="square" lIns="0" rIns="19050" tIns="9525" bIns="9525">
            <a:spAutoFit/>
          </a:bodyPr>
          <a:lstStyle/>
          <a:p>
            <a:pPr algn="l"/>
            <a:r>
              <a:rPr sz="1300" b="1">
                <a:solidFill>
                  <a:srgbClr val="007BA5"/>
                </a:solidFill>
                <a:latin typeface="Segoe UI"/>
              </a:rPr>
              <a:t>Market Country</a:t>
            </a:r>
          </a:p>
        </p:txBody>
      </p:sp>
      <p:sp>
        <p:nvSpPr>
          <p:cNvPr id="22" name="Rectangle 21"/>
          <p:cNvSpPr/>
          <p:nvPr/>
        </p:nvSpPr>
        <p:spPr>
          <a:xfrm>
            <a:off x="6305550" y="31813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Lead with Germany (26.3%); capture upside in Rest of Western Europe (7.6%).</a:t>
            </a:r>
          </a:p>
        </p:txBody>
      </p:sp>
      <p:sp>
        <p:nvSpPr>
          <p:cNvPr id="24" name="Rectangle 23"/>
          <p:cNvSpPr/>
          <p:nvPr/>
        </p:nvSpPr>
        <p:spPr>
          <a:xfrm>
            <a:off x="142875" y="4552950"/>
            <a:ext cx="11906250" cy="2057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07BA5"/>
                </a:solidFill>
                <a:latin typeface="Segoe UI"/>
              </a:rPr>
              <a:t>Fact.MR Analysis &amp; Recommendation</a:t>
            </a:r>
          </a:p>
        </p:txBody>
      </p:sp>
      <p:sp>
        <p:nvSpPr>
          <p:cNvPr id="26" name="Rectangle 25"/>
          <p:cNvSpPr/>
          <p:nvPr/>
        </p:nvSpPr>
        <p:spPr>
          <a:xfrm>
            <a:off x="276225" y="48768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Performance Knitted Fabrics adds 1,222 US$ Mn of demand to 2036 a 1.8× expansion.</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Concentrate resources on the leading segment/country while seeding the fastest-growing pockets early.</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Defend share in 'Weft Knitted Fabrics' as the value anchor of the portfolio.</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Performance Knitted Fabrics – Country Outlook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Regional analysis of size, growth and share across 8 countries, highlighting where value concentrates,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Western Europe</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By Country view breaks the Western Europe market down geographically. Each country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Country</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Germany</a:t>
            </a:r>
          </a:p>
        </p:txBody>
      </p:sp>
      <p:sp>
        <p:nvSpPr>
          <p:cNvPr id="21" name="Rectangle 20"/>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390.4</a:t>
            </a:r>
          </a:p>
        </p:txBody>
      </p:sp>
      <p:sp>
        <p:nvSpPr>
          <p:cNvPr id="22" name="Rectangle 21"/>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704.2</a:t>
            </a:r>
          </a:p>
        </p:txBody>
      </p:sp>
      <p:sp>
        <p:nvSpPr>
          <p:cNvPr id="23" name="Rectangle 22"/>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6.1%</a:t>
            </a:r>
          </a:p>
        </p:txBody>
      </p:sp>
      <p:sp>
        <p:nvSpPr>
          <p:cNvPr id="24" name="Oval 23"/>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France</a:t>
            </a:r>
          </a:p>
        </p:txBody>
      </p:sp>
      <p:sp>
        <p:nvSpPr>
          <p:cNvPr id="28" name="Rectangle 27"/>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304.0</a:t>
            </a:r>
          </a:p>
        </p:txBody>
      </p:sp>
      <p:sp>
        <p:nvSpPr>
          <p:cNvPr id="29" name="Rectangle 28"/>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536.1</a:t>
            </a:r>
          </a:p>
        </p:txBody>
      </p:sp>
      <p:sp>
        <p:nvSpPr>
          <p:cNvPr id="30" name="Rectangle 29"/>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5.8%</a:t>
            </a:r>
          </a:p>
        </p:txBody>
      </p:sp>
      <p:sp>
        <p:nvSpPr>
          <p:cNvPr id="31" name="Oval 30"/>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U.K.</a:t>
            </a:r>
          </a:p>
        </p:txBody>
      </p:sp>
      <p:sp>
        <p:nvSpPr>
          <p:cNvPr id="35" name="Rectangle 34"/>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239.7</a:t>
            </a:r>
          </a:p>
        </p:txBody>
      </p:sp>
      <p:sp>
        <p:nvSpPr>
          <p:cNvPr id="36" name="Rectangle 35"/>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421.1</a:t>
            </a:r>
          </a:p>
        </p:txBody>
      </p:sp>
      <p:sp>
        <p:nvSpPr>
          <p:cNvPr id="37" name="Rectangle 36"/>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5.8%</a:t>
            </a:r>
          </a:p>
        </p:txBody>
      </p:sp>
      <p:sp>
        <p:nvSpPr>
          <p:cNvPr id="38" name="Oval 37"/>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Italy</a:t>
            </a:r>
          </a:p>
        </p:txBody>
      </p:sp>
      <p:sp>
        <p:nvSpPr>
          <p:cNvPr id="42" name="Rectangle 41"/>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218.5</a:t>
            </a:r>
          </a:p>
        </p:txBody>
      </p:sp>
      <p:sp>
        <p:nvSpPr>
          <p:cNvPr id="43" name="Rectangle 42"/>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426.1</a:t>
            </a:r>
          </a:p>
        </p:txBody>
      </p:sp>
      <p:sp>
        <p:nvSpPr>
          <p:cNvPr id="44" name="Rectangle 43"/>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6.9%</a:t>
            </a:r>
          </a:p>
        </p:txBody>
      </p:sp>
      <p:sp>
        <p:nvSpPr>
          <p:cNvPr id="45" name="Oval 44"/>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8" name="Rectangle 47"/>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Germany performance knitted fabrics market is projected to register 1.3X higher value than France in 2036. Among performance knitted fabrics by country, Spain is expected to witness the highest CAGR of 7.2% over the forecast period.</a:t>
            </a:r>
          </a:p>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In terms of value share by country, Germany is expected to dominate the market, losing 47 BPS and accounting for 27.4% share by 2036. France is expected to lose 84 BPS over the forecast period to account for 20.9% share by 2036.</a:t>
            </a:r>
          </a:p>
        </p:txBody>
      </p:sp>
      <p:sp>
        <p:nvSpPr>
          <p:cNvPr id="50" name="Rounded Rectangle 49"/>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2" name="Rectangle 51"/>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Germany: </a:t>
            </a:r>
            <a:r>
              <a:rPr sz="1100" b="0">
                <a:solidFill>
                  <a:srgbClr val="252423"/>
                </a:solidFill>
                <a:latin typeface="Segoe UI"/>
              </a:rPr>
              <a:t>27% of 2026 value · 6.1% CAGR leads the market.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France: </a:t>
            </a:r>
            <a:r>
              <a:rPr sz="1100" b="0">
                <a:solidFill>
                  <a:srgbClr val="252423"/>
                </a:solidFill>
                <a:latin typeface="Segoe UI"/>
              </a:rPr>
              <a:t>21% of 2026 value · 5.8% CAGR a smaller market.</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U.K.: </a:t>
            </a:r>
            <a:r>
              <a:rPr sz="1100" b="0">
                <a:solidFill>
                  <a:srgbClr val="252423"/>
                </a:solidFill>
                <a:latin typeface="Segoe UI"/>
              </a:rPr>
              <a:t>17% of 2026 value · 5.8% CAGR a smaller market.</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Italy: </a:t>
            </a:r>
            <a:r>
              <a:rPr sz="1100" b="0">
                <a:solidFill>
                  <a:srgbClr val="252423"/>
                </a:solidFill>
                <a:latin typeface="Segoe UI"/>
              </a:rPr>
              <a:t>15% of 2026 value · 6.9% CAGR a smaller market.</a:t>
            </a:r>
          </a:p>
        </p:txBody>
      </p:sp>
      <p:sp>
        <p:nvSpPr>
          <p:cNvPr id="54" name="Rounded Rectangle 53"/>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6" name="Rectangle 55"/>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By Country split shows where market value concentrates and where growth is fastest.</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demand and access dynamics are rebalancing the geographic mix through 2036.</a:t>
            </a:r>
          </a:p>
        </p:txBody>
      </p:sp>
      <p:sp>
        <p:nvSpPr>
          <p:cNvPr id="58" name="Rectangle 57"/>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Western Europe market is projected to grow at a CAGR of 6.3% from 2026 to 2036.</a:t>
            </a:r>
          </a:p>
        </p:txBody>
      </p:sp>
      <p:sp>
        <p:nvSpPr>
          <p:cNvPr id="60" name="TextBox 59"/>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1" name="TextBox 6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Performance Knitted Fabrics – Country Outlook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Regional analysis of size, growth and share across 8 countries, highlighting where value concentrates,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By Country view breaks the Western Europe market down geographically. Each country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Country</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2414588"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2414588"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Spain</a:t>
            </a:r>
          </a:p>
        </p:txBody>
      </p:sp>
      <p:sp>
        <p:nvSpPr>
          <p:cNvPr id="20" name="Rectangle 19"/>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125.3</a:t>
            </a:r>
          </a:p>
        </p:txBody>
      </p:sp>
      <p:sp>
        <p:nvSpPr>
          <p:cNvPr id="21" name="Rectangle 20"/>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251.4</a:t>
            </a:r>
          </a:p>
        </p:txBody>
      </p:sp>
      <p:sp>
        <p:nvSpPr>
          <p:cNvPr id="22" name="Rectangle 21"/>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7.2%</a:t>
            </a:r>
          </a:p>
        </p:txBody>
      </p:sp>
      <p:sp>
        <p:nvSpPr>
          <p:cNvPr id="23" name="Oval 22"/>
          <p:cNvSpPr/>
          <p:nvPr/>
        </p:nvSpPr>
        <p:spPr>
          <a:xfrm>
            <a:off x="2912269"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24" name="Rounded Rectangle 23"/>
          <p:cNvSpPr/>
          <p:nvPr/>
        </p:nvSpPr>
        <p:spPr>
          <a:xfrm>
            <a:off x="4395788" y="1773916"/>
            <a:ext cx="2414588"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95788" y="1992961"/>
            <a:ext cx="2414588"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BENELUX</a:t>
            </a:r>
          </a:p>
        </p:txBody>
      </p:sp>
      <p:sp>
        <p:nvSpPr>
          <p:cNvPr id="27" name="Rectangle 26"/>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75.7</a:t>
            </a:r>
          </a:p>
        </p:txBody>
      </p:sp>
      <p:sp>
        <p:nvSpPr>
          <p:cNvPr id="28" name="Rectangle 27"/>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146.7</a:t>
            </a:r>
          </a:p>
        </p:txBody>
      </p:sp>
      <p:sp>
        <p:nvSpPr>
          <p:cNvPr id="29" name="Rectangle 28"/>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6.8%</a:t>
            </a:r>
          </a:p>
        </p:txBody>
      </p:sp>
      <p:sp>
        <p:nvSpPr>
          <p:cNvPr id="30" name="Oval 29"/>
          <p:cNvSpPr/>
          <p:nvPr/>
        </p:nvSpPr>
        <p:spPr>
          <a:xfrm>
            <a:off x="5441156"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31" name="Rounded Rectangle 30"/>
          <p:cNvSpPr/>
          <p:nvPr/>
        </p:nvSpPr>
        <p:spPr>
          <a:xfrm>
            <a:off x="6924675" y="1773916"/>
            <a:ext cx="2414588"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924675" y="1992961"/>
            <a:ext cx="2414588"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Rest of Western Europe</a:t>
            </a:r>
          </a:p>
        </p:txBody>
      </p:sp>
      <p:sp>
        <p:nvSpPr>
          <p:cNvPr id="34" name="Rectangle 33"/>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50.3</a:t>
            </a:r>
          </a:p>
        </p:txBody>
      </p:sp>
      <p:sp>
        <p:nvSpPr>
          <p:cNvPr id="35" name="Rectangle 34"/>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104.1</a:t>
            </a:r>
          </a:p>
        </p:txBody>
      </p:sp>
      <p:sp>
        <p:nvSpPr>
          <p:cNvPr id="36" name="Rectangle 35"/>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7.6%</a:t>
            </a:r>
          </a:p>
        </p:txBody>
      </p:sp>
      <p:sp>
        <p:nvSpPr>
          <p:cNvPr id="37" name="Oval 36"/>
          <p:cNvSpPr/>
          <p:nvPr/>
        </p:nvSpPr>
        <p:spPr>
          <a:xfrm>
            <a:off x="7970044"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38" name="Rounded Rectangle 37"/>
          <p:cNvSpPr/>
          <p:nvPr/>
        </p:nvSpPr>
        <p:spPr>
          <a:xfrm>
            <a:off x="9453562"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53562"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Nordics</a:t>
            </a:r>
          </a:p>
        </p:txBody>
      </p:sp>
      <p:sp>
        <p:nvSpPr>
          <p:cNvPr id="41" name="Rectangle 40"/>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46.4</a:t>
            </a:r>
          </a:p>
        </p:txBody>
      </p:sp>
      <p:sp>
        <p:nvSpPr>
          <p:cNvPr id="42" name="Rectangle 41"/>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82.8</a:t>
            </a:r>
          </a:p>
        </p:txBody>
      </p:sp>
      <p:sp>
        <p:nvSpPr>
          <p:cNvPr id="43" name="Rectangle 42"/>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6.0%</a:t>
            </a:r>
          </a:p>
        </p:txBody>
      </p:sp>
      <p:sp>
        <p:nvSpPr>
          <p:cNvPr id="44" name="Oval 43"/>
          <p:cNvSpPr/>
          <p:nvPr/>
        </p:nvSpPr>
        <p:spPr>
          <a:xfrm>
            <a:off x="10498931"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8</a:t>
            </a:r>
          </a:p>
        </p:txBody>
      </p:sp>
      <p:sp>
        <p:nvSpPr>
          <p:cNvPr id="45" name="Rounded Rectangle 44"/>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7" name="Rectangle 46"/>
          <p:cNvSpPr/>
          <p:nvPr/>
        </p:nvSpPr>
        <p:spPr>
          <a:xfrm>
            <a:off x="457200" y="4146897"/>
            <a:ext cx="112776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Spain: </a:t>
            </a:r>
            <a:r>
              <a:rPr sz="1100" b="0">
                <a:solidFill>
                  <a:srgbClr val="252423"/>
                </a:solidFill>
                <a:latin typeface="Segoe UI"/>
              </a:rPr>
              <a:t>9% of 2026 value · 7.2% CAGR a smaller market.</a:t>
            </a:r>
          </a:p>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BENELUX: </a:t>
            </a:r>
            <a:r>
              <a:rPr sz="1100" b="0">
                <a:solidFill>
                  <a:srgbClr val="252423"/>
                </a:solidFill>
                <a:latin typeface="Segoe UI"/>
              </a:rPr>
              <a:t>5% of 2026 value · 6.8% CAGR a smaller market.</a:t>
            </a:r>
          </a:p>
          <a:p>
            <a:pPr algn="l">
              <a:lnSpc>
                <a:spcPct val="110000"/>
              </a:lnSpc>
              <a:spcBef>
                <a:spcPts val="0"/>
              </a:spcBef>
              <a:spcAft>
                <a:spcPts val="500"/>
              </a:spcAft>
            </a:pPr>
            <a:r>
              <a:rPr sz="1100" b="0">
                <a:solidFill>
                  <a:srgbClr val="2C6E7F"/>
                </a:solidFill>
                <a:latin typeface="Segoe UI"/>
              </a:rPr>
              <a:t>●  </a:t>
            </a:r>
            <a:r>
              <a:rPr sz="1100" b="1">
                <a:solidFill>
                  <a:srgbClr val="2C6E7F"/>
                </a:solidFill>
                <a:latin typeface="Segoe UI"/>
              </a:rPr>
              <a:t>Rest of Western Europe: </a:t>
            </a:r>
            <a:r>
              <a:rPr sz="1100" b="0">
                <a:solidFill>
                  <a:srgbClr val="252423"/>
                </a:solidFill>
                <a:latin typeface="Segoe UI"/>
              </a:rPr>
              <a:t>3% of 2026 value · 7.6% CAGR grows fastest.</a:t>
            </a:r>
          </a:p>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Nordics: </a:t>
            </a:r>
            <a:r>
              <a:rPr sz="1100" b="0">
                <a:solidFill>
                  <a:srgbClr val="252423"/>
                </a:solidFill>
                <a:latin typeface="Segoe UI"/>
              </a:rPr>
              <a:t>3% of 2026 value · 6.0% CAGR a smaller market.</a:t>
            </a:r>
          </a:p>
        </p:txBody>
      </p:sp>
      <p:sp>
        <p:nvSpPr>
          <p:cNvPr id="49" name="TextBox 48"/>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50" name="TextBox 4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Performance Knitted Fabrics Market Analysis, By Country Volume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volume share by country in 2026 and 2036, highlighting share gains and losses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Western Europe</a:t>
            </a:r>
          </a:p>
        </p:txBody>
      </p:sp>
      <p:sp>
        <p:nvSpPr>
          <p:cNvPr id="9" name="Rectangle 8"/>
          <p:cNvSpPr/>
          <p:nvPr/>
        </p:nvSpPr>
        <p:spPr>
          <a:xfrm>
            <a:off x="142875" y="981075"/>
            <a:ext cx="6810375"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Share and BPS Assessment By Country, 2026 &amp; 2036</a:t>
            </a:r>
          </a:p>
        </p:txBody>
      </p:sp>
      <p:graphicFrame>
        <p:nvGraphicFramePr>
          <p:cNvPr id="11" name="Chart 10"/>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2" name="TextBox 11"/>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0A4DC"/>
                </a:solidFill>
                <a:latin typeface="Segoe UI"/>
              </a:rPr>
              <a:t>BPS Δ  (2026→2036)</a:t>
            </a:r>
          </a:p>
        </p:txBody>
      </p:sp>
      <p:sp>
        <p:nvSpPr>
          <p:cNvPr id="13" name="FMI Lock Anchor"/>
          <p:cNvSpPr txBox="1"/>
          <p:nvPr/>
        </p:nvSpPr>
        <p:spPr>
          <a:xfrm>
            <a:off x="2489835" y="3352800"/>
            <a:ext cx="38100" cy="38100"/>
          </a:xfrm>
          <a:prstGeom prst="rect">
            <a:avLst/>
          </a:prstGeom>
          <a:noFill/>
        </p:spPr>
        <p:txBody>
          <a:bodyPr wrap="none">
            <a:spAutoFit/>
          </a:bodyPr>
          <a:lstStyle/>
          <a:p/>
        </p:txBody>
      </p:sp>
      <p:sp>
        <p:nvSpPr>
          <p:cNvPr id="14" name="FMI Legend Chip"/>
          <p:cNvSpPr/>
          <p:nvPr/>
        </p:nvSpPr>
        <p:spPr>
          <a:xfrm>
            <a:off x="4551045" y="1518408"/>
            <a:ext cx="85725" cy="85725"/>
          </a:xfrm>
          <a:prstGeom prst="rect">
            <a:avLst/>
          </a:prstGeom>
          <a:solidFill>
            <a:srgbClr val="7D7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4712970" y="151364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4855845" y="1437446"/>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Nordics</a:t>
            </a:r>
          </a:p>
        </p:txBody>
      </p:sp>
      <p:sp>
        <p:nvSpPr>
          <p:cNvPr id="17" name="BPS Value 1"/>
          <p:cNvSpPr txBox="1"/>
          <p:nvPr/>
        </p:nvSpPr>
        <p:spPr>
          <a:xfrm>
            <a:off x="6305550" y="1499358"/>
            <a:ext cx="514350" cy="123825"/>
          </a:xfrm>
          <a:prstGeom prst="rect">
            <a:avLst/>
          </a:prstGeom>
          <a:noFill/>
        </p:spPr>
        <p:txBody>
          <a:bodyPr wrap="none" lIns="0" rIns="0" tIns="0" bIns="0" anchor="ctr">
            <a:spAutoFit/>
          </a:bodyPr>
          <a:lstStyle/>
          <a:p>
            <a:pPr algn="r"/>
            <a:r>
              <a:rPr sz="900" b="1">
                <a:solidFill>
                  <a:srgbClr val="D64545"/>
                </a:solidFill>
                <a:latin typeface="Segoe UI"/>
              </a:rPr>
              <a:t>-3</a:t>
            </a:r>
          </a:p>
        </p:txBody>
      </p:sp>
      <p:sp>
        <p:nvSpPr>
          <p:cNvPr id="18" name="FMI Legend Chip"/>
          <p:cNvSpPr/>
          <p:nvPr/>
        </p:nvSpPr>
        <p:spPr>
          <a:xfrm>
            <a:off x="4551045" y="1648868"/>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4712970" y="1644105"/>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4855845" y="1567905"/>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Rest of Western Europe</a:t>
            </a:r>
          </a:p>
        </p:txBody>
      </p:sp>
      <p:sp>
        <p:nvSpPr>
          <p:cNvPr id="21" name="BPS Value 2"/>
          <p:cNvSpPr txBox="1"/>
          <p:nvPr/>
        </p:nvSpPr>
        <p:spPr>
          <a:xfrm>
            <a:off x="6305550" y="1629818"/>
            <a:ext cx="514350" cy="123825"/>
          </a:xfrm>
          <a:prstGeom prst="rect">
            <a:avLst/>
          </a:prstGeom>
          <a:noFill/>
        </p:spPr>
        <p:txBody>
          <a:bodyPr wrap="none" lIns="0" rIns="0" tIns="0" bIns="0" anchor="ctr">
            <a:spAutoFit/>
          </a:bodyPr>
          <a:lstStyle/>
          <a:p>
            <a:pPr algn="r"/>
            <a:r>
              <a:rPr sz="900" b="1">
                <a:solidFill>
                  <a:srgbClr val="1E8E3E"/>
                </a:solidFill>
                <a:latin typeface="Segoe UI"/>
              </a:rPr>
              <a:t>+36</a:t>
            </a:r>
          </a:p>
        </p:txBody>
      </p:sp>
      <p:sp>
        <p:nvSpPr>
          <p:cNvPr id="22" name="FMI Legend Chip"/>
          <p:cNvSpPr/>
          <p:nvPr/>
        </p:nvSpPr>
        <p:spPr>
          <a:xfrm>
            <a:off x="4551045" y="1823612"/>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4712970" y="1818850"/>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4855845" y="1742650"/>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BENELUX</a:t>
            </a:r>
          </a:p>
        </p:txBody>
      </p:sp>
      <p:sp>
        <p:nvSpPr>
          <p:cNvPr id="25" name="BPS Value 3"/>
          <p:cNvSpPr txBox="1"/>
          <p:nvPr/>
        </p:nvSpPr>
        <p:spPr>
          <a:xfrm>
            <a:off x="6305550" y="1804562"/>
            <a:ext cx="514350" cy="123825"/>
          </a:xfrm>
          <a:prstGeom prst="rect">
            <a:avLst/>
          </a:prstGeom>
          <a:noFill/>
        </p:spPr>
        <p:txBody>
          <a:bodyPr wrap="none" lIns="0" rIns="0" tIns="0" bIns="0" anchor="ctr">
            <a:spAutoFit/>
          </a:bodyPr>
          <a:lstStyle/>
          <a:p>
            <a:pPr algn="r"/>
            <a:r>
              <a:rPr sz="900" b="1">
                <a:solidFill>
                  <a:srgbClr val="1E8E3E"/>
                </a:solidFill>
                <a:latin typeface="Segoe UI"/>
              </a:rPr>
              <a:t>+26</a:t>
            </a:r>
          </a:p>
        </p:txBody>
      </p:sp>
      <p:sp>
        <p:nvSpPr>
          <p:cNvPr id="26" name="FMI Legend Chip"/>
          <p:cNvSpPr/>
          <p:nvPr/>
        </p:nvSpPr>
        <p:spPr>
          <a:xfrm>
            <a:off x="4551045" y="2107773"/>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4712970" y="2103010"/>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4855845" y="2026810"/>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Spain</a:t>
            </a:r>
          </a:p>
        </p:txBody>
      </p:sp>
      <p:sp>
        <p:nvSpPr>
          <p:cNvPr id="29" name="BPS Value 4"/>
          <p:cNvSpPr txBox="1"/>
          <p:nvPr/>
        </p:nvSpPr>
        <p:spPr>
          <a:xfrm>
            <a:off x="6305550" y="2088723"/>
            <a:ext cx="514350" cy="123825"/>
          </a:xfrm>
          <a:prstGeom prst="rect">
            <a:avLst/>
          </a:prstGeom>
          <a:noFill/>
        </p:spPr>
        <p:txBody>
          <a:bodyPr wrap="none" lIns="0" rIns="0" tIns="0" bIns="0" anchor="ctr">
            <a:spAutoFit/>
          </a:bodyPr>
          <a:lstStyle/>
          <a:p>
            <a:pPr algn="r"/>
            <a:r>
              <a:rPr sz="900" b="1">
                <a:solidFill>
                  <a:srgbClr val="1E8E3E"/>
                </a:solidFill>
                <a:latin typeface="Segoe UI"/>
              </a:rPr>
              <a:t>+78</a:t>
            </a:r>
          </a:p>
        </p:txBody>
      </p:sp>
      <p:sp>
        <p:nvSpPr>
          <p:cNvPr id="30" name="FMI Legend Chip"/>
          <p:cNvSpPr/>
          <p:nvPr/>
        </p:nvSpPr>
        <p:spPr>
          <a:xfrm>
            <a:off x="4551045" y="2554789"/>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4712970" y="2550026"/>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4855845" y="2473826"/>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Italy</a:t>
            </a:r>
          </a:p>
        </p:txBody>
      </p:sp>
      <p:sp>
        <p:nvSpPr>
          <p:cNvPr id="33" name="BPS Value 5"/>
          <p:cNvSpPr txBox="1"/>
          <p:nvPr/>
        </p:nvSpPr>
        <p:spPr>
          <a:xfrm>
            <a:off x="6305550" y="2535739"/>
            <a:ext cx="514350" cy="123825"/>
          </a:xfrm>
          <a:prstGeom prst="rect">
            <a:avLst/>
          </a:prstGeom>
          <a:noFill/>
        </p:spPr>
        <p:txBody>
          <a:bodyPr wrap="none" lIns="0" rIns="0" tIns="0" bIns="0" anchor="ctr">
            <a:spAutoFit/>
          </a:bodyPr>
          <a:lstStyle/>
          <a:p>
            <a:pPr algn="r"/>
            <a:r>
              <a:rPr sz="900" b="1">
                <a:solidFill>
                  <a:srgbClr val="1E8E3E"/>
                </a:solidFill>
                <a:latin typeface="Segoe UI"/>
              </a:rPr>
              <a:t>+16</a:t>
            </a:r>
          </a:p>
        </p:txBody>
      </p:sp>
      <p:sp>
        <p:nvSpPr>
          <p:cNvPr id="34" name="FMI Legend Chip"/>
          <p:cNvSpPr/>
          <p:nvPr/>
        </p:nvSpPr>
        <p:spPr>
          <a:xfrm>
            <a:off x="4551045" y="3114373"/>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rot="10800000">
            <a:off x="4712970" y="310961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4855845" y="3033410"/>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U.K.</a:t>
            </a:r>
          </a:p>
        </p:txBody>
      </p:sp>
      <p:sp>
        <p:nvSpPr>
          <p:cNvPr id="37" name="BPS Value 6"/>
          <p:cNvSpPr txBox="1"/>
          <p:nvPr/>
        </p:nvSpPr>
        <p:spPr>
          <a:xfrm>
            <a:off x="6305550" y="3095323"/>
            <a:ext cx="514350" cy="123825"/>
          </a:xfrm>
          <a:prstGeom prst="rect">
            <a:avLst/>
          </a:prstGeom>
          <a:noFill/>
        </p:spPr>
        <p:txBody>
          <a:bodyPr wrap="none" lIns="0" rIns="0" tIns="0" bIns="0" anchor="ctr">
            <a:spAutoFit/>
          </a:bodyPr>
          <a:lstStyle/>
          <a:p>
            <a:pPr algn="r"/>
            <a:r>
              <a:rPr sz="900" b="1">
                <a:solidFill>
                  <a:srgbClr val="D64545"/>
                </a:solidFill>
                <a:latin typeface="Segoe UI"/>
              </a:rPr>
              <a:t>-75</a:t>
            </a:r>
          </a:p>
        </p:txBody>
      </p:sp>
      <p:sp>
        <p:nvSpPr>
          <p:cNvPr id="38" name="FMI Legend Chip"/>
          <p:cNvSpPr/>
          <p:nvPr/>
        </p:nvSpPr>
        <p:spPr>
          <a:xfrm>
            <a:off x="4551045" y="3788039"/>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rot="10800000">
            <a:off x="4712970" y="378327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4855845" y="3707076"/>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France</a:t>
            </a:r>
          </a:p>
        </p:txBody>
      </p:sp>
      <p:sp>
        <p:nvSpPr>
          <p:cNvPr id="41" name="BPS Value 7"/>
          <p:cNvSpPr txBox="1"/>
          <p:nvPr/>
        </p:nvSpPr>
        <p:spPr>
          <a:xfrm>
            <a:off x="6305550" y="3768989"/>
            <a:ext cx="514350" cy="123825"/>
          </a:xfrm>
          <a:prstGeom prst="rect">
            <a:avLst/>
          </a:prstGeom>
          <a:noFill/>
        </p:spPr>
        <p:txBody>
          <a:bodyPr wrap="none" lIns="0" rIns="0" tIns="0" bIns="0" anchor="ctr">
            <a:spAutoFit/>
          </a:bodyPr>
          <a:lstStyle/>
          <a:p>
            <a:pPr algn="r"/>
            <a:r>
              <a:rPr sz="900" b="1">
                <a:solidFill>
                  <a:srgbClr val="D64545"/>
                </a:solidFill>
                <a:latin typeface="Segoe UI"/>
              </a:rPr>
              <a:t>-47</a:t>
            </a:r>
          </a:p>
        </p:txBody>
      </p:sp>
      <p:sp>
        <p:nvSpPr>
          <p:cNvPr id="42" name="FMI Legend Chip"/>
          <p:cNvSpPr/>
          <p:nvPr/>
        </p:nvSpPr>
        <p:spPr>
          <a:xfrm>
            <a:off x="4551045" y="4647397"/>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Isosceles Triangle 42"/>
          <p:cNvSpPr/>
          <p:nvPr/>
        </p:nvSpPr>
        <p:spPr>
          <a:xfrm rot="10800000">
            <a:off x="4712970" y="464263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PS Name 8"/>
          <p:cNvSpPr txBox="1"/>
          <p:nvPr/>
        </p:nvSpPr>
        <p:spPr>
          <a:xfrm>
            <a:off x="4855845" y="4566434"/>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Germany</a:t>
            </a:r>
          </a:p>
        </p:txBody>
      </p:sp>
      <p:sp>
        <p:nvSpPr>
          <p:cNvPr id="45" name="BPS Value 8"/>
          <p:cNvSpPr txBox="1"/>
          <p:nvPr/>
        </p:nvSpPr>
        <p:spPr>
          <a:xfrm>
            <a:off x="6305550" y="4628347"/>
            <a:ext cx="514350" cy="123825"/>
          </a:xfrm>
          <a:prstGeom prst="rect">
            <a:avLst/>
          </a:prstGeom>
          <a:noFill/>
        </p:spPr>
        <p:txBody>
          <a:bodyPr wrap="none" lIns="0" rIns="0" tIns="0" bIns="0" anchor="ctr">
            <a:spAutoFit/>
          </a:bodyPr>
          <a:lstStyle/>
          <a:p>
            <a:pPr algn="r"/>
            <a:r>
              <a:rPr sz="900" b="1">
                <a:solidFill>
                  <a:srgbClr val="D64545"/>
                </a:solidFill>
                <a:latin typeface="Segoe UI"/>
              </a:rPr>
              <a:t>-32</a:t>
            </a:r>
          </a:p>
        </p:txBody>
      </p:sp>
      <p:sp>
        <p:nvSpPr>
          <p:cNvPr id="46" name="Rectangle 45"/>
          <p:cNvSpPr/>
          <p:nvPr/>
        </p:nvSpPr>
        <p:spPr>
          <a:xfrm>
            <a:off x="7105650" y="981075"/>
            <a:ext cx="4933950"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07BA5"/>
                </a:solidFill>
                <a:latin typeface="Segoe UI"/>
              </a:rPr>
              <a:t>Regional Highlights</a:t>
            </a:r>
          </a:p>
        </p:txBody>
      </p:sp>
      <p:sp>
        <p:nvSpPr>
          <p:cNvPr id="48" name="Rectangle 47"/>
          <p:cNvSpPr/>
          <p:nvPr/>
        </p:nvSpPr>
        <p:spPr>
          <a:xfrm>
            <a:off x="7239000" y="1304925"/>
            <a:ext cx="46672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Germany performance knitted fabrics market is projected to register 1.3X higher volume than France in 2036. Among performance knitted fabrics by country, Spain is expected to witness the highest CAGR of 5.7% over the forecast period.</a:t>
            </a:r>
          </a:p>
          <a:p>
            <a:pPr algn="l">
              <a:lnSpc>
                <a:spcPct val="110000"/>
              </a:lnSpc>
              <a:spcBef>
                <a:spcPts val="0"/>
              </a:spcBef>
              <a:spcAft>
                <a:spcPts val="500"/>
              </a:spcAft>
            </a:pPr>
            <a:r>
              <a:rPr sz="1150" b="0">
                <a:solidFill>
                  <a:srgbClr val="252423"/>
                </a:solidFill>
                <a:latin typeface="Segoe UI"/>
              </a:rPr>
              <a:t>In terms of volume share by country, Germany is expected to dominate the market, losing 22 BPS and accounting for 27.4% share by 2036. U.K. is expected to lose 72 BPS over the forecast period to account for 16.8% share by 2036.</a:t>
            </a:r>
          </a:p>
        </p:txBody>
      </p:sp>
      <p:sp>
        <p:nvSpPr>
          <p:cNvPr id="50" name="Rounded Rectangle 49"/>
          <p:cNvSpPr/>
          <p:nvPr/>
        </p:nvSpPr>
        <p:spPr>
          <a:xfrm>
            <a:off x="142875" y="5648325"/>
            <a:ext cx="3943350"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TOTAL (MN SQ. YARDS)</a:t>
            </a:r>
          </a:p>
          <a:p>
            <a:pPr algn="ctr">
              <a:lnSpc>
                <a:spcPct val="95000"/>
              </a:lnSpc>
            </a:pPr>
            <a:r>
              <a:rPr sz="2000" b="1">
                <a:solidFill>
                  <a:srgbClr val="00A4DC"/>
                </a:solidFill>
                <a:latin typeface="Segoe UI"/>
              </a:rPr>
              <a:t>357.2</a:t>
            </a:r>
          </a:p>
        </p:txBody>
      </p:sp>
      <p:sp>
        <p:nvSpPr>
          <p:cNvPr id="51" name="Rounded Rectangle 50"/>
          <p:cNvSpPr/>
          <p:nvPr/>
        </p:nvSpPr>
        <p:spPr>
          <a:xfrm>
            <a:off x="4238625"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TOTAL (MN SQ. YARDS)</a:t>
            </a:r>
          </a:p>
          <a:p>
            <a:pPr algn="ctr">
              <a:lnSpc>
                <a:spcPct val="95000"/>
              </a:lnSpc>
            </a:pPr>
            <a:r>
              <a:rPr sz="2000" b="1">
                <a:solidFill>
                  <a:srgbClr val="00A4DC"/>
                </a:solidFill>
                <a:latin typeface="Segoe UI"/>
              </a:rPr>
              <a:t>571.4</a:t>
            </a:r>
          </a:p>
        </p:txBody>
      </p:sp>
      <p:sp>
        <p:nvSpPr>
          <p:cNvPr id="52" name="Rounded Rectangle 51"/>
          <p:cNvSpPr/>
          <p:nvPr/>
        </p:nvSpPr>
        <p:spPr>
          <a:xfrm>
            <a:off x="8210550"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2000" b="1">
                <a:solidFill>
                  <a:srgbClr val="00A4DC"/>
                </a:solidFill>
                <a:latin typeface="Segoe UI"/>
              </a:rPr>
              <a:t>4.8%</a:t>
            </a:r>
          </a:p>
        </p:txBody>
      </p:sp>
      <p:sp>
        <p:nvSpPr>
          <p:cNvPr id="53" name="TextBox 5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Performance Knitted Fabrics Market Analysis, By Country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value share by country in 2026 and 2036, highlighting share gains and losses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Western Europe</a:t>
            </a:r>
          </a:p>
        </p:txBody>
      </p:sp>
      <p:sp>
        <p:nvSpPr>
          <p:cNvPr id="9" name="Rectangle 8"/>
          <p:cNvSpPr/>
          <p:nvPr/>
        </p:nvSpPr>
        <p:spPr>
          <a:xfrm>
            <a:off x="142875" y="981075"/>
            <a:ext cx="6810375"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Share and BPS Assessment By Country, 2026 &amp; 2036</a:t>
            </a:r>
          </a:p>
        </p:txBody>
      </p:sp>
      <p:graphicFrame>
        <p:nvGraphicFramePr>
          <p:cNvPr id="11" name="Chart 10"/>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2" name="TextBox 11"/>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0A4DC"/>
                </a:solidFill>
                <a:latin typeface="Segoe UI"/>
              </a:rPr>
              <a:t>BPS Δ  (2026→2036)</a:t>
            </a:r>
          </a:p>
        </p:txBody>
      </p:sp>
      <p:sp>
        <p:nvSpPr>
          <p:cNvPr id="13" name="FMI Lock Anchor"/>
          <p:cNvSpPr txBox="1"/>
          <p:nvPr/>
        </p:nvSpPr>
        <p:spPr>
          <a:xfrm>
            <a:off x="2489835" y="3352800"/>
            <a:ext cx="38100" cy="38100"/>
          </a:xfrm>
          <a:prstGeom prst="rect">
            <a:avLst/>
          </a:prstGeom>
          <a:noFill/>
        </p:spPr>
        <p:txBody>
          <a:bodyPr wrap="none">
            <a:spAutoFit/>
          </a:bodyPr>
          <a:lstStyle/>
          <a:p/>
        </p:txBody>
      </p:sp>
      <p:sp>
        <p:nvSpPr>
          <p:cNvPr id="14" name="FMI Legend Chip"/>
          <p:cNvSpPr/>
          <p:nvPr/>
        </p:nvSpPr>
        <p:spPr>
          <a:xfrm>
            <a:off x="4551045" y="1518896"/>
            <a:ext cx="85725" cy="85725"/>
          </a:xfrm>
          <a:prstGeom prst="rect">
            <a:avLst/>
          </a:prstGeom>
          <a:solidFill>
            <a:srgbClr val="7D7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4712970" y="1514133"/>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4855845" y="1437933"/>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Nordics</a:t>
            </a:r>
          </a:p>
        </p:txBody>
      </p:sp>
      <p:sp>
        <p:nvSpPr>
          <p:cNvPr id="17" name="BPS Value 1"/>
          <p:cNvSpPr txBox="1"/>
          <p:nvPr/>
        </p:nvSpPr>
        <p:spPr>
          <a:xfrm>
            <a:off x="6305550" y="1499846"/>
            <a:ext cx="514350" cy="123825"/>
          </a:xfrm>
          <a:prstGeom prst="rect">
            <a:avLst/>
          </a:prstGeom>
          <a:noFill/>
        </p:spPr>
        <p:txBody>
          <a:bodyPr wrap="none" lIns="0" rIns="0" tIns="0" bIns="0" anchor="ctr">
            <a:spAutoFit/>
          </a:bodyPr>
          <a:lstStyle/>
          <a:p>
            <a:pPr algn="r"/>
            <a:r>
              <a:rPr sz="900" b="1">
                <a:solidFill>
                  <a:srgbClr val="D64545"/>
                </a:solidFill>
                <a:latin typeface="Segoe UI"/>
              </a:rPr>
              <a:t>-10</a:t>
            </a:r>
          </a:p>
        </p:txBody>
      </p:sp>
      <p:sp>
        <p:nvSpPr>
          <p:cNvPr id="18" name="FMI Legend Chip"/>
          <p:cNvSpPr/>
          <p:nvPr/>
        </p:nvSpPr>
        <p:spPr>
          <a:xfrm>
            <a:off x="4551045" y="1647130"/>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4712970" y="1642368"/>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4855845" y="1566168"/>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Rest of Western Europe</a:t>
            </a:r>
          </a:p>
        </p:txBody>
      </p:sp>
      <p:sp>
        <p:nvSpPr>
          <p:cNvPr id="21" name="BPS Value 2"/>
          <p:cNvSpPr txBox="1"/>
          <p:nvPr/>
        </p:nvSpPr>
        <p:spPr>
          <a:xfrm>
            <a:off x="6305550" y="1628080"/>
            <a:ext cx="514350" cy="123825"/>
          </a:xfrm>
          <a:prstGeom prst="rect">
            <a:avLst/>
          </a:prstGeom>
          <a:noFill/>
        </p:spPr>
        <p:txBody>
          <a:bodyPr wrap="none" lIns="0" rIns="0" tIns="0" bIns="0" anchor="ctr">
            <a:spAutoFit/>
          </a:bodyPr>
          <a:lstStyle/>
          <a:p>
            <a:pPr algn="r"/>
            <a:r>
              <a:rPr sz="900" b="1">
                <a:solidFill>
                  <a:srgbClr val="1E8E3E"/>
                </a:solidFill>
                <a:latin typeface="Segoe UI"/>
              </a:rPr>
              <a:t>+43</a:t>
            </a:r>
          </a:p>
        </p:txBody>
      </p:sp>
      <p:sp>
        <p:nvSpPr>
          <p:cNvPr id="22" name="FMI Legend Chip"/>
          <p:cNvSpPr/>
          <p:nvPr/>
        </p:nvSpPr>
        <p:spPr>
          <a:xfrm>
            <a:off x="4551045" y="1819206"/>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4712970" y="1814443"/>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4855845" y="1738243"/>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BENELUX</a:t>
            </a:r>
          </a:p>
        </p:txBody>
      </p:sp>
      <p:sp>
        <p:nvSpPr>
          <p:cNvPr id="25" name="BPS Value 3"/>
          <p:cNvSpPr txBox="1"/>
          <p:nvPr/>
        </p:nvSpPr>
        <p:spPr>
          <a:xfrm>
            <a:off x="6305550" y="1800156"/>
            <a:ext cx="514350" cy="123825"/>
          </a:xfrm>
          <a:prstGeom prst="rect">
            <a:avLst/>
          </a:prstGeom>
          <a:noFill/>
        </p:spPr>
        <p:txBody>
          <a:bodyPr wrap="none" lIns="0" rIns="0" tIns="0" bIns="0" anchor="ctr">
            <a:spAutoFit/>
          </a:bodyPr>
          <a:lstStyle/>
          <a:p>
            <a:pPr algn="r"/>
            <a:r>
              <a:rPr sz="900" b="1">
                <a:solidFill>
                  <a:srgbClr val="1E8E3E"/>
                </a:solidFill>
                <a:latin typeface="Segoe UI"/>
              </a:rPr>
              <a:t>+27</a:t>
            </a:r>
          </a:p>
        </p:txBody>
      </p:sp>
      <p:sp>
        <p:nvSpPr>
          <p:cNvPr id="26" name="FMI Legend Chip"/>
          <p:cNvSpPr/>
          <p:nvPr/>
        </p:nvSpPr>
        <p:spPr>
          <a:xfrm>
            <a:off x="4551045" y="2092299"/>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4712970" y="2087536"/>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4855845" y="2011336"/>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Spain</a:t>
            </a:r>
          </a:p>
        </p:txBody>
      </p:sp>
      <p:sp>
        <p:nvSpPr>
          <p:cNvPr id="29" name="BPS Value 4"/>
          <p:cNvSpPr txBox="1"/>
          <p:nvPr/>
        </p:nvSpPr>
        <p:spPr>
          <a:xfrm>
            <a:off x="6305550" y="2073249"/>
            <a:ext cx="514350" cy="123825"/>
          </a:xfrm>
          <a:prstGeom prst="rect">
            <a:avLst/>
          </a:prstGeom>
          <a:noFill/>
        </p:spPr>
        <p:txBody>
          <a:bodyPr wrap="none" lIns="0" rIns="0" tIns="0" bIns="0" anchor="ctr">
            <a:spAutoFit/>
          </a:bodyPr>
          <a:lstStyle/>
          <a:p>
            <a:pPr algn="r"/>
            <a:r>
              <a:rPr sz="900" b="1">
                <a:solidFill>
                  <a:srgbClr val="1E8E3E"/>
                </a:solidFill>
                <a:latin typeface="Segoe UI"/>
              </a:rPr>
              <a:t>+77</a:t>
            </a:r>
          </a:p>
        </p:txBody>
      </p:sp>
      <p:sp>
        <p:nvSpPr>
          <p:cNvPr id="30" name="FMI Legend Chip"/>
          <p:cNvSpPr/>
          <p:nvPr/>
        </p:nvSpPr>
        <p:spPr>
          <a:xfrm>
            <a:off x="4551045" y="2553670"/>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rot="10800000">
            <a:off x="4712970" y="2548908"/>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4855845" y="2472708"/>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U.K.</a:t>
            </a:r>
          </a:p>
        </p:txBody>
      </p:sp>
      <p:sp>
        <p:nvSpPr>
          <p:cNvPr id="33" name="BPS Value 5"/>
          <p:cNvSpPr txBox="1"/>
          <p:nvPr/>
        </p:nvSpPr>
        <p:spPr>
          <a:xfrm>
            <a:off x="6305550" y="2534620"/>
            <a:ext cx="514350" cy="123825"/>
          </a:xfrm>
          <a:prstGeom prst="rect">
            <a:avLst/>
          </a:prstGeom>
          <a:noFill/>
        </p:spPr>
        <p:txBody>
          <a:bodyPr wrap="none" lIns="0" rIns="0" tIns="0" bIns="0" anchor="ctr">
            <a:spAutoFit/>
          </a:bodyPr>
          <a:lstStyle/>
          <a:p>
            <a:pPr algn="r"/>
            <a:r>
              <a:rPr sz="900" b="1">
                <a:solidFill>
                  <a:srgbClr val="D64545"/>
                </a:solidFill>
                <a:latin typeface="Segoe UI"/>
              </a:rPr>
              <a:t>-77</a:t>
            </a:r>
          </a:p>
        </p:txBody>
      </p:sp>
      <p:sp>
        <p:nvSpPr>
          <p:cNvPr id="34" name="FMI Legend Chip"/>
          <p:cNvSpPr/>
          <p:nvPr/>
        </p:nvSpPr>
        <p:spPr>
          <a:xfrm>
            <a:off x="4551045" y="3134956"/>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a:off x="4712970" y="313019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4855845" y="3053994"/>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Italy</a:t>
            </a:r>
          </a:p>
        </p:txBody>
      </p:sp>
      <p:sp>
        <p:nvSpPr>
          <p:cNvPr id="37" name="BPS Value 6"/>
          <p:cNvSpPr txBox="1"/>
          <p:nvPr/>
        </p:nvSpPr>
        <p:spPr>
          <a:xfrm>
            <a:off x="6305550" y="3115906"/>
            <a:ext cx="514350" cy="123825"/>
          </a:xfrm>
          <a:prstGeom prst="rect">
            <a:avLst/>
          </a:prstGeom>
          <a:noFill/>
        </p:spPr>
        <p:txBody>
          <a:bodyPr wrap="none" lIns="0" rIns="0" tIns="0" bIns="0" anchor="ctr">
            <a:spAutoFit/>
          </a:bodyPr>
          <a:lstStyle/>
          <a:p>
            <a:pPr algn="r"/>
            <a:r>
              <a:rPr sz="900" b="1">
                <a:solidFill>
                  <a:srgbClr val="1E8E3E"/>
                </a:solidFill>
                <a:latin typeface="Segoe UI"/>
              </a:rPr>
              <a:t>+88</a:t>
            </a:r>
          </a:p>
        </p:txBody>
      </p:sp>
      <p:sp>
        <p:nvSpPr>
          <p:cNvPr id="38" name="FMI Legend Chip"/>
          <p:cNvSpPr/>
          <p:nvPr/>
        </p:nvSpPr>
        <p:spPr>
          <a:xfrm>
            <a:off x="4551045" y="3795140"/>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rot="10800000">
            <a:off x="4712970" y="3790378"/>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4855845" y="3714178"/>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France</a:t>
            </a:r>
          </a:p>
        </p:txBody>
      </p:sp>
      <p:sp>
        <p:nvSpPr>
          <p:cNvPr id="41" name="BPS Value 7"/>
          <p:cNvSpPr txBox="1"/>
          <p:nvPr/>
        </p:nvSpPr>
        <p:spPr>
          <a:xfrm>
            <a:off x="6305550" y="3776090"/>
            <a:ext cx="514350" cy="123825"/>
          </a:xfrm>
          <a:prstGeom prst="rect">
            <a:avLst/>
          </a:prstGeom>
          <a:noFill/>
        </p:spPr>
        <p:txBody>
          <a:bodyPr wrap="none" lIns="0" rIns="0" tIns="0" bIns="0" anchor="ctr">
            <a:spAutoFit/>
          </a:bodyPr>
          <a:lstStyle/>
          <a:p>
            <a:pPr algn="r"/>
            <a:r>
              <a:rPr sz="900" b="1">
                <a:solidFill>
                  <a:srgbClr val="D64545"/>
                </a:solidFill>
                <a:latin typeface="Segoe UI"/>
              </a:rPr>
              <a:t>-90</a:t>
            </a:r>
          </a:p>
        </p:txBody>
      </p:sp>
      <p:sp>
        <p:nvSpPr>
          <p:cNvPr id="42" name="FMI Legend Chip"/>
          <p:cNvSpPr/>
          <p:nvPr/>
        </p:nvSpPr>
        <p:spPr>
          <a:xfrm>
            <a:off x="4551045" y="4646089"/>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Isosceles Triangle 42"/>
          <p:cNvSpPr/>
          <p:nvPr/>
        </p:nvSpPr>
        <p:spPr>
          <a:xfrm rot="10800000">
            <a:off x="4712970" y="4641327"/>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PS Name 8"/>
          <p:cNvSpPr txBox="1"/>
          <p:nvPr/>
        </p:nvSpPr>
        <p:spPr>
          <a:xfrm>
            <a:off x="4855845" y="4565127"/>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Germany</a:t>
            </a:r>
          </a:p>
        </p:txBody>
      </p:sp>
      <p:sp>
        <p:nvSpPr>
          <p:cNvPr id="45" name="BPS Value 8"/>
          <p:cNvSpPr txBox="1"/>
          <p:nvPr/>
        </p:nvSpPr>
        <p:spPr>
          <a:xfrm>
            <a:off x="6305550" y="4627039"/>
            <a:ext cx="514350" cy="123825"/>
          </a:xfrm>
          <a:prstGeom prst="rect">
            <a:avLst/>
          </a:prstGeom>
          <a:noFill/>
        </p:spPr>
        <p:txBody>
          <a:bodyPr wrap="none" lIns="0" rIns="0" tIns="0" bIns="0" anchor="ctr">
            <a:spAutoFit/>
          </a:bodyPr>
          <a:lstStyle/>
          <a:p>
            <a:pPr algn="r"/>
            <a:r>
              <a:rPr sz="900" b="1">
                <a:solidFill>
                  <a:srgbClr val="D64545"/>
                </a:solidFill>
                <a:latin typeface="Segoe UI"/>
              </a:rPr>
              <a:t>-57</a:t>
            </a:r>
          </a:p>
        </p:txBody>
      </p:sp>
      <p:sp>
        <p:nvSpPr>
          <p:cNvPr id="46" name="Rectangle 45"/>
          <p:cNvSpPr/>
          <p:nvPr/>
        </p:nvSpPr>
        <p:spPr>
          <a:xfrm>
            <a:off x="7105650" y="981075"/>
            <a:ext cx="4933950"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07BA5"/>
                </a:solidFill>
                <a:latin typeface="Segoe UI"/>
              </a:rPr>
              <a:t>Regional Highlights</a:t>
            </a:r>
          </a:p>
        </p:txBody>
      </p:sp>
      <p:sp>
        <p:nvSpPr>
          <p:cNvPr id="48" name="Rectangle 47"/>
          <p:cNvSpPr/>
          <p:nvPr/>
        </p:nvSpPr>
        <p:spPr>
          <a:xfrm>
            <a:off x="7239000" y="1304925"/>
            <a:ext cx="46672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Germany performance knitted fabrics market is projected to register 1.3X higher value than France in 2036. Among performance knitted fabrics by country, Spain is expected to witness the highest CAGR of 7.2% over the forecast period.</a:t>
            </a:r>
          </a:p>
          <a:p>
            <a:pPr algn="l">
              <a:lnSpc>
                <a:spcPct val="110000"/>
              </a:lnSpc>
              <a:spcBef>
                <a:spcPts val="0"/>
              </a:spcBef>
              <a:spcAft>
                <a:spcPts val="500"/>
              </a:spcAft>
            </a:pPr>
            <a:r>
              <a:rPr sz="1150" b="0">
                <a:solidFill>
                  <a:srgbClr val="252423"/>
                </a:solidFill>
                <a:latin typeface="Segoe UI"/>
              </a:rPr>
              <a:t>In terms of value share by country, Germany is expected to dominate the market, losing 47 BPS and accounting for 27.4% share by 2036. France is expected to lose 84 BPS over the forecast period to account for 20.9% share by 2036.</a:t>
            </a:r>
          </a:p>
        </p:txBody>
      </p:sp>
      <p:sp>
        <p:nvSpPr>
          <p:cNvPr id="50" name="Rounded Rectangle 49"/>
          <p:cNvSpPr/>
          <p:nvPr/>
        </p:nvSpPr>
        <p:spPr>
          <a:xfrm>
            <a:off x="142875" y="5648325"/>
            <a:ext cx="3943350"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TOTAL (US$ MN)</a:t>
            </a:r>
          </a:p>
          <a:p>
            <a:pPr algn="ctr">
              <a:lnSpc>
                <a:spcPct val="95000"/>
              </a:lnSpc>
            </a:pPr>
            <a:r>
              <a:rPr sz="2000" b="1">
                <a:solidFill>
                  <a:srgbClr val="00A4DC"/>
                </a:solidFill>
                <a:latin typeface="Segoe UI"/>
              </a:rPr>
              <a:t>1,450</a:t>
            </a:r>
          </a:p>
        </p:txBody>
      </p:sp>
      <p:sp>
        <p:nvSpPr>
          <p:cNvPr id="51" name="Rounded Rectangle 50"/>
          <p:cNvSpPr/>
          <p:nvPr/>
        </p:nvSpPr>
        <p:spPr>
          <a:xfrm>
            <a:off x="4238625"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TOTAL (US$ MN)</a:t>
            </a:r>
          </a:p>
          <a:p>
            <a:pPr algn="ctr">
              <a:lnSpc>
                <a:spcPct val="95000"/>
              </a:lnSpc>
            </a:pPr>
            <a:r>
              <a:rPr sz="2000" b="1">
                <a:solidFill>
                  <a:srgbClr val="00A4DC"/>
                </a:solidFill>
                <a:latin typeface="Segoe UI"/>
              </a:rPr>
              <a:t>2,673</a:t>
            </a:r>
          </a:p>
        </p:txBody>
      </p:sp>
      <p:sp>
        <p:nvSpPr>
          <p:cNvPr id="52" name="Rounded Rectangle 51"/>
          <p:cNvSpPr/>
          <p:nvPr/>
        </p:nvSpPr>
        <p:spPr>
          <a:xfrm>
            <a:off x="8210550"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2000" b="1">
                <a:solidFill>
                  <a:srgbClr val="00A4DC"/>
                </a:solidFill>
                <a:latin typeface="Segoe UI"/>
              </a:rPr>
              <a:t>6.3%</a:t>
            </a:r>
          </a:p>
        </p:txBody>
      </p:sp>
      <p:sp>
        <p:nvSpPr>
          <p:cNvPr id="53" name="TextBox 5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Performance Knitted Fabrics Market Share Analysis, By Country Volume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volume and share by country, 2021–2036, highlighting the geographies gaining and ceding ground</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Western Europe</a:t>
            </a:r>
          </a:p>
        </p:txBody>
      </p:sp>
      <p:sp>
        <p:nvSpPr>
          <p:cNvPr id="9" name="Rectangle 8"/>
          <p:cNvSpPr/>
          <p:nvPr/>
        </p:nvSpPr>
        <p:spPr>
          <a:xfrm>
            <a:off x="142875" y="981075"/>
            <a:ext cx="11906250" cy="26193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Market Size, By Country (Mn Sq. Yards)</a:t>
            </a:r>
          </a:p>
        </p:txBody>
      </p:sp>
      <p:graphicFrame>
        <p:nvGraphicFramePr>
          <p:cNvPr id="11" name="Table 10"/>
          <p:cNvGraphicFramePr>
            <a:graphicFrameLocks noGrp="1"/>
          </p:cNvGraphicFramePr>
          <p:nvPr/>
        </p:nvGraphicFramePr>
        <p:xfrm>
          <a:off x="152400" y="1238250"/>
          <a:ext cx="11887204" cy="2152650"/>
        </p:xfrm>
        <a:graphic>
          <a:graphicData uri="http://schemas.openxmlformats.org/drawingml/2006/table">
            <a:tbl>
              <a:tblPr>
                <a:tableStyleId>{5C22544A-7EE6-4342-B048-85BDC9FD1C3A}</a:tableStyleId>
              </a:tblPr>
              <a:tblGrid>
                <a:gridCol w="1897586"/>
                <a:gridCol w="599340"/>
                <a:gridCol w="599340"/>
                <a:gridCol w="599340"/>
                <a:gridCol w="599340"/>
                <a:gridCol w="599340"/>
                <a:gridCol w="572063"/>
                <a:gridCol w="572063"/>
                <a:gridCol w="572063"/>
                <a:gridCol w="572063"/>
                <a:gridCol w="572063"/>
                <a:gridCol w="572063"/>
                <a:gridCol w="572063"/>
                <a:gridCol w="572063"/>
                <a:gridCol w="572063"/>
                <a:gridCol w="572063"/>
                <a:gridCol w="572063"/>
                <a:gridCol w="700225"/>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r>
              <a:tr h="215265">
                <a:tc>
                  <a:txBody>
                    <a:bodyPr wrap="none"/>
                    <a:lstStyle/>
                    <a:p>
                      <a:pPr algn="l"/>
                      <a:r>
                        <a:rPr sz="1100" b="1">
                          <a:solidFill>
                            <a:srgbClr val="252423"/>
                          </a:solidFill>
                          <a:latin typeface="Segoe UI"/>
                        </a:rPr>
                        <a:t>Germany</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79.6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82.4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85.3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88.4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91.6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95.0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98.7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102.8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107.1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111.9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117.3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123.3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129.8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136.5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143.2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150.2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4.7%</a:t>
                      </a:r>
                      <a:endParaRPr sz="1100"/>
                    </a:p>
                  </a:txBody>
                  <a:tcPr marL="47625" marR="38100" marT="19050" marB="19050" anchor="ctr">
                    <a:solidFill>
                      <a:srgbClr val="FFFFFF"/>
                    </a:solidFill>
                  </a:tcPr>
                </a:tc>
              </a:tr>
              <a:tr h="215265">
                <a:tc>
                  <a:txBody>
                    <a:bodyPr wrap="none"/>
                    <a:lstStyle/>
                    <a:p>
                      <a:pPr algn="l"/>
                      <a:r>
                        <a:rPr sz="1100" b="1">
                          <a:solidFill>
                            <a:srgbClr val="252423"/>
                          </a:solidFill>
                          <a:latin typeface="Segoe UI"/>
                        </a:rPr>
                        <a:t>Italy</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40.5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42.3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44.3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46.4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48.5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50.8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53.1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55.7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58.4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61.4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64.6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67.9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71.3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74.9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78.5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82.1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4.9%</a:t>
                      </a:r>
                      <a:endParaRPr sz="1100"/>
                    </a:p>
                  </a:txBody>
                  <a:tcPr marL="47625" marR="38100" marT="19050" marB="19050" anchor="ctr">
                    <a:solidFill>
                      <a:srgbClr val="F2FAFD"/>
                    </a:solidFill>
                  </a:tcPr>
                </a:tc>
              </a:tr>
              <a:tr h="215265">
                <a:tc>
                  <a:txBody>
                    <a:bodyPr wrap="none"/>
                    <a:lstStyle/>
                    <a:p>
                      <a:pPr algn="l"/>
                      <a:r>
                        <a:rPr sz="1100" b="1">
                          <a:solidFill>
                            <a:srgbClr val="252423"/>
                          </a:solidFill>
                          <a:latin typeface="Segoe UI"/>
                        </a:rPr>
                        <a:t>France</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60.1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62.7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65.4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68.5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71.7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75.2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79.0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82.9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87.0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91.1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95.4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99.6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104.0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108.5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113.1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117.7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4.6%</a:t>
                      </a:r>
                      <a:endParaRPr sz="1100"/>
                    </a:p>
                  </a:txBody>
                  <a:tcPr marL="47625" marR="38100" marT="19050" marB="19050" anchor="ctr">
                    <a:solidFill>
                      <a:srgbClr val="FFFFFF"/>
                    </a:solidFill>
                  </a:tcPr>
                </a:tc>
              </a:tr>
              <a:tr h="215265">
                <a:tc>
                  <a:txBody>
                    <a:bodyPr wrap="none"/>
                    <a:lstStyle/>
                    <a:p>
                      <a:pPr algn="l"/>
                      <a:r>
                        <a:rPr sz="1100" b="1">
                          <a:solidFill>
                            <a:srgbClr val="252423"/>
                          </a:solidFill>
                          <a:latin typeface="Segoe UI"/>
                        </a:rPr>
                        <a:t>U.K.</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49.7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51.7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53.8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55.9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58.1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60.4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62.8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65.5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68.5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71.6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74.8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78.1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81.6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85.1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88.7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92.3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4.3%</a:t>
                      </a:r>
                      <a:endParaRPr sz="1100"/>
                    </a:p>
                  </a:txBody>
                  <a:tcPr marL="47625" marR="38100" marT="19050" marB="19050" anchor="ctr">
                    <a:solidFill>
                      <a:srgbClr val="F2FAFD"/>
                    </a:solidFill>
                  </a:tcPr>
                </a:tc>
              </a:tr>
              <a:tr h="215265">
                <a:tc>
                  <a:txBody>
                    <a:bodyPr wrap="none"/>
                    <a:lstStyle/>
                    <a:p>
                      <a:pPr algn="l"/>
                      <a:r>
                        <a:rPr sz="1100" b="1">
                          <a:solidFill>
                            <a:srgbClr val="252423"/>
                          </a:solidFill>
                          <a:latin typeface="Segoe UI"/>
                        </a:rPr>
                        <a:t>Spain</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24.8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26.2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27.7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29.3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31.1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33.0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34.9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37.0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39.3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41.7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44.2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46.7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49.2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51.8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54.5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57.2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5.7%</a:t>
                      </a:r>
                      <a:endParaRPr sz="1100"/>
                    </a:p>
                  </a:txBody>
                  <a:tcPr marL="47625" marR="38100" marT="19050" marB="19050" anchor="ctr">
                    <a:solidFill>
                      <a:srgbClr val="FFFFFF"/>
                    </a:solidFill>
                  </a:tcPr>
                </a:tc>
              </a:tr>
              <a:tr h="215265">
                <a:tc>
                  <a:txBody>
                    <a:bodyPr wrap="none"/>
                    <a:lstStyle/>
                    <a:p>
                      <a:pPr algn="l"/>
                      <a:r>
                        <a:rPr sz="1100" b="1">
                          <a:solidFill>
                            <a:srgbClr val="252423"/>
                          </a:solidFill>
                          <a:latin typeface="Segoe UI"/>
                        </a:rPr>
                        <a:t>BENELUX</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14.2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15.1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16.0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16.9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17.8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18.7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19.6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20.6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21.6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22.8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24.0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25.3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26.8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28.3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29.8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31.4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5.3%</a:t>
                      </a:r>
                      <a:endParaRPr sz="1100"/>
                    </a:p>
                  </a:txBody>
                  <a:tcPr marL="47625" marR="38100" marT="19050" marB="19050" anchor="ctr">
                    <a:solidFill>
                      <a:srgbClr val="F2FAFD"/>
                    </a:solidFill>
                  </a:tcPr>
                </a:tc>
              </a:tr>
              <a:tr h="215265">
                <a:tc>
                  <a:txBody>
                    <a:bodyPr wrap="none"/>
                    <a:lstStyle/>
                    <a:p>
                      <a:pPr algn="l"/>
                      <a:r>
                        <a:rPr sz="1100" b="1">
                          <a:solidFill>
                            <a:srgbClr val="252423"/>
                          </a:solidFill>
                          <a:latin typeface="Segoe UI"/>
                        </a:rPr>
                        <a:t>Nordics</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8.76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9.19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9.65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13.4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14.0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14.7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15.4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16.1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16.8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17.6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4.7%</a:t>
                      </a:r>
                      <a:endParaRPr sz="1100"/>
                    </a:p>
                  </a:txBody>
                  <a:tcPr marL="47625" marR="38100" marT="19050" marB="19050" anchor="ctr">
                    <a:solidFill>
                      <a:srgbClr val="FFFFFF"/>
                    </a:solidFill>
                  </a:tcPr>
                </a:tc>
              </a:tr>
              <a:tr h="215265">
                <a:tc>
                  <a:txBody>
                    <a:bodyPr wrap="none"/>
                    <a:lstStyle/>
                    <a:p>
                      <a:pPr algn="l"/>
                      <a:r>
                        <a:rPr sz="1100" b="1">
                          <a:solidFill>
                            <a:srgbClr val="252423"/>
                          </a:solidFill>
                          <a:latin typeface="Segoe UI"/>
                        </a:rPr>
                        <a:t>Rest of Western Europe</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9.60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10.2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10.8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12.3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13.1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14.0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15.0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15.9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16.9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17.8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18.8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19.9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20.9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22.0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23.1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5.8%</a:t>
                      </a:r>
                      <a:endParaRPr sz="1100"/>
                    </a:p>
                  </a:txBody>
                  <a:tcPr marL="47625" marR="38100" marT="19050" marB="19050" anchor="ctr">
                    <a:solidFill>
                      <a:srgbClr val="F2FAFD"/>
                    </a:solidFill>
                  </a:tcPr>
                </a:tc>
              </a:tr>
              <a:tr h="215265">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287.2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299.7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313.0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326.9</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341.6</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357.2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373.8</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391.6</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410.6</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430.8</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452.1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474.5</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497.9</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522.1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546.6</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571.4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4.8%</a:t>
                      </a:r>
                      <a:endParaRPr sz="1100"/>
                    </a:p>
                  </a:txBody>
                  <a:tcPr marL="47625" marR="38100" marT="19050" marB="19050" anchor="ctr">
                    <a:solidFill>
                      <a:srgbClr val="E0F2FA"/>
                    </a:solidFill>
                  </a:tcPr>
                </a:tc>
              </a:tr>
            </a:tbl>
          </a:graphicData>
        </a:graphic>
      </p:graphicFrame>
      <p:sp>
        <p:nvSpPr>
          <p:cNvPr id="12" name="TextBox 11"/>
          <p:cNvSpPr txBox="1"/>
          <p:nvPr/>
        </p:nvSpPr>
        <p:spPr>
          <a:xfrm>
            <a:off x="219075" y="340042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3" name="Rectangle 12"/>
          <p:cNvSpPr/>
          <p:nvPr/>
        </p:nvSpPr>
        <p:spPr>
          <a:xfrm>
            <a:off x="142875" y="3733800"/>
            <a:ext cx="11906250" cy="28956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819525"/>
            <a:ext cx="11639550" cy="209550"/>
          </a:xfrm>
          <a:prstGeom prst="rect">
            <a:avLst/>
          </a:prstGeom>
          <a:noFill/>
        </p:spPr>
        <p:txBody>
          <a:bodyPr wrap="square" lIns="0" rIns="19050" tIns="9525" bIns="9525">
            <a:spAutoFit/>
          </a:bodyPr>
          <a:lstStyle/>
          <a:p>
            <a:pPr algn="l"/>
            <a:r>
              <a:rPr sz="1300" b="1">
                <a:solidFill>
                  <a:srgbClr val="007BA5"/>
                </a:solidFill>
                <a:latin typeface="Segoe UI"/>
              </a:rPr>
              <a:t>Western Europe Volume Share Read-out, By Country</a:t>
            </a:r>
          </a:p>
        </p:txBody>
      </p:sp>
      <p:sp>
        <p:nvSpPr>
          <p:cNvPr id="15" name="Rectangle 14"/>
          <p:cNvSpPr/>
          <p:nvPr/>
        </p:nvSpPr>
        <p:spPr>
          <a:xfrm>
            <a:off x="276225" y="405765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143375"/>
            <a:ext cx="11639550" cy="24098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Germany performance knitted fabrics market is projected to register 1.3X higher volume than France in 2036. Among performance knitted fabrics by country, Spain is expected to witness the highest CAGR of 5.7% over the forecast period.</a:t>
            </a:r>
          </a:p>
          <a:p>
            <a:pPr algn="l">
              <a:lnSpc>
                <a:spcPct val="110000"/>
              </a:lnSpc>
              <a:spcBef>
                <a:spcPts val="0"/>
              </a:spcBef>
              <a:spcAft>
                <a:spcPts val="500"/>
              </a:spcAft>
            </a:pPr>
            <a:r>
              <a:rPr sz="1150" b="0">
                <a:solidFill>
                  <a:srgbClr val="252423"/>
                </a:solidFill>
                <a:latin typeface="Segoe UI"/>
              </a:rPr>
              <a:t>In terms of volume share by country, Germany is expected to dominate the market, losing 22 BPS and accounting for 27.4% share by 2036. U.K. is expected to lose 72 BPS over the forecast period to account for 16.8% share by 2036.</a:t>
            </a:r>
          </a:p>
        </p:txBody>
      </p:sp>
      <p:sp>
        <p:nvSpPr>
          <p:cNvPr id="17" name="TextBox 1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Performance Knitted Fabrics Market Share Analysis, By Country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and share by country, 2021–2036, highlighting the geographies gaining and ceding ground</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Western Europe</a:t>
            </a:r>
          </a:p>
        </p:txBody>
      </p:sp>
      <p:sp>
        <p:nvSpPr>
          <p:cNvPr id="9" name="Rectangle 8"/>
          <p:cNvSpPr/>
          <p:nvPr/>
        </p:nvSpPr>
        <p:spPr>
          <a:xfrm>
            <a:off x="142875" y="981075"/>
            <a:ext cx="11906250" cy="26193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Market Size, By Country (US$ Mn)</a:t>
            </a:r>
          </a:p>
        </p:txBody>
      </p:sp>
      <p:graphicFrame>
        <p:nvGraphicFramePr>
          <p:cNvPr id="11" name="Table 10"/>
          <p:cNvGraphicFramePr>
            <a:graphicFrameLocks noGrp="1"/>
          </p:cNvGraphicFramePr>
          <p:nvPr/>
        </p:nvGraphicFramePr>
        <p:xfrm>
          <a:off x="152400" y="1238250"/>
          <a:ext cx="11887204" cy="2152650"/>
        </p:xfrm>
        <a:graphic>
          <a:graphicData uri="http://schemas.openxmlformats.org/drawingml/2006/table">
            <a:tbl>
              <a:tblPr>
                <a:tableStyleId>{5C22544A-7EE6-4342-B048-85BDC9FD1C3A}</a:tableStyleId>
              </a:tblPr>
              <a:tblGrid>
                <a:gridCol w="1897586"/>
                <a:gridCol w="599340"/>
                <a:gridCol w="599340"/>
                <a:gridCol w="599340"/>
                <a:gridCol w="599340"/>
                <a:gridCol w="599340"/>
                <a:gridCol w="572063"/>
                <a:gridCol w="572063"/>
                <a:gridCol w="572063"/>
                <a:gridCol w="572063"/>
                <a:gridCol w="572063"/>
                <a:gridCol w="572063"/>
                <a:gridCol w="572063"/>
                <a:gridCol w="572063"/>
                <a:gridCol w="572063"/>
                <a:gridCol w="572063"/>
                <a:gridCol w="572063"/>
                <a:gridCol w="700225"/>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r>
              <a:tr h="215265">
                <a:tc>
                  <a:txBody>
                    <a:bodyPr wrap="none"/>
                    <a:lstStyle/>
                    <a:p>
                      <a:pPr algn="l"/>
                      <a:r>
                        <a:rPr sz="1100" b="1">
                          <a:solidFill>
                            <a:srgbClr val="252423"/>
                          </a:solidFill>
                          <a:latin typeface="Segoe UI"/>
                        </a:rPr>
                        <a:t>Germany</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316.9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329.4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342.9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357.2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372.4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390.4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410.2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432.1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455.9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482.4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512.3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545.8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582.0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620.6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661.4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704.2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6.1%</a:t>
                      </a:r>
                      <a:endParaRPr sz="1100"/>
                    </a:p>
                  </a:txBody>
                  <a:tcPr marL="47625" marR="38100" marT="19050" marB="19050" anchor="ctr">
                    <a:solidFill>
                      <a:srgbClr val="FFFFFF"/>
                    </a:solidFill>
                  </a:tcPr>
                </a:tc>
              </a:tr>
              <a:tr h="215265">
                <a:tc>
                  <a:txBody>
                    <a:bodyPr wrap="none"/>
                    <a:lstStyle/>
                    <a:p>
                      <a:pPr algn="l"/>
                      <a:r>
                        <a:rPr sz="1100" b="1">
                          <a:solidFill>
                            <a:srgbClr val="252423"/>
                          </a:solidFill>
                          <a:latin typeface="Segoe UI"/>
                        </a:rPr>
                        <a:t>Italy</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166.2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175.0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184.5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194.8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205.8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218.5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232.2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247.3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264.0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282.5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302.5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324.0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347.1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372.0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398.3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426.1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6.9%</a:t>
                      </a:r>
                      <a:endParaRPr sz="1100"/>
                    </a:p>
                  </a:txBody>
                  <a:tcPr marL="47625" marR="38100" marT="19050" marB="19050" anchor="ctr">
                    <a:solidFill>
                      <a:srgbClr val="F2FAFD"/>
                    </a:solidFill>
                  </a:tcPr>
                </a:tc>
              </a:tr>
              <a:tr h="215265">
                <a:tc>
                  <a:txBody>
                    <a:bodyPr wrap="none"/>
                    <a:lstStyle/>
                    <a:p>
                      <a:pPr algn="l"/>
                      <a:r>
                        <a:rPr sz="1100" b="1">
                          <a:solidFill>
                            <a:srgbClr val="252423"/>
                          </a:solidFill>
                          <a:latin typeface="Segoe UI"/>
                        </a:rPr>
                        <a:t>France</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237.0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248.1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260.2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273.4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287.7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304.0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321.6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340.5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360.7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382.2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404.7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428.2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453.3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479.8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507.4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536.1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5.8%</a:t>
                      </a:r>
                      <a:endParaRPr sz="1100"/>
                    </a:p>
                  </a:txBody>
                  <a:tcPr marL="47625" marR="38100" marT="19050" marB="19050" anchor="ctr">
                    <a:solidFill>
                      <a:srgbClr val="FFFFFF"/>
                    </a:solidFill>
                  </a:tcPr>
                </a:tc>
              </a:tr>
              <a:tr h="215265">
                <a:tc>
                  <a:txBody>
                    <a:bodyPr wrap="none"/>
                    <a:lstStyle/>
                    <a:p>
                      <a:pPr algn="l"/>
                      <a:r>
                        <a:rPr sz="1100" b="1">
                          <a:solidFill>
                            <a:srgbClr val="252423"/>
                          </a:solidFill>
                          <a:latin typeface="Segoe UI"/>
                        </a:rPr>
                        <a:t>U.K.</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192.4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200.9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209.9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219.1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228.7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239.7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251.7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265.1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280.1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296.5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314.0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332.8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353.0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374.5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397.2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421.1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5.8%</a:t>
                      </a:r>
                      <a:endParaRPr sz="1100"/>
                    </a:p>
                  </a:txBody>
                  <a:tcPr marL="47625" marR="38100" marT="19050" marB="19050" anchor="ctr">
                    <a:solidFill>
                      <a:srgbClr val="F2FAFD"/>
                    </a:solidFill>
                  </a:tcPr>
                </a:tc>
              </a:tr>
              <a:tr h="215265">
                <a:tc>
                  <a:txBody>
                    <a:bodyPr wrap="none"/>
                    <a:lstStyle/>
                    <a:p>
                      <a:pPr algn="l"/>
                      <a:r>
                        <a:rPr sz="1100" b="1">
                          <a:solidFill>
                            <a:srgbClr val="252423"/>
                          </a:solidFill>
                          <a:latin typeface="Segoe UI"/>
                        </a:rPr>
                        <a:t>Spain</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91.6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97.3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103.3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109.9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117.2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125.3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134.1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143.7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154.2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165.8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178.1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191.2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204.9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219.5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235.0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251.4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7.2%</a:t>
                      </a:r>
                      <a:endParaRPr sz="1100"/>
                    </a:p>
                  </a:txBody>
                  <a:tcPr marL="47625" marR="38100" marT="19050" marB="19050" anchor="ctr">
                    <a:solidFill>
                      <a:srgbClr val="FFFFFF"/>
                    </a:solidFill>
                  </a:tcPr>
                </a:tc>
              </a:tr>
              <a:tr h="215265">
                <a:tc>
                  <a:txBody>
                    <a:bodyPr wrap="none"/>
                    <a:lstStyle/>
                    <a:p>
                      <a:pPr algn="l"/>
                      <a:r>
                        <a:rPr sz="1100" b="1">
                          <a:solidFill>
                            <a:srgbClr val="252423"/>
                          </a:solidFill>
                          <a:latin typeface="Segoe UI"/>
                        </a:rPr>
                        <a:t>BENELUX</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56.2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59.9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63.6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67.5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71.4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75.7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80.4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85.4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90.9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97.0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103.7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111.1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119.2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127.8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137.0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146.7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6.8%</a:t>
                      </a:r>
                      <a:endParaRPr sz="1100"/>
                    </a:p>
                  </a:txBody>
                  <a:tcPr marL="47625" marR="38100" marT="19050" marB="19050" anchor="ctr">
                    <a:solidFill>
                      <a:srgbClr val="F2FAFD"/>
                    </a:solidFill>
                  </a:tcPr>
                </a:tc>
              </a:tr>
              <a:tr h="215265">
                <a:tc>
                  <a:txBody>
                    <a:bodyPr wrap="none"/>
                    <a:lstStyle/>
                    <a:p>
                      <a:pPr algn="l"/>
                      <a:r>
                        <a:rPr sz="1100" b="1">
                          <a:solidFill>
                            <a:srgbClr val="252423"/>
                          </a:solidFill>
                          <a:latin typeface="Segoe UI"/>
                        </a:rPr>
                        <a:t>Nordics</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35.7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37.6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39.7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41.8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44.0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46.4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49.1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51.9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55.0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58.3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61.9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65.6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69.6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73.8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78.2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82.8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6.0%</a:t>
                      </a:r>
                      <a:endParaRPr sz="1100"/>
                    </a:p>
                  </a:txBody>
                  <a:tcPr marL="47625" marR="38100" marT="19050" marB="19050" anchor="ctr">
                    <a:solidFill>
                      <a:srgbClr val="FFFFFF"/>
                    </a:solidFill>
                  </a:tcPr>
                </a:tc>
              </a:tr>
              <a:tr h="215265">
                <a:tc>
                  <a:txBody>
                    <a:bodyPr wrap="none"/>
                    <a:lstStyle/>
                    <a:p>
                      <a:pPr algn="l"/>
                      <a:r>
                        <a:rPr sz="1100" b="1">
                          <a:solidFill>
                            <a:srgbClr val="252423"/>
                          </a:solidFill>
                          <a:latin typeface="Segoe UI"/>
                        </a:rPr>
                        <a:t>Rest of Western Europe</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35.5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37.8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40.4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43.3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46.5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50.3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54.3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58.7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63.3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68.1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73.3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78.7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84.5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90.7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97.2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104.1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7.6%</a:t>
                      </a:r>
                      <a:endParaRPr sz="1100"/>
                    </a:p>
                  </a:txBody>
                  <a:tcPr marL="47625" marR="38100" marT="19050" marB="19050" anchor="ctr">
                    <a:solidFill>
                      <a:srgbClr val="F2FAFD"/>
                    </a:solidFill>
                  </a:tcPr>
                </a:tc>
              </a:tr>
              <a:tr h="215265">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1,131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1,186</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1,244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1,307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1,374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1,450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1,534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1,625</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1,724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1,833</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1,951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2,077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2,214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2,359</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2,512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2,673</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6.3%</a:t>
                      </a:r>
                      <a:endParaRPr sz="1100"/>
                    </a:p>
                  </a:txBody>
                  <a:tcPr marL="47625" marR="38100" marT="19050" marB="19050" anchor="ctr">
                    <a:solidFill>
                      <a:srgbClr val="E0F2FA"/>
                    </a:solidFill>
                  </a:tcPr>
                </a:tc>
              </a:tr>
            </a:tbl>
          </a:graphicData>
        </a:graphic>
      </p:graphicFrame>
      <p:sp>
        <p:nvSpPr>
          <p:cNvPr id="12" name="TextBox 11"/>
          <p:cNvSpPr txBox="1"/>
          <p:nvPr/>
        </p:nvSpPr>
        <p:spPr>
          <a:xfrm>
            <a:off x="219075" y="340042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3" name="Rectangle 12"/>
          <p:cNvSpPr/>
          <p:nvPr/>
        </p:nvSpPr>
        <p:spPr>
          <a:xfrm>
            <a:off x="142875" y="3733800"/>
            <a:ext cx="11906250" cy="28956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819525"/>
            <a:ext cx="11639550" cy="209550"/>
          </a:xfrm>
          <a:prstGeom prst="rect">
            <a:avLst/>
          </a:prstGeom>
          <a:noFill/>
        </p:spPr>
        <p:txBody>
          <a:bodyPr wrap="square" lIns="0" rIns="19050" tIns="9525" bIns="9525">
            <a:spAutoFit/>
          </a:bodyPr>
          <a:lstStyle/>
          <a:p>
            <a:pPr algn="l"/>
            <a:r>
              <a:rPr sz="1300" b="1">
                <a:solidFill>
                  <a:srgbClr val="007BA5"/>
                </a:solidFill>
                <a:latin typeface="Segoe UI"/>
              </a:rPr>
              <a:t>Western Europe Value Share Read-out, By Country</a:t>
            </a:r>
          </a:p>
        </p:txBody>
      </p:sp>
      <p:sp>
        <p:nvSpPr>
          <p:cNvPr id="15" name="Rectangle 14"/>
          <p:cNvSpPr/>
          <p:nvPr/>
        </p:nvSpPr>
        <p:spPr>
          <a:xfrm>
            <a:off x="276225" y="405765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143375"/>
            <a:ext cx="11639550" cy="24098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Germany performance knitted fabrics market is projected to register 1.3X higher value than France in 2036. Among performance knitted fabrics by country, Spain is expected to witness the highest CAGR of 7.2% over the forecast period.</a:t>
            </a:r>
          </a:p>
          <a:p>
            <a:pPr algn="l">
              <a:lnSpc>
                <a:spcPct val="110000"/>
              </a:lnSpc>
              <a:spcBef>
                <a:spcPts val="0"/>
              </a:spcBef>
              <a:spcAft>
                <a:spcPts val="500"/>
              </a:spcAft>
            </a:pPr>
            <a:r>
              <a:rPr sz="1150" b="0">
                <a:solidFill>
                  <a:srgbClr val="252423"/>
                </a:solidFill>
                <a:latin typeface="Segoe UI"/>
              </a:rPr>
              <a:t>In terms of value share by country, Germany is expected to dominate the market, losing 47 BPS and accounting for 27.4% share by 2036. France is expected to lose 84 BPS over the forecast period to account for 20.9% share by 2036.</a:t>
            </a:r>
          </a:p>
        </p:txBody>
      </p:sp>
      <p:sp>
        <p:nvSpPr>
          <p:cNvPr id="17" name="TextBox 1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Performance Knitted Fabrics Market Trends, By Country</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how country volume and value shares shift over 2021–2036, highlighting who gains ground</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Western Europe</a:t>
            </a:r>
          </a:p>
        </p:txBody>
      </p:sp>
      <p:sp>
        <p:nvSpPr>
          <p:cNvPr id="9" name="Rectangle 8"/>
          <p:cNvSpPr/>
          <p:nvPr/>
        </p:nvSpPr>
        <p:spPr>
          <a:xfrm>
            <a:off x="142875" y="981075"/>
            <a:ext cx="11906250"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Volume By Country (Mn Sq. Yards)</a:t>
            </a:r>
          </a:p>
        </p:txBody>
      </p:sp>
      <p:graphicFrame>
        <p:nvGraphicFramePr>
          <p:cNvPr id="11" name="Chart 10"/>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r:id="rId3"/>
          </a:graphicData>
        </a:graphic>
      </p:graphicFrame>
      <p:sp>
        <p:nvSpPr>
          <p:cNvPr id="12" name="Rectangle 11"/>
          <p:cNvSpPr/>
          <p:nvPr/>
        </p:nvSpPr>
        <p:spPr>
          <a:xfrm>
            <a:off x="9763125" y="1304925"/>
            <a:ext cx="2190750" cy="2333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MI Dense Legend"/>
          <p:cNvSpPr txBox="1"/>
          <p:nvPr/>
        </p:nvSpPr>
        <p:spPr>
          <a:xfrm>
            <a:off x="9839325" y="1362075"/>
            <a:ext cx="2057400" cy="171450"/>
          </a:xfrm>
          <a:prstGeom prst="rect">
            <a:avLst/>
          </a:prstGeom>
          <a:noFill/>
        </p:spPr>
        <p:txBody>
          <a:bodyPr wrap="none">
            <a:spAutoFit/>
          </a:bodyPr>
          <a:lstStyle/>
          <a:p>
            <a:r>
              <a:rPr sz="850" b="1">
                <a:solidFill>
                  <a:srgbClr val="605E5C"/>
                </a:solidFill>
                <a:latin typeface="Segoe UI"/>
              </a:rPr>
              <a:t>By segment</a:t>
            </a:r>
          </a:p>
        </p:txBody>
      </p:sp>
      <p:sp>
        <p:nvSpPr>
          <p:cNvPr id="14" name="FMI Dense Legend"/>
          <p:cNvSpPr txBox="1"/>
          <p:nvPr/>
        </p:nvSpPr>
        <p:spPr>
          <a:xfrm>
            <a:off x="9839325" y="1533525"/>
            <a:ext cx="2057400" cy="2047875"/>
          </a:xfrm>
          <a:prstGeom prst="rect">
            <a:avLst/>
          </a:prstGeom>
          <a:noFill/>
        </p:spPr>
        <p:txBody>
          <a:bodyPr wrap="square">
            <a:spAutoFit/>
          </a:bodyPr>
          <a:lstStyle/>
          <a:p>
            <a:pPr>
              <a:spcBef>
                <a:spcPts val="500"/>
              </a:spcBef>
            </a:pPr>
            <a:r>
              <a:rPr sz="900">
                <a:solidFill>
                  <a:srgbClr val="00A4DC"/>
                </a:solidFill>
                <a:latin typeface="Segoe UI"/>
              </a:rPr>
              <a:t>■  </a:t>
            </a:r>
            <a:r>
              <a:rPr sz="750">
                <a:solidFill>
                  <a:srgbClr val="252423"/>
                </a:solidFill>
                <a:latin typeface="Segoe UI"/>
              </a:rPr>
              <a:t>   Germany</a:t>
            </a:r>
          </a:p>
          <a:p>
            <a:pPr>
              <a:spcBef>
                <a:spcPts val="500"/>
              </a:spcBef>
            </a:pPr>
            <a:r>
              <a:rPr sz="900">
                <a:solidFill>
                  <a:srgbClr val="6ECFF2"/>
                </a:solidFill>
                <a:latin typeface="Segoe UI"/>
              </a:rPr>
              <a:t>■  </a:t>
            </a:r>
            <a:r>
              <a:rPr sz="750">
                <a:solidFill>
                  <a:srgbClr val="252423"/>
                </a:solidFill>
                <a:latin typeface="Segoe UI"/>
              </a:rPr>
              <a:t>   France</a:t>
            </a:r>
          </a:p>
          <a:p>
            <a:pPr>
              <a:spcBef>
                <a:spcPts val="500"/>
              </a:spcBef>
            </a:pPr>
            <a:r>
              <a:rPr sz="900">
                <a:solidFill>
                  <a:srgbClr val="D6CAC4"/>
                </a:solidFill>
                <a:latin typeface="Segoe UI"/>
              </a:rPr>
              <a:t>■  </a:t>
            </a:r>
            <a:r>
              <a:rPr sz="750">
                <a:solidFill>
                  <a:srgbClr val="252423"/>
                </a:solidFill>
                <a:latin typeface="Segoe UI"/>
              </a:rPr>
              <a:t>   U.K.</a:t>
            </a:r>
          </a:p>
          <a:p>
            <a:pPr>
              <a:spcBef>
                <a:spcPts val="500"/>
              </a:spcBef>
            </a:pPr>
            <a:r>
              <a:rPr sz="900">
                <a:solidFill>
                  <a:srgbClr val="EBC46B"/>
                </a:solidFill>
                <a:latin typeface="Segoe UI"/>
              </a:rPr>
              <a:t>■  </a:t>
            </a:r>
            <a:r>
              <a:rPr sz="750">
                <a:solidFill>
                  <a:srgbClr val="252423"/>
                </a:solidFill>
                <a:latin typeface="Segoe UI"/>
              </a:rPr>
              <a:t>   Italy</a:t>
            </a:r>
          </a:p>
          <a:p>
            <a:pPr>
              <a:spcBef>
                <a:spcPts val="500"/>
              </a:spcBef>
            </a:pPr>
            <a:r>
              <a:rPr sz="900">
                <a:solidFill>
                  <a:srgbClr val="EDA28B"/>
                </a:solidFill>
                <a:latin typeface="Segoe UI"/>
              </a:rPr>
              <a:t>■  </a:t>
            </a:r>
            <a:r>
              <a:rPr sz="750">
                <a:solidFill>
                  <a:srgbClr val="252423"/>
                </a:solidFill>
                <a:latin typeface="Segoe UI"/>
              </a:rPr>
              <a:t>   Spain</a:t>
            </a:r>
          </a:p>
          <a:p>
            <a:pPr>
              <a:spcBef>
                <a:spcPts val="500"/>
              </a:spcBef>
            </a:pPr>
            <a:r>
              <a:rPr sz="900">
                <a:solidFill>
                  <a:srgbClr val="C4E2F4"/>
                </a:solidFill>
                <a:latin typeface="Segoe UI"/>
              </a:rPr>
              <a:t>■  </a:t>
            </a:r>
            <a:r>
              <a:rPr sz="750">
                <a:solidFill>
                  <a:srgbClr val="252423"/>
                </a:solidFill>
                <a:latin typeface="Segoe UI"/>
              </a:rPr>
              <a:t>   BENELUX</a:t>
            </a:r>
          </a:p>
          <a:p>
            <a:pPr>
              <a:spcBef>
                <a:spcPts val="500"/>
              </a:spcBef>
            </a:pPr>
            <a:r>
              <a:rPr sz="900">
                <a:solidFill>
                  <a:srgbClr val="9AB3C7"/>
                </a:solidFill>
                <a:latin typeface="Segoe UI"/>
              </a:rPr>
              <a:t>■  </a:t>
            </a:r>
            <a:r>
              <a:rPr sz="750">
                <a:solidFill>
                  <a:srgbClr val="252423"/>
                </a:solidFill>
                <a:latin typeface="Segoe UI"/>
              </a:rPr>
              <a:t>   Rest of Western Europe</a:t>
            </a:r>
          </a:p>
          <a:p>
            <a:pPr>
              <a:spcBef>
                <a:spcPts val="500"/>
              </a:spcBef>
            </a:pPr>
            <a:r>
              <a:rPr sz="900">
                <a:solidFill>
                  <a:srgbClr val="7D72E5"/>
                </a:solidFill>
                <a:latin typeface="Segoe UI"/>
              </a:rPr>
              <a:t>■  </a:t>
            </a:r>
            <a:r>
              <a:rPr sz="750">
                <a:solidFill>
                  <a:srgbClr val="252423"/>
                </a:solidFill>
                <a:latin typeface="Segoe UI"/>
              </a:rPr>
              <a:t>   Nordics</a:t>
            </a:r>
          </a:p>
        </p:txBody>
      </p:sp>
      <p:sp>
        <p:nvSpPr>
          <p:cNvPr id="15" name="Rectangle 14"/>
          <p:cNvSpPr/>
          <p:nvPr/>
        </p:nvSpPr>
        <p:spPr>
          <a:xfrm>
            <a:off x="142875" y="3867150"/>
            <a:ext cx="11906250"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Value By Country (US$ Mn)</a:t>
            </a:r>
          </a:p>
        </p:txBody>
      </p:sp>
      <p:graphicFrame>
        <p:nvGraphicFramePr>
          <p:cNvPr id="17" name="Chart 16"/>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r:id="rId4"/>
          </a:graphicData>
        </a:graphic>
      </p:graphicFrame>
      <p:sp>
        <p:nvSpPr>
          <p:cNvPr id="18" name="Rectangle 17"/>
          <p:cNvSpPr/>
          <p:nvPr/>
        </p:nvSpPr>
        <p:spPr>
          <a:xfrm>
            <a:off x="9763125" y="4191000"/>
            <a:ext cx="2190750" cy="2333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MI Dense Legend"/>
          <p:cNvSpPr txBox="1"/>
          <p:nvPr/>
        </p:nvSpPr>
        <p:spPr>
          <a:xfrm>
            <a:off x="9839325" y="4248150"/>
            <a:ext cx="2057400" cy="171450"/>
          </a:xfrm>
          <a:prstGeom prst="rect">
            <a:avLst/>
          </a:prstGeom>
          <a:noFill/>
        </p:spPr>
        <p:txBody>
          <a:bodyPr wrap="none">
            <a:spAutoFit/>
          </a:bodyPr>
          <a:lstStyle/>
          <a:p>
            <a:r>
              <a:rPr sz="850" b="1">
                <a:solidFill>
                  <a:srgbClr val="605E5C"/>
                </a:solidFill>
                <a:latin typeface="Segoe UI"/>
              </a:rPr>
              <a:t>By segment</a:t>
            </a:r>
          </a:p>
        </p:txBody>
      </p:sp>
      <p:sp>
        <p:nvSpPr>
          <p:cNvPr id="20" name="FMI Dense Legend"/>
          <p:cNvSpPr txBox="1"/>
          <p:nvPr/>
        </p:nvSpPr>
        <p:spPr>
          <a:xfrm>
            <a:off x="9839325" y="4419600"/>
            <a:ext cx="2057400" cy="2047875"/>
          </a:xfrm>
          <a:prstGeom prst="rect">
            <a:avLst/>
          </a:prstGeom>
          <a:noFill/>
        </p:spPr>
        <p:txBody>
          <a:bodyPr wrap="square">
            <a:spAutoFit/>
          </a:bodyPr>
          <a:lstStyle/>
          <a:p>
            <a:pPr>
              <a:spcBef>
                <a:spcPts val="500"/>
              </a:spcBef>
            </a:pPr>
            <a:r>
              <a:rPr sz="900">
                <a:solidFill>
                  <a:srgbClr val="00A4DC"/>
                </a:solidFill>
                <a:latin typeface="Segoe UI"/>
              </a:rPr>
              <a:t>■  </a:t>
            </a:r>
            <a:r>
              <a:rPr sz="750">
                <a:solidFill>
                  <a:srgbClr val="252423"/>
                </a:solidFill>
                <a:latin typeface="Segoe UI"/>
              </a:rPr>
              <a:t>   Germany</a:t>
            </a:r>
          </a:p>
          <a:p>
            <a:pPr>
              <a:spcBef>
                <a:spcPts val="500"/>
              </a:spcBef>
            </a:pPr>
            <a:r>
              <a:rPr sz="900">
                <a:solidFill>
                  <a:srgbClr val="6ECFF2"/>
                </a:solidFill>
                <a:latin typeface="Segoe UI"/>
              </a:rPr>
              <a:t>■  </a:t>
            </a:r>
            <a:r>
              <a:rPr sz="750">
                <a:solidFill>
                  <a:srgbClr val="252423"/>
                </a:solidFill>
                <a:latin typeface="Segoe UI"/>
              </a:rPr>
              <a:t>   France</a:t>
            </a:r>
          </a:p>
          <a:p>
            <a:pPr>
              <a:spcBef>
                <a:spcPts val="500"/>
              </a:spcBef>
            </a:pPr>
            <a:r>
              <a:rPr sz="900">
                <a:solidFill>
                  <a:srgbClr val="EBC46B"/>
                </a:solidFill>
                <a:latin typeface="Segoe UI"/>
              </a:rPr>
              <a:t>■  </a:t>
            </a:r>
            <a:r>
              <a:rPr sz="750">
                <a:solidFill>
                  <a:srgbClr val="252423"/>
                </a:solidFill>
                <a:latin typeface="Segoe UI"/>
              </a:rPr>
              <a:t>   Italy</a:t>
            </a:r>
          </a:p>
          <a:p>
            <a:pPr>
              <a:spcBef>
                <a:spcPts val="500"/>
              </a:spcBef>
            </a:pPr>
            <a:r>
              <a:rPr sz="900">
                <a:solidFill>
                  <a:srgbClr val="D6CAC4"/>
                </a:solidFill>
                <a:latin typeface="Segoe UI"/>
              </a:rPr>
              <a:t>■  </a:t>
            </a:r>
            <a:r>
              <a:rPr sz="750">
                <a:solidFill>
                  <a:srgbClr val="252423"/>
                </a:solidFill>
                <a:latin typeface="Segoe UI"/>
              </a:rPr>
              <a:t>   U.K.</a:t>
            </a:r>
          </a:p>
          <a:p>
            <a:pPr>
              <a:spcBef>
                <a:spcPts val="500"/>
              </a:spcBef>
            </a:pPr>
            <a:r>
              <a:rPr sz="900">
                <a:solidFill>
                  <a:srgbClr val="EDA28B"/>
                </a:solidFill>
                <a:latin typeface="Segoe UI"/>
              </a:rPr>
              <a:t>■  </a:t>
            </a:r>
            <a:r>
              <a:rPr sz="750">
                <a:solidFill>
                  <a:srgbClr val="252423"/>
                </a:solidFill>
                <a:latin typeface="Segoe UI"/>
              </a:rPr>
              <a:t>   Spain</a:t>
            </a:r>
          </a:p>
          <a:p>
            <a:pPr>
              <a:spcBef>
                <a:spcPts val="500"/>
              </a:spcBef>
            </a:pPr>
            <a:r>
              <a:rPr sz="900">
                <a:solidFill>
                  <a:srgbClr val="C4E2F4"/>
                </a:solidFill>
                <a:latin typeface="Segoe UI"/>
              </a:rPr>
              <a:t>■  </a:t>
            </a:r>
            <a:r>
              <a:rPr sz="750">
                <a:solidFill>
                  <a:srgbClr val="252423"/>
                </a:solidFill>
                <a:latin typeface="Segoe UI"/>
              </a:rPr>
              <a:t>   BENELUX</a:t>
            </a:r>
          </a:p>
          <a:p>
            <a:pPr>
              <a:spcBef>
                <a:spcPts val="500"/>
              </a:spcBef>
            </a:pPr>
            <a:r>
              <a:rPr sz="900">
                <a:solidFill>
                  <a:srgbClr val="7D72E5"/>
                </a:solidFill>
                <a:latin typeface="Segoe UI"/>
              </a:rPr>
              <a:t>■  </a:t>
            </a:r>
            <a:r>
              <a:rPr sz="750">
                <a:solidFill>
                  <a:srgbClr val="252423"/>
                </a:solidFill>
                <a:latin typeface="Segoe UI"/>
              </a:rPr>
              <a:t>   Rest of Western Europe</a:t>
            </a:r>
          </a:p>
          <a:p>
            <a:pPr>
              <a:spcBef>
                <a:spcPts val="500"/>
              </a:spcBef>
            </a:pPr>
            <a:r>
              <a:rPr sz="900">
                <a:solidFill>
                  <a:srgbClr val="9AB3C7"/>
                </a:solidFill>
                <a:latin typeface="Segoe UI"/>
              </a:rPr>
              <a:t>■  </a:t>
            </a:r>
            <a:r>
              <a:rPr sz="750">
                <a:solidFill>
                  <a:srgbClr val="252423"/>
                </a:solidFill>
                <a:latin typeface="Segoe UI"/>
              </a:rPr>
              <a:t>   Nordics</a:t>
            </a:r>
          </a:p>
        </p:txBody>
      </p:sp>
      <p:sp>
        <p:nvSpPr>
          <p:cNvPr id="21" name="TextBox 2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Performance Knitted Fabrics Market Top 7 Countries (2036)</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hierarchy of the Western Europe market in 2036, highlighting the leading countries within each region by value</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Western Europe</a:t>
            </a:r>
          </a:p>
        </p:txBody>
      </p:sp>
      <p:sp>
        <p:nvSpPr>
          <p:cNvPr id="9" name="Rectangle 8"/>
          <p:cNvSpPr/>
          <p:nvPr/>
        </p:nvSpPr>
        <p:spPr>
          <a:xfrm>
            <a:off x="142875" y="981075"/>
            <a:ext cx="1190625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market by country  ·  2036 (US$ Mn)  ·  tile size = market value</a:t>
            </a:r>
          </a:p>
        </p:txBody>
      </p:sp>
      <p:sp>
        <p:nvSpPr>
          <p:cNvPr id="11" name="Rectangle 10"/>
          <p:cNvSpPr/>
          <p:nvPr/>
        </p:nvSpPr>
        <p:spPr>
          <a:xfrm>
            <a:off x="238125" y="1266825"/>
            <a:ext cx="3212095" cy="5305425"/>
          </a:xfrm>
          <a:prstGeom prst="rect">
            <a:avLst/>
          </a:prstGeom>
          <a:solidFill>
            <a:srgbClr val="00A4D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Germany</a:t>
            </a:r>
          </a:p>
          <a:p>
            <a:pPr algn="ctr"/>
            <a:r>
              <a:rPr sz="1100" b="0">
                <a:solidFill>
                  <a:srgbClr val="FFFFFF"/>
                </a:solidFill>
                <a:latin typeface="Segoe UI"/>
              </a:rPr>
              <a:t>704</a:t>
            </a:r>
          </a:p>
        </p:txBody>
      </p:sp>
      <p:sp>
        <p:nvSpPr>
          <p:cNvPr id="12" name="Rectangle 11"/>
          <p:cNvSpPr/>
          <p:nvPr/>
        </p:nvSpPr>
        <p:spPr>
          <a:xfrm>
            <a:off x="3450220" y="1266825"/>
            <a:ext cx="4389305" cy="2955954"/>
          </a:xfrm>
          <a:prstGeom prst="rect">
            <a:avLst/>
          </a:prstGeom>
          <a:solidFill>
            <a:srgbClr val="6ECFF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France</a:t>
            </a:r>
          </a:p>
          <a:p>
            <a:pPr algn="ctr"/>
            <a:r>
              <a:rPr sz="1100" b="0">
                <a:solidFill>
                  <a:srgbClr val="252423"/>
                </a:solidFill>
                <a:latin typeface="Segoe UI"/>
              </a:rPr>
              <a:t>536</a:t>
            </a:r>
          </a:p>
        </p:txBody>
      </p:sp>
      <p:sp>
        <p:nvSpPr>
          <p:cNvPr id="13" name="Rectangle 12"/>
          <p:cNvSpPr/>
          <p:nvPr/>
        </p:nvSpPr>
        <p:spPr>
          <a:xfrm>
            <a:off x="3450220" y="4222779"/>
            <a:ext cx="4389305" cy="2349471"/>
          </a:xfrm>
          <a:prstGeom prst="rect">
            <a:avLst/>
          </a:prstGeom>
          <a:solidFill>
            <a:srgbClr val="D6CA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Italy</a:t>
            </a:r>
          </a:p>
          <a:p>
            <a:pPr algn="ctr"/>
            <a:r>
              <a:rPr sz="1100" b="0">
                <a:solidFill>
                  <a:srgbClr val="252423"/>
                </a:solidFill>
                <a:latin typeface="Segoe UI"/>
              </a:rPr>
              <a:t>426</a:t>
            </a:r>
          </a:p>
        </p:txBody>
      </p:sp>
      <p:sp>
        <p:nvSpPr>
          <p:cNvPr id="14" name="Rectangle 13"/>
          <p:cNvSpPr/>
          <p:nvPr/>
        </p:nvSpPr>
        <p:spPr>
          <a:xfrm>
            <a:off x="7839526" y="1266825"/>
            <a:ext cx="4114349" cy="2477074"/>
          </a:xfrm>
          <a:prstGeom prst="rect">
            <a:avLst/>
          </a:prstGeom>
          <a:solidFill>
            <a:srgbClr val="EBC4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U.K.</a:t>
            </a:r>
          </a:p>
          <a:p>
            <a:pPr algn="ctr"/>
            <a:r>
              <a:rPr sz="1100" b="0">
                <a:solidFill>
                  <a:srgbClr val="252423"/>
                </a:solidFill>
                <a:latin typeface="Segoe UI"/>
              </a:rPr>
              <a:t>421</a:t>
            </a:r>
          </a:p>
        </p:txBody>
      </p:sp>
      <p:sp>
        <p:nvSpPr>
          <p:cNvPr id="15" name="Rectangle 14"/>
          <p:cNvSpPr/>
          <p:nvPr/>
        </p:nvSpPr>
        <p:spPr>
          <a:xfrm>
            <a:off x="7839526" y="3743899"/>
            <a:ext cx="2150629" cy="2828351"/>
          </a:xfrm>
          <a:prstGeom prst="rect">
            <a:avLst/>
          </a:prstGeom>
          <a:solidFill>
            <a:srgbClr val="EDA28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Spain</a:t>
            </a:r>
          </a:p>
          <a:p>
            <a:pPr algn="ctr"/>
            <a:r>
              <a:rPr sz="1100" b="0">
                <a:solidFill>
                  <a:srgbClr val="252423"/>
                </a:solidFill>
                <a:latin typeface="Segoe UI"/>
              </a:rPr>
              <a:t>251</a:t>
            </a:r>
          </a:p>
        </p:txBody>
      </p:sp>
      <p:sp>
        <p:nvSpPr>
          <p:cNvPr id="16" name="Rectangle 15"/>
          <p:cNvSpPr/>
          <p:nvPr/>
        </p:nvSpPr>
        <p:spPr>
          <a:xfrm>
            <a:off x="9990154" y="3743899"/>
            <a:ext cx="1963721" cy="1807926"/>
          </a:xfrm>
          <a:prstGeom prst="rect">
            <a:avLst/>
          </a:prstGeom>
          <a:solidFill>
            <a:srgbClr val="C4E2F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BENELUX</a:t>
            </a:r>
          </a:p>
          <a:p>
            <a:pPr algn="ctr"/>
            <a:r>
              <a:rPr sz="1100" b="0">
                <a:solidFill>
                  <a:srgbClr val="252423"/>
                </a:solidFill>
                <a:latin typeface="Segoe UI"/>
              </a:rPr>
              <a:t>147</a:t>
            </a:r>
          </a:p>
        </p:txBody>
      </p:sp>
      <p:sp>
        <p:nvSpPr>
          <p:cNvPr id="17" name="Rectangle 16"/>
          <p:cNvSpPr/>
          <p:nvPr/>
        </p:nvSpPr>
        <p:spPr>
          <a:xfrm>
            <a:off x="9990154" y="5551825"/>
            <a:ext cx="1963721" cy="1020425"/>
          </a:xfrm>
          <a:prstGeom prst="rect">
            <a:avLst/>
          </a:prstGeom>
          <a:solidFill>
            <a:srgbClr val="9AB3C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Nordics</a:t>
            </a:r>
          </a:p>
          <a:p>
            <a:pPr algn="ctr"/>
            <a:r>
              <a:rPr sz="1100" b="0">
                <a:solidFill>
                  <a:srgbClr val="252423"/>
                </a:solidFill>
                <a:latin typeface="Segoe UI"/>
              </a:rPr>
              <a:t>82.8</a:t>
            </a:r>
          </a:p>
        </p:txBody>
      </p:sp>
      <p:sp>
        <p:nvSpPr>
          <p:cNvPr id="18" name="TextBox 1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Fabric Construction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2 sub-segments of Fabric Construction,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Western Europe</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Fabric Construction segment categorizes the market by fabric construction.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4943475"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4943475"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Weft Knitted Fabrics</a:t>
            </a:r>
          </a:p>
        </p:txBody>
      </p:sp>
      <p:sp>
        <p:nvSpPr>
          <p:cNvPr id="21" name="Rectangle 20"/>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820.4</a:t>
            </a:r>
          </a:p>
        </p:txBody>
      </p:sp>
      <p:sp>
        <p:nvSpPr>
          <p:cNvPr id="22" name="Rectangle 21"/>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1,442</a:t>
            </a:r>
          </a:p>
        </p:txBody>
      </p:sp>
      <p:sp>
        <p:nvSpPr>
          <p:cNvPr id="23" name="Rectangle 22"/>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5.8%</a:t>
            </a:r>
          </a:p>
        </p:txBody>
      </p:sp>
      <p:sp>
        <p:nvSpPr>
          <p:cNvPr id="24" name="Oval 23"/>
          <p:cNvSpPr/>
          <p:nvPr/>
        </p:nvSpPr>
        <p:spPr>
          <a:xfrm>
            <a:off x="4176712"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6924675" y="1773916"/>
            <a:ext cx="4943475"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24675" y="1992961"/>
            <a:ext cx="4943475"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Warp Knitted Fabrics</a:t>
            </a:r>
          </a:p>
        </p:txBody>
      </p:sp>
      <p:sp>
        <p:nvSpPr>
          <p:cNvPr id="28" name="Rectangle 27"/>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629.8</a:t>
            </a:r>
          </a:p>
        </p:txBody>
      </p:sp>
      <p:sp>
        <p:nvSpPr>
          <p:cNvPr id="29" name="Rectangle 28"/>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1,231</a:t>
            </a:r>
          </a:p>
        </p:txBody>
      </p:sp>
      <p:sp>
        <p:nvSpPr>
          <p:cNvPr id="30" name="Rectangle 29"/>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6.9%</a:t>
            </a:r>
          </a:p>
        </p:txBody>
      </p:sp>
      <p:sp>
        <p:nvSpPr>
          <p:cNvPr id="31" name="Oval 30"/>
          <p:cNvSpPr/>
          <p:nvPr/>
        </p:nvSpPr>
        <p:spPr>
          <a:xfrm>
            <a:off x="9234488"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34" name="Rectangle 33"/>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fabric construction, warp knitted fabrics segment is expected to witness the highest CAGR of 6.9% over the forecast period. In terms of value share by fabric construction, the weft knitted fabrics segment is expected to dominate the market, losing 262 BPS and accounting for 54.0%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Weft knitted fabrics segment is projected to register 1.2X higher value than warp knitted fabrics segment in 2036.</a:t>
            </a:r>
          </a:p>
        </p:txBody>
      </p:sp>
      <p:sp>
        <p:nvSpPr>
          <p:cNvPr id="36" name="Rounded Rectangle 35"/>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38" name="Rectangle 37"/>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Weft Knitted Fabrics: </a:t>
            </a:r>
            <a:r>
              <a:rPr sz="1100" b="0">
                <a:solidFill>
                  <a:srgbClr val="252423"/>
                </a:solidFill>
                <a:latin typeface="Segoe UI"/>
              </a:rPr>
              <a:t>57% of 2026 value · 5.8%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Warp Knitted Fabrics: </a:t>
            </a:r>
            <a:r>
              <a:rPr sz="1100" b="0">
                <a:solidFill>
                  <a:srgbClr val="252423"/>
                </a:solidFill>
                <a:latin typeface="Segoe UI"/>
              </a:rPr>
              <a:t>43% of 2026 value · 6.9% CAGR grows fastest.</a:t>
            </a:r>
          </a:p>
        </p:txBody>
      </p:sp>
      <p:sp>
        <p:nvSpPr>
          <p:cNvPr id="40" name="Rounded Rectangle 39"/>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2" name="Rectangle 41"/>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Fabric Construction split shows how demand is distributed across fabric construction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44" name="Rectangle 43"/>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Fabric Construction segment is projected to grow at a CAGR of 6.3% from 2026 to 2036.</a:t>
            </a:r>
          </a:p>
        </p:txBody>
      </p:sp>
      <p:sp>
        <p:nvSpPr>
          <p:cNvPr id="46" name="TextBox 45"/>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7" name="TextBox 4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Market Value &amp; Share Shift, By Fabric Construction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Fabric Construction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Western Europe</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Value Composition, By Fabric Construction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2723954"/>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271919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264299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Warp Knitted Fabrics</a:t>
            </a:r>
          </a:p>
        </p:txBody>
      </p:sp>
      <p:sp>
        <p:nvSpPr>
          <p:cNvPr id="17" name="BPS Value 1"/>
          <p:cNvSpPr txBox="1"/>
          <p:nvPr/>
        </p:nvSpPr>
        <p:spPr>
          <a:xfrm>
            <a:off x="6896100" y="2704904"/>
            <a:ext cx="514350" cy="123825"/>
          </a:xfrm>
          <a:prstGeom prst="rect">
            <a:avLst/>
          </a:prstGeom>
          <a:noFill/>
        </p:spPr>
        <p:txBody>
          <a:bodyPr wrap="none" lIns="0" rIns="0" tIns="0" bIns="0" anchor="ctr">
            <a:spAutoFit/>
          </a:bodyPr>
          <a:lstStyle/>
          <a:p>
            <a:pPr algn="r"/>
            <a:r>
              <a:rPr sz="900" b="1">
                <a:solidFill>
                  <a:srgbClr val="1E8E3E"/>
                </a:solidFill>
                <a:latin typeface="Segoe UI"/>
              </a:rPr>
              <a:t>+262</a:t>
            </a:r>
          </a:p>
        </p:txBody>
      </p:sp>
      <p:sp>
        <p:nvSpPr>
          <p:cNvPr id="18" name="FMI Legend Chip"/>
          <p:cNvSpPr/>
          <p:nvPr/>
        </p:nvSpPr>
        <p:spPr>
          <a:xfrm>
            <a:off x="4928997" y="5010145"/>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5090922" y="500538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492918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Weft Knitted Fabrics</a:t>
            </a:r>
          </a:p>
        </p:txBody>
      </p:sp>
      <p:sp>
        <p:nvSpPr>
          <p:cNvPr id="21" name="BPS Value 2"/>
          <p:cNvSpPr txBox="1"/>
          <p:nvPr/>
        </p:nvSpPr>
        <p:spPr>
          <a:xfrm>
            <a:off x="6896100" y="4991095"/>
            <a:ext cx="514350" cy="123825"/>
          </a:xfrm>
          <a:prstGeom prst="rect">
            <a:avLst/>
          </a:prstGeom>
          <a:noFill/>
        </p:spPr>
        <p:txBody>
          <a:bodyPr wrap="none" lIns="0" rIns="0" tIns="0" bIns="0" anchor="ctr">
            <a:spAutoFit/>
          </a:bodyPr>
          <a:lstStyle/>
          <a:p>
            <a:pPr algn="r"/>
            <a:r>
              <a:rPr sz="900" b="1">
                <a:solidFill>
                  <a:srgbClr val="D64545"/>
                </a:solidFill>
                <a:latin typeface="Segoe UI"/>
              </a:rPr>
              <a:t>-262</a:t>
            </a:r>
          </a:p>
        </p:txBody>
      </p:sp>
      <p:sp>
        <p:nvSpPr>
          <p:cNvPr id="22" name="Rectangle 21"/>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Western Europe Read-out, By Fabric Construction</a:t>
            </a:r>
          </a:p>
        </p:txBody>
      </p:sp>
      <p:sp>
        <p:nvSpPr>
          <p:cNvPr id="24" name="Rectangle 23"/>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fabric construction, warp knitted fabrics segment is expected to witness the highest CAGR of 6.9% over the forecast period.</a:t>
            </a:r>
          </a:p>
          <a:p>
            <a:pPr algn="l">
              <a:lnSpc>
                <a:spcPct val="110000"/>
              </a:lnSpc>
              <a:spcBef>
                <a:spcPts val="0"/>
              </a:spcBef>
              <a:spcAft>
                <a:spcPts val="500"/>
              </a:spcAft>
            </a:pPr>
            <a:r>
              <a:rPr sz="1150" b="0">
                <a:solidFill>
                  <a:srgbClr val="252423"/>
                </a:solidFill>
                <a:latin typeface="Segoe UI"/>
              </a:rPr>
              <a:t>In terms of value share by fabric construction, the weft knitted fabrics segment is expected to dominate the market, losing 262 BPS and accounting for 54.0% share by 2036.</a:t>
            </a:r>
          </a:p>
        </p:txBody>
      </p:sp>
      <p:sp>
        <p:nvSpPr>
          <p:cNvPr id="26" name="TextBox 2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Material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6 sub-segments of Material,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Western Europe</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Material segment categorizes the market by material.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1571625"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1571625"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Polyester</a:t>
            </a:r>
          </a:p>
        </p:txBody>
      </p:sp>
      <p:sp>
        <p:nvSpPr>
          <p:cNvPr id="21" name="Rectangle 20"/>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481.8</a:t>
            </a:r>
          </a:p>
        </p:txBody>
      </p:sp>
      <p:sp>
        <p:nvSpPr>
          <p:cNvPr id="22" name="Rectangle 21"/>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839.9</a:t>
            </a:r>
          </a:p>
        </p:txBody>
      </p:sp>
      <p:sp>
        <p:nvSpPr>
          <p:cNvPr id="23" name="Rectangle 22"/>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5.7%</a:t>
            </a:r>
          </a:p>
        </p:txBody>
      </p:sp>
      <p:sp>
        <p:nvSpPr>
          <p:cNvPr id="24" name="Oval 23"/>
          <p:cNvSpPr/>
          <p:nvPr/>
        </p:nvSpPr>
        <p:spPr>
          <a:xfrm>
            <a:off x="2490788"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3552825" y="1773916"/>
            <a:ext cx="1571625"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552825" y="1992961"/>
            <a:ext cx="1571625"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Polyamide or Nylon</a:t>
            </a:r>
          </a:p>
        </p:txBody>
      </p:sp>
      <p:sp>
        <p:nvSpPr>
          <p:cNvPr id="28" name="Rectangle 27"/>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397.2</a:t>
            </a:r>
          </a:p>
        </p:txBody>
      </p:sp>
      <p:sp>
        <p:nvSpPr>
          <p:cNvPr id="29" name="Rectangle 28"/>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714.7</a:t>
            </a:r>
          </a:p>
        </p:txBody>
      </p:sp>
      <p:sp>
        <p:nvSpPr>
          <p:cNvPr id="30" name="Rectangle 29"/>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6.1%</a:t>
            </a:r>
          </a:p>
        </p:txBody>
      </p:sp>
      <p:sp>
        <p:nvSpPr>
          <p:cNvPr id="31" name="Oval 30"/>
          <p:cNvSpPr/>
          <p:nvPr/>
        </p:nvSpPr>
        <p:spPr>
          <a:xfrm>
            <a:off x="4176712"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5238750" y="1773916"/>
            <a:ext cx="1571625"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238750" y="1992961"/>
            <a:ext cx="1571625"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Elastane or Spandex Blends</a:t>
            </a:r>
          </a:p>
        </p:txBody>
      </p:sp>
      <p:sp>
        <p:nvSpPr>
          <p:cNvPr id="35" name="Rectangle 34"/>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226.8</a:t>
            </a:r>
          </a:p>
        </p:txBody>
      </p:sp>
      <p:sp>
        <p:nvSpPr>
          <p:cNvPr id="36" name="Rectangle 35"/>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447.0</a:t>
            </a:r>
          </a:p>
        </p:txBody>
      </p:sp>
      <p:sp>
        <p:nvSpPr>
          <p:cNvPr id="37" name="Rectangle 36"/>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7.0%</a:t>
            </a:r>
          </a:p>
        </p:txBody>
      </p:sp>
      <p:sp>
        <p:nvSpPr>
          <p:cNvPr id="38" name="Oval 37"/>
          <p:cNvSpPr/>
          <p:nvPr/>
        </p:nvSpPr>
        <p:spPr>
          <a:xfrm>
            <a:off x="5862638"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6924675" y="1773916"/>
            <a:ext cx="1571625"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924675" y="1992961"/>
            <a:ext cx="1571625"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High-Performance &amp; Specialty Fibe…</a:t>
            </a:r>
          </a:p>
        </p:txBody>
      </p:sp>
      <p:sp>
        <p:nvSpPr>
          <p:cNvPr id="42" name="Rectangle 41"/>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201.8</a:t>
            </a:r>
          </a:p>
        </p:txBody>
      </p:sp>
      <p:sp>
        <p:nvSpPr>
          <p:cNvPr id="43" name="Rectangle 42"/>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419.7</a:t>
            </a:r>
          </a:p>
        </p:txBody>
      </p:sp>
      <p:sp>
        <p:nvSpPr>
          <p:cNvPr id="44" name="Rectangle 43"/>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7.6%</a:t>
            </a:r>
          </a:p>
        </p:txBody>
      </p:sp>
      <p:sp>
        <p:nvSpPr>
          <p:cNvPr id="45" name="Oval 44"/>
          <p:cNvSpPr/>
          <p:nvPr/>
        </p:nvSpPr>
        <p:spPr>
          <a:xfrm>
            <a:off x="7548562"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8610600" y="1773916"/>
            <a:ext cx="1571625"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610600" y="1992961"/>
            <a:ext cx="1571625"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Cellulosic Fibers</a:t>
            </a:r>
          </a:p>
        </p:txBody>
      </p:sp>
      <p:sp>
        <p:nvSpPr>
          <p:cNvPr id="49" name="Rectangle 48"/>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95.6</a:t>
            </a:r>
          </a:p>
        </p:txBody>
      </p:sp>
      <p:sp>
        <p:nvSpPr>
          <p:cNvPr id="50" name="Rectangle 49"/>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164.5</a:t>
            </a:r>
          </a:p>
        </p:txBody>
      </p:sp>
      <p:sp>
        <p:nvSpPr>
          <p:cNvPr id="51" name="Rectangle 50"/>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5.6%</a:t>
            </a:r>
          </a:p>
        </p:txBody>
      </p:sp>
      <p:sp>
        <p:nvSpPr>
          <p:cNvPr id="52" name="Oval 51"/>
          <p:cNvSpPr/>
          <p:nvPr/>
        </p:nvSpPr>
        <p:spPr>
          <a:xfrm>
            <a:off x="9234488"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53" name="Rounded Rectangle 52"/>
          <p:cNvSpPr/>
          <p:nvPr/>
        </p:nvSpPr>
        <p:spPr>
          <a:xfrm>
            <a:off x="10296525" y="1773916"/>
            <a:ext cx="1571625"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296525" y="1992961"/>
            <a:ext cx="1571625"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Polypropylene</a:t>
            </a:r>
          </a:p>
        </p:txBody>
      </p:sp>
      <p:sp>
        <p:nvSpPr>
          <p:cNvPr id="56" name="Rectangle 55"/>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47.0</a:t>
            </a:r>
          </a:p>
        </p:txBody>
      </p:sp>
      <p:sp>
        <p:nvSpPr>
          <p:cNvPr id="57" name="Rectangle 56"/>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86.8</a:t>
            </a:r>
          </a:p>
        </p:txBody>
      </p:sp>
      <p:sp>
        <p:nvSpPr>
          <p:cNvPr id="58" name="Rectangle 57"/>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6.3%</a:t>
            </a:r>
          </a:p>
        </p:txBody>
      </p:sp>
      <p:sp>
        <p:nvSpPr>
          <p:cNvPr id="59" name="Oval 58"/>
          <p:cNvSpPr/>
          <p:nvPr/>
        </p:nvSpPr>
        <p:spPr>
          <a:xfrm>
            <a:off x="10920412"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60" name="Rounded Rectangle 5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62" name="Rectangle 61"/>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material, high-performance &amp; specialty fibers segment is expected to witness the highest CAGR of 7.6% over the forecast period. In terms of value share by material, the polyester segment is expected to dominate the market, losing 180 BPS and accounting for 31.4%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Polyester segment is projected to register 1.2X higher value than polyamide or nylon segment in 2036.</a:t>
            </a:r>
          </a:p>
        </p:txBody>
      </p:sp>
      <p:sp>
        <p:nvSpPr>
          <p:cNvPr id="64" name="Rounded Rectangle 6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66" name="Rectangle 65"/>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Polyester: </a:t>
            </a:r>
            <a:r>
              <a:rPr sz="1100" b="0">
                <a:solidFill>
                  <a:srgbClr val="252423"/>
                </a:solidFill>
                <a:latin typeface="Segoe UI"/>
              </a:rPr>
              <a:t>33% of 2026 value · 5.7%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Polyamide or Nylon: </a:t>
            </a:r>
            <a:r>
              <a:rPr sz="1100" b="0">
                <a:solidFill>
                  <a:srgbClr val="252423"/>
                </a:solidFill>
                <a:latin typeface="Segoe UI"/>
              </a:rPr>
              <a:t>27% of 2026 value · 6.1%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Elastane or Spandex Blends: </a:t>
            </a:r>
            <a:r>
              <a:rPr sz="1100" b="0">
                <a:solidFill>
                  <a:srgbClr val="252423"/>
                </a:solidFill>
                <a:latin typeface="Segoe UI"/>
              </a:rPr>
              <a:t>16% of 2026 value · 7.0% CAGR serves a niche.</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High-Performance &amp; Specialty Fibers: </a:t>
            </a:r>
            <a:r>
              <a:rPr sz="1100" b="0">
                <a:solidFill>
                  <a:srgbClr val="252423"/>
                </a:solidFill>
                <a:latin typeface="Segoe UI"/>
              </a:rPr>
              <a:t>14% of 2026 value · 7.6% CAGR grows fastest.</a:t>
            </a:r>
          </a:p>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Cellulosic Fibers: </a:t>
            </a:r>
            <a:r>
              <a:rPr sz="1100" b="0">
                <a:solidFill>
                  <a:srgbClr val="252423"/>
                </a:solidFill>
                <a:latin typeface="Segoe UI"/>
              </a:rPr>
              <a:t>7% of 2026 value · 5.6% CAGR serves a niche.</a:t>
            </a:r>
          </a:p>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Polypropylene: </a:t>
            </a:r>
            <a:r>
              <a:rPr sz="1100" b="0">
                <a:solidFill>
                  <a:srgbClr val="252423"/>
                </a:solidFill>
                <a:latin typeface="Segoe UI"/>
              </a:rPr>
              <a:t>3% of 2026 value · 6.3% CAGR serves a niche.</a:t>
            </a:r>
          </a:p>
        </p:txBody>
      </p:sp>
      <p:sp>
        <p:nvSpPr>
          <p:cNvPr id="68" name="Rounded Rectangle 6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70" name="Rectangle 69"/>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Material split shows how demand is distributed across material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72" name="Rectangle 7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Material segment is projected to grow at a CAGR of 6.3% from 2026 to 2036.</a:t>
            </a:r>
          </a:p>
        </p:txBody>
      </p:sp>
      <p:sp>
        <p:nvSpPr>
          <p:cNvPr id="74" name="TextBox 73"/>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75" name="TextBox 7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Market Value &amp; Share Shift, By Material</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Material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Western Europe</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Value Composition, By Material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745511"/>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174074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66454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Polypropylene</a:t>
            </a:r>
          </a:p>
        </p:txBody>
      </p:sp>
      <p:sp>
        <p:nvSpPr>
          <p:cNvPr id="17" name="BPS Value 1"/>
          <p:cNvSpPr txBox="1"/>
          <p:nvPr/>
        </p:nvSpPr>
        <p:spPr>
          <a:xfrm>
            <a:off x="6896100" y="1726461"/>
            <a:ext cx="514350" cy="123825"/>
          </a:xfrm>
          <a:prstGeom prst="rect">
            <a:avLst/>
          </a:prstGeom>
          <a:noFill/>
        </p:spPr>
        <p:txBody>
          <a:bodyPr wrap="none" lIns="0" rIns="0" tIns="0" bIns="0" anchor="ctr">
            <a:spAutoFit/>
          </a:bodyPr>
          <a:lstStyle/>
          <a:p>
            <a:pPr algn="r"/>
            <a:r>
              <a:rPr sz="900" b="1">
                <a:solidFill>
                  <a:srgbClr val="1E8E3E"/>
                </a:solidFill>
                <a:latin typeface="Segoe UI"/>
              </a:rPr>
              <a:t>+0</a:t>
            </a:r>
          </a:p>
        </p:txBody>
      </p:sp>
      <p:sp>
        <p:nvSpPr>
          <p:cNvPr id="18" name="FMI Legend Chip"/>
          <p:cNvSpPr/>
          <p:nvPr/>
        </p:nvSpPr>
        <p:spPr>
          <a:xfrm>
            <a:off x="4928997" y="1960475"/>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5090922" y="195571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187951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Cellulosic Fibers</a:t>
            </a:r>
          </a:p>
        </p:txBody>
      </p:sp>
      <p:sp>
        <p:nvSpPr>
          <p:cNvPr id="21" name="BPS Value 2"/>
          <p:cNvSpPr txBox="1"/>
          <p:nvPr/>
        </p:nvSpPr>
        <p:spPr>
          <a:xfrm>
            <a:off x="6896100" y="1941425"/>
            <a:ext cx="514350" cy="123825"/>
          </a:xfrm>
          <a:prstGeom prst="rect">
            <a:avLst/>
          </a:prstGeom>
          <a:noFill/>
        </p:spPr>
        <p:txBody>
          <a:bodyPr wrap="none" lIns="0" rIns="0" tIns="0" bIns="0" anchor="ctr">
            <a:spAutoFit/>
          </a:bodyPr>
          <a:lstStyle/>
          <a:p>
            <a:pPr algn="r"/>
            <a:r>
              <a:rPr sz="900" b="1">
                <a:solidFill>
                  <a:srgbClr val="D64545"/>
                </a:solidFill>
                <a:latin typeface="Segoe UI"/>
              </a:rPr>
              <a:t>-44</a:t>
            </a:r>
          </a:p>
        </p:txBody>
      </p:sp>
      <p:sp>
        <p:nvSpPr>
          <p:cNvPr id="22" name="FMI Legend Chip"/>
          <p:cNvSpPr/>
          <p:nvPr/>
        </p:nvSpPr>
        <p:spPr>
          <a:xfrm>
            <a:off x="4928997" y="2460238"/>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5090922" y="2455476"/>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37927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High-Performance &amp; Specialty Fibers</a:t>
            </a:r>
          </a:p>
        </p:txBody>
      </p:sp>
      <p:sp>
        <p:nvSpPr>
          <p:cNvPr id="25" name="BPS Value 3"/>
          <p:cNvSpPr txBox="1"/>
          <p:nvPr/>
        </p:nvSpPr>
        <p:spPr>
          <a:xfrm>
            <a:off x="6896100" y="2441188"/>
            <a:ext cx="514350" cy="123825"/>
          </a:xfrm>
          <a:prstGeom prst="rect">
            <a:avLst/>
          </a:prstGeom>
          <a:noFill/>
        </p:spPr>
        <p:txBody>
          <a:bodyPr wrap="none" lIns="0" rIns="0" tIns="0" bIns="0" anchor="ctr">
            <a:spAutoFit/>
          </a:bodyPr>
          <a:lstStyle/>
          <a:p>
            <a:pPr algn="r"/>
            <a:r>
              <a:rPr sz="900" b="1">
                <a:solidFill>
                  <a:srgbClr val="1E8E3E"/>
                </a:solidFill>
                <a:latin typeface="Segoe UI"/>
              </a:rPr>
              <a:t>+179</a:t>
            </a:r>
          </a:p>
        </p:txBody>
      </p:sp>
      <p:sp>
        <p:nvSpPr>
          <p:cNvPr id="26" name="FMI Legend Chip"/>
          <p:cNvSpPr/>
          <p:nvPr/>
        </p:nvSpPr>
        <p:spPr>
          <a:xfrm>
            <a:off x="4928997" y="3201668"/>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5090922" y="3196906"/>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312070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Elastane or Spandex Blends</a:t>
            </a:r>
          </a:p>
        </p:txBody>
      </p:sp>
      <p:sp>
        <p:nvSpPr>
          <p:cNvPr id="29" name="BPS Value 4"/>
          <p:cNvSpPr txBox="1"/>
          <p:nvPr/>
        </p:nvSpPr>
        <p:spPr>
          <a:xfrm>
            <a:off x="6896100" y="3182618"/>
            <a:ext cx="514350" cy="123825"/>
          </a:xfrm>
          <a:prstGeom prst="rect">
            <a:avLst/>
          </a:prstGeom>
          <a:noFill/>
        </p:spPr>
        <p:txBody>
          <a:bodyPr wrap="none" lIns="0" rIns="0" tIns="0" bIns="0" anchor="ctr">
            <a:spAutoFit/>
          </a:bodyPr>
          <a:lstStyle/>
          <a:p>
            <a:pPr algn="r"/>
            <a:r>
              <a:rPr sz="900" b="1">
                <a:solidFill>
                  <a:srgbClr val="1E8E3E"/>
                </a:solidFill>
                <a:latin typeface="Segoe UI"/>
              </a:rPr>
              <a:t>+109</a:t>
            </a:r>
          </a:p>
        </p:txBody>
      </p:sp>
      <p:sp>
        <p:nvSpPr>
          <p:cNvPr id="30" name="FMI Legend Chip"/>
          <p:cNvSpPr/>
          <p:nvPr/>
        </p:nvSpPr>
        <p:spPr>
          <a:xfrm>
            <a:off x="4928997" y="4195397"/>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rot="10800000">
            <a:off x="5090922" y="419063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411443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Polyamide or Nylon</a:t>
            </a:r>
          </a:p>
        </p:txBody>
      </p:sp>
      <p:sp>
        <p:nvSpPr>
          <p:cNvPr id="33" name="BPS Value 5"/>
          <p:cNvSpPr txBox="1"/>
          <p:nvPr/>
        </p:nvSpPr>
        <p:spPr>
          <a:xfrm>
            <a:off x="6896100" y="4176347"/>
            <a:ext cx="514350" cy="123825"/>
          </a:xfrm>
          <a:prstGeom prst="rect">
            <a:avLst/>
          </a:prstGeom>
          <a:noFill/>
        </p:spPr>
        <p:txBody>
          <a:bodyPr wrap="none" lIns="0" rIns="0" tIns="0" bIns="0" anchor="ctr">
            <a:spAutoFit/>
          </a:bodyPr>
          <a:lstStyle/>
          <a:p>
            <a:pPr algn="r"/>
            <a:r>
              <a:rPr sz="900" b="1">
                <a:solidFill>
                  <a:srgbClr val="D64545"/>
                </a:solidFill>
                <a:latin typeface="Segoe UI"/>
              </a:rPr>
              <a:t>-64</a:t>
            </a:r>
          </a:p>
        </p:txBody>
      </p:sp>
      <p:sp>
        <p:nvSpPr>
          <p:cNvPr id="34" name="FMI Legend Chip"/>
          <p:cNvSpPr/>
          <p:nvPr/>
        </p:nvSpPr>
        <p:spPr>
          <a:xfrm>
            <a:off x="4928997" y="5525194"/>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rot="10800000">
            <a:off x="5090922" y="552043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544423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Polyester</a:t>
            </a:r>
          </a:p>
        </p:txBody>
      </p:sp>
      <p:sp>
        <p:nvSpPr>
          <p:cNvPr id="37" name="BPS Value 6"/>
          <p:cNvSpPr txBox="1"/>
          <p:nvPr/>
        </p:nvSpPr>
        <p:spPr>
          <a:xfrm>
            <a:off x="6896100" y="5506144"/>
            <a:ext cx="514350" cy="123825"/>
          </a:xfrm>
          <a:prstGeom prst="rect">
            <a:avLst/>
          </a:prstGeom>
          <a:noFill/>
        </p:spPr>
        <p:txBody>
          <a:bodyPr wrap="none" lIns="0" rIns="0" tIns="0" bIns="0" anchor="ctr">
            <a:spAutoFit/>
          </a:bodyPr>
          <a:lstStyle/>
          <a:p>
            <a:pPr algn="r"/>
            <a:r>
              <a:rPr sz="900" b="1">
                <a:solidFill>
                  <a:srgbClr val="D64545"/>
                </a:solidFill>
                <a:latin typeface="Segoe UI"/>
              </a:rPr>
              <a:t>-180</a:t>
            </a:r>
          </a:p>
        </p:txBody>
      </p:sp>
      <p:sp>
        <p:nvSpPr>
          <p:cNvPr id="38" name="Rectangle 37"/>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Western Europe Read-out, By Material</a:t>
            </a:r>
          </a:p>
        </p:txBody>
      </p:sp>
      <p:sp>
        <p:nvSpPr>
          <p:cNvPr id="40" name="Rectangle 39"/>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material, high-performance &amp; specialty fibers segment is expected to witness the highest CAGR of 7.6% over the forecast period.</a:t>
            </a:r>
          </a:p>
          <a:p>
            <a:pPr algn="l">
              <a:lnSpc>
                <a:spcPct val="110000"/>
              </a:lnSpc>
              <a:spcBef>
                <a:spcPts val="0"/>
              </a:spcBef>
              <a:spcAft>
                <a:spcPts val="500"/>
              </a:spcAft>
            </a:pPr>
            <a:r>
              <a:rPr sz="1150" b="0">
                <a:solidFill>
                  <a:srgbClr val="252423"/>
                </a:solidFill>
                <a:latin typeface="Segoe UI"/>
              </a:rPr>
              <a:t>In terms of value share by material, the polyester segment is expected to dominate the market, losing 180 BPS and accounting for 31.4% share by 2036.</a:t>
            </a:r>
          </a:p>
        </p:txBody>
      </p:sp>
      <p:sp>
        <p:nvSpPr>
          <p:cNvPr id="42" name="TextBox 4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Primary Performance Function Segment Outlook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10 sub-segments of Primary Performance Function,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Western Europe</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Primary Performance Function segment categorizes the market by primary performance function.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190881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190881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Thermal Management</a:t>
            </a:r>
          </a:p>
        </p:txBody>
      </p:sp>
      <p:sp>
        <p:nvSpPr>
          <p:cNvPr id="21" name="Rectangle 20"/>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263.1</a:t>
            </a:r>
          </a:p>
        </p:txBody>
      </p:sp>
      <p:sp>
        <p:nvSpPr>
          <p:cNvPr id="22" name="Rectangle 21"/>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512.3</a:t>
            </a:r>
          </a:p>
        </p:txBody>
      </p:sp>
      <p:sp>
        <p:nvSpPr>
          <p:cNvPr id="23" name="Rectangle 22"/>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6.9%</a:t>
            </a:r>
          </a:p>
        </p:txBody>
      </p:sp>
      <p:sp>
        <p:nvSpPr>
          <p:cNvPr id="24" name="Oval 23"/>
          <p:cNvSpPr/>
          <p:nvPr/>
        </p:nvSpPr>
        <p:spPr>
          <a:xfrm>
            <a:off x="265938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3890010" y="1773916"/>
            <a:ext cx="190881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890010" y="1992961"/>
            <a:ext cx="190881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Moisture Management &amp; Quick-Dry</a:t>
            </a:r>
          </a:p>
        </p:txBody>
      </p:sp>
      <p:sp>
        <p:nvSpPr>
          <p:cNvPr id="28" name="Rectangle 27"/>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249.5</a:t>
            </a:r>
          </a:p>
        </p:txBody>
      </p:sp>
      <p:sp>
        <p:nvSpPr>
          <p:cNvPr id="29" name="Rectangle 28"/>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469.0</a:t>
            </a:r>
          </a:p>
        </p:txBody>
      </p:sp>
      <p:sp>
        <p:nvSpPr>
          <p:cNvPr id="30" name="Rectangle 29"/>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6.5%</a:t>
            </a:r>
          </a:p>
        </p:txBody>
      </p:sp>
      <p:sp>
        <p:nvSpPr>
          <p:cNvPr id="31" name="Oval 30"/>
          <p:cNvSpPr/>
          <p:nvPr/>
        </p:nvSpPr>
        <p:spPr>
          <a:xfrm>
            <a:off x="468249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5913120" y="1773916"/>
            <a:ext cx="190881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913120" y="1992961"/>
            <a:ext cx="190881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Stretch &amp; Recovery</a:t>
            </a:r>
          </a:p>
        </p:txBody>
      </p:sp>
      <p:sp>
        <p:nvSpPr>
          <p:cNvPr id="35" name="Rectangle 34"/>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227.5</a:t>
            </a:r>
          </a:p>
        </p:txBody>
      </p:sp>
      <p:sp>
        <p:nvSpPr>
          <p:cNvPr id="36" name="Rectangle 35"/>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390.8</a:t>
            </a:r>
          </a:p>
        </p:txBody>
      </p:sp>
      <p:sp>
        <p:nvSpPr>
          <p:cNvPr id="37" name="Rectangle 36"/>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5.6%</a:t>
            </a:r>
          </a:p>
        </p:txBody>
      </p:sp>
      <p:sp>
        <p:nvSpPr>
          <p:cNvPr id="38" name="Oval 37"/>
          <p:cNvSpPr/>
          <p:nvPr/>
        </p:nvSpPr>
        <p:spPr>
          <a:xfrm>
            <a:off x="670560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7936230" y="1773916"/>
            <a:ext cx="1908810"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36230" y="1992961"/>
            <a:ext cx="1908810"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Compression &amp; Support</a:t>
            </a:r>
          </a:p>
        </p:txBody>
      </p:sp>
      <p:sp>
        <p:nvSpPr>
          <p:cNvPr id="42" name="Rectangle 41"/>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225.5</a:t>
            </a:r>
          </a:p>
        </p:txBody>
      </p:sp>
      <p:sp>
        <p:nvSpPr>
          <p:cNvPr id="43" name="Rectangle 42"/>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396.5</a:t>
            </a:r>
          </a:p>
        </p:txBody>
      </p:sp>
      <p:sp>
        <p:nvSpPr>
          <p:cNvPr id="44" name="Rectangle 43"/>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5.8%</a:t>
            </a:r>
          </a:p>
        </p:txBody>
      </p:sp>
      <p:sp>
        <p:nvSpPr>
          <p:cNvPr id="45" name="Oval 44"/>
          <p:cNvSpPr/>
          <p:nvPr/>
        </p:nvSpPr>
        <p:spPr>
          <a:xfrm>
            <a:off x="8728710"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9959340" y="1773916"/>
            <a:ext cx="1908810"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959340" y="1992961"/>
            <a:ext cx="1908810"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Antimicrobial &amp; Odor Control</a:t>
            </a:r>
          </a:p>
        </p:txBody>
      </p:sp>
      <p:sp>
        <p:nvSpPr>
          <p:cNvPr id="49" name="Rectangle 48"/>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140.4</a:t>
            </a:r>
          </a:p>
        </p:txBody>
      </p:sp>
      <p:sp>
        <p:nvSpPr>
          <p:cNvPr id="50" name="Rectangle 49"/>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277.8</a:t>
            </a:r>
          </a:p>
        </p:txBody>
      </p:sp>
      <p:sp>
        <p:nvSpPr>
          <p:cNvPr id="51" name="Rectangle 50"/>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7.1%</a:t>
            </a:r>
          </a:p>
        </p:txBody>
      </p:sp>
      <p:sp>
        <p:nvSpPr>
          <p:cNvPr id="52" name="Oval 51"/>
          <p:cNvSpPr/>
          <p:nvPr/>
        </p:nvSpPr>
        <p:spPr>
          <a:xfrm>
            <a:off x="10751820"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53" name="Rounded Rectangle 5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55" name="Rectangle 54"/>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Among performance knitted fabrics by primary performance function, other specialized performance segment is expected to witness the highest CAGR of 8.4% over the forecast period. In terms of value share by primary performance function, the thermal management segment is expected to dominate the market, gaining 102 BPS and accounting for 19.2% share by 2036.</a:t>
            </a:r>
          </a:p>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Thermal management segment is projected to register 1.1X higher value than moisture management &amp; quick-dry segment in 2036.</a:t>
            </a:r>
          </a:p>
        </p:txBody>
      </p:sp>
      <p:sp>
        <p:nvSpPr>
          <p:cNvPr id="57" name="Rounded Rectangle 5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9" name="Rectangle 58"/>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Thermal Management: </a:t>
            </a:r>
            <a:r>
              <a:rPr sz="1100" b="0">
                <a:solidFill>
                  <a:srgbClr val="252423"/>
                </a:solidFill>
                <a:latin typeface="Segoe UI"/>
              </a:rPr>
              <a:t>18% of 2026 value · 6.9%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Moisture Management &amp; Quick-Dry: </a:t>
            </a:r>
            <a:r>
              <a:rPr sz="1100" b="0">
                <a:solidFill>
                  <a:srgbClr val="252423"/>
                </a:solidFill>
                <a:latin typeface="Segoe UI"/>
              </a:rPr>
              <a:t>17% of 2026 value · 6.5%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Stretch &amp; Recovery: </a:t>
            </a:r>
            <a:r>
              <a:rPr sz="1100" b="0">
                <a:solidFill>
                  <a:srgbClr val="252423"/>
                </a:solidFill>
                <a:latin typeface="Segoe UI"/>
              </a:rPr>
              <a:t>16% of 2026 value · 5.6% CAGR serves a niche.</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Compression &amp; Support: </a:t>
            </a:r>
            <a:r>
              <a:rPr sz="1100" b="0">
                <a:solidFill>
                  <a:srgbClr val="252423"/>
                </a:solidFill>
                <a:latin typeface="Segoe UI"/>
              </a:rPr>
              <a:t>16% of 2026 value · 5.8% CAGR serves a niche.</a:t>
            </a:r>
          </a:p>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Antimicrobial &amp; Odor Control: </a:t>
            </a:r>
            <a:r>
              <a:rPr sz="1100" b="0">
                <a:solidFill>
                  <a:srgbClr val="252423"/>
                </a:solidFill>
                <a:latin typeface="Segoe UI"/>
              </a:rPr>
              <a:t>10% of 2026 value · 7.1% CAGR serves a niche.</a:t>
            </a:r>
          </a:p>
        </p:txBody>
      </p:sp>
      <p:sp>
        <p:nvSpPr>
          <p:cNvPr id="61" name="Rounded Rectangle 6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63" name="Rectangle 62"/>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Primary Performance Function split shows how demand is distributed across primary performance function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65" name="Rectangle 6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Primary Performance Function segment is projected to grow at a CAGR of 6.3% from 2026 to 2036.</a:t>
            </a:r>
          </a:p>
        </p:txBody>
      </p:sp>
      <p:sp>
        <p:nvSpPr>
          <p:cNvPr id="67" name="TextBox 66"/>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8" name="TextBox 6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Primary Performance Function Segment Outlook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10 sub-segments of Primary Performance Function,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Primary Performance Function segment categorizes the market by primary performance function.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1908810"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1908810"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Abrasion &amp; Tear Resistance</a:t>
            </a:r>
          </a:p>
        </p:txBody>
      </p:sp>
      <p:sp>
        <p:nvSpPr>
          <p:cNvPr id="20" name="Rectangle 19"/>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99.4</a:t>
            </a:r>
          </a:p>
        </p:txBody>
      </p:sp>
      <p:sp>
        <p:nvSpPr>
          <p:cNvPr id="21" name="Rectangle 20"/>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168.0</a:t>
            </a:r>
          </a:p>
        </p:txBody>
      </p:sp>
      <p:sp>
        <p:nvSpPr>
          <p:cNvPr id="22" name="Rectangle 21"/>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5.4%</a:t>
            </a:r>
          </a:p>
        </p:txBody>
      </p:sp>
      <p:sp>
        <p:nvSpPr>
          <p:cNvPr id="23" name="Oval 22"/>
          <p:cNvSpPr/>
          <p:nvPr/>
        </p:nvSpPr>
        <p:spPr>
          <a:xfrm>
            <a:off x="2659380"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24" name="Rounded Rectangle 23"/>
          <p:cNvSpPr/>
          <p:nvPr/>
        </p:nvSpPr>
        <p:spPr>
          <a:xfrm>
            <a:off x="3890010" y="1773916"/>
            <a:ext cx="1908810"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90010" y="1992961"/>
            <a:ext cx="1908810"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Water or Liquid Management</a:t>
            </a:r>
          </a:p>
        </p:txBody>
      </p:sp>
      <p:sp>
        <p:nvSpPr>
          <p:cNvPr id="27" name="Rectangle 26"/>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88.8</a:t>
            </a:r>
          </a:p>
        </p:txBody>
      </p:sp>
      <p:sp>
        <p:nvSpPr>
          <p:cNvPr id="28" name="Rectangle 27"/>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152.4</a:t>
            </a:r>
          </a:p>
        </p:txBody>
      </p:sp>
      <p:sp>
        <p:nvSpPr>
          <p:cNvPr id="29" name="Rectangle 28"/>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5.5%</a:t>
            </a:r>
          </a:p>
        </p:txBody>
      </p:sp>
      <p:sp>
        <p:nvSpPr>
          <p:cNvPr id="30" name="Oval 29"/>
          <p:cNvSpPr/>
          <p:nvPr/>
        </p:nvSpPr>
        <p:spPr>
          <a:xfrm>
            <a:off x="4682490"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31" name="Rounded Rectangle 30"/>
          <p:cNvSpPr/>
          <p:nvPr/>
        </p:nvSpPr>
        <p:spPr>
          <a:xfrm>
            <a:off x="5913120" y="1773916"/>
            <a:ext cx="190881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913120" y="1992961"/>
            <a:ext cx="190881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Other Specialized Performance</a:t>
            </a:r>
          </a:p>
        </p:txBody>
      </p:sp>
      <p:sp>
        <p:nvSpPr>
          <p:cNvPr id="34" name="Rectangle 33"/>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59.1</a:t>
            </a:r>
          </a:p>
        </p:txBody>
      </p:sp>
      <p:sp>
        <p:nvSpPr>
          <p:cNvPr id="35" name="Rectangle 34"/>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131.8</a:t>
            </a:r>
          </a:p>
        </p:txBody>
      </p:sp>
      <p:sp>
        <p:nvSpPr>
          <p:cNvPr id="36" name="Rectangle 35"/>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8.4%</a:t>
            </a:r>
          </a:p>
        </p:txBody>
      </p:sp>
      <p:sp>
        <p:nvSpPr>
          <p:cNvPr id="37" name="Oval 36"/>
          <p:cNvSpPr/>
          <p:nvPr/>
        </p:nvSpPr>
        <p:spPr>
          <a:xfrm>
            <a:off x="670560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8</a:t>
            </a:r>
          </a:p>
        </p:txBody>
      </p:sp>
      <p:sp>
        <p:nvSpPr>
          <p:cNvPr id="38" name="Rounded Rectangle 37"/>
          <p:cNvSpPr/>
          <p:nvPr/>
        </p:nvSpPr>
        <p:spPr>
          <a:xfrm>
            <a:off x="7936230" y="1773916"/>
            <a:ext cx="190881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936230" y="1992961"/>
            <a:ext cx="190881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Flame &amp; Heat Resistance</a:t>
            </a:r>
          </a:p>
        </p:txBody>
      </p:sp>
      <p:sp>
        <p:nvSpPr>
          <p:cNvPr id="41" name="Rectangle 40"/>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55.5</a:t>
            </a:r>
          </a:p>
        </p:txBody>
      </p:sp>
      <p:sp>
        <p:nvSpPr>
          <p:cNvPr id="42" name="Rectangle 41"/>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105.6</a:t>
            </a:r>
          </a:p>
        </p:txBody>
      </p:sp>
      <p:sp>
        <p:nvSpPr>
          <p:cNvPr id="43" name="Rectangle 42"/>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6.6%</a:t>
            </a:r>
          </a:p>
        </p:txBody>
      </p:sp>
      <p:sp>
        <p:nvSpPr>
          <p:cNvPr id="44" name="Oval 43"/>
          <p:cNvSpPr/>
          <p:nvPr/>
        </p:nvSpPr>
        <p:spPr>
          <a:xfrm>
            <a:off x="872871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9</a:t>
            </a:r>
          </a:p>
        </p:txBody>
      </p:sp>
      <p:sp>
        <p:nvSpPr>
          <p:cNvPr id="45" name="Rounded Rectangle 44"/>
          <p:cNvSpPr/>
          <p:nvPr/>
        </p:nvSpPr>
        <p:spPr>
          <a:xfrm>
            <a:off x="9959340" y="1773916"/>
            <a:ext cx="190881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959340" y="1992961"/>
            <a:ext cx="190881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UV Protection</a:t>
            </a:r>
          </a:p>
        </p:txBody>
      </p:sp>
      <p:sp>
        <p:nvSpPr>
          <p:cNvPr id="48" name="Rectangle 47"/>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41.5</a:t>
            </a:r>
          </a:p>
        </p:txBody>
      </p:sp>
      <p:sp>
        <p:nvSpPr>
          <p:cNvPr id="49" name="Rectangle 48"/>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68.4</a:t>
            </a:r>
          </a:p>
        </p:txBody>
      </p:sp>
      <p:sp>
        <p:nvSpPr>
          <p:cNvPr id="50" name="Rectangle 49"/>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5.1%</a:t>
            </a:r>
          </a:p>
        </p:txBody>
      </p:sp>
      <p:sp>
        <p:nvSpPr>
          <p:cNvPr id="51" name="Oval 50"/>
          <p:cNvSpPr/>
          <p:nvPr/>
        </p:nvSpPr>
        <p:spPr>
          <a:xfrm>
            <a:off x="1075182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10</a:t>
            </a:r>
          </a:p>
        </p:txBody>
      </p:sp>
      <p:sp>
        <p:nvSpPr>
          <p:cNvPr id="52" name="Rounded Rectangle 51"/>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4" name="Rectangle 53"/>
          <p:cNvSpPr/>
          <p:nvPr/>
        </p:nvSpPr>
        <p:spPr>
          <a:xfrm>
            <a:off x="457200" y="4146897"/>
            <a:ext cx="112776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Abrasion &amp; Tear Resistance: </a:t>
            </a:r>
            <a:r>
              <a:rPr sz="1100" b="0">
                <a:solidFill>
                  <a:srgbClr val="252423"/>
                </a:solidFill>
                <a:latin typeface="Segoe UI"/>
              </a:rPr>
              <a:t>7% of 2026 value · 5.4% CAGR serves a niche.</a:t>
            </a:r>
          </a:p>
          <a:p>
            <a:pPr algn="l">
              <a:lnSpc>
                <a:spcPct val="110000"/>
              </a:lnSpc>
              <a:spcBef>
                <a:spcPts val="0"/>
              </a:spcBef>
              <a:spcAft>
                <a:spcPts val="500"/>
              </a:spcAft>
            </a:pPr>
            <a:r>
              <a:rPr sz="1100" b="0">
                <a:solidFill>
                  <a:srgbClr val="2C6E7F"/>
                </a:solidFill>
                <a:latin typeface="Segoe UI"/>
              </a:rPr>
              <a:t>●  </a:t>
            </a:r>
            <a:r>
              <a:rPr sz="1100" b="1">
                <a:solidFill>
                  <a:srgbClr val="2C6E7F"/>
                </a:solidFill>
                <a:latin typeface="Segoe UI"/>
              </a:rPr>
              <a:t>Water or Liquid Management: </a:t>
            </a:r>
            <a:r>
              <a:rPr sz="1100" b="0">
                <a:solidFill>
                  <a:srgbClr val="252423"/>
                </a:solidFill>
                <a:latin typeface="Segoe UI"/>
              </a:rPr>
              <a:t>6% of 2026 value · 5.5% CAGR serves a niche.</a:t>
            </a:r>
          </a:p>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Other Specialized Performance: </a:t>
            </a:r>
            <a:r>
              <a:rPr sz="1100" b="0">
                <a:solidFill>
                  <a:srgbClr val="252423"/>
                </a:solidFill>
                <a:latin typeface="Segoe UI"/>
              </a:rPr>
              <a:t>4% of 2026 value · 8.4% CAGR grows fastest.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Flame &amp; Heat Resistance: </a:t>
            </a:r>
            <a:r>
              <a:rPr sz="1100" b="0">
                <a:solidFill>
                  <a:srgbClr val="252423"/>
                </a:solidFill>
                <a:latin typeface="Segoe UI"/>
              </a:rPr>
              <a:t>4% of 2026 value · 6.6%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UV Protection: </a:t>
            </a:r>
            <a:r>
              <a:rPr sz="1100" b="0">
                <a:solidFill>
                  <a:srgbClr val="252423"/>
                </a:solidFill>
                <a:latin typeface="Segoe UI"/>
              </a:rPr>
              <a:t>3% of 2026 value · 5.1% CAGR serves a niche.</a:t>
            </a:r>
          </a:p>
        </p:txBody>
      </p:sp>
      <p:sp>
        <p:nvSpPr>
          <p:cNvPr id="56" name="TextBox 55"/>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57" name="TextBox 5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Market Value &amp; Share Shift, By Primary Performance Function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Primary Performance Function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Western Europe</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Value Composition, By Primary Performance Function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729743"/>
            <a:ext cx="85725" cy="85725"/>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5090922" y="172498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64878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UV Protection</a:t>
            </a:r>
          </a:p>
        </p:txBody>
      </p:sp>
      <p:sp>
        <p:nvSpPr>
          <p:cNvPr id="17" name="BPS Value 1"/>
          <p:cNvSpPr txBox="1"/>
          <p:nvPr/>
        </p:nvSpPr>
        <p:spPr>
          <a:xfrm>
            <a:off x="6896100" y="1710693"/>
            <a:ext cx="514350" cy="123825"/>
          </a:xfrm>
          <a:prstGeom prst="rect">
            <a:avLst/>
          </a:prstGeom>
          <a:noFill/>
        </p:spPr>
        <p:txBody>
          <a:bodyPr wrap="none" lIns="0" rIns="0" tIns="0" bIns="0" anchor="ctr">
            <a:spAutoFit/>
          </a:bodyPr>
          <a:lstStyle/>
          <a:p>
            <a:pPr algn="r"/>
            <a:r>
              <a:rPr sz="900" b="1">
                <a:solidFill>
                  <a:srgbClr val="D64545"/>
                </a:solidFill>
                <a:latin typeface="Segoe UI"/>
              </a:rPr>
              <a:t>-30</a:t>
            </a:r>
          </a:p>
        </p:txBody>
      </p:sp>
      <p:sp>
        <p:nvSpPr>
          <p:cNvPr id="18" name="FMI Legend Chip"/>
          <p:cNvSpPr/>
          <p:nvPr/>
        </p:nvSpPr>
        <p:spPr>
          <a:xfrm>
            <a:off x="4928997" y="1878551"/>
            <a:ext cx="85725" cy="85725"/>
          </a:xfrm>
          <a:prstGeom prst="rect">
            <a:avLst/>
          </a:prstGeom>
          <a:solidFill>
            <a:srgbClr val="CF7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1873788"/>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1797588"/>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Flame &amp; Heat Resistance</a:t>
            </a:r>
          </a:p>
        </p:txBody>
      </p:sp>
      <p:sp>
        <p:nvSpPr>
          <p:cNvPr id="21" name="BPS Value 2"/>
          <p:cNvSpPr txBox="1"/>
          <p:nvPr/>
        </p:nvSpPr>
        <p:spPr>
          <a:xfrm>
            <a:off x="6896100" y="1859501"/>
            <a:ext cx="514350" cy="123825"/>
          </a:xfrm>
          <a:prstGeom prst="rect">
            <a:avLst/>
          </a:prstGeom>
          <a:noFill/>
        </p:spPr>
        <p:txBody>
          <a:bodyPr wrap="none" lIns="0" rIns="0" tIns="0" bIns="0" anchor="ctr">
            <a:spAutoFit/>
          </a:bodyPr>
          <a:lstStyle/>
          <a:p>
            <a:pPr algn="r"/>
            <a:r>
              <a:rPr sz="900" b="1">
                <a:solidFill>
                  <a:srgbClr val="1E8E3E"/>
                </a:solidFill>
                <a:latin typeface="Segoe UI"/>
              </a:rPr>
              <a:t>+13</a:t>
            </a:r>
          </a:p>
        </p:txBody>
      </p:sp>
      <p:sp>
        <p:nvSpPr>
          <p:cNvPr id="22" name="FMI Legend Chip"/>
          <p:cNvSpPr/>
          <p:nvPr/>
        </p:nvSpPr>
        <p:spPr>
          <a:xfrm>
            <a:off x="4928997" y="2081637"/>
            <a:ext cx="85725" cy="85725"/>
          </a:xfrm>
          <a:prstGeom prst="rect">
            <a:avLst/>
          </a:prstGeom>
          <a:solidFill>
            <a:srgbClr val="7D7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5090922" y="207687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00067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Other Specialized Performance</a:t>
            </a:r>
          </a:p>
        </p:txBody>
      </p:sp>
      <p:sp>
        <p:nvSpPr>
          <p:cNvPr id="25" name="BPS Value 3"/>
          <p:cNvSpPr txBox="1"/>
          <p:nvPr/>
        </p:nvSpPr>
        <p:spPr>
          <a:xfrm>
            <a:off x="6896100" y="2062587"/>
            <a:ext cx="514350" cy="123825"/>
          </a:xfrm>
          <a:prstGeom prst="rect">
            <a:avLst/>
          </a:prstGeom>
          <a:noFill/>
        </p:spPr>
        <p:txBody>
          <a:bodyPr wrap="none" lIns="0" rIns="0" tIns="0" bIns="0" anchor="ctr">
            <a:spAutoFit/>
          </a:bodyPr>
          <a:lstStyle/>
          <a:p>
            <a:pPr algn="r"/>
            <a:r>
              <a:rPr sz="900" b="1">
                <a:solidFill>
                  <a:srgbClr val="1E8E3E"/>
                </a:solidFill>
                <a:latin typeface="Segoe UI"/>
              </a:rPr>
              <a:t>+86</a:t>
            </a:r>
          </a:p>
        </p:txBody>
      </p:sp>
      <p:sp>
        <p:nvSpPr>
          <p:cNvPr id="26" name="FMI Legend Chip"/>
          <p:cNvSpPr/>
          <p:nvPr/>
        </p:nvSpPr>
        <p:spPr>
          <a:xfrm>
            <a:off x="4928997" y="2324765"/>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rot="10800000">
            <a:off x="5090922" y="232000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224380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Water or Liquid Management</a:t>
            </a:r>
          </a:p>
        </p:txBody>
      </p:sp>
      <p:sp>
        <p:nvSpPr>
          <p:cNvPr id="29" name="BPS Value 4"/>
          <p:cNvSpPr txBox="1"/>
          <p:nvPr/>
        </p:nvSpPr>
        <p:spPr>
          <a:xfrm>
            <a:off x="6896100" y="2305715"/>
            <a:ext cx="514350" cy="123825"/>
          </a:xfrm>
          <a:prstGeom prst="rect">
            <a:avLst/>
          </a:prstGeom>
          <a:noFill/>
        </p:spPr>
        <p:txBody>
          <a:bodyPr wrap="none" lIns="0" rIns="0" tIns="0" bIns="0" anchor="ctr">
            <a:spAutoFit/>
          </a:bodyPr>
          <a:lstStyle/>
          <a:p>
            <a:pPr algn="r"/>
            <a:r>
              <a:rPr sz="900" b="1">
                <a:solidFill>
                  <a:srgbClr val="D64545"/>
                </a:solidFill>
                <a:latin typeface="Segoe UI"/>
              </a:rPr>
              <a:t>-42</a:t>
            </a:r>
          </a:p>
        </p:txBody>
      </p:sp>
      <p:sp>
        <p:nvSpPr>
          <p:cNvPr id="30" name="FMI Legend Chip"/>
          <p:cNvSpPr/>
          <p:nvPr/>
        </p:nvSpPr>
        <p:spPr>
          <a:xfrm>
            <a:off x="4928997" y="2598865"/>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rot="10800000">
            <a:off x="5090922" y="259410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251790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Abrasion &amp; Tear Resistance</a:t>
            </a:r>
          </a:p>
        </p:txBody>
      </p:sp>
      <p:sp>
        <p:nvSpPr>
          <p:cNvPr id="33" name="BPS Value 5"/>
          <p:cNvSpPr txBox="1"/>
          <p:nvPr/>
        </p:nvSpPr>
        <p:spPr>
          <a:xfrm>
            <a:off x="6896100" y="2579815"/>
            <a:ext cx="514350" cy="123825"/>
          </a:xfrm>
          <a:prstGeom prst="rect">
            <a:avLst/>
          </a:prstGeom>
          <a:noFill/>
        </p:spPr>
        <p:txBody>
          <a:bodyPr wrap="none" lIns="0" rIns="0" tIns="0" bIns="0" anchor="ctr">
            <a:spAutoFit/>
          </a:bodyPr>
          <a:lstStyle/>
          <a:p>
            <a:pPr algn="r"/>
            <a:r>
              <a:rPr sz="900" b="1">
                <a:solidFill>
                  <a:srgbClr val="D64545"/>
                </a:solidFill>
                <a:latin typeface="Segoe UI"/>
              </a:rPr>
              <a:t>-56</a:t>
            </a:r>
          </a:p>
        </p:txBody>
      </p:sp>
      <p:sp>
        <p:nvSpPr>
          <p:cNvPr id="34" name="FMI Legend Chip"/>
          <p:cNvSpPr/>
          <p:nvPr/>
        </p:nvSpPr>
        <p:spPr>
          <a:xfrm>
            <a:off x="4928997" y="2980204"/>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a:off x="5090922" y="297544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289924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Antimicrobial &amp; Odor Control</a:t>
            </a:r>
          </a:p>
        </p:txBody>
      </p:sp>
      <p:sp>
        <p:nvSpPr>
          <p:cNvPr id="37" name="BPS Value 6"/>
          <p:cNvSpPr txBox="1"/>
          <p:nvPr/>
        </p:nvSpPr>
        <p:spPr>
          <a:xfrm>
            <a:off x="6896100" y="2961154"/>
            <a:ext cx="514350" cy="123825"/>
          </a:xfrm>
          <a:prstGeom prst="rect">
            <a:avLst/>
          </a:prstGeom>
          <a:noFill/>
        </p:spPr>
        <p:txBody>
          <a:bodyPr wrap="none" lIns="0" rIns="0" tIns="0" bIns="0" anchor="ctr">
            <a:spAutoFit/>
          </a:bodyPr>
          <a:lstStyle/>
          <a:p>
            <a:pPr algn="r"/>
            <a:r>
              <a:rPr sz="900" b="1">
                <a:solidFill>
                  <a:srgbClr val="1E8E3E"/>
                </a:solidFill>
                <a:latin typeface="Segoe UI"/>
              </a:rPr>
              <a:t>+71</a:t>
            </a:r>
          </a:p>
        </p:txBody>
      </p:sp>
      <p:sp>
        <p:nvSpPr>
          <p:cNvPr id="38" name="FMI Legend Chip"/>
          <p:cNvSpPr/>
          <p:nvPr/>
        </p:nvSpPr>
        <p:spPr>
          <a:xfrm>
            <a:off x="4928997" y="3552128"/>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rot="10800000">
            <a:off x="5090922" y="354736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5233797" y="347116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Stretch &amp; Recovery</a:t>
            </a:r>
          </a:p>
        </p:txBody>
      </p:sp>
      <p:sp>
        <p:nvSpPr>
          <p:cNvPr id="41" name="BPS Value 7"/>
          <p:cNvSpPr txBox="1"/>
          <p:nvPr/>
        </p:nvSpPr>
        <p:spPr>
          <a:xfrm>
            <a:off x="6896100" y="3533078"/>
            <a:ext cx="514350" cy="123825"/>
          </a:xfrm>
          <a:prstGeom prst="rect">
            <a:avLst/>
          </a:prstGeom>
          <a:noFill/>
        </p:spPr>
        <p:txBody>
          <a:bodyPr wrap="none" lIns="0" rIns="0" tIns="0" bIns="0" anchor="ctr">
            <a:spAutoFit/>
          </a:bodyPr>
          <a:lstStyle/>
          <a:p>
            <a:pPr algn="r"/>
            <a:r>
              <a:rPr sz="900" b="1">
                <a:solidFill>
                  <a:srgbClr val="D64545"/>
                </a:solidFill>
                <a:latin typeface="Segoe UI"/>
              </a:rPr>
              <a:t>-106</a:t>
            </a:r>
          </a:p>
        </p:txBody>
      </p:sp>
      <p:sp>
        <p:nvSpPr>
          <p:cNvPr id="42" name="FMI Legend Chip"/>
          <p:cNvSpPr/>
          <p:nvPr/>
        </p:nvSpPr>
        <p:spPr>
          <a:xfrm>
            <a:off x="4928997" y="4225612"/>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Isosceles Triangle 42"/>
          <p:cNvSpPr/>
          <p:nvPr/>
        </p:nvSpPr>
        <p:spPr>
          <a:xfrm rot="10800000">
            <a:off x="5090922" y="4220849"/>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PS Name 8"/>
          <p:cNvSpPr txBox="1"/>
          <p:nvPr/>
        </p:nvSpPr>
        <p:spPr>
          <a:xfrm>
            <a:off x="5233797" y="414464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Compression &amp; Support</a:t>
            </a:r>
          </a:p>
        </p:txBody>
      </p:sp>
      <p:sp>
        <p:nvSpPr>
          <p:cNvPr id="45" name="BPS Value 8"/>
          <p:cNvSpPr txBox="1"/>
          <p:nvPr/>
        </p:nvSpPr>
        <p:spPr>
          <a:xfrm>
            <a:off x="6896100" y="4206562"/>
            <a:ext cx="514350" cy="123825"/>
          </a:xfrm>
          <a:prstGeom prst="rect">
            <a:avLst/>
          </a:prstGeom>
          <a:noFill/>
        </p:spPr>
        <p:txBody>
          <a:bodyPr wrap="none" lIns="0" rIns="0" tIns="0" bIns="0" anchor="ctr">
            <a:spAutoFit/>
          </a:bodyPr>
          <a:lstStyle/>
          <a:p>
            <a:pPr algn="r"/>
            <a:r>
              <a:rPr sz="900" b="1">
                <a:solidFill>
                  <a:srgbClr val="D64545"/>
                </a:solidFill>
                <a:latin typeface="Segoe UI"/>
              </a:rPr>
              <a:t>-71</a:t>
            </a:r>
          </a:p>
        </p:txBody>
      </p:sp>
      <p:sp>
        <p:nvSpPr>
          <p:cNvPr id="46" name="FMI Legend Chip"/>
          <p:cNvSpPr/>
          <p:nvPr/>
        </p:nvSpPr>
        <p:spPr>
          <a:xfrm>
            <a:off x="4928997" y="4965983"/>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Isosceles Triangle 46"/>
          <p:cNvSpPr/>
          <p:nvPr/>
        </p:nvSpPr>
        <p:spPr>
          <a:xfrm>
            <a:off x="5090922" y="496122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PS Name 9"/>
          <p:cNvSpPr txBox="1"/>
          <p:nvPr/>
        </p:nvSpPr>
        <p:spPr>
          <a:xfrm>
            <a:off x="5233797" y="488502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Moisture Management &amp; Quick-Dry</a:t>
            </a:r>
          </a:p>
        </p:txBody>
      </p:sp>
      <p:sp>
        <p:nvSpPr>
          <p:cNvPr id="49" name="BPS Value 9"/>
          <p:cNvSpPr txBox="1"/>
          <p:nvPr/>
        </p:nvSpPr>
        <p:spPr>
          <a:xfrm>
            <a:off x="6896100" y="4946933"/>
            <a:ext cx="514350" cy="123825"/>
          </a:xfrm>
          <a:prstGeom prst="rect">
            <a:avLst/>
          </a:prstGeom>
          <a:noFill/>
        </p:spPr>
        <p:txBody>
          <a:bodyPr wrap="none" lIns="0" rIns="0" tIns="0" bIns="0" anchor="ctr">
            <a:spAutoFit/>
          </a:bodyPr>
          <a:lstStyle/>
          <a:p>
            <a:pPr algn="r"/>
            <a:r>
              <a:rPr sz="900" b="1">
                <a:solidFill>
                  <a:srgbClr val="1E8E3E"/>
                </a:solidFill>
                <a:latin typeface="Segoe UI"/>
              </a:rPr>
              <a:t>+35</a:t>
            </a:r>
          </a:p>
        </p:txBody>
      </p:sp>
      <p:sp>
        <p:nvSpPr>
          <p:cNvPr id="50" name="FMI Legend Chip"/>
          <p:cNvSpPr/>
          <p:nvPr/>
        </p:nvSpPr>
        <p:spPr>
          <a:xfrm>
            <a:off x="4928997" y="5805415"/>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Isosceles Triangle 50"/>
          <p:cNvSpPr/>
          <p:nvPr/>
        </p:nvSpPr>
        <p:spPr>
          <a:xfrm>
            <a:off x="5090922" y="5800653"/>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PS Name 10"/>
          <p:cNvSpPr txBox="1"/>
          <p:nvPr/>
        </p:nvSpPr>
        <p:spPr>
          <a:xfrm>
            <a:off x="5233797" y="572445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Thermal Management</a:t>
            </a:r>
          </a:p>
        </p:txBody>
      </p:sp>
      <p:sp>
        <p:nvSpPr>
          <p:cNvPr id="53" name="BPS Value 10"/>
          <p:cNvSpPr txBox="1"/>
          <p:nvPr/>
        </p:nvSpPr>
        <p:spPr>
          <a:xfrm>
            <a:off x="6896100" y="5786365"/>
            <a:ext cx="514350" cy="123825"/>
          </a:xfrm>
          <a:prstGeom prst="rect">
            <a:avLst/>
          </a:prstGeom>
          <a:noFill/>
        </p:spPr>
        <p:txBody>
          <a:bodyPr wrap="none" lIns="0" rIns="0" tIns="0" bIns="0" anchor="ctr">
            <a:spAutoFit/>
          </a:bodyPr>
          <a:lstStyle/>
          <a:p>
            <a:pPr algn="r"/>
            <a:r>
              <a:rPr sz="900" b="1">
                <a:solidFill>
                  <a:srgbClr val="1E8E3E"/>
                </a:solidFill>
                <a:latin typeface="Segoe UI"/>
              </a:rPr>
              <a:t>+102</a:t>
            </a:r>
          </a:p>
        </p:txBody>
      </p:sp>
      <p:sp>
        <p:nvSpPr>
          <p:cNvPr id="54" name="Rectangle 53"/>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Western Europe Read-out, By Primary Performance Function</a:t>
            </a:r>
          </a:p>
        </p:txBody>
      </p:sp>
      <p:sp>
        <p:nvSpPr>
          <p:cNvPr id="56" name="Rectangle 55"/>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primary performance function, other specialized performance segment is expected to witness the highest CAGR of 8.4% over the forecast period. In terms of value share by primary performance function, the thermal management segment is expected to dominate the market, gaining 102 BPS and accounting for 19.2% share by 2036.</a:t>
            </a:r>
          </a:p>
          <a:p>
            <a:pPr algn="l">
              <a:lnSpc>
                <a:spcPct val="110000"/>
              </a:lnSpc>
              <a:spcBef>
                <a:spcPts val="0"/>
              </a:spcBef>
              <a:spcAft>
                <a:spcPts val="500"/>
              </a:spcAft>
            </a:pPr>
            <a:r>
              <a:rPr sz="1150" b="0">
                <a:solidFill>
                  <a:srgbClr val="252423"/>
                </a:solidFill>
                <a:latin typeface="Segoe UI"/>
              </a:rPr>
              <a:t>The stretch &amp; recovery segment is expected to lose 106 BPS over the forecast period to account for 14.6% share by 2036.</a:t>
            </a:r>
          </a:p>
        </p:txBody>
      </p:sp>
      <p:sp>
        <p:nvSpPr>
          <p:cNvPr id="58" name="TextBox 5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Segment Outlook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Western Europe</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segment categorizes the market by end-use application.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Medical &amp; Healthcare</a:t>
            </a:r>
          </a:p>
        </p:txBody>
      </p:sp>
      <p:sp>
        <p:nvSpPr>
          <p:cNvPr id="21" name="Rectangle 20"/>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274.1</a:t>
            </a:r>
          </a:p>
        </p:txBody>
      </p:sp>
      <p:sp>
        <p:nvSpPr>
          <p:cNvPr id="22" name="Rectangle 21"/>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528.5</a:t>
            </a:r>
          </a:p>
        </p:txBody>
      </p:sp>
      <p:sp>
        <p:nvSpPr>
          <p:cNvPr id="23" name="Rectangle 22"/>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6.8%</a:t>
            </a:r>
          </a:p>
        </p:txBody>
      </p:sp>
      <p:sp>
        <p:nvSpPr>
          <p:cNvPr id="24" name="Oval 23"/>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Sports &amp; Activewear</a:t>
            </a:r>
          </a:p>
        </p:txBody>
      </p:sp>
      <p:sp>
        <p:nvSpPr>
          <p:cNvPr id="28" name="Rectangle 27"/>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269.5</a:t>
            </a:r>
          </a:p>
        </p:txBody>
      </p:sp>
      <p:sp>
        <p:nvSpPr>
          <p:cNvPr id="29" name="Rectangle 28"/>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493.5</a:t>
            </a:r>
          </a:p>
        </p:txBody>
      </p:sp>
      <p:sp>
        <p:nvSpPr>
          <p:cNvPr id="30" name="Rectangle 29"/>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6.2%</a:t>
            </a:r>
          </a:p>
        </p:txBody>
      </p:sp>
      <p:sp>
        <p:nvSpPr>
          <p:cNvPr id="31" name="Oval 30"/>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Protective &amp; Occupational Wear</a:t>
            </a:r>
          </a:p>
        </p:txBody>
      </p:sp>
      <p:sp>
        <p:nvSpPr>
          <p:cNvPr id="35" name="Rectangle 34"/>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235.7</a:t>
            </a:r>
          </a:p>
        </p:txBody>
      </p:sp>
      <p:sp>
        <p:nvSpPr>
          <p:cNvPr id="36" name="Rectangle 35"/>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442.2</a:t>
            </a:r>
          </a:p>
        </p:txBody>
      </p:sp>
      <p:sp>
        <p:nvSpPr>
          <p:cNvPr id="37" name="Rectangle 36"/>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6.5%</a:t>
            </a:r>
          </a:p>
        </p:txBody>
      </p:sp>
      <p:sp>
        <p:nvSpPr>
          <p:cNvPr id="38" name="Oval 37"/>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Intimate &amp; Bodywear</a:t>
            </a:r>
          </a:p>
        </p:txBody>
      </p:sp>
      <p:sp>
        <p:nvSpPr>
          <p:cNvPr id="42" name="Rectangle 41"/>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199.7</a:t>
            </a:r>
          </a:p>
        </p:txBody>
      </p:sp>
      <p:sp>
        <p:nvSpPr>
          <p:cNvPr id="43" name="Rectangle 42"/>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332.5</a:t>
            </a:r>
          </a:p>
        </p:txBody>
      </p:sp>
      <p:sp>
        <p:nvSpPr>
          <p:cNvPr id="44" name="Rectangle 43"/>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5.2%</a:t>
            </a:r>
          </a:p>
        </p:txBody>
      </p:sp>
      <p:sp>
        <p:nvSpPr>
          <p:cNvPr id="45" name="Oval 44"/>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8" name="Rectangle 47"/>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End-Use application, industrial &amp; technical applications segment is expected to witness the highest CAGR of 6.9% over the forecast period. In terms of value share by End-Use application, the medical &amp; healthcare segment is expected to dominate the market, gaining 88 BPS and accounting for 19.8%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Medical &amp; healthcare segment is projected to register 1.1X higher value than sports &amp; activewear segment in 2036.</a:t>
            </a:r>
          </a:p>
        </p:txBody>
      </p:sp>
      <p:sp>
        <p:nvSpPr>
          <p:cNvPr id="50" name="Rounded Rectangle 49"/>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2" name="Rectangle 51"/>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Medical &amp; Healthcare: </a:t>
            </a:r>
            <a:r>
              <a:rPr sz="1100" b="0">
                <a:solidFill>
                  <a:srgbClr val="252423"/>
                </a:solidFill>
                <a:latin typeface="Segoe UI"/>
              </a:rPr>
              <a:t>19% of 2026 value · 6.8%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Sports &amp; Activewear: </a:t>
            </a:r>
            <a:r>
              <a:rPr sz="1100" b="0">
                <a:solidFill>
                  <a:srgbClr val="252423"/>
                </a:solidFill>
                <a:latin typeface="Segoe UI"/>
              </a:rPr>
              <a:t>19% of 2026 value · 6.2%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Protective &amp; Occupational Wear: </a:t>
            </a:r>
            <a:r>
              <a:rPr sz="1100" b="0">
                <a:solidFill>
                  <a:srgbClr val="252423"/>
                </a:solidFill>
                <a:latin typeface="Segoe UI"/>
              </a:rPr>
              <a:t>16% of 2026 value · 6.5% CAGR serves a niche.</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Intimate &amp; Bodywear: </a:t>
            </a:r>
            <a:r>
              <a:rPr sz="1100" b="0">
                <a:solidFill>
                  <a:srgbClr val="252423"/>
                </a:solidFill>
                <a:latin typeface="Segoe UI"/>
              </a:rPr>
              <a:t>14% of 2026 value · 5.2% CAGR serves a niche.</a:t>
            </a:r>
          </a:p>
        </p:txBody>
      </p:sp>
      <p:sp>
        <p:nvSpPr>
          <p:cNvPr id="54" name="Rounded Rectangle 53"/>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6" name="Rectangle 55"/>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End-Use Application split shows how demand is distributed across end-use application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8" name="Rectangle 57"/>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End-Use Application segment is projected to grow at a CAGR of 6.3% from 2026 to 2036.</a:t>
            </a:r>
          </a:p>
        </p:txBody>
      </p:sp>
      <p:sp>
        <p:nvSpPr>
          <p:cNvPr id="60" name="TextBox 59"/>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1" name="TextBox 6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Segment Outlook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segment categorizes the market by end-use application.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3257550"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3257550"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Automotive &amp; Transportation</a:t>
            </a:r>
          </a:p>
        </p:txBody>
      </p:sp>
      <p:sp>
        <p:nvSpPr>
          <p:cNvPr id="20" name="Rectangle 19"/>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188.1</a:t>
            </a:r>
          </a:p>
        </p:txBody>
      </p:sp>
      <p:sp>
        <p:nvSpPr>
          <p:cNvPr id="21" name="Rectangle 20"/>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337.7</a:t>
            </a:r>
          </a:p>
        </p:txBody>
      </p:sp>
      <p:sp>
        <p:nvSpPr>
          <p:cNvPr id="22" name="Rectangle 21"/>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6.0%</a:t>
            </a:r>
          </a:p>
        </p:txBody>
      </p:sp>
      <p:sp>
        <p:nvSpPr>
          <p:cNvPr id="23" name="Oval 22"/>
          <p:cNvSpPr/>
          <p:nvPr/>
        </p:nvSpPr>
        <p:spPr>
          <a:xfrm>
            <a:off x="3333750"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24" name="Rounded Rectangle 23"/>
          <p:cNvSpPr/>
          <p:nvPr/>
        </p:nvSpPr>
        <p:spPr>
          <a:xfrm>
            <a:off x="5238750" y="1773916"/>
            <a:ext cx="3257550"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38750" y="1992961"/>
            <a:ext cx="3257550"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Industrial &amp; Technical Applicatio…</a:t>
            </a:r>
          </a:p>
        </p:txBody>
      </p:sp>
      <p:sp>
        <p:nvSpPr>
          <p:cNvPr id="27" name="Rectangle 26"/>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171.6</a:t>
            </a:r>
          </a:p>
        </p:txBody>
      </p:sp>
      <p:sp>
        <p:nvSpPr>
          <p:cNvPr id="28" name="Rectangle 27"/>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333.0</a:t>
            </a:r>
          </a:p>
        </p:txBody>
      </p:sp>
      <p:sp>
        <p:nvSpPr>
          <p:cNvPr id="29" name="Rectangle 28"/>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6.9%</a:t>
            </a:r>
          </a:p>
        </p:txBody>
      </p:sp>
      <p:sp>
        <p:nvSpPr>
          <p:cNvPr id="30" name="Oval 29"/>
          <p:cNvSpPr/>
          <p:nvPr/>
        </p:nvSpPr>
        <p:spPr>
          <a:xfrm>
            <a:off x="6705600"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31" name="Rounded Rectangle 30"/>
          <p:cNvSpPr/>
          <p:nvPr/>
        </p:nvSpPr>
        <p:spPr>
          <a:xfrm>
            <a:off x="8610600" y="1773916"/>
            <a:ext cx="3257550"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10600" y="1992961"/>
            <a:ext cx="3257550"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Footwear</a:t>
            </a:r>
          </a:p>
        </p:txBody>
      </p:sp>
      <p:sp>
        <p:nvSpPr>
          <p:cNvPr id="34" name="Rectangle 33"/>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111.5</a:t>
            </a:r>
          </a:p>
        </p:txBody>
      </p:sp>
      <p:sp>
        <p:nvSpPr>
          <p:cNvPr id="35" name="Rectangle 34"/>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205.3</a:t>
            </a:r>
          </a:p>
        </p:txBody>
      </p:sp>
      <p:sp>
        <p:nvSpPr>
          <p:cNvPr id="36" name="Rectangle 35"/>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6.3%</a:t>
            </a:r>
          </a:p>
        </p:txBody>
      </p:sp>
      <p:sp>
        <p:nvSpPr>
          <p:cNvPr id="37" name="Oval 36"/>
          <p:cNvSpPr/>
          <p:nvPr/>
        </p:nvSpPr>
        <p:spPr>
          <a:xfrm>
            <a:off x="10077450"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38" name="Rounded Rectangle 37"/>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0" name="Rectangle 39"/>
          <p:cNvSpPr/>
          <p:nvPr/>
        </p:nvSpPr>
        <p:spPr>
          <a:xfrm>
            <a:off x="457200" y="4146897"/>
            <a:ext cx="112776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Automotive &amp; Transportation: </a:t>
            </a:r>
            <a:r>
              <a:rPr sz="1100" b="0">
                <a:solidFill>
                  <a:srgbClr val="252423"/>
                </a:solidFill>
                <a:latin typeface="Segoe UI"/>
              </a:rPr>
              <a:t>13% of 2026 value · 6.0% CAGR serves a niche.</a:t>
            </a:r>
          </a:p>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Industrial &amp; Technical Applications: </a:t>
            </a:r>
            <a:r>
              <a:rPr sz="1100" b="0">
                <a:solidFill>
                  <a:srgbClr val="252423"/>
                </a:solidFill>
                <a:latin typeface="Segoe UI"/>
              </a:rPr>
              <a:t>12% of 2026 value · 6.9% CAGR grows fastest.</a:t>
            </a:r>
          </a:p>
          <a:p>
            <a:pPr algn="l">
              <a:lnSpc>
                <a:spcPct val="110000"/>
              </a:lnSpc>
              <a:spcBef>
                <a:spcPts val="0"/>
              </a:spcBef>
              <a:spcAft>
                <a:spcPts val="500"/>
              </a:spcAft>
            </a:pPr>
            <a:r>
              <a:rPr sz="1100" b="0">
                <a:solidFill>
                  <a:srgbClr val="2C6E7F"/>
                </a:solidFill>
                <a:latin typeface="Segoe UI"/>
              </a:rPr>
              <a:t>●  </a:t>
            </a:r>
            <a:r>
              <a:rPr sz="1100" b="1">
                <a:solidFill>
                  <a:srgbClr val="2C6E7F"/>
                </a:solidFill>
                <a:latin typeface="Segoe UI"/>
              </a:rPr>
              <a:t>Footwear: </a:t>
            </a:r>
            <a:r>
              <a:rPr sz="1100" b="0">
                <a:solidFill>
                  <a:srgbClr val="252423"/>
                </a:solidFill>
                <a:latin typeface="Segoe UI"/>
              </a:rPr>
              <a:t>8% of 2026 value · 6.3% CAGR serves a niche.</a:t>
            </a:r>
          </a:p>
        </p:txBody>
      </p:sp>
      <p:sp>
        <p:nvSpPr>
          <p:cNvPr id="42" name="TextBox 41"/>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3" name="TextBox 4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Market Value &amp; Share Shift, By End-Use Application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End-Use Application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Western Europe</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Value Composition, By End-Use Application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846894"/>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5090922" y="184213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76593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Footwear</a:t>
            </a:r>
          </a:p>
        </p:txBody>
      </p:sp>
      <p:sp>
        <p:nvSpPr>
          <p:cNvPr id="17" name="BPS Value 1"/>
          <p:cNvSpPr txBox="1"/>
          <p:nvPr/>
        </p:nvSpPr>
        <p:spPr>
          <a:xfrm>
            <a:off x="6896100" y="1827844"/>
            <a:ext cx="514350" cy="123825"/>
          </a:xfrm>
          <a:prstGeom prst="rect">
            <a:avLst/>
          </a:prstGeom>
          <a:noFill/>
        </p:spPr>
        <p:txBody>
          <a:bodyPr wrap="none" lIns="0" rIns="0" tIns="0" bIns="0" anchor="ctr">
            <a:spAutoFit/>
          </a:bodyPr>
          <a:lstStyle/>
          <a:p>
            <a:pPr algn="r"/>
            <a:r>
              <a:rPr sz="900" b="1">
                <a:solidFill>
                  <a:srgbClr val="D64545"/>
                </a:solidFill>
                <a:latin typeface="Segoe UI"/>
              </a:rPr>
              <a:t>-1</a:t>
            </a:r>
          </a:p>
        </p:txBody>
      </p:sp>
      <p:sp>
        <p:nvSpPr>
          <p:cNvPr id="18" name="FMI Legend Chip"/>
          <p:cNvSpPr/>
          <p:nvPr/>
        </p:nvSpPr>
        <p:spPr>
          <a:xfrm>
            <a:off x="4928997" y="2306939"/>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5090922" y="2302177"/>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222597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Intimate &amp; Bodywear</a:t>
            </a:r>
          </a:p>
        </p:txBody>
      </p:sp>
      <p:sp>
        <p:nvSpPr>
          <p:cNvPr id="21" name="BPS Value 2"/>
          <p:cNvSpPr txBox="1"/>
          <p:nvPr/>
        </p:nvSpPr>
        <p:spPr>
          <a:xfrm>
            <a:off x="6896100" y="2287889"/>
            <a:ext cx="514350" cy="123825"/>
          </a:xfrm>
          <a:prstGeom prst="rect">
            <a:avLst/>
          </a:prstGeom>
          <a:noFill/>
        </p:spPr>
        <p:txBody>
          <a:bodyPr wrap="none" lIns="0" rIns="0" tIns="0" bIns="0" anchor="ctr">
            <a:spAutoFit/>
          </a:bodyPr>
          <a:lstStyle/>
          <a:p>
            <a:pPr algn="r"/>
            <a:r>
              <a:rPr sz="900" b="1">
                <a:solidFill>
                  <a:srgbClr val="D64545"/>
                </a:solidFill>
                <a:latin typeface="Segoe UI"/>
              </a:rPr>
              <a:t>-133</a:t>
            </a:r>
          </a:p>
        </p:txBody>
      </p:sp>
      <p:sp>
        <p:nvSpPr>
          <p:cNvPr id="22" name="FMI Legend Chip"/>
          <p:cNvSpPr/>
          <p:nvPr/>
        </p:nvSpPr>
        <p:spPr>
          <a:xfrm>
            <a:off x="4928997" y="2876219"/>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5090922" y="2871457"/>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79525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Industrial &amp; Technical Applications</a:t>
            </a:r>
          </a:p>
        </p:txBody>
      </p:sp>
      <p:sp>
        <p:nvSpPr>
          <p:cNvPr id="25" name="BPS Value 3"/>
          <p:cNvSpPr txBox="1"/>
          <p:nvPr/>
        </p:nvSpPr>
        <p:spPr>
          <a:xfrm>
            <a:off x="6896100" y="2857169"/>
            <a:ext cx="514350" cy="123825"/>
          </a:xfrm>
          <a:prstGeom prst="rect">
            <a:avLst/>
          </a:prstGeom>
          <a:noFill/>
        </p:spPr>
        <p:txBody>
          <a:bodyPr wrap="none" lIns="0" rIns="0" tIns="0" bIns="0" anchor="ctr">
            <a:spAutoFit/>
          </a:bodyPr>
          <a:lstStyle/>
          <a:p>
            <a:pPr algn="r"/>
            <a:r>
              <a:rPr sz="900" b="1">
                <a:solidFill>
                  <a:srgbClr val="1E8E3E"/>
                </a:solidFill>
                <a:latin typeface="Segoe UI"/>
              </a:rPr>
              <a:t>+63</a:t>
            </a:r>
          </a:p>
        </p:txBody>
      </p:sp>
      <p:sp>
        <p:nvSpPr>
          <p:cNvPr id="26" name="FMI Legend Chip"/>
          <p:cNvSpPr/>
          <p:nvPr/>
        </p:nvSpPr>
        <p:spPr>
          <a:xfrm>
            <a:off x="4928997" y="3449945"/>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rot="10800000">
            <a:off x="5090922" y="344518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336898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Automotive &amp; Transportation</a:t>
            </a:r>
          </a:p>
        </p:txBody>
      </p:sp>
      <p:sp>
        <p:nvSpPr>
          <p:cNvPr id="29" name="BPS Value 4"/>
          <p:cNvSpPr txBox="1"/>
          <p:nvPr/>
        </p:nvSpPr>
        <p:spPr>
          <a:xfrm>
            <a:off x="6896100" y="3430895"/>
            <a:ext cx="514350" cy="123825"/>
          </a:xfrm>
          <a:prstGeom prst="rect">
            <a:avLst/>
          </a:prstGeom>
          <a:noFill/>
        </p:spPr>
        <p:txBody>
          <a:bodyPr wrap="none" lIns="0" rIns="0" tIns="0" bIns="0" anchor="ctr">
            <a:spAutoFit/>
          </a:bodyPr>
          <a:lstStyle/>
          <a:p>
            <a:pPr algn="r"/>
            <a:r>
              <a:rPr sz="900" b="1">
                <a:solidFill>
                  <a:srgbClr val="D64545"/>
                </a:solidFill>
                <a:latin typeface="Segoe UI"/>
              </a:rPr>
              <a:t>-34</a:t>
            </a:r>
          </a:p>
        </p:txBody>
      </p:sp>
      <p:sp>
        <p:nvSpPr>
          <p:cNvPr id="30" name="FMI Legend Chip"/>
          <p:cNvSpPr/>
          <p:nvPr/>
        </p:nvSpPr>
        <p:spPr>
          <a:xfrm>
            <a:off x="4928997" y="4117044"/>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5090922" y="411228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403608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Protective &amp; Occupational Wear</a:t>
            </a:r>
          </a:p>
        </p:txBody>
      </p:sp>
      <p:sp>
        <p:nvSpPr>
          <p:cNvPr id="33" name="BPS Value 5"/>
          <p:cNvSpPr txBox="1"/>
          <p:nvPr/>
        </p:nvSpPr>
        <p:spPr>
          <a:xfrm>
            <a:off x="6896100" y="4097994"/>
            <a:ext cx="514350" cy="123825"/>
          </a:xfrm>
          <a:prstGeom prst="rect">
            <a:avLst/>
          </a:prstGeom>
          <a:noFill/>
        </p:spPr>
        <p:txBody>
          <a:bodyPr wrap="none" lIns="0" rIns="0" tIns="0" bIns="0" anchor="ctr">
            <a:spAutoFit/>
          </a:bodyPr>
          <a:lstStyle/>
          <a:p>
            <a:pPr algn="r"/>
            <a:r>
              <a:rPr sz="900" b="1">
                <a:solidFill>
                  <a:srgbClr val="1E8E3E"/>
                </a:solidFill>
                <a:latin typeface="Segoe UI"/>
              </a:rPr>
              <a:t>+29</a:t>
            </a:r>
          </a:p>
        </p:txBody>
      </p:sp>
      <p:sp>
        <p:nvSpPr>
          <p:cNvPr id="34" name="FMI Legend Chip"/>
          <p:cNvSpPr/>
          <p:nvPr/>
        </p:nvSpPr>
        <p:spPr>
          <a:xfrm>
            <a:off x="4928997" y="4917406"/>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rot="10800000">
            <a:off x="5090922" y="491264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483644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Sports &amp; Activewear</a:t>
            </a:r>
          </a:p>
        </p:txBody>
      </p:sp>
      <p:sp>
        <p:nvSpPr>
          <p:cNvPr id="37" name="BPS Value 6"/>
          <p:cNvSpPr txBox="1"/>
          <p:nvPr/>
        </p:nvSpPr>
        <p:spPr>
          <a:xfrm>
            <a:off x="6896100" y="4898356"/>
            <a:ext cx="514350" cy="123825"/>
          </a:xfrm>
          <a:prstGeom prst="rect">
            <a:avLst/>
          </a:prstGeom>
          <a:noFill/>
        </p:spPr>
        <p:txBody>
          <a:bodyPr wrap="none" lIns="0" rIns="0" tIns="0" bIns="0" anchor="ctr">
            <a:spAutoFit/>
          </a:bodyPr>
          <a:lstStyle/>
          <a:p>
            <a:pPr algn="r"/>
            <a:r>
              <a:rPr sz="900" b="1">
                <a:solidFill>
                  <a:srgbClr val="D64545"/>
                </a:solidFill>
                <a:latin typeface="Segoe UI"/>
              </a:rPr>
              <a:t>-12</a:t>
            </a:r>
          </a:p>
        </p:txBody>
      </p:sp>
      <p:sp>
        <p:nvSpPr>
          <p:cNvPr id="38" name="FMI Legend Chip"/>
          <p:cNvSpPr/>
          <p:nvPr/>
        </p:nvSpPr>
        <p:spPr>
          <a:xfrm>
            <a:off x="4928997" y="5791579"/>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a:off x="5090922" y="5786817"/>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5233797" y="571061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Medical &amp; Healthcare</a:t>
            </a:r>
          </a:p>
        </p:txBody>
      </p:sp>
      <p:sp>
        <p:nvSpPr>
          <p:cNvPr id="41" name="BPS Value 7"/>
          <p:cNvSpPr txBox="1"/>
          <p:nvPr/>
        </p:nvSpPr>
        <p:spPr>
          <a:xfrm>
            <a:off x="6896100" y="5772529"/>
            <a:ext cx="514350" cy="123825"/>
          </a:xfrm>
          <a:prstGeom prst="rect">
            <a:avLst/>
          </a:prstGeom>
          <a:noFill/>
        </p:spPr>
        <p:txBody>
          <a:bodyPr wrap="none" lIns="0" rIns="0" tIns="0" bIns="0" anchor="ctr">
            <a:spAutoFit/>
          </a:bodyPr>
          <a:lstStyle/>
          <a:p>
            <a:pPr algn="r"/>
            <a:r>
              <a:rPr sz="900" b="1">
                <a:solidFill>
                  <a:srgbClr val="1E8E3E"/>
                </a:solidFill>
                <a:latin typeface="Segoe UI"/>
              </a:rPr>
              <a:t>+88</a:t>
            </a:r>
          </a:p>
        </p:txBody>
      </p:sp>
      <p:sp>
        <p:nvSpPr>
          <p:cNvPr id="42" name="Rectangle 41"/>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Western Europe Read-out, By End-Use Application</a:t>
            </a:r>
          </a:p>
        </p:txBody>
      </p:sp>
      <p:sp>
        <p:nvSpPr>
          <p:cNvPr id="44" name="Rectangle 43"/>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End-Use application, industrial &amp; technical applications segment is expected to witness the highest CAGR of 6.9% over the forecast period. In terms of value share by End-Use application, the medical &amp; healthcare segment is expected to dominate the market, gaining 88 BPS and accounting for 19.8% share by 2036.</a:t>
            </a:r>
          </a:p>
          <a:p>
            <a:pPr algn="l">
              <a:lnSpc>
                <a:spcPct val="110000"/>
              </a:lnSpc>
              <a:spcBef>
                <a:spcPts val="0"/>
              </a:spcBef>
              <a:spcAft>
                <a:spcPts val="500"/>
              </a:spcAft>
            </a:pPr>
            <a:r>
              <a:rPr sz="1150" b="0">
                <a:solidFill>
                  <a:srgbClr val="252423"/>
                </a:solidFill>
                <a:latin typeface="Segoe UI"/>
              </a:rPr>
              <a:t>The intimate &amp; bodywear segment is expected to lose 133 BPS over the forecast period to account for 12.4% share by 2036.</a:t>
            </a:r>
          </a:p>
        </p:txBody>
      </p:sp>
      <p:sp>
        <p:nvSpPr>
          <p:cNvPr id="46" name="TextBox 4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Fabric Weight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3 sub-segments of Fabric Weight,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Western Europe</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Fabric Weight segment categorizes the market by fabric weight.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325755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325755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Medium Weight 150–250 GSM</a:t>
            </a:r>
          </a:p>
        </p:txBody>
      </p:sp>
      <p:sp>
        <p:nvSpPr>
          <p:cNvPr id="21" name="Rectangle 20"/>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774.8</a:t>
            </a:r>
          </a:p>
        </p:txBody>
      </p:sp>
      <p:sp>
        <p:nvSpPr>
          <p:cNvPr id="22" name="Rectangle 21"/>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1,389</a:t>
            </a:r>
          </a:p>
        </p:txBody>
      </p:sp>
      <p:sp>
        <p:nvSpPr>
          <p:cNvPr id="23" name="Rectangle 22"/>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6.0%</a:t>
            </a:r>
          </a:p>
        </p:txBody>
      </p:sp>
      <p:sp>
        <p:nvSpPr>
          <p:cNvPr id="24" name="Oval 23"/>
          <p:cNvSpPr/>
          <p:nvPr/>
        </p:nvSpPr>
        <p:spPr>
          <a:xfrm>
            <a:off x="333375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5238750" y="1773916"/>
            <a:ext cx="325755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238750" y="1992961"/>
            <a:ext cx="325755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Lightweight Below 150 GSM</a:t>
            </a:r>
          </a:p>
        </p:txBody>
      </p:sp>
      <p:sp>
        <p:nvSpPr>
          <p:cNvPr id="28" name="Rectangle 27"/>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394.5</a:t>
            </a:r>
          </a:p>
        </p:txBody>
      </p:sp>
      <p:sp>
        <p:nvSpPr>
          <p:cNvPr id="29" name="Rectangle 28"/>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738.5</a:t>
            </a:r>
          </a:p>
        </p:txBody>
      </p:sp>
      <p:sp>
        <p:nvSpPr>
          <p:cNvPr id="30" name="Rectangle 29"/>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6.5%</a:t>
            </a:r>
          </a:p>
        </p:txBody>
      </p:sp>
      <p:sp>
        <p:nvSpPr>
          <p:cNvPr id="31" name="Oval 30"/>
          <p:cNvSpPr/>
          <p:nvPr/>
        </p:nvSpPr>
        <p:spPr>
          <a:xfrm>
            <a:off x="670560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8610600" y="1773916"/>
            <a:ext cx="325755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10600" y="1992961"/>
            <a:ext cx="325755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Heavyweight Above 250 GSM</a:t>
            </a:r>
          </a:p>
        </p:txBody>
      </p:sp>
      <p:sp>
        <p:nvSpPr>
          <p:cNvPr id="35" name="Rectangle 34"/>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281.0</a:t>
            </a:r>
          </a:p>
        </p:txBody>
      </p:sp>
      <p:sp>
        <p:nvSpPr>
          <p:cNvPr id="36" name="Rectangle 35"/>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545.1</a:t>
            </a:r>
          </a:p>
        </p:txBody>
      </p:sp>
      <p:sp>
        <p:nvSpPr>
          <p:cNvPr id="37" name="Rectangle 36"/>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6.8%</a:t>
            </a:r>
          </a:p>
        </p:txBody>
      </p:sp>
      <p:sp>
        <p:nvSpPr>
          <p:cNvPr id="38" name="Oval 37"/>
          <p:cNvSpPr/>
          <p:nvPr/>
        </p:nvSpPr>
        <p:spPr>
          <a:xfrm>
            <a:off x="1007745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1" name="Rectangle 40"/>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fabric weight, heavyweight above 250 GSM segment is expected to witness the highest CAGR of 6.8% over the forecast period. In terms of value share by fabric weight, the medium weight 150-250 GSM segment is expected to dominate the market, losing 145 BPS and accounting for 52.0%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Medium weight 150-250 GSM segment is projected to register 1.9X higher value than lightweight below 150 GSM segment in 2036.</a:t>
            </a:r>
          </a:p>
        </p:txBody>
      </p:sp>
      <p:sp>
        <p:nvSpPr>
          <p:cNvPr id="43" name="Rounded Rectangle 42"/>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5" name="Rectangle 44"/>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Medium Weight 150–250 GSM: </a:t>
            </a:r>
            <a:r>
              <a:rPr sz="1100" b="0">
                <a:solidFill>
                  <a:srgbClr val="252423"/>
                </a:solidFill>
                <a:latin typeface="Segoe UI"/>
              </a:rPr>
              <a:t>53% of 2026 value · 6.0%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Lightweight Below 150 GSM: </a:t>
            </a:r>
            <a:r>
              <a:rPr sz="1100" b="0">
                <a:solidFill>
                  <a:srgbClr val="252423"/>
                </a:solidFill>
                <a:latin typeface="Segoe UI"/>
              </a:rPr>
              <a:t>27% of 2026 value · 6.5%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Heavyweight Above 250 GSM: </a:t>
            </a:r>
            <a:r>
              <a:rPr sz="1100" b="0">
                <a:solidFill>
                  <a:srgbClr val="252423"/>
                </a:solidFill>
                <a:latin typeface="Segoe UI"/>
              </a:rPr>
              <a:t>19% of 2026 value · 6.8% CAGR grows fastest.</a:t>
            </a:r>
          </a:p>
        </p:txBody>
      </p:sp>
      <p:sp>
        <p:nvSpPr>
          <p:cNvPr id="47" name="Rounded Rectangle 46"/>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9" name="Rectangle 48"/>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Fabric Weight split shows how demand is distributed across fabric weight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1" name="Rectangle 50"/>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Fabric Weight segment is projected to grow at a CAGR of 6.3% from 2026 to 2036.</a:t>
            </a:r>
          </a:p>
        </p:txBody>
      </p:sp>
      <p:sp>
        <p:nvSpPr>
          <p:cNvPr id="53" name="TextBox 52"/>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54" name="TextBox 5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Market Value &amp; Share Shift, By Fabric Weight</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Fabric Weight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Western Europe</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Value Composition, By Fabric Weight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2137526"/>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213276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205656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Heavyweight Above 250 GSM</a:t>
            </a:r>
          </a:p>
        </p:txBody>
      </p:sp>
      <p:sp>
        <p:nvSpPr>
          <p:cNvPr id="17" name="BPS Value 1"/>
          <p:cNvSpPr txBox="1"/>
          <p:nvPr/>
        </p:nvSpPr>
        <p:spPr>
          <a:xfrm>
            <a:off x="6896100" y="2118476"/>
            <a:ext cx="514350" cy="123825"/>
          </a:xfrm>
          <a:prstGeom prst="rect">
            <a:avLst/>
          </a:prstGeom>
          <a:noFill/>
        </p:spPr>
        <p:txBody>
          <a:bodyPr wrap="none" lIns="0" rIns="0" tIns="0" bIns="0" anchor="ctr">
            <a:spAutoFit/>
          </a:bodyPr>
          <a:lstStyle/>
          <a:p>
            <a:pPr algn="r"/>
            <a:r>
              <a:rPr sz="900" b="1">
                <a:solidFill>
                  <a:srgbClr val="1E8E3E"/>
                </a:solidFill>
                <a:latin typeface="Segoe UI"/>
              </a:rPr>
              <a:t>+102</a:t>
            </a:r>
          </a:p>
        </p:txBody>
      </p:sp>
      <p:sp>
        <p:nvSpPr>
          <p:cNvPr id="18" name="FMI Legend Chip"/>
          <p:cNvSpPr/>
          <p:nvPr/>
        </p:nvSpPr>
        <p:spPr>
          <a:xfrm>
            <a:off x="4928997" y="3235539"/>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3230777"/>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315457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Lightweight Below 150 GSM</a:t>
            </a:r>
          </a:p>
        </p:txBody>
      </p:sp>
      <p:sp>
        <p:nvSpPr>
          <p:cNvPr id="21" name="BPS Value 2"/>
          <p:cNvSpPr txBox="1"/>
          <p:nvPr/>
        </p:nvSpPr>
        <p:spPr>
          <a:xfrm>
            <a:off x="6896100" y="3216489"/>
            <a:ext cx="514350" cy="123825"/>
          </a:xfrm>
          <a:prstGeom prst="rect">
            <a:avLst/>
          </a:prstGeom>
          <a:noFill/>
        </p:spPr>
        <p:txBody>
          <a:bodyPr wrap="none" lIns="0" rIns="0" tIns="0" bIns="0" anchor="ctr">
            <a:spAutoFit/>
          </a:bodyPr>
          <a:lstStyle/>
          <a:p>
            <a:pPr algn="r"/>
            <a:r>
              <a:rPr sz="900" b="1">
                <a:solidFill>
                  <a:srgbClr val="1E8E3E"/>
                </a:solidFill>
                <a:latin typeface="Segoe UI"/>
              </a:rPr>
              <a:t>+43</a:t>
            </a:r>
          </a:p>
        </p:txBody>
      </p:sp>
      <p:sp>
        <p:nvSpPr>
          <p:cNvPr id="22" name="FMI Legend Chip"/>
          <p:cNvSpPr/>
          <p:nvPr/>
        </p:nvSpPr>
        <p:spPr>
          <a:xfrm>
            <a:off x="4928997" y="5055460"/>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rot="10800000">
            <a:off x="5090922" y="5050697"/>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497449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Medium Weight 150–250 GSM</a:t>
            </a:r>
          </a:p>
        </p:txBody>
      </p:sp>
      <p:sp>
        <p:nvSpPr>
          <p:cNvPr id="25" name="BPS Value 3"/>
          <p:cNvSpPr txBox="1"/>
          <p:nvPr/>
        </p:nvSpPr>
        <p:spPr>
          <a:xfrm>
            <a:off x="6896100" y="5036410"/>
            <a:ext cx="514350" cy="123825"/>
          </a:xfrm>
          <a:prstGeom prst="rect">
            <a:avLst/>
          </a:prstGeom>
          <a:noFill/>
        </p:spPr>
        <p:txBody>
          <a:bodyPr wrap="none" lIns="0" rIns="0" tIns="0" bIns="0" anchor="ctr">
            <a:spAutoFit/>
          </a:bodyPr>
          <a:lstStyle/>
          <a:p>
            <a:pPr algn="r"/>
            <a:r>
              <a:rPr sz="900" b="1">
                <a:solidFill>
                  <a:srgbClr val="D64545"/>
                </a:solidFill>
                <a:latin typeface="Segoe UI"/>
              </a:rPr>
              <a:t>-145</a:t>
            </a:r>
          </a:p>
        </p:txBody>
      </p:sp>
      <p:sp>
        <p:nvSpPr>
          <p:cNvPr id="26" name="Rectangle 25"/>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Western Europe Read-out, By Fabric Weight</a:t>
            </a:r>
          </a:p>
        </p:txBody>
      </p:sp>
      <p:sp>
        <p:nvSpPr>
          <p:cNvPr id="28" name="Rectangle 27"/>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fabric weight, heavyweight above 250 GSM segment is expected to witness the highest CAGR of 6.8% over the forecast period.</a:t>
            </a:r>
          </a:p>
          <a:p>
            <a:pPr algn="l">
              <a:lnSpc>
                <a:spcPct val="110000"/>
              </a:lnSpc>
              <a:spcBef>
                <a:spcPts val="0"/>
              </a:spcBef>
              <a:spcAft>
                <a:spcPts val="500"/>
              </a:spcAft>
            </a:pPr>
            <a:r>
              <a:rPr sz="1150" b="0">
                <a:solidFill>
                  <a:srgbClr val="252423"/>
                </a:solidFill>
                <a:latin typeface="Segoe UI"/>
              </a:rPr>
              <a:t>In terms of value share by fabric weight, the medium weight 150-250 GSM segment is expected to dominate the market, losing 145 BPS and accounting for 52.0% share by 2036.</a:t>
            </a:r>
          </a:p>
        </p:txBody>
      </p:sp>
      <p:sp>
        <p:nvSpPr>
          <p:cNvPr id="30" name="TextBox 2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Vs Material Segment Outlook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Vs Material,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Western Europe</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Vs Material segment categorizes the market by end-use application vs material.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Medical &amp; Healthcare</a:t>
            </a:r>
          </a:p>
        </p:txBody>
      </p:sp>
      <p:sp>
        <p:nvSpPr>
          <p:cNvPr id="21" name="Rectangle 20"/>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274.1</a:t>
            </a:r>
          </a:p>
        </p:txBody>
      </p:sp>
      <p:sp>
        <p:nvSpPr>
          <p:cNvPr id="22" name="Rectangle 21"/>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528.5</a:t>
            </a:r>
          </a:p>
        </p:txBody>
      </p:sp>
      <p:sp>
        <p:nvSpPr>
          <p:cNvPr id="23" name="Rectangle 22"/>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6.8%</a:t>
            </a:r>
          </a:p>
        </p:txBody>
      </p:sp>
      <p:sp>
        <p:nvSpPr>
          <p:cNvPr id="24" name="Oval 23"/>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Sports &amp; Activewear</a:t>
            </a:r>
          </a:p>
        </p:txBody>
      </p:sp>
      <p:sp>
        <p:nvSpPr>
          <p:cNvPr id="28" name="Rectangle 27"/>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269.5</a:t>
            </a:r>
          </a:p>
        </p:txBody>
      </p:sp>
      <p:sp>
        <p:nvSpPr>
          <p:cNvPr id="29" name="Rectangle 28"/>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493.5</a:t>
            </a:r>
          </a:p>
        </p:txBody>
      </p:sp>
      <p:sp>
        <p:nvSpPr>
          <p:cNvPr id="30" name="Rectangle 29"/>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6.2%</a:t>
            </a:r>
          </a:p>
        </p:txBody>
      </p:sp>
      <p:sp>
        <p:nvSpPr>
          <p:cNvPr id="31" name="Oval 30"/>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Protective &amp; Occupational Wear</a:t>
            </a:r>
          </a:p>
        </p:txBody>
      </p:sp>
      <p:sp>
        <p:nvSpPr>
          <p:cNvPr id="35" name="Rectangle 34"/>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235.7</a:t>
            </a:r>
          </a:p>
        </p:txBody>
      </p:sp>
      <p:sp>
        <p:nvSpPr>
          <p:cNvPr id="36" name="Rectangle 35"/>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442.2</a:t>
            </a:r>
          </a:p>
        </p:txBody>
      </p:sp>
      <p:sp>
        <p:nvSpPr>
          <p:cNvPr id="37" name="Rectangle 36"/>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6.5%</a:t>
            </a:r>
          </a:p>
        </p:txBody>
      </p:sp>
      <p:sp>
        <p:nvSpPr>
          <p:cNvPr id="38" name="Oval 37"/>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Intimate &amp; Bodywear</a:t>
            </a:r>
          </a:p>
        </p:txBody>
      </p:sp>
      <p:sp>
        <p:nvSpPr>
          <p:cNvPr id="42" name="Rectangle 41"/>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199.7</a:t>
            </a:r>
          </a:p>
        </p:txBody>
      </p:sp>
      <p:sp>
        <p:nvSpPr>
          <p:cNvPr id="43" name="Rectangle 42"/>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332.5</a:t>
            </a:r>
          </a:p>
        </p:txBody>
      </p:sp>
      <p:sp>
        <p:nvSpPr>
          <p:cNvPr id="44" name="Rectangle 43"/>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5.2%</a:t>
            </a:r>
          </a:p>
        </p:txBody>
      </p:sp>
      <p:sp>
        <p:nvSpPr>
          <p:cNvPr id="45" name="Oval 44"/>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8" name="Rectangle 47"/>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Among performance knitted fabrics by End-Use application vs material, industrial &amp; technical applications segment is expected to witness the highest CAGR of 6.9% over the forecast period. In terms of value share by End-Use application vs material, the medical &amp; healthcare segment is expected to dominate the market, gaining 88 BPS and accounting for 19.8% share by 2036.</a:t>
            </a:r>
          </a:p>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Medical &amp; healthcare segment is projected to register 1.1X higher value than sports &amp; activewear segment in 2036.</a:t>
            </a:r>
          </a:p>
        </p:txBody>
      </p:sp>
      <p:sp>
        <p:nvSpPr>
          <p:cNvPr id="50" name="Rounded Rectangle 49"/>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2" name="Rectangle 51"/>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Medical &amp; Healthcare: </a:t>
            </a:r>
            <a:r>
              <a:rPr sz="1100" b="0">
                <a:solidFill>
                  <a:srgbClr val="252423"/>
                </a:solidFill>
                <a:latin typeface="Segoe UI"/>
              </a:rPr>
              <a:t>19% of 2026 value · 6.8%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Sports &amp; Activewear: </a:t>
            </a:r>
            <a:r>
              <a:rPr sz="1100" b="0">
                <a:solidFill>
                  <a:srgbClr val="252423"/>
                </a:solidFill>
                <a:latin typeface="Segoe UI"/>
              </a:rPr>
              <a:t>19% of 2026 value · 6.2%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Protective &amp; Occupational Wear: </a:t>
            </a:r>
            <a:r>
              <a:rPr sz="1100" b="0">
                <a:solidFill>
                  <a:srgbClr val="252423"/>
                </a:solidFill>
                <a:latin typeface="Segoe UI"/>
              </a:rPr>
              <a:t>16% of 2026 value · 6.5% CAGR serves a niche.</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Intimate &amp; Bodywear: </a:t>
            </a:r>
            <a:r>
              <a:rPr sz="1100" b="0">
                <a:solidFill>
                  <a:srgbClr val="252423"/>
                </a:solidFill>
                <a:latin typeface="Segoe UI"/>
              </a:rPr>
              <a:t>14% of 2026 value · 5.2% CAGR serves a niche.</a:t>
            </a:r>
          </a:p>
        </p:txBody>
      </p:sp>
      <p:sp>
        <p:nvSpPr>
          <p:cNvPr id="54" name="Rounded Rectangle 53"/>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6" name="Rectangle 55"/>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End-Use Application Vs Material split shows how demand is distributed across end-use application vs material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8" name="Rectangle 57"/>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End-Use Application Vs Material segment is projected to grow at a CAGR of 6.3% from 2026 to 2036.</a:t>
            </a:r>
          </a:p>
        </p:txBody>
      </p:sp>
      <p:sp>
        <p:nvSpPr>
          <p:cNvPr id="60" name="TextBox 59"/>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1" name="TextBox 6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Vs Material Segment Outlook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Vs Material,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Vs Material segment categorizes the market by end-use application vs material.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3257550"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3257550"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Automotive &amp; Transportation</a:t>
            </a:r>
          </a:p>
        </p:txBody>
      </p:sp>
      <p:sp>
        <p:nvSpPr>
          <p:cNvPr id="20" name="Rectangle 19"/>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188.1</a:t>
            </a:r>
          </a:p>
        </p:txBody>
      </p:sp>
      <p:sp>
        <p:nvSpPr>
          <p:cNvPr id="21" name="Rectangle 20"/>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337.7</a:t>
            </a:r>
          </a:p>
        </p:txBody>
      </p:sp>
      <p:sp>
        <p:nvSpPr>
          <p:cNvPr id="22" name="Rectangle 21"/>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6.0%</a:t>
            </a:r>
          </a:p>
        </p:txBody>
      </p:sp>
      <p:sp>
        <p:nvSpPr>
          <p:cNvPr id="23" name="Oval 22"/>
          <p:cNvSpPr/>
          <p:nvPr/>
        </p:nvSpPr>
        <p:spPr>
          <a:xfrm>
            <a:off x="3333750"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24" name="Rounded Rectangle 23"/>
          <p:cNvSpPr/>
          <p:nvPr/>
        </p:nvSpPr>
        <p:spPr>
          <a:xfrm>
            <a:off x="5238750" y="1773916"/>
            <a:ext cx="3257550"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38750" y="1992961"/>
            <a:ext cx="3257550"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Industrial &amp; Technical Applicatio…</a:t>
            </a:r>
          </a:p>
        </p:txBody>
      </p:sp>
      <p:sp>
        <p:nvSpPr>
          <p:cNvPr id="27" name="Rectangle 26"/>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171.6</a:t>
            </a:r>
          </a:p>
        </p:txBody>
      </p:sp>
      <p:sp>
        <p:nvSpPr>
          <p:cNvPr id="28" name="Rectangle 27"/>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333.0</a:t>
            </a:r>
          </a:p>
        </p:txBody>
      </p:sp>
      <p:sp>
        <p:nvSpPr>
          <p:cNvPr id="29" name="Rectangle 28"/>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6.9%</a:t>
            </a:r>
          </a:p>
        </p:txBody>
      </p:sp>
      <p:sp>
        <p:nvSpPr>
          <p:cNvPr id="30" name="Oval 29"/>
          <p:cNvSpPr/>
          <p:nvPr/>
        </p:nvSpPr>
        <p:spPr>
          <a:xfrm>
            <a:off x="6705600"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31" name="Rounded Rectangle 30"/>
          <p:cNvSpPr/>
          <p:nvPr/>
        </p:nvSpPr>
        <p:spPr>
          <a:xfrm>
            <a:off x="8610600" y="1773916"/>
            <a:ext cx="3257550"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10600" y="1992961"/>
            <a:ext cx="3257550"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Footwear</a:t>
            </a:r>
          </a:p>
        </p:txBody>
      </p:sp>
      <p:sp>
        <p:nvSpPr>
          <p:cNvPr id="34" name="Rectangle 33"/>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111.5</a:t>
            </a:r>
          </a:p>
        </p:txBody>
      </p:sp>
      <p:sp>
        <p:nvSpPr>
          <p:cNvPr id="35" name="Rectangle 34"/>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205.3</a:t>
            </a:r>
          </a:p>
        </p:txBody>
      </p:sp>
      <p:sp>
        <p:nvSpPr>
          <p:cNvPr id="36" name="Rectangle 35"/>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6.3%</a:t>
            </a:r>
          </a:p>
        </p:txBody>
      </p:sp>
      <p:sp>
        <p:nvSpPr>
          <p:cNvPr id="37" name="Oval 36"/>
          <p:cNvSpPr/>
          <p:nvPr/>
        </p:nvSpPr>
        <p:spPr>
          <a:xfrm>
            <a:off x="10077450"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38" name="Rounded Rectangle 37"/>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0" name="Rectangle 39"/>
          <p:cNvSpPr/>
          <p:nvPr/>
        </p:nvSpPr>
        <p:spPr>
          <a:xfrm>
            <a:off x="457200" y="4146897"/>
            <a:ext cx="112776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Automotive &amp; Transportation: </a:t>
            </a:r>
            <a:r>
              <a:rPr sz="1100" b="0">
                <a:solidFill>
                  <a:srgbClr val="252423"/>
                </a:solidFill>
                <a:latin typeface="Segoe UI"/>
              </a:rPr>
              <a:t>13% of 2026 value · 6.0% CAGR serves a niche.</a:t>
            </a:r>
          </a:p>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Industrial &amp; Technical Applications: </a:t>
            </a:r>
            <a:r>
              <a:rPr sz="1100" b="0">
                <a:solidFill>
                  <a:srgbClr val="252423"/>
                </a:solidFill>
                <a:latin typeface="Segoe UI"/>
              </a:rPr>
              <a:t>12% of 2026 value · 6.9% CAGR grows fastest.</a:t>
            </a:r>
          </a:p>
          <a:p>
            <a:pPr algn="l">
              <a:lnSpc>
                <a:spcPct val="110000"/>
              </a:lnSpc>
              <a:spcBef>
                <a:spcPts val="0"/>
              </a:spcBef>
              <a:spcAft>
                <a:spcPts val="500"/>
              </a:spcAft>
            </a:pPr>
            <a:r>
              <a:rPr sz="1100" b="0">
                <a:solidFill>
                  <a:srgbClr val="2C6E7F"/>
                </a:solidFill>
                <a:latin typeface="Segoe UI"/>
              </a:rPr>
              <a:t>●  </a:t>
            </a:r>
            <a:r>
              <a:rPr sz="1100" b="1">
                <a:solidFill>
                  <a:srgbClr val="2C6E7F"/>
                </a:solidFill>
                <a:latin typeface="Segoe UI"/>
              </a:rPr>
              <a:t>Footwear: </a:t>
            </a:r>
            <a:r>
              <a:rPr sz="1100" b="0">
                <a:solidFill>
                  <a:srgbClr val="252423"/>
                </a:solidFill>
                <a:latin typeface="Segoe UI"/>
              </a:rPr>
              <a:t>8% of 2026 value · 6.3% CAGR serves a niche.</a:t>
            </a:r>
          </a:p>
        </p:txBody>
      </p:sp>
      <p:sp>
        <p:nvSpPr>
          <p:cNvPr id="42" name="TextBox 41"/>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3" name="TextBox 4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Western Europe Market Value &amp; Share Shift, By End-Use Application Vs Material</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End-Use Application Vs Material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Western Europe</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Western Europe Value Composition, By End-Use Application Vs Material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846896"/>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5090922" y="1842133"/>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76593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Footwear</a:t>
            </a:r>
          </a:p>
        </p:txBody>
      </p:sp>
      <p:sp>
        <p:nvSpPr>
          <p:cNvPr id="17" name="BPS Value 1"/>
          <p:cNvSpPr txBox="1"/>
          <p:nvPr/>
        </p:nvSpPr>
        <p:spPr>
          <a:xfrm>
            <a:off x="6896100" y="1827846"/>
            <a:ext cx="514350" cy="123825"/>
          </a:xfrm>
          <a:prstGeom prst="rect">
            <a:avLst/>
          </a:prstGeom>
          <a:noFill/>
        </p:spPr>
        <p:txBody>
          <a:bodyPr wrap="none" lIns="0" rIns="0" tIns="0" bIns="0" anchor="ctr">
            <a:spAutoFit/>
          </a:bodyPr>
          <a:lstStyle/>
          <a:p>
            <a:pPr algn="r"/>
            <a:r>
              <a:rPr sz="900" b="1">
                <a:solidFill>
                  <a:srgbClr val="D64545"/>
                </a:solidFill>
                <a:latin typeface="Segoe UI"/>
              </a:rPr>
              <a:t>-1</a:t>
            </a:r>
          </a:p>
        </p:txBody>
      </p:sp>
      <p:sp>
        <p:nvSpPr>
          <p:cNvPr id="18" name="FMI Legend Chip"/>
          <p:cNvSpPr/>
          <p:nvPr/>
        </p:nvSpPr>
        <p:spPr>
          <a:xfrm>
            <a:off x="4928997" y="2306942"/>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5090922" y="230218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222598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Intimate &amp; Bodywear</a:t>
            </a:r>
          </a:p>
        </p:txBody>
      </p:sp>
      <p:sp>
        <p:nvSpPr>
          <p:cNvPr id="21" name="BPS Value 2"/>
          <p:cNvSpPr txBox="1"/>
          <p:nvPr/>
        </p:nvSpPr>
        <p:spPr>
          <a:xfrm>
            <a:off x="6896100" y="2287892"/>
            <a:ext cx="514350" cy="123825"/>
          </a:xfrm>
          <a:prstGeom prst="rect">
            <a:avLst/>
          </a:prstGeom>
          <a:noFill/>
        </p:spPr>
        <p:txBody>
          <a:bodyPr wrap="none" lIns="0" rIns="0" tIns="0" bIns="0" anchor="ctr">
            <a:spAutoFit/>
          </a:bodyPr>
          <a:lstStyle/>
          <a:p>
            <a:pPr algn="r"/>
            <a:r>
              <a:rPr sz="900" b="1">
                <a:solidFill>
                  <a:srgbClr val="D64545"/>
                </a:solidFill>
                <a:latin typeface="Segoe UI"/>
              </a:rPr>
              <a:t>-133</a:t>
            </a:r>
          </a:p>
        </p:txBody>
      </p:sp>
      <p:sp>
        <p:nvSpPr>
          <p:cNvPr id="22" name="FMI Legend Chip"/>
          <p:cNvSpPr/>
          <p:nvPr/>
        </p:nvSpPr>
        <p:spPr>
          <a:xfrm>
            <a:off x="4928997" y="2876222"/>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5090922" y="287145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79525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Industrial &amp; Technical Applications</a:t>
            </a:r>
          </a:p>
        </p:txBody>
      </p:sp>
      <p:sp>
        <p:nvSpPr>
          <p:cNvPr id="25" name="BPS Value 3"/>
          <p:cNvSpPr txBox="1"/>
          <p:nvPr/>
        </p:nvSpPr>
        <p:spPr>
          <a:xfrm>
            <a:off x="6896100" y="2857172"/>
            <a:ext cx="514350" cy="123825"/>
          </a:xfrm>
          <a:prstGeom prst="rect">
            <a:avLst/>
          </a:prstGeom>
          <a:noFill/>
        </p:spPr>
        <p:txBody>
          <a:bodyPr wrap="none" lIns="0" rIns="0" tIns="0" bIns="0" anchor="ctr">
            <a:spAutoFit/>
          </a:bodyPr>
          <a:lstStyle/>
          <a:p>
            <a:pPr algn="r"/>
            <a:r>
              <a:rPr sz="900" b="1">
                <a:solidFill>
                  <a:srgbClr val="1E8E3E"/>
                </a:solidFill>
                <a:latin typeface="Segoe UI"/>
              </a:rPr>
              <a:t>+63</a:t>
            </a:r>
          </a:p>
        </p:txBody>
      </p:sp>
      <p:sp>
        <p:nvSpPr>
          <p:cNvPr id="26" name="FMI Legend Chip"/>
          <p:cNvSpPr/>
          <p:nvPr/>
        </p:nvSpPr>
        <p:spPr>
          <a:xfrm>
            <a:off x="4928997" y="3449947"/>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rot="10800000">
            <a:off x="5090922" y="3445185"/>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336898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Automotive &amp; Transportation</a:t>
            </a:r>
          </a:p>
        </p:txBody>
      </p:sp>
      <p:sp>
        <p:nvSpPr>
          <p:cNvPr id="29" name="BPS Value 4"/>
          <p:cNvSpPr txBox="1"/>
          <p:nvPr/>
        </p:nvSpPr>
        <p:spPr>
          <a:xfrm>
            <a:off x="6896100" y="3430897"/>
            <a:ext cx="514350" cy="123825"/>
          </a:xfrm>
          <a:prstGeom prst="rect">
            <a:avLst/>
          </a:prstGeom>
          <a:noFill/>
        </p:spPr>
        <p:txBody>
          <a:bodyPr wrap="none" lIns="0" rIns="0" tIns="0" bIns="0" anchor="ctr">
            <a:spAutoFit/>
          </a:bodyPr>
          <a:lstStyle/>
          <a:p>
            <a:pPr algn="r"/>
            <a:r>
              <a:rPr sz="900" b="1">
                <a:solidFill>
                  <a:srgbClr val="D64545"/>
                </a:solidFill>
                <a:latin typeface="Segoe UI"/>
              </a:rPr>
              <a:t>-34</a:t>
            </a:r>
          </a:p>
        </p:txBody>
      </p:sp>
      <p:sp>
        <p:nvSpPr>
          <p:cNvPr id="30" name="FMI Legend Chip"/>
          <p:cNvSpPr/>
          <p:nvPr/>
        </p:nvSpPr>
        <p:spPr>
          <a:xfrm>
            <a:off x="4928997" y="4117046"/>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5090922" y="411228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403608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Protective &amp; Occupational Wear</a:t>
            </a:r>
          </a:p>
        </p:txBody>
      </p:sp>
      <p:sp>
        <p:nvSpPr>
          <p:cNvPr id="33" name="BPS Value 5"/>
          <p:cNvSpPr txBox="1"/>
          <p:nvPr/>
        </p:nvSpPr>
        <p:spPr>
          <a:xfrm>
            <a:off x="6896100" y="4097996"/>
            <a:ext cx="514350" cy="123825"/>
          </a:xfrm>
          <a:prstGeom prst="rect">
            <a:avLst/>
          </a:prstGeom>
          <a:noFill/>
        </p:spPr>
        <p:txBody>
          <a:bodyPr wrap="none" lIns="0" rIns="0" tIns="0" bIns="0" anchor="ctr">
            <a:spAutoFit/>
          </a:bodyPr>
          <a:lstStyle/>
          <a:p>
            <a:pPr algn="r"/>
            <a:r>
              <a:rPr sz="900" b="1">
                <a:solidFill>
                  <a:srgbClr val="1E8E3E"/>
                </a:solidFill>
                <a:latin typeface="Segoe UI"/>
              </a:rPr>
              <a:t>+29</a:t>
            </a:r>
          </a:p>
        </p:txBody>
      </p:sp>
      <p:sp>
        <p:nvSpPr>
          <p:cNvPr id="34" name="FMI Legend Chip"/>
          <p:cNvSpPr/>
          <p:nvPr/>
        </p:nvSpPr>
        <p:spPr>
          <a:xfrm>
            <a:off x="4928997" y="4917407"/>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rot="10800000">
            <a:off x="5090922" y="4912645"/>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483644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Sports &amp; Activewear</a:t>
            </a:r>
          </a:p>
        </p:txBody>
      </p:sp>
      <p:sp>
        <p:nvSpPr>
          <p:cNvPr id="37" name="BPS Value 6"/>
          <p:cNvSpPr txBox="1"/>
          <p:nvPr/>
        </p:nvSpPr>
        <p:spPr>
          <a:xfrm>
            <a:off x="6896100" y="4898357"/>
            <a:ext cx="514350" cy="123825"/>
          </a:xfrm>
          <a:prstGeom prst="rect">
            <a:avLst/>
          </a:prstGeom>
          <a:noFill/>
        </p:spPr>
        <p:txBody>
          <a:bodyPr wrap="none" lIns="0" rIns="0" tIns="0" bIns="0" anchor="ctr">
            <a:spAutoFit/>
          </a:bodyPr>
          <a:lstStyle/>
          <a:p>
            <a:pPr algn="r"/>
            <a:r>
              <a:rPr sz="900" b="1">
                <a:solidFill>
                  <a:srgbClr val="D64545"/>
                </a:solidFill>
                <a:latin typeface="Segoe UI"/>
              </a:rPr>
              <a:t>-12</a:t>
            </a:r>
          </a:p>
        </p:txBody>
      </p:sp>
      <p:sp>
        <p:nvSpPr>
          <p:cNvPr id="38" name="FMI Legend Chip"/>
          <p:cNvSpPr/>
          <p:nvPr/>
        </p:nvSpPr>
        <p:spPr>
          <a:xfrm>
            <a:off x="4928997" y="5791580"/>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a:off x="5090922" y="5786817"/>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5233797" y="571061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Medical &amp; Healthcare</a:t>
            </a:r>
          </a:p>
        </p:txBody>
      </p:sp>
      <p:sp>
        <p:nvSpPr>
          <p:cNvPr id="41" name="BPS Value 7"/>
          <p:cNvSpPr txBox="1"/>
          <p:nvPr/>
        </p:nvSpPr>
        <p:spPr>
          <a:xfrm>
            <a:off x="6896100" y="5772530"/>
            <a:ext cx="514350" cy="123825"/>
          </a:xfrm>
          <a:prstGeom prst="rect">
            <a:avLst/>
          </a:prstGeom>
          <a:noFill/>
        </p:spPr>
        <p:txBody>
          <a:bodyPr wrap="none" lIns="0" rIns="0" tIns="0" bIns="0" anchor="ctr">
            <a:spAutoFit/>
          </a:bodyPr>
          <a:lstStyle/>
          <a:p>
            <a:pPr algn="r"/>
            <a:r>
              <a:rPr sz="900" b="1">
                <a:solidFill>
                  <a:srgbClr val="1E8E3E"/>
                </a:solidFill>
                <a:latin typeface="Segoe UI"/>
              </a:rPr>
              <a:t>+88</a:t>
            </a:r>
          </a:p>
        </p:txBody>
      </p:sp>
      <p:sp>
        <p:nvSpPr>
          <p:cNvPr id="42" name="Rectangle 41"/>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Western Europe Read-out, By End-Use Application Vs Material</a:t>
            </a:r>
          </a:p>
        </p:txBody>
      </p:sp>
      <p:sp>
        <p:nvSpPr>
          <p:cNvPr id="44" name="Rectangle 43"/>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End-Use application vs material, industrial &amp; technical applications segment is expected to witness the highest CAGR of 6.9% over the forecast period. In terms of value share by End-Use application vs material, the medical &amp; healthcare segment is expected to dominate the market, gaining 88 BPS and accounting for 19.8% share by 2036.</a:t>
            </a:r>
          </a:p>
          <a:p>
            <a:pPr algn="l">
              <a:lnSpc>
                <a:spcPct val="110000"/>
              </a:lnSpc>
              <a:spcBef>
                <a:spcPts val="0"/>
              </a:spcBef>
              <a:spcAft>
                <a:spcPts val="500"/>
              </a:spcAft>
            </a:pPr>
            <a:r>
              <a:rPr sz="1150" b="0">
                <a:solidFill>
                  <a:srgbClr val="252423"/>
                </a:solidFill>
                <a:latin typeface="Segoe UI"/>
              </a:rPr>
              <a:t>The intimate &amp; bodywear segment is expected to lose 133 BPS over the forecast period to account for 12.4% share by 2036.</a:t>
            </a:r>
          </a:p>
        </p:txBody>
      </p:sp>
      <p:sp>
        <p:nvSpPr>
          <p:cNvPr id="46" name="TextBox 4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Eastern Europe Performance Knitted Fabrics Market Summary, By Volume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Eastern Europe market volume growth, incremental opportunity and the geographies driving it, 2021–2036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Eastern Europe</a:t>
            </a:r>
          </a:p>
        </p:txBody>
      </p:sp>
      <p:sp>
        <p:nvSpPr>
          <p:cNvPr id="9" name="Rounded Rectangle 8"/>
          <p:cNvSpPr/>
          <p:nvPr/>
        </p:nvSpPr>
        <p:spPr>
          <a:xfrm>
            <a:off x="142875"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MARKET SIZE (MN SQ. YARDS)</a:t>
            </a:r>
          </a:p>
          <a:p>
            <a:pPr algn="ctr">
              <a:lnSpc>
                <a:spcPct val="95000"/>
              </a:lnSpc>
            </a:pPr>
            <a:r>
              <a:rPr sz="1500" b="1">
                <a:solidFill>
                  <a:srgbClr val="00A4DC"/>
                </a:solidFill>
                <a:latin typeface="Segoe UI"/>
              </a:rPr>
              <a:t>96.9</a:t>
            </a:r>
          </a:p>
        </p:txBody>
      </p:sp>
      <p:sp>
        <p:nvSpPr>
          <p:cNvPr id="10" name="Rounded Rectangle 9"/>
          <p:cNvSpPr/>
          <p:nvPr/>
        </p:nvSpPr>
        <p:spPr>
          <a:xfrm>
            <a:off x="31432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145.4</a:t>
            </a:r>
          </a:p>
        </p:txBody>
      </p:sp>
      <p:sp>
        <p:nvSpPr>
          <p:cNvPr id="11" name="Rounded Rectangle 10"/>
          <p:cNvSpPr/>
          <p:nvPr/>
        </p:nvSpPr>
        <p:spPr>
          <a:xfrm>
            <a:off x="61531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2021–2025</a:t>
            </a:r>
          </a:p>
          <a:p>
            <a:pPr algn="ctr">
              <a:lnSpc>
                <a:spcPct val="95000"/>
              </a:lnSpc>
            </a:pPr>
            <a:r>
              <a:rPr sz="1500" b="1">
                <a:solidFill>
                  <a:srgbClr val="00A4DC"/>
                </a:solidFill>
                <a:latin typeface="Segoe UI"/>
              </a:rPr>
              <a:t>4.0%</a:t>
            </a:r>
          </a:p>
        </p:txBody>
      </p:sp>
      <p:sp>
        <p:nvSpPr>
          <p:cNvPr id="12" name="Rounded Rectangle 11"/>
          <p:cNvSpPr/>
          <p:nvPr/>
        </p:nvSpPr>
        <p:spPr>
          <a:xfrm>
            <a:off x="91630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1500" b="1">
                <a:solidFill>
                  <a:srgbClr val="00A4DC"/>
                </a:solidFill>
                <a:latin typeface="Segoe UI"/>
              </a:rPr>
              <a:t>4.1%</a:t>
            </a:r>
          </a:p>
        </p:txBody>
      </p:sp>
      <p:sp>
        <p:nvSpPr>
          <p:cNvPr id="13" name="Rectangle 12"/>
          <p:cNvSpPr/>
          <p:nvPr/>
        </p:nvSpPr>
        <p:spPr>
          <a:xfrm>
            <a:off x="142875" y="1627887"/>
            <a:ext cx="769620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(2021–2036)</a:t>
            </a:r>
          </a:p>
        </p:txBody>
      </p:sp>
      <p:graphicFrame>
        <p:nvGraphicFramePr>
          <p:cNvPr id="15" name="Chart 14"/>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6" name="Rectangle 15"/>
          <p:cNvSpPr/>
          <p:nvPr/>
        </p:nvSpPr>
        <p:spPr>
          <a:xfrm>
            <a:off x="142875" y="4037375"/>
            <a:ext cx="769620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Incremental Market Addition (Mn Sq. Yards)</a:t>
            </a:r>
          </a:p>
        </p:txBody>
      </p:sp>
      <p:graphicFrame>
        <p:nvGraphicFramePr>
          <p:cNvPr id="18" name="Chart 17"/>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9" name="Rectangle 18"/>
          <p:cNvSpPr/>
          <p:nvPr/>
        </p:nvSpPr>
        <p:spPr>
          <a:xfrm>
            <a:off x="7915275" y="1627887"/>
            <a:ext cx="413385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21" name="Rectangle 20"/>
          <p:cNvSpPr/>
          <p:nvPr/>
        </p:nvSpPr>
        <p:spPr>
          <a:xfrm>
            <a:off x="8048625" y="195173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52423"/>
                </a:solidFill>
                <a:latin typeface="Segoe UI"/>
              </a:rPr>
              <a:t>Eastern Europe performance knitted fabrics market is projected to register 1.6X increase in volume by the end of forecast period, 2036. Eastern Europe performance knitted fabrics market volume stood at 93.0 Mn Sq. Yards in 2025 and is expected to reach 145.4 Mn Sq. Yards by 2036 end, at a CAGR of 4.1%.</a:t>
            </a:r>
          </a:p>
          <a:p>
            <a:pPr algn="l">
              <a:lnSpc>
                <a:spcPct val="110000"/>
              </a:lnSpc>
              <a:spcBef>
                <a:spcPts val="0"/>
              </a:spcBef>
              <a:spcAft>
                <a:spcPts val="500"/>
              </a:spcAft>
            </a:pPr>
            <a:r>
              <a:rPr sz="1100" b="0">
                <a:solidFill>
                  <a:srgbClr val="252423"/>
                </a:solidFill>
                <a:latin typeface="Segoe UI"/>
              </a:rPr>
              <a:t>Value is projected to grow faster than volume over the forecast period, owing to an increase in average selling price.</a:t>
            </a:r>
          </a:p>
        </p:txBody>
      </p:sp>
      <p:sp>
        <p:nvSpPr>
          <p:cNvPr id="23" name="Rectangle 22"/>
          <p:cNvSpPr/>
          <p:nvPr/>
        </p:nvSpPr>
        <p:spPr>
          <a:xfrm>
            <a:off x="7915275" y="4037375"/>
            <a:ext cx="413385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07BA5"/>
                </a:solidFill>
                <a:latin typeface="Segoe UI"/>
              </a:rPr>
              <a:t>Growth Drivers</a:t>
            </a:r>
          </a:p>
        </p:txBody>
      </p:sp>
      <p:sp>
        <p:nvSpPr>
          <p:cNvPr id="25" name="Rectangle 24"/>
          <p:cNvSpPr/>
          <p:nvPr/>
        </p:nvSpPr>
        <p:spPr>
          <a:xfrm>
            <a:off x="8048625" y="436122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'Balkan &amp; Baltics' leads regional growth at 5.0% CAGR.</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Demand concentrates in 'Weft Knitted Fabrics' within Fabric Construction.</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Product innovation and premiumisation lifting value.</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Expanding end-use applications and access.</a:t>
            </a:r>
          </a:p>
        </p:txBody>
      </p:sp>
      <p:sp>
        <p:nvSpPr>
          <p:cNvPr id="27" name="TextBox 2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Eastern Europe Performance Knitted Fabrics Market Pricing &amp; Regional Price Index</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average price by sub-segment and price variation by country, highlighting where pricing power sits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Eastern Europe</a:t>
            </a:r>
          </a:p>
        </p:txBody>
      </p:sp>
      <p:sp>
        <p:nvSpPr>
          <p:cNvPr id="9" name="Rectangle 8"/>
          <p:cNvSpPr/>
          <p:nvPr/>
        </p:nvSpPr>
        <p:spPr>
          <a:xfrm>
            <a:off x="142875" y="1052895"/>
            <a:ext cx="7696200" cy="266504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Average Price by Fabric Construction  ·  range across 2021–2036 (US$/Sq. Yards)</a:t>
            </a:r>
          </a:p>
        </p:txBody>
      </p:sp>
      <p:cxnSp>
        <p:nvCxnSpPr>
          <p:cNvPr id="11" name="Connector 10"/>
          <p:cNvCxnSpPr/>
          <p:nvPr/>
        </p:nvCxnSpPr>
        <p:spPr>
          <a:xfrm>
            <a:off x="657225" y="333693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7225" y="286593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239494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192394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452945"/>
            <a:ext cx="0" cy="188399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8650" y="3336935"/>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2865938"/>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2394940"/>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1923943"/>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1452945"/>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sp>
        <p:nvSpPr>
          <p:cNvPr id="22" name="FMI Scale tick"/>
          <p:cNvSpPr txBox="1"/>
          <p:nvPr/>
        </p:nvSpPr>
        <p:spPr>
          <a:xfrm>
            <a:off x="219075" y="3270260"/>
            <a:ext cx="381000" cy="133350"/>
          </a:xfrm>
          <a:prstGeom prst="rect">
            <a:avLst/>
          </a:prstGeom>
          <a:noFill/>
        </p:spPr>
        <p:txBody>
          <a:bodyPr wrap="none" lIns="0" rIns="0" tIns="0" bIns="0" anchor="ctr">
            <a:spAutoFit/>
          </a:bodyPr>
          <a:lstStyle/>
          <a:p>
            <a:pPr algn="r"/>
            <a:r>
              <a:rPr sz="1100" b="0">
                <a:solidFill>
                  <a:srgbClr val="605E5C"/>
                </a:solidFill>
                <a:latin typeface="Segoe UI"/>
              </a:rPr>
              <a:t>2.75</a:t>
            </a:r>
          </a:p>
        </p:txBody>
      </p:sp>
      <p:sp>
        <p:nvSpPr>
          <p:cNvPr id="23" name="FMI Scale tick"/>
          <p:cNvSpPr txBox="1"/>
          <p:nvPr/>
        </p:nvSpPr>
        <p:spPr>
          <a:xfrm>
            <a:off x="219075" y="2328265"/>
            <a:ext cx="381000" cy="133350"/>
          </a:xfrm>
          <a:prstGeom prst="rect">
            <a:avLst/>
          </a:prstGeom>
          <a:noFill/>
        </p:spPr>
        <p:txBody>
          <a:bodyPr wrap="none" lIns="0" rIns="0" tIns="0" bIns="0" anchor="ctr">
            <a:spAutoFit/>
          </a:bodyPr>
          <a:lstStyle/>
          <a:p>
            <a:pPr algn="r"/>
            <a:r>
              <a:rPr sz="1100" b="0">
                <a:solidFill>
                  <a:srgbClr val="605E5C"/>
                </a:solidFill>
                <a:latin typeface="Segoe UI"/>
              </a:rPr>
              <a:t>3.13</a:t>
            </a:r>
          </a:p>
        </p:txBody>
      </p:sp>
      <p:sp>
        <p:nvSpPr>
          <p:cNvPr id="24" name="FMI Scale tick"/>
          <p:cNvSpPr txBox="1"/>
          <p:nvPr/>
        </p:nvSpPr>
        <p:spPr>
          <a:xfrm>
            <a:off x="219075" y="1386270"/>
            <a:ext cx="381000" cy="133350"/>
          </a:xfrm>
          <a:prstGeom prst="rect">
            <a:avLst/>
          </a:prstGeom>
          <a:noFill/>
        </p:spPr>
        <p:txBody>
          <a:bodyPr wrap="none" lIns="0" rIns="0" tIns="0" bIns="0" anchor="ctr">
            <a:spAutoFit/>
          </a:bodyPr>
          <a:lstStyle/>
          <a:p>
            <a:pPr algn="r"/>
            <a:r>
              <a:rPr sz="1100" b="0">
                <a:solidFill>
                  <a:srgbClr val="605E5C"/>
                </a:solidFill>
                <a:latin typeface="Segoe UI"/>
              </a:rPr>
              <a:t>3.52</a:t>
            </a:r>
          </a:p>
        </p:txBody>
      </p:sp>
      <p:cxnSp>
        <p:nvCxnSpPr>
          <p:cNvPr id="25" name="Connector 24"/>
          <p:cNvCxnSpPr/>
          <p:nvPr/>
        </p:nvCxnSpPr>
        <p:spPr>
          <a:xfrm flipV="1">
            <a:off x="2409825" y="1685596"/>
            <a:ext cx="0" cy="1433956"/>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278380" y="311955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278380" y="168559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2190750" y="2240550"/>
            <a:ext cx="438150" cy="725112"/>
          </a:xfrm>
          <a:prstGeom prst="rect">
            <a:avLst/>
          </a:prstGeom>
          <a:solidFill>
            <a:srgbClr val="CFE7F5"/>
          </a:solidFill>
          <a:ln w="15875">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2190750" y="2664675"/>
            <a:ext cx="438150" cy="0"/>
          </a:xfrm>
          <a:prstGeom prst="line">
            <a:avLst/>
          </a:prstGeom>
          <a:ln w="2540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57225" y="1533196"/>
            <a:ext cx="3505200" cy="133350"/>
          </a:xfrm>
          <a:prstGeom prst="rect">
            <a:avLst/>
          </a:prstGeom>
          <a:noFill/>
        </p:spPr>
        <p:txBody>
          <a:bodyPr wrap="square" lIns="28575" rIns="28575" tIns="9525" bIns="9525">
            <a:spAutoFit/>
          </a:bodyPr>
          <a:lstStyle/>
          <a:p>
            <a:pPr algn="ctr"/>
            <a:r>
              <a:rPr sz="1100" b="1">
                <a:solidFill>
                  <a:srgbClr val="007BA5"/>
                </a:solidFill>
                <a:latin typeface="Segoe UI"/>
              </a:rPr>
              <a:t>3.02</a:t>
            </a:r>
          </a:p>
        </p:txBody>
      </p:sp>
      <p:cxnSp>
        <p:nvCxnSpPr>
          <p:cNvPr id="31" name="Connector 30"/>
          <p:cNvCxnSpPr/>
          <p:nvPr/>
        </p:nvCxnSpPr>
        <p:spPr>
          <a:xfrm flipV="1">
            <a:off x="5915025" y="1670329"/>
            <a:ext cx="0" cy="1443177"/>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783580" y="311350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783580" y="16703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695950" y="2227658"/>
            <a:ext cx="438150" cy="729468"/>
          </a:xfrm>
          <a:prstGeom prst="rect">
            <a:avLst/>
          </a:prstGeom>
          <a:solidFill>
            <a:srgbClr val="CFE7F5"/>
          </a:solidFill>
          <a:ln w="15875">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5695950" y="2653152"/>
            <a:ext cx="438150" cy="0"/>
          </a:xfrm>
          <a:prstGeom prst="line">
            <a:avLst/>
          </a:prstGeom>
          <a:ln w="2540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162425" y="1517929"/>
            <a:ext cx="3505200" cy="133350"/>
          </a:xfrm>
          <a:prstGeom prst="rect">
            <a:avLst/>
          </a:prstGeom>
          <a:noFill/>
        </p:spPr>
        <p:txBody>
          <a:bodyPr wrap="square" lIns="28575" rIns="28575" tIns="9525" bIns="9525">
            <a:spAutoFit/>
          </a:bodyPr>
          <a:lstStyle/>
          <a:p>
            <a:pPr algn="ctr"/>
            <a:r>
              <a:rPr sz="1100" b="1">
                <a:solidFill>
                  <a:srgbClr val="007BA5"/>
                </a:solidFill>
                <a:latin typeface="Segoe UI"/>
              </a:rPr>
              <a:t>3.03</a:t>
            </a:r>
          </a:p>
        </p:txBody>
      </p:sp>
      <p:sp>
        <p:nvSpPr>
          <p:cNvPr id="37" name="TextBox 36"/>
          <p:cNvSpPr txBox="1"/>
          <p:nvPr/>
        </p:nvSpPr>
        <p:spPr>
          <a:xfrm>
            <a:off x="657225" y="3365510"/>
            <a:ext cx="3505200" cy="285750"/>
          </a:xfrm>
          <a:prstGeom prst="rect">
            <a:avLst/>
          </a:prstGeom>
          <a:noFill/>
        </p:spPr>
        <p:txBody>
          <a:bodyPr wrap="square" lIns="28575" rIns="28575" tIns="9525" bIns="9525">
            <a:spAutoFit/>
          </a:bodyPr>
          <a:lstStyle/>
          <a:p>
            <a:pPr algn="ctr"/>
            <a:r>
              <a:rPr sz="1100" b="0">
                <a:solidFill>
                  <a:srgbClr val="252423"/>
                </a:solidFill>
                <a:latin typeface="Segoe UI"/>
              </a:rPr>
              <a:t>Warp Knitted Fabrics</a:t>
            </a:r>
          </a:p>
        </p:txBody>
      </p:sp>
      <p:sp>
        <p:nvSpPr>
          <p:cNvPr id="38" name="TextBox 37"/>
          <p:cNvSpPr txBox="1"/>
          <p:nvPr/>
        </p:nvSpPr>
        <p:spPr>
          <a:xfrm>
            <a:off x="4162425" y="3365510"/>
            <a:ext cx="3505200" cy="285750"/>
          </a:xfrm>
          <a:prstGeom prst="rect">
            <a:avLst/>
          </a:prstGeom>
          <a:noFill/>
        </p:spPr>
        <p:txBody>
          <a:bodyPr wrap="square" lIns="28575" rIns="28575" tIns="9525" bIns="9525">
            <a:spAutoFit/>
          </a:bodyPr>
          <a:lstStyle/>
          <a:p>
            <a:pPr algn="ctr"/>
            <a:r>
              <a:rPr sz="1100" b="0">
                <a:solidFill>
                  <a:srgbClr val="252423"/>
                </a:solidFill>
                <a:latin typeface="Segoe UI"/>
              </a:rPr>
              <a:t>Weft Knitted Fabrics</a:t>
            </a:r>
          </a:p>
        </p:txBody>
      </p:sp>
      <p:sp>
        <p:nvSpPr>
          <p:cNvPr id="39" name="Rectangle 38"/>
          <p:cNvSpPr/>
          <p:nvPr/>
        </p:nvSpPr>
        <p:spPr>
          <a:xfrm>
            <a:off x="142875" y="3772696"/>
            <a:ext cx="7696200" cy="278368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Price Variation by Country vs Eastern Europe  ·  2026–2036</a:t>
            </a:r>
          </a:p>
        </p:txBody>
      </p:sp>
      <p:cxnSp>
        <p:nvCxnSpPr>
          <p:cNvPr id="41" name="Connector 40"/>
          <p:cNvCxnSpPr/>
          <p:nvPr/>
        </p:nvCxnSpPr>
        <p:spPr>
          <a:xfrm>
            <a:off x="619125" y="432176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19125" y="473076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19125" y="51397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19125" y="5548784"/>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19125" y="5957792"/>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19125" y="4321760"/>
            <a:ext cx="0" cy="1636032"/>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90550" y="4321760"/>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90550" y="4730768"/>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90550" y="5139776"/>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90550" y="5548784"/>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90550" y="5957792"/>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sp>
        <p:nvSpPr>
          <p:cNvPr id="52" name="FMI Scale tick"/>
          <p:cNvSpPr txBox="1"/>
          <p:nvPr/>
        </p:nvSpPr>
        <p:spPr>
          <a:xfrm>
            <a:off x="92869" y="4255085"/>
            <a:ext cx="488156" cy="133350"/>
          </a:xfrm>
          <a:prstGeom prst="rect">
            <a:avLst/>
          </a:prstGeom>
          <a:noFill/>
        </p:spPr>
        <p:txBody>
          <a:bodyPr wrap="square" lIns="28575" rIns="28575" tIns="9525" bIns="9525" anchor="ctr">
            <a:spAutoFit/>
          </a:bodyPr>
          <a:lstStyle/>
          <a:p>
            <a:pPr algn="r"/>
            <a:r>
              <a:rPr sz="1100" b="0">
                <a:solidFill>
                  <a:srgbClr val="605E5C"/>
                </a:solidFill>
                <a:latin typeface="Segoe UI"/>
              </a:rPr>
              <a:t>+8.0%</a:t>
            </a:r>
          </a:p>
        </p:txBody>
      </p:sp>
      <p:sp>
        <p:nvSpPr>
          <p:cNvPr id="53" name="FMI Scale tick"/>
          <p:cNvSpPr txBox="1"/>
          <p:nvPr/>
        </p:nvSpPr>
        <p:spPr>
          <a:xfrm>
            <a:off x="92869" y="4664093"/>
            <a:ext cx="488156" cy="133350"/>
          </a:xfrm>
          <a:prstGeom prst="rect">
            <a:avLst/>
          </a:prstGeom>
          <a:noFill/>
        </p:spPr>
        <p:txBody>
          <a:bodyPr wrap="square" lIns="28575" rIns="28575" tIns="9525" bIns="9525" anchor="ctr">
            <a:spAutoFit/>
          </a:bodyPr>
          <a:lstStyle/>
          <a:p>
            <a:pPr algn="r"/>
            <a:r>
              <a:rPr sz="1100" b="0">
                <a:solidFill>
                  <a:srgbClr val="605E5C"/>
                </a:solidFill>
                <a:latin typeface="Segoe UI"/>
              </a:rPr>
              <a:t>+4.0%</a:t>
            </a:r>
          </a:p>
        </p:txBody>
      </p:sp>
      <p:sp>
        <p:nvSpPr>
          <p:cNvPr id="54" name="FMI Scale tick"/>
          <p:cNvSpPr txBox="1"/>
          <p:nvPr/>
        </p:nvSpPr>
        <p:spPr>
          <a:xfrm>
            <a:off x="219075" y="5073101"/>
            <a:ext cx="361950" cy="133350"/>
          </a:xfrm>
          <a:prstGeom prst="rect">
            <a:avLst/>
          </a:prstGeom>
          <a:noFill/>
        </p:spPr>
        <p:txBody>
          <a:bodyPr wrap="square" lIns="28575" rIns="28575" tIns="9525" bIns="9525" anchor="ctr">
            <a:spAutoFit/>
          </a:bodyPr>
          <a:lstStyle/>
          <a:p>
            <a:pPr algn="r"/>
            <a:r>
              <a:rPr sz="1100" b="1">
                <a:solidFill>
                  <a:srgbClr val="605E5C"/>
                </a:solidFill>
                <a:latin typeface="Segoe UI"/>
              </a:rPr>
              <a:t>Eastern Europe</a:t>
            </a:r>
          </a:p>
        </p:txBody>
      </p:sp>
      <p:sp>
        <p:nvSpPr>
          <p:cNvPr id="55" name="FMI Scale tick"/>
          <p:cNvSpPr txBox="1"/>
          <p:nvPr/>
        </p:nvSpPr>
        <p:spPr>
          <a:xfrm>
            <a:off x="130969" y="5482109"/>
            <a:ext cx="450056" cy="133350"/>
          </a:xfrm>
          <a:prstGeom prst="rect">
            <a:avLst/>
          </a:prstGeom>
          <a:noFill/>
        </p:spPr>
        <p:txBody>
          <a:bodyPr wrap="square" lIns="28575" rIns="28575" tIns="9525" bIns="9525" anchor="ctr">
            <a:spAutoFit/>
          </a:bodyPr>
          <a:lstStyle/>
          <a:p>
            <a:pPr algn="r"/>
            <a:r>
              <a:rPr sz="1100" b="0">
                <a:solidFill>
                  <a:srgbClr val="605E5C"/>
                </a:solidFill>
                <a:latin typeface="Segoe UI"/>
              </a:rPr>
              <a:t>-4.0%</a:t>
            </a:r>
          </a:p>
        </p:txBody>
      </p:sp>
      <p:sp>
        <p:nvSpPr>
          <p:cNvPr id="56" name="FMI Scale tick"/>
          <p:cNvSpPr txBox="1"/>
          <p:nvPr/>
        </p:nvSpPr>
        <p:spPr>
          <a:xfrm>
            <a:off x="130969" y="5891117"/>
            <a:ext cx="450056" cy="133350"/>
          </a:xfrm>
          <a:prstGeom prst="rect">
            <a:avLst/>
          </a:prstGeom>
          <a:noFill/>
        </p:spPr>
        <p:txBody>
          <a:bodyPr wrap="square" lIns="28575" rIns="28575" tIns="9525" bIns="9525" anchor="ctr">
            <a:spAutoFit/>
          </a:bodyPr>
          <a:lstStyle/>
          <a:p>
            <a:pPr algn="r"/>
            <a:r>
              <a:rPr sz="1100" b="0">
                <a:solidFill>
                  <a:srgbClr val="605E5C"/>
                </a:solidFill>
                <a:latin typeface="Segoe UI"/>
              </a:rPr>
              <a:t>-8.0%</a:t>
            </a:r>
          </a:p>
        </p:txBody>
      </p:sp>
      <p:cxnSp>
        <p:nvCxnSpPr>
          <p:cNvPr id="57" name="Connector 56"/>
          <p:cNvCxnSpPr/>
          <p:nvPr/>
        </p:nvCxnSpPr>
        <p:spPr>
          <a:xfrm>
            <a:off x="619125" y="5139776"/>
            <a:ext cx="7048500" cy="0"/>
          </a:xfrm>
          <a:prstGeom prst="line">
            <a:avLst/>
          </a:prstGeom>
          <a:ln w="13970">
            <a:solidFill>
              <a:srgbClr val="605E5C"/>
            </a:solidFill>
            <a:prstDash val="dash"/>
          </a:ln>
          <a:effectLst/>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1095375" y="5139776"/>
            <a:ext cx="457200" cy="550002"/>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MI Data Label"/>
          <p:cNvSpPr txBox="1"/>
          <p:nvPr/>
        </p:nvSpPr>
        <p:spPr>
          <a:xfrm>
            <a:off x="619125" y="5699302"/>
            <a:ext cx="1409700" cy="133350"/>
          </a:xfrm>
          <a:prstGeom prst="rect">
            <a:avLst/>
          </a:prstGeom>
          <a:noFill/>
        </p:spPr>
        <p:txBody>
          <a:bodyPr wrap="square" lIns="28575" rIns="28575" tIns="9525" bIns="9525">
            <a:spAutoFit/>
          </a:bodyPr>
          <a:lstStyle/>
          <a:p>
            <a:pPr algn="ctr"/>
            <a:r>
              <a:rPr sz="1100" b="1">
                <a:solidFill>
                  <a:srgbClr val="252423"/>
                </a:solidFill>
                <a:latin typeface="Segoe UI"/>
              </a:rPr>
              <a:t>-5.4%</a:t>
            </a:r>
          </a:p>
        </p:txBody>
      </p:sp>
      <p:sp>
        <p:nvSpPr>
          <p:cNvPr id="60" name="Rectangle 59"/>
          <p:cNvSpPr/>
          <p:nvPr/>
        </p:nvSpPr>
        <p:spPr>
          <a:xfrm>
            <a:off x="2505075" y="4423458"/>
            <a:ext cx="457200" cy="716318"/>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MI Data Label"/>
          <p:cNvSpPr txBox="1"/>
          <p:nvPr/>
        </p:nvSpPr>
        <p:spPr>
          <a:xfrm>
            <a:off x="2028825" y="4280583"/>
            <a:ext cx="1409700" cy="133350"/>
          </a:xfrm>
          <a:prstGeom prst="rect">
            <a:avLst/>
          </a:prstGeom>
          <a:noFill/>
        </p:spPr>
        <p:txBody>
          <a:bodyPr wrap="square" lIns="28575" rIns="28575" tIns="9525" bIns="9525">
            <a:spAutoFit/>
          </a:bodyPr>
          <a:lstStyle/>
          <a:p>
            <a:pPr algn="ctr"/>
            <a:r>
              <a:rPr sz="1100" b="1">
                <a:solidFill>
                  <a:srgbClr val="252423"/>
                </a:solidFill>
                <a:latin typeface="Segoe UI"/>
              </a:rPr>
              <a:t>+7.0%</a:t>
            </a:r>
          </a:p>
        </p:txBody>
      </p:sp>
      <p:sp>
        <p:nvSpPr>
          <p:cNvPr id="62" name="Rectangle 61"/>
          <p:cNvSpPr/>
          <p:nvPr/>
        </p:nvSpPr>
        <p:spPr>
          <a:xfrm>
            <a:off x="3914775" y="4619816"/>
            <a:ext cx="457200" cy="519960"/>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MI Data Label"/>
          <p:cNvSpPr txBox="1"/>
          <p:nvPr/>
        </p:nvSpPr>
        <p:spPr>
          <a:xfrm>
            <a:off x="3438525" y="4476941"/>
            <a:ext cx="1409700" cy="133350"/>
          </a:xfrm>
          <a:prstGeom prst="rect">
            <a:avLst/>
          </a:prstGeom>
          <a:noFill/>
        </p:spPr>
        <p:txBody>
          <a:bodyPr wrap="square" lIns="28575" rIns="28575" tIns="9525" bIns="9525">
            <a:spAutoFit/>
          </a:bodyPr>
          <a:lstStyle/>
          <a:p>
            <a:pPr algn="ctr"/>
            <a:r>
              <a:rPr sz="1100" b="1">
                <a:solidFill>
                  <a:srgbClr val="252423"/>
                </a:solidFill>
                <a:latin typeface="Segoe UI"/>
              </a:rPr>
              <a:t>+5.1%</a:t>
            </a:r>
          </a:p>
        </p:txBody>
      </p:sp>
      <p:sp>
        <p:nvSpPr>
          <p:cNvPr id="64" name="Rectangle 63"/>
          <p:cNvSpPr/>
          <p:nvPr/>
        </p:nvSpPr>
        <p:spPr>
          <a:xfrm>
            <a:off x="5324475" y="5023931"/>
            <a:ext cx="457200" cy="115845"/>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MI Data Label"/>
          <p:cNvSpPr txBox="1"/>
          <p:nvPr/>
        </p:nvSpPr>
        <p:spPr>
          <a:xfrm>
            <a:off x="4848225" y="4881056"/>
            <a:ext cx="1409700" cy="133350"/>
          </a:xfrm>
          <a:prstGeom prst="rect">
            <a:avLst/>
          </a:prstGeom>
          <a:noFill/>
        </p:spPr>
        <p:txBody>
          <a:bodyPr wrap="square" lIns="28575" rIns="28575" tIns="9525" bIns="9525">
            <a:spAutoFit/>
          </a:bodyPr>
          <a:lstStyle/>
          <a:p>
            <a:pPr algn="ctr"/>
            <a:r>
              <a:rPr sz="1100" b="1">
                <a:solidFill>
                  <a:srgbClr val="252423"/>
                </a:solidFill>
                <a:latin typeface="Segoe UI"/>
              </a:rPr>
              <a:t>+1.1%</a:t>
            </a:r>
          </a:p>
        </p:txBody>
      </p:sp>
      <p:sp>
        <p:nvSpPr>
          <p:cNvPr id="66" name="Rectangle 65"/>
          <p:cNvSpPr/>
          <p:nvPr/>
        </p:nvSpPr>
        <p:spPr>
          <a:xfrm>
            <a:off x="6734175" y="5139776"/>
            <a:ext cx="457200" cy="322588"/>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MI Data Label"/>
          <p:cNvSpPr txBox="1"/>
          <p:nvPr/>
        </p:nvSpPr>
        <p:spPr>
          <a:xfrm>
            <a:off x="6257925" y="5471889"/>
            <a:ext cx="1409700" cy="133350"/>
          </a:xfrm>
          <a:prstGeom prst="rect">
            <a:avLst/>
          </a:prstGeom>
          <a:noFill/>
        </p:spPr>
        <p:txBody>
          <a:bodyPr wrap="square" lIns="28575" rIns="28575" tIns="9525" bIns="9525">
            <a:spAutoFit/>
          </a:bodyPr>
          <a:lstStyle/>
          <a:p>
            <a:pPr algn="ctr"/>
            <a:r>
              <a:rPr sz="1100" b="1">
                <a:solidFill>
                  <a:srgbClr val="252423"/>
                </a:solidFill>
                <a:latin typeface="Segoe UI"/>
              </a:rPr>
              <a:t>-3.2%</a:t>
            </a:r>
          </a:p>
        </p:txBody>
      </p:sp>
      <p:sp>
        <p:nvSpPr>
          <p:cNvPr id="68" name="TextBox 67"/>
          <p:cNvSpPr txBox="1"/>
          <p:nvPr/>
        </p:nvSpPr>
        <p:spPr>
          <a:xfrm>
            <a:off x="619125" y="6135380"/>
            <a:ext cx="1409700" cy="247650"/>
          </a:xfrm>
          <a:prstGeom prst="rect">
            <a:avLst/>
          </a:prstGeom>
          <a:noFill/>
        </p:spPr>
        <p:txBody>
          <a:bodyPr wrap="square" lIns="28575" rIns="28575" tIns="9525" bIns="9525">
            <a:spAutoFit/>
          </a:bodyPr>
          <a:lstStyle/>
          <a:p>
            <a:pPr algn="ctr"/>
            <a:r>
              <a:rPr sz="1100" b="0">
                <a:solidFill>
                  <a:srgbClr val="252423"/>
                </a:solidFill>
                <a:latin typeface="Segoe UI"/>
              </a:rPr>
              <a:t>Russia</a:t>
            </a:r>
          </a:p>
        </p:txBody>
      </p:sp>
      <p:sp>
        <p:nvSpPr>
          <p:cNvPr id="69" name="TextBox 68"/>
          <p:cNvSpPr txBox="1"/>
          <p:nvPr/>
        </p:nvSpPr>
        <p:spPr>
          <a:xfrm>
            <a:off x="2028825" y="6135380"/>
            <a:ext cx="1409700" cy="247650"/>
          </a:xfrm>
          <a:prstGeom prst="rect">
            <a:avLst/>
          </a:prstGeom>
          <a:noFill/>
        </p:spPr>
        <p:txBody>
          <a:bodyPr wrap="square" lIns="28575" rIns="28575" tIns="9525" bIns="9525">
            <a:spAutoFit/>
          </a:bodyPr>
          <a:lstStyle/>
          <a:p>
            <a:pPr algn="ctr"/>
            <a:r>
              <a:rPr sz="1100" b="0">
                <a:solidFill>
                  <a:srgbClr val="252423"/>
                </a:solidFill>
                <a:latin typeface="Segoe UI"/>
              </a:rPr>
              <a:t>Poland</a:t>
            </a:r>
          </a:p>
        </p:txBody>
      </p:sp>
      <p:sp>
        <p:nvSpPr>
          <p:cNvPr id="70" name="TextBox 69"/>
          <p:cNvSpPr txBox="1"/>
          <p:nvPr/>
        </p:nvSpPr>
        <p:spPr>
          <a:xfrm>
            <a:off x="3438525" y="6135380"/>
            <a:ext cx="1409700" cy="247650"/>
          </a:xfrm>
          <a:prstGeom prst="rect">
            <a:avLst/>
          </a:prstGeom>
          <a:noFill/>
        </p:spPr>
        <p:txBody>
          <a:bodyPr wrap="square" lIns="28575" rIns="28575" tIns="9525" bIns="9525">
            <a:spAutoFit/>
          </a:bodyPr>
          <a:lstStyle/>
          <a:p>
            <a:pPr algn="ctr"/>
            <a:r>
              <a:rPr sz="1100" b="0">
                <a:solidFill>
                  <a:srgbClr val="252423"/>
                </a:solidFill>
                <a:latin typeface="Segoe UI"/>
              </a:rPr>
              <a:t>Hungary</a:t>
            </a:r>
          </a:p>
        </p:txBody>
      </p:sp>
      <p:sp>
        <p:nvSpPr>
          <p:cNvPr id="71" name="TextBox 70"/>
          <p:cNvSpPr txBox="1"/>
          <p:nvPr/>
        </p:nvSpPr>
        <p:spPr>
          <a:xfrm>
            <a:off x="4848225" y="6135380"/>
            <a:ext cx="1409700" cy="247650"/>
          </a:xfrm>
          <a:prstGeom prst="rect">
            <a:avLst/>
          </a:prstGeom>
          <a:noFill/>
        </p:spPr>
        <p:txBody>
          <a:bodyPr wrap="square" lIns="28575" rIns="28575" tIns="9525" bIns="9525">
            <a:spAutoFit/>
          </a:bodyPr>
          <a:lstStyle/>
          <a:p>
            <a:pPr algn="ctr"/>
            <a:r>
              <a:rPr sz="1100" b="0">
                <a:solidFill>
                  <a:srgbClr val="252423"/>
                </a:solidFill>
                <a:latin typeface="Segoe UI"/>
              </a:rPr>
              <a:t>Balkan &amp; Baltics</a:t>
            </a:r>
          </a:p>
        </p:txBody>
      </p:sp>
      <p:sp>
        <p:nvSpPr>
          <p:cNvPr id="72" name="TextBox 71"/>
          <p:cNvSpPr txBox="1"/>
          <p:nvPr/>
        </p:nvSpPr>
        <p:spPr>
          <a:xfrm>
            <a:off x="6257925" y="6135380"/>
            <a:ext cx="1409700" cy="247650"/>
          </a:xfrm>
          <a:prstGeom prst="rect">
            <a:avLst/>
          </a:prstGeom>
          <a:noFill/>
        </p:spPr>
        <p:txBody>
          <a:bodyPr wrap="square" lIns="28575" rIns="28575" tIns="9525" bIns="9525">
            <a:spAutoFit/>
          </a:bodyPr>
          <a:lstStyle/>
          <a:p>
            <a:pPr algn="ctr"/>
            <a:r>
              <a:rPr sz="1100" b="0">
                <a:solidFill>
                  <a:srgbClr val="252423"/>
                </a:solidFill>
                <a:latin typeface="Segoe UI"/>
              </a:rPr>
              <a:t>Rest of Eastern Europe</a:t>
            </a:r>
          </a:p>
        </p:txBody>
      </p:sp>
      <p:sp>
        <p:nvSpPr>
          <p:cNvPr id="73" name="Rectangle 72"/>
          <p:cNvSpPr/>
          <p:nvPr/>
        </p:nvSpPr>
        <p:spPr>
          <a:xfrm>
            <a:off x="7915275" y="1052895"/>
            <a:ext cx="4133850" cy="550349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07BA5"/>
                </a:solidFill>
                <a:latin typeface="Segoe UI"/>
              </a:rPr>
              <a:t>Key Takeaways</a:t>
            </a:r>
          </a:p>
        </p:txBody>
      </p:sp>
      <p:sp>
        <p:nvSpPr>
          <p:cNvPr id="75" name="Rectangle 74"/>
          <p:cNvSpPr/>
          <p:nvPr/>
        </p:nvSpPr>
        <p:spPr>
          <a:xfrm>
            <a:off x="8048625" y="137674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Weft knitted fabrics segment is expected to command the highest average price of US$ 3.43 per Sq. Yard in 2036. Average selling price of performance knitted fabrics is estimated at US$ 2.91 per Sq. Yard in 2025 and is projected to increase to US$ 3.43 per Sq. Yard by 2036.</a:t>
            </a:r>
          </a:p>
          <a:p>
            <a:pPr algn="l">
              <a:lnSpc>
                <a:spcPct val="110000"/>
              </a:lnSpc>
              <a:spcBef>
                <a:spcPts val="0"/>
              </a:spcBef>
              <a:spcAft>
                <a:spcPts val="500"/>
              </a:spcAft>
            </a:pPr>
            <a:r>
              <a:rPr sz="1150" b="0">
                <a:solidFill>
                  <a:srgbClr val="252423"/>
                </a:solidFill>
                <a:latin typeface="Segoe UI"/>
              </a:rPr>
              <a:t>Poland is the highest-priced country, while Russia is the most price-competitive market. Against the Eastern Europe price of 3.18 US$/Sq. Yards, 3 of 5 countries price above and 2 below.</a:t>
            </a:r>
          </a:p>
          <a:p>
            <a:pPr algn="l">
              <a:lnSpc>
                <a:spcPct val="110000"/>
              </a:lnSpc>
              <a:spcBef>
                <a:spcPts val="0"/>
              </a:spcBef>
              <a:spcAft>
                <a:spcPts val="500"/>
              </a:spcAft>
            </a:pPr>
            <a:r>
              <a:rPr sz="1150" b="0">
                <a:solidFill>
                  <a:srgbClr val="252423"/>
                </a:solidFill>
                <a:latin typeface="Segoe UI"/>
              </a:rPr>
              <a:t>'Poland' is the dearest at +7.0% versus Eastern Europe, 'Russia' the cheapest at -5.4% pointing to premiumisation headroom in the lower-priced countries.</a:t>
            </a:r>
          </a:p>
        </p:txBody>
      </p:sp>
      <p:sp>
        <p:nvSpPr>
          <p:cNvPr id="77" name="TextBox 7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Eastern Europe Performance Knitted Fabrics Market Summary, By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Eastern Europe market value growth, incremental opportunity and the geographies driving it, 2021–2036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Eastern Europe</a:t>
            </a:r>
          </a:p>
        </p:txBody>
      </p:sp>
      <p:sp>
        <p:nvSpPr>
          <p:cNvPr id="9" name="Rounded Rectangle 8"/>
          <p:cNvSpPr/>
          <p:nvPr/>
        </p:nvSpPr>
        <p:spPr>
          <a:xfrm>
            <a:off x="142875"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MARKET SIZE (US$ MN)</a:t>
            </a:r>
          </a:p>
          <a:p>
            <a:pPr algn="ctr">
              <a:lnSpc>
                <a:spcPct val="95000"/>
              </a:lnSpc>
            </a:pPr>
            <a:r>
              <a:rPr sz="1500" b="1">
                <a:solidFill>
                  <a:srgbClr val="00A4DC"/>
                </a:solidFill>
                <a:latin typeface="Segoe UI"/>
              </a:rPr>
              <a:t>284.5</a:t>
            </a:r>
          </a:p>
        </p:txBody>
      </p:sp>
      <p:sp>
        <p:nvSpPr>
          <p:cNvPr id="10" name="Rounded Rectangle 9"/>
          <p:cNvSpPr/>
          <p:nvPr/>
        </p:nvSpPr>
        <p:spPr>
          <a:xfrm>
            <a:off x="31432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499.0</a:t>
            </a:r>
          </a:p>
        </p:txBody>
      </p:sp>
      <p:sp>
        <p:nvSpPr>
          <p:cNvPr id="11" name="Rounded Rectangle 10"/>
          <p:cNvSpPr/>
          <p:nvPr/>
        </p:nvSpPr>
        <p:spPr>
          <a:xfrm>
            <a:off x="61531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2021–2025</a:t>
            </a:r>
          </a:p>
          <a:p>
            <a:pPr algn="ctr">
              <a:lnSpc>
                <a:spcPct val="95000"/>
              </a:lnSpc>
            </a:pPr>
            <a:r>
              <a:rPr sz="1500" b="1">
                <a:solidFill>
                  <a:srgbClr val="00A4DC"/>
                </a:solidFill>
                <a:latin typeface="Segoe UI"/>
              </a:rPr>
              <a:t>4.6%</a:t>
            </a:r>
          </a:p>
        </p:txBody>
      </p:sp>
      <p:sp>
        <p:nvSpPr>
          <p:cNvPr id="12" name="Rounded Rectangle 11"/>
          <p:cNvSpPr/>
          <p:nvPr/>
        </p:nvSpPr>
        <p:spPr>
          <a:xfrm>
            <a:off x="91630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1500" b="1">
                <a:solidFill>
                  <a:srgbClr val="00A4DC"/>
                </a:solidFill>
                <a:latin typeface="Segoe UI"/>
              </a:rPr>
              <a:t>5.8%</a:t>
            </a:r>
          </a:p>
        </p:txBody>
      </p:sp>
      <p:sp>
        <p:nvSpPr>
          <p:cNvPr id="13" name="Rectangle 12"/>
          <p:cNvSpPr/>
          <p:nvPr/>
        </p:nvSpPr>
        <p:spPr>
          <a:xfrm>
            <a:off x="142875" y="1627887"/>
            <a:ext cx="769620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(2021–2036)</a:t>
            </a:r>
          </a:p>
        </p:txBody>
      </p:sp>
      <p:graphicFrame>
        <p:nvGraphicFramePr>
          <p:cNvPr id="15" name="Chart 14"/>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6" name="Rectangle 15"/>
          <p:cNvSpPr/>
          <p:nvPr/>
        </p:nvSpPr>
        <p:spPr>
          <a:xfrm>
            <a:off x="142875" y="4037375"/>
            <a:ext cx="769620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Incremental Market Addition (US$ Mn)</a:t>
            </a:r>
          </a:p>
        </p:txBody>
      </p:sp>
      <p:graphicFrame>
        <p:nvGraphicFramePr>
          <p:cNvPr id="18" name="Chart 17"/>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9" name="Rectangle 18"/>
          <p:cNvSpPr/>
          <p:nvPr/>
        </p:nvSpPr>
        <p:spPr>
          <a:xfrm>
            <a:off x="7915275" y="1627887"/>
            <a:ext cx="4133850" cy="314171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21" name="Rectangle 20"/>
          <p:cNvSpPr/>
          <p:nvPr/>
        </p:nvSpPr>
        <p:spPr>
          <a:xfrm>
            <a:off x="8048625" y="195173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2037462"/>
            <a:ext cx="3867150" cy="265594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52423"/>
                </a:solidFill>
                <a:latin typeface="Segoe UI"/>
              </a:rPr>
              <a:t>Performance knitted fabrics market value in Eastern Europe is expected to increase 1.8X between 2025 and 2036. In 2025, the performance knitted fabrics market in Eastern Europe was valued at US$ 270.4 Mn and is estimated to account for US$ 284.5 Mn by the end of 2026, reflecting a Y-o-Y growth rate of 5.2%.</a:t>
            </a:r>
          </a:p>
          <a:p>
            <a:pPr algn="l">
              <a:lnSpc>
                <a:spcPct val="110000"/>
              </a:lnSpc>
              <a:spcBef>
                <a:spcPts val="0"/>
              </a:spcBef>
              <a:spcAft>
                <a:spcPts val="500"/>
              </a:spcAft>
            </a:pPr>
            <a:r>
              <a:rPr sz="1100" b="0">
                <a:solidFill>
                  <a:srgbClr val="252423"/>
                </a:solidFill>
                <a:latin typeface="Segoe UI"/>
              </a:rPr>
              <a:t>The market in Eastern Europe is expected to account for US$ 499.0 Mn by 2036 at a CAGR of 5.8% over the forecast period. Eastern Europe is expected to create an incremental opportunity of US$ 228.5 Mn for the overall performance knitted fabrics market from 2025 to 2036.</a:t>
            </a:r>
          </a:p>
          <a:p>
            <a:pPr algn="l">
              <a:lnSpc>
                <a:spcPct val="110000"/>
              </a:lnSpc>
              <a:spcBef>
                <a:spcPts val="0"/>
              </a:spcBef>
              <a:spcAft>
                <a:spcPts val="500"/>
              </a:spcAft>
            </a:pPr>
            <a:r>
              <a:rPr sz="1100" b="0">
                <a:solidFill>
                  <a:srgbClr val="252423"/>
                </a:solidFill>
                <a:latin typeface="Segoe UI"/>
              </a:rPr>
              <a:t>Absolute $ value for 2026 is estimated to be US$ 14.1 Mn.</a:t>
            </a:r>
          </a:p>
        </p:txBody>
      </p:sp>
      <p:sp>
        <p:nvSpPr>
          <p:cNvPr id="23" name="Rectangle 22"/>
          <p:cNvSpPr/>
          <p:nvPr/>
        </p:nvSpPr>
        <p:spPr>
          <a:xfrm>
            <a:off x="7915275" y="4824367"/>
            <a:ext cx="4133850" cy="173201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910092"/>
            <a:ext cx="3867150" cy="209550"/>
          </a:xfrm>
          <a:prstGeom prst="rect">
            <a:avLst/>
          </a:prstGeom>
          <a:noFill/>
        </p:spPr>
        <p:txBody>
          <a:bodyPr wrap="square" lIns="0" rIns="19050" tIns="9525" bIns="9525">
            <a:spAutoFit/>
          </a:bodyPr>
          <a:lstStyle/>
          <a:p>
            <a:pPr algn="l"/>
            <a:r>
              <a:rPr sz="1300" b="1">
                <a:solidFill>
                  <a:srgbClr val="007BA5"/>
                </a:solidFill>
                <a:latin typeface="Segoe UI"/>
              </a:rPr>
              <a:t>Growth Drivers</a:t>
            </a:r>
          </a:p>
        </p:txBody>
      </p:sp>
      <p:sp>
        <p:nvSpPr>
          <p:cNvPr id="25" name="Rectangle 24"/>
          <p:cNvSpPr/>
          <p:nvPr/>
        </p:nvSpPr>
        <p:spPr>
          <a:xfrm>
            <a:off x="8048625" y="514821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5233942"/>
            <a:ext cx="3867150" cy="124624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'Balkan &amp; Baltics' leads regional growth at 6.9% CAGR.</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Demand concentrates in 'Weft Knitted Fabrics' within Fabric Construction.</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Product innovation and premiumisation lifting value.</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Expanding end-use applications and access.</a:t>
            </a:r>
          </a:p>
        </p:txBody>
      </p:sp>
      <p:sp>
        <p:nvSpPr>
          <p:cNvPr id="27" name="TextBox 2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Eastern Europe Performance Knitted Fabrics Market Volume &amp; Value Analysis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volume and value growth of the Eastern Europe market and the incremental $ opportunity it creates, 2021–2036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Eastern Europe</a:t>
            </a:r>
          </a:p>
        </p:txBody>
      </p:sp>
      <p:sp>
        <p:nvSpPr>
          <p:cNvPr id="9" name="Rectangle 8"/>
          <p:cNvSpPr/>
          <p:nvPr/>
        </p:nvSpPr>
        <p:spPr>
          <a:xfrm>
            <a:off x="142875" y="981075"/>
            <a:ext cx="4695825" cy="2524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Eastern Europe Market, 2021–2025 (Historical)</a:t>
            </a:r>
          </a:p>
        </p:txBody>
      </p:sp>
      <p:graphicFrame>
        <p:nvGraphicFramePr>
          <p:cNvPr id="11" name="Chart 10"/>
          <p:cNvGraphicFramePr>
            <a:graphicFrameLocks noGrp="1"/>
          </p:cNvGraphicFramePr>
          <p:nvPr/>
        </p:nvGraphicFramePr>
        <p:xfrm>
          <a:off x="238125" y="1266825"/>
          <a:ext cx="4505325" cy="2181225"/>
        </p:xfrm>
        <a:graphic>
          <a:graphicData uri="http://schemas.openxmlformats.org/drawingml/2006/chart">
            <c:chart xmlns:c="http://schemas.openxmlformats.org/drawingml/2006/chart" r:id="rId3"/>
          </a:graphicData>
        </a:graphic>
      </p:graphicFrame>
      <p:sp>
        <p:nvSpPr>
          <p:cNvPr id="12" name="Rectangle 11"/>
          <p:cNvSpPr/>
          <p:nvPr/>
        </p:nvSpPr>
        <p:spPr>
          <a:xfrm>
            <a:off x="4991100" y="981075"/>
            <a:ext cx="7048500" cy="2524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Eastern Europe Market, 2026–2036 (Forecast)</a:t>
            </a:r>
          </a:p>
        </p:txBody>
      </p:sp>
      <p:graphicFrame>
        <p:nvGraphicFramePr>
          <p:cNvPr id="14" name="Chart 13"/>
          <p:cNvGraphicFramePr>
            <a:graphicFrameLocks noGrp="1"/>
          </p:cNvGraphicFramePr>
          <p:nvPr/>
        </p:nvGraphicFramePr>
        <p:xfrm>
          <a:off x="5086350" y="1266825"/>
          <a:ext cx="6858000" cy="2181225"/>
        </p:xfrm>
        <a:graphic>
          <a:graphicData uri="http://schemas.openxmlformats.org/drawingml/2006/chart">
            <c:chart xmlns:c="http://schemas.openxmlformats.org/drawingml/2006/chart" r:id="rId4"/>
          </a:graphicData>
        </a:graphic>
      </p:graphicFrame>
      <p:sp>
        <p:nvSpPr>
          <p:cNvPr id="15" name="Rounded Rectangle 14"/>
          <p:cNvSpPr/>
          <p:nvPr/>
        </p:nvSpPr>
        <p:spPr>
          <a:xfrm>
            <a:off x="142875" y="3638550"/>
            <a:ext cx="25146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VALUE CAGR 2021–2025</a:t>
            </a:r>
          </a:p>
          <a:p>
            <a:pPr algn="ctr">
              <a:lnSpc>
                <a:spcPct val="95000"/>
              </a:lnSpc>
            </a:pPr>
            <a:r>
              <a:rPr sz="1500" b="1">
                <a:solidFill>
                  <a:srgbClr val="00A4DC"/>
                </a:solidFill>
                <a:latin typeface="Segoe UI"/>
              </a:rPr>
              <a:t>4.6%</a:t>
            </a:r>
          </a:p>
        </p:txBody>
      </p:sp>
      <p:sp>
        <p:nvSpPr>
          <p:cNvPr id="16" name="Rounded Rectangle 15"/>
          <p:cNvSpPr/>
          <p:nvPr/>
        </p:nvSpPr>
        <p:spPr>
          <a:xfrm>
            <a:off x="2809875" y="3638550"/>
            <a:ext cx="25146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VALUE CAGR 2026–2036</a:t>
            </a:r>
          </a:p>
          <a:p>
            <a:pPr algn="ctr">
              <a:lnSpc>
                <a:spcPct val="95000"/>
              </a:lnSpc>
            </a:pPr>
            <a:r>
              <a:rPr sz="1500" b="1">
                <a:solidFill>
                  <a:srgbClr val="00A4DC"/>
                </a:solidFill>
                <a:latin typeface="Segoe UI"/>
              </a:rPr>
              <a:t>5.8%</a:t>
            </a:r>
          </a:p>
        </p:txBody>
      </p:sp>
      <p:sp>
        <p:nvSpPr>
          <p:cNvPr id="17" name="Rounded Rectangle 16"/>
          <p:cNvSpPr/>
          <p:nvPr/>
        </p:nvSpPr>
        <p:spPr>
          <a:xfrm>
            <a:off x="5476875" y="3638550"/>
            <a:ext cx="32004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INCREMENTAL $ OPPORTUNITY 2026–2031</a:t>
            </a:r>
          </a:p>
          <a:p>
            <a:pPr algn="ctr">
              <a:lnSpc>
                <a:spcPct val="95000"/>
              </a:lnSpc>
            </a:pPr>
            <a:r>
              <a:rPr sz="1500" b="1">
                <a:solidFill>
                  <a:srgbClr val="00A4DC"/>
                </a:solidFill>
                <a:latin typeface="Segoe UI"/>
              </a:rPr>
              <a:t>89.5 US$ Mn</a:t>
            </a:r>
          </a:p>
        </p:txBody>
      </p:sp>
      <p:sp>
        <p:nvSpPr>
          <p:cNvPr id="18" name="Rounded Rectangle 17"/>
          <p:cNvSpPr/>
          <p:nvPr/>
        </p:nvSpPr>
        <p:spPr>
          <a:xfrm>
            <a:off x="8829675" y="3638550"/>
            <a:ext cx="32004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INCREMENTAL $ OPPORTUNITY 2026–2036</a:t>
            </a:r>
          </a:p>
          <a:p>
            <a:pPr algn="ctr">
              <a:lnSpc>
                <a:spcPct val="95000"/>
              </a:lnSpc>
            </a:pPr>
            <a:r>
              <a:rPr sz="1500" b="1">
                <a:solidFill>
                  <a:srgbClr val="00A4DC"/>
                </a:solidFill>
                <a:latin typeface="Segoe UI"/>
              </a:rPr>
              <a:t>214.4 US$ Mn</a:t>
            </a:r>
          </a:p>
        </p:txBody>
      </p:sp>
      <p:sp>
        <p:nvSpPr>
          <p:cNvPr id="19" name="Rectangle 18"/>
          <p:cNvSpPr/>
          <p:nvPr/>
        </p:nvSpPr>
        <p:spPr>
          <a:xfrm>
            <a:off x="142875" y="4457700"/>
            <a:ext cx="11906250" cy="21526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543425"/>
            <a:ext cx="11639550" cy="209550"/>
          </a:xfrm>
          <a:prstGeom prst="rect">
            <a:avLst/>
          </a:prstGeom>
          <a:noFill/>
        </p:spPr>
        <p:txBody>
          <a:bodyPr wrap="square" lIns="0" rIns="19050" tIns="9525" bIns="9525">
            <a:spAutoFit/>
          </a:bodyPr>
          <a:lstStyle/>
          <a:p>
            <a:pPr algn="l"/>
            <a:r>
              <a:rPr sz="1300" b="1">
                <a:solidFill>
                  <a:srgbClr val="007BA5"/>
                </a:solidFill>
                <a:latin typeface="Segoe UI"/>
              </a:rPr>
              <a:t>Eastern Europe Volume &amp; Value Analysis</a:t>
            </a:r>
          </a:p>
        </p:txBody>
      </p:sp>
      <p:sp>
        <p:nvSpPr>
          <p:cNvPr id="21" name="Rectangle 20"/>
          <p:cNvSpPr/>
          <p:nvPr/>
        </p:nvSpPr>
        <p:spPr>
          <a:xfrm>
            <a:off x="276225" y="478155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867275"/>
            <a:ext cx="11639550" cy="16668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52423"/>
                </a:solidFill>
                <a:latin typeface="Segoe UI"/>
              </a:rPr>
              <a:t>Performance knitted fabrics market value in Eastern Europe is expected to increase 1.8X between 2025 and 2036. In 2025, the performance knitted fabrics market in Eastern Europe was valued at US$ 270.4 Mn and is estimated to account for US$ 284.5 Mn by the end of 2026, reflecting a Y-o-Y growth rate of 5.2%. The market in Eastern Europe is expected to account for US$ 499.0 Mn by 2036 at a CAGR of 5.8% over the forecast period.</a:t>
            </a:r>
          </a:p>
          <a:p>
            <a:pPr algn="l">
              <a:lnSpc>
                <a:spcPct val="110000"/>
              </a:lnSpc>
              <a:spcBef>
                <a:spcPts val="0"/>
              </a:spcBef>
              <a:spcAft>
                <a:spcPts val="500"/>
              </a:spcAft>
            </a:pPr>
            <a:r>
              <a:rPr sz="1100" b="0">
                <a:solidFill>
                  <a:srgbClr val="252423"/>
                </a:solidFill>
                <a:latin typeface="Segoe UI"/>
              </a:rPr>
              <a:t>Eastern Europe is expected to create an incremental opportunity of US$ 228.5 Mn for the overall performance knitted fabrics market from 2025 to 2036. Absolute $ value for 2026 is estimated to be US$ 14.1 Mn. Eastern Europe performance knitted fabrics market is projected to register 1.6X increase in volume by the end of forecast period, 2036.</a:t>
            </a:r>
          </a:p>
          <a:p>
            <a:pPr algn="l">
              <a:lnSpc>
                <a:spcPct val="110000"/>
              </a:lnSpc>
              <a:spcBef>
                <a:spcPts val="0"/>
              </a:spcBef>
              <a:spcAft>
                <a:spcPts val="500"/>
              </a:spcAft>
            </a:pPr>
            <a:r>
              <a:rPr sz="1100" b="0">
                <a:solidFill>
                  <a:srgbClr val="252423"/>
                </a:solidFill>
                <a:latin typeface="Segoe UI"/>
              </a:rPr>
              <a:t>Eastern Europe performance knitted fabrics market volume stood at 93.0 Mn Sq. Yards in 2025 and is expected to reach 145.4 Mn Sq. Yards by 2036 end, at a CAGR of 4.1%. Value is projected to grow faster than volume over the forecast period, owing to an increase in average selling price.</a:t>
            </a:r>
          </a:p>
        </p:txBody>
      </p:sp>
      <p:sp>
        <p:nvSpPr>
          <p:cNvPr id="23" name="TextBox 2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Eastern Europe Performance Knitted Fabrics Market Summary Country Indices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outlook ranking 2036 market size, growth and absolute-growth indices to highlight the strongest markets</a:t>
            </a:r>
          </a:p>
        </p:txBody>
      </p:sp>
      <p:sp>
        <p:nvSpPr>
          <p:cNvPr id="8" name="Rectangle 7"/>
          <p:cNvSpPr/>
          <p:nvPr/>
        </p:nvSpPr>
        <p:spPr>
          <a:xfrm>
            <a:off x="142875" y="1007261"/>
            <a:ext cx="3933825" cy="244599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Top 10 Countries By CAGR Index</a:t>
            </a:r>
          </a:p>
        </p:txBody>
      </p:sp>
      <p:graphicFrame>
        <p:nvGraphicFramePr>
          <p:cNvPr id="10" name="Chart 9"/>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1" name="Rectangle 10"/>
          <p:cNvSpPr/>
          <p:nvPr/>
        </p:nvSpPr>
        <p:spPr>
          <a:xfrm>
            <a:off x="142875" y="3489764"/>
            <a:ext cx="3933825" cy="243686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3565964"/>
          <a:ext cx="3914775" cy="2132069"/>
        </p:xfrm>
        <a:graphic>
          <a:graphicData uri="http://schemas.openxmlformats.org/drawingml/2006/table">
            <a:tbl>
              <a:tblPr>
                <a:tableStyleId>{5C22544A-7EE6-4342-B048-85BDC9FD1C3A}</a:tableStyleId>
              </a:tblPr>
              <a:tblGrid>
                <a:gridCol w="1210937"/>
                <a:gridCol w="904396"/>
                <a:gridCol w="624960"/>
                <a:gridCol w="1174482"/>
              </a:tblGrid>
              <a:tr h="349377">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square"/>
                    <a:lstStyle/>
                    <a:p>
                      <a:pPr algn="l">
                        <a:lnSpc>
                          <a:spcPct val="90000"/>
                        </a:lnSpc>
                      </a:pPr>
                      <a:r>
                        <a:rPr sz="1100" b="1">
                          <a:solidFill>
                            <a:srgbClr val="FFFFFF"/>
                          </a:solidFill>
                          <a:latin typeface="Segoe UI"/>
                        </a:rPr>
                        <a:t>CAGR Index</a:t>
                      </a:r>
                      <a:endParaRPr sz="1100"/>
                    </a:p>
                  </a:txBody>
                  <a:tcPr marL="47625" marR="38100" marT="19050" marB="19050" anchor="ctr">
                    <a:solidFill>
                      <a:srgbClr val="007BA5"/>
                    </a:solidFill>
                  </a:tcPr>
                </a:tc>
                <a:tc>
                  <a:txBody>
                    <a:bodyPr wrap="square"/>
                    <a:lstStyle/>
                    <a:p>
                      <a:pPr algn="l">
                        <a:lnSpc>
                          <a:spcPct val="90000"/>
                        </a:lnSpc>
                      </a:pPr>
                      <a:r>
                        <a:rPr sz="1100" b="1">
                          <a:solidFill>
                            <a:srgbClr val="FFFFFF"/>
                          </a:solidFill>
                          <a:latin typeface="Segoe UI"/>
                        </a:rPr>
                        <a:t>F-CAGR</a:t>
                      </a:r>
                      <a:endParaRPr sz="1100"/>
                    </a:p>
                  </a:txBody>
                  <a:tcPr marL="47625" marR="38100" marT="19050" marB="19050" anchor="ctr">
                    <a:solidFill>
                      <a:srgbClr val="007BA5"/>
                    </a:solidFill>
                  </a:tcPr>
                </a:tc>
                <a:tc>
                  <a:txBody>
                    <a:bodyPr wrap="square"/>
                    <a:lstStyle/>
                    <a:p>
                      <a:pPr algn="l">
                        <a:lnSpc>
                          <a:spcPct val="90000"/>
                        </a:lnSpc>
                      </a:pPr>
                      <a:r>
                        <a:rPr sz="1100" b="1">
                          <a:solidFill>
                            <a:srgbClr val="FFFFFF"/>
                          </a:solidFill>
                          <a:latin typeface="Segoe UI"/>
                        </a:rPr>
                        <a:t>$ Opp (US$ Mn)</a:t>
                      </a:r>
                      <a:endParaRPr sz="1100"/>
                    </a:p>
                  </a:txBody>
                  <a:tcPr marL="47625" marR="38100" marT="19050" marB="19050" anchor="ctr">
                    <a:solidFill>
                      <a:srgbClr val="007BA5"/>
                    </a:solidFill>
                  </a:tcPr>
                </a:tc>
              </a:tr>
              <a:tr h="445673">
                <a:tc>
                  <a:txBody>
                    <a:bodyPr wrap="none"/>
                    <a:lstStyle/>
                    <a:p>
                      <a:pPr algn="l"/>
                      <a:r>
                        <a:rPr sz="1100" b="1">
                          <a:solidFill>
                            <a:srgbClr val="252423"/>
                          </a:solidFill>
                          <a:latin typeface="Segoe UI"/>
                        </a:rPr>
                        <a:t>Balkan &amp; Baltics</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39.1</a:t>
                      </a:r>
                      <a:endParaRPr sz="1100"/>
                    </a:p>
                  </a:txBody>
                  <a:tcPr marL="47625" marR="38100" marT="19050" marB="19050" anchor="ctr">
                    <a:solidFill>
                      <a:srgbClr val="FFFFFF"/>
                    </a:solidFill>
                  </a:tcPr>
                </a:tc>
              </a:tr>
              <a:tr h="445673">
                <a:tc>
                  <a:txBody>
                    <a:bodyPr wrap="none"/>
                    <a:lstStyle/>
                    <a:p>
                      <a:pPr algn="l"/>
                      <a:r>
                        <a:rPr sz="1100" b="1">
                          <a:solidFill>
                            <a:srgbClr val="252423"/>
                          </a:solidFill>
                          <a:latin typeface="Segoe UI"/>
                        </a:rPr>
                        <a:t>Poland</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66.1</a:t>
                      </a:r>
                      <a:endParaRPr sz="1100"/>
                    </a:p>
                  </a:txBody>
                  <a:tcPr marL="47625" marR="38100" marT="19050" marB="19050" anchor="ctr">
                    <a:solidFill>
                      <a:srgbClr val="F2FAFD"/>
                    </a:solidFill>
                  </a:tcPr>
                </a:tc>
              </a:tr>
              <a:tr h="445673">
                <a:tc>
                  <a:txBody>
                    <a:bodyPr wrap="none"/>
                    <a:lstStyle/>
                    <a:p>
                      <a:pPr algn="l"/>
                      <a:r>
                        <a:rPr sz="1100" b="1">
                          <a:solidFill>
                            <a:srgbClr val="252423"/>
                          </a:solidFill>
                          <a:latin typeface="Segoe UI"/>
                        </a:rPr>
                        <a:t>Hungary</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26.0</a:t>
                      </a:r>
                      <a:endParaRPr sz="1100"/>
                    </a:p>
                  </a:txBody>
                  <a:tcPr marL="47625" marR="38100" marT="19050" marB="19050" anchor="ctr">
                    <a:solidFill>
                      <a:srgbClr val="FFFFFF"/>
                    </a:solidFill>
                  </a:tcPr>
                </a:tc>
              </a:tr>
              <a:tr h="445673">
                <a:tc>
                  <a:txBody>
                    <a:bodyPr wrap="none"/>
                    <a:lstStyle/>
                    <a:p>
                      <a:pPr algn="l"/>
                      <a:r>
                        <a:rPr sz="1100" b="1">
                          <a:solidFill>
                            <a:srgbClr val="252423"/>
                          </a:solidFill>
                          <a:latin typeface="Segoe UI"/>
                        </a:rPr>
                        <a:t>Russia</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64.2</a:t>
                      </a:r>
                      <a:endParaRPr sz="1100"/>
                    </a:p>
                  </a:txBody>
                  <a:tcPr marL="47625" marR="38100" marT="19050" marB="19050" anchor="ctr">
                    <a:solidFill>
                      <a:srgbClr val="F2FAFD"/>
                    </a:solidFill>
                  </a:tcPr>
                </a:tc>
              </a:tr>
            </a:tbl>
          </a:graphicData>
        </a:graphic>
      </p:graphicFrame>
      <p:sp>
        <p:nvSpPr>
          <p:cNvPr id="13" name="TextBox 12"/>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4" name="Rectangle 13"/>
          <p:cNvSpPr/>
          <p:nvPr/>
        </p:nvSpPr>
        <p:spPr>
          <a:xfrm>
            <a:off x="4114800" y="1007261"/>
            <a:ext cx="3933825" cy="4928498"/>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2036 Market By Country (US$ Mn)  ·  Top 10</a:t>
            </a:r>
          </a:p>
        </p:txBody>
      </p:sp>
      <p:sp>
        <p:nvSpPr>
          <p:cNvPr id="16" name="Rectangle 15"/>
          <p:cNvSpPr/>
          <p:nvPr/>
        </p:nvSpPr>
        <p:spPr>
          <a:xfrm>
            <a:off x="4210050" y="1293011"/>
            <a:ext cx="2111908" cy="3214151"/>
          </a:xfrm>
          <a:prstGeom prst="rect">
            <a:avLst/>
          </a:prstGeom>
          <a:solidFill>
            <a:srgbClr val="00A4D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Russia</a:t>
            </a:r>
          </a:p>
          <a:p>
            <a:pPr algn="ctr"/>
            <a:r>
              <a:rPr sz="1100" b="0">
                <a:solidFill>
                  <a:srgbClr val="FFFFFF"/>
                </a:solidFill>
                <a:latin typeface="Segoe UI"/>
              </a:rPr>
              <a:t>180</a:t>
            </a:r>
          </a:p>
        </p:txBody>
      </p:sp>
      <p:sp>
        <p:nvSpPr>
          <p:cNvPr id="17" name="Rectangle 16"/>
          <p:cNvSpPr/>
          <p:nvPr/>
        </p:nvSpPr>
        <p:spPr>
          <a:xfrm>
            <a:off x="6321958" y="1293011"/>
            <a:ext cx="1631417" cy="3214151"/>
          </a:xfrm>
          <a:prstGeom prst="rect">
            <a:avLst/>
          </a:prstGeom>
          <a:solidFill>
            <a:srgbClr val="6ECFF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Poland</a:t>
            </a:r>
          </a:p>
          <a:p>
            <a:pPr algn="ctr"/>
            <a:r>
              <a:rPr sz="1100" b="0">
                <a:solidFill>
                  <a:srgbClr val="252423"/>
                </a:solidFill>
                <a:latin typeface="Segoe UI"/>
              </a:rPr>
              <a:t>139</a:t>
            </a:r>
          </a:p>
        </p:txBody>
      </p:sp>
      <p:sp>
        <p:nvSpPr>
          <p:cNvPr id="18" name="Rectangle 17"/>
          <p:cNvSpPr/>
          <p:nvPr/>
        </p:nvSpPr>
        <p:spPr>
          <a:xfrm>
            <a:off x="4210050" y="4507162"/>
            <a:ext cx="2213462" cy="1371448"/>
          </a:xfrm>
          <a:prstGeom prst="rect">
            <a:avLst/>
          </a:prstGeom>
          <a:solidFill>
            <a:srgbClr val="D6CA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Balkan &amp; Baltics</a:t>
            </a:r>
          </a:p>
          <a:p>
            <a:pPr algn="ctr"/>
            <a:r>
              <a:rPr sz="1100" b="0">
                <a:solidFill>
                  <a:srgbClr val="252423"/>
                </a:solidFill>
                <a:latin typeface="Segoe UI"/>
              </a:rPr>
              <a:t>80.4</a:t>
            </a:r>
          </a:p>
        </p:txBody>
      </p:sp>
      <p:sp>
        <p:nvSpPr>
          <p:cNvPr id="19" name="Rectangle 18"/>
          <p:cNvSpPr/>
          <p:nvPr/>
        </p:nvSpPr>
        <p:spPr>
          <a:xfrm>
            <a:off x="6423512" y="4507162"/>
            <a:ext cx="1529863" cy="1371448"/>
          </a:xfrm>
          <a:prstGeom prst="rect">
            <a:avLst/>
          </a:prstGeom>
          <a:solidFill>
            <a:srgbClr val="EBC4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Hungary</a:t>
            </a:r>
          </a:p>
          <a:p>
            <a:pPr algn="ctr"/>
            <a:r>
              <a:rPr sz="1100" b="0">
                <a:solidFill>
                  <a:srgbClr val="252423"/>
                </a:solidFill>
                <a:latin typeface="Segoe UI"/>
              </a:rPr>
              <a:t>55.6</a:t>
            </a:r>
          </a:p>
        </p:txBody>
      </p:sp>
      <p:sp>
        <p:nvSpPr>
          <p:cNvPr id="20" name="Rectangle 19"/>
          <p:cNvSpPr/>
          <p:nvPr/>
        </p:nvSpPr>
        <p:spPr>
          <a:xfrm>
            <a:off x="8086725" y="1007261"/>
            <a:ext cx="3933825" cy="243686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Top 10 Countries By Absolute Index</a:t>
            </a:r>
          </a:p>
        </p:txBody>
      </p:sp>
      <p:graphicFrame>
        <p:nvGraphicFramePr>
          <p:cNvPr id="22" name="Chart 21"/>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3" name="Rectangle 22"/>
          <p:cNvSpPr/>
          <p:nvPr/>
        </p:nvSpPr>
        <p:spPr>
          <a:xfrm>
            <a:off x="8086725" y="3471510"/>
            <a:ext cx="3933825" cy="246424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4" name="Table 23"/>
          <p:cNvGraphicFramePr>
            <a:graphicFrameLocks noGrp="1"/>
          </p:cNvGraphicFramePr>
          <p:nvPr/>
        </p:nvGraphicFramePr>
        <p:xfrm>
          <a:off x="8096250" y="3547710"/>
          <a:ext cx="3914774" cy="2159449"/>
        </p:xfrm>
        <a:graphic>
          <a:graphicData uri="http://schemas.openxmlformats.org/drawingml/2006/table">
            <a:tbl>
              <a:tblPr>
                <a:tableStyleId>{5C22544A-7EE6-4342-B048-85BDC9FD1C3A}</a:tableStyleId>
              </a:tblPr>
              <a:tblGrid>
                <a:gridCol w="1210937"/>
                <a:gridCol w="1053164"/>
                <a:gridCol w="602845"/>
                <a:gridCol w="1047828"/>
              </a:tblGrid>
              <a:tr h="349377">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square"/>
                    <a:lstStyle/>
                    <a:p>
                      <a:pPr algn="l">
                        <a:lnSpc>
                          <a:spcPct val="90000"/>
                        </a:lnSpc>
                      </a:pPr>
                      <a:r>
                        <a:rPr sz="1100" b="1">
                          <a:solidFill>
                            <a:srgbClr val="FFFFFF"/>
                          </a:solidFill>
                          <a:latin typeface="Segoe UI"/>
                        </a:rPr>
                        <a:t>Absolute Index</a:t>
                      </a:r>
                      <a:endParaRPr sz="1100"/>
                    </a:p>
                  </a:txBody>
                  <a:tcPr marL="47625" marR="38100" marT="19050" marB="19050" anchor="ctr">
                    <a:solidFill>
                      <a:srgbClr val="007BA5"/>
                    </a:solidFill>
                  </a:tcPr>
                </a:tc>
                <a:tc>
                  <a:txBody>
                    <a:bodyPr wrap="square"/>
                    <a:lstStyle/>
                    <a:p>
                      <a:pPr algn="l">
                        <a:lnSpc>
                          <a:spcPct val="90000"/>
                        </a:lnSpc>
                      </a:pPr>
                      <a:r>
                        <a:rPr sz="1100" b="1">
                          <a:solidFill>
                            <a:srgbClr val="FFFFFF"/>
                          </a:solidFill>
                          <a:latin typeface="Segoe UI"/>
                        </a:rPr>
                        <a:t>F-CAGR</a:t>
                      </a:r>
                      <a:endParaRPr sz="1100"/>
                    </a:p>
                  </a:txBody>
                  <a:tcPr marL="47625" marR="38100" marT="19050" marB="19050" anchor="ctr">
                    <a:solidFill>
                      <a:srgbClr val="007BA5"/>
                    </a:solidFill>
                  </a:tcPr>
                </a:tc>
                <a:tc>
                  <a:txBody>
                    <a:bodyPr wrap="square"/>
                    <a:lstStyle/>
                    <a:p>
                      <a:pPr algn="l">
                        <a:lnSpc>
                          <a:spcPct val="90000"/>
                        </a:lnSpc>
                      </a:pPr>
                      <a:r>
                        <a:rPr sz="1100" b="1">
                          <a:solidFill>
                            <a:srgbClr val="FFFFFF"/>
                          </a:solidFill>
                          <a:latin typeface="Segoe UI"/>
                        </a:rPr>
                        <a:t>$ Opp (US$ Mn)</a:t>
                      </a:r>
                      <a:endParaRPr sz="1100"/>
                    </a:p>
                  </a:txBody>
                  <a:tcPr marL="47625" marR="38100" marT="19050" marB="19050" anchor="ctr">
                    <a:solidFill>
                      <a:srgbClr val="007BA5"/>
                    </a:solidFill>
                  </a:tcPr>
                </a:tc>
              </a:tr>
              <a:tr h="452518">
                <a:tc>
                  <a:txBody>
                    <a:bodyPr wrap="none"/>
                    <a:lstStyle/>
                    <a:p>
                      <a:pPr algn="l"/>
                      <a:r>
                        <a:rPr sz="1100" b="1">
                          <a:solidFill>
                            <a:srgbClr val="252423"/>
                          </a:solidFill>
                          <a:latin typeface="Segoe UI"/>
                        </a:rPr>
                        <a:t>Poland</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66.1</a:t>
                      </a:r>
                      <a:endParaRPr sz="1100"/>
                    </a:p>
                  </a:txBody>
                  <a:tcPr marL="47625" marR="38100" marT="19050" marB="19050" anchor="ctr">
                    <a:solidFill>
                      <a:srgbClr val="FFFFFF"/>
                    </a:solidFill>
                  </a:tcPr>
                </a:tc>
              </a:tr>
              <a:tr h="452518">
                <a:tc>
                  <a:txBody>
                    <a:bodyPr wrap="none"/>
                    <a:lstStyle/>
                    <a:p>
                      <a:pPr algn="l"/>
                      <a:r>
                        <a:rPr sz="1100" b="1">
                          <a:solidFill>
                            <a:srgbClr val="252423"/>
                          </a:solidFill>
                          <a:latin typeface="Segoe UI"/>
                        </a:rPr>
                        <a:t>Russia</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64.2</a:t>
                      </a:r>
                      <a:endParaRPr sz="1100"/>
                    </a:p>
                  </a:txBody>
                  <a:tcPr marL="47625" marR="38100" marT="19050" marB="19050" anchor="ctr">
                    <a:solidFill>
                      <a:srgbClr val="F2FAFD"/>
                    </a:solidFill>
                  </a:tcPr>
                </a:tc>
              </a:tr>
              <a:tr h="452518">
                <a:tc>
                  <a:txBody>
                    <a:bodyPr wrap="none"/>
                    <a:lstStyle/>
                    <a:p>
                      <a:pPr algn="l"/>
                      <a:r>
                        <a:rPr sz="1100" b="1">
                          <a:solidFill>
                            <a:srgbClr val="252423"/>
                          </a:solidFill>
                          <a:latin typeface="Segoe UI"/>
                        </a:rPr>
                        <a:t>Balkan &amp; Baltics</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39.1</a:t>
                      </a:r>
                      <a:endParaRPr sz="1100"/>
                    </a:p>
                  </a:txBody>
                  <a:tcPr marL="47625" marR="38100" marT="19050" marB="19050" anchor="ctr">
                    <a:solidFill>
                      <a:srgbClr val="FFFFFF"/>
                    </a:solidFill>
                  </a:tcPr>
                </a:tc>
              </a:tr>
              <a:tr h="452518">
                <a:tc>
                  <a:txBody>
                    <a:bodyPr wrap="none"/>
                    <a:lstStyle/>
                    <a:p>
                      <a:pPr algn="l"/>
                      <a:r>
                        <a:rPr sz="1100" b="1">
                          <a:solidFill>
                            <a:srgbClr val="252423"/>
                          </a:solidFill>
                          <a:latin typeface="Segoe UI"/>
                        </a:rPr>
                        <a:t>Hungary</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26.0</a:t>
                      </a:r>
                      <a:endParaRPr sz="1100"/>
                    </a:p>
                  </a:txBody>
                  <a:tcPr marL="47625" marR="38100" marT="19050" marB="19050" anchor="ctr">
                    <a:solidFill>
                      <a:srgbClr val="F2FAFD"/>
                    </a:solidFill>
                  </a:tcPr>
                </a:tc>
              </a:tr>
            </a:tbl>
          </a:graphicData>
        </a:graphic>
      </p:graphicFrame>
      <p:sp>
        <p:nvSpPr>
          <p:cNvPr id="25" name="TextBox 24"/>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26" name="Rectangle 25"/>
          <p:cNvSpPr/>
          <p:nvPr/>
        </p:nvSpPr>
        <p:spPr>
          <a:xfrm>
            <a:off x="142875" y="6027028"/>
            <a:ext cx="10858500" cy="60237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Russia performance knitted fabrics market is projected to register 1.3X higher value than Poland in 2036. Balkan &amp; Baltics posts the highest CAGR Index (119), growing at 6.9% against the Eastern Europe benchmark, while Poland offers the largest absolute opportunity 66.1 US$ Mn of incremental market between 2026 and 2036 (31% of the Eastern Europe increment).</a:t>
            </a:r>
          </a:p>
        </p:txBody>
      </p:sp>
      <p:sp>
        <p:nvSpPr>
          <p:cNvPr id="27" name="TextBox 2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Supply Side Trends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recent developments, investments and R&amp;D activity shaping the supply side of the market</a:t>
            </a:r>
          </a:p>
        </p:txBody>
      </p:sp>
      <p:sp>
        <p:nvSpPr>
          <p:cNvPr id="8" name="Rectangle 7"/>
          <p:cNvSpPr/>
          <p:nvPr/>
        </p:nvSpPr>
        <p:spPr>
          <a:xfrm>
            <a:off x="142875" y="981075"/>
            <a:ext cx="58769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Recent Developments &amp; Key Industry Activities</a:t>
            </a:r>
          </a:p>
        </p:txBody>
      </p:sp>
      <p:sp>
        <p:nvSpPr>
          <p:cNvPr id="10" name="Rectangle 9"/>
          <p:cNvSpPr/>
          <p:nvPr/>
        </p:nvSpPr>
        <p:spPr>
          <a:xfrm>
            <a:off x="276225"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Capacity and product development are concentrating in 'Warp Knitted Fabrics' and Balkan &amp; Baltics.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Portfolio expansion tracks the shift toward higher-growth fabric construction categories.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Commercial focus is intensifying across Russia and Balkan &amp; Baltics.</a:t>
            </a:r>
          </a:p>
        </p:txBody>
      </p:sp>
      <p:sp>
        <p:nvSpPr>
          <p:cNvPr id="12" name="Rectangle 11"/>
          <p:cNvSpPr/>
          <p:nvPr/>
        </p:nvSpPr>
        <p:spPr>
          <a:xfrm>
            <a:off x="6172200" y="981075"/>
            <a:ext cx="58769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14" name="Rectangle 13"/>
          <p:cNvSpPr/>
          <p:nvPr/>
        </p:nvSpPr>
        <p:spPr>
          <a:xfrm>
            <a:off x="6305550"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2026 size 284.5 US$ Mn; 2036 499.0 US$ Mn.</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Forecast CAGR 5.8% (2026–2036).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Lead category 'Weft Knitted Fabrics' 62.7% of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Lead country Russia 36.0%.</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Incremental opportunity 214.4 US$ Mn.</a:t>
            </a:r>
          </a:p>
        </p:txBody>
      </p:sp>
      <p:sp>
        <p:nvSpPr>
          <p:cNvPr id="16" name="Rectangle 15"/>
          <p:cNvSpPr/>
          <p:nvPr/>
        </p:nvSpPr>
        <p:spPr>
          <a:xfrm>
            <a:off x="142875" y="2895600"/>
            <a:ext cx="5876925" cy="1285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5610225" cy="209550"/>
          </a:xfrm>
          <a:prstGeom prst="rect">
            <a:avLst/>
          </a:prstGeom>
          <a:noFill/>
        </p:spPr>
        <p:txBody>
          <a:bodyPr wrap="square" lIns="0" rIns="19050" tIns="9525" bIns="9525">
            <a:spAutoFit/>
          </a:bodyPr>
          <a:lstStyle/>
          <a:p>
            <a:pPr algn="l"/>
            <a:r>
              <a:rPr sz="1300" b="1">
                <a:solidFill>
                  <a:srgbClr val="007BA5"/>
                </a:solidFill>
                <a:latin typeface="Segoe UI"/>
              </a:rPr>
              <a:t>Strategic Acquisitions &amp; New Investments</a:t>
            </a:r>
          </a:p>
        </p:txBody>
      </p:sp>
      <p:sp>
        <p:nvSpPr>
          <p:cNvPr id="18" name="Rectangle 17"/>
          <p:cNvSpPr/>
          <p:nvPr/>
        </p:nvSpPr>
        <p:spPr>
          <a:xfrm>
            <a:off x="276225" y="32194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Investment is flowing toward the fastest-growing tier 'Warp Knitted Fabrics' (6.5%).</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Balkan &amp; Baltics (6.9%) is a priority country for new capacity.</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Scale players anchor around 'Weft Knitted Fabrics' (62.7% share).</a:t>
            </a:r>
          </a:p>
        </p:txBody>
      </p:sp>
      <p:sp>
        <p:nvSpPr>
          <p:cNvPr id="20" name="Rectangle 19"/>
          <p:cNvSpPr/>
          <p:nvPr/>
        </p:nvSpPr>
        <p:spPr>
          <a:xfrm>
            <a:off x="6172200" y="2895600"/>
            <a:ext cx="5876925" cy="1285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2981325"/>
            <a:ext cx="5610225" cy="209550"/>
          </a:xfrm>
          <a:prstGeom prst="rect">
            <a:avLst/>
          </a:prstGeom>
          <a:noFill/>
        </p:spPr>
        <p:txBody>
          <a:bodyPr wrap="square" lIns="0" rIns="19050" tIns="9525" bIns="9525">
            <a:spAutoFit/>
          </a:bodyPr>
          <a:lstStyle/>
          <a:p>
            <a:pPr algn="l"/>
            <a:r>
              <a:rPr sz="1300" b="1">
                <a:solidFill>
                  <a:srgbClr val="007BA5"/>
                </a:solidFill>
                <a:latin typeface="Segoe UI"/>
              </a:rPr>
              <a:t>Substantial Investment in R&amp;D</a:t>
            </a:r>
          </a:p>
        </p:txBody>
      </p:sp>
      <p:sp>
        <p:nvSpPr>
          <p:cNvPr id="22" name="Rectangle 21"/>
          <p:cNvSpPr/>
          <p:nvPr/>
        </p:nvSpPr>
        <p:spPr>
          <a:xfrm>
            <a:off x="6305550" y="32194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R&amp;D aligns with the migration to 'Warp Knitted Fabrics' and adjacent premium tiers.</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Development spend targets fabric construction categories gaining share to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Innovation underpins the 5.8% forecast CAGR.</a:t>
            </a:r>
          </a:p>
        </p:txBody>
      </p:sp>
      <p:sp>
        <p:nvSpPr>
          <p:cNvPr id="24" name="Rectangle 23"/>
          <p:cNvSpPr/>
          <p:nvPr/>
        </p:nvSpPr>
        <p:spPr>
          <a:xfrm>
            <a:off x="142875" y="4314825"/>
            <a:ext cx="11906250" cy="22955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8125" y="437197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structure fabric construction share (2036)</a:t>
            </a:r>
          </a:p>
        </p:txBody>
      </p:sp>
      <p:graphicFrame>
        <p:nvGraphicFramePr>
          <p:cNvPr id="26" name="Chart 25"/>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r:id="rId3"/>
          </a:graphicData>
        </a:graphic>
      </p:graphicFrame>
      <p:sp>
        <p:nvSpPr>
          <p:cNvPr id="27" name="TextBox 26"/>
          <p:cNvSpPr txBox="1"/>
          <p:nvPr/>
        </p:nvSpPr>
        <p:spPr>
          <a:xfrm>
            <a:off x="3871570" y="5462588"/>
            <a:ext cx="934136" cy="228600"/>
          </a:xfrm>
          <a:prstGeom prst="rect">
            <a:avLst/>
          </a:prstGeom>
          <a:noFill/>
        </p:spPr>
        <p:txBody>
          <a:bodyPr wrap="square" lIns="28575" rIns="28575" tIns="9525" bIns="9525" anchor="ctr">
            <a:spAutoFit/>
          </a:bodyPr>
          <a:lstStyle/>
          <a:p>
            <a:pPr algn="ctr"/>
            <a:r>
              <a:rPr sz="1300" b="1">
                <a:solidFill>
                  <a:srgbClr val="252423"/>
                </a:solidFill>
                <a:latin typeface="Segoe UI"/>
              </a:rPr>
              <a:t>2036</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Analysis and Recommendation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the market approach, differentiating strategy and FMI's analysis and recommendation</a:t>
            </a:r>
          </a:p>
        </p:txBody>
      </p:sp>
      <p:sp>
        <p:nvSpPr>
          <p:cNvPr id="8" name="Rectangle 7"/>
          <p:cNvSpPr/>
          <p:nvPr/>
        </p:nvSpPr>
        <p:spPr>
          <a:xfrm>
            <a:off x="142875" y="981075"/>
            <a:ext cx="58769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Overall Market Approach</a:t>
            </a:r>
          </a:p>
        </p:txBody>
      </p:sp>
      <p:sp>
        <p:nvSpPr>
          <p:cNvPr id="10" name="Rectangle 9"/>
          <p:cNvSpPr/>
          <p:nvPr/>
        </p:nvSpPr>
        <p:spPr>
          <a:xfrm>
            <a:off x="276225"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Balance scale in 'Weft Knitted Fabrics' with targeted growth in 'Warp Knitted Fabrics', pursuing the 5.8% CAGR trajectory to 2036.</a:t>
            </a:r>
          </a:p>
        </p:txBody>
      </p:sp>
      <p:sp>
        <p:nvSpPr>
          <p:cNvPr id="12" name="Rectangle 11"/>
          <p:cNvSpPr/>
          <p:nvPr/>
        </p:nvSpPr>
        <p:spPr>
          <a:xfrm>
            <a:off x="6172200" y="981075"/>
            <a:ext cx="58769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Differentiating Strategy</a:t>
            </a:r>
          </a:p>
        </p:txBody>
      </p:sp>
      <p:sp>
        <p:nvSpPr>
          <p:cNvPr id="14" name="Rectangle 13"/>
          <p:cNvSpPr/>
          <p:nvPr/>
        </p:nvSpPr>
        <p:spPr>
          <a:xfrm>
            <a:off x="6305550"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Differentiate through the high-growth 'Warp Knitted Fabrics' tier and Industrial &amp; Technical Applications within end-use application.</a:t>
            </a:r>
          </a:p>
        </p:txBody>
      </p:sp>
      <p:sp>
        <p:nvSpPr>
          <p:cNvPr id="16" name="Rectangle 15"/>
          <p:cNvSpPr/>
          <p:nvPr/>
        </p:nvSpPr>
        <p:spPr>
          <a:xfrm>
            <a:off x="142875" y="2857500"/>
            <a:ext cx="5876925" cy="1562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43225"/>
            <a:ext cx="5610225" cy="209550"/>
          </a:xfrm>
          <a:prstGeom prst="rect">
            <a:avLst/>
          </a:prstGeom>
          <a:noFill/>
        </p:spPr>
        <p:txBody>
          <a:bodyPr wrap="square" lIns="0" rIns="19050" tIns="9525" bIns="9525">
            <a:spAutoFit/>
          </a:bodyPr>
          <a:lstStyle/>
          <a:p>
            <a:pPr algn="l"/>
            <a:r>
              <a:rPr sz="1300" b="1">
                <a:solidFill>
                  <a:srgbClr val="007BA5"/>
                </a:solidFill>
                <a:latin typeface="Segoe UI"/>
              </a:rPr>
              <a:t>Market Segment</a:t>
            </a:r>
          </a:p>
        </p:txBody>
      </p:sp>
      <p:sp>
        <p:nvSpPr>
          <p:cNvPr id="18" name="Rectangle 17"/>
          <p:cNvSpPr/>
          <p:nvPr/>
        </p:nvSpPr>
        <p:spPr>
          <a:xfrm>
            <a:off x="276225" y="31813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Prioritise 'Warp Knitted Fabrics' (6.5%); 'Weft Knitted Fabrics' anchors 62.7% of value.</a:t>
            </a:r>
          </a:p>
        </p:txBody>
      </p:sp>
      <p:sp>
        <p:nvSpPr>
          <p:cNvPr id="20" name="Rectangle 19"/>
          <p:cNvSpPr/>
          <p:nvPr/>
        </p:nvSpPr>
        <p:spPr>
          <a:xfrm>
            <a:off x="6172200" y="2857500"/>
            <a:ext cx="5876925" cy="1562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2943225"/>
            <a:ext cx="5610225" cy="209550"/>
          </a:xfrm>
          <a:prstGeom prst="rect">
            <a:avLst/>
          </a:prstGeom>
          <a:noFill/>
        </p:spPr>
        <p:txBody>
          <a:bodyPr wrap="square" lIns="0" rIns="19050" tIns="9525" bIns="9525">
            <a:spAutoFit/>
          </a:bodyPr>
          <a:lstStyle/>
          <a:p>
            <a:pPr algn="l"/>
            <a:r>
              <a:rPr sz="1300" b="1">
                <a:solidFill>
                  <a:srgbClr val="007BA5"/>
                </a:solidFill>
                <a:latin typeface="Segoe UI"/>
              </a:rPr>
              <a:t>Market Country</a:t>
            </a:r>
          </a:p>
        </p:txBody>
      </p:sp>
      <p:sp>
        <p:nvSpPr>
          <p:cNvPr id="22" name="Rectangle 21"/>
          <p:cNvSpPr/>
          <p:nvPr/>
        </p:nvSpPr>
        <p:spPr>
          <a:xfrm>
            <a:off x="6305550" y="31813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Lead with Russia (36.0%); capture upside in Balkan &amp; Baltics (6.9%).</a:t>
            </a:r>
          </a:p>
        </p:txBody>
      </p:sp>
      <p:sp>
        <p:nvSpPr>
          <p:cNvPr id="24" name="Rectangle 23"/>
          <p:cNvSpPr/>
          <p:nvPr/>
        </p:nvSpPr>
        <p:spPr>
          <a:xfrm>
            <a:off x="142875" y="4552950"/>
            <a:ext cx="11906250" cy="2057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07BA5"/>
                </a:solidFill>
                <a:latin typeface="Segoe UI"/>
              </a:rPr>
              <a:t>Fact.MR Analysis &amp; Recommendation</a:t>
            </a:r>
          </a:p>
        </p:txBody>
      </p:sp>
      <p:sp>
        <p:nvSpPr>
          <p:cNvPr id="26" name="Rectangle 25"/>
          <p:cNvSpPr/>
          <p:nvPr/>
        </p:nvSpPr>
        <p:spPr>
          <a:xfrm>
            <a:off x="276225" y="48768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Performance Knitted Fabrics adds 214.4 US$ Mn of demand to 2036 a 1.8× expansion.</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Concentrate resources on the leading segment/country while seeding the fastest-growing pockets early.</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Defend share in 'Weft Knitted Fabrics' as the value anchor of the portfolio.</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Eastern Europe Performance Knitted Fabrics – Country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Regional analysis of size, growth and share across 5 countries, highlighting where value concentrates,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Eastern Europe</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By Country view breaks the Eastern Europe market down geographically. Each country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Country</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190881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190881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Russia</a:t>
            </a:r>
          </a:p>
        </p:txBody>
      </p:sp>
      <p:sp>
        <p:nvSpPr>
          <p:cNvPr id="21" name="Rectangle 20"/>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115.5</a:t>
            </a:r>
          </a:p>
        </p:txBody>
      </p:sp>
      <p:sp>
        <p:nvSpPr>
          <p:cNvPr id="22" name="Rectangle 21"/>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179.8</a:t>
            </a:r>
          </a:p>
        </p:txBody>
      </p:sp>
      <p:sp>
        <p:nvSpPr>
          <p:cNvPr id="23" name="Rectangle 22"/>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4.5%</a:t>
            </a:r>
          </a:p>
        </p:txBody>
      </p:sp>
      <p:sp>
        <p:nvSpPr>
          <p:cNvPr id="24" name="Oval 23"/>
          <p:cNvSpPr/>
          <p:nvPr/>
        </p:nvSpPr>
        <p:spPr>
          <a:xfrm>
            <a:off x="265938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3890010" y="1773916"/>
            <a:ext cx="190881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890010" y="1992961"/>
            <a:ext cx="190881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Poland</a:t>
            </a:r>
          </a:p>
        </p:txBody>
      </p:sp>
      <p:sp>
        <p:nvSpPr>
          <p:cNvPr id="28" name="Rectangle 27"/>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72.8</a:t>
            </a:r>
          </a:p>
        </p:txBody>
      </p:sp>
      <p:sp>
        <p:nvSpPr>
          <p:cNvPr id="29" name="Rectangle 28"/>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138.9</a:t>
            </a:r>
          </a:p>
        </p:txBody>
      </p:sp>
      <p:sp>
        <p:nvSpPr>
          <p:cNvPr id="30" name="Rectangle 29"/>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6.7%</a:t>
            </a:r>
          </a:p>
        </p:txBody>
      </p:sp>
      <p:sp>
        <p:nvSpPr>
          <p:cNvPr id="31" name="Oval 30"/>
          <p:cNvSpPr/>
          <p:nvPr/>
        </p:nvSpPr>
        <p:spPr>
          <a:xfrm>
            <a:off x="468249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5913120" y="1773916"/>
            <a:ext cx="190881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913120" y="1992961"/>
            <a:ext cx="190881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Balkan &amp; Baltics</a:t>
            </a:r>
          </a:p>
        </p:txBody>
      </p:sp>
      <p:sp>
        <p:nvSpPr>
          <p:cNvPr id="35" name="Rectangle 34"/>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41.3</a:t>
            </a:r>
          </a:p>
        </p:txBody>
      </p:sp>
      <p:sp>
        <p:nvSpPr>
          <p:cNvPr id="36" name="Rectangle 35"/>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80.4</a:t>
            </a:r>
          </a:p>
        </p:txBody>
      </p:sp>
      <p:sp>
        <p:nvSpPr>
          <p:cNvPr id="37" name="Rectangle 36"/>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6.9%</a:t>
            </a:r>
          </a:p>
        </p:txBody>
      </p:sp>
      <p:sp>
        <p:nvSpPr>
          <p:cNvPr id="38" name="Oval 37"/>
          <p:cNvSpPr/>
          <p:nvPr/>
        </p:nvSpPr>
        <p:spPr>
          <a:xfrm>
            <a:off x="670560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7936230" y="1773916"/>
            <a:ext cx="1908810"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36230" y="1992961"/>
            <a:ext cx="1908810"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Hungary</a:t>
            </a:r>
          </a:p>
        </p:txBody>
      </p:sp>
      <p:sp>
        <p:nvSpPr>
          <p:cNvPr id="42" name="Rectangle 41"/>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29.6</a:t>
            </a:r>
          </a:p>
        </p:txBody>
      </p:sp>
      <p:sp>
        <p:nvSpPr>
          <p:cNvPr id="43" name="Rectangle 42"/>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55.6</a:t>
            </a:r>
          </a:p>
        </p:txBody>
      </p:sp>
      <p:sp>
        <p:nvSpPr>
          <p:cNvPr id="44" name="Rectangle 43"/>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6.5%</a:t>
            </a:r>
          </a:p>
        </p:txBody>
      </p:sp>
      <p:sp>
        <p:nvSpPr>
          <p:cNvPr id="45" name="Oval 44"/>
          <p:cNvSpPr/>
          <p:nvPr/>
        </p:nvSpPr>
        <p:spPr>
          <a:xfrm>
            <a:off x="8728710"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9959340" y="1773916"/>
            <a:ext cx="1908810"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959340" y="1992961"/>
            <a:ext cx="1908810"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Rest of Eastern Europe</a:t>
            </a:r>
          </a:p>
        </p:txBody>
      </p:sp>
      <p:sp>
        <p:nvSpPr>
          <p:cNvPr id="49" name="Rectangle 48"/>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25.3</a:t>
            </a:r>
          </a:p>
        </p:txBody>
      </p:sp>
      <p:sp>
        <p:nvSpPr>
          <p:cNvPr id="50" name="Rectangle 49"/>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44.4</a:t>
            </a:r>
          </a:p>
        </p:txBody>
      </p:sp>
      <p:sp>
        <p:nvSpPr>
          <p:cNvPr id="51" name="Rectangle 50"/>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5.8%</a:t>
            </a:r>
          </a:p>
        </p:txBody>
      </p:sp>
      <p:sp>
        <p:nvSpPr>
          <p:cNvPr id="52" name="Oval 51"/>
          <p:cNvSpPr/>
          <p:nvPr/>
        </p:nvSpPr>
        <p:spPr>
          <a:xfrm>
            <a:off x="10751820"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53" name="Rounded Rectangle 5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55" name="Rectangle 54"/>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Russia performance knitted fabrics market is projected to register 1.3X higher value than Poland in 2036. Among performance knitted fabrics by country, Balkan &amp; Baltics is expected to witness the highest CAGR of 6.9% over the forecast period.</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In terms of value share by country, Russia is expected to dominate the market, losing 504 BPS and accounting for 39.5% share by 2036.</a:t>
            </a:r>
          </a:p>
        </p:txBody>
      </p:sp>
      <p:sp>
        <p:nvSpPr>
          <p:cNvPr id="57" name="Rounded Rectangle 5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9" name="Rectangle 58"/>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Russia: </a:t>
            </a:r>
            <a:r>
              <a:rPr sz="1100" b="0">
                <a:solidFill>
                  <a:srgbClr val="252423"/>
                </a:solidFill>
                <a:latin typeface="Segoe UI"/>
              </a:rPr>
              <a:t>41% of 2026 value · 4.5% CAGR leads the market.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Poland: </a:t>
            </a:r>
            <a:r>
              <a:rPr sz="1100" b="0">
                <a:solidFill>
                  <a:srgbClr val="252423"/>
                </a:solidFill>
                <a:latin typeface="Segoe UI"/>
              </a:rPr>
              <a:t>26% of 2026 value · 6.7% CAGR a smaller market.</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Balkan &amp; Baltics: </a:t>
            </a:r>
            <a:r>
              <a:rPr sz="1100" b="0">
                <a:solidFill>
                  <a:srgbClr val="252423"/>
                </a:solidFill>
                <a:latin typeface="Segoe UI"/>
              </a:rPr>
              <a:t>15% of 2026 value · 6.9% CAGR grows fastest.</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Hungary: </a:t>
            </a:r>
            <a:r>
              <a:rPr sz="1100" b="0">
                <a:solidFill>
                  <a:srgbClr val="252423"/>
                </a:solidFill>
                <a:latin typeface="Segoe UI"/>
              </a:rPr>
              <a:t>10% of 2026 value · 6.5% CAGR a smaller market.</a:t>
            </a:r>
          </a:p>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Rest of Eastern Europe: </a:t>
            </a:r>
            <a:r>
              <a:rPr sz="1100" b="0">
                <a:solidFill>
                  <a:srgbClr val="252423"/>
                </a:solidFill>
                <a:latin typeface="Segoe UI"/>
              </a:rPr>
              <a:t>9% of 2026 value · 5.8% CAGR a smaller market.</a:t>
            </a:r>
          </a:p>
        </p:txBody>
      </p:sp>
      <p:sp>
        <p:nvSpPr>
          <p:cNvPr id="61" name="Rounded Rectangle 6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63" name="Rectangle 62"/>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By Country split shows where market value concentrates and where growth is fastest.</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demand and access dynamics are rebalancing the geographic mix through 2036.</a:t>
            </a:r>
          </a:p>
        </p:txBody>
      </p:sp>
      <p:sp>
        <p:nvSpPr>
          <p:cNvPr id="65" name="Rectangle 6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Eastern Europe market is projected to grow at a CAGR of 5.8% from 2026 to 2036.</a:t>
            </a:r>
          </a:p>
        </p:txBody>
      </p:sp>
      <p:sp>
        <p:nvSpPr>
          <p:cNvPr id="67" name="TextBox 66"/>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8" name="TextBox 6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Eastern Europe Performance Knitted Fabrics Market Analysis, By Country Volume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volume share by country in 2026 and 2036, highlighting share gains and losses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Eastern Europe</a:t>
            </a:r>
          </a:p>
        </p:txBody>
      </p:sp>
      <p:sp>
        <p:nvSpPr>
          <p:cNvPr id="9" name="Rectangle 8"/>
          <p:cNvSpPr/>
          <p:nvPr/>
        </p:nvSpPr>
        <p:spPr>
          <a:xfrm>
            <a:off x="142875" y="981075"/>
            <a:ext cx="6810375"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Share and BPS Assessment By Country, 2026 &amp; 2036</a:t>
            </a:r>
          </a:p>
        </p:txBody>
      </p:sp>
      <p:graphicFrame>
        <p:nvGraphicFramePr>
          <p:cNvPr id="11" name="Chart 10"/>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2" name="TextBox 11"/>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0A4DC"/>
                </a:solidFill>
                <a:latin typeface="Segoe UI"/>
              </a:rPr>
              <a:t>BPS Δ  (2026→2036)</a:t>
            </a:r>
          </a:p>
        </p:txBody>
      </p:sp>
      <p:sp>
        <p:nvSpPr>
          <p:cNvPr id="13" name="FMI Lock Anchor"/>
          <p:cNvSpPr txBox="1"/>
          <p:nvPr/>
        </p:nvSpPr>
        <p:spPr>
          <a:xfrm>
            <a:off x="2489835" y="3352800"/>
            <a:ext cx="38100" cy="38100"/>
          </a:xfrm>
          <a:prstGeom prst="rect">
            <a:avLst/>
          </a:prstGeom>
          <a:noFill/>
        </p:spPr>
        <p:txBody>
          <a:bodyPr wrap="none">
            <a:spAutoFit/>
          </a:bodyPr>
          <a:lstStyle/>
          <a:p/>
        </p:txBody>
      </p:sp>
      <p:sp>
        <p:nvSpPr>
          <p:cNvPr id="14" name="FMI Legend Chip"/>
          <p:cNvSpPr/>
          <p:nvPr/>
        </p:nvSpPr>
        <p:spPr>
          <a:xfrm>
            <a:off x="4551045" y="1631692"/>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4712970" y="1626930"/>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4855845" y="1550730"/>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Rest of Eastern Europe</a:t>
            </a:r>
          </a:p>
        </p:txBody>
      </p:sp>
      <p:sp>
        <p:nvSpPr>
          <p:cNvPr id="17" name="BPS Value 1"/>
          <p:cNvSpPr txBox="1"/>
          <p:nvPr/>
        </p:nvSpPr>
        <p:spPr>
          <a:xfrm>
            <a:off x="6305550" y="1612642"/>
            <a:ext cx="514350" cy="123825"/>
          </a:xfrm>
          <a:prstGeom prst="rect">
            <a:avLst/>
          </a:prstGeom>
          <a:noFill/>
        </p:spPr>
        <p:txBody>
          <a:bodyPr wrap="none" lIns="0" rIns="0" tIns="0" bIns="0" anchor="ctr">
            <a:spAutoFit/>
          </a:bodyPr>
          <a:lstStyle/>
          <a:p>
            <a:pPr algn="r"/>
            <a:r>
              <a:rPr sz="900" b="1">
                <a:solidFill>
                  <a:srgbClr val="1E8E3E"/>
                </a:solidFill>
                <a:latin typeface="Segoe UI"/>
              </a:rPr>
              <a:t>+12</a:t>
            </a:r>
          </a:p>
        </p:txBody>
      </p:sp>
      <p:sp>
        <p:nvSpPr>
          <p:cNvPr id="18" name="FMI Legend Chip"/>
          <p:cNvSpPr/>
          <p:nvPr/>
        </p:nvSpPr>
        <p:spPr>
          <a:xfrm>
            <a:off x="4551045" y="1993735"/>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4712970" y="198897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4855845" y="1912772"/>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Hungary</a:t>
            </a:r>
          </a:p>
        </p:txBody>
      </p:sp>
      <p:sp>
        <p:nvSpPr>
          <p:cNvPr id="21" name="BPS Value 2"/>
          <p:cNvSpPr txBox="1"/>
          <p:nvPr/>
        </p:nvSpPr>
        <p:spPr>
          <a:xfrm>
            <a:off x="6305550" y="1974685"/>
            <a:ext cx="514350" cy="123825"/>
          </a:xfrm>
          <a:prstGeom prst="rect">
            <a:avLst/>
          </a:prstGeom>
          <a:noFill/>
        </p:spPr>
        <p:txBody>
          <a:bodyPr wrap="none" lIns="0" rIns="0" tIns="0" bIns="0" anchor="ctr">
            <a:spAutoFit/>
          </a:bodyPr>
          <a:lstStyle/>
          <a:p>
            <a:pPr algn="r"/>
            <a:r>
              <a:rPr sz="900" b="1">
                <a:solidFill>
                  <a:srgbClr val="1E8E3E"/>
                </a:solidFill>
                <a:latin typeface="Segoe UI"/>
              </a:rPr>
              <a:t>+55</a:t>
            </a:r>
          </a:p>
        </p:txBody>
      </p:sp>
      <p:sp>
        <p:nvSpPr>
          <p:cNvPr id="22" name="FMI Legend Chip"/>
          <p:cNvSpPr/>
          <p:nvPr/>
        </p:nvSpPr>
        <p:spPr>
          <a:xfrm>
            <a:off x="4551045" y="2475037"/>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4712970" y="2470275"/>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4855845" y="2394075"/>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Balkan &amp; Baltics</a:t>
            </a:r>
          </a:p>
        </p:txBody>
      </p:sp>
      <p:sp>
        <p:nvSpPr>
          <p:cNvPr id="25" name="BPS Value 3"/>
          <p:cNvSpPr txBox="1"/>
          <p:nvPr/>
        </p:nvSpPr>
        <p:spPr>
          <a:xfrm>
            <a:off x="6305550" y="2455987"/>
            <a:ext cx="514350" cy="123825"/>
          </a:xfrm>
          <a:prstGeom prst="rect">
            <a:avLst/>
          </a:prstGeom>
          <a:noFill/>
        </p:spPr>
        <p:txBody>
          <a:bodyPr wrap="none" lIns="0" rIns="0" tIns="0" bIns="0" anchor="ctr">
            <a:spAutoFit/>
          </a:bodyPr>
          <a:lstStyle/>
          <a:p>
            <a:pPr algn="r"/>
            <a:r>
              <a:rPr sz="900" b="1">
                <a:solidFill>
                  <a:srgbClr val="1E8E3E"/>
                </a:solidFill>
                <a:latin typeface="Segoe UI"/>
              </a:rPr>
              <a:t>+125</a:t>
            </a:r>
          </a:p>
        </p:txBody>
      </p:sp>
      <p:sp>
        <p:nvSpPr>
          <p:cNvPr id="26" name="FMI Legend Chip"/>
          <p:cNvSpPr/>
          <p:nvPr/>
        </p:nvSpPr>
        <p:spPr>
          <a:xfrm>
            <a:off x="4551045" y="3238346"/>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4712970" y="323358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4855845" y="3157384"/>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Poland</a:t>
            </a:r>
          </a:p>
        </p:txBody>
      </p:sp>
      <p:sp>
        <p:nvSpPr>
          <p:cNvPr id="29" name="BPS Value 4"/>
          <p:cNvSpPr txBox="1"/>
          <p:nvPr/>
        </p:nvSpPr>
        <p:spPr>
          <a:xfrm>
            <a:off x="6305550" y="3219296"/>
            <a:ext cx="514350" cy="123825"/>
          </a:xfrm>
          <a:prstGeom prst="rect">
            <a:avLst/>
          </a:prstGeom>
          <a:noFill/>
        </p:spPr>
        <p:txBody>
          <a:bodyPr wrap="none" lIns="0" rIns="0" tIns="0" bIns="0" anchor="ctr">
            <a:spAutoFit/>
          </a:bodyPr>
          <a:lstStyle/>
          <a:p>
            <a:pPr algn="r"/>
            <a:r>
              <a:rPr sz="900" b="1">
                <a:solidFill>
                  <a:srgbClr val="1E8E3E"/>
                </a:solidFill>
                <a:latin typeface="Segoe UI"/>
              </a:rPr>
              <a:t>+174</a:t>
            </a:r>
          </a:p>
        </p:txBody>
      </p:sp>
      <p:sp>
        <p:nvSpPr>
          <p:cNvPr id="30" name="FMI Legend Chip"/>
          <p:cNvSpPr/>
          <p:nvPr/>
        </p:nvSpPr>
        <p:spPr>
          <a:xfrm>
            <a:off x="4551045" y="4421001"/>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rot="10800000">
            <a:off x="4712970" y="4416239"/>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4855845" y="4340039"/>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Russia</a:t>
            </a:r>
          </a:p>
        </p:txBody>
      </p:sp>
      <p:sp>
        <p:nvSpPr>
          <p:cNvPr id="33" name="BPS Value 5"/>
          <p:cNvSpPr txBox="1"/>
          <p:nvPr/>
        </p:nvSpPr>
        <p:spPr>
          <a:xfrm>
            <a:off x="6305550" y="4401951"/>
            <a:ext cx="514350" cy="123825"/>
          </a:xfrm>
          <a:prstGeom prst="rect">
            <a:avLst/>
          </a:prstGeom>
          <a:noFill/>
        </p:spPr>
        <p:txBody>
          <a:bodyPr wrap="none" lIns="0" rIns="0" tIns="0" bIns="0" anchor="ctr">
            <a:spAutoFit/>
          </a:bodyPr>
          <a:lstStyle/>
          <a:p>
            <a:pPr algn="r"/>
            <a:r>
              <a:rPr sz="900" b="1">
                <a:solidFill>
                  <a:srgbClr val="D64545"/>
                </a:solidFill>
                <a:latin typeface="Segoe UI"/>
              </a:rPr>
              <a:t>-366</a:t>
            </a:r>
          </a:p>
        </p:txBody>
      </p:sp>
      <p:sp>
        <p:nvSpPr>
          <p:cNvPr id="34" name="Rectangle 33"/>
          <p:cNvSpPr/>
          <p:nvPr/>
        </p:nvSpPr>
        <p:spPr>
          <a:xfrm>
            <a:off x="7105650" y="981075"/>
            <a:ext cx="4933950"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07BA5"/>
                </a:solidFill>
                <a:latin typeface="Segoe UI"/>
              </a:rPr>
              <a:t>Regional Highlights</a:t>
            </a:r>
          </a:p>
        </p:txBody>
      </p:sp>
      <p:sp>
        <p:nvSpPr>
          <p:cNvPr id="36" name="Rectangle 35"/>
          <p:cNvSpPr/>
          <p:nvPr/>
        </p:nvSpPr>
        <p:spPr>
          <a:xfrm>
            <a:off x="7239000" y="1304925"/>
            <a:ext cx="46672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Russia performance knitted fabrics market is projected to register 1.5X higher volume than Poland in 2036. Among performance knitted fabrics by country, Balkan &amp; Baltics is expected to witness the highest CAGR of 5.0% over the forecast period.</a:t>
            </a:r>
          </a:p>
          <a:p>
            <a:pPr algn="l">
              <a:lnSpc>
                <a:spcPct val="110000"/>
              </a:lnSpc>
              <a:spcBef>
                <a:spcPts val="0"/>
              </a:spcBef>
              <a:spcAft>
                <a:spcPts val="500"/>
              </a:spcAft>
            </a:pPr>
            <a:r>
              <a:rPr sz="1150" b="0">
                <a:solidFill>
                  <a:srgbClr val="252423"/>
                </a:solidFill>
                <a:latin typeface="Segoe UI"/>
              </a:rPr>
              <a:t>In terms of volume share by country, Russia is expected to dominate the market, losing 397 BPS and accounting for 42.6% share by 2036.</a:t>
            </a:r>
          </a:p>
        </p:txBody>
      </p:sp>
      <p:sp>
        <p:nvSpPr>
          <p:cNvPr id="38" name="Rounded Rectangle 37"/>
          <p:cNvSpPr/>
          <p:nvPr/>
        </p:nvSpPr>
        <p:spPr>
          <a:xfrm>
            <a:off x="142875" y="5648325"/>
            <a:ext cx="3943350"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TOTAL (MN SQ. YARDS)</a:t>
            </a:r>
          </a:p>
          <a:p>
            <a:pPr algn="ctr">
              <a:lnSpc>
                <a:spcPct val="95000"/>
              </a:lnSpc>
            </a:pPr>
            <a:r>
              <a:rPr sz="2000" b="1">
                <a:solidFill>
                  <a:srgbClr val="00A4DC"/>
                </a:solidFill>
                <a:latin typeface="Segoe UI"/>
              </a:rPr>
              <a:t>96.9</a:t>
            </a:r>
          </a:p>
        </p:txBody>
      </p:sp>
      <p:sp>
        <p:nvSpPr>
          <p:cNvPr id="39" name="Rounded Rectangle 38"/>
          <p:cNvSpPr/>
          <p:nvPr/>
        </p:nvSpPr>
        <p:spPr>
          <a:xfrm>
            <a:off x="4238625"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TOTAL (MN SQ. YARDS)</a:t>
            </a:r>
          </a:p>
          <a:p>
            <a:pPr algn="ctr">
              <a:lnSpc>
                <a:spcPct val="95000"/>
              </a:lnSpc>
            </a:pPr>
            <a:r>
              <a:rPr sz="2000" b="1">
                <a:solidFill>
                  <a:srgbClr val="00A4DC"/>
                </a:solidFill>
                <a:latin typeface="Segoe UI"/>
              </a:rPr>
              <a:t>145.4</a:t>
            </a:r>
          </a:p>
        </p:txBody>
      </p:sp>
      <p:sp>
        <p:nvSpPr>
          <p:cNvPr id="40" name="Rounded Rectangle 39"/>
          <p:cNvSpPr/>
          <p:nvPr/>
        </p:nvSpPr>
        <p:spPr>
          <a:xfrm>
            <a:off x="8210550"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2000" b="1">
                <a:solidFill>
                  <a:srgbClr val="00A4DC"/>
                </a:solidFill>
                <a:latin typeface="Segoe UI"/>
              </a:rPr>
              <a:t>4.1%</a:t>
            </a:r>
          </a:p>
        </p:txBody>
      </p:sp>
      <p:sp>
        <p:nvSpPr>
          <p:cNvPr id="41" name="TextBox 4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Eastern Europe Performance Knitted Fabrics Market Analysis, By Country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value share by country in 2026 and 2036, highlighting share gains and losses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Eastern Europe</a:t>
            </a:r>
          </a:p>
        </p:txBody>
      </p:sp>
      <p:sp>
        <p:nvSpPr>
          <p:cNvPr id="9" name="Rectangle 8"/>
          <p:cNvSpPr/>
          <p:nvPr/>
        </p:nvSpPr>
        <p:spPr>
          <a:xfrm>
            <a:off x="142875" y="981075"/>
            <a:ext cx="6810375"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Share and BPS Assessment By Country, 2026 &amp; 2036</a:t>
            </a:r>
          </a:p>
        </p:txBody>
      </p:sp>
      <p:graphicFrame>
        <p:nvGraphicFramePr>
          <p:cNvPr id="11" name="Chart 10"/>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2" name="TextBox 11"/>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0A4DC"/>
                </a:solidFill>
                <a:latin typeface="Segoe UI"/>
              </a:rPr>
              <a:t>BPS Δ  (2026→2036)</a:t>
            </a:r>
          </a:p>
        </p:txBody>
      </p:sp>
      <p:sp>
        <p:nvSpPr>
          <p:cNvPr id="13" name="FMI Lock Anchor"/>
          <p:cNvSpPr txBox="1"/>
          <p:nvPr/>
        </p:nvSpPr>
        <p:spPr>
          <a:xfrm>
            <a:off x="2489835" y="3352800"/>
            <a:ext cx="38100" cy="38100"/>
          </a:xfrm>
          <a:prstGeom prst="rect">
            <a:avLst/>
          </a:prstGeom>
          <a:noFill/>
        </p:spPr>
        <p:txBody>
          <a:bodyPr wrap="none">
            <a:spAutoFit/>
          </a:bodyPr>
          <a:lstStyle/>
          <a:p/>
        </p:txBody>
      </p:sp>
      <p:sp>
        <p:nvSpPr>
          <p:cNvPr id="14" name="FMI Legend Chip"/>
          <p:cNvSpPr/>
          <p:nvPr/>
        </p:nvSpPr>
        <p:spPr>
          <a:xfrm>
            <a:off x="4551045" y="1625149"/>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4712970" y="162038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4855845" y="1544186"/>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Rest of Eastern Europe</a:t>
            </a:r>
          </a:p>
        </p:txBody>
      </p:sp>
      <p:sp>
        <p:nvSpPr>
          <p:cNvPr id="17" name="BPS Value 1"/>
          <p:cNvSpPr txBox="1"/>
          <p:nvPr/>
        </p:nvSpPr>
        <p:spPr>
          <a:xfrm>
            <a:off x="6305550" y="1606099"/>
            <a:ext cx="514350" cy="123825"/>
          </a:xfrm>
          <a:prstGeom prst="rect">
            <a:avLst/>
          </a:prstGeom>
          <a:noFill/>
        </p:spPr>
        <p:txBody>
          <a:bodyPr wrap="none" lIns="0" rIns="0" tIns="0" bIns="0" anchor="ctr">
            <a:spAutoFit/>
          </a:bodyPr>
          <a:lstStyle/>
          <a:p>
            <a:pPr algn="r"/>
            <a:r>
              <a:rPr sz="900" b="1">
                <a:solidFill>
                  <a:srgbClr val="D64545"/>
                </a:solidFill>
                <a:latin typeface="Segoe UI"/>
              </a:rPr>
              <a:t>-1</a:t>
            </a:r>
          </a:p>
        </p:txBody>
      </p:sp>
      <p:sp>
        <p:nvSpPr>
          <p:cNvPr id="18" name="FMI Legend Chip"/>
          <p:cNvSpPr/>
          <p:nvPr/>
        </p:nvSpPr>
        <p:spPr>
          <a:xfrm>
            <a:off x="4551045" y="1992392"/>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4712970" y="198762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4855845" y="1911429"/>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Hungary</a:t>
            </a:r>
          </a:p>
        </p:txBody>
      </p:sp>
      <p:sp>
        <p:nvSpPr>
          <p:cNvPr id="21" name="BPS Value 2"/>
          <p:cNvSpPr txBox="1"/>
          <p:nvPr/>
        </p:nvSpPr>
        <p:spPr>
          <a:xfrm>
            <a:off x="6305550" y="1973342"/>
            <a:ext cx="514350" cy="123825"/>
          </a:xfrm>
          <a:prstGeom prst="rect">
            <a:avLst/>
          </a:prstGeom>
          <a:noFill/>
        </p:spPr>
        <p:txBody>
          <a:bodyPr wrap="none" lIns="0" rIns="0" tIns="0" bIns="0" anchor="ctr">
            <a:spAutoFit/>
          </a:bodyPr>
          <a:lstStyle/>
          <a:p>
            <a:pPr algn="r"/>
            <a:r>
              <a:rPr sz="900" b="1">
                <a:solidFill>
                  <a:srgbClr val="1E8E3E"/>
                </a:solidFill>
                <a:latin typeface="Segoe UI"/>
              </a:rPr>
              <a:t>+75</a:t>
            </a:r>
          </a:p>
        </p:txBody>
      </p:sp>
      <p:sp>
        <p:nvSpPr>
          <p:cNvPr id="22" name="FMI Legend Chip"/>
          <p:cNvSpPr/>
          <p:nvPr/>
        </p:nvSpPr>
        <p:spPr>
          <a:xfrm>
            <a:off x="4551045" y="2492001"/>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4712970" y="2487238"/>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4855845" y="2411038"/>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Balkan &amp; Baltics</a:t>
            </a:r>
          </a:p>
        </p:txBody>
      </p:sp>
      <p:sp>
        <p:nvSpPr>
          <p:cNvPr id="25" name="BPS Value 3"/>
          <p:cNvSpPr txBox="1"/>
          <p:nvPr/>
        </p:nvSpPr>
        <p:spPr>
          <a:xfrm>
            <a:off x="6305550" y="2472951"/>
            <a:ext cx="514350" cy="123825"/>
          </a:xfrm>
          <a:prstGeom prst="rect">
            <a:avLst/>
          </a:prstGeom>
          <a:noFill/>
        </p:spPr>
        <p:txBody>
          <a:bodyPr wrap="none" lIns="0" rIns="0" tIns="0" bIns="0" anchor="ctr">
            <a:spAutoFit/>
          </a:bodyPr>
          <a:lstStyle/>
          <a:p>
            <a:pPr algn="r"/>
            <a:r>
              <a:rPr sz="900" b="1">
                <a:solidFill>
                  <a:srgbClr val="1E8E3E"/>
                </a:solidFill>
                <a:latin typeface="Segoe UI"/>
              </a:rPr>
              <a:t>+161</a:t>
            </a:r>
          </a:p>
        </p:txBody>
      </p:sp>
      <p:sp>
        <p:nvSpPr>
          <p:cNvPr id="26" name="FMI Legend Chip"/>
          <p:cNvSpPr/>
          <p:nvPr/>
        </p:nvSpPr>
        <p:spPr>
          <a:xfrm>
            <a:off x="4551045" y="3297730"/>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4712970" y="3292967"/>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4855845" y="3216767"/>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Poland</a:t>
            </a:r>
          </a:p>
        </p:txBody>
      </p:sp>
      <p:sp>
        <p:nvSpPr>
          <p:cNvPr id="29" name="BPS Value 4"/>
          <p:cNvSpPr txBox="1"/>
          <p:nvPr/>
        </p:nvSpPr>
        <p:spPr>
          <a:xfrm>
            <a:off x="6305550" y="3278680"/>
            <a:ext cx="514350" cy="123825"/>
          </a:xfrm>
          <a:prstGeom prst="rect">
            <a:avLst/>
          </a:prstGeom>
          <a:noFill/>
        </p:spPr>
        <p:txBody>
          <a:bodyPr wrap="none" lIns="0" rIns="0" tIns="0" bIns="0" anchor="ctr">
            <a:spAutoFit/>
          </a:bodyPr>
          <a:lstStyle/>
          <a:p>
            <a:pPr algn="r"/>
            <a:r>
              <a:rPr sz="900" b="1">
                <a:solidFill>
                  <a:srgbClr val="1E8E3E"/>
                </a:solidFill>
                <a:latin typeface="Segoe UI"/>
              </a:rPr>
              <a:t>+224</a:t>
            </a:r>
          </a:p>
        </p:txBody>
      </p:sp>
      <p:sp>
        <p:nvSpPr>
          <p:cNvPr id="30" name="FMI Legend Chip"/>
          <p:cNvSpPr/>
          <p:nvPr/>
        </p:nvSpPr>
        <p:spPr>
          <a:xfrm>
            <a:off x="4551045" y="4468622"/>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rot="10800000">
            <a:off x="4712970" y="446386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4855845" y="4387660"/>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Russia</a:t>
            </a:r>
          </a:p>
        </p:txBody>
      </p:sp>
      <p:sp>
        <p:nvSpPr>
          <p:cNvPr id="33" name="BPS Value 5"/>
          <p:cNvSpPr txBox="1"/>
          <p:nvPr/>
        </p:nvSpPr>
        <p:spPr>
          <a:xfrm>
            <a:off x="6305550" y="4449572"/>
            <a:ext cx="514350" cy="123825"/>
          </a:xfrm>
          <a:prstGeom prst="rect">
            <a:avLst/>
          </a:prstGeom>
          <a:noFill/>
        </p:spPr>
        <p:txBody>
          <a:bodyPr wrap="none" lIns="0" rIns="0" tIns="0" bIns="0" anchor="ctr">
            <a:spAutoFit/>
          </a:bodyPr>
          <a:lstStyle/>
          <a:p>
            <a:pPr algn="r"/>
            <a:r>
              <a:rPr sz="900" b="1">
                <a:solidFill>
                  <a:srgbClr val="D64545"/>
                </a:solidFill>
                <a:latin typeface="Segoe UI"/>
              </a:rPr>
              <a:t>-459</a:t>
            </a:r>
          </a:p>
        </p:txBody>
      </p:sp>
      <p:sp>
        <p:nvSpPr>
          <p:cNvPr id="34" name="Rectangle 33"/>
          <p:cNvSpPr/>
          <p:nvPr/>
        </p:nvSpPr>
        <p:spPr>
          <a:xfrm>
            <a:off x="7105650" y="981075"/>
            <a:ext cx="4933950"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07BA5"/>
                </a:solidFill>
                <a:latin typeface="Segoe UI"/>
              </a:rPr>
              <a:t>Regional Highlights</a:t>
            </a:r>
          </a:p>
        </p:txBody>
      </p:sp>
      <p:sp>
        <p:nvSpPr>
          <p:cNvPr id="36" name="Rectangle 35"/>
          <p:cNvSpPr/>
          <p:nvPr/>
        </p:nvSpPr>
        <p:spPr>
          <a:xfrm>
            <a:off x="7239000" y="1304925"/>
            <a:ext cx="46672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Russia performance knitted fabrics market is projected to register 1.3X higher value than Poland in 2036. Among performance knitted fabrics by country, Balkan &amp; Baltics is expected to witness the highest CAGR of 6.9% over the forecast period.</a:t>
            </a:r>
          </a:p>
          <a:p>
            <a:pPr algn="l">
              <a:lnSpc>
                <a:spcPct val="110000"/>
              </a:lnSpc>
              <a:spcBef>
                <a:spcPts val="0"/>
              </a:spcBef>
              <a:spcAft>
                <a:spcPts val="500"/>
              </a:spcAft>
            </a:pPr>
            <a:r>
              <a:rPr sz="1150" b="0">
                <a:solidFill>
                  <a:srgbClr val="252423"/>
                </a:solidFill>
                <a:latin typeface="Segoe UI"/>
              </a:rPr>
              <a:t>In terms of value share by country, Russia is expected to dominate the market, losing 504 BPS and accounting for 39.5% share by 2036.</a:t>
            </a:r>
          </a:p>
        </p:txBody>
      </p:sp>
      <p:sp>
        <p:nvSpPr>
          <p:cNvPr id="38" name="Rounded Rectangle 37"/>
          <p:cNvSpPr/>
          <p:nvPr/>
        </p:nvSpPr>
        <p:spPr>
          <a:xfrm>
            <a:off x="142875" y="5648325"/>
            <a:ext cx="3943350"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TOTAL (US$ MN)</a:t>
            </a:r>
          </a:p>
          <a:p>
            <a:pPr algn="ctr">
              <a:lnSpc>
                <a:spcPct val="95000"/>
              </a:lnSpc>
            </a:pPr>
            <a:r>
              <a:rPr sz="2000" b="1">
                <a:solidFill>
                  <a:srgbClr val="00A4DC"/>
                </a:solidFill>
                <a:latin typeface="Segoe UI"/>
              </a:rPr>
              <a:t>284.5</a:t>
            </a:r>
          </a:p>
        </p:txBody>
      </p:sp>
      <p:sp>
        <p:nvSpPr>
          <p:cNvPr id="39" name="Rounded Rectangle 38"/>
          <p:cNvSpPr/>
          <p:nvPr/>
        </p:nvSpPr>
        <p:spPr>
          <a:xfrm>
            <a:off x="4238625"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TOTAL (US$ MN)</a:t>
            </a:r>
          </a:p>
          <a:p>
            <a:pPr algn="ctr">
              <a:lnSpc>
                <a:spcPct val="95000"/>
              </a:lnSpc>
            </a:pPr>
            <a:r>
              <a:rPr sz="2000" b="1">
                <a:solidFill>
                  <a:srgbClr val="00A4DC"/>
                </a:solidFill>
                <a:latin typeface="Segoe UI"/>
              </a:rPr>
              <a:t>499.0</a:t>
            </a:r>
          </a:p>
        </p:txBody>
      </p:sp>
      <p:sp>
        <p:nvSpPr>
          <p:cNvPr id="40" name="Rounded Rectangle 39"/>
          <p:cNvSpPr/>
          <p:nvPr/>
        </p:nvSpPr>
        <p:spPr>
          <a:xfrm>
            <a:off x="8210550"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2000" b="1">
                <a:solidFill>
                  <a:srgbClr val="00A4DC"/>
                </a:solidFill>
                <a:latin typeface="Segoe UI"/>
              </a:rPr>
              <a:t>5.8%</a:t>
            </a:r>
          </a:p>
        </p:txBody>
      </p:sp>
      <p:sp>
        <p:nvSpPr>
          <p:cNvPr id="41" name="TextBox 4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Eastern Europe Performance Knitted Fabrics Market Share Analysis, By Country Volume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volume and share by country, 2021–2036, highlighting the geographies gaining and ceding ground</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Eastern Europe</a:t>
            </a:r>
          </a:p>
        </p:txBody>
      </p:sp>
      <p:sp>
        <p:nvSpPr>
          <p:cNvPr id="9" name="Rectangle 8"/>
          <p:cNvSpPr/>
          <p:nvPr/>
        </p:nvSpPr>
        <p:spPr>
          <a:xfrm>
            <a:off x="142875" y="981075"/>
            <a:ext cx="11906250" cy="19812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Eastern Europe Market Size, By Country (Mn Sq. Yards)</a:t>
            </a:r>
          </a:p>
        </p:txBody>
      </p:sp>
      <p:graphicFrame>
        <p:nvGraphicFramePr>
          <p:cNvPr id="11" name="Table 10"/>
          <p:cNvGraphicFramePr>
            <a:graphicFrameLocks noGrp="1"/>
          </p:cNvGraphicFramePr>
          <p:nvPr/>
        </p:nvGraphicFramePr>
        <p:xfrm>
          <a:off x="152400" y="1238250"/>
          <a:ext cx="11887204" cy="1514475"/>
        </p:xfrm>
        <a:graphic>
          <a:graphicData uri="http://schemas.openxmlformats.org/drawingml/2006/table">
            <a:tbl>
              <a:tblPr>
                <a:tableStyleId>{5C22544A-7EE6-4342-B048-85BDC9FD1C3A}</a:tableStyleId>
              </a:tblPr>
              <a:tblGrid>
                <a:gridCol w="1833058"/>
                <a:gridCol w="603212"/>
                <a:gridCol w="603212"/>
                <a:gridCol w="603212"/>
                <a:gridCol w="603212"/>
                <a:gridCol w="603212"/>
                <a:gridCol w="575758"/>
                <a:gridCol w="575758"/>
                <a:gridCol w="575758"/>
                <a:gridCol w="575758"/>
                <a:gridCol w="575758"/>
                <a:gridCol w="575758"/>
                <a:gridCol w="575758"/>
                <a:gridCol w="575758"/>
                <a:gridCol w="575758"/>
                <a:gridCol w="575758"/>
                <a:gridCol w="575758"/>
                <a:gridCol w="704748"/>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r>
              <a:tr h="216535">
                <a:tc>
                  <a:txBody>
                    <a:bodyPr wrap="none"/>
                    <a:lstStyle/>
                    <a:p>
                      <a:pPr algn="l"/>
                      <a:r>
                        <a:rPr sz="1100" b="1">
                          <a:solidFill>
                            <a:srgbClr val="252423"/>
                          </a:solidFill>
                          <a:latin typeface="Segoe UI"/>
                        </a:rPr>
                        <a:t>Russia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35.3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36.3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37.4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38.5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39.7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41.0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42.3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43.6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45.1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46.6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48.1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49.7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51.3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53.0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54.6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56.2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3.2%</a:t>
                      </a:r>
                      <a:endParaRPr sz="1100"/>
                    </a:p>
                  </a:txBody>
                  <a:tcPr marL="47625" marR="38100" marT="19050" marB="19050" anchor="ctr">
                    <a:solidFill>
                      <a:srgbClr val="FFFFFF"/>
                    </a:solidFill>
                  </a:tcPr>
                </a:tc>
              </a:tr>
              <a:tr h="216535">
                <a:tc>
                  <a:txBody>
                    <a:bodyPr wrap="none"/>
                    <a:lstStyle/>
                    <a:p>
                      <a:pPr algn="l"/>
                      <a:r>
                        <a:rPr sz="1100" b="1">
                          <a:solidFill>
                            <a:srgbClr val="252423"/>
                          </a:solidFill>
                          <a:latin typeface="Segoe UI"/>
                        </a:rPr>
                        <a:t>Poland</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18.5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19.4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20.2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21.2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22.2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23.4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24.6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25.9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27.2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28.5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29.9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31.4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32.9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34.4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36.0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37.6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4.9%</a:t>
                      </a:r>
                      <a:endParaRPr sz="1100"/>
                    </a:p>
                  </a:txBody>
                  <a:tcPr marL="47625" marR="38100" marT="19050" marB="19050" anchor="ctr">
                    <a:solidFill>
                      <a:srgbClr val="F2FAFD"/>
                    </a:solidFill>
                  </a:tcPr>
                </a:tc>
              </a:tr>
              <a:tr h="216535">
                <a:tc>
                  <a:txBody>
                    <a:bodyPr wrap="none"/>
                    <a:lstStyle/>
                    <a:p>
                      <a:pPr algn="l"/>
                      <a:r>
                        <a:rPr sz="1100" b="1">
                          <a:solidFill>
                            <a:srgbClr val="252423"/>
                          </a:solidFill>
                          <a:latin typeface="Segoe UI"/>
                        </a:rPr>
                        <a:t>Hungary</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7.91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8.20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8.50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8.84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9.21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9.64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13.4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14.0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14.7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15.3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4.7%</a:t>
                      </a:r>
                      <a:endParaRPr sz="1100"/>
                    </a:p>
                  </a:txBody>
                  <a:tcPr marL="47625" marR="38100" marT="19050" marB="19050" anchor="ctr">
                    <a:solidFill>
                      <a:srgbClr val="FFFFFF"/>
                    </a:solidFill>
                  </a:tcPr>
                </a:tc>
              </a:tr>
              <a:tr h="216535">
                <a:tc>
                  <a:txBody>
                    <a:bodyPr wrap="none"/>
                    <a:lstStyle/>
                    <a:p>
                      <a:pPr algn="l"/>
                      <a:r>
                        <a:rPr sz="1100" b="1">
                          <a:solidFill>
                            <a:srgbClr val="252423"/>
                          </a:solidFill>
                          <a:latin typeface="Segoe UI"/>
                        </a:rPr>
                        <a:t>Balkan &amp; Baltics</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10.9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12.1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12.8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13.4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14.1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14.7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15.5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16.2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17.1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18.0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18.9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19.8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20.8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21.9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22.9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5.0%</a:t>
                      </a:r>
                      <a:endParaRPr sz="1100"/>
                    </a:p>
                  </a:txBody>
                  <a:tcPr marL="47625" marR="38100" marT="19050" marB="19050" anchor="ctr">
                    <a:solidFill>
                      <a:srgbClr val="F2FAFD"/>
                    </a:solidFill>
                  </a:tcPr>
                </a:tc>
              </a:tr>
              <a:tr h="216535">
                <a:tc>
                  <a:txBody>
                    <a:bodyPr wrap="none"/>
                    <a:lstStyle/>
                    <a:p>
                      <a:pPr algn="l"/>
                      <a:r>
                        <a:rPr sz="1100" b="1">
                          <a:solidFill>
                            <a:srgbClr val="252423"/>
                          </a:solidFill>
                          <a:latin typeface="Segoe UI"/>
                        </a:rPr>
                        <a:t>Rest of Eastern Europe</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6.98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7.34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7.71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8.08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8.46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8.85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9.23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9.62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13.5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4.3%</a:t>
                      </a:r>
                      <a:endParaRPr sz="1100"/>
                    </a:p>
                  </a:txBody>
                  <a:tcPr marL="47625" marR="38100" marT="19050" marB="19050" anchor="ctr">
                    <a:solidFill>
                      <a:srgbClr val="FFFFFF"/>
                    </a:solidFill>
                  </a:tcPr>
                </a:tc>
              </a:tr>
              <a:tr h="216535">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79.6</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82.7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86.0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89.4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93.0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96.9</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100.9</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105.2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109.7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114.4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119.2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124.2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129.4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134.7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140.1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145.4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4.1%</a:t>
                      </a:r>
                      <a:endParaRPr sz="1100"/>
                    </a:p>
                  </a:txBody>
                  <a:tcPr marL="47625" marR="38100" marT="19050" marB="19050" anchor="ctr">
                    <a:solidFill>
                      <a:srgbClr val="E0F2FA"/>
                    </a:solidFill>
                  </a:tcPr>
                </a:tc>
              </a:tr>
            </a:tbl>
          </a:graphicData>
        </a:graphic>
      </p:graphicFrame>
      <p:sp>
        <p:nvSpPr>
          <p:cNvPr id="12" name="TextBox 11"/>
          <p:cNvSpPr txBox="1"/>
          <p:nvPr/>
        </p:nvSpPr>
        <p:spPr>
          <a:xfrm>
            <a:off x="219075" y="276225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3" name="Rectangle 12"/>
          <p:cNvSpPr/>
          <p:nvPr/>
        </p:nvSpPr>
        <p:spPr>
          <a:xfrm>
            <a:off x="142875" y="3095625"/>
            <a:ext cx="11906250" cy="35337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181350"/>
            <a:ext cx="11639550" cy="209550"/>
          </a:xfrm>
          <a:prstGeom prst="rect">
            <a:avLst/>
          </a:prstGeom>
          <a:noFill/>
        </p:spPr>
        <p:txBody>
          <a:bodyPr wrap="square" lIns="0" rIns="19050" tIns="9525" bIns="9525">
            <a:spAutoFit/>
          </a:bodyPr>
          <a:lstStyle/>
          <a:p>
            <a:pPr algn="l"/>
            <a:r>
              <a:rPr sz="1300" b="1">
                <a:solidFill>
                  <a:srgbClr val="007BA5"/>
                </a:solidFill>
                <a:latin typeface="Segoe UI"/>
              </a:rPr>
              <a:t>Eastern Europe Volume Share Read-out, By Country</a:t>
            </a:r>
          </a:p>
        </p:txBody>
      </p:sp>
      <p:sp>
        <p:nvSpPr>
          <p:cNvPr id="15" name="Rectangle 14"/>
          <p:cNvSpPr/>
          <p:nvPr/>
        </p:nvSpPr>
        <p:spPr>
          <a:xfrm>
            <a:off x="276225" y="341947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505200"/>
            <a:ext cx="11639550" cy="30480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Russia performance knitted fabrics market is projected to register 1.5X higher volume than Poland in 2036. Among performance knitted fabrics by country, Balkan &amp; Baltics is expected to witness the highest CAGR of 5.0% over the forecast period.</a:t>
            </a:r>
          </a:p>
          <a:p>
            <a:pPr algn="l">
              <a:lnSpc>
                <a:spcPct val="110000"/>
              </a:lnSpc>
              <a:spcBef>
                <a:spcPts val="0"/>
              </a:spcBef>
              <a:spcAft>
                <a:spcPts val="500"/>
              </a:spcAft>
            </a:pPr>
            <a:r>
              <a:rPr sz="1150" b="0">
                <a:solidFill>
                  <a:srgbClr val="252423"/>
                </a:solidFill>
                <a:latin typeface="Segoe UI"/>
              </a:rPr>
              <a:t>In terms of volume share by country, Russia is expected to dominate the market, losing 397 BPS and accounting for 42.6% share by 2036.</a:t>
            </a:r>
          </a:p>
        </p:txBody>
      </p:sp>
      <p:sp>
        <p:nvSpPr>
          <p:cNvPr id="17" name="TextBox 1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Eastern Europe Performance Knitted Fabrics Market Share Analysis, By Country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and share by country, 2021–2036, highlighting the geographies gaining and ceding ground</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Eastern Europe</a:t>
            </a:r>
          </a:p>
        </p:txBody>
      </p:sp>
      <p:sp>
        <p:nvSpPr>
          <p:cNvPr id="9" name="Rectangle 8"/>
          <p:cNvSpPr/>
          <p:nvPr/>
        </p:nvSpPr>
        <p:spPr>
          <a:xfrm>
            <a:off x="142875" y="981075"/>
            <a:ext cx="11906250" cy="19812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Eastern Europe Market Size, By Country (US$ Mn)</a:t>
            </a:r>
          </a:p>
        </p:txBody>
      </p:sp>
      <p:graphicFrame>
        <p:nvGraphicFramePr>
          <p:cNvPr id="11" name="Table 10"/>
          <p:cNvGraphicFramePr>
            <a:graphicFrameLocks noGrp="1"/>
          </p:cNvGraphicFramePr>
          <p:nvPr/>
        </p:nvGraphicFramePr>
        <p:xfrm>
          <a:off x="152400" y="1238250"/>
          <a:ext cx="11887204" cy="1514475"/>
        </p:xfrm>
        <a:graphic>
          <a:graphicData uri="http://schemas.openxmlformats.org/drawingml/2006/table">
            <a:tbl>
              <a:tblPr>
                <a:tableStyleId>{5C22544A-7EE6-4342-B048-85BDC9FD1C3A}</a:tableStyleId>
              </a:tblPr>
              <a:tblGrid>
                <a:gridCol w="1833058"/>
                <a:gridCol w="603212"/>
                <a:gridCol w="603212"/>
                <a:gridCol w="603212"/>
                <a:gridCol w="603212"/>
                <a:gridCol w="603212"/>
                <a:gridCol w="575758"/>
                <a:gridCol w="575758"/>
                <a:gridCol w="575758"/>
                <a:gridCol w="575758"/>
                <a:gridCol w="575758"/>
                <a:gridCol w="575758"/>
                <a:gridCol w="575758"/>
                <a:gridCol w="575758"/>
                <a:gridCol w="575758"/>
                <a:gridCol w="575758"/>
                <a:gridCol w="575758"/>
                <a:gridCol w="704748"/>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r>
              <a:tr h="216535">
                <a:tc>
                  <a:txBody>
                    <a:bodyPr wrap="none"/>
                    <a:lstStyle/>
                    <a:p>
                      <a:pPr algn="l"/>
                      <a:r>
                        <a:rPr sz="1100" b="1">
                          <a:solidFill>
                            <a:srgbClr val="252423"/>
                          </a:solidFill>
                          <a:latin typeface="Segoe UI"/>
                        </a:rPr>
                        <a:t>Russia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96.4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99.8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103.3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107.0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111.0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115.5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120.4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125.7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131.3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137.3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143.5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150.2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157.1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164.4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171.9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179.8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4.5%</a:t>
                      </a:r>
                      <a:endParaRPr sz="1100"/>
                    </a:p>
                  </a:txBody>
                  <a:tcPr marL="47625" marR="38100" marT="19050" marB="19050" anchor="ctr">
                    <a:solidFill>
                      <a:srgbClr val="FFFFFF"/>
                    </a:solidFill>
                  </a:tcPr>
                </a:tc>
              </a:tr>
              <a:tr h="216535">
                <a:tc>
                  <a:txBody>
                    <a:bodyPr wrap="none"/>
                    <a:lstStyle/>
                    <a:p>
                      <a:pPr algn="l"/>
                      <a:r>
                        <a:rPr sz="1100" b="1">
                          <a:solidFill>
                            <a:srgbClr val="252423"/>
                          </a:solidFill>
                          <a:latin typeface="Segoe UI"/>
                        </a:rPr>
                        <a:t>Poland</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55.5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58.4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61.4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64.8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68.5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72.8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77.6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82.7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88.1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93.9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100.1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106.9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114.2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122.0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130.2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138.9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6.7%</a:t>
                      </a:r>
                      <a:endParaRPr sz="1100"/>
                    </a:p>
                  </a:txBody>
                  <a:tcPr marL="47625" marR="38100" marT="19050" marB="19050" anchor="ctr">
                    <a:solidFill>
                      <a:srgbClr val="F2FAFD"/>
                    </a:solidFill>
                  </a:tcPr>
                </a:tc>
              </a:tr>
              <a:tr h="216535">
                <a:tc>
                  <a:txBody>
                    <a:bodyPr wrap="none"/>
                    <a:lstStyle/>
                    <a:p>
                      <a:pPr algn="l"/>
                      <a:r>
                        <a:rPr sz="1100" b="1">
                          <a:solidFill>
                            <a:srgbClr val="252423"/>
                          </a:solidFill>
                          <a:latin typeface="Segoe UI"/>
                        </a:rPr>
                        <a:t>Hungary</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23.5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24.5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25.5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26.7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28.0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29.6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31.4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33.4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35.6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37.9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40.3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43.0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45.8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48.9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52.2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55.6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6.5%</a:t>
                      </a:r>
                      <a:endParaRPr sz="1100"/>
                    </a:p>
                  </a:txBody>
                  <a:tcPr marL="47625" marR="38100" marT="19050" marB="19050" anchor="ctr">
                    <a:solidFill>
                      <a:srgbClr val="FFFFFF"/>
                    </a:solidFill>
                  </a:tcPr>
                </a:tc>
              </a:tr>
              <a:tr h="216535">
                <a:tc>
                  <a:txBody>
                    <a:bodyPr wrap="none"/>
                    <a:lstStyle/>
                    <a:p>
                      <a:pPr algn="l"/>
                      <a:r>
                        <a:rPr sz="1100" b="1">
                          <a:solidFill>
                            <a:srgbClr val="252423"/>
                          </a:solidFill>
                          <a:latin typeface="Segoe UI"/>
                        </a:rPr>
                        <a:t>Balkan &amp; Baltics</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30.9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32.8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34.8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36.9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39.0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41.3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43.8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46.5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49.6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53.0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56.7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60.7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65.1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69.9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75.0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80.4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6.9%</a:t>
                      </a:r>
                      <a:endParaRPr sz="1100"/>
                    </a:p>
                  </a:txBody>
                  <a:tcPr marL="47625" marR="38100" marT="19050" marB="19050" anchor="ctr">
                    <a:solidFill>
                      <a:srgbClr val="F2FAFD"/>
                    </a:solidFill>
                  </a:tcPr>
                </a:tc>
              </a:tr>
              <a:tr h="216535">
                <a:tc>
                  <a:txBody>
                    <a:bodyPr wrap="none"/>
                    <a:lstStyle/>
                    <a:p>
                      <a:pPr algn="l"/>
                      <a:r>
                        <a:rPr sz="1100" b="1">
                          <a:solidFill>
                            <a:srgbClr val="252423"/>
                          </a:solidFill>
                          <a:latin typeface="Segoe UI"/>
                        </a:rPr>
                        <a:t>Rest of Eastern Europe</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19.4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20.5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21.6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22.8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24.0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25.3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26.7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28.2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29.7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31.4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33.3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35.3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37.4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39.6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41.9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44.4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5.8%</a:t>
                      </a:r>
                      <a:endParaRPr sz="1100"/>
                    </a:p>
                  </a:txBody>
                  <a:tcPr marL="47625" marR="38100" marT="19050" marB="19050" anchor="ctr">
                    <a:solidFill>
                      <a:srgbClr val="FFFFFF"/>
                    </a:solidFill>
                  </a:tcPr>
                </a:tc>
              </a:tr>
              <a:tr h="216535">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225.8</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236.0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246.7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258.2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270.4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284.5</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299.9</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316.4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334.3</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353.4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374.0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396.1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419.7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444.7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471.2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499.0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5.8%</a:t>
                      </a:r>
                      <a:endParaRPr sz="1100"/>
                    </a:p>
                  </a:txBody>
                  <a:tcPr marL="47625" marR="38100" marT="19050" marB="19050" anchor="ctr">
                    <a:solidFill>
                      <a:srgbClr val="E0F2FA"/>
                    </a:solidFill>
                  </a:tcPr>
                </a:tc>
              </a:tr>
            </a:tbl>
          </a:graphicData>
        </a:graphic>
      </p:graphicFrame>
      <p:sp>
        <p:nvSpPr>
          <p:cNvPr id="12" name="TextBox 11"/>
          <p:cNvSpPr txBox="1"/>
          <p:nvPr/>
        </p:nvSpPr>
        <p:spPr>
          <a:xfrm>
            <a:off x="219075" y="276225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3" name="Rectangle 12"/>
          <p:cNvSpPr/>
          <p:nvPr/>
        </p:nvSpPr>
        <p:spPr>
          <a:xfrm>
            <a:off x="142875" y="3095625"/>
            <a:ext cx="11906250" cy="35337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181350"/>
            <a:ext cx="11639550" cy="209550"/>
          </a:xfrm>
          <a:prstGeom prst="rect">
            <a:avLst/>
          </a:prstGeom>
          <a:noFill/>
        </p:spPr>
        <p:txBody>
          <a:bodyPr wrap="square" lIns="0" rIns="19050" tIns="9525" bIns="9525">
            <a:spAutoFit/>
          </a:bodyPr>
          <a:lstStyle/>
          <a:p>
            <a:pPr algn="l"/>
            <a:r>
              <a:rPr sz="1300" b="1">
                <a:solidFill>
                  <a:srgbClr val="007BA5"/>
                </a:solidFill>
                <a:latin typeface="Segoe UI"/>
              </a:rPr>
              <a:t>Eastern Europe Value Share Read-out, By Country</a:t>
            </a:r>
          </a:p>
        </p:txBody>
      </p:sp>
      <p:sp>
        <p:nvSpPr>
          <p:cNvPr id="15" name="Rectangle 14"/>
          <p:cNvSpPr/>
          <p:nvPr/>
        </p:nvSpPr>
        <p:spPr>
          <a:xfrm>
            <a:off x="276225" y="341947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505200"/>
            <a:ext cx="11639550" cy="30480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Russia performance knitted fabrics market is projected to register 1.3X higher value than Poland in 2036. Among performance knitted fabrics by country, Balkan &amp; Baltics is expected to witness the highest CAGR of 6.9% over the forecast period.</a:t>
            </a:r>
          </a:p>
          <a:p>
            <a:pPr algn="l">
              <a:lnSpc>
                <a:spcPct val="110000"/>
              </a:lnSpc>
              <a:spcBef>
                <a:spcPts val="0"/>
              </a:spcBef>
              <a:spcAft>
                <a:spcPts val="500"/>
              </a:spcAft>
            </a:pPr>
            <a:r>
              <a:rPr sz="1150" b="0">
                <a:solidFill>
                  <a:srgbClr val="252423"/>
                </a:solidFill>
                <a:latin typeface="Segoe UI"/>
              </a:rPr>
              <a:t>In terms of value share by country, Russia is expected to dominate the market, losing 504 BPS and accounting for 39.5% share by 2036.</a:t>
            </a:r>
          </a:p>
        </p:txBody>
      </p:sp>
      <p:sp>
        <p:nvSpPr>
          <p:cNvPr id="17" name="TextBox 1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Eastern Europe Performance Knitted Fabrics Market Trends, By Country</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how country volume and value shares shift over 2021–2036, highlighting who gains ground</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Eastern Europe</a:t>
            </a:r>
          </a:p>
        </p:txBody>
      </p:sp>
      <p:sp>
        <p:nvSpPr>
          <p:cNvPr id="9" name="Rectangle 8"/>
          <p:cNvSpPr/>
          <p:nvPr/>
        </p:nvSpPr>
        <p:spPr>
          <a:xfrm>
            <a:off x="142875" y="981075"/>
            <a:ext cx="11906250"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Eastern Europe Volume By Country (Mn Sq. Yards)</a:t>
            </a:r>
          </a:p>
        </p:txBody>
      </p:sp>
      <p:graphicFrame>
        <p:nvGraphicFramePr>
          <p:cNvPr id="11" name="Chart 10"/>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r:id="rId3"/>
          </a:graphicData>
        </a:graphic>
      </p:graphicFrame>
      <p:sp>
        <p:nvSpPr>
          <p:cNvPr id="12" name="Rectangle 11"/>
          <p:cNvSpPr/>
          <p:nvPr/>
        </p:nvSpPr>
        <p:spPr>
          <a:xfrm>
            <a:off x="9763125" y="1304925"/>
            <a:ext cx="2190750" cy="2333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MI Dense Legend"/>
          <p:cNvSpPr txBox="1"/>
          <p:nvPr/>
        </p:nvSpPr>
        <p:spPr>
          <a:xfrm>
            <a:off x="9839325" y="1362075"/>
            <a:ext cx="2057400" cy="171450"/>
          </a:xfrm>
          <a:prstGeom prst="rect">
            <a:avLst/>
          </a:prstGeom>
          <a:noFill/>
        </p:spPr>
        <p:txBody>
          <a:bodyPr wrap="none">
            <a:spAutoFit/>
          </a:bodyPr>
          <a:lstStyle/>
          <a:p>
            <a:r>
              <a:rPr sz="850" b="1">
                <a:solidFill>
                  <a:srgbClr val="605E5C"/>
                </a:solidFill>
                <a:latin typeface="Segoe UI"/>
              </a:rPr>
              <a:t>By segment</a:t>
            </a:r>
          </a:p>
        </p:txBody>
      </p:sp>
      <p:sp>
        <p:nvSpPr>
          <p:cNvPr id="14" name="FMI Dense Legend"/>
          <p:cNvSpPr txBox="1"/>
          <p:nvPr/>
        </p:nvSpPr>
        <p:spPr>
          <a:xfrm>
            <a:off x="9839325" y="1533525"/>
            <a:ext cx="2057400" cy="2047875"/>
          </a:xfrm>
          <a:prstGeom prst="rect">
            <a:avLst/>
          </a:prstGeom>
          <a:noFill/>
        </p:spPr>
        <p:txBody>
          <a:bodyPr wrap="square">
            <a:spAutoFit/>
          </a:bodyPr>
          <a:lstStyle/>
          <a:p>
            <a:pPr>
              <a:spcBef>
                <a:spcPts val="500"/>
              </a:spcBef>
            </a:pPr>
            <a:r>
              <a:rPr sz="900">
                <a:solidFill>
                  <a:srgbClr val="00A4DC"/>
                </a:solidFill>
                <a:latin typeface="Segoe UI"/>
              </a:rPr>
              <a:t>■  </a:t>
            </a:r>
            <a:r>
              <a:rPr sz="750">
                <a:solidFill>
                  <a:srgbClr val="252423"/>
                </a:solidFill>
                <a:latin typeface="Segoe UI"/>
              </a:rPr>
              <a:t>   Russia</a:t>
            </a:r>
          </a:p>
          <a:p>
            <a:pPr>
              <a:spcBef>
                <a:spcPts val="500"/>
              </a:spcBef>
            </a:pPr>
            <a:r>
              <a:rPr sz="900">
                <a:solidFill>
                  <a:srgbClr val="6ECFF2"/>
                </a:solidFill>
                <a:latin typeface="Segoe UI"/>
              </a:rPr>
              <a:t>■  </a:t>
            </a:r>
            <a:r>
              <a:rPr sz="750">
                <a:solidFill>
                  <a:srgbClr val="252423"/>
                </a:solidFill>
                <a:latin typeface="Segoe UI"/>
              </a:rPr>
              <a:t>   Poland</a:t>
            </a:r>
          </a:p>
          <a:p>
            <a:pPr>
              <a:spcBef>
                <a:spcPts val="500"/>
              </a:spcBef>
            </a:pPr>
            <a:r>
              <a:rPr sz="900">
                <a:solidFill>
                  <a:srgbClr val="D6CAC4"/>
                </a:solidFill>
                <a:latin typeface="Segoe UI"/>
              </a:rPr>
              <a:t>■  </a:t>
            </a:r>
            <a:r>
              <a:rPr sz="750">
                <a:solidFill>
                  <a:srgbClr val="252423"/>
                </a:solidFill>
                <a:latin typeface="Segoe UI"/>
              </a:rPr>
              <a:t>   Balkan &amp; Baltics</a:t>
            </a:r>
          </a:p>
          <a:p>
            <a:pPr>
              <a:spcBef>
                <a:spcPts val="500"/>
              </a:spcBef>
            </a:pPr>
            <a:r>
              <a:rPr sz="900">
                <a:solidFill>
                  <a:srgbClr val="EBC46B"/>
                </a:solidFill>
                <a:latin typeface="Segoe UI"/>
              </a:rPr>
              <a:t>■  </a:t>
            </a:r>
            <a:r>
              <a:rPr sz="750">
                <a:solidFill>
                  <a:srgbClr val="252423"/>
                </a:solidFill>
                <a:latin typeface="Segoe UI"/>
              </a:rPr>
              <a:t>   Hungary</a:t>
            </a:r>
          </a:p>
          <a:p>
            <a:pPr>
              <a:spcBef>
                <a:spcPts val="500"/>
              </a:spcBef>
            </a:pPr>
            <a:r>
              <a:rPr sz="900">
                <a:solidFill>
                  <a:srgbClr val="EDA28B"/>
                </a:solidFill>
                <a:latin typeface="Segoe UI"/>
              </a:rPr>
              <a:t>■  </a:t>
            </a:r>
            <a:r>
              <a:rPr sz="750">
                <a:solidFill>
                  <a:srgbClr val="252423"/>
                </a:solidFill>
                <a:latin typeface="Segoe UI"/>
              </a:rPr>
              <a:t>   Rest of Eastern Europe</a:t>
            </a:r>
          </a:p>
        </p:txBody>
      </p:sp>
      <p:sp>
        <p:nvSpPr>
          <p:cNvPr id="15" name="Rectangle 14"/>
          <p:cNvSpPr/>
          <p:nvPr/>
        </p:nvSpPr>
        <p:spPr>
          <a:xfrm>
            <a:off x="142875" y="3867150"/>
            <a:ext cx="11906250"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Eastern Europe Value By Country (US$ Mn)</a:t>
            </a:r>
          </a:p>
        </p:txBody>
      </p:sp>
      <p:graphicFrame>
        <p:nvGraphicFramePr>
          <p:cNvPr id="17" name="Chart 16"/>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r:id="rId4"/>
          </a:graphicData>
        </a:graphic>
      </p:graphicFrame>
      <p:sp>
        <p:nvSpPr>
          <p:cNvPr id="18" name="Rectangle 17"/>
          <p:cNvSpPr/>
          <p:nvPr/>
        </p:nvSpPr>
        <p:spPr>
          <a:xfrm>
            <a:off x="9763125" y="4191000"/>
            <a:ext cx="2190750" cy="2333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MI Dense Legend"/>
          <p:cNvSpPr txBox="1"/>
          <p:nvPr/>
        </p:nvSpPr>
        <p:spPr>
          <a:xfrm>
            <a:off x="9839325" y="4248150"/>
            <a:ext cx="2057400" cy="171450"/>
          </a:xfrm>
          <a:prstGeom prst="rect">
            <a:avLst/>
          </a:prstGeom>
          <a:noFill/>
        </p:spPr>
        <p:txBody>
          <a:bodyPr wrap="none">
            <a:spAutoFit/>
          </a:bodyPr>
          <a:lstStyle/>
          <a:p>
            <a:r>
              <a:rPr sz="850" b="1">
                <a:solidFill>
                  <a:srgbClr val="605E5C"/>
                </a:solidFill>
                <a:latin typeface="Segoe UI"/>
              </a:rPr>
              <a:t>By segment</a:t>
            </a:r>
          </a:p>
        </p:txBody>
      </p:sp>
      <p:sp>
        <p:nvSpPr>
          <p:cNvPr id="20" name="FMI Dense Legend"/>
          <p:cNvSpPr txBox="1"/>
          <p:nvPr/>
        </p:nvSpPr>
        <p:spPr>
          <a:xfrm>
            <a:off x="9839325" y="4419600"/>
            <a:ext cx="2057400" cy="2047875"/>
          </a:xfrm>
          <a:prstGeom prst="rect">
            <a:avLst/>
          </a:prstGeom>
          <a:noFill/>
        </p:spPr>
        <p:txBody>
          <a:bodyPr wrap="square">
            <a:spAutoFit/>
          </a:bodyPr>
          <a:lstStyle/>
          <a:p>
            <a:pPr>
              <a:spcBef>
                <a:spcPts val="500"/>
              </a:spcBef>
            </a:pPr>
            <a:r>
              <a:rPr sz="900">
                <a:solidFill>
                  <a:srgbClr val="00A4DC"/>
                </a:solidFill>
                <a:latin typeface="Segoe UI"/>
              </a:rPr>
              <a:t>■  </a:t>
            </a:r>
            <a:r>
              <a:rPr sz="750">
                <a:solidFill>
                  <a:srgbClr val="252423"/>
                </a:solidFill>
                <a:latin typeface="Segoe UI"/>
              </a:rPr>
              <a:t>   Russia</a:t>
            </a:r>
          </a:p>
          <a:p>
            <a:pPr>
              <a:spcBef>
                <a:spcPts val="500"/>
              </a:spcBef>
            </a:pPr>
            <a:r>
              <a:rPr sz="900">
                <a:solidFill>
                  <a:srgbClr val="6ECFF2"/>
                </a:solidFill>
                <a:latin typeface="Segoe UI"/>
              </a:rPr>
              <a:t>■  </a:t>
            </a:r>
            <a:r>
              <a:rPr sz="750">
                <a:solidFill>
                  <a:srgbClr val="252423"/>
                </a:solidFill>
                <a:latin typeface="Segoe UI"/>
              </a:rPr>
              <a:t>   Poland</a:t>
            </a:r>
          </a:p>
          <a:p>
            <a:pPr>
              <a:spcBef>
                <a:spcPts val="500"/>
              </a:spcBef>
            </a:pPr>
            <a:r>
              <a:rPr sz="900">
                <a:solidFill>
                  <a:srgbClr val="D6CAC4"/>
                </a:solidFill>
                <a:latin typeface="Segoe UI"/>
              </a:rPr>
              <a:t>■  </a:t>
            </a:r>
            <a:r>
              <a:rPr sz="750">
                <a:solidFill>
                  <a:srgbClr val="252423"/>
                </a:solidFill>
                <a:latin typeface="Segoe UI"/>
              </a:rPr>
              <a:t>   Balkan &amp; Baltics</a:t>
            </a:r>
          </a:p>
          <a:p>
            <a:pPr>
              <a:spcBef>
                <a:spcPts val="500"/>
              </a:spcBef>
            </a:pPr>
            <a:r>
              <a:rPr sz="900">
                <a:solidFill>
                  <a:srgbClr val="EBC46B"/>
                </a:solidFill>
                <a:latin typeface="Segoe UI"/>
              </a:rPr>
              <a:t>■  </a:t>
            </a:r>
            <a:r>
              <a:rPr sz="750">
                <a:solidFill>
                  <a:srgbClr val="252423"/>
                </a:solidFill>
                <a:latin typeface="Segoe UI"/>
              </a:rPr>
              <a:t>   Hungary</a:t>
            </a:r>
          </a:p>
          <a:p>
            <a:pPr>
              <a:spcBef>
                <a:spcPts val="500"/>
              </a:spcBef>
            </a:pPr>
            <a:r>
              <a:rPr sz="900">
                <a:solidFill>
                  <a:srgbClr val="EDA28B"/>
                </a:solidFill>
                <a:latin typeface="Segoe UI"/>
              </a:rPr>
              <a:t>■  </a:t>
            </a:r>
            <a:r>
              <a:rPr sz="750">
                <a:solidFill>
                  <a:srgbClr val="252423"/>
                </a:solidFill>
                <a:latin typeface="Segoe UI"/>
              </a:rPr>
              <a:t>   Rest of Eastern Europe</a:t>
            </a:r>
          </a:p>
        </p:txBody>
      </p:sp>
      <p:sp>
        <p:nvSpPr>
          <p:cNvPr id="21" name="TextBox 2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Eastern Europe Performance Knitted Fabrics Market Top 4 Countries (2036)</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hierarchy of the Eastern Europe market in 2036, highlighting the leading countries within each region by value</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Eastern Europe</a:t>
            </a:r>
          </a:p>
        </p:txBody>
      </p:sp>
      <p:sp>
        <p:nvSpPr>
          <p:cNvPr id="9" name="Rectangle 8"/>
          <p:cNvSpPr/>
          <p:nvPr/>
        </p:nvSpPr>
        <p:spPr>
          <a:xfrm>
            <a:off x="142875" y="981075"/>
            <a:ext cx="1190625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Eastern Europe market by country  ·  2036 (US$ Mn)  ·  tile size = market value</a:t>
            </a:r>
          </a:p>
        </p:txBody>
      </p:sp>
      <p:sp>
        <p:nvSpPr>
          <p:cNvPr id="11" name="Rectangle 10"/>
          <p:cNvSpPr/>
          <p:nvPr/>
        </p:nvSpPr>
        <p:spPr>
          <a:xfrm>
            <a:off x="238125" y="1266825"/>
            <a:ext cx="4632925" cy="5305425"/>
          </a:xfrm>
          <a:prstGeom prst="rect">
            <a:avLst/>
          </a:prstGeom>
          <a:solidFill>
            <a:srgbClr val="00A4D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Russia</a:t>
            </a:r>
          </a:p>
          <a:p>
            <a:pPr algn="ctr"/>
            <a:r>
              <a:rPr sz="1100" b="0">
                <a:solidFill>
                  <a:srgbClr val="FFFFFF"/>
                </a:solidFill>
                <a:latin typeface="Segoe UI"/>
              </a:rPr>
              <a:t>180</a:t>
            </a:r>
          </a:p>
        </p:txBody>
      </p:sp>
      <p:sp>
        <p:nvSpPr>
          <p:cNvPr id="12" name="Rectangle 11"/>
          <p:cNvSpPr/>
          <p:nvPr/>
        </p:nvSpPr>
        <p:spPr>
          <a:xfrm>
            <a:off x="4871050" y="1266825"/>
            <a:ext cx="3578911" cy="5305425"/>
          </a:xfrm>
          <a:prstGeom prst="rect">
            <a:avLst/>
          </a:prstGeom>
          <a:solidFill>
            <a:srgbClr val="6ECFF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Poland</a:t>
            </a:r>
          </a:p>
          <a:p>
            <a:pPr algn="ctr"/>
            <a:r>
              <a:rPr sz="1100" b="0">
                <a:solidFill>
                  <a:srgbClr val="252423"/>
                </a:solidFill>
                <a:latin typeface="Segoe UI"/>
              </a:rPr>
              <a:t>139</a:t>
            </a:r>
          </a:p>
        </p:txBody>
      </p:sp>
      <p:sp>
        <p:nvSpPr>
          <p:cNvPr id="13" name="Rectangle 12"/>
          <p:cNvSpPr/>
          <p:nvPr/>
        </p:nvSpPr>
        <p:spPr>
          <a:xfrm>
            <a:off x="8449962" y="1266825"/>
            <a:ext cx="3503913" cy="3137184"/>
          </a:xfrm>
          <a:prstGeom prst="rect">
            <a:avLst/>
          </a:prstGeom>
          <a:solidFill>
            <a:srgbClr val="D6CA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Balkan &amp; Baltics</a:t>
            </a:r>
          </a:p>
          <a:p>
            <a:pPr algn="ctr"/>
            <a:r>
              <a:rPr sz="1100" b="0">
                <a:solidFill>
                  <a:srgbClr val="252423"/>
                </a:solidFill>
                <a:latin typeface="Segoe UI"/>
              </a:rPr>
              <a:t>80.4</a:t>
            </a:r>
          </a:p>
        </p:txBody>
      </p:sp>
      <p:sp>
        <p:nvSpPr>
          <p:cNvPr id="14" name="Rectangle 13"/>
          <p:cNvSpPr/>
          <p:nvPr/>
        </p:nvSpPr>
        <p:spPr>
          <a:xfrm>
            <a:off x="8449962" y="4404009"/>
            <a:ext cx="3503913" cy="2168241"/>
          </a:xfrm>
          <a:prstGeom prst="rect">
            <a:avLst/>
          </a:prstGeom>
          <a:solidFill>
            <a:srgbClr val="EBC4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Hungary</a:t>
            </a:r>
          </a:p>
          <a:p>
            <a:pPr algn="ctr"/>
            <a:r>
              <a:rPr sz="1100" b="0">
                <a:solidFill>
                  <a:srgbClr val="252423"/>
                </a:solidFill>
                <a:latin typeface="Segoe UI"/>
              </a:rPr>
              <a:t>55.6</a:t>
            </a:r>
          </a:p>
        </p:txBody>
      </p:sp>
      <p:sp>
        <p:nvSpPr>
          <p:cNvPr id="15" name="TextBox 1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Fabric Construction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2 sub-segments of Fabric Construction,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Eastern Europe</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Fabric Construction segment categorizes the market by fabric construction.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4943475"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4943475"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Weft Knitted Fabrics</a:t>
            </a:r>
          </a:p>
        </p:txBody>
      </p:sp>
      <p:sp>
        <p:nvSpPr>
          <p:cNvPr id="21" name="Rectangle 20"/>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185.3</a:t>
            </a:r>
          </a:p>
        </p:txBody>
      </p:sp>
      <p:sp>
        <p:nvSpPr>
          <p:cNvPr id="22" name="Rectangle 21"/>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312.7</a:t>
            </a:r>
          </a:p>
        </p:txBody>
      </p:sp>
      <p:sp>
        <p:nvSpPr>
          <p:cNvPr id="23" name="Rectangle 22"/>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5.4%</a:t>
            </a:r>
          </a:p>
        </p:txBody>
      </p:sp>
      <p:sp>
        <p:nvSpPr>
          <p:cNvPr id="24" name="Oval 23"/>
          <p:cNvSpPr/>
          <p:nvPr/>
        </p:nvSpPr>
        <p:spPr>
          <a:xfrm>
            <a:off x="4176712"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6924675" y="1773916"/>
            <a:ext cx="4943475"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24675" y="1992961"/>
            <a:ext cx="4943475"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Warp Knitted Fabrics</a:t>
            </a:r>
          </a:p>
        </p:txBody>
      </p:sp>
      <p:sp>
        <p:nvSpPr>
          <p:cNvPr id="28" name="Rectangle 27"/>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99.2</a:t>
            </a:r>
          </a:p>
        </p:txBody>
      </p:sp>
      <p:sp>
        <p:nvSpPr>
          <p:cNvPr id="29" name="Rectangle 28"/>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186.3</a:t>
            </a:r>
          </a:p>
        </p:txBody>
      </p:sp>
      <p:sp>
        <p:nvSpPr>
          <p:cNvPr id="30" name="Rectangle 29"/>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6.5%</a:t>
            </a:r>
          </a:p>
        </p:txBody>
      </p:sp>
      <p:sp>
        <p:nvSpPr>
          <p:cNvPr id="31" name="Oval 30"/>
          <p:cNvSpPr/>
          <p:nvPr/>
        </p:nvSpPr>
        <p:spPr>
          <a:xfrm>
            <a:off x="9234488"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34" name="Rectangle 33"/>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fabric construction, warp knitted fabrics segment is expected to witness the highest CAGR of 6.5% over the forecast period. In terms of value share by fabric construction, the weft knitted fabrics segment is expected to dominate the market, losing 245 BPS and accounting for 62.7%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Weft knitted fabrics segment is projected to register 1.7X higher value than warp knitted fabrics segment in 2036.</a:t>
            </a:r>
          </a:p>
        </p:txBody>
      </p:sp>
      <p:sp>
        <p:nvSpPr>
          <p:cNvPr id="36" name="Rounded Rectangle 35"/>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38" name="Rectangle 37"/>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Weft Knitted Fabrics: </a:t>
            </a:r>
            <a:r>
              <a:rPr sz="1100" b="0">
                <a:solidFill>
                  <a:srgbClr val="252423"/>
                </a:solidFill>
                <a:latin typeface="Segoe UI"/>
              </a:rPr>
              <a:t>65% of 2026 value · 5.4%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Warp Knitted Fabrics: </a:t>
            </a:r>
            <a:r>
              <a:rPr sz="1100" b="0">
                <a:solidFill>
                  <a:srgbClr val="252423"/>
                </a:solidFill>
                <a:latin typeface="Segoe UI"/>
              </a:rPr>
              <a:t>35% of 2026 value · 6.5% CAGR grows fastest.</a:t>
            </a:r>
          </a:p>
        </p:txBody>
      </p:sp>
      <p:sp>
        <p:nvSpPr>
          <p:cNvPr id="40" name="Rounded Rectangle 39"/>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2" name="Rectangle 41"/>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Fabric Construction split shows how demand is distributed across fabric construction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44" name="Rectangle 43"/>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Fabric Construction segment is projected to grow at a CAGR of 5.8% from 2026 to 2036.</a:t>
            </a:r>
          </a:p>
        </p:txBody>
      </p:sp>
      <p:sp>
        <p:nvSpPr>
          <p:cNvPr id="46" name="TextBox 45"/>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7" name="TextBox 4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Eastern Europe Market Value &amp; Share Shift, By Fabric Construction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Fabric Construction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Eastern Europe</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Eastern Europe Value Composition, By Fabric Construction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2524713"/>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2519950"/>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244375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Warp Knitted Fabrics</a:t>
            </a:r>
          </a:p>
        </p:txBody>
      </p:sp>
      <p:sp>
        <p:nvSpPr>
          <p:cNvPr id="17" name="BPS Value 1"/>
          <p:cNvSpPr txBox="1"/>
          <p:nvPr/>
        </p:nvSpPr>
        <p:spPr>
          <a:xfrm>
            <a:off x="6896100" y="2505663"/>
            <a:ext cx="514350" cy="123825"/>
          </a:xfrm>
          <a:prstGeom prst="rect">
            <a:avLst/>
          </a:prstGeom>
          <a:noFill/>
        </p:spPr>
        <p:txBody>
          <a:bodyPr wrap="none" lIns="0" rIns="0" tIns="0" bIns="0" anchor="ctr">
            <a:spAutoFit/>
          </a:bodyPr>
          <a:lstStyle/>
          <a:p>
            <a:pPr algn="r"/>
            <a:r>
              <a:rPr sz="900" b="1">
                <a:solidFill>
                  <a:srgbClr val="1E8E3E"/>
                </a:solidFill>
                <a:latin typeface="Segoe UI"/>
              </a:rPr>
              <a:t>+245</a:t>
            </a:r>
          </a:p>
        </p:txBody>
      </p:sp>
      <p:sp>
        <p:nvSpPr>
          <p:cNvPr id="18" name="FMI Legend Chip"/>
          <p:cNvSpPr/>
          <p:nvPr/>
        </p:nvSpPr>
        <p:spPr>
          <a:xfrm>
            <a:off x="4928997" y="4810903"/>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5090922" y="4806141"/>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472994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Weft Knitted Fabrics</a:t>
            </a:r>
          </a:p>
        </p:txBody>
      </p:sp>
      <p:sp>
        <p:nvSpPr>
          <p:cNvPr id="21" name="BPS Value 2"/>
          <p:cNvSpPr txBox="1"/>
          <p:nvPr/>
        </p:nvSpPr>
        <p:spPr>
          <a:xfrm>
            <a:off x="6896100" y="4791853"/>
            <a:ext cx="514350" cy="123825"/>
          </a:xfrm>
          <a:prstGeom prst="rect">
            <a:avLst/>
          </a:prstGeom>
          <a:noFill/>
        </p:spPr>
        <p:txBody>
          <a:bodyPr wrap="none" lIns="0" rIns="0" tIns="0" bIns="0" anchor="ctr">
            <a:spAutoFit/>
          </a:bodyPr>
          <a:lstStyle/>
          <a:p>
            <a:pPr algn="r"/>
            <a:r>
              <a:rPr sz="900" b="1">
                <a:solidFill>
                  <a:srgbClr val="D64545"/>
                </a:solidFill>
                <a:latin typeface="Segoe UI"/>
              </a:rPr>
              <a:t>-245</a:t>
            </a:r>
          </a:p>
        </p:txBody>
      </p:sp>
      <p:sp>
        <p:nvSpPr>
          <p:cNvPr id="22" name="Rectangle 21"/>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Eastern Europe Read-out, By Fabric Construction</a:t>
            </a:r>
          </a:p>
        </p:txBody>
      </p:sp>
      <p:sp>
        <p:nvSpPr>
          <p:cNvPr id="24" name="Rectangle 23"/>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fabric construction, warp knitted fabrics segment is expected to witness the highest CAGR of 6.5% over the forecast period.</a:t>
            </a:r>
          </a:p>
          <a:p>
            <a:pPr algn="l">
              <a:lnSpc>
                <a:spcPct val="110000"/>
              </a:lnSpc>
              <a:spcBef>
                <a:spcPts val="0"/>
              </a:spcBef>
              <a:spcAft>
                <a:spcPts val="500"/>
              </a:spcAft>
            </a:pPr>
            <a:r>
              <a:rPr sz="1150" b="0">
                <a:solidFill>
                  <a:srgbClr val="252423"/>
                </a:solidFill>
                <a:latin typeface="Segoe UI"/>
              </a:rPr>
              <a:t>In terms of value share by fabric construction, the weft knitted fabrics segment is expected to dominate the market, losing 245 BPS and accounting for 62.7% share by 2036.</a:t>
            </a:r>
          </a:p>
        </p:txBody>
      </p:sp>
      <p:sp>
        <p:nvSpPr>
          <p:cNvPr id="26" name="TextBox 2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Material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6 sub-segments of Material,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Eastern Europe</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Material segment categorizes the market by material.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1571625"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1571625"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Polyester</a:t>
            </a:r>
          </a:p>
        </p:txBody>
      </p:sp>
      <p:sp>
        <p:nvSpPr>
          <p:cNvPr id="21" name="Rectangle 20"/>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133.2</a:t>
            </a:r>
          </a:p>
        </p:txBody>
      </p:sp>
      <p:sp>
        <p:nvSpPr>
          <p:cNvPr id="22" name="Rectangle 21"/>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229.1</a:t>
            </a:r>
          </a:p>
        </p:txBody>
      </p:sp>
      <p:sp>
        <p:nvSpPr>
          <p:cNvPr id="23" name="Rectangle 22"/>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5.6%</a:t>
            </a:r>
          </a:p>
        </p:txBody>
      </p:sp>
      <p:sp>
        <p:nvSpPr>
          <p:cNvPr id="24" name="Oval 23"/>
          <p:cNvSpPr/>
          <p:nvPr/>
        </p:nvSpPr>
        <p:spPr>
          <a:xfrm>
            <a:off x="2490788"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3552825" y="1773916"/>
            <a:ext cx="1571625"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552825" y="1992961"/>
            <a:ext cx="1571625"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Polyamide or Nylon</a:t>
            </a:r>
          </a:p>
        </p:txBody>
      </p:sp>
      <p:sp>
        <p:nvSpPr>
          <p:cNvPr id="28" name="Rectangle 27"/>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58.2</a:t>
            </a:r>
          </a:p>
        </p:txBody>
      </p:sp>
      <p:sp>
        <p:nvSpPr>
          <p:cNvPr id="29" name="Rectangle 28"/>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96.2</a:t>
            </a:r>
          </a:p>
        </p:txBody>
      </p:sp>
      <p:sp>
        <p:nvSpPr>
          <p:cNvPr id="30" name="Rectangle 29"/>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5.1%</a:t>
            </a:r>
          </a:p>
        </p:txBody>
      </p:sp>
      <p:sp>
        <p:nvSpPr>
          <p:cNvPr id="31" name="Oval 30"/>
          <p:cNvSpPr/>
          <p:nvPr/>
        </p:nvSpPr>
        <p:spPr>
          <a:xfrm>
            <a:off x="4176712"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5238750" y="1773916"/>
            <a:ext cx="1571625"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238750" y="1992961"/>
            <a:ext cx="1571625"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Elastane or Spandex Blends</a:t>
            </a:r>
          </a:p>
        </p:txBody>
      </p:sp>
      <p:sp>
        <p:nvSpPr>
          <p:cNvPr id="35" name="Rectangle 34"/>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41.3</a:t>
            </a:r>
          </a:p>
        </p:txBody>
      </p:sp>
      <p:sp>
        <p:nvSpPr>
          <p:cNvPr id="36" name="Rectangle 35"/>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75.6</a:t>
            </a:r>
          </a:p>
        </p:txBody>
      </p:sp>
      <p:sp>
        <p:nvSpPr>
          <p:cNvPr id="37" name="Rectangle 36"/>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6.2%</a:t>
            </a:r>
          </a:p>
        </p:txBody>
      </p:sp>
      <p:sp>
        <p:nvSpPr>
          <p:cNvPr id="38" name="Oval 37"/>
          <p:cNvSpPr/>
          <p:nvPr/>
        </p:nvSpPr>
        <p:spPr>
          <a:xfrm>
            <a:off x="5862638"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6924675" y="1773916"/>
            <a:ext cx="1571625"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924675" y="1992961"/>
            <a:ext cx="1571625"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High-Performance &amp; Specialty Fibe…</a:t>
            </a:r>
          </a:p>
        </p:txBody>
      </p:sp>
      <p:sp>
        <p:nvSpPr>
          <p:cNvPr id="42" name="Rectangle 41"/>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26.0</a:t>
            </a:r>
          </a:p>
        </p:txBody>
      </p:sp>
      <p:sp>
        <p:nvSpPr>
          <p:cNvPr id="43" name="Rectangle 42"/>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53.9</a:t>
            </a:r>
          </a:p>
        </p:txBody>
      </p:sp>
      <p:sp>
        <p:nvSpPr>
          <p:cNvPr id="44" name="Rectangle 43"/>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7.6%</a:t>
            </a:r>
          </a:p>
        </p:txBody>
      </p:sp>
      <p:sp>
        <p:nvSpPr>
          <p:cNvPr id="45" name="Oval 44"/>
          <p:cNvSpPr/>
          <p:nvPr/>
        </p:nvSpPr>
        <p:spPr>
          <a:xfrm>
            <a:off x="7548562"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8610600" y="1773916"/>
            <a:ext cx="1571625"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610600" y="1992961"/>
            <a:ext cx="1571625"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Polypropylene</a:t>
            </a:r>
          </a:p>
        </p:txBody>
      </p:sp>
      <p:sp>
        <p:nvSpPr>
          <p:cNvPr id="49" name="Rectangle 48"/>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13.1</a:t>
            </a:r>
          </a:p>
        </p:txBody>
      </p:sp>
      <p:sp>
        <p:nvSpPr>
          <p:cNvPr id="50" name="Rectangle 49"/>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23.2</a:t>
            </a:r>
          </a:p>
        </p:txBody>
      </p:sp>
      <p:sp>
        <p:nvSpPr>
          <p:cNvPr id="51" name="Rectangle 50"/>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5.9%</a:t>
            </a:r>
          </a:p>
        </p:txBody>
      </p:sp>
      <p:sp>
        <p:nvSpPr>
          <p:cNvPr id="52" name="Oval 51"/>
          <p:cNvSpPr/>
          <p:nvPr/>
        </p:nvSpPr>
        <p:spPr>
          <a:xfrm>
            <a:off x="9234488"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53" name="Rounded Rectangle 52"/>
          <p:cNvSpPr/>
          <p:nvPr/>
        </p:nvSpPr>
        <p:spPr>
          <a:xfrm>
            <a:off x="10296525" y="1773916"/>
            <a:ext cx="1571625"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296525" y="1992961"/>
            <a:ext cx="1571625"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Cellulosic Fibers</a:t>
            </a:r>
          </a:p>
        </p:txBody>
      </p:sp>
      <p:sp>
        <p:nvSpPr>
          <p:cNvPr id="56" name="Rectangle 55"/>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12.7</a:t>
            </a:r>
          </a:p>
        </p:txBody>
      </p:sp>
      <p:sp>
        <p:nvSpPr>
          <p:cNvPr id="57" name="Rectangle 56"/>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21.0</a:t>
            </a:r>
          </a:p>
        </p:txBody>
      </p:sp>
      <p:sp>
        <p:nvSpPr>
          <p:cNvPr id="58" name="Rectangle 57"/>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5.1%</a:t>
            </a:r>
          </a:p>
        </p:txBody>
      </p:sp>
      <p:sp>
        <p:nvSpPr>
          <p:cNvPr id="59" name="Oval 58"/>
          <p:cNvSpPr/>
          <p:nvPr/>
        </p:nvSpPr>
        <p:spPr>
          <a:xfrm>
            <a:off x="10920412"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60" name="Rounded Rectangle 5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62" name="Rectangle 61"/>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material, high-performance &amp; specialty fibers segment is expected to witness the highest CAGR of 7.6% over the forecast period. In terms of value share by material, the polyester segment is expected to dominate the market, losing 90 BPS and accounting for 45.9%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Polyester segment is projected to register 2.4X higher value than polyamide or nylon segment in 2036.</a:t>
            </a:r>
          </a:p>
        </p:txBody>
      </p:sp>
      <p:sp>
        <p:nvSpPr>
          <p:cNvPr id="64" name="Rounded Rectangle 6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66" name="Rectangle 65"/>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Polyester: </a:t>
            </a:r>
            <a:r>
              <a:rPr sz="1100" b="0">
                <a:solidFill>
                  <a:srgbClr val="252423"/>
                </a:solidFill>
                <a:latin typeface="Segoe UI"/>
              </a:rPr>
              <a:t>47% of 2026 value · 5.6%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Polyamide or Nylon: </a:t>
            </a:r>
            <a:r>
              <a:rPr sz="1100" b="0">
                <a:solidFill>
                  <a:srgbClr val="252423"/>
                </a:solidFill>
                <a:latin typeface="Segoe UI"/>
              </a:rPr>
              <a:t>20% of 2026 value · 5.1%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Elastane or Spandex Blends: </a:t>
            </a:r>
            <a:r>
              <a:rPr sz="1100" b="0">
                <a:solidFill>
                  <a:srgbClr val="252423"/>
                </a:solidFill>
                <a:latin typeface="Segoe UI"/>
              </a:rPr>
              <a:t>15% of 2026 value · 6.2% CAGR serves a niche.</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High-Performance &amp; Specialty Fibers: </a:t>
            </a:r>
            <a:r>
              <a:rPr sz="1100" b="0">
                <a:solidFill>
                  <a:srgbClr val="252423"/>
                </a:solidFill>
                <a:latin typeface="Segoe UI"/>
              </a:rPr>
              <a:t>9% of 2026 value · 7.6% CAGR grows fastest.</a:t>
            </a:r>
          </a:p>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Polypropylene: </a:t>
            </a:r>
            <a:r>
              <a:rPr sz="1100" b="0">
                <a:solidFill>
                  <a:srgbClr val="252423"/>
                </a:solidFill>
                <a:latin typeface="Segoe UI"/>
              </a:rPr>
              <a:t>5% of 2026 value · 5.9% CAGR serves a niche.</a:t>
            </a:r>
          </a:p>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Cellulosic Fibers: </a:t>
            </a:r>
            <a:r>
              <a:rPr sz="1100" b="0">
                <a:solidFill>
                  <a:srgbClr val="252423"/>
                </a:solidFill>
                <a:latin typeface="Segoe UI"/>
              </a:rPr>
              <a:t>4% of 2026 value · 5.1% CAGR serves a niche.</a:t>
            </a:r>
          </a:p>
        </p:txBody>
      </p:sp>
      <p:sp>
        <p:nvSpPr>
          <p:cNvPr id="68" name="Rounded Rectangle 6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70" name="Rectangle 69"/>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Material split shows how demand is distributed across material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72" name="Rectangle 7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Material segment is projected to grow at a CAGR of 5.8% from 2026 to 2036.</a:t>
            </a:r>
          </a:p>
        </p:txBody>
      </p:sp>
      <p:sp>
        <p:nvSpPr>
          <p:cNvPr id="74" name="TextBox 73"/>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75" name="TextBox 7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Eastern Europe Market Value &amp; Share Shift, By Material</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Material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Eastern Europe</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Eastern Europe Value Composition, By Material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767468"/>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5090922" y="176270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68650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Cellulosic Fibers</a:t>
            </a:r>
          </a:p>
        </p:txBody>
      </p:sp>
      <p:sp>
        <p:nvSpPr>
          <p:cNvPr id="17" name="BPS Value 1"/>
          <p:cNvSpPr txBox="1"/>
          <p:nvPr/>
        </p:nvSpPr>
        <p:spPr>
          <a:xfrm>
            <a:off x="6896100" y="1748418"/>
            <a:ext cx="514350" cy="123825"/>
          </a:xfrm>
          <a:prstGeom prst="rect">
            <a:avLst/>
          </a:prstGeom>
          <a:noFill/>
        </p:spPr>
        <p:txBody>
          <a:bodyPr wrap="none" lIns="0" rIns="0" tIns="0" bIns="0" anchor="ctr">
            <a:spAutoFit/>
          </a:bodyPr>
          <a:lstStyle/>
          <a:p>
            <a:pPr algn="r"/>
            <a:r>
              <a:rPr sz="900" b="1">
                <a:solidFill>
                  <a:srgbClr val="D64545"/>
                </a:solidFill>
                <a:latin typeface="Segoe UI"/>
              </a:rPr>
              <a:t>-26</a:t>
            </a:r>
          </a:p>
        </p:txBody>
      </p:sp>
      <p:sp>
        <p:nvSpPr>
          <p:cNvPr id="18" name="FMI Legend Chip"/>
          <p:cNvSpPr/>
          <p:nvPr/>
        </p:nvSpPr>
        <p:spPr>
          <a:xfrm>
            <a:off x="4928997" y="1969880"/>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1965117"/>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188891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Polypropylene</a:t>
            </a:r>
          </a:p>
        </p:txBody>
      </p:sp>
      <p:sp>
        <p:nvSpPr>
          <p:cNvPr id="21" name="BPS Value 2"/>
          <p:cNvSpPr txBox="1"/>
          <p:nvPr/>
        </p:nvSpPr>
        <p:spPr>
          <a:xfrm>
            <a:off x="6896100" y="1950830"/>
            <a:ext cx="514350" cy="123825"/>
          </a:xfrm>
          <a:prstGeom prst="rect">
            <a:avLst/>
          </a:prstGeom>
          <a:noFill/>
        </p:spPr>
        <p:txBody>
          <a:bodyPr wrap="none" lIns="0" rIns="0" tIns="0" bIns="0" anchor="ctr">
            <a:spAutoFit/>
          </a:bodyPr>
          <a:lstStyle/>
          <a:p>
            <a:pPr algn="r"/>
            <a:r>
              <a:rPr sz="900" b="1">
                <a:solidFill>
                  <a:srgbClr val="1E8E3E"/>
                </a:solidFill>
                <a:latin typeface="Segoe UI"/>
              </a:rPr>
              <a:t>+5</a:t>
            </a:r>
          </a:p>
        </p:txBody>
      </p:sp>
      <p:sp>
        <p:nvSpPr>
          <p:cNvPr id="22" name="FMI Legend Chip"/>
          <p:cNvSpPr/>
          <p:nvPr/>
        </p:nvSpPr>
        <p:spPr>
          <a:xfrm>
            <a:off x="4928997" y="2323005"/>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5090922" y="2318243"/>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24204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High-Performance &amp; Specialty Fibers</a:t>
            </a:r>
          </a:p>
        </p:txBody>
      </p:sp>
      <p:sp>
        <p:nvSpPr>
          <p:cNvPr id="25" name="BPS Value 3"/>
          <p:cNvSpPr txBox="1"/>
          <p:nvPr/>
        </p:nvSpPr>
        <p:spPr>
          <a:xfrm>
            <a:off x="6896100" y="2303955"/>
            <a:ext cx="514350" cy="123825"/>
          </a:xfrm>
          <a:prstGeom prst="rect">
            <a:avLst/>
          </a:prstGeom>
          <a:noFill/>
        </p:spPr>
        <p:txBody>
          <a:bodyPr wrap="none" lIns="0" rIns="0" tIns="0" bIns="0" anchor="ctr">
            <a:spAutoFit/>
          </a:bodyPr>
          <a:lstStyle/>
          <a:p>
            <a:pPr algn="r"/>
            <a:r>
              <a:rPr sz="900" b="1">
                <a:solidFill>
                  <a:srgbClr val="1E8E3E"/>
                </a:solidFill>
                <a:latin typeface="Segoe UI"/>
              </a:rPr>
              <a:t>+167</a:t>
            </a:r>
          </a:p>
        </p:txBody>
      </p:sp>
      <p:sp>
        <p:nvSpPr>
          <p:cNvPr id="26" name="FMI Legend Chip"/>
          <p:cNvSpPr/>
          <p:nvPr/>
        </p:nvSpPr>
        <p:spPr>
          <a:xfrm>
            <a:off x="4928997" y="2916343"/>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5090922" y="291158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283538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Elastane or Spandex Blends</a:t>
            </a:r>
          </a:p>
        </p:txBody>
      </p:sp>
      <p:sp>
        <p:nvSpPr>
          <p:cNvPr id="29" name="BPS Value 4"/>
          <p:cNvSpPr txBox="1"/>
          <p:nvPr/>
        </p:nvSpPr>
        <p:spPr>
          <a:xfrm>
            <a:off x="6896100" y="2897293"/>
            <a:ext cx="514350" cy="123825"/>
          </a:xfrm>
          <a:prstGeom prst="rect">
            <a:avLst/>
          </a:prstGeom>
          <a:noFill/>
        </p:spPr>
        <p:txBody>
          <a:bodyPr wrap="none" lIns="0" rIns="0" tIns="0" bIns="0" anchor="ctr">
            <a:spAutoFit/>
          </a:bodyPr>
          <a:lstStyle/>
          <a:p>
            <a:pPr algn="r"/>
            <a:r>
              <a:rPr sz="900" b="1">
                <a:solidFill>
                  <a:srgbClr val="1E8E3E"/>
                </a:solidFill>
                <a:latin typeface="Segoe UI"/>
              </a:rPr>
              <a:t>+63</a:t>
            </a:r>
          </a:p>
        </p:txBody>
      </p:sp>
      <p:sp>
        <p:nvSpPr>
          <p:cNvPr id="30" name="FMI Legend Chip"/>
          <p:cNvSpPr/>
          <p:nvPr/>
        </p:nvSpPr>
        <p:spPr>
          <a:xfrm>
            <a:off x="4928997" y="3703653"/>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rot="10800000">
            <a:off x="5090922" y="3698891"/>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362269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Polyamide or Nylon</a:t>
            </a:r>
          </a:p>
        </p:txBody>
      </p:sp>
      <p:sp>
        <p:nvSpPr>
          <p:cNvPr id="33" name="BPS Value 5"/>
          <p:cNvSpPr txBox="1"/>
          <p:nvPr/>
        </p:nvSpPr>
        <p:spPr>
          <a:xfrm>
            <a:off x="6896100" y="3684603"/>
            <a:ext cx="514350" cy="123825"/>
          </a:xfrm>
          <a:prstGeom prst="rect">
            <a:avLst/>
          </a:prstGeom>
          <a:noFill/>
        </p:spPr>
        <p:txBody>
          <a:bodyPr wrap="none" lIns="0" rIns="0" tIns="0" bIns="0" anchor="ctr">
            <a:spAutoFit/>
          </a:bodyPr>
          <a:lstStyle/>
          <a:p>
            <a:pPr algn="r"/>
            <a:r>
              <a:rPr sz="900" b="1">
                <a:solidFill>
                  <a:srgbClr val="D64545"/>
                </a:solidFill>
                <a:latin typeface="Segoe UI"/>
              </a:rPr>
              <a:t>-119</a:t>
            </a:r>
          </a:p>
        </p:txBody>
      </p:sp>
      <p:sp>
        <p:nvSpPr>
          <p:cNvPr id="34" name="FMI Legend Chip"/>
          <p:cNvSpPr/>
          <p:nvPr/>
        </p:nvSpPr>
        <p:spPr>
          <a:xfrm>
            <a:off x="4928997" y="5194094"/>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rot="10800000">
            <a:off x="5090922" y="5189331"/>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511313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Polyester</a:t>
            </a:r>
          </a:p>
        </p:txBody>
      </p:sp>
      <p:sp>
        <p:nvSpPr>
          <p:cNvPr id="37" name="BPS Value 6"/>
          <p:cNvSpPr txBox="1"/>
          <p:nvPr/>
        </p:nvSpPr>
        <p:spPr>
          <a:xfrm>
            <a:off x="6896100" y="5175044"/>
            <a:ext cx="514350" cy="123825"/>
          </a:xfrm>
          <a:prstGeom prst="rect">
            <a:avLst/>
          </a:prstGeom>
          <a:noFill/>
        </p:spPr>
        <p:txBody>
          <a:bodyPr wrap="none" lIns="0" rIns="0" tIns="0" bIns="0" anchor="ctr">
            <a:spAutoFit/>
          </a:bodyPr>
          <a:lstStyle/>
          <a:p>
            <a:pPr algn="r"/>
            <a:r>
              <a:rPr sz="900" b="1">
                <a:solidFill>
                  <a:srgbClr val="D64545"/>
                </a:solidFill>
                <a:latin typeface="Segoe UI"/>
              </a:rPr>
              <a:t>-90</a:t>
            </a:r>
          </a:p>
        </p:txBody>
      </p:sp>
      <p:sp>
        <p:nvSpPr>
          <p:cNvPr id="38" name="Rectangle 37"/>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Eastern Europe Read-out, By Material</a:t>
            </a:r>
          </a:p>
        </p:txBody>
      </p:sp>
      <p:sp>
        <p:nvSpPr>
          <p:cNvPr id="40" name="Rectangle 39"/>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material, high-performance &amp; specialty fibers segment is expected to witness the highest CAGR of 7.6% over the forecast period. In terms of value share by material, the polyester segment is expected to dominate the market, losing 90 BPS and accounting for 45.9% share by 2036.</a:t>
            </a:r>
          </a:p>
          <a:p>
            <a:pPr algn="l">
              <a:lnSpc>
                <a:spcPct val="110000"/>
              </a:lnSpc>
              <a:spcBef>
                <a:spcPts val="0"/>
              </a:spcBef>
              <a:spcAft>
                <a:spcPts val="500"/>
              </a:spcAft>
            </a:pPr>
            <a:r>
              <a:rPr sz="1150" b="0">
                <a:solidFill>
                  <a:srgbClr val="252423"/>
                </a:solidFill>
                <a:latin typeface="Segoe UI"/>
              </a:rPr>
              <a:t>The polyamide or nylon segment is expected to lose 119 BPS over the forecast period to account for 19.3% share by 2036.</a:t>
            </a:r>
          </a:p>
        </p:txBody>
      </p:sp>
      <p:sp>
        <p:nvSpPr>
          <p:cNvPr id="42" name="TextBox 4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Primary Performance Function Segment Outlook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10 sub-segments of Primary Performance Function,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Eastern Europe</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Primary Performance Function segment categorizes the market by primary performance function.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190881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190881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Moisture Management &amp; Quick-Dry</a:t>
            </a:r>
          </a:p>
        </p:txBody>
      </p:sp>
      <p:sp>
        <p:nvSpPr>
          <p:cNvPr id="21" name="Rectangle 20"/>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60.9</a:t>
            </a:r>
          </a:p>
        </p:txBody>
      </p:sp>
      <p:sp>
        <p:nvSpPr>
          <p:cNvPr id="22" name="Rectangle 21"/>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104.4</a:t>
            </a:r>
          </a:p>
        </p:txBody>
      </p:sp>
      <p:sp>
        <p:nvSpPr>
          <p:cNvPr id="23" name="Rectangle 22"/>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5.5%</a:t>
            </a:r>
          </a:p>
        </p:txBody>
      </p:sp>
      <p:sp>
        <p:nvSpPr>
          <p:cNvPr id="24" name="Oval 23"/>
          <p:cNvSpPr/>
          <p:nvPr/>
        </p:nvSpPr>
        <p:spPr>
          <a:xfrm>
            <a:off x="265938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3890010" y="1773916"/>
            <a:ext cx="190881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890010" y="1992961"/>
            <a:ext cx="190881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Thermal Management</a:t>
            </a:r>
          </a:p>
        </p:txBody>
      </p:sp>
      <p:sp>
        <p:nvSpPr>
          <p:cNvPr id="28" name="Rectangle 27"/>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41.8</a:t>
            </a:r>
          </a:p>
        </p:txBody>
      </p:sp>
      <p:sp>
        <p:nvSpPr>
          <p:cNvPr id="29" name="Rectangle 28"/>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79.9</a:t>
            </a:r>
          </a:p>
        </p:txBody>
      </p:sp>
      <p:sp>
        <p:nvSpPr>
          <p:cNvPr id="30" name="Rectangle 29"/>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6.7%</a:t>
            </a:r>
          </a:p>
        </p:txBody>
      </p:sp>
      <p:sp>
        <p:nvSpPr>
          <p:cNvPr id="31" name="Oval 30"/>
          <p:cNvSpPr/>
          <p:nvPr/>
        </p:nvSpPr>
        <p:spPr>
          <a:xfrm>
            <a:off x="468249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5913120" y="1773916"/>
            <a:ext cx="190881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913120" y="1992961"/>
            <a:ext cx="190881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Stretch &amp; Recovery</a:t>
            </a:r>
          </a:p>
        </p:txBody>
      </p:sp>
      <p:sp>
        <p:nvSpPr>
          <p:cNvPr id="35" name="Rectangle 34"/>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40.9</a:t>
            </a:r>
          </a:p>
        </p:txBody>
      </p:sp>
      <p:sp>
        <p:nvSpPr>
          <p:cNvPr id="36" name="Rectangle 35"/>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68.5</a:t>
            </a:r>
          </a:p>
        </p:txBody>
      </p:sp>
      <p:sp>
        <p:nvSpPr>
          <p:cNvPr id="37" name="Rectangle 36"/>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5.3%</a:t>
            </a:r>
          </a:p>
        </p:txBody>
      </p:sp>
      <p:sp>
        <p:nvSpPr>
          <p:cNvPr id="38" name="Oval 37"/>
          <p:cNvSpPr/>
          <p:nvPr/>
        </p:nvSpPr>
        <p:spPr>
          <a:xfrm>
            <a:off x="670560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7936230" y="1773916"/>
            <a:ext cx="1908810"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36230" y="1992961"/>
            <a:ext cx="1908810"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Compression &amp; Support</a:t>
            </a:r>
          </a:p>
        </p:txBody>
      </p:sp>
      <p:sp>
        <p:nvSpPr>
          <p:cNvPr id="42" name="Rectangle 41"/>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33.6</a:t>
            </a:r>
          </a:p>
        </p:txBody>
      </p:sp>
      <p:sp>
        <p:nvSpPr>
          <p:cNvPr id="43" name="Rectangle 42"/>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57.3</a:t>
            </a:r>
          </a:p>
        </p:txBody>
      </p:sp>
      <p:sp>
        <p:nvSpPr>
          <p:cNvPr id="44" name="Rectangle 43"/>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5.5%</a:t>
            </a:r>
          </a:p>
        </p:txBody>
      </p:sp>
      <p:sp>
        <p:nvSpPr>
          <p:cNvPr id="45" name="Oval 44"/>
          <p:cNvSpPr/>
          <p:nvPr/>
        </p:nvSpPr>
        <p:spPr>
          <a:xfrm>
            <a:off x="8728710"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9959340" y="1773916"/>
            <a:ext cx="1908810"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959340" y="1992961"/>
            <a:ext cx="1908810"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Abrasion &amp; Tear Resistance</a:t>
            </a:r>
          </a:p>
        </p:txBody>
      </p:sp>
      <p:sp>
        <p:nvSpPr>
          <p:cNvPr id="49" name="Rectangle 48"/>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31.4</a:t>
            </a:r>
          </a:p>
        </p:txBody>
      </p:sp>
      <p:sp>
        <p:nvSpPr>
          <p:cNvPr id="50" name="Rectangle 49"/>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47.7</a:t>
            </a:r>
          </a:p>
        </p:txBody>
      </p:sp>
      <p:sp>
        <p:nvSpPr>
          <p:cNvPr id="51" name="Rectangle 50"/>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4.3%</a:t>
            </a:r>
          </a:p>
        </p:txBody>
      </p:sp>
      <p:sp>
        <p:nvSpPr>
          <p:cNvPr id="52" name="Oval 51"/>
          <p:cNvSpPr/>
          <p:nvPr/>
        </p:nvSpPr>
        <p:spPr>
          <a:xfrm>
            <a:off x="10751820"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53" name="Rounded Rectangle 5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55" name="Rectangle 54"/>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Among performance knitted fabrics by primary performance function, other specialized performance segment is expected to witness the highest CAGR of 7.7% over the forecast period. In terms of value share by primary performance function, the moisture management &amp; quick-dry segment is expected to dominate the market, losing 46 BPS and accounting for 20.9% share by 2036.</a:t>
            </a:r>
          </a:p>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Moisture management &amp; quick-dry segment is projected to register 1.3X higher value than thermal management segment in 2036.</a:t>
            </a:r>
          </a:p>
        </p:txBody>
      </p:sp>
      <p:sp>
        <p:nvSpPr>
          <p:cNvPr id="57" name="Rounded Rectangle 5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9" name="Rectangle 58"/>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Moisture Management &amp; Quick-Dry: </a:t>
            </a:r>
            <a:r>
              <a:rPr sz="1100" b="0">
                <a:solidFill>
                  <a:srgbClr val="252423"/>
                </a:solidFill>
                <a:latin typeface="Segoe UI"/>
              </a:rPr>
              <a:t>21% of 2026 value · 5.5%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Thermal Management: </a:t>
            </a:r>
            <a:r>
              <a:rPr sz="1100" b="0">
                <a:solidFill>
                  <a:srgbClr val="252423"/>
                </a:solidFill>
                <a:latin typeface="Segoe UI"/>
              </a:rPr>
              <a:t>15% of 2026 value · 6.7%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Stretch &amp; Recovery: </a:t>
            </a:r>
            <a:r>
              <a:rPr sz="1100" b="0">
                <a:solidFill>
                  <a:srgbClr val="252423"/>
                </a:solidFill>
                <a:latin typeface="Segoe UI"/>
              </a:rPr>
              <a:t>14% of 2026 value · 5.3% CAGR serves a niche.</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Compression &amp; Support: </a:t>
            </a:r>
            <a:r>
              <a:rPr sz="1100" b="0">
                <a:solidFill>
                  <a:srgbClr val="252423"/>
                </a:solidFill>
                <a:latin typeface="Segoe UI"/>
              </a:rPr>
              <a:t>12% of 2026 value · 5.5% CAGR serves a niche.</a:t>
            </a:r>
          </a:p>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Abrasion &amp; Tear Resistance: </a:t>
            </a:r>
            <a:r>
              <a:rPr sz="1100" b="0">
                <a:solidFill>
                  <a:srgbClr val="252423"/>
                </a:solidFill>
                <a:latin typeface="Segoe UI"/>
              </a:rPr>
              <a:t>11% of 2026 value · 4.3% CAGR serves a niche.</a:t>
            </a:r>
          </a:p>
        </p:txBody>
      </p:sp>
      <p:sp>
        <p:nvSpPr>
          <p:cNvPr id="61" name="Rounded Rectangle 6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63" name="Rectangle 62"/>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Primary Performance Function split shows how demand is distributed across primary performance function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65" name="Rectangle 6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Primary Performance Function segment is projected to grow at a CAGR of 5.8% from 2026 to 2036.</a:t>
            </a:r>
          </a:p>
        </p:txBody>
      </p:sp>
      <p:sp>
        <p:nvSpPr>
          <p:cNvPr id="67" name="TextBox 66"/>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8" name="TextBox 6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Primary Performance Function Segment Outlook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10 sub-segments of Primary Performance Function,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Primary Performance Function segment categorizes the market by primary performance function.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1908810"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1908810"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Antimicrobial &amp; Odor Control</a:t>
            </a:r>
          </a:p>
        </p:txBody>
      </p:sp>
      <p:sp>
        <p:nvSpPr>
          <p:cNvPr id="20" name="Rectangle 19"/>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23.5</a:t>
            </a:r>
          </a:p>
        </p:txBody>
      </p:sp>
      <p:sp>
        <p:nvSpPr>
          <p:cNvPr id="21" name="Rectangle 20"/>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46.2</a:t>
            </a:r>
          </a:p>
        </p:txBody>
      </p:sp>
      <p:sp>
        <p:nvSpPr>
          <p:cNvPr id="22" name="Rectangle 21"/>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7.0%</a:t>
            </a:r>
          </a:p>
        </p:txBody>
      </p:sp>
      <p:sp>
        <p:nvSpPr>
          <p:cNvPr id="23" name="Oval 22"/>
          <p:cNvSpPr/>
          <p:nvPr/>
        </p:nvSpPr>
        <p:spPr>
          <a:xfrm>
            <a:off x="2659380"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24" name="Rounded Rectangle 23"/>
          <p:cNvSpPr/>
          <p:nvPr/>
        </p:nvSpPr>
        <p:spPr>
          <a:xfrm>
            <a:off x="3890010" y="1773916"/>
            <a:ext cx="1908810"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90010" y="1992961"/>
            <a:ext cx="1908810"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Other Specialized Performance</a:t>
            </a:r>
          </a:p>
        </p:txBody>
      </p:sp>
      <p:sp>
        <p:nvSpPr>
          <p:cNvPr id="27" name="Rectangle 26"/>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16.8</a:t>
            </a:r>
          </a:p>
        </p:txBody>
      </p:sp>
      <p:sp>
        <p:nvSpPr>
          <p:cNvPr id="28" name="Rectangle 27"/>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35.5</a:t>
            </a:r>
          </a:p>
        </p:txBody>
      </p:sp>
      <p:sp>
        <p:nvSpPr>
          <p:cNvPr id="29" name="Rectangle 28"/>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7.7%</a:t>
            </a:r>
          </a:p>
        </p:txBody>
      </p:sp>
      <p:sp>
        <p:nvSpPr>
          <p:cNvPr id="30" name="Oval 29"/>
          <p:cNvSpPr/>
          <p:nvPr/>
        </p:nvSpPr>
        <p:spPr>
          <a:xfrm>
            <a:off x="4682490"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31" name="Rounded Rectangle 30"/>
          <p:cNvSpPr/>
          <p:nvPr/>
        </p:nvSpPr>
        <p:spPr>
          <a:xfrm>
            <a:off x="5913120" y="1773916"/>
            <a:ext cx="190881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913120" y="1992961"/>
            <a:ext cx="190881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Water or Liquid Management</a:t>
            </a:r>
          </a:p>
        </p:txBody>
      </p:sp>
      <p:sp>
        <p:nvSpPr>
          <p:cNvPr id="34" name="Rectangle 33"/>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14.4</a:t>
            </a:r>
          </a:p>
        </p:txBody>
      </p:sp>
      <p:sp>
        <p:nvSpPr>
          <p:cNvPr id="35" name="Rectangle 34"/>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23.8</a:t>
            </a:r>
          </a:p>
        </p:txBody>
      </p:sp>
      <p:sp>
        <p:nvSpPr>
          <p:cNvPr id="36" name="Rectangle 35"/>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5.1%</a:t>
            </a:r>
          </a:p>
        </p:txBody>
      </p:sp>
      <p:sp>
        <p:nvSpPr>
          <p:cNvPr id="37" name="Oval 36"/>
          <p:cNvSpPr/>
          <p:nvPr/>
        </p:nvSpPr>
        <p:spPr>
          <a:xfrm>
            <a:off x="670560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8</a:t>
            </a:r>
          </a:p>
        </p:txBody>
      </p:sp>
      <p:sp>
        <p:nvSpPr>
          <p:cNvPr id="38" name="Rounded Rectangle 37"/>
          <p:cNvSpPr/>
          <p:nvPr/>
        </p:nvSpPr>
        <p:spPr>
          <a:xfrm>
            <a:off x="7936230" y="1773916"/>
            <a:ext cx="190881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936230" y="1992961"/>
            <a:ext cx="190881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UV Protection</a:t>
            </a:r>
          </a:p>
        </p:txBody>
      </p:sp>
      <p:sp>
        <p:nvSpPr>
          <p:cNvPr id="41" name="Rectangle 40"/>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13.2</a:t>
            </a:r>
          </a:p>
        </p:txBody>
      </p:sp>
      <p:sp>
        <p:nvSpPr>
          <p:cNvPr id="42" name="Rectangle 41"/>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20.9</a:t>
            </a:r>
          </a:p>
        </p:txBody>
      </p:sp>
      <p:sp>
        <p:nvSpPr>
          <p:cNvPr id="43" name="Rectangle 42"/>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4.6%</a:t>
            </a:r>
          </a:p>
        </p:txBody>
      </p:sp>
      <p:sp>
        <p:nvSpPr>
          <p:cNvPr id="44" name="Oval 43"/>
          <p:cNvSpPr/>
          <p:nvPr/>
        </p:nvSpPr>
        <p:spPr>
          <a:xfrm>
            <a:off x="872871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9</a:t>
            </a:r>
          </a:p>
        </p:txBody>
      </p:sp>
      <p:sp>
        <p:nvSpPr>
          <p:cNvPr id="45" name="Rounded Rectangle 44"/>
          <p:cNvSpPr/>
          <p:nvPr/>
        </p:nvSpPr>
        <p:spPr>
          <a:xfrm>
            <a:off x="9959340" y="1773916"/>
            <a:ext cx="190881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959340" y="1992961"/>
            <a:ext cx="190881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Flame &amp; Heat Resistance</a:t>
            </a:r>
          </a:p>
        </p:txBody>
      </p:sp>
      <p:sp>
        <p:nvSpPr>
          <p:cNvPr id="48" name="Rectangle 47"/>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7.92</a:t>
            </a:r>
          </a:p>
        </p:txBody>
      </p:sp>
      <p:sp>
        <p:nvSpPr>
          <p:cNvPr id="49" name="Rectangle 48"/>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14.7</a:t>
            </a:r>
          </a:p>
        </p:txBody>
      </p:sp>
      <p:sp>
        <p:nvSpPr>
          <p:cNvPr id="50" name="Rectangle 49"/>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6.4%</a:t>
            </a:r>
          </a:p>
        </p:txBody>
      </p:sp>
      <p:sp>
        <p:nvSpPr>
          <p:cNvPr id="51" name="Oval 50"/>
          <p:cNvSpPr/>
          <p:nvPr/>
        </p:nvSpPr>
        <p:spPr>
          <a:xfrm>
            <a:off x="1075182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10</a:t>
            </a:r>
          </a:p>
        </p:txBody>
      </p:sp>
      <p:sp>
        <p:nvSpPr>
          <p:cNvPr id="52" name="Rounded Rectangle 51"/>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4" name="Rectangle 53"/>
          <p:cNvSpPr/>
          <p:nvPr/>
        </p:nvSpPr>
        <p:spPr>
          <a:xfrm>
            <a:off x="457200" y="4146897"/>
            <a:ext cx="112776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Antimicrobial &amp; Odor Control: </a:t>
            </a:r>
            <a:r>
              <a:rPr sz="1100" b="0">
                <a:solidFill>
                  <a:srgbClr val="252423"/>
                </a:solidFill>
                <a:latin typeface="Segoe UI"/>
              </a:rPr>
              <a:t>8% of 2026 value · 7.0% CAGR serves a niche.</a:t>
            </a:r>
          </a:p>
          <a:p>
            <a:pPr algn="l">
              <a:lnSpc>
                <a:spcPct val="110000"/>
              </a:lnSpc>
              <a:spcBef>
                <a:spcPts val="0"/>
              </a:spcBef>
              <a:spcAft>
                <a:spcPts val="500"/>
              </a:spcAft>
            </a:pPr>
            <a:r>
              <a:rPr sz="1100" b="0">
                <a:solidFill>
                  <a:srgbClr val="2C6E7F"/>
                </a:solidFill>
                <a:latin typeface="Segoe UI"/>
              </a:rPr>
              <a:t>●  </a:t>
            </a:r>
            <a:r>
              <a:rPr sz="1100" b="1">
                <a:solidFill>
                  <a:srgbClr val="2C6E7F"/>
                </a:solidFill>
                <a:latin typeface="Segoe UI"/>
              </a:rPr>
              <a:t>Other Specialized Performance: </a:t>
            </a:r>
            <a:r>
              <a:rPr sz="1100" b="0">
                <a:solidFill>
                  <a:srgbClr val="252423"/>
                </a:solidFill>
                <a:latin typeface="Segoe UI"/>
              </a:rPr>
              <a:t>6% of 2026 value · 7.7% CAGR grows fastest.</a:t>
            </a:r>
          </a:p>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Water or Liquid Management: </a:t>
            </a:r>
            <a:r>
              <a:rPr sz="1100" b="0">
                <a:solidFill>
                  <a:srgbClr val="252423"/>
                </a:solidFill>
                <a:latin typeface="Segoe UI"/>
              </a:rPr>
              <a:t>5% of 2026 value · 5.1% CAGR serves a niche.</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UV Protection: </a:t>
            </a:r>
            <a:r>
              <a:rPr sz="1100" b="0">
                <a:solidFill>
                  <a:srgbClr val="252423"/>
                </a:solidFill>
                <a:latin typeface="Segoe UI"/>
              </a:rPr>
              <a:t>5% of 2026 value · 4.6%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Flame &amp; Heat Resistance: </a:t>
            </a:r>
            <a:r>
              <a:rPr sz="1100" b="0">
                <a:solidFill>
                  <a:srgbClr val="252423"/>
                </a:solidFill>
                <a:latin typeface="Segoe UI"/>
              </a:rPr>
              <a:t>3% of 2026 value · 6.4% CAGR serves a niche.</a:t>
            </a:r>
          </a:p>
        </p:txBody>
      </p:sp>
      <p:sp>
        <p:nvSpPr>
          <p:cNvPr id="56" name="TextBox 55"/>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57" name="TextBox 5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Eastern Europe Market Value &amp; Share Shift, By Primary Performance Function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Primary Performance Function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Eastern Europe</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Eastern Europe Value Composition, By Primary Performance Function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738602"/>
            <a:ext cx="85725" cy="85725"/>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173383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65763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Flame &amp; Heat Resistance</a:t>
            </a:r>
          </a:p>
        </p:txBody>
      </p:sp>
      <p:sp>
        <p:nvSpPr>
          <p:cNvPr id="17" name="BPS Value 1"/>
          <p:cNvSpPr txBox="1"/>
          <p:nvPr/>
        </p:nvSpPr>
        <p:spPr>
          <a:xfrm>
            <a:off x="6896100" y="1719552"/>
            <a:ext cx="514350" cy="123825"/>
          </a:xfrm>
          <a:prstGeom prst="rect">
            <a:avLst/>
          </a:prstGeom>
          <a:noFill/>
        </p:spPr>
        <p:txBody>
          <a:bodyPr wrap="none" lIns="0" rIns="0" tIns="0" bIns="0" anchor="ctr">
            <a:spAutoFit/>
          </a:bodyPr>
          <a:lstStyle/>
          <a:p>
            <a:pPr algn="r"/>
            <a:r>
              <a:rPr sz="900" b="1">
                <a:solidFill>
                  <a:srgbClr val="1E8E3E"/>
                </a:solidFill>
                <a:latin typeface="Segoe UI"/>
              </a:rPr>
              <a:t>+16</a:t>
            </a:r>
          </a:p>
        </p:txBody>
      </p:sp>
      <p:sp>
        <p:nvSpPr>
          <p:cNvPr id="18" name="FMI Legend Chip"/>
          <p:cNvSpPr/>
          <p:nvPr/>
        </p:nvSpPr>
        <p:spPr>
          <a:xfrm>
            <a:off x="4928997" y="1901498"/>
            <a:ext cx="85725" cy="85725"/>
          </a:xfrm>
          <a:prstGeom prst="rect">
            <a:avLst/>
          </a:prstGeom>
          <a:solidFill>
            <a:srgbClr val="CF7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5090922" y="189673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182053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UV Protection</a:t>
            </a:r>
          </a:p>
        </p:txBody>
      </p:sp>
      <p:sp>
        <p:nvSpPr>
          <p:cNvPr id="21" name="BPS Value 2"/>
          <p:cNvSpPr txBox="1"/>
          <p:nvPr/>
        </p:nvSpPr>
        <p:spPr>
          <a:xfrm>
            <a:off x="6896100" y="1882448"/>
            <a:ext cx="514350" cy="123825"/>
          </a:xfrm>
          <a:prstGeom prst="rect">
            <a:avLst/>
          </a:prstGeom>
          <a:noFill/>
        </p:spPr>
        <p:txBody>
          <a:bodyPr wrap="none" lIns="0" rIns="0" tIns="0" bIns="0" anchor="ctr">
            <a:spAutoFit/>
          </a:bodyPr>
          <a:lstStyle/>
          <a:p>
            <a:pPr algn="r"/>
            <a:r>
              <a:rPr sz="900" b="1">
                <a:solidFill>
                  <a:srgbClr val="D64545"/>
                </a:solidFill>
                <a:latin typeface="Segoe UI"/>
              </a:rPr>
              <a:t>-48</a:t>
            </a:r>
          </a:p>
        </p:txBody>
      </p:sp>
      <p:sp>
        <p:nvSpPr>
          <p:cNvPr id="22" name="FMI Legend Chip"/>
          <p:cNvSpPr/>
          <p:nvPr/>
        </p:nvSpPr>
        <p:spPr>
          <a:xfrm>
            <a:off x="4928997" y="2106314"/>
            <a:ext cx="85725" cy="85725"/>
          </a:xfrm>
          <a:prstGeom prst="rect">
            <a:avLst/>
          </a:prstGeom>
          <a:solidFill>
            <a:srgbClr val="7D7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rot="10800000">
            <a:off x="5090922" y="210155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02535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Water or Liquid Management</a:t>
            </a:r>
          </a:p>
        </p:txBody>
      </p:sp>
      <p:sp>
        <p:nvSpPr>
          <p:cNvPr id="25" name="BPS Value 3"/>
          <p:cNvSpPr txBox="1"/>
          <p:nvPr/>
        </p:nvSpPr>
        <p:spPr>
          <a:xfrm>
            <a:off x="6896100" y="2087264"/>
            <a:ext cx="514350" cy="123825"/>
          </a:xfrm>
          <a:prstGeom prst="rect">
            <a:avLst/>
          </a:prstGeom>
          <a:noFill/>
        </p:spPr>
        <p:txBody>
          <a:bodyPr wrap="none" lIns="0" rIns="0" tIns="0" bIns="0" anchor="ctr">
            <a:spAutoFit/>
          </a:bodyPr>
          <a:lstStyle/>
          <a:p>
            <a:pPr algn="r"/>
            <a:r>
              <a:rPr sz="900" b="1">
                <a:solidFill>
                  <a:srgbClr val="D64545"/>
                </a:solidFill>
                <a:latin typeface="Segoe UI"/>
              </a:rPr>
              <a:t>-30</a:t>
            </a:r>
          </a:p>
        </p:txBody>
      </p:sp>
      <p:sp>
        <p:nvSpPr>
          <p:cNvPr id="26" name="FMI Legend Chip"/>
          <p:cNvSpPr/>
          <p:nvPr/>
        </p:nvSpPr>
        <p:spPr>
          <a:xfrm>
            <a:off x="4928997" y="2378105"/>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5090922" y="237334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229714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Other Specialized Performance</a:t>
            </a:r>
          </a:p>
        </p:txBody>
      </p:sp>
      <p:sp>
        <p:nvSpPr>
          <p:cNvPr id="29" name="BPS Value 4"/>
          <p:cNvSpPr txBox="1"/>
          <p:nvPr/>
        </p:nvSpPr>
        <p:spPr>
          <a:xfrm>
            <a:off x="6896100" y="2359055"/>
            <a:ext cx="514350" cy="123825"/>
          </a:xfrm>
          <a:prstGeom prst="rect">
            <a:avLst/>
          </a:prstGeom>
          <a:noFill/>
        </p:spPr>
        <p:txBody>
          <a:bodyPr wrap="none" lIns="0" rIns="0" tIns="0" bIns="0" anchor="ctr">
            <a:spAutoFit/>
          </a:bodyPr>
          <a:lstStyle/>
          <a:p>
            <a:pPr algn="r"/>
            <a:r>
              <a:rPr sz="900" b="1">
                <a:solidFill>
                  <a:srgbClr val="1E8E3E"/>
                </a:solidFill>
                <a:latin typeface="Segoe UI"/>
              </a:rPr>
              <a:t>+119</a:t>
            </a:r>
          </a:p>
        </p:txBody>
      </p:sp>
      <p:sp>
        <p:nvSpPr>
          <p:cNvPr id="30" name="FMI Legend Chip"/>
          <p:cNvSpPr/>
          <p:nvPr/>
        </p:nvSpPr>
        <p:spPr>
          <a:xfrm>
            <a:off x="4928997" y="2752374"/>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5090922" y="274761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267141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Antimicrobial &amp; Odor Control</a:t>
            </a:r>
          </a:p>
        </p:txBody>
      </p:sp>
      <p:sp>
        <p:nvSpPr>
          <p:cNvPr id="33" name="BPS Value 5"/>
          <p:cNvSpPr txBox="1"/>
          <p:nvPr/>
        </p:nvSpPr>
        <p:spPr>
          <a:xfrm>
            <a:off x="6896100" y="2733324"/>
            <a:ext cx="514350" cy="123825"/>
          </a:xfrm>
          <a:prstGeom prst="rect">
            <a:avLst/>
          </a:prstGeom>
          <a:noFill/>
        </p:spPr>
        <p:txBody>
          <a:bodyPr wrap="none" lIns="0" rIns="0" tIns="0" bIns="0" anchor="ctr">
            <a:spAutoFit/>
          </a:bodyPr>
          <a:lstStyle/>
          <a:p>
            <a:pPr algn="r"/>
            <a:r>
              <a:rPr sz="900" b="1">
                <a:solidFill>
                  <a:srgbClr val="1E8E3E"/>
                </a:solidFill>
                <a:latin typeface="Segoe UI"/>
              </a:rPr>
              <a:t>+101</a:t>
            </a:r>
          </a:p>
        </p:txBody>
      </p:sp>
      <p:sp>
        <p:nvSpPr>
          <p:cNvPr id="34" name="FMI Legend Chip"/>
          <p:cNvSpPr/>
          <p:nvPr/>
        </p:nvSpPr>
        <p:spPr>
          <a:xfrm>
            <a:off x="4928997" y="3182699"/>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rot="10800000">
            <a:off x="5090922" y="3177937"/>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310173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Abrasion &amp; Tear Resistance</a:t>
            </a:r>
          </a:p>
        </p:txBody>
      </p:sp>
      <p:sp>
        <p:nvSpPr>
          <p:cNvPr id="37" name="BPS Value 6"/>
          <p:cNvSpPr txBox="1"/>
          <p:nvPr/>
        </p:nvSpPr>
        <p:spPr>
          <a:xfrm>
            <a:off x="6896100" y="3163649"/>
            <a:ext cx="514350" cy="123825"/>
          </a:xfrm>
          <a:prstGeom prst="rect">
            <a:avLst/>
          </a:prstGeom>
          <a:noFill/>
        </p:spPr>
        <p:txBody>
          <a:bodyPr wrap="none" lIns="0" rIns="0" tIns="0" bIns="0" anchor="ctr">
            <a:spAutoFit/>
          </a:bodyPr>
          <a:lstStyle/>
          <a:p>
            <a:pPr algn="r"/>
            <a:r>
              <a:rPr sz="900" b="1">
                <a:solidFill>
                  <a:srgbClr val="D64545"/>
                </a:solidFill>
                <a:latin typeface="Segoe UI"/>
              </a:rPr>
              <a:t>-147</a:t>
            </a:r>
          </a:p>
        </p:txBody>
      </p:sp>
      <p:sp>
        <p:nvSpPr>
          <p:cNvPr id="38" name="FMI Legend Chip"/>
          <p:cNvSpPr/>
          <p:nvPr/>
        </p:nvSpPr>
        <p:spPr>
          <a:xfrm>
            <a:off x="4928997" y="3663897"/>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rot="10800000">
            <a:off x="5090922" y="3659135"/>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5233797" y="358293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Compression &amp; Support</a:t>
            </a:r>
          </a:p>
        </p:txBody>
      </p:sp>
      <p:sp>
        <p:nvSpPr>
          <p:cNvPr id="41" name="BPS Value 7"/>
          <p:cNvSpPr txBox="1"/>
          <p:nvPr/>
        </p:nvSpPr>
        <p:spPr>
          <a:xfrm>
            <a:off x="6896100" y="3644847"/>
            <a:ext cx="514350" cy="123825"/>
          </a:xfrm>
          <a:prstGeom prst="rect">
            <a:avLst/>
          </a:prstGeom>
          <a:noFill/>
        </p:spPr>
        <p:txBody>
          <a:bodyPr wrap="none" lIns="0" rIns="0" tIns="0" bIns="0" anchor="ctr">
            <a:spAutoFit/>
          </a:bodyPr>
          <a:lstStyle/>
          <a:p>
            <a:pPr algn="r"/>
            <a:r>
              <a:rPr sz="900" b="1">
                <a:solidFill>
                  <a:srgbClr val="D64545"/>
                </a:solidFill>
                <a:latin typeface="Segoe UI"/>
              </a:rPr>
              <a:t>-32</a:t>
            </a:r>
          </a:p>
        </p:txBody>
      </p:sp>
      <p:sp>
        <p:nvSpPr>
          <p:cNvPr id="42" name="FMI Legend Chip"/>
          <p:cNvSpPr/>
          <p:nvPr/>
        </p:nvSpPr>
        <p:spPr>
          <a:xfrm>
            <a:off x="4928997" y="4240335"/>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Isosceles Triangle 42"/>
          <p:cNvSpPr/>
          <p:nvPr/>
        </p:nvSpPr>
        <p:spPr>
          <a:xfrm rot="10800000">
            <a:off x="5090922" y="423557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PS Name 8"/>
          <p:cNvSpPr txBox="1"/>
          <p:nvPr/>
        </p:nvSpPr>
        <p:spPr>
          <a:xfrm>
            <a:off x="5233797" y="415937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Stretch &amp; Recovery</a:t>
            </a:r>
          </a:p>
        </p:txBody>
      </p:sp>
      <p:sp>
        <p:nvSpPr>
          <p:cNvPr id="45" name="BPS Value 8"/>
          <p:cNvSpPr txBox="1"/>
          <p:nvPr/>
        </p:nvSpPr>
        <p:spPr>
          <a:xfrm>
            <a:off x="6896100" y="4221285"/>
            <a:ext cx="514350" cy="123825"/>
          </a:xfrm>
          <a:prstGeom prst="rect">
            <a:avLst/>
          </a:prstGeom>
          <a:noFill/>
        </p:spPr>
        <p:txBody>
          <a:bodyPr wrap="none" lIns="0" rIns="0" tIns="0" bIns="0" anchor="ctr">
            <a:spAutoFit/>
          </a:bodyPr>
          <a:lstStyle/>
          <a:p>
            <a:pPr algn="r"/>
            <a:r>
              <a:rPr sz="900" b="1">
                <a:solidFill>
                  <a:srgbClr val="D64545"/>
                </a:solidFill>
                <a:latin typeface="Segoe UI"/>
              </a:rPr>
              <a:t>-66</a:t>
            </a:r>
          </a:p>
        </p:txBody>
      </p:sp>
      <p:sp>
        <p:nvSpPr>
          <p:cNvPr id="46" name="FMI Legend Chip"/>
          <p:cNvSpPr/>
          <p:nvPr/>
        </p:nvSpPr>
        <p:spPr>
          <a:xfrm>
            <a:off x="4928997" y="4920365"/>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Isosceles Triangle 46"/>
          <p:cNvSpPr/>
          <p:nvPr/>
        </p:nvSpPr>
        <p:spPr>
          <a:xfrm>
            <a:off x="5090922" y="4915603"/>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PS Name 9"/>
          <p:cNvSpPr txBox="1"/>
          <p:nvPr/>
        </p:nvSpPr>
        <p:spPr>
          <a:xfrm>
            <a:off x="5233797" y="483940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Thermal Management</a:t>
            </a:r>
          </a:p>
        </p:txBody>
      </p:sp>
      <p:sp>
        <p:nvSpPr>
          <p:cNvPr id="49" name="BPS Value 9"/>
          <p:cNvSpPr txBox="1"/>
          <p:nvPr/>
        </p:nvSpPr>
        <p:spPr>
          <a:xfrm>
            <a:off x="6896100" y="4901315"/>
            <a:ext cx="514350" cy="123825"/>
          </a:xfrm>
          <a:prstGeom prst="rect">
            <a:avLst/>
          </a:prstGeom>
          <a:noFill/>
        </p:spPr>
        <p:txBody>
          <a:bodyPr wrap="none" lIns="0" rIns="0" tIns="0" bIns="0" anchor="ctr">
            <a:spAutoFit/>
          </a:bodyPr>
          <a:lstStyle/>
          <a:p>
            <a:pPr algn="r"/>
            <a:r>
              <a:rPr sz="900" b="1">
                <a:solidFill>
                  <a:srgbClr val="1E8E3E"/>
                </a:solidFill>
                <a:latin typeface="Segoe UI"/>
              </a:rPr>
              <a:t>+131</a:t>
            </a:r>
          </a:p>
        </p:txBody>
      </p:sp>
      <p:sp>
        <p:nvSpPr>
          <p:cNvPr id="50" name="FMI Legend Chip"/>
          <p:cNvSpPr/>
          <p:nvPr/>
        </p:nvSpPr>
        <p:spPr>
          <a:xfrm>
            <a:off x="4928997" y="5765106"/>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Isosceles Triangle 50"/>
          <p:cNvSpPr/>
          <p:nvPr/>
        </p:nvSpPr>
        <p:spPr>
          <a:xfrm rot="10800000">
            <a:off x="5090922" y="576034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PS Name 10"/>
          <p:cNvSpPr txBox="1"/>
          <p:nvPr/>
        </p:nvSpPr>
        <p:spPr>
          <a:xfrm>
            <a:off x="5233797" y="568414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Moisture Management &amp; Quick-Dry</a:t>
            </a:r>
          </a:p>
        </p:txBody>
      </p:sp>
      <p:sp>
        <p:nvSpPr>
          <p:cNvPr id="53" name="BPS Value 10"/>
          <p:cNvSpPr txBox="1"/>
          <p:nvPr/>
        </p:nvSpPr>
        <p:spPr>
          <a:xfrm>
            <a:off x="6896100" y="5746056"/>
            <a:ext cx="514350" cy="123825"/>
          </a:xfrm>
          <a:prstGeom prst="rect">
            <a:avLst/>
          </a:prstGeom>
          <a:noFill/>
        </p:spPr>
        <p:txBody>
          <a:bodyPr wrap="none" lIns="0" rIns="0" tIns="0" bIns="0" anchor="ctr">
            <a:spAutoFit/>
          </a:bodyPr>
          <a:lstStyle/>
          <a:p>
            <a:pPr algn="r"/>
            <a:r>
              <a:rPr sz="900" b="1">
                <a:solidFill>
                  <a:srgbClr val="D64545"/>
                </a:solidFill>
                <a:latin typeface="Segoe UI"/>
              </a:rPr>
              <a:t>-46</a:t>
            </a:r>
          </a:p>
        </p:txBody>
      </p:sp>
      <p:sp>
        <p:nvSpPr>
          <p:cNvPr id="54" name="Rectangle 53"/>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Eastern Europe Read-out, By Primary Performance Function</a:t>
            </a:r>
          </a:p>
        </p:txBody>
      </p:sp>
      <p:sp>
        <p:nvSpPr>
          <p:cNvPr id="56" name="Rectangle 55"/>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primary performance function, other specialized performance segment is expected to witness the highest CAGR of 7.7% over the forecast period. In terms of value share by primary performance function, the moisture management &amp; quick-dry segment is expected to dominate the market, losing 46 BPS and accounting for 20.9% share by 2036.</a:t>
            </a:r>
          </a:p>
          <a:p>
            <a:pPr algn="l">
              <a:lnSpc>
                <a:spcPct val="110000"/>
              </a:lnSpc>
              <a:spcBef>
                <a:spcPts val="0"/>
              </a:spcBef>
              <a:spcAft>
                <a:spcPts val="500"/>
              </a:spcAft>
            </a:pPr>
            <a:r>
              <a:rPr sz="1150" b="0">
                <a:solidFill>
                  <a:srgbClr val="252423"/>
                </a:solidFill>
                <a:latin typeface="Segoe UI"/>
              </a:rPr>
              <a:t>The abrasion &amp; tear resistance segment is expected to lose 147 BPS over the forecast period to account for 9.6% share by 2036.</a:t>
            </a:r>
          </a:p>
        </p:txBody>
      </p:sp>
      <p:sp>
        <p:nvSpPr>
          <p:cNvPr id="58" name="TextBox 5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Segment Outlook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Eastern Europe</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segment categorizes the market by end-use application.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Sports &amp; Activewear</a:t>
            </a:r>
          </a:p>
        </p:txBody>
      </p:sp>
      <p:sp>
        <p:nvSpPr>
          <p:cNvPr id="21" name="Rectangle 20"/>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61.9</a:t>
            </a:r>
          </a:p>
        </p:txBody>
      </p:sp>
      <p:sp>
        <p:nvSpPr>
          <p:cNvPr id="22" name="Rectangle 21"/>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108.4</a:t>
            </a:r>
          </a:p>
        </p:txBody>
      </p:sp>
      <p:sp>
        <p:nvSpPr>
          <p:cNvPr id="23" name="Rectangle 22"/>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5.8%</a:t>
            </a:r>
          </a:p>
        </p:txBody>
      </p:sp>
      <p:sp>
        <p:nvSpPr>
          <p:cNvPr id="24" name="Oval 23"/>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Intimate &amp; Bodywear</a:t>
            </a:r>
          </a:p>
        </p:txBody>
      </p:sp>
      <p:sp>
        <p:nvSpPr>
          <p:cNvPr id="28" name="Rectangle 27"/>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47.7</a:t>
            </a:r>
          </a:p>
        </p:txBody>
      </p:sp>
      <p:sp>
        <p:nvSpPr>
          <p:cNvPr id="29" name="Rectangle 28"/>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74.4</a:t>
            </a:r>
          </a:p>
        </p:txBody>
      </p:sp>
      <p:sp>
        <p:nvSpPr>
          <p:cNvPr id="30" name="Rectangle 29"/>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4.5%</a:t>
            </a:r>
          </a:p>
        </p:txBody>
      </p:sp>
      <p:sp>
        <p:nvSpPr>
          <p:cNvPr id="31" name="Oval 30"/>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Protective &amp; Occupational Wear</a:t>
            </a:r>
          </a:p>
        </p:txBody>
      </p:sp>
      <p:sp>
        <p:nvSpPr>
          <p:cNvPr id="35" name="Rectangle 34"/>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40.8</a:t>
            </a:r>
          </a:p>
        </p:txBody>
      </p:sp>
      <p:sp>
        <p:nvSpPr>
          <p:cNvPr id="36" name="Rectangle 35"/>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73.3</a:t>
            </a:r>
          </a:p>
        </p:txBody>
      </p:sp>
      <p:sp>
        <p:nvSpPr>
          <p:cNvPr id="37" name="Rectangle 36"/>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6.0%</a:t>
            </a:r>
          </a:p>
        </p:txBody>
      </p:sp>
      <p:sp>
        <p:nvSpPr>
          <p:cNvPr id="38" name="Oval 37"/>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Automotive &amp; Transportation</a:t>
            </a:r>
          </a:p>
        </p:txBody>
      </p:sp>
      <p:sp>
        <p:nvSpPr>
          <p:cNvPr id="42" name="Rectangle 41"/>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37.4</a:t>
            </a:r>
          </a:p>
        </p:txBody>
      </p:sp>
      <p:sp>
        <p:nvSpPr>
          <p:cNvPr id="43" name="Rectangle 42"/>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65.1</a:t>
            </a:r>
          </a:p>
        </p:txBody>
      </p:sp>
      <p:sp>
        <p:nvSpPr>
          <p:cNvPr id="44" name="Rectangle 43"/>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5.7%</a:t>
            </a:r>
          </a:p>
        </p:txBody>
      </p:sp>
      <p:sp>
        <p:nvSpPr>
          <p:cNvPr id="45" name="Oval 44"/>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8" name="Rectangle 47"/>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Among performance knitted fabrics by End-Use application, industrial &amp; technical applications segment is expected to witness the highest CAGR of 6.4% over the forecast period. In terms of value share by End-Use application, the sports &amp; activewear segment is expected to dominate the market, maintaining its share and accounting for 21.7% share by 2036.</a:t>
            </a:r>
          </a:p>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Sports &amp; activewear segment is projected to register 1.5X higher value than intimate &amp; bodywear segment in 2036.</a:t>
            </a:r>
          </a:p>
        </p:txBody>
      </p:sp>
      <p:sp>
        <p:nvSpPr>
          <p:cNvPr id="50" name="Rounded Rectangle 49"/>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2" name="Rectangle 51"/>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Sports &amp; Activewear: </a:t>
            </a:r>
            <a:r>
              <a:rPr sz="1100" b="0">
                <a:solidFill>
                  <a:srgbClr val="252423"/>
                </a:solidFill>
                <a:latin typeface="Segoe UI"/>
              </a:rPr>
              <a:t>22% of 2026 value · 5.8%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Intimate &amp; Bodywear: </a:t>
            </a:r>
            <a:r>
              <a:rPr sz="1100" b="0">
                <a:solidFill>
                  <a:srgbClr val="252423"/>
                </a:solidFill>
                <a:latin typeface="Segoe UI"/>
              </a:rPr>
              <a:t>17% of 2026 value · 4.5%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Protective &amp; Occupational Wear: </a:t>
            </a:r>
            <a:r>
              <a:rPr sz="1100" b="0">
                <a:solidFill>
                  <a:srgbClr val="252423"/>
                </a:solidFill>
                <a:latin typeface="Segoe UI"/>
              </a:rPr>
              <a:t>14% of 2026 value · 6.0% CAGR serves a niche.</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Automotive &amp; Transportation: </a:t>
            </a:r>
            <a:r>
              <a:rPr sz="1100" b="0">
                <a:solidFill>
                  <a:srgbClr val="252423"/>
                </a:solidFill>
                <a:latin typeface="Segoe UI"/>
              </a:rPr>
              <a:t>13% of 2026 value · 5.7% CAGR serves a niche.</a:t>
            </a:r>
          </a:p>
        </p:txBody>
      </p:sp>
      <p:sp>
        <p:nvSpPr>
          <p:cNvPr id="54" name="Rounded Rectangle 53"/>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6" name="Rectangle 55"/>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End-Use Application split shows how demand is distributed across end-use application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8" name="Rectangle 57"/>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End-Use Application segment is projected to grow at a CAGR of 5.8% from 2026 to 2036.</a:t>
            </a:r>
          </a:p>
        </p:txBody>
      </p:sp>
      <p:sp>
        <p:nvSpPr>
          <p:cNvPr id="60" name="TextBox 59"/>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1" name="TextBox 6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Segment Outlook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segment categorizes the market by end-use application.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3257550"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3257550"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Medical &amp; Healthcare</a:t>
            </a:r>
          </a:p>
        </p:txBody>
      </p:sp>
      <p:sp>
        <p:nvSpPr>
          <p:cNvPr id="20" name="Rectangle 19"/>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37.4</a:t>
            </a:r>
          </a:p>
        </p:txBody>
      </p:sp>
      <p:sp>
        <p:nvSpPr>
          <p:cNvPr id="21" name="Rectangle 20"/>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69.5</a:t>
            </a:r>
          </a:p>
        </p:txBody>
      </p:sp>
      <p:sp>
        <p:nvSpPr>
          <p:cNvPr id="22" name="Rectangle 21"/>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6.4%</a:t>
            </a:r>
          </a:p>
        </p:txBody>
      </p:sp>
      <p:sp>
        <p:nvSpPr>
          <p:cNvPr id="23" name="Oval 22"/>
          <p:cNvSpPr/>
          <p:nvPr/>
        </p:nvSpPr>
        <p:spPr>
          <a:xfrm>
            <a:off x="3333750"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24" name="Rounded Rectangle 23"/>
          <p:cNvSpPr/>
          <p:nvPr/>
        </p:nvSpPr>
        <p:spPr>
          <a:xfrm>
            <a:off x="5238750" y="1773916"/>
            <a:ext cx="3257550"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38750" y="1992961"/>
            <a:ext cx="3257550"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Industrial &amp; Technical Applicatio…</a:t>
            </a:r>
          </a:p>
        </p:txBody>
      </p:sp>
      <p:sp>
        <p:nvSpPr>
          <p:cNvPr id="27" name="Rectangle 26"/>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30.5</a:t>
            </a:r>
          </a:p>
        </p:txBody>
      </p:sp>
      <p:sp>
        <p:nvSpPr>
          <p:cNvPr id="28" name="Rectangle 27"/>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56.7</a:t>
            </a:r>
          </a:p>
        </p:txBody>
      </p:sp>
      <p:sp>
        <p:nvSpPr>
          <p:cNvPr id="29" name="Rectangle 28"/>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6.4%</a:t>
            </a:r>
          </a:p>
        </p:txBody>
      </p:sp>
      <p:sp>
        <p:nvSpPr>
          <p:cNvPr id="30" name="Oval 29"/>
          <p:cNvSpPr/>
          <p:nvPr/>
        </p:nvSpPr>
        <p:spPr>
          <a:xfrm>
            <a:off x="6705600"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31" name="Rounded Rectangle 30"/>
          <p:cNvSpPr/>
          <p:nvPr/>
        </p:nvSpPr>
        <p:spPr>
          <a:xfrm>
            <a:off x="8610600" y="1773916"/>
            <a:ext cx="3257550"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10600" y="1992961"/>
            <a:ext cx="3257550"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Footwear</a:t>
            </a:r>
          </a:p>
        </p:txBody>
      </p:sp>
      <p:sp>
        <p:nvSpPr>
          <p:cNvPr id="34" name="Rectangle 33"/>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28.9</a:t>
            </a:r>
          </a:p>
        </p:txBody>
      </p:sp>
      <p:sp>
        <p:nvSpPr>
          <p:cNvPr id="35" name="Rectangle 34"/>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51.6</a:t>
            </a:r>
          </a:p>
        </p:txBody>
      </p:sp>
      <p:sp>
        <p:nvSpPr>
          <p:cNvPr id="36" name="Rectangle 35"/>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6.0%</a:t>
            </a:r>
          </a:p>
        </p:txBody>
      </p:sp>
      <p:sp>
        <p:nvSpPr>
          <p:cNvPr id="37" name="Oval 36"/>
          <p:cNvSpPr/>
          <p:nvPr/>
        </p:nvSpPr>
        <p:spPr>
          <a:xfrm>
            <a:off x="10077450"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38" name="Rounded Rectangle 37"/>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0" name="Rectangle 39"/>
          <p:cNvSpPr/>
          <p:nvPr/>
        </p:nvSpPr>
        <p:spPr>
          <a:xfrm>
            <a:off x="457200" y="4146897"/>
            <a:ext cx="112776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Medical &amp; Healthcare: </a:t>
            </a:r>
            <a:r>
              <a:rPr sz="1100" b="0">
                <a:solidFill>
                  <a:srgbClr val="252423"/>
                </a:solidFill>
                <a:latin typeface="Segoe UI"/>
              </a:rPr>
              <a:t>13% of 2026 value · 6.4% CAGR serves a niche.</a:t>
            </a:r>
          </a:p>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Industrial &amp; Technical Applications: </a:t>
            </a:r>
            <a:r>
              <a:rPr sz="1100" b="0">
                <a:solidFill>
                  <a:srgbClr val="252423"/>
                </a:solidFill>
                <a:latin typeface="Segoe UI"/>
              </a:rPr>
              <a:t>11% of 2026 value · 6.4% CAGR grows fastest.</a:t>
            </a:r>
          </a:p>
          <a:p>
            <a:pPr algn="l">
              <a:lnSpc>
                <a:spcPct val="110000"/>
              </a:lnSpc>
              <a:spcBef>
                <a:spcPts val="0"/>
              </a:spcBef>
              <a:spcAft>
                <a:spcPts val="500"/>
              </a:spcAft>
            </a:pPr>
            <a:r>
              <a:rPr sz="1100" b="0">
                <a:solidFill>
                  <a:srgbClr val="2C6E7F"/>
                </a:solidFill>
                <a:latin typeface="Segoe UI"/>
              </a:rPr>
              <a:t>●  </a:t>
            </a:r>
            <a:r>
              <a:rPr sz="1100" b="1">
                <a:solidFill>
                  <a:srgbClr val="2C6E7F"/>
                </a:solidFill>
                <a:latin typeface="Segoe UI"/>
              </a:rPr>
              <a:t>Footwear: </a:t>
            </a:r>
            <a:r>
              <a:rPr sz="1100" b="0">
                <a:solidFill>
                  <a:srgbClr val="252423"/>
                </a:solidFill>
                <a:latin typeface="Segoe UI"/>
              </a:rPr>
              <a:t>10% of 2026 value · 6.0% CAGR serves a niche.</a:t>
            </a:r>
          </a:p>
        </p:txBody>
      </p:sp>
      <p:sp>
        <p:nvSpPr>
          <p:cNvPr id="42" name="TextBox 41"/>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3" name="TextBox 4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Eastern Europe Market Value &amp; Share Shift, By End-Use Application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End-Use Application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Eastern Europe</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Eastern Europe Value Composition, By End-Use Application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907734"/>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190297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82677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Footwear</a:t>
            </a:r>
          </a:p>
        </p:txBody>
      </p:sp>
      <p:sp>
        <p:nvSpPr>
          <p:cNvPr id="17" name="BPS Value 1"/>
          <p:cNvSpPr txBox="1"/>
          <p:nvPr/>
        </p:nvSpPr>
        <p:spPr>
          <a:xfrm>
            <a:off x="6896100" y="1888684"/>
            <a:ext cx="514350" cy="123825"/>
          </a:xfrm>
          <a:prstGeom prst="rect">
            <a:avLst/>
          </a:prstGeom>
          <a:noFill/>
        </p:spPr>
        <p:txBody>
          <a:bodyPr wrap="none" lIns="0" rIns="0" tIns="0" bIns="0" anchor="ctr">
            <a:spAutoFit/>
          </a:bodyPr>
          <a:lstStyle/>
          <a:p>
            <a:pPr algn="r"/>
            <a:r>
              <a:rPr sz="900" b="1">
                <a:solidFill>
                  <a:srgbClr val="1E8E3E"/>
                </a:solidFill>
                <a:latin typeface="Segoe UI"/>
              </a:rPr>
              <a:t>+20</a:t>
            </a:r>
          </a:p>
        </p:txBody>
      </p:sp>
      <p:sp>
        <p:nvSpPr>
          <p:cNvPr id="18" name="FMI Legend Chip"/>
          <p:cNvSpPr/>
          <p:nvPr/>
        </p:nvSpPr>
        <p:spPr>
          <a:xfrm>
            <a:off x="4928997" y="2404095"/>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239933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232313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Industrial &amp; Technical Applications</a:t>
            </a:r>
          </a:p>
        </p:txBody>
      </p:sp>
      <p:sp>
        <p:nvSpPr>
          <p:cNvPr id="21" name="BPS Value 2"/>
          <p:cNvSpPr txBox="1"/>
          <p:nvPr/>
        </p:nvSpPr>
        <p:spPr>
          <a:xfrm>
            <a:off x="6896100" y="2385045"/>
            <a:ext cx="514350" cy="123825"/>
          </a:xfrm>
          <a:prstGeom prst="rect">
            <a:avLst/>
          </a:prstGeom>
          <a:noFill/>
        </p:spPr>
        <p:txBody>
          <a:bodyPr wrap="none" lIns="0" rIns="0" tIns="0" bIns="0" anchor="ctr">
            <a:spAutoFit/>
          </a:bodyPr>
          <a:lstStyle/>
          <a:p>
            <a:pPr algn="r"/>
            <a:r>
              <a:rPr sz="900" b="1">
                <a:solidFill>
                  <a:srgbClr val="1E8E3E"/>
                </a:solidFill>
                <a:latin typeface="Segoe UI"/>
              </a:rPr>
              <a:t>+65</a:t>
            </a:r>
          </a:p>
        </p:txBody>
      </p:sp>
      <p:sp>
        <p:nvSpPr>
          <p:cNvPr id="22" name="FMI Legend Chip"/>
          <p:cNvSpPr/>
          <p:nvPr/>
        </p:nvSpPr>
        <p:spPr>
          <a:xfrm>
            <a:off x="4928997" y="2962055"/>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rot="10800000">
            <a:off x="5090922" y="295729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88109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Automotive &amp; Transportation</a:t>
            </a:r>
          </a:p>
        </p:txBody>
      </p:sp>
      <p:sp>
        <p:nvSpPr>
          <p:cNvPr id="25" name="BPS Value 3"/>
          <p:cNvSpPr txBox="1"/>
          <p:nvPr/>
        </p:nvSpPr>
        <p:spPr>
          <a:xfrm>
            <a:off x="6896100" y="2943005"/>
            <a:ext cx="514350" cy="123825"/>
          </a:xfrm>
          <a:prstGeom prst="rect">
            <a:avLst/>
          </a:prstGeom>
          <a:noFill/>
        </p:spPr>
        <p:txBody>
          <a:bodyPr wrap="none" lIns="0" rIns="0" tIns="0" bIns="0" anchor="ctr">
            <a:spAutoFit/>
          </a:bodyPr>
          <a:lstStyle/>
          <a:p>
            <a:pPr algn="r"/>
            <a:r>
              <a:rPr sz="900" b="1">
                <a:solidFill>
                  <a:srgbClr val="D64545"/>
                </a:solidFill>
                <a:latin typeface="Segoe UI"/>
              </a:rPr>
              <a:t>-12</a:t>
            </a:r>
          </a:p>
        </p:txBody>
      </p:sp>
      <p:sp>
        <p:nvSpPr>
          <p:cNvPr id="26" name="FMI Legend Chip"/>
          <p:cNvSpPr/>
          <p:nvPr/>
        </p:nvSpPr>
        <p:spPr>
          <a:xfrm>
            <a:off x="4928997" y="3578476"/>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5090922" y="3573713"/>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349751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Medical &amp; Healthcare</a:t>
            </a:r>
          </a:p>
        </p:txBody>
      </p:sp>
      <p:sp>
        <p:nvSpPr>
          <p:cNvPr id="29" name="BPS Value 4"/>
          <p:cNvSpPr txBox="1"/>
          <p:nvPr/>
        </p:nvSpPr>
        <p:spPr>
          <a:xfrm>
            <a:off x="6896100" y="3559426"/>
            <a:ext cx="514350" cy="123825"/>
          </a:xfrm>
          <a:prstGeom prst="rect">
            <a:avLst/>
          </a:prstGeom>
          <a:noFill/>
        </p:spPr>
        <p:txBody>
          <a:bodyPr wrap="none" lIns="0" rIns="0" tIns="0" bIns="0" anchor="ctr">
            <a:spAutoFit/>
          </a:bodyPr>
          <a:lstStyle/>
          <a:p>
            <a:pPr algn="r"/>
            <a:r>
              <a:rPr sz="900" b="1">
                <a:solidFill>
                  <a:srgbClr val="1E8E3E"/>
                </a:solidFill>
                <a:latin typeface="Segoe UI"/>
              </a:rPr>
              <a:t>+78</a:t>
            </a:r>
          </a:p>
        </p:txBody>
      </p:sp>
      <p:sp>
        <p:nvSpPr>
          <p:cNvPr id="30" name="FMI Legend Chip"/>
          <p:cNvSpPr/>
          <p:nvPr/>
        </p:nvSpPr>
        <p:spPr>
          <a:xfrm>
            <a:off x="4928997" y="4232876"/>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5090922" y="4228113"/>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415191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Protective &amp; Occupational Wear</a:t>
            </a:r>
          </a:p>
        </p:txBody>
      </p:sp>
      <p:sp>
        <p:nvSpPr>
          <p:cNvPr id="33" name="BPS Value 5"/>
          <p:cNvSpPr txBox="1"/>
          <p:nvPr/>
        </p:nvSpPr>
        <p:spPr>
          <a:xfrm>
            <a:off x="6896100" y="4213826"/>
            <a:ext cx="514350" cy="123825"/>
          </a:xfrm>
          <a:prstGeom prst="rect">
            <a:avLst/>
          </a:prstGeom>
          <a:noFill/>
        </p:spPr>
        <p:txBody>
          <a:bodyPr wrap="none" lIns="0" rIns="0" tIns="0" bIns="0" anchor="ctr">
            <a:spAutoFit/>
          </a:bodyPr>
          <a:lstStyle/>
          <a:p>
            <a:pPr algn="r"/>
            <a:r>
              <a:rPr sz="900" b="1">
                <a:solidFill>
                  <a:srgbClr val="1E8E3E"/>
                </a:solidFill>
                <a:latin typeface="Segoe UI"/>
              </a:rPr>
              <a:t>+36</a:t>
            </a:r>
          </a:p>
        </p:txBody>
      </p:sp>
      <p:sp>
        <p:nvSpPr>
          <p:cNvPr id="34" name="FMI Legend Chip"/>
          <p:cNvSpPr/>
          <p:nvPr/>
        </p:nvSpPr>
        <p:spPr>
          <a:xfrm>
            <a:off x="4928997" y="4909732"/>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rot="10800000">
            <a:off x="5090922" y="490497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482877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Intimate &amp; Bodywear</a:t>
            </a:r>
          </a:p>
        </p:txBody>
      </p:sp>
      <p:sp>
        <p:nvSpPr>
          <p:cNvPr id="37" name="BPS Value 6"/>
          <p:cNvSpPr txBox="1"/>
          <p:nvPr/>
        </p:nvSpPr>
        <p:spPr>
          <a:xfrm>
            <a:off x="6896100" y="4890682"/>
            <a:ext cx="514350" cy="123825"/>
          </a:xfrm>
          <a:prstGeom prst="rect">
            <a:avLst/>
          </a:prstGeom>
          <a:noFill/>
        </p:spPr>
        <p:txBody>
          <a:bodyPr wrap="none" lIns="0" rIns="0" tIns="0" bIns="0" anchor="ctr">
            <a:spAutoFit/>
          </a:bodyPr>
          <a:lstStyle/>
          <a:p>
            <a:pPr algn="r"/>
            <a:r>
              <a:rPr sz="900" b="1">
                <a:solidFill>
                  <a:srgbClr val="D64545"/>
                </a:solidFill>
                <a:latin typeface="Segoe UI"/>
              </a:rPr>
              <a:t>-186</a:t>
            </a:r>
          </a:p>
        </p:txBody>
      </p:sp>
      <p:sp>
        <p:nvSpPr>
          <p:cNvPr id="38" name="FMI Legend Chip"/>
          <p:cNvSpPr/>
          <p:nvPr/>
        </p:nvSpPr>
        <p:spPr>
          <a:xfrm>
            <a:off x="4928997" y="5747085"/>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rot="10800000">
            <a:off x="5090922" y="574232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5233797" y="566612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Sports &amp; Activewear</a:t>
            </a:r>
          </a:p>
        </p:txBody>
      </p:sp>
      <p:sp>
        <p:nvSpPr>
          <p:cNvPr id="41" name="BPS Value 7"/>
          <p:cNvSpPr txBox="1"/>
          <p:nvPr/>
        </p:nvSpPr>
        <p:spPr>
          <a:xfrm>
            <a:off x="6896100" y="5728035"/>
            <a:ext cx="514350" cy="123825"/>
          </a:xfrm>
          <a:prstGeom prst="rect">
            <a:avLst/>
          </a:prstGeom>
          <a:noFill/>
        </p:spPr>
        <p:txBody>
          <a:bodyPr wrap="none" lIns="0" rIns="0" tIns="0" bIns="0" anchor="ctr">
            <a:spAutoFit/>
          </a:bodyPr>
          <a:lstStyle/>
          <a:p>
            <a:pPr algn="r"/>
            <a:r>
              <a:rPr sz="900" b="1">
                <a:solidFill>
                  <a:srgbClr val="D64545"/>
                </a:solidFill>
                <a:latin typeface="Segoe UI"/>
              </a:rPr>
              <a:t>-2</a:t>
            </a:r>
          </a:p>
        </p:txBody>
      </p:sp>
      <p:sp>
        <p:nvSpPr>
          <p:cNvPr id="42" name="Rectangle 41"/>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Eastern Europe Read-out, By End-Use Application</a:t>
            </a:r>
          </a:p>
        </p:txBody>
      </p:sp>
      <p:sp>
        <p:nvSpPr>
          <p:cNvPr id="44" name="Rectangle 43"/>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End-Use application, industrial &amp; technical applications segment is expected to witness the highest CAGR of 6.4% over the forecast period. In terms of value share by End-Use application, the sports &amp; activewear segment is expected to dominate the market, maintaining its share and accounting for 21.7% share by 2036.</a:t>
            </a:r>
          </a:p>
          <a:p>
            <a:pPr algn="l">
              <a:lnSpc>
                <a:spcPct val="110000"/>
              </a:lnSpc>
              <a:spcBef>
                <a:spcPts val="0"/>
              </a:spcBef>
              <a:spcAft>
                <a:spcPts val="500"/>
              </a:spcAft>
            </a:pPr>
            <a:r>
              <a:rPr sz="1150" b="0">
                <a:solidFill>
                  <a:srgbClr val="252423"/>
                </a:solidFill>
                <a:latin typeface="Segoe UI"/>
              </a:rPr>
              <a:t>The intimate &amp; bodywear segment is expected to lose 186 BPS over the forecast period to account for 14.9% share by 2036.</a:t>
            </a:r>
          </a:p>
        </p:txBody>
      </p:sp>
      <p:sp>
        <p:nvSpPr>
          <p:cNvPr id="46" name="TextBox 4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Fabric Weight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3 sub-segments of Fabric Weight,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Eastern Europe</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Fabric Weight segment categorizes the market by fabric weight.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325755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325755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Medium Weight 150–250 GSM</a:t>
            </a:r>
          </a:p>
        </p:txBody>
      </p:sp>
      <p:sp>
        <p:nvSpPr>
          <p:cNvPr id="21" name="Rectangle 20"/>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137.7</a:t>
            </a:r>
          </a:p>
        </p:txBody>
      </p:sp>
      <p:sp>
        <p:nvSpPr>
          <p:cNvPr id="22" name="Rectangle 21"/>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230.4</a:t>
            </a:r>
          </a:p>
        </p:txBody>
      </p:sp>
      <p:sp>
        <p:nvSpPr>
          <p:cNvPr id="23" name="Rectangle 22"/>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5.3%</a:t>
            </a:r>
          </a:p>
        </p:txBody>
      </p:sp>
      <p:sp>
        <p:nvSpPr>
          <p:cNvPr id="24" name="Oval 23"/>
          <p:cNvSpPr/>
          <p:nvPr/>
        </p:nvSpPr>
        <p:spPr>
          <a:xfrm>
            <a:off x="333375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5238750" y="1773916"/>
            <a:ext cx="325755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238750" y="1992961"/>
            <a:ext cx="325755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Lightweight Below 150 GSM</a:t>
            </a:r>
          </a:p>
        </p:txBody>
      </p:sp>
      <p:sp>
        <p:nvSpPr>
          <p:cNvPr id="28" name="Rectangle 27"/>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93.5</a:t>
            </a:r>
          </a:p>
        </p:txBody>
      </p:sp>
      <p:sp>
        <p:nvSpPr>
          <p:cNvPr id="29" name="Rectangle 28"/>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165.9</a:t>
            </a:r>
          </a:p>
        </p:txBody>
      </p:sp>
      <p:sp>
        <p:nvSpPr>
          <p:cNvPr id="30" name="Rectangle 29"/>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5.9%</a:t>
            </a:r>
          </a:p>
        </p:txBody>
      </p:sp>
      <p:sp>
        <p:nvSpPr>
          <p:cNvPr id="31" name="Oval 30"/>
          <p:cNvSpPr/>
          <p:nvPr/>
        </p:nvSpPr>
        <p:spPr>
          <a:xfrm>
            <a:off x="670560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8610600" y="1773916"/>
            <a:ext cx="325755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10600" y="1992961"/>
            <a:ext cx="325755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Heavyweight Above 250 GSM</a:t>
            </a:r>
          </a:p>
        </p:txBody>
      </p:sp>
      <p:sp>
        <p:nvSpPr>
          <p:cNvPr id="35" name="Rectangle 34"/>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53.3</a:t>
            </a:r>
          </a:p>
        </p:txBody>
      </p:sp>
      <p:sp>
        <p:nvSpPr>
          <p:cNvPr id="36" name="Rectangle 35"/>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102.7</a:t>
            </a:r>
          </a:p>
        </p:txBody>
      </p:sp>
      <p:sp>
        <p:nvSpPr>
          <p:cNvPr id="37" name="Rectangle 36"/>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6.8%</a:t>
            </a:r>
          </a:p>
        </p:txBody>
      </p:sp>
      <p:sp>
        <p:nvSpPr>
          <p:cNvPr id="38" name="Oval 37"/>
          <p:cNvSpPr/>
          <p:nvPr/>
        </p:nvSpPr>
        <p:spPr>
          <a:xfrm>
            <a:off x="1007745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1" name="Rectangle 40"/>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fabric weight, heavyweight above 250 GSM segment is expected to witness the highest CAGR of 6.8% over the forecast period. In terms of value share by fabric weight, the medium weight 150-250 GSM segment is expected to dominate the market, losing 224 BPS and accounting for 46.2%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Medium weight 150-250 GSM segment is projected to register 1.4X higher value than lightweight below 150 GSM segment in 2036.</a:t>
            </a:r>
          </a:p>
        </p:txBody>
      </p:sp>
      <p:sp>
        <p:nvSpPr>
          <p:cNvPr id="43" name="Rounded Rectangle 42"/>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5" name="Rectangle 44"/>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Medium Weight 150–250 GSM: </a:t>
            </a:r>
            <a:r>
              <a:rPr sz="1100" b="0">
                <a:solidFill>
                  <a:srgbClr val="252423"/>
                </a:solidFill>
                <a:latin typeface="Segoe UI"/>
              </a:rPr>
              <a:t>48% of 2026 value · 5.3%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Lightweight Below 150 GSM: </a:t>
            </a:r>
            <a:r>
              <a:rPr sz="1100" b="0">
                <a:solidFill>
                  <a:srgbClr val="252423"/>
                </a:solidFill>
                <a:latin typeface="Segoe UI"/>
              </a:rPr>
              <a:t>33% of 2026 value · 5.9%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Heavyweight Above 250 GSM: </a:t>
            </a:r>
            <a:r>
              <a:rPr sz="1100" b="0">
                <a:solidFill>
                  <a:srgbClr val="252423"/>
                </a:solidFill>
                <a:latin typeface="Segoe UI"/>
              </a:rPr>
              <a:t>19% of 2026 value · 6.8% CAGR grows fastest.</a:t>
            </a:r>
          </a:p>
        </p:txBody>
      </p:sp>
      <p:sp>
        <p:nvSpPr>
          <p:cNvPr id="47" name="Rounded Rectangle 46"/>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9" name="Rectangle 48"/>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Fabric Weight split shows how demand is distributed across fabric weight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1" name="Rectangle 50"/>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Fabric Weight segment is projected to grow at a CAGR of 5.8% from 2026 to 2036.</a:t>
            </a:r>
          </a:p>
        </p:txBody>
      </p:sp>
      <p:sp>
        <p:nvSpPr>
          <p:cNvPr id="53" name="TextBox 52"/>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54" name="TextBox 5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Eastern Europe Market Value &amp; Share Shift, By Fabric Weight</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Fabric Weight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Eastern Europe</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Eastern Europe Value Composition, By Fabric Weight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2141949"/>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2137186"/>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206098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Heavyweight Above 250 GSM</a:t>
            </a:r>
          </a:p>
        </p:txBody>
      </p:sp>
      <p:sp>
        <p:nvSpPr>
          <p:cNvPr id="17" name="BPS Value 1"/>
          <p:cNvSpPr txBox="1"/>
          <p:nvPr/>
        </p:nvSpPr>
        <p:spPr>
          <a:xfrm>
            <a:off x="6896100" y="2122899"/>
            <a:ext cx="514350" cy="123825"/>
          </a:xfrm>
          <a:prstGeom prst="rect">
            <a:avLst/>
          </a:prstGeom>
          <a:noFill/>
        </p:spPr>
        <p:txBody>
          <a:bodyPr wrap="none" lIns="0" rIns="0" tIns="0" bIns="0" anchor="ctr">
            <a:spAutoFit/>
          </a:bodyPr>
          <a:lstStyle/>
          <a:p>
            <a:pPr algn="r"/>
            <a:r>
              <a:rPr sz="900" b="1">
                <a:solidFill>
                  <a:srgbClr val="1E8E3E"/>
                </a:solidFill>
                <a:latin typeface="Segoe UI"/>
              </a:rPr>
              <a:t>+187</a:t>
            </a:r>
          </a:p>
        </p:txBody>
      </p:sp>
      <p:sp>
        <p:nvSpPr>
          <p:cNvPr id="18" name="FMI Legend Chip"/>
          <p:cNvSpPr/>
          <p:nvPr/>
        </p:nvSpPr>
        <p:spPr>
          <a:xfrm>
            <a:off x="4928997" y="3372669"/>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3367907"/>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329170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Lightweight Below 150 GSM</a:t>
            </a:r>
          </a:p>
        </p:txBody>
      </p:sp>
      <p:sp>
        <p:nvSpPr>
          <p:cNvPr id="21" name="BPS Value 2"/>
          <p:cNvSpPr txBox="1"/>
          <p:nvPr/>
        </p:nvSpPr>
        <p:spPr>
          <a:xfrm>
            <a:off x="6896100" y="3353619"/>
            <a:ext cx="514350" cy="123825"/>
          </a:xfrm>
          <a:prstGeom prst="rect">
            <a:avLst/>
          </a:prstGeom>
          <a:noFill/>
        </p:spPr>
        <p:txBody>
          <a:bodyPr wrap="none" lIns="0" rIns="0" tIns="0" bIns="0" anchor="ctr">
            <a:spAutoFit/>
          </a:bodyPr>
          <a:lstStyle/>
          <a:p>
            <a:pPr algn="r"/>
            <a:r>
              <a:rPr sz="900" b="1">
                <a:solidFill>
                  <a:srgbClr val="1E8E3E"/>
                </a:solidFill>
                <a:latin typeface="Segoe UI"/>
              </a:rPr>
              <a:t>+37</a:t>
            </a:r>
          </a:p>
        </p:txBody>
      </p:sp>
      <p:sp>
        <p:nvSpPr>
          <p:cNvPr id="22" name="FMI Legend Chip"/>
          <p:cNvSpPr/>
          <p:nvPr/>
        </p:nvSpPr>
        <p:spPr>
          <a:xfrm>
            <a:off x="4928997" y="5188167"/>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rot="10800000">
            <a:off x="5090922" y="5183405"/>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510720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Medium Weight 150–250 GSM</a:t>
            </a:r>
          </a:p>
        </p:txBody>
      </p:sp>
      <p:sp>
        <p:nvSpPr>
          <p:cNvPr id="25" name="BPS Value 3"/>
          <p:cNvSpPr txBox="1"/>
          <p:nvPr/>
        </p:nvSpPr>
        <p:spPr>
          <a:xfrm>
            <a:off x="6896100" y="5169117"/>
            <a:ext cx="514350" cy="123825"/>
          </a:xfrm>
          <a:prstGeom prst="rect">
            <a:avLst/>
          </a:prstGeom>
          <a:noFill/>
        </p:spPr>
        <p:txBody>
          <a:bodyPr wrap="none" lIns="0" rIns="0" tIns="0" bIns="0" anchor="ctr">
            <a:spAutoFit/>
          </a:bodyPr>
          <a:lstStyle/>
          <a:p>
            <a:pPr algn="r"/>
            <a:r>
              <a:rPr sz="900" b="1">
                <a:solidFill>
                  <a:srgbClr val="D64545"/>
                </a:solidFill>
                <a:latin typeface="Segoe UI"/>
              </a:rPr>
              <a:t>-224</a:t>
            </a:r>
          </a:p>
        </p:txBody>
      </p:sp>
      <p:sp>
        <p:nvSpPr>
          <p:cNvPr id="26" name="Rectangle 25"/>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Eastern Europe Read-out, By Fabric Weight</a:t>
            </a:r>
          </a:p>
        </p:txBody>
      </p:sp>
      <p:sp>
        <p:nvSpPr>
          <p:cNvPr id="28" name="Rectangle 27"/>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fabric weight, heavyweight above 250 GSM segment is expected to witness the highest CAGR of 6.8% over the forecast period.</a:t>
            </a:r>
          </a:p>
          <a:p>
            <a:pPr algn="l">
              <a:lnSpc>
                <a:spcPct val="110000"/>
              </a:lnSpc>
              <a:spcBef>
                <a:spcPts val="0"/>
              </a:spcBef>
              <a:spcAft>
                <a:spcPts val="500"/>
              </a:spcAft>
            </a:pPr>
            <a:r>
              <a:rPr sz="1150" b="0">
                <a:solidFill>
                  <a:srgbClr val="252423"/>
                </a:solidFill>
                <a:latin typeface="Segoe UI"/>
              </a:rPr>
              <a:t>In terms of value share by fabric weight, the medium weight 150-250 GSM segment is expected to dominate the market, losing 224 BPS and accounting for 46.2% share by 2036.</a:t>
            </a:r>
          </a:p>
        </p:txBody>
      </p:sp>
      <p:sp>
        <p:nvSpPr>
          <p:cNvPr id="30" name="TextBox 2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Vs Material Segment Outlook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Vs Material,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Eastern Europe</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Vs Material segment categorizes the market by end-use application vs material.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Sports &amp; Activewear</a:t>
            </a:r>
          </a:p>
        </p:txBody>
      </p:sp>
      <p:sp>
        <p:nvSpPr>
          <p:cNvPr id="21" name="Rectangle 20"/>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61.9</a:t>
            </a:r>
          </a:p>
        </p:txBody>
      </p:sp>
      <p:sp>
        <p:nvSpPr>
          <p:cNvPr id="22" name="Rectangle 21"/>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108.4</a:t>
            </a:r>
          </a:p>
        </p:txBody>
      </p:sp>
      <p:sp>
        <p:nvSpPr>
          <p:cNvPr id="23" name="Rectangle 22"/>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5.8%</a:t>
            </a:r>
          </a:p>
        </p:txBody>
      </p:sp>
      <p:sp>
        <p:nvSpPr>
          <p:cNvPr id="24" name="Oval 23"/>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Intimate &amp; Bodywear</a:t>
            </a:r>
          </a:p>
        </p:txBody>
      </p:sp>
      <p:sp>
        <p:nvSpPr>
          <p:cNvPr id="28" name="Rectangle 27"/>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47.7</a:t>
            </a:r>
          </a:p>
        </p:txBody>
      </p:sp>
      <p:sp>
        <p:nvSpPr>
          <p:cNvPr id="29" name="Rectangle 28"/>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74.4</a:t>
            </a:r>
          </a:p>
        </p:txBody>
      </p:sp>
      <p:sp>
        <p:nvSpPr>
          <p:cNvPr id="30" name="Rectangle 29"/>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4.5%</a:t>
            </a:r>
          </a:p>
        </p:txBody>
      </p:sp>
      <p:sp>
        <p:nvSpPr>
          <p:cNvPr id="31" name="Oval 30"/>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Protective &amp; Occupational Wear</a:t>
            </a:r>
          </a:p>
        </p:txBody>
      </p:sp>
      <p:sp>
        <p:nvSpPr>
          <p:cNvPr id="35" name="Rectangle 34"/>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40.8</a:t>
            </a:r>
          </a:p>
        </p:txBody>
      </p:sp>
      <p:sp>
        <p:nvSpPr>
          <p:cNvPr id="36" name="Rectangle 35"/>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73.3</a:t>
            </a:r>
          </a:p>
        </p:txBody>
      </p:sp>
      <p:sp>
        <p:nvSpPr>
          <p:cNvPr id="37" name="Rectangle 36"/>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6.0%</a:t>
            </a:r>
          </a:p>
        </p:txBody>
      </p:sp>
      <p:sp>
        <p:nvSpPr>
          <p:cNvPr id="38" name="Oval 37"/>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Automotive &amp; Transportation</a:t>
            </a:r>
          </a:p>
        </p:txBody>
      </p:sp>
      <p:sp>
        <p:nvSpPr>
          <p:cNvPr id="42" name="Rectangle 41"/>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37.4</a:t>
            </a:r>
          </a:p>
        </p:txBody>
      </p:sp>
      <p:sp>
        <p:nvSpPr>
          <p:cNvPr id="43" name="Rectangle 42"/>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65.1</a:t>
            </a:r>
          </a:p>
        </p:txBody>
      </p:sp>
      <p:sp>
        <p:nvSpPr>
          <p:cNvPr id="44" name="Rectangle 43"/>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5.7%</a:t>
            </a:r>
          </a:p>
        </p:txBody>
      </p:sp>
      <p:sp>
        <p:nvSpPr>
          <p:cNvPr id="45" name="Oval 44"/>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8" name="Rectangle 47"/>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Among performance knitted fabrics by End-Use application vs material, industrial &amp; technical applications segment is expected to witness the highest CAGR of 6.4% over the forecast period. In terms of value share by End-Use application vs material, the sports &amp; activewear segment is expected to dominate the market, maintaining its share and accounting for 21.7% share by 2036.</a:t>
            </a:r>
          </a:p>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Sports &amp; activewear segment is projected to register 1.5X higher value than intimate &amp; bodywear segment in 2036.</a:t>
            </a:r>
          </a:p>
        </p:txBody>
      </p:sp>
      <p:sp>
        <p:nvSpPr>
          <p:cNvPr id="50" name="Rounded Rectangle 49"/>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2" name="Rectangle 51"/>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Sports &amp; Activewear: </a:t>
            </a:r>
            <a:r>
              <a:rPr sz="1100" b="0">
                <a:solidFill>
                  <a:srgbClr val="252423"/>
                </a:solidFill>
                <a:latin typeface="Segoe UI"/>
              </a:rPr>
              <a:t>22% of 2026 value · 5.8%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Intimate &amp; Bodywear: </a:t>
            </a:r>
            <a:r>
              <a:rPr sz="1100" b="0">
                <a:solidFill>
                  <a:srgbClr val="252423"/>
                </a:solidFill>
                <a:latin typeface="Segoe UI"/>
              </a:rPr>
              <a:t>17% of 2026 value · 4.5%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Protective &amp; Occupational Wear: </a:t>
            </a:r>
            <a:r>
              <a:rPr sz="1100" b="0">
                <a:solidFill>
                  <a:srgbClr val="252423"/>
                </a:solidFill>
                <a:latin typeface="Segoe UI"/>
              </a:rPr>
              <a:t>14% of 2026 value · 6.0% CAGR serves a niche.</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Automotive &amp; Transportation: </a:t>
            </a:r>
            <a:r>
              <a:rPr sz="1100" b="0">
                <a:solidFill>
                  <a:srgbClr val="252423"/>
                </a:solidFill>
                <a:latin typeface="Segoe UI"/>
              </a:rPr>
              <a:t>13% of 2026 value · 5.7% CAGR serves a niche.</a:t>
            </a:r>
          </a:p>
        </p:txBody>
      </p:sp>
      <p:sp>
        <p:nvSpPr>
          <p:cNvPr id="54" name="Rounded Rectangle 53"/>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6" name="Rectangle 55"/>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End-Use Application Vs Material split shows how demand is distributed across end-use application vs material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8" name="Rectangle 57"/>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End-Use Application Vs Material segment is projected to grow at a CAGR of 5.8% from 2026 to 2036.</a:t>
            </a:r>
          </a:p>
        </p:txBody>
      </p:sp>
      <p:sp>
        <p:nvSpPr>
          <p:cNvPr id="60" name="TextBox 59"/>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1" name="TextBox 6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Vs Material Segment Outlook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Vs Material,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Vs Material segment categorizes the market by end-use application vs material.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3257550"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3257550"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Medical &amp; Healthcare</a:t>
            </a:r>
          </a:p>
        </p:txBody>
      </p:sp>
      <p:sp>
        <p:nvSpPr>
          <p:cNvPr id="20" name="Rectangle 19"/>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37.4</a:t>
            </a:r>
          </a:p>
        </p:txBody>
      </p:sp>
      <p:sp>
        <p:nvSpPr>
          <p:cNvPr id="21" name="Rectangle 20"/>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69.5</a:t>
            </a:r>
          </a:p>
        </p:txBody>
      </p:sp>
      <p:sp>
        <p:nvSpPr>
          <p:cNvPr id="22" name="Rectangle 21"/>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6.4%</a:t>
            </a:r>
          </a:p>
        </p:txBody>
      </p:sp>
      <p:sp>
        <p:nvSpPr>
          <p:cNvPr id="23" name="Oval 22"/>
          <p:cNvSpPr/>
          <p:nvPr/>
        </p:nvSpPr>
        <p:spPr>
          <a:xfrm>
            <a:off x="3333750"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24" name="Rounded Rectangle 23"/>
          <p:cNvSpPr/>
          <p:nvPr/>
        </p:nvSpPr>
        <p:spPr>
          <a:xfrm>
            <a:off x="5238750" y="1773916"/>
            <a:ext cx="3257550"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38750" y="1992961"/>
            <a:ext cx="3257550"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Industrial &amp; Technical Applicatio…</a:t>
            </a:r>
          </a:p>
        </p:txBody>
      </p:sp>
      <p:sp>
        <p:nvSpPr>
          <p:cNvPr id="27" name="Rectangle 26"/>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30.5</a:t>
            </a:r>
          </a:p>
        </p:txBody>
      </p:sp>
      <p:sp>
        <p:nvSpPr>
          <p:cNvPr id="28" name="Rectangle 27"/>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56.7</a:t>
            </a:r>
          </a:p>
        </p:txBody>
      </p:sp>
      <p:sp>
        <p:nvSpPr>
          <p:cNvPr id="29" name="Rectangle 28"/>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6.4%</a:t>
            </a:r>
          </a:p>
        </p:txBody>
      </p:sp>
      <p:sp>
        <p:nvSpPr>
          <p:cNvPr id="30" name="Oval 29"/>
          <p:cNvSpPr/>
          <p:nvPr/>
        </p:nvSpPr>
        <p:spPr>
          <a:xfrm>
            <a:off x="6705600"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31" name="Rounded Rectangle 30"/>
          <p:cNvSpPr/>
          <p:nvPr/>
        </p:nvSpPr>
        <p:spPr>
          <a:xfrm>
            <a:off x="8610600" y="1773916"/>
            <a:ext cx="3257550"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10600" y="1992961"/>
            <a:ext cx="3257550"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Footwear</a:t>
            </a:r>
          </a:p>
        </p:txBody>
      </p:sp>
      <p:sp>
        <p:nvSpPr>
          <p:cNvPr id="34" name="Rectangle 33"/>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28.9</a:t>
            </a:r>
          </a:p>
        </p:txBody>
      </p:sp>
      <p:sp>
        <p:nvSpPr>
          <p:cNvPr id="35" name="Rectangle 34"/>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51.6</a:t>
            </a:r>
          </a:p>
        </p:txBody>
      </p:sp>
      <p:sp>
        <p:nvSpPr>
          <p:cNvPr id="36" name="Rectangle 35"/>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6.0%</a:t>
            </a:r>
          </a:p>
        </p:txBody>
      </p:sp>
      <p:sp>
        <p:nvSpPr>
          <p:cNvPr id="37" name="Oval 36"/>
          <p:cNvSpPr/>
          <p:nvPr/>
        </p:nvSpPr>
        <p:spPr>
          <a:xfrm>
            <a:off x="10077450"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38" name="Rounded Rectangle 37"/>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0" name="Rectangle 39"/>
          <p:cNvSpPr/>
          <p:nvPr/>
        </p:nvSpPr>
        <p:spPr>
          <a:xfrm>
            <a:off x="457200" y="4146897"/>
            <a:ext cx="112776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Medical &amp; Healthcare: </a:t>
            </a:r>
            <a:r>
              <a:rPr sz="1100" b="0">
                <a:solidFill>
                  <a:srgbClr val="252423"/>
                </a:solidFill>
                <a:latin typeface="Segoe UI"/>
              </a:rPr>
              <a:t>13% of 2026 value · 6.4% CAGR serves a niche.</a:t>
            </a:r>
          </a:p>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Industrial &amp; Technical Applications: </a:t>
            </a:r>
            <a:r>
              <a:rPr sz="1100" b="0">
                <a:solidFill>
                  <a:srgbClr val="252423"/>
                </a:solidFill>
                <a:latin typeface="Segoe UI"/>
              </a:rPr>
              <a:t>11% of 2026 value · 6.4% CAGR grows fastest.</a:t>
            </a:r>
          </a:p>
          <a:p>
            <a:pPr algn="l">
              <a:lnSpc>
                <a:spcPct val="110000"/>
              </a:lnSpc>
              <a:spcBef>
                <a:spcPts val="0"/>
              </a:spcBef>
              <a:spcAft>
                <a:spcPts val="500"/>
              </a:spcAft>
            </a:pPr>
            <a:r>
              <a:rPr sz="1100" b="0">
                <a:solidFill>
                  <a:srgbClr val="2C6E7F"/>
                </a:solidFill>
                <a:latin typeface="Segoe UI"/>
              </a:rPr>
              <a:t>●  </a:t>
            </a:r>
            <a:r>
              <a:rPr sz="1100" b="1">
                <a:solidFill>
                  <a:srgbClr val="2C6E7F"/>
                </a:solidFill>
                <a:latin typeface="Segoe UI"/>
              </a:rPr>
              <a:t>Footwear: </a:t>
            </a:r>
            <a:r>
              <a:rPr sz="1100" b="0">
                <a:solidFill>
                  <a:srgbClr val="252423"/>
                </a:solidFill>
                <a:latin typeface="Segoe UI"/>
              </a:rPr>
              <a:t>10% of 2026 value · 6.0% CAGR serves a niche.</a:t>
            </a:r>
          </a:p>
        </p:txBody>
      </p:sp>
      <p:sp>
        <p:nvSpPr>
          <p:cNvPr id="42" name="TextBox 41"/>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3" name="TextBox 4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Eastern Europe Market Value &amp; Share Shift, By End-Use Application Vs Material</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End-Use Application Vs Material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Eastern Europe</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Eastern Europe Value Composition, By End-Use Application Vs Material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907730"/>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1902968"/>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826768"/>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Footwear</a:t>
            </a:r>
          </a:p>
        </p:txBody>
      </p:sp>
      <p:sp>
        <p:nvSpPr>
          <p:cNvPr id="17" name="BPS Value 1"/>
          <p:cNvSpPr txBox="1"/>
          <p:nvPr/>
        </p:nvSpPr>
        <p:spPr>
          <a:xfrm>
            <a:off x="6896100" y="1888680"/>
            <a:ext cx="514350" cy="123825"/>
          </a:xfrm>
          <a:prstGeom prst="rect">
            <a:avLst/>
          </a:prstGeom>
          <a:noFill/>
        </p:spPr>
        <p:txBody>
          <a:bodyPr wrap="none" lIns="0" rIns="0" tIns="0" bIns="0" anchor="ctr">
            <a:spAutoFit/>
          </a:bodyPr>
          <a:lstStyle/>
          <a:p>
            <a:pPr algn="r"/>
            <a:r>
              <a:rPr sz="900" b="1">
                <a:solidFill>
                  <a:srgbClr val="1E8E3E"/>
                </a:solidFill>
                <a:latin typeface="Segoe UI"/>
              </a:rPr>
              <a:t>+20</a:t>
            </a:r>
          </a:p>
        </p:txBody>
      </p:sp>
      <p:sp>
        <p:nvSpPr>
          <p:cNvPr id="18" name="FMI Legend Chip"/>
          <p:cNvSpPr/>
          <p:nvPr/>
        </p:nvSpPr>
        <p:spPr>
          <a:xfrm>
            <a:off x="4928997" y="2404087"/>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2399325"/>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232312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Industrial &amp; Technical Applications</a:t>
            </a:r>
          </a:p>
        </p:txBody>
      </p:sp>
      <p:sp>
        <p:nvSpPr>
          <p:cNvPr id="21" name="BPS Value 2"/>
          <p:cNvSpPr txBox="1"/>
          <p:nvPr/>
        </p:nvSpPr>
        <p:spPr>
          <a:xfrm>
            <a:off x="6896100" y="2385037"/>
            <a:ext cx="514350" cy="123825"/>
          </a:xfrm>
          <a:prstGeom prst="rect">
            <a:avLst/>
          </a:prstGeom>
          <a:noFill/>
        </p:spPr>
        <p:txBody>
          <a:bodyPr wrap="none" lIns="0" rIns="0" tIns="0" bIns="0" anchor="ctr">
            <a:spAutoFit/>
          </a:bodyPr>
          <a:lstStyle/>
          <a:p>
            <a:pPr algn="r"/>
            <a:r>
              <a:rPr sz="900" b="1">
                <a:solidFill>
                  <a:srgbClr val="1E8E3E"/>
                </a:solidFill>
                <a:latin typeface="Segoe UI"/>
              </a:rPr>
              <a:t>+65</a:t>
            </a:r>
          </a:p>
        </p:txBody>
      </p:sp>
      <p:sp>
        <p:nvSpPr>
          <p:cNvPr id="22" name="FMI Legend Chip"/>
          <p:cNvSpPr/>
          <p:nvPr/>
        </p:nvSpPr>
        <p:spPr>
          <a:xfrm>
            <a:off x="4928997" y="2962048"/>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rot="10800000">
            <a:off x="5090922" y="295728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88108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Automotive &amp; Transportation</a:t>
            </a:r>
          </a:p>
        </p:txBody>
      </p:sp>
      <p:sp>
        <p:nvSpPr>
          <p:cNvPr id="25" name="BPS Value 3"/>
          <p:cNvSpPr txBox="1"/>
          <p:nvPr/>
        </p:nvSpPr>
        <p:spPr>
          <a:xfrm>
            <a:off x="6896100" y="2942998"/>
            <a:ext cx="514350" cy="123825"/>
          </a:xfrm>
          <a:prstGeom prst="rect">
            <a:avLst/>
          </a:prstGeom>
          <a:noFill/>
        </p:spPr>
        <p:txBody>
          <a:bodyPr wrap="none" lIns="0" rIns="0" tIns="0" bIns="0" anchor="ctr">
            <a:spAutoFit/>
          </a:bodyPr>
          <a:lstStyle/>
          <a:p>
            <a:pPr algn="r"/>
            <a:r>
              <a:rPr sz="900" b="1">
                <a:solidFill>
                  <a:srgbClr val="D64545"/>
                </a:solidFill>
                <a:latin typeface="Segoe UI"/>
              </a:rPr>
              <a:t>-12</a:t>
            </a:r>
          </a:p>
        </p:txBody>
      </p:sp>
      <p:sp>
        <p:nvSpPr>
          <p:cNvPr id="26" name="FMI Legend Chip"/>
          <p:cNvSpPr/>
          <p:nvPr/>
        </p:nvSpPr>
        <p:spPr>
          <a:xfrm>
            <a:off x="4928997" y="3578470"/>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5090922" y="3573708"/>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3497508"/>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Medical &amp; Healthcare</a:t>
            </a:r>
          </a:p>
        </p:txBody>
      </p:sp>
      <p:sp>
        <p:nvSpPr>
          <p:cNvPr id="29" name="BPS Value 4"/>
          <p:cNvSpPr txBox="1"/>
          <p:nvPr/>
        </p:nvSpPr>
        <p:spPr>
          <a:xfrm>
            <a:off x="6896100" y="3559420"/>
            <a:ext cx="514350" cy="123825"/>
          </a:xfrm>
          <a:prstGeom prst="rect">
            <a:avLst/>
          </a:prstGeom>
          <a:noFill/>
        </p:spPr>
        <p:txBody>
          <a:bodyPr wrap="none" lIns="0" rIns="0" tIns="0" bIns="0" anchor="ctr">
            <a:spAutoFit/>
          </a:bodyPr>
          <a:lstStyle/>
          <a:p>
            <a:pPr algn="r"/>
            <a:r>
              <a:rPr sz="900" b="1">
                <a:solidFill>
                  <a:srgbClr val="1E8E3E"/>
                </a:solidFill>
                <a:latin typeface="Segoe UI"/>
              </a:rPr>
              <a:t>+78</a:t>
            </a:r>
          </a:p>
        </p:txBody>
      </p:sp>
      <p:sp>
        <p:nvSpPr>
          <p:cNvPr id="30" name="FMI Legend Chip"/>
          <p:cNvSpPr/>
          <p:nvPr/>
        </p:nvSpPr>
        <p:spPr>
          <a:xfrm>
            <a:off x="4928997" y="4232877"/>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5090922" y="422811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415191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Protective &amp; Occupational Wear</a:t>
            </a:r>
          </a:p>
        </p:txBody>
      </p:sp>
      <p:sp>
        <p:nvSpPr>
          <p:cNvPr id="33" name="BPS Value 5"/>
          <p:cNvSpPr txBox="1"/>
          <p:nvPr/>
        </p:nvSpPr>
        <p:spPr>
          <a:xfrm>
            <a:off x="6896100" y="4213827"/>
            <a:ext cx="514350" cy="123825"/>
          </a:xfrm>
          <a:prstGeom prst="rect">
            <a:avLst/>
          </a:prstGeom>
          <a:noFill/>
        </p:spPr>
        <p:txBody>
          <a:bodyPr wrap="none" lIns="0" rIns="0" tIns="0" bIns="0" anchor="ctr">
            <a:spAutoFit/>
          </a:bodyPr>
          <a:lstStyle/>
          <a:p>
            <a:pPr algn="r"/>
            <a:r>
              <a:rPr sz="900" b="1">
                <a:solidFill>
                  <a:srgbClr val="1E8E3E"/>
                </a:solidFill>
                <a:latin typeface="Segoe UI"/>
              </a:rPr>
              <a:t>+36</a:t>
            </a:r>
          </a:p>
        </p:txBody>
      </p:sp>
      <p:sp>
        <p:nvSpPr>
          <p:cNvPr id="34" name="FMI Legend Chip"/>
          <p:cNvSpPr/>
          <p:nvPr/>
        </p:nvSpPr>
        <p:spPr>
          <a:xfrm>
            <a:off x="4928997" y="4909739"/>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rot="10800000">
            <a:off x="5090922" y="490497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482877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Intimate &amp; Bodywear</a:t>
            </a:r>
          </a:p>
        </p:txBody>
      </p:sp>
      <p:sp>
        <p:nvSpPr>
          <p:cNvPr id="37" name="BPS Value 6"/>
          <p:cNvSpPr txBox="1"/>
          <p:nvPr/>
        </p:nvSpPr>
        <p:spPr>
          <a:xfrm>
            <a:off x="6896100" y="4890689"/>
            <a:ext cx="514350" cy="123825"/>
          </a:xfrm>
          <a:prstGeom prst="rect">
            <a:avLst/>
          </a:prstGeom>
          <a:noFill/>
        </p:spPr>
        <p:txBody>
          <a:bodyPr wrap="none" lIns="0" rIns="0" tIns="0" bIns="0" anchor="ctr">
            <a:spAutoFit/>
          </a:bodyPr>
          <a:lstStyle/>
          <a:p>
            <a:pPr algn="r"/>
            <a:r>
              <a:rPr sz="900" b="1">
                <a:solidFill>
                  <a:srgbClr val="D64545"/>
                </a:solidFill>
                <a:latin typeface="Segoe UI"/>
              </a:rPr>
              <a:t>-186</a:t>
            </a:r>
          </a:p>
        </p:txBody>
      </p:sp>
      <p:sp>
        <p:nvSpPr>
          <p:cNvPr id="38" name="FMI Legend Chip"/>
          <p:cNvSpPr/>
          <p:nvPr/>
        </p:nvSpPr>
        <p:spPr>
          <a:xfrm>
            <a:off x="4928997" y="5747088"/>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rot="10800000">
            <a:off x="5090922" y="574232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5233797" y="566612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Sports &amp; Activewear</a:t>
            </a:r>
          </a:p>
        </p:txBody>
      </p:sp>
      <p:sp>
        <p:nvSpPr>
          <p:cNvPr id="41" name="BPS Value 7"/>
          <p:cNvSpPr txBox="1"/>
          <p:nvPr/>
        </p:nvSpPr>
        <p:spPr>
          <a:xfrm>
            <a:off x="6896100" y="5728038"/>
            <a:ext cx="514350" cy="123825"/>
          </a:xfrm>
          <a:prstGeom prst="rect">
            <a:avLst/>
          </a:prstGeom>
          <a:noFill/>
        </p:spPr>
        <p:txBody>
          <a:bodyPr wrap="none" lIns="0" rIns="0" tIns="0" bIns="0" anchor="ctr">
            <a:spAutoFit/>
          </a:bodyPr>
          <a:lstStyle/>
          <a:p>
            <a:pPr algn="r"/>
            <a:r>
              <a:rPr sz="900" b="1">
                <a:solidFill>
                  <a:srgbClr val="D64545"/>
                </a:solidFill>
                <a:latin typeface="Segoe UI"/>
              </a:rPr>
              <a:t>-2</a:t>
            </a:r>
          </a:p>
        </p:txBody>
      </p:sp>
      <p:sp>
        <p:nvSpPr>
          <p:cNvPr id="42" name="Rectangle 41"/>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Eastern Europe Read-out, By End-Use Application Vs Material</a:t>
            </a:r>
          </a:p>
        </p:txBody>
      </p:sp>
      <p:sp>
        <p:nvSpPr>
          <p:cNvPr id="44" name="Rectangle 43"/>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End-Use application vs material, industrial &amp; technical applications segment is expected to witness the highest CAGR of 6.4% over the forecast period. In terms of value share by End-Use application vs material, the sports &amp; activewear segment is expected to dominate the market, maintaining its share and accounting for 21.7% share by 2036.</a:t>
            </a:r>
          </a:p>
          <a:p>
            <a:pPr algn="l">
              <a:lnSpc>
                <a:spcPct val="110000"/>
              </a:lnSpc>
              <a:spcBef>
                <a:spcPts val="0"/>
              </a:spcBef>
              <a:spcAft>
                <a:spcPts val="500"/>
              </a:spcAft>
            </a:pPr>
            <a:r>
              <a:rPr sz="1150" b="0">
                <a:solidFill>
                  <a:srgbClr val="252423"/>
                </a:solidFill>
                <a:latin typeface="Segoe UI"/>
              </a:rPr>
              <a:t>The intimate &amp; bodywear segment is expected to lose 186 BPS over the forecast period to account for 14.9% share by 2036.</a:t>
            </a:r>
          </a:p>
        </p:txBody>
      </p:sp>
      <p:sp>
        <p:nvSpPr>
          <p:cNvPr id="46" name="TextBox 4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 Asia Performance Knitted Fabrics Market Summary, By Volume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East Asia market volume growth, incremental opportunity and the geographies driving it, 2021–2036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 Asia</a:t>
            </a:r>
          </a:p>
        </p:txBody>
      </p:sp>
      <p:sp>
        <p:nvSpPr>
          <p:cNvPr id="9" name="Rounded Rectangle 8"/>
          <p:cNvSpPr/>
          <p:nvPr/>
        </p:nvSpPr>
        <p:spPr>
          <a:xfrm>
            <a:off x="142875"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MARKET SIZE (MN SQ. YARDS)</a:t>
            </a:r>
          </a:p>
          <a:p>
            <a:pPr algn="ctr">
              <a:lnSpc>
                <a:spcPct val="95000"/>
              </a:lnSpc>
            </a:pPr>
            <a:r>
              <a:rPr sz="1500" b="1">
                <a:solidFill>
                  <a:srgbClr val="00A4DC"/>
                </a:solidFill>
                <a:latin typeface="Segoe UI"/>
              </a:rPr>
              <a:t>458.7</a:t>
            </a:r>
          </a:p>
        </p:txBody>
      </p:sp>
      <p:sp>
        <p:nvSpPr>
          <p:cNvPr id="10" name="Rounded Rectangle 9"/>
          <p:cNvSpPr/>
          <p:nvPr/>
        </p:nvSpPr>
        <p:spPr>
          <a:xfrm>
            <a:off x="31432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869.3</a:t>
            </a:r>
          </a:p>
        </p:txBody>
      </p:sp>
      <p:sp>
        <p:nvSpPr>
          <p:cNvPr id="11" name="Rounded Rectangle 10"/>
          <p:cNvSpPr/>
          <p:nvPr/>
        </p:nvSpPr>
        <p:spPr>
          <a:xfrm>
            <a:off x="61531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2021–2025</a:t>
            </a:r>
          </a:p>
          <a:p>
            <a:pPr algn="ctr">
              <a:lnSpc>
                <a:spcPct val="95000"/>
              </a:lnSpc>
            </a:pPr>
            <a:r>
              <a:rPr sz="1500" b="1">
                <a:solidFill>
                  <a:srgbClr val="00A4DC"/>
                </a:solidFill>
                <a:latin typeface="Segoe UI"/>
              </a:rPr>
              <a:t>6.9%</a:t>
            </a:r>
          </a:p>
        </p:txBody>
      </p:sp>
      <p:sp>
        <p:nvSpPr>
          <p:cNvPr id="12" name="Rounded Rectangle 11"/>
          <p:cNvSpPr/>
          <p:nvPr/>
        </p:nvSpPr>
        <p:spPr>
          <a:xfrm>
            <a:off x="91630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1500" b="1">
                <a:solidFill>
                  <a:srgbClr val="00A4DC"/>
                </a:solidFill>
                <a:latin typeface="Segoe UI"/>
              </a:rPr>
              <a:t>6.6%</a:t>
            </a:r>
          </a:p>
        </p:txBody>
      </p:sp>
      <p:sp>
        <p:nvSpPr>
          <p:cNvPr id="13" name="Rectangle 12"/>
          <p:cNvSpPr/>
          <p:nvPr/>
        </p:nvSpPr>
        <p:spPr>
          <a:xfrm>
            <a:off x="142875" y="1627887"/>
            <a:ext cx="769620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(2021–2036)</a:t>
            </a:r>
          </a:p>
        </p:txBody>
      </p:sp>
      <p:graphicFrame>
        <p:nvGraphicFramePr>
          <p:cNvPr id="15" name="Chart 14"/>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6" name="Rectangle 15"/>
          <p:cNvSpPr/>
          <p:nvPr/>
        </p:nvSpPr>
        <p:spPr>
          <a:xfrm>
            <a:off x="142875" y="4037375"/>
            <a:ext cx="769620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Incremental Market Addition (Mn Sq. Yards)</a:t>
            </a:r>
          </a:p>
        </p:txBody>
      </p:sp>
      <p:graphicFrame>
        <p:nvGraphicFramePr>
          <p:cNvPr id="18" name="Chart 17"/>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9" name="Rectangle 18"/>
          <p:cNvSpPr/>
          <p:nvPr/>
        </p:nvSpPr>
        <p:spPr>
          <a:xfrm>
            <a:off x="7915275" y="1627887"/>
            <a:ext cx="413385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21" name="Rectangle 20"/>
          <p:cNvSpPr/>
          <p:nvPr/>
        </p:nvSpPr>
        <p:spPr>
          <a:xfrm>
            <a:off x="8048625" y="195173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52423"/>
                </a:solidFill>
                <a:latin typeface="Segoe UI"/>
              </a:rPr>
              <a:t>East Asia performance knitted fabrics market is projected to register 2.0X increase in volume by the end of forecast period, 2036. East Asia performance knitted fabrics market volume stood at 428.2 Mn Sq. Yards in 2025 and is expected to reach 869.3 Mn Sq. Yards by 2036 end, at a CAGR of 6.6%.</a:t>
            </a:r>
          </a:p>
          <a:p>
            <a:pPr algn="l">
              <a:lnSpc>
                <a:spcPct val="110000"/>
              </a:lnSpc>
              <a:spcBef>
                <a:spcPts val="0"/>
              </a:spcBef>
              <a:spcAft>
                <a:spcPts val="500"/>
              </a:spcAft>
            </a:pPr>
            <a:r>
              <a:rPr sz="1100" b="0">
                <a:solidFill>
                  <a:srgbClr val="252423"/>
                </a:solidFill>
                <a:latin typeface="Segoe UI"/>
              </a:rPr>
              <a:t>Value is projected to grow faster than volume over the forecast period, owing to an increase in average selling price.</a:t>
            </a:r>
          </a:p>
        </p:txBody>
      </p:sp>
      <p:sp>
        <p:nvSpPr>
          <p:cNvPr id="23" name="Rectangle 22"/>
          <p:cNvSpPr/>
          <p:nvPr/>
        </p:nvSpPr>
        <p:spPr>
          <a:xfrm>
            <a:off x="7915275" y="4037375"/>
            <a:ext cx="413385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07BA5"/>
                </a:solidFill>
                <a:latin typeface="Segoe UI"/>
              </a:rPr>
              <a:t>Growth Drivers</a:t>
            </a:r>
          </a:p>
        </p:txBody>
      </p:sp>
      <p:sp>
        <p:nvSpPr>
          <p:cNvPr id="25" name="Rectangle 24"/>
          <p:cNvSpPr/>
          <p:nvPr/>
        </p:nvSpPr>
        <p:spPr>
          <a:xfrm>
            <a:off x="8048625" y="436122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'China' leads regional growth at 7.0% CAGR.</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Demand concentrates in 'Weft Knitted Fabrics' within Fabric Construction.</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Product innovation and premiumisation lifting value.</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Expanding end-use applications and access.</a:t>
            </a:r>
          </a:p>
        </p:txBody>
      </p:sp>
      <p:sp>
        <p:nvSpPr>
          <p:cNvPr id="27" name="TextBox 2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 Asia Performance Knitted Fabrics Market Pricing &amp; Regional Price Index</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average price by sub-segment and price variation by country, highlighting where pricing power sits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 Asia</a:t>
            </a:r>
          </a:p>
        </p:txBody>
      </p:sp>
      <p:sp>
        <p:nvSpPr>
          <p:cNvPr id="9" name="Rectangle 8"/>
          <p:cNvSpPr/>
          <p:nvPr/>
        </p:nvSpPr>
        <p:spPr>
          <a:xfrm>
            <a:off x="142875" y="1052895"/>
            <a:ext cx="7696200" cy="266504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Average Price by Fabric Construction  ·  range across 2021–2036 (US$/Sq. Yards)</a:t>
            </a:r>
          </a:p>
        </p:txBody>
      </p:sp>
      <p:cxnSp>
        <p:nvCxnSpPr>
          <p:cNvPr id="11" name="Connector 10"/>
          <p:cNvCxnSpPr/>
          <p:nvPr/>
        </p:nvCxnSpPr>
        <p:spPr>
          <a:xfrm>
            <a:off x="657225" y="333693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7225" y="286593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239494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192394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452945"/>
            <a:ext cx="0" cy="188399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8650" y="3336935"/>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2865938"/>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2394940"/>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1923943"/>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1452945"/>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sp>
        <p:nvSpPr>
          <p:cNvPr id="22" name="FMI Scale tick"/>
          <p:cNvSpPr txBox="1"/>
          <p:nvPr/>
        </p:nvSpPr>
        <p:spPr>
          <a:xfrm>
            <a:off x="219075" y="3270260"/>
            <a:ext cx="381000" cy="133350"/>
          </a:xfrm>
          <a:prstGeom prst="rect">
            <a:avLst/>
          </a:prstGeom>
          <a:noFill/>
        </p:spPr>
        <p:txBody>
          <a:bodyPr wrap="none" lIns="0" rIns="0" tIns="0" bIns="0" anchor="ctr">
            <a:spAutoFit/>
          </a:bodyPr>
          <a:lstStyle/>
          <a:p>
            <a:pPr algn="r"/>
            <a:r>
              <a:rPr sz="1100" b="0">
                <a:solidFill>
                  <a:srgbClr val="605E5C"/>
                </a:solidFill>
                <a:latin typeface="Segoe UI"/>
              </a:rPr>
              <a:t>2.73</a:t>
            </a:r>
          </a:p>
        </p:txBody>
      </p:sp>
      <p:sp>
        <p:nvSpPr>
          <p:cNvPr id="23" name="FMI Scale tick"/>
          <p:cNvSpPr txBox="1"/>
          <p:nvPr/>
        </p:nvSpPr>
        <p:spPr>
          <a:xfrm>
            <a:off x="219075" y="2328265"/>
            <a:ext cx="381000" cy="133350"/>
          </a:xfrm>
          <a:prstGeom prst="rect">
            <a:avLst/>
          </a:prstGeom>
          <a:noFill/>
        </p:spPr>
        <p:txBody>
          <a:bodyPr wrap="none" lIns="0" rIns="0" tIns="0" bIns="0" anchor="ctr">
            <a:spAutoFit/>
          </a:bodyPr>
          <a:lstStyle/>
          <a:p>
            <a:pPr algn="r"/>
            <a:r>
              <a:rPr sz="1100" b="0">
                <a:solidFill>
                  <a:srgbClr val="605E5C"/>
                </a:solidFill>
                <a:latin typeface="Segoe UI"/>
              </a:rPr>
              <a:t>3.12</a:t>
            </a:r>
          </a:p>
        </p:txBody>
      </p:sp>
      <p:sp>
        <p:nvSpPr>
          <p:cNvPr id="24" name="FMI Scale tick"/>
          <p:cNvSpPr txBox="1"/>
          <p:nvPr/>
        </p:nvSpPr>
        <p:spPr>
          <a:xfrm>
            <a:off x="219075" y="1386270"/>
            <a:ext cx="381000" cy="133350"/>
          </a:xfrm>
          <a:prstGeom prst="rect">
            <a:avLst/>
          </a:prstGeom>
          <a:noFill/>
        </p:spPr>
        <p:txBody>
          <a:bodyPr wrap="none" lIns="0" rIns="0" tIns="0" bIns="0" anchor="ctr">
            <a:spAutoFit/>
          </a:bodyPr>
          <a:lstStyle/>
          <a:p>
            <a:pPr algn="r"/>
            <a:r>
              <a:rPr sz="1100" b="0">
                <a:solidFill>
                  <a:srgbClr val="605E5C"/>
                </a:solidFill>
                <a:latin typeface="Segoe UI"/>
              </a:rPr>
              <a:t>3.50</a:t>
            </a:r>
          </a:p>
        </p:txBody>
      </p:sp>
      <p:cxnSp>
        <p:nvCxnSpPr>
          <p:cNvPr id="25" name="Connector 24"/>
          <p:cNvCxnSpPr/>
          <p:nvPr/>
        </p:nvCxnSpPr>
        <p:spPr>
          <a:xfrm flipV="1">
            <a:off x="2409825" y="1670329"/>
            <a:ext cx="0" cy="143041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278380" y="310074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278380" y="16703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2190750" y="2229094"/>
            <a:ext cx="438150" cy="743101"/>
          </a:xfrm>
          <a:prstGeom prst="rect">
            <a:avLst/>
          </a:prstGeom>
          <a:solidFill>
            <a:srgbClr val="CFE7F5"/>
          </a:solidFill>
          <a:ln w="15875">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2190750" y="2661235"/>
            <a:ext cx="438150" cy="0"/>
          </a:xfrm>
          <a:prstGeom prst="line">
            <a:avLst/>
          </a:prstGeom>
          <a:ln w="2540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57225" y="1517929"/>
            <a:ext cx="3505200" cy="133350"/>
          </a:xfrm>
          <a:prstGeom prst="rect">
            <a:avLst/>
          </a:prstGeom>
          <a:noFill/>
        </p:spPr>
        <p:txBody>
          <a:bodyPr wrap="square" lIns="28575" rIns="28575" tIns="9525" bIns="9525">
            <a:spAutoFit/>
          </a:bodyPr>
          <a:lstStyle/>
          <a:p>
            <a:pPr algn="ctr"/>
            <a:r>
              <a:rPr sz="1100" b="1">
                <a:solidFill>
                  <a:srgbClr val="007BA5"/>
                </a:solidFill>
                <a:latin typeface="Segoe UI"/>
              </a:rPr>
              <a:t>3.01</a:t>
            </a:r>
          </a:p>
        </p:txBody>
      </p:sp>
      <p:cxnSp>
        <p:nvCxnSpPr>
          <p:cNvPr id="31" name="Connector 30"/>
          <p:cNvCxnSpPr/>
          <p:nvPr/>
        </p:nvCxnSpPr>
        <p:spPr>
          <a:xfrm flipV="1">
            <a:off x="5915025" y="1678298"/>
            <a:ext cx="0" cy="144125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783580" y="311955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783580" y="167829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695950" y="2248826"/>
            <a:ext cx="438150" cy="742368"/>
          </a:xfrm>
          <a:prstGeom prst="rect">
            <a:avLst/>
          </a:prstGeom>
          <a:solidFill>
            <a:srgbClr val="CFE7F5"/>
          </a:solidFill>
          <a:ln w="15875">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5695950" y="2686411"/>
            <a:ext cx="438150" cy="0"/>
          </a:xfrm>
          <a:prstGeom prst="line">
            <a:avLst/>
          </a:prstGeom>
          <a:ln w="2540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162425" y="1525898"/>
            <a:ext cx="3505200" cy="133350"/>
          </a:xfrm>
          <a:prstGeom prst="rect">
            <a:avLst/>
          </a:prstGeom>
          <a:noFill/>
        </p:spPr>
        <p:txBody>
          <a:bodyPr wrap="square" lIns="28575" rIns="28575" tIns="9525" bIns="9525">
            <a:spAutoFit/>
          </a:bodyPr>
          <a:lstStyle/>
          <a:p>
            <a:pPr algn="ctr"/>
            <a:r>
              <a:rPr sz="1100" b="1">
                <a:solidFill>
                  <a:srgbClr val="007BA5"/>
                </a:solidFill>
                <a:latin typeface="Segoe UI"/>
              </a:rPr>
              <a:t>3.00</a:t>
            </a:r>
          </a:p>
        </p:txBody>
      </p:sp>
      <p:sp>
        <p:nvSpPr>
          <p:cNvPr id="37" name="TextBox 36"/>
          <p:cNvSpPr txBox="1"/>
          <p:nvPr/>
        </p:nvSpPr>
        <p:spPr>
          <a:xfrm>
            <a:off x="657225" y="3365510"/>
            <a:ext cx="3505200" cy="285750"/>
          </a:xfrm>
          <a:prstGeom prst="rect">
            <a:avLst/>
          </a:prstGeom>
          <a:noFill/>
        </p:spPr>
        <p:txBody>
          <a:bodyPr wrap="square" lIns="28575" rIns="28575" tIns="9525" bIns="9525">
            <a:spAutoFit/>
          </a:bodyPr>
          <a:lstStyle/>
          <a:p>
            <a:pPr algn="ctr"/>
            <a:r>
              <a:rPr sz="1100" b="0">
                <a:solidFill>
                  <a:srgbClr val="252423"/>
                </a:solidFill>
                <a:latin typeface="Segoe UI"/>
              </a:rPr>
              <a:t>Warp Knitted Fabrics</a:t>
            </a:r>
          </a:p>
        </p:txBody>
      </p:sp>
      <p:sp>
        <p:nvSpPr>
          <p:cNvPr id="38" name="TextBox 37"/>
          <p:cNvSpPr txBox="1"/>
          <p:nvPr/>
        </p:nvSpPr>
        <p:spPr>
          <a:xfrm>
            <a:off x="4162425" y="3365510"/>
            <a:ext cx="3505200" cy="285750"/>
          </a:xfrm>
          <a:prstGeom prst="rect">
            <a:avLst/>
          </a:prstGeom>
          <a:noFill/>
        </p:spPr>
        <p:txBody>
          <a:bodyPr wrap="square" lIns="28575" rIns="28575" tIns="9525" bIns="9525">
            <a:spAutoFit/>
          </a:bodyPr>
          <a:lstStyle/>
          <a:p>
            <a:pPr algn="ctr"/>
            <a:r>
              <a:rPr sz="1100" b="0">
                <a:solidFill>
                  <a:srgbClr val="252423"/>
                </a:solidFill>
                <a:latin typeface="Segoe UI"/>
              </a:rPr>
              <a:t>Weft Knitted Fabrics</a:t>
            </a:r>
          </a:p>
        </p:txBody>
      </p:sp>
      <p:sp>
        <p:nvSpPr>
          <p:cNvPr id="39" name="Rectangle 38"/>
          <p:cNvSpPr/>
          <p:nvPr/>
        </p:nvSpPr>
        <p:spPr>
          <a:xfrm>
            <a:off x="142875" y="3772696"/>
            <a:ext cx="7696200" cy="278368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Price Variation by Country vs East Asia  ·  2026–2036</a:t>
            </a:r>
          </a:p>
        </p:txBody>
      </p:sp>
      <p:cxnSp>
        <p:nvCxnSpPr>
          <p:cNvPr id="41" name="Connector 40"/>
          <p:cNvCxnSpPr/>
          <p:nvPr/>
        </p:nvCxnSpPr>
        <p:spPr>
          <a:xfrm>
            <a:off x="619125" y="4325484"/>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19125" y="475930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19125" y="519311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19125" y="5626932"/>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19125" y="606074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19125" y="4325484"/>
            <a:ext cx="0" cy="1735264"/>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90550" y="4325484"/>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90550" y="4759300"/>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90550" y="5193116"/>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90550" y="5626932"/>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90550" y="6060748"/>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sp>
        <p:nvSpPr>
          <p:cNvPr id="52" name="FMI Scale tick"/>
          <p:cNvSpPr txBox="1"/>
          <p:nvPr/>
        </p:nvSpPr>
        <p:spPr>
          <a:xfrm>
            <a:off x="219075" y="4258809"/>
            <a:ext cx="361950" cy="133350"/>
          </a:xfrm>
          <a:prstGeom prst="rect">
            <a:avLst/>
          </a:prstGeom>
          <a:noFill/>
        </p:spPr>
        <p:txBody>
          <a:bodyPr wrap="none" lIns="0" rIns="0" tIns="0" bIns="0" anchor="ctr">
            <a:spAutoFit/>
          </a:bodyPr>
          <a:lstStyle/>
          <a:p>
            <a:pPr algn="r"/>
            <a:r>
              <a:rPr sz="1100" b="0">
                <a:solidFill>
                  <a:srgbClr val="605E5C"/>
                </a:solidFill>
                <a:latin typeface="Segoe UI"/>
              </a:rPr>
              <a:t>+29%</a:t>
            </a:r>
          </a:p>
        </p:txBody>
      </p:sp>
      <p:sp>
        <p:nvSpPr>
          <p:cNvPr id="53" name="FMI Scale tick"/>
          <p:cNvSpPr txBox="1"/>
          <p:nvPr/>
        </p:nvSpPr>
        <p:spPr>
          <a:xfrm>
            <a:off x="219075" y="4692625"/>
            <a:ext cx="361950" cy="133350"/>
          </a:xfrm>
          <a:prstGeom prst="rect">
            <a:avLst/>
          </a:prstGeom>
          <a:noFill/>
        </p:spPr>
        <p:txBody>
          <a:bodyPr wrap="none" lIns="0" rIns="0" tIns="0" bIns="0" anchor="ctr">
            <a:spAutoFit/>
          </a:bodyPr>
          <a:lstStyle/>
          <a:p>
            <a:pPr algn="r"/>
            <a:r>
              <a:rPr sz="1100" b="0">
                <a:solidFill>
                  <a:srgbClr val="605E5C"/>
                </a:solidFill>
                <a:latin typeface="Segoe UI"/>
              </a:rPr>
              <a:t>+14%</a:t>
            </a:r>
          </a:p>
        </p:txBody>
      </p:sp>
      <p:sp>
        <p:nvSpPr>
          <p:cNvPr id="54" name="FMI Scale tick"/>
          <p:cNvSpPr txBox="1"/>
          <p:nvPr/>
        </p:nvSpPr>
        <p:spPr>
          <a:xfrm>
            <a:off x="219075" y="5126441"/>
            <a:ext cx="361950" cy="133350"/>
          </a:xfrm>
          <a:prstGeom prst="rect">
            <a:avLst/>
          </a:prstGeom>
          <a:noFill/>
        </p:spPr>
        <p:txBody>
          <a:bodyPr wrap="square" lIns="28575" rIns="28575" tIns="9525" bIns="9525" anchor="ctr">
            <a:spAutoFit/>
          </a:bodyPr>
          <a:lstStyle/>
          <a:p>
            <a:pPr algn="r"/>
            <a:r>
              <a:rPr sz="1100" b="1">
                <a:solidFill>
                  <a:srgbClr val="605E5C"/>
                </a:solidFill>
                <a:latin typeface="Segoe UI"/>
              </a:rPr>
              <a:t>East Asia</a:t>
            </a:r>
          </a:p>
        </p:txBody>
      </p:sp>
      <p:sp>
        <p:nvSpPr>
          <p:cNvPr id="55" name="FMI Scale tick"/>
          <p:cNvSpPr txBox="1"/>
          <p:nvPr/>
        </p:nvSpPr>
        <p:spPr>
          <a:xfrm>
            <a:off x="219075" y="5560257"/>
            <a:ext cx="361950" cy="133350"/>
          </a:xfrm>
          <a:prstGeom prst="rect">
            <a:avLst/>
          </a:prstGeom>
          <a:noFill/>
        </p:spPr>
        <p:txBody>
          <a:bodyPr wrap="none" lIns="0" rIns="0" tIns="0" bIns="0" anchor="ctr">
            <a:spAutoFit/>
          </a:bodyPr>
          <a:lstStyle/>
          <a:p>
            <a:pPr algn="r"/>
            <a:r>
              <a:rPr sz="1100" b="0">
                <a:solidFill>
                  <a:srgbClr val="605E5C"/>
                </a:solidFill>
                <a:latin typeface="Segoe UI"/>
              </a:rPr>
              <a:t>-14%</a:t>
            </a:r>
          </a:p>
        </p:txBody>
      </p:sp>
      <p:sp>
        <p:nvSpPr>
          <p:cNvPr id="56" name="FMI Scale tick"/>
          <p:cNvSpPr txBox="1"/>
          <p:nvPr/>
        </p:nvSpPr>
        <p:spPr>
          <a:xfrm>
            <a:off x="219075" y="5994073"/>
            <a:ext cx="361950" cy="133350"/>
          </a:xfrm>
          <a:prstGeom prst="rect">
            <a:avLst/>
          </a:prstGeom>
          <a:noFill/>
        </p:spPr>
        <p:txBody>
          <a:bodyPr wrap="none" lIns="0" rIns="0" tIns="0" bIns="0" anchor="ctr">
            <a:spAutoFit/>
          </a:bodyPr>
          <a:lstStyle/>
          <a:p>
            <a:pPr algn="r"/>
            <a:r>
              <a:rPr sz="1100" b="0">
                <a:solidFill>
                  <a:srgbClr val="605E5C"/>
                </a:solidFill>
                <a:latin typeface="Segoe UI"/>
              </a:rPr>
              <a:t>-29%</a:t>
            </a:r>
          </a:p>
        </p:txBody>
      </p:sp>
      <p:cxnSp>
        <p:nvCxnSpPr>
          <p:cNvPr id="57" name="Connector 56"/>
          <p:cNvCxnSpPr/>
          <p:nvPr/>
        </p:nvCxnSpPr>
        <p:spPr>
          <a:xfrm>
            <a:off x="619125" y="5193116"/>
            <a:ext cx="7048500" cy="0"/>
          </a:xfrm>
          <a:prstGeom prst="line">
            <a:avLst/>
          </a:prstGeom>
          <a:ln w="13970">
            <a:solidFill>
              <a:srgbClr val="605E5C"/>
            </a:solidFill>
            <a:prstDash val="dash"/>
          </a:ln>
          <a:effectLst/>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1565275" y="5193116"/>
            <a:ext cx="457200" cy="288086"/>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MI Data Label"/>
          <p:cNvSpPr txBox="1"/>
          <p:nvPr/>
        </p:nvSpPr>
        <p:spPr>
          <a:xfrm>
            <a:off x="619125" y="5490727"/>
            <a:ext cx="2349500" cy="133350"/>
          </a:xfrm>
          <a:prstGeom prst="rect">
            <a:avLst/>
          </a:prstGeom>
          <a:noFill/>
        </p:spPr>
        <p:txBody>
          <a:bodyPr wrap="square" lIns="28575" rIns="28575" tIns="9525" bIns="9525">
            <a:spAutoFit/>
          </a:bodyPr>
          <a:lstStyle/>
          <a:p>
            <a:pPr algn="ctr"/>
            <a:r>
              <a:rPr sz="1100" b="1">
                <a:solidFill>
                  <a:srgbClr val="252423"/>
                </a:solidFill>
                <a:latin typeface="Segoe UI"/>
              </a:rPr>
              <a:t>-9.5%</a:t>
            </a:r>
          </a:p>
        </p:txBody>
      </p:sp>
      <p:sp>
        <p:nvSpPr>
          <p:cNvPr id="60" name="Rectangle 59"/>
          <p:cNvSpPr/>
          <p:nvPr/>
        </p:nvSpPr>
        <p:spPr>
          <a:xfrm>
            <a:off x="3914775" y="4437287"/>
            <a:ext cx="457200" cy="755829"/>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MI Data Label"/>
          <p:cNvSpPr txBox="1"/>
          <p:nvPr/>
        </p:nvSpPr>
        <p:spPr>
          <a:xfrm>
            <a:off x="2968625" y="4294412"/>
            <a:ext cx="2349500" cy="133350"/>
          </a:xfrm>
          <a:prstGeom prst="rect">
            <a:avLst/>
          </a:prstGeom>
          <a:noFill/>
        </p:spPr>
        <p:txBody>
          <a:bodyPr wrap="square" lIns="28575" rIns="28575" tIns="9525" bIns="9525">
            <a:spAutoFit/>
          </a:bodyPr>
          <a:lstStyle/>
          <a:p>
            <a:pPr algn="ctr"/>
            <a:r>
              <a:rPr sz="1100" b="1">
                <a:solidFill>
                  <a:srgbClr val="252423"/>
                </a:solidFill>
                <a:latin typeface="Segoe UI"/>
              </a:rPr>
              <a:t>+24.9%</a:t>
            </a:r>
          </a:p>
        </p:txBody>
      </p:sp>
      <p:sp>
        <p:nvSpPr>
          <p:cNvPr id="62" name="Rectangle 61"/>
          <p:cNvSpPr/>
          <p:nvPr/>
        </p:nvSpPr>
        <p:spPr>
          <a:xfrm>
            <a:off x="6264275" y="4563866"/>
            <a:ext cx="457200" cy="629250"/>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MI Data Label"/>
          <p:cNvSpPr txBox="1"/>
          <p:nvPr/>
        </p:nvSpPr>
        <p:spPr>
          <a:xfrm>
            <a:off x="5318125" y="4420991"/>
            <a:ext cx="2349500" cy="133350"/>
          </a:xfrm>
          <a:prstGeom prst="rect">
            <a:avLst/>
          </a:prstGeom>
          <a:noFill/>
        </p:spPr>
        <p:txBody>
          <a:bodyPr wrap="square" lIns="28575" rIns="28575" tIns="9525" bIns="9525">
            <a:spAutoFit/>
          </a:bodyPr>
          <a:lstStyle/>
          <a:p>
            <a:pPr algn="ctr"/>
            <a:r>
              <a:rPr sz="1100" b="1">
                <a:solidFill>
                  <a:srgbClr val="252423"/>
                </a:solidFill>
                <a:latin typeface="Segoe UI"/>
              </a:rPr>
              <a:t>+20.7%</a:t>
            </a:r>
          </a:p>
        </p:txBody>
      </p:sp>
      <p:sp>
        <p:nvSpPr>
          <p:cNvPr id="64" name="TextBox 63"/>
          <p:cNvSpPr txBox="1"/>
          <p:nvPr/>
        </p:nvSpPr>
        <p:spPr>
          <a:xfrm>
            <a:off x="619125" y="6242060"/>
            <a:ext cx="2349500" cy="247650"/>
          </a:xfrm>
          <a:prstGeom prst="rect">
            <a:avLst/>
          </a:prstGeom>
          <a:noFill/>
        </p:spPr>
        <p:txBody>
          <a:bodyPr wrap="square" lIns="28575" rIns="28575" tIns="9525" bIns="9525">
            <a:spAutoFit/>
          </a:bodyPr>
          <a:lstStyle/>
          <a:p>
            <a:pPr algn="ctr"/>
            <a:r>
              <a:rPr sz="1100" b="0">
                <a:solidFill>
                  <a:srgbClr val="252423"/>
                </a:solidFill>
                <a:latin typeface="Segoe UI"/>
              </a:rPr>
              <a:t>China</a:t>
            </a:r>
          </a:p>
        </p:txBody>
      </p:sp>
      <p:sp>
        <p:nvSpPr>
          <p:cNvPr id="65" name="TextBox 64"/>
          <p:cNvSpPr txBox="1"/>
          <p:nvPr/>
        </p:nvSpPr>
        <p:spPr>
          <a:xfrm>
            <a:off x="2968625" y="6242060"/>
            <a:ext cx="2349500" cy="247650"/>
          </a:xfrm>
          <a:prstGeom prst="rect">
            <a:avLst/>
          </a:prstGeom>
          <a:noFill/>
        </p:spPr>
        <p:txBody>
          <a:bodyPr wrap="square" lIns="28575" rIns="28575" tIns="9525" bIns="9525">
            <a:spAutoFit/>
          </a:bodyPr>
          <a:lstStyle/>
          <a:p>
            <a:pPr algn="ctr"/>
            <a:r>
              <a:rPr sz="1100" b="0">
                <a:solidFill>
                  <a:srgbClr val="252423"/>
                </a:solidFill>
                <a:latin typeface="Segoe UI"/>
              </a:rPr>
              <a:t>Japan</a:t>
            </a:r>
          </a:p>
        </p:txBody>
      </p:sp>
      <p:sp>
        <p:nvSpPr>
          <p:cNvPr id="66" name="TextBox 65"/>
          <p:cNvSpPr txBox="1"/>
          <p:nvPr/>
        </p:nvSpPr>
        <p:spPr>
          <a:xfrm>
            <a:off x="5318125" y="6242060"/>
            <a:ext cx="2349500" cy="247650"/>
          </a:xfrm>
          <a:prstGeom prst="rect">
            <a:avLst/>
          </a:prstGeom>
          <a:noFill/>
        </p:spPr>
        <p:txBody>
          <a:bodyPr wrap="square" lIns="28575" rIns="28575" tIns="9525" bIns="9525">
            <a:spAutoFit/>
          </a:bodyPr>
          <a:lstStyle/>
          <a:p>
            <a:pPr algn="ctr"/>
            <a:r>
              <a:rPr sz="1100" b="0">
                <a:solidFill>
                  <a:srgbClr val="252423"/>
                </a:solidFill>
                <a:latin typeface="Segoe UI"/>
              </a:rPr>
              <a:t>South Korea</a:t>
            </a:r>
          </a:p>
        </p:txBody>
      </p:sp>
      <p:sp>
        <p:nvSpPr>
          <p:cNvPr id="67" name="Rectangle 66"/>
          <p:cNvSpPr/>
          <p:nvPr/>
        </p:nvSpPr>
        <p:spPr>
          <a:xfrm>
            <a:off x="7915275" y="1052895"/>
            <a:ext cx="4133850" cy="550349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07BA5"/>
                </a:solidFill>
                <a:latin typeface="Segoe UI"/>
              </a:rPr>
              <a:t>Key Takeaways</a:t>
            </a:r>
          </a:p>
        </p:txBody>
      </p:sp>
      <p:sp>
        <p:nvSpPr>
          <p:cNvPr id="69" name="Rectangle 68"/>
          <p:cNvSpPr/>
          <p:nvPr/>
        </p:nvSpPr>
        <p:spPr>
          <a:xfrm>
            <a:off x="8048625" y="137674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Warp knitted fabrics segment is expected to command the highest average price of US$ 3.42 per Sq. Yard in 2036. Average selling price of performance knitted fabrics is estimated at US$ 2.88 per Sq. Yard in 2025 and is projected to increase to US$ 3.41 per Sq. Yard by 2036.</a:t>
            </a:r>
          </a:p>
          <a:p>
            <a:pPr algn="l">
              <a:lnSpc>
                <a:spcPct val="110000"/>
              </a:lnSpc>
              <a:spcBef>
                <a:spcPts val="0"/>
              </a:spcBef>
              <a:spcAft>
                <a:spcPts val="500"/>
              </a:spcAft>
            </a:pPr>
            <a:r>
              <a:rPr sz="1150" b="0">
                <a:solidFill>
                  <a:srgbClr val="252423"/>
                </a:solidFill>
                <a:latin typeface="Segoe UI"/>
              </a:rPr>
              <a:t>Japan is the highest-priced country, while China is the most price-competitive market. Against the East Asia price of 3.16 US$/Sq. Yards, 2 of 3 countries price above and 1 below.</a:t>
            </a:r>
          </a:p>
          <a:p>
            <a:pPr algn="l">
              <a:lnSpc>
                <a:spcPct val="110000"/>
              </a:lnSpc>
              <a:spcBef>
                <a:spcPts val="0"/>
              </a:spcBef>
              <a:spcAft>
                <a:spcPts val="500"/>
              </a:spcAft>
            </a:pPr>
            <a:r>
              <a:rPr sz="1150" b="0">
                <a:solidFill>
                  <a:srgbClr val="252423"/>
                </a:solidFill>
                <a:latin typeface="Segoe UI"/>
              </a:rPr>
              <a:t>'Japan' is the dearest at +24.9% versus East Asia, 'China' the cheapest at -9.5% pointing to premiumisation headroom in the lower-priced countries.</a:t>
            </a:r>
          </a:p>
        </p:txBody>
      </p:sp>
      <p:sp>
        <p:nvSpPr>
          <p:cNvPr id="71" name="TextBox 7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 Asia Performance Knitted Fabrics Market Summary, By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East Asia market value growth, incremental opportunity and the geographies driving it, 2021–2036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 Asia</a:t>
            </a:r>
          </a:p>
        </p:txBody>
      </p:sp>
      <p:sp>
        <p:nvSpPr>
          <p:cNvPr id="9" name="Rounded Rectangle 8"/>
          <p:cNvSpPr/>
          <p:nvPr/>
        </p:nvSpPr>
        <p:spPr>
          <a:xfrm>
            <a:off x="142875"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MARKET SIZE (US$ MN)</a:t>
            </a:r>
          </a:p>
          <a:p>
            <a:pPr algn="ctr">
              <a:lnSpc>
                <a:spcPct val="95000"/>
              </a:lnSpc>
            </a:pPr>
            <a:r>
              <a:rPr sz="1500" b="1">
                <a:solidFill>
                  <a:srgbClr val="00A4DC"/>
                </a:solidFill>
                <a:latin typeface="Segoe UI"/>
              </a:rPr>
              <a:t>1,334</a:t>
            </a:r>
          </a:p>
        </p:txBody>
      </p:sp>
      <p:sp>
        <p:nvSpPr>
          <p:cNvPr id="10" name="Rounded Rectangle 9"/>
          <p:cNvSpPr/>
          <p:nvPr/>
        </p:nvSpPr>
        <p:spPr>
          <a:xfrm>
            <a:off x="31432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2,967</a:t>
            </a:r>
          </a:p>
        </p:txBody>
      </p:sp>
      <p:sp>
        <p:nvSpPr>
          <p:cNvPr id="11" name="Rounded Rectangle 10"/>
          <p:cNvSpPr/>
          <p:nvPr/>
        </p:nvSpPr>
        <p:spPr>
          <a:xfrm>
            <a:off x="61531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2021–2025</a:t>
            </a:r>
          </a:p>
          <a:p>
            <a:pPr algn="ctr">
              <a:lnSpc>
                <a:spcPct val="95000"/>
              </a:lnSpc>
            </a:pPr>
            <a:r>
              <a:rPr sz="1500" b="1">
                <a:solidFill>
                  <a:srgbClr val="00A4DC"/>
                </a:solidFill>
                <a:latin typeface="Segoe UI"/>
              </a:rPr>
              <a:t>7.4%</a:t>
            </a:r>
          </a:p>
        </p:txBody>
      </p:sp>
      <p:sp>
        <p:nvSpPr>
          <p:cNvPr id="12" name="Rounded Rectangle 11"/>
          <p:cNvSpPr/>
          <p:nvPr/>
        </p:nvSpPr>
        <p:spPr>
          <a:xfrm>
            <a:off x="91630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1500" b="1">
                <a:solidFill>
                  <a:srgbClr val="00A4DC"/>
                </a:solidFill>
                <a:latin typeface="Segoe UI"/>
              </a:rPr>
              <a:t>8.3%</a:t>
            </a:r>
          </a:p>
        </p:txBody>
      </p:sp>
      <p:sp>
        <p:nvSpPr>
          <p:cNvPr id="13" name="Rectangle 12"/>
          <p:cNvSpPr/>
          <p:nvPr/>
        </p:nvSpPr>
        <p:spPr>
          <a:xfrm>
            <a:off x="142875" y="1627887"/>
            <a:ext cx="769620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(2021–2036)</a:t>
            </a:r>
          </a:p>
        </p:txBody>
      </p:sp>
      <p:graphicFrame>
        <p:nvGraphicFramePr>
          <p:cNvPr id="15" name="Chart 14"/>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6" name="Rectangle 15"/>
          <p:cNvSpPr/>
          <p:nvPr/>
        </p:nvSpPr>
        <p:spPr>
          <a:xfrm>
            <a:off x="142875" y="4037375"/>
            <a:ext cx="769620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Incremental Market Addition (US$ Mn)</a:t>
            </a:r>
          </a:p>
        </p:txBody>
      </p:sp>
      <p:graphicFrame>
        <p:nvGraphicFramePr>
          <p:cNvPr id="18" name="Chart 17"/>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9" name="Rectangle 18"/>
          <p:cNvSpPr/>
          <p:nvPr/>
        </p:nvSpPr>
        <p:spPr>
          <a:xfrm>
            <a:off x="7915275" y="1627887"/>
            <a:ext cx="4133850" cy="314171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21" name="Rectangle 20"/>
          <p:cNvSpPr/>
          <p:nvPr/>
        </p:nvSpPr>
        <p:spPr>
          <a:xfrm>
            <a:off x="8048625" y="195173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2037462"/>
            <a:ext cx="3867150" cy="265594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52423"/>
                </a:solidFill>
                <a:latin typeface="Segoe UI"/>
              </a:rPr>
              <a:t>Performance knitted fabrics market value in East Asia is expected to increase 2.4X between 2025 and 2036. In 2025, the performance knitted fabrics market in East Asia was valued at US$ 1,232 Mn and is estimated to account for US$ 1,334 Mn by the end of 2026, reflecting a Y-o-Y growth rate of 8.2%.</a:t>
            </a:r>
          </a:p>
          <a:p>
            <a:pPr algn="l">
              <a:lnSpc>
                <a:spcPct val="110000"/>
              </a:lnSpc>
              <a:spcBef>
                <a:spcPts val="0"/>
              </a:spcBef>
              <a:spcAft>
                <a:spcPts val="500"/>
              </a:spcAft>
            </a:pPr>
            <a:r>
              <a:rPr sz="1100" b="0">
                <a:solidFill>
                  <a:srgbClr val="252423"/>
                </a:solidFill>
                <a:latin typeface="Segoe UI"/>
              </a:rPr>
              <a:t>The market in East Asia is expected to account for US$ 2,967 Mn by 2036 at a CAGR of 8.3% over the forecast period. East Asia is expected to create an incremental opportunity of US$ 1,735 Mn for the overall performance knitted fabrics market from 2025 to 2036.</a:t>
            </a:r>
          </a:p>
          <a:p>
            <a:pPr algn="l">
              <a:lnSpc>
                <a:spcPct val="110000"/>
              </a:lnSpc>
              <a:spcBef>
                <a:spcPts val="0"/>
              </a:spcBef>
              <a:spcAft>
                <a:spcPts val="500"/>
              </a:spcAft>
            </a:pPr>
            <a:r>
              <a:rPr sz="1100" b="0">
                <a:solidFill>
                  <a:srgbClr val="252423"/>
                </a:solidFill>
                <a:latin typeface="Segoe UI"/>
              </a:rPr>
              <a:t>Absolute $ value for 2026 is estimated to be US$ 101.3 Mn.</a:t>
            </a:r>
          </a:p>
        </p:txBody>
      </p:sp>
      <p:sp>
        <p:nvSpPr>
          <p:cNvPr id="23" name="Rectangle 22"/>
          <p:cNvSpPr/>
          <p:nvPr/>
        </p:nvSpPr>
        <p:spPr>
          <a:xfrm>
            <a:off x="7915275" y="4824367"/>
            <a:ext cx="4133850" cy="173201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910092"/>
            <a:ext cx="3867150" cy="209550"/>
          </a:xfrm>
          <a:prstGeom prst="rect">
            <a:avLst/>
          </a:prstGeom>
          <a:noFill/>
        </p:spPr>
        <p:txBody>
          <a:bodyPr wrap="square" lIns="0" rIns="19050" tIns="9525" bIns="9525">
            <a:spAutoFit/>
          </a:bodyPr>
          <a:lstStyle/>
          <a:p>
            <a:pPr algn="l"/>
            <a:r>
              <a:rPr sz="1300" b="1">
                <a:solidFill>
                  <a:srgbClr val="007BA5"/>
                </a:solidFill>
                <a:latin typeface="Segoe UI"/>
              </a:rPr>
              <a:t>Growth Drivers</a:t>
            </a:r>
          </a:p>
        </p:txBody>
      </p:sp>
      <p:sp>
        <p:nvSpPr>
          <p:cNvPr id="25" name="Rectangle 24"/>
          <p:cNvSpPr/>
          <p:nvPr/>
        </p:nvSpPr>
        <p:spPr>
          <a:xfrm>
            <a:off x="8048625" y="514821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5233942"/>
            <a:ext cx="3867150" cy="124624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'China' leads regional growth at 8.9% CAGR.</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Demand concentrates in 'Weft Knitted Fabrics' within Fabric Construction.</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Product innovation and premiumisation lifting value.</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Expanding end-use applications and access.</a:t>
            </a:r>
          </a:p>
        </p:txBody>
      </p:sp>
      <p:sp>
        <p:nvSpPr>
          <p:cNvPr id="27" name="TextBox 2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 Asia Performance Knitted Fabrics Market Volume &amp; Value Analysis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volume and value growth of the East Asia market and the incremental $ opportunity it creates, 2021–2036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 Asia</a:t>
            </a:r>
          </a:p>
        </p:txBody>
      </p:sp>
      <p:sp>
        <p:nvSpPr>
          <p:cNvPr id="9" name="Rectangle 8"/>
          <p:cNvSpPr/>
          <p:nvPr/>
        </p:nvSpPr>
        <p:spPr>
          <a:xfrm>
            <a:off x="142875" y="981075"/>
            <a:ext cx="4695825" cy="2524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 Asia Market, 2021–2025 (Historical)</a:t>
            </a:r>
          </a:p>
        </p:txBody>
      </p:sp>
      <p:graphicFrame>
        <p:nvGraphicFramePr>
          <p:cNvPr id="11" name="Chart 10"/>
          <p:cNvGraphicFramePr>
            <a:graphicFrameLocks noGrp="1"/>
          </p:cNvGraphicFramePr>
          <p:nvPr/>
        </p:nvGraphicFramePr>
        <p:xfrm>
          <a:off x="238125" y="1266825"/>
          <a:ext cx="4505325" cy="2181225"/>
        </p:xfrm>
        <a:graphic>
          <a:graphicData uri="http://schemas.openxmlformats.org/drawingml/2006/chart">
            <c:chart xmlns:c="http://schemas.openxmlformats.org/drawingml/2006/chart" r:id="rId3"/>
          </a:graphicData>
        </a:graphic>
      </p:graphicFrame>
      <p:sp>
        <p:nvSpPr>
          <p:cNvPr id="12" name="Rectangle 11"/>
          <p:cNvSpPr/>
          <p:nvPr/>
        </p:nvSpPr>
        <p:spPr>
          <a:xfrm>
            <a:off x="4991100" y="981075"/>
            <a:ext cx="7048500" cy="2524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 Asia Market, 2026–2036 (Forecast)</a:t>
            </a:r>
          </a:p>
        </p:txBody>
      </p:sp>
      <p:graphicFrame>
        <p:nvGraphicFramePr>
          <p:cNvPr id="14" name="Chart 13"/>
          <p:cNvGraphicFramePr>
            <a:graphicFrameLocks noGrp="1"/>
          </p:cNvGraphicFramePr>
          <p:nvPr/>
        </p:nvGraphicFramePr>
        <p:xfrm>
          <a:off x="5086350" y="1266825"/>
          <a:ext cx="6858000" cy="2181225"/>
        </p:xfrm>
        <a:graphic>
          <a:graphicData uri="http://schemas.openxmlformats.org/drawingml/2006/chart">
            <c:chart xmlns:c="http://schemas.openxmlformats.org/drawingml/2006/chart" r:id="rId4"/>
          </a:graphicData>
        </a:graphic>
      </p:graphicFrame>
      <p:sp>
        <p:nvSpPr>
          <p:cNvPr id="15" name="Rounded Rectangle 14"/>
          <p:cNvSpPr/>
          <p:nvPr/>
        </p:nvSpPr>
        <p:spPr>
          <a:xfrm>
            <a:off x="142875" y="3638550"/>
            <a:ext cx="25146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VALUE CAGR 2021–2025</a:t>
            </a:r>
          </a:p>
          <a:p>
            <a:pPr algn="ctr">
              <a:lnSpc>
                <a:spcPct val="95000"/>
              </a:lnSpc>
            </a:pPr>
            <a:r>
              <a:rPr sz="1500" b="1">
                <a:solidFill>
                  <a:srgbClr val="00A4DC"/>
                </a:solidFill>
                <a:latin typeface="Segoe UI"/>
              </a:rPr>
              <a:t>7.4%</a:t>
            </a:r>
          </a:p>
        </p:txBody>
      </p:sp>
      <p:sp>
        <p:nvSpPr>
          <p:cNvPr id="16" name="Rounded Rectangle 15"/>
          <p:cNvSpPr/>
          <p:nvPr/>
        </p:nvSpPr>
        <p:spPr>
          <a:xfrm>
            <a:off x="2809875" y="3638550"/>
            <a:ext cx="25146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VALUE CAGR 2026–2036</a:t>
            </a:r>
          </a:p>
          <a:p>
            <a:pPr algn="ctr">
              <a:lnSpc>
                <a:spcPct val="95000"/>
              </a:lnSpc>
            </a:pPr>
            <a:r>
              <a:rPr sz="1500" b="1">
                <a:solidFill>
                  <a:srgbClr val="00A4DC"/>
                </a:solidFill>
                <a:latin typeface="Segoe UI"/>
              </a:rPr>
              <a:t>8.3%</a:t>
            </a:r>
          </a:p>
        </p:txBody>
      </p:sp>
      <p:sp>
        <p:nvSpPr>
          <p:cNvPr id="17" name="Rounded Rectangle 16"/>
          <p:cNvSpPr/>
          <p:nvPr/>
        </p:nvSpPr>
        <p:spPr>
          <a:xfrm>
            <a:off x="5476875" y="3638550"/>
            <a:ext cx="32004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INCREMENTAL $ OPPORTUNITY 2026–2031</a:t>
            </a:r>
          </a:p>
          <a:p>
            <a:pPr algn="ctr">
              <a:lnSpc>
                <a:spcPct val="95000"/>
              </a:lnSpc>
            </a:pPr>
            <a:r>
              <a:rPr sz="1500" b="1">
                <a:solidFill>
                  <a:srgbClr val="00A4DC"/>
                </a:solidFill>
                <a:latin typeface="Segoe UI"/>
              </a:rPr>
              <a:t>641.4 US$ Mn</a:t>
            </a:r>
          </a:p>
        </p:txBody>
      </p:sp>
      <p:sp>
        <p:nvSpPr>
          <p:cNvPr id="18" name="Rounded Rectangle 17"/>
          <p:cNvSpPr/>
          <p:nvPr/>
        </p:nvSpPr>
        <p:spPr>
          <a:xfrm>
            <a:off x="8829675" y="3638550"/>
            <a:ext cx="32004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INCREMENTAL $ OPPORTUNITY 2026–2036</a:t>
            </a:r>
          </a:p>
          <a:p>
            <a:pPr algn="ctr">
              <a:lnSpc>
                <a:spcPct val="95000"/>
              </a:lnSpc>
            </a:pPr>
            <a:r>
              <a:rPr sz="1500" b="1">
                <a:solidFill>
                  <a:srgbClr val="00A4DC"/>
                </a:solidFill>
                <a:latin typeface="Segoe UI"/>
              </a:rPr>
              <a:t>1,634 US$ Mn</a:t>
            </a:r>
          </a:p>
        </p:txBody>
      </p:sp>
      <p:sp>
        <p:nvSpPr>
          <p:cNvPr id="19" name="Rectangle 18"/>
          <p:cNvSpPr/>
          <p:nvPr/>
        </p:nvSpPr>
        <p:spPr>
          <a:xfrm>
            <a:off x="142875" y="4457700"/>
            <a:ext cx="11906250" cy="21526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543425"/>
            <a:ext cx="11639550" cy="209550"/>
          </a:xfrm>
          <a:prstGeom prst="rect">
            <a:avLst/>
          </a:prstGeom>
          <a:noFill/>
        </p:spPr>
        <p:txBody>
          <a:bodyPr wrap="square" lIns="0" rIns="19050" tIns="9525" bIns="9525">
            <a:spAutoFit/>
          </a:bodyPr>
          <a:lstStyle/>
          <a:p>
            <a:pPr algn="l"/>
            <a:r>
              <a:rPr sz="1300" b="1">
                <a:solidFill>
                  <a:srgbClr val="007BA5"/>
                </a:solidFill>
                <a:latin typeface="Segoe UI"/>
              </a:rPr>
              <a:t>East Asia Volume &amp; Value Analysis</a:t>
            </a:r>
          </a:p>
        </p:txBody>
      </p:sp>
      <p:sp>
        <p:nvSpPr>
          <p:cNvPr id="21" name="Rectangle 20"/>
          <p:cNvSpPr/>
          <p:nvPr/>
        </p:nvSpPr>
        <p:spPr>
          <a:xfrm>
            <a:off x="276225" y="478155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867275"/>
            <a:ext cx="11639550" cy="1666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Performance knitted fabrics market value in East Asia is expected to increase 2.4X between 2025 and 2036. In 2025, the performance knitted fabrics market in East Asia was valued at US$ 1,232 Mn and is estimated to account for US$ 1,334 Mn by the end of 2026, reflecting a Y-o-Y growth rate of 8.2%. The market in East Asia is expected to account for US$ 2,967 Mn by 2036 at a CAGR of 8.3% over the forecast period.</a:t>
            </a:r>
          </a:p>
          <a:p>
            <a:pPr algn="l">
              <a:lnSpc>
                <a:spcPct val="110000"/>
              </a:lnSpc>
              <a:spcBef>
                <a:spcPts val="0"/>
              </a:spcBef>
              <a:spcAft>
                <a:spcPts val="500"/>
              </a:spcAft>
            </a:pPr>
            <a:r>
              <a:rPr sz="1150" b="0">
                <a:solidFill>
                  <a:srgbClr val="252423"/>
                </a:solidFill>
                <a:latin typeface="Segoe UI"/>
              </a:rPr>
              <a:t>East Asia is expected to create an incremental opportunity of US$ 1,735 Mn for the overall performance knitted fabrics market from 2025 to 2036. Absolute $ value for 2026 is estimated to be US$ 101.3 Mn. East Asia performance knitted fabrics market is projected to register 2.0X increase in volume by the end of forecast period, 2036.</a:t>
            </a:r>
          </a:p>
          <a:p>
            <a:pPr algn="l">
              <a:lnSpc>
                <a:spcPct val="110000"/>
              </a:lnSpc>
              <a:spcBef>
                <a:spcPts val="0"/>
              </a:spcBef>
              <a:spcAft>
                <a:spcPts val="500"/>
              </a:spcAft>
            </a:pPr>
            <a:r>
              <a:rPr sz="1150" b="0">
                <a:solidFill>
                  <a:srgbClr val="252423"/>
                </a:solidFill>
                <a:latin typeface="Segoe UI"/>
              </a:rPr>
              <a:t>East Asia performance knitted fabrics market volume stood at 428.2 Mn Sq. Yards in 2025 and is expected to reach 869.3 Mn Sq. Yards by 2036 end, at a CAGR of 6.6%. Value is projected to grow faster than volume over the forecast period, owing to an increase in average selling price.</a:t>
            </a:r>
          </a:p>
        </p:txBody>
      </p:sp>
      <p:sp>
        <p:nvSpPr>
          <p:cNvPr id="23" name="TextBox 2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 Asia Performance Knitted Fabrics Market Summary Country Indices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outlook ranking 2036 market size, growth and absolute-growth indices to highlight the strongest markets</a:t>
            </a:r>
          </a:p>
        </p:txBody>
      </p:sp>
      <p:sp>
        <p:nvSpPr>
          <p:cNvPr id="8" name="Rectangle 7"/>
          <p:cNvSpPr/>
          <p:nvPr/>
        </p:nvSpPr>
        <p:spPr>
          <a:xfrm>
            <a:off x="142875" y="1007261"/>
            <a:ext cx="3933825" cy="244599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Top 10 Countries By CAGR Index</a:t>
            </a:r>
          </a:p>
        </p:txBody>
      </p:sp>
      <p:graphicFrame>
        <p:nvGraphicFramePr>
          <p:cNvPr id="10" name="Chart 9"/>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1" name="Rectangle 10"/>
          <p:cNvSpPr/>
          <p:nvPr/>
        </p:nvSpPr>
        <p:spPr>
          <a:xfrm>
            <a:off x="142875" y="3489764"/>
            <a:ext cx="3933825" cy="243686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3565964"/>
          <a:ext cx="3914775" cy="2132070"/>
        </p:xfrm>
        <a:graphic>
          <a:graphicData uri="http://schemas.openxmlformats.org/drawingml/2006/table">
            <a:tbl>
              <a:tblPr>
                <a:tableStyleId>{5C22544A-7EE6-4342-B048-85BDC9FD1C3A}</a:tableStyleId>
              </a:tblPr>
              <a:tblGrid>
                <a:gridCol w="998195"/>
                <a:gridCol w="974781"/>
                <a:gridCol w="667807"/>
                <a:gridCol w="1273992"/>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CAGR Index</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 Opp (US$ Mn)</a:t>
                      </a:r>
                      <a:endParaRPr sz="1100"/>
                    </a:p>
                  </a:txBody>
                  <a:tcPr marL="47625" marR="38100" marT="19050" marB="19050" anchor="ctr">
                    <a:solidFill>
                      <a:srgbClr val="007BA5"/>
                    </a:solidFill>
                  </a:tcPr>
                </a:tc>
              </a:tr>
              <a:tr h="638935">
                <a:tc>
                  <a:txBody>
                    <a:bodyPr wrap="none"/>
                    <a:lstStyle/>
                    <a:p>
                      <a:pPr algn="l"/>
                      <a:r>
                        <a:rPr sz="1100" b="1">
                          <a:solidFill>
                            <a:srgbClr val="252423"/>
                          </a:solidFill>
                          <a:latin typeface="Segoe UI"/>
                        </a:rPr>
                        <a:t>China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1,123</a:t>
                      </a:r>
                      <a:endParaRPr sz="1100"/>
                    </a:p>
                  </a:txBody>
                  <a:tcPr marL="47625" marR="38100" marT="19050" marB="19050" anchor="ctr">
                    <a:solidFill>
                      <a:srgbClr val="FFFFFF"/>
                    </a:solidFill>
                  </a:tcPr>
                </a:tc>
              </a:tr>
              <a:tr h="638935">
                <a:tc>
                  <a:txBody>
                    <a:bodyPr wrap="none"/>
                    <a:lstStyle/>
                    <a:p>
                      <a:pPr algn="l"/>
                      <a:r>
                        <a:rPr sz="1100" b="1">
                          <a:solidFill>
                            <a:srgbClr val="252423"/>
                          </a:solidFill>
                          <a:latin typeface="Segoe UI"/>
                        </a:rPr>
                        <a:t>South Korea</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225.1</a:t>
                      </a:r>
                      <a:endParaRPr sz="1100"/>
                    </a:p>
                  </a:txBody>
                  <a:tcPr marL="47625" marR="38100" marT="19050" marB="19050" anchor="ctr">
                    <a:solidFill>
                      <a:srgbClr val="F2FAFD"/>
                    </a:solidFill>
                  </a:tcPr>
                </a:tc>
              </a:tr>
              <a:tr h="638935">
                <a:tc>
                  <a:txBody>
                    <a:bodyPr wrap="none"/>
                    <a:lstStyle/>
                    <a:p>
                      <a:pPr algn="l"/>
                      <a:r>
                        <a:rPr sz="1100" b="1">
                          <a:solidFill>
                            <a:srgbClr val="252423"/>
                          </a:solidFill>
                          <a:latin typeface="Segoe UI"/>
                        </a:rPr>
                        <a:t>Japan</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285.9</a:t>
                      </a:r>
                      <a:endParaRPr sz="1100"/>
                    </a:p>
                  </a:txBody>
                  <a:tcPr marL="47625" marR="38100" marT="19050" marB="19050" anchor="ctr">
                    <a:solidFill>
                      <a:srgbClr val="FFFFFF"/>
                    </a:solidFill>
                  </a:tcPr>
                </a:tc>
              </a:tr>
            </a:tbl>
          </a:graphicData>
        </a:graphic>
      </p:graphicFrame>
      <p:sp>
        <p:nvSpPr>
          <p:cNvPr id="13" name="TextBox 12"/>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4" name="Rectangle 13"/>
          <p:cNvSpPr/>
          <p:nvPr/>
        </p:nvSpPr>
        <p:spPr>
          <a:xfrm>
            <a:off x="4114800" y="1007261"/>
            <a:ext cx="3933825" cy="4928498"/>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2036 Market By Country (US$ Mn)  ·  Top 10</a:t>
            </a:r>
          </a:p>
        </p:txBody>
      </p:sp>
      <p:sp>
        <p:nvSpPr>
          <p:cNvPr id="16" name="Rectangle 15"/>
          <p:cNvSpPr/>
          <p:nvPr/>
        </p:nvSpPr>
        <p:spPr>
          <a:xfrm>
            <a:off x="4210050" y="1293011"/>
            <a:ext cx="3743325" cy="3016279"/>
          </a:xfrm>
          <a:prstGeom prst="rect">
            <a:avLst/>
          </a:prstGeom>
          <a:solidFill>
            <a:srgbClr val="00A4D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China</a:t>
            </a:r>
          </a:p>
          <a:p>
            <a:pPr algn="ctr"/>
            <a:r>
              <a:rPr sz="1100" b="0">
                <a:solidFill>
                  <a:srgbClr val="FFFFFF"/>
                </a:solidFill>
                <a:latin typeface="Segoe UI"/>
              </a:rPr>
              <a:t>1,952</a:t>
            </a:r>
          </a:p>
        </p:txBody>
      </p:sp>
      <p:sp>
        <p:nvSpPr>
          <p:cNvPr id="17" name="Rectangle 16"/>
          <p:cNvSpPr/>
          <p:nvPr/>
        </p:nvSpPr>
        <p:spPr>
          <a:xfrm>
            <a:off x="4210050" y="4309291"/>
            <a:ext cx="2190234" cy="1569319"/>
          </a:xfrm>
          <a:prstGeom prst="rect">
            <a:avLst/>
          </a:prstGeom>
          <a:solidFill>
            <a:srgbClr val="6ECFF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Japan</a:t>
            </a:r>
          </a:p>
          <a:p>
            <a:pPr algn="ctr"/>
            <a:r>
              <a:rPr sz="1100" b="0">
                <a:solidFill>
                  <a:srgbClr val="252423"/>
                </a:solidFill>
                <a:latin typeface="Segoe UI"/>
              </a:rPr>
              <a:t>594</a:t>
            </a:r>
          </a:p>
        </p:txBody>
      </p:sp>
      <p:sp>
        <p:nvSpPr>
          <p:cNvPr id="18" name="Rectangle 17"/>
          <p:cNvSpPr/>
          <p:nvPr/>
        </p:nvSpPr>
        <p:spPr>
          <a:xfrm>
            <a:off x="6400284" y="4309291"/>
            <a:ext cx="1553091" cy="1569319"/>
          </a:xfrm>
          <a:prstGeom prst="rect">
            <a:avLst/>
          </a:prstGeom>
          <a:solidFill>
            <a:srgbClr val="D6CA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South Korea</a:t>
            </a:r>
          </a:p>
          <a:p>
            <a:pPr algn="ctr"/>
            <a:r>
              <a:rPr sz="1100" b="0">
                <a:solidFill>
                  <a:srgbClr val="252423"/>
                </a:solidFill>
                <a:latin typeface="Segoe UI"/>
              </a:rPr>
              <a:t>421</a:t>
            </a:r>
          </a:p>
        </p:txBody>
      </p:sp>
      <p:sp>
        <p:nvSpPr>
          <p:cNvPr id="19" name="Rectangle 18"/>
          <p:cNvSpPr/>
          <p:nvPr/>
        </p:nvSpPr>
        <p:spPr>
          <a:xfrm>
            <a:off x="8086725" y="1007261"/>
            <a:ext cx="3933825" cy="243686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Top 10 Countries By Absolute Index</a:t>
            </a:r>
          </a:p>
        </p:txBody>
      </p:sp>
      <p:graphicFrame>
        <p:nvGraphicFramePr>
          <p:cNvPr id="21" name="Chart 20"/>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2" name="Rectangle 21"/>
          <p:cNvSpPr/>
          <p:nvPr/>
        </p:nvSpPr>
        <p:spPr>
          <a:xfrm>
            <a:off x="8086725" y="3471510"/>
            <a:ext cx="3933825" cy="246424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3" name="Table 22"/>
          <p:cNvGraphicFramePr>
            <a:graphicFrameLocks noGrp="1"/>
          </p:cNvGraphicFramePr>
          <p:nvPr/>
        </p:nvGraphicFramePr>
        <p:xfrm>
          <a:off x="8096250" y="3547710"/>
          <a:ext cx="3914775" cy="2159448"/>
        </p:xfrm>
        <a:graphic>
          <a:graphicData uri="http://schemas.openxmlformats.org/drawingml/2006/table">
            <a:tbl>
              <a:tblPr>
                <a:tableStyleId>{5C22544A-7EE6-4342-B048-85BDC9FD1C3A}</a:tableStyleId>
              </a:tblPr>
              <a:tblGrid>
                <a:gridCol w="942446"/>
                <a:gridCol w="1138979"/>
                <a:gridCol w="630510"/>
                <a:gridCol w="1202840"/>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Absolute Index</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 Opp (US$ Mn)</a:t>
                      </a:r>
                      <a:endParaRPr sz="1100"/>
                    </a:p>
                  </a:txBody>
                  <a:tcPr marL="47625" marR="38100" marT="19050" marB="19050" anchor="ctr">
                    <a:solidFill>
                      <a:srgbClr val="007BA5"/>
                    </a:solidFill>
                  </a:tcPr>
                </a:tc>
              </a:tr>
              <a:tr h="648061">
                <a:tc>
                  <a:txBody>
                    <a:bodyPr wrap="none"/>
                    <a:lstStyle/>
                    <a:p>
                      <a:pPr algn="l"/>
                      <a:r>
                        <a:rPr sz="1100" b="1">
                          <a:solidFill>
                            <a:srgbClr val="252423"/>
                          </a:solidFill>
                          <a:latin typeface="Segoe UI"/>
                        </a:rPr>
                        <a:t>China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1,123</a:t>
                      </a:r>
                      <a:endParaRPr sz="1100"/>
                    </a:p>
                  </a:txBody>
                  <a:tcPr marL="47625" marR="38100" marT="19050" marB="19050" anchor="ctr">
                    <a:solidFill>
                      <a:srgbClr val="FFFFFF"/>
                    </a:solidFill>
                  </a:tcPr>
                </a:tc>
              </a:tr>
              <a:tr h="648061">
                <a:tc>
                  <a:txBody>
                    <a:bodyPr wrap="none"/>
                    <a:lstStyle/>
                    <a:p>
                      <a:pPr algn="l"/>
                      <a:r>
                        <a:rPr sz="1100" b="1">
                          <a:solidFill>
                            <a:srgbClr val="252423"/>
                          </a:solidFill>
                          <a:latin typeface="Segoe UI"/>
                        </a:rPr>
                        <a:t>Japan</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285.9</a:t>
                      </a:r>
                      <a:endParaRPr sz="1100"/>
                    </a:p>
                  </a:txBody>
                  <a:tcPr marL="47625" marR="38100" marT="19050" marB="19050" anchor="ctr">
                    <a:solidFill>
                      <a:srgbClr val="F2FAFD"/>
                    </a:solidFill>
                  </a:tcPr>
                </a:tc>
              </a:tr>
              <a:tr h="648061">
                <a:tc>
                  <a:txBody>
                    <a:bodyPr wrap="none"/>
                    <a:lstStyle/>
                    <a:p>
                      <a:pPr algn="l"/>
                      <a:r>
                        <a:rPr sz="1100" b="1">
                          <a:solidFill>
                            <a:srgbClr val="252423"/>
                          </a:solidFill>
                          <a:latin typeface="Segoe UI"/>
                        </a:rPr>
                        <a:t>South Korea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225.1</a:t>
                      </a:r>
                      <a:endParaRPr sz="1100"/>
                    </a:p>
                  </a:txBody>
                  <a:tcPr marL="47625" marR="38100" marT="19050" marB="19050" anchor="ctr">
                    <a:solidFill>
                      <a:srgbClr val="FFFFFF"/>
                    </a:solidFill>
                  </a:tcPr>
                </a:tc>
              </a:tr>
            </a:tbl>
          </a:graphicData>
        </a:graphic>
      </p:graphicFrame>
      <p:sp>
        <p:nvSpPr>
          <p:cNvPr id="24" name="TextBox 23"/>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25" name="Rectangle 24"/>
          <p:cNvSpPr/>
          <p:nvPr/>
        </p:nvSpPr>
        <p:spPr>
          <a:xfrm>
            <a:off x="142875" y="6027028"/>
            <a:ext cx="10858500" cy="60237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China performance knitted fabrics market is projected to register 3.3X higher value than Japan in 2036. China posts the highest CAGR Index (107), growing at 8.9% against the East Asia benchmark, while China offers the largest absolute opportunity 1,123 US$ Mn of incremental market between 2026 and 2036 (69% of the East Asia increment).</a:t>
            </a:r>
          </a:p>
        </p:txBody>
      </p:sp>
      <p:sp>
        <p:nvSpPr>
          <p:cNvPr id="26" name="TextBox 2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Supply Side Trends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recent developments, investments and R&amp;D activity shaping the supply side of the market</a:t>
            </a:r>
          </a:p>
        </p:txBody>
      </p:sp>
      <p:sp>
        <p:nvSpPr>
          <p:cNvPr id="8" name="Rectangle 7"/>
          <p:cNvSpPr/>
          <p:nvPr/>
        </p:nvSpPr>
        <p:spPr>
          <a:xfrm>
            <a:off x="142875" y="981075"/>
            <a:ext cx="58769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Recent Developments &amp; Key Industry Activities</a:t>
            </a:r>
          </a:p>
        </p:txBody>
      </p:sp>
      <p:sp>
        <p:nvSpPr>
          <p:cNvPr id="10" name="Rectangle 9"/>
          <p:cNvSpPr/>
          <p:nvPr/>
        </p:nvSpPr>
        <p:spPr>
          <a:xfrm>
            <a:off x="276225"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Capacity and product development are concentrating in 'Warp Knitted Fabrics' and China.</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Portfolio expansion tracks the shift toward higher-growth fabric construction categories.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Commercial focus is intensifying across China and China.</a:t>
            </a:r>
          </a:p>
        </p:txBody>
      </p:sp>
      <p:sp>
        <p:nvSpPr>
          <p:cNvPr id="12" name="Rectangle 11"/>
          <p:cNvSpPr/>
          <p:nvPr/>
        </p:nvSpPr>
        <p:spPr>
          <a:xfrm>
            <a:off x="6172200" y="981075"/>
            <a:ext cx="58769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14" name="Rectangle 13"/>
          <p:cNvSpPr/>
          <p:nvPr/>
        </p:nvSpPr>
        <p:spPr>
          <a:xfrm>
            <a:off x="6305550"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2026 size 1,334 US$ Mn; 2036 2,967 US$ Mn.</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Forecast CAGR 8.3% (2026–2036).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Lead category 'Weft Knitted Fabrics' 50.9% of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Lead country China 65.8%.</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Incremental opportunity 1,634 US$ Mn.</a:t>
            </a:r>
          </a:p>
        </p:txBody>
      </p:sp>
      <p:sp>
        <p:nvSpPr>
          <p:cNvPr id="16" name="Rectangle 15"/>
          <p:cNvSpPr/>
          <p:nvPr/>
        </p:nvSpPr>
        <p:spPr>
          <a:xfrm>
            <a:off x="142875" y="2895600"/>
            <a:ext cx="5876925" cy="1285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5610225" cy="209550"/>
          </a:xfrm>
          <a:prstGeom prst="rect">
            <a:avLst/>
          </a:prstGeom>
          <a:noFill/>
        </p:spPr>
        <p:txBody>
          <a:bodyPr wrap="square" lIns="0" rIns="19050" tIns="9525" bIns="9525">
            <a:spAutoFit/>
          </a:bodyPr>
          <a:lstStyle/>
          <a:p>
            <a:pPr algn="l"/>
            <a:r>
              <a:rPr sz="1300" b="1">
                <a:solidFill>
                  <a:srgbClr val="007BA5"/>
                </a:solidFill>
                <a:latin typeface="Segoe UI"/>
              </a:rPr>
              <a:t>Strategic Acquisitions &amp; New Investments</a:t>
            </a:r>
          </a:p>
        </p:txBody>
      </p:sp>
      <p:sp>
        <p:nvSpPr>
          <p:cNvPr id="18" name="Rectangle 17"/>
          <p:cNvSpPr/>
          <p:nvPr/>
        </p:nvSpPr>
        <p:spPr>
          <a:xfrm>
            <a:off x="276225" y="32194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Investment is flowing toward the fastest-growing tier 'Warp Knitted Fabrics' (8.9%).</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China (8.9%) is a priority country for new capacity.</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Scale players anchor around 'Weft Knitted Fabrics' (50.9% share).</a:t>
            </a:r>
          </a:p>
        </p:txBody>
      </p:sp>
      <p:sp>
        <p:nvSpPr>
          <p:cNvPr id="20" name="Rectangle 19"/>
          <p:cNvSpPr/>
          <p:nvPr/>
        </p:nvSpPr>
        <p:spPr>
          <a:xfrm>
            <a:off x="6172200" y="2895600"/>
            <a:ext cx="5876925" cy="1285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2981325"/>
            <a:ext cx="5610225" cy="209550"/>
          </a:xfrm>
          <a:prstGeom prst="rect">
            <a:avLst/>
          </a:prstGeom>
          <a:noFill/>
        </p:spPr>
        <p:txBody>
          <a:bodyPr wrap="square" lIns="0" rIns="19050" tIns="9525" bIns="9525">
            <a:spAutoFit/>
          </a:bodyPr>
          <a:lstStyle/>
          <a:p>
            <a:pPr algn="l"/>
            <a:r>
              <a:rPr sz="1300" b="1">
                <a:solidFill>
                  <a:srgbClr val="007BA5"/>
                </a:solidFill>
                <a:latin typeface="Segoe UI"/>
              </a:rPr>
              <a:t>Substantial Investment in R&amp;D</a:t>
            </a:r>
          </a:p>
        </p:txBody>
      </p:sp>
      <p:sp>
        <p:nvSpPr>
          <p:cNvPr id="22" name="Rectangle 21"/>
          <p:cNvSpPr/>
          <p:nvPr/>
        </p:nvSpPr>
        <p:spPr>
          <a:xfrm>
            <a:off x="6305550" y="32194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R&amp;D aligns with the migration to 'Warp Knitted Fabrics' and adjacent premium tiers.</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Development spend targets fabric construction categories gaining share to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Innovation underpins the 8.3% forecast CAGR.</a:t>
            </a:r>
          </a:p>
        </p:txBody>
      </p:sp>
      <p:sp>
        <p:nvSpPr>
          <p:cNvPr id="24" name="Rectangle 23"/>
          <p:cNvSpPr/>
          <p:nvPr/>
        </p:nvSpPr>
        <p:spPr>
          <a:xfrm>
            <a:off x="142875" y="4314825"/>
            <a:ext cx="11906250" cy="22955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8125" y="437197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structure fabric construction share (2036)</a:t>
            </a:r>
          </a:p>
        </p:txBody>
      </p:sp>
      <p:graphicFrame>
        <p:nvGraphicFramePr>
          <p:cNvPr id="26" name="Chart 25"/>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r:id="rId3"/>
          </a:graphicData>
        </a:graphic>
      </p:graphicFrame>
      <p:sp>
        <p:nvSpPr>
          <p:cNvPr id="27" name="TextBox 26"/>
          <p:cNvSpPr txBox="1"/>
          <p:nvPr/>
        </p:nvSpPr>
        <p:spPr>
          <a:xfrm>
            <a:off x="3871570" y="5462588"/>
            <a:ext cx="934136" cy="228600"/>
          </a:xfrm>
          <a:prstGeom prst="rect">
            <a:avLst/>
          </a:prstGeom>
          <a:noFill/>
        </p:spPr>
        <p:txBody>
          <a:bodyPr wrap="square" lIns="28575" rIns="28575" tIns="9525" bIns="9525" anchor="ctr">
            <a:spAutoFit/>
          </a:bodyPr>
          <a:lstStyle/>
          <a:p>
            <a:pPr algn="ctr"/>
            <a:r>
              <a:rPr sz="1300" b="1">
                <a:solidFill>
                  <a:srgbClr val="252423"/>
                </a:solidFill>
                <a:latin typeface="Segoe UI"/>
              </a:rPr>
              <a:t>2036</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Analysis and Recommendation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the market approach, differentiating strategy and FMI's analysis and recommendation</a:t>
            </a:r>
          </a:p>
        </p:txBody>
      </p:sp>
      <p:sp>
        <p:nvSpPr>
          <p:cNvPr id="8" name="Rectangle 7"/>
          <p:cNvSpPr/>
          <p:nvPr/>
        </p:nvSpPr>
        <p:spPr>
          <a:xfrm>
            <a:off x="142875" y="981075"/>
            <a:ext cx="58769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Overall Market Approach</a:t>
            </a:r>
          </a:p>
        </p:txBody>
      </p:sp>
      <p:sp>
        <p:nvSpPr>
          <p:cNvPr id="10" name="Rectangle 9"/>
          <p:cNvSpPr/>
          <p:nvPr/>
        </p:nvSpPr>
        <p:spPr>
          <a:xfrm>
            <a:off x="276225"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Balance scale in 'Weft Knitted Fabrics' with targeted growth in 'Warp Knitted Fabrics', pursuing the 8.3% CAGR trajectory to 2036.</a:t>
            </a:r>
          </a:p>
        </p:txBody>
      </p:sp>
      <p:sp>
        <p:nvSpPr>
          <p:cNvPr id="12" name="Rectangle 11"/>
          <p:cNvSpPr/>
          <p:nvPr/>
        </p:nvSpPr>
        <p:spPr>
          <a:xfrm>
            <a:off x="6172200" y="981075"/>
            <a:ext cx="58769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Differentiating Strategy</a:t>
            </a:r>
          </a:p>
        </p:txBody>
      </p:sp>
      <p:sp>
        <p:nvSpPr>
          <p:cNvPr id="14" name="Rectangle 13"/>
          <p:cNvSpPr/>
          <p:nvPr/>
        </p:nvSpPr>
        <p:spPr>
          <a:xfrm>
            <a:off x="6305550"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Differentiate through the high-growth 'Warp Knitted Fabrics' tier and Medical &amp; Healthcare within end-use application.</a:t>
            </a:r>
          </a:p>
        </p:txBody>
      </p:sp>
      <p:sp>
        <p:nvSpPr>
          <p:cNvPr id="16" name="Rectangle 15"/>
          <p:cNvSpPr/>
          <p:nvPr/>
        </p:nvSpPr>
        <p:spPr>
          <a:xfrm>
            <a:off x="142875" y="2857500"/>
            <a:ext cx="5876925" cy="1562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43225"/>
            <a:ext cx="5610225" cy="209550"/>
          </a:xfrm>
          <a:prstGeom prst="rect">
            <a:avLst/>
          </a:prstGeom>
          <a:noFill/>
        </p:spPr>
        <p:txBody>
          <a:bodyPr wrap="square" lIns="0" rIns="19050" tIns="9525" bIns="9525">
            <a:spAutoFit/>
          </a:bodyPr>
          <a:lstStyle/>
          <a:p>
            <a:pPr algn="l"/>
            <a:r>
              <a:rPr sz="1300" b="1">
                <a:solidFill>
                  <a:srgbClr val="007BA5"/>
                </a:solidFill>
                <a:latin typeface="Segoe UI"/>
              </a:rPr>
              <a:t>Market Segment</a:t>
            </a:r>
          </a:p>
        </p:txBody>
      </p:sp>
      <p:sp>
        <p:nvSpPr>
          <p:cNvPr id="18" name="Rectangle 17"/>
          <p:cNvSpPr/>
          <p:nvPr/>
        </p:nvSpPr>
        <p:spPr>
          <a:xfrm>
            <a:off x="276225" y="31813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Prioritise 'Warp Knitted Fabrics' (8.9%); 'Weft Knitted Fabrics' anchors 50.9% of value.</a:t>
            </a:r>
          </a:p>
        </p:txBody>
      </p:sp>
      <p:sp>
        <p:nvSpPr>
          <p:cNvPr id="20" name="Rectangle 19"/>
          <p:cNvSpPr/>
          <p:nvPr/>
        </p:nvSpPr>
        <p:spPr>
          <a:xfrm>
            <a:off x="6172200" y="2857500"/>
            <a:ext cx="5876925" cy="1562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2943225"/>
            <a:ext cx="5610225" cy="209550"/>
          </a:xfrm>
          <a:prstGeom prst="rect">
            <a:avLst/>
          </a:prstGeom>
          <a:noFill/>
        </p:spPr>
        <p:txBody>
          <a:bodyPr wrap="square" lIns="0" rIns="19050" tIns="9525" bIns="9525">
            <a:spAutoFit/>
          </a:bodyPr>
          <a:lstStyle/>
          <a:p>
            <a:pPr algn="l"/>
            <a:r>
              <a:rPr sz="1300" b="1">
                <a:solidFill>
                  <a:srgbClr val="007BA5"/>
                </a:solidFill>
                <a:latin typeface="Segoe UI"/>
              </a:rPr>
              <a:t>Market Country</a:t>
            </a:r>
          </a:p>
        </p:txBody>
      </p:sp>
      <p:sp>
        <p:nvSpPr>
          <p:cNvPr id="22" name="Rectangle 21"/>
          <p:cNvSpPr/>
          <p:nvPr/>
        </p:nvSpPr>
        <p:spPr>
          <a:xfrm>
            <a:off x="6305550" y="31813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Lead with China (65.8%); capture upside in China (8.9%).</a:t>
            </a:r>
          </a:p>
        </p:txBody>
      </p:sp>
      <p:sp>
        <p:nvSpPr>
          <p:cNvPr id="24" name="Rectangle 23"/>
          <p:cNvSpPr/>
          <p:nvPr/>
        </p:nvSpPr>
        <p:spPr>
          <a:xfrm>
            <a:off x="142875" y="4552950"/>
            <a:ext cx="11906250" cy="2057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07BA5"/>
                </a:solidFill>
                <a:latin typeface="Segoe UI"/>
              </a:rPr>
              <a:t>Fact.MR Analysis &amp; Recommendation</a:t>
            </a:r>
          </a:p>
        </p:txBody>
      </p:sp>
      <p:sp>
        <p:nvSpPr>
          <p:cNvPr id="26" name="Rectangle 25"/>
          <p:cNvSpPr/>
          <p:nvPr/>
        </p:nvSpPr>
        <p:spPr>
          <a:xfrm>
            <a:off x="276225" y="48768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Performance Knitted Fabrics adds 1,634 US$ Mn of demand to 2036 a 2.2× expansion.</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Concentrate resources on the leading segment/country while seeding the fastest-growing pockets early.</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Defend share in 'Weft Knitted Fabrics' as the value anchor of the portfolio.</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 Asia Performance Knitted Fabrics – Country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Regional analysis of size, growth and share across 3 countries, highlighting where value concentrates,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 Asia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By Country view breaks the East Asia market down geographically. Each country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Country</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325755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325755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China</a:t>
            </a:r>
          </a:p>
        </p:txBody>
      </p:sp>
      <p:sp>
        <p:nvSpPr>
          <p:cNvPr id="21" name="Rectangle 20"/>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829.2</a:t>
            </a:r>
          </a:p>
        </p:txBody>
      </p:sp>
      <p:sp>
        <p:nvSpPr>
          <p:cNvPr id="22" name="Rectangle 21"/>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1,952</a:t>
            </a:r>
          </a:p>
        </p:txBody>
      </p:sp>
      <p:sp>
        <p:nvSpPr>
          <p:cNvPr id="23" name="Rectangle 22"/>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8.9%</a:t>
            </a:r>
          </a:p>
        </p:txBody>
      </p:sp>
      <p:sp>
        <p:nvSpPr>
          <p:cNvPr id="24" name="Oval 23"/>
          <p:cNvSpPr/>
          <p:nvPr/>
        </p:nvSpPr>
        <p:spPr>
          <a:xfrm>
            <a:off x="333375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5238750" y="1773916"/>
            <a:ext cx="325755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238750" y="1992961"/>
            <a:ext cx="325755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Japan</a:t>
            </a:r>
          </a:p>
        </p:txBody>
      </p:sp>
      <p:sp>
        <p:nvSpPr>
          <p:cNvPr id="28" name="Rectangle 27"/>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308.3</a:t>
            </a:r>
          </a:p>
        </p:txBody>
      </p:sp>
      <p:sp>
        <p:nvSpPr>
          <p:cNvPr id="29" name="Rectangle 28"/>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594.2</a:t>
            </a:r>
          </a:p>
        </p:txBody>
      </p:sp>
      <p:sp>
        <p:nvSpPr>
          <p:cNvPr id="30" name="Rectangle 29"/>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6.8%</a:t>
            </a:r>
          </a:p>
        </p:txBody>
      </p:sp>
      <p:sp>
        <p:nvSpPr>
          <p:cNvPr id="31" name="Oval 30"/>
          <p:cNvSpPr/>
          <p:nvPr/>
        </p:nvSpPr>
        <p:spPr>
          <a:xfrm>
            <a:off x="670560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8610600" y="1773916"/>
            <a:ext cx="325755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10600" y="1992961"/>
            <a:ext cx="325755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South Korea</a:t>
            </a:r>
          </a:p>
        </p:txBody>
      </p:sp>
      <p:sp>
        <p:nvSpPr>
          <p:cNvPr id="35" name="Rectangle 34"/>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196.2</a:t>
            </a:r>
          </a:p>
        </p:txBody>
      </p:sp>
      <p:sp>
        <p:nvSpPr>
          <p:cNvPr id="36" name="Rectangle 35"/>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421.3</a:t>
            </a:r>
          </a:p>
        </p:txBody>
      </p:sp>
      <p:sp>
        <p:nvSpPr>
          <p:cNvPr id="37" name="Rectangle 36"/>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7.9%</a:t>
            </a:r>
          </a:p>
        </p:txBody>
      </p:sp>
      <p:sp>
        <p:nvSpPr>
          <p:cNvPr id="38" name="Oval 37"/>
          <p:cNvSpPr/>
          <p:nvPr/>
        </p:nvSpPr>
        <p:spPr>
          <a:xfrm>
            <a:off x="1007745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1" name="Rectangle 40"/>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China performance knitted fabrics market is projected to register 3.3X higher value than Japan in 2036. Among performance knitted fabrics by country, China is expected to witness the highest CAGR of 8.9% over the forecast period.</a:t>
            </a:r>
          </a:p>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In terms of value share by country, China is expected to dominate the market, gaining 361 BPS and accounting for 65.8% share by 2036. Japan is expected to lose 309 BPS over the forecast period to account for 20.0% share by 2036.</a:t>
            </a:r>
          </a:p>
        </p:txBody>
      </p:sp>
      <p:sp>
        <p:nvSpPr>
          <p:cNvPr id="43" name="Rounded Rectangle 42"/>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5" name="Rectangle 44"/>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China: </a:t>
            </a:r>
            <a:r>
              <a:rPr sz="1100" b="0">
                <a:solidFill>
                  <a:srgbClr val="252423"/>
                </a:solidFill>
                <a:latin typeface="Segoe UI"/>
              </a:rPr>
              <a:t>62% of 2026 value · 8.9% CAGR leads the market.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Japan: </a:t>
            </a:r>
            <a:r>
              <a:rPr sz="1100" b="0">
                <a:solidFill>
                  <a:srgbClr val="252423"/>
                </a:solidFill>
                <a:latin typeface="Segoe UI"/>
              </a:rPr>
              <a:t>23% of 2026 value · 6.8% CAGR a smaller market.</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South Korea: </a:t>
            </a:r>
            <a:r>
              <a:rPr sz="1100" b="0">
                <a:solidFill>
                  <a:srgbClr val="252423"/>
                </a:solidFill>
                <a:latin typeface="Segoe UI"/>
              </a:rPr>
              <a:t>15% of 2026 value · 7.9% CAGR a smaller market.</a:t>
            </a:r>
          </a:p>
        </p:txBody>
      </p:sp>
      <p:sp>
        <p:nvSpPr>
          <p:cNvPr id="47" name="Rounded Rectangle 46"/>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9" name="Rectangle 48"/>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By Country split shows where market value concentrates and where growth is fastest.</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demand and access dynamics are rebalancing the geographic mix through 2036.</a:t>
            </a:r>
          </a:p>
        </p:txBody>
      </p:sp>
      <p:sp>
        <p:nvSpPr>
          <p:cNvPr id="51" name="Rectangle 50"/>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East Asia market is projected to grow at a CAGR of 8.3% from 2026 to 2036.</a:t>
            </a:r>
          </a:p>
        </p:txBody>
      </p:sp>
      <p:sp>
        <p:nvSpPr>
          <p:cNvPr id="53" name="TextBox 52"/>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54" name="TextBox 5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 Asia Performance Knitted Fabrics Market Analysis, By Country Volume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volume share by country in 2026 and 2036, highlighting share gains and losses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 Asia</a:t>
            </a:r>
          </a:p>
        </p:txBody>
      </p:sp>
      <p:sp>
        <p:nvSpPr>
          <p:cNvPr id="9" name="Rectangle 8"/>
          <p:cNvSpPr/>
          <p:nvPr/>
        </p:nvSpPr>
        <p:spPr>
          <a:xfrm>
            <a:off x="142875" y="981075"/>
            <a:ext cx="6810375"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Share and BPS Assessment By Country, 2026 &amp; 2036</a:t>
            </a:r>
          </a:p>
        </p:txBody>
      </p:sp>
      <p:graphicFrame>
        <p:nvGraphicFramePr>
          <p:cNvPr id="11" name="Chart 10"/>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2" name="TextBox 11"/>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0A4DC"/>
                </a:solidFill>
                <a:latin typeface="Segoe UI"/>
              </a:rPr>
              <a:t>BPS Δ  (2026→2036)</a:t>
            </a:r>
          </a:p>
        </p:txBody>
      </p:sp>
      <p:sp>
        <p:nvSpPr>
          <p:cNvPr id="13" name="FMI Lock Anchor"/>
          <p:cNvSpPr txBox="1"/>
          <p:nvPr/>
        </p:nvSpPr>
        <p:spPr>
          <a:xfrm>
            <a:off x="2489835" y="3352800"/>
            <a:ext cx="38100" cy="38100"/>
          </a:xfrm>
          <a:prstGeom prst="rect">
            <a:avLst/>
          </a:prstGeom>
          <a:noFill/>
        </p:spPr>
        <p:txBody>
          <a:bodyPr wrap="none">
            <a:spAutoFit/>
          </a:bodyPr>
          <a:lstStyle/>
          <a:p/>
        </p:txBody>
      </p:sp>
      <p:sp>
        <p:nvSpPr>
          <p:cNvPr id="14" name="FMI Legend Chip"/>
          <p:cNvSpPr/>
          <p:nvPr/>
        </p:nvSpPr>
        <p:spPr>
          <a:xfrm>
            <a:off x="4551045" y="1676912"/>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4712970" y="1672149"/>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4855845" y="1595949"/>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South Korea</a:t>
            </a:r>
          </a:p>
        </p:txBody>
      </p:sp>
      <p:sp>
        <p:nvSpPr>
          <p:cNvPr id="17" name="BPS Value 1"/>
          <p:cNvSpPr txBox="1"/>
          <p:nvPr/>
        </p:nvSpPr>
        <p:spPr>
          <a:xfrm>
            <a:off x="6305550" y="1657862"/>
            <a:ext cx="514350" cy="123825"/>
          </a:xfrm>
          <a:prstGeom prst="rect">
            <a:avLst/>
          </a:prstGeom>
          <a:noFill/>
        </p:spPr>
        <p:txBody>
          <a:bodyPr wrap="none" lIns="0" rIns="0" tIns="0" bIns="0" anchor="ctr">
            <a:spAutoFit/>
          </a:bodyPr>
          <a:lstStyle/>
          <a:p>
            <a:pPr algn="r"/>
            <a:r>
              <a:rPr sz="900" b="1">
                <a:solidFill>
                  <a:srgbClr val="D64545"/>
                </a:solidFill>
                <a:latin typeface="Segoe UI"/>
              </a:rPr>
              <a:t>-60</a:t>
            </a:r>
          </a:p>
        </p:txBody>
      </p:sp>
      <p:sp>
        <p:nvSpPr>
          <p:cNvPr id="18" name="FMI Legend Chip"/>
          <p:cNvSpPr/>
          <p:nvPr/>
        </p:nvSpPr>
        <p:spPr>
          <a:xfrm>
            <a:off x="4551045" y="2191078"/>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4712970" y="218631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4855845" y="2110116"/>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Japan</a:t>
            </a:r>
          </a:p>
        </p:txBody>
      </p:sp>
      <p:sp>
        <p:nvSpPr>
          <p:cNvPr id="21" name="BPS Value 2"/>
          <p:cNvSpPr txBox="1"/>
          <p:nvPr/>
        </p:nvSpPr>
        <p:spPr>
          <a:xfrm>
            <a:off x="6305550" y="2172028"/>
            <a:ext cx="514350" cy="123825"/>
          </a:xfrm>
          <a:prstGeom prst="rect">
            <a:avLst/>
          </a:prstGeom>
          <a:noFill/>
        </p:spPr>
        <p:txBody>
          <a:bodyPr wrap="none" lIns="0" rIns="0" tIns="0" bIns="0" anchor="ctr">
            <a:spAutoFit/>
          </a:bodyPr>
          <a:lstStyle/>
          <a:p>
            <a:pPr algn="r"/>
            <a:r>
              <a:rPr sz="900" b="1">
                <a:solidFill>
                  <a:srgbClr val="D64545"/>
                </a:solidFill>
                <a:latin typeface="Segoe UI"/>
              </a:rPr>
              <a:t>-174</a:t>
            </a:r>
          </a:p>
        </p:txBody>
      </p:sp>
      <p:sp>
        <p:nvSpPr>
          <p:cNvPr id="22" name="FMI Legend Chip"/>
          <p:cNvSpPr/>
          <p:nvPr/>
        </p:nvSpPr>
        <p:spPr>
          <a:xfrm>
            <a:off x="4551045" y="3809816"/>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4712970" y="380505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4855845" y="3728854"/>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China</a:t>
            </a:r>
          </a:p>
        </p:txBody>
      </p:sp>
      <p:sp>
        <p:nvSpPr>
          <p:cNvPr id="25" name="BPS Value 3"/>
          <p:cNvSpPr txBox="1"/>
          <p:nvPr/>
        </p:nvSpPr>
        <p:spPr>
          <a:xfrm>
            <a:off x="6305550" y="3790766"/>
            <a:ext cx="514350" cy="123825"/>
          </a:xfrm>
          <a:prstGeom prst="rect">
            <a:avLst/>
          </a:prstGeom>
          <a:noFill/>
        </p:spPr>
        <p:txBody>
          <a:bodyPr wrap="none" lIns="0" rIns="0" tIns="0" bIns="0" anchor="ctr">
            <a:spAutoFit/>
          </a:bodyPr>
          <a:lstStyle/>
          <a:p>
            <a:pPr algn="r"/>
            <a:r>
              <a:rPr sz="900" b="1">
                <a:solidFill>
                  <a:srgbClr val="1E8E3E"/>
                </a:solidFill>
                <a:latin typeface="Segoe UI"/>
              </a:rPr>
              <a:t>+234</a:t>
            </a:r>
          </a:p>
        </p:txBody>
      </p:sp>
      <p:sp>
        <p:nvSpPr>
          <p:cNvPr id="26" name="Rectangle 25"/>
          <p:cNvSpPr/>
          <p:nvPr/>
        </p:nvSpPr>
        <p:spPr>
          <a:xfrm>
            <a:off x="7105650" y="981075"/>
            <a:ext cx="4933950"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07BA5"/>
                </a:solidFill>
                <a:latin typeface="Segoe UI"/>
              </a:rPr>
              <a:t>Regional Highlights</a:t>
            </a:r>
          </a:p>
        </p:txBody>
      </p:sp>
      <p:sp>
        <p:nvSpPr>
          <p:cNvPr id="28" name="Rectangle 27"/>
          <p:cNvSpPr/>
          <p:nvPr/>
        </p:nvSpPr>
        <p:spPr>
          <a:xfrm>
            <a:off x="7239000" y="1304925"/>
            <a:ext cx="46672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China performance knitted fabrics market is projected to register 4.4X higher volume than Japan in 2036. Among performance knitted fabrics by country, China is expected to witness the highest CAGR of 7.0% over the forecast period.</a:t>
            </a:r>
          </a:p>
          <a:p>
            <a:pPr algn="l">
              <a:lnSpc>
                <a:spcPct val="110000"/>
              </a:lnSpc>
              <a:spcBef>
                <a:spcPts val="0"/>
              </a:spcBef>
              <a:spcAft>
                <a:spcPts val="500"/>
              </a:spcAft>
            </a:pPr>
            <a:r>
              <a:rPr sz="1150" b="0">
                <a:solidFill>
                  <a:srgbClr val="252423"/>
                </a:solidFill>
                <a:latin typeface="Segoe UI"/>
              </a:rPr>
              <a:t>In terms of volume share by country, China is expected to dominate the market, gaining 234 BPS and accounting for 72.0% share by 2036. Japan is expected to lose 174 BPS over the forecast period to account for 16.3% share by 2036.</a:t>
            </a:r>
          </a:p>
        </p:txBody>
      </p:sp>
      <p:sp>
        <p:nvSpPr>
          <p:cNvPr id="30" name="Rounded Rectangle 29"/>
          <p:cNvSpPr/>
          <p:nvPr/>
        </p:nvSpPr>
        <p:spPr>
          <a:xfrm>
            <a:off x="142875" y="5648325"/>
            <a:ext cx="3943350"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TOTAL (MN SQ. YARDS)</a:t>
            </a:r>
          </a:p>
          <a:p>
            <a:pPr algn="ctr">
              <a:lnSpc>
                <a:spcPct val="95000"/>
              </a:lnSpc>
            </a:pPr>
            <a:r>
              <a:rPr sz="2000" b="1">
                <a:solidFill>
                  <a:srgbClr val="00A4DC"/>
                </a:solidFill>
                <a:latin typeface="Segoe UI"/>
              </a:rPr>
              <a:t>458.7</a:t>
            </a:r>
          </a:p>
        </p:txBody>
      </p:sp>
      <p:sp>
        <p:nvSpPr>
          <p:cNvPr id="31" name="Rounded Rectangle 30"/>
          <p:cNvSpPr/>
          <p:nvPr/>
        </p:nvSpPr>
        <p:spPr>
          <a:xfrm>
            <a:off x="4238625"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TOTAL (MN SQ. YARDS)</a:t>
            </a:r>
          </a:p>
          <a:p>
            <a:pPr algn="ctr">
              <a:lnSpc>
                <a:spcPct val="95000"/>
              </a:lnSpc>
            </a:pPr>
            <a:r>
              <a:rPr sz="2000" b="1">
                <a:solidFill>
                  <a:srgbClr val="00A4DC"/>
                </a:solidFill>
                <a:latin typeface="Segoe UI"/>
              </a:rPr>
              <a:t>869.3</a:t>
            </a:r>
          </a:p>
        </p:txBody>
      </p:sp>
      <p:sp>
        <p:nvSpPr>
          <p:cNvPr id="32" name="Rounded Rectangle 31"/>
          <p:cNvSpPr/>
          <p:nvPr/>
        </p:nvSpPr>
        <p:spPr>
          <a:xfrm>
            <a:off x="8210550"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2000" b="1">
                <a:solidFill>
                  <a:srgbClr val="00A4DC"/>
                </a:solidFill>
                <a:latin typeface="Segoe UI"/>
              </a:rPr>
              <a:t>6.6%</a:t>
            </a:r>
          </a:p>
        </p:txBody>
      </p:sp>
      <p:sp>
        <p:nvSpPr>
          <p:cNvPr id="33" name="TextBox 3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 Asia Performance Knitted Fabrics Market Analysis, By Country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value share by country in 2026 and 2036, highlighting share gains and losses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 Asia</a:t>
            </a:r>
          </a:p>
        </p:txBody>
      </p:sp>
      <p:sp>
        <p:nvSpPr>
          <p:cNvPr id="9" name="Rectangle 8"/>
          <p:cNvSpPr/>
          <p:nvPr/>
        </p:nvSpPr>
        <p:spPr>
          <a:xfrm>
            <a:off x="142875" y="981075"/>
            <a:ext cx="6810375"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Share and BPS Assessment By Country, 2026 &amp; 2036</a:t>
            </a:r>
          </a:p>
        </p:txBody>
      </p:sp>
      <p:graphicFrame>
        <p:nvGraphicFramePr>
          <p:cNvPr id="11" name="Chart 10"/>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2" name="TextBox 11"/>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0A4DC"/>
                </a:solidFill>
                <a:latin typeface="Segoe UI"/>
              </a:rPr>
              <a:t>BPS Δ  (2026→2036)</a:t>
            </a:r>
          </a:p>
        </p:txBody>
      </p:sp>
      <p:sp>
        <p:nvSpPr>
          <p:cNvPr id="13" name="FMI Lock Anchor"/>
          <p:cNvSpPr txBox="1"/>
          <p:nvPr/>
        </p:nvSpPr>
        <p:spPr>
          <a:xfrm>
            <a:off x="2489835" y="3352800"/>
            <a:ext cx="38100" cy="38100"/>
          </a:xfrm>
          <a:prstGeom prst="rect">
            <a:avLst/>
          </a:prstGeom>
          <a:noFill/>
        </p:spPr>
        <p:txBody>
          <a:bodyPr wrap="none">
            <a:spAutoFit/>
          </a:bodyPr>
          <a:lstStyle/>
          <a:p/>
        </p:txBody>
      </p:sp>
      <p:sp>
        <p:nvSpPr>
          <p:cNvPr id="14" name="FMI Legend Chip"/>
          <p:cNvSpPr/>
          <p:nvPr/>
        </p:nvSpPr>
        <p:spPr>
          <a:xfrm>
            <a:off x="4551045" y="1722432"/>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4712970" y="171767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4855845" y="1641470"/>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South Korea</a:t>
            </a:r>
          </a:p>
        </p:txBody>
      </p:sp>
      <p:sp>
        <p:nvSpPr>
          <p:cNvPr id="17" name="BPS Value 1"/>
          <p:cNvSpPr txBox="1"/>
          <p:nvPr/>
        </p:nvSpPr>
        <p:spPr>
          <a:xfrm>
            <a:off x="6305550" y="1703382"/>
            <a:ext cx="514350" cy="123825"/>
          </a:xfrm>
          <a:prstGeom prst="rect">
            <a:avLst/>
          </a:prstGeom>
          <a:noFill/>
        </p:spPr>
        <p:txBody>
          <a:bodyPr wrap="none" lIns="0" rIns="0" tIns="0" bIns="0" anchor="ctr">
            <a:spAutoFit/>
          </a:bodyPr>
          <a:lstStyle/>
          <a:p>
            <a:pPr algn="r"/>
            <a:r>
              <a:rPr sz="900" b="1">
                <a:solidFill>
                  <a:srgbClr val="D64545"/>
                </a:solidFill>
                <a:latin typeface="Segoe UI"/>
              </a:rPr>
              <a:t>-51</a:t>
            </a:r>
          </a:p>
        </p:txBody>
      </p:sp>
      <p:sp>
        <p:nvSpPr>
          <p:cNvPr id="18" name="FMI Legend Chip"/>
          <p:cNvSpPr/>
          <p:nvPr/>
        </p:nvSpPr>
        <p:spPr>
          <a:xfrm>
            <a:off x="4551045" y="2349927"/>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4712970" y="234516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4855845" y="2268964"/>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Japan</a:t>
            </a:r>
          </a:p>
        </p:txBody>
      </p:sp>
      <p:sp>
        <p:nvSpPr>
          <p:cNvPr id="21" name="BPS Value 2"/>
          <p:cNvSpPr txBox="1"/>
          <p:nvPr/>
        </p:nvSpPr>
        <p:spPr>
          <a:xfrm>
            <a:off x="6305550" y="2330877"/>
            <a:ext cx="514350" cy="123825"/>
          </a:xfrm>
          <a:prstGeom prst="rect">
            <a:avLst/>
          </a:prstGeom>
          <a:noFill/>
        </p:spPr>
        <p:txBody>
          <a:bodyPr wrap="none" lIns="0" rIns="0" tIns="0" bIns="0" anchor="ctr">
            <a:spAutoFit/>
          </a:bodyPr>
          <a:lstStyle/>
          <a:p>
            <a:pPr algn="r"/>
            <a:r>
              <a:rPr sz="900" b="1">
                <a:solidFill>
                  <a:srgbClr val="D64545"/>
                </a:solidFill>
                <a:latin typeface="Segoe UI"/>
              </a:rPr>
              <a:t>-309</a:t>
            </a:r>
          </a:p>
        </p:txBody>
      </p:sp>
      <p:sp>
        <p:nvSpPr>
          <p:cNvPr id="22" name="FMI Legend Chip"/>
          <p:cNvSpPr/>
          <p:nvPr/>
        </p:nvSpPr>
        <p:spPr>
          <a:xfrm>
            <a:off x="4551045" y="3923144"/>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4712970" y="391838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4855845" y="3842182"/>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China</a:t>
            </a:r>
          </a:p>
        </p:txBody>
      </p:sp>
      <p:sp>
        <p:nvSpPr>
          <p:cNvPr id="25" name="BPS Value 3"/>
          <p:cNvSpPr txBox="1"/>
          <p:nvPr/>
        </p:nvSpPr>
        <p:spPr>
          <a:xfrm>
            <a:off x="6305550" y="3904094"/>
            <a:ext cx="514350" cy="123825"/>
          </a:xfrm>
          <a:prstGeom prst="rect">
            <a:avLst/>
          </a:prstGeom>
          <a:noFill/>
        </p:spPr>
        <p:txBody>
          <a:bodyPr wrap="none" lIns="0" rIns="0" tIns="0" bIns="0" anchor="ctr">
            <a:spAutoFit/>
          </a:bodyPr>
          <a:lstStyle/>
          <a:p>
            <a:pPr algn="r"/>
            <a:r>
              <a:rPr sz="900" b="1">
                <a:solidFill>
                  <a:srgbClr val="1E8E3E"/>
                </a:solidFill>
                <a:latin typeface="Segoe UI"/>
              </a:rPr>
              <a:t>+361</a:t>
            </a:r>
          </a:p>
        </p:txBody>
      </p:sp>
      <p:sp>
        <p:nvSpPr>
          <p:cNvPr id="26" name="Rectangle 25"/>
          <p:cNvSpPr/>
          <p:nvPr/>
        </p:nvSpPr>
        <p:spPr>
          <a:xfrm>
            <a:off x="7105650" y="981075"/>
            <a:ext cx="4933950"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07BA5"/>
                </a:solidFill>
                <a:latin typeface="Segoe UI"/>
              </a:rPr>
              <a:t>Regional Highlights</a:t>
            </a:r>
          </a:p>
        </p:txBody>
      </p:sp>
      <p:sp>
        <p:nvSpPr>
          <p:cNvPr id="28" name="Rectangle 27"/>
          <p:cNvSpPr/>
          <p:nvPr/>
        </p:nvSpPr>
        <p:spPr>
          <a:xfrm>
            <a:off x="7239000" y="1304925"/>
            <a:ext cx="46672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China performance knitted fabrics market is projected to register 3.3X higher value than Japan in 2036. Among performance knitted fabrics by country, China is expected to witness the highest CAGR of 8.9% over the forecast period.</a:t>
            </a:r>
          </a:p>
          <a:p>
            <a:pPr algn="l">
              <a:lnSpc>
                <a:spcPct val="110000"/>
              </a:lnSpc>
              <a:spcBef>
                <a:spcPts val="0"/>
              </a:spcBef>
              <a:spcAft>
                <a:spcPts val="500"/>
              </a:spcAft>
            </a:pPr>
            <a:r>
              <a:rPr sz="1150" b="0">
                <a:solidFill>
                  <a:srgbClr val="252423"/>
                </a:solidFill>
                <a:latin typeface="Segoe UI"/>
              </a:rPr>
              <a:t>In terms of value share by country, China is expected to dominate the market, gaining 361 BPS and accounting for 65.8% share by 2036. Japan is expected to lose 309 BPS over the forecast period to account for 20.0% share by 2036.</a:t>
            </a:r>
          </a:p>
        </p:txBody>
      </p:sp>
      <p:sp>
        <p:nvSpPr>
          <p:cNvPr id="30" name="Rounded Rectangle 29"/>
          <p:cNvSpPr/>
          <p:nvPr/>
        </p:nvSpPr>
        <p:spPr>
          <a:xfrm>
            <a:off x="142875" y="5648325"/>
            <a:ext cx="3943350"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TOTAL (US$ MN)</a:t>
            </a:r>
          </a:p>
          <a:p>
            <a:pPr algn="ctr">
              <a:lnSpc>
                <a:spcPct val="95000"/>
              </a:lnSpc>
            </a:pPr>
            <a:r>
              <a:rPr sz="2000" b="1">
                <a:solidFill>
                  <a:srgbClr val="00A4DC"/>
                </a:solidFill>
                <a:latin typeface="Segoe UI"/>
              </a:rPr>
              <a:t>1,334</a:t>
            </a:r>
          </a:p>
        </p:txBody>
      </p:sp>
      <p:sp>
        <p:nvSpPr>
          <p:cNvPr id="31" name="Rounded Rectangle 30"/>
          <p:cNvSpPr/>
          <p:nvPr/>
        </p:nvSpPr>
        <p:spPr>
          <a:xfrm>
            <a:off x="4238625"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TOTAL (US$ MN)</a:t>
            </a:r>
          </a:p>
          <a:p>
            <a:pPr algn="ctr">
              <a:lnSpc>
                <a:spcPct val="95000"/>
              </a:lnSpc>
            </a:pPr>
            <a:r>
              <a:rPr sz="2000" b="1">
                <a:solidFill>
                  <a:srgbClr val="00A4DC"/>
                </a:solidFill>
                <a:latin typeface="Segoe UI"/>
              </a:rPr>
              <a:t>2,967</a:t>
            </a:r>
          </a:p>
        </p:txBody>
      </p:sp>
      <p:sp>
        <p:nvSpPr>
          <p:cNvPr id="32" name="Rounded Rectangle 31"/>
          <p:cNvSpPr/>
          <p:nvPr/>
        </p:nvSpPr>
        <p:spPr>
          <a:xfrm>
            <a:off x="8210550"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2000" b="1">
                <a:solidFill>
                  <a:srgbClr val="00A4DC"/>
                </a:solidFill>
                <a:latin typeface="Segoe UI"/>
              </a:rPr>
              <a:t>8.3%</a:t>
            </a:r>
          </a:p>
        </p:txBody>
      </p:sp>
      <p:sp>
        <p:nvSpPr>
          <p:cNvPr id="33" name="TextBox 3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 Asia Performance Knitted Fabrics Market Share Analysis, By Country Volume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volume and share by country, 2021–2036, highlighting the geographies gaining and ceding ground</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 Asia</a:t>
            </a:r>
          </a:p>
        </p:txBody>
      </p:sp>
      <p:sp>
        <p:nvSpPr>
          <p:cNvPr id="9" name="Rectangle 8"/>
          <p:cNvSpPr/>
          <p:nvPr/>
        </p:nvSpPr>
        <p:spPr>
          <a:xfrm>
            <a:off x="142875" y="981075"/>
            <a:ext cx="11906250" cy="15430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 Asia Market Size, By Country (Mn Sq. Yards)</a:t>
            </a:r>
          </a:p>
        </p:txBody>
      </p:sp>
      <p:graphicFrame>
        <p:nvGraphicFramePr>
          <p:cNvPr id="11" name="Table 10"/>
          <p:cNvGraphicFramePr>
            <a:graphicFrameLocks noGrp="1"/>
          </p:cNvGraphicFramePr>
          <p:nvPr/>
        </p:nvGraphicFramePr>
        <p:xfrm>
          <a:off x="152400" y="1238250"/>
          <a:ext cx="11887196" cy="1076325"/>
        </p:xfrm>
        <a:graphic>
          <a:graphicData uri="http://schemas.openxmlformats.org/drawingml/2006/table">
            <a:tbl>
              <a:tblPr>
                <a:tableStyleId>{5C22544A-7EE6-4342-B048-85BDC9FD1C3A}</a:tableStyleId>
              </a:tblPr>
              <a:tblGrid>
                <a:gridCol w="960718"/>
                <a:gridCol w="642734"/>
                <a:gridCol w="642734"/>
                <a:gridCol w="642734"/>
                <a:gridCol w="642734"/>
                <a:gridCol w="642734"/>
                <a:gridCol w="642734"/>
                <a:gridCol w="642734"/>
                <a:gridCol w="642734"/>
                <a:gridCol w="642734"/>
                <a:gridCol w="642734"/>
                <a:gridCol w="642734"/>
                <a:gridCol w="642734"/>
                <a:gridCol w="642734"/>
                <a:gridCol w="642734"/>
                <a:gridCol w="642734"/>
                <a:gridCol w="642734"/>
                <a:gridCol w="642734"/>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r>
              <a:tr h="215265">
                <a:tc>
                  <a:txBody>
                    <a:bodyPr wrap="none"/>
                    <a:lstStyle/>
                    <a:p>
                      <a:pPr algn="l"/>
                      <a:r>
                        <a:rPr sz="1100" b="1">
                          <a:solidFill>
                            <a:srgbClr val="252423"/>
                          </a:solidFill>
                          <a:latin typeface="Segoe UI"/>
                        </a:rPr>
                        <a:t>China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227.6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242.3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258.7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276.9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297.2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319.3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343.0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367.8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392.9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419.4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448.8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480.9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515.2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550.8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587.8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625.6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7.0%</a:t>
                      </a:r>
                      <a:endParaRPr sz="1100"/>
                    </a:p>
                  </a:txBody>
                  <a:tcPr marL="47625" marR="38100" marT="19050" marB="19050" anchor="ctr">
                    <a:solidFill>
                      <a:srgbClr val="FFFFFF"/>
                    </a:solidFill>
                  </a:tcPr>
                </a:tc>
              </a:tr>
              <a:tr h="215265">
                <a:tc>
                  <a:txBody>
                    <a:bodyPr wrap="none"/>
                    <a:lstStyle/>
                    <a:p>
                      <a:pPr algn="l"/>
                      <a:r>
                        <a:rPr sz="1100" b="1">
                          <a:solidFill>
                            <a:srgbClr val="252423"/>
                          </a:solidFill>
                          <a:latin typeface="Segoe UI"/>
                        </a:rPr>
                        <a:t>Japan</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61.2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64.8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68.9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73.2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77.9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82.9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88.0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93.2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98.5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103.8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109.3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115.3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121.6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128.3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135.0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141.9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5.5%</a:t>
                      </a:r>
                      <a:endParaRPr sz="1100"/>
                    </a:p>
                  </a:txBody>
                  <a:tcPr marL="47625" marR="38100" marT="19050" marB="19050" anchor="ctr">
                    <a:solidFill>
                      <a:srgbClr val="F2FAFD"/>
                    </a:solidFill>
                  </a:tcPr>
                </a:tc>
              </a:tr>
              <a:tr h="215265">
                <a:tc>
                  <a:txBody>
                    <a:bodyPr wrap="none"/>
                    <a:lstStyle/>
                    <a:p>
                      <a:pPr algn="l"/>
                      <a:r>
                        <a:rPr sz="1100" b="1">
                          <a:solidFill>
                            <a:srgbClr val="252423"/>
                          </a:solidFill>
                          <a:latin typeface="Segoe UI"/>
                        </a:rPr>
                        <a:t>South Korea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39.6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43.0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46.3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49.7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53.1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56.5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60.0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63.6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67.4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71.5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75.9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80.6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85.6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90.9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96.3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101.9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6.1%</a:t>
                      </a:r>
                      <a:endParaRPr sz="1100"/>
                    </a:p>
                  </a:txBody>
                  <a:tcPr marL="47625" marR="38100" marT="19050" marB="19050" anchor="ctr">
                    <a:solidFill>
                      <a:srgbClr val="FFFFFF"/>
                    </a:solidFill>
                  </a:tcPr>
                </a:tc>
              </a:tr>
              <a:tr h="215265">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328.4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350.1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373.9</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399.9</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428.2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458.7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491.0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524.5</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558.7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594.7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634.0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676.8</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722.4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770.0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819.1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869.3</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6.6%</a:t>
                      </a:r>
                      <a:endParaRPr sz="1100"/>
                    </a:p>
                  </a:txBody>
                  <a:tcPr marL="47625" marR="38100" marT="19050" marB="19050" anchor="ctr">
                    <a:solidFill>
                      <a:srgbClr val="E0F2FA"/>
                    </a:solidFill>
                  </a:tcPr>
                </a:tc>
              </a:tr>
            </a:tbl>
          </a:graphicData>
        </a:graphic>
      </p:graphicFrame>
      <p:sp>
        <p:nvSpPr>
          <p:cNvPr id="12" name="TextBox 11"/>
          <p:cNvSpPr txBox="1"/>
          <p:nvPr/>
        </p:nvSpPr>
        <p:spPr>
          <a:xfrm>
            <a:off x="219075" y="232410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3" name="Rectangle 12"/>
          <p:cNvSpPr/>
          <p:nvPr/>
        </p:nvSpPr>
        <p:spPr>
          <a:xfrm>
            <a:off x="142875" y="2657475"/>
            <a:ext cx="11906250" cy="39719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2743200"/>
            <a:ext cx="11639550" cy="209550"/>
          </a:xfrm>
          <a:prstGeom prst="rect">
            <a:avLst/>
          </a:prstGeom>
          <a:noFill/>
        </p:spPr>
        <p:txBody>
          <a:bodyPr wrap="square" lIns="0" rIns="19050" tIns="9525" bIns="9525">
            <a:spAutoFit/>
          </a:bodyPr>
          <a:lstStyle/>
          <a:p>
            <a:pPr algn="l"/>
            <a:r>
              <a:rPr sz="1300" b="1">
                <a:solidFill>
                  <a:srgbClr val="007BA5"/>
                </a:solidFill>
                <a:latin typeface="Segoe UI"/>
              </a:rPr>
              <a:t>East Asia Volume Share Read-out, By Country</a:t>
            </a:r>
          </a:p>
        </p:txBody>
      </p:sp>
      <p:sp>
        <p:nvSpPr>
          <p:cNvPr id="15" name="Rectangle 14"/>
          <p:cNvSpPr/>
          <p:nvPr/>
        </p:nvSpPr>
        <p:spPr>
          <a:xfrm>
            <a:off x="276225" y="298132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067050"/>
            <a:ext cx="11639550" cy="3486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China performance knitted fabrics market is projected to register 4.4X higher volume than Japan in 2036. Among performance knitted fabrics by country, China is expected to witness the highest CAGR of 7.0% over the forecast period.</a:t>
            </a:r>
          </a:p>
          <a:p>
            <a:pPr algn="l">
              <a:lnSpc>
                <a:spcPct val="110000"/>
              </a:lnSpc>
              <a:spcBef>
                <a:spcPts val="0"/>
              </a:spcBef>
              <a:spcAft>
                <a:spcPts val="500"/>
              </a:spcAft>
            </a:pPr>
            <a:r>
              <a:rPr sz="1150" b="0">
                <a:solidFill>
                  <a:srgbClr val="252423"/>
                </a:solidFill>
                <a:latin typeface="Segoe UI"/>
              </a:rPr>
              <a:t>In terms of volume share by country, China is expected to dominate the market, gaining 234 BPS and accounting for 72.0% share by 2036. Japan is expected to lose 174 BPS over the forecast period to account for 16.3% share by 2036.</a:t>
            </a:r>
          </a:p>
        </p:txBody>
      </p:sp>
      <p:sp>
        <p:nvSpPr>
          <p:cNvPr id="17" name="TextBox 1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 Asia Performance Knitted Fabrics Market Share Analysis, By Country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and share by country, 2021–2036, highlighting the geographies gaining and ceding ground</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 Asia</a:t>
            </a:r>
          </a:p>
        </p:txBody>
      </p:sp>
      <p:sp>
        <p:nvSpPr>
          <p:cNvPr id="9" name="Rectangle 8"/>
          <p:cNvSpPr/>
          <p:nvPr/>
        </p:nvSpPr>
        <p:spPr>
          <a:xfrm>
            <a:off x="142875" y="981075"/>
            <a:ext cx="11906250" cy="15430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 Asia Market Size, By Country (US$ Mn)</a:t>
            </a:r>
          </a:p>
        </p:txBody>
      </p:sp>
      <p:graphicFrame>
        <p:nvGraphicFramePr>
          <p:cNvPr id="11" name="Table 10"/>
          <p:cNvGraphicFramePr>
            <a:graphicFrameLocks noGrp="1"/>
          </p:cNvGraphicFramePr>
          <p:nvPr/>
        </p:nvGraphicFramePr>
        <p:xfrm>
          <a:off x="152400" y="1238250"/>
          <a:ext cx="11887196" cy="1076325"/>
        </p:xfrm>
        <a:graphic>
          <a:graphicData uri="http://schemas.openxmlformats.org/drawingml/2006/table">
            <a:tbl>
              <a:tblPr>
                <a:tableStyleId>{5C22544A-7EE6-4342-B048-85BDC9FD1C3A}</a:tableStyleId>
              </a:tblPr>
              <a:tblGrid>
                <a:gridCol w="960718"/>
                <a:gridCol w="642734"/>
                <a:gridCol w="642734"/>
                <a:gridCol w="642734"/>
                <a:gridCol w="642734"/>
                <a:gridCol w="642734"/>
                <a:gridCol w="642734"/>
                <a:gridCol w="642734"/>
                <a:gridCol w="642734"/>
                <a:gridCol w="642734"/>
                <a:gridCol w="642734"/>
                <a:gridCol w="642734"/>
                <a:gridCol w="642734"/>
                <a:gridCol w="642734"/>
                <a:gridCol w="642734"/>
                <a:gridCol w="642734"/>
                <a:gridCol w="642734"/>
                <a:gridCol w="642734"/>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r>
              <a:tr h="215265">
                <a:tc>
                  <a:txBody>
                    <a:bodyPr wrap="none"/>
                    <a:lstStyle/>
                    <a:p>
                      <a:pPr algn="l"/>
                      <a:r>
                        <a:rPr sz="1100" b="1">
                          <a:solidFill>
                            <a:srgbClr val="252423"/>
                          </a:solidFill>
                          <a:latin typeface="Segoe UI"/>
                        </a:rPr>
                        <a:t>China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569.1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609.1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654.2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705.2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762.3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829.2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902.9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982.5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1,066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1,158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1,262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1,377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1,505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1,643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1,792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1,952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8.9%</a:t>
                      </a:r>
                      <a:endParaRPr sz="1100"/>
                    </a:p>
                  </a:txBody>
                  <a:tcPr marL="47625" marR="38100" marT="19050" marB="19050" anchor="ctr">
                    <a:solidFill>
                      <a:srgbClr val="FFFFFF"/>
                    </a:solidFill>
                  </a:tcPr>
                </a:tc>
              </a:tr>
              <a:tr h="215265">
                <a:tc>
                  <a:txBody>
                    <a:bodyPr wrap="none"/>
                    <a:lstStyle/>
                    <a:p>
                      <a:pPr algn="l"/>
                      <a:r>
                        <a:rPr sz="1100" b="1">
                          <a:solidFill>
                            <a:srgbClr val="252423"/>
                          </a:solidFill>
                          <a:latin typeface="Segoe UI"/>
                        </a:rPr>
                        <a:t>Japan</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223.9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237.6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252.9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269.7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288.0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308.3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330.1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353.1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376.7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401.5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427.7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456.5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487.9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521.5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557.0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594.2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6.8%</a:t>
                      </a:r>
                      <a:endParaRPr sz="1100"/>
                    </a:p>
                  </a:txBody>
                  <a:tcPr marL="47625" marR="38100" marT="19050" marB="19050" anchor="ctr">
                    <a:solidFill>
                      <a:srgbClr val="F2FAFD"/>
                    </a:solidFill>
                  </a:tcPr>
                </a:tc>
              </a:tr>
              <a:tr h="215265">
                <a:tc>
                  <a:txBody>
                    <a:bodyPr wrap="none"/>
                    <a:lstStyle/>
                    <a:p>
                      <a:pPr algn="l"/>
                      <a:r>
                        <a:rPr sz="1100" b="1">
                          <a:solidFill>
                            <a:srgbClr val="252423"/>
                          </a:solidFill>
                          <a:latin typeface="Segoe UI"/>
                        </a:rPr>
                        <a:t>South Korea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133.4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144.9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156.8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169.2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182.1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196.2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211.4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227.5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245.2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264.6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285.9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309.3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334.5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361.6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390.5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421.3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7.9%</a:t>
                      </a:r>
                      <a:endParaRPr sz="1100"/>
                    </a:p>
                  </a:txBody>
                  <a:tcPr marL="47625" marR="38100" marT="19050" marB="19050" anchor="ctr">
                    <a:solidFill>
                      <a:srgbClr val="FFFFFF"/>
                    </a:solidFill>
                  </a:tcPr>
                </a:tc>
              </a:tr>
              <a:tr h="215265">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926.4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991.6</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1,064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1,144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1,232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1,334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1,444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1,563</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1,688</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1,824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1,975</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2,143</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2,327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2,526</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2,740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2,967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8.3%</a:t>
                      </a:r>
                      <a:endParaRPr sz="1100"/>
                    </a:p>
                  </a:txBody>
                  <a:tcPr marL="47625" marR="38100" marT="19050" marB="19050" anchor="ctr">
                    <a:solidFill>
                      <a:srgbClr val="E0F2FA"/>
                    </a:solidFill>
                  </a:tcPr>
                </a:tc>
              </a:tr>
            </a:tbl>
          </a:graphicData>
        </a:graphic>
      </p:graphicFrame>
      <p:sp>
        <p:nvSpPr>
          <p:cNvPr id="12" name="TextBox 11"/>
          <p:cNvSpPr txBox="1"/>
          <p:nvPr/>
        </p:nvSpPr>
        <p:spPr>
          <a:xfrm>
            <a:off x="219075" y="232410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3" name="Rectangle 12"/>
          <p:cNvSpPr/>
          <p:nvPr/>
        </p:nvSpPr>
        <p:spPr>
          <a:xfrm>
            <a:off x="142875" y="2657475"/>
            <a:ext cx="11906250" cy="39719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2743200"/>
            <a:ext cx="11639550" cy="209550"/>
          </a:xfrm>
          <a:prstGeom prst="rect">
            <a:avLst/>
          </a:prstGeom>
          <a:noFill/>
        </p:spPr>
        <p:txBody>
          <a:bodyPr wrap="square" lIns="0" rIns="19050" tIns="9525" bIns="9525">
            <a:spAutoFit/>
          </a:bodyPr>
          <a:lstStyle/>
          <a:p>
            <a:pPr algn="l"/>
            <a:r>
              <a:rPr sz="1300" b="1">
                <a:solidFill>
                  <a:srgbClr val="007BA5"/>
                </a:solidFill>
                <a:latin typeface="Segoe UI"/>
              </a:rPr>
              <a:t>East Asia Value Share Read-out, By Country</a:t>
            </a:r>
          </a:p>
        </p:txBody>
      </p:sp>
      <p:sp>
        <p:nvSpPr>
          <p:cNvPr id="15" name="Rectangle 14"/>
          <p:cNvSpPr/>
          <p:nvPr/>
        </p:nvSpPr>
        <p:spPr>
          <a:xfrm>
            <a:off x="276225" y="298132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067050"/>
            <a:ext cx="11639550" cy="3486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China performance knitted fabrics market is projected to register 3.3X higher value than Japan in 2036. Among performance knitted fabrics by country, China is expected to witness the highest CAGR of 8.9% over the forecast period.</a:t>
            </a:r>
          </a:p>
          <a:p>
            <a:pPr algn="l">
              <a:lnSpc>
                <a:spcPct val="110000"/>
              </a:lnSpc>
              <a:spcBef>
                <a:spcPts val="0"/>
              </a:spcBef>
              <a:spcAft>
                <a:spcPts val="500"/>
              </a:spcAft>
            </a:pPr>
            <a:r>
              <a:rPr sz="1150" b="0">
                <a:solidFill>
                  <a:srgbClr val="252423"/>
                </a:solidFill>
                <a:latin typeface="Segoe UI"/>
              </a:rPr>
              <a:t>In terms of value share by country, China is expected to dominate the market, gaining 361 BPS and accounting for 65.8% share by 2036. Japan is expected to lose 309 BPS over the forecast period to account for 20.0% share by 2036.</a:t>
            </a:r>
          </a:p>
        </p:txBody>
      </p:sp>
      <p:sp>
        <p:nvSpPr>
          <p:cNvPr id="17" name="TextBox 1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 Asia Performance Knitted Fabrics Market Trends, By Country</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how country volume and value shares shift over 2021–2036, highlighting who gains ground</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 Asia</a:t>
            </a:r>
          </a:p>
        </p:txBody>
      </p:sp>
      <p:sp>
        <p:nvSpPr>
          <p:cNvPr id="9" name="Rectangle 8"/>
          <p:cNvSpPr/>
          <p:nvPr/>
        </p:nvSpPr>
        <p:spPr>
          <a:xfrm>
            <a:off x="142875" y="981075"/>
            <a:ext cx="11906250"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 Asia Volume By Country (Mn Sq. Yards)</a:t>
            </a:r>
          </a:p>
        </p:txBody>
      </p:sp>
      <p:graphicFrame>
        <p:nvGraphicFramePr>
          <p:cNvPr id="11" name="Chart 10"/>
          <p:cNvGraphicFramePr>
            <a:graphicFrameLocks noGrp="1"/>
          </p:cNvGraphicFramePr>
          <p:nvPr/>
        </p:nvGraphicFramePr>
        <p:xfrm>
          <a:off x="238125" y="1266825"/>
          <a:ext cx="11715750" cy="2409825"/>
        </p:xfrm>
        <a:graphic>
          <a:graphicData uri="http://schemas.openxmlformats.org/drawingml/2006/chart">
            <c:chart xmlns:c="http://schemas.openxmlformats.org/drawingml/2006/chart" r:id="rId3"/>
          </a:graphicData>
        </a:graphic>
      </p:graphicFrame>
      <p:sp>
        <p:nvSpPr>
          <p:cNvPr id="12" name="Rectangle 11"/>
          <p:cNvSpPr/>
          <p:nvPr/>
        </p:nvSpPr>
        <p:spPr>
          <a:xfrm>
            <a:off x="142875" y="3867150"/>
            <a:ext cx="11906250"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 Asia Value By Country (US$ Mn)</a:t>
            </a:r>
          </a:p>
        </p:txBody>
      </p:sp>
      <p:graphicFrame>
        <p:nvGraphicFramePr>
          <p:cNvPr id="14" name="Chart 13"/>
          <p:cNvGraphicFramePr>
            <a:graphicFrameLocks noGrp="1"/>
          </p:cNvGraphicFramePr>
          <p:nvPr/>
        </p:nvGraphicFramePr>
        <p:xfrm>
          <a:off x="238125" y="4152900"/>
          <a:ext cx="11715750" cy="2409825"/>
        </p:xfrm>
        <a:graphic>
          <a:graphicData uri="http://schemas.openxmlformats.org/drawingml/2006/chart">
            <c:chart xmlns:c="http://schemas.openxmlformats.org/drawingml/2006/chart" r:id="rId4"/>
          </a:graphicData>
        </a:graphic>
      </p:graphicFrame>
      <p:sp>
        <p:nvSpPr>
          <p:cNvPr id="15" name="TextBox 1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 Asia Performance Knitted Fabrics Market Top 3 Countries (2036)</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hierarchy of the East Asia market in 2036, highlighting the leading countries within each region by value</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 Asia</a:t>
            </a:r>
          </a:p>
        </p:txBody>
      </p:sp>
      <p:sp>
        <p:nvSpPr>
          <p:cNvPr id="9" name="Rectangle 8"/>
          <p:cNvSpPr/>
          <p:nvPr/>
        </p:nvSpPr>
        <p:spPr>
          <a:xfrm>
            <a:off x="142875" y="981075"/>
            <a:ext cx="1190625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 Asia market by country  ·  2036 (US$ Mn)  ·  tile size = market value</a:t>
            </a:r>
          </a:p>
        </p:txBody>
      </p:sp>
      <p:sp>
        <p:nvSpPr>
          <p:cNvPr id="11" name="Rectangle 10"/>
          <p:cNvSpPr/>
          <p:nvPr/>
        </p:nvSpPr>
        <p:spPr>
          <a:xfrm>
            <a:off x="238125" y="1266825"/>
            <a:ext cx="7706305" cy="5305425"/>
          </a:xfrm>
          <a:prstGeom prst="rect">
            <a:avLst/>
          </a:prstGeom>
          <a:solidFill>
            <a:srgbClr val="00A4D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China</a:t>
            </a:r>
          </a:p>
          <a:p>
            <a:pPr algn="ctr"/>
            <a:r>
              <a:rPr sz="1100" b="0">
                <a:solidFill>
                  <a:srgbClr val="FFFFFF"/>
                </a:solidFill>
                <a:latin typeface="Segoe UI"/>
              </a:rPr>
              <a:t>1,952</a:t>
            </a:r>
          </a:p>
        </p:txBody>
      </p:sp>
      <p:sp>
        <p:nvSpPr>
          <p:cNvPr id="12" name="Rectangle 11"/>
          <p:cNvSpPr/>
          <p:nvPr/>
        </p:nvSpPr>
        <p:spPr>
          <a:xfrm>
            <a:off x="7944430" y="1266825"/>
            <a:ext cx="4009445" cy="3104228"/>
          </a:xfrm>
          <a:prstGeom prst="rect">
            <a:avLst/>
          </a:prstGeom>
          <a:solidFill>
            <a:srgbClr val="6ECFF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Japan</a:t>
            </a:r>
          </a:p>
          <a:p>
            <a:pPr algn="ctr"/>
            <a:r>
              <a:rPr sz="1100" b="0">
                <a:solidFill>
                  <a:srgbClr val="252423"/>
                </a:solidFill>
                <a:latin typeface="Segoe UI"/>
              </a:rPr>
              <a:t>594</a:t>
            </a:r>
          </a:p>
        </p:txBody>
      </p:sp>
      <p:sp>
        <p:nvSpPr>
          <p:cNvPr id="13" name="Rectangle 12"/>
          <p:cNvSpPr/>
          <p:nvPr/>
        </p:nvSpPr>
        <p:spPr>
          <a:xfrm>
            <a:off x="7944430" y="4371053"/>
            <a:ext cx="4009445" cy="2201197"/>
          </a:xfrm>
          <a:prstGeom prst="rect">
            <a:avLst/>
          </a:prstGeom>
          <a:solidFill>
            <a:srgbClr val="D6CA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South Korea</a:t>
            </a:r>
          </a:p>
          <a:p>
            <a:pPr algn="ctr"/>
            <a:r>
              <a:rPr sz="1100" b="0">
                <a:solidFill>
                  <a:srgbClr val="252423"/>
                </a:solidFill>
                <a:latin typeface="Segoe UI"/>
              </a:rPr>
              <a:t>421</a:t>
            </a:r>
          </a:p>
        </p:txBody>
      </p:sp>
      <p:sp>
        <p:nvSpPr>
          <p:cNvPr id="14" name="TextBox 1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Fabric Construction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2 sub-segments of Fabric Construction,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 Asia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Fabric Construction segment categorizes the market by fabric construction.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4943475"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4943475"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Weft Knitted Fabrics</a:t>
            </a:r>
          </a:p>
        </p:txBody>
      </p:sp>
      <p:sp>
        <p:nvSpPr>
          <p:cNvPr id="21" name="Rectangle 20"/>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714.7</a:t>
            </a:r>
          </a:p>
        </p:txBody>
      </p:sp>
      <p:sp>
        <p:nvSpPr>
          <p:cNvPr id="22" name="Rectangle 21"/>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1,510</a:t>
            </a:r>
          </a:p>
        </p:txBody>
      </p:sp>
      <p:sp>
        <p:nvSpPr>
          <p:cNvPr id="23" name="Rectangle 22"/>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7.8%</a:t>
            </a:r>
          </a:p>
        </p:txBody>
      </p:sp>
      <p:sp>
        <p:nvSpPr>
          <p:cNvPr id="24" name="Oval 23"/>
          <p:cNvSpPr/>
          <p:nvPr/>
        </p:nvSpPr>
        <p:spPr>
          <a:xfrm>
            <a:off x="4176712"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6924675" y="1773916"/>
            <a:ext cx="4943475"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24675" y="1992961"/>
            <a:ext cx="4943475"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Warp Knitted Fabrics</a:t>
            </a:r>
          </a:p>
        </p:txBody>
      </p:sp>
      <p:sp>
        <p:nvSpPr>
          <p:cNvPr id="28" name="Rectangle 27"/>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619.1</a:t>
            </a:r>
          </a:p>
        </p:txBody>
      </p:sp>
      <p:sp>
        <p:nvSpPr>
          <p:cNvPr id="29" name="Rectangle 28"/>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1,458</a:t>
            </a:r>
          </a:p>
        </p:txBody>
      </p:sp>
      <p:sp>
        <p:nvSpPr>
          <p:cNvPr id="30" name="Rectangle 29"/>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8.9%</a:t>
            </a:r>
          </a:p>
        </p:txBody>
      </p:sp>
      <p:sp>
        <p:nvSpPr>
          <p:cNvPr id="31" name="Oval 30"/>
          <p:cNvSpPr/>
          <p:nvPr/>
        </p:nvSpPr>
        <p:spPr>
          <a:xfrm>
            <a:off x="9234488"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34" name="Rectangle 33"/>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fabric construction, warp knitted fabrics segment is expected to witness the highest CAGR of 8.9% over the forecast period. In terms of value share by fabric construction, the weft knitted fabrics segment is expected to dominate the market, losing 271 BPS and accounting for 50.9%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Weft knitted fabrics segment is projected to register 1.0X higher value than warp knitted fabrics segment in 2036.</a:t>
            </a:r>
          </a:p>
        </p:txBody>
      </p:sp>
      <p:sp>
        <p:nvSpPr>
          <p:cNvPr id="36" name="Rounded Rectangle 35"/>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38" name="Rectangle 37"/>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Weft Knitted Fabrics: </a:t>
            </a:r>
            <a:r>
              <a:rPr sz="1100" b="0">
                <a:solidFill>
                  <a:srgbClr val="252423"/>
                </a:solidFill>
                <a:latin typeface="Segoe UI"/>
              </a:rPr>
              <a:t>54% of 2026 value · 7.8%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Warp Knitted Fabrics: </a:t>
            </a:r>
            <a:r>
              <a:rPr sz="1100" b="0">
                <a:solidFill>
                  <a:srgbClr val="252423"/>
                </a:solidFill>
                <a:latin typeface="Segoe UI"/>
              </a:rPr>
              <a:t>46% of 2026 value · 8.9% CAGR grows fastest.</a:t>
            </a:r>
          </a:p>
        </p:txBody>
      </p:sp>
      <p:sp>
        <p:nvSpPr>
          <p:cNvPr id="40" name="Rounded Rectangle 39"/>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2" name="Rectangle 41"/>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Fabric Construction split shows how demand is distributed across fabric construction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44" name="Rectangle 43"/>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Fabric Construction segment is projected to grow at a CAGR of 8.3% from 2026 to 2036.</a:t>
            </a:r>
          </a:p>
        </p:txBody>
      </p:sp>
      <p:sp>
        <p:nvSpPr>
          <p:cNvPr id="46" name="TextBox 45"/>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7" name="TextBox 4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 Asia Market Value &amp; Share Shift, By Fabric Construction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Fabric Construction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 Asia</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 Asia Value Composition, By Fabric Construction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2794371"/>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278960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271340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Warp Knitted Fabrics</a:t>
            </a:r>
          </a:p>
        </p:txBody>
      </p:sp>
      <p:sp>
        <p:nvSpPr>
          <p:cNvPr id="17" name="BPS Value 1"/>
          <p:cNvSpPr txBox="1"/>
          <p:nvPr/>
        </p:nvSpPr>
        <p:spPr>
          <a:xfrm>
            <a:off x="6896100" y="2775321"/>
            <a:ext cx="514350" cy="123825"/>
          </a:xfrm>
          <a:prstGeom prst="rect">
            <a:avLst/>
          </a:prstGeom>
          <a:noFill/>
        </p:spPr>
        <p:txBody>
          <a:bodyPr wrap="none" lIns="0" rIns="0" tIns="0" bIns="0" anchor="ctr">
            <a:spAutoFit/>
          </a:bodyPr>
          <a:lstStyle/>
          <a:p>
            <a:pPr algn="r"/>
            <a:r>
              <a:rPr sz="900" b="1">
                <a:solidFill>
                  <a:srgbClr val="1E8E3E"/>
                </a:solidFill>
                <a:latin typeface="Segoe UI"/>
              </a:rPr>
              <a:t>+271</a:t>
            </a:r>
          </a:p>
        </p:txBody>
      </p:sp>
      <p:sp>
        <p:nvSpPr>
          <p:cNvPr id="18" name="FMI Legend Chip"/>
          <p:cNvSpPr/>
          <p:nvPr/>
        </p:nvSpPr>
        <p:spPr>
          <a:xfrm>
            <a:off x="4928997" y="5080562"/>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5090922" y="5075799"/>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499959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Weft Knitted Fabrics</a:t>
            </a:r>
          </a:p>
        </p:txBody>
      </p:sp>
      <p:sp>
        <p:nvSpPr>
          <p:cNvPr id="21" name="BPS Value 2"/>
          <p:cNvSpPr txBox="1"/>
          <p:nvPr/>
        </p:nvSpPr>
        <p:spPr>
          <a:xfrm>
            <a:off x="6896100" y="5061512"/>
            <a:ext cx="514350" cy="123825"/>
          </a:xfrm>
          <a:prstGeom prst="rect">
            <a:avLst/>
          </a:prstGeom>
          <a:noFill/>
        </p:spPr>
        <p:txBody>
          <a:bodyPr wrap="none" lIns="0" rIns="0" tIns="0" bIns="0" anchor="ctr">
            <a:spAutoFit/>
          </a:bodyPr>
          <a:lstStyle/>
          <a:p>
            <a:pPr algn="r"/>
            <a:r>
              <a:rPr sz="900" b="1">
                <a:solidFill>
                  <a:srgbClr val="D64545"/>
                </a:solidFill>
                <a:latin typeface="Segoe UI"/>
              </a:rPr>
              <a:t>-271</a:t>
            </a:r>
          </a:p>
        </p:txBody>
      </p:sp>
      <p:sp>
        <p:nvSpPr>
          <p:cNvPr id="22" name="Rectangle 21"/>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East Asia Read-out, By Fabric Construction</a:t>
            </a:r>
          </a:p>
        </p:txBody>
      </p:sp>
      <p:sp>
        <p:nvSpPr>
          <p:cNvPr id="24" name="Rectangle 23"/>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fabric construction, warp knitted fabrics segment is expected to witness the highest CAGR of 8.9% over the forecast period.</a:t>
            </a:r>
          </a:p>
          <a:p>
            <a:pPr algn="l">
              <a:lnSpc>
                <a:spcPct val="110000"/>
              </a:lnSpc>
              <a:spcBef>
                <a:spcPts val="0"/>
              </a:spcBef>
              <a:spcAft>
                <a:spcPts val="500"/>
              </a:spcAft>
            </a:pPr>
            <a:r>
              <a:rPr sz="1150" b="0">
                <a:solidFill>
                  <a:srgbClr val="252423"/>
                </a:solidFill>
                <a:latin typeface="Segoe UI"/>
              </a:rPr>
              <a:t>In terms of value share by fabric construction, the weft knitted fabrics segment is expected to dominate the market, losing 271 BPS and accounting for 50.9% share by 2036.</a:t>
            </a:r>
          </a:p>
        </p:txBody>
      </p:sp>
      <p:sp>
        <p:nvSpPr>
          <p:cNvPr id="26" name="TextBox 2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Material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6 sub-segments of Material,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 Asia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Material segment categorizes the market by material.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1571625"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1571625"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Polyester</a:t>
            </a:r>
          </a:p>
        </p:txBody>
      </p:sp>
      <p:sp>
        <p:nvSpPr>
          <p:cNvPr id="21" name="Rectangle 20"/>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668.7</a:t>
            </a:r>
          </a:p>
        </p:txBody>
      </p:sp>
      <p:sp>
        <p:nvSpPr>
          <p:cNvPr id="22" name="Rectangle 21"/>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1,434</a:t>
            </a:r>
          </a:p>
        </p:txBody>
      </p:sp>
      <p:sp>
        <p:nvSpPr>
          <p:cNvPr id="23" name="Rectangle 22"/>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7.9%</a:t>
            </a:r>
          </a:p>
        </p:txBody>
      </p:sp>
      <p:sp>
        <p:nvSpPr>
          <p:cNvPr id="24" name="Oval 23"/>
          <p:cNvSpPr/>
          <p:nvPr/>
        </p:nvSpPr>
        <p:spPr>
          <a:xfrm>
            <a:off x="2490788"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3552825" y="1773916"/>
            <a:ext cx="1571625"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552825" y="1992961"/>
            <a:ext cx="1571625"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Polyamide or Nylon</a:t>
            </a:r>
          </a:p>
        </p:txBody>
      </p:sp>
      <p:sp>
        <p:nvSpPr>
          <p:cNvPr id="28" name="Rectangle 27"/>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269.5</a:t>
            </a:r>
          </a:p>
        </p:txBody>
      </p:sp>
      <p:sp>
        <p:nvSpPr>
          <p:cNvPr id="29" name="Rectangle 28"/>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600.0</a:t>
            </a:r>
          </a:p>
        </p:txBody>
      </p:sp>
      <p:sp>
        <p:nvSpPr>
          <p:cNvPr id="30" name="Rectangle 29"/>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8.3%</a:t>
            </a:r>
          </a:p>
        </p:txBody>
      </p:sp>
      <p:sp>
        <p:nvSpPr>
          <p:cNvPr id="31" name="Oval 30"/>
          <p:cNvSpPr/>
          <p:nvPr/>
        </p:nvSpPr>
        <p:spPr>
          <a:xfrm>
            <a:off x="4176712"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5238750" y="1773916"/>
            <a:ext cx="1571625"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238750" y="1992961"/>
            <a:ext cx="1571625"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Elastane or Spandex Blends</a:t>
            </a:r>
          </a:p>
        </p:txBody>
      </p:sp>
      <p:sp>
        <p:nvSpPr>
          <p:cNvPr id="35" name="Rectangle 34"/>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144.6</a:t>
            </a:r>
          </a:p>
        </p:txBody>
      </p:sp>
      <p:sp>
        <p:nvSpPr>
          <p:cNvPr id="36" name="Rectangle 35"/>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349.3</a:t>
            </a:r>
          </a:p>
        </p:txBody>
      </p:sp>
      <p:sp>
        <p:nvSpPr>
          <p:cNvPr id="37" name="Rectangle 36"/>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9.2%</a:t>
            </a:r>
          </a:p>
        </p:txBody>
      </p:sp>
      <p:sp>
        <p:nvSpPr>
          <p:cNvPr id="38" name="Oval 37"/>
          <p:cNvSpPr/>
          <p:nvPr/>
        </p:nvSpPr>
        <p:spPr>
          <a:xfrm>
            <a:off x="5862638"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6924675" y="1773916"/>
            <a:ext cx="1571625"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924675" y="1992961"/>
            <a:ext cx="1571625"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High-Performance &amp; Specialty Fibe…</a:t>
            </a:r>
          </a:p>
        </p:txBody>
      </p:sp>
      <p:sp>
        <p:nvSpPr>
          <p:cNvPr id="42" name="Rectangle 41"/>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142.4</a:t>
            </a:r>
          </a:p>
        </p:txBody>
      </p:sp>
      <p:sp>
        <p:nvSpPr>
          <p:cNvPr id="43" name="Rectangle 42"/>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348.3</a:t>
            </a:r>
          </a:p>
        </p:txBody>
      </p:sp>
      <p:sp>
        <p:nvSpPr>
          <p:cNvPr id="44" name="Rectangle 43"/>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9.4%</a:t>
            </a:r>
          </a:p>
        </p:txBody>
      </p:sp>
      <p:sp>
        <p:nvSpPr>
          <p:cNvPr id="45" name="Oval 44"/>
          <p:cNvSpPr/>
          <p:nvPr/>
        </p:nvSpPr>
        <p:spPr>
          <a:xfrm>
            <a:off x="7548562"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8610600" y="1773916"/>
            <a:ext cx="1571625"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610600" y="1992961"/>
            <a:ext cx="1571625"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Polypropylene</a:t>
            </a:r>
          </a:p>
        </p:txBody>
      </p:sp>
      <p:sp>
        <p:nvSpPr>
          <p:cNvPr id="49" name="Rectangle 48"/>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72.4</a:t>
            </a:r>
          </a:p>
        </p:txBody>
      </p:sp>
      <p:sp>
        <p:nvSpPr>
          <p:cNvPr id="50" name="Rectangle 49"/>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160.6</a:t>
            </a:r>
          </a:p>
        </p:txBody>
      </p:sp>
      <p:sp>
        <p:nvSpPr>
          <p:cNvPr id="51" name="Rectangle 50"/>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8.3%</a:t>
            </a:r>
          </a:p>
        </p:txBody>
      </p:sp>
      <p:sp>
        <p:nvSpPr>
          <p:cNvPr id="52" name="Oval 51"/>
          <p:cNvSpPr/>
          <p:nvPr/>
        </p:nvSpPr>
        <p:spPr>
          <a:xfrm>
            <a:off x="9234488"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53" name="Rounded Rectangle 52"/>
          <p:cNvSpPr/>
          <p:nvPr/>
        </p:nvSpPr>
        <p:spPr>
          <a:xfrm>
            <a:off x="10296525" y="1773916"/>
            <a:ext cx="1571625"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296525" y="1992961"/>
            <a:ext cx="1571625"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Cellulosic Fibers</a:t>
            </a:r>
          </a:p>
        </p:txBody>
      </p:sp>
      <p:sp>
        <p:nvSpPr>
          <p:cNvPr id="56" name="Rectangle 55"/>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36.1</a:t>
            </a:r>
          </a:p>
        </p:txBody>
      </p:sp>
      <p:sp>
        <p:nvSpPr>
          <p:cNvPr id="57" name="Rectangle 56"/>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75.3</a:t>
            </a:r>
          </a:p>
        </p:txBody>
      </p:sp>
      <p:sp>
        <p:nvSpPr>
          <p:cNvPr id="58" name="Rectangle 57"/>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7.6%</a:t>
            </a:r>
          </a:p>
        </p:txBody>
      </p:sp>
      <p:sp>
        <p:nvSpPr>
          <p:cNvPr id="59" name="Oval 58"/>
          <p:cNvSpPr/>
          <p:nvPr/>
        </p:nvSpPr>
        <p:spPr>
          <a:xfrm>
            <a:off x="10920412"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60" name="Rounded Rectangle 5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62" name="Rectangle 61"/>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material, high-performance &amp; specialty fibers segment is expected to witness the highest CAGR of 9.4% over the forecast period. In terms of value share by material, the polyester segment is expected to dominate the market, losing 182 BPS and accounting for 48.3%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Polyester segment is projected to register 2.4X higher value than polyamide or nylon segment in 2036.</a:t>
            </a:r>
          </a:p>
        </p:txBody>
      </p:sp>
      <p:sp>
        <p:nvSpPr>
          <p:cNvPr id="64" name="Rounded Rectangle 6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66" name="Rectangle 65"/>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Polyester: </a:t>
            </a:r>
            <a:r>
              <a:rPr sz="1100" b="0">
                <a:solidFill>
                  <a:srgbClr val="252423"/>
                </a:solidFill>
                <a:latin typeface="Segoe UI"/>
              </a:rPr>
              <a:t>50% of 2026 value · 7.9%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Polyamide or Nylon: </a:t>
            </a:r>
            <a:r>
              <a:rPr sz="1100" b="0">
                <a:solidFill>
                  <a:srgbClr val="252423"/>
                </a:solidFill>
                <a:latin typeface="Segoe UI"/>
              </a:rPr>
              <a:t>20% of 2026 value · 8.3%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Elastane or Spandex Blends: </a:t>
            </a:r>
            <a:r>
              <a:rPr sz="1100" b="0">
                <a:solidFill>
                  <a:srgbClr val="252423"/>
                </a:solidFill>
                <a:latin typeface="Segoe UI"/>
              </a:rPr>
              <a:t>11% of 2026 value · 9.2% CAGR serves a niche.</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High-Performance &amp; Specialty Fibers: </a:t>
            </a:r>
            <a:r>
              <a:rPr sz="1100" b="0">
                <a:solidFill>
                  <a:srgbClr val="252423"/>
                </a:solidFill>
                <a:latin typeface="Segoe UI"/>
              </a:rPr>
              <a:t>11% of 2026 value · 9.4% CAGR grows fastest.</a:t>
            </a:r>
          </a:p>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Polypropylene: </a:t>
            </a:r>
            <a:r>
              <a:rPr sz="1100" b="0">
                <a:solidFill>
                  <a:srgbClr val="252423"/>
                </a:solidFill>
                <a:latin typeface="Segoe UI"/>
              </a:rPr>
              <a:t>5% of 2026 value · 8.3% CAGR serves a niche.</a:t>
            </a:r>
          </a:p>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Cellulosic Fibers: </a:t>
            </a:r>
            <a:r>
              <a:rPr sz="1100" b="0">
                <a:solidFill>
                  <a:srgbClr val="252423"/>
                </a:solidFill>
                <a:latin typeface="Segoe UI"/>
              </a:rPr>
              <a:t>3% of 2026 value · 7.6% CAGR serves a niche.</a:t>
            </a:r>
          </a:p>
        </p:txBody>
      </p:sp>
      <p:sp>
        <p:nvSpPr>
          <p:cNvPr id="68" name="Rounded Rectangle 6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70" name="Rectangle 69"/>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Material split shows how demand is distributed across material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72" name="Rectangle 7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Material segment is projected to grow at a CAGR of 8.3% from 2026 to 2036.</a:t>
            </a:r>
          </a:p>
        </p:txBody>
      </p:sp>
      <p:sp>
        <p:nvSpPr>
          <p:cNvPr id="74" name="TextBox 73"/>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75" name="TextBox 7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 Asia Market Value &amp; Share Shift, By Material</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Material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 Asia</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 Asia Value Composition, By Material ·  2021 / 2026 / 2036 (US$ Mn)  ·  right axis = BPS share shift</a:t>
            </a:r>
          </a:p>
        </p:txBody>
      </p:sp>
      <p:graphicFrame>
        <p:nvGraphicFramePr>
          <p:cNvPr id="11" name="Chart 10"/>
          <p:cNvGraphicFramePr>
            <a:graphicFrameLocks noGrp="1"/>
          </p:cNvGraphicFramePr>
          <p:nvPr/>
        </p:nvGraphicFramePr>
        <p:xfrm>
          <a:off x="238125" y="1409700"/>
          <a:ext cx="4614672" cy="516255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419225"/>
            <a:ext cx="2595753" cy="177927"/>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3932301"/>
            <a:ext cx="38100" cy="38100"/>
          </a:xfrm>
          <a:prstGeom prst="rect">
            <a:avLst/>
          </a:prstGeom>
          <a:noFill/>
        </p:spPr>
        <p:txBody>
          <a:bodyPr wrap="none">
            <a:spAutoFit/>
          </a:bodyPr>
          <a:lstStyle/>
          <a:p/>
        </p:txBody>
      </p:sp>
      <p:sp>
        <p:nvSpPr>
          <p:cNvPr id="14" name="FMI Legend Chip"/>
          <p:cNvSpPr/>
          <p:nvPr/>
        </p:nvSpPr>
        <p:spPr>
          <a:xfrm>
            <a:off x="4928997" y="1566762"/>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5090922" y="1562000"/>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48580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Cellulosic Fibers</a:t>
            </a:r>
          </a:p>
        </p:txBody>
      </p:sp>
      <p:sp>
        <p:nvSpPr>
          <p:cNvPr id="17" name="BPS Value 1"/>
          <p:cNvSpPr txBox="1"/>
          <p:nvPr/>
        </p:nvSpPr>
        <p:spPr>
          <a:xfrm>
            <a:off x="6896100" y="1547712"/>
            <a:ext cx="514350" cy="123825"/>
          </a:xfrm>
          <a:prstGeom prst="rect">
            <a:avLst/>
          </a:prstGeom>
          <a:noFill/>
        </p:spPr>
        <p:txBody>
          <a:bodyPr wrap="none" lIns="0" rIns="0" tIns="0" bIns="0" anchor="ctr">
            <a:spAutoFit/>
          </a:bodyPr>
          <a:lstStyle/>
          <a:p>
            <a:pPr algn="r"/>
            <a:r>
              <a:rPr sz="900" b="1">
                <a:solidFill>
                  <a:srgbClr val="D64545"/>
                </a:solidFill>
                <a:latin typeface="Segoe UI"/>
              </a:rPr>
              <a:t>-17</a:t>
            </a:r>
          </a:p>
        </p:txBody>
      </p:sp>
      <p:sp>
        <p:nvSpPr>
          <p:cNvPr id="18" name="FMI Legend Chip"/>
          <p:cNvSpPr/>
          <p:nvPr/>
        </p:nvSpPr>
        <p:spPr>
          <a:xfrm>
            <a:off x="4928997" y="1755026"/>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5090922" y="1750263"/>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167406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Polypropylene</a:t>
            </a:r>
          </a:p>
        </p:txBody>
      </p:sp>
      <p:sp>
        <p:nvSpPr>
          <p:cNvPr id="21" name="BPS Value 2"/>
          <p:cNvSpPr txBox="1"/>
          <p:nvPr/>
        </p:nvSpPr>
        <p:spPr>
          <a:xfrm>
            <a:off x="6896100" y="1735976"/>
            <a:ext cx="514350" cy="123825"/>
          </a:xfrm>
          <a:prstGeom prst="rect">
            <a:avLst/>
          </a:prstGeom>
          <a:noFill/>
        </p:spPr>
        <p:txBody>
          <a:bodyPr wrap="none" lIns="0" rIns="0" tIns="0" bIns="0" anchor="ctr">
            <a:spAutoFit/>
          </a:bodyPr>
          <a:lstStyle/>
          <a:p>
            <a:pPr algn="r"/>
            <a:r>
              <a:rPr sz="900" b="1">
                <a:solidFill>
                  <a:srgbClr val="D64545"/>
                </a:solidFill>
                <a:latin typeface="Segoe UI"/>
              </a:rPr>
              <a:t>-2</a:t>
            </a:r>
          </a:p>
        </p:txBody>
      </p:sp>
      <p:sp>
        <p:nvSpPr>
          <p:cNvPr id="22" name="FMI Legend Chip"/>
          <p:cNvSpPr/>
          <p:nvPr/>
        </p:nvSpPr>
        <p:spPr>
          <a:xfrm>
            <a:off x="4928997" y="2161227"/>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5090922" y="215646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08026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High-Performance &amp; Specialty Fibers</a:t>
            </a:r>
          </a:p>
        </p:txBody>
      </p:sp>
      <p:sp>
        <p:nvSpPr>
          <p:cNvPr id="25" name="BPS Value 3"/>
          <p:cNvSpPr txBox="1"/>
          <p:nvPr/>
        </p:nvSpPr>
        <p:spPr>
          <a:xfrm>
            <a:off x="6896100" y="2142177"/>
            <a:ext cx="514350" cy="123825"/>
          </a:xfrm>
          <a:prstGeom prst="rect">
            <a:avLst/>
          </a:prstGeom>
          <a:noFill/>
        </p:spPr>
        <p:txBody>
          <a:bodyPr wrap="none" lIns="0" rIns="0" tIns="0" bIns="0" anchor="ctr">
            <a:spAutoFit/>
          </a:bodyPr>
          <a:lstStyle/>
          <a:p>
            <a:pPr algn="r"/>
            <a:r>
              <a:rPr sz="900" b="1">
                <a:solidFill>
                  <a:srgbClr val="1E8E3E"/>
                </a:solidFill>
                <a:latin typeface="Segoe UI"/>
              </a:rPr>
              <a:t>+106</a:t>
            </a:r>
          </a:p>
        </p:txBody>
      </p:sp>
      <p:sp>
        <p:nvSpPr>
          <p:cNvPr id="26" name="FMI Legend Chip"/>
          <p:cNvSpPr/>
          <p:nvPr/>
        </p:nvSpPr>
        <p:spPr>
          <a:xfrm>
            <a:off x="4928997" y="2718039"/>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5090922" y="2713277"/>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263707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Elastane or Spandex Blends</a:t>
            </a:r>
          </a:p>
        </p:txBody>
      </p:sp>
      <p:sp>
        <p:nvSpPr>
          <p:cNvPr id="29" name="BPS Value 4"/>
          <p:cNvSpPr txBox="1"/>
          <p:nvPr/>
        </p:nvSpPr>
        <p:spPr>
          <a:xfrm>
            <a:off x="6896100" y="2698989"/>
            <a:ext cx="514350" cy="123825"/>
          </a:xfrm>
          <a:prstGeom prst="rect">
            <a:avLst/>
          </a:prstGeom>
          <a:noFill/>
        </p:spPr>
        <p:txBody>
          <a:bodyPr wrap="none" lIns="0" rIns="0" tIns="0" bIns="0" anchor="ctr">
            <a:spAutoFit/>
          </a:bodyPr>
          <a:lstStyle/>
          <a:p>
            <a:pPr algn="r"/>
            <a:r>
              <a:rPr sz="900" b="1">
                <a:solidFill>
                  <a:srgbClr val="1E8E3E"/>
                </a:solidFill>
                <a:latin typeface="Segoe UI"/>
              </a:rPr>
              <a:t>+93</a:t>
            </a:r>
          </a:p>
        </p:txBody>
      </p:sp>
      <p:sp>
        <p:nvSpPr>
          <p:cNvPr id="30" name="FMI Legend Chip"/>
          <p:cNvSpPr/>
          <p:nvPr/>
        </p:nvSpPr>
        <p:spPr>
          <a:xfrm>
            <a:off x="4928997" y="3475735"/>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5090922" y="3470973"/>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339477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Polyamide or Nylon</a:t>
            </a:r>
          </a:p>
        </p:txBody>
      </p:sp>
      <p:sp>
        <p:nvSpPr>
          <p:cNvPr id="33" name="BPS Value 5"/>
          <p:cNvSpPr txBox="1"/>
          <p:nvPr/>
        </p:nvSpPr>
        <p:spPr>
          <a:xfrm>
            <a:off x="6896100" y="3456685"/>
            <a:ext cx="514350" cy="123825"/>
          </a:xfrm>
          <a:prstGeom prst="rect">
            <a:avLst/>
          </a:prstGeom>
          <a:noFill/>
        </p:spPr>
        <p:txBody>
          <a:bodyPr wrap="none" lIns="0" rIns="0" tIns="0" bIns="0" anchor="ctr">
            <a:spAutoFit/>
          </a:bodyPr>
          <a:lstStyle/>
          <a:p>
            <a:pPr algn="r"/>
            <a:r>
              <a:rPr sz="900" b="1">
                <a:solidFill>
                  <a:srgbClr val="1E8E3E"/>
                </a:solidFill>
                <a:latin typeface="Segoe UI"/>
              </a:rPr>
              <a:t>+1</a:t>
            </a:r>
          </a:p>
        </p:txBody>
      </p:sp>
      <p:sp>
        <p:nvSpPr>
          <p:cNvPr id="34" name="FMI Legend Chip"/>
          <p:cNvSpPr/>
          <p:nvPr/>
        </p:nvSpPr>
        <p:spPr>
          <a:xfrm>
            <a:off x="4928997" y="5099146"/>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rot="10800000">
            <a:off x="5090922" y="5094383"/>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501818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Polyester</a:t>
            </a:r>
          </a:p>
        </p:txBody>
      </p:sp>
      <p:sp>
        <p:nvSpPr>
          <p:cNvPr id="37" name="BPS Value 6"/>
          <p:cNvSpPr txBox="1"/>
          <p:nvPr/>
        </p:nvSpPr>
        <p:spPr>
          <a:xfrm>
            <a:off x="6896100" y="5080096"/>
            <a:ext cx="514350" cy="123825"/>
          </a:xfrm>
          <a:prstGeom prst="rect">
            <a:avLst/>
          </a:prstGeom>
          <a:noFill/>
        </p:spPr>
        <p:txBody>
          <a:bodyPr wrap="none" lIns="0" rIns="0" tIns="0" bIns="0" anchor="ctr">
            <a:spAutoFit/>
          </a:bodyPr>
          <a:lstStyle/>
          <a:p>
            <a:pPr algn="r"/>
            <a:r>
              <a:rPr sz="900" b="1">
                <a:solidFill>
                  <a:srgbClr val="D64545"/>
                </a:solidFill>
                <a:latin typeface="Segoe UI"/>
              </a:rPr>
              <a:t>-182</a:t>
            </a:r>
          </a:p>
        </p:txBody>
      </p:sp>
      <p:sp>
        <p:nvSpPr>
          <p:cNvPr id="38" name="Rectangle 37"/>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East Asia Read-out, By Material</a:t>
            </a:r>
          </a:p>
        </p:txBody>
      </p:sp>
      <p:sp>
        <p:nvSpPr>
          <p:cNvPr id="40" name="Rectangle 39"/>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material, high-performance &amp; specialty fibers segment is expected to witness the highest CAGR of 9.4% over the forecast period.</a:t>
            </a:r>
          </a:p>
          <a:p>
            <a:pPr algn="l">
              <a:lnSpc>
                <a:spcPct val="110000"/>
              </a:lnSpc>
              <a:spcBef>
                <a:spcPts val="0"/>
              </a:spcBef>
              <a:spcAft>
                <a:spcPts val="500"/>
              </a:spcAft>
            </a:pPr>
            <a:r>
              <a:rPr sz="1150" b="0">
                <a:solidFill>
                  <a:srgbClr val="252423"/>
                </a:solidFill>
                <a:latin typeface="Segoe UI"/>
              </a:rPr>
              <a:t>In terms of value share by material, the polyester segment is expected to dominate the market, losing 182 BPS and accounting for 48.3% share by 2036.</a:t>
            </a:r>
          </a:p>
        </p:txBody>
      </p:sp>
      <p:sp>
        <p:nvSpPr>
          <p:cNvPr id="42" name="TextBox 4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Primary Performance Function Segment Outlook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10 sub-segments of Primary Performance Function,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 Asia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Primary Performance Function segment categorizes the market by primary performance function.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190881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190881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Moisture Management &amp; Quick-Dry</a:t>
            </a:r>
          </a:p>
        </p:txBody>
      </p:sp>
      <p:sp>
        <p:nvSpPr>
          <p:cNvPr id="21" name="Rectangle 20"/>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274.4</a:t>
            </a:r>
          </a:p>
        </p:txBody>
      </p:sp>
      <p:sp>
        <p:nvSpPr>
          <p:cNvPr id="22" name="Rectangle 21"/>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599.8</a:t>
            </a:r>
          </a:p>
        </p:txBody>
      </p:sp>
      <p:sp>
        <p:nvSpPr>
          <p:cNvPr id="23" name="Rectangle 22"/>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8.1%</a:t>
            </a:r>
          </a:p>
        </p:txBody>
      </p:sp>
      <p:sp>
        <p:nvSpPr>
          <p:cNvPr id="24" name="Oval 23"/>
          <p:cNvSpPr/>
          <p:nvPr/>
        </p:nvSpPr>
        <p:spPr>
          <a:xfrm>
            <a:off x="265938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3890010" y="1773916"/>
            <a:ext cx="190881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890010" y="1992961"/>
            <a:ext cx="190881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Thermal Management</a:t>
            </a:r>
          </a:p>
        </p:txBody>
      </p:sp>
      <p:sp>
        <p:nvSpPr>
          <p:cNvPr id="28" name="Rectangle 27"/>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243.7</a:t>
            </a:r>
          </a:p>
        </p:txBody>
      </p:sp>
      <p:sp>
        <p:nvSpPr>
          <p:cNvPr id="29" name="Rectangle 28"/>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588.7</a:t>
            </a:r>
          </a:p>
        </p:txBody>
      </p:sp>
      <p:sp>
        <p:nvSpPr>
          <p:cNvPr id="30" name="Rectangle 29"/>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9.2%</a:t>
            </a:r>
          </a:p>
        </p:txBody>
      </p:sp>
      <p:sp>
        <p:nvSpPr>
          <p:cNvPr id="31" name="Oval 30"/>
          <p:cNvSpPr/>
          <p:nvPr/>
        </p:nvSpPr>
        <p:spPr>
          <a:xfrm>
            <a:off x="468249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5913120" y="1773916"/>
            <a:ext cx="190881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913120" y="1992961"/>
            <a:ext cx="190881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Stretch &amp; Recovery</a:t>
            </a:r>
          </a:p>
        </p:txBody>
      </p:sp>
      <p:sp>
        <p:nvSpPr>
          <p:cNvPr id="35" name="Rectangle 34"/>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222.2</a:t>
            </a:r>
          </a:p>
        </p:txBody>
      </p:sp>
      <p:sp>
        <p:nvSpPr>
          <p:cNvPr id="36" name="Rectangle 35"/>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466.4</a:t>
            </a:r>
          </a:p>
        </p:txBody>
      </p:sp>
      <p:sp>
        <p:nvSpPr>
          <p:cNvPr id="37" name="Rectangle 36"/>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7.7%</a:t>
            </a:r>
          </a:p>
        </p:txBody>
      </p:sp>
      <p:sp>
        <p:nvSpPr>
          <p:cNvPr id="38" name="Oval 37"/>
          <p:cNvSpPr/>
          <p:nvPr/>
        </p:nvSpPr>
        <p:spPr>
          <a:xfrm>
            <a:off x="670560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7936230" y="1773916"/>
            <a:ext cx="1908810"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36230" y="1992961"/>
            <a:ext cx="1908810"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Abrasion &amp; Tear Resistance</a:t>
            </a:r>
          </a:p>
        </p:txBody>
      </p:sp>
      <p:sp>
        <p:nvSpPr>
          <p:cNvPr id="42" name="Rectangle 41"/>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155.1</a:t>
            </a:r>
          </a:p>
        </p:txBody>
      </p:sp>
      <p:sp>
        <p:nvSpPr>
          <p:cNvPr id="43" name="Rectangle 42"/>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315.1</a:t>
            </a:r>
          </a:p>
        </p:txBody>
      </p:sp>
      <p:sp>
        <p:nvSpPr>
          <p:cNvPr id="44" name="Rectangle 43"/>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7.3%</a:t>
            </a:r>
          </a:p>
        </p:txBody>
      </p:sp>
      <p:sp>
        <p:nvSpPr>
          <p:cNvPr id="45" name="Oval 44"/>
          <p:cNvSpPr/>
          <p:nvPr/>
        </p:nvSpPr>
        <p:spPr>
          <a:xfrm>
            <a:off x="8728710"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9959340" y="1773916"/>
            <a:ext cx="1908810"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959340" y="1992961"/>
            <a:ext cx="1908810"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Compression &amp; Support</a:t>
            </a:r>
          </a:p>
        </p:txBody>
      </p:sp>
      <p:sp>
        <p:nvSpPr>
          <p:cNvPr id="49" name="Rectangle 48"/>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137.6</a:t>
            </a:r>
          </a:p>
        </p:txBody>
      </p:sp>
      <p:sp>
        <p:nvSpPr>
          <p:cNvPr id="50" name="Rectangle 49"/>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302.1</a:t>
            </a:r>
          </a:p>
        </p:txBody>
      </p:sp>
      <p:sp>
        <p:nvSpPr>
          <p:cNvPr id="51" name="Rectangle 50"/>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8.2%</a:t>
            </a:r>
          </a:p>
        </p:txBody>
      </p:sp>
      <p:sp>
        <p:nvSpPr>
          <p:cNvPr id="52" name="Oval 51"/>
          <p:cNvSpPr/>
          <p:nvPr/>
        </p:nvSpPr>
        <p:spPr>
          <a:xfrm>
            <a:off x="10751820"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53" name="Rounded Rectangle 5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55" name="Rectangle 54"/>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Among performance knitted fabrics by primary performance function, other specialized performance segment is expected to witness the highest CAGR of 9.7% over the forecast period. In terms of value share by primary performance function, the moisture management &amp; quick-dry segment is expected to dominate the market, losing 36 BPS and accounting for 20.2% share by 2036.</a:t>
            </a:r>
          </a:p>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Moisture management &amp; quick-dry segment is projected to register 1.0X higher value than thermal management segment in 2036.</a:t>
            </a:r>
          </a:p>
        </p:txBody>
      </p:sp>
      <p:sp>
        <p:nvSpPr>
          <p:cNvPr id="57" name="Rounded Rectangle 5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9" name="Rectangle 58"/>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Moisture Management &amp; Quick-Dry: </a:t>
            </a:r>
            <a:r>
              <a:rPr sz="1100" b="0">
                <a:solidFill>
                  <a:srgbClr val="252423"/>
                </a:solidFill>
                <a:latin typeface="Segoe UI"/>
              </a:rPr>
              <a:t>21% of 2026 value · 8.1%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Thermal Management: </a:t>
            </a:r>
            <a:r>
              <a:rPr sz="1100" b="0">
                <a:solidFill>
                  <a:srgbClr val="252423"/>
                </a:solidFill>
                <a:latin typeface="Segoe UI"/>
              </a:rPr>
              <a:t>18% of 2026 value · 9.2%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Stretch &amp; Recovery: </a:t>
            </a:r>
            <a:r>
              <a:rPr sz="1100" b="0">
                <a:solidFill>
                  <a:srgbClr val="252423"/>
                </a:solidFill>
                <a:latin typeface="Segoe UI"/>
              </a:rPr>
              <a:t>17% of 2026 value · 7.7% CAGR serves a niche.</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Abrasion &amp; Tear Resistance: </a:t>
            </a:r>
            <a:r>
              <a:rPr sz="1100" b="0">
                <a:solidFill>
                  <a:srgbClr val="252423"/>
                </a:solidFill>
                <a:latin typeface="Segoe UI"/>
              </a:rPr>
              <a:t>12% of 2026 value · 7.3% CAGR serves a niche.</a:t>
            </a:r>
          </a:p>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Compression &amp; Support: </a:t>
            </a:r>
            <a:r>
              <a:rPr sz="1100" b="0">
                <a:solidFill>
                  <a:srgbClr val="252423"/>
                </a:solidFill>
                <a:latin typeface="Segoe UI"/>
              </a:rPr>
              <a:t>10% of 2026 value · 8.2% CAGR serves a niche.</a:t>
            </a:r>
          </a:p>
        </p:txBody>
      </p:sp>
      <p:sp>
        <p:nvSpPr>
          <p:cNvPr id="61" name="Rounded Rectangle 6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63" name="Rectangle 62"/>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Primary Performance Function split shows how demand is distributed across primary performance function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65" name="Rectangle 6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Primary Performance Function segment is projected to grow at a CAGR of 8.3% from 2026 to 2036.</a:t>
            </a:r>
          </a:p>
        </p:txBody>
      </p:sp>
      <p:sp>
        <p:nvSpPr>
          <p:cNvPr id="67" name="TextBox 66"/>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8" name="TextBox 6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Primary Performance Function Segment Outlook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10 sub-segments of Primary Performance Function,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Primary Performance Function segment categorizes the market by primary performance function.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1908810"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1908810"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Antimicrobial &amp; Odor Control</a:t>
            </a:r>
          </a:p>
        </p:txBody>
      </p:sp>
      <p:sp>
        <p:nvSpPr>
          <p:cNvPr id="20" name="Rectangle 19"/>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114.6</a:t>
            </a:r>
          </a:p>
        </p:txBody>
      </p:sp>
      <p:sp>
        <p:nvSpPr>
          <p:cNvPr id="21" name="Rectangle 20"/>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280.1</a:t>
            </a:r>
          </a:p>
        </p:txBody>
      </p:sp>
      <p:sp>
        <p:nvSpPr>
          <p:cNvPr id="22" name="Rectangle 21"/>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9.4%</a:t>
            </a:r>
          </a:p>
        </p:txBody>
      </p:sp>
      <p:sp>
        <p:nvSpPr>
          <p:cNvPr id="23" name="Oval 22"/>
          <p:cNvSpPr/>
          <p:nvPr/>
        </p:nvSpPr>
        <p:spPr>
          <a:xfrm>
            <a:off x="2659380"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24" name="Rounded Rectangle 23"/>
          <p:cNvSpPr/>
          <p:nvPr/>
        </p:nvSpPr>
        <p:spPr>
          <a:xfrm>
            <a:off x="3890010" y="1773916"/>
            <a:ext cx="1908810"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90010" y="1992961"/>
            <a:ext cx="1908810"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Water or Liquid Management</a:t>
            </a:r>
          </a:p>
        </p:txBody>
      </p:sp>
      <p:sp>
        <p:nvSpPr>
          <p:cNvPr id="27" name="Rectangle 26"/>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66.2</a:t>
            </a:r>
          </a:p>
        </p:txBody>
      </p:sp>
      <p:sp>
        <p:nvSpPr>
          <p:cNvPr id="28" name="Rectangle 27"/>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144.0</a:t>
            </a:r>
          </a:p>
        </p:txBody>
      </p:sp>
      <p:sp>
        <p:nvSpPr>
          <p:cNvPr id="29" name="Rectangle 28"/>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8.1%</a:t>
            </a:r>
          </a:p>
        </p:txBody>
      </p:sp>
      <p:sp>
        <p:nvSpPr>
          <p:cNvPr id="30" name="Oval 29"/>
          <p:cNvSpPr/>
          <p:nvPr/>
        </p:nvSpPr>
        <p:spPr>
          <a:xfrm>
            <a:off x="4682490"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31" name="Rounded Rectangle 30"/>
          <p:cNvSpPr/>
          <p:nvPr/>
        </p:nvSpPr>
        <p:spPr>
          <a:xfrm>
            <a:off x="5913120" y="1773916"/>
            <a:ext cx="190881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913120" y="1992961"/>
            <a:ext cx="190881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Flame &amp; Heat Resistance</a:t>
            </a:r>
          </a:p>
        </p:txBody>
      </p:sp>
      <p:sp>
        <p:nvSpPr>
          <p:cNvPr id="34" name="Rectangle 33"/>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46.6</a:t>
            </a:r>
          </a:p>
        </p:txBody>
      </p:sp>
      <p:sp>
        <p:nvSpPr>
          <p:cNvPr id="35" name="Rectangle 34"/>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105.8</a:t>
            </a:r>
          </a:p>
        </p:txBody>
      </p:sp>
      <p:sp>
        <p:nvSpPr>
          <p:cNvPr id="36" name="Rectangle 35"/>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8.6%</a:t>
            </a:r>
          </a:p>
        </p:txBody>
      </p:sp>
      <p:sp>
        <p:nvSpPr>
          <p:cNvPr id="37" name="Oval 36"/>
          <p:cNvSpPr/>
          <p:nvPr/>
        </p:nvSpPr>
        <p:spPr>
          <a:xfrm>
            <a:off x="670560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8</a:t>
            </a:r>
          </a:p>
        </p:txBody>
      </p:sp>
      <p:sp>
        <p:nvSpPr>
          <p:cNvPr id="38" name="Rounded Rectangle 37"/>
          <p:cNvSpPr/>
          <p:nvPr/>
        </p:nvSpPr>
        <p:spPr>
          <a:xfrm>
            <a:off x="7936230" y="1773916"/>
            <a:ext cx="190881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936230" y="1992961"/>
            <a:ext cx="190881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UV Protection</a:t>
            </a:r>
          </a:p>
        </p:txBody>
      </p:sp>
      <p:sp>
        <p:nvSpPr>
          <p:cNvPr id="41" name="Rectangle 40"/>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41.0</a:t>
            </a:r>
          </a:p>
        </p:txBody>
      </p:sp>
      <p:sp>
        <p:nvSpPr>
          <p:cNvPr id="42" name="Rectangle 41"/>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83.5</a:t>
            </a:r>
          </a:p>
        </p:txBody>
      </p:sp>
      <p:sp>
        <p:nvSpPr>
          <p:cNvPr id="43" name="Rectangle 42"/>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7.4%</a:t>
            </a:r>
          </a:p>
        </p:txBody>
      </p:sp>
      <p:sp>
        <p:nvSpPr>
          <p:cNvPr id="44" name="Oval 43"/>
          <p:cNvSpPr/>
          <p:nvPr/>
        </p:nvSpPr>
        <p:spPr>
          <a:xfrm>
            <a:off x="872871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9</a:t>
            </a:r>
          </a:p>
        </p:txBody>
      </p:sp>
      <p:sp>
        <p:nvSpPr>
          <p:cNvPr id="45" name="Rounded Rectangle 44"/>
          <p:cNvSpPr/>
          <p:nvPr/>
        </p:nvSpPr>
        <p:spPr>
          <a:xfrm>
            <a:off x="9959340" y="1773916"/>
            <a:ext cx="190881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959340" y="1992961"/>
            <a:ext cx="190881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Other Specialized Performance</a:t>
            </a:r>
          </a:p>
        </p:txBody>
      </p:sp>
      <p:sp>
        <p:nvSpPr>
          <p:cNvPr id="48" name="Rectangle 47"/>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32.4</a:t>
            </a:r>
          </a:p>
        </p:txBody>
      </p:sp>
      <p:sp>
        <p:nvSpPr>
          <p:cNvPr id="49" name="Rectangle 48"/>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81.9</a:t>
            </a:r>
          </a:p>
        </p:txBody>
      </p:sp>
      <p:sp>
        <p:nvSpPr>
          <p:cNvPr id="50" name="Rectangle 49"/>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9.7%</a:t>
            </a:r>
          </a:p>
        </p:txBody>
      </p:sp>
      <p:sp>
        <p:nvSpPr>
          <p:cNvPr id="51" name="Oval 50"/>
          <p:cNvSpPr/>
          <p:nvPr/>
        </p:nvSpPr>
        <p:spPr>
          <a:xfrm>
            <a:off x="1075182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10</a:t>
            </a:r>
          </a:p>
        </p:txBody>
      </p:sp>
      <p:sp>
        <p:nvSpPr>
          <p:cNvPr id="52" name="Rounded Rectangle 51"/>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4" name="Rectangle 53"/>
          <p:cNvSpPr/>
          <p:nvPr/>
        </p:nvSpPr>
        <p:spPr>
          <a:xfrm>
            <a:off x="457200" y="4146897"/>
            <a:ext cx="112776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Antimicrobial &amp; Odor Control: </a:t>
            </a:r>
            <a:r>
              <a:rPr sz="1100" b="0">
                <a:solidFill>
                  <a:srgbClr val="252423"/>
                </a:solidFill>
                <a:latin typeface="Segoe UI"/>
              </a:rPr>
              <a:t>9% of 2026 value · 9.4% CAGR serves a niche.</a:t>
            </a:r>
          </a:p>
          <a:p>
            <a:pPr algn="l">
              <a:lnSpc>
                <a:spcPct val="110000"/>
              </a:lnSpc>
              <a:spcBef>
                <a:spcPts val="0"/>
              </a:spcBef>
              <a:spcAft>
                <a:spcPts val="500"/>
              </a:spcAft>
            </a:pPr>
            <a:r>
              <a:rPr sz="1100" b="0">
                <a:solidFill>
                  <a:srgbClr val="2C6E7F"/>
                </a:solidFill>
                <a:latin typeface="Segoe UI"/>
              </a:rPr>
              <a:t>●  </a:t>
            </a:r>
            <a:r>
              <a:rPr sz="1100" b="1">
                <a:solidFill>
                  <a:srgbClr val="2C6E7F"/>
                </a:solidFill>
                <a:latin typeface="Segoe UI"/>
              </a:rPr>
              <a:t>Water or Liquid Management: </a:t>
            </a:r>
            <a:r>
              <a:rPr sz="1100" b="0">
                <a:solidFill>
                  <a:srgbClr val="252423"/>
                </a:solidFill>
                <a:latin typeface="Segoe UI"/>
              </a:rPr>
              <a:t>5% of 2026 value · 8.1% CAGR serves a niche.</a:t>
            </a:r>
          </a:p>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Flame &amp; Heat Resistance: </a:t>
            </a:r>
            <a:r>
              <a:rPr sz="1100" b="0">
                <a:solidFill>
                  <a:srgbClr val="252423"/>
                </a:solidFill>
                <a:latin typeface="Segoe UI"/>
              </a:rPr>
              <a:t>3% of 2026 value · 8.6% CAGR serves a niche.</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UV Protection: </a:t>
            </a:r>
            <a:r>
              <a:rPr sz="1100" b="0">
                <a:solidFill>
                  <a:srgbClr val="252423"/>
                </a:solidFill>
                <a:latin typeface="Segoe UI"/>
              </a:rPr>
              <a:t>3% of 2026 value · 7.4%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Other Specialized Performance: </a:t>
            </a:r>
            <a:r>
              <a:rPr sz="1100" b="0">
                <a:solidFill>
                  <a:srgbClr val="252423"/>
                </a:solidFill>
                <a:latin typeface="Segoe UI"/>
              </a:rPr>
              <a:t>2% of 2026 value · 9.7% CAGR grows fastest.</a:t>
            </a:r>
          </a:p>
        </p:txBody>
      </p:sp>
      <p:sp>
        <p:nvSpPr>
          <p:cNvPr id="56" name="TextBox 55"/>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57" name="TextBox 5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 Asia Market Value &amp; Share Shift, By Primary Performance Function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Primary Performance Function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 Asia</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 Asia Value Composition, By Primary Performance Function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734341"/>
            <a:ext cx="85725" cy="85725"/>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172957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65337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Other Specialized Performance</a:t>
            </a:r>
          </a:p>
        </p:txBody>
      </p:sp>
      <p:sp>
        <p:nvSpPr>
          <p:cNvPr id="17" name="BPS Value 1"/>
          <p:cNvSpPr txBox="1"/>
          <p:nvPr/>
        </p:nvSpPr>
        <p:spPr>
          <a:xfrm>
            <a:off x="6896100" y="1715291"/>
            <a:ext cx="514350" cy="123825"/>
          </a:xfrm>
          <a:prstGeom prst="rect">
            <a:avLst/>
          </a:prstGeom>
          <a:noFill/>
        </p:spPr>
        <p:txBody>
          <a:bodyPr wrap="none" lIns="0" rIns="0" tIns="0" bIns="0" anchor="ctr">
            <a:spAutoFit/>
          </a:bodyPr>
          <a:lstStyle/>
          <a:p>
            <a:pPr algn="r"/>
            <a:r>
              <a:rPr sz="900" b="1">
                <a:solidFill>
                  <a:srgbClr val="1E8E3E"/>
                </a:solidFill>
                <a:latin typeface="Segoe UI"/>
              </a:rPr>
              <a:t>+33</a:t>
            </a:r>
          </a:p>
        </p:txBody>
      </p:sp>
      <p:sp>
        <p:nvSpPr>
          <p:cNvPr id="18" name="FMI Legend Chip"/>
          <p:cNvSpPr/>
          <p:nvPr/>
        </p:nvSpPr>
        <p:spPr>
          <a:xfrm>
            <a:off x="4928997" y="1861776"/>
            <a:ext cx="85725" cy="85725"/>
          </a:xfrm>
          <a:prstGeom prst="rect">
            <a:avLst/>
          </a:prstGeom>
          <a:solidFill>
            <a:srgbClr val="CF7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5090922" y="185701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178081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UV Protection</a:t>
            </a:r>
          </a:p>
        </p:txBody>
      </p:sp>
      <p:sp>
        <p:nvSpPr>
          <p:cNvPr id="21" name="BPS Value 2"/>
          <p:cNvSpPr txBox="1"/>
          <p:nvPr/>
        </p:nvSpPr>
        <p:spPr>
          <a:xfrm>
            <a:off x="6896100" y="1842726"/>
            <a:ext cx="514350" cy="123825"/>
          </a:xfrm>
          <a:prstGeom prst="rect">
            <a:avLst/>
          </a:prstGeom>
          <a:noFill/>
        </p:spPr>
        <p:txBody>
          <a:bodyPr wrap="none" lIns="0" rIns="0" tIns="0" bIns="0" anchor="ctr">
            <a:spAutoFit/>
          </a:bodyPr>
          <a:lstStyle/>
          <a:p>
            <a:pPr algn="r"/>
            <a:r>
              <a:rPr sz="900" b="1">
                <a:solidFill>
                  <a:srgbClr val="D64545"/>
                </a:solidFill>
                <a:latin typeface="Segoe UI"/>
              </a:rPr>
              <a:t>-26</a:t>
            </a:r>
          </a:p>
        </p:txBody>
      </p:sp>
      <p:sp>
        <p:nvSpPr>
          <p:cNvPr id="22" name="FMI Legend Chip"/>
          <p:cNvSpPr/>
          <p:nvPr/>
        </p:nvSpPr>
        <p:spPr>
          <a:xfrm>
            <a:off x="4928997" y="2007648"/>
            <a:ext cx="85725" cy="85725"/>
          </a:xfrm>
          <a:prstGeom prst="rect">
            <a:avLst/>
          </a:prstGeom>
          <a:solidFill>
            <a:srgbClr val="7D7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5090922" y="2002886"/>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192668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Flame &amp; Heat Resistance</a:t>
            </a:r>
          </a:p>
        </p:txBody>
      </p:sp>
      <p:sp>
        <p:nvSpPr>
          <p:cNvPr id="25" name="BPS Value 3"/>
          <p:cNvSpPr txBox="1"/>
          <p:nvPr/>
        </p:nvSpPr>
        <p:spPr>
          <a:xfrm>
            <a:off x="6896100" y="1988598"/>
            <a:ext cx="514350" cy="123825"/>
          </a:xfrm>
          <a:prstGeom prst="rect">
            <a:avLst/>
          </a:prstGeom>
          <a:noFill/>
        </p:spPr>
        <p:txBody>
          <a:bodyPr wrap="none" lIns="0" rIns="0" tIns="0" bIns="0" anchor="ctr">
            <a:spAutoFit/>
          </a:bodyPr>
          <a:lstStyle/>
          <a:p>
            <a:pPr algn="r"/>
            <a:r>
              <a:rPr sz="900" b="1">
                <a:solidFill>
                  <a:srgbClr val="1E8E3E"/>
                </a:solidFill>
                <a:latin typeface="Segoe UI"/>
              </a:rPr>
              <a:t>+7</a:t>
            </a:r>
          </a:p>
        </p:txBody>
      </p:sp>
      <p:sp>
        <p:nvSpPr>
          <p:cNvPr id="26" name="FMI Legend Chip"/>
          <p:cNvSpPr/>
          <p:nvPr/>
        </p:nvSpPr>
        <p:spPr>
          <a:xfrm>
            <a:off x="4928997" y="2200148"/>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rot="10800000">
            <a:off x="5090922" y="2195385"/>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211918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Water or Liquid Management</a:t>
            </a:r>
          </a:p>
        </p:txBody>
      </p:sp>
      <p:sp>
        <p:nvSpPr>
          <p:cNvPr id="29" name="BPS Value 4"/>
          <p:cNvSpPr txBox="1"/>
          <p:nvPr/>
        </p:nvSpPr>
        <p:spPr>
          <a:xfrm>
            <a:off x="6896100" y="2181098"/>
            <a:ext cx="514350" cy="123825"/>
          </a:xfrm>
          <a:prstGeom prst="rect">
            <a:avLst/>
          </a:prstGeom>
          <a:noFill/>
        </p:spPr>
        <p:txBody>
          <a:bodyPr wrap="none" lIns="0" rIns="0" tIns="0" bIns="0" anchor="ctr">
            <a:spAutoFit/>
          </a:bodyPr>
          <a:lstStyle/>
          <a:p>
            <a:pPr algn="r"/>
            <a:r>
              <a:rPr sz="900" b="1">
                <a:solidFill>
                  <a:srgbClr val="D64545"/>
                </a:solidFill>
                <a:latin typeface="Segoe UI"/>
              </a:rPr>
              <a:t>-11</a:t>
            </a:r>
          </a:p>
        </p:txBody>
      </p:sp>
      <p:sp>
        <p:nvSpPr>
          <p:cNvPr id="30" name="FMI Legend Chip"/>
          <p:cNvSpPr/>
          <p:nvPr/>
        </p:nvSpPr>
        <p:spPr>
          <a:xfrm>
            <a:off x="4928997" y="2526924"/>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5090922" y="252216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244596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Antimicrobial &amp; Odor Control</a:t>
            </a:r>
          </a:p>
        </p:txBody>
      </p:sp>
      <p:sp>
        <p:nvSpPr>
          <p:cNvPr id="33" name="BPS Value 5"/>
          <p:cNvSpPr txBox="1"/>
          <p:nvPr/>
        </p:nvSpPr>
        <p:spPr>
          <a:xfrm>
            <a:off x="6896100" y="2507874"/>
            <a:ext cx="514350" cy="123825"/>
          </a:xfrm>
          <a:prstGeom prst="rect">
            <a:avLst/>
          </a:prstGeom>
          <a:noFill/>
        </p:spPr>
        <p:txBody>
          <a:bodyPr wrap="none" lIns="0" rIns="0" tIns="0" bIns="0" anchor="ctr">
            <a:spAutoFit/>
          </a:bodyPr>
          <a:lstStyle/>
          <a:p>
            <a:pPr algn="r"/>
            <a:r>
              <a:rPr sz="900" b="1">
                <a:solidFill>
                  <a:srgbClr val="1E8E3E"/>
                </a:solidFill>
                <a:latin typeface="Segoe UI"/>
              </a:rPr>
              <a:t>+85</a:t>
            </a:r>
          </a:p>
        </p:txBody>
      </p:sp>
      <p:sp>
        <p:nvSpPr>
          <p:cNvPr id="34" name="FMI Legend Chip"/>
          <p:cNvSpPr/>
          <p:nvPr/>
        </p:nvSpPr>
        <p:spPr>
          <a:xfrm>
            <a:off x="4928997" y="2975453"/>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rot="10800000">
            <a:off x="5090922" y="2970691"/>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289449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Compression &amp; Support</a:t>
            </a:r>
          </a:p>
        </p:txBody>
      </p:sp>
      <p:sp>
        <p:nvSpPr>
          <p:cNvPr id="37" name="BPS Value 6"/>
          <p:cNvSpPr txBox="1"/>
          <p:nvPr/>
        </p:nvSpPr>
        <p:spPr>
          <a:xfrm>
            <a:off x="6896100" y="2956403"/>
            <a:ext cx="514350" cy="123825"/>
          </a:xfrm>
          <a:prstGeom prst="rect">
            <a:avLst/>
          </a:prstGeom>
          <a:noFill/>
        </p:spPr>
        <p:txBody>
          <a:bodyPr wrap="none" lIns="0" rIns="0" tIns="0" bIns="0" anchor="ctr">
            <a:spAutoFit/>
          </a:bodyPr>
          <a:lstStyle/>
          <a:p>
            <a:pPr algn="r"/>
            <a:r>
              <a:rPr sz="900" b="1">
                <a:solidFill>
                  <a:srgbClr val="D64545"/>
                </a:solidFill>
                <a:latin typeface="Segoe UI"/>
              </a:rPr>
              <a:t>-14</a:t>
            </a:r>
          </a:p>
        </p:txBody>
      </p:sp>
      <p:sp>
        <p:nvSpPr>
          <p:cNvPr id="38" name="FMI Legend Chip"/>
          <p:cNvSpPr/>
          <p:nvPr/>
        </p:nvSpPr>
        <p:spPr>
          <a:xfrm>
            <a:off x="4928997" y="3450934"/>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rot="10800000">
            <a:off x="5090922" y="3446171"/>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5233797" y="336997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Abrasion &amp; Tear Resistance</a:t>
            </a:r>
          </a:p>
        </p:txBody>
      </p:sp>
      <p:sp>
        <p:nvSpPr>
          <p:cNvPr id="41" name="BPS Value 7"/>
          <p:cNvSpPr txBox="1"/>
          <p:nvPr/>
        </p:nvSpPr>
        <p:spPr>
          <a:xfrm>
            <a:off x="6896100" y="3431884"/>
            <a:ext cx="514350" cy="123825"/>
          </a:xfrm>
          <a:prstGeom prst="rect">
            <a:avLst/>
          </a:prstGeom>
          <a:noFill/>
        </p:spPr>
        <p:txBody>
          <a:bodyPr wrap="none" lIns="0" rIns="0" tIns="0" bIns="0" anchor="ctr">
            <a:spAutoFit/>
          </a:bodyPr>
          <a:lstStyle/>
          <a:p>
            <a:pPr algn="r"/>
            <a:r>
              <a:rPr sz="900" b="1">
                <a:solidFill>
                  <a:srgbClr val="D64545"/>
                </a:solidFill>
                <a:latin typeface="Segoe UI"/>
              </a:rPr>
              <a:t>-101</a:t>
            </a:r>
          </a:p>
        </p:txBody>
      </p:sp>
      <p:sp>
        <p:nvSpPr>
          <p:cNvPr id="42" name="FMI Legend Chip"/>
          <p:cNvSpPr/>
          <p:nvPr/>
        </p:nvSpPr>
        <p:spPr>
          <a:xfrm>
            <a:off x="4928997" y="4053006"/>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Isosceles Triangle 42"/>
          <p:cNvSpPr/>
          <p:nvPr/>
        </p:nvSpPr>
        <p:spPr>
          <a:xfrm rot="10800000">
            <a:off x="5090922" y="404824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PS Name 8"/>
          <p:cNvSpPr txBox="1"/>
          <p:nvPr/>
        </p:nvSpPr>
        <p:spPr>
          <a:xfrm>
            <a:off x="5233797" y="397204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Stretch &amp; Recovery</a:t>
            </a:r>
          </a:p>
        </p:txBody>
      </p:sp>
      <p:sp>
        <p:nvSpPr>
          <p:cNvPr id="45" name="BPS Value 8"/>
          <p:cNvSpPr txBox="1"/>
          <p:nvPr/>
        </p:nvSpPr>
        <p:spPr>
          <a:xfrm>
            <a:off x="6896100" y="4033956"/>
            <a:ext cx="514350" cy="123825"/>
          </a:xfrm>
          <a:prstGeom prst="rect">
            <a:avLst/>
          </a:prstGeom>
          <a:noFill/>
        </p:spPr>
        <p:txBody>
          <a:bodyPr wrap="none" lIns="0" rIns="0" tIns="0" bIns="0" anchor="ctr">
            <a:spAutoFit/>
          </a:bodyPr>
          <a:lstStyle/>
          <a:p>
            <a:pPr algn="r"/>
            <a:r>
              <a:rPr sz="900" b="1">
                <a:solidFill>
                  <a:srgbClr val="D64545"/>
                </a:solidFill>
                <a:latin typeface="Segoe UI"/>
              </a:rPr>
              <a:t>-94</a:t>
            </a:r>
          </a:p>
        </p:txBody>
      </p:sp>
      <p:sp>
        <p:nvSpPr>
          <p:cNvPr id="46" name="FMI Legend Chip"/>
          <p:cNvSpPr/>
          <p:nvPr/>
        </p:nvSpPr>
        <p:spPr>
          <a:xfrm>
            <a:off x="4928997" y="4865863"/>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Isosceles Triangle 46"/>
          <p:cNvSpPr/>
          <p:nvPr/>
        </p:nvSpPr>
        <p:spPr>
          <a:xfrm>
            <a:off x="5090922" y="4861100"/>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PS Name 9"/>
          <p:cNvSpPr txBox="1"/>
          <p:nvPr/>
        </p:nvSpPr>
        <p:spPr>
          <a:xfrm>
            <a:off x="5233797" y="478490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Thermal Management</a:t>
            </a:r>
          </a:p>
        </p:txBody>
      </p:sp>
      <p:sp>
        <p:nvSpPr>
          <p:cNvPr id="49" name="BPS Value 9"/>
          <p:cNvSpPr txBox="1"/>
          <p:nvPr/>
        </p:nvSpPr>
        <p:spPr>
          <a:xfrm>
            <a:off x="6896100" y="4846813"/>
            <a:ext cx="514350" cy="123825"/>
          </a:xfrm>
          <a:prstGeom prst="rect">
            <a:avLst/>
          </a:prstGeom>
          <a:noFill/>
        </p:spPr>
        <p:txBody>
          <a:bodyPr wrap="none" lIns="0" rIns="0" tIns="0" bIns="0" anchor="ctr">
            <a:spAutoFit/>
          </a:bodyPr>
          <a:lstStyle/>
          <a:p>
            <a:pPr algn="r"/>
            <a:r>
              <a:rPr sz="900" b="1">
                <a:solidFill>
                  <a:srgbClr val="1E8E3E"/>
                </a:solidFill>
                <a:latin typeface="Segoe UI"/>
              </a:rPr>
              <a:t>+157</a:t>
            </a:r>
          </a:p>
        </p:txBody>
      </p:sp>
      <p:sp>
        <p:nvSpPr>
          <p:cNvPr id="50" name="FMI Legend Chip"/>
          <p:cNvSpPr/>
          <p:nvPr/>
        </p:nvSpPr>
        <p:spPr>
          <a:xfrm>
            <a:off x="4928997" y="5781517"/>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Isosceles Triangle 50"/>
          <p:cNvSpPr/>
          <p:nvPr/>
        </p:nvSpPr>
        <p:spPr>
          <a:xfrm rot="10800000">
            <a:off x="5090922" y="577675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PS Name 10"/>
          <p:cNvSpPr txBox="1"/>
          <p:nvPr/>
        </p:nvSpPr>
        <p:spPr>
          <a:xfrm>
            <a:off x="5233797" y="570055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Moisture Management &amp; Quick-Dry</a:t>
            </a:r>
          </a:p>
        </p:txBody>
      </p:sp>
      <p:sp>
        <p:nvSpPr>
          <p:cNvPr id="53" name="BPS Value 10"/>
          <p:cNvSpPr txBox="1"/>
          <p:nvPr/>
        </p:nvSpPr>
        <p:spPr>
          <a:xfrm>
            <a:off x="6896100" y="5762467"/>
            <a:ext cx="514350" cy="123825"/>
          </a:xfrm>
          <a:prstGeom prst="rect">
            <a:avLst/>
          </a:prstGeom>
          <a:noFill/>
        </p:spPr>
        <p:txBody>
          <a:bodyPr wrap="none" lIns="0" rIns="0" tIns="0" bIns="0" anchor="ctr">
            <a:spAutoFit/>
          </a:bodyPr>
          <a:lstStyle/>
          <a:p>
            <a:pPr algn="r"/>
            <a:r>
              <a:rPr sz="900" b="1">
                <a:solidFill>
                  <a:srgbClr val="D64545"/>
                </a:solidFill>
                <a:latin typeface="Segoe UI"/>
              </a:rPr>
              <a:t>-36</a:t>
            </a:r>
          </a:p>
        </p:txBody>
      </p:sp>
      <p:sp>
        <p:nvSpPr>
          <p:cNvPr id="54" name="Rectangle 53"/>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East Asia Read-out, By Primary Performance Function</a:t>
            </a:r>
          </a:p>
        </p:txBody>
      </p:sp>
      <p:sp>
        <p:nvSpPr>
          <p:cNvPr id="56" name="Rectangle 55"/>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primary performance function, other specialized performance segment is expected to witness the highest CAGR of 9.7% over the forecast period. In terms of value share by primary performance function, the moisture management &amp; quick-dry segment is expected to dominate the market, losing 36 BPS and accounting for 20.2% share by 2036.</a:t>
            </a:r>
          </a:p>
          <a:p>
            <a:pPr algn="l">
              <a:lnSpc>
                <a:spcPct val="110000"/>
              </a:lnSpc>
              <a:spcBef>
                <a:spcPts val="0"/>
              </a:spcBef>
              <a:spcAft>
                <a:spcPts val="500"/>
              </a:spcAft>
            </a:pPr>
            <a:r>
              <a:rPr sz="1150" b="0">
                <a:solidFill>
                  <a:srgbClr val="252423"/>
                </a:solidFill>
                <a:latin typeface="Segoe UI"/>
              </a:rPr>
              <a:t>The abrasion &amp; tear resistance segment is expected to lose 101 BPS over the forecast period to account for 10.6% share by 2036.</a:t>
            </a:r>
          </a:p>
        </p:txBody>
      </p:sp>
      <p:sp>
        <p:nvSpPr>
          <p:cNvPr id="58" name="TextBox 5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Segment Outlook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 Asia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segment categorizes the market by end-use application.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Sports &amp; Activewear</a:t>
            </a:r>
          </a:p>
        </p:txBody>
      </p:sp>
      <p:sp>
        <p:nvSpPr>
          <p:cNvPr id="21" name="Rectangle 20"/>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341.8</a:t>
            </a:r>
          </a:p>
        </p:txBody>
      </p:sp>
      <p:sp>
        <p:nvSpPr>
          <p:cNvPr id="22" name="Rectangle 21"/>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760.3</a:t>
            </a:r>
          </a:p>
        </p:txBody>
      </p:sp>
      <p:sp>
        <p:nvSpPr>
          <p:cNvPr id="23" name="Rectangle 22"/>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8.3%</a:t>
            </a:r>
          </a:p>
        </p:txBody>
      </p:sp>
      <p:sp>
        <p:nvSpPr>
          <p:cNvPr id="24" name="Oval 23"/>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Protective &amp; Occupational Wear</a:t>
            </a:r>
          </a:p>
        </p:txBody>
      </p:sp>
      <p:sp>
        <p:nvSpPr>
          <p:cNvPr id="28" name="Rectangle 27"/>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194.4</a:t>
            </a:r>
          </a:p>
        </p:txBody>
      </p:sp>
      <p:sp>
        <p:nvSpPr>
          <p:cNvPr id="29" name="Rectangle 28"/>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438.8</a:t>
            </a:r>
          </a:p>
        </p:txBody>
      </p:sp>
      <p:sp>
        <p:nvSpPr>
          <p:cNvPr id="30" name="Rectangle 29"/>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8.5%</a:t>
            </a:r>
          </a:p>
        </p:txBody>
      </p:sp>
      <p:sp>
        <p:nvSpPr>
          <p:cNvPr id="31" name="Oval 30"/>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Medical &amp; Healthcare</a:t>
            </a:r>
          </a:p>
        </p:txBody>
      </p:sp>
      <p:sp>
        <p:nvSpPr>
          <p:cNvPr id="35" name="Rectangle 34"/>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191.3</a:t>
            </a:r>
          </a:p>
        </p:txBody>
      </p:sp>
      <p:sp>
        <p:nvSpPr>
          <p:cNvPr id="36" name="Rectangle 35"/>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448.8</a:t>
            </a:r>
          </a:p>
        </p:txBody>
      </p:sp>
      <p:sp>
        <p:nvSpPr>
          <p:cNvPr id="37" name="Rectangle 36"/>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8.9%</a:t>
            </a:r>
          </a:p>
        </p:txBody>
      </p:sp>
      <p:sp>
        <p:nvSpPr>
          <p:cNvPr id="38" name="Oval 37"/>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Footwear</a:t>
            </a:r>
          </a:p>
        </p:txBody>
      </p:sp>
      <p:sp>
        <p:nvSpPr>
          <p:cNvPr id="42" name="Rectangle 41"/>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182.1</a:t>
            </a:r>
          </a:p>
        </p:txBody>
      </p:sp>
      <p:sp>
        <p:nvSpPr>
          <p:cNvPr id="43" name="Rectangle 42"/>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411.0</a:t>
            </a:r>
          </a:p>
        </p:txBody>
      </p:sp>
      <p:sp>
        <p:nvSpPr>
          <p:cNvPr id="44" name="Rectangle 43"/>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8.5%</a:t>
            </a:r>
          </a:p>
        </p:txBody>
      </p:sp>
      <p:sp>
        <p:nvSpPr>
          <p:cNvPr id="45" name="Oval 44"/>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8" name="Rectangle 47"/>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End-Use application, medical &amp; healthcare segment is expected to witness the highest CAGR of 8.9% over the forecast period. In terms of value share by End-Use application, the sports &amp; activewear segment is expected to dominate the market, maintaining its share and accounting for 25.6%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Sports &amp; activewear segment is projected to register 1.7X higher value than medical &amp; healthcare segment in 2036.</a:t>
            </a:r>
          </a:p>
        </p:txBody>
      </p:sp>
      <p:sp>
        <p:nvSpPr>
          <p:cNvPr id="50" name="Rounded Rectangle 49"/>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2" name="Rectangle 51"/>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Sports &amp; Activewear: </a:t>
            </a:r>
            <a:r>
              <a:rPr sz="1100" b="0">
                <a:solidFill>
                  <a:srgbClr val="252423"/>
                </a:solidFill>
                <a:latin typeface="Segoe UI"/>
              </a:rPr>
              <a:t>26% of 2026 value · 8.3%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Protective &amp; Occupational Wear: </a:t>
            </a:r>
            <a:r>
              <a:rPr sz="1100" b="0">
                <a:solidFill>
                  <a:srgbClr val="252423"/>
                </a:solidFill>
                <a:latin typeface="Segoe UI"/>
              </a:rPr>
              <a:t>15% of 2026 value · 8.5%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Medical &amp; Healthcare: </a:t>
            </a:r>
            <a:r>
              <a:rPr sz="1100" b="0">
                <a:solidFill>
                  <a:srgbClr val="252423"/>
                </a:solidFill>
                <a:latin typeface="Segoe UI"/>
              </a:rPr>
              <a:t>14% of 2026 value · 8.9% CAGR grows fastest.</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Footwear: </a:t>
            </a:r>
            <a:r>
              <a:rPr sz="1100" b="0">
                <a:solidFill>
                  <a:srgbClr val="252423"/>
                </a:solidFill>
                <a:latin typeface="Segoe UI"/>
              </a:rPr>
              <a:t>14% of 2026 value · 8.5% CAGR serves a niche.</a:t>
            </a:r>
          </a:p>
        </p:txBody>
      </p:sp>
      <p:sp>
        <p:nvSpPr>
          <p:cNvPr id="54" name="Rounded Rectangle 53"/>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6" name="Rectangle 55"/>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End-Use Application split shows how demand is distributed across end-use application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8" name="Rectangle 57"/>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End-Use Application segment is projected to grow at a CAGR of 8.3% from 2026 to 2036.</a:t>
            </a:r>
          </a:p>
        </p:txBody>
      </p:sp>
      <p:sp>
        <p:nvSpPr>
          <p:cNvPr id="60" name="TextBox 59"/>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1" name="TextBox 6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Segment Outlook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segment categorizes the market by end-use application.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3257550"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3257550"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Intimate &amp; Bodywear</a:t>
            </a:r>
          </a:p>
        </p:txBody>
      </p:sp>
      <p:sp>
        <p:nvSpPr>
          <p:cNvPr id="20" name="Rectangle 19"/>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176.1</a:t>
            </a:r>
          </a:p>
        </p:txBody>
      </p:sp>
      <p:sp>
        <p:nvSpPr>
          <p:cNvPr id="21" name="Rectangle 20"/>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355.0</a:t>
            </a:r>
          </a:p>
        </p:txBody>
      </p:sp>
      <p:sp>
        <p:nvSpPr>
          <p:cNvPr id="22" name="Rectangle 21"/>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7.3%</a:t>
            </a:r>
          </a:p>
        </p:txBody>
      </p:sp>
      <p:sp>
        <p:nvSpPr>
          <p:cNvPr id="23" name="Oval 22"/>
          <p:cNvSpPr/>
          <p:nvPr/>
        </p:nvSpPr>
        <p:spPr>
          <a:xfrm>
            <a:off x="3333750"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24" name="Rounded Rectangle 23"/>
          <p:cNvSpPr/>
          <p:nvPr/>
        </p:nvSpPr>
        <p:spPr>
          <a:xfrm>
            <a:off x="5238750" y="1773916"/>
            <a:ext cx="3257550"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38750" y="1992961"/>
            <a:ext cx="3257550"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Industrial &amp; Technical Applicatio…</a:t>
            </a:r>
          </a:p>
        </p:txBody>
      </p:sp>
      <p:sp>
        <p:nvSpPr>
          <p:cNvPr id="27" name="Rectangle 26"/>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130.4</a:t>
            </a:r>
          </a:p>
        </p:txBody>
      </p:sp>
      <p:sp>
        <p:nvSpPr>
          <p:cNvPr id="28" name="Rectangle 27"/>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299.0</a:t>
            </a:r>
          </a:p>
        </p:txBody>
      </p:sp>
      <p:sp>
        <p:nvSpPr>
          <p:cNvPr id="29" name="Rectangle 28"/>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8.7%</a:t>
            </a:r>
          </a:p>
        </p:txBody>
      </p:sp>
      <p:sp>
        <p:nvSpPr>
          <p:cNvPr id="30" name="Oval 29"/>
          <p:cNvSpPr/>
          <p:nvPr/>
        </p:nvSpPr>
        <p:spPr>
          <a:xfrm>
            <a:off x="6705600"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31" name="Rounded Rectangle 30"/>
          <p:cNvSpPr/>
          <p:nvPr/>
        </p:nvSpPr>
        <p:spPr>
          <a:xfrm>
            <a:off x="8610600" y="1773916"/>
            <a:ext cx="3257550"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10600" y="1992961"/>
            <a:ext cx="3257550"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Automotive &amp; Transportation</a:t>
            </a:r>
          </a:p>
        </p:txBody>
      </p:sp>
      <p:sp>
        <p:nvSpPr>
          <p:cNvPr id="34" name="Rectangle 33"/>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117.7</a:t>
            </a:r>
          </a:p>
        </p:txBody>
      </p:sp>
      <p:sp>
        <p:nvSpPr>
          <p:cNvPr id="35" name="Rectangle 34"/>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254.4</a:t>
            </a:r>
          </a:p>
        </p:txBody>
      </p:sp>
      <p:sp>
        <p:nvSpPr>
          <p:cNvPr id="36" name="Rectangle 35"/>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8.0%</a:t>
            </a:r>
          </a:p>
        </p:txBody>
      </p:sp>
      <p:sp>
        <p:nvSpPr>
          <p:cNvPr id="37" name="Oval 36"/>
          <p:cNvSpPr/>
          <p:nvPr/>
        </p:nvSpPr>
        <p:spPr>
          <a:xfrm>
            <a:off x="10077450"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38" name="Rounded Rectangle 37"/>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0" name="Rectangle 39"/>
          <p:cNvSpPr/>
          <p:nvPr/>
        </p:nvSpPr>
        <p:spPr>
          <a:xfrm>
            <a:off x="457200" y="4146897"/>
            <a:ext cx="112776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Intimate &amp; Bodywear: </a:t>
            </a:r>
            <a:r>
              <a:rPr sz="1100" b="0">
                <a:solidFill>
                  <a:srgbClr val="252423"/>
                </a:solidFill>
                <a:latin typeface="Segoe UI"/>
              </a:rPr>
              <a:t>13% of 2026 value · 7.3% CAGR serves a niche.</a:t>
            </a:r>
          </a:p>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Industrial &amp; Technical Applications: </a:t>
            </a:r>
            <a:r>
              <a:rPr sz="1100" b="0">
                <a:solidFill>
                  <a:srgbClr val="252423"/>
                </a:solidFill>
                <a:latin typeface="Segoe UI"/>
              </a:rPr>
              <a:t>10% of 2026 value · 8.7% CAGR serves a niche.</a:t>
            </a:r>
          </a:p>
          <a:p>
            <a:pPr algn="l">
              <a:lnSpc>
                <a:spcPct val="110000"/>
              </a:lnSpc>
              <a:spcBef>
                <a:spcPts val="0"/>
              </a:spcBef>
              <a:spcAft>
                <a:spcPts val="500"/>
              </a:spcAft>
            </a:pPr>
            <a:r>
              <a:rPr sz="1100" b="0">
                <a:solidFill>
                  <a:srgbClr val="2C6E7F"/>
                </a:solidFill>
                <a:latin typeface="Segoe UI"/>
              </a:rPr>
              <a:t>●  </a:t>
            </a:r>
            <a:r>
              <a:rPr sz="1100" b="1">
                <a:solidFill>
                  <a:srgbClr val="2C6E7F"/>
                </a:solidFill>
                <a:latin typeface="Segoe UI"/>
              </a:rPr>
              <a:t>Automotive &amp; Transportation: </a:t>
            </a:r>
            <a:r>
              <a:rPr sz="1100" b="0">
                <a:solidFill>
                  <a:srgbClr val="252423"/>
                </a:solidFill>
                <a:latin typeface="Segoe UI"/>
              </a:rPr>
              <a:t>9% of 2026 value · 8.0% CAGR serves a niche.</a:t>
            </a:r>
          </a:p>
        </p:txBody>
      </p:sp>
      <p:sp>
        <p:nvSpPr>
          <p:cNvPr id="42" name="TextBox 41"/>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3" name="TextBox 4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 Asia Market Value &amp; Share Shift, By End-Use Application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End-Use Application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 Asia</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 Asia Value Composition, By End-Use Application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867265"/>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5090922" y="186250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78630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Automotive &amp; Transportation</a:t>
            </a:r>
          </a:p>
        </p:txBody>
      </p:sp>
      <p:sp>
        <p:nvSpPr>
          <p:cNvPr id="17" name="BPS Value 1"/>
          <p:cNvSpPr txBox="1"/>
          <p:nvPr/>
        </p:nvSpPr>
        <p:spPr>
          <a:xfrm>
            <a:off x="6896100" y="1848215"/>
            <a:ext cx="514350" cy="123825"/>
          </a:xfrm>
          <a:prstGeom prst="rect">
            <a:avLst/>
          </a:prstGeom>
          <a:noFill/>
        </p:spPr>
        <p:txBody>
          <a:bodyPr wrap="none" lIns="0" rIns="0" tIns="0" bIns="0" anchor="ctr">
            <a:spAutoFit/>
          </a:bodyPr>
          <a:lstStyle/>
          <a:p>
            <a:pPr algn="r"/>
            <a:r>
              <a:rPr sz="900" b="1">
                <a:solidFill>
                  <a:srgbClr val="D64545"/>
                </a:solidFill>
                <a:latin typeface="Segoe UI"/>
              </a:rPr>
              <a:t>-25</a:t>
            </a:r>
          </a:p>
        </p:txBody>
      </p:sp>
      <p:sp>
        <p:nvSpPr>
          <p:cNvPr id="18" name="FMI Legend Chip"/>
          <p:cNvSpPr/>
          <p:nvPr/>
        </p:nvSpPr>
        <p:spPr>
          <a:xfrm>
            <a:off x="4928997" y="2293670"/>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2288908"/>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2212708"/>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Industrial &amp; Technical Applications</a:t>
            </a:r>
          </a:p>
        </p:txBody>
      </p:sp>
      <p:sp>
        <p:nvSpPr>
          <p:cNvPr id="21" name="BPS Value 2"/>
          <p:cNvSpPr txBox="1"/>
          <p:nvPr/>
        </p:nvSpPr>
        <p:spPr>
          <a:xfrm>
            <a:off x="6896100" y="2274620"/>
            <a:ext cx="514350" cy="123825"/>
          </a:xfrm>
          <a:prstGeom prst="rect">
            <a:avLst/>
          </a:prstGeom>
          <a:noFill/>
        </p:spPr>
        <p:txBody>
          <a:bodyPr wrap="none" lIns="0" rIns="0" tIns="0" bIns="0" anchor="ctr">
            <a:spAutoFit/>
          </a:bodyPr>
          <a:lstStyle/>
          <a:p>
            <a:pPr algn="r"/>
            <a:r>
              <a:rPr sz="900" b="1">
                <a:solidFill>
                  <a:srgbClr val="1E8E3E"/>
                </a:solidFill>
                <a:latin typeface="Segoe UI"/>
              </a:rPr>
              <a:t>+30</a:t>
            </a:r>
          </a:p>
        </p:txBody>
      </p:sp>
      <p:sp>
        <p:nvSpPr>
          <p:cNvPr id="22" name="FMI Legend Chip"/>
          <p:cNvSpPr/>
          <p:nvPr/>
        </p:nvSpPr>
        <p:spPr>
          <a:xfrm>
            <a:off x="4928997" y="2797570"/>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rot="10800000">
            <a:off x="5090922" y="2792808"/>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716608"/>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Intimate &amp; Bodywear</a:t>
            </a:r>
          </a:p>
        </p:txBody>
      </p:sp>
      <p:sp>
        <p:nvSpPr>
          <p:cNvPr id="25" name="BPS Value 3"/>
          <p:cNvSpPr txBox="1"/>
          <p:nvPr/>
        </p:nvSpPr>
        <p:spPr>
          <a:xfrm>
            <a:off x="6896100" y="2778520"/>
            <a:ext cx="514350" cy="123825"/>
          </a:xfrm>
          <a:prstGeom prst="rect">
            <a:avLst/>
          </a:prstGeom>
          <a:noFill/>
        </p:spPr>
        <p:txBody>
          <a:bodyPr wrap="none" lIns="0" rIns="0" tIns="0" bIns="0" anchor="ctr">
            <a:spAutoFit/>
          </a:bodyPr>
          <a:lstStyle/>
          <a:p>
            <a:pPr algn="r"/>
            <a:r>
              <a:rPr sz="900" b="1">
                <a:solidFill>
                  <a:srgbClr val="D64545"/>
                </a:solidFill>
                <a:latin typeface="Segoe UI"/>
              </a:rPr>
              <a:t>-124</a:t>
            </a:r>
          </a:p>
        </p:txBody>
      </p:sp>
      <p:sp>
        <p:nvSpPr>
          <p:cNvPr id="26" name="FMI Legend Chip"/>
          <p:cNvSpPr/>
          <p:nvPr/>
        </p:nvSpPr>
        <p:spPr>
          <a:xfrm>
            <a:off x="4928997" y="3387743"/>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5090922" y="338298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330678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Footwear</a:t>
            </a:r>
          </a:p>
        </p:txBody>
      </p:sp>
      <p:sp>
        <p:nvSpPr>
          <p:cNvPr id="29" name="BPS Value 4"/>
          <p:cNvSpPr txBox="1"/>
          <p:nvPr/>
        </p:nvSpPr>
        <p:spPr>
          <a:xfrm>
            <a:off x="6896100" y="3368693"/>
            <a:ext cx="514350" cy="123825"/>
          </a:xfrm>
          <a:prstGeom prst="rect">
            <a:avLst/>
          </a:prstGeom>
          <a:noFill/>
        </p:spPr>
        <p:txBody>
          <a:bodyPr wrap="none" lIns="0" rIns="0" tIns="0" bIns="0" anchor="ctr">
            <a:spAutoFit/>
          </a:bodyPr>
          <a:lstStyle/>
          <a:p>
            <a:pPr algn="r"/>
            <a:r>
              <a:rPr sz="900" b="1">
                <a:solidFill>
                  <a:srgbClr val="1E8E3E"/>
                </a:solidFill>
                <a:latin typeface="Segoe UI"/>
              </a:rPr>
              <a:t>+20</a:t>
            </a:r>
          </a:p>
        </p:txBody>
      </p:sp>
      <p:sp>
        <p:nvSpPr>
          <p:cNvPr id="30" name="FMI Legend Chip"/>
          <p:cNvSpPr/>
          <p:nvPr/>
        </p:nvSpPr>
        <p:spPr>
          <a:xfrm>
            <a:off x="4928997" y="4042475"/>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5090922" y="4037713"/>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396151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Protective &amp; Occupational Wear</a:t>
            </a:r>
          </a:p>
        </p:txBody>
      </p:sp>
      <p:sp>
        <p:nvSpPr>
          <p:cNvPr id="33" name="BPS Value 5"/>
          <p:cNvSpPr txBox="1"/>
          <p:nvPr/>
        </p:nvSpPr>
        <p:spPr>
          <a:xfrm>
            <a:off x="6896100" y="4023425"/>
            <a:ext cx="514350" cy="123825"/>
          </a:xfrm>
          <a:prstGeom prst="rect">
            <a:avLst/>
          </a:prstGeom>
          <a:noFill/>
        </p:spPr>
        <p:txBody>
          <a:bodyPr wrap="none" lIns="0" rIns="0" tIns="0" bIns="0" anchor="ctr">
            <a:spAutoFit/>
          </a:bodyPr>
          <a:lstStyle/>
          <a:p>
            <a:pPr algn="r"/>
            <a:r>
              <a:rPr sz="900" b="1">
                <a:solidFill>
                  <a:srgbClr val="1E8E3E"/>
                </a:solidFill>
                <a:latin typeface="Segoe UI"/>
              </a:rPr>
              <a:t>+21</a:t>
            </a:r>
          </a:p>
        </p:txBody>
      </p:sp>
      <p:sp>
        <p:nvSpPr>
          <p:cNvPr id="34" name="FMI Legend Chip"/>
          <p:cNvSpPr/>
          <p:nvPr/>
        </p:nvSpPr>
        <p:spPr>
          <a:xfrm>
            <a:off x="4928997" y="4726317"/>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a:off x="5090922" y="472155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464535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Medical &amp; Healthcare</a:t>
            </a:r>
          </a:p>
        </p:txBody>
      </p:sp>
      <p:sp>
        <p:nvSpPr>
          <p:cNvPr id="37" name="BPS Value 6"/>
          <p:cNvSpPr txBox="1"/>
          <p:nvPr/>
        </p:nvSpPr>
        <p:spPr>
          <a:xfrm>
            <a:off x="6896100" y="4707267"/>
            <a:ext cx="514350" cy="123825"/>
          </a:xfrm>
          <a:prstGeom prst="rect">
            <a:avLst/>
          </a:prstGeom>
          <a:noFill/>
        </p:spPr>
        <p:txBody>
          <a:bodyPr wrap="none" lIns="0" rIns="0" tIns="0" bIns="0" anchor="ctr">
            <a:spAutoFit/>
          </a:bodyPr>
          <a:lstStyle/>
          <a:p>
            <a:pPr algn="r"/>
            <a:r>
              <a:rPr sz="900" b="1">
                <a:solidFill>
                  <a:srgbClr val="1E8E3E"/>
                </a:solidFill>
                <a:latin typeface="Segoe UI"/>
              </a:rPr>
              <a:t>+78</a:t>
            </a:r>
          </a:p>
        </p:txBody>
      </p:sp>
      <p:sp>
        <p:nvSpPr>
          <p:cNvPr id="38" name="FMI Legend Chip"/>
          <p:cNvSpPr/>
          <p:nvPr/>
        </p:nvSpPr>
        <p:spPr>
          <a:xfrm>
            <a:off x="4928997" y="5657867"/>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rot="10800000">
            <a:off x="5090922" y="565310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5233797" y="557690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Sports &amp; Activewear</a:t>
            </a:r>
          </a:p>
        </p:txBody>
      </p:sp>
      <p:sp>
        <p:nvSpPr>
          <p:cNvPr id="41" name="BPS Value 7"/>
          <p:cNvSpPr txBox="1"/>
          <p:nvPr/>
        </p:nvSpPr>
        <p:spPr>
          <a:xfrm>
            <a:off x="6896100" y="5638817"/>
            <a:ext cx="514350" cy="123825"/>
          </a:xfrm>
          <a:prstGeom prst="rect">
            <a:avLst/>
          </a:prstGeom>
          <a:noFill/>
        </p:spPr>
        <p:txBody>
          <a:bodyPr wrap="none" lIns="0" rIns="0" tIns="0" bIns="0" anchor="ctr">
            <a:spAutoFit/>
          </a:bodyPr>
          <a:lstStyle/>
          <a:p>
            <a:pPr algn="r"/>
            <a:r>
              <a:rPr sz="900" b="1">
                <a:solidFill>
                  <a:srgbClr val="D64545"/>
                </a:solidFill>
                <a:latin typeface="Segoe UI"/>
              </a:rPr>
              <a:t>-0</a:t>
            </a:r>
          </a:p>
        </p:txBody>
      </p:sp>
      <p:sp>
        <p:nvSpPr>
          <p:cNvPr id="42" name="Rectangle 41"/>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East Asia Read-out, By End-Use Application</a:t>
            </a:r>
          </a:p>
        </p:txBody>
      </p:sp>
      <p:sp>
        <p:nvSpPr>
          <p:cNvPr id="44" name="Rectangle 43"/>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End-Use application, medical &amp; healthcare segment is expected to witness the highest CAGR of 8.9% over the forecast period. In terms of value share by End-Use application, the sports &amp; activewear segment is expected to dominate the market, maintaining its share and accounting for 25.6% share by 2036.</a:t>
            </a:r>
          </a:p>
          <a:p>
            <a:pPr algn="l">
              <a:lnSpc>
                <a:spcPct val="110000"/>
              </a:lnSpc>
              <a:spcBef>
                <a:spcPts val="0"/>
              </a:spcBef>
              <a:spcAft>
                <a:spcPts val="500"/>
              </a:spcAft>
            </a:pPr>
            <a:r>
              <a:rPr sz="1150" b="0">
                <a:solidFill>
                  <a:srgbClr val="252423"/>
                </a:solidFill>
                <a:latin typeface="Segoe UI"/>
              </a:rPr>
              <a:t>The intimate &amp; bodywear segment is expected to lose 124 BPS over the forecast period to account for 12.0% share by 2036.</a:t>
            </a:r>
          </a:p>
        </p:txBody>
      </p:sp>
      <p:sp>
        <p:nvSpPr>
          <p:cNvPr id="46" name="TextBox 4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Fabric Weight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3 sub-segments of Fabric Weight,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 Asia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Fabric Weight segment categorizes the market by fabric weight.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325755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325755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Medium Weight 150–250 GSM</a:t>
            </a:r>
          </a:p>
        </p:txBody>
      </p:sp>
      <p:sp>
        <p:nvSpPr>
          <p:cNvPr id="21" name="Rectangle 20"/>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609.2</a:t>
            </a:r>
          </a:p>
        </p:txBody>
      </p:sp>
      <p:sp>
        <p:nvSpPr>
          <p:cNvPr id="22" name="Rectangle 21"/>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1,279</a:t>
            </a:r>
          </a:p>
        </p:txBody>
      </p:sp>
      <p:sp>
        <p:nvSpPr>
          <p:cNvPr id="23" name="Rectangle 22"/>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7.7%</a:t>
            </a:r>
          </a:p>
        </p:txBody>
      </p:sp>
      <p:sp>
        <p:nvSpPr>
          <p:cNvPr id="24" name="Oval 23"/>
          <p:cNvSpPr/>
          <p:nvPr/>
        </p:nvSpPr>
        <p:spPr>
          <a:xfrm>
            <a:off x="333375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5238750" y="1773916"/>
            <a:ext cx="325755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238750" y="1992961"/>
            <a:ext cx="325755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Lightweight Below 150 GSM</a:t>
            </a:r>
          </a:p>
        </p:txBody>
      </p:sp>
      <p:sp>
        <p:nvSpPr>
          <p:cNvPr id="28" name="Rectangle 27"/>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493.7</a:t>
            </a:r>
          </a:p>
        </p:txBody>
      </p:sp>
      <p:sp>
        <p:nvSpPr>
          <p:cNvPr id="29" name="Rectangle 28"/>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1,120</a:t>
            </a:r>
          </a:p>
        </p:txBody>
      </p:sp>
      <p:sp>
        <p:nvSpPr>
          <p:cNvPr id="30" name="Rectangle 29"/>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8.5%</a:t>
            </a:r>
          </a:p>
        </p:txBody>
      </p:sp>
      <p:sp>
        <p:nvSpPr>
          <p:cNvPr id="31" name="Oval 30"/>
          <p:cNvSpPr/>
          <p:nvPr/>
        </p:nvSpPr>
        <p:spPr>
          <a:xfrm>
            <a:off x="670560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8610600" y="1773916"/>
            <a:ext cx="325755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10600" y="1992961"/>
            <a:ext cx="325755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Heavyweight Above 250 GSM</a:t>
            </a:r>
          </a:p>
        </p:txBody>
      </p:sp>
      <p:sp>
        <p:nvSpPr>
          <p:cNvPr id="35" name="Rectangle 34"/>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230.9</a:t>
            </a:r>
          </a:p>
        </p:txBody>
      </p:sp>
      <p:sp>
        <p:nvSpPr>
          <p:cNvPr id="36" name="Rectangle 35"/>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568.1</a:t>
            </a:r>
          </a:p>
        </p:txBody>
      </p:sp>
      <p:sp>
        <p:nvSpPr>
          <p:cNvPr id="37" name="Rectangle 36"/>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9.4%</a:t>
            </a:r>
          </a:p>
        </p:txBody>
      </p:sp>
      <p:sp>
        <p:nvSpPr>
          <p:cNvPr id="38" name="Oval 37"/>
          <p:cNvSpPr/>
          <p:nvPr/>
        </p:nvSpPr>
        <p:spPr>
          <a:xfrm>
            <a:off x="1007745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1" name="Rectangle 40"/>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fabric weight, heavyweight above 250 GSM segment is expected to witness the highest CAGR of 9.4% over the forecast period. In terms of value share by fabric weight, the medium weight 150-250 GSM segment is expected to dominate the market, losing 256 BPS and accounting for 43.1%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Medium weight 150-250 GSM segment is projected to register 1.1X higher value than lightweight below 150 GSM segment in 2036.</a:t>
            </a:r>
          </a:p>
        </p:txBody>
      </p:sp>
      <p:sp>
        <p:nvSpPr>
          <p:cNvPr id="43" name="Rounded Rectangle 42"/>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5" name="Rectangle 44"/>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Medium Weight 150–250 GSM: </a:t>
            </a:r>
            <a:r>
              <a:rPr sz="1100" b="0">
                <a:solidFill>
                  <a:srgbClr val="252423"/>
                </a:solidFill>
                <a:latin typeface="Segoe UI"/>
              </a:rPr>
              <a:t>46% of 2026 value · 7.7%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Lightweight Below 150 GSM: </a:t>
            </a:r>
            <a:r>
              <a:rPr sz="1100" b="0">
                <a:solidFill>
                  <a:srgbClr val="252423"/>
                </a:solidFill>
                <a:latin typeface="Segoe UI"/>
              </a:rPr>
              <a:t>37% of 2026 value · 8.5%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Heavyweight Above 250 GSM: </a:t>
            </a:r>
            <a:r>
              <a:rPr sz="1100" b="0">
                <a:solidFill>
                  <a:srgbClr val="252423"/>
                </a:solidFill>
                <a:latin typeface="Segoe UI"/>
              </a:rPr>
              <a:t>17% of 2026 value · 9.4% CAGR grows fastest.</a:t>
            </a:r>
          </a:p>
        </p:txBody>
      </p:sp>
      <p:sp>
        <p:nvSpPr>
          <p:cNvPr id="47" name="Rounded Rectangle 46"/>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9" name="Rectangle 48"/>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Fabric Weight split shows how demand is distributed across fabric weight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1" name="Rectangle 50"/>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Fabric Weight segment is projected to grow at a CAGR of 8.3% from 2026 to 2036.</a:t>
            </a:r>
          </a:p>
        </p:txBody>
      </p:sp>
      <p:sp>
        <p:nvSpPr>
          <p:cNvPr id="53" name="TextBox 52"/>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54" name="TextBox 5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 Asia Market Value &amp; Share Shift, By Fabric Weight</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Fabric Weight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 Asia</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 Asia Value Composition, By Fabric Weight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2108967"/>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2104205"/>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202800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Heavyweight Above 250 GSM</a:t>
            </a:r>
          </a:p>
        </p:txBody>
      </p:sp>
      <p:sp>
        <p:nvSpPr>
          <p:cNvPr id="17" name="BPS Value 1"/>
          <p:cNvSpPr txBox="1"/>
          <p:nvPr/>
        </p:nvSpPr>
        <p:spPr>
          <a:xfrm>
            <a:off x="6896100" y="2089917"/>
            <a:ext cx="514350" cy="123825"/>
          </a:xfrm>
          <a:prstGeom prst="rect">
            <a:avLst/>
          </a:prstGeom>
          <a:noFill/>
        </p:spPr>
        <p:txBody>
          <a:bodyPr wrap="none" lIns="0" rIns="0" tIns="0" bIns="0" anchor="ctr">
            <a:spAutoFit/>
          </a:bodyPr>
          <a:lstStyle/>
          <a:p>
            <a:pPr algn="r"/>
            <a:r>
              <a:rPr sz="900" b="1">
                <a:solidFill>
                  <a:srgbClr val="1E8E3E"/>
                </a:solidFill>
                <a:latin typeface="Segoe UI"/>
              </a:rPr>
              <a:t>+183</a:t>
            </a:r>
          </a:p>
        </p:txBody>
      </p:sp>
      <p:sp>
        <p:nvSpPr>
          <p:cNvPr id="18" name="FMI Legend Chip"/>
          <p:cNvSpPr/>
          <p:nvPr/>
        </p:nvSpPr>
        <p:spPr>
          <a:xfrm>
            <a:off x="4928997" y="3409518"/>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3404755"/>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332855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Lightweight Below 150 GSM</a:t>
            </a:r>
          </a:p>
        </p:txBody>
      </p:sp>
      <p:sp>
        <p:nvSpPr>
          <p:cNvPr id="21" name="BPS Value 2"/>
          <p:cNvSpPr txBox="1"/>
          <p:nvPr/>
        </p:nvSpPr>
        <p:spPr>
          <a:xfrm>
            <a:off x="6896100" y="3390468"/>
            <a:ext cx="514350" cy="123825"/>
          </a:xfrm>
          <a:prstGeom prst="rect">
            <a:avLst/>
          </a:prstGeom>
          <a:noFill/>
        </p:spPr>
        <p:txBody>
          <a:bodyPr wrap="none" lIns="0" rIns="0" tIns="0" bIns="0" anchor="ctr">
            <a:spAutoFit/>
          </a:bodyPr>
          <a:lstStyle/>
          <a:p>
            <a:pPr algn="r"/>
            <a:r>
              <a:rPr sz="900" b="1">
                <a:solidFill>
                  <a:srgbClr val="1E8E3E"/>
                </a:solidFill>
                <a:latin typeface="Segoe UI"/>
              </a:rPr>
              <a:t>+73</a:t>
            </a:r>
          </a:p>
        </p:txBody>
      </p:sp>
      <p:sp>
        <p:nvSpPr>
          <p:cNvPr id="22" name="FMI Legend Chip"/>
          <p:cNvSpPr/>
          <p:nvPr/>
        </p:nvSpPr>
        <p:spPr>
          <a:xfrm>
            <a:off x="4928997" y="5257998"/>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rot="10800000">
            <a:off x="5090922" y="5253235"/>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517703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Medium Weight 150–250 GSM</a:t>
            </a:r>
          </a:p>
        </p:txBody>
      </p:sp>
      <p:sp>
        <p:nvSpPr>
          <p:cNvPr id="25" name="BPS Value 3"/>
          <p:cNvSpPr txBox="1"/>
          <p:nvPr/>
        </p:nvSpPr>
        <p:spPr>
          <a:xfrm>
            <a:off x="6896100" y="5238948"/>
            <a:ext cx="514350" cy="123825"/>
          </a:xfrm>
          <a:prstGeom prst="rect">
            <a:avLst/>
          </a:prstGeom>
          <a:noFill/>
        </p:spPr>
        <p:txBody>
          <a:bodyPr wrap="none" lIns="0" rIns="0" tIns="0" bIns="0" anchor="ctr">
            <a:spAutoFit/>
          </a:bodyPr>
          <a:lstStyle/>
          <a:p>
            <a:pPr algn="r"/>
            <a:r>
              <a:rPr sz="900" b="1">
                <a:solidFill>
                  <a:srgbClr val="D64545"/>
                </a:solidFill>
                <a:latin typeface="Segoe UI"/>
              </a:rPr>
              <a:t>-256</a:t>
            </a:r>
          </a:p>
        </p:txBody>
      </p:sp>
      <p:sp>
        <p:nvSpPr>
          <p:cNvPr id="26" name="Rectangle 25"/>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East Asia Read-out, By Fabric Weight</a:t>
            </a:r>
          </a:p>
        </p:txBody>
      </p:sp>
      <p:sp>
        <p:nvSpPr>
          <p:cNvPr id="28" name="Rectangle 27"/>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fabric weight, heavyweight above 250 GSM segment is expected to witness the highest CAGR of 9.4% over the forecast period.</a:t>
            </a:r>
          </a:p>
          <a:p>
            <a:pPr algn="l">
              <a:lnSpc>
                <a:spcPct val="110000"/>
              </a:lnSpc>
              <a:spcBef>
                <a:spcPts val="0"/>
              </a:spcBef>
              <a:spcAft>
                <a:spcPts val="500"/>
              </a:spcAft>
            </a:pPr>
            <a:r>
              <a:rPr sz="1150" b="0">
                <a:solidFill>
                  <a:srgbClr val="252423"/>
                </a:solidFill>
                <a:latin typeface="Segoe UI"/>
              </a:rPr>
              <a:t>In terms of value share by fabric weight, the medium weight 150-250 GSM segment is expected to dominate the market, losing 256 BPS and accounting for 43.1% share by 2036.</a:t>
            </a:r>
          </a:p>
        </p:txBody>
      </p:sp>
      <p:sp>
        <p:nvSpPr>
          <p:cNvPr id="30" name="TextBox 2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Vs Material Segment Outlook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Vs Material,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 Asia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Vs Material segment categorizes the market by end-use application vs material.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Sports &amp; Activewear</a:t>
            </a:r>
          </a:p>
        </p:txBody>
      </p:sp>
      <p:sp>
        <p:nvSpPr>
          <p:cNvPr id="21" name="Rectangle 20"/>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341.8</a:t>
            </a:r>
          </a:p>
        </p:txBody>
      </p:sp>
      <p:sp>
        <p:nvSpPr>
          <p:cNvPr id="22" name="Rectangle 21"/>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760.3</a:t>
            </a:r>
          </a:p>
        </p:txBody>
      </p:sp>
      <p:sp>
        <p:nvSpPr>
          <p:cNvPr id="23" name="Rectangle 22"/>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8.3%</a:t>
            </a:r>
          </a:p>
        </p:txBody>
      </p:sp>
      <p:sp>
        <p:nvSpPr>
          <p:cNvPr id="24" name="Oval 23"/>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Protective &amp; Occupational Wear</a:t>
            </a:r>
          </a:p>
        </p:txBody>
      </p:sp>
      <p:sp>
        <p:nvSpPr>
          <p:cNvPr id="28" name="Rectangle 27"/>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194.4</a:t>
            </a:r>
          </a:p>
        </p:txBody>
      </p:sp>
      <p:sp>
        <p:nvSpPr>
          <p:cNvPr id="29" name="Rectangle 28"/>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438.8</a:t>
            </a:r>
          </a:p>
        </p:txBody>
      </p:sp>
      <p:sp>
        <p:nvSpPr>
          <p:cNvPr id="30" name="Rectangle 29"/>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8.5%</a:t>
            </a:r>
          </a:p>
        </p:txBody>
      </p:sp>
      <p:sp>
        <p:nvSpPr>
          <p:cNvPr id="31" name="Oval 30"/>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Medical &amp; Healthcare</a:t>
            </a:r>
          </a:p>
        </p:txBody>
      </p:sp>
      <p:sp>
        <p:nvSpPr>
          <p:cNvPr id="35" name="Rectangle 34"/>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191.3</a:t>
            </a:r>
          </a:p>
        </p:txBody>
      </p:sp>
      <p:sp>
        <p:nvSpPr>
          <p:cNvPr id="36" name="Rectangle 35"/>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448.8</a:t>
            </a:r>
          </a:p>
        </p:txBody>
      </p:sp>
      <p:sp>
        <p:nvSpPr>
          <p:cNvPr id="37" name="Rectangle 36"/>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8.9%</a:t>
            </a:r>
          </a:p>
        </p:txBody>
      </p:sp>
      <p:sp>
        <p:nvSpPr>
          <p:cNvPr id="38" name="Oval 37"/>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Footwear</a:t>
            </a:r>
          </a:p>
        </p:txBody>
      </p:sp>
      <p:sp>
        <p:nvSpPr>
          <p:cNvPr id="42" name="Rectangle 41"/>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182.1</a:t>
            </a:r>
          </a:p>
        </p:txBody>
      </p:sp>
      <p:sp>
        <p:nvSpPr>
          <p:cNvPr id="43" name="Rectangle 42"/>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411.0</a:t>
            </a:r>
          </a:p>
        </p:txBody>
      </p:sp>
      <p:sp>
        <p:nvSpPr>
          <p:cNvPr id="44" name="Rectangle 43"/>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8.5%</a:t>
            </a:r>
          </a:p>
        </p:txBody>
      </p:sp>
      <p:sp>
        <p:nvSpPr>
          <p:cNvPr id="45" name="Oval 44"/>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8" name="Rectangle 47"/>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Among performance knitted fabrics by End-Use application vs material, medical &amp; healthcare segment is expected to witness the highest CAGR of 8.9% over the forecast period. In terms of value share by End-Use application vs material, the sports &amp; activewear segment is expected to dominate the market, maintaining its share and accounting for 25.6% share by 2036.</a:t>
            </a:r>
          </a:p>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Sports &amp; activewear segment is projected to register 1.7X higher value than medical &amp; healthcare segment in 2036.</a:t>
            </a:r>
          </a:p>
        </p:txBody>
      </p:sp>
      <p:sp>
        <p:nvSpPr>
          <p:cNvPr id="50" name="Rounded Rectangle 49"/>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2" name="Rectangle 51"/>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Sports &amp; Activewear: </a:t>
            </a:r>
            <a:r>
              <a:rPr sz="1100" b="0">
                <a:solidFill>
                  <a:srgbClr val="252423"/>
                </a:solidFill>
                <a:latin typeface="Segoe UI"/>
              </a:rPr>
              <a:t>26% of 2026 value · 8.3%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Protective &amp; Occupational Wear: </a:t>
            </a:r>
            <a:r>
              <a:rPr sz="1100" b="0">
                <a:solidFill>
                  <a:srgbClr val="252423"/>
                </a:solidFill>
                <a:latin typeface="Segoe UI"/>
              </a:rPr>
              <a:t>15% of 2026 value · 8.5%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Medical &amp; Healthcare: </a:t>
            </a:r>
            <a:r>
              <a:rPr sz="1100" b="0">
                <a:solidFill>
                  <a:srgbClr val="252423"/>
                </a:solidFill>
                <a:latin typeface="Segoe UI"/>
              </a:rPr>
              <a:t>14% of 2026 value · 8.9% CAGR grows fastest.</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Footwear: </a:t>
            </a:r>
            <a:r>
              <a:rPr sz="1100" b="0">
                <a:solidFill>
                  <a:srgbClr val="252423"/>
                </a:solidFill>
                <a:latin typeface="Segoe UI"/>
              </a:rPr>
              <a:t>14% of 2026 value · 8.5% CAGR serves a niche.</a:t>
            </a:r>
          </a:p>
        </p:txBody>
      </p:sp>
      <p:sp>
        <p:nvSpPr>
          <p:cNvPr id="54" name="Rounded Rectangle 53"/>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6" name="Rectangle 55"/>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End-Use Application Vs Material split shows how demand is distributed across end-use application vs material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8" name="Rectangle 57"/>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End-Use Application Vs Material segment is projected to grow at a CAGR of 8.3% from 2026 to 2036.</a:t>
            </a:r>
          </a:p>
        </p:txBody>
      </p:sp>
      <p:sp>
        <p:nvSpPr>
          <p:cNvPr id="60" name="TextBox 59"/>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1" name="TextBox 6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Vs Material Segment Outlook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Vs Material,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Vs Material segment categorizes the market by end-use application vs material.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3257550"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3257550"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Intimate &amp; Bodywear</a:t>
            </a:r>
          </a:p>
        </p:txBody>
      </p:sp>
      <p:sp>
        <p:nvSpPr>
          <p:cNvPr id="20" name="Rectangle 19"/>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176.1</a:t>
            </a:r>
          </a:p>
        </p:txBody>
      </p:sp>
      <p:sp>
        <p:nvSpPr>
          <p:cNvPr id="21" name="Rectangle 20"/>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355.0</a:t>
            </a:r>
          </a:p>
        </p:txBody>
      </p:sp>
      <p:sp>
        <p:nvSpPr>
          <p:cNvPr id="22" name="Rectangle 21"/>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7.3%</a:t>
            </a:r>
          </a:p>
        </p:txBody>
      </p:sp>
      <p:sp>
        <p:nvSpPr>
          <p:cNvPr id="23" name="Oval 22"/>
          <p:cNvSpPr/>
          <p:nvPr/>
        </p:nvSpPr>
        <p:spPr>
          <a:xfrm>
            <a:off x="3333750"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24" name="Rounded Rectangle 23"/>
          <p:cNvSpPr/>
          <p:nvPr/>
        </p:nvSpPr>
        <p:spPr>
          <a:xfrm>
            <a:off x="5238750" y="1773916"/>
            <a:ext cx="3257550"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38750" y="1992961"/>
            <a:ext cx="3257550"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Industrial &amp; Technical Applicatio…</a:t>
            </a:r>
          </a:p>
        </p:txBody>
      </p:sp>
      <p:sp>
        <p:nvSpPr>
          <p:cNvPr id="27" name="Rectangle 26"/>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130.4</a:t>
            </a:r>
          </a:p>
        </p:txBody>
      </p:sp>
      <p:sp>
        <p:nvSpPr>
          <p:cNvPr id="28" name="Rectangle 27"/>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299.0</a:t>
            </a:r>
          </a:p>
        </p:txBody>
      </p:sp>
      <p:sp>
        <p:nvSpPr>
          <p:cNvPr id="29" name="Rectangle 28"/>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8.7%</a:t>
            </a:r>
          </a:p>
        </p:txBody>
      </p:sp>
      <p:sp>
        <p:nvSpPr>
          <p:cNvPr id="30" name="Oval 29"/>
          <p:cNvSpPr/>
          <p:nvPr/>
        </p:nvSpPr>
        <p:spPr>
          <a:xfrm>
            <a:off x="6705600"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31" name="Rounded Rectangle 30"/>
          <p:cNvSpPr/>
          <p:nvPr/>
        </p:nvSpPr>
        <p:spPr>
          <a:xfrm>
            <a:off x="8610600" y="1773916"/>
            <a:ext cx="3257550"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10600" y="1992961"/>
            <a:ext cx="3257550"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Automotive &amp; Transportation</a:t>
            </a:r>
          </a:p>
        </p:txBody>
      </p:sp>
      <p:sp>
        <p:nvSpPr>
          <p:cNvPr id="34" name="Rectangle 33"/>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117.7</a:t>
            </a:r>
          </a:p>
        </p:txBody>
      </p:sp>
      <p:sp>
        <p:nvSpPr>
          <p:cNvPr id="35" name="Rectangle 34"/>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254.4</a:t>
            </a:r>
          </a:p>
        </p:txBody>
      </p:sp>
      <p:sp>
        <p:nvSpPr>
          <p:cNvPr id="36" name="Rectangle 35"/>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8.0%</a:t>
            </a:r>
          </a:p>
        </p:txBody>
      </p:sp>
      <p:sp>
        <p:nvSpPr>
          <p:cNvPr id="37" name="Oval 36"/>
          <p:cNvSpPr/>
          <p:nvPr/>
        </p:nvSpPr>
        <p:spPr>
          <a:xfrm>
            <a:off x="10077450"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38" name="Rounded Rectangle 37"/>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0" name="Rectangle 39"/>
          <p:cNvSpPr/>
          <p:nvPr/>
        </p:nvSpPr>
        <p:spPr>
          <a:xfrm>
            <a:off x="457200" y="4146897"/>
            <a:ext cx="112776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Intimate &amp; Bodywear: </a:t>
            </a:r>
            <a:r>
              <a:rPr sz="1100" b="0">
                <a:solidFill>
                  <a:srgbClr val="252423"/>
                </a:solidFill>
                <a:latin typeface="Segoe UI"/>
              </a:rPr>
              <a:t>13% of 2026 value · 7.3% CAGR serves a niche.</a:t>
            </a:r>
          </a:p>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Industrial &amp; Technical Applications: </a:t>
            </a:r>
            <a:r>
              <a:rPr sz="1100" b="0">
                <a:solidFill>
                  <a:srgbClr val="252423"/>
                </a:solidFill>
                <a:latin typeface="Segoe UI"/>
              </a:rPr>
              <a:t>10% of 2026 value · 8.7% CAGR serves a niche.</a:t>
            </a:r>
          </a:p>
          <a:p>
            <a:pPr algn="l">
              <a:lnSpc>
                <a:spcPct val="110000"/>
              </a:lnSpc>
              <a:spcBef>
                <a:spcPts val="0"/>
              </a:spcBef>
              <a:spcAft>
                <a:spcPts val="500"/>
              </a:spcAft>
            </a:pPr>
            <a:r>
              <a:rPr sz="1100" b="0">
                <a:solidFill>
                  <a:srgbClr val="2C6E7F"/>
                </a:solidFill>
                <a:latin typeface="Segoe UI"/>
              </a:rPr>
              <a:t>●  </a:t>
            </a:r>
            <a:r>
              <a:rPr sz="1100" b="1">
                <a:solidFill>
                  <a:srgbClr val="2C6E7F"/>
                </a:solidFill>
                <a:latin typeface="Segoe UI"/>
              </a:rPr>
              <a:t>Automotive &amp; Transportation: </a:t>
            </a:r>
            <a:r>
              <a:rPr sz="1100" b="0">
                <a:solidFill>
                  <a:srgbClr val="252423"/>
                </a:solidFill>
                <a:latin typeface="Segoe UI"/>
              </a:rPr>
              <a:t>9% of 2026 value · 8.0% CAGR serves a niche.</a:t>
            </a:r>
          </a:p>
        </p:txBody>
      </p:sp>
      <p:sp>
        <p:nvSpPr>
          <p:cNvPr id="42" name="TextBox 41"/>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3" name="TextBox 4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East Asia Market Value &amp; Share Shift, By End-Use Application Vs Material</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End-Use Application Vs Material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East Asia</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East Asia Value Composition, By End-Use Application Vs Material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867265"/>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5090922" y="186250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78630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Automotive &amp; Transportation</a:t>
            </a:r>
          </a:p>
        </p:txBody>
      </p:sp>
      <p:sp>
        <p:nvSpPr>
          <p:cNvPr id="17" name="BPS Value 1"/>
          <p:cNvSpPr txBox="1"/>
          <p:nvPr/>
        </p:nvSpPr>
        <p:spPr>
          <a:xfrm>
            <a:off x="6896100" y="1848215"/>
            <a:ext cx="514350" cy="123825"/>
          </a:xfrm>
          <a:prstGeom prst="rect">
            <a:avLst/>
          </a:prstGeom>
          <a:noFill/>
        </p:spPr>
        <p:txBody>
          <a:bodyPr wrap="none" lIns="0" rIns="0" tIns="0" bIns="0" anchor="ctr">
            <a:spAutoFit/>
          </a:bodyPr>
          <a:lstStyle/>
          <a:p>
            <a:pPr algn="r"/>
            <a:r>
              <a:rPr sz="900" b="1">
                <a:solidFill>
                  <a:srgbClr val="D64545"/>
                </a:solidFill>
                <a:latin typeface="Segoe UI"/>
              </a:rPr>
              <a:t>-25</a:t>
            </a:r>
          </a:p>
        </p:txBody>
      </p:sp>
      <p:sp>
        <p:nvSpPr>
          <p:cNvPr id="18" name="FMI Legend Chip"/>
          <p:cNvSpPr/>
          <p:nvPr/>
        </p:nvSpPr>
        <p:spPr>
          <a:xfrm>
            <a:off x="4928997" y="2293670"/>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2288908"/>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2212708"/>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Industrial &amp; Technical Applications</a:t>
            </a:r>
          </a:p>
        </p:txBody>
      </p:sp>
      <p:sp>
        <p:nvSpPr>
          <p:cNvPr id="21" name="BPS Value 2"/>
          <p:cNvSpPr txBox="1"/>
          <p:nvPr/>
        </p:nvSpPr>
        <p:spPr>
          <a:xfrm>
            <a:off x="6896100" y="2274620"/>
            <a:ext cx="514350" cy="123825"/>
          </a:xfrm>
          <a:prstGeom prst="rect">
            <a:avLst/>
          </a:prstGeom>
          <a:noFill/>
        </p:spPr>
        <p:txBody>
          <a:bodyPr wrap="none" lIns="0" rIns="0" tIns="0" bIns="0" anchor="ctr">
            <a:spAutoFit/>
          </a:bodyPr>
          <a:lstStyle/>
          <a:p>
            <a:pPr algn="r"/>
            <a:r>
              <a:rPr sz="900" b="1">
                <a:solidFill>
                  <a:srgbClr val="1E8E3E"/>
                </a:solidFill>
                <a:latin typeface="Segoe UI"/>
              </a:rPr>
              <a:t>+30</a:t>
            </a:r>
          </a:p>
        </p:txBody>
      </p:sp>
      <p:sp>
        <p:nvSpPr>
          <p:cNvPr id="22" name="FMI Legend Chip"/>
          <p:cNvSpPr/>
          <p:nvPr/>
        </p:nvSpPr>
        <p:spPr>
          <a:xfrm>
            <a:off x="4928997" y="2797571"/>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rot="10800000">
            <a:off x="5090922" y="2792808"/>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716608"/>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Intimate &amp; Bodywear</a:t>
            </a:r>
          </a:p>
        </p:txBody>
      </p:sp>
      <p:sp>
        <p:nvSpPr>
          <p:cNvPr id="25" name="BPS Value 3"/>
          <p:cNvSpPr txBox="1"/>
          <p:nvPr/>
        </p:nvSpPr>
        <p:spPr>
          <a:xfrm>
            <a:off x="6896100" y="2778521"/>
            <a:ext cx="514350" cy="123825"/>
          </a:xfrm>
          <a:prstGeom prst="rect">
            <a:avLst/>
          </a:prstGeom>
          <a:noFill/>
        </p:spPr>
        <p:txBody>
          <a:bodyPr wrap="none" lIns="0" rIns="0" tIns="0" bIns="0" anchor="ctr">
            <a:spAutoFit/>
          </a:bodyPr>
          <a:lstStyle/>
          <a:p>
            <a:pPr algn="r"/>
            <a:r>
              <a:rPr sz="900" b="1">
                <a:solidFill>
                  <a:srgbClr val="D64545"/>
                </a:solidFill>
                <a:latin typeface="Segoe UI"/>
              </a:rPr>
              <a:t>-124</a:t>
            </a:r>
          </a:p>
        </p:txBody>
      </p:sp>
      <p:sp>
        <p:nvSpPr>
          <p:cNvPr id="26" name="FMI Legend Chip"/>
          <p:cNvSpPr/>
          <p:nvPr/>
        </p:nvSpPr>
        <p:spPr>
          <a:xfrm>
            <a:off x="4928997" y="3387744"/>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5090922" y="338298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330678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Footwear</a:t>
            </a:r>
          </a:p>
        </p:txBody>
      </p:sp>
      <p:sp>
        <p:nvSpPr>
          <p:cNvPr id="29" name="BPS Value 4"/>
          <p:cNvSpPr txBox="1"/>
          <p:nvPr/>
        </p:nvSpPr>
        <p:spPr>
          <a:xfrm>
            <a:off x="6896100" y="3368694"/>
            <a:ext cx="514350" cy="123825"/>
          </a:xfrm>
          <a:prstGeom prst="rect">
            <a:avLst/>
          </a:prstGeom>
          <a:noFill/>
        </p:spPr>
        <p:txBody>
          <a:bodyPr wrap="none" lIns="0" rIns="0" tIns="0" bIns="0" anchor="ctr">
            <a:spAutoFit/>
          </a:bodyPr>
          <a:lstStyle/>
          <a:p>
            <a:pPr algn="r"/>
            <a:r>
              <a:rPr sz="900" b="1">
                <a:solidFill>
                  <a:srgbClr val="1E8E3E"/>
                </a:solidFill>
                <a:latin typeface="Segoe UI"/>
              </a:rPr>
              <a:t>+20</a:t>
            </a:r>
          </a:p>
        </p:txBody>
      </p:sp>
      <p:sp>
        <p:nvSpPr>
          <p:cNvPr id="30" name="FMI Legend Chip"/>
          <p:cNvSpPr/>
          <p:nvPr/>
        </p:nvSpPr>
        <p:spPr>
          <a:xfrm>
            <a:off x="4928997" y="4042476"/>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5090922" y="4037713"/>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396151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Protective &amp; Occupational Wear</a:t>
            </a:r>
          </a:p>
        </p:txBody>
      </p:sp>
      <p:sp>
        <p:nvSpPr>
          <p:cNvPr id="33" name="BPS Value 5"/>
          <p:cNvSpPr txBox="1"/>
          <p:nvPr/>
        </p:nvSpPr>
        <p:spPr>
          <a:xfrm>
            <a:off x="6896100" y="4023426"/>
            <a:ext cx="514350" cy="123825"/>
          </a:xfrm>
          <a:prstGeom prst="rect">
            <a:avLst/>
          </a:prstGeom>
          <a:noFill/>
        </p:spPr>
        <p:txBody>
          <a:bodyPr wrap="none" lIns="0" rIns="0" tIns="0" bIns="0" anchor="ctr">
            <a:spAutoFit/>
          </a:bodyPr>
          <a:lstStyle/>
          <a:p>
            <a:pPr algn="r"/>
            <a:r>
              <a:rPr sz="900" b="1">
                <a:solidFill>
                  <a:srgbClr val="1E8E3E"/>
                </a:solidFill>
                <a:latin typeface="Segoe UI"/>
              </a:rPr>
              <a:t>+21</a:t>
            </a:r>
          </a:p>
        </p:txBody>
      </p:sp>
      <p:sp>
        <p:nvSpPr>
          <p:cNvPr id="34" name="FMI Legend Chip"/>
          <p:cNvSpPr/>
          <p:nvPr/>
        </p:nvSpPr>
        <p:spPr>
          <a:xfrm>
            <a:off x="4928997" y="4726317"/>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a:off x="5090922" y="4721555"/>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464535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Medical &amp; Healthcare</a:t>
            </a:r>
          </a:p>
        </p:txBody>
      </p:sp>
      <p:sp>
        <p:nvSpPr>
          <p:cNvPr id="37" name="BPS Value 6"/>
          <p:cNvSpPr txBox="1"/>
          <p:nvPr/>
        </p:nvSpPr>
        <p:spPr>
          <a:xfrm>
            <a:off x="6896100" y="4707267"/>
            <a:ext cx="514350" cy="123825"/>
          </a:xfrm>
          <a:prstGeom prst="rect">
            <a:avLst/>
          </a:prstGeom>
          <a:noFill/>
        </p:spPr>
        <p:txBody>
          <a:bodyPr wrap="none" lIns="0" rIns="0" tIns="0" bIns="0" anchor="ctr">
            <a:spAutoFit/>
          </a:bodyPr>
          <a:lstStyle/>
          <a:p>
            <a:pPr algn="r"/>
            <a:r>
              <a:rPr sz="900" b="1">
                <a:solidFill>
                  <a:srgbClr val="1E8E3E"/>
                </a:solidFill>
                <a:latin typeface="Segoe UI"/>
              </a:rPr>
              <a:t>+78</a:t>
            </a:r>
          </a:p>
        </p:txBody>
      </p:sp>
      <p:sp>
        <p:nvSpPr>
          <p:cNvPr id="38" name="FMI Legend Chip"/>
          <p:cNvSpPr/>
          <p:nvPr/>
        </p:nvSpPr>
        <p:spPr>
          <a:xfrm>
            <a:off x="4928997" y="5657867"/>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rot="10800000">
            <a:off x="5090922" y="5653105"/>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5233797" y="557690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Sports &amp; Activewear</a:t>
            </a:r>
          </a:p>
        </p:txBody>
      </p:sp>
      <p:sp>
        <p:nvSpPr>
          <p:cNvPr id="41" name="BPS Value 7"/>
          <p:cNvSpPr txBox="1"/>
          <p:nvPr/>
        </p:nvSpPr>
        <p:spPr>
          <a:xfrm>
            <a:off x="6896100" y="5638817"/>
            <a:ext cx="514350" cy="123825"/>
          </a:xfrm>
          <a:prstGeom prst="rect">
            <a:avLst/>
          </a:prstGeom>
          <a:noFill/>
        </p:spPr>
        <p:txBody>
          <a:bodyPr wrap="none" lIns="0" rIns="0" tIns="0" bIns="0" anchor="ctr">
            <a:spAutoFit/>
          </a:bodyPr>
          <a:lstStyle/>
          <a:p>
            <a:pPr algn="r"/>
            <a:r>
              <a:rPr sz="900" b="1">
                <a:solidFill>
                  <a:srgbClr val="D64545"/>
                </a:solidFill>
                <a:latin typeface="Segoe UI"/>
              </a:rPr>
              <a:t>-0</a:t>
            </a:r>
          </a:p>
        </p:txBody>
      </p:sp>
      <p:sp>
        <p:nvSpPr>
          <p:cNvPr id="42" name="Rectangle 41"/>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East Asia Read-out, By End-Use Application Vs Material</a:t>
            </a:r>
          </a:p>
        </p:txBody>
      </p:sp>
      <p:sp>
        <p:nvSpPr>
          <p:cNvPr id="44" name="Rectangle 43"/>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End-Use application vs material, medical &amp; healthcare segment is expected to witness the highest CAGR of 8.9% over the forecast period. In terms of value share by End-Use application vs material, the sports &amp; activewear segment is expected to dominate the market, maintaining its share and accounting for 25.6% share by 2036.</a:t>
            </a:r>
          </a:p>
          <a:p>
            <a:pPr algn="l">
              <a:lnSpc>
                <a:spcPct val="110000"/>
              </a:lnSpc>
              <a:spcBef>
                <a:spcPts val="0"/>
              </a:spcBef>
              <a:spcAft>
                <a:spcPts val="500"/>
              </a:spcAft>
            </a:pPr>
            <a:r>
              <a:rPr sz="1150" b="0">
                <a:solidFill>
                  <a:srgbClr val="252423"/>
                </a:solidFill>
                <a:latin typeface="Segoe UI"/>
              </a:rPr>
              <a:t>The intimate &amp; bodywear segment is expected to lose 124 BPS over the forecast period to account for 12.0% share by 2036.</a:t>
            </a:r>
          </a:p>
        </p:txBody>
      </p:sp>
      <p:sp>
        <p:nvSpPr>
          <p:cNvPr id="46" name="TextBox 4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South Asia Pacific Performance Knitted Fabrics Market Summary, By Volume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South Asia Pacific market volume growth, incremental opportunity and the geographies driving it, 2021–2036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Asia Pacific</a:t>
            </a:r>
          </a:p>
        </p:txBody>
      </p:sp>
      <p:sp>
        <p:nvSpPr>
          <p:cNvPr id="9" name="Rounded Rectangle 8"/>
          <p:cNvSpPr/>
          <p:nvPr/>
        </p:nvSpPr>
        <p:spPr>
          <a:xfrm>
            <a:off x="142875"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MARKET SIZE (MN SQ. YARDS)</a:t>
            </a:r>
          </a:p>
          <a:p>
            <a:pPr algn="ctr">
              <a:lnSpc>
                <a:spcPct val="95000"/>
              </a:lnSpc>
            </a:pPr>
            <a:r>
              <a:rPr sz="1500" b="1">
                <a:solidFill>
                  <a:srgbClr val="00A4DC"/>
                </a:solidFill>
                <a:latin typeface="Segoe UI"/>
              </a:rPr>
              <a:t>211.4</a:t>
            </a:r>
          </a:p>
        </p:txBody>
      </p:sp>
      <p:sp>
        <p:nvSpPr>
          <p:cNvPr id="10" name="Rounded Rectangle 9"/>
          <p:cNvSpPr/>
          <p:nvPr/>
        </p:nvSpPr>
        <p:spPr>
          <a:xfrm>
            <a:off x="31432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443.5</a:t>
            </a:r>
          </a:p>
        </p:txBody>
      </p:sp>
      <p:sp>
        <p:nvSpPr>
          <p:cNvPr id="11" name="Rounded Rectangle 10"/>
          <p:cNvSpPr/>
          <p:nvPr/>
        </p:nvSpPr>
        <p:spPr>
          <a:xfrm>
            <a:off x="61531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2021–2025</a:t>
            </a:r>
          </a:p>
          <a:p>
            <a:pPr algn="ctr">
              <a:lnSpc>
                <a:spcPct val="95000"/>
              </a:lnSpc>
            </a:pPr>
            <a:r>
              <a:rPr sz="1500" b="1">
                <a:solidFill>
                  <a:srgbClr val="00A4DC"/>
                </a:solidFill>
                <a:latin typeface="Segoe UI"/>
              </a:rPr>
              <a:t>6.7%</a:t>
            </a:r>
          </a:p>
        </p:txBody>
      </p:sp>
      <p:sp>
        <p:nvSpPr>
          <p:cNvPr id="12" name="Rounded Rectangle 11"/>
          <p:cNvSpPr/>
          <p:nvPr/>
        </p:nvSpPr>
        <p:spPr>
          <a:xfrm>
            <a:off x="91630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1500" b="1">
                <a:solidFill>
                  <a:srgbClr val="00A4DC"/>
                </a:solidFill>
                <a:latin typeface="Segoe UI"/>
              </a:rPr>
              <a:t>7.7%</a:t>
            </a:r>
          </a:p>
        </p:txBody>
      </p:sp>
      <p:sp>
        <p:nvSpPr>
          <p:cNvPr id="13" name="Rectangle 12"/>
          <p:cNvSpPr/>
          <p:nvPr/>
        </p:nvSpPr>
        <p:spPr>
          <a:xfrm>
            <a:off x="142875" y="1627887"/>
            <a:ext cx="769620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(2021–2036)</a:t>
            </a:r>
          </a:p>
        </p:txBody>
      </p:sp>
      <p:graphicFrame>
        <p:nvGraphicFramePr>
          <p:cNvPr id="15" name="Chart 14"/>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6" name="Rectangle 15"/>
          <p:cNvSpPr/>
          <p:nvPr/>
        </p:nvSpPr>
        <p:spPr>
          <a:xfrm>
            <a:off x="142875" y="4037375"/>
            <a:ext cx="769620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Incremental Market Addition (Mn Sq. Yards)</a:t>
            </a:r>
          </a:p>
        </p:txBody>
      </p:sp>
      <p:graphicFrame>
        <p:nvGraphicFramePr>
          <p:cNvPr id="18" name="Chart 17"/>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9" name="Rectangle 18"/>
          <p:cNvSpPr/>
          <p:nvPr/>
        </p:nvSpPr>
        <p:spPr>
          <a:xfrm>
            <a:off x="7915275" y="1627887"/>
            <a:ext cx="413385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21" name="Rectangle 20"/>
          <p:cNvSpPr/>
          <p:nvPr/>
        </p:nvSpPr>
        <p:spPr>
          <a:xfrm>
            <a:off x="8048625" y="195173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52423"/>
                </a:solidFill>
                <a:latin typeface="Segoe UI"/>
              </a:rPr>
              <a:t>South Asia Pacific performance knitted fabrics market is projected to register 2.2X increase in volume by the end of forecast period, 2036. South Asia Pacific performance knitted fabrics market volume stood at 197.3 Mn Sq. Yards in 2025 and is expected to reach 443.5 Mn Sq. Yards by 2036 end, at a CAGR of 7.7%.</a:t>
            </a:r>
          </a:p>
          <a:p>
            <a:pPr algn="l">
              <a:lnSpc>
                <a:spcPct val="110000"/>
              </a:lnSpc>
              <a:spcBef>
                <a:spcPts val="0"/>
              </a:spcBef>
              <a:spcAft>
                <a:spcPts val="500"/>
              </a:spcAft>
            </a:pPr>
            <a:r>
              <a:rPr sz="1100" b="0">
                <a:solidFill>
                  <a:srgbClr val="252423"/>
                </a:solidFill>
                <a:latin typeface="Segoe UI"/>
              </a:rPr>
              <a:t>Value is projected to grow faster than volume over the forecast period, owing to an increase in average selling price.</a:t>
            </a:r>
          </a:p>
        </p:txBody>
      </p:sp>
      <p:sp>
        <p:nvSpPr>
          <p:cNvPr id="23" name="Rectangle 22"/>
          <p:cNvSpPr/>
          <p:nvPr/>
        </p:nvSpPr>
        <p:spPr>
          <a:xfrm>
            <a:off x="7915275" y="4037375"/>
            <a:ext cx="413385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07BA5"/>
                </a:solidFill>
                <a:latin typeface="Segoe UI"/>
              </a:rPr>
              <a:t>Growth Drivers</a:t>
            </a:r>
          </a:p>
        </p:txBody>
      </p:sp>
      <p:sp>
        <p:nvSpPr>
          <p:cNvPr id="25" name="Rectangle 24"/>
          <p:cNvSpPr/>
          <p:nvPr/>
        </p:nvSpPr>
        <p:spPr>
          <a:xfrm>
            <a:off x="8048625" y="436122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'India' leads regional growth at 7.9% CAGR.</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Demand concentrates in 'Weft Knitted Fabrics' within Fabric Construction.</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Product innovation and premiumisation lifting value.</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Expanding end-use applications and access.</a:t>
            </a:r>
          </a:p>
        </p:txBody>
      </p:sp>
      <p:sp>
        <p:nvSpPr>
          <p:cNvPr id="27" name="TextBox 2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South Asia Pacific Performance Knitted Fabrics Market Pricing &amp; Regional Price Index</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average price by sub-segment and price variation by country, highlighting where pricing power sits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Asia Pacific</a:t>
            </a:r>
          </a:p>
        </p:txBody>
      </p:sp>
      <p:sp>
        <p:nvSpPr>
          <p:cNvPr id="9" name="Rectangle 8"/>
          <p:cNvSpPr/>
          <p:nvPr/>
        </p:nvSpPr>
        <p:spPr>
          <a:xfrm>
            <a:off x="142875" y="1052895"/>
            <a:ext cx="7696200" cy="266504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Average Price by Fabric Construction  ·  range across 2021–2036 (US$/Sq. Yards)</a:t>
            </a:r>
          </a:p>
        </p:txBody>
      </p:sp>
      <p:cxnSp>
        <p:nvCxnSpPr>
          <p:cNvPr id="11" name="Connector 10"/>
          <p:cNvCxnSpPr/>
          <p:nvPr/>
        </p:nvCxnSpPr>
        <p:spPr>
          <a:xfrm>
            <a:off x="657225" y="333693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7225" y="286593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239494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192394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452945"/>
            <a:ext cx="0" cy="188399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8650" y="3336935"/>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2865938"/>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2394940"/>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1923943"/>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1452945"/>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sp>
        <p:nvSpPr>
          <p:cNvPr id="22" name="FMI Scale tick"/>
          <p:cNvSpPr txBox="1"/>
          <p:nvPr/>
        </p:nvSpPr>
        <p:spPr>
          <a:xfrm>
            <a:off x="219075" y="3270260"/>
            <a:ext cx="381000" cy="133350"/>
          </a:xfrm>
          <a:prstGeom prst="rect">
            <a:avLst/>
          </a:prstGeom>
          <a:noFill/>
        </p:spPr>
        <p:txBody>
          <a:bodyPr wrap="none" lIns="0" rIns="0" tIns="0" bIns="0" anchor="ctr">
            <a:spAutoFit/>
          </a:bodyPr>
          <a:lstStyle/>
          <a:p>
            <a:pPr algn="r"/>
            <a:r>
              <a:rPr sz="1100" b="0">
                <a:solidFill>
                  <a:srgbClr val="605E5C"/>
                </a:solidFill>
                <a:latin typeface="Segoe UI"/>
              </a:rPr>
              <a:t>2.32</a:t>
            </a:r>
          </a:p>
        </p:txBody>
      </p:sp>
      <p:sp>
        <p:nvSpPr>
          <p:cNvPr id="23" name="FMI Scale tick"/>
          <p:cNvSpPr txBox="1"/>
          <p:nvPr/>
        </p:nvSpPr>
        <p:spPr>
          <a:xfrm>
            <a:off x="219075" y="2328265"/>
            <a:ext cx="381000" cy="133350"/>
          </a:xfrm>
          <a:prstGeom prst="rect">
            <a:avLst/>
          </a:prstGeom>
          <a:noFill/>
        </p:spPr>
        <p:txBody>
          <a:bodyPr wrap="none" lIns="0" rIns="0" tIns="0" bIns="0" anchor="ctr">
            <a:spAutoFit/>
          </a:bodyPr>
          <a:lstStyle/>
          <a:p>
            <a:pPr algn="r"/>
            <a:r>
              <a:rPr sz="1100" b="0">
                <a:solidFill>
                  <a:srgbClr val="605E5C"/>
                </a:solidFill>
                <a:latin typeface="Segoe UI"/>
              </a:rPr>
              <a:t>2.60</a:t>
            </a:r>
          </a:p>
        </p:txBody>
      </p:sp>
      <p:sp>
        <p:nvSpPr>
          <p:cNvPr id="24" name="FMI Scale tick"/>
          <p:cNvSpPr txBox="1"/>
          <p:nvPr/>
        </p:nvSpPr>
        <p:spPr>
          <a:xfrm>
            <a:off x="219075" y="1386270"/>
            <a:ext cx="381000" cy="133350"/>
          </a:xfrm>
          <a:prstGeom prst="rect">
            <a:avLst/>
          </a:prstGeom>
          <a:noFill/>
        </p:spPr>
        <p:txBody>
          <a:bodyPr wrap="none" lIns="0" rIns="0" tIns="0" bIns="0" anchor="ctr">
            <a:spAutoFit/>
          </a:bodyPr>
          <a:lstStyle/>
          <a:p>
            <a:pPr algn="r"/>
            <a:r>
              <a:rPr sz="1100" b="0">
                <a:solidFill>
                  <a:srgbClr val="605E5C"/>
                </a:solidFill>
                <a:latin typeface="Segoe UI"/>
              </a:rPr>
              <a:t>2.88</a:t>
            </a:r>
          </a:p>
        </p:txBody>
      </p:sp>
      <p:cxnSp>
        <p:nvCxnSpPr>
          <p:cNvPr id="25" name="Connector 24"/>
          <p:cNvCxnSpPr/>
          <p:nvPr/>
        </p:nvCxnSpPr>
        <p:spPr>
          <a:xfrm flipV="1">
            <a:off x="2409825" y="1670329"/>
            <a:ext cx="0" cy="143892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278380" y="310925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278380" y="16703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2190750" y="2218092"/>
            <a:ext cx="438150" cy="738011"/>
          </a:xfrm>
          <a:prstGeom prst="rect">
            <a:avLst/>
          </a:prstGeom>
          <a:solidFill>
            <a:srgbClr val="CFE7F5"/>
          </a:solidFill>
          <a:ln w="15875">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2190750" y="2635149"/>
            <a:ext cx="438150" cy="0"/>
          </a:xfrm>
          <a:prstGeom prst="line">
            <a:avLst/>
          </a:prstGeom>
          <a:ln w="2540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57225" y="1517929"/>
            <a:ext cx="3505200" cy="133350"/>
          </a:xfrm>
          <a:prstGeom prst="rect">
            <a:avLst/>
          </a:prstGeom>
          <a:noFill/>
        </p:spPr>
        <p:txBody>
          <a:bodyPr wrap="square" lIns="28575" rIns="28575" tIns="9525" bIns="9525">
            <a:spAutoFit/>
          </a:bodyPr>
          <a:lstStyle/>
          <a:p>
            <a:pPr algn="ctr"/>
            <a:r>
              <a:rPr sz="1100" b="1">
                <a:solidFill>
                  <a:srgbClr val="007BA5"/>
                </a:solidFill>
                <a:latin typeface="Segoe UI"/>
              </a:rPr>
              <a:t>2.53</a:t>
            </a:r>
          </a:p>
        </p:txBody>
      </p:sp>
      <p:cxnSp>
        <p:nvCxnSpPr>
          <p:cNvPr id="31" name="Connector 30"/>
          <p:cNvCxnSpPr/>
          <p:nvPr/>
        </p:nvCxnSpPr>
        <p:spPr>
          <a:xfrm flipV="1">
            <a:off x="5915025" y="1677373"/>
            <a:ext cx="0" cy="1442179"/>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783580" y="311955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783580" y="167737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695950" y="2233209"/>
            <a:ext cx="438150" cy="725078"/>
          </a:xfrm>
          <a:prstGeom prst="rect">
            <a:avLst/>
          </a:prstGeom>
          <a:solidFill>
            <a:srgbClr val="CFE7F5"/>
          </a:solidFill>
          <a:ln w="15875">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5695950" y="2644090"/>
            <a:ext cx="438150" cy="0"/>
          </a:xfrm>
          <a:prstGeom prst="line">
            <a:avLst/>
          </a:prstGeom>
          <a:ln w="2540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162425" y="1524973"/>
            <a:ext cx="3505200" cy="133350"/>
          </a:xfrm>
          <a:prstGeom prst="rect">
            <a:avLst/>
          </a:prstGeom>
          <a:noFill/>
        </p:spPr>
        <p:txBody>
          <a:bodyPr wrap="square" lIns="28575" rIns="28575" tIns="9525" bIns="9525">
            <a:spAutoFit/>
          </a:bodyPr>
          <a:lstStyle/>
          <a:p>
            <a:pPr algn="ctr"/>
            <a:r>
              <a:rPr sz="1100" b="1">
                <a:solidFill>
                  <a:srgbClr val="007BA5"/>
                </a:solidFill>
                <a:latin typeface="Segoe UI"/>
              </a:rPr>
              <a:t>2.53</a:t>
            </a:r>
          </a:p>
        </p:txBody>
      </p:sp>
      <p:sp>
        <p:nvSpPr>
          <p:cNvPr id="37" name="TextBox 36"/>
          <p:cNvSpPr txBox="1"/>
          <p:nvPr/>
        </p:nvSpPr>
        <p:spPr>
          <a:xfrm>
            <a:off x="657225" y="3365510"/>
            <a:ext cx="3505200" cy="285750"/>
          </a:xfrm>
          <a:prstGeom prst="rect">
            <a:avLst/>
          </a:prstGeom>
          <a:noFill/>
        </p:spPr>
        <p:txBody>
          <a:bodyPr wrap="square" lIns="28575" rIns="28575" tIns="9525" bIns="9525">
            <a:spAutoFit/>
          </a:bodyPr>
          <a:lstStyle/>
          <a:p>
            <a:pPr algn="ctr"/>
            <a:r>
              <a:rPr sz="1100" b="0">
                <a:solidFill>
                  <a:srgbClr val="252423"/>
                </a:solidFill>
                <a:latin typeface="Segoe UI"/>
              </a:rPr>
              <a:t>Warp Knitted Fabrics</a:t>
            </a:r>
          </a:p>
        </p:txBody>
      </p:sp>
      <p:sp>
        <p:nvSpPr>
          <p:cNvPr id="38" name="TextBox 37"/>
          <p:cNvSpPr txBox="1"/>
          <p:nvPr/>
        </p:nvSpPr>
        <p:spPr>
          <a:xfrm>
            <a:off x="4162425" y="3365510"/>
            <a:ext cx="3505200" cy="285750"/>
          </a:xfrm>
          <a:prstGeom prst="rect">
            <a:avLst/>
          </a:prstGeom>
          <a:noFill/>
        </p:spPr>
        <p:txBody>
          <a:bodyPr wrap="square" lIns="28575" rIns="28575" tIns="9525" bIns="9525">
            <a:spAutoFit/>
          </a:bodyPr>
          <a:lstStyle/>
          <a:p>
            <a:pPr algn="ctr"/>
            <a:r>
              <a:rPr sz="1100" b="0">
                <a:solidFill>
                  <a:srgbClr val="252423"/>
                </a:solidFill>
                <a:latin typeface="Segoe UI"/>
              </a:rPr>
              <a:t>Weft Knitted Fabrics</a:t>
            </a:r>
          </a:p>
        </p:txBody>
      </p:sp>
      <p:sp>
        <p:nvSpPr>
          <p:cNvPr id="39" name="Rectangle 38"/>
          <p:cNvSpPr/>
          <p:nvPr/>
        </p:nvSpPr>
        <p:spPr>
          <a:xfrm>
            <a:off x="142875" y="3772696"/>
            <a:ext cx="7696200" cy="278368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Price Variation by Country vs South Asia Pacific  ·  2026–2036</a:t>
            </a:r>
          </a:p>
        </p:txBody>
      </p:sp>
      <p:cxnSp>
        <p:nvCxnSpPr>
          <p:cNvPr id="41" name="Connector 40"/>
          <p:cNvCxnSpPr/>
          <p:nvPr/>
        </p:nvCxnSpPr>
        <p:spPr>
          <a:xfrm>
            <a:off x="619125" y="4325945"/>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19125" y="475953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19125" y="519311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19125" y="5626701"/>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19125" y="6060287"/>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19125" y="4325945"/>
            <a:ext cx="0" cy="1734342"/>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90550" y="4325945"/>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90550" y="4759530"/>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90550" y="5193116"/>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90550" y="5626701"/>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90550" y="6060287"/>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sp>
        <p:nvSpPr>
          <p:cNvPr id="52" name="FMI Scale tick"/>
          <p:cNvSpPr txBox="1"/>
          <p:nvPr/>
        </p:nvSpPr>
        <p:spPr>
          <a:xfrm>
            <a:off x="219075" y="4259270"/>
            <a:ext cx="361950" cy="133350"/>
          </a:xfrm>
          <a:prstGeom prst="rect">
            <a:avLst/>
          </a:prstGeom>
          <a:noFill/>
        </p:spPr>
        <p:txBody>
          <a:bodyPr wrap="none" lIns="0" rIns="0" tIns="0" bIns="0" anchor="ctr">
            <a:spAutoFit/>
          </a:bodyPr>
          <a:lstStyle/>
          <a:p>
            <a:pPr algn="r"/>
            <a:r>
              <a:rPr sz="1100" b="0">
                <a:solidFill>
                  <a:srgbClr val="605E5C"/>
                </a:solidFill>
                <a:latin typeface="Segoe UI"/>
              </a:rPr>
              <a:t>+46%</a:t>
            </a:r>
          </a:p>
        </p:txBody>
      </p:sp>
      <p:sp>
        <p:nvSpPr>
          <p:cNvPr id="53" name="FMI Scale tick"/>
          <p:cNvSpPr txBox="1"/>
          <p:nvPr/>
        </p:nvSpPr>
        <p:spPr>
          <a:xfrm>
            <a:off x="219075" y="4692855"/>
            <a:ext cx="361950" cy="133350"/>
          </a:xfrm>
          <a:prstGeom prst="rect">
            <a:avLst/>
          </a:prstGeom>
          <a:noFill/>
        </p:spPr>
        <p:txBody>
          <a:bodyPr wrap="none" lIns="0" rIns="0" tIns="0" bIns="0" anchor="ctr">
            <a:spAutoFit/>
          </a:bodyPr>
          <a:lstStyle/>
          <a:p>
            <a:pPr algn="r"/>
            <a:r>
              <a:rPr sz="1100" b="0">
                <a:solidFill>
                  <a:srgbClr val="605E5C"/>
                </a:solidFill>
                <a:latin typeface="Segoe UI"/>
              </a:rPr>
              <a:t>+23%</a:t>
            </a:r>
          </a:p>
        </p:txBody>
      </p:sp>
      <p:sp>
        <p:nvSpPr>
          <p:cNvPr id="54" name="FMI Scale tick"/>
          <p:cNvSpPr txBox="1"/>
          <p:nvPr/>
        </p:nvSpPr>
        <p:spPr>
          <a:xfrm>
            <a:off x="219075" y="5126441"/>
            <a:ext cx="361950" cy="133350"/>
          </a:xfrm>
          <a:prstGeom prst="rect">
            <a:avLst/>
          </a:prstGeom>
          <a:noFill/>
        </p:spPr>
        <p:txBody>
          <a:bodyPr wrap="square" lIns="28575" rIns="28575" tIns="9525" bIns="9525" anchor="ctr">
            <a:spAutoFit/>
          </a:bodyPr>
          <a:lstStyle/>
          <a:p>
            <a:pPr algn="r"/>
            <a:r>
              <a:rPr sz="1100" b="1">
                <a:solidFill>
                  <a:srgbClr val="605E5C"/>
                </a:solidFill>
                <a:latin typeface="Segoe UI"/>
              </a:rPr>
              <a:t>South Asia Pacific</a:t>
            </a:r>
          </a:p>
        </p:txBody>
      </p:sp>
      <p:sp>
        <p:nvSpPr>
          <p:cNvPr id="55" name="FMI Scale tick"/>
          <p:cNvSpPr txBox="1"/>
          <p:nvPr/>
        </p:nvSpPr>
        <p:spPr>
          <a:xfrm>
            <a:off x="219075" y="5560026"/>
            <a:ext cx="361950" cy="133350"/>
          </a:xfrm>
          <a:prstGeom prst="rect">
            <a:avLst/>
          </a:prstGeom>
          <a:noFill/>
        </p:spPr>
        <p:txBody>
          <a:bodyPr wrap="none" lIns="0" rIns="0" tIns="0" bIns="0" anchor="ctr">
            <a:spAutoFit/>
          </a:bodyPr>
          <a:lstStyle/>
          <a:p>
            <a:pPr algn="r"/>
            <a:r>
              <a:rPr sz="1100" b="0">
                <a:solidFill>
                  <a:srgbClr val="605E5C"/>
                </a:solidFill>
                <a:latin typeface="Segoe UI"/>
              </a:rPr>
              <a:t>-23%</a:t>
            </a:r>
          </a:p>
        </p:txBody>
      </p:sp>
      <p:sp>
        <p:nvSpPr>
          <p:cNvPr id="56" name="FMI Scale tick"/>
          <p:cNvSpPr txBox="1"/>
          <p:nvPr/>
        </p:nvSpPr>
        <p:spPr>
          <a:xfrm>
            <a:off x="219075" y="5993612"/>
            <a:ext cx="361950" cy="133350"/>
          </a:xfrm>
          <a:prstGeom prst="rect">
            <a:avLst/>
          </a:prstGeom>
          <a:noFill/>
        </p:spPr>
        <p:txBody>
          <a:bodyPr wrap="none" lIns="0" rIns="0" tIns="0" bIns="0" anchor="ctr">
            <a:spAutoFit/>
          </a:bodyPr>
          <a:lstStyle/>
          <a:p>
            <a:pPr algn="r"/>
            <a:r>
              <a:rPr sz="1100" b="0">
                <a:solidFill>
                  <a:srgbClr val="605E5C"/>
                </a:solidFill>
                <a:latin typeface="Segoe UI"/>
              </a:rPr>
              <a:t>-46%</a:t>
            </a:r>
          </a:p>
        </p:txBody>
      </p:sp>
      <p:cxnSp>
        <p:nvCxnSpPr>
          <p:cNvPr id="57" name="Connector 56"/>
          <p:cNvCxnSpPr/>
          <p:nvPr/>
        </p:nvCxnSpPr>
        <p:spPr>
          <a:xfrm>
            <a:off x="619125" y="5193116"/>
            <a:ext cx="7048500" cy="0"/>
          </a:xfrm>
          <a:prstGeom prst="line">
            <a:avLst/>
          </a:prstGeom>
          <a:ln w="13970">
            <a:solidFill>
              <a:srgbClr val="605E5C"/>
            </a:solidFill>
            <a:prstDash val="dash"/>
          </a:ln>
          <a:effectLst/>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1271588" y="5193116"/>
            <a:ext cx="457200" cy="95725"/>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MI Data Label"/>
          <p:cNvSpPr txBox="1"/>
          <p:nvPr/>
        </p:nvSpPr>
        <p:spPr>
          <a:xfrm>
            <a:off x="619125" y="5298365"/>
            <a:ext cx="1762125" cy="133350"/>
          </a:xfrm>
          <a:prstGeom prst="rect">
            <a:avLst/>
          </a:prstGeom>
          <a:noFill/>
        </p:spPr>
        <p:txBody>
          <a:bodyPr wrap="square" lIns="28575" rIns="28575" tIns="9525" bIns="9525">
            <a:spAutoFit/>
          </a:bodyPr>
          <a:lstStyle/>
          <a:p>
            <a:pPr algn="ctr"/>
            <a:r>
              <a:rPr sz="1100" b="1">
                <a:solidFill>
                  <a:srgbClr val="252423"/>
                </a:solidFill>
                <a:latin typeface="Segoe UI"/>
              </a:rPr>
              <a:t>-5.0%</a:t>
            </a:r>
          </a:p>
        </p:txBody>
      </p:sp>
      <p:sp>
        <p:nvSpPr>
          <p:cNvPr id="60" name="Rectangle 59"/>
          <p:cNvSpPr/>
          <p:nvPr/>
        </p:nvSpPr>
        <p:spPr>
          <a:xfrm>
            <a:off x="3033712" y="5193116"/>
            <a:ext cx="457200" cy="46806"/>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MI Data Label"/>
          <p:cNvSpPr txBox="1"/>
          <p:nvPr/>
        </p:nvSpPr>
        <p:spPr>
          <a:xfrm>
            <a:off x="2381250" y="5249446"/>
            <a:ext cx="1762125" cy="133350"/>
          </a:xfrm>
          <a:prstGeom prst="rect">
            <a:avLst/>
          </a:prstGeom>
          <a:noFill/>
        </p:spPr>
        <p:txBody>
          <a:bodyPr wrap="square" lIns="28575" rIns="28575" tIns="9525" bIns="9525">
            <a:spAutoFit/>
          </a:bodyPr>
          <a:lstStyle/>
          <a:p>
            <a:pPr algn="ctr"/>
            <a:r>
              <a:rPr sz="1100" b="1">
                <a:solidFill>
                  <a:srgbClr val="252423"/>
                </a:solidFill>
                <a:latin typeface="Segoe UI"/>
              </a:rPr>
              <a:t>-2.5%</a:t>
            </a:r>
          </a:p>
        </p:txBody>
      </p:sp>
      <p:sp>
        <p:nvSpPr>
          <p:cNvPr id="62" name="Rectangle 61"/>
          <p:cNvSpPr/>
          <p:nvPr/>
        </p:nvSpPr>
        <p:spPr>
          <a:xfrm>
            <a:off x="4795838" y="4437287"/>
            <a:ext cx="457200" cy="755829"/>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MI Data Label"/>
          <p:cNvSpPr txBox="1"/>
          <p:nvPr/>
        </p:nvSpPr>
        <p:spPr>
          <a:xfrm>
            <a:off x="4143375" y="4294412"/>
            <a:ext cx="1762125" cy="133350"/>
          </a:xfrm>
          <a:prstGeom prst="rect">
            <a:avLst/>
          </a:prstGeom>
          <a:noFill/>
        </p:spPr>
        <p:txBody>
          <a:bodyPr wrap="square" lIns="28575" rIns="28575" tIns="9525" bIns="9525">
            <a:spAutoFit/>
          </a:bodyPr>
          <a:lstStyle/>
          <a:p>
            <a:pPr algn="ctr"/>
            <a:r>
              <a:rPr sz="1100" b="1">
                <a:solidFill>
                  <a:srgbClr val="252423"/>
                </a:solidFill>
                <a:latin typeface="Segoe UI"/>
              </a:rPr>
              <a:t>+39.8%</a:t>
            </a:r>
          </a:p>
        </p:txBody>
      </p:sp>
      <p:sp>
        <p:nvSpPr>
          <p:cNvPr id="64" name="Rectangle 63"/>
          <p:cNvSpPr/>
          <p:nvPr/>
        </p:nvSpPr>
        <p:spPr>
          <a:xfrm>
            <a:off x="6557962" y="5193116"/>
            <a:ext cx="457200" cy="188149"/>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MI Data Label"/>
          <p:cNvSpPr txBox="1"/>
          <p:nvPr/>
        </p:nvSpPr>
        <p:spPr>
          <a:xfrm>
            <a:off x="5905500" y="5390790"/>
            <a:ext cx="1762125" cy="133350"/>
          </a:xfrm>
          <a:prstGeom prst="rect">
            <a:avLst/>
          </a:prstGeom>
          <a:noFill/>
        </p:spPr>
        <p:txBody>
          <a:bodyPr wrap="square" lIns="28575" rIns="28575" tIns="9525" bIns="9525">
            <a:spAutoFit/>
          </a:bodyPr>
          <a:lstStyle/>
          <a:p>
            <a:pPr algn="ctr"/>
            <a:r>
              <a:rPr sz="1100" b="1">
                <a:solidFill>
                  <a:srgbClr val="252423"/>
                </a:solidFill>
                <a:latin typeface="Segoe UI"/>
              </a:rPr>
              <a:t>-9.9%</a:t>
            </a:r>
          </a:p>
        </p:txBody>
      </p:sp>
      <p:sp>
        <p:nvSpPr>
          <p:cNvPr id="66" name="TextBox 65"/>
          <p:cNvSpPr txBox="1"/>
          <p:nvPr/>
        </p:nvSpPr>
        <p:spPr>
          <a:xfrm>
            <a:off x="619125" y="6242060"/>
            <a:ext cx="1762125" cy="247650"/>
          </a:xfrm>
          <a:prstGeom prst="rect">
            <a:avLst/>
          </a:prstGeom>
          <a:noFill/>
        </p:spPr>
        <p:txBody>
          <a:bodyPr wrap="square" lIns="28575" rIns="28575" tIns="9525" bIns="9525">
            <a:spAutoFit/>
          </a:bodyPr>
          <a:lstStyle/>
          <a:p>
            <a:pPr algn="ctr"/>
            <a:r>
              <a:rPr sz="1100" b="0">
                <a:solidFill>
                  <a:srgbClr val="252423"/>
                </a:solidFill>
                <a:latin typeface="Segoe UI"/>
              </a:rPr>
              <a:t>India</a:t>
            </a:r>
          </a:p>
        </p:txBody>
      </p:sp>
      <p:sp>
        <p:nvSpPr>
          <p:cNvPr id="67" name="TextBox 66"/>
          <p:cNvSpPr txBox="1"/>
          <p:nvPr/>
        </p:nvSpPr>
        <p:spPr>
          <a:xfrm>
            <a:off x="2381250" y="6242060"/>
            <a:ext cx="1762125" cy="247650"/>
          </a:xfrm>
          <a:prstGeom prst="rect">
            <a:avLst/>
          </a:prstGeom>
          <a:noFill/>
        </p:spPr>
        <p:txBody>
          <a:bodyPr wrap="square" lIns="28575" rIns="28575" tIns="9525" bIns="9525">
            <a:spAutoFit/>
          </a:bodyPr>
          <a:lstStyle/>
          <a:p>
            <a:pPr algn="ctr"/>
            <a:r>
              <a:rPr sz="1100" b="0">
                <a:solidFill>
                  <a:srgbClr val="252423"/>
                </a:solidFill>
                <a:latin typeface="Segoe UI"/>
              </a:rPr>
              <a:t>ASEAN</a:t>
            </a:r>
          </a:p>
        </p:txBody>
      </p:sp>
      <p:sp>
        <p:nvSpPr>
          <p:cNvPr id="68" name="TextBox 67"/>
          <p:cNvSpPr txBox="1"/>
          <p:nvPr/>
        </p:nvSpPr>
        <p:spPr>
          <a:xfrm>
            <a:off x="4143375" y="6242060"/>
            <a:ext cx="1762125" cy="247650"/>
          </a:xfrm>
          <a:prstGeom prst="rect">
            <a:avLst/>
          </a:prstGeom>
          <a:noFill/>
        </p:spPr>
        <p:txBody>
          <a:bodyPr wrap="square" lIns="28575" rIns="28575" tIns="9525" bIns="9525">
            <a:spAutoFit/>
          </a:bodyPr>
          <a:lstStyle/>
          <a:p>
            <a:pPr algn="ctr"/>
            <a:r>
              <a:rPr sz="1100" b="0">
                <a:solidFill>
                  <a:srgbClr val="252423"/>
                </a:solidFill>
                <a:latin typeface="Segoe UI"/>
              </a:rPr>
              <a:t>ANZ</a:t>
            </a:r>
          </a:p>
        </p:txBody>
      </p:sp>
      <p:sp>
        <p:nvSpPr>
          <p:cNvPr id="69" name="TextBox 68"/>
          <p:cNvSpPr txBox="1"/>
          <p:nvPr/>
        </p:nvSpPr>
        <p:spPr>
          <a:xfrm>
            <a:off x="5905500" y="6242060"/>
            <a:ext cx="1762125" cy="247650"/>
          </a:xfrm>
          <a:prstGeom prst="rect">
            <a:avLst/>
          </a:prstGeom>
          <a:noFill/>
        </p:spPr>
        <p:txBody>
          <a:bodyPr wrap="square" lIns="28575" rIns="28575" tIns="9525" bIns="9525">
            <a:spAutoFit/>
          </a:bodyPr>
          <a:lstStyle/>
          <a:p>
            <a:pPr algn="ctr"/>
            <a:r>
              <a:rPr sz="1100" b="0">
                <a:solidFill>
                  <a:srgbClr val="252423"/>
                </a:solidFill>
                <a:latin typeface="Segoe UI"/>
              </a:rPr>
              <a:t>Rest of South Asia Pacific</a:t>
            </a:r>
          </a:p>
        </p:txBody>
      </p:sp>
      <p:sp>
        <p:nvSpPr>
          <p:cNvPr id="70" name="Rectangle 69"/>
          <p:cNvSpPr/>
          <p:nvPr/>
        </p:nvSpPr>
        <p:spPr>
          <a:xfrm>
            <a:off x="7915275" y="1052895"/>
            <a:ext cx="4133850" cy="550349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07BA5"/>
                </a:solidFill>
                <a:latin typeface="Segoe UI"/>
              </a:rPr>
              <a:t>Key Takeaways</a:t>
            </a:r>
          </a:p>
        </p:txBody>
      </p:sp>
      <p:sp>
        <p:nvSpPr>
          <p:cNvPr id="72" name="Rectangle 71"/>
          <p:cNvSpPr/>
          <p:nvPr/>
        </p:nvSpPr>
        <p:spPr>
          <a:xfrm>
            <a:off x="8048625" y="137674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Warp knitted fabrics segment is expected to command the highest average price of US$ 2.82 per Sq. Yard in 2036. Average selling price of performance knitted fabrics is estimated at US$ 2.44 per Sq. Yard in 2025 and is projected to increase to US$ 2.81 per Sq. Yard by 2036.</a:t>
            </a:r>
          </a:p>
          <a:p>
            <a:pPr algn="l">
              <a:lnSpc>
                <a:spcPct val="110000"/>
              </a:lnSpc>
              <a:spcBef>
                <a:spcPts val="0"/>
              </a:spcBef>
              <a:spcAft>
                <a:spcPts val="500"/>
              </a:spcAft>
            </a:pPr>
            <a:r>
              <a:rPr sz="1150" b="0">
                <a:solidFill>
                  <a:srgbClr val="252423"/>
                </a:solidFill>
                <a:latin typeface="Segoe UI"/>
              </a:rPr>
              <a:t>ANZ is the highest-priced country, while India is the most price-competitive market. Against the South Asia Pacific price of 2.64 US$/Sq. Yards, 1 of 4 countries price above and 3 below.</a:t>
            </a:r>
          </a:p>
          <a:p>
            <a:pPr algn="l">
              <a:lnSpc>
                <a:spcPct val="110000"/>
              </a:lnSpc>
              <a:spcBef>
                <a:spcPts val="0"/>
              </a:spcBef>
              <a:spcAft>
                <a:spcPts val="500"/>
              </a:spcAft>
            </a:pPr>
            <a:r>
              <a:rPr sz="1150" b="0">
                <a:solidFill>
                  <a:srgbClr val="252423"/>
                </a:solidFill>
                <a:latin typeface="Segoe UI"/>
              </a:rPr>
              <a:t>'ANZ' is the dearest at +39.8% versus South Asia Pacific, 'Rest of South Asia Pacific' the cheapest at -9.9% pointing to premiumisation headroom in the lower-priced countries.</a:t>
            </a:r>
          </a:p>
        </p:txBody>
      </p:sp>
      <p:sp>
        <p:nvSpPr>
          <p:cNvPr id="74" name="TextBox 7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South Asia Pacific Performance Knitted Fabrics Market Summary, By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South Asia Pacific market value growth, incremental opportunity and the geographies driving it, 2021–2036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Asia Pacific</a:t>
            </a:r>
          </a:p>
        </p:txBody>
      </p:sp>
      <p:sp>
        <p:nvSpPr>
          <p:cNvPr id="9" name="Rounded Rectangle 8"/>
          <p:cNvSpPr/>
          <p:nvPr/>
        </p:nvSpPr>
        <p:spPr>
          <a:xfrm>
            <a:off x="142875"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MARKET SIZE (US$ MN)</a:t>
            </a:r>
          </a:p>
          <a:p>
            <a:pPr algn="ctr">
              <a:lnSpc>
                <a:spcPct val="95000"/>
              </a:lnSpc>
            </a:pPr>
            <a:r>
              <a:rPr sz="1500" b="1">
                <a:solidFill>
                  <a:srgbClr val="00A4DC"/>
                </a:solidFill>
                <a:latin typeface="Segoe UI"/>
              </a:rPr>
              <a:t>519.6</a:t>
            </a:r>
          </a:p>
        </p:txBody>
      </p:sp>
      <p:sp>
        <p:nvSpPr>
          <p:cNvPr id="10" name="Rounded Rectangle 9"/>
          <p:cNvSpPr/>
          <p:nvPr/>
        </p:nvSpPr>
        <p:spPr>
          <a:xfrm>
            <a:off x="31432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1,248</a:t>
            </a:r>
          </a:p>
        </p:txBody>
      </p:sp>
      <p:sp>
        <p:nvSpPr>
          <p:cNvPr id="11" name="Rounded Rectangle 10"/>
          <p:cNvSpPr/>
          <p:nvPr/>
        </p:nvSpPr>
        <p:spPr>
          <a:xfrm>
            <a:off x="61531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2021–2025</a:t>
            </a:r>
          </a:p>
          <a:p>
            <a:pPr algn="ctr">
              <a:lnSpc>
                <a:spcPct val="95000"/>
              </a:lnSpc>
            </a:pPr>
            <a:r>
              <a:rPr sz="1500" b="1">
                <a:solidFill>
                  <a:srgbClr val="00A4DC"/>
                </a:solidFill>
                <a:latin typeface="Segoe UI"/>
              </a:rPr>
              <a:t>7.3%</a:t>
            </a:r>
          </a:p>
        </p:txBody>
      </p:sp>
      <p:sp>
        <p:nvSpPr>
          <p:cNvPr id="12" name="Rounded Rectangle 11"/>
          <p:cNvSpPr/>
          <p:nvPr/>
        </p:nvSpPr>
        <p:spPr>
          <a:xfrm>
            <a:off x="91630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1500" b="1">
                <a:solidFill>
                  <a:srgbClr val="00A4DC"/>
                </a:solidFill>
                <a:latin typeface="Segoe UI"/>
              </a:rPr>
              <a:t>9.2%</a:t>
            </a:r>
          </a:p>
        </p:txBody>
      </p:sp>
      <p:sp>
        <p:nvSpPr>
          <p:cNvPr id="13" name="Rectangle 12"/>
          <p:cNvSpPr/>
          <p:nvPr/>
        </p:nvSpPr>
        <p:spPr>
          <a:xfrm>
            <a:off x="142875" y="1627887"/>
            <a:ext cx="769620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(2021–2036)</a:t>
            </a:r>
          </a:p>
        </p:txBody>
      </p:sp>
      <p:graphicFrame>
        <p:nvGraphicFramePr>
          <p:cNvPr id="15" name="Chart 14"/>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6" name="Rectangle 15"/>
          <p:cNvSpPr/>
          <p:nvPr/>
        </p:nvSpPr>
        <p:spPr>
          <a:xfrm>
            <a:off x="142875" y="4037375"/>
            <a:ext cx="769620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Incremental Market Addition (US$ Mn)</a:t>
            </a:r>
          </a:p>
        </p:txBody>
      </p:sp>
      <p:graphicFrame>
        <p:nvGraphicFramePr>
          <p:cNvPr id="18" name="Chart 17"/>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9" name="Rectangle 18"/>
          <p:cNvSpPr/>
          <p:nvPr/>
        </p:nvSpPr>
        <p:spPr>
          <a:xfrm>
            <a:off x="7915275" y="1627887"/>
            <a:ext cx="4133850" cy="314171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21" name="Rectangle 20"/>
          <p:cNvSpPr/>
          <p:nvPr/>
        </p:nvSpPr>
        <p:spPr>
          <a:xfrm>
            <a:off x="8048625" y="195173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2037462"/>
            <a:ext cx="3867150" cy="2655944"/>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52423"/>
                </a:solidFill>
                <a:latin typeface="Segoe UI"/>
              </a:rPr>
              <a:t>Performance knitted fabrics market value in South Asia Pacific is expected to increase 2.6X between 2025 and 2036. In 2025, the performance knitted fabrics market in South Asia Pacific was valued at US$ 480.4 Mn and is estimated to account for US$ 519.6 Mn by the end of 2026, reflecting a Y-o-Y growth rate of 8.2%.</a:t>
            </a:r>
          </a:p>
          <a:p>
            <a:pPr algn="l">
              <a:lnSpc>
                <a:spcPct val="100000"/>
              </a:lnSpc>
              <a:spcBef>
                <a:spcPts val="0"/>
              </a:spcBef>
              <a:spcAft>
                <a:spcPts val="300"/>
              </a:spcAft>
            </a:pPr>
            <a:r>
              <a:rPr sz="1100" b="0">
                <a:solidFill>
                  <a:srgbClr val="252423"/>
                </a:solidFill>
                <a:latin typeface="Segoe UI"/>
              </a:rPr>
              <a:t>The market in South Asia Pacific is expected to account for US$ 1,248 Mn by 2036 at a CAGR of 9.2% over the forecast period. South Asia Pacific is expected to create an incremental opportunity of US$ 767.4 Mn for the overall performance knitted fabrics market from 2025 to 2036.</a:t>
            </a:r>
          </a:p>
          <a:p>
            <a:pPr algn="l">
              <a:lnSpc>
                <a:spcPct val="100000"/>
              </a:lnSpc>
              <a:spcBef>
                <a:spcPts val="0"/>
              </a:spcBef>
              <a:spcAft>
                <a:spcPts val="300"/>
              </a:spcAft>
            </a:pPr>
            <a:r>
              <a:rPr sz="1100" b="0">
                <a:solidFill>
                  <a:srgbClr val="252423"/>
                </a:solidFill>
                <a:latin typeface="Segoe UI"/>
              </a:rPr>
              <a:t>Absolute $ value for 2026 is estimated to be US$ 39.2 Mn.</a:t>
            </a:r>
          </a:p>
        </p:txBody>
      </p:sp>
      <p:sp>
        <p:nvSpPr>
          <p:cNvPr id="23" name="Rectangle 22"/>
          <p:cNvSpPr/>
          <p:nvPr/>
        </p:nvSpPr>
        <p:spPr>
          <a:xfrm>
            <a:off x="7915275" y="4824367"/>
            <a:ext cx="4133850" cy="173201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910092"/>
            <a:ext cx="3867150" cy="209550"/>
          </a:xfrm>
          <a:prstGeom prst="rect">
            <a:avLst/>
          </a:prstGeom>
          <a:noFill/>
        </p:spPr>
        <p:txBody>
          <a:bodyPr wrap="square" lIns="0" rIns="19050" tIns="9525" bIns="9525">
            <a:spAutoFit/>
          </a:bodyPr>
          <a:lstStyle/>
          <a:p>
            <a:pPr algn="l"/>
            <a:r>
              <a:rPr sz="1300" b="1">
                <a:solidFill>
                  <a:srgbClr val="007BA5"/>
                </a:solidFill>
                <a:latin typeface="Segoe UI"/>
              </a:rPr>
              <a:t>Growth Drivers</a:t>
            </a:r>
          </a:p>
        </p:txBody>
      </p:sp>
      <p:sp>
        <p:nvSpPr>
          <p:cNvPr id="25" name="Rectangle 24"/>
          <p:cNvSpPr/>
          <p:nvPr/>
        </p:nvSpPr>
        <p:spPr>
          <a:xfrm>
            <a:off x="8048625" y="514821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5233942"/>
            <a:ext cx="3867150" cy="124624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'India' leads regional growth at 9.8% CAGR.</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Demand concentrates in 'Weft Knitted Fabrics' within Fabric Construction.</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Product innovation and premiumisation lifting value.</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Expanding end-use applications and access.</a:t>
            </a:r>
          </a:p>
        </p:txBody>
      </p:sp>
      <p:sp>
        <p:nvSpPr>
          <p:cNvPr id="27" name="TextBox 2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South Asia Pacific Performance Knitted Fabrics Market Volume &amp; Value Analysis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volume and value growth of the South Asia Pacific market and the incremental $ opportunity it creates, 2021–2036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Asia Pacific</a:t>
            </a:r>
          </a:p>
        </p:txBody>
      </p:sp>
      <p:sp>
        <p:nvSpPr>
          <p:cNvPr id="9" name="Rectangle 8"/>
          <p:cNvSpPr/>
          <p:nvPr/>
        </p:nvSpPr>
        <p:spPr>
          <a:xfrm>
            <a:off x="142875" y="981075"/>
            <a:ext cx="4695825" cy="2524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South Asia Pacific Market, 2021–2025 (Historical)</a:t>
            </a:r>
          </a:p>
        </p:txBody>
      </p:sp>
      <p:graphicFrame>
        <p:nvGraphicFramePr>
          <p:cNvPr id="11" name="Chart 10"/>
          <p:cNvGraphicFramePr>
            <a:graphicFrameLocks noGrp="1"/>
          </p:cNvGraphicFramePr>
          <p:nvPr/>
        </p:nvGraphicFramePr>
        <p:xfrm>
          <a:off x="238125" y="1266825"/>
          <a:ext cx="4505325" cy="2181225"/>
        </p:xfrm>
        <a:graphic>
          <a:graphicData uri="http://schemas.openxmlformats.org/drawingml/2006/chart">
            <c:chart xmlns:c="http://schemas.openxmlformats.org/drawingml/2006/chart" r:id="rId3"/>
          </a:graphicData>
        </a:graphic>
      </p:graphicFrame>
      <p:sp>
        <p:nvSpPr>
          <p:cNvPr id="12" name="Rectangle 11"/>
          <p:cNvSpPr/>
          <p:nvPr/>
        </p:nvSpPr>
        <p:spPr>
          <a:xfrm>
            <a:off x="4991100" y="981075"/>
            <a:ext cx="7048500" cy="2524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South Asia Pacific Market, 2026–2036 (Forecast)</a:t>
            </a:r>
          </a:p>
        </p:txBody>
      </p:sp>
      <p:graphicFrame>
        <p:nvGraphicFramePr>
          <p:cNvPr id="14" name="Chart 13"/>
          <p:cNvGraphicFramePr>
            <a:graphicFrameLocks noGrp="1"/>
          </p:cNvGraphicFramePr>
          <p:nvPr/>
        </p:nvGraphicFramePr>
        <p:xfrm>
          <a:off x="5086350" y="1266825"/>
          <a:ext cx="6858000" cy="2181225"/>
        </p:xfrm>
        <a:graphic>
          <a:graphicData uri="http://schemas.openxmlformats.org/drawingml/2006/chart">
            <c:chart xmlns:c="http://schemas.openxmlformats.org/drawingml/2006/chart" r:id="rId4"/>
          </a:graphicData>
        </a:graphic>
      </p:graphicFrame>
      <p:sp>
        <p:nvSpPr>
          <p:cNvPr id="15" name="Rounded Rectangle 14"/>
          <p:cNvSpPr/>
          <p:nvPr/>
        </p:nvSpPr>
        <p:spPr>
          <a:xfrm>
            <a:off x="142875" y="3638550"/>
            <a:ext cx="25146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VALUE CAGR 2021–2025</a:t>
            </a:r>
          </a:p>
          <a:p>
            <a:pPr algn="ctr">
              <a:lnSpc>
                <a:spcPct val="95000"/>
              </a:lnSpc>
            </a:pPr>
            <a:r>
              <a:rPr sz="1500" b="1">
                <a:solidFill>
                  <a:srgbClr val="00A4DC"/>
                </a:solidFill>
                <a:latin typeface="Segoe UI"/>
              </a:rPr>
              <a:t>7.3%</a:t>
            </a:r>
          </a:p>
        </p:txBody>
      </p:sp>
      <p:sp>
        <p:nvSpPr>
          <p:cNvPr id="16" name="Rounded Rectangle 15"/>
          <p:cNvSpPr/>
          <p:nvPr/>
        </p:nvSpPr>
        <p:spPr>
          <a:xfrm>
            <a:off x="2809875" y="3638550"/>
            <a:ext cx="25146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VALUE CAGR 2026–2036</a:t>
            </a:r>
          </a:p>
          <a:p>
            <a:pPr algn="ctr">
              <a:lnSpc>
                <a:spcPct val="95000"/>
              </a:lnSpc>
            </a:pPr>
            <a:r>
              <a:rPr sz="1500" b="1">
                <a:solidFill>
                  <a:srgbClr val="00A4DC"/>
                </a:solidFill>
                <a:latin typeface="Segoe UI"/>
              </a:rPr>
              <a:t>9.2%</a:t>
            </a:r>
          </a:p>
        </p:txBody>
      </p:sp>
      <p:sp>
        <p:nvSpPr>
          <p:cNvPr id="17" name="Rounded Rectangle 16"/>
          <p:cNvSpPr/>
          <p:nvPr/>
        </p:nvSpPr>
        <p:spPr>
          <a:xfrm>
            <a:off x="5476875" y="3638550"/>
            <a:ext cx="32004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INCREMENTAL $ OPPORTUNITY 2026–2031</a:t>
            </a:r>
          </a:p>
          <a:p>
            <a:pPr algn="ctr">
              <a:lnSpc>
                <a:spcPct val="95000"/>
              </a:lnSpc>
            </a:pPr>
            <a:r>
              <a:rPr sz="1500" b="1">
                <a:solidFill>
                  <a:srgbClr val="00A4DC"/>
                </a:solidFill>
                <a:latin typeface="Segoe UI"/>
              </a:rPr>
              <a:t>277.3 US$ Mn</a:t>
            </a:r>
          </a:p>
        </p:txBody>
      </p:sp>
      <p:sp>
        <p:nvSpPr>
          <p:cNvPr id="18" name="Rounded Rectangle 17"/>
          <p:cNvSpPr/>
          <p:nvPr/>
        </p:nvSpPr>
        <p:spPr>
          <a:xfrm>
            <a:off x="8829675" y="3638550"/>
            <a:ext cx="32004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INCREMENTAL $ OPPORTUNITY 2026–2036</a:t>
            </a:r>
          </a:p>
          <a:p>
            <a:pPr algn="ctr">
              <a:lnSpc>
                <a:spcPct val="95000"/>
              </a:lnSpc>
            </a:pPr>
            <a:r>
              <a:rPr sz="1500" b="1">
                <a:solidFill>
                  <a:srgbClr val="00A4DC"/>
                </a:solidFill>
                <a:latin typeface="Segoe UI"/>
              </a:rPr>
              <a:t>728.3 US$ Mn</a:t>
            </a:r>
          </a:p>
        </p:txBody>
      </p:sp>
      <p:sp>
        <p:nvSpPr>
          <p:cNvPr id="19" name="Rectangle 18"/>
          <p:cNvSpPr/>
          <p:nvPr/>
        </p:nvSpPr>
        <p:spPr>
          <a:xfrm>
            <a:off x="142875" y="4457700"/>
            <a:ext cx="11906250" cy="21526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543425"/>
            <a:ext cx="11639550" cy="209550"/>
          </a:xfrm>
          <a:prstGeom prst="rect">
            <a:avLst/>
          </a:prstGeom>
          <a:noFill/>
        </p:spPr>
        <p:txBody>
          <a:bodyPr wrap="square" lIns="0" rIns="19050" tIns="9525" bIns="9525">
            <a:spAutoFit/>
          </a:bodyPr>
          <a:lstStyle/>
          <a:p>
            <a:pPr algn="l"/>
            <a:r>
              <a:rPr sz="1300" b="1">
                <a:solidFill>
                  <a:srgbClr val="007BA5"/>
                </a:solidFill>
                <a:latin typeface="Segoe UI"/>
              </a:rPr>
              <a:t>South Asia Pacific Volume &amp; Value Analysis</a:t>
            </a:r>
          </a:p>
        </p:txBody>
      </p:sp>
      <p:sp>
        <p:nvSpPr>
          <p:cNvPr id="21" name="Rectangle 20"/>
          <p:cNvSpPr/>
          <p:nvPr/>
        </p:nvSpPr>
        <p:spPr>
          <a:xfrm>
            <a:off x="276225" y="478155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867275"/>
            <a:ext cx="11639550" cy="16668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52423"/>
                </a:solidFill>
                <a:latin typeface="Segoe UI"/>
              </a:rPr>
              <a:t>Performance knitted fabrics market value in South Asia Pacific is expected to increase 2.6X between 2025 and 2036. In 2025, the performance knitted fabrics market in South Asia Pacific was valued at US$ 480.4 Mn and is estimated to account for US$ 519.6 Mn by the end of 2026, reflecting a Y-o-Y growth rate of 8.2%. The market in South Asia Pacific is expected to account for US$ 1,248 Mn by 2036 at a CAGR of 9.2% over the forecast period.</a:t>
            </a:r>
          </a:p>
          <a:p>
            <a:pPr algn="l">
              <a:lnSpc>
                <a:spcPct val="110000"/>
              </a:lnSpc>
              <a:spcBef>
                <a:spcPts val="0"/>
              </a:spcBef>
              <a:spcAft>
                <a:spcPts val="500"/>
              </a:spcAft>
            </a:pPr>
            <a:r>
              <a:rPr sz="1100" b="0">
                <a:solidFill>
                  <a:srgbClr val="252423"/>
                </a:solidFill>
                <a:latin typeface="Segoe UI"/>
              </a:rPr>
              <a:t>South Asia Pacific is expected to create an incremental opportunity of US$ 767.4 Mn for the overall performance knitted fabrics market from 2025 to 2036. Absolute $ value for 2026 is estimated to be US$ 39.2 Mn. South Asia Pacific performance knitted fabrics market is projected to register 2.2X increase in volume by the end of forecast period, 2036.</a:t>
            </a:r>
          </a:p>
          <a:p>
            <a:pPr algn="l">
              <a:lnSpc>
                <a:spcPct val="110000"/>
              </a:lnSpc>
              <a:spcBef>
                <a:spcPts val="0"/>
              </a:spcBef>
              <a:spcAft>
                <a:spcPts val="500"/>
              </a:spcAft>
            </a:pPr>
            <a:r>
              <a:rPr sz="1100" b="0">
                <a:solidFill>
                  <a:srgbClr val="252423"/>
                </a:solidFill>
                <a:latin typeface="Segoe UI"/>
              </a:rPr>
              <a:t>South Asia Pacific performance knitted fabrics market volume stood at 197.3 Mn Sq. Yards in 2025 and is expected to reach 443.5 Mn Sq. Yards by 2036 end, at a CAGR of 7.7%. Value is projected to grow faster than volume over the forecast period, owing to an increase in average selling price.</a:t>
            </a:r>
          </a:p>
        </p:txBody>
      </p:sp>
      <p:sp>
        <p:nvSpPr>
          <p:cNvPr id="23" name="TextBox 2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South Asia Pacific Performance Knitted Fabrics Market Summary Country Indices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outlook ranking 2036 market size, growth and absolute-growth indices to highlight the strongest markets</a:t>
            </a:r>
          </a:p>
        </p:txBody>
      </p:sp>
      <p:sp>
        <p:nvSpPr>
          <p:cNvPr id="8" name="Rectangle 7"/>
          <p:cNvSpPr/>
          <p:nvPr/>
        </p:nvSpPr>
        <p:spPr>
          <a:xfrm>
            <a:off x="142875" y="1007261"/>
            <a:ext cx="3933825" cy="244599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Top 10 Countries By CAGR Index</a:t>
            </a:r>
          </a:p>
        </p:txBody>
      </p:sp>
      <p:graphicFrame>
        <p:nvGraphicFramePr>
          <p:cNvPr id="10" name="Chart 9"/>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1" name="Rectangle 10"/>
          <p:cNvSpPr/>
          <p:nvPr/>
        </p:nvSpPr>
        <p:spPr>
          <a:xfrm>
            <a:off x="142875" y="3489764"/>
            <a:ext cx="3933825" cy="243686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3565964"/>
          <a:ext cx="3914776" cy="2132070"/>
        </p:xfrm>
        <a:graphic>
          <a:graphicData uri="http://schemas.openxmlformats.org/drawingml/2006/table">
            <a:tbl>
              <a:tblPr>
                <a:tableStyleId>{5C22544A-7EE6-4342-B048-85BDC9FD1C3A}</a:tableStyleId>
              </a:tblPr>
              <a:tblGrid>
                <a:gridCol w="750141"/>
                <a:gridCol w="1057686"/>
                <a:gridCol w="724604"/>
                <a:gridCol w="1382345"/>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CAGR Index</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 Opp (US$ Mn)</a:t>
                      </a:r>
                      <a:endParaRPr sz="1100"/>
                    </a:p>
                  </a:txBody>
                  <a:tcPr marL="47625" marR="38100" marT="19050" marB="19050" anchor="ctr">
                    <a:solidFill>
                      <a:srgbClr val="007BA5"/>
                    </a:solidFill>
                  </a:tcPr>
                </a:tc>
              </a:tr>
              <a:tr h="638935">
                <a:tc>
                  <a:txBody>
                    <a:bodyPr wrap="none"/>
                    <a:lstStyle/>
                    <a:p>
                      <a:pPr algn="l"/>
                      <a:r>
                        <a:rPr sz="1100" b="1">
                          <a:solidFill>
                            <a:srgbClr val="252423"/>
                          </a:solidFill>
                          <a:latin typeface="Segoe UI"/>
                        </a:rPr>
                        <a:t>India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320.3</a:t>
                      </a:r>
                      <a:endParaRPr sz="1100"/>
                    </a:p>
                  </a:txBody>
                  <a:tcPr marL="47625" marR="38100" marT="19050" marB="19050" anchor="ctr">
                    <a:solidFill>
                      <a:srgbClr val="FFFFFF"/>
                    </a:solidFill>
                  </a:tcPr>
                </a:tc>
              </a:tr>
              <a:tr h="638935">
                <a:tc>
                  <a:txBody>
                    <a:bodyPr wrap="none"/>
                    <a:lstStyle/>
                    <a:p>
                      <a:pPr algn="l"/>
                      <a:r>
                        <a:rPr sz="1100" b="1">
                          <a:solidFill>
                            <a:srgbClr val="252423"/>
                          </a:solidFill>
                          <a:latin typeface="Segoe UI"/>
                        </a:rPr>
                        <a:t>ASEAN</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284.7</a:t>
                      </a:r>
                      <a:endParaRPr sz="1100"/>
                    </a:p>
                  </a:txBody>
                  <a:tcPr marL="47625" marR="38100" marT="19050" marB="19050" anchor="ctr">
                    <a:solidFill>
                      <a:srgbClr val="F2FAFD"/>
                    </a:solidFill>
                  </a:tcPr>
                </a:tc>
              </a:tr>
              <a:tr h="638935">
                <a:tc>
                  <a:txBody>
                    <a:bodyPr wrap="none"/>
                    <a:lstStyle/>
                    <a:p>
                      <a:pPr algn="l"/>
                      <a:r>
                        <a:rPr sz="1100" b="1">
                          <a:solidFill>
                            <a:srgbClr val="252423"/>
                          </a:solidFill>
                          <a:latin typeface="Segoe UI"/>
                        </a:rPr>
                        <a:t>ANZ</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82.8</a:t>
                      </a:r>
                      <a:endParaRPr sz="1100"/>
                    </a:p>
                  </a:txBody>
                  <a:tcPr marL="47625" marR="38100" marT="19050" marB="19050" anchor="ctr">
                    <a:solidFill>
                      <a:srgbClr val="FFFFFF"/>
                    </a:solidFill>
                  </a:tcPr>
                </a:tc>
              </a:tr>
            </a:tbl>
          </a:graphicData>
        </a:graphic>
      </p:graphicFrame>
      <p:sp>
        <p:nvSpPr>
          <p:cNvPr id="13" name="TextBox 12"/>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4" name="Rectangle 13"/>
          <p:cNvSpPr/>
          <p:nvPr/>
        </p:nvSpPr>
        <p:spPr>
          <a:xfrm>
            <a:off x="4114800" y="1007261"/>
            <a:ext cx="3933825" cy="4928498"/>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2036 Market By Country (US$ Mn)  ·  Top 10</a:t>
            </a:r>
          </a:p>
        </p:txBody>
      </p:sp>
      <p:sp>
        <p:nvSpPr>
          <p:cNvPr id="16" name="Rectangle 15"/>
          <p:cNvSpPr/>
          <p:nvPr/>
        </p:nvSpPr>
        <p:spPr>
          <a:xfrm>
            <a:off x="4210050" y="1293011"/>
            <a:ext cx="3743325" cy="2058890"/>
          </a:xfrm>
          <a:prstGeom prst="rect">
            <a:avLst/>
          </a:prstGeom>
          <a:solidFill>
            <a:srgbClr val="00A4D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India</a:t>
            </a:r>
          </a:p>
          <a:p>
            <a:pPr algn="ctr"/>
            <a:r>
              <a:rPr sz="1100" b="0">
                <a:solidFill>
                  <a:srgbClr val="FFFFFF"/>
                </a:solidFill>
                <a:latin typeface="Segoe UI"/>
              </a:rPr>
              <a:t>528</a:t>
            </a:r>
          </a:p>
        </p:txBody>
      </p:sp>
      <p:sp>
        <p:nvSpPr>
          <p:cNvPr id="17" name="Rectangle 16"/>
          <p:cNvSpPr/>
          <p:nvPr/>
        </p:nvSpPr>
        <p:spPr>
          <a:xfrm>
            <a:off x="4210050" y="3351901"/>
            <a:ext cx="2829457" cy="2526708"/>
          </a:xfrm>
          <a:prstGeom prst="rect">
            <a:avLst/>
          </a:prstGeom>
          <a:solidFill>
            <a:srgbClr val="6ECFF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ASEAN</a:t>
            </a:r>
          </a:p>
          <a:p>
            <a:pPr algn="ctr"/>
            <a:r>
              <a:rPr sz="1100" b="0">
                <a:solidFill>
                  <a:srgbClr val="252423"/>
                </a:solidFill>
                <a:latin typeface="Segoe UI"/>
              </a:rPr>
              <a:t>489</a:t>
            </a:r>
          </a:p>
        </p:txBody>
      </p:sp>
      <p:sp>
        <p:nvSpPr>
          <p:cNvPr id="18" name="Rectangle 17"/>
          <p:cNvSpPr/>
          <p:nvPr/>
        </p:nvSpPr>
        <p:spPr>
          <a:xfrm>
            <a:off x="7039507" y="3351901"/>
            <a:ext cx="913868" cy="2526708"/>
          </a:xfrm>
          <a:prstGeom prst="rect">
            <a:avLst/>
          </a:prstGeom>
          <a:solidFill>
            <a:srgbClr val="D6CA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ANZ</a:t>
            </a:r>
          </a:p>
          <a:p>
            <a:pPr algn="ctr"/>
            <a:r>
              <a:rPr sz="1100" b="0">
                <a:solidFill>
                  <a:srgbClr val="252423"/>
                </a:solidFill>
                <a:latin typeface="Segoe UI"/>
              </a:rPr>
              <a:t>158</a:t>
            </a:r>
          </a:p>
        </p:txBody>
      </p:sp>
      <p:sp>
        <p:nvSpPr>
          <p:cNvPr id="19" name="Rectangle 18"/>
          <p:cNvSpPr/>
          <p:nvPr/>
        </p:nvSpPr>
        <p:spPr>
          <a:xfrm>
            <a:off x="8086725" y="1007261"/>
            <a:ext cx="3933825" cy="243686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Top 10 Countries By Absolute Index</a:t>
            </a:r>
          </a:p>
        </p:txBody>
      </p:sp>
      <p:graphicFrame>
        <p:nvGraphicFramePr>
          <p:cNvPr id="21" name="Chart 20"/>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2" name="Rectangle 21"/>
          <p:cNvSpPr/>
          <p:nvPr/>
        </p:nvSpPr>
        <p:spPr>
          <a:xfrm>
            <a:off x="8086725" y="3471510"/>
            <a:ext cx="3933825" cy="246424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3" name="Table 22"/>
          <p:cNvGraphicFramePr>
            <a:graphicFrameLocks noGrp="1"/>
          </p:cNvGraphicFramePr>
          <p:nvPr/>
        </p:nvGraphicFramePr>
        <p:xfrm>
          <a:off x="8096250" y="3547710"/>
          <a:ext cx="3914774" cy="2159448"/>
        </p:xfrm>
        <a:graphic>
          <a:graphicData uri="http://schemas.openxmlformats.org/drawingml/2006/table">
            <a:tbl>
              <a:tblPr>
                <a:tableStyleId>{5C22544A-7EE6-4342-B048-85BDC9FD1C3A}</a:tableStyleId>
              </a:tblPr>
              <a:tblGrid>
                <a:gridCol w="704897"/>
                <a:gridCol w="1230006"/>
                <a:gridCol w="680900"/>
                <a:gridCol w="1298971"/>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Absolute Index</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 Opp (US$ Mn)</a:t>
                      </a:r>
                      <a:endParaRPr sz="1100"/>
                    </a:p>
                  </a:txBody>
                  <a:tcPr marL="47625" marR="38100" marT="19050" marB="19050" anchor="ctr">
                    <a:solidFill>
                      <a:srgbClr val="007BA5"/>
                    </a:solidFill>
                  </a:tcPr>
                </a:tc>
              </a:tr>
              <a:tr h="648061">
                <a:tc>
                  <a:txBody>
                    <a:bodyPr wrap="none"/>
                    <a:lstStyle/>
                    <a:p>
                      <a:pPr algn="l"/>
                      <a:r>
                        <a:rPr sz="1100" b="1">
                          <a:solidFill>
                            <a:srgbClr val="252423"/>
                          </a:solidFill>
                          <a:latin typeface="Segoe UI"/>
                        </a:rPr>
                        <a:t>India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320.3</a:t>
                      </a:r>
                      <a:endParaRPr sz="1100"/>
                    </a:p>
                  </a:txBody>
                  <a:tcPr marL="47625" marR="38100" marT="19050" marB="19050" anchor="ctr">
                    <a:solidFill>
                      <a:srgbClr val="FFFFFF"/>
                    </a:solidFill>
                  </a:tcPr>
                </a:tc>
              </a:tr>
              <a:tr h="648061">
                <a:tc>
                  <a:txBody>
                    <a:bodyPr wrap="none"/>
                    <a:lstStyle/>
                    <a:p>
                      <a:pPr algn="l"/>
                      <a:r>
                        <a:rPr sz="1100" b="1">
                          <a:solidFill>
                            <a:srgbClr val="252423"/>
                          </a:solidFill>
                          <a:latin typeface="Segoe UI"/>
                        </a:rPr>
                        <a:t>ASEAN</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284.7</a:t>
                      </a:r>
                      <a:endParaRPr sz="1100"/>
                    </a:p>
                  </a:txBody>
                  <a:tcPr marL="47625" marR="38100" marT="19050" marB="19050" anchor="ctr">
                    <a:solidFill>
                      <a:srgbClr val="F2FAFD"/>
                    </a:solidFill>
                  </a:tcPr>
                </a:tc>
              </a:tr>
              <a:tr h="648061">
                <a:tc>
                  <a:txBody>
                    <a:bodyPr wrap="none"/>
                    <a:lstStyle/>
                    <a:p>
                      <a:pPr algn="l"/>
                      <a:r>
                        <a:rPr sz="1100" b="1">
                          <a:solidFill>
                            <a:srgbClr val="252423"/>
                          </a:solidFill>
                          <a:latin typeface="Segoe UI"/>
                        </a:rPr>
                        <a:t>ANZ</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82.8</a:t>
                      </a:r>
                      <a:endParaRPr sz="1100"/>
                    </a:p>
                  </a:txBody>
                  <a:tcPr marL="47625" marR="38100" marT="19050" marB="19050" anchor="ctr">
                    <a:solidFill>
                      <a:srgbClr val="FFFFFF"/>
                    </a:solidFill>
                  </a:tcPr>
                </a:tc>
              </a:tr>
            </a:tbl>
          </a:graphicData>
        </a:graphic>
      </p:graphicFrame>
      <p:sp>
        <p:nvSpPr>
          <p:cNvPr id="24" name="TextBox 23"/>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25" name="Rectangle 24"/>
          <p:cNvSpPr/>
          <p:nvPr/>
        </p:nvSpPr>
        <p:spPr>
          <a:xfrm>
            <a:off x="142875" y="6027028"/>
            <a:ext cx="10858500" cy="60237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India performance knitted fabrics market is projected to register 1.1X higher value than ASEAN in 2036. India posts the highest CAGR Index (107), growing at 9.8% against the South Asia Pacific benchmark, while India offers the largest absolute opportunity 320.3 US$ Mn of incremental market between 2026 and 2036 (44% of the South Asia Pacific increment).</a:t>
            </a:r>
          </a:p>
        </p:txBody>
      </p:sp>
      <p:sp>
        <p:nvSpPr>
          <p:cNvPr id="26" name="TextBox 2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Supply Side Trends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recent developments, investments and R&amp;D activity shaping the supply side of the market</a:t>
            </a:r>
          </a:p>
        </p:txBody>
      </p:sp>
      <p:sp>
        <p:nvSpPr>
          <p:cNvPr id="8" name="Rectangle 7"/>
          <p:cNvSpPr/>
          <p:nvPr/>
        </p:nvSpPr>
        <p:spPr>
          <a:xfrm>
            <a:off x="142875" y="981075"/>
            <a:ext cx="58769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Recent Developments &amp; Key Industry Activities</a:t>
            </a:r>
          </a:p>
        </p:txBody>
      </p:sp>
      <p:sp>
        <p:nvSpPr>
          <p:cNvPr id="10" name="Rectangle 9"/>
          <p:cNvSpPr/>
          <p:nvPr/>
        </p:nvSpPr>
        <p:spPr>
          <a:xfrm>
            <a:off x="276225"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Capacity and product development are concentrating in 'Warp Knitted Fabrics' and India.</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Portfolio expansion tracks the shift toward higher-growth fabric construction categories.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Commercial focus is intensifying across India and India.</a:t>
            </a:r>
          </a:p>
        </p:txBody>
      </p:sp>
      <p:sp>
        <p:nvSpPr>
          <p:cNvPr id="12" name="Rectangle 11"/>
          <p:cNvSpPr/>
          <p:nvPr/>
        </p:nvSpPr>
        <p:spPr>
          <a:xfrm>
            <a:off x="6172200" y="981075"/>
            <a:ext cx="58769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14" name="Rectangle 13"/>
          <p:cNvSpPr/>
          <p:nvPr/>
        </p:nvSpPr>
        <p:spPr>
          <a:xfrm>
            <a:off x="6305550"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2026 size 519.6 US$ Mn; 2036 1,248 US$ Mn.</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Forecast CAGR 9.2% (2026–2036).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Lead category 'Weft Knitted Fabrics' 74.1% of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Lead country India 42.3%.</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Incremental opportunity 728.3 US$ Mn.</a:t>
            </a:r>
          </a:p>
        </p:txBody>
      </p:sp>
      <p:sp>
        <p:nvSpPr>
          <p:cNvPr id="16" name="Rectangle 15"/>
          <p:cNvSpPr/>
          <p:nvPr/>
        </p:nvSpPr>
        <p:spPr>
          <a:xfrm>
            <a:off x="142875" y="2895600"/>
            <a:ext cx="5876925" cy="1285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5610225" cy="209550"/>
          </a:xfrm>
          <a:prstGeom prst="rect">
            <a:avLst/>
          </a:prstGeom>
          <a:noFill/>
        </p:spPr>
        <p:txBody>
          <a:bodyPr wrap="square" lIns="0" rIns="19050" tIns="9525" bIns="9525">
            <a:spAutoFit/>
          </a:bodyPr>
          <a:lstStyle/>
          <a:p>
            <a:pPr algn="l"/>
            <a:r>
              <a:rPr sz="1300" b="1">
                <a:solidFill>
                  <a:srgbClr val="007BA5"/>
                </a:solidFill>
                <a:latin typeface="Segoe UI"/>
              </a:rPr>
              <a:t>Strategic Acquisitions &amp; New Investments</a:t>
            </a:r>
          </a:p>
        </p:txBody>
      </p:sp>
      <p:sp>
        <p:nvSpPr>
          <p:cNvPr id="18" name="Rectangle 17"/>
          <p:cNvSpPr/>
          <p:nvPr/>
        </p:nvSpPr>
        <p:spPr>
          <a:xfrm>
            <a:off x="276225" y="32194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Investment is flowing toward the fastest-growing tier 'Warp Knitted Fabrics' (10.0%).</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India (9.8%) is a priority country for new capacity.</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Scale players anchor around 'Weft Knitted Fabrics' (74.1% share).</a:t>
            </a:r>
          </a:p>
        </p:txBody>
      </p:sp>
      <p:sp>
        <p:nvSpPr>
          <p:cNvPr id="20" name="Rectangle 19"/>
          <p:cNvSpPr/>
          <p:nvPr/>
        </p:nvSpPr>
        <p:spPr>
          <a:xfrm>
            <a:off x="6172200" y="2895600"/>
            <a:ext cx="5876925" cy="1285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2981325"/>
            <a:ext cx="5610225" cy="209550"/>
          </a:xfrm>
          <a:prstGeom prst="rect">
            <a:avLst/>
          </a:prstGeom>
          <a:noFill/>
        </p:spPr>
        <p:txBody>
          <a:bodyPr wrap="square" lIns="0" rIns="19050" tIns="9525" bIns="9525">
            <a:spAutoFit/>
          </a:bodyPr>
          <a:lstStyle/>
          <a:p>
            <a:pPr algn="l"/>
            <a:r>
              <a:rPr sz="1300" b="1">
                <a:solidFill>
                  <a:srgbClr val="007BA5"/>
                </a:solidFill>
                <a:latin typeface="Segoe UI"/>
              </a:rPr>
              <a:t>Substantial Investment in R&amp;D</a:t>
            </a:r>
          </a:p>
        </p:txBody>
      </p:sp>
      <p:sp>
        <p:nvSpPr>
          <p:cNvPr id="22" name="Rectangle 21"/>
          <p:cNvSpPr/>
          <p:nvPr/>
        </p:nvSpPr>
        <p:spPr>
          <a:xfrm>
            <a:off x="6305550" y="32194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R&amp;D aligns with the migration to 'Warp Knitted Fabrics' and adjacent premium tiers.</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Development spend targets fabric construction categories gaining share to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Innovation underpins the 9.2% forecast CAGR.</a:t>
            </a:r>
          </a:p>
        </p:txBody>
      </p:sp>
      <p:sp>
        <p:nvSpPr>
          <p:cNvPr id="24" name="Rectangle 23"/>
          <p:cNvSpPr/>
          <p:nvPr/>
        </p:nvSpPr>
        <p:spPr>
          <a:xfrm>
            <a:off x="142875" y="4314825"/>
            <a:ext cx="11906250" cy="22955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8125" y="437197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structure fabric construction share (2036)</a:t>
            </a:r>
          </a:p>
        </p:txBody>
      </p:sp>
      <p:graphicFrame>
        <p:nvGraphicFramePr>
          <p:cNvPr id="26" name="Chart 25"/>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r:id="rId3"/>
          </a:graphicData>
        </a:graphic>
      </p:graphicFrame>
      <p:sp>
        <p:nvSpPr>
          <p:cNvPr id="27" name="TextBox 26"/>
          <p:cNvSpPr txBox="1"/>
          <p:nvPr/>
        </p:nvSpPr>
        <p:spPr>
          <a:xfrm>
            <a:off x="3871570" y="5462588"/>
            <a:ext cx="934136" cy="228600"/>
          </a:xfrm>
          <a:prstGeom prst="rect">
            <a:avLst/>
          </a:prstGeom>
          <a:noFill/>
        </p:spPr>
        <p:txBody>
          <a:bodyPr wrap="square" lIns="28575" rIns="28575" tIns="9525" bIns="9525" anchor="ctr">
            <a:spAutoFit/>
          </a:bodyPr>
          <a:lstStyle/>
          <a:p>
            <a:pPr algn="ctr"/>
            <a:r>
              <a:rPr sz="1300" b="1">
                <a:solidFill>
                  <a:srgbClr val="252423"/>
                </a:solidFill>
                <a:latin typeface="Segoe UI"/>
              </a:rPr>
              <a:t>2036</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Analysis and Recommendation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the market approach, differentiating strategy and FMI's analysis and recommendation</a:t>
            </a:r>
          </a:p>
        </p:txBody>
      </p:sp>
      <p:sp>
        <p:nvSpPr>
          <p:cNvPr id="8" name="Rectangle 7"/>
          <p:cNvSpPr/>
          <p:nvPr/>
        </p:nvSpPr>
        <p:spPr>
          <a:xfrm>
            <a:off x="142875" y="981075"/>
            <a:ext cx="5876925" cy="16859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Overall Market Approach</a:t>
            </a:r>
          </a:p>
        </p:txBody>
      </p:sp>
      <p:sp>
        <p:nvSpPr>
          <p:cNvPr id="10" name="Rectangle 9"/>
          <p:cNvSpPr/>
          <p:nvPr/>
        </p:nvSpPr>
        <p:spPr>
          <a:xfrm>
            <a:off x="276225"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Balance scale in 'Weft Knitted Fabrics' with targeted growth in 'Warp Knitted Fabrics', pursuing the 9.2% CAGR trajectory to 2036.</a:t>
            </a:r>
          </a:p>
        </p:txBody>
      </p:sp>
      <p:sp>
        <p:nvSpPr>
          <p:cNvPr id="12" name="Rectangle 11"/>
          <p:cNvSpPr/>
          <p:nvPr/>
        </p:nvSpPr>
        <p:spPr>
          <a:xfrm>
            <a:off x="6172200" y="981075"/>
            <a:ext cx="5876925" cy="16859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Differentiating Strategy</a:t>
            </a:r>
          </a:p>
        </p:txBody>
      </p:sp>
      <p:sp>
        <p:nvSpPr>
          <p:cNvPr id="14" name="Rectangle 13"/>
          <p:cNvSpPr/>
          <p:nvPr/>
        </p:nvSpPr>
        <p:spPr>
          <a:xfrm>
            <a:off x="6305550"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Differentiate through the high-growth 'Warp Knitted Fabrics' tier and Medical &amp; Healthcare within end-use application.</a:t>
            </a:r>
          </a:p>
        </p:txBody>
      </p:sp>
      <p:sp>
        <p:nvSpPr>
          <p:cNvPr id="16" name="Rectangle 15"/>
          <p:cNvSpPr/>
          <p:nvPr/>
        </p:nvSpPr>
        <p:spPr>
          <a:xfrm>
            <a:off x="142875" y="2800350"/>
            <a:ext cx="5876925" cy="16859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886075"/>
            <a:ext cx="5610225" cy="209550"/>
          </a:xfrm>
          <a:prstGeom prst="rect">
            <a:avLst/>
          </a:prstGeom>
          <a:noFill/>
        </p:spPr>
        <p:txBody>
          <a:bodyPr wrap="square" lIns="0" rIns="19050" tIns="9525" bIns="9525">
            <a:spAutoFit/>
          </a:bodyPr>
          <a:lstStyle/>
          <a:p>
            <a:pPr algn="l"/>
            <a:r>
              <a:rPr sz="1300" b="1">
                <a:solidFill>
                  <a:srgbClr val="007BA5"/>
                </a:solidFill>
                <a:latin typeface="Segoe UI"/>
              </a:rPr>
              <a:t>Market Segment</a:t>
            </a:r>
          </a:p>
        </p:txBody>
      </p:sp>
      <p:sp>
        <p:nvSpPr>
          <p:cNvPr id="18" name="Rectangle 17"/>
          <p:cNvSpPr/>
          <p:nvPr/>
        </p:nvSpPr>
        <p:spPr>
          <a:xfrm>
            <a:off x="276225" y="312420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Prioritise 'Warp Knitted Fabrics' (10.0%); 'Weft Knitted Fabrics' anchors 74.1% of value.</a:t>
            </a:r>
          </a:p>
        </p:txBody>
      </p:sp>
      <p:sp>
        <p:nvSpPr>
          <p:cNvPr id="20" name="Rectangle 19"/>
          <p:cNvSpPr/>
          <p:nvPr/>
        </p:nvSpPr>
        <p:spPr>
          <a:xfrm>
            <a:off x="6172200" y="2800350"/>
            <a:ext cx="5876925" cy="16859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2886075"/>
            <a:ext cx="5610225" cy="209550"/>
          </a:xfrm>
          <a:prstGeom prst="rect">
            <a:avLst/>
          </a:prstGeom>
          <a:noFill/>
        </p:spPr>
        <p:txBody>
          <a:bodyPr wrap="square" lIns="0" rIns="19050" tIns="9525" bIns="9525">
            <a:spAutoFit/>
          </a:bodyPr>
          <a:lstStyle/>
          <a:p>
            <a:pPr algn="l"/>
            <a:r>
              <a:rPr sz="1300" b="1">
                <a:solidFill>
                  <a:srgbClr val="007BA5"/>
                </a:solidFill>
                <a:latin typeface="Segoe UI"/>
              </a:rPr>
              <a:t>Market Country</a:t>
            </a:r>
          </a:p>
        </p:txBody>
      </p:sp>
      <p:sp>
        <p:nvSpPr>
          <p:cNvPr id="22" name="Rectangle 21"/>
          <p:cNvSpPr/>
          <p:nvPr/>
        </p:nvSpPr>
        <p:spPr>
          <a:xfrm>
            <a:off x="6305550" y="312420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Lead with India (42.3%); capture upside in India (9.8%).</a:t>
            </a:r>
          </a:p>
        </p:txBody>
      </p:sp>
      <p:sp>
        <p:nvSpPr>
          <p:cNvPr id="24" name="Rectangle 23"/>
          <p:cNvSpPr/>
          <p:nvPr/>
        </p:nvSpPr>
        <p:spPr>
          <a:xfrm>
            <a:off x="142875" y="4619625"/>
            <a:ext cx="11906250" cy="20002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225" y="4705350"/>
            <a:ext cx="11639550" cy="209550"/>
          </a:xfrm>
          <a:prstGeom prst="rect">
            <a:avLst/>
          </a:prstGeom>
          <a:noFill/>
        </p:spPr>
        <p:txBody>
          <a:bodyPr wrap="square" lIns="0" rIns="19050" tIns="9525" bIns="9525">
            <a:spAutoFit/>
          </a:bodyPr>
          <a:lstStyle/>
          <a:p>
            <a:pPr algn="l"/>
            <a:r>
              <a:rPr sz="1300" b="1">
                <a:solidFill>
                  <a:srgbClr val="007BA5"/>
                </a:solidFill>
                <a:latin typeface="Segoe UI"/>
              </a:rPr>
              <a:t>Fact.MR Analysis &amp; Recommendation</a:t>
            </a:r>
          </a:p>
        </p:txBody>
      </p:sp>
      <p:sp>
        <p:nvSpPr>
          <p:cNvPr id="26" name="Rectangle 25"/>
          <p:cNvSpPr/>
          <p:nvPr/>
        </p:nvSpPr>
        <p:spPr>
          <a:xfrm>
            <a:off x="276225" y="494347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5029200"/>
            <a:ext cx="11639550" cy="15144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Performance Knitted Fabrics adds 728.3 US$ Mn of demand to 2036 a 2.4× expansion.</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Concentrate resources on the leading segment/country while seeding the fastest-growing pockets early.</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Defend share in 'Weft Knitted Fabrics' as the value anchor of the portfolio.</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South Asia Pacific Performance Knitted Fabrics – Country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Regional analysis of size, growth and share across 4 countries, highlighting where value concentrates,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Asia Pacific</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By Country view breaks the South Asia Pacific market down geographically. Each country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Country</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India</a:t>
            </a:r>
          </a:p>
        </p:txBody>
      </p:sp>
      <p:sp>
        <p:nvSpPr>
          <p:cNvPr id="21" name="Rectangle 20"/>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207.3</a:t>
            </a:r>
          </a:p>
        </p:txBody>
      </p:sp>
      <p:sp>
        <p:nvSpPr>
          <p:cNvPr id="22" name="Rectangle 21"/>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527.6</a:t>
            </a:r>
          </a:p>
        </p:txBody>
      </p:sp>
      <p:sp>
        <p:nvSpPr>
          <p:cNvPr id="23" name="Rectangle 22"/>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9.8%</a:t>
            </a:r>
          </a:p>
        </p:txBody>
      </p:sp>
      <p:sp>
        <p:nvSpPr>
          <p:cNvPr id="24" name="Oval 23"/>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ASEAN</a:t>
            </a:r>
          </a:p>
        </p:txBody>
      </p:sp>
      <p:sp>
        <p:nvSpPr>
          <p:cNvPr id="28" name="Rectangle 27"/>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204.7</a:t>
            </a:r>
          </a:p>
        </p:txBody>
      </p:sp>
      <p:sp>
        <p:nvSpPr>
          <p:cNvPr id="29" name="Rectangle 28"/>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489.4</a:t>
            </a:r>
          </a:p>
        </p:txBody>
      </p:sp>
      <p:sp>
        <p:nvSpPr>
          <p:cNvPr id="30" name="Rectangle 29"/>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9.1%</a:t>
            </a:r>
          </a:p>
        </p:txBody>
      </p:sp>
      <p:sp>
        <p:nvSpPr>
          <p:cNvPr id="31" name="Oval 30"/>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ANZ</a:t>
            </a:r>
          </a:p>
        </p:txBody>
      </p:sp>
      <p:sp>
        <p:nvSpPr>
          <p:cNvPr id="35" name="Rectangle 34"/>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75.3</a:t>
            </a:r>
          </a:p>
        </p:txBody>
      </p:sp>
      <p:sp>
        <p:nvSpPr>
          <p:cNvPr id="36" name="Rectangle 35"/>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158.1</a:t>
            </a:r>
          </a:p>
        </p:txBody>
      </p:sp>
      <p:sp>
        <p:nvSpPr>
          <p:cNvPr id="37" name="Rectangle 36"/>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7.7%</a:t>
            </a:r>
          </a:p>
        </p:txBody>
      </p:sp>
      <p:sp>
        <p:nvSpPr>
          <p:cNvPr id="38" name="Oval 37"/>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Rest of South Asia Pacific</a:t>
            </a:r>
          </a:p>
        </p:txBody>
      </p:sp>
      <p:sp>
        <p:nvSpPr>
          <p:cNvPr id="42" name="Rectangle 41"/>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32.3</a:t>
            </a:r>
          </a:p>
        </p:txBody>
      </p:sp>
      <p:sp>
        <p:nvSpPr>
          <p:cNvPr id="43" name="Rectangle 42"/>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72.8</a:t>
            </a:r>
          </a:p>
        </p:txBody>
      </p:sp>
      <p:sp>
        <p:nvSpPr>
          <p:cNvPr id="44" name="Rectangle 43"/>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8.5%</a:t>
            </a:r>
          </a:p>
        </p:txBody>
      </p:sp>
      <p:sp>
        <p:nvSpPr>
          <p:cNvPr id="45" name="Oval 44"/>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8" name="Rectangle 47"/>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India performance knitted fabrics market is projected to register 1.1X higher value than ASEAN in 2036. Among performance knitted fabrics by country, India is expected to witness the highest CAGR of 9.8% over the forecast period.</a:t>
            </a:r>
          </a:p>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In terms of value share by country, India is expected to dominate the market, gaining 236 BPS and accounting for 44.9% share by 2036. ANZ is expected to lose 200 BPS over the forecast period to account for 13.5% share by 2036.</a:t>
            </a:r>
          </a:p>
        </p:txBody>
      </p:sp>
      <p:sp>
        <p:nvSpPr>
          <p:cNvPr id="50" name="Rounded Rectangle 49"/>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2" name="Rectangle 51"/>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India: </a:t>
            </a:r>
            <a:r>
              <a:rPr sz="1100" b="0">
                <a:solidFill>
                  <a:srgbClr val="252423"/>
                </a:solidFill>
                <a:latin typeface="Segoe UI"/>
              </a:rPr>
              <a:t>40% of 2026 value · 9.8% CAGR leads the market.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ASEAN: </a:t>
            </a:r>
            <a:r>
              <a:rPr sz="1100" b="0">
                <a:solidFill>
                  <a:srgbClr val="252423"/>
                </a:solidFill>
                <a:latin typeface="Segoe UI"/>
              </a:rPr>
              <a:t>39% of 2026 value · 9.1% CAGR a smaller market.</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ANZ: </a:t>
            </a:r>
            <a:r>
              <a:rPr sz="1100" b="0">
                <a:solidFill>
                  <a:srgbClr val="252423"/>
                </a:solidFill>
                <a:latin typeface="Segoe UI"/>
              </a:rPr>
              <a:t>14% of 2026 value · 7.7% CAGR a smaller market.</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Rest of South Asia Pacific: </a:t>
            </a:r>
            <a:r>
              <a:rPr sz="1100" b="0">
                <a:solidFill>
                  <a:srgbClr val="252423"/>
                </a:solidFill>
                <a:latin typeface="Segoe UI"/>
              </a:rPr>
              <a:t>6% of 2026 value · 8.5% CAGR a smaller market.</a:t>
            </a:r>
          </a:p>
        </p:txBody>
      </p:sp>
      <p:sp>
        <p:nvSpPr>
          <p:cNvPr id="54" name="Rounded Rectangle 53"/>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6" name="Rectangle 55"/>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By Country split shows where market value concentrates and where growth is fastest.</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demand and access dynamics are rebalancing the geographic mix through 2036.</a:t>
            </a:r>
          </a:p>
        </p:txBody>
      </p:sp>
      <p:sp>
        <p:nvSpPr>
          <p:cNvPr id="58" name="Rectangle 57"/>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South Asia Pacific market is projected to grow at a CAGR of 9.2% from 2026 to 2036.</a:t>
            </a:r>
          </a:p>
        </p:txBody>
      </p:sp>
      <p:sp>
        <p:nvSpPr>
          <p:cNvPr id="60" name="TextBox 59"/>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1" name="TextBox 6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South Asia Pacific Performance Knitted Fabrics Market Analysis, By Country Volume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volume share by country in 2026 and 2036, highlighting share gains and losses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Asia Pacific</a:t>
            </a:r>
          </a:p>
        </p:txBody>
      </p:sp>
      <p:sp>
        <p:nvSpPr>
          <p:cNvPr id="9" name="Rectangle 8"/>
          <p:cNvSpPr/>
          <p:nvPr/>
        </p:nvSpPr>
        <p:spPr>
          <a:xfrm>
            <a:off x="142875" y="981075"/>
            <a:ext cx="6810375"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Share and BPS Assessment By Country, 2026 &amp; 2036</a:t>
            </a:r>
          </a:p>
        </p:txBody>
      </p:sp>
      <p:graphicFrame>
        <p:nvGraphicFramePr>
          <p:cNvPr id="11" name="Chart 10"/>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2" name="TextBox 11"/>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0A4DC"/>
                </a:solidFill>
                <a:latin typeface="Segoe UI"/>
              </a:rPr>
              <a:t>BPS Δ  (2026→2036)</a:t>
            </a:r>
          </a:p>
        </p:txBody>
      </p:sp>
      <p:sp>
        <p:nvSpPr>
          <p:cNvPr id="13" name="FMI Lock Anchor"/>
          <p:cNvSpPr txBox="1"/>
          <p:nvPr/>
        </p:nvSpPr>
        <p:spPr>
          <a:xfrm>
            <a:off x="2489835" y="3352800"/>
            <a:ext cx="38100" cy="38100"/>
          </a:xfrm>
          <a:prstGeom prst="rect">
            <a:avLst/>
          </a:prstGeom>
          <a:noFill/>
        </p:spPr>
        <p:txBody>
          <a:bodyPr wrap="none">
            <a:spAutoFit/>
          </a:bodyPr>
          <a:lstStyle/>
          <a:p/>
        </p:txBody>
      </p:sp>
      <p:sp>
        <p:nvSpPr>
          <p:cNvPr id="14" name="FMI Legend Chip"/>
          <p:cNvSpPr/>
          <p:nvPr/>
        </p:nvSpPr>
        <p:spPr>
          <a:xfrm>
            <a:off x="4551045" y="1582477"/>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4712970" y="157771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4855845" y="1501514"/>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Rest of South Asia Pacific</a:t>
            </a:r>
          </a:p>
        </p:txBody>
      </p:sp>
      <p:sp>
        <p:nvSpPr>
          <p:cNvPr id="17" name="BPS Value 1"/>
          <p:cNvSpPr txBox="1"/>
          <p:nvPr/>
        </p:nvSpPr>
        <p:spPr>
          <a:xfrm>
            <a:off x="6305550" y="1563427"/>
            <a:ext cx="514350" cy="123825"/>
          </a:xfrm>
          <a:prstGeom prst="rect">
            <a:avLst/>
          </a:prstGeom>
          <a:noFill/>
        </p:spPr>
        <p:txBody>
          <a:bodyPr wrap="none" lIns="0" rIns="0" tIns="0" bIns="0" anchor="ctr">
            <a:spAutoFit/>
          </a:bodyPr>
          <a:lstStyle/>
          <a:p>
            <a:pPr algn="r"/>
            <a:r>
              <a:rPr sz="900" b="1">
                <a:solidFill>
                  <a:srgbClr val="D64545"/>
                </a:solidFill>
                <a:latin typeface="Segoe UI"/>
              </a:rPr>
              <a:t>-22</a:t>
            </a:r>
          </a:p>
        </p:txBody>
      </p:sp>
      <p:sp>
        <p:nvSpPr>
          <p:cNvPr id="18" name="FMI Legend Chip"/>
          <p:cNvSpPr/>
          <p:nvPr/>
        </p:nvSpPr>
        <p:spPr>
          <a:xfrm>
            <a:off x="4551045" y="1870807"/>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4712970" y="1866045"/>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4855845" y="1789845"/>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ANZ</a:t>
            </a:r>
          </a:p>
        </p:txBody>
      </p:sp>
      <p:sp>
        <p:nvSpPr>
          <p:cNvPr id="21" name="BPS Value 2"/>
          <p:cNvSpPr txBox="1"/>
          <p:nvPr/>
        </p:nvSpPr>
        <p:spPr>
          <a:xfrm>
            <a:off x="6305550" y="1851757"/>
            <a:ext cx="514350" cy="123825"/>
          </a:xfrm>
          <a:prstGeom prst="rect">
            <a:avLst/>
          </a:prstGeom>
          <a:noFill/>
        </p:spPr>
        <p:txBody>
          <a:bodyPr wrap="none" lIns="0" rIns="0" tIns="0" bIns="0" anchor="ctr">
            <a:spAutoFit/>
          </a:bodyPr>
          <a:lstStyle/>
          <a:p>
            <a:pPr algn="r"/>
            <a:r>
              <a:rPr sz="900" b="1">
                <a:solidFill>
                  <a:srgbClr val="D64545"/>
                </a:solidFill>
                <a:latin typeface="Segoe UI"/>
              </a:rPr>
              <a:t>-104</a:t>
            </a:r>
          </a:p>
        </p:txBody>
      </p:sp>
      <p:sp>
        <p:nvSpPr>
          <p:cNvPr id="22" name="FMI Legend Chip"/>
          <p:cNvSpPr/>
          <p:nvPr/>
        </p:nvSpPr>
        <p:spPr>
          <a:xfrm>
            <a:off x="4551045" y="2780192"/>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4712970" y="2775430"/>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4855845" y="2699230"/>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ASEAN</a:t>
            </a:r>
          </a:p>
        </p:txBody>
      </p:sp>
      <p:sp>
        <p:nvSpPr>
          <p:cNvPr id="25" name="BPS Value 3"/>
          <p:cNvSpPr txBox="1"/>
          <p:nvPr/>
        </p:nvSpPr>
        <p:spPr>
          <a:xfrm>
            <a:off x="6305550" y="2761142"/>
            <a:ext cx="514350" cy="123825"/>
          </a:xfrm>
          <a:prstGeom prst="rect">
            <a:avLst/>
          </a:prstGeom>
          <a:noFill/>
        </p:spPr>
        <p:txBody>
          <a:bodyPr wrap="none" lIns="0" rIns="0" tIns="0" bIns="0" anchor="ctr">
            <a:spAutoFit/>
          </a:bodyPr>
          <a:lstStyle/>
          <a:p>
            <a:pPr algn="r"/>
            <a:r>
              <a:rPr sz="900" b="1">
                <a:solidFill>
                  <a:srgbClr val="1E8E3E"/>
                </a:solidFill>
                <a:latin typeface="Segoe UI"/>
              </a:rPr>
              <a:t>+28</a:t>
            </a:r>
          </a:p>
        </p:txBody>
      </p:sp>
      <p:sp>
        <p:nvSpPr>
          <p:cNvPr id="26" name="FMI Legend Chip"/>
          <p:cNvSpPr/>
          <p:nvPr/>
        </p:nvSpPr>
        <p:spPr>
          <a:xfrm>
            <a:off x="4551045" y="4325424"/>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4712970" y="432066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4855845" y="4244462"/>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India</a:t>
            </a:r>
          </a:p>
        </p:txBody>
      </p:sp>
      <p:sp>
        <p:nvSpPr>
          <p:cNvPr id="29" name="BPS Value 4"/>
          <p:cNvSpPr txBox="1"/>
          <p:nvPr/>
        </p:nvSpPr>
        <p:spPr>
          <a:xfrm>
            <a:off x="6305550" y="4306374"/>
            <a:ext cx="514350" cy="123825"/>
          </a:xfrm>
          <a:prstGeom prst="rect">
            <a:avLst/>
          </a:prstGeom>
          <a:noFill/>
        </p:spPr>
        <p:txBody>
          <a:bodyPr wrap="none" lIns="0" rIns="0" tIns="0" bIns="0" anchor="ctr">
            <a:spAutoFit/>
          </a:bodyPr>
          <a:lstStyle/>
          <a:p>
            <a:pPr algn="r"/>
            <a:r>
              <a:rPr sz="900" b="1">
                <a:solidFill>
                  <a:srgbClr val="1E8E3E"/>
                </a:solidFill>
                <a:latin typeface="Segoe UI"/>
              </a:rPr>
              <a:t>+99</a:t>
            </a:r>
          </a:p>
        </p:txBody>
      </p:sp>
      <p:sp>
        <p:nvSpPr>
          <p:cNvPr id="30" name="Rectangle 29"/>
          <p:cNvSpPr/>
          <p:nvPr/>
        </p:nvSpPr>
        <p:spPr>
          <a:xfrm>
            <a:off x="7105650" y="981075"/>
            <a:ext cx="4933950"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07BA5"/>
                </a:solidFill>
                <a:latin typeface="Segoe UI"/>
              </a:rPr>
              <a:t>Regional Highlights</a:t>
            </a:r>
          </a:p>
        </p:txBody>
      </p:sp>
      <p:sp>
        <p:nvSpPr>
          <p:cNvPr id="32" name="Rectangle 31"/>
          <p:cNvSpPr/>
          <p:nvPr/>
        </p:nvSpPr>
        <p:spPr>
          <a:xfrm>
            <a:off x="7239000" y="1304925"/>
            <a:ext cx="46672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India performance knitted fabrics market is projected to register 1.1X higher volume than ASEAN in 2036. Among performance knitted fabrics by country, India is expected to witness the highest CAGR of 7.9% over the forecast period.</a:t>
            </a:r>
          </a:p>
          <a:p>
            <a:pPr algn="l">
              <a:lnSpc>
                <a:spcPct val="110000"/>
              </a:lnSpc>
              <a:spcBef>
                <a:spcPts val="0"/>
              </a:spcBef>
              <a:spcAft>
                <a:spcPts val="500"/>
              </a:spcAft>
            </a:pPr>
            <a:r>
              <a:rPr sz="1150" b="0">
                <a:solidFill>
                  <a:srgbClr val="252423"/>
                </a:solidFill>
                <a:latin typeface="Segoe UI"/>
              </a:rPr>
              <a:t>In terms of volume share by country, India is expected to dominate the market, gaining 95 BPS and accounting for 46.9% share by 2036. ANZ is expected to lose 114 BPS over the forecast period to account for 9.8% share by 2036.</a:t>
            </a:r>
          </a:p>
        </p:txBody>
      </p:sp>
      <p:sp>
        <p:nvSpPr>
          <p:cNvPr id="34" name="Rounded Rectangle 33"/>
          <p:cNvSpPr/>
          <p:nvPr/>
        </p:nvSpPr>
        <p:spPr>
          <a:xfrm>
            <a:off x="142875" y="5648325"/>
            <a:ext cx="3943350"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TOTAL (MN SQ. YARDS)</a:t>
            </a:r>
          </a:p>
          <a:p>
            <a:pPr algn="ctr">
              <a:lnSpc>
                <a:spcPct val="95000"/>
              </a:lnSpc>
            </a:pPr>
            <a:r>
              <a:rPr sz="2000" b="1">
                <a:solidFill>
                  <a:srgbClr val="00A4DC"/>
                </a:solidFill>
                <a:latin typeface="Segoe UI"/>
              </a:rPr>
              <a:t>211.4</a:t>
            </a:r>
          </a:p>
        </p:txBody>
      </p:sp>
      <p:sp>
        <p:nvSpPr>
          <p:cNvPr id="35" name="Rounded Rectangle 34"/>
          <p:cNvSpPr/>
          <p:nvPr/>
        </p:nvSpPr>
        <p:spPr>
          <a:xfrm>
            <a:off x="4238625"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TOTAL (MN SQ. YARDS)</a:t>
            </a:r>
          </a:p>
          <a:p>
            <a:pPr algn="ctr">
              <a:lnSpc>
                <a:spcPct val="95000"/>
              </a:lnSpc>
            </a:pPr>
            <a:r>
              <a:rPr sz="2000" b="1">
                <a:solidFill>
                  <a:srgbClr val="00A4DC"/>
                </a:solidFill>
                <a:latin typeface="Segoe UI"/>
              </a:rPr>
              <a:t>443.5</a:t>
            </a:r>
          </a:p>
        </p:txBody>
      </p:sp>
      <p:sp>
        <p:nvSpPr>
          <p:cNvPr id="36" name="Rounded Rectangle 35"/>
          <p:cNvSpPr/>
          <p:nvPr/>
        </p:nvSpPr>
        <p:spPr>
          <a:xfrm>
            <a:off x="8210550"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2000" b="1">
                <a:solidFill>
                  <a:srgbClr val="00A4DC"/>
                </a:solidFill>
                <a:latin typeface="Segoe UI"/>
              </a:rPr>
              <a:t>7.7%</a:t>
            </a:r>
          </a:p>
        </p:txBody>
      </p:sp>
      <p:sp>
        <p:nvSpPr>
          <p:cNvPr id="37" name="TextBox 3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South Asia Pacific Performance Knitted Fabrics Market Analysis, By Country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value share by country in 2026 and 2036, highlighting share gains and losses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Asia Pacific</a:t>
            </a:r>
          </a:p>
        </p:txBody>
      </p:sp>
      <p:sp>
        <p:nvSpPr>
          <p:cNvPr id="9" name="Rectangle 8"/>
          <p:cNvSpPr/>
          <p:nvPr/>
        </p:nvSpPr>
        <p:spPr>
          <a:xfrm>
            <a:off x="142875" y="981075"/>
            <a:ext cx="6810375"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Share and BPS Assessment By Country, 2026 &amp; 2036</a:t>
            </a:r>
          </a:p>
        </p:txBody>
      </p:sp>
      <p:graphicFrame>
        <p:nvGraphicFramePr>
          <p:cNvPr id="11" name="Chart 10"/>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2" name="TextBox 11"/>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0A4DC"/>
                </a:solidFill>
                <a:latin typeface="Segoe UI"/>
              </a:rPr>
              <a:t>BPS Δ  (2026→2036)</a:t>
            </a:r>
          </a:p>
        </p:txBody>
      </p:sp>
      <p:sp>
        <p:nvSpPr>
          <p:cNvPr id="13" name="FMI Lock Anchor"/>
          <p:cNvSpPr txBox="1"/>
          <p:nvPr/>
        </p:nvSpPr>
        <p:spPr>
          <a:xfrm>
            <a:off x="2489835" y="3352800"/>
            <a:ext cx="38100" cy="38100"/>
          </a:xfrm>
          <a:prstGeom prst="rect">
            <a:avLst/>
          </a:prstGeom>
          <a:noFill/>
        </p:spPr>
        <p:txBody>
          <a:bodyPr wrap="none">
            <a:spAutoFit/>
          </a:bodyPr>
          <a:lstStyle/>
          <a:p/>
        </p:txBody>
      </p:sp>
      <p:sp>
        <p:nvSpPr>
          <p:cNvPr id="14" name="FMI Legend Chip"/>
          <p:cNvSpPr/>
          <p:nvPr/>
        </p:nvSpPr>
        <p:spPr>
          <a:xfrm>
            <a:off x="4551045" y="1569040"/>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4712970" y="1564278"/>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4855845" y="1488078"/>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Rest of South Asia Pacific</a:t>
            </a:r>
          </a:p>
        </p:txBody>
      </p:sp>
      <p:sp>
        <p:nvSpPr>
          <p:cNvPr id="17" name="BPS Value 1"/>
          <p:cNvSpPr txBox="1"/>
          <p:nvPr/>
        </p:nvSpPr>
        <p:spPr>
          <a:xfrm>
            <a:off x="6305550" y="1549990"/>
            <a:ext cx="514350" cy="123825"/>
          </a:xfrm>
          <a:prstGeom prst="rect">
            <a:avLst/>
          </a:prstGeom>
          <a:noFill/>
        </p:spPr>
        <p:txBody>
          <a:bodyPr wrap="none" lIns="0" rIns="0" tIns="0" bIns="0" anchor="ctr">
            <a:spAutoFit/>
          </a:bodyPr>
          <a:lstStyle/>
          <a:p>
            <a:pPr algn="r"/>
            <a:r>
              <a:rPr sz="900" b="1">
                <a:solidFill>
                  <a:srgbClr val="D64545"/>
                </a:solidFill>
                <a:latin typeface="Segoe UI"/>
              </a:rPr>
              <a:t>-39</a:t>
            </a:r>
          </a:p>
        </p:txBody>
      </p:sp>
      <p:sp>
        <p:nvSpPr>
          <p:cNvPr id="18" name="FMI Legend Chip"/>
          <p:cNvSpPr/>
          <p:nvPr/>
        </p:nvSpPr>
        <p:spPr>
          <a:xfrm>
            <a:off x="4551045" y="1908257"/>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4712970" y="1903495"/>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4855845" y="1827295"/>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ANZ</a:t>
            </a:r>
          </a:p>
        </p:txBody>
      </p:sp>
      <p:sp>
        <p:nvSpPr>
          <p:cNvPr id="21" name="BPS Value 2"/>
          <p:cNvSpPr txBox="1"/>
          <p:nvPr/>
        </p:nvSpPr>
        <p:spPr>
          <a:xfrm>
            <a:off x="6305550" y="1889207"/>
            <a:ext cx="514350" cy="123825"/>
          </a:xfrm>
          <a:prstGeom prst="rect">
            <a:avLst/>
          </a:prstGeom>
          <a:noFill/>
        </p:spPr>
        <p:txBody>
          <a:bodyPr wrap="none" lIns="0" rIns="0" tIns="0" bIns="0" anchor="ctr">
            <a:spAutoFit/>
          </a:bodyPr>
          <a:lstStyle/>
          <a:p>
            <a:pPr algn="r"/>
            <a:r>
              <a:rPr sz="900" b="1">
                <a:solidFill>
                  <a:srgbClr val="D64545"/>
                </a:solidFill>
                <a:latin typeface="Segoe UI"/>
              </a:rPr>
              <a:t>-183</a:t>
            </a:r>
          </a:p>
        </p:txBody>
      </p:sp>
      <p:sp>
        <p:nvSpPr>
          <p:cNvPr id="22" name="FMI Legend Chip"/>
          <p:cNvSpPr/>
          <p:nvPr/>
        </p:nvSpPr>
        <p:spPr>
          <a:xfrm>
            <a:off x="4551045" y="2859636"/>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rot="10800000">
            <a:off x="4712970" y="285487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4855845" y="2778674"/>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ASEAN</a:t>
            </a:r>
          </a:p>
        </p:txBody>
      </p:sp>
      <p:sp>
        <p:nvSpPr>
          <p:cNvPr id="25" name="BPS Value 3"/>
          <p:cNvSpPr txBox="1"/>
          <p:nvPr/>
        </p:nvSpPr>
        <p:spPr>
          <a:xfrm>
            <a:off x="6305550" y="2840586"/>
            <a:ext cx="514350" cy="123825"/>
          </a:xfrm>
          <a:prstGeom prst="rect">
            <a:avLst/>
          </a:prstGeom>
          <a:noFill/>
        </p:spPr>
        <p:txBody>
          <a:bodyPr wrap="none" lIns="0" rIns="0" tIns="0" bIns="0" anchor="ctr">
            <a:spAutoFit/>
          </a:bodyPr>
          <a:lstStyle/>
          <a:p>
            <a:pPr algn="r"/>
            <a:r>
              <a:rPr sz="900" b="1">
                <a:solidFill>
                  <a:srgbClr val="D64545"/>
                </a:solidFill>
                <a:latin typeface="Segoe UI"/>
              </a:rPr>
              <a:t>-17</a:t>
            </a:r>
          </a:p>
        </p:txBody>
      </p:sp>
      <p:sp>
        <p:nvSpPr>
          <p:cNvPr id="26" name="FMI Legend Chip"/>
          <p:cNvSpPr/>
          <p:nvPr/>
        </p:nvSpPr>
        <p:spPr>
          <a:xfrm>
            <a:off x="4551045" y="4353982"/>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4712970" y="434921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4855845" y="4273019"/>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India</a:t>
            </a:r>
          </a:p>
        </p:txBody>
      </p:sp>
      <p:sp>
        <p:nvSpPr>
          <p:cNvPr id="29" name="BPS Value 4"/>
          <p:cNvSpPr txBox="1"/>
          <p:nvPr/>
        </p:nvSpPr>
        <p:spPr>
          <a:xfrm>
            <a:off x="6305550" y="4334932"/>
            <a:ext cx="514350" cy="123825"/>
          </a:xfrm>
          <a:prstGeom prst="rect">
            <a:avLst/>
          </a:prstGeom>
          <a:noFill/>
        </p:spPr>
        <p:txBody>
          <a:bodyPr wrap="none" lIns="0" rIns="0" tIns="0" bIns="0" anchor="ctr">
            <a:spAutoFit/>
          </a:bodyPr>
          <a:lstStyle/>
          <a:p>
            <a:pPr algn="r"/>
            <a:r>
              <a:rPr sz="900" b="1">
                <a:solidFill>
                  <a:srgbClr val="1E8E3E"/>
                </a:solidFill>
                <a:latin typeface="Segoe UI"/>
              </a:rPr>
              <a:t>+239</a:t>
            </a:r>
          </a:p>
        </p:txBody>
      </p:sp>
      <p:sp>
        <p:nvSpPr>
          <p:cNvPr id="30" name="Rectangle 29"/>
          <p:cNvSpPr/>
          <p:nvPr/>
        </p:nvSpPr>
        <p:spPr>
          <a:xfrm>
            <a:off x="7105650" y="981075"/>
            <a:ext cx="4933950"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07BA5"/>
                </a:solidFill>
                <a:latin typeface="Segoe UI"/>
              </a:rPr>
              <a:t>Regional Highlights</a:t>
            </a:r>
          </a:p>
        </p:txBody>
      </p:sp>
      <p:sp>
        <p:nvSpPr>
          <p:cNvPr id="32" name="Rectangle 31"/>
          <p:cNvSpPr/>
          <p:nvPr/>
        </p:nvSpPr>
        <p:spPr>
          <a:xfrm>
            <a:off x="7239000" y="1304925"/>
            <a:ext cx="46672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India performance knitted fabrics market is projected to register 1.1X higher value than ASEAN in 2036. Among performance knitted fabrics by country, India is expected to witness the highest CAGR of 9.8% over the forecast period.</a:t>
            </a:r>
          </a:p>
          <a:p>
            <a:pPr algn="l">
              <a:lnSpc>
                <a:spcPct val="110000"/>
              </a:lnSpc>
              <a:spcBef>
                <a:spcPts val="0"/>
              </a:spcBef>
              <a:spcAft>
                <a:spcPts val="500"/>
              </a:spcAft>
            </a:pPr>
            <a:r>
              <a:rPr sz="1150" b="0">
                <a:solidFill>
                  <a:srgbClr val="252423"/>
                </a:solidFill>
                <a:latin typeface="Segoe UI"/>
              </a:rPr>
              <a:t>In terms of value share by country, India is expected to dominate the market, gaining 236 BPS and accounting for 44.9% share by 2036. ANZ is expected to lose 200 BPS over the forecast period to account for 13.5% share by 2036.</a:t>
            </a:r>
          </a:p>
        </p:txBody>
      </p:sp>
      <p:sp>
        <p:nvSpPr>
          <p:cNvPr id="34" name="Rounded Rectangle 33"/>
          <p:cNvSpPr/>
          <p:nvPr/>
        </p:nvSpPr>
        <p:spPr>
          <a:xfrm>
            <a:off x="142875" y="5648325"/>
            <a:ext cx="3943350"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TOTAL (US$ MN)</a:t>
            </a:r>
          </a:p>
          <a:p>
            <a:pPr algn="ctr">
              <a:lnSpc>
                <a:spcPct val="95000"/>
              </a:lnSpc>
            </a:pPr>
            <a:r>
              <a:rPr sz="2000" b="1">
                <a:solidFill>
                  <a:srgbClr val="00A4DC"/>
                </a:solidFill>
                <a:latin typeface="Segoe UI"/>
              </a:rPr>
              <a:t>519.6</a:t>
            </a:r>
          </a:p>
        </p:txBody>
      </p:sp>
      <p:sp>
        <p:nvSpPr>
          <p:cNvPr id="35" name="Rounded Rectangle 34"/>
          <p:cNvSpPr/>
          <p:nvPr/>
        </p:nvSpPr>
        <p:spPr>
          <a:xfrm>
            <a:off x="4238625"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TOTAL (US$ MN)</a:t>
            </a:r>
          </a:p>
          <a:p>
            <a:pPr algn="ctr">
              <a:lnSpc>
                <a:spcPct val="95000"/>
              </a:lnSpc>
            </a:pPr>
            <a:r>
              <a:rPr sz="2000" b="1">
                <a:solidFill>
                  <a:srgbClr val="00A4DC"/>
                </a:solidFill>
                <a:latin typeface="Segoe UI"/>
              </a:rPr>
              <a:t>1,248</a:t>
            </a:r>
          </a:p>
        </p:txBody>
      </p:sp>
      <p:sp>
        <p:nvSpPr>
          <p:cNvPr id="36" name="Rounded Rectangle 35"/>
          <p:cNvSpPr/>
          <p:nvPr/>
        </p:nvSpPr>
        <p:spPr>
          <a:xfrm>
            <a:off x="8210550"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2000" b="1">
                <a:solidFill>
                  <a:srgbClr val="00A4DC"/>
                </a:solidFill>
                <a:latin typeface="Segoe UI"/>
              </a:rPr>
              <a:t>9.2%</a:t>
            </a:r>
          </a:p>
        </p:txBody>
      </p:sp>
      <p:sp>
        <p:nvSpPr>
          <p:cNvPr id="37" name="TextBox 3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South Asia Pacific Performance Knitted Fabrics Market Share Analysis, By Country Volume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volume and share by country, 2021–2036, highlighting the geographies gaining and ceding ground</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Asia Pacific</a:t>
            </a:r>
          </a:p>
        </p:txBody>
      </p:sp>
      <p:sp>
        <p:nvSpPr>
          <p:cNvPr id="9" name="Rectangle 8"/>
          <p:cNvSpPr/>
          <p:nvPr/>
        </p:nvSpPr>
        <p:spPr>
          <a:xfrm>
            <a:off x="142875" y="981075"/>
            <a:ext cx="11906250" cy="1762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South Asia Pacific Market Size, By Country (Mn Sq. Yards)</a:t>
            </a:r>
          </a:p>
        </p:txBody>
      </p:sp>
      <p:graphicFrame>
        <p:nvGraphicFramePr>
          <p:cNvPr id="11" name="Table 10"/>
          <p:cNvGraphicFramePr>
            <a:graphicFrameLocks noGrp="1"/>
          </p:cNvGraphicFramePr>
          <p:nvPr/>
        </p:nvGraphicFramePr>
        <p:xfrm>
          <a:off x="152400" y="1238250"/>
          <a:ext cx="11887197" cy="1295400"/>
        </p:xfrm>
        <a:graphic>
          <a:graphicData uri="http://schemas.openxmlformats.org/drawingml/2006/table">
            <a:tbl>
              <a:tblPr>
                <a:tableStyleId>{5C22544A-7EE6-4342-B048-85BDC9FD1C3A}</a:tableStyleId>
              </a:tblPr>
              <a:tblGrid>
                <a:gridCol w="2013177"/>
                <a:gridCol w="592405"/>
                <a:gridCol w="592405"/>
                <a:gridCol w="592405"/>
                <a:gridCol w="592405"/>
                <a:gridCol w="592405"/>
                <a:gridCol w="565443"/>
                <a:gridCol w="565443"/>
                <a:gridCol w="565443"/>
                <a:gridCol w="565443"/>
                <a:gridCol w="565443"/>
                <a:gridCol w="565443"/>
                <a:gridCol w="565443"/>
                <a:gridCol w="565443"/>
                <a:gridCol w="565443"/>
                <a:gridCol w="565443"/>
                <a:gridCol w="565443"/>
                <a:gridCol w="692122"/>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r>
              <a:tr h="216027">
                <a:tc>
                  <a:txBody>
                    <a:bodyPr wrap="none"/>
                    <a:lstStyle/>
                    <a:p>
                      <a:pPr algn="l"/>
                      <a:r>
                        <a:rPr sz="1100" b="1">
                          <a:solidFill>
                            <a:srgbClr val="252423"/>
                          </a:solidFill>
                          <a:latin typeface="Segoe UI"/>
                        </a:rPr>
                        <a:t>India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62.6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67.6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72.9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78.4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84.2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90.6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97.4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104.7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112.7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121.9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132.1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143.2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155.1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167.7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180.8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194.4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7.9%</a:t>
                      </a:r>
                      <a:endParaRPr sz="1100"/>
                    </a:p>
                  </a:txBody>
                  <a:tcPr marL="47625" marR="38100" marT="19050" marB="19050" anchor="ctr">
                    <a:solidFill>
                      <a:srgbClr val="FFFFFF"/>
                    </a:solidFill>
                  </a:tcPr>
                </a:tc>
              </a:tr>
              <a:tr h="216027">
                <a:tc>
                  <a:txBody>
                    <a:bodyPr wrap="none"/>
                    <a:lstStyle/>
                    <a:p>
                      <a:pPr algn="l"/>
                      <a:r>
                        <a:rPr sz="1100" b="1">
                          <a:solidFill>
                            <a:srgbClr val="252423"/>
                          </a:solidFill>
                          <a:latin typeface="Segoe UI"/>
                        </a:rPr>
                        <a:t>ASEAN</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62.8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66.1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70.0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74.3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79.3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84.9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91.1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98.0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105.8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114.5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123.9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133.9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144.5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155.6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167.2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179.3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7.8%</a:t>
                      </a:r>
                      <a:endParaRPr sz="1100"/>
                    </a:p>
                  </a:txBody>
                  <a:tcPr marL="47625" marR="38100" marT="19050" marB="19050" anchor="ctr">
                    <a:solidFill>
                      <a:srgbClr val="F2FAFD"/>
                    </a:solidFill>
                  </a:tcPr>
                </a:tc>
              </a:tr>
              <a:tr h="216027">
                <a:tc>
                  <a:txBody>
                    <a:bodyPr wrap="none"/>
                    <a:lstStyle/>
                    <a:p>
                      <a:pPr algn="l"/>
                      <a:r>
                        <a:rPr sz="1100" b="1">
                          <a:solidFill>
                            <a:srgbClr val="252423"/>
                          </a:solidFill>
                          <a:latin typeface="Segoe UI"/>
                        </a:rPr>
                        <a:t>ANZ</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16.6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17.4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18.3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19.2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20.3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21.6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23.0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24.5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26.2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28.0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29.9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31.9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34.0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36.1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38.3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40.6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6.5%</a:t>
                      </a:r>
                      <a:endParaRPr sz="1100"/>
                    </a:p>
                  </a:txBody>
                  <a:tcPr marL="47625" marR="38100" marT="19050" marB="19050" anchor="ctr">
                    <a:solidFill>
                      <a:srgbClr val="FFFFFF"/>
                    </a:solidFill>
                  </a:tcPr>
                </a:tc>
              </a:tr>
              <a:tr h="216027">
                <a:tc>
                  <a:txBody>
                    <a:bodyPr wrap="none"/>
                    <a:lstStyle/>
                    <a:p>
                      <a:pPr algn="l"/>
                      <a:r>
                        <a:rPr sz="1100" b="1">
                          <a:solidFill>
                            <a:srgbClr val="252423"/>
                          </a:solidFill>
                          <a:latin typeface="Segoe UI"/>
                        </a:rPr>
                        <a:t>Rest of South Asia Pacific</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10.3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12.5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13.4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14.3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15.3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16.3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17.5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18.8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20.3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21.9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23.6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25.4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27.2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29.1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7.3%</a:t>
                      </a:r>
                      <a:endParaRPr sz="1100"/>
                    </a:p>
                  </a:txBody>
                  <a:tcPr marL="47625" marR="38100" marT="19050" marB="19050" anchor="ctr">
                    <a:solidFill>
                      <a:srgbClr val="F2FAFD"/>
                    </a:solidFill>
                  </a:tcPr>
                </a:tc>
              </a:tr>
              <a:tr h="216027">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152.3</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162.1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172.9</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184.5</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197.3</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211.4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226.7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243.6</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262.1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283.1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306.2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330.9</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357.2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384.8</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413.6</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443.5</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7.7%</a:t>
                      </a:r>
                      <a:endParaRPr sz="1100"/>
                    </a:p>
                  </a:txBody>
                  <a:tcPr marL="47625" marR="38100" marT="19050" marB="19050" anchor="ctr">
                    <a:solidFill>
                      <a:srgbClr val="E0F2FA"/>
                    </a:solidFill>
                  </a:tcPr>
                </a:tc>
              </a:tr>
            </a:tbl>
          </a:graphicData>
        </a:graphic>
      </p:graphicFrame>
      <p:sp>
        <p:nvSpPr>
          <p:cNvPr id="12" name="TextBox 11"/>
          <p:cNvSpPr txBox="1"/>
          <p:nvPr/>
        </p:nvSpPr>
        <p:spPr>
          <a:xfrm>
            <a:off x="219075" y="25431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3" name="Rectangle 12"/>
          <p:cNvSpPr/>
          <p:nvPr/>
        </p:nvSpPr>
        <p:spPr>
          <a:xfrm>
            <a:off x="142875" y="2876550"/>
            <a:ext cx="11906250" cy="3752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2962275"/>
            <a:ext cx="11639550" cy="209550"/>
          </a:xfrm>
          <a:prstGeom prst="rect">
            <a:avLst/>
          </a:prstGeom>
          <a:noFill/>
        </p:spPr>
        <p:txBody>
          <a:bodyPr wrap="square" lIns="0" rIns="19050" tIns="9525" bIns="9525">
            <a:spAutoFit/>
          </a:bodyPr>
          <a:lstStyle/>
          <a:p>
            <a:pPr algn="l"/>
            <a:r>
              <a:rPr sz="1300" b="1">
                <a:solidFill>
                  <a:srgbClr val="007BA5"/>
                </a:solidFill>
                <a:latin typeface="Segoe UI"/>
              </a:rPr>
              <a:t>South Asia Pacific Volume Share Read-out, By Country</a:t>
            </a:r>
          </a:p>
        </p:txBody>
      </p:sp>
      <p:sp>
        <p:nvSpPr>
          <p:cNvPr id="15" name="Rectangle 14"/>
          <p:cNvSpPr/>
          <p:nvPr/>
        </p:nvSpPr>
        <p:spPr>
          <a:xfrm>
            <a:off x="276225" y="32004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286125"/>
            <a:ext cx="11639550" cy="32670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India performance knitted fabrics market is projected to register 1.1X higher volume than ASEAN in 2036. Among performance knitted fabrics by country, India is expected to witness the highest CAGR of 7.9% over the forecast period.</a:t>
            </a:r>
          </a:p>
          <a:p>
            <a:pPr algn="l">
              <a:lnSpc>
                <a:spcPct val="110000"/>
              </a:lnSpc>
              <a:spcBef>
                <a:spcPts val="0"/>
              </a:spcBef>
              <a:spcAft>
                <a:spcPts val="500"/>
              </a:spcAft>
            </a:pPr>
            <a:r>
              <a:rPr sz="1150" b="0">
                <a:solidFill>
                  <a:srgbClr val="252423"/>
                </a:solidFill>
                <a:latin typeface="Segoe UI"/>
              </a:rPr>
              <a:t>In terms of volume share by country, India is expected to dominate the market, gaining 95 BPS and accounting for 46.9% share by 2036. ANZ is expected to lose 114 BPS over the forecast period to account for 9.8% share by 2036.</a:t>
            </a:r>
          </a:p>
        </p:txBody>
      </p:sp>
      <p:sp>
        <p:nvSpPr>
          <p:cNvPr id="17" name="TextBox 1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South Asia Pacific Performance Knitted Fabrics Market Share Analysis, By Country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and share by country, 2021–2036, highlighting the geographies gaining and ceding ground</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Asia Pacific</a:t>
            </a:r>
          </a:p>
        </p:txBody>
      </p:sp>
      <p:sp>
        <p:nvSpPr>
          <p:cNvPr id="9" name="Rectangle 8"/>
          <p:cNvSpPr/>
          <p:nvPr/>
        </p:nvSpPr>
        <p:spPr>
          <a:xfrm>
            <a:off x="142875" y="981075"/>
            <a:ext cx="11906250" cy="1762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South Asia Pacific Market Size, By Country (US$ Mn)</a:t>
            </a:r>
          </a:p>
        </p:txBody>
      </p:sp>
      <p:graphicFrame>
        <p:nvGraphicFramePr>
          <p:cNvPr id="11" name="Table 10"/>
          <p:cNvGraphicFramePr>
            <a:graphicFrameLocks noGrp="1"/>
          </p:cNvGraphicFramePr>
          <p:nvPr/>
        </p:nvGraphicFramePr>
        <p:xfrm>
          <a:off x="152400" y="1238250"/>
          <a:ext cx="11887197" cy="1295400"/>
        </p:xfrm>
        <a:graphic>
          <a:graphicData uri="http://schemas.openxmlformats.org/drawingml/2006/table">
            <a:tbl>
              <a:tblPr>
                <a:tableStyleId>{5C22544A-7EE6-4342-B048-85BDC9FD1C3A}</a:tableStyleId>
              </a:tblPr>
              <a:tblGrid>
                <a:gridCol w="2013177"/>
                <a:gridCol w="592405"/>
                <a:gridCol w="592405"/>
                <a:gridCol w="592405"/>
                <a:gridCol w="592405"/>
                <a:gridCol w="592405"/>
                <a:gridCol w="565443"/>
                <a:gridCol w="565443"/>
                <a:gridCol w="565443"/>
                <a:gridCol w="565443"/>
                <a:gridCol w="565443"/>
                <a:gridCol w="565443"/>
                <a:gridCol w="565443"/>
                <a:gridCol w="565443"/>
                <a:gridCol w="565443"/>
                <a:gridCol w="565443"/>
                <a:gridCol w="565443"/>
                <a:gridCol w="692122"/>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r>
              <a:tr h="216027">
                <a:tc>
                  <a:txBody>
                    <a:bodyPr wrap="none"/>
                    <a:lstStyle/>
                    <a:p>
                      <a:pPr algn="l"/>
                      <a:r>
                        <a:rPr sz="1100" b="1">
                          <a:solidFill>
                            <a:srgbClr val="252423"/>
                          </a:solidFill>
                          <a:latin typeface="Segoe UI"/>
                        </a:rPr>
                        <a:t>India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138.9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150.6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163.2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176.4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190.7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207.3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225.6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245.9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268.5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294.9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324.9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358.6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395.8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436.4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480.3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527.6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9.8%</a:t>
                      </a:r>
                      <a:endParaRPr sz="1100"/>
                    </a:p>
                  </a:txBody>
                  <a:tcPr marL="47625" marR="38100" marT="19050" marB="19050" anchor="ctr">
                    <a:solidFill>
                      <a:srgbClr val="FFFFFF"/>
                    </a:solidFill>
                  </a:tcPr>
                </a:tc>
              </a:tr>
              <a:tr h="216027">
                <a:tc>
                  <a:txBody>
                    <a:bodyPr wrap="none"/>
                    <a:lstStyle/>
                    <a:p>
                      <a:pPr algn="l"/>
                      <a:r>
                        <a:rPr sz="1100" b="1">
                          <a:solidFill>
                            <a:srgbClr val="252423"/>
                          </a:solidFill>
                          <a:latin typeface="Segoe UI"/>
                        </a:rPr>
                        <a:t>ASEAN</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145.0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154.0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164.3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176.0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189.2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204.7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221.9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241.3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263.1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287.6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314.9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344.7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376.9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411.8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449.2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489.4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9.1%</a:t>
                      </a:r>
                      <a:endParaRPr sz="1100"/>
                    </a:p>
                  </a:txBody>
                  <a:tcPr marL="47625" marR="38100" marT="19050" marB="19050" anchor="ctr">
                    <a:solidFill>
                      <a:srgbClr val="F2FAFD"/>
                    </a:solidFill>
                  </a:tcPr>
                </a:tc>
              </a:tr>
              <a:tr h="216027">
                <a:tc>
                  <a:txBody>
                    <a:bodyPr wrap="none"/>
                    <a:lstStyle/>
                    <a:p>
                      <a:pPr algn="l"/>
                      <a:r>
                        <a:rPr sz="1100" b="1">
                          <a:solidFill>
                            <a:srgbClr val="252423"/>
                          </a:solidFill>
                          <a:latin typeface="Segoe UI"/>
                        </a:rPr>
                        <a:t>ANZ</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56.5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59.4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62.7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66.3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70.4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75.3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80.8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87.0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93.8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101.2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109.2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117.8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127.0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136.8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147.1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158.1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7.7%</a:t>
                      </a:r>
                      <a:endParaRPr sz="1100"/>
                    </a:p>
                  </a:txBody>
                  <a:tcPr marL="47625" marR="38100" marT="19050" marB="19050" anchor="ctr">
                    <a:solidFill>
                      <a:srgbClr val="FFFFFF"/>
                    </a:solidFill>
                  </a:tcPr>
                </a:tc>
              </a:tr>
              <a:tr h="216027">
                <a:tc>
                  <a:txBody>
                    <a:bodyPr wrap="none"/>
                    <a:lstStyle/>
                    <a:p>
                      <a:pPr algn="l"/>
                      <a:r>
                        <a:rPr sz="1100" b="1">
                          <a:solidFill>
                            <a:srgbClr val="252423"/>
                          </a:solidFill>
                          <a:latin typeface="Segoe UI"/>
                        </a:rPr>
                        <a:t>Rest of South Asia Pacific</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22.5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24.2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26.0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28.0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30.0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32.3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34.8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37.4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40.4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43.9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47.8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52.1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56.8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61.8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67.1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72.8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8.5%</a:t>
                      </a:r>
                      <a:endParaRPr sz="1100"/>
                    </a:p>
                  </a:txBody>
                  <a:tcPr marL="47625" marR="38100" marT="19050" marB="19050" anchor="ctr">
                    <a:solidFill>
                      <a:srgbClr val="F2FAFD"/>
                    </a:solidFill>
                  </a:tcPr>
                </a:tc>
              </a:tr>
              <a:tr h="216027">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363.0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388.3</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416.1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446.6</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480.4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519.6</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563.2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611.6</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665.8</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727.6</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796.9</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873.3</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956.5</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1,047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1,144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1,248</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9.2%</a:t>
                      </a:r>
                      <a:endParaRPr sz="1100"/>
                    </a:p>
                  </a:txBody>
                  <a:tcPr marL="47625" marR="38100" marT="19050" marB="19050" anchor="ctr">
                    <a:solidFill>
                      <a:srgbClr val="E0F2FA"/>
                    </a:solidFill>
                  </a:tcPr>
                </a:tc>
              </a:tr>
            </a:tbl>
          </a:graphicData>
        </a:graphic>
      </p:graphicFrame>
      <p:sp>
        <p:nvSpPr>
          <p:cNvPr id="12" name="TextBox 11"/>
          <p:cNvSpPr txBox="1"/>
          <p:nvPr/>
        </p:nvSpPr>
        <p:spPr>
          <a:xfrm>
            <a:off x="219075" y="2543175"/>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3" name="Rectangle 12"/>
          <p:cNvSpPr/>
          <p:nvPr/>
        </p:nvSpPr>
        <p:spPr>
          <a:xfrm>
            <a:off x="142875" y="2876550"/>
            <a:ext cx="11906250" cy="3752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2962275"/>
            <a:ext cx="11639550" cy="209550"/>
          </a:xfrm>
          <a:prstGeom prst="rect">
            <a:avLst/>
          </a:prstGeom>
          <a:noFill/>
        </p:spPr>
        <p:txBody>
          <a:bodyPr wrap="square" lIns="0" rIns="19050" tIns="9525" bIns="9525">
            <a:spAutoFit/>
          </a:bodyPr>
          <a:lstStyle/>
          <a:p>
            <a:pPr algn="l"/>
            <a:r>
              <a:rPr sz="1300" b="1">
                <a:solidFill>
                  <a:srgbClr val="007BA5"/>
                </a:solidFill>
                <a:latin typeface="Segoe UI"/>
              </a:rPr>
              <a:t>South Asia Pacific Value Share Read-out, By Country</a:t>
            </a:r>
          </a:p>
        </p:txBody>
      </p:sp>
      <p:sp>
        <p:nvSpPr>
          <p:cNvPr id="15" name="Rectangle 14"/>
          <p:cNvSpPr/>
          <p:nvPr/>
        </p:nvSpPr>
        <p:spPr>
          <a:xfrm>
            <a:off x="276225" y="32004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286125"/>
            <a:ext cx="11639550" cy="32670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India performance knitted fabrics market is projected to register 1.1X higher value than ASEAN in 2036. Among performance knitted fabrics by country, India is expected to witness the highest CAGR of 9.8% over the forecast period.</a:t>
            </a:r>
          </a:p>
          <a:p>
            <a:pPr algn="l">
              <a:lnSpc>
                <a:spcPct val="110000"/>
              </a:lnSpc>
              <a:spcBef>
                <a:spcPts val="0"/>
              </a:spcBef>
              <a:spcAft>
                <a:spcPts val="500"/>
              </a:spcAft>
            </a:pPr>
            <a:r>
              <a:rPr sz="1150" b="0">
                <a:solidFill>
                  <a:srgbClr val="252423"/>
                </a:solidFill>
                <a:latin typeface="Segoe UI"/>
              </a:rPr>
              <a:t>In terms of value share by country, India is expected to dominate the market, gaining 236 BPS and accounting for 44.9% share by 2036. ANZ is expected to lose 200 BPS over the forecast period to account for 13.5% share by 2036.</a:t>
            </a:r>
          </a:p>
        </p:txBody>
      </p:sp>
      <p:sp>
        <p:nvSpPr>
          <p:cNvPr id="17" name="TextBox 1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South Asia Pacific Performance Knitted Fabrics Market Trends, By Country</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how country volume and value shares shift over 2021–2036, highlighting who gains ground</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Asia Pacific</a:t>
            </a:r>
          </a:p>
        </p:txBody>
      </p:sp>
      <p:sp>
        <p:nvSpPr>
          <p:cNvPr id="9" name="Rectangle 8"/>
          <p:cNvSpPr/>
          <p:nvPr/>
        </p:nvSpPr>
        <p:spPr>
          <a:xfrm>
            <a:off x="142875" y="981075"/>
            <a:ext cx="11906250"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South Asia Pacific Volume By Country (Mn Sq. Yards)</a:t>
            </a:r>
          </a:p>
        </p:txBody>
      </p:sp>
      <p:graphicFrame>
        <p:nvGraphicFramePr>
          <p:cNvPr id="11" name="Chart 10"/>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r:id="rId3"/>
          </a:graphicData>
        </a:graphic>
      </p:graphicFrame>
      <p:sp>
        <p:nvSpPr>
          <p:cNvPr id="12" name="Rectangle 11"/>
          <p:cNvSpPr/>
          <p:nvPr/>
        </p:nvSpPr>
        <p:spPr>
          <a:xfrm>
            <a:off x="9763125" y="1304925"/>
            <a:ext cx="2190750" cy="2333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MI Dense Legend"/>
          <p:cNvSpPr txBox="1"/>
          <p:nvPr/>
        </p:nvSpPr>
        <p:spPr>
          <a:xfrm>
            <a:off x="9839325" y="1362075"/>
            <a:ext cx="2057400" cy="171450"/>
          </a:xfrm>
          <a:prstGeom prst="rect">
            <a:avLst/>
          </a:prstGeom>
          <a:noFill/>
        </p:spPr>
        <p:txBody>
          <a:bodyPr wrap="none">
            <a:spAutoFit/>
          </a:bodyPr>
          <a:lstStyle/>
          <a:p>
            <a:r>
              <a:rPr sz="850" b="1">
                <a:solidFill>
                  <a:srgbClr val="605E5C"/>
                </a:solidFill>
                <a:latin typeface="Segoe UI"/>
              </a:rPr>
              <a:t>By segment</a:t>
            </a:r>
          </a:p>
        </p:txBody>
      </p:sp>
      <p:sp>
        <p:nvSpPr>
          <p:cNvPr id="14" name="FMI Dense Legend"/>
          <p:cNvSpPr txBox="1"/>
          <p:nvPr/>
        </p:nvSpPr>
        <p:spPr>
          <a:xfrm>
            <a:off x="9839325" y="1533525"/>
            <a:ext cx="2057400" cy="2047875"/>
          </a:xfrm>
          <a:prstGeom prst="rect">
            <a:avLst/>
          </a:prstGeom>
          <a:noFill/>
        </p:spPr>
        <p:txBody>
          <a:bodyPr wrap="square">
            <a:spAutoFit/>
          </a:bodyPr>
          <a:lstStyle/>
          <a:p>
            <a:pPr>
              <a:spcBef>
                <a:spcPts val="500"/>
              </a:spcBef>
            </a:pPr>
            <a:r>
              <a:rPr sz="900">
                <a:solidFill>
                  <a:srgbClr val="6ECFF2"/>
                </a:solidFill>
                <a:latin typeface="Segoe UI"/>
              </a:rPr>
              <a:t>■  </a:t>
            </a:r>
            <a:r>
              <a:rPr sz="750">
                <a:solidFill>
                  <a:srgbClr val="252423"/>
                </a:solidFill>
                <a:latin typeface="Segoe UI"/>
              </a:rPr>
              <a:t>   India</a:t>
            </a:r>
          </a:p>
          <a:p>
            <a:pPr>
              <a:spcBef>
                <a:spcPts val="500"/>
              </a:spcBef>
            </a:pPr>
            <a:r>
              <a:rPr sz="900">
                <a:solidFill>
                  <a:srgbClr val="00A4DC"/>
                </a:solidFill>
                <a:latin typeface="Segoe UI"/>
              </a:rPr>
              <a:t>■  </a:t>
            </a:r>
            <a:r>
              <a:rPr sz="750">
                <a:solidFill>
                  <a:srgbClr val="252423"/>
                </a:solidFill>
                <a:latin typeface="Segoe UI"/>
              </a:rPr>
              <a:t>   ASEAN</a:t>
            </a:r>
          </a:p>
          <a:p>
            <a:pPr>
              <a:spcBef>
                <a:spcPts val="500"/>
              </a:spcBef>
            </a:pPr>
            <a:r>
              <a:rPr sz="900">
                <a:solidFill>
                  <a:srgbClr val="D6CAC4"/>
                </a:solidFill>
                <a:latin typeface="Segoe UI"/>
              </a:rPr>
              <a:t>■  </a:t>
            </a:r>
            <a:r>
              <a:rPr sz="750">
                <a:solidFill>
                  <a:srgbClr val="252423"/>
                </a:solidFill>
                <a:latin typeface="Segoe UI"/>
              </a:rPr>
              <a:t>   ANZ</a:t>
            </a:r>
          </a:p>
          <a:p>
            <a:pPr>
              <a:spcBef>
                <a:spcPts val="500"/>
              </a:spcBef>
            </a:pPr>
            <a:r>
              <a:rPr sz="900">
                <a:solidFill>
                  <a:srgbClr val="EBC46B"/>
                </a:solidFill>
                <a:latin typeface="Segoe UI"/>
              </a:rPr>
              <a:t>■  </a:t>
            </a:r>
            <a:r>
              <a:rPr sz="750">
                <a:solidFill>
                  <a:srgbClr val="252423"/>
                </a:solidFill>
                <a:latin typeface="Segoe UI"/>
              </a:rPr>
              <a:t>   Rest of South Asia Pacific</a:t>
            </a:r>
          </a:p>
        </p:txBody>
      </p:sp>
      <p:sp>
        <p:nvSpPr>
          <p:cNvPr id="15" name="Rectangle 14"/>
          <p:cNvSpPr/>
          <p:nvPr/>
        </p:nvSpPr>
        <p:spPr>
          <a:xfrm>
            <a:off x="142875" y="3867150"/>
            <a:ext cx="11906250"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South Asia Pacific Value By Country (US$ Mn)</a:t>
            </a:r>
          </a:p>
        </p:txBody>
      </p:sp>
      <p:graphicFrame>
        <p:nvGraphicFramePr>
          <p:cNvPr id="17" name="Chart 16"/>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r:id="rId4"/>
          </a:graphicData>
        </a:graphic>
      </p:graphicFrame>
      <p:sp>
        <p:nvSpPr>
          <p:cNvPr id="18" name="Rectangle 17"/>
          <p:cNvSpPr/>
          <p:nvPr/>
        </p:nvSpPr>
        <p:spPr>
          <a:xfrm>
            <a:off x="9763125" y="4191000"/>
            <a:ext cx="2190750" cy="2333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MI Dense Legend"/>
          <p:cNvSpPr txBox="1"/>
          <p:nvPr/>
        </p:nvSpPr>
        <p:spPr>
          <a:xfrm>
            <a:off x="9839325" y="4248150"/>
            <a:ext cx="2057400" cy="171450"/>
          </a:xfrm>
          <a:prstGeom prst="rect">
            <a:avLst/>
          </a:prstGeom>
          <a:noFill/>
        </p:spPr>
        <p:txBody>
          <a:bodyPr wrap="none">
            <a:spAutoFit/>
          </a:bodyPr>
          <a:lstStyle/>
          <a:p>
            <a:r>
              <a:rPr sz="850" b="1">
                <a:solidFill>
                  <a:srgbClr val="605E5C"/>
                </a:solidFill>
                <a:latin typeface="Segoe UI"/>
              </a:rPr>
              <a:t>By segment</a:t>
            </a:r>
          </a:p>
        </p:txBody>
      </p:sp>
      <p:sp>
        <p:nvSpPr>
          <p:cNvPr id="20" name="FMI Dense Legend"/>
          <p:cNvSpPr txBox="1"/>
          <p:nvPr/>
        </p:nvSpPr>
        <p:spPr>
          <a:xfrm>
            <a:off x="9839325" y="4419600"/>
            <a:ext cx="2057400" cy="2047875"/>
          </a:xfrm>
          <a:prstGeom prst="rect">
            <a:avLst/>
          </a:prstGeom>
          <a:noFill/>
        </p:spPr>
        <p:txBody>
          <a:bodyPr wrap="square">
            <a:spAutoFit/>
          </a:bodyPr>
          <a:lstStyle/>
          <a:p>
            <a:pPr>
              <a:spcBef>
                <a:spcPts val="500"/>
              </a:spcBef>
            </a:pPr>
            <a:r>
              <a:rPr sz="900">
                <a:solidFill>
                  <a:srgbClr val="6ECFF2"/>
                </a:solidFill>
                <a:latin typeface="Segoe UI"/>
              </a:rPr>
              <a:t>■  </a:t>
            </a:r>
            <a:r>
              <a:rPr sz="750">
                <a:solidFill>
                  <a:srgbClr val="252423"/>
                </a:solidFill>
                <a:latin typeface="Segoe UI"/>
              </a:rPr>
              <a:t>   India</a:t>
            </a:r>
          </a:p>
          <a:p>
            <a:pPr>
              <a:spcBef>
                <a:spcPts val="500"/>
              </a:spcBef>
            </a:pPr>
            <a:r>
              <a:rPr sz="900">
                <a:solidFill>
                  <a:srgbClr val="00A4DC"/>
                </a:solidFill>
                <a:latin typeface="Segoe UI"/>
              </a:rPr>
              <a:t>■  </a:t>
            </a:r>
            <a:r>
              <a:rPr sz="750">
                <a:solidFill>
                  <a:srgbClr val="252423"/>
                </a:solidFill>
                <a:latin typeface="Segoe UI"/>
              </a:rPr>
              <a:t>   ASEAN</a:t>
            </a:r>
          </a:p>
          <a:p>
            <a:pPr>
              <a:spcBef>
                <a:spcPts val="500"/>
              </a:spcBef>
            </a:pPr>
            <a:r>
              <a:rPr sz="900">
                <a:solidFill>
                  <a:srgbClr val="D6CAC4"/>
                </a:solidFill>
                <a:latin typeface="Segoe UI"/>
              </a:rPr>
              <a:t>■  </a:t>
            </a:r>
            <a:r>
              <a:rPr sz="750">
                <a:solidFill>
                  <a:srgbClr val="252423"/>
                </a:solidFill>
                <a:latin typeface="Segoe UI"/>
              </a:rPr>
              <a:t>   ANZ</a:t>
            </a:r>
          </a:p>
          <a:p>
            <a:pPr>
              <a:spcBef>
                <a:spcPts val="500"/>
              </a:spcBef>
            </a:pPr>
            <a:r>
              <a:rPr sz="900">
                <a:solidFill>
                  <a:srgbClr val="EBC46B"/>
                </a:solidFill>
                <a:latin typeface="Segoe UI"/>
              </a:rPr>
              <a:t>■  </a:t>
            </a:r>
            <a:r>
              <a:rPr sz="750">
                <a:solidFill>
                  <a:srgbClr val="252423"/>
                </a:solidFill>
                <a:latin typeface="Segoe UI"/>
              </a:rPr>
              <a:t>   Rest of South Asia Pacific</a:t>
            </a:r>
          </a:p>
        </p:txBody>
      </p:sp>
      <p:sp>
        <p:nvSpPr>
          <p:cNvPr id="21" name="TextBox 2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South Asia Pacific Performance Knitted Fabrics Market Top 3 Countries (2036)</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hierarchy of the South Asia Pacific market in 2036, highlighting the leading countries within each region by value</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Asia Pacific</a:t>
            </a:r>
          </a:p>
        </p:txBody>
      </p:sp>
      <p:sp>
        <p:nvSpPr>
          <p:cNvPr id="9" name="Rectangle 8"/>
          <p:cNvSpPr/>
          <p:nvPr/>
        </p:nvSpPr>
        <p:spPr>
          <a:xfrm>
            <a:off x="142875" y="981075"/>
            <a:ext cx="1190625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South Asia Pacific market by country  ·  2036 (US$ Mn)  ·  tile size = market value</a:t>
            </a:r>
          </a:p>
        </p:txBody>
      </p:sp>
      <p:sp>
        <p:nvSpPr>
          <p:cNvPr id="11" name="Rectangle 10"/>
          <p:cNvSpPr/>
          <p:nvPr/>
        </p:nvSpPr>
        <p:spPr>
          <a:xfrm>
            <a:off x="238125" y="1266825"/>
            <a:ext cx="5260257" cy="5305425"/>
          </a:xfrm>
          <a:prstGeom prst="rect">
            <a:avLst/>
          </a:prstGeom>
          <a:solidFill>
            <a:srgbClr val="00A4D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India</a:t>
            </a:r>
          </a:p>
          <a:p>
            <a:pPr algn="ctr"/>
            <a:r>
              <a:rPr sz="1100" b="0">
                <a:solidFill>
                  <a:srgbClr val="FFFFFF"/>
                </a:solidFill>
                <a:latin typeface="Segoe UI"/>
              </a:rPr>
              <a:t>528</a:t>
            </a:r>
          </a:p>
        </p:txBody>
      </p:sp>
      <p:sp>
        <p:nvSpPr>
          <p:cNvPr id="12" name="Rectangle 11"/>
          <p:cNvSpPr/>
          <p:nvPr/>
        </p:nvSpPr>
        <p:spPr>
          <a:xfrm>
            <a:off x="5498382" y="1266825"/>
            <a:ext cx="4879482" cy="5305425"/>
          </a:xfrm>
          <a:prstGeom prst="rect">
            <a:avLst/>
          </a:prstGeom>
          <a:solidFill>
            <a:srgbClr val="6ECFF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ASEAN</a:t>
            </a:r>
          </a:p>
          <a:p>
            <a:pPr algn="ctr"/>
            <a:r>
              <a:rPr sz="1100" b="0">
                <a:solidFill>
                  <a:srgbClr val="252423"/>
                </a:solidFill>
                <a:latin typeface="Segoe UI"/>
              </a:rPr>
              <a:t>489</a:t>
            </a:r>
          </a:p>
        </p:txBody>
      </p:sp>
      <p:sp>
        <p:nvSpPr>
          <p:cNvPr id="13" name="Rectangle 12"/>
          <p:cNvSpPr/>
          <p:nvPr/>
        </p:nvSpPr>
        <p:spPr>
          <a:xfrm>
            <a:off x="10377864" y="1266825"/>
            <a:ext cx="1576011" cy="5305425"/>
          </a:xfrm>
          <a:prstGeom prst="rect">
            <a:avLst/>
          </a:prstGeom>
          <a:solidFill>
            <a:srgbClr val="D6CA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ANZ</a:t>
            </a:r>
          </a:p>
          <a:p>
            <a:pPr algn="ctr"/>
            <a:r>
              <a:rPr sz="1100" b="0">
                <a:solidFill>
                  <a:srgbClr val="252423"/>
                </a:solidFill>
                <a:latin typeface="Segoe UI"/>
              </a:rPr>
              <a:t>158</a:t>
            </a:r>
          </a:p>
        </p:txBody>
      </p:sp>
      <p:sp>
        <p:nvSpPr>
          <p:cNvPr id="14" name="TextBox 1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Fabric Construction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2 sub-segments of Fabric Construction,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Asia Pacific</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Fabric Construction segment categorizes the market by fabric construction.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4943475"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4943475"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Weft Knitted Fabrics</a:t>
            </a:r>
          </a:p>
        </p:txBody>
      </p:sp>
      <p:sp>
        <p:nvSpPr>
          <p:cNvPr id="21" name="Rectangle 20"/>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395.6</a:t>
            </a:r>
          </a:p>
        </p:txBody>
      </p:sp>
      <p:sp>
        <p:nvSpPr>
          <p:cNvPr id="22" name="Rectangle 21"/>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924.8</a:t>
            </a:r>
          </a:p>
        </p:txBody>
      </p:sp>
      <p:sp>
        <p:nvSpPr>
          <p:cNvPr id="23" name="Rectangle 22"/>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8.9%</a:t>
            </a:r>
          </a:p>
        </p:txBody>
      </p:sp>
      <p:sp>
        <p:nvSpPr>
          <p:cNvPr id="24" name="Oval 23"/>
          <p:cNvSpPr/>
          <p:nvPr/>
        </p:nvSpPr>
        <p:spPr>
          <a:xfrm>
            <a:off x="4176712"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6924675" y="1773916"/>
            <a:ext cx="4943475"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24675" y="1992961"/>
            <a:ext cx="4943475"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Warp Knitted Fabrics</a:t>
            </a:r>
          </a:p>
        </p:txBody>
      </p:sp>
      <p:sp>
        <p:nvSpPr>
          <p:cNvPr id="28" name="Rectangle 27"/>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124.0</a:t>
            </a:r>
          </a:p>
        </p:txBody>
      </p:sp>
      <p:sp>
        <p:nvSpPr>
          <p:cNvPr id="29" name="Rectangle 28"/>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323.0</a:t>
            </a:r>
          </a:p>
        </p:txBody>
      </p:sp>
      <p:sp>
        <p:nvSpPr>
          <p:cNvPr id="30" name="Rectangle 29"/>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10.0%</a:t>
            </a:r>
          </a:p>
        </p:txBody>
      </p:sp>
      <p:sp>
        <p:nvSpPr>
          <p:cNvPr id="31" name="Oval 30"/>
          <p:cNvSpPr/>
          <p:nvPr/>
        </p:nvSpPr>
        <p:spPr>
          <a:xfrm>
            <a:off x="9234488"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34" name="Rectangle 33"/>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fabric construction, warp knitted fabrics segment is expected to witness the highest CAGR of 10.0% over the forecast period. In terms of value share by fabric construction, the weft knitted fabrics segment is expected to dominate the market, losing 202 BPS and accounting for 74.1%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Weft knitted fabrics segment is projected to register 2.9X higher value than warp knitted fabrics segment in 2036.</a:t>
            </a:r>
          </a:p>
        </p:txBody>
      </p:sp>
      <p:sp>
        <p:nvSpPr>
          <p:cNvPr id="36" name="Rounded Rectangle 35"/>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38" name="Rectangle 37"/>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Weft Knitted Fabrics: </a:t>
            </a:r>
            <a:r>
              <a:rPr sz="1100" b="0">
                <a:solidFill>
                  <a:srgbClr val="252423"/>
                </a:solidFill>
                <a:latin typeface="Segoe UI"/>
              </a:rPr>
              <a:t>76% of 2026 value · 8.9%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Warp Knitted Fabrics: </a:t>
            </a:r>
            <a:r>
              <a:rPr sz="1100" b="0">
                <a:solidFill>
                  <a:srgbClr val="252423"/>
                </a:solidFill>
                <a:latin typeface="Segoe UI"/>
              </a:rPr>
              <a:t>24% of 2026 value · 10.0% CAGR grows fastest.</a:t>
            </a:r>
          </a:p>
        </p:txBody>
      </p:sp>
      <p:sp>
        <p:nvSpPr>
          <p:cNvPr id="40" name="Rounded Rectangle 39"/>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2" name="Rectangle 41"/>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Fabric Construction split shows how demand is distributed across fabric construction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44" name="Rectangle 43"/>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Fabric Construction segment is projected to grow at a CAGR of 9.2% from 2026 to 2036.</a:t>
            </a:r>
          </a:p>
        </p:txBody>
      </p:sp>
      <p:sp>
        <p:nvSpPr>
          <p:cNvPr id="46" name="TextBox 45"/>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7" name="TextBox 4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South Asia Pacific Market Value &amp; Share Shift, By Fabric Construction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Fabric Construction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Asia Pacific</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South Asia Pacific Value Composition, By Fabric Construction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2263051"/>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2258288"/>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2182088"/>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Warp Knitted Fabrics</a:t>
            </a:r>
          </a:p>
        </p:txBody>
      </p:sp>
      <p:sp>
        <p:nvSpPr>
          <p:cNvPr id="17" name="BPS Value 1"/>
          <p:cNvSpPr txBox="1"/>
          <p:nvPr/>
        </p:nvSpPr>
        <p:spPr>
          <a:xfrm>
            <a:off x="6896100" y="2244001"/>
            <a:ext cx="514350" cy="123825"/>
          </a:xfrm>
          <a:prstGeom prst="rect">
            <a:avLst/>
          </a:prstGeom>
          <a:noFill/>
        </p:spPr>
        <p:txBody>
          <a:bodyPr wrap="none" lIns="0" rIns="0" tIns="0" bIns="0" anchor="ctr">
            <a:spAutoFit/>
          </a:bodyPr>
          <a:lstStyle/>
          <a:p>
            <a:pPr algn="r"/>
            <a:r>
              <a:rPr sz="900" b="1">
                <a:solidFill>
                  <a:srgbClr val="1E8E3E"/>
                </a:solidFill>
                <a:latin typeface="Segoe UI"/>
              </a:rPr>
              <a:t>+202</a:t>
            </a:r>
          </a:p>
        </p:txBody>
      </p:sp>
      <p:sp>
        <p:nvSpPr>
          <p:cNvPr id="18" name="FMI Legend Chip"/>
          <p:cNvSpPr/>
          <p:nvPr/>
        </p:nvSpPr>
        <p:spPr>
          <a:xfrm>
            <a:off x="4928997" y="4549241"/>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5090922" y="4544479"/>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446827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Weft Knitted Fabrics</a:t>
            </a:r>
          </a:p>
        </p:txBody>
      </p:sp>
      <p:sp>
        <p:nvSpPr>
          <p:cNvPr id="21" name="BPS Value 2"/>
          <p:cNvSpPr txBox="1"/>
          <p:nvPr/>
        </p:nvSpPr>
        <p:spPr>
          <a:xfrm>
            <a:off x="6896100" y="4530191"/>
            <a:ext cx="514350" cy="123825"/>
          </a:xfrm>
          <a:prstGeom prst="rect">
            <a:avLst/>
          </a:prstGeom>
          <a:noFill/>
        </p:spPr>
        <p:txBody>
          <a:bodyPr wrap="none" lIns="0" rIns="0" tIns="0" bIns="0" anchor="ctr">
            <a:spAutoFit/>
          </a:bodyPr>
          <a:lstStyle/>
          <a:p>
            <a:pPr algn="r"/>
            <a:r>
              <a:rPr sz="900" b="1">
                <a:solidFill>
                  <a:srgbClr val="D64545"/>
                </a:solidFill>
                <a:latin typeface="Segoe UI"/>
              </a:rPr>
              <a:t>-202</a:t>
            </a:r>
          </a:p>
        </p:txBody>
      </p:sp>
      <p:sp>
        <p:nvSpPr>
          <p:cNvPr id="22" name="Rectangle 21"/>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South Asia Pacific Read-out, By Fabric Construction</a:t>
            </a:r>
          </a:p>
        </p:txBody>
      </p:sp>
      <p:sp>
        <p:nvSpPr>
          <p:cNvPr id="24" name="Rectangle 23"/>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fabric construction, warp knitted fabrics segment is expected to witness the highest CAGR of 10.0% over the forecast period.</a:t>
            </a:r>
          </a:p>
          <a:p>
            <a:pPr algn="l">
              <a:lnSpc>
                <a:spcPct val="110000"/>
              </a:lnSpc>
              <a:spcBef>
                <a:spcPts val="0"/>
              </a:spcBef>
              <a:spcAft>
                <a:spcPts val="500"/>
              </a:spcAft>
            </a:pPr>
            <a:r>
              <a:rPr sz="1150" b="0">
                <a:solidFill>
                  <a:srgbClr val="252423"/>
                </a:solidFill>
                <a:latin typeface="Segoe UI"/>
              </a:rPr>
              <a:t>In terms of value share by fabric construction, the weft knitted fabrics segment is expected to dominate the market, losing 202 BPS and accounting for 74.1% share by 2036.</a:t>
            </a:r>
          </a:p>
        </p:txBody>
      </p:sp>
      <p:sp>
        <p:nvSpPr>
          <p:cNvPr id="26" name="TextBox 2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Material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6 sub-segments of Material,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Asia Pacific</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Material segment categorizes the market by material.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1571625"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1571625"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Polyester</a:t>
            </a:r>
          </a:p>
        </p:txBody>
      </p:sp>
      <p:sp>
        <p:nvSpPr>
          <p:cNvPr id="21" name="Rectangle 20"/>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274.6</a:t>
            </a:r>
          </a:p>
        </p:txBody>
      </p:sp>
      <p:sp>
        <p:nvSpPr>
          <p:cNvPr id="22" name="Rectangle 21"/>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624.7</a:t>
            </a:r>
          </a:p>
        </p:txBody>
      </p:sp>
      <p:sp>
        <p:nvSpPr>
          <p:cNvPr id="23" name="Rectangle 22"/>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8.6%</a:t>
            </a:r>
          </a:p>
        </p:txBody>
      </p:sp>
      <p:sp>
        <p:nvSpPr>
          <p:cNvPr id="24" name="Oval 23"/>
          <p:cNvSpPr/>
          <p:nvPr/>
        </p:nvSpPr>
        <p:spPr>
          <a:xfrm>
            <a:off x="2490788"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3552825" y="1773916"/>
            <a:ext cx="1571625"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552825" y="1992961"/>
            <a:ext cx="1571625"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Elastane or Spandex Blends</a:t>
            </a:r>
          </a:p>
        </p:txBody>
      </p:sp>
      <p:sp>
        <p:nvSpPr>
          <p:cNvPr id="28" name="Rectangle 27"/>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81.7</a:t>
            </a:r>
          </a:p>
        </p:txBody>
      </p:sp>
      <p:sp>
        <p:nvSpPr>
          <p:cNvPr id="29" name="Rectangle 28"/>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211.6</a:t>
            </a:r>
          </a:p>
        </p:txBody>
      </p:sp>
      <p:sp>
        <p:nvSpPr>
          <p:cNvPr id="30" name="Rectangle 29"/>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10.0%</a:t>
            </a:r>
          </a:p>
        </p:txBody>
      </p:sp>
      <p:sp>
        <p:nvSpPr>
          <p:cNvPr id="31" name="Oval 30"/>
          <p:cNvSpPr/>
          <p:nvPr/>
        </p:nvSpPr>
        <p:spPr>
          <a:xfrm>
            <a:off x="4176712"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5238750" y="1773916"/>
            <a:ext cx="1571625"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238750" y="1992961"/>
            <a:ext cx="1571625"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Polyamide or Nylon</a:t>
            </a:r>
          </a:p>
        </p:txBody>
      </p:sp>
      <p:sp>
        <p:nvSpPr>
          <p:cNvPr id="35" name="Rectangle 34"/>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77.6</a:t>
            </a:r>
          </a:p>
        </p:txBody>
      </p:sp>
      <p:sp>
        <p:nvSpPr>
          <p:cNvPr id="36" name="Rectangle 35"/>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196.5</a:t>
            </a:r>
          </a:p>
        </p:txBody>
      </p:sp>
      <p:sp>
        <p:nvSpPr>
          <p:cNvPr id="37" name="Rectangle 36"/>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9.7%</a:t>
            </a:r>
          </a:p>
        </p:txBody>
      </p:sp>
      <p:sp>
        <p:nvSpPr>
          <p:cNvPr id="38" name="Oval 37"/>
          <p:cNvSpPr/>
          <p:nvPr/>
        </p:nvSpPr>
        <p:spPr>
          <a:xfrm>
            <a:off x="5862638"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6924675" y="1773916"/>
            <a:ext cx="1571625"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924675" y="1992961"/>
            <a:ext cx="1571625"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High-Performance &amp; Specialty Fibe…</a:t>
            </a:r>
          </a:p>
        </p:txBody>
      </p:sp>
      <p:sp>
        <p:nvSpPr>
          <p:cNvPr id="42" name="Rectangle 41"/>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40.0</a:t>
            </a:r>
          </a:p>
        </p:txBody>
      </p:sp>
      <p:sp>
        <p:nvSpPr>
          <p:cNvPr id="43" name="Rectangle 42"/>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108.4</a:t>
            </a:r>
          </a:p>
        </p:txBody>
      </p:sp>
      <p:sp>
        <p:nvSpPr>
          <p:cNvPr id="44" name="Rectangle 43"/>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10.5%</a:t>
            </a:r>
          </a:p>
        </p:txBody>
      </p:sp>
      <p:sp>
        <p:nvSpPr>
          <p:cNvPr id="45" name="Oval 44"/>
          <p:cNvSpPr/>
          <p:nvPr/>
        </p:nvSpPr>
        <p:spPr>
          <a:xfrm>
            <a:off x="7548562"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8610600" y="1773916"/>
            <a:ext cx="1571625"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610600" y="1992961"/>
            <a:ext cx="1571625"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Cellulosic Fibers</a:t>
            </a:r>
          </a:p>
        </p:txBody>
      </p:sp>
      <p:sp>
        <p:nvSpPr>
          <p:cNvPr id="49" name="Rectangle 48"/>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23.2</a:t>
            </a:r>
          </a:p>
        </p:txBody>
      </p:sp>
      <p:sp>
        <p:nvSpPr>
          <p:cNvPr id="50" name="Rectangle 49"/>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50.9</a:t>
            </a:r>
          </a:p>
        </p:txBody>
      </p:sp>
      <p:sp>
        <p:nvSpPr>
          <p:cNvPr id="51" name="Rectangle 50"/>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8.2%</a:t>
            </a:r>
          </a:p>
        </p:txBody>
      </p:sp>
      <p:sp>
        <p:nvSpPr>
          <p:cNvPr id="52" name="Oval 51"/>
          <p:cNvSpPr/>
          <p:nvPr/>
        </p:nvSpPr>
        <p:spPr>
          <a:xfrm>
            <a:off x="9234488"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53" name="Rounded Rectangle 52"/>
          <p:cNvSpPr/>
          <p:nvPr/>
        </p:nvSpPr>
        <p:spPr>
          <a:xfrm>
            <a:off x="10296525" y="1773916"/>
            <a:ext cx="1571625"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296525" y="1992961"/>
            <a:ext cx="1571625"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Polypropylene</a:t>
            </a:r>
          </a:p>
        </p:txBody>
      </p:sp>
      <p:sp>
        <p:nvSpPr>
          <p:cNvPr id="56" name="Rectangle 55"/>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22.5</a:t>
            </a:r>
          </a:p>
        </p:txBody>
      </p:sp>
      <p:sp>
        <p:nvSpPr>
          <p:cNvPr id="57" name="Rectangle 56"/>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55.7</a:t>
            </a:r>
          </a:p>
        </p:txBody>
      </p:sp>
      <p:sp>
        <p:nvSpPr>
          <p:cNvPr id="58" name="Rectangle 57"/>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9.5%</a:t>
            </a:r>
          </a:p>
        </p:txBody>
      </p:sp>
      <p:sp>
        <p:nvSpPr>
          <p:cNvPr id="59" name="Oval 58"/>
          <p:cNvSpPr/>
          <p:nvPr/>
        </p:nvSpPr>
        <p:spPr>
          <a:xfrm>
            <a:off x="10920412"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60" name="Rounded Rectangle 5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62" name="Rectangle 61"/>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material, high-performance &amp; specialty fibers segment is expected to witness the highest CAGR of 10.5% over the forecast period. In terms of value share by material, the polyester segment is expected to dominate the market, losing 278 BPS and accounting for 50.1%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Polyester segment is projected to register 3.0X higher value than elastane or spandex blends segment in 2036.</a:t>
            </a:r>
          </a:p>
        </p:txBody>
      </p:sp>
      <p:sp>
        <p:nvSpPr>
          <p:cNvPr id="64" name="Rounded Rectangle 6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66" name="Rectangle 65"/>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Polyester: </a:t>
            </a:r>
            <a:r>
              <a:rPr sz="1100" b="0">
                <a:solidFill>
                  <a:srgbClr val="252423"/>
                </a:solidFill>
                <a:latin typeface="Segoe UI"/>
              </a:rPr>
              <a:t>53% of 2026 value · 8.6%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Elastane or Spandex Blends: </a:t>
            </a:r>
            <a:r>
              <a:rPr sz="1100" b="0">
                <a:solidFill>
                  <a:srgbClr val="252423"/>
                </a:solidFill>
                <a:latin typeface="Segoe UI"/>
              </a:rPr>
              <a:t>16% of 2026 value · 10.0%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Polyamide or Nylon: </a:t>
            </a:r>
            <a:r>
              <a:rPr sz="1100" b="0">
                <a:solidFill>
                  <a:srgbClr val="252423"/>
                </a:solidFill>
                <a:latin typeface="Segoe UI"/>
              </a:rPr>
              <a:t>15% of 2026 value · 9.7% CAGR serves a niche.</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High-Performance &amp; Specialty Fibers: </a:t>
            </a:r>
            <a:r>
              <a:rPr sz="1100" b="0">
                <a:solidFill>
                  <a:srgbClr val="252423"/>
                </a:solidFill>
                <a:latin typeface="Segoe UI"/>
              </a:rPr>
              <a:t>8% of 2026 value · 10.5% CAGR grows fastest.</a:t>
            </a:r>
          </a:p>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Cellulosic Fibers: </a:t>
            </a:r>
            <a:r>
              <a:rPr sz="1100" b="0">
                <a:solidFill>
                  <a:srgbClr val="252423"/>
                </a:solidFill>
                <a:latin typeface="Segoe UI"/>
              </a:rPr>
              <a:t>4% of 2026 value · 8.2% CAGR serves a niche.</a:t>
            </a:r>
          </a:p>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Polypropylene: </a:t>
            </a:r>
            <a:r>
              <a:rPr sz="1100" b="0">
                <a:solidFill>
                  <a:srgbClr val="252423"/>
                </a:solidFill>
                <a:latin typeface="Segoe UI"/>
              </a:rPr>
              <a:t>4% of 2026 value · 9.5% CAGR serves a niche.</a:t>
            </a:r>
          </a:p>
        </p:txBody>
      </p:sp>
      <p:sp>
        <p:nvSpPr>
          <p:cNvPr id="68" name="Rounded Rectangle 6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70" name="Rectangle 69"/>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Material split shows how demand is distributed across material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72" name="Rectangle 7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Material segment is projected to grow at a CAGR of 9.2% from 2026 to 2036.</a:t>
            </a:r>
          </a:p>
        </p:txBody>
      </p:sp>
      <p:sp>
        <p:nvSpPr>
          <p:cNvPr id="74" name="TextBox 73"/>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75" name="TextBox 7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South Asia Pacific Market Value &amp; Share Shift, By Material</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Material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Asia Pacific</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South Asia Pacific Value Composition, By Material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764561"/>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5090922" y="1759799"/>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68359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Cellulosic Fibers</a:t>
            </a:r>
          </a:p>
        </p:txBody>
      </p:sp>
      <p:sp>
        <p:nvSpPr>
          <p:cNvPr id="17" name="BPS Value 1"/>
          <p:cNvSpPr txBox="1"/>
          <p:nvPr/>
        </p:nvSpPr>
        <p:spPr>
          <a:xfrm>
            <a:off x="6896100" y="1745511"/>
            <a:ext cx="514350" cy="123825"/>
          </a:xfrm>
          <a:prstGeom prst="rect">
            <a:avLst/>
          </a:prstGeom>
          <a:noFill/>
        </p:spPr>
        <p:txBody>
          <a:bodyPr wrap="none" lIns="0" rIns="0" tIns="0" bIns="0" anchor="ctr">
            <a:spAutoFit/>
          </a:bodyPr>
          <a:lstStyle/>
          <a:p>
            <a:pPr algn="r"/>
            <a:r>
              <a:rPr sz="900" b="1">
                <a:solidFill>
                  <a:srgbClr val="D64545"/>
                </a:solidFill>
                <a:latin typeface="Segoe UI"/>
              </a:rPr>
              <a:t>-38</a:t>
            </a:r>
          </a:p>
        </p:txBody>
      </p:sp>
      <p:sp>
        <p:nvSpPr>
          <p:cNvPr id="18" name="FMI Legend Chip"/>
          <p:cNvSpPr/>
          <p:nvPr/>
        </p:nvSpPr>
        <p:spPr>
          <a:xfrm>
            <a:off x="4928997" y="1959927"/>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195516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187896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Polypropylene</a:t>
            </a:r>
          </a:p>
        </p:txBody>
      </p:sp>
      <p:sp>
        <p:nvSpPr>
          <p:cNvPr id="21" name="BPS Value 2"/>
          <p:cNvSpPr txBox="1"/>
          <p:nvPr/>
        </p:nvSpPr>
        <p:spPr>
          <a:xfrm>
            <a:off x="6896100" y="1940877"/>
            <a:ext cx="514350" cy="123825"/>
          </a:xfrm>
          <a:prstGeom prst="rect">
            <a:avLst/>
          </a:prstGeom>
          <a:noFill/>
        </p:spPr>
        <p:txBody>
          <a:bodyPr wrap="none" lIns="0" rIns="0" tIns="0" bIns="0" anchor="ctr">
            <a:spAutoFit/>
          </a:bodyPr>
          <a:lstStyle/>
          <a:p>
            <a:pPr algn="r"/>
            <a:r>
              <a:rPr sz="900" b="1">
                <a:solidFill>
                  <a:srgbClr val="1E8E3E"/>
                </a:solidFill>
                <a:latin typeface="Segoe UI"/>
              </a:rPr>
              <a:t>+14</a:t>
            </a:r>
          </a:p>
        </p:txBody>
      </p:sp>
      <p:sp>
        <p:nvSpPr>
          <p:cNvPr id="22" name="FMI Legend Chip"/>
          <p:cNvSpPr/>
          <p:nvPr/>
        </p:nvSpPr>
        <p:spPr>
          <a:xfrm>
            <a:off x="4928997" y="2260645"/>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5090922" y="2255883"/>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17968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High-Performance &amp; Specialty Fibers</a:t>
            </a:r>
          </a:p>
        </p:txBody>
      </p:sp>
      <p:sp>
        <p:nvSpPr>
          <p:cNvPr id="25" name="BPS Value 3"/>
          <p:cNvSpPr txBox="1"/>
          <p:nvPr/>
        </p:nvSpPr>
        <p:spPr>
          <a:xfrm>
            <a:off x="6896100" y="2241595"/>
            <a:ext cx="514350" cy="123825"/>
          </a:xfrm>
          <a:prstGeom prst="rect">
            <a:avLst/>
          </a:prstGeom>
          <a:noFill/>
        </p:spPr>
        <p:txBody>
          <a:bodyPr wrap="none" lIns="0" rIns="0" tIns="0" bIns="0" anchor="ctr">
            <a:spAutoFit/>
          </a:bodyPr>
          <a:lstStyle/>
          <a:p>
            <a:pPr algn="r"/>
            <a:r>
              <a:rPr sz="900" b="1">
                <a:solidFill>
                  <a:srgbClr val="1E8E3E"/>
                </a:solidFill>
                <a:latin typeface="Segoe UI"/>
              </a:rPr>
              <a:t>+99</a:t>
            </a:r>
          </a:p>
        </p:txBody>
      </p:sp>
      <p:sp>
        <p:nvSpPr>
          <p:cNvPr id="26" name="FMI Legend Chip"/>
          <p:cNvSpPr/>
          <p:nvPr/>
        </p:nvSpPr>
        <p:spPr>
          <a:xfrm>
            <a:off x="4928997" y="2819256"/>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5090922" y="281449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273829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Polyamide or Nylon</a:t>
            </a:r>
          </a:p>
        </p:txBody>
      </p:sp>
      <p:sp>
        <p:nvSpPr>
          <p:cNvPr id="29" name="BPS Value 4"/>
          <p:cNvSpPr txBox="1"/>
          <p:nvPr/>
        </p:nvSpPr>
        <p:spPr>
          <a:xfrm>
            <a:off x="6896100" y="2800206"/>
            <a:ext cx="514350" cy="123825"/>
          </a:xfrm>
          <a:prstGeom prst="rect">
            <a:avLst/>
          </a:prstGeom>
          <a:noFill/>
        </p:spPr>
        <p:txBody>
          <a:bodyPr wrap="none" lIns="0" rIns="0" tIns="0" bIns="0" anchor="ctr">
            <a:spAutoFit/>
          </a:bodyPr>
          <a:lstStyle/>
          <a:p>
            <a:pPr algn="r"/>
            <a:r>
              <a:rPr sz="900" b="1">
                <a:solidFill>
                  <a:srgbClr val="1E8E3E"/>
                </a:solidFill>
                <a:latin typeface="Segoe UI"/>
              </a:rPr>
              <a:t>+80</a:t>
            </a:r>
          </a:p>
        </p:txBody>
      </p:sp>
      <p:sp>
        <p:nvSpPr>
          <p:cNvPr id="30" name="FMI Legend Chip"/>
          <p:cNvSpPr/>
          <p:nvPr/>
        </p:nvSpPr>
        <p:spPr>
          <a:xfrm>
            <a:off x="4928997" y="3566912"/>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5090922" y="3562150"/>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348595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Elastane or Spandex Blends</a:t>
            </a:r>
          </a:p>
        </p:txBody>
      </p:sp>
      <p:sp>
        <p:nvSpPr>
          <p:cNvPr id="33" name="BPS Value 5"/>
          <p:cNvSpPr txBox="1"/>
          <p:nvPr/>
        </p:nvSpPr>
        <p:spPr>
          <a:xfrm>
            <a:off x="6896100" y="3547862"/>
            <a:ext cx="514350" cy="123825"/>
          </a:xfrm>
          <a:prstGeom prst="rect">
            <a:avLst/>
          </a:prstGeom>
          <a:noFill/>
        </p:spPr>
        <p:txBody>
          <a:bodyPr wrap="none" lIns="0" rIns="0" tIns="0" bIns="0" anchor="ctr">
            <a:spAutoFit/>
          </a:bodyPr>
          <a:lstStyle/>
          <a:p>
            <a:pPr algn="r"/>
            <a:r>
              <a:rPr sz="900" b="1">
                <a:solidFill>
                  <a:srgbClr val="1E8E3E"/>
                </a:solidFill>
                <a:latin typeface="Segoe UI"/>
              </a:rPr>
              <a:t>+123</a:t>
            </a:r>
          </a:p>
        </p:txBody>
      </p:sp>
      <p:sp>
        <p:nvSpPr>
          <p:cNvPr id="34" name="FMI Legend Chip"/>
          <p:cNvSpPr/>
          <p:nvPr/>
        </p:nvSpPr>
        <p:spPr>
          <a:xfrm>
            <a:off x="4928997" y="5099126"/>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rot="10800000">
            <a:off x="5090922" y="509436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501816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Polyester</a:t>
            </a:r>
          </a:p>
        </p:txBody>
      </p:sp>
      <p:sp>
        <p:nvSpPr>
          <p:cNvPr id="37" name="BPS Value 6"/>
          <p:cNvSpPr txBox="1"/>
          <p:nvPr/>
        </p:nvSpPr>
        <p:spPr>
          <a:xfrm>
            <a:off x="6896100" y="5080076"/>
            <a:ext cx="514350" cy="123825"/>
          </a:xfrm>
          <a:prstGeom prst="rect">
            <a:avLst/>
          </a:prstGeom>
          <a:noFill/>
        </p:spPr>
        <p:txBody>
          <a:bodyPr wrap="none" lIns="0" rIns="0" tIns="0" bIns="0" anchor="ctr">
            <a:spAutoFit/>
          </a:bodyPr>
          <a:lstStyle/>
          <a:p>
            <a:pPr algn="r"/>
            <a:r>
              <a:rPr sz="900" b="1">
                <a:solidFill>
                  <a:srgbClr val="D64545"/>
                </a:solidFill>
                <a:latin typeface="Segoe UI"/>
              </a:rPr>
              <a:t>-278</a:t>
            </a:r>
          </a:p>
        </p:txBody>
      </p:sp>
      <p:sp>
        <p:nvSpPr>
          <p:cNvPr id="38" name="Rectangle 37"/>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South Asia Pacific Read-out, By Material</a:t>
            </a:r>
          </a:p>
        </p:txBody>
      </p:sp>
      <p:sp>
        <p:nvSpPr>
          <p:cNvPr id="40" name="Rectangle 39"/>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material, high-performance &amp; specialty fibers segment is expected to witness the highest CAGR of 10.5% over the forecast period.</a:t>
            </a:r>
          </a:p>
          <a:p>
            <a:pPr algn="l">
              <a:lnSpc>
                <a:spcPct val="110000"/>
              </a:lnSpc>
              <a:spcBef>
                <a:spcPts val="0"/>
              </a:spcBef>
              <a:spcAft>
                <a:spcPts val="500"/>
              </a:spcAft>
            </a:pPr>
            <a:r>
              <a:rPr sz="1150" b="0">
                <a:solidFill>
                  <a:srgbClr val="252423"/>
                </a:solidFill>
                <a:latin typeface="Segoe UI"/>
              </a:rPr>
              <a:t>In terms of value share by material, the polyester segment is expected to dominate the market, losing 278 BPS and accounting for 50.1% share by 2036.</a:t>
            </a:r>
          </a:p>
        </p:txBody>
      </p:sp>
      <p:sp>
        <p:nvSpPr>
          <p:cNvPr id="42" name="TextBox 4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Primary Performance Function Segment Outlook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10 sub-segments of Primary Performance Function,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Asia Pacific</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Primary Performance Function segment categorizes the market by primary performance function.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190881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190881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Moisture Management &amp; Quick-Dry</a:t>
            </a:r>
          </a:p>
        </p:txBody>
      </p:sp>
      <p:sp>
        <p:nvSpPr>
          <p:cNvPr id="21" name="Rectangle 20"/>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149.7</a:t>
            </a:r>
          </a:p>
        </p:txBody>
      </p:sp>
      <p:sp>
        <p:nvSpPr>
          <p:cNvPr id="22" name="Rectangle 21"/>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361.2</a:t>
            </a:r>
          </a:p>
        </p:txBody>
      </p:sp>
      <p:sp>
        <p:nvSpPr>
          <p:cNvPr id="23" name="Rectangle 22"/>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9.2%</a:t>
            </a:r>
          </a:p>
        </p:txBody>
      </p:sp>
      <p:sp>
        <p:nvSpPr>
          <p:cNvPr id="24" name="Oval 23"/>
          <p:cNvSpPr/>
          <p:nvPr/>
        </p:nvSpPr>
        <p:spPr>
          <a:xfrm>
            <a:off x="265938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3890010" y="1773916"/>
            <a:ext cx="190881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890010" y="1992961"/>
            <a:ext cx="190881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Stretch &amp; Recovery</a:t>
            </a:r>
          </a:p>
        </p:txBody>
      </p:sp>
      <p:sp>
        <p:nvSpPr>
          <p:cNvPr id="28" name="Rectangle 27"/>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113.4</a:t>
            </a:r>
          </a:p>
        </p:txBody>
      </p:sp>
      <p:sp>
        <p:nvSpPr>
          <p:cNvPr id="29" name="Rectangle 28"/>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262.0</a:t>
            </a:r>
          </a:p>
        </p:txBody>
      </p:sp>
      <p:sp>
        <p:nvSpPr>
          <p:cNvPr id="30" name="Rectangle 29"/>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8.7%</a:t>
            </a:r>
          </a:p>
        </p:txBody>
      </p:sp>
      <p:sp>
        <p:nvSpPr>
          <p:cNvPr id="31" name="Oval 30"/>
          <p:cNvSpPr/>
          <p:nvPr/>
        </p:nvSpPr>
        <p:spPr>
          <a:xfrm>
            <a:off x="468249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5913120" y="1773916"/>
            <a:ext cx="190881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913120" y="1992961"/>
            <a:ext cx="190881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Thermal Management</a:t>
            </a:r>
          </a:p>
        </p:txBody>
      </p:sp>
      <p:sp>
        <p:nvSpPr>
          <p:cNvPr id="35" name="Rectangle 34"/>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56.1</a:t>
            </a:r>
          </a:p>
        </p:txBody>
      </p:sp>
      <p:sp>
        <p:nvSpPr>
          <p:cNvPr id="36" name="Rectangle 35"/>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148.4</a:t>
            </a:r>
          </a:p>
        </p:txBody>
      </p:sp>
      <p:sp>
        <p:nvSpPr>
          <p:cNvPr id="37" name="Rectangle 36"/>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10.2%</a:t>
            </a:r>
          </a:p>
        </p:txBody>
      </p:sp>
      <p:sp>
        <p:nvSpPr>
          <p:cNvPr id="38" name="Oval 37"/>
          <p:cNvSpPr/>
          <p:nvPr/>
        </p:nvSpPr>
        <p:spPr>
          <a:xfrm>
            <a:off x="670560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7936230" y="1773916"/>
            <a:ext cx="1908810"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36230" y="1992961"/>
            <a:ext cx="1908810"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Compression &amp; Support</a:t>
            </a:r>
          </a:p>
        </p:txBody>
      </p:sp>
      <p:sp>
        <p:nvSpPr>
          <p:cNvPr id="42" name="Rectangle 41"/>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51.4</a:t>
            </a:r>
          </a:p>
        </p:txBody>
      </p:sp>
      <p:sp>
        <p:nvSpPr>
          <p:cNvPr id="43" name="Rectangle 42"/>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122.4</a:t>
            </a:r>
          </a:p>
        </p:txBody>
      </p:sp>
      <p:sp>
        <p:nvSpPr>
          <p:cNvPr id="44" name="Rectangle 43"/>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9.1%</a:t>
            </a:r>
          </a:p>
        </p:txBody>
      </p:sp>
      <p:sp>
        <p:nvSpPr>
          <p:cNvPr id="45" name="Oval 44"/>
          <p:cNvSpPr/>
          <p:nvPr/>
        </p:nvSpPr>
        <p:spPr>
          <a:xfrm>
            <a:off x="8728710"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9959340" y="1773916"/>
            <a:ext cx="1908810"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959340" y="1992961"/>
            <a:ext cx="1908810"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UV Protection</a:t>
            </a:r>
          </a:p>
        </p:txBody>
      </p:sp>
      <p:sp>
        <p:nvSpPr>
          <p:cNvPr id="49" name="Rectangle 48"/>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40.1</a:t>
            </a:r>
          </a:p>
        </p:txBody>
      </p:sp>
      <p:sp>
        <p:nvSpPr>
          <p:cNvPr id="50" name="Rectangle 49"/>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89.9</a:t>
            </a:r>
          </a:p>
        </p:txBody>
      </p:sp>
      <p:sp>
        <p:nvSpPr>
          <p:cNvPr id="51" name="Rectangle 50"/>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8.4%</a:t>
            </a:r>
          </a:p>
        </p:txBody>
      </p:sp>
      <p:sp>
        <p:nvSpPr>
          <p:cNvPr id="52" name="Oval 51"/>
          <p:cNvSpPr/>
          <p:nvPr/>
        </p:nvSpPr>
        <p:spPr>
          <a:xfrm>
            <a:off x="10751820"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53" name="Rounded Rectangle 5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55" name="Rectangle 54"/>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Among performance knitted fabrics by primary performance function, other specialized performance segment is expected to witness the highest CAGR of 10.7% over the forecast period. In terms of value share by primary performance function, the moisture management &amp; quick-dry segment is expected to dominate the market, gaining 14 BPS and accounting for 28.9% share by 2036.</a:t>
            </a:r>
          </a:p>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Moisture management &amp; quick-dry segment is projected to register 1.4X higher value than stretch &amp; recovery segment in 2036.</a:t>
            </a:r>
          </a:p>
        </p:txBody>
      </p:sp>
      <p:sp>
        <p:nvSpPr>
          <p:cNvPr id="57" name="Rounded Rectangle 5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9" name="Rectangle 58"/>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Moisture Management &amp; Quick-Dry: </a:t>
            </a:r>
            <a:r>
              <a:rPr sz="1100" b="0">
                <a:solidFill>
                  <a:srgbClr val="252423"/>
                </a:solidFill>
                <a:latin typeface="Segoe UI"/>
              </a:rPr>
              <a:t>29% of 2026 value · 9.2%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Stretch &amp; Recovery: </a:t>
            </a:r>
            <a:r>
              <a:rPr sz="1100" b="0">
                <a:solidFill>
                  <a:srgbClr val="252423"/>
                </a:solidFill>
                <a:latin typeface="Segoe UI"/>
              </a:rPr>
              <a:t>22% of 2026 value · 8.7%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Thermal Management: </a:t>
            </a:r>
            <a:r>
              <a:rPr sz="1100" b="0">
                <a:solidFill>
                  <a:srgbClr val="252423"/>
                </a:solidFill>
                <a:latin typeface="Segoe UI"/>
              </a:rPr>
              <a:t>11% of 2026 value · 10.2% CAGR serves a niche.</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Compression &amp; Support: </a:t>
            </a:r>
            <a:r>
              <a:rPr sz="1100" b="0">
                <a:solidFill>
                  <a:srgbClr val="252423"/>
                </a:solidFill>
                <a:latin typeface="Segoe UI"/>
              </a:rPr>
              <a:t>10% of 2026 value · 9.1% CAGR serves a niche.</a:t>
            </a:r>
          </a:p>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UV Protection: </a:t>
            </a:r>
            <a:r>
              <a:rPr sz="1100" b="0">
                <a:solidFill>
                  <a:srgbClr val="252423"/>
                </a:solidFill>
                <a:latin typeface="Segoe UI"/>
              </a:rPr>
              <a:t>8% of 2026 value · 8.4% CAGR serves a niche.</a:t>
            </a:r>
          </a:p>
        </p:txBody>
      </p:sp>
      <p:sp>
        <p:nvSpPr>
          <p:cNvPr id="61" name="Rounded Rectangle 6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63" name="Rectangle 62"/>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Primary Performance Function split shows how demand is distributed across primary performance function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65" name="Rectangle 6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Primary Performance Function segment is projected to grow at a CAGR of 9.2% from 2026 to 2036.</a:t>
            </a:r>
          </a:p>
        </p:txBody>
      </p:sp>
      <p:sp>
        <p:nvSpPr>
          <p:cNvPr id="67" name="TextBox 66"/>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8" name="TextBox 6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Primary Performance Function Segment Outlook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10 sub-segments of Primary Performance Function,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Primary Performance Function segment categorizes the market by primary performance function.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1908810"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1908810"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Abrasion &amp; Tear Resistance</a:t>
            </a:r>
          </a:p>
        </p:txBody>
      </p:sp>
      <p:sp>
        <p:nvSpPr>
          <p:cNvPr id="20" name="Rectangle 19"/>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39.9</a:t>
            </a:r>
          </a:p>
        </p:txBody>
      </p:sp>
      <p:sp>
        <p:nvSpPr>
          <p:cNvPr id="21" name="Rectangle 20"/>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86.9</a:t>
            </a:r>
          </a:p>
        </p:txBody>
      </p:sp>
      <p:sp>
        <p:nvSpPr>
          <p:cNvPr id="22" name="Rectangle 21"/>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8.1%</a:t>
            </a:r>
          </a:p>
        </p:txBody>
      </p:sp>
      <p:sp>
        <p:nvSpPr>
          <p:cNvPr id="23" name="Oval 22"/>
          <p:cNvSpPr/>
          <p:nvPr/>
        </p:nvSpPr>
        <p:spPr>
          <a:xfrm>
            <a:off x="2659380"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24" name="Rounded Rectangle 23"/>
          <p:cNvSpPr/>
          <p:nvPr/>
        </p:nvSpPr>
        <p:spPr>
          <a:xfrm>
            <a:off x="3890010" y="1773916"/>
            <a:ext cx="1908810"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90010" y="1992961"/>
            <a:ext cx="1908810"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Antimicrobial &amp; Odor Control</a:t>
            </a:r>
          </a:p>
        </p:txBody>
      </p:sp>
      <p:sp>
        <p:nvSpPr>
          <p:cNvPr id="27" name="Rectangle 26"/>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36.3</a:t>
            </a:r>
          </a:p>
        </p:txBody>
      </p:sp>
      <p:sp>
        <p:nvSpPr>
          <p:cNvPr id="28" name="Rectangle 27"/>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95.5</a:t>
            </a:r>
          </a:p>
        </p:txBody>
      </p:sp>
      <p:sp>
        <p:nvSpPr>
          <p:cNvPr id="29" name="Rectangle 28"/>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10.2%</a:t>
            </a:r>
          </a:p>
        </p:txBody>
      </p:sp>
      <p:sp>
        <p:nvSpPr>
          <p:cNvPr id="30" name="Oval 29"/>
          <p:cNvSpPr/>
          <p:nvPr/>
        </p:nvSpPr>
        <p:spPr>
          <a:xfrm>
            <a:off x="4682490"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31" name="Rounded Rectangle 30"/>
          <p:cNvSpPr/>
          <p:nvPr/>
        </p:nvSpPr>
        <p:spPr>
          <a:xfrm>
            <a:off x="5913120" y="1773916"/>
            <a:ext cx="190881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913120" y="1992961"/>
            <a:ext cx="190881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Water or Liquid Management</a:t>
            </a:r>
          </a:p>
        </p:txBody>
      </p:sp>
      <p:sp>
        <p:nvSpPr>
          <p:cNvPr id="34" name="Rectangle 33"/>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16.1</a:t>
            </a:r>
          </a:p>
        </p:txBody>
      </p:sp>
      <p:sp>
        <p:nvSpPr>
          <p:cNvPr id="35" name="Rectangle 34"/>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37.4</a:t>
            </a:r>
          </a:p>
        </p:txBody>
      </p:sp>
      <p:sp>
        <p:nvSpPr>
          <p:cNvPr id="36" name="Rectangle 35"/>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8.8%</a:t>
            </a:r>
          </a:p>
        </p:txBody>
      </p:sp>
      <p:sp>
        <p:nvSpPr>
          <p:cNvPr id="37" name="Oval 36"/>
          <p:cNvSpPr/>
          <p:nvPr/>
        </p:nvSpPr>
        <p:spPr>
          <a:xfrm>
            <a:off x="670560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8</a:t>
            </a:r>
          </a:p>
        </p:txBody>
      </p:sp>
      <p:sp>
        <p:nvSpPr>
          <p:cNvPr id="38" name="Rounded Rectangle 37"/>
          <p:cNvSpPr/>
          <p:nvPr/>
        </p:nvSpPr>
        <p:spPr>
          <a:xfrm>
            <a:off x="7936230" y="1773916"/>
            <a:ext cx="190881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936230" y="1992961"/>
            <a:ext cx="190881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Other Specialized Performance</a:t>
            </a:r>
          </a:p>
        </p:txBody>
      </p:sp>
      <p:sp>
        <p:nvSpPr>
          <p:cNvPr id="41" name="Rectangle 40"/>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9.37</a:t>
            </a:r>
          </a:p>
        </p:txBody>
      </p:sp>
      <p:sp>
        <p:nvSpPr>
          <p:cNvPr id="42" name="Rectangle 41"/>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25.9</a:t>
            </a:r>
          </a:p>
        </p:txBody>
      </p:sp>
      <p:sp>
        <p:nvSpPr>
          <p:cNvPr id="43" name="Rectangle 42"/>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10.7%</a:t>
            </a:r>
          </a:p>
        </p:txBody>
      </p:sp>
      <p:sp>
        <p:nvSpPr>
          <p:cNvPr id="44" name="Oval 43"/>
          <p:cNvSpPr/>
          <p:nvPr/>
        </p:nvSpPr>
        <p:spPr>
          <a:xfrm>
            <a:off x="872871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9</a:t>
            </a:r>
          </a:p>
        </p:txBody>
      </p:sp>
      <p:sp>
        <p:nvSpPr>
          <p:cNvPr id="45" name="Rounded Rectangle 44"/>
          <p:cNvSpPr/>
          <p:nvPr/>
        </p:nvSpPr>
        <p:spPr>
          <a:xfrm>
            <a:off x="9959340" y="1773916"/>
            <a:ext cx="190881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959340" y="1992961"/>
            <a:ext cx="190881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Flame &amp; Heat Resistance</a:t>
            </a:r>
          </a:p>
        </p:txBody>
      </p:sp>
      <p:sp>
        <p:nvSpPr>
          <p:cNvPr id="48" name="Rectangle 47"/>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7.26</a:t>
            </a:r>
          </a:p>
        </p:txBody>
      </p:sp>
      <p:sp>
        <p:nvSpPr>
          <p:cNvPr id="49" name="Rectangle 48"/>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18.3</a:t>
            </a:r>
          </a:p>
        </p:txBody>
      </p:sp>
      <p:sp>
        <p:nvSpPr>
          <p:cNvPr id="50" name="Rectangle 49"/>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9.7%</a:t>
            </a:r>
          </a:p>
        </p:txBody>
      </p:sp>
      <p:sp>
        <p:nvSpPr>
          <p:cNvPr id="51" name="Oval 50"/>
          <p:cNvSpPr/>
          <p:nvPr/>
        </p:nvSpPr>
        <p:spPr>
          <a:xfrm>
            <a:off x="1075182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10</a:t>
            </a:r>
          </a:p>
        </p:txBody>
      </p:sp>
      <p:sp>
        <p:nvSpPr>
          <p:cNvPr id="52" name="Rounded Rectangle 51"/>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4" name="Rectangle 53"/>
          <p:cNvSpPr/>
          <p:nvPr/>
        </p:nvSpPr>
        <p:spPr>
          <a:xfrm>
            <a:off x="457200" y="4146897"/>
            <a:ext cx="112776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Abrasion &amp; Tear Resistance: </a:t>
            </a:r>
            <a:r>
              <a:rPr sz="1100" b="0">
                <a:solidFill>
                  <a:srgbClr val="252423"/>
                </a:solidFill>
                <a:latin typeface="Segoe UI"/>
              </a:rPr>
              <a:t>8% of 2026 value · 8.1% CAGR serves a niche.</a:t>
            </a:r>
          </a:p>
          <a:p>
            <a:pPr algn="l">
              <a:lnSpc>
                <a:spcPct val="110000"/>
              </a:lnSpc>
              <a:spcBef>
                <a:spcPts val="0"/>
              </a:spcBef>
              <a:spcAft>
                <a:spcPts val="500"/>
              </a:spcAft>
            </a:pPr>
            <a:r>
              <a:rPr sz="1100" b="0">
                <a:solidFill>
                  <a:srgbClr val="2C6E7F"/>
                </a:solidFill>
                <a:latin typeface="Segoe UI"/>
              </a:rPr>
              <a:t>●  </a:t>
            </a:r>
            <a:r>
              <a:rPr sz="1100" b="1">
                <a:solidFill>
                  <a:srgbClr val="2C6E7F"/>
                </a:solidFill>
                <a:latin typeface="Segoe UI"/>
              </a:rPr>
              <a:t>Antimicrobial &amp; Odor Control: </a:t>
            </a:r>
            <a:r>
              <a:rPr sz="1100" b="0">
                <a:solidFill>
                  <a:srgbClr val="252423"/>
                </a:solidFill>
                <a:latin typeface="Segoe UI"/>
              </a:rPr>
              <a:t>7% of 2026 value · 10.2% CAGR serves a niche.</a:t>
            </a:r>
          </a:p>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Water or Liquid Management: </a:t>
            </a:r>
            <a:r>
              <a:rPr sz="1100" b="0">
                <a:solidFill>
                  <a:srgbClr val="252423"/>
                </a:solidFill>
                <a:latin typeface="Segoe UI"/>
              </a:rPr>
              <a:t>3% of 2026 value · 8.8% CAGR serves a niche.</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Other Specialized Performance: </a:t>
            </a:r>
            <a:r>
              <a:rPr sz="1100" b="0">
                <a:solidFill>
                  <a:srgbClr val="252423"/>
                </a:solidFill>
                <a:latin typeface="Segoe UI"/>
              </a:rPr>
              <a:t>2% of 2026 value · 10.7% CAGR grows fastest.</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Flame &amp; Heat Resistance: </a:t>
            </a:r>
            <a:r>
              <a:rPr sz="1100" b="0">
                <a:solidFill>
                  <a:srgbClr val="252423"/>
                </a:solidFill>
                <a:latin typeface="Segoe UI"/>
              </a:rPr>
              <a:t>1% of 2026 value · 9.7% CAGR serves a niche.</a:t>
            </a:r>
          </a:p>
        </p:txBody>
      </p:sp>
      <p:sp>
        <p:nvSpPr>
          <p:cNvPr id="56" name="TextBox 55"/>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57" name="TextBox 5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South Asia Pacific Market Value &amp; Share Shift, By Primary Performance Function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Primary Performance Function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Asia Pacific</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South Asia Pacific Value Composition, By Primary Performance Function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704749"/>
            <a:ext cx="85725" cy="85725"/>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1699987"/>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62378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Flame &amp; Heat Resistance</a:t>
            </a:r>
          </a:p>
        </p:txBody>
      </p:sp>
      <p:sp>
        <p:nvSpPr>
          <p:cNvPr id="17" name="BPS Value 1"/>
          <p:cNvSpPr txBox="1"/>
          <p:nvPr/>
        </p:nvSpPr>
        <p:spPr>
          <a:xfrm>
            <a:off x="6896100" y="1685699"/>
            <a:ext cx="514350" cy="123825"/>
          </a:xfrm>
          <a:prstGeom prst="rect">
            <a:avLst/>
          </a:prstGeom>
          <a:noFill/>
        </p:spPr>
        <p:txBody>
          <a:bodyPr wrap="none" lIns="0" rIns="0" tIns="0" bIns="0" anchor="ctr">
            <a:spAutoFit/>
          </a:bodyPr>
          <a:lstStyle/>
          <a:p>
            <a:pPr algn="r"/>
            <a:r>
              <a:rPr sz="900" b="1">
                <a:solidFill>
                  <a:srgbClr val="1E8E3E"/>
                </a:solidFill>
                <a:latin typeface="Segoe UI"/>
              </a:rPr>
              <a:t>+7</a:t>
            </a:r>
          </a:p>
        </p:txBody>
      </p:sp>
      <p:sp>
        <p:nvSpPr>
          <p:cNvPr id="18" name="FMI Legend Chip"/>
          <p:cNvSpPr/>
          <p:nvPr/>
        </p:nvSpPr>
        <p:spPr>
          <a:xfrm>
            <a:off x="4928997" y="1828574"/>
            <a:ext cx="85725" cy="85725"/>
          </a:xfrm>
          <a:prstGeom prst="rect">
            <a:avLst/>
          </a:prstGeom>
          <a:solidFill>
            <a:srgbClr val="CF7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182381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174761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Other Specialized Performance</a:t>
            </a:r>
          </a:p>
        </p:txBody>
      </p:sp>
      <p:sp>
        <p:nvSpPr>
          <p:cNvPr id="21" name="BPS Value 2"/>
          <p:cNvSpPr txBox="1"/>
          <p:nvPr/>
        </p:nvSpPr>
        <p:spPr>
          <a:xfrm>
            <a:off x="6896100" y="1809524"/>
            <a:ext cx="514350" cy="123825"/>
          </a:xfrm>
          <a:prstGeom prst="rect">
            <a:avLst/>
          </a:prstGeom>
          <a:noFill/>
        </p:spPr>
        <p:txBody>
          <a:bodyPr wrap="none" lIns="0" rIns="0" tIns="0" bIns="0" anchor="ctr">
            <a:spAutoFit/>
          </a:bodyPr>
          <a:lstStyle/>
          <a:p>
            <a:pPr algn="r"/>
            <a:r>
              <a:rPr sz="900" b="1">
                <a:solidFill>
                  <a:srgbClr val="1E8E3E"/>
                </a:solidFill>
                <a:latin typeface="Segoe UI"/>
              </a:rPr>
              <a:t>+27</a:t>
            </a:r>
          </a:p>
        </p:txBody>
      </p:sp>
      <p:sp>
        <p:nvSpPr>
          <p:cNvPr id="22" name="FMI Legend Chip"/>
          <p:cNvSpPr/>
          <p:nvPr/>
        </p:nvSpPr>
        <p:spPr>
          <a:xfrm>
            <a:off x="4928997" y="1952399"/>
            <a:ext cx="85725" cy="85725"/>
          </a:xfrm>
          <a:prstGeom prst="rect">
            <a:avLst/>
          </a:prstGeom>
          <a:solidFill>
            <a:srgbClr val="7D7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rot="10800000">
            <a:off x="5090922" y="1947637"/>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187143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Water or Liquid Management</a:t>
            </a:r>
          </a:p>
        </p:txBody>
      </p:sp>
      <p:sp>
        <p:nvSpPr>
          <p:cNvPr id="25" name="BPS Value 3"/>
          <p:cNvSpPr txBox="1"/>
          <p:nvPr/>
        </p:nvSpPr>
        <p:spPr>
          <a:xfrm>
            <a:off x="6896100" y="1933349"/>
            <a:ext cx="514350" cy="123825"/>
          </a:xfrm>
          <a:prstGeom prst="rect">
            <a:avLst/>
          </a:prstGeom>
          <a:noFill/>
        </p:spPr>
        <p:txBody>
          <a:bodyPr wrap="none" lIns="0" rIns="0" tIns="0" bIns="0" anchor="ctr">
            <a:spAutoFit/>
          </a:bodyPr>
          <a:lstStyle/>
          <a:p>
            <a:pPr algn="r"/>
            <a:r>
              <a:rPr sz="900" b="1">
                <a:solidFill>
                  <a:srgbClr val="D64545"/>
                </a:solidFill>
                <a:latin typeface="Segoe UI"/>
              </a:rPr>
              <a:t>-11</a:t>
            </a:r>
          </a:p>
        </p:txBody>
      </p:sp>
      <p:sp>
        <p:nvSpPr>
          <p:cNvPr id="26" name="FMI Legend Chip"/>
          <p:cNvSpPr/>
          <p:nvPr/>
        </p:nvSpPr>
        <p:spPr>
          <a:xfrm>
            <a:off x="4928997" y="2129275"/>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rot="10800000">
            <a:off x="5090922" y="212451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204831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Abrasion &amp; Tear Resistance</a:t>
            </a:r>
          </a:p>
        </p:txBody>
      </p:sp>
      <p:sp>
        <p:nvSpPr>
          <p:cNvPr id="29" name="BPS Value 4"/>
          <p:cNvSpPr txBox="1"/>
          <p:nvPr/>
        </p:nvSpPr>
        <p:spPr>
          <a:xfrm>
            <a:off x="6896100" y="2110225"/>
            <a:ext cx="514350" cy="123825"/>
          </a:xfrm>
          <a:prstGeom prst="rect">
            <a:avLst/>
          </a:prstGeom>
          <a:noFill/>
        </p:spPr>
        <p:txBody>
          <a:bodyPr wrap="none" lIns="0" rIns="0" tIns="0" bIns="0" anchor="ctr">
            <a:spAutoFit/>
          </a:bodyPr>
          <a:lstStyle/>
          <a:p>
            <a:pPr algn="r"/>
            <a:r>
              <a:rPr sz="900" b="1">
                <a:solidFill>
                  <a:srgbClr val="D64545"/>
                </a:solidFill>
                <a:latin typeface="Segoe UI"/>
              </a:rPr>
              <a:t>-73</a:t>
            </a:r>
          </a:p>
        </p:txBody>
      </p:sp>
      <p:sp>
        <p:nvSpPr>
          <p:cNvPr id="30" name="FMI Legend Chip"/>
          <p:cNvSpPr/>
          <p:nvPr/>
        </p:nvSpPr>
        <p:spPr>
          <a:xfrm>
            <a:off x="4928997" y="2453125"/>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rot="10800000">
            <a:off x="5090922" y="244836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237216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UV Protection</a:t>
            </a:r>
          </a:p>
        </p:txBody>
      </p:sp>
      <p:sp>
        <p:nvSpPr>
          <p:cNvPr id="33" name="BPS Value 5"/>
          <p:cNvSpPr txBox="1"/>
          <p:nvPr/>
        </p:nvSpPr>
        <p:spPr>
          <a:xfrm>
            <a:off x="6896100" y="2434075"/>
            <a:ext cx="514350" cy="123825"/>
          </a:xfrm>
          <a:prstGeom prst="rect">
            <a:avLst/>
          </a:prstGeom>
          <a:noFill/>
        </p:spPr>
        <p:txBody>
          <a:bodyPr wrap="none" lIns="0" rIns="0" tIns="0" bIns="0" anchor="ctr">
            <a:spAutoFit/>
          </a:bodyPr>
          <a:lstStyle/>
          <a:p>
            <a:pPr algn="r"/>
            <a:r>
              <a:rPr sz="900" b="1">
                <a:solidFill>
                  <a:srgbClr val="D64545"/>
                </a:solidFill>
                <a:latin typeface="Segoe UI"/>
              </a:rPr>
              <a:t>-51</a:t>
            </a:r>
          </a:p>
        </p:txBody>
      </p:sp>
      <p:sp>
        <p:nvSpPr>
          <p:cNvPr id="34" name="FMI Legend Chip"/>
          <p:cNvSpPr/>
          <p:nvPr/>
        </p:nvSpPr>
        <p:spPr>
          <a:xfrm>
            <a:off x="4928997" y="2792847"/>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a:off x="5090922" y="278808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271188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Antimicrobial &amp; Odor Control</a:t>
            </a:r>
          </a:p>
        </p:txBody>
      </p:sp>
      <p:sp>
        <p:nvSpPr>
          <p:cNvPr id="37" name="BPS Value 6"/>
          <p:cNvSpPr txBox="1"/>
          <p:nvPr/>
        </p:nvSpPr>
        <p:spPr>
          <a:xfrm>
            <a:off x="6896100" y="2773797"/>
            <a:ext cx="514350" cy="123825"/>
          </a:xfrm>
          <a:prstGeom prst="rect">
            <a:avLst/>
          </a:prstGeom>
          <a:noFill/>
        </p:spPr>
        <p:txBody>
          <a:bodyPr wrap="none" lIns="0" rIns="0" tIns="0" bIns="0" anchor="ctr">
            <a:spAutoFit/>
          </a:bodyPr>
          <a:lstStyle/>
          <a:p>
            <a:pPr algn="r"/>
            <a:r>
              <a:rPr sz="900" b="1">
                <a:solidFill>
                  <a:srgbClr val="1E8E3E"/>
                </a:solidFill>
                <a:latin typeface="Segoe UI"/>
              </a:rPr>
              <a:t>+67</a:t>
            </a:r>
          </a:p>
        </p:txBody>
      </p:sp>
      <p:sp>
        <p:nvSpPr>
          <p:cNvPr id="38" name="FMI Legend Chip"/>
          <p:cNvSpPr/>
          <p:nvPr/>
        </p:nvSpPr>
        <p:spPr>
          <a:xfrm>
            <a:off x="4928997" y="3192097"/>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rot="10800000">
            <a:off x="5090922" y="318733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5233797" y="311113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Compression &amp; Support</a:t>
            </a:r>
          </a:p>
        </p:txBody>
      </p:sp>
      <p:sp>
        <p:nvSpPr>
          <p:cNvPr id="41" name="BPS Value 7"/>
          <p:cNvSpPr txBox="1"/>
          <p:nvPr/>
        </p:nvSpPr>
        <p:spPr>
          <a:xfrm>
            <a:off x="6896100" y="3173047"/>
            <a:ext cx="514350" cy="123825"/>
          </a:xfrm>
          <a:prstGeom prst="rect">
            <a:avLst/>
          </a:prstGeom>
          <a:noFill/>
        </p:spPr>
        <p:txBody>
          <a:bodyPr wrap="none" lIns="0" rIns="0" tIns="0" bIns="0" anchor="ctr">
            <a:spAutoFit/>
          </a:bodyPr>
          <a:lstStyle/>
          <a:p>
            <a:pPr algn="r"/>
            <a:r>
              <a:rPr sz="900" b="1">
                <a:solidFill>
                  <a:srgbClr val="D64545"/>
                </a:solidFill>
                <a:latin typeface="Segoe UI"/>
              </a:rPr>
              <a:t>-7</a:t>
            </a:r>
          </a:p>
        </p:txBody>
      </p:sp>
      <p:sp>
        <p:nvSpPr>
          <p:cNvPr id="42" name="FMI Legend Chip"/>
          <p:cNvSpPr/>
          <p:nvPr/>
        </p:nvSpPr>
        <p:spPr>
          <a:xfrm>
            <a:off x="4928997" y="3688149"/>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Isosceles Triangle 42"/>
          <p:cNvSpPr/>
          <p:nvPr/>
        </p:nvSpPr>
        <p:spPr>
          <a:xfrm>
            <a:off x="5090922" y="3683387"/>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PS Name 8"/>
          <p:cNvSpPr txBox="1"/>
          <p:nvPr/>
        </p:nvSpPr>
        <p:spPr>
          <a:xfrm>
            <a:off x="5233797" y="360718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Thermal Management</a:t>
            </a:r>
          </a:p>
        </p:txBody>
      </p:sp>
      <p:sp>
        <p:nvSpPr>
          <p:cNvPr id="45" name="BPS Value 8"/>
          <p:cNvSpPr txBox="1"/>
          <p:nvPr/>
        </p:nvSpPr>
        <p:spPr>
          <a:xfrm>
            <a:off x="6896100" y="3669099"/>
            <a:ext cx="514350" cy="123825"/>
          </a:xfrm>
          <a:prstGeom prst="rect">
            <a:avLst/>
          </a:prstGeom>
          <a:noFill/>
        </p:spPr>
        <p:txBody>
          <a:bodyPr wrap="none" lIns="0" rIns="0" tIns="0" bIns="0" anchor="ctr">
            <a:spAutoFit/>
          </a:bodyPr>
          <a:lstStyle/>
          <a:p>
            <a:pPr algn="r"/>
            <a:r>
              <a:rPr sz="900" b="1">
                <a:solidFill>
                  <a:srgbClr val="1E8E3E"/>
                </a:solidFill>
                <a:latin typeface="Segoe UI"/>
              </a:rPr>
              <a:t>+110</a:t>
            </a:r>
          </a:p>
        </p:txBody>
      </p:sp>
      <p:sp>
        <p:nvSpPr>
          <p:cNvPr id="46" name="FMI Legend Chip"/>
          <p:cNvSpPr/>
          <p:nvPr/>
        </p:nvSpPr>
        <p:spPr>
          <a:xfrm>
            <a:off x="4928997" y="4440026"/>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Isosceles Triangle 46"/>
          <p:cNvSpPr/>
          <p:nvPr/>
        </p:nvSpPr>
        <p:spPr>
          <a:xfrm rot="10800000">
            <a:off x="5090922" y="443526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PS Name 9"/>
          <p:cNvSpPr txBox="1"/>
          <p:nvPr/>
        </p:nvSpPr>
        <p:spPr>
          <a:xfrm>
            <a:off x="5233797" y="435906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Stretch &amp; Recovery</a:t>
            </a:r>
          </a:p>
        </p:txBody>
      </p:sp>
      <p:sp>
        <p:nvSpPr>
          <p:cNvPr id="49" name="BPS Value 9"/>
          <p:cNvSpPr txBox="1"/>
          <p:nvPr/>
        </p:nvSpPr>
        <p:spPr>
          <a:xfrm>
            <a:off x="6896100" y="4420976"/>
            <a:ext cx="514350" cy="123825"/>
          </a:xfrm>
          <a:prstGeom prst="rect">
            <a:avLst/>
          </a:prstGeom>
          <a:noFill/>
        </p:spPr>
        <p:txBody>
          <a:bodyPr wrap="none" lIns="0" rIns="0" tIns="0" bIns="0" anchor="ctr">
            <a:spAutoFit/>
          </a:bodyPr>
          <a:lstStyle/>
          <a:p>
            <a:pPr algn="r"/>
            <a:r>
              <a:rPr sz="900" b="1">
                <a:solidFill>
                  <a:srgbClr val="D64545"/>
                </a:solidFill>
                <a:latin typeface="Segoe UI"/>
              </a:rPr>
              <a:t>-82</a:t>
            </a:r>
          </a:p>
        </p:txBody>
      </p:sp>
      <p:sp>
        <p:nvSpPr>
          <p:cNvPr id="50" name="FMI Legend Chip"/>
          <p:cNvSpPr/>
          <p:nvPr/>
        </p:nvSpPr>
        <p:spPr>
          <a:xfrm>
            <a:off x="4928997" y="5581868"/>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Isosceles Triangle 50"/>
          <p:cNvSpPr/>
          <p:nvPr/>
        </p:nvSpPr>
        <p:spPr>
          <a:xfrm>
            <a:off x="5090922" y="5577106"/>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PS Name 10"/>
          <p:cNvSpPr txBox="1"/>
          <p:nvPr/>
        </p:nvSpPr>
        <p:spPr>
          <a:xfrm>
            <a:off x="5233797" y="550090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Moisture Management &amp; Quick-Dry</a:t>
            </a:r>
          </a:p>
        </p:txBody>
      </p:sp>
      <p:sp>
        <p:nvSpPr>
          <p:cNvPr id="53" name="BPS Value 10"/>
          <p:cNvSpPr txBox="1"/>
          <p:nvPr/>
        </p:nvSpPr>
        <p:spPr>
          <a:xfrm>
            <a:off x="6896100" y="5562818"/>
            <a:ext cx="514350" cy="123825"/>
          </a:xfrm>
          <a:prstGeom prst="rect">
            <a:avLst/>
          </a:prstGeom>
          <a:noFill/>
        </p:spPr>
        <p:txBody>
          <a:bodyPr wrap="none" lIns="0" rIns="0" tIns="0" bIns="0" anchor="ctr">
            <a:spAutoFit/>
          </a:bodyPr>
          <a:lstStyle/>
          <a:p>
            <a:pPr algn="r"/>
            <a:r>
              <a:rPr sz="900" b="1">
                <a:solidFill>
                  <a:srgbClr val="1E8E3E"/>
                </a:solidFill>
                <a:latin typeface="Segoe UI"/>
              </a:rPr>
              <a:t>+14</a:t>
            </a:r>
          </a:p>
        </p:txBody>
      </p:sp>
      <p:sp>
        <p:nvSpPr>
          <p:cNvPr id="54" name="Rectangle 53"/>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South Asia Pacific Read-out, By Primary Performance Function</a:t>
            </a:r>
          </a:p>
        </p:txBody>
      </p:sp>
      <p:sp>
        <p:nvSpPr>
          <p:cNvPr id="56" name="Rectangle 55"/>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primary performance function, other specialized performance segment is expected to witness the highest CAGR of 10.7% over the forecast period. In terms of value share by primary performance function, the moisture management &amp; quick-dry segment is expected to dominate the market, gaining 14 BPS and accounting for 28.9% share by 2036.</a:t>
            </a:r>
          </a:p>
          <a:p>
            <a:pPr algn="l">
              <a:lnSpc>
                <a:spcPct val="110000"/>
              </a:lnSpc>
              <a:spcBef>
                <a:spcPts val="0"/>
              </a:spcBef>
              <a:spcAft>
                <a:spcPts val="500"/>
              </a:spcAft>
            </a:pPr>
            <a:r>
              <a:rPr sz="1150" b="0">
                <a:solidFill>
                  <a:srgbClr val="252423"/>
                </a:solidFill>
                <a:latin typeface="Segoe UI"/>
              </a:rPr>
              <a:t>The stretch &amp; recovery segment is expected to lose 82 BPS over the forecast period to account for 21.0% share by 2036.</a:t>
            </a:r>
          </a:p>
        </p:txBody>
      </p:sp>
      <p:sp>
        <p:nvSpPr>
          <p:cNvPr id="58" name="TextBox 5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Segment Outlook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Asia Pacific</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segment categorizes the market by end-use application.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Sports &amp; Activewear</a:t>
            </a:r>
          </a:p>
        </p:txBody>
      </p:sp>
      <p:sp>
        <p:nvSpPr>
          <p:cNvPr id="21" name="Rectangle 20"/>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154.9</a:t>
            </a:r>
          </a:p>
        </p:txBody>
      </p:sp>
      <p:sp>
        <p:nvSpPr>
          <p:cNvPr id="22" name="Rectangle 21"/>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378.8</a:t>
            </a:r>
          </a:p>
        </p:txBody>
      </p:sp>
      <p:sp>
        <p:nvSpPr>
          <p:cNvPr id="23" name="Rectangle 22"/>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9.4%</a:t>
            </a:r>
          </a:p>
        </p:txBody>
      </p:sp>
      <p:sp>
        <p:nvSpPr>
          <p:cNvPr id="24" name="Oval 23"/>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Intimate &amp; Bodywear</a:t>
            </a:r>
          </a:p>
        </p:txBody>
      </p:sp>
      <p:sp>
        <p:nvSpPr>
          <p:cNvPr id="28" name="Rectangle 27"/>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102.0</a:t>
            </a:r>
          </a:p>
        </p:txBody>
      </p:sp>
      <p:sp>
        <p:nvSpPr>
          <p:cNvPr id="29" name="Rectangle 28"/>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215.7</a:t>
            </a:r>
          </a:p>
        </p:txBody>
      </p:sp>
      <p:sp>
        <p:nvSpPr>
          <p:cNvPr id="30" name="Rectangle 29"/>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7.8%</a:t>
            </a:r>
          </a:p>
        </p:txBody>
      </p:sp>
      <p:sp>
        <p:nvSpPr>
          <p:cNvPr id="31" name="Oval 30"/>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Footwear</a:t>
            </a:r>
          </a:p>
        </p:txBody>
      </p:sp>
      <p:sp>
        <p:nvSpPr>
          <p:cNvPr id="35" name="Rectangle 34"/>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81.3</a:t>
            </a:r>
          </a:p>
        </p:txBody>
      </p:sp>
      <p:sp>
        <p:nvSpPr>
          <p:cNvPr id="36" name="Rectangle 35"/>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198.8</a:t>
            </a:r>
          </a:p>
        </p:txBody>
      </p:sp>
      <p:sp>
        <p:nvSpPr>
          <p:cNvPr id="37" name="Rectangle 36"/>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9.3%</a:t>
            </a:r>
          </a:p>
        </p:txBody>
      </p:sp>
      <p:sp>
        <p:nvSpPr>
          <p:cNvPr id="38" name="Oval 37"/>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Medical &amp; Healthcare</a:t>
            </a:r>
          </a:p>
        </p:txBody>
      </p:sp>
      <p:sp>
        <p:nvSpPr>
          <p:cNvPr id="42" name="Rectangle 41"/>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54.0</a:t>
            </a:r>
          </a:p>
        </p:txBody>
      </p:sp>
      <p:sp>
        <p:nvSpPr>
          <p:cNvPr id="43" name="Rectangle 42"/>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140.2</a:t>
            </a:r>
          </a:p>
        </p:txBody>
      </p:sp>
      <p:sp>
        <p:nvSpPr>
          <p:cNvPr id="44" name="Rectangle 43"/>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10.0%</a:t>
            </a:r>
          </a:p>
        </p:txBody>
      </p:sp>
      <p:sp>
        <p:nvSpPr>
          <p:cNvPr id="45" name="Oval 44"/>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8" name="Rectangle 47"/>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End-Use application, medical &amp; healthcare segment is expected to witness the highest CAGR of 10.0% over the forecast period. In terms of value share by End-Use application, the sports &amp; activewear segment is expected to dominate the market, gaining 55 BPS and accounting for 30.4%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Sports &amp; activewear segment is projected to register 1.8X higher value than intimate &amp; bodywear segment in 2036.</a:t>
            </a:r>
          </a:p>
        </p:txBody>
      </p:sp>
      <p:sp>
        <p:nvSpPr>
          <p:cNvPr id="50" name="Rounded Rectangle 49"/>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2" name="Rectangle 51"/>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Sports &amp; Activewear: </a:t>
            </a:r>
            <a:r>
              <a:rPr sz="1100" b="0">
                <a:solidFill>
                  <a:srgbClr val="252423"/>
                </a:solidFill>
                <a:latin typeface="Segoe UI"/>
              </a:rPr>
              <a:t>30% of 2026 value · 9.4%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Intimate &amp; Bodywear: </a:t>
            </a:r>
            <a:r>
              <a:rPr sz="1100" b="0">
                <a:solidFill>
                  <a:srgbClr val="252423"/>
                </a:solidFill>
                <a:latin typeface="Segoe UI"/>
              </a:rPr>
              <a:t>20% of 2026 value · 7.8%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Footwear: </a:t>
            </a:r>
            <a:r>
              <a:rPr sz="1100" b="0">
                <a:solidFill>
                  <a:srgbClr val="252423"/>
                </a:solidFill>
                <a:latin typeface="Segoe UI"/>
              </a:rPr>
              <a:t>16% of 2026 value · 9.3% CAGR serves a niche.</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Medical &amp; Healthcare: </a:t>
            </a:r>
            <a:r>
              <a:rPr sz="1100" b="0">
                <a:solidFill>
                  <a:srgbClr val="252423"/>
                </a:solidFill>
                <a:latin typeface="Segoe UI"/>
              </a:rPr>
              <a:t>10% of 2026 value · 10.0% CAGR grows fastest.</a:t>
            </a:r>
          </a:p>
        </p:txBody>
      </p:sp>
      <p:sp>
        <p:nvSpPr>
          <p:cNvPr id="54" name="Rounded Rectangle 53"/>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6" name="Rectangle 55"/>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End-Use Application split shows how demand is distributed across end-use application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8" name="Rectangle 57"/>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End-Use Application segment is projected to grow at a CAGR of 9.2% from 2026 to 2036.</a:t>
            </a:r>
          </a:p>
        </p:txBody>
      </p:sp>
      <p:sp>
        <p:nvSpPr>
          <p:cNvPr id="60" name="TextBox 59"/>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1" name="TextBox 6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Segment Outlook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segment categorizes the market by end-use application.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3257550"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3257550"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Protective &amp; Occupational Wear</a:t>
            </a:r>
          </a:p>
        </p:txBody>
      </p:sp>
      <p:sp>
        <p:nvSpPr>
          <p:cNvPr id="20" name="Rectangle 19"/>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49.7</a:t>
            </a:r>
          </a:p>
        </p:txBody>
      </p:sp>
      <p:sp>
        <p:nvSpPr>
          <p:cNvPr id="21" name="Rectangle 20"/>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124.0</a:t>
            </a:r>
          </a:p>
        </p:txBody>
      </p:sp>
      <p:sp>
        <p:nvSpPr>
          <p:cNvPr id="22" name="Rectangle 21"/>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9.6%</a:t>
            </a:r>
          </a:p>
        </p:txBody>
      </p:sp>
      <p:sp>
        <p:nvSpPr>
          <p:cNvPr id="23" name="Oval 22"/>
          <p:cNvSpPr/>
          <p:nvPr/>
        </p:nvSpPr>
        <p:spPr>
          <a:xfrm>
            <a:off x="3333750"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24" name="Rounded Rectangle 23"/>
          <p:cNvSpPr/>
          <p:nvPr/>
        </p:nvSpPr>
        <p:spPr>
          <a:xfrm>
            <a:off x="5238750" y="1773916"/>
            <a:ext cx="3257550"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38750" y="1992961"/>
            <a:ext cx="3257550"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Automotive &amp; Transportation</a:t>
            </a:r>
          </a:p>
        </p:txBody>
      </p:sp>
      <p:sp>
        <p:nvSpPr>
          <p:cNvPr id="27" name="Rectangle 26"/>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40.1</a:t>
            </a:r>
          </a:p>
        </p:txBody>
      </p:sp>
      <p:sp>
        <p:nvSpPr>
          <p:cNvPr id="28" name="Rectangle 27"/>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94.7</a:t>
            </a:r>
          </a:p>
        </p:txBody>
      </p:sp>
      <p:sp>
        <p:nvSpPr>
          <p:cNvPr id="29" name="Rectangle 28"/>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9.0%</a:t>
            </a:r>
          </a:p>
        </p:txBody>
      </p:sp>
      <p:sp>
        <p:nvSpPr>
          <p:cNvPr id="30" name="Oval 29"/>
          <p:cNvSpPr/>
          <p:nvPr/>
        </p:nvSpPr>
        <p:spPr>
          <a:xfrm>
            <a:off x="6705600"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31" name="Rounded Rectangle 30"/>
          <p:cNvSpPr/>
          <p:nvPr/>
        </p:nvSpPr>
        <p:spPr>
          <a:xfrm>
            <a:off x="8610600" y="1773916"/>
            <a:ext cx="3257550"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10600" y="1992961"/>
            <a:ext cx="3257550"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Industrial &amp; Technical Applicatio…</a:t>
            </a:r>
          </a:p>
        </p:txBody>
      </p:sp>
      <p:sp>
        <p:nvSpPr>
          <p:cNvPr id="34" name="Rectangle 33"/>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37.6</a:t>
            </a:r>
          </a:p>
        </p:txBody>
      </p:sp>
      <p:sp>
        <p:nvSpPr>
          <p:cNvPr id="35" name="Rectangle 34"/>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95.6</a:t>
            </a:r>
          </a:p>
        </p:txBody>
      </p:sp>
      <p:sp>
        <p:nvSpPr>
          <p:cNvPr id="36" name="Rectangle 35"/>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9.8%</a:t>
            </a:r>
          </a:p>
        </p:txBody>
      </p:sp>
      <p:sp>
        <p:nvSpPr>
          <p:cNvPr id="37" name="Oval 36"/>
          <p:cNvSpPr/>
          <p:nvPr/>
        </p:nvSpPr>
        <p:spPr>
          <a:xfrm>
            <a:off x="10077450"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38" name="Rounded Rectangle 37"/>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0" name="Rectangle 39"/>
          <p:cNvSpPr/>
          <p:nvPr/>
        </p:nvSpPr>
        <p:spPr>
          <a:xfrm>
            <a:off x="457200" y="4146897"/>
            <a:ext cx="112776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Protective &amp; Occupational Wear: </a:t>
            </a:r>
            <a:r>
              <a:rPr sz="1100" b="0">
                <a:solidFill>
                  <a:srgbClr val="252423"/>
                </a:solidFill>
                <a:latin typeface="Segoe UI"/>
              </a:rPr>
              <a:t>10% of 2026 value · 9.6% CAGR serves a niche.</a:t>
            </a:r>
          </a:p>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Automotive &amp; Transportation: </a:t>
            </a:r>
            <a:r>
              <a:rPr sz="1100" b="0">
                <a:solidFill>
                  <a:srgbClr val="252423"/>
                </a:solidFill>
                <a:latin typeface="Segoe UI"/>
              </a:rPr>
              <a:t>8% of 2026 value · 9.0% CAGR serves a niche.</a:t>
            </a:r>
          </a:p>
          <a:p>
            <a:pPr algn="l">
              <a:lnSpc>
                <a:spcPct val="110000"/>
              </a:lnSpc>
              <a:spcBef>
                <a:spcPts val="0"/>
              </a:spcBef>
              <a:spcAft>
                <a:spcPts val="500"/>
              </a:spcAft>
            </a:pPr>
            <a:r>
              <a:rPr sz="1100" b="0">
                <a:solidFill>
                  <a:srgbClr val="2C6E7F"/>
                </a:solidFill>
                <a:latin typeface="Segoe UI"/>
              </a:rPr>
              <a:t>●  </a:t>
            </a:r>
            <a:r>
              <a:rPr sz="1100" b="1">
                <a:solidFill>
                  <a:srgbClr val="2C6E7F"/>
                </a:solidFill>
                <a:latin typeface="Segoe UI"/>
              </a:rPr>
              <a:t>Industrial &amp; Technical Applications: </a:t>
            </a:r>
            <a:r>
              <a:rPr sz="1100" b="0">
                <a:solidFill>
                  <a:srgbClr val="252423"/>
                </a:solidFill>
                <a:latin typeface="Segoe UI"/>
              </a:rPr>
              <a:t>7% of 2026 value · 9.8% CAGR serves a niche.</a:t>
            </a:r>
          </a:p>
        </p:txBody>
      </p:sp>
      <p:sp>
        <p:nvSpPr>
          <p:cNvPr id="42" name="TextBox 41"/>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3" name="TextBox 4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South Asia Pacific Market Value &amp; Share Shift, By End-Use Application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End-Use Application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Asia Pacific</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South Asia Pacific Value Composition, By End-Use Application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844754"/>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5090922" y="183999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76379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Automotive &amp; Transportation</a:t>
            </a:r>
          </a:p>
        </p:txBody>
      </p:sp>
      <p:sp>
        <p:nvSpPr>
          <p:cNvPr id="17" name="BPS Value 1"/>
          <p:cNvSpPr txBox="1"/>
          <p:nvPr/>
        </p:nvSpPr>
        <p:spPr>
          <a:xfrm>
            <a:off x="6896100" y="1825704"/>
            <a:ext cx="514350" cy="123825"/>
          </a:xfrm>
          <a:prstGeom prst="rect">
            <a:avLst/>
          </a:prstGeom>
          <a:noFill/>
        </p:spPr>
        <p:txBody>
          <a:bodyPr wrap="none" lIns="0" rIns="0" tIns="0" bIns="0" anchor="ctr">
            <a:spAutoFit/>
          </a:bodyPr>
          <a:lstStyle/>
          <a:p>
            <a:pPr algn="r"/>
            <a:r>
              <a:rPr sz="900" b="1">
                <a:solidFill>
                  <a:srgbClr val="D64545"/>
                </a:solidFill>
                <a:latin typeface="Segoe UI"/>
              </a:rPr>
              <a:t>-12</a:t>
            </a:r>
          </a:p>
        </p:txBody>
      </p:sp>
      <p:sp>
        <p:nvSpPr>
          <p:cNvPr id="18" name="FMI Legend Chip"/>
          <p:cNvSpPr/>
          <p:nvPr/>
        </p:nvSpPr>
        <p:spPr>
          <a:xfrm>
            <a:off x="4928997" y="2193408"/>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2188646"/>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211244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Industrial &amp; Technical Applications</a:t>
            </a:r>
          </a:p>
        </p:txBody>
      </p:sp>
      <p:sp>
        <p:nvSpPr>
          <p:cNvPr id="21" name="BPS Value 2"/>
          <p:cNvSpPr txBox="1"/>
          <p:nvPr/>
        </p:nvSpPr>
        <p:spPr>
          <a:xfrm>
            <a:off x="6896100" y="2174358"/>
            <a:ext cx="514350" cy="123825"/>
          </a:xfrm>
          <a:prstGeom prst="rect">
            <a:avLst/>
          </a:prstGeom>
          <a:noFill/>
        </p:spPr>
        <p:txBody>
          <a:bodyPr wrap="none" lIns="0" rIns="0" tIns="0" bIns="0" anchor="ctr">
            <a:spAutoFit/>
          </a:bodyPr>
          <a:lstStyle/>
          <a:p>
            <a:pPr algn="r"/>
            <a:r>
              <a:rPr sz="900" b="1">
                <a:solidFill>
                  <a:srgbClr val="1E8E3E"/>
                </a:solidFill>
                <a:latin typeface="Segoe UI"/>
              </a:rPr>
              <a:t>+42</a:t>
            </a:r>
          </a:p>
        </p:txBody>
      </p:sp>
      <p:sp>
        <p:nvSpPr>
          <p:cNvPr id="22" name="FMI Legend Chip"/>
          <p:cNvSpPr/>
          <p:nvPr/>
        </p:nvSpPr>
        <p:spPr>
          <a:xfrm>
            <a:off x="4928997" y="2595828"/>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5090922" y="2591066"/>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51486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Protective &amp; Occupational Wear</a:t>
            </a:r>
          </a:p>
        </p:txBody>
      </p:sp>
      <p:sp>
        <p:nvSpPr>
          <p:cNvPr id="25" name="BPS Value 3"/>
          <p:cNvSpPr txBox="1"/>
          <p:nvPr/>
        </p:nvSpPr>
        <p:spPr>
          <a:xfrm>
            <a:off x="6896100" y="2576778"/>
            <a:ext cx="514350" cy="123825"/>
          </a:xfrm>
          <a:prstGeom prst="rect">
            <a:avLst/>
          </a:prstGeom>
          <a:noFill/>
        </p:spPr>
        <p:txBody>
          <a:bodyPr wrap="none" lIns="0" rIns="0" tIns="0" bIns="0" anchor="ctr">
            <a:spAutoFit/>
          </a:bodyPr>
          <a:lstStyle/>
          <a:p>
            <a:pPr algn="r"/>
            <a:r>
              <a:rPr sz="900" b="1">
                <a:solidFill>
                  <a:srgbClr val="1E8E3E"/>
                </a:solidFill>
                <a:latin typeface="Segoe UI"/>
              </a:rPr>
              <a:t>+37</a:t>
            </a:r>
          </a:p>
        </p:txBody>
      </p:sp>
      <p:sp>
        <p:nvSpPr>
          <p:cNvPr id="26" name="FMI Legend Chip"/>
          <p:cNvSpPr/>
          <p:nvPr/>
        </p:nvSpPr>
        <p:spPr>
          <a:xfrm>
            <a:off x="4928997" y="3079903"/>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5090922" y="307514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299894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Medical &amp; Healthcare</a:t>
            </a:r>
          </a:p>
        </p:txBody>
      </p:sp>
      <p:sp>
        <p:nvSpPr>
          <p:cNvPr id="29" name="BPS Value 4"/>
          <p:cNvSpPr txBox="1"/>
          <p:nvPr/>
        </p:nvSpPr>
        <p:spPr>
          <a:xfrm>
            <a:off x="6896100" y="3060853"/>
            <a:ext cx="514350" cy="123825"/>
          </a:xfrm>
          <a:prstGeom prst="rect">
            <a:avLst/>
          </a:prstGeom>
          <a:noFill/>
        </p:spPr>
        <p:txBody>
          <a:bodyPr wrap="none" lIns="0" rIns="0" tIns="0" bIns="0" anchor="ctr">
            <a:spAutoFit/>
          </a:bodyPr>
          <a:lstStyle/>
          <a:p>
            <a:pPr algn="r"/>
            <a:r>
              <a:rPr sz="900" b="1">
                <a:solidFill>
                  <a:srgbClr val="1E8E3E"/>
                </a:solidFill>
                <a:latin typeface="Segoe UI"/>
              </a:rPr>
              <a:t>+84</a:t>
            </a:r>
          </a:p>
        </p:txBody>
      </p:sp>
      <p:sp>
        <p:nvSpPr>
          <p:cNvPr id="30" name="FMI Legend Chip"/>
          <p:cNvSpPr/>
          <p:nvPr/>
        </p:nvSpPr>
        <p:spPr>
          <a:xfrm>
            <a:off x="4928997" y="3701001"/>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5090922" y="3696238"/>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3620038"/>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Footwear</a:t>
            </a:r>
          </a:p>
        </p:txBody>
      </p:sp>
      <p:sp>
        <p:nvSpPr>
          <p:cNvPr id="33" name="BPS Value 5"/>
          <p:cNvSpPr txBox="1"/>
          <p:nvPr/>
        </p:nvSpPr>
        <p:spPr>
          <a:xfrm>
            <a:off x="6896100" y="3681951"/>
            <a:ext cx="514350" cy="123825"/>
          </a:xfrm>
          <a:prstGeom prst="rect">
            <a:avLst/>
          </a:prstGeom>
          <a:noFill/>
        </p:spPr>
        <p:txBody>
          <a:bodyPr wrap="none" lIns="0" rIns="0" tIns="0" bIns="0" anchor="ctr">
            <a:spAutoFit/>
          </a:bodyPr>
          <a:lstStyle/>
          <a:p>
            <a:pPr algn="r"/>
            <a:r>
              <a:rPr sz="900" b="1">
                <a:solidFill>
                  <a:srgbClr val="1E8E3E"/>
                </a:solidFill>
                <a:latin typeface="Segoe UI"/>
              </a:rPr>
              <a:t>+28</a:t>
            </a:r>
          </a:p>
        </p:txBody>
      </p:sp>
      <p:sp>
        <p:nvSpPr>
          <p:cNvPr id="34" name="FMI Legend Chip"/>
          <p:cNvSpPr/>
          <p:nvPr/>
        </p:nvSpPr>
        <p:spPr>
          <a:xfrm>
            <a:off x="4928997" y="4460506"/>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rot="10800000">
            <a:off x="5090922" y="445574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437954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Intimate &amp; Bodywear</a:t>
            </a:r>
          </a:p>
        </p:txBody>
      </p:sp>
      <p:sp>
        <p:nvSpPr>
          <p:cNvPr id="37" name="BPS Value 6"/>
          <p:cNvSpPr txBox="1"/>
          <p:nvPr/>
        </p:nvSpPr>
        <p:spPr>
          <a:xfrm>
            <a:off x="6896100" y="4441456"/>
            <a:ext cx="514350" cy="123825"/>
          </a:xfrm>
          <a:prstGeom prst="rect">
            <a:avLst/>
          </a:prstGeom>
          <a:noFill/>
        </p:spPr>
        <p:txBody>
          <a:bodyPr wrap="none" lIns="0" rIns="0" tIns="0" bIns="0" anchor="ctr">
            <a:spAutoFit/>
          </a:bodyPr>
          <a:lstStyle/>
          <a:p>
            <a:pPr algn="r"/>
            <a:r>
              <a:rPr sz="900" b="1">
                <a:solidFill>
                  <a:srgbClr val="D64545"/>
                </a:solidFill>
                <a:latin typeface="Segoe UI"/>
              </a:rPr>
              <a:t>-234</a:t>
            </a:r>
          </a:p>
        </p:txBody>
      </p:sp>
      <p:sp>
        <p:nvSpPr>
          <p:cNvPr id="38" name="FMI Legend Chip"/>
          <p:cNvSpPr/>
          <p:nvPr/>
        </p:nvSpPr>
        <p:spPr>
          <a:xfrm>
            <a:off x="4928997" y="5549681"/>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a:off x="5090922" y="554491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5233797" y="546871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Sports &amp; Activewear</a:t>
            </a:r>
          </a:p>
        </p:txBody>
      </p:sp>
      <p:sp>
        <p:nvSpPr>
          <p:cNvPr id="41" name="BPS Value 7"/>
          <p:cNvSpPr txBox="1"/>
          <p:nvPr/>
        </p:nvSpPr>
        <p:spPr>
          <a:xfrm>
            <a:off x="6896100" y="5530631"/>
            <a:ext cx="514350" cy="123825"/>
          </a:xfrm>
          <a:prstGeom prst="rect">
            <a:avLst/>
          </a:prstGeom>
          <a:noFill/>
        </p:spPr>
        <p:txBody>
          <a:bodyPr wrap="none" lIns="0" rIns="0" tIns="0" bIns="0" anchor="ctr">
            <a:spAutoFit/>
          </a:bodyPr>
          <a:lstStyle/>
          <a:p>
            <a:pPr algn="r"/>
            <a:r>
              <a:rPr sz="900" b="1">
                <a:solidFill>
                  <a:srgbClr val="1E8E3E"/>
                </a:solidFill>
                <a:latin typeface="Segoe UI"/>
              </a:rPr>
              <a:t>+55</a:t>
            </a:r>
          </a:p>
        </p:txBody>
      </p:sp>
      <p:sp>
        <p:nvSpPr>
          <p:cNvPr id="42" name="Rectangle 41"/>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South Asia Pacific Read-out, By End-Use Application</a:t>
            </a:r>
          </a:p>
        </p:txBody>
      </p:sp>
      <p:sp>
        <p:nvSpPr>
          <p:cNvPr id="44" name="Rectangle 43"/>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End-Use application, medical &amp; healthcare segment is expected to witness the highest CAGR of 10.0% over the forecast period. In terms of value share by End-Use application, the sports &amp; activewear segment is expected to dominate the market, gaining 55 BPS and accounting for 30.4% share by 2036.</a:t>
            </a:r>
          </a:p>
          <a:p>
            <a:pPr algn="l">
              <a:lnSpc>
                <a:spcPct val="110000"/>
              </a:lnSpc>
              <a:spcBef>
                <a:spcPts val="0"/>
              </a:spcBef>
              <a:spcAft>
                <a:spcPts val="500"/>
              </a:spcAft>
            </a:pPr>
            <a:r>
              <a:rPr sz="1150" b="0">
                <a:solidFill>
                  <a:srgbClr val="252423"/>
                </a:solidFill>
                <a:latin typeface="Segoe UI"/>
              </a:rPr>
              <a:t>The intimate &amp; bodywear segment is expected to lose 234 BPS over the forecast period to account for 17.3% share by 2036.</a:t>
            </a:r>
          </a:p>
        </p:txBody>
      </p:sp>
      <p:sp>
        <p:nvSpPr>
          <p:cNvPr id="46" name="TextBox 4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Fabric Weight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3 sub-segments of Fabric Weight,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Asia Pacific</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Fabric Weight segment categorizes the market by fabric weight.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325755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325755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Medium Weight 150–250 GSM</a:t>
            </a:r>
          </a:p>
        </p:txBody>
      </p:sp>
      <p:sp>
        <p:nvSpPr>
          <p:cNvPr id="21" name="Rectangle 20"/>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224.1</a:t>
            </a:r>
          </a:p>
        </p:txBody>
      </p:sp>
      <p:sp>
        <p:nvSpPr>
          <p:cNvPr id="22" name="Rectangle 21"/>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516.3</a:t>
            </a:r>
          </a:p>
        </p:txBody>
      </p:sp>
      <p:sp>
        <p:nvSpPr>
          <p:cNvPr id="23" name="Rectangle 22"/>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8.7%</a:t>
            </a:r>
          </a:p>
        </p:txBody>
      </p:sp>
      <p:sp>
        <p:nvSpPr>
          <p:cNvPr id="24" name="Oval 23"/>
          <p:cNvSpPr/>
          <p:nvPr/>
        </p:nvSpPr>
        <p:spPr>
          <a:xfrm>
            <a:off x="333375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5238750" y="1773916"/>
            <a:ext cx="325755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238750" y="1992961"/>
            <a:ext cx="325755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Lightweight Below 150 GSM</a:t>
            </a:r>
          </a:p>
        </p:txBody>
      </p:sp>
      <p:sp>
        <p:nvSpPr>
          <p:cNvPr id="28" name="Rectangle 27"/>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214.1</a:t>
            </a:r>
          </a:p>
        </p:txBody>
      </p:sp>
      <p:sp>
        <p:nvSpPr>
          <p:cNvPr id="29" name="Rectangle 28"/>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513.1</a:t>
            </a:r>
          </a:p>
        </p:txBody>
      </p:sp>
      <p:sp>
        <p:nvSpPr>
          <p:cNvPr id="30" name="Rectangle 29"/>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9.1%</a:t>
            </a:r>
          </a:p>
        </p:txBody>
      </p:sp>
      <p:sp>
        <p:nvSpPr>
          <p:cNvPr id="31" name="Oval 30"/>
          <p:cNvSpPr/>
          <p:nvPr/>
        </p:nvSpPr>
        <p:spPr>
          <a:xfrm>
            <a:off x="670560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8610600" y="1773916"/>
            <a:ext cx="325755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10600" y="1992961"/>
            <a:ext cx="325755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Heavyweight Above 250 GSM</a:t>
            </a:r>
          </a:p>
        </p:txBody>
      </p:sp>
      <p:sp>
        <p:nvSpPr>
          <p:cNvPr id="35" name="Rectangle 34"/>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81.3</a:t>
            </a:r>
          </a:p>
        </p:txBody>
      </p:sp>
      <p:sp>
        <p:nvSpPr>
          <p:cNvPr id="36" name="Rectangle 35"/>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218.5</a:t>
            </a:r>
          </a:p>
        </p:txBody>
      </p:sp>
      <p:sp>
        <p:nvSpPr>
          <p:cNvPr id="37" name="Rectangle 36"/>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10.4%</a:t>
            </a:r>
          </a:p>
        </p:txBody>
      </p:sp>
      <p:sp>
        <p:nvSpPr>
          <p:cNvPr id="38" name="Oval 37"/>
          <p:cNvSpPr/>
          <p:nvPr/>
        </p:nvSpPr>
        <p:spPr>
          <a:xfrm>
            <a:off x="1007745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1" name="Rectangle 40"/>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fabric weight, heavyweight above 250 GSM segment is expected to witness the highest CAGR of 10.4% over the forecast period. In terms of value share by fabric weight, the medium weight 150-250 GSM segment is expected to dominate the market, losing 176 BPS and accounting for 41.4%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Medium weight 150-250 GSM segment is projected to register 1.0X higher value than lightweight below 150 GSM segment in 2036.</a:t>
            </a:r>
          </a:p>
        </p:txBody>
      </p:sp>
      <p:sp>
        <p:nvSpPr>
          <p:cNvPr id="43" name="Rounded Rectangle 42"/>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5" name="Rectangle 44"/>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Medium Weight 150–250 GSM: </a:t>
            </a:r>
            <a:r>
              <a:rPr sz="1100" b="0">
                <a:solidFill>
                  <a:srgbClr val="252423"/>
                </a:solidFill>
                <a:latin typeface="Segoe UI"/>
              </a:rPr>
              <a:t>43% of 2026 value · 8.7%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Lightweight Below 150 GSM: </a:t>
            </a:r>
            <a:r>
              <a:rPr sz="1100" b="0">
                <a:solidFill>
                  <a:srgbClr val="252423"/>
                </a:solidFill>
                <a:latin typeface="Segoe UI"/>
              </a:rPr>
              <a:t>41% of 2026 value · 9.1%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Heavyweight Above 250 GSM: </a:t>
            </a:r>
            <a:r>
              <a:rPr sz="1100" b="0">
                <a:solidFill>
                  <a:srgbClr val="252423"/>
                </a:solidFill>
                <a:latin typeface="Segoe UI"/>
              </a:rPr>
              <a:t>16% of 2026 value · 10.4% CAGR grows fastest.</a:t>
            </a:r>
          </a:p>
        </p:txBody>
      </p:sp>
      <p:sp>
        <p:nvSpPr>
          <p:cNvPr id="47" name="Rounded Rectangle 46"/>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9" name="Rectangle 48"/>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Fabric Weight split shows how demand is distributed across fabric weight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1" name="Rectangle 50"/>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Fabric Weight segment is projected to grow at a CAGR of 9.2% from 2026 to 2036.</a:t>
            </a:r>
          </a:p>
        </p:txBody>
      </p:sp>
      <p:sp>
        <p:nvSpPr>
          <p:cNvPr id="53" name="TextBox 52"/>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54" name="TextBox 5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South Asia Pacific Market Value &amp; Share Shift, By Fabric Weight</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Fabric Weight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Asia Pacific</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South Asia Pacific Value Composition, By Fabric Weight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2071480"/>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2066717"/>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99051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Heavyweight Above 250 GSM</a:t>
            </a:r>
          </a:p>
        </p:txBody>
      </p:sp>
      <p:sp>
        <p:nvSpPr>
          <p:cNvPr id="17" name="BPS Value 1"/>
          <p:cNvSpPr txBox="1"/>
          <p:nvPr/>
        </p:nvSpPr>
        <p:spPr>
          <a:xfrm>
            <a:off x="6896100" y="2052430"/>
            <a:ext cx="514350" cy="123825"/>
          </a:xfrm>
          <a:prstGeom prst="rect">
            <a:avLst/>
          </a:prstGeom>
          <a:noFill/>
        </p:spPr>
        <p:txBody>
          <a:bodyPr wrap="none" lIns="0" rIns="0" tIns="0" bIns="0" anchor="ctr">
            <a:spAutoFit/>
          </a:bodyPr>
          <a:lstStyle/>
          <a:p>
            <a:pPr algn="r"/>
            <a:r>
              <a:rPr sz="900" b="1">
                <a:solidFill>
                  <a:srgbClr val="1E8E3E"/>
                </a:solidFill>
                <a:latin typeface="Segoe UI"/>
              </a:rPr>
              <a:t>+185</a:t>
            </a:r>
          </a:p>
        </p:txBody>
      </p:sp>
      <p:sp>
        <p:nvSpPr>
          <p:cNvPr id="18" name="FMI Legend Chip"/>
          <p:cNvSpPr/>
          <p:nvPr/>
        </p:nvSpPr>
        <p:spPr>
          <a:xfrm>
            <a:off x="4928997" y="3411819"/>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5090922" y="3407057"/>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333085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Lightweight Below 150 GSM</a:t>
            </a:r>
          </a:p>
        </p:txBody>
      </p:sp>
      <p:sp>
        <p:nvSpPr>
          <p:cNvPr id="21" name="BPS Value 2"/>
          <p:cNvSpPr txBox="1"/>
          <p:nvPr/>
        </p:nvSpPr>
        <p:spPr>
          <a:xfrm>
            <a:off x="6896100" y="3392769"/>
            <a:ext cx="514350" cy="123825"/>
          </a:xfrm>
          <a:prstGeom prst="rect">
            <a:avLst/>
          </a:prstGeom>
          <a:noFill/>
        </p:spPr>
        <p:txBody>
          <a:bodyPr wrap="none" lIns="0" rIns="0" tIns="0" bIns="0" anchor="ctr">
            <a:spAutoFit/>
          </a:bodyPr>
          <a:lstStyle/>
          <a:p>
            <a:pPr algn="r"/>
            <a:r>
              <a:rPr sz="900" b="1">
                <a:solidFill>
                  <a:srgbClr val="D64545"/>
                </a:solidFill>
                <a:latin typeface="Segoe UI"/>
              </a:rPr>
              <a:t>-9</a:t>
            </a:r>
          </a:p>
        </p:txBody>
      </p:sp>
      <p:sp>
        <p:nvSpPr>
          <p:cNvPr id="22" name="FMI Legend Chip"/>
          <p:cNvSpPr/>
          <p:nvPr/>
        </p:nvSpPr>
        <p:spPr>
          <a:xfrm>
            <a:off x="4928997" y="5297787"/>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rot="10800000">
            <a:off x="5090922" y="529302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521682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Medium Weight 150–250 GSM</a:t>
            </a:r>
          </a:p>
        </p:txBody>
      </p:sp>
      <p:sp>
        <p:nvSpPr>
          <p:cNvPr id="25" name="BPS Value 3"/>
          <p:cNvSpPr txBox="1"/>
          <p:nvPr/>
        </p:nvSpPr>
        <p:spPr>
          <a:xfrm>
            <a:off x="6896100" y="5278737"/>
            <a:ext cx="514350" cy="123825"/>
          </a:xfrm>
          <a:prstGeom prst="rect">
            <a:avLst/>
          </a:prstGeom>
          <a:noFill/>
        </p:spPr>
        <p:txBody>
          <a:bodyPr wrap="none" lIns="0" rIns="0" tIns="0" bIns="0" anchor="ctr">
            <a:spAutoFit/>
          </a:bodyPr>
          <a:lstStyle/>
          <a:p>
            <a:pPr algn="r"/>
            <a:r>
              <a:rPr sz="900" b="1">
                <a:solidFill>
                  <a:srgbClr val="D64545"/>
                </a:solidFill>
                <a:latin typeface="Segoe UI"/>
              </a:rPr>
              <a:t>-176</a:t>
            </a:r>
          </a:p>
        </p:txBody>
      </p:sp>
      <p:sp>
        <p:nvSpPr>
          <p:cNvPr id="26" name="Rectangle 25"/>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South Asia Pacific Read-out, By Fabric Weight</a:t>
            </a:r>
          </a:p>
        </p:txBody>
      </p:sp>
      <p:sp>
        <p:nvSpPr>
          <p:cNvPr id="28" name="Rectangle 27"/>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fabric weight, heavyweight above 250 GSM segment is expected to witness the highest CAGR of 10.4% over the forecast period.</a:t>
            </a:r>
          </a:p>
          <a:p>
            <a:pPr algn="l">
              <a:lnSpc>
                <a:spcPct val="110000"/>
              </a:lnSpc>
              <a:spcBef>
                <a:spcPts val="0"/>
              </a:spcBef>
              <a:spcAft>
                <a:spcPts val="500"/>
              </a:spcAft>
            </a:pPr>
            <a:r>
              <a:rPr sz="1150" b="0">
                <a:solidFill>
                  <a:srgbClr val="252423"/>
                </a:solidFill>
                <a:latin typeface="Segoe UI"/>
              </a:rPr>
              <a:t>In terms of value share by fabric weight, the medium weight 150-250 GSM segment is expected to dominate the market, losing 176 BPS and accounting for 41.4% share by 2036.</a:t>
            </a:r>
          </a:p>
        </p:txBody>
      </p:sp>
      <p:sp>
        <p:nvSpPr>
          <p:cNvPr id="30" name="TextBox 2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Vs Material Segment Outlook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Vs Material,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Asia Pacific</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Vs Material segment categorizes the market by end-use application vs material.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Sports &amp; Activewear</a:t>
            </a:r>
          </a:p>
        </p:txBody>
      </p:sp>
      <p:sp>
        <p:nvSpPr>
          <p:cNvPr id="21" name="Rectangle 20"/>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154.9</a:t>
            </a:r>
          </a:p>
        </p:txBody>
      </p:sp>
      <p:sp>
        <p:nvSpPr>
          <p:cNvPr id="22" name="Rectangle 21"/>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378.8</a:t>
            </a:r>
          </a:p>
        </p:txBody>
      </p:sp>
      <p:sp>
        <p:nvSpPr>
          <p:cNvPr id="23" name="Rectangle 22"/>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9.4%</a:t>
            </a:r>
          </a:p>
        </p:txBody>
      </p:sp>
      <p:sp>
        <p:nvSpPr>
          <p:cNvPr id="24" name="Oval 23"/>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Intimate &amp; Bodywear</a:t>
            </a:r>
          </a:p>
        </p:txBody>
      </p:sp>
      <p:sp>
        <p:nvSpPr>
          <p:cNvPr id="28" name="Rectangle 27"/>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102.0</a:t>
            </a:r>
          </a:p>
        </p:txBody>
      </p:sp>
      <p:sp>
        <p:nvSpPr>
          <p:cNvPr id="29" name="Rectangle 28"/>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215.7</a:t>
            </a:r>
          </a:p>
        </p:txBody>
      </p:sp>
      <p:sp>
        <p:nvSpPr>
          <p:cNvPr id="30" name="Rectangle 29"/>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7.8%</a:t>
            </a:r>
          </a:p>
        </p:txBody>
      </p:sp>
      <p:sp>
        <p:nvSpPr>
          <p:cNvPr id="31" name="Oval 30"/>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Footwear</a:t>
            </a:r>
          </a:p>
        </p:txBody>
      </p:sp>
      <p:sp>
        <p:nvSpPr>
          <p:cNvPr id="35" name="Rectangle 34"/>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81.3</a:t>
            </a:r>
          </a:p>
        </p:txBody>
      </p:sp>
      <p:sp>
        <p:nvSpPr>
          <p:cNvPr id="36" name="Rectangle 35"/>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198.8</a:t>
            </a:r>
          </a:p>
        </p:txBody>
      </p:sp>
      <p:sp>
        <p:nvSpPr>
          <p:cNvPr id="37" name="Rectangle 36"/>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9.3%</a:t>
            </a:r>
          </a:p>
        </p:txBody>
      </p:sp>
      <p:sp>
        <p:nvSpPr>
          <p:cNvPr id="38" name="Oval 37"/>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Medical &amp; Healthcare</a:t>
            </a:r>
          </a:p>
        </p:txBody>
      </p:sp>
      <p:sp>
        <p:nvSpPr>
          <p:cNvPr id="42" name="Rectangle 41"/>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54.0</a:t>
            </a:r>
          </a:p>
        </p:txBody>
      </p:sp>
      <p:sp>
        <p:nvSpPr>
          <p:cNvPr id="43" name="Rectangle 42"/>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140.2</a:t>
            </a:r>
          </a:p>
        </p:txBody>
      </p:sp>
      <p:sp>
        <p:nvSpPr>
          <p:cNvPr id="44" name="Rectangle 43"/>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10.0%</a:t>
            </a:r>
          </a:p>
        </p:txBody>
      </p:sp>
      <p:sp>
        <p:nvSpPr>
          <p:cNvPr id="45" name="Oval 44"/>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8" name="Rectangle 47"/>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Among performance knitted fabrics by End-Use application vs material, medical &amp; healthcare segment is expected to witness the highest CAGR of 10.0% over the forecast period. In terms of value share by End-Use application vs material, the sports &amp; activewear segment is expected to dominate the market, gaining 55 BPS and accounting for 30.4% share by 2036.</a:t>
            </a:r>
          </a:p>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Sports &amp; activewear segment is projected to register 1.8X higher value than intimate &amp; bodywear segment in 2036.</a:t>
            </a:r>
          </a:p>
        </p:txBody>
      </p:sp>
      <p:sp>
        <p:nvSpPr>
          <p:cNvPr id="50" name="Rounded Rectangle 49"/>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2" name="Rectangle 51"/>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Sports &amp; Activewear: </a:t>
            </a:r>
            <a:r>
              <a:rPr sz="1100" b="0">
                <a:solidFill>
                  <a:srgbClr val="252423"/>
                </a:solidFill>
                <a:latin typeface="Segoe UI"/>
              </a:rPr>
              <a:t>30% of 2026 value · 9.4%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Intimate &amp; Bodywear: </a:t>
            </a:r>
            <a:r>
              <a:rPr sz="1100" b="0">
                <a:solidFill>
                  <a:srgbClr val="252423"/>
                </a:solidFill>
                <a:latin typeface="Segoe UI"/>
              </a:rPr>
              <a:t>20% of 2026 value · 7.8%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Footwear: </a:t>
            </a:r>
            <a:r>
              <a:rPr sz="1100" b="0">
                <a:solidFill>
                  <a:srgbClr val="252423"/>
                </a:solidFill>
                <a:latin typeface="Segoe UI"/>
              </a:rPr>
              <a:t>16% of 2026 value · 9.3% CAGR serves a niche.</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Medical &amp; Healthcare: </a:t>
            </a:r>
            <a:r>
              <a:rPr sz="1100" b="0">
                <a:solidFill>
                  <a:srgbClr val="252423"/>
                </a:solidFill>
                <a:latin typeface="Segoe UI"/>
              </a:rPr>
              <a:t>10% of 2026 value · 10.0% CAGR grows fastest.</a:t>
            </a:r>
          </a:p>
        </p:txBody>
      </p:sp>
      <p:sp>
        <p:nvSpPr>
          <p:cNvPr id="54" name="Rounded Rectangle 53"/>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6" name="Rectangle 55"/>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End-Use Application Vs Material split shows how demand is distributed across end-use application vs material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8" name="Rectangle 57"/>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End-Use Application Vs Material segment is projected to grow at a CAGR of 9.2% from 2026 to 2036.</a:t>
            </a:r>
          </a:p>
        </p:txBody>
      </p:sp>
      <p:sp>
        <p:nvSpPr>
          <p:cNvPr id="60" name="TextBox 59"/>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1" name="TextBox 6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Vs Material Segment Outlook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Vs Material,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Vs Material segment categorizes the market by end-use application vs material.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3257550"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3257550"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Protective &amp; Occupational Wear</a:t>
            </a:r>
          </a:p>
        </p:txBody>
      </p:sp>
      <p:sp>
        <p:nvSpPr>
          <p:cNvPr id="20" name="Rectangle 19"/>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49.7</a:t>
            </a:r>
          </a:p>
        </p:txBody>
      </p:sp>
      <p:sp>
        <p:nvSpPr>
          <p:cNvPr id="21" name="Rectangle 20"/>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124.0</a:t>
            </a:r>
          </a:p>
        </p:txBody>
      </p:sp>
      <p:sp>
        <p:nvSpPr>
          <p:cNvPr id="22" name="Rectangle 21"/>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9.6%</a:t>
            </a:r>
          </a:p>
        </p:txBody>
      </p:sp>
      <p:sp>
        <p:nvSpPr>
          <p:cNvPr id="23" name="Oval 22"/>
          <p:cNvSpPr/>
          <p:nvPr/>
        </p:nvSpPr>
        <p:spPr>
          <a:xfrm>
            <a:off x="3333750"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24" name="Rounded Rectangle 23"/>
          <p:cNvSpPr/>
          <p:nvPr/>
        </p:nvSpPr>
        <p:spPr>
          <a:xfrm>
            <a:off x="5238750" y="1773916"/>
            <a:ext cx="3257550"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38750" y="1992961"/>
            <a:ext cx="3257550"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Automotive &amp; Transportation</a:t>
            </a:r>
          </a:p>
        </p:txBody>
      </p:sp>
      <p:sp>
        <p:nvSpPr>
          <p:cNvPr id="27" name="Rectangle 26"/>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40.1</a:t>
            </a:r>
          </a:p>
        </p:txBody>
      </p:sp>
      <p:sp>
        <p:nvSpPr>
          <p:cNvPr id="28" name="Rectangle 27"/>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94.7</a:t>
            </a:r>
          </a:p>
        </p:txBody>
      </p:sp>
      <p:sp>
        <p:nvSpPr>
          <p:cNvPr id="29" name="Rectangle 28"/>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9.0%</a:t>
            </a:r>
          </a:p>
        </p:txBody>
      </p:sp>
      <p:sp>
        <p:nvSpPr>
          <p:cNvPr id="30" name="Oval 29"/>
          <p:cNvSpPr/>
          <p:nvPr/>
        </p:nvSpPr>
        <p:spPr>
          <a:xfrm>
            <a:off x="6705600"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31" name="Rounded Rectangle 30"/>
          <p:cNvSpPr/>
          <p:nvPr/>
        </p:nvSpPr>
        <p:spPr>
          <a:xfrm>
            <a:off x="8610600" y="1773916"/>
            <a:ext cx="3257550"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10600" y="1992961"/>
            <a:ext cx="3257550"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Industrial &amp; Technical Applicatio…</a:t>
            </a:r>
          </a:p>
        </p:txBody>
      </p:sp>
      <p:sp>
        <p:nvSpPr>
          <p:cNvPr id="34" name="Rectangle 33"/>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37.6</a:t>
            </a:r>
          </a:p>
        </p:txBody>
      </p:sp>
      <p:sp>
        <p:nvSpPr>
          <p:cNvPr id="35" name="Rectangle 34"/>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95.6</a:t>
            </a:r>
          </a:p>
        </p:txBody>
      </p:sp>
      <p:sp>
        <p:nvSpPr>
          <p:cNvPr id="36" name="Rectangle 35"/>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9.8%</a:t>
            </a:r>
          </a:p>
        </p:txBody>
      </p:sp>
      <p:sp>
        <p:nvSpPr>
          <p:cNvPr id="37" name="Oval 36"/>
          <p:cNvSpPr/>
          <p:nvPr/>
        </p:nvSpPr>
        <p:spPr>
          <a:xfrm>
            <a:off x="10077450"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38" name="Rounded Rectangle 37"/>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0" name="Rectangle 39"/>
          <p:cNvSpPr/>
          <p:nvPr/>
        </p:nvSpPr>
        <p:spPr>
          <a:xfrm>
            <a:off x="457200" y="4146897"/>
            <a:ext cx="112776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Protective &amp; Occupational Wear: </a:t>
            </a:r>
            <a:r>
              <a:rPr sz="1100" b="0">
                <a:solidFill>
                  <a:srgbClr val="252423"/>
                </a:solidFill>
                <a:latin typeface="Segoe UI"/>
              </a:rPr>
              <a:t>10% of 2026 value · 9.6% CAGR serves a niche.</a:t>
            </a:r>
          </a:p>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Automotive &amp; Transportation: </a:t>
            </a:r>
            <a:r>
              <a:rPr sz="1100" b="0">
                <a:solidFill>
                  <a:srgbClr val="252423"/>
                </a:solidFill>
                <a:latin typeface="Segoe UI"/>
              </a:rPr>
              <a:t>8% of 2026 value · 9.0% CAGR serves a niche.</a:t>
            </a:r>
          </a:p>
          <a:p>
            <a:pPr algn="l">
              <a:lnSpc>
                <a:spcPct val="110000"/>
              </a:lnSpc>
              <a:spcBef>
                <a:spcPts val="0"/>
              </a:spcBef>
              <a:spcAft>
                <a:spcPts val="500"/>
              </a:spcAft>
            </a:pPr>
            <a:r>
              <a:rPr sz="1100" b="0">
                <a:solidFill>
                  <a:srgbClr val="2C6E7F"/>
                </a:solidFill>
                <a:latin typeface="Segoe UI"/>
              </a:rPr>
              <a:t>●  </a:t>
            </a:r>
            <a:r>
              <a:rPr sz="1100" b="1">
                <a:solidFill>
                  <a:srgbClr val="2C6E7F"/>
                </a:solidFill>
                <a:latin typeface="Segoe UI"/>
              </a:rPr>
              <a:t>Industrial &amp; Technical Applications: </a:t>
            </a:r>
            <a:r>
              <a:rPr sz="1100" b="0">
                <a:solidFill>
                  <a:srgbClr val="252423"/>
                </a:solidFill>
                <a:latin typeface="Segoe UI"/>
              </a:rPr>
              <a:t>7% of 2026 value · 9.8% CAGR serves a niche.</a:t>
            </a:r>
          </a:p>
        </p:txBody>
      </p:sp>
      <p:sp>
        <p:nvSpPr>
          <p:cNvPr id="42" name="TextBox 41"/>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3" name="TextBox 4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South Asia Pacific Market Value &amp; Share Shift, By End-Use Application Vs Material</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End-Use Application Vs Material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Asia Pacific</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South Asia Pacific Value Composition, By End-Use Application Vs Material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844754"/>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5090922" y="183999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76379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Automotive &amp; Transportation</a:t>
            </a:r>
          </a:p>
        </p:txBody>
      </p:sp>
      <p:sp>
        <p:nvSpPr>
          <p:cNvPr id="17" name="BPS Value 1"/>
          <p:cNvSpPr txBox="1"/>
          <p:nvPr/>
        </p:nvSpPr>
        <p:spPr>
          <a:xfrm>
            <a:off x="6896100" y="1825704"/>
            <a:ext cx="514350" cy="123825"/>
          </a:xfrm>
          <a:prstGeom prst="rect">
            <a:avLst/>
          </a:prstGeom>
          <a:noFill/>
        </p:spPr>
        <p:txBody>
          <a:bodyPr wrap="none" lIns="0" rIns="0" tIns="0" bIns="0" anchor="ctr">
            <a:spAutoFit/>
          </a:bodyPr>
          <a:lstStyle/>
          <a:p>
            <a:pPr algn="r"/>
            <a:r>
              <a:rPr sz="900" b="1">
                <a:solidFill>
                  <a:srgbClr val="D64545"/>
                </a:solidFill>
                <a:latin typeface="Segoe UI"/>
              </a:rPr>
              <a:t>-12</a:t>
            </a:r>
          </a:p>
        </p:txBody>
      </p:sp>
      <p:sp>
        <p:nvSpPr>
          <p:cNvPr id="18" name="FMI Legend Chip"/>
          <p:cNvSpPr/>
          <p:nvPr/>
        </p:nvSpPr>
        <p:spPr>
          <a:xfrm>
            <a:off x="4928997" y="2193408"/>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2188646"/>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211244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Industrial &amp; Technical Applications</a:t>
            </a:r>
          </a:p>
        </p:txBody>
      </p:sp>
      <p:sp>
        <p:nvSpPr>
          <p:cNvPr id="21" name="BPS Value 2"/>
          <p:cNvSpPr txBox="1"/>
          <p:nvPr/>
        </p:nvSpPr>
        <p:spPr>
          <a:xfrm>
            <a:off x="6896100" y="2174358"/>
            <a:ext cx="514350" cy="123825"/>
          </a:xfrm>
          <a:prstGeom prst="rect">
            <a:avLst/>
          </a:prstGeom>
          <a:noFill/>
        </p:spPr>
        <p:txBody>
          <a:bodyPr wrap="none" lIns="0" rIns="0" tIns="0" bIns="0" anchor="ctr">
            <a:spAutoFit/>
          </a:bodyPr>
          <a:lstStyle/>
          <a:p>
            <a:pPr algn="r"/>
            <a:r>
              <a:rPr sz="900" b="1">
                <a:solidFill>
                  <a:srgbClr val="1E8E3E"/>
                </a:solidFill>
                <a:latin typeface="Segoe UI"/>
              </a:rPr>
              <a:t>+42</a:t>
            </a:r>
          </a:p>
        </p:txBody>
      </p:sp>
      <p:sp>
        <p:nvSpPr>
          <p:cNvPr id="22" name="FMI Legend Chip"/>
          <p:cNvSpPr/>
          <p:nvPr/>
        </p:nvSpPr>
        <p:spPr>
          <a:xfrm>
            <a:off x="4928997" y="2595830"/>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5090922" y="2591068"/>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514868"/>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Protective &amp; Occupational Wear</a:t>
            </a:r>
          </a:p>
        </p:txBody>
      </p:sp>
      <p:sp>
        <p:nvSpPr>
          <p:cNvPr id="25" name="BPS Value 3"/>
          <p:cNvSpPr txBox="1"/>
          <p:nvPr/>
        </p:nvSpPr>
        <p:spPr>
          <a:xfrm>
            <a:off x="6896100" y="2576780"/>
            <a:ext cx="514350" cy="123825"/>
          </a:xfrm>
          <a:prstGeom prst="rect">
            <a:avLst/>
          </a:prstGeom>
          <a:noFill/>
        </p:spPr>
        <p:txBody>
          <a:bodyPr wrap="none" lIns="0" rIns="0" tIns="0" bIns="0" anchor="ctr">
            <a:spAutoFit/>
          </a:bodyPr>
          <a:lstStyle/>
          <a:p>
            <a:pPr algn="r"/>
            <a:r>
              <a:rPr sz="900" b="1">
                <a:solidFill>
                  <a:srgbClr val="1E8E3E"/>
                </a:solidFill>
                <a:latin typeface="Segoe UI"/>
              </a:rPr>
              <a:t>+37</a:t>
            </a:r>
          </a:p>
        </p:txBody>
      </p:sp>
      <p:sp>
        <p:nvSpPr>
          <p:cNvPr id="26" name="FMI Legend Chip"/>
          <p:cNvSpPr/>
          <p:nvPr/>
        </p:nvSpPr>
        <p:spPr>
          <a:xfrm>
            <a:off x="4928997" y="3079905"/>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5090922" y="3075143"/>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299894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Medical &amp; Healthcare</a:t>
            </a:r>
          </a:p>
        </p:txBody>
      </p:sp>
      <p:sp>
        <p:nvSpPr>
          <p:cNvPr id="29" name="BPS Value 4"/>
          <p:cNvSpPr txBox="1"/>
          <p:nvPr/>
        </p:nvSpPr>
        <p:spPr>
          <a:xfrm>
            <a:off x="6896100" y="3060855"/>
            <a:ext cx="514350" cy="123825"/>
          </a:xfrm>
          <a:prstGeom prst="rect">
            <a:avLst/>
          </a:prstGeom>
          <a:noFill/>
        </p:spPr>
        <p:txBody>
          <a:bodyPr wrap="none" lIns="0" rIns="0" tIns="0" bIns="0" anchor="ctr">
            <a:spAutoFit/>
          </a:bodyPr>
          <a:lstStyle/>
          <a:p>
            <a:pPr algn="r"/>
            <a:r>
              <a:rPr sz="900" b="1">
                <a:solidFill>
                  <a:srgbClr val="1E8E3E"/>
                </a:solidFill>
                <a:latin typeface="Segoe UI"/>
              </a:rPr>
              <a:t>+84</a:t>
            </a:r>
          </a:p>
        </p:txBody>
      </p:sp>
      <p:sp>
        <p:nvSpPr>
          <p:cNvPr id="30" name="FMI Legend Chip"/>
          <p:cNvSpPr/>
          <p:nvPr/>
        </p:nvSpPr>
        <p:spPr>
          <a:xfrm>
            <a:off x="4928997" y="3701001"/>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5090922" y="3696238"/>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3620038"/>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Footwear</a:t>
            </a:r>
          </a:p>
        </p:txBody>
      </p:sp>
      <p:sp>
        <p:nvSpPr>
          <p:cNvPr id="33" name="BPS Value 5"/>
          <p:cNvSpPr txBox="1"/>
          <p:nvPr/>
        </p:nvSpPr>
        <p:spPr>
          <a:xfrm>
            <a:off x="6896100" y="3681951"/>
            <a:ext cx="514350" cy="123825"/>
          </a:xfrm>
          <a:prstGeom prst="rect">
            <a:avLst/>
          </a:prstGeom>
          <a:noFill/>
        </p:spPr>
        <p:txBody>
          <a:bodyPr wrap="none" lIns="0" rIns="0" tIns="0" bIns="0" anchor="ctr">
            <a:spAutoFit/>
          </a:bodyPr>
          <a:lstStyle/>
          <a:p>
            <a:pPr algn="r"/>
            <a:r>
              <a:rPr sz="900" b="1">
                <a:solidFill>
                  <a:srgbClr val="1E8E3E"/>
                </a:solidFill>
                <a:latin typeface="Segoe UI"/>
              </a:rPr>
              <a:t>+28</a:t>
            </a:r>
          </a:p>
        </p:txBody>
      </p:sp>
      <p:sp>
        <p:nvSpPr>
          <p:cNvPr id="34" name="FMI Legend Chip"/>
          <p:cNvSpPr/>
          <p:nvPr/>
        </p:nvSpPr>
        <p:spPr>
          <a:xfrm>
            <a:off x="4928997" y="4460506"/>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rot="10800000">
            <a:off x="5090922" y="445574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437954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Intimate &amp; Bodywear</a:t>
            </a:r>
          </a:p>
        </p:txBody>
      </p:sp>
      <p:sp>
        <p:nvSpPr>
          <p:cNvPr id="37" name="BPS Value 6"/>
          <p:cNvSpPr txBox="1"/>
          <p:nvPr/>
        </p:nvSpPr>
        <p:spPr>
          <a:xfrm>
            <a:off x="6896100" y="4441456"/>
            <a:ext cx="514350" cy="123825"/>
          </a:xfrm>
          <a:prstGeom prst="rect">
            <a:avLst/>
          </a:prstGeom>
          <a:noFill/>
        </p:spPr>
        <p:txBody>
          <a:bodyPr wrap="none" lIns="0" rIns="0" tIns="0" bIns="0" anchor="ctr">
            <a:spAutoFit/>
          </a:bodyPr>
          <a:lstStyle/>
          <a:p>
            <a:pPr algn="r"/>
            <a:r>
              <a:rPr sz="900" b="1">
                <a:solidFill>
                  <a:srgbClr val="D64545"/>
                </a:solidFill>
                <a:latin typeface="Segoe UI"/>
              </a:rPr>
              <a:t>-234</a:t>
            </a:r>
          </a:p>
        </p:txBody>
      </p:sp>
      <p:sp>
        <p:nvSpPr>
          <p:cNvPr id="38" name="FMI Legend Chip"/>
          <p:cNvSpPr/>
          <p:nvPr/>
        </p:nvSpPr>
        <p:spPr>
          <a:xfrm>
            <a:off x="4928997" y="5549681"/>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a:off x="5090922" y="554491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5233797" y="546871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Sports &amp; Activewear</a:t>
            </a:r>
          </a:p>
        </p:txBody>
      </p:sp>
      <p:sp>
        <p:nvSpPr>
          <p:cNvPr id="41" name="BPS Value 7"/>
          <p:cNvSpPr txBox="1"/>
          <p:nvPr/>
        </p:nvSpPr>
        <p:spPr>
          <a:xfrm>
            <a:off x="6896100" y="5530631"/>
            <a:ext cx="514350" cy="123825"/>
          </a:xfrm>
          <a:prstGeom prst="rect">
            <a:avLst/>
          </a:prstGeom>
          <a:noFill/>
        </p:spPr>
        <p:txBody>
          <a:bodyPr wrap="none" lIns="0" rIns="0" tIns="0" bIns="0" anchor="ctr">
            <a:spAutoFit/>
          </a:bodyPr>
          <a:lstStyle/>
          <a:p>
            <a:pPr algn="r"/>
            <a:r>
              <a:rPr sz="900" b="1">
                <a:solidFill>
                  <a:srgbClr val="1E8E3E"/>
                </a:solidFill>
                <a:latin typeface="Segoe UI"/>
              </a:rPr>
              <a:t>+55</a:t>
            </a:r>
          </a:p>
        </p:txBody>
      </p:sp>
      <p:sp>
        <p:nvSpPr>
          <p:cNvPr id="42" name="Rectangle 41"/>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South Asia Pacific Read-out, By End-Use Application Vs Material</a:t>
            </a:r>
          </a:p>
        </p:txBody>
      </p:sp>
      <p:sp>
        <p:nvSpPr>
          <p:cNvPr id="44" name="Rectangle 43"/>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End-Use application vs material, medical &amp; healthcare segment is expected to witness the highest CAGR of 10.0% over the forecast period. In terms of value share by End-Use application vs material, the sports &amp; activewear segment is expected to dominate the market, gaining 55 BPS and accounting for 30.4% share by 2036.</a:t>
            </a:r>
          </a:p>
          <a:p>
            <a:pPr algn="l">
              <a:lnSpc>
                <a:spcPct val="110000"/>
              </a:lnSpc>
              <a:spcBef>
                <a:spcPts val="0"/>
              </a:spcBef>
              <a:spcAft>
                <a:spcPts val="500"/>
              </a:spcAft>
            </a:pPr>
            <a:r>
              <a:rPr sz="1150" b="0">
                <a:solidFill>
                  <a:srgbClr val="252423"/>
                </a:solidFill>
                <a:latin typeface="Segoe UI"/>
              </a:rPr>
              <a:t>The intimate &amp; bodywear segment is expected to lose 234 BPS over the forecast period to account for 17.3% share by 2036.</a:t>
            </a:r>
          </a:p>
        </p:txBody>
      </p:sp>
      <p:sp>
        <p:nvSpPr>
          <p:cNvPr id="46" name="TextBox 4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Middle East &amp; Africa Performance Knitted Fabrics Market Summary, By Volume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Middle East &amp; Africa market volume growth, incremental opportunity and the geographies driving it, 2021–2036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Middle East &amp; Africa</a:t>
            </a:r>
          </a:p>
        </p:txBody>
      </p:sp>
      <p:sp>
        <p:nvSpPr>
          <p:cNvPr id="9" name="Rounded Rectangle 8"/>
          <p:cNvSpPr/>
          <p:nvPr/>
        </p:nvSpPr>
        <p:spPr>
          <a:xfrm>
            <a:off x="142875"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MARKET SIZE (MN SQ. YARDS)</a:t>
            </a:r>
          </a:p>
          <a:p>
            <a:pPr algn="ctr">
              <a:lnSpc>
                <a:spcPct val="95000"/>
              </a:lnSpc>
            </a:pPr>
            <a:r>
              <a:rPr sz="1500" b="1">
                <a:solidFill>
                  <a:srgbClr val="00A4DC"/>
                </a:solidFill>
                <a:latin typeface="Segoe UI"/>
              </a:rPr>
              <a:t>86.1</a:t>
            </a:r>
          </a:p>
        </p:txBody>
      </p:sp>
      <p:sp>
        <p:nvSpPr>
          <p:cNvPr id="10" name="Rounded Rectangle 9"/>
          <p:cNvSpPr/>
          <p:nvPr/>
        </p:nvSpPr>
        <p:spPr>
          <a:xfrm>
            <a:off x="31432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141.7</a:t>
            </a:r>
          </a:p>
        </p:txBody>
      </p:sp>
      <p:sp>
        <p:nvSpPr>
          <p:cNvPr id="11" name="Rounded Rectangle 10"/>
          <p:cNvSpPr/>
          <p:nvPr/>
        </p:nvSpPr>
        <p:spPr>
          <a:xfrm>
            <a:off x="61531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2021–2025</a:t>
            </a:r>
          </a:p>
          <a:p>
            <a:pPr algn="ctr">
              <a:lnSpc>
                <a:spcPct val="95000"/>
              </a:lnSpc>
            </a:pPr>
            <a:r>
              <a:rPr sz="1500" b="1">
                <a:solidFill>
                  <a:srgbClr val="00A4DC"/>
                </a:solidFill>
                <a:latin typeface="Segoe UI"/>
              </a:rPr>
              <a:t>4.7%</a:t>
            </a:r>
          </a:p>
        </p:txBody>
      </p:sp>
      <p:sp>
        <p:nvSpPr>
          <p:cNvPr id="12" name="Rounded Rectangle 11"/>
          <p:cNvSpPr/>
          <p:nvPr/>
        </p:nvSpPr>
        <p:spPr>
          <a:xfrm>
            <a:off x="91630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1500" b="1">
                <a:solidFill>
                  <a:srgbClr val="00A4DC"/>
                </a:solidFill>
                <a:latin typeface="Segoe UI"/>
              </a:rPr>
              <a:t>5.1%</a:t>
            </a:r>
          </a:p>
        </p:txBody>
      </p:sp>
      <p:sp>
        <p:nvSpPr>
          <p:cNvPr id="13" name="Rectangle 12"/>
          <p:cNvSpPr/>
          <p:nvPr/>
        </p:nvSpPr>
        <p:spPr>
          <a:xfrm>
            <a:off x="142875" y="1627887"/>
            <a:ext cx="769620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(2021–2036)</a:t>
            </a:r>
          </a:p>
        </p:txBody>
      </p:sp>
      <p:graphicFrame>
        <p:nvGraphicFramePr>
          <p:cNvPr id="15" name="Chart 14"/>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6" name="Rectangle 15"/>
          <p:cNvSpPr/>
          <p:nvPr/>
        </p:nvSpPr>
        <p:spPr>
          <a:xfrm>
            <a:off x="142875" y="4037375"/>
            <a:ext cx="769620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Incremental Market Addition (Mn Sq. Yards)</a:t>
            </a:r>
          </a:p>
        </p:txBody>
      </p:sp>
      <p:graphicFrame>
        <p:nvGraphicFramePr>
          <p:cNvPr id="18" name="Chart 17"/>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9" name="Rectangle 18"/>
          <p:cNvSpPr/>
          <p:nvPr/>
        </p:nvSpPr>
        <p:spPr>
          <a:xfrm>
            <a:off x="7915275" y="1627887"/>
            <a:ext cx="413385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21" name="Rectangle 20"/>
          <p:cNvSpPr/>
          <p:nvPr/>
        </p:nvSpPr>
        <p:spPr>
          <a:xfrm>
            <a:off x="8048625" y="195173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52423"/>
                </a:solidFill>
                <a:latin typeface="Segoe UI"/>
              </a:rPr>
              <a:t>Middle East &amp; Africa performance knitted fabrics market is projected to register 1.7X increase in volume by the end of forecast period, 2036. Middle East &amp; Africa performance knitted fabrics market volume stood at 81.8 Mn Sq. Yards in 2025 and is expected to reach 141.7 Mn Sq. Yards by 2036 end, at a CAGR of 5.1%.</a:t>
            </a:r>
          </a:p>
          <a:p>
            <a:pPr algn="l">
              <a:lnSpc>
                <a:spcPct val="110000"/>
              </a:lnSpc>
              <a:spcBef>
                <a:spcPts val="0"/>
              </a:spcBef>
              <a:spcAft>
                <a:spcPts val="500"/>
              </a:spcAft>
            </a:pPr>
            <a:r>
              <a:rPr sz="1100" b="0">
                <a:solidFill>
                  <a:srgbClr val="252423"/>
                </a:solidFill>
                <a:latin typeface="Segoe UI"/>
              </a:rPr>
              <a:t>Value is projected to grow faster than volume over the forecast period, owing to an increase in average selling price.</a:t>
            </a:r>
          </a:p>
        </p:txBody>
      </p:sp>
      <p:sp>
        <p:nvSpPr>
          <p:cNvPr id="23" name="Rectangle 22"/>
          <p:cNvSpPr/>
          <p:nvPr/>
        </p:nvSpPr>
        <p:spPr>
          <a:xfrm>
            <a:off x="7915275" y="4037375"/>
            <a:ext cx="413385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07BA5"/>
                </a:solidFill>
                <a:latin typeface="Segoe UI"/>
              </a:rPr>
              <a:t>Growth Drivers</a:t>
            </a:r>
          </a:p>
        </p:txBody>
      </p:sp>
      <p:sp>
        <p:nvSpPr>
          <p:cNvPr id="25" name="Rectangle 24"/>
          <p:cNvSpPr/>
          <p:nvPr/>
        </p:nvSpPr>
        <p:spPr>
          <a:xfrm>
            <a:off x="8048625" y="436122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'KSA' leads regional growth at 5.8% CAGR.</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Demand concentrates in 'Weft Knitted Fabrics' within Fabric Construction.</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Product innovation and premiumisation lifting value.</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Expanding end-use applications and access.</a:t>
            </a:r>
          </a:p>
        </p:txBody>
      </p:sp>
      <p:sp>
        <p:nvSpPr>
          <p:cNvPr id="27" name="TextBox 2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Middle East &amp; Africa Performance Knitted Fabrics Market Pricing &amp; Regional Price Index</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average price by sub-segment and price variation by country, highlighting where pricing power sits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Middle East &amp; Africa</a:t>
            </a:r>
          </a:p>
        </p:txBody>
      </p:sp>
      <p:sp>
        <p:nvSpPr>
          <p:cNvPr id="9" name="Rectangle 8"/>
          <p:cNvSpPr/>
          <p:nvPr/>
        </p:nvSpPr>
        <p:spPr>
          <a:xfrm>
            <a:off x="142875" y="1052895"/>
            <a:ext cx="7696200" cy="266504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Average Price by Fabric Construction  ·  range across 2021–2036 (US$/Sq. Yards)</a:t>
            </a:r>
          </a:p>
        </p:txBody>
      </p:sp>
      <p:cxnSp>
        <p:nvCxnSpPr>
          <p:cNvPr id="11" name="Connector 10"/>
          <p:cNvCxnSpPr/>
          <p:nvPr/>
        </p:nvCxnSpPr>
        <p:spPr>
          <a:xfrm>
            <a:off x="657225" y="333693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7225" y="286593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239494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192394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452945"/>
            <a:ext cx="0" cy="188399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8650" y="3336935"/>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2865938"/>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2394940"/>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1923943"/>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1452945"/>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sp>
        <p:nvSpPr>
          <p:cNvPr id="22" name="FMI Scale tick"/>
          <p:cNvSpPr txBox="1"/>
          <p:nvPr/>
        </p:nvSpPr>
        <p:spPr>
          <a:xfrm>
            <a:off x="219075" y="3270260"/>
            <a:ext cx="381000" cy="133350"/>
          </a:xfrm>
          <a:prstGeom prst="rect">
            <a:avLst/>
          </a:prstGeom>
          <a:noFill/>
        </p:spPr>
        <p:txBody>
          <a:bodyPr wrap="none" lIns="0" rIns="0" tIns="0" bIns="0" anchor="ctr">
            <a:spAutoFit/>
          </a:bodyPr>
          <a:lstStyle/>
          <a:p>
            <a:pPr algn="r"/>
            <a:r>
              <a:rPr sz="1100" b="0">
                <a:solidFill>
                  <a:srgbClr val="605E5C"/>
                </a:solidFill>
                <a:latin typeface="Segoe UI"/>
              </a:rPr>
              <a:t>2.77</a:t>
            </a:r>
          </a:p>
        </p:txBody>
      </p:sp>
      <p:sp>
        <p:nvSpPr>
          <p:cNvPr id="23" name="FMI Scale tick"/>
          <p:cNvSpPr txBox="1"/>
          <p:nvPr/>
        </p:nvSpPr>
        <p:spPr>
          <a:xfrm>
            <a:off x="219075" y="2328265"/>
            <a:ext cx="381000" cy="133350"/>
          </a:xfrm>
          <a:prstGeom prst="rect">
            <a:avLst/>
          </a:prstGeom>
          <a:noFill/>
        </p:spPr>
        <p:txBody>
          <a:bodyPr wrap="none" lIns="0" rIns="0" tIns="0" bIns="0" anchor="ctr">
            <a:spAutoFit/>
          </a:bodyPr>
          <a:lstStyle/>
          <a:p>
            <a:pPr algn="r"/>
            <a:r>
              <a:rPr sz="1100" b="0">
                <a:solidFill>
                  <a:srgbClr val="605E5C"/>
                </a:solidFill>
                <a:latin typeface="Segoe UI"/>
              </a:rPr>
              <a:t>3.16</a:t>
            </a:r>
          </a:p>
        </p:txBody>
      </p:sp>
      <p:sp>
        <p:nvSpPr>
          <p:cNvPr id="24" name="FMI Scale tick"/>
          <p:cNvSpPr txBox="1"/>
          <p:nvPr/>
        </p:nvSpPr>
        <p:spPr>
          <a:xfrm>
            <a:off x="219075" y="1386270"/>
            <a:ext cx="381000" cy="133350"/>
          </a:xfrm>
          <a:prstGeom prst="rect">
            <a:avLst/>
          </a:prstGeom>
          <a:noFill/>
        </p:spPr>
        <p:txBody>
          <a:bodyPr wrap="none" lIns="0" rIns="0" tIns="0" bIns="0" anchor="ctr">
            <a:spAutoFit/>
          </a:bodyPr>
          <a:lstStyle/>
          <a:p>
            <a:pPr algn="r"/>
            <a:r>
              <a:rPr sz="1100" b="0">
                <a:solidFill>
                  <a:srgbClr val="605E5C"/>
                </a:solidFill>
                <a:latin typeface="Segoe UI"/>
              </a:rPr>
              <a:t>3.54</a:t>
            </a:r>
          </a:p>
        </p:txBody>
      </p:sp>
      <p:cxnSp>
        <p:nvCxnSpPr>
          <p:cNvPr id="25" name="Connector 24"/>
          <p:cNvCxnSpPr/>
          <p:nvPr/>
        </p:nvCxnSpPr>
        <p:spPr>
          <a:xfrm flipV="1">
            <a:off x="2409825" y="1670329"/>
            <a:ext cx="0" cy="142087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278380" y="309119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278380" y="16703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2190750" y="2230210"/>
            <a:ext cx="438150" cy="705966"/>
          </a:xfrm>
          <a:prstGeom prst="rect">
            <a:avLst/>
          </a:prstGeom>
          <a:solidFill>
            <a:srgbClr val="CFE7F5"/>
          </a:solidFill>
          <a:ln w="15875">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2190750" y="2644962"/>
            <a:ext cx="438150" cy="0"/>
          </a:xfrm>
          <a:prstGeom prst="line">
            <a:avLst/>
          </a:prstGeom>
          <a:ln w="2540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57225" y="1517929"/>
            <a:ext cx="3505200" cy="133350"/>
          </a:xfrm>
          <a:prstGeom prst="rect">
            <a:avLst/>
          </a:prstGeom>
          <a:noFill/>
        </p:spPr>
        <p:txBody>
          <a:bodyPr wrap="square" lIns="28575" rIns="28575" tIns="9525" bIns="9525">
            <a:spAutoFit/>
          </a:bodyPr>
          <a:lstStyle/>
          <a:p>
            <a:pPr algn="ctr"/>
            <a:r>
              <a:rPr sz="1100" b="1">
                <a:solidFill>
                  <a:srgbClr val="007BA5"/>
                </a:solidFill>
                <a:latin typeface="Segoe UI"/>
              </a:rPr>
              <a:t>3.05</a:t>
            </a:r>
          </a:p>
        </p:txBody>
      </p:sp>
      <p:cxnSp>
        <p:nvCxnSpPr>
          <p:cNvPr id="31" name="Connector 30"/>
          <p:cNvCxnSpPr/>
          <p:nvPr/>
        </p:nvCxnSpPr>
        <p:spPr>
          <a:xfrm flipV="1">
            <a:off x="5915025" y="1697331"/>
            <a:ext cx="0" cy="1422221"/>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783580" y="311955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783580" y="1697331"/>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695950" y="2250598"/>
            <a:ext cx="438150" cy="696530"/>
          </a:xfrm>
          <a:prstGeom prst="rect">
            <a:avLst/>
          </a:prstGeom>
          <a:solidFill>
            <a:srgbClr val="CFE7F5"/>
          </a:solidFill>
          <a:ln w="15875">
            <a:solidFill>
              <a:srgbClr val="007B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5695950" y="2657746"/>
            <a:ext cx="438150" cy="0"/>
          </a:xfrm>
          <a:prstGeom prst="line">
            <a:avLst/>
          </a:prstGeom>
          <a:ln w="25400">
            <a:solidFill>
              <a:srgbClr val="00A4DC"/>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162425" y="1544931"/>
            <a:ext cx="3505200" cy="133350"/>
          </a:xfrm>
          <a:prstGeom prst="rect">
            <a:avLst/>
          </a:prstGeom>
          <a:noFill/>
        </p:spPr>
        <p:txBody>
          <a:bodyPr wrap="square" lIns="28575" rIns="28575" tIns="9525" bIns="9525">
            <a:spAutoFit/>
          </a:bodyPr>
          <a:lstStyle/>
          <a:p>
            <a:pPr algn="ctr"/>
            <a:r>
              <a:rPr sz="1100" b="1">
                <a:solidFill>
                  <a:srgbClr val="007BA5"/>
                </a:solidFill>
                <a:latin typeface="Segoe UI"/>
              </a:rPr>
              <a:t>3.05</a:t>
            </a:r>
          </a:p>
        </p:txBody>
      </p:sp>
      <p:sp>
        <p:nvSpPr>
          <p:cNvPr id="37" name="TextBox 36"/>
          <p:cNvSpPr txBox="1"/>
          <p:nvPr/>
        </p:nvSpPr>
        <p:spPr>
          <a:xfrm>
            <a:off x="657225" y="3365510"/>
            <a:ext cx="3505200" cy="285750"/>
          </a:xfrm>
          <a:prstGeom prst="rect">
            <a:avLst/>
          </a:prstGeom>
          <a:noFill/>
        </p:spPr>
        <p:txBody>
          <a:bodyPr wrap="square" lIns="28575" rIns="28575" tIns="9525" bIns="9525">
            <a:spAutoFit/>
          </a:bodyPr>
          <a:lstStyle/>
          <a:p>
            <a:pPr algn="ctr"/>
            <a:r>
              <a:rPr sz="1100" b="0">
                <a:solidFill>
                  <a:srgbClr val="252423"/>
                </a:solidFill>
                <a:latin typeface="Segoe UI"/>
              </a:rPr>
              <a:t>Warp Knitted Fabrics</a:t>
            </a:r>
          </a:p>
        </p:txBody>
      </p:sp>
      <p:sp>
        <p:nvSpPr>
          <p:cNvPr id="38" name="TextBox 37"/>
          <p:cNvSpPr txBox="1"/>
          <p:nvPr/>
        </p:nvSpPr>
        <p:spPr>
          <a:xfrm>
            <a:off x="4162425" y="3365510"/>
            <a:ext cx="3505200" cy="285750"/>
          </a:xfrm>
          <a:prstGeom prst="rect">
            <a:avLst/>
          </a:prstGeom>
          <a:noFill/>
        </p:spPr>
        <p:txBody>
          <a:bodyPr wrap="square" lIns="28575" rIns="28575" tIns="9525" bIns="9525">
            <a:spAutoFit/>
          </a:bodyPr>
          <a:lstStyle/>
          <a:p>
            <a:pPr algn="ctr"/>
            <a:r>
              <a:rPr sz="1100" b="0">
                <a:solidFill>
                  <a:srgbClr val="252423"/>
                </a:solidFill>
                <a:latin typeface="Segoe UI"/>
              </a:rPr>
              <a:t>Weft Knitted Fabrics</a:t>
            </a:r>
          </a:p>
        </p:txBody>
      </p:sp>
      <p:sp>
        <p:nvSpPr>
          <p:cNvPr id="39" name="Rectangle 38"/>
          <p:cNvSpPr/>
          <p:nvPr/>
        </p:nvSpPr>
        <p:spPr>
          <a:xfrm>
            <a:off x="142875" y="3772696"/>
            <a:ext cx="7696200" cy="278368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Price Variation by Country vs Middle East &amp; Africa  ·  2026–2036</a:t>
            </a:r>
          </a:p>
        </p:txBody>
      </p:sp>
      <p:cxnSp>
        <p:nvCxnSpPr>
          <p:cNvPr id="41" name="Connector 40"/>
          <p:cNvCxnSpPr/>
          <p:nvPr/>
        </p:nvCxnSpPr>
        <p:spPr>
          <a:xfrm>
            <a:off x="619125" y="432393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19125" y="4758523"/>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19125" y="519311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19125" y="5627709"/>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19125" y="6062302"/>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19125" y="4323930"/>
            <a:ext cx="0" cy="1738372"/>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90550" y="4323930"/>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90550" y="4758523"/>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90550" y="5193116"/>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90550" y="5627709"/>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90550" y="6062302"/>
            <a:ext cx="28575" cy="0"/>
          </a:xfrm>
          <a:prstGeom prst="line">
            <a:avLst/>
          </a:prstGeom>
          <a:ln w="9525">
            <a:solidFill>
              <a:srgbClr val="605E5C"/>
            </a:solidFill>
          </a:ln>
          <a:effectLst/>
        </p:spPr>
        <p:style>
          <a:lnRef idx="2">
            <a:schemeClr val="accent1"/>
          </a:lnRef>
          <a:fillRef idx="0">
            <a:schemeClr val="accent1"/>
          </a:fillRef>
          <a:effectRef idx="1">
            <a:schemeClr val="accent1"/>
          </a:effectRef>
          <a:fontRef idx="minor">
            <a:schemeClr val="tx1"/>
          </a:fontRef>
        </p:style>
      </p:cxnSp>
      <p:sp>
        <p:nvSpPr>
          <p:cNvPr id="52" name="FMI Scale tick"/>
          <p:cNvSpPr txBox="1"/>
          <p:nvPr/>
        </p:nvSpPr>
        <p:spPr>
          <a:xfrm>
            <a:off x="219075" y="4257255"/>
            <a:ext cx="361950" cy="133350"/>
          </a:xfrm>
          <a:prstGeom prst="rect">
            <a:avLst/>
          </a:prstGeom>
          <a:noFill/>
        </p:spPr>
        <p:txBody>
          <a:bodyPr wrap="none" lIns="0" rIns="0" tIns="0" bIns="0" anchor="ctr">
            <a:spAutoFit/>
          </a:bodyPr>
          <a:lstStyle/>
          <a:p>
            <a:pPr algn="r"/>
            <a:r>
              <a:rPr sz="1100" b="0">
                <a:solidFill>
                  <a:srgbClr val="605E5C"/>
                </a:solidFill>
                <a:latin typeface="Segoe UI"/>
              </a:rPr>
              <a:t>+13%</a:t>
            </a:r>
          </a:p>
        </p:txBody>
      </p:sp>
      <p:sp>
        <p:nvSpPr>
          <p:cNvPr id="53" name="FMI Scale tick"/>
          <p:cNvSpPr txBox="1"/>
          <p:nvPr/>
        </p:nvSpPr>
        <p:spPr>
          <a:xfrm>
            <a:off x="219075" y="4691848"/>
            <a:ext cx="361950" cy="133350"/>
          </a:xfrm>
          <a:prstGeom prst="rect">
            <a:avLst/>
          </a:prstGeom>
          <a:noFill/>
        </p:spPr>
        <p:txBody>
          <a:bodyPr wrap="none" lIns="0" rIns="0" tIns="0" bIns="0" anchor="ctr">
            <a:spAutoFit/>
          </a:bodyPr>
          <a:lstStyle/>
          <a:p>
            <a:pPr algn="r"/>
            <a:r>
              <a:rPr sz="1100" b="0">
                <a:solidFill>
                  <a:srgbClr val="605E5C"/>
                </a:solidFill>
                <a:latin typeface="Segoe UI"/>
              </a:rPr>
              <a:t>+7%</a:t>
            </a:r>
          </a:p>
        </p:txBody>
      </p:sp>
      <p:sp>
        <p:nvSpPr>
          <p:cNvPr id="54" name="FMI Scale tick"/>
          <p:cNvSpPr txBox="1"/>
          <p:nvPr/>
        </p:nvSpPr>
        <p:spPr>
          <a:xfrm>
            <a:off x="219075" y="5126441"/>
            <a:ext cx="361950" cy="133350"/>
          </a:xfrm>
          <a:prstGeom prst="rect">
            <a:avLst/>
          </a:prstGeom>
          <a:noFill/>
        </p:spPr>
        <p:txBody>
          <a:bodyPr wrap="square" lIns="28575" rIns="28575" tIns="9525" bIns="9525" anchor="ctr">
            <a:spAutoFit/>
          </a:bodyPr>
          <a:lstStyle/>
          <a:p>
            <a:pPr algn="r"/>
            <a:r>
              <a:rPr sz="1100" b="1">
                <a:solidFill>
                  <a:srgbClr val="605E5C"/>
                </a:solidFill>
                <a:latin typeface="Segoe UI"/>
              </a:rPr>
              <a:t>Middle East &amp; Africa</a:t>
            </a:r>
          </a:p>
        </p:txBody>
      </p:sp>
      <p:sp>
        <p:nvSpPr>
          <p:cNvPr id="55" name="FMI Scale tick"/>
          <p:cNvSpPr txBox="1"/>
          <p:nvPr/>
        </p:nvSpPr>
        <p:spPr>
          <a:xfrm>
            <a:off x="219075" y="5561034"/>
            <a:ext cx="361950" cy="133350"/>
          </a:xfrm>
          <a:prstGeom prst="rect">
            <a:avLst/>
          </a:prstGeom>
          <a:noFill/>
        </p:spPr>
        <p:txBody>
          <a:bodyPr wrap="none" lIns="0" rIns="0" tIns="0" bIns="0" anchor="ctr">
            <a:spAutoFit/>
          </a:bodyPr>
          <a:lstStyle/>
          <a:p>
            <a:pPr algn="r"/>
            <a:r>
              <a:rPr sz="1100" b="0">
                <a:solidFill>
                  <a:srgbClr val="605E5C"/>
                </a:solidFill>
                <a:latin typeface="Segoe UI"/>
              </a:rPr>
              <a:t>-7%</a:t>
            </a:r>
          </a:p>
        </p:txBody>
      </p:sp>
      <p:sp>
        <p:nvSpPr>
          <p:cNvPr id="56" name="FMI Scale tick"/>
          <p:cNvSpPr txBox="1"/>
          <p:nvPr/>
        </p:nvSpPr>
        <p:spPr>
          <a:xfrm>
            <a:off x="219075" y="5995627"/>
            <a:ext cx="361950" cy="133350"/>
          </a:xfrm>
          <a:prstGeom prst="rect">
            <a:avLst/>
          </a:prstGeom>
          <a:noFill/>
        </p:spPr>
        <p:txBody>
          <a:bodyPr wrap="none" lIns="0" rIns="0" tIns="0" bIns="0" anchor="ctr">
            <a:spAutoFit/>
          </a:bodyPr>
          <a:lstStyle/>
          <a:p>
            <a:pPr algn="r"/>
            <a:r>
              <a:rPr sz="1100" b="0">
                <a:solidFill>
                  <a:srgbClr val="605E5C"/>
                </a:solidFill>
                <a:latin typeface="Segoe UI"/>
              </a:rPr>
              <a:t>-13%</a:t>
            </a:r>
          </a:p>
        </p:txBody>
      </p:sp>
      <p:cxnSp>
        <p:nvCxnSpPr>
          <p:cNvPr id="57" name="Connector 56"/>
          <p:cNvCxnSpPr/>
          <p:nvPr/>
        </p:nvCxnSpPr>
        <p:spPr>
          <a:xfrm>
            <a:off x="619125" y="5193116"/>
            <a:ext cx="7048500" cy="0"/>
          </a:xfrm>
          <a:prstGeom prst="line">
            <a:avLst/>
          </a:prstGeom>
          <a:ln w="13970">
            <a:solidFill>
              <a:srgbClr val="605E5C"/>
            </a:solidFill>
            <a:prstDash val="dash"/>
          </a:ln>
          <a:effectLst/>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1095375" y="4890376"/>
            <a:ext cx="457200" cy="302740"/>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MI Data Label"/>
          <p:cNvSpPr txBox="1"/>
          <p:nvPr/>
        </p:nvSpPr>
        <p:spPr>
          <a:xfrm>
            <a:off x="619125" y="4747501"/>
            <a:ext cx="1409700" cy="133350"/>
          </a:xfrm>
          <a:prstGeom prst="rect">
            <a:avLst/>
          </a:prstGeom>
          <a:noFill/>
        </p:spPr>
        <p:txBody>
          <a:bodyPr wrap="square" lIns="28575" rIns="28575" tIns="9525" bIns="9525">
            <a:spAutoFit/>
          </a:bodyPr>
          <a:lstStyle/>
          <a:p>
            <a:pPr algn="ctr"/>
            <a:r>
              <a:rPr sz="1100" b="1">
                <a:solidFill>
                  <a:srgbClr val="252423"/>
                </a:solidFill>
                <a:latin typeface="Segoe UI"/>
              </a:rPr>
              <a:t>+4.6%</a:t>
            </a:r>
          </a:p>
        </p:txBody>
      </p:sp>
      <p:sp>
        <p:nvSpPr>
          <p:cNvPr id="60" name="Rectangle 59"/>
          <p:cNvSpPr/>
          <p:nvPr/>
        </p:nvSpPr>
        <p:spPr>
          <a:xfrm>
            <a:off x="2505075" y="4508441"/>
            <a:ext cx="457200" cy="684675"/>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MI Data Label"/>
          <p:cNvSpPr txBox="1"/>
          <p:nvPr/>
        </p:nvSpPr>
        <p:spPr>
          <a:xfrm>
            <a:off x="2028825" y="4365566"/>
            <a:ext cx="1409700" cy="133350"/>
          </a:xfrm>
          <a:prstGeom prst="rect">
            <a:avLst/>
          </a:prstGeom>
          <a:noFill/>
        </p:spPr>
        <p:txBody>
          <a:bodyPr wrap="square" lIns="28575" rIns="28575" tIns="9525" bIns="9525">
            <a:spAutoFit/>
          </a:bodyPr>
          <a:lstStyle/>
          <a:p>
            <a:pPr algn="ctr"/>
            <a:r>
              <a:rPr sz="1100" b="1">
                <a:solidFill>
                  <a:srgbClr val="252423"/>
                </a:solidFill>
                <a:latin typeface="Segoe UI"/>
              </a:rPr>
              <a:t>+10.3%</a:t>
            </a:r>
          </a:p>
        </p:txBody>
      </p:sp>
      <p:sp>
        <p:nvSpPr>
          <p:cNvPr id="62" name="Rectangle 61"/>
          <p:cNvSpPr/>
          <p:nvPr/>
        </p:nvSpPr>
        <p:spPr>
          <a:xfrm>
            <a:off x="3914775" y="5193116"/>
            <a:ext cx="457200" cy="649706"/>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MI Data Label"/>
          <p:cNvSpPr txBox="1"/>
          <p:nvPr/>
        </p:nvSpPr>
        <p:spPr>
          <a:xfrm>
            <a:off x="3438525" y="5852347"/>
            <a:ext cx="1409700" cy="133350"/>
          </a:xfrm>
          <a:prstGeom prst="rect">
            <a:avLst/>
          </a:prstGeom>
          <a:noFill/>
        </p:spPr>
        <p:txBody>
          <a:bodyPr wrap="square" lIns="28575" rIns="28575" tIns="9525" bIns="9525">
            <a:spAutoFit/>
          </a:bodyPr>
          <a:lstStyle/>
          <a:p>
            <a:pPr algn="ctr"/>
            <a:r>
              <a:rPr sz="1100" b="1">
                <a:solidFill>
                  <a:srgbClr val="252423"/>
                </a:solidFill>
                <a:latin typeface="Segoe UI"/>
              </a:rPr>
              <a:t>-9.8%</a:t>
            </a:r>
          </a:p>
        </p:txBody>
      </p:sp>
      <p:sp>
        <p:nvSpPr>
          <p:cNvPr id="64" name="Rectangle 63"/>
          <p:cNvSpPr/>
          <p:nvPr/>
        </p:nvSpPr>
        <p:spPr>
          <a:xfrm>
            <a:off x="5324475" y="5193116"/>
            <a:ext cx="457200" cy="755829"/>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MI Data Label"/>
          <p:cNvSpPr txBox="1"/>
          <p:nvPr/>
        </p:nvSpPr>
        <p:spPr>
          <a:xfrm>
            <a:off x="4848225" y="5958470"/>
            <a:ext cx="1409700" cy="133350"/>
          </a:xfrm>
          <a:prstGeom prst="rect">
            <a:avLst/>
          </a:prstGeom>
          <a:noFill/>
        </p:spPr>
        <p:txBody>
          <a:bodyPr wrap="square" lIns="28575" rIns="28575" tIns="9525" bIns="9525">
            <a:spAutoFit/>
          </a:bodyPr>
          <a:lstStyle/>
          <a:p>
            <a:pPr algn="ctr"/>
            <a:r>
              <a:rPr sz="1100" b="1">
                <a:solidFill>
                  <a:srgbClr val="252423"/>
                </a:solidFill>
                <a:latin typeface="Segoe UI"/>
              </a:rPr>
              <a:t>-11.4%</a:t>
            </a:r>
          </a:p>
        </p:txBody>
      </p:sp>
      <p:sp>
        <p:nvSpPr>
          <p:cNvPr id="66" name="Rectangle 65"/>
          <p:cNvSpPr/>
          <p:nvPr/>
        </p:nvSpPr>
        <p:spPr>
          <a:xfrm>
            <a:off x="6734175" y="5146483"/>
            <a:ext cx="457200" cy="46633"/>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MI Data Label"/>
          <p:cNvSpPr txBox="1"/>
          <p:nvPr/>
        </p:nvSpPr>
        <p:spPr>
          <a:xfrm>
            <a:off x="6257925" y="5003608"/>
            <a:ext cx="1409700" cy="133350"/>
          </a:xfrm>
          <a:prstGeom prst="rect">
            <a:avLst/>
          </a:prstGeom>
          <a:noFill/>
        </p:spPr>
        <p:txBody>
          <a:bodyPr wrap="square" lIns="28575" rIns="28575" tIns="9525" bIns="9525">
            <a:spAutoFit/>
          </a:bodyPr>
          <a:lstStyle/>
          <a:p>
            <a:pPr algn="ctr"/>
            <a:r>
              <a:rPr sz="1100" b="1">
                <a:solidFill>
                  <a:srgbClr val="252423"/>
                </a:solidFill>
                <a:latin typeface="Segoe UI"/>
              </a:rPr>
              <a:t>+0.7%</a:t>
            </a:r>
          </a:p>
        </p:txBody>
      </p:sp>
      <p:sp>
        <p:nvSpPr>
          <p:cNvPr id="68" name="TextBox 67"/>
          <p:cNvSpPr txBox="1"/>
          <p:nvPr/>
        </p:nvSpPr>
        <p:spPr>
          <a:xfrm>
            <a:off x="619125" y="6242060"/>
            <a:ext cx="1409700" cy="247650"/>
          </a:xfrm>
          <a:prstGeom prst="rect">
            <a:avLst/>
          </a:prstGeom>
          <a:noFill/>
        </p:spPr>
        <p:txBody>
          <a:bodyPr wrap="square" lIns="28575" rIns="28575" tIns="9525" bIns="9525">
            <a:spAutoFit/>
          </a:bodyPr>
          <a:lstStyle/>
          <a:p>
            <a:pPr algn="ctr"/>
            <a:r>
              <a:rPr sz="1100" b="0">
                <a:solidFill>
                  <a:srgbClr val="252423"/>
                </a:solidFill>
                <a:latin typeface="Segoe UI"/>
              </a:rPr>
              <a:t>KSA</a:t>
            </a:r>
          </a:p>
        </p:txBody>
      </p:sp>
      <p:sp>
        <p:nvSpPr>
          <p:cNvPr id="69" name="TextBox 68"/>
          <p:cNvSpPr txBox="1"/>
          <p:nvPr/>
        </p:nvSpPr>
        <p:spPr>
          <a:xfrm>
            <a:off x="2028825" y="6242060"/>
            <a:ext cx="1409700" cy="247650"/>
          </a:xfrm>
          <a:prstGeom prst="rect">
            <a:avLst/>
          </a:prstGeom>
          <a:noFill/>
        </p:spPr>
        <p:txBody>
          <a:bodyPr wrap="square" lIns="28575" rIns="28575" tIns="9525" bIns="9525">
            <a:spAutoFit/>
          </a:bodyPr>
          <a:lstStyle/>
          <a:p>
            <a:pPr algn="ctr"/>
            <a:r>
              <a:rPr sz="1100" b="0">
                <a:solidFill>
                  <a:srgbClr val="252423"/>
                </a:solidFill>
                <a:latin typeface="Segoe UI"/>
              </a:rPr>
              <a:t>Other GCC</a:t>
            </a:r>
          </a:p>
        </p:txBody>
      </p:sp>
      <p:sp>
        <p:nvSpPr>
          <p:cNvPr id="70" name="TextBox 69"/>
          <p:cNvSpPr txBox="1"/>
          <p:nvPr/>
        </p:nvSpPr>
        <p:spPr>
          <a:xfrm>
            <a:off x="3438525" y="6242060"/>
            <a:ext cx="1409700" cy="247650"/>
          </a:xfrm>
          <a:prstGeom prst="rect">
            <a:avLst/>
          </a:prstGeom>
          <a:noFill/>
        </p:spPr>
        <p:txBody>
          <a:bodyPr wrap="square" lIns="28575" rIns="28575" tIns="9525" bIns="9525">
            <a:spAutoFit/>
          </a:bodyPr>
          <a:lstStyle/>
          <a:p>
            <a:pPr algn="ctr"/>
            <a:r>
              <a:rPr sz="1100" b="0">
                <a:solidFill>
                  <a:srgbClr val="252423"/>
                </a:solidFill>
                <a:latin typeface="Segoe UI"/>
              </a:rPr>
              <a:t>Turkiye</a:t>
            </a:r>
          </a:p>
        </p:txBody>
      </p:sp>
      <p:sp>
        <p:nvSpPr>
          <p:cNvPr id="71" name="TextBox 70"/>
          <p:cNvSpPr txBox="1"/>
          <p:nvPr/>
        </p:nvSpPr>
        <p:spPr>
          <a:xfrm>
            <a:off x="4848225" y="6242060"/>
            <a:ext cx="1409700" cy="247650"/>
          </a:xfrm>
          <a:prstGeom prst="rect">
            <a:avLst/>
          </a:prstGeom>
          <a:noFill/>
        </p:spPr>
        <p:txBody>
          <a:bodyPr wrap="square" lIns="28575" rIns="28575" tIns="9525" bIns="9525">
            <a:spAutoFit/>
          </a:bodyPr>
          <a:lstStyle/>
          <a:p>
            <a:pPr algn="ctr"/>
            <a:r>
              <a:rPr sz="1100" b="0">
                <a:solidFill>
                  <a:srgbClr val="252423"/>
                </a:solidFill>
                <a:latin typeface="Segoe UI"/>
              </a:rPr>
              <a:t>South Africa</a:t>
            </a:r>
          </a:p>
        </p:txBody>
      </p:sp>
      <p:sp>
        <p:nvSpPr>
          <p:cNvPr id="72" name="TextBox 71"/>
          <p:cNvSpPr txBox="1"/>
          <p:nvPr/>
        </p:nvSpPr>
        <p:spPr>
          <a:xfrm>
            <a:off x="6257925" y="6242060"/>
            <a:ext cx="1409700" cy="247650"/>
          </a:xfrm>
          <a:prstGeom prst="rect">
            <a:avLst/>
          </a:prstGeom>
          <a:noFill/>
        </p:spPr>
        <p:txBody>
          <a:bodyPr wrap="square" lIns="28575" rIns="28575" tIns="9525" bIns="9525">
            <a:spAutoFit/>
          </a:bodyPr>
          <a:lstStyle/>
          <a:p>
            <a:pPr algn="ctr"/>
            <a:r>
              <a:rPr sz="1100" b="0">
                <a:solidFill>
                  <a:srgbClr val="252423"/>
                </a:solidFill>
                <a:latin typeface="Segoe UI"/>
              </a:rPr>
              <a:t>Other African Union</a:t>
            </a:r>
          </a:p>
        </p:txBody>
      </p:sp>
      <p:sp>
        <p:nvSpPr>
          <p:cNvPr id="73" name="Rectangle 72"/>
          <p:cNvSpPr/>
          <p:nvPr/>
        </p:nvSpPr>
        <p:spPr>
          <a:xfrm>
            <a:off x="7915275" y="1052895"/>
            <a:ext cx="4133850" cy="550349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07BA5"/>
                </a:solidFill>
                <a:latin typeface="Segoe UI"/>
              </a:rPr>
              <a:t>Key Takeaways</a:t>
            </a:r>
          </a:p>
        </p:txBody>
      </p:sp>
      <p:sp>
        <p:nvSpPr>
          <p:cNvPr id="75" name="Rectangle 74"/>
          <p:cNvSpPr/>
          <p:nvPr/>
        </p:nvSpPr>
        <p:spPr>
          <a:xfrm>
            <a:off x="8048625" y="1376745"/>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Warp knitted fabrics segment is expected to command the highest average price of US$ 3.45 per Sq. Yard in 2036. Average selling price of performance knitted fabrics is estimated at US$ 2.93 per Sq. Yard in 2025 and is projected to increase to US$ 3.44 per Sq. Yard by 2036.</a:t>
            </a:r>
          </a:p>
          <a:p>
            <a:pPr algn="l">
              <a:lnSpc>
                <a:spcPct val="110000"/>
              </a:lnSpc>
              <a:spcBef>
                <a:spcPts val="0"/>
              </a:spcBef>
              <a:spcAft>
                <a:spcPts val="500"/>
              </a:spcAft>
            </a:pPr>
            <a:r>
              <a:rPr sz="1150" b="0">
                <a:solidFill>
                  <a:srgbClr val="252423"/>
                </a:solidFill>
                <a:latin typeface="Segoe UI"/>
              </a:rPr>
              <a:t>KSA is the highest-priced country, while South Africa is the most price-competitive market. Against the Middle East &amp; Africa price of 3.20 US$/Sq. Yards, 3 of 5 countries price above and 2 below.</a:t>
            </a:r>
          </a:p>
          <a:p>
            <a:pPr algn="l">
              <a:lnSpc>
                <a:spcPct val="110000"/>
              </a:lnSpc>
              <a:spcBef>
                <a:spcPts val="0"/>
              </a:spcBef>
              <a:spcAft>
                <a:spcPts val="500"/>
              </a:spcAft>
            </a:pPr>
            <a:r>
              <a:rPr sz="1150" b="0">
                <a:solidFill>
                  <a:srgbClr val="252423"/>
                </a:solidFill>
                <a:latin typeface="Segoe UI"/>
              </a:rPr>
              <a:t>'Other GCC' is the dearest at +10.3% versus Middle East &amp; Africa, 'South Africa' the cheapest at -11.4% pointing to premiumisation headroom in the lower-priced countries.</a:t>
            </a:r>
          </a:p>
        </p:txBody>
      </p:sp>
      <p:sp>
        <p:nvSpPr>
          <p:cNvPr id="77" name="TextBox 7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Middle East &amp; Africa Performance Knitted Fabrics Market Summary, By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Middle East &amp; Africa market value growth, incremental opportunity and the geographies driving it, 2021–2036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Middle East &amp; Africa</a:t>
            </a:r>
          </a:p>
        </p:txBody>
      </p:sp>
      <p:sp>
        <p:nvSpPr>
          <p:cNvPr id="9" name="Rounded Rectangle 8"/>
          <p:cNvSpPr/>
          <p:nvPr/>
        </p:nvSpPr>
        <p:spPr>
          <a:xfrm>
            <a:off x="142875"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MARKET SIZE (US$ MN)</a:t>
            </a:r>
          </a:p>
          <a:p>
            <a:pPr algn="ctr">
              <a:lnSpc>
                <a:spcPct val="95000"/>
              </a:lnSpc>
            </a:pPr>
            <a:r>
              <a:rPr sz="1500" b="1">
                <a:solidFill>
                  <a:srgbClr val="00A4DC"/>
                </a:solidFill>
                <a:latin typeface="Segoe UI"/>
              </a:rPr>
              <a:t>255.2</a:t>
            </a:r>
          </a:p>
        </p:txBody>
      </p:sp>
      <p:sp>
        <p:nvSpPr>
          <p:cNvPr id="10" name="Rounded Rectangle 9"/>
          <p:cNvSpPr/>
          <p:nvPr/>
        </p:nvSpPr>
        <p:spPr>
          <a:xfrm>
            <a:off x="31432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488.3</a:t>
            </a:r>
          </a:p>
        </p:txBody>
      </p:sp>
      <p:sp>
        <p:nvSpPr>
          <p:cNvPr id="11" name="Rounded Rectangle 10"/>
          <p:cNvSpPr/>
          <p:nvPr/>
        </p:nvSpPr>
        <p:spPr>
          <a:xfrm>
            <a:off x="61531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2021–2025</a:t>
            </a:r>
          </a:p>
          <a:p>
            <a:pPr algn="ctr">
              <a:lnSpc>
                <a:spcPct val="95000"/>
              </a:lnSpc>
            </a:pPr>
            <a:r>
              <a:rPr sz="1500" b="1">
                <a:solidFill>
                  <a:srgbClr val="00A4DC"/>
                </a:solidFill>
                <a:latin typeface="Segoe UI"/>
              </a:rPr>
              <a:t>5.4%</a:t>
            </a:r>
          </a:p>
        </p:txBody>
      </p:sp>
      <p:sp>
        <p:nvSpPr>
          <p:cNvPr id="12" name="Rounded Rectangle 11"/>
          <p:cNvSpPr/>
          <p:nvPr/>
        </p:nvSpPr>
        <p:spPr>
          <a:xfrm>
            <a:off x="9163050" y="1025515"/>
            <a:ext cx="2876550" cy="511104"/>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1500" b="1">
                <a:solidFill>
                  <a:srgbClr val="00A4DC"/>
                </a:solidFill>
                <a:latin typeface="Segoe UI"/>
              </a:rPr>
              <a:t>6.7%</a:t>
            </a:r>
          </a:p>
        </p:txBody>
      </p:sp>
      <p:sp>
        <p:nvSpPr>
          <p:cNvPr id="13" name="Rectangle 12"/>
          <p:cNvSpPr/>
          <p:nvPr/>
        </p:nvSpPr>
        <p:spPr>
          <a:xfrm>
            <a:off x="142875" y="1627887"/>
            <a:ext cx="7696200" cy="2354727"/>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(2021–2036)</a:t>
            </a:r>
          </a:p>
        </p:txBody>
      </p:sp>
      <p:graphicFrame>
        <p:nvGraphicFramePr>
          <p:cNvPr id="15" name="Chart 14"/>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6" name="Rectangle 15"/>
          <p:cNvSpPr/>
          <p:nvPr/>
        </p:nvSpPr>
        <p:spPr>
          <a:xfrm>
            <a:off x="142875" y="4037375"/>
            <a:ext cx="7696200" cy="251901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Incremental Market Addition (US$ Mn)</a:t>
            </a:r>
          </a:p>
        </p:txBody>
      </p:sp>
      <p:graphicFrame>
        <p:nvGraphicFramePr>
          <p:cNvPr id="18" name="Chart 17"/>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19" name="Rectangle 18"/>
          <p:cNvSpPr/>
          <p:nvPr/>
        </p:nvSpPr>
        <p:spPr>
          <a:xfrm>
            <a:off x="7915275" y="1627887"/>
            <a:ext cx="4133850" cy="3175056"/>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21" name="Rectangle 20"/>
          <p:cNvSpPr/>
          <p:nvPr/>
        </p:nvSpPr>
        <p:spPr>
          <a:xfrm>
            <a:off x="8048625" y="1951737"/>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8625" y="2037462"/>
            <a:ext cx="3867150" cy="268928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52423"/>
                </a:solidFill>
                <a:latin typeface="Segoe UI"/>
              </a:rPr>
              <a:t>Performance knitted fabrics market value in Middle East &amp; Africa is expected to increase 2.0X between 2025 and 2036. In 2025, the performance knitted fabrics market in Middle East &amp; Africa was valued at US$ 240.0 Mn and is estimated to account for US$ 255.2 Mn by the end of 2026, reflecting a Y-o-Y growth rate of 6.4%.</a:t>
            </a:r>
          </a:p>
          <a:p>
            <a:pPr algn="l">
              <a:lnSpc>
                <a:spcPct val="110000"/>
              </a:lnSpc>
              <a:spcBef>
                <a:spcPts val="0"/>
              </a:spcBef>
              <a:spcAft>
                <a:spcPts val="500"/>
              </a:spcAft>
            </a:pPr>
            <a:r>
              <a:rPr sz="1100" b="0">
                <a:solidFill>
                  <a:srgbClr val="252423"/>
                </a:solidFill>
                <a:latin typeface="Segoe UI"/>
              </a:rPr>
              <a:t>The market in Middle East &amp; Africa is expected to account for US$ 488.3 Mn by 2036 at a CAGR of 6.7% over the forecast period. Middle East &amp; Africa is expected to create an incremental opportunity of US$ 248.3 Mn for the overall performance knitted fabrics market from 2025 to 2036.</a:t>
            </a:r>
          </a:p>
          <a:p>
            <a:pPr algn="l">
              <a:lnSpc>
                <a:spcPct val="110000"/>
              </a:lnSpc>
              <a:spcBef>
                <a:spcPts val="0"/>
              </a:spcBef>
              <a:spcAft>
                <a:spcPts val="500"/>
              </a:spcAft>
            </a:pPr>
            <a:r>
              <a:rPr sz="1100" b="0">
                <a:solidFill>
                  <a:srgbClr val="252423"/>
                </a:solidFill>
                <a:latin typeface="Segoe UI"/>
              </a:rPr>
              <a:t>Absolute $ value for 2026 is estimated to be US$ 15.3 Mn.</a:t>
            </a:r>
          </a:p>
        </p:txBody>
      </p:sp>
      <p:sp>
        <p:nvSpPr>
          <p:cNvPr id="23" name="Rectangle 22"/>
          <p:cNvSpPr/>
          <p:nvPr/>
        </p:nvSpPr>
        <p:spPr>
          <a:xfrm>
            <a:off x="7915275" y="4857704"/>
            <a:ext cx="4133850" cy="17049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8625" y="4943429"/>
            <a:ext cx="3867150" cy="209550"/>
          </a:xfrm>
          <a:prstGeom prst="rect">
            <a:avLst/>
          </a:prstGeom>
          <a:noFill/>
        </p:spPr>
        <p:txBody>
          <a:bodyPr wrap="square" lIns="0" rIns="19050" tIns="9525" bIns="9525">
            <a:spAutoFit/>
          </a:bodyPr>
          <a:lstStyle/>
          <a:p>
            <a:pPr algn="l"/>
            <a:r>
              <a:rPr sz="1300" b="1">
                <a:solidFill>
                  <a:srgbClr val="007BA5"/>
                </a:solidFill>
                <a:latin typeface="Segoe UI"/>
              </a:rPr>
              <a:t>Growth Drivers</a:t>
            </a:r>
          </a:p>
        </p:txBody>
      </p:sp>
      <p:sp>
        <p:nvSpPr>
          <p:cNvPr id="25" name="Rectangle 24"/>
          <p:cNvSpPr/>
          <p:nvPr/>
        </p:nvSpPr>
        <p:spPr>
          <a:xfrm>
            <a:off x="8048625" y="5181554"/>
            <a:ext cx="38671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8625" y="5267279"/>
            <a:ext cx="3867150" cy="12192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'Other GCC' leads regional growth at 7.4% CAGR.</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Demand concentrates in 'Weft Knitted Fabrics' within Fabric Construction.</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Product innovation and premiumisation lifting value.</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Expanding end-use applications and access.</a:t>
            </a:r>
          </a:p>
        </p:txBody>
      </p:sp>
      <p:sp>
        <p:nvSpPr>
          <p:cNvPr id="27" name="TextBox 2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Middle East &amp; Africa Performance Knitted Fabrics Market Volume &amp; Value Analysis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volume and value growth of the Middle East &amp; Africa market and the incremental $ opportunity it creates…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Middle East &amp; Africa</a:t>
            </a:r>
          </a:p>
        </p:txBody>
      </p:sp>
      <p:sp>
        <p:nvSpPr>
          <p:cNvPr id="9" name="Rectangle 8"/>
          <p:cNvSpPr/>
          <p:nvPr/>
        </p:nvSpPr>
        <p:spPr>
          <a:xfrm>
            <a:off x="142875" y="981075"/>
            <a:ext cx="4695825" cy="2524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Middle East &amp; Africa Market, 2021–2025 (Historical)</a:t>
            </a:r>
          </a:p>
        </p:txBody>
      </p:sp>
      <p:graphicFrame>
        <p:nvGraphicFramePr>
          <p:cNvPr id="11" name="Chart 10"/>
          <p:cNvGraphicFramePr>
            <a:graphicFrameLocks noGrp="1"/>
          </p:cNvGraphicFramePr>
          <p:nvPr/>
        </p:nvGraphicFramePr>
        <p:xfrm>
          <a:off x="238125" y="1266825"/>
          <a:ext cx="4505325" cy="2181225"/>
        </p:xfrm>
        <a:graphic>
          <a:graphicData uri="http://schemas.openxmlformats.org/drawingml/2006/chart">
            <c:chart xmlns:c="http://schemas.openxmlformats.org/drawingml/2006/chart" r:id="rId3"/>
          </a:graphicData>
        </a:graphic>
      </p:graphicFrame>
      <p:sp>
        <p:nvSpPr>
          <p:cNvPr id="12" name="Rectangle 11"/>
          <p:cNvSpPr/>
          <p:nvPr/>
        </p:nvSpPr>
        <p:spPr>
          <a:xfrm>
            <a:off x="4991100" y="981075"/>
            <a:ext cx="7048500" cy="25241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Middle East &amp; Africa Market, 2026–2036 (Forecast)</a:t>
            </a:r>
          </a:p>
        </p:txBody>
      </p:sp>
      <p:graphicFrame>
        <p:nvGraphicFramePr>
          <p:cNvPr id="14" name="Chart 13"/>
          <p:cNvGraphicFramePr>
            <a:graphicFrameLocks noGrp="1"/>
          </p:cNvGraphicFramePr>
          <p:nvPr/>
        </p:nvGraphicFramePr>
        <p:xfrm>
          <a:off x="5086350" y="1266825"/>
          <a:ext cx="6858000" cy="2181225"/>
        </p:xfrm>
        <a:graphic>
          <a:graphicData uri="http://schemas.openxmlformats.org/drawingml/2006/chart">
            <c:chart xmlns:c="http://schemas.openxmlformats.org/drawingml/2006/chart" r:id="rId4"/>
          </a:graphicData>
        </a:graphic>
      </p:graphicFrame>
      <p:sp>
        <p:nvSpPr>
          <p:cNvPr id="15" name="Rounded Rectangle 14"/>
          <p:cNvSpPr/>
          <p:nvPr/>
        </p:nvSpPr>
        <p:spPr>
          <a:xfrm>
            <a:off x="142875" y="3638550"/>
            <a:ext cx="25146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VALUE CAGR 2021–2025</a:t>
            </a:r>
          </a:p>
          <a:p>
            <a:pPr algn="ctr">
              <a:lnSpc>
                <a:spcPct val="95000"/>
              </a:lnSpc>
            </a:pPr>
            <a:r>
              <a:rPr sz="1500" b="1">
                <a:solidFill>
                  <a:srgbClr val="00A4DC"/>
                </a:solidFill>
                <a:latin typeface="Segoe UI"/>
              </a:rPr>
              <a:t>5.4%</a:t>
            </a:r>
          </a:p>
        </p:txBody>
      </p:sp>
      <p:sp>
        <p:nvSpPr>
          <p:cNvPr id="16" name="Rounded Rectangle 15"/>
          <p:cNvSpPr/>
          <p:nvPr/>
        </p:nvSpPr>
        <p:spPr>
          <a:xfrm>
            <a:off x="2809875" y="3638550"/>
            <a:ext cx="25146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VALUE CAGR 2026–2036</a:t>
            </a:r>
          </a:p>
          <a:p>
            <a:pPr algn="ctr">
              <a:lnSpc>
                <a:spcPct val="95000"/>
              </a:lnSpc>
            </a:pPr>
            <a:r>
              <a:rPr sz="1500" b="1">
                <a:solidFill>
                  <a:srgbClr val="00A4DC"/>
                </a:solidFill>
                <a:latin typeface="Segoe UI"/>
              </a:rPr>
              <a:t>6.7%</a:t>
            </a:r>
          </a:p>
        </p:txBody>
      </p:sp>
      <p:sp>
        <p:nvSpPr>
          <p:cNvPr id="17" name="Rounded Rectangle 16"/>
          <p:cNvSpPr/>
          <p:nvPr/>
        </p:nvSpPr>
        <p:spPr>
          <a:xfrm>
            <a:off x="5476875" y="3638550"/>
            <a:ext cx="32004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INCREMENTAL $ OPPORTUNITY 2026–2031</a:t>
            </a:r>
          </a:p>
          <a:p>
            <a:pPr algn="ctr">
              <a:lnSpc>
                <a:spcPct val="95000"/>
              </a:lnSpc>
            </a:pPr>
            <a:r>
              <a:rPr sz="1500" b="1">
                <a:solidFill>
                  <a:srgbClr val="00A4DC"/>
                </a:solidFill>
                <a:latin typeface="Segoe UI"/>
              </a:rPr>
              <a:t>97.9 US$ Mn</a:t>
            </a:r>
          </a:p>
        </p:txBody>
      </p:sp>
      <p:sp>
        <p:nvSpPr>
          <p:cNvPr id="18" name="Rounded Rectangle 17"/>
          <p:cNvSpPr/>
          <p:nvPr/>
        </p:nvSpPr>
        <p:spPr>
          <a:xfrm>
            <a:off x="8829675" y="3638550"/>
            <a:ext cx="3200400" cy="68580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INCREMENTAL $ OPPORTUNITY 2026–2036</a:t>
            </a:r>
          </a:p>
          <a:p>
            <a:pPr algn="ctr">
              <a:lnSpc>
                <a:spcPct val="95000"/>
              </a:lnSpc>
            </a:pPr>
            <a:r>
              <a:rPr sz="1500" b="1">
                <a:solidFill>
                  <a:srgbClr val="00A4DC"/>
                </a:solidFill>
                <a:latin typeface="Segoe UI"/>
              </a:rPr>
              <a:t>233.0 US$ Mn</a:t>
            </a:r>
          </a:p>
        </p:txBody>
      </p:sp>
      <p:sp>
        <p:nvSpPr>
          <p:cNvPr id="19" name="Rectangle 18"/>
          <p:cNvSpPr/>
          <p:nvPr/>
        </p:nvSpPr>
        <p:spPr>
          <a:xfrm>
            <a:off x="142875" y="4457700"/>
            <a:ext cx="11906250" cy="21526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543425"/>
            <a:ext cx="11639550" cy="209550"/>
          </a:xfrm>
          <a:prstGeom prst="rect">
            <a:avLst/>
          </a:prstGeom>
          <a:noFill/>
        </p:spPr>
        <p:txBody>
          <a:bodyPr wrap="square" lIns="0" rIns="19050" tIns="9525" bIns="9525">
            <a:spAutoFit/>
          </a:bodyPr>
          <a:lstStyle/>
          <a:p>
            <a:pPr algn="l"/>
            <a:r>
              <a:rPr sz="1300" b="1">
                <a:solidFill>
                  <a:srgbClr val="007BA5"/>
                </a:solidFill>
                <a:latin typeface="Segoe UI"/>
              </a:rPr>
              <a:t>Middle East &amp; Africa Volume &amp; Value Analysis</a:t>
            </a:r>
          </a:p>
        </p:txBody>
      </p:sp>
      <p:sp>
        <p:nvSpPr>
          <p:cNvPr id="21" name="Rectangle 20"/>
          <p:cNvSpPr/>
          <p:nvPr/>
        </p:nvSpPr>
        <p:spPr>
          <a:xfrm>
            <a:off x="276225" y="478155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867275"/>
            <a:ext cx="11639550" cy="16668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52423"/>
                </a:solidFill>
                <a:latin typeface="Segoe UI"/>
              </a:rPr>
              <a:t>Performance knitted fabrics market value in Middle East &amp; Africa is expected to increase 2.0X between 2025 and 2036. In 2025, the performance knitted fabrics market in Middle East &amp; Africa was valued at US$ 240.0 Mn and is estimated to account for US$ 255.2 Mn by the end of 2026, reflecting a Y-o-Y growth rate of 6.4%. The market in Middle East &amp; Africa is expected to account for US$ 488.3 Mn by 2036 at a CAGR of 6.7% over the forecast period.</a:t>
            </a:r>
          </a:p>
          <a:p>
            <a:pPr algn="l">
              <a:lnSpc>
                <a:spcPct val="110000"/>
              </a:lnSpc>
              <a:spcBef>
                <a:spcPts val="0"/>
              </a:spcBef>
              <a:spcAft>
                <a:spcPts val="500"/>
              </a:spcAft>
            </a:pPr>
            <a:r>
              <a:rPr sz="1100" b="0">
                <a:solidFill>
                  <a:srgbClr val="252423"/>
                </a:solidFill>
                <a:latin typeface="Segoe UI"/>
              </a:rPr>
              <a:t>Middle East &amp; Africa is expected to create an incremental opportunity of US$ 248.3 Mn for the overall performance knitted fabrics market from 2025 to 2036. Absolute $ value for 2026 is estimated to be US$ 15.3 Mn. Middle East &amp; Africa performance knitted fabrics market is projected to register 1.7X increase in volume by the end of forecast period, 2036.</a:t>
            </a:r>
          </a:p>
          <a:p>
            <a:pPr algn="l">
              <a:lnSpc>
                <a:spcPct val="110000"/>
              </a:lnSpc>
              <a:spcBef>
                <a:spcPts val="0"/>
              </a:spcBef>
              <a:spcAft>
                <a:spcPts val="500"/>
              </a:spcAft>
            </a:pPr>
            <a:r>
              <a:rPr sz="1100" b="0">
                <a:solidFill>
                  <a:srgbClr val="252423"/>
                </a:solidFill>
                <a:latin typeface="Segoe UI"/>
              </a:rPr>
              <a:t>Middle East &amp; Africa performance knitted fabrics market volume stood at 81.8 Mn Sq. Yards in 2025 and is expected to reach 141.7 Mn Sq. Yards by 2036 end, at a CAGR of 5.1%. Value is projected to grow faster than volume over the forecast period, owing to an increase in average selling price.</a:t>
            </a:r>
          </a:p>
        </p:txBody>
      </p:sp>
      <p:sp>
        <p:nvSpPr>
          <p:cNvPr id="23" name="TextBox 2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Middle East &amp; Africa Performance Knitted Fabrics Market Summary Country Indices (Value)</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outlook ranking 2036 market size, growth and absolute-growth indices to highlight the strongest markets</a:t>
            </a:r>
          </a:p>
        </p:txBody>
      </p:sp>
      <p:sp>
        <p:nvSpPr>
          <p:cNvPr id="8" name="Rectangle 7"/>
          <p:cNvSpPr/>
          <p:nvPr/>
        </p:nvSpPr>
        <p:spPr>
          <a:xfrm>
            <a:off x="142875" y="1007261"/>
            <a:ext cx="3933825" cy="244599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Top 10 Countries By CAGR Index</a:t>
            </a:r>
          </a:p>
        </p:txBody>
      </p:sp>
      <p:graphicFrame>
        <p:nvGraphicFramePr>
          <p:cNvPr id="10" name="Chart 9"/>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1" name="Rectangle 10"/>
          <p:cNvSpPr/>
          <p:nvPr/>
        </p:nvSpPr>
        <p:spPr>
          <a:xfrm>
            <a:off x="142875" y="3489764"/>
            <a:ext cx="3933825" cy="243686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3565964"/>
          <a:ext cx="3914775" cy="2132070"/>
        </p:xfrm>
        <a:graphic>
          <a:graphicData uri="http://schemas.openxmlformats.org/drawingml/2006/table">
            <a:tbl>
              <a:tblPr>
                <a:tableStyleId>{5C22544A-7EE6-4342-B048-85BDC9FD1C3A}</a:tableStyleId>
              </a:tblPr>
              <a:tblGrid>
                <a:gridCol w="1004028"/>
                <a:gridCol w="972832"/>
                <a:gridCol w="666471"/>
                <a:gridCol w="1271444"/>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CAGR Index</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 Opp (US$ Mn)</a:t>
                      </a:r>
                      <a:endParaRPr sz="1100"/>
                    </a:p>
                  </a:txBody>
                  <a:tcPr marL="47625" marR="38100" marT="19050" marB="19050" anchor="ctr">
                    <a:solidFill>
                      <a:srgbClr val="007BA5"/>
                    </a:solidFill>
                  </a:tcPr>
                </a:tc>
              </a:tr>
              <a:tr h="638935">
                <a:tc>
                  <a:txBody>
                    <a:bodyPr wrap="none"/>
                    <a:lstStyle/>
                    <a:p>
                      <a:pPr algn="l"/>
                      <a:r>
                        <a:rPr sz="1100" b="1">
                          <a:solidFill>
                            <a:srgbClr val="252423"/>
                          </a:solidFill>
                          <a:latin typeface="Segoe UI"/>
                        </a:rPr>
                        <a:t>KSA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60.9</a:t>
                      </a:r>
                      <a:endParaRPr sz="1100"/>
                    </a:p>
                  </a:txBody>
                  <a:tcPr marL="47625" marR="38100" marT="19050" marB="19050" anchor="ctr">
                    <a:solidFill>
                      <a:srgbClr val="FFFFFF"/>
                    </a:solidFill>
                  </a:tcPr>
                </a:tc>
              </a:tr>
              <a:tr h="638935">
                <a:tc>
                  <a:txBody>
                    <a:bodyPr wrap="none"/>
                    <a:lstStyle/>
                    <a:p>
                      <a:pPr algn="l"/>
                      <a:r>
                        <a:rPr sz="1100" b="1">
                          <a:solidFill>
                            <a:srgbClr val="252423"/>
                          </a:solidFill>
                          <a:latin typeface="Segoe UI"/>
                        </a:rPr>
                        <a:t>South Africa</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16.9</a:t>
                      </a:r>
                      <a:endParaRPr sz="1100"/>
                    </a:p>
                  </a:txBody>
                  <a:tcPr marL="47625" marR="38100" marT="19050" marB="19050" anchor="ctr">
                    <a:solidFill>
                      <a:srgbClr val="F2FAFD"/>
                    </a:solidFill>
                  </a:tcPr>
                </a:tc>
              </a:tr>
              <a:tr h="638935">
                <a:tc>
                  <a:txBody>
                    <a:bodyPr wrap="none"/>
                    <a:lstStyle/>
                    <a:p>
                      <a:pPr algn="l"/>
                      <a:r>
                        <a:rPr sz="1100" b="1">
                          <a:solidFill>
                            <a:srgbClr val="252423"/>
                          </a:solidFill>
                          <a:latin typeface="Segoe UI"/>
                        </a:rPr>
                        <a:t>Turkiye</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50.0</a:t>
                      </a:r>
                      <a:endParaRPr sz="1100"/>
                    </a:p>
                  </a:txBody>
                  <a:tcPr marL="47625" marR="38100" marT="19050" marB="19050" anchor="ctr">
                    <a:solidFill>
                      <a:srgbClr val="FFFFFF"/>
                    </a:solidFill>
                  </a:tcPr>
                </a:tc>
              </a:tr>
            </a:tbl>
          </a:graphicData>
        </a:graphic>
      </p:graphicFrame>
      <p:sp>
        <p:nvSpPr>
          <p:cNvPr id="13" name="TextBox 12"/>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4" name="Rectangle 13"/>
          <p:cNvSpPr/>
          <p:nvPr/>
        </p:nvSpPr>
        <p:spPr>
          <a:xfrm>
            <a:off x="4114800" y="1007261"/>
            <a:ext cx="3933825" cy="4928498"/>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2036 Market By Country (US$ Mn)  ·  Top 10</a:t>
            </a:r>
          </a:p>
        </p:txBody>
      </p:sp>
      <p:sp>
        <p:nvSpPr>
          <p:cNvPr id="16" name="Rectangle 15"/>
          <p:cNvSpPr/>
          <p:nvPr/>
        </p:nvSpPr>
        <p:spPr>
          <a:xfrm>
            <a:off x="4210050" y="1293011"/>
            <a:ext cx="3743325" cy="1987746"/>
          </a:xfrm>
          <a:prstGeom prst="rect">
            <a:avLst/>
          </a:prstGeom>
          <a:solidFill>
            <a:srgbClr val="00A4D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KSA</a:t>
            </a:r>
          </a:p>
          <a:p>
            <a:pPr algn="ctr"/>
            <a:r>
              <a:rPr sz="1100" b="0">
                <a:solidFill>
                  <a:srgbClr val="FFFFFF"/>
                </a:solidFill>
                <a:latin typeface="Segoe UI"/>
              </a:rPr>
              <a:t>120</a:t>
            </a:r>
          </a:p>
        </p:txBody>
      </p:sp>
      <p:sp>
        <p:nvSpPr>
          <p:cNvPr id="17" name="Rectangle 16"/>
          <p:cNvSpPr/>
          <p:nvPr/>
        </p:nvSpPr>
        <p:spPr>
          <a:xfrm>
            <a:off x="4210050" y="3280757"/>
            <a:ext cx="2810071" cy="2597853"/>
          </a:xfrm>
          <a:prstGeom prst="rect">
            <a:avLst/>
          </a:prstGeom>
          <a:solidFill>
            <a:srgbClr val="6ECFF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Turkiye</a:t>
            </a:r>
          </a:p>
          <a:p>
            <a:pPr algn="ctr"/>
            <a:r>
              <a:rPr sz="1100" b="0">
                <a:solidFill>
                  <a:srgbClr val="252423"/>
                </a:solidFill>
                <a:latin typeface="Segoe UI"/>
              </a:rPr>
              <a:t>118</a:t>
            </a:r>
          </a:p>
        </p:txBody>
      </p:sp>
      <p:sp>
        <p:nvSpPr>
          <p:cNvPr id="18" name="Rectangle 17"/>
          <p:cNvSpPr/>
          <p:nvPr/>
        </p:nvSpPr>
        <p:spPr>
          <a:xfrm>
            <a:off x="7020121" y="3280757"/>
            <a:ext cx="933254" cy="2597853"/>
          </a:xfrm>
          <a:prstGeom prst="rect">
            <a:avLst/>
          </a:prstGeom>
          <a:solidFill>
            <a:srgbClr val="D6CA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South Africa</a:t>
            </a:r>
          </a:p>
          <a:p>
            <a:pPr algn="ctr"/>
            <a:r>
              <a:rPr sz="1100" b="0">
                <a:solidFill>
                  <a:srgbClr val="252423"/>
                </a:solidFill>
                <a:latin typeface="Segoe UI"/>
              </a:rPr>
              <a:t>39.2</a:t>
            </a:r>
          </a:p>
        </p:txBody>
      </p:sp>
      <p:sp>
        <p:nvSpPr>
          <p:cNvPr id="19" name="Rectangle 18"/>
          <p:cNvSpPr/>
          <p:nvPr/>
        </p:nvSpPr>
        <p:spPr>
          <a:xfrm>
            <a:off x="8086725" y="1007261"/>
            <a:ext cx="3933825" cy="243686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Top 10 Countries By Absolute Index</a:t>
            </a:r>
          </a:p>
        </p:txBody>
      </p:sp>
      <p:graphicFrame>
        <p:nvGraphicFramePr>
          <p:cNvPr id="21" name="Chart 20"/>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2" name="Rectangle 21"/>
          <p:cNvSpPr/>
          <p:nvPr/>
        </p:nvSpPr>
        <p:spPr>
          <a:xfrm>
            <a:off x="8086725" y="3471510"/>
            <a:ext cx="3933825" cy="2464249"/>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3" name="Table 22"/>
          <p:cNvGraphicFramePr>
            <a:graphicFrameLocks noGrp="1"/>
          </p:cNvGraphicFramePr>
          <p:nvPr/>
        </p:nvGraphicFramePr>
        <p:xfrm>
          <a:off x="8096250" y="3547710"/>
          <a:ext cx="3914776" cy="2159448"/>
        </p:xfrm>
        <a:graphic>
          <a:graphicData uri="http://schemas.openxmlformats.org/drawingml/2006/table">
            <a:tbl>
              <a:tblPr>
                <a:tableStyleId>{5C22544A-7EE6-4342-B048-85BDC9FD1C3A}</a:tableStyleId>
              </a:tblPr>
              <a:tblGrid>
                <a:gridCol w="948500"/>
                <a:gridCol w="1136777"/>
                <a:gridCol w="629428"/>
                <a:gridCol w="1200071"/>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square"/>
                    <a:lstStyle/>
                    <a:p>
                      <a:pPr algn="l">
                        <a:lnSpc>
                          <a:spcPct val="90000"/>
                        </a:lnSpc>
                      </a:pPr>
                      <a:r>
                        <a:rPr sz="1100" b="1">
                          <a:solidFill>
                            <a:srgbClr val="FFFFFF"/>
                          </a:solidFill>
                          <a:latin typeface="Segoe UI"/>
                        </a:rPr>
                        <a:t>Absolute Index</a:t>
                      </a:r>
                      <a:endParaRPr sz="1100"/>
                    </a:p>
                  </a:txBody>
                  <a:tcPr marL="47625" marR="38100" marT="19050" marB="19050" anchor="ctr">
                    <a:solidFill>
                      <a:srgbClr val="007BA5"/>
                    </a:solidFill>
                  </a:tcPr>
                </a:tc>
                <a:tc>
                  <a:txBody>
                    <a:bodyPr wrap="square"/>
                    <a:lstStyle/>
                    <a:p>
                      <a:pPr algn="l">
                        <a:lnSpc>
                          <a:spcPct val="90000"/>
                        </a:lnSpc>
                      </a:pPr>
                      <a:r>
                        <a:rPr sz="1100" b="1">
                          <a:solidFill>
                            <a:srgbClr val="FFFFFF"/>
                          </a:solidFill>
                          <a:latin typeface="Segoe UI"/>
                        </a:rPr>
                        <a:t>F-CAGR</a:t>
                      </a:r>
                      <a:endParaRPr sz="1100"/>
                    </a:p>
                  </a:txBody>
                  <a:tcPr marL="47625" marR="38100" marT="19050" marB="19050" anchor="ctr">
                    <a:solidFill>
                      <a:srgbClr val="007BA5"/>
                    </a:solidFill>
                  </a:tcPr>
                </a:tc>
                <a:tc>
                  <a:txBody>
                    <a:bodyPr wrap="square"/>
                    <a:lstStyle/>
                    <a:p>
                      <a:pPr algn="l">
                        <a:lnSpc>
                          <a:spcPct val="90000"/>
                        </a:lnSpc>
                      </a:pPr>
                      <a:r>
                        <a:rPr sz="1100" b="1">
                          <a:solidFill>
                            <a:srgbClr val="FFFFFF"/>
                          </a:solidFill>
                          <a:latin typeface="Segoe UI"/>
                        </a:rPr>
                        <a:t>$ Opp (US$ Mn)</a:t>
                      </a:r>
                      <a:endParaRPr sz="1100"/>
                    </a:p>
                  </a:txBody>
                  <a:tcPr marL="47625" marR="38100" marT="19050" marB="19050" anchor="ctr">
                    <a:solidFill>
                      <a:srgbClr val="007BA5"/>
                    </a:solidFill>
                  </a:tcPr>
                </a:tc>
              </a:tr>
              <a:tr h="648061">
                <a:tc>
                  <a:txBody>
                    <a:bodyPr wrap="none"/>
                    <a:lstStyle/>
                    <a:p>
                      <a:pPr algn="l"/>
                      <a:r>
                        <a:rPr sz="1100" b="1">
                          <a:solidFill>
                            <a:srgbClr val="252423"/>
                          </a:solidFill>
                          <a:latin typeface="Segoe UI"/>
                        </a:rPr>
                        <a:t>KSA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60.9</a:t>
                      </a:r>
                      <a:endParaRPr sz="1100"/>
                    </a:p>
                  </a:txBody>
                  <a:tcPr marL="47625" marR="38100" marT="19050" marB="19050" anchor="ctr">
                    <a:solidFill>
                      <a:srgbClr val="FFFFFF"/>
                    </a:solidFill>
                  </a:tcPr>
                </a:tc>
              </a:tr>
              <a:tr h="648061">
                <a:tc>
                  <a:txBody>
                    <a:bodyPr wrap="none"/>
                    <a:lstStyle/>
                    <a:p>
                      <a:pPr algn="l"/>
                      <a:r>
                        <a:rPr sz="1100" b="1">
                          <a:solidFill>
                            <a:srgbClr val="252423"/>
                          </a:solidFill>
                          <a:latin typeface="Segoe UI"/>
                        </a:rPr>
                        <a:t>Turkiye</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50.0</a:t>
                      </a:r>
                      <a:endParaRPr sz="1100"/>
                    </a:p>
                  </a:txBody>
                  <a:tcPr marL="47625" marR="38100" marT="19050" marB="19050" anchor="ctr">
                    <a:solidFill>
                      <a:srgbClr val="F2FAFD"/>
                    </a:solidFill>
                  </a:tcPr>
                </a:tc>
              </a:tr>
              <a:tr h="648061">
                <a:tc>
                  <a:txBody>
                    <a:bodyPr wrap="none"/>
                    <a:lstStyle/>
                    <a:p>
                      <a:pPr algn="l"/>
                      <a:r>
                        <a:rPr sz="1100" b="1">
                          <a:solidFill>
                            <a:srgbClr val="252423"/>
                          </a:solidFill>
                          <a:latin typeface="Segoe UI"/>
                        </a:rPr>
                        <a:t>South Africa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16.9</a:t>
                      </a:r>
                      <a:endParaRPr sz="1100"/>
                    </a:p>
                  </a:txBody>
                  <a:tcPr marL="47625" marR="38100" marT="19050" marB="19050" anchor="ctr">
                    <a:solidFill>
                      <a:srgbClr val="FFFFFF"/>
                    </a:solidFill>
                  </a:tcPr>
                </a:tc>
              </a:tr>
            </a:tbl>
          </a:graphicData>
        </a:graphic>
      </p:graphicFrame>
      <p:sp>
        <p:nvSpPr>
          <p:cNvPr id="24" name="TextBox 23"/>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25" name="Rectangle 24"/>
          <p:cNvSpPr/>
          <p:nvPr/>
        </p:nvSpPr>
        <p:spPr>
          <a:xfrm>
            <a:off x="142875" y="6027028"/>
            <a:ext cx="10858500" cy="602372"/>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KSA performance knitted fabrics market is projected to register 1.0X higher value than Turkiye in 2036. KSA posts the highest CAGR Index (109), growing at 7.3% against the Middle East &amp; Africa benchmark, while KSA offers the largest absolute opportunity 60.9 US$ Mn of incremental market between 2026 and 2036 (26% of the Middle East &amp; Africa increment).</a:t>
            </a:r>
          </a:p>
        </p:txBody>
      </p:sp>
      <p:sp>
        <p:nvSpPr>
          <p:cNvPr id="26" name="TextBox 2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Supply Side Trends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recent developments, investments and R&amp;D activity shaping the supply side of the market</a:t>
            </a:r>
          </a:p>
        </p:txBody>
      </p:sp>
      <p:sp>
        <p:nvSpPr>
          <p:cNvPr id="8" name="Rectangle 7"/>
          <p:cNvSpPr/>
          <p:nvPr/>
        </p:nvSpPr>
        <p:spPr>
          <a:xfrm>
            <a:off x="142875" y="981075"/>
            <a:ext cx="58769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Recent Developments &amp; Key Industry Activities</a:t>
            </a:r>
          </a:p>
        </p:txBody>
      </p:sp>
      <p:sp>
        <p:nvSpPr>
          <p:cNvPr id="10" name="Rectangle 9"/>
          <p:cNvSpPr/>
          <p:nvPr/>
        </p:nvSpPr>
        <p:spPr>
          <a:xfrm>
            <a:off x="276225"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Capacity and product development are concentrating in 'Warp Knitted Fabrics' and Other GCC.</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Portfolio expansion tracks the shift toward higher-growth fabric construction categories.</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Commercial focus is intensifying across Other GCC and Other GCC.</a:t>
            </a:r>
          </a:p>
        </p:txBody>
      </p:sp>
      <p:sp>
        <p:nvSpPr>
          <p:cNvPr id="12" name="Rectangle 11"/>
          <p:cNvSpPr/>
          <p:nvPr/>
        </p:nvSpPr>
        <p:spPr>
          <a:xfrm>
            <a:off x="6172200" y="981075"/>
            <a:ext cx="58769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Key Insights</a:t>
            </a:r>
          </a:p>
        </p:txBody>
      </p:sp>
      <p:sp>
        <p:nvSpPr>
          <p:cNvPr id="14" name="Rectangle 13"/>
          <p:cNvSpPr/>
          <p:nvPr/>
        </p:nvSpPr>
        <p:spPr>
          <a:xfrm>
            <a:off x="6305550"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2026 size 255.2 US$ Mn; 2036 488.3 US$ Mn.</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Forecast CAGR 6.7% (2026–2036).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Lead category 'Weft Knitted Fabrics' 76.4% of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Lead country Other GCC 29.7%.</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Incremental opportunity 233.0 US$ Mn.</a:t>
            </a:r>
          </a:p>
        </p:txBody>
      </p:sp>
      <p:sp>
        <p:nvSpPr>
          <p:cNvPr id="16" name="Rectangle 15"/>
          <p:cNvSpPr/>
          <p:nvPr/>
        </p:nvSpPr>
        <p:spPr>
          <a:xfrm>
            <a:off x="142875" y="2895600"/>
            <a:ext cx="5876925" cy="1285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5610225" cy="209550"/>
          </a:xfrm>
          <a:prstGeom prst="rect">
            <a:avLst/>
          </a:prstGeom>
          <a:noFill/>
        </p:spPr>
        <p:txBody>
          <a:bodyPr wrap="square" lIns="0" rIns="19050" tIns="9525" bIns="9525">
            <a:spAutoFit/>
          </a:bodyPr>
          <a:lstStyle/>
          <a:p>
            <a:pPr algn="l"/>
            <a:r>
              <a:rPr sz="1300" b="1">
                <a:solidFill>
                  <a:srgbClr val="007BA5"/>
                </a:solidFill>
                <a:latin typeface="Segoe UI"/>
              </a:rPr>
              <a:t>Strategic Acquisitions &amp; New Investments</a:t>
            </a:r>
          </a:p>
        </p:txBody>
      </p:sp>
      <p:sp>
        <p:nvSpPr>
          <p:cNvPr id="18" name="Rectangle 17"/>
          <p:cNvSpPr/>
          <p:nvPr/>
        </p:nvSpPr>
        <p:spPr>
          <a:xfrm>
            <a:off x="276225" y="32194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Investment is flowing toward the fastest-growing tier 'Warp Knitted Fabrics' (7.6%).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Other GCC (7.4%) is a priority country for new capacity.</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Scale players anchor around 'Weft Knitted Fabrics' (76.4% share).</a:t>
            </a:r>
          </a:p>
        </p:txBody>
      </p:sp>
      <p:sp>
        <p:nvSpPr>
          <p:cNvPr id="20" name="Rectangle 19"/>
          <p:cNvSpPr/>
          <p:nvPr/>
        </p:nvSpPr>
        <p:spPr>
          <a:xfrm>
            <a:off x="6172200" y="2895600"/>
            <a:ext cx="5876925" cy="12858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2981325"/>
            <a:ext cx="5610225" cy="209550"/>
          </a:xfrm>
          <a:prstGeom prst="rect">
            <a:avLst/>
          </a:prstGeom>
          <a:noFill/>
        </p:spPr>
        <p:txBody>
          <a:bodyPr wrap="square" lIns="0" rIns="19050" tIns="9525" bIns="9525">
            <a:spAutoFit/>
          </a:bodyPr>
          <a:lstStyle/>
          <a:p>
            <a:pPr algn="l"/>
            <a:r>
              <a:rPr sz="1300" b="1">
                <a:solidFill>
                  <a:srgbClr val="007BA5"/>
                </a:solidFill>
                <a:latin typeface="Segoe UI"/>
              </a:rPr>
              <a:t>Substantial Investment in R&amp;D</a:t>
            </a:r>
          </a:p>
        </p:txBody>
      </p:sp>
      <p:sp>
        <p:nvSpPr>
          <p:cNvPr id="22" name="Rectangle 21"/>
          <p:cNvSpPr/>
          <p:nvPr/>
        </p:nvSpPr>
        <p:spPr>
          <a:xfrm>
            <a:off x="6305550" y="32194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305175"/>
            <a:ext cx="5610225" cy="8001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R&amp;D aligns with the migration to 'Warp Knitted Fabrics' and adjacent premium tiers.</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Development spend targets fabric construction categories gaining share to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Innovation underpins the 6.7% forecast CAGR.</a:t>
            </a:r>
          </a:p>
        </p:txBody>
      </p:sp>
      <p:sp>
        <p:nvSpPr>
          <p:cNvPr id="24" name="Rectangle 23"/>
          <p:cNvSpPr/>
          <p:nvPr/>
        </p:nvSpPr>
        <p:spPr>
          <a:xfrm>
            <a:off x="142875" y="4314825"/>
            <a:ext cx="11906250" cy="22955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8125" y="437197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structure fabric construction share (2036)</a:t>
            </a:r>
          </a:p>
        </p:txBody>
      </p:sp>
      <p:graphicFrame>
        <p:nvGraphicFramePr>
          <p:cNvPr id="26" name="Chart 25"/>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r:id="rId3"/>
          </a:graphicData>
        </a:graphic>
      </p:graphicFrame>
      <p:sp>
        <p:nvSpPr>
          <p:cNvPr id="27" name="TextBox 26"/>
          <p:cNvSpPr txBox="1"/>
          <p:nvPr/>
        </p:nvSpPr>
        <p:spPr>
          <a:xfrm>
            <a:off x="3871570" y="5462588"/>
            <a:ext cx="934136" cy="228600"/>
          </a:xfrm>
          <a:prstGeom prst="rect">
            <a:avLst/>
          </a:prstGeom>
          <a:noFill/>
        </p:spPr>
        <p:txBody>
          <a:bodyPr wrap="square" lIns="28575" rIns="28575" tIns="9525" bIns="9525" anchor="ctr">
            <a:spAutoFit/>
          </a:bodyPr>
          <a:lstStyle/>
          <a:p>
            <a:pPr algn="ctr"/>
            <a:r>
              <a:rPr sz="1300" b="1">
                <a:solidFill>
                  <a:srgbClr val="252423"/>
                </a:solidFill>
                <a:latin typeface="Segoe UI"/>
              </a:rPr>
              <a:t>2036</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Analysis and Recommendation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Executive summary of the market approach, differentiating strategy and FMI's analysis and recommendation</a:t>
            </a:r>
          </a:p>
        </p:txBody>
      </p:sp>
      <p:sp>
        <p:nvSpPr>
          <p:cNvPr id="8" name="Rectangle 7"/>
          <p:cNvSpPr/>
          <p:nvPr/>
        </p:nvSpPr>
        <p:spPr>
          <a:xfrm>
            <a:off x="142875" y="981075"/>
            <a:ext cx="58769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Overall Market Approach</a:t>
            </a:r>
          </a:p>
        </p:txBody>
      </p:sp>
      <p:sp>
        <p:nvSpPr>
          <p:cNvPr id="10" name="Rectangle 9"/>
          <p:cNvSpPr/>
          <p:nvPr/>
        </p:nvSpPr>
        <p:spPr>
          <a:xfrm>
            <a:off x="276225"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Balance scale in 'Weft Knitted Fabrics' with targeted growth in 'Warp Knitted Fabrics', pursuing the 6.7% CAGR trajectory to 2036.</a:t>
            </a:r>
          </a:p>
        </p:txBody>
      </p:sp>
      <p:sp>
        <p:nvSpPr>
          <p:cNvPr id="12" name="Rectangle 11"/>
          <p:cNvSpPr/>
          <p:nvPr/>
        </p:nvSpPr>
        <p:spPr>
          <a:xfrm>
            <a:off x="6172200" y="981075"/>
            <a:ext cx="58769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07BA5"/>
                </a:solidFill>
                <a:latin typeface="Segoe UI"/>
              </a:rPr>
              <a:t>Differentiating Strategy</a:t>
            </a:r>
          </a:p>
        </p:txBody>
      </p:sp>
      <p:sp>
        <p:nvSpPr>
          <p:cNvPr id="14" name="Rectangle 13"/>
          <p:cNvSpPr/>
          <p:nvPr/>
        </p:nvSpPr>
        <p:spPr>
          <a:xfrm>
            <a:off x="6305550" y="1304925"/>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390650"/>
            <a:ext cx="5610225" cy="1257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Differentiate through the high-growth 'Warp Knitted Fabrics' tier and Industrial &amp; Technical Applications within end-use application.</a:t>
            </a:r>
          </a:p>
        </p:txBody>
      </p:sp>
      <p:sp>
        <p:nvSpPr>
          <p:cNvPr id="16" name="Rectangle 15"/>
          <p:cNvSpPr/>
          <p:nvPr/>
        </p:nvSpPr>
        <p:spPr>
          <a:xfrm>
            <a:off x="142875" y="2857500"/>
            <a:ext cx="5876925" cy="1562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43225"/>
            <a:ext cx="5610225" cy="209550"/>
          </a:xfrm>
          <a:prstGeom prst="rect">
            <a:avLst/>
          </a:prstGeom>
          <a:noFill/>
        </p:spPr>
        <p:txBody>
          <a:bodyPr wrap="square" lIns="0" rIns="19050" tIns="9525" bIns="9525">
            <a:spAutoFit/>
          </a:bodyPr>
          <a:lstStyle/>
          <a:p>
            <a:pPr algn="l"/>
            <a:r>
              <a:rPr sz="1300" b="1">
                <a:solidFill>
                  <a:srgbClr val="007BA5"/>
                </a:solidFill>
                <a:latin typeface="Segoe UI"/>
              </a:rPr>
              <a:t>Market Segment</a:t>
            </a:r>
          </a:p>
        </p:txBody>
      </p:sp>
      <p:sp>
        <p:nvSpPr>
          <p:cNvPr id="18" name="Rectangle 17"/>
          <p:cNvSpPr/>
          <p:nvPr/>
        </p:nvSpPr>
        <p:spPr>
          <a:xfrm>
            <a:off x="276225" y="31813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Prioritise 'Warp Knitted Fabrics' (7.6%); 'Weft Knitted Fabrics' anchors 76.4% of value.</a:t>
            </a:r>
          </a:p>
        </p:txBody>
      </p:sp>
      <p:sp>
        <p:nvSpPr>
          <p:cNvPr id="20" name="Rectangle 19"/>
          <p:cNvSpPr/>
          <p:nvPr/>
        </p:nvSpPr>
        <p:spPr>
          <a:xfrm>
            <a:off x="6172200" y="2857500"/>
            <a:ext cx="5876925" cy="15621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5550" y="2943225"/>
            <a:ext cx="5610225" cy="209550"/>
          </a:xfrm>
          <a:prstGeom prst="rect">
            <a:avLst/>
          </a:prstGeom>
          <a:noFill/>
        </p:spPr>
        <p:txBody>
          <a:bodyPr wrap="square" lIns="0" rIns="19050" tIns="9525" bIns="9525">
            <a:spAutoFit/>
          </a:bodyPr>
          <a:lstStyle/>
          <a:p>
            <a:pPr algn="l"/>
            <a:r>
              <a:rPr sz="1300" b="1">
                <a:solidFill>
                  <a:srgbClr val="007BA5"/>
                </a:solidFill>
                <a:latin typeface="Segoe UI"/>
              </a:rPr>
              <a:t>Market Country</a:t>
            </a:r>
          </a:p>
        </p:txBody>
      </p:sp>
      <p:sp>
        <p:nvSpPr>
          <p:cNvPr id="22" name="Rectangle 21"/>
          <p:cNvSpPr/>
          <p:nvPr/>
        </p:nvSpPr>
        <p:spPr>
          <a:xfrm>
            <a:off x="6305550" y="3181350"/>
            <a:ext cx="5610225"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3267075"/>
            <a:ext cx="5610225" cy="10763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Lead with Other GCC (29.7%); capture upside in Other GCC (7.4%).</a:t>
            </a:r>
          </a:p>
        </p:txBody>
      </p:sp>
      <p:sp>
        <p:nvSpPr>
          <p:cNvPr id="24" name="Rectangle 23"/>
          <p:cNvSpPr/>
          <p:nvPr/>
        </p:nvSpPr>
        <p:spPr>
          <a:xfrm>
            <a:off x="142875" y="4552950"/>
            <a:ext cx="11906250" cy="20574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07BA5"/>
                </a:solidFill>
                <a:latin typeface="Segoe UI"/>
              </a:rPr>
              <a:t>Fact.MR Analysis &amp; Recommendation</a:t>
            </a:r>
          </a:p>
        </p:txBody>
      </p:sp>
      <p:sp>
        <p:nvSpPr>
          <p:cNvPr id="26" name="Rectangle 25"/>
          <p:cNvSpPr/>
          <p:nvPr/>
        </p:nvSpPr>
        <p:spPr>
          <a:xfrm>
            <a:off x="276225" y="4876800"/>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Performance Knitted Fabrics adds 233.0 US$ Mn of demand to 2036 a 1.9× expansion.</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Concentrate resources on the leading segment/country while seeding the fastest-growing pockets early.</a:t>
            </a:r>
          </a:p>
          <a:p>
            <a:pPr algn="l">
              <a:lnSpc>
                <a:spcPct val="110000"/>
              </a:lnSpc>
              <a:spcBef>
                <a:spcPts val="0"/>
              </a:spcBef>
              <a:spcAft>
                <a:spcPts val="500"/>
              </a:spcAft>
            </a:pPr>
            <a:r>
              <a:rPr sz="1100" b="0">
                <a:solidFill>
                  <a:srgbClr val="00A4DC"/>
                </a:solidFill>
                <a:latin typeface="Segoe UI"/>
              </a:rPr>
              <a:t>▪  </a:t>
            </a:r>
            <a:r>
              <a:rPr sz="1150" b="0">
                <a:solidFill>
                  <a:srgbClr val="252423"/>
                </a:solidFill>
                <a:latin typeface="Segoe UI"/>
              </a:rPr>
              <a:t>Defend share in 'Weft Knitted Fabrics' as the value anchor of the portfolio.</a:t>
            </a:r>
          </a:p>
        </p:txBody>
      </p:sp>
      <p:sp>
        <p:nvSpPr>
          <p:cNvPr id="28" name="TextBox 2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Middle East &amp; Africa Performance Knitted Fabrics – Country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Regional analysis of size, growth and share across 5 countries, highlighting where value concentrates,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Middle East &amp; Africa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By Country view breaks the Middle East &amp; Africa market down geographically. Each country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Country</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190881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190881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GCC</a:t>
            </a:r>
          </a:p>
        </p:txBody>
      </p:sp>
      <p:sp>
        <p:nvSpPr>
          <p:cNvPr id="21" name="Rectangle 20"/>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70.7</a:t>
            </a:r>
          </a:p>
        </p:txBody>
      </p:sp>
      <p:sp>
        <p:nvSpPr>
          <p:cNvPr id="22" name="Rectangle 21"/>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144.9</a:t>
            </a:r>
          </a:p>
        </p:txBody>
      </p:sp>
      <p:sp>
        <p:nvSpPr>
          <p:cNvPr id="23" name="Rectangle 22"/>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7.4%</a:t>
            </a:r>
          </a:p>
        </p:txBody>
      </p:sp>
      <p:sp>
        <p:nvSpPr>
          <p:cNvPr id="24" name="Oval 23"/>
          <p:cNvSpPr/>
          <p:nvPr/>
        </p:nvSpPr>
        <p:spPr>
          <a:xfrm>
            <a:off x="265938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3890010" y="1773916"/>
            <a:ext cx="190881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890010" y="1992961"/>
            <a:ext cx="190881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Turkiye</a:t>
            </a:r>
          </a:p>
        </p:txBody>
      </p:sp>
      <p:sp>
        <p:nvSpPr>
          <p:cNvPr id="28" name="Rectangle 27"/>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68.0</a:t>
            </a:r>
          </a:p>
        </p:txBody>
      </p:sp>
      <p:sp>
        <p:nvSpPr>
          <p:cNvPr id="29" name="Rectangle 28"/>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118.0</a:t>
            </a:r>
          </a:p>
        </p:txBody>
      </p:sp>
      <p:sp>
        <p:nvSpPr>
          <p:cNvPr id="30" name="Rectangle 29"/>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5.7%</a:t>
            </a:r>
          </a:p>
        </p:txBody>
      </p:sp>
      <p:sp>
        <p:nvSpPr>
          <p:cNvPr id="31" name="Oval 30"/>
          <p:cNvSpPr/>
          <p:nvPr/>
        </p:nvSpPr>
        <p:spPr>
          <a:xfrm>
            <a:off x="468249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5913120" y="1773916"/>
            <a:ext cx="190881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913120" y="1992961"/>
            <a:ext cx="190881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KSA</a:t>
            </a:r>
          </a:p>
        </p:txBody>
      </p:sp>
      <p:sp>
        <p:nvSpPr>
          <p:cNvPr id="35" name="Rectangle 34"/>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59.4</a:t>
            </a:r>
          </a:p>
        </p:txBody>
      </p:sp>
      <p:sp>
        <p:nvSpPr>
          <p:cNvPr id="36" name="Rectangle 35"/>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120.3</a:t>
            </a:r>
          </a:p>
        </p:txBody>
      </p:sp>
      <p:sp>
        <p:nvSpPr>
          <p:cNvPr id="37" name="Rectangle 36"/>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7.3%</a:t>
            </a:r>
          </a:p>
        </p:txBody>
      </p:sp>
      <p:sp>
        <p:nvSpPr>
          <p:cNvPr id="38" name="Oval 37"/>
          <p:cNvSpPr/>
          <p:nvPr/>
        </p:nvSpPr>
        <p:spPr>
          <a:xfrm>
            <a:off x="670560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7936230" y="1773916"/>
            <a:ext cx="1908810"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36230" y="1992961"/>
            <a:ext cx="1908810"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African Union</a:t>
            </a:r>
          </a:p>
        </p:txBody>
      </p:sp>
      <p:sp>
        <p:nvSpPr>
          <p:cNvPr id="42" name="Rectangle 41"/>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34.7</a:t>
            </a:r>
          </a:p>
        </p:txBody>
      </p:sp>
      <p:sp>
        <p:nvSpPr>
          <p:cNvPr id="43" name="Rectangle 42"/>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65.9</a:t>
            </a:r>
          </a:p>
        </p:txBody>
      </p:sp>
      <p:sp>
        <p:nvSpPr>
          <p:cNvPr id="44" name="Rectangle 43"/>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6.6%</a:t>
            </a:r>
          </a:p>
        </p:txBody>
      </p:sp>
      <p:sp>
        <p:nvSpPr>
          <p:cNvPr id="45" name="Oval 44"/>
          <p:cNvSpPr/>
          <p:nvPr/>
        </p:nvSpPr>
        <p:spPr>
          <a:xfrm>
            <a:off x="8728710"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9959340" y="1773916"/>
            <a:ext cx="1908810"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959340" y="1992961"/>
            <a:ext cx="1908810"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South Africa</a:t>
            </a:r>
          </a:p>
        </p:txBody>
      </p:sp>
      <p:sp>
        <p:nvSpPr>
          <p:cNvPr id="49" name="Rectangle 48"/>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22.3</a:t>
            </a:r>
          </a:p>
        </p:txBody>
      </p:sp>
      <p:sp>
        <p:nvSpPr>
          <p:cNvPr id="50" name="Rectangle 49"/>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39.2</a:t>
            </a:r>
          </a:p>
        </p:txBody>
      </p:sp>
      <p:sp>
        <p:nvSpPr>
          <p:cNvPr id="51" name="Rectangle 50"/>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5.8%</a:t>
            </a:r>
          </a:p>
        </p:txBody>
      </p:sp>
      <p:sp>
        <p:nvSpPr>
          <p:cNvPr id="52" name="Oval 51"/>
          <p:cNvSpPr/>
          <p:nvPr/>
        </p:nvSpPr>
        <p:spPr>
          <a:xfrm>
            <a:off x="10751820"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53" name="Rounded Rectangle 5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55" name="Rectangle 54"/>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KSA performance knitted fabrics market is projected to register 1.0X higher value than Turkiye in 2036. Among performance knitted fabrics by country, KSA is expected to witness the highest CAGR of 7.3% over the forecast period.</a:t>
            </a:r>
          </a:p>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In terms of value share by country, KSA is expected to dominate the market, gaining 367 BPS and accounting for 43.3% share by 2036. Turkiye is expected to lose 288 BPS over the forecast period to account for 42.5% share by 2036.</a:t>
            </a:r>
          </a:p>
        </p:txBody>
      </p:sp>
      <p:sp>
        <p:nvSpPr>
          <p:cNvPr id="57" name="Rounded Rectangle 5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9" name="Rectangle 58"/>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Other GCC: </a:t>
            </a:r>
            <a:r>
              <a:rPr sz="1100" b="0">
                <a:solidFill>
                  <a:srgbClr val="252423"/>
                </a:solidFill>
                <a:latin typeface="Segoe UI"/>
              </a:rPr>
              <a:t>28% of 2026 value · 7.4% CAGR leads the market.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Turkiye: </a:t>
            </a:r>
            <a:r>
              <a:rPr sz="1100" b="0">
                <a:solidFill>
                  <a:srgbClr val="252423"/>
                </a:solidFill>
                <a:latin typeface="Segoe UI"/>
              </a:rPr>
              <a:t>27% of 2026 value · 5.7% CAGR a smaller market.</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KSA: </a:t>
            </a:r>
            <a:r>
              <a:rPr sz="1100" b="0">
                <a:solidFill>
                  <a:srgbClr val="252423"/>
                </a:solidFill>
                <a:latin typeface="Segoe UI"/>
              </a:rPr>
              <a:t>23% of 2026 value · 7.3% CAGR a smaller market.</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Other African Union: </a:t>
            </a:r>
            <a:r>
              <a:rPr sz="1100" b="0">
                <a:solidFill>
                  <a:srgbClr val="252423"/>
                </a:solidFill>
                <a:latin typeface="Segoe UI"/>
              </a:rPr>
              <a:t>14% of 2026 value · 6.6% CAGR a smaller market.</a:t>
            </a:r>
          </a:p>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South Africa: </a:t>
            </a:r>
            <a:r>
              <a:rPr sz="1100" b="0">
                <a:solidFill>
                  <a:srgbClr val="252423"/>
                </a:solidFill>
                <a:latin typeface="Segoe UI"/>
              </a:rPr>
              <a:t>9% of 2026 value · 5.8% CAGR a smaller market.</a:t>
            </a:r>
          </a:p>
        </p:txBody>
      </p:sp>
      <p:sp>
        <p:nvSpPr>
          <p:cNvPr id="61" name="Rounded Rectangle 6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63" name="Rectangle 62"/>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By Country split shows where market value concentrates and where growth is fastest.</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demand and access dynamics are rebalancing the geographic mix through 2036.</a:t>
            </a:r>
          </a:p>
        </p:txBody>
      </p:sp>
      <p:sp>
        <p:nvSpPr>
          <p:cNvPr id="65" name="Rectangle 6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Middle East &amp; Africa market is projected to grow at a CAGR of 6.7% from 2026 to 2036.</a:t>
            </a:r>
          </a:p>
        </p:txBody>
      </p:sp>
      <p:sp>
        <p:nvSpPr>
          <p:cNvPr id="67" name="TextBox 66"/>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8" name="TextBox 6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Middle East &amp; Africa Performance Knitted Fabrics Market Analysis, By Country Volume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volume share by country in 2026 and 2036, highlighting share gains and losses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Middle East &amp; Africa</a:t>
            </a:r>
          </a:p>
        </p:txBody>
      </p:sp>
      <p:sp>
        <p:nvSpPr>
          <p:cNvPr id="9" name="Rectangle 8"/>
          <p:cNvSpPr/>
          <p:nvPr/>
        </p:nvSpPr>
        <p:spPr>
          <a:xfrm>
            <a:off x="142875" y="981075"/>
            <a:ext cx="6810375"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Share and BPS Assessment By Country, 2026 &amp; 2036</a:t>
            </a:r>
          </a:p>
        </p:txBody>
      </p:sp>
      <p:graphicFrame>
        <p:nvGraphicFramePr>
          <p:cNvPr id="11" name="Chart 10"/>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2" name="TextBox 11"/>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0A4DC"/>
                </a:solidFill>
                <a:latin typeface="Segoe UI"/>
              </a:rPr>
              <a:t>BPS Δ  (2026→2036)</a:t>
            </a:r>
          </a:p>
        </p:txBody>
      </p:sp>
      <p:sp>
        <p:nvSpPr>
          <p:cNvPr id="13" name="FMI Lock Anchor"/>
          <p:cNvSpPr txBox="1"/>
          <p:nvPr/>
        </p:nvSpPr>
        <p:spPr>
          <a:xfrm>
            <a:off x="2489835" y="3352800"/>
            <a:ext cx="38100" cy="38100"/>
          </a:xfrm>
          <a:prstGeom prst="rect">
            <a:avLst/>
          </a:prstGeom>
          <a:noFill/>
        </p:spPr>
        <p:txBody>
          <a:bodyPr wrap="none">
            <a:spAutoFit/>
          </a:bodyPr>
          <a:lstStyle/>
          <a:p/>
        </p:txBody>
      </p:sp>
      <p:sp>
        <p:nvSpPr>
          <p:cNvPr id="14" name="FMI Legend Chip"/>
          <p:cNvSpPr/>
          <p:nvPr/>
        </p:nvSpPr>
        <p:spPr>
          <a:xfrm>
            <a:off x="4551045" y="1630298"/>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4712970" y="1625535"/>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4855845" y="1549335"/>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South Africa</a:t>
            </a:r>
          </a:p>
        </p:txBody>
      </p:sp>
      <p:sp>
        <p:nvSpPr>
          <p:cNvPr id="17" name="BPS Value 1"/>
          <p:cNvSpPr txBox="1"/>
          <p:nvPr/>
        </p:nvSpPr>
        <p:spPr>
          <a:xfrm>
            <a:off x="6305550" y="1611248"/>
            <a:ext cx="514350" cy="123825"/>
          </a:xfrm>
          <a:prstGeom prst="rect">
            <a:avLst/>
          </a:prstGeom>
          <a:noFill/>
        </p:spPr>
        <p:txBody>
          <a:bodyPr wrap="none" lIns="0" rIns="0" tIns="0" bIns="0" anchor="ctr">
            <a:spAutoFit/>
          </a:bodyPr>
          <a:lstStyle/>
          <a:p>
            <a:pPr algn="r"/>
            <a:r>
              <a:rPr sz="900" b="1">
                <a:solidFill>
                  <a:srgbClr val="D64545"/>
                </a:solidFill>
                <a:latin typeface="Segoe UI"/>
              </a:rPr>
              <a:t>-59</a:t>
            </a:r>
          </a:p>
        </p:txBody>
      </p:sp>
      <p:sp>
        <p:nvSpPr>
          <p:cNvPr id="18" name="FMI Legend Chip"/>
          <p:cNvSpPr/>
          <p:nvPr/>
        </p:nvSpPr>
        <p:spPr>
          <a:xfrm>
            <a:off x="4551045" y="2042066"/>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4712970" y="203730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4855845" y="1961104"/>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African Union</a:t>
            </a:r>
          </a:p>
        </p:txBody>
      </p:sp>
      <p:sp>
        <p:nvSpPr>
          <p:cNvPr id="21" name="BPS Value 2"/>
          <p:cNvSpPr txBox="1"/>
          <p:nvPr/>
        </p:nvSpPr>
        <p:spPr>
          <a:xfrm>
            <a:off x="6305550" y="2023016"/>
            <a:ext cx="514350" cy="123825"/>
          </a:xfrm>
          <a:prstGeom prst="rect">
            <a:avLst/>
          </a:prstGeom>
          <a:noFill/>
        </p:spPr>
        <p:txBody>
          <a:bodyPr wrap="none" lIns="0" rIns="0" tIns="0" bIns="0" anchor="ctr">
            <a:spAutoFit/>
          </a:bodyPr>
          <a:lstStyle/>
          <a:p>
            <a:pPr algn="r"/>
            <a:r>
              <a:rPr sz="900" b="1">
                <a:solidFill>
                  <a:srgbClr val="D64545"/>
                </a:solidFill>
                <a:latin typeface="Segoe UI"/>
              </a:rPr>
              <a:t>-31</a:t>
            </a:r>
          </a:p>
        </p:txBody>
      </p:sp>
      <p:sp>
        <p:nvSpPr>
          <p:cNvPr id="22" name="FMI Legend Chip"/>
          <p:cNvSpPr/>
          <p:nvPr/>
        </p:nvSpPr>
        <p:spPr>
          <a:xfrm>
            <a:off x="4551045" y="2720962"/>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4712970" y="271619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4855845" y="2639999"/>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KSA</a:t>
            </a:r>
          </a:p>
        </p:txBody>
      </p:sp>
      <p:sp>
        <p:nvSpPr>
          <p:cNvPr id="25" name="BPS Value 3"/>
          <p:cNvSpPr txBox="1"/>
          <p:nvPr/>
        </p:nvSpPr>
        <p:spPr>
          <a:xfrm>
            <a:off x="6305550" y="2701912"/>
            <a:ext cx="514350" cy="123825"/>
          </a:xfrm>
          <a:prstGeom prst="rect">
            <a:avLst/>
          </a:prstGeom>
          <a:noFill/>
        </p:spPr>
        <p:txBody>
          <a:bodyPr wrap="none" lIns="0" rIns="0" tIns="0" bIns="0" anchor="ctr">
            <a:spAutoFit/>
          </a:bodyPr>
          <a:lstStyle/>
          <a:p>
            <a:pPr algn="r"/>
            <a:r>
              <a:rPr sz="900" b="1">
                <a:solidFill>
                  <a:srgbClr val="1E8E3E"/>
                </a:solidFill>
                <a:latin typeface="Segoe UI"/>
              </a:rPr>
              <a:t>+156</a:t>
            </a:r>
          </a:p>
        </p:txBody>
      </p:sp>
      <p:sp>
        <p:nvSpPr>
          <p:cNvPr id="26" name="FMI Legend Chip"/>
          <p:cNvSpPr/>
          <p:nvPr/>
        </p:nvSpPr>
        <p:spPr>
          <a:xfrm>
            <a:off x="4551045" y="3641255"/>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4712970" y="363649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4855845" y="3560292"/>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GCC</a:t>
            </a:r>
          </a:p>
        </p:txBody>
      </p:sp>
      <p:sp>
        <p:nvSpPr>
          <p:cNvPr id="29" name="BPS Value 4"/>
          <p:cNvSpPr txBox="1"/>
          <p:nvPr/>
        </p:nvSpPr>
        <p:spPr>
          <a:xfrm>
            <a:off x="6305550" y="3622205"/>
            <a:ext cx="514350" cy="123825"/>
          </a:xfrm>
          <a:prstGeom prst="rect">
            <a:avLst/>
          </a:prstGeom>
          <a:noFill/>
        </p:spPr>
        <p:txBody>
          <a:bodyPr wrap="none" lIns="0" rIns="0" tIns="0" bIns="0" anchor="ctr">
            <a:spAutoFit/>
          </a:bodyPr>
          <a:lstStyle/>
          <a:p>
            <a:pPr algn="r"/>
            <a:r>
              <a:rPr sz="900" b="1">
                <a:solidFill>
                  <a:srgbClr val="1E8E3E"/>
                </a:solidFill>
                <a:latin typeface="Segoe UI"/>
              </a:rPr>
              <a:t>+82</a:t>
            </a:r>
          </a:p>
        </p:txBody>
      </p:sp>
      <p:sp>
        <p:nvSpPr>
          <p:cNvPr id="30" name="FMI Legend Chip"/>
          <p:cNvSpPr/>
          <p:nvPr/>
        </p:nvSpPr>
        <p:spPr>
          <a:xfrm>
            <a:off x="4551045" y="4627712"/>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rot="10800000">
            <a:off x="4712970" y="4622949"/>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4855845" y="4546749"/>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Turkiye</a:t>
            </a:r>
          </a:p>
        </p:txBody>
      </p:sp>
      <p:sp>
        <p:nvSpPr>
          <p:cNvPr id="33" name="BPS Value 5"/>
          <p:cNvSpPr txBox="1"/>
          <p:nvPr/>
        </p:nvSpPr>
        <p:spPr>
          <a:xfrm>
            <a:off x="6305550" y="4608662"/>
            <a:ext cx="514350" cy="123825"/>
          </a:xfrm>
          <a:prstGeom prst="rect">
            <a:avLst/>
          </a:prstGeom>
          <a:noFill/>
        </p:spPr>
        <p:txBody>
          <a:bodyPr wrap="none" lIns="0" rIns="0" tIns="0" bIns="0" anchor="ctr">
            <a:spAutoFit/>
          </a:bodyPr>
          <a:lstStyle/>
          <a:p>
            <a:pPr algn="r"/>
            <a:r>
              <a:rPr sz="900" b="1">
                <a:solidFill>
                  <a:srgbClr val="D64545"/>
                </a:solidFill>
                <a:latin typeface="Segoe UI"/>
              </a:rPr>
              <a:t>-148</a:t>
            </a:r>
          </a:p>
        </p:txBody>
      </p:sp>
      <p:sp>
        <p:nvSpPr>
          <p:cNvPr id="34" name="Rectangle 33"/>
          <p:cNvSpPr/>
          <p:nvPr/>
        </p:nvSpPr>
        <p:spPr>
          <a:xfrm>
            <a:off x="7105650" y="981075"/>
            <a:ext cx="4933950"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07BA5"/>
                </a:solidFill>
                <a:latin typeface="Segoe UI"/>
              </a:rPr>
              <a:t>Regional Highlights</a:t>
            </a:r>
          </a:p>
        </p:txBody>
      </p:sp>
      <p:sp>
        <p:nvSpPr>
          <p:cNvPr id="36" name="Rectangle 35"/>
          <p:cNvSpPr/>
          <p:nvPr/>
        </p:nvSpPr>
        <p:spPr>
          <a:xfrm>
            <a:off x="7239000" y="1304925"/>
            <a:ext cx="46672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Turkiye performance knitted fabrics market is projected to register 1.2X higher volume than KSA in 2036. Among performance knitted fabrics by country, KSA is expected to witness the highest CAGR of 5.8% over the forecast period.</a:t>
            </a:r>
          </a:p>
          <a:p>
            <a:pPr algn="l">
              <a:lnSpc>
                <a:spcPct val="110000"/>
              </a:lnSpc>
              <a:spcBef>
                <a:spcPts val="0"/>
              </a:spcBef>
              <a:spcAft>
                <a:spcPts val="500"/>
              </a:spcAft>
            </a:pPr>
            <a:r>
              <a:rPr sz="1150" b="0">
                <a:solidFill>
                  <a:srgbClr val="252423"/>
                </a:solidFill>
                <a:latin typeface="Segoe UI"/>
              </a:rPr>
              <a:t>In terms of volume share by country, Turkiye is expected to dominate the market, losing 206 BPS and accounting for 45.4% share by 2036.</a:t>
            </a:r>
          </a:p>
        </p:txBody>
      </p:sp>
      <p:sp>
        <p:nvSpPr>
          <p:cNvPr id="38" name="Rounded Rectangle 37"/>
          <p:cNvSpPr/>
          <p:nvPr/>
        </p:nvSpPr>
        <p:spPr>
          <a:xfrm>
            <a:off x="142875" y="5648325"/>
            <a:ext cx="3943350"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TOTAL (MN SQ. YARDS)</a:t>
            </a:r>
          </a:p>
          <a:p>
            <a:pPr algn="ctr">
              <a:lnSpc>
                <a:spcPct val="95000"/>
              </a:lnSpc>
            </a:pPr>
            <a:r>
              <a:rPr sz="2000" b="1">
                <a:solidFill>
                  <a:srgbClr val="00A4DC"/>
                </a:solidFill>
                <a:latin typeface="Segoe UI"/>
              </a:rPr>
              <a:t>86.1</a:t>
            </a:r>
          </a:p>
        </p:txBody>
      </p:sp>
      <p:sp>
        <p:nvSpPr>
          <p:cNvPr id="39" name="Rounded Rectangle 38"/>
          <p:cNvSpPr/>
          <p:nvPr/>
        </p:nvSpPr>
        <p:spPr>
          <a:xfrm>
            <a:off x="4238625"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TOTAL (MN SQ. YARDS)</a:t>
            </a:r>
          </a:p>
          <a:p>
            <a:pPr algn="ctr">
              <a:lnSpc>
                <a:spcPct val="95000"/>
              </a:lnSpc>
            </a:pPr>
            <a:r>
              <a:rPr sz="2000" b="1">
                <a:solidFill>
                  <a:srgbClr val="00A4DC"/>
                </a:solidFill>
                <a:latin typeface="Segoe UI"/>
              </a:rPr>
              <a:t>141.7</a:t>
            </a:r>
          </a:p>
        </p:txBody>
      </p:sp>
      <p:sp>
        <p:nvSpPr>
          <p:cNvPr id="40" name="Rounded Rectangle 39"/>
          <p:cNvSpPr/>
          <p:nvPr/>
        </p:nvSpPr>
        <p:spPr>
          <a:xfrm>
            <a:off x="8210550"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2000" b="1">
                <a:solidFill>
                  <a:srgbClr val="00A4DC"/>
                </a:solidFill>
                <a:latin typeface="Segoe UI"/>
              </a:rPr>
              <a:t>5.1%</a:t>
            </a:r>
          </a:p>
        </p:txBody>
      </p:sp>
      <p:sp>
        <p:nvSpPr>
          <p:cNvPr id="41" name="TextBox 4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Middle East &amp; Africa Performance Knitted Fabrics Market Analysis, By Country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value share by country in 2026 and 2036, highlighting share gains and losses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Middle East &amp; Africa</a:t>
            </a:r>
          </a:p>
        </p:txBody>
      </p:sp>
      <p:sp>
        <p:nvSpPr>
          <p:cNvPr id="9" name="Rectangle 8"/>
          <p:cNvSpPr/>
          <p:nvPr/>
        </p:nvSpPr>
        <p:spPr>
          <a:xfrm>
            <a:off x="142875" y="981075"/>
            <a:ext cx="6810375"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Market Share and BPS Assessment By Country, 2026 &amp; 2036</a:t>
            </a:r>
          </a:p>
        </p:txBody>
      </p:sp>
      <p:graphicFrame>
        <p:nvGraphicFramePr>
          <p:cNvPr id="11" name="Chart 10"/>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2" name="TextBox 11"/>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0A4DC"/>
                </a:solidFill>
                <a:latin typeface="Segoe UI"/>
              </a:rPr>
              <a:t>BPS Δ  (2026→2036)</a:t>
            </a:r>
          </a:p>
        </p:txBody>
      </p:sp>
      <p:sp>
        <p:nvSpPr>
          <p:cNvPr id="13" name="FMI Lock Anchor"/>
          <p:cNvSpPr txBox="1"/>
          <p:nvPr/>
        </p:nvSpPr>
        <p:spPr>
          <a:xfrm>
            <a:off x="2489835" y="3352800"/>
            <a:ext cx="38100" cy="38100"/>
          </a:xfrm>
          <a:prstGeom prst="rect">
            <a:avLst/>
          </a:prstGeom>
          <a:noFill/>
        </p:spPr>
        <p:txBody>
          <a:bodyPr wrap="none">
            <a:spAutoFit/>
          </a:bodyPr>
          <a:lstStyle/>
          <a:p/>
        </p:txBody>
      </p:sp>
      <p:sp>
        <p:nvSpPr>
          <p:cNvPr id="14" name="FMI Legend Chip"/>
          <p:cNvSpPr/>
          <p:nvPr/>
        </p:nvSpPr>
        <p:spPr>
          <a:xfrm>
            <a:off x="4551045" y="1609307"/>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4712970" y="1604545"/>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4855845" y="1528345"/>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South Africa</a:t>
            </a:r>
          </a:p>
        </p:txBody>
      </p:sp>
      <p:sp>
        <p:nvSpPr>
          <p:cNvPr id="17" name="BPS Value 1"/>
          <p:cNvSpPr txBox="1"/>
          <p:nvPr/>
        </p:nvSpPr>
        <p:spPr>
          <a:xfrm>
            <a:off x="6305550" y="1590257"/>
            <a:ext cx="514350" cy="123825"/>
          </a:xfrm>
          <a:prstGeom prst="rect">
            <a:avLst/>
          </a:prstGeom>
          <a:noFill/>
        </p:spPr>
        <p:txBody>
          <a:bodyPr wrap="none" lIns="0" rIns="0" tIns="0" bIns="0" anchor="ctr">
            <a:spAutoFit/>
          </a:bodyPr>
          <a:lstStyle/>
          <a:p>
            <a:pPr algn="r"/>
            <a:r>
              <a:rPr sz="900" b="1">
                <a:solidFill>
                  <a:srgbClr val="D64545"/>
                </a:solidFill>
                <a:latin typeface="Segoe UI"/>
              </a:rPr>
              <a:t>-73</a:t>
            </a:r>
          </a:p>
        </p:txBody>
      </p:sp>
      <p:sp>
        <p:nvSpPr>
          <p:cNvPr id="18" name="FMI Legend Chip"/>
          <p:cNvSpPr/>
          <p:nvPr/>
        </p:nvSpPr>
        <p:spPr>
          <a:xfrm>
            <a:off x="4551045" y="2003854"/>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4712970" y="199909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4855845" y="1922892"/>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African Union</a:t>
            </a:r>
          </a:p>
        </p:txBody>
      </p:sp>
      <p:sp>
        <p:nvSpPr>
          <p:cNvPr id="21" name="BPS Value 2"/>
          <p:cNvSpPr txBox="1"/>
          <p:nvPr/>
        </p:nvSpPr>
        <p:spPr>
          <a:xfrm>
            <a:off x="6305550" y="1984804"/>
            <a:ext cx="514350" cy="123825"/>
          </a:xfrm>
          <a:prstGeom prst="rect">
            <a:avLst/>
          </a:prstGeom>
          <a:noFill/>
        </p:spPr>
        <p:txBody>
          <a:bodyPr wrap="none" lIns="0" rIns="0" tIns="0" bIns="0" anchor="ctr">
            <a:spAutoFit/>
          </a:bodyPr>
          <a:lstStyle/>
          <a:p>
            <a:pPr algn="r"/>
            <a:r>
              <a:rPr sz="900" b="1">
                <a:solidFill>
                  <a:srgbClr val="D64545"/>
                </a:solidFill>
                <a:latin typeface="Segoe UI"/>
              </a:rPr>
              <a:t>-10</a:t>
            </a:r>
          </a:p>
        </p:txBody>
      </p:sp>
      <p:sp>
        <p:nvSpPr>
          <p:cNvPr id="22" name="FMI Legend Chip"/>
          <p:cNvSpPr/>
          <p:nvPr/>
        </p:nvSpPr>
        <p:spPr>
          <a:xfrm>
            <a:off x="4551045" y="2694455"/>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rot="10800000">
            <a:off x="4712970" y="268969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4855845" y="2613492"/>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Turkiye</a:t>
            </a:r>
          </a:p>
        </p:txBody>
      </p:sp>
      <p:sp>
        <p:nvSpPr>
          <p:cNvPr id="25" name="BPS Value 3"/>
          <p:cNvSpPr txBox="1"/>
          <p:nvPr/>
        </p:nvSpPr>
        <p:spPr>
          <a:xfrm>
            <a:off x="6305550" y="2675405"/>
            <a:ext cx="514350" cy="123825"/>
          </a:xfrm>
          <a:prstGeom prst="rect">
            <a:avLst/>
          </a:prstGeom>
          <a:noFill/>
        </p:spPr>
        <p:txBody>
          <a:bodyPr wrap="none" lIns="0" rIns="0" tIns="0" bIns="0" anchor="ctr">
            <a:spAutoFit/>
          </a:bodyPr>
          <a:lstStyle/>
          <a:p>
            <a:pPr algn="r"/>
            <a:r>
              <a:rPr sz="900" b="1">
                <a:solidFill>
                  <a:srgbClr val="D64545"/>
                </a:solidFill>
                <a:latin typeface="Segoe UI"/>
              </a:rPr>
              <a:t>-247</a:t>
            </a:r>
          </a:p>
        </p:txBody>
      </p:sp>
      <p:sp>
        <p:nvSpPr>
          <p:cNvPr id="26" name="FMI Legend Chip"/>
          <p:cNvSpPr/>
          <p:nvPr/>
        </p:nvSpPr>
        <p:spPr>
          <a:xfrm>
            <a:off x="4551045" y="3589537"/>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a:off x="4712970" y="3584775"/>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4855845" y="3508575"/>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KSA</a:t>
            </a:r>
          </a:p>
        </p:txBody>
      </p:sp>
      <p:sp>
        <p:nvSpPr>
          <p:cNvPr id="29" name="BPS Value 4"/>
          <p:cNvSpPr txBox="1"/>
          <p:nvPr/>
        </p:nvSpPr>
        <p:spPr>
          <a:xfrm>
            <a:off x="6305550" y="3570487"/>
            <a:ext cx="514350" cy="123825"/>
          </a:xfrm>
          <a:prstGeom prst="rect">
            <a:avLst/>
          </a:prstGeom>
          <a:noFill/>
        </p:spPr>
        <p:txBody>
          <a:bodyPr wrap="none" lIns="0" rIns="0" tIns="0" bIns="0" anchor="ctr">
            <a:spAutoFit/>
          </a:bodyPr>
          <a:lstStyle/>
          <a:p>
            <a:pPr algn="r"/>
            <a:r>
              <a:rPr sz="900" b="1">
                <a:solidFill>
                  <a:srgbClr val="1E8E3E"/>
                </a:solidFill>
                <a:latin typeface="Segoe UI"/>
              </a:rPr>
              <a:t>+135</a:t>
            </a:r>
          </a:p>
        </p:txBody>
      </p:sp>
      <p:sp>
        <p:nvSpPr>
          <p:cNvPr id="30" name="FMI Legend Chip"/>
          <p:cNvSpPr/>
          <p:nvPr/>
        </p:nvSpPr>
        <p:spPr>
          <a:xfrm>
            <a:off x="4551045" y="4585279"/>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4712970" y="4580517"/>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4855845" y="4504317"/>
            <a:ext cx="1316355" cy="247650"/>
          </a:xfrm>
          <a:prstGeom prst="rect">
            <a:avLst/>
          </a:prstGeom>
          <a:noFill/>
        </p:spPr>
        <p:txBody>
          <a:bodyPr wrap="square" lIns="19050" rIns="19050" tIns="0" bIns="0" anchor="ctr">
            <a:spAutoFit/>
          </a:bodyPr>
          <a:lstStyle/>
          <a:p>
            <a:pPr algn="l"/>
            <a:r>
              <a:rPr sz="900" b="0">
                <a:solidFill>
                  <a:srgbClr val="252423"/>
                </a:solidFill>
                <a:latin typeface="Segoe UI"/>
              </a:rPr>
              <a:t>GCC</a:t>
            </a:r>
          </a:p>
        </p:txBody>
      </p:sp>
      <p:sp>
        <p:nvSpPr>
          <p:cNvPr id="33" name="BPS Value 5"/>
          <p:cNvSpPr txBox="1"/>
          <p:nvPr/>
        </p:nvSpPr>
        <p:spPr>
          <a:xfrm>
            <a:off x="6305550" y="4566229"/>
            <a:ext cx="514350" cy="123825"/>
          </a:xfrm>
          <a:prstGeom prst="rect">
            <a:avLst/>
          </a:prstGeom>
          <a:noFill/>
        </p:spPr>
        <p:txBody>
          <a:bodyPr wrap="none" lIns="0" rIns="0" tIns="0" bIns="0" anchor="ctr">
            <a:spAutoFit/>
          </a:bodyPr>
          <a:lstStyle/>
          <a:p>
            <a:pPr algn="r"/>
            <a:r>
              <a:rPr sz="900" b="1">
                <a:solidFill>
                  <a:srgbClr val="1E8E3E"/>
                </a:solidFill>
                <a:latin typeface="Segoe UI"/>
              </a:rPr>
              <a:t>+195</a:t>
            </a:r>
          </a:p>
        </p:txBody>
      </p:sp>
      <p:sp>
        <p:nvSpPr>
          <p:cNvPr id="34" name="Rectangle 33"/>
          <p:cNvSpPr/>
          <p:nvPr/>
        </p:nvSpPr>
        <p:spPr>
          <a:xfrm>
            <a:off x="7105650" y="981075"/>
            <a:ext cx="4933950" cy="45339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07BA5"/>
                </a:solidFill>
                <a:latin typeface="Segoe UI"/>
              </a:rPr>
              <a:t>Regional Highlights</a:t>
            </a:r>
          </a:p>
        </p:txBody>
      </p:sp>
      <p:sp>
        <p:nvSpPr>
          <p:cNvPr id="36" name="Rectangle 35"/>
          <p:cNvSpPr/>
          <p:nvPr/>
        </p:nvSpPr>
        <p:spPr>
          <a:xfrm>
            <a:off x="7239000" y="1304925"/>
            <a:ext cx="46672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KSA performance knitted fabrics market is projected to register 1.0X higher value than Turkiye in 2036. Among performance knitted fabrics by country, KSA is expected to witness the highest CAGR of 7.3% over the forecast period.</a:t>
            </a:r>
          </a:p>
          <a:p>
            <a:pPr algn="l">
              <a:lnSpc>
                <a:spcPct val="110000"/>
              </a:lnSpc>
              <a:spcBef>
                <a:spcPts val="0"/>
              </a:spcBef>
              <a:spcAft>
                <a:spcPts val="500"/>
              </a:spcAft>
            </a:pPr>
            <a:r>
              <a:rPr sz="1150" b="0">
                <a:solidFill>
                  <a:srgbClr val="252423"/>
                </a:solidFill>
                <a:latin typeface="Segoe UI"/>
              </a:rPr>
              <a:t>In terms of value share by country, KSA is expected to dominate the market, gaining 367 BPS and accounting for 43.3% share by 2036. Turkiye is expected to lose 288 BPS over the forecast period to account for 42.5% share by 2036.</a:t>
            </a:r>
          </a:p>
        </p:txBody>
      </p:sp>
      <p:sp>
        <p:nvSpPr>
          <p:cNvPr id="38" name="Rounded Rectangle 37"/>
          <p:cNvSpPr/>
          <p:nvPr/>
        </p:nvSpPr>
        <p:spPr>
          <a:xfrm>
            <a:off x="142875" y="5648325"/>
            <a:ext cx="3943350"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2026 TOTAL (US$ MN)</a:t>
            </a:r>
          </a:p>
          <a:p>
            <a:pPr algn="ctr">
              <a:lnSpc>
                <a:spcPct val="95000"/>
              </a:lnSpc>
            </a:pPr>
            <a:r>
              <a:rPr sz="2000" b="1">
                <a:solidFill>
                  <a:srgbClr val="00A4DC"/>
                </a:solidFill>
                <a:latin typeface="Segoe UI"/>
              </a:rPr>
              <a:t>255.2</a:t>
            </a:r>
          </a:p>
        </p:txBody>
      </p:sp>
      <p:sp>
        <p:nvSpPr>
          <p:cNvPr id="39" name="Rounded Rectangle 38"/>
          <p:cNvSpPr/>
          <p:nvPr/>
        </p:nvSpPr>
        <p:spPr>
          <a:xfrm>
            <a:off x="4238625"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TOTAL (US$ MN)</a:t>
            </a:r>
          </a:p>
          <a:p>
            <a:pPr algn="ctr">
              <a:lnSpc>
                <a:spcPct val="95000"/>
              </a:lnSpc>
            </a:pPr>
            <a:r>
              <a:rPr sz="2000" b="1">
                <a:solidFill>
                  <a:srgbClr val="00A4DC"/>
                </a:solidFill>
                <a:latin typeface="Segoe UI"/>
              </a:rPr>
              <a:t>488.3</a:t>
            </a:r>
          </a:p>
        </p:txBody>
      </p:sp>
      <p:sp>
        <p:nvSpPr>
          <p:cNvPr id="40" name="Rounded Rectangle 39"/>
          <p:cNvSpPr/>
          <p:nvPr/>
        </p:nvSpPr>
        <p:spPr>
          <a:xfrm>
            <a:off x="8210550" y="5648325"/>
            <a:ext cx="3819525" cy="981075"/>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CAGR (2026–2036)</a:t>
            </a:r>
          </a:p>
          <a:p>
            <a:pPr algn="ctr">
              <a:lnSpc>
                <a:spcPct val="95000"/>
              </a:lnSpc>
            </a:pPr>
            <a:r>
              <a:rPr sz="2000" b="1">
                <a:solidFill>
                  <a:srgbClr val="00A4DC"/>
                </a:solidFill>
                <a:latin typeface="Segoe UI"/>
              </a:rPr>
              <a:t>6.7%</a:t>
            </a:r>
          </a:p>
        </p:txBody>
      </p:sp>
      <p:sp>
        <p:nvSpPr>
          <p:cNvPr id="41" name="TextBox 4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Middle East &amp; Africa Performance Knitted Fabrics Market Share Analysis, By Country Volume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volume and share by country, 2021–2036, highlighting the geographies gaining and ceding ground</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Middle East &amp; Africa</a:t>
            </a:r>
          </a:p>
        </p:txBody>
      </p:sp>
      <p:sp>
        <p:nvSpPr>
          <p:cNvPr id="9" name="Rectangle 8"/>
          <p:cNvSpPr/>
          <p:nvPr/>
        </p:nvSpPr>
        <p:spPr>
          <a:xfrm>
            <a:off x="142875" y="981075"/>
            <a:ext cx="11906250" cy="19812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Middle East &amp; Africa Market Size, By Country (Mn Sq. Yards)</a:t>
            </a:r>
          </a:p>
        </p:txBody>
      </p:sp>
      <p:graphicFrame>
        <p:nvGraphicFramePr>
          <p:cNvPr id="11" name="Table 10"/>
          <p:cNvGraphicFramePr>
            <a:graphicFrameLocks noGrp="1"/>
          </p:cNvGraphicFramePr>
          <p:nvPr/>
        </p:nvGraphicFramePr>
        <p:xfrm>
          <a:off x="152400" y="1238250"/>
          <a:ext cx="11887204" cy="1514475"/>
        </p:xfrm>
        <a:graphic>
          <a:graphicData uri="http://schemas.openxmlformats.org/drawingml/2006/table">
            <a:tbl>
              <a:tblPr>
                <a:tableStyleId>{5C22544A-7EE6-4342-B048-85BDC9FD1C3A}</a:tableStyleId>
              </a:tblPr>
              <a:tblGrid>
                <a:gridCol w="1677507"/>
                <a:gridCol w="612544"/>
                <a:gridCol w="612544"/>
                <a:gridCol w="612544"/>
                <a:gridCol w="612544"/>
                <a:gridCol w="612544"/>
                <a:gridCol w="584666"/>
                <a:gridCol w="584666"/>
                <a:gridCol w="584666"/>
                <a:gridCol w="584666"/>
                <a:gridCol w="584666"/>
                <a:gridCol w="584666"/>
                <a:gridCol w="584666"/>
                <a:gridCol w="584666"/>
                <a:gridCol w="584666"/>
                <a:gridCol w="584666"/>
                <a:gridCol w="584666"/>
                <a:gridCol w="715651"/>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r>
              <a:tr h="216535">
                <a:tc>
                  <a:txBody>
                    <a:bodyPr wrap="none"/>
                    <a:lstStyle/>
                    <a:p>
                      <a:pPr algn="l"/>
                      <a:r>
                        <a:rPr sz="1100" b="1">
                          <a:solidFill>
                            <a:srgbClr val="252423"/>
                          </a:solidFill>
                          <a:latin typeface="Segoe UI"/>
                        </a:rPr>
                        <a:t>KSA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13.6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14.6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15.6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16.7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17.9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19.1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20.3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21.5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22.8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24.0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25.4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26.8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28.4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30.1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31.9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33.7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5.8%</a:t>
                      </a:r>
                      <a:endParaRPr sz="1100"/>
                    </a:p>
                  </a:txBody>
                  <a:tcPr marL="47625" marR="38100" marT="19050" marB="19050" anchor="ctr">
                    <a:solidFill>
                      <a:srgbClr val="FFFFFF"/>
                    </a:solidFill>
                  </a:tcPr>
                </a:tc>
              </a:tr>
              <a:tr h="216535">
                <a:tc>
                  <a:txBody>
                    <a:bodyPr wrap="none"/>
                    <a:lstStyle/>
                    <a:p>
                      <a:pPr algn="l"/>
                      <a:r>
                        <a:rPr sz="1100" b="1">
                          <a:solidFill>
                            <a:srgbClr val="252423"/>
                          </a:solidFill>
                          <a:latin typeface="Segoe UI"/>
                        </a:rPr>
                        <a:t>Other GCC</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17.8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18.5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19.3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20.1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21.0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22.1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23.2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24.6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26.0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27.5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29.1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30.7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32.3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34.0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35.7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37.5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5.4%</a:t>
                      </a:r>
                      <a:endParaRPr sz="1100"/>
                    </a:p>
                  </a:txBody>
                  <a:tcPr marL="47625" marR="38100" marT="19050" marB="19050" anchor="ctr">
                    <a:solidFill>
                      <a:srgbClr val="F2FAFD"/>
                    </a:solidFill>
                  </a:tcPr>
                </a:tc>
              </a:tr>
              <a:tr h="216535">
                <a:tc>
                  <a:txBody>
                    <a:bodyPr wrap="none"/>
                    <a:lstStyle/>
                    <a:p>
                      <a:pPr algn="l"/>
                      <a:r>
                        <a:rPr sz="1100" b="1">
                          <a:solidFill>
                            <a:srgbClr val="252423"/>
                          </a:solidFill>
                          <a:latin typeface="Segoe UI"/>
                        </a:rPr>
                        <a:t>Turkiye</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20.0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20.8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21.7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22.6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23.6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24.8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26.1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27.6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29.0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30.5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31.9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33.3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34.7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36.0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37.4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38.8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4.6%</a:t>
                      </a:r>
                      <a:endParaRPr sz="1100"/>
                    </a:p>
                  </a:txBody>
                  <a:tcPr marL="47625" marR="38100" marT="19050" marB="19050" anchor="ctr">
                    <a:solidFill>
                      <a:srgbClr val="FFFFFF"/>
                    </a:solidFill>
                  </a:tcPr>
                </a:tc>
              </a:tr>
              <a:tr h="216535">
                <a:tc>
                  <a:txBody>
                    <a:bodyPr wrap="none"/>
                    <a:lstStyle/>
                    <a:p>
                      <a:pPr algn="l"/>
                      <a:r>
                        <a:rPr sz="1100" b="1">
                          <a:solidFill>
                            <a:srgbClr val="252423"/>
                          </a:solidFill>
                          <a:latin typeface="Segoe UI"/>
                        </a:rPr>
                        <a:t>South Africa</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7.02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7.27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7.54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7.81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8.10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8.41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8.74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9.10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9.48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9.90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10.4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10.8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12.4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13.0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4.5%</a:t>
                      </a:r>
                      <a:endParaRPr sz="1100"/>
                    </a:p>
                  </a:txBody>
                  <a:tcPr marL="47625" marR="38100" marT="19050" marB="19050" anchor="ctr">
                    <a:solidFill>
                      <a:srgbClr val="F2FAFD"/>
                    </a:solidFill>
                  </a:tcPr>
                </a:tc>
              </a:tr>
              <a:tr h="216535">
                <a:tc>
                  <a:txBody>
                    <a:bodyPr wrap="none"/>
                    <a:lstStyle/>
                    <a:p>
                      <a:pPr algn="l"/>
                      <a:r>
                        <a:rPr sz="1100" b="1">
                          <a:solidFill>
                            <a:srgbClr val="252423"/>
                          </a:solidFill>
                          <a:latin typeface="Segoe UI"/>
                        </a:rPr>
                        <a:t>Other African Union</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9.47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9.82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13.1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13.8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14.6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15.3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16.0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16.7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17.4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18.1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18.8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4.9%</a:t>
                      </a:r>
                      <a:endParaRPr sz="1100"/>
                    </a:p>
                  </a:txBody>
                  <a:tcPr marL="47625" marR="38100" marT="19050" marB="19050" anchor="ctr">
                    <a:solidFill>
                      <a:srgbClr val="FFFFFF"/>
                    </a:solidFill>
                  </a:tcPr>
                </a:tc>
              </a:tr>
              <a:tr h="216535">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68.0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71.0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74.3</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77.8</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81.8</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86.1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90.8</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95.8</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101.1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106.5</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112.0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117.7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123.5</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129.5</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135.6</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141.7</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5.1%</a:t>
                      </a:r>
                      <a:endParaRPr sz="1100"/>
                    </a:p>
                  </a:txBody>
                  <a:tcPr marL="47625" marR="38100" marT="19050" marB="19050" anchor="ctr">
                    <a:solidFill>
                      <a:srgbClr val="E0F2FA"/>
                    </a:solidFill>
                  </a:tcPr>
                </a:tc>
              </a:tr>
            </a:tbl>
          </a:graphicData>
        </a:graphic>
      </p:graphicFrame>
      <p:sp>
        <p:nvSpPr>
          <p:cNvPr id="12" name="TextBox 11"/>
          <p:cNvSpPr txBox="1"/>
          <p:nvPr/>
        </p:nvSpPr>
        <p:spPr>
          <a:xfrm>
            <a:off x="219075" y="276225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3" name="Rectangle 12"/>
          <p:cNvSpPr/>
          <p:nvPr/>
        </p:nvSpPr>
        <p:spPr>
          <a:xfrm>
            <a:off x="142875" y="3095625"/>
            <a:ext cx="11906250" cy="35337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181350"/>
            <a:ext cx="11639550" cy="209550"/>
          </a:xfrm>
          <a:prstGeom prst="rect">
            <a:avLst/>
          </a:prstGeom>
          <a:noFill/>
        </p:spPr>
        <p:txBody>
          <a:bodyPr wrap="square" lIns="0" rIns="19050" tIns="9525" bIns="9525">
            <a:spAutoFit/>
          </a:bodyPr>
          <a:lstStyle/>
          <a:p>
            <a:pPr algn="l"/>
            <a:r>
              <a:rPr sz="1300" b="1">
                <a:solidFill>
                  <a:srgbClr val="007BA5"/>
                </a:solidFill>
                <a:latin typeface="Segoe UI"/>
              </a:rPr>
              <a:t>Middle East &amp; Africa Volume Share Read-out, By Country</a:t>
            </a:r>
          </a:p>
        </p:txBody>
      </p:sp>
      <p:sp>
        <p:nvSpPr>
          <p:cNvPr id="15" name="Rectangle 14"/>
          <p:cNvSpPr/>
          <p:nvPr/>
        </p:nvSpPr>
        <p:spPr>
          <a:xfrm>
            <a:off x="276225" y="341947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505200"/>
            <a:ext cx="11639550" cy="30480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Turkiye performance knitted fabrics market is projected to register 1.2X higher volume than KSA in 2036. Among performance knitted fabrics by country, KSA is expected to witness the highest CAGR of 5.8% over the forecast period.</a:t>
            </a:r>
          </a:p>
          <a:p>
            <a:pPr algn="l">
              <a:lnSpc>
                <a:spcPct val="110000"/>
              </a:lnSpc>
              <a:spcBef>
                <a:spcPts val="0"/>
              </a:spcBef>
              <a:spcAft>
                <a:spcPts val="500"/>
              </a:spcAft>
            </a:pPr>
            <a:r>
              <a:rPr sz="1150" b="0">
                <a:solidFill>
                  <a:srgbClr val="252423"/>
                </a:solidFill>
                <a:latin typeface="Segoe UI"/>
              </a:rPr>
              <a:t>In terms of volume share by country, Turkiye is expected to dominate the market, losing 206 BPS and accounting for 45.4% share by 2036.</a:t>
            </a:r>
          </a:p>
        </p:txBody>
      </p:sp>
      <p:sp>
        <p:nvSpPr>
          <p:cNvPr id="17" name="TextBox 1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Middle East &amp; Africa Performance Knitted Fabrics Market Share Analysis, By Country Value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Year-by-year value and share by country, 2021–2036, highlighting the geographies gaining and ceding ground</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Middle East &amp; Africa</a:t>
            </a:r>
          </a:p>
        </p:txBody>
      </p:sp>
      <p:sp>
        <p:nvSpPr>
          <p:cNvPr id="9" name="Rectangle 8"/>
          <p:cNvSpPr/>
          <p:nvPr/>
        </p:nvSpPr>
        <p:spPr>
          <a:xfrm>
            <a:off x="142875" y="981075"/>
            <a:ext cx="11906250" cy="19812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Middle East &amp; Africa Market Size, By Country (US$ Mn)</a:t>
            </a:r>
          </a:p>
        </p:txBody>
      </p:sp>
      <p:graphicFrame>
        <p:nvGraphicFramePr>
          <p:cNvPr id="11" name="Table 10"/>
          <p:cNvGraphicFramePr>
            <a:graphicFrameLocks noGrp="1"/>
          </p:cNvGraphicFramePr>
          <p:nvPr/>
        </p:nvGraphicFramePr>
        <p:xfrm>
          <a:off x="152400" y="1238250"/>
          <a:ext cx="11887204" cy="1514475"/>
        </p:xfrm>
        <a:graphic>
          <a:graphicData uri="http://schemas.openxmlformats.org/drawingml/2006/table">
            <a:tbl>
              <a:tblPr>
                <a:tableStyleId>{5C22544A-7EE6-4342-B048-85BDC9FD1C3A}</a:tableStyleId>
              </a:tblPr>
              <a:tblGrid>
                <a:gridCol w="1677507"/>
                <a:gridCol w="612544"/>
                <a:gridCol w="612544"/>
                <a:gridCol w="612544"/>
                <a:gridCol w="612544"/>
                <a:gridCol w="612544"/>
                <a:gridCol w="584666"/>
                <a:gridCol w="584666"/>
                <a:gridCol w="584666"/>
                <a:gridCol w="584666"/>
                <a:gridCol w="584666"/>
                <a:gridCol w="584666"/>
                <a:gridCol w="584666"/>
                <a:gridCol w="584666"/>
                <a:gridCol w="584666"/>
                <a:gridCol w="584666"/>
                <a:gridCol w="584666"/>
                <a:gridCol w="715651"/>
              </a:tblGrid>
              <a:tr h="215265">
                <a:tc>
                  <a:txBody>
                    <a:bodyPr wrap="none"/>
                    <a:lstStyle/>
                    <a:p>
                      <a:pPr algn="l"/>
                      <a:r>
                        <a:rPr sz="1100" b="1">
                          <a:solidFill>
                            <a:srgbClr val="FFFFFF"/>
                          </a:solidFill>
                          <a:latin typeface="Segoe UI"/>
                        </a:rPr>
                        <a:t>Country</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2021A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2022A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2023A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2024A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2025A</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2026E</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2027F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2028F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2029F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2030F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2031F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2032F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2033F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2034F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2035F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2036F</a:t>
                      </a:r>
                      <a:endParaRPr sz="1100"/>
                    </a:p>
                  </a:txBody>
                  <a:tcPr marL="47625" marR="38100" marT="19050" marB="19050" anchor="ctr">
                    <a:solidFill>
                      <a:srgbClr val="007BA5"/>
                    </a:solidFill>
                  </a:tcPr>
                </a:tc>
                <a:tc>
                  <a:txBody>
                    <a:bodyPr wrap="none"/>
                    <a:lstStyle/>
                    <a:p>
                      <a:pPr algn="l"/>
                      <a:r>
                        <a:rPr sz="1100" b="1">
                          <a:solidFill>
                            <a:srgbClr val="FFFFFF"/>
                          </a:solidFill>
                          <a:latin typeface="Segoe UI"/>
                        </a:rPr>
                        <a:t>F-CAGR</a:t>
                      </a:r>
                      <a:endParaRPr sz="1100"/>
                    </a:p>
                  </a:txBody>
                  <a:tcPr marL="47625" marR="38100" marT="19050" marB="19050" anchor="ctr">
                    <a:solidFill>
                      <a:srgbClr val="007BA5"/>
                    </a:solidFill>
                  </a:tcPr>
                </a:tc>
              </a:tr>
              <a:tr h="216535">
                <a:tc>
                  <a:txBody>
                    <a:bodyPr wrap="none"/>
                    <a:lstStyle/>
                    <a:p>
                      <a:pPr algn="l"/>
                      <a:r>
                        <a:rPr sz="1100" b="1">
                          <a:solidFill>
                            <a:srgbClr val="252423"/>
                          </a:solidFill>
                          <a:latin typeface="Segoe UI"/>
                        </a:rPr>
                        <a:t>KSA</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41.2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44.3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47.7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51.3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55.2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59.4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63.8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68.4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73.2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78.2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83.7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89.9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96.7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104.1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112.0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120.3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7.3%</a:t>
                      </a:r>
                      <a:endParaRPr sz="1100"/>
                    </a:p>
                  </a:txBody>
                  <a:tcPr marL="47625" marR="38100" marT="19050" marB="19050" anchor="ctr">
                    <a:solidFill>
                      <a:srgbClr val="FFFFFF"/>
                    </a:solidFill>
                  </a:tcPr>
                </a:tc>
              </a:tr>
              <a:tr h="216535">
                <a:tc>
                  <a:txBody>
                    <a:bodyPr wrap="none"/>
                    <a:lstStyle/>
                    <a:p>
                      <a:pPr algn="l"/>
                      <a:r>
                        <a:rPr sz="1100" b="1">
                          <a:solidFill>
                            <a:srgbClr val="252423"/>
                          </a:solidFill>
                          <a:latin typeface="Segoe UI"/>
                        </a:rPr>
                        <a:t>Other GCC</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54.4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56.9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59.7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62.9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66.5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70.7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75.6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81.0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87.0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93.7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100.8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108.4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116.6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125.3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134.7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144.9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7.4%</a:t>
                      </a:r>
                      <a:endParaRPr sz="1100"/>
                    </a:p>
                  </a:txBody>
                  <a:tcPr marL="47625" marR="38100" marT="19050" marB="19050" anchor="ctr">
                    <a:solidFill>
                      <a:srgbClr val="F2FAFD"/>
                    </a:solidFill>
                  </a:tcPr>
                </a:tc>
              </a:tr>
              <a:tr h="216535">
                <a:tc>
                  <a:txBody>
                    <a:bodyPr wrap="none"/>
                    <a:lstStyle/>
                    <a:p>
                      <a:pPr algn="l"/>
                      <a:r>
                        <a:rPr sz="1100" b="1">
                          <a:solidFill>
                            <a:srgbClr val="252423"/>
                          </a:solidFill>
                          <a:latin typeface="Segoe UI"/>
                        </a:rPr>
                        <a:t>Turkiye</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53.6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55.9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58.4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61.2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64.3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68.0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72.1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76.6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81.3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86.3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91.2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96.2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101.3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106.7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112.3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118.0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5.7%</a:t>
                      </a:r>
                      <a:endParaRPr sz="1100"/>
                    </a:p>
                  </a:txBody>
                  <a:tcPr marL="47625" marR="38100" marT="19050" marB="19050" anchor="ctr">
                    <a:solidFill>
                      <a:srgbClr val="FFFFFF"/>
                    </a:solidFill>
                  </a:tcPr>
                </a:tc>
              </a:tr>
              <a:tr h="216535">
                <a:tc>
                  <a:txBody>
                    <a:bodyPr wrap="none"/>
                    <a:lstStyle/>
                    <a:p>
                      <a:pPr algn="l"/>
                      <a:r>
                        <a:rPr sz="1100" b="1">
                          <a:solidFill>
                            <a:srgbClr val="252423"/>
                          </a:solidFill>
                          <a:latin typeface="Segoe UI"/>
                        </a:rPr>
                        <a:t>South Africa</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18.1</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18.8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19.6</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20.4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21.3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22.3</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23.5</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24.7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26.0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27.4</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29.0</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30.8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32.7</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34.8</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36.9</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39.2</a:t>
                      </a:r>
                      <a:endParaRPr sz="1100"/>
                    </a:p>
                  </a:txBody>
                  <a:tcPr marL="47625" marR="38100" marT="19050" marB="19050" anchor="ctr">
                    <a:solidFill>
                      <a:srgbClr val="F2FAFD"/>
                    </a:solidFill>
                  </a:tcPr>
                </a:tc>
                <a:tc>
                  <a:txBody>
                    <a:bodyPr wrap="none"/>
                    <a:lstStyle/>
                    <a:p>
                      <a:pPr algn="l"/>
                      <a:r>
                        <a:rPr sz="1100" b="0">
                          <a:solidFill>
                            <a:srgbClr val="252423"/>
                          </a:solidFill>
                          <a:latin typeface="Segoe UI"/>
                        </a:rPr>
                        <a:t>5.8%</a:t>
                      </a:r>
                      <a:endParaRPr sz="1100"/>
                    </a:p>
                  </a:txBody>
                  <a:tcPr marL="47625" marR="38100" marT="19050" marB="19050" anchor="ctr">
                    <a:solidFill>
                      <a:srgbClr val="F2FAFD"/>
                    </a:solidFill>
                  </a:tcPr>
                </a:tc>
              </a:tr>
              <a:tr h="216535">
                <a:tc>
                  <a:txBody>
                    <a:bodyPr wrap="none"/>
                    <a:lstStyle/>
                    <a:p>
                      <a:pPr algn="l"/>
                      <a:r>
                        <a:rPr sz="1100" b="1">
                          <a:solidFill>
                            <a:srgbClr val="252423"/>
                          </a:solidFill>
                          <a:latin typeface="Segoe UI"/>
                        </a:rPr>
                        <a:t>Other African Union</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27.1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28.2</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29.5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30.9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32.6</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34.7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37.1</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39.7</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42.5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45.4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48.4</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51.5</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54.8</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58.3</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62.0</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65.9</a:t>
                      </a:r>
                      <a:endParaRPr sz="1100"/>
                    </a:p>
                  </a:txBody>
                  <a:tcPr marL="47625" marR="38100" marT="19050" marB="19050" anchor="ctr">
                    <a:solidFill>
                      <a:srgbClr val="FFFFFF"/>
                    </a:solidFill>
                  </a:tcPr>
                </a:tc>
                <a:tc>
                  <a:txBody>
                    <a:bodyPr wrap="none"/>
                    <a:lstStyle/>
                    <a:p>
                      <a:pPr algn="l"/>
                      <a:r>
                        <a:rPr sz="1100" b="0">
                          <a:solidFill>
                            <a:srgbClr val="252423"/>
                          </a:solidFill>
                          <a:latin typeface="Segoe UI"/>
                        </a:rPr>
                        <a:t>6.6%</a:t>
                      </a:r>
                      <a:endParaRPr sz="1100"/>
                    </a:p>
                  </a:txBody>
                  <a:tcPr marL="47625" marR="38100" marT="19050" marB="19050" anchor="ctr">
                    <a:solidFill>
                      <a:srgbClr val="FFFFFF"/>
                    </a:solidFill>
                  </a:tcPr>
                </a:tc>
              </a:tr>
              <a:tr h="216535">
                <a:tc>
                  <a:txBody>
                    <a:bodyPr wrap="none"/>
                    <a:lstStyle/>
                    <a:p>
                      <a:pPr algn="l"/>
                      <a:r>
                        <a:rPr sz="1100" b="1">
                          <a:solidFill>
                            <a:srgbClr val="252423"/>
                          </a:solidFill>
                          <a:latin typeface="Segoe UI"/>
                        </a:rPr>
                        <a:t>Total</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194.4</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204.2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214.9</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226.8</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240.0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255.2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272.0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290.3</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310.0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331.0</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353.1</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376.8</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402.2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429.2</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457.9</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488.3</a:t>
                      </a:r>
                      <a:endParaRPr sz="1100"/>
                    </a:p>
                  </a:txBody>
                  <a:tcPr marL="47625" marR="38100" marT="19050" marB="19050" anchor="ctr">
                    <a:solidFill>
                      <a:srgbClr val="E0F2FA"/>
                    </a:solidFill>
                  </a:tcPr>
                </a:tc>
                <a:tc>
                  <a:txBody>
                    <a:bodyPr wrap="none"/>
                    <a:lstStyle/>
                    <a:p>
                      <a:pPr algn="l"/>
                      <a:r>
                        <a:rPr sz="1100" b="1">
                          <a:solidFill>
                            <a:srgbClr val="252423"/>
                          </a:solidFill>
                          <a:latin typeface="Segoe UI"/>
                        </a:rPr>
                        <a:t>6.7%</a:t>
                      </a:r>
                      <a:endParaRPr sz="1100"/>
                    </a:p>
                  </a:txBody>
                  <a:tcPr marL="47625" marR="38100" marT="19050" marB="19050" anchor="ctr">
                    <a:solidFill>
                      <a:srgbClr val="E0F2FA"/>
                    </a:solidFill>
                  </a:tcPr>
                </a:tc>
              </a:tr>
            </a:tbl>
          </a:graphicData>
        </a:graphic>
      </p:graphicFrame>
      <p:sp>
        <p:nvSpPr>
          <p:cNvPr id="12" name="TextBox 11"/>
          <p:cNvSpPr txBox="1"/>
          <p:nvPr/>
        </p:nvSpPr>
        <p:spPr>
          <a:xfrm>
            <a:off x="219075" y="2762250"/>
            <a:ext cx="11753850" cy="171450"/>
          </a:xfrm>
          <a:prstGeom prst="rect">
            <a:avLst/>
          </a:prstGeom>
          <a:noFill/>
        </p:spPr>
        <p:txBody>
          <a:bodyPr wrap="square" lIns="0" rIns="0" tIns="0" bIns="0" anchor="b">
            <a:spAutoFit/>
          </a:bodyPr>
          <a:lstStyle/>
          <a:p>
            <a:pPr algn="l"/>
            <a:r>
              <a:rPr sz="1100" b="0" i="1">
                <a:solidFill>
                  <a:srgbClr val="605E5C"/>
                </a:solidFill>
                <a:latin typeface="Segoe UI"/>
              </a:rPr>
              <a:t>Source: Fact.MR</a:t>
            </a:r>
          </a:p>
        </p:txBody>
      </p:sp>
      <p:sp>
        <p:nvSpPr>
          <p:cNvPr id="13" name="Rectangle 12"/>
          <p:cNvSpPr/>
          <p:nvPr/>
        </p:nvSpPr>
        <p:spPr>
          <a:xfrm>
            <a:off x="142875" y="3095625"/>
            <a:ext cx="11906250" cy="35337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3181350"/>
            <a:ext cx="11639550" cy="209550"/>
          </a:xfrm>
          <a:prstGeom prst="rect">
            <a:avLst/>
          </a:prstGeom>
          <a:noFill/>
        </p:spPr>
        <p:txBody>
          <a:bodyPr wrap="square" lIns="0" rIns="19050" tIns="9525" bIns="9525">
            <a:spAutoFit/>
          </a:bodyPr>
          <a:lstStyle/>
          <a:p>
            <a:pPr algn="l"/>
            <a:r>
              <a:rPr sz="1300" b="1">
                <a:solidFill>
                  <a:srgbClr val="007BA5"/>
                </a:solidFill>
                <a:latin typeface="Segoe UI"/>
              </a:rPr>
              <a:t>Middle East &amp; Africa Value Share Read-out, By Country</a:t>
            </a:r>
          </a:p>
        </p:txBody>
      </p:sp>
      <p:sp>
        <p:nvSpPr>
          <p:cNvPr id="15" name="Rectangle 14"/>
          <p:cNvSpPr/>
          <p:nvPr/>
        </p:nvSpPr>
        <p:spPr>
          <a:xfrm>
            <a:off x="276225" y="3419475"/>
            <a:ext cx="1163955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3505200"/>
            <a:ext cx="11639550" cy="30480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KSA performance knitted fabrics market is projected to register 1.0X higher value than Turkiye in 2036. Among performance knitted fabrics by country, KSA is expected to witness the highest CAGR of 7.3% over the forecast period.</a:t>
            </a:r>
          </a:p>
          <a:p>
            <a:pPr algn="l">
              <a:lnSpc>
                <a:spcPct val="110000"/>
              </a:lnSpc>
              <a:spcBef>
                <a:spcPts val="0"/>
              </a:spcBef>
              <a:spcAft>
                <a:spcPts val="500"/>
              </a:spcAft>
            </a:pPr>
            <a:r>
              <a:rPr sz="1150" b="0">
                <a:solidFill>
                  <a:srgbClr val="252423"/>
                </a:solidFill>
                <a:latin typeface="Segoe UI"/>
              </a:rPr>
              <a:t>In terms of value share by country, KSA is expected to dominate the market, gaining 367 BPS and accounting for 43.3% share by 2036. Turkiye is expected to lose 288 BPS over the forecast period to account for 42.5% share by 2036.</a:t>
            </a:r>
          </a:p>
        </p:txBody>
      </p:sp>
      <p:sp>
        <p:nvSpPr>
          <p:cNvPr id="17" name="TextBox 1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Middle East &amp; Africa Performance Knitted Fabrics Market Trends, By Country</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Analysis of how country volume and value shares shift over 2021–2036, highlighting who gains ground</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Middle East &amp; Africa</a:t>
            </a:r>
          </a:p>
        </p:txBody>
      </p:sp>
      <p:sp>
        <p:nvSpPr>
          <p:cNvPr id="9" name="Rectangle 8"/>
          <p:cNvSpPr/>
          <p:nvPr/>
        </p:nvSpPr>
        <p:spPr>
          <a:xfrm>
            <a:off x="142875" y="981075"/>
            <a:ext cx="11906250"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Middle East &amp; Africa Volume By Country (Mn Sq. Yards)</a:t>
            </a:r>
          </a:p>
        </p:txBody>
      </p:sp>
      <p:graphicFrame>
        <p:nvGraphicFramePr>
          <p:cNvPr id="11" name="Chart 10"/>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r:id="rId3"/>
          </a:graphicData>
        </a:graphic>
      </p:graphicFrame>
      <p:sp>
        <p:nvSpPr>
          <p:cNvPr id="12" name="Rectangle 11"/>
          <p:cNvSpPr/>
          <p:nvPr/>
        </p:nvSpPr>
        <p:spPr>
          <a:xfrm>
            <a:off x="9763125" y="1304925"/>
            <a:ext cx="2190750" cy="2333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MI Dense Legend"/>
          <p:cNvSpPr txBox="1"/>
          <p:nvPr/>
        </p:nvSpPr>
        <p:spPr>
          <a:xfrm>
            <a:off x="9839325" y="1362075"/>
            <a:ext cx="2057400" cy="171450"/>
          </a:xfrm>
          <a:prstGeom prst="rect">
            <a:avLst/>
          </a:prstGeom>
          <a:noFill/>
        </p:spPr>
        <p:txBody>
          <a:bodyPr wrap="none">
            <a:spAutoFit/>
          </a:bodyPr>
          <a:lstStyle/>
          <a:p>
            <a:r>
              <a:rPr sz="850" b="1">
                <a:solidFill>
                  <a:srgbClr val="605E5C"/>
                </a:solidFill>
                <a:latin typeface="Segoe UI"/>
              </a:rPr>
              <a:t>By segment</a:t>
            </a:r>
          </a:p>
        </p:txBody>
      </p:sp>
      <p:sp>
        <p:nvSpPr>
          <p:cNvPr id="14" name="FMI Dense Legend"/>
          <p:cNvSpPr txBox="1"/>
          <p:nvPr/>
        </p:nvSpPr>
        <p:spPr>
          <a:xfrm>
            <a:off x="9839325" y="1533525"/>
            <a:ext cx="2057400" cy="2047875"/>
          </a:xfrm>
          <a:prstGeom prst="rect">
            <a:avLst/>
          </a:prstGeom>
          <a:noFill/>
        </p:spPr>
        <p:txBody>
          <a:bodyPr wrap="square">
            <a:spAutoFit/>
          </a:bodyPr>
          <a:lstStyle/>
          <a:p>
            <a:pPr>
              <a:spcBef>
                <a:spcPts val="500"/>
              </a:spcBef>
            </a:pPr>
            <a:r>
              <a:rPr sz="900">
                <a:solidFill>
                  <a:srgbClr val="00A4DC"/>
                </a:solidFill>
                <a:latin typeface="Segoe UI"/>
              </a:rPr>
              <a:t>■  </a:t>
            </a:r>
            <a:r>
              <a:rPr sz="750">
                <a:solidFill>
                  <a:srgbClr val="252423"/>
                </a:solidFill>
                <a:latin typeface="Segoe UI"/>
              </a:rPr>
              <a:t>   Turkiye</a:t>
            </a:r>
          </a:p>
          <a:p>
            <a:pPr>
              <a:spcBef>
                <a:spcPts val="500"/>
              </a:spcBef>
            </a:pPr>
            <a:r>
              <a:rPr sz="900">
                <a:solidFill>
                  <a:srgbClr val="6ECFF2"/>
                </a:solidFill>
                <a:latin typeface="Segoe UI"/>
              </a:rPr>
              <a:t>■  </a:t>
            </a:r>
            <a:r>
              <a:rPr sz="750">
                <a:solidFill>
                  <a:srgbClr val="252423"/>
                </a:solidFill>
                <a:latin typeface="Segoe UI"/>
              </a:rPr>
              <a:t>   Other GCC</a:t>
            </a:r>
          </a:p>
          <a:p>
            <a:pPr>
              <a:spcBef>
                <a:spcPts val="500"/>
              </a:spcBef>
            </a:pPr>
            <a:r>
              <a:rPr sz="900">
                <a:solidFill>
                  <a:srgbClr val="D6CAC4"/>
                </a:solidFill>
                <a:latin typeface="Segoe UI"/>
              </a:rPr>
              <a:t>■  </a:t>
            </a:r>
            <a:r>
              <a:rPr sz="750">
                <a:solidFill>
                  <a:srgbClr val="252423"/>
                </a:solidFill>
                <a:latin typeface="Segoe UI"/>
              </a:rPr>
              <a:t>   KSA</a:t>
            </a:r>
          </a:p>
          <a:p>
            <a:pPr>
              <a:spcBef>
                <a:spcPts val="500"/>
              </a:spcBef>
            </a:pPr>
            <a:r>
              <a:rPr sz="900">
                <a:solidFill>
                  <a:srgbClr val="EBC46B"/>
                </a:solidFill>
                <a:latin typeface="Segoe UI"/>
              </a:rPr>
              <a:t>■  </a:t>
            </a:r>
            <a:r>
              <a:rPr sz="750">
                <a:solidFill>
                  <a:srgbClr val="252423"/>
                </a:solidFill>
                <a:latin typeface="Segoe UI"/>
              </a:rPr>
              <a:t>   Other African Union</a:t>
            </a:r>
          </a:p>
          <a:p>
            <a:pPr>
              <a:spcBef>
                <a:spcPts val="500"/>
              </a:spcBef>
            </a:pPr>
            <a:r>
              <a:rPr sz="900">
                <a:solidFill>
                  <a:srgbClr val="EDA28B"/>
                </a:solidFill>
                <a:latin typeface="Segoe UI"/>
              </a:rPr>
              <a:t>■  </a:t>
            </a:r>
            <a:r>
              <a:rPr sz="750">
                <a:solidFill>
                  <a:srgbClr val="252423"/>
                </a:solidFill>
                <a:latin typeface="Segoe UI"/>
              </a:rPr>
              <a:t>   South Africa</a:t>
            </a:r>
          </a:p>
        </p:txBody>
      </p:sp>
      <p:sp>
        <p:nvSpPr>
          <p:cNvPr id="15" name="Rectangle 14"/>
          <p:cNvSpPr/>
          <p:nvPr/>
        </p:nvSpPr>
        <p:spPr>
          <a:xfrm>
            <a:off x="142875" y="3867150"/>
            <a:ext cx="11906250" cy="27527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Middle East &amp; Africa Value By Country (US$ Mn)</a:t>
            </a:r>
          </a:p>
        </p:txBody>
      </p:sp>
      <p:graphicFrame>
        <p:nvGraphicFramePr>
          <p:cNvPr id="17" name="Chart 16"/>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r:id="rId4"/>
          </a:graphicData>
        </a:graphic>
      </p:graphicFrame>
      <p:sp>
        <p:nvSpPr>
          <p:cNvPr id="18" name="Rectangle 17"/>
          <p:cNvSpPr/>
          <p:nvPr/>
        </p:nvSpPr>
        <p:spPr>
          <a:xfrm>
            <a:off x="9763125" y="4191000"/>
            <a:ext cx="2190750" cy="23336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MI Dense Legend"/>
          <p:cNvSpPr txBox="1"/>
          <p:nvPr/>
        </p:nvSpPr>
        <p:spPr>
          <a:xfrm>
            <a:off x="9839325" y="4248150"/>
            <a:ext cx="2057400" cy="171450"/>
          </a:xfrm>
          <a:prstGeom prst="rect">
            <a:avLst/>
          </a:prstGeom>
          <a:noFill/>
        </p:spPr>
        <p:txBody>
          <a:bodyPr wrap="none">
            <a:spAutoFit/>
          </a:bodyPr>
          <a:lstStyle/>
          <a:p>
            <a:r>
              <a:rPr sz="850" b="1">
                <a:solidFill>
                  <a:srgbClr val="605E5C"/>
                </a:solidFill>
                <a:latin typeface="Segoe UI"/>
              </a:rPr>
              <a:t>By segment</a:t>
            </a:r>
          </a:p>
        </p:txBody>
      </p:sp>
      <p:sp>
        <p:nvSpPr>
          <p:cNvPr id="20" name="FMI Dense Legend"/>
          <p:cNvSpPr txBox="1"/>
          <p:nvPr/>
        </p:nvSpPr>
        <p:spPr>
          <a:xfrm>
            <a:off x="9839325" y="4419600"/>
            <a:ext cx="2057400" cy="2047875"/>
          </a:xfrm>
          <a:prstGeom prst="rect">
            <a:avLst/>
          </a:prstGeom>
          <a:noFill/>
        </p:spPr>
        <p:txBody>
          <a:bodyPr wrap="square">
            <a:spAutoFit/>
          </a:bodyPr>
          <a:lstStyle/>
          <a:p>
            <a:pPr>
              <a:spcBef>
                <a:spcPts val="500"/>
              </a:spcBef>
            </a:pPr>
            <a:r>
              <a:rPr sz="900">
                <a:solidFill>
                  <a:srgbClr val="00A4DC"/>
                </a:solidFill>
                <a:latin typeface="Segoe UI"/>
              </a:rPr>
              <a:t>■  </a:t>
            </a:r>
            <a:r>
              <a:rPr sz="750">
                <a:solidFill>
                  <a:srgbClr val="252423"/>
                </a:solidFill>
                <a:latin typeface="Segoe UI"/>
              </a:rPr>
              <a:t>   Other GCC</a:t>
            </a:r>
          </a:p>
          <a:p>
            <a:pPr>
              <a:spcBef>
                <a:spcPts val="500"/>
              </a:spcBef>
            </a:pPr>
            <a:r>
              <a:rPr sz="900">
                <a:solidFill>
                  <a:srgbClr val="D6CAC4"/>
                </a:solidFill>
                <a:latin typeface="Segoe UI"/>
              </a:rPr>
              <a:t>■  </a:t>
            </a:r>
            <a:r>
              <a:rPr sz="750">
                <a:solidFill>
                  <a:srgbClr val="252423"/>
                </a:solidFill>
                <a:latin typeface="Segoe UI"/>
              </a:rPr>
              <a:t>   KSA</a:t>
            </a:r>
          </a:p>
          <a:p>
            <a:pPr>
              <a:spcBef>
                <a:spcPts val="500"/>
              </a:spcBef>
            </a:pPr>
            <a:r>
              <a:rPr sz="900">
                <a:solidFill>
                  <a:srgbClr val="6ECFF2"/>
                </a:solidFill>
                <a:latin typeface="Segoe UI"/>
              </a:rPr>
              <a:t>■  </a:t>
            </a:r>
            <a:r>
              <a:rPr sz="750">
                <a:solidFill>
                  <a:srgbClr val="252423"/>
                </a:solidFill>
                <a:latin typeface="Segoe UI"/>
              </a:rPr>
              <a:t>   Turkiye</a:t>
            </a:r>
          </a:p>
          <a:p>
            <a:pPr>
              <a:spcBef>
                <a:spcPts val="500"/>
              </a:spcBef>
            </a:pPr>
            <a:r>
              <a:rPr sz="900">
                <a:solidFill>
                  <a:srgbClr val="EBC46B"/>
                </a:solidFill>
                <a:latin typeface="Segoe UI"/>
              </a:rPr>
              <a:t>■  </a:t>
            </a:r>
            <a:r>
              <a:rPr sz="750">
                <a:solidFill>
                  <a:srgbClr val="252423"/>
                </a:solidFill>
                <a:latin typeface="Segoe UI"/>
              </a:rPr>
              <a:t>   Other African Union</a:t>
            </a:r>
          </a:p>
          <a:p>
            <a:pPr>
              <a:spcBef>
                <a:spcPts val="500"/>
              </a:spcBef>
            </a:pPr>
            <a:r>
              <a:rPr sz="900">
                <a:solidFill>
                  <a:srgbClr val="EDA28B"/>
                </a:solidFill>
                <a:latin typeface="Segoe UI"/>
              </a:rPr>
              <a:t>■  </a:t>
            </a:r>
            <a:r>
              <a:rPr sz="750">
                <a:solidFill>
                  <a:srgbClr val="252423"/>
                </a:solidFill>
                <a:latin typeface="Segoe UI"/>
              </a:rPr>
              <a:t>   South Africa</a:t>
            </a:r>
          </a:p>
        </p:txBody>
      </p:sp>
      <p:sp>
        <p:nvSpPr>
          <p:cNvPr id="21" name="TextBox 2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Middle East &amp; Africa Performance Knitted Fabrics Market Top 3 Countries (2036)</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Country hierarchy of the Middle East &amp; Africa market in 2036, highlighting the leading countries within each region by value</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Middle East &amp; Africa</a:t>
            </a:r>
          </a:p>
        </p:txBody>
      </p:sp>
      <p:sp>
        <p:nvSpPr>
          <p:cNvPr id="9" name="Rectangle 8"/>
          <p:cNvSpPr/>
          <p:nvPr/>
        </p:nvSpPr>
        <p:spPr>
          <a:xfrm>
            <a:off x="142875" y="981075"/>
            <a:ext cx="1190625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Middle East &amp; Africa market by country  ·  2036 (US$ Mn)  ·  tile size = market value</a:t>
            </a:r>
          </a:p>
        </p:txBody>
      </p:sp>
      <p:sp>
        <p:nvSpPr>
          <p:cNvPr id="11" name="Rectangle 10"/>
          <p:cNvSpPr/>
          <p:nvPr/>
        </p:nvSpPr>
        <p:spPr>
          <a:xfrm>
            <a:off x="238125" y="1266825"/>
            <a:ext cx="5078451" cy="5305425"/>
          </a:xfrm>
          <a:prstGeom prst="rect">
            <a:avLst/>
          </a:prstGeom>
          <a:solidFill>
            <a:srgbClr val="00A4DC"/>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KSA</a:t>
            </a:r>
          </a:p>
          <a:p>
            <a:pPr algn="ctr"/>
            <a:r>
              <a:rPr sz="1100" b="0">
                <a:solidFill>
                  <a:srgbClr val="FFFFFF"/>
                </a:solidFill>
                <a:latin typeface="Segoe UI"/>
              </a:rPr>
              <a:t>120</a:t>
            </a:r>
          </a:p>
        </p:txBody>
      </p:sp>
      <p:sp>
        <p:nvSpPr>
          <p:cNvPr id="12" name="Rectangle 11"/>
          <p:cNvSpPr/>
          <p:nvPr/>
        </p:nvSpPr>
        <p:spPr>
          <a:xfrm>
            <a:off x="5316576" y="1266825"/>
            <a:ext cx="4982511" cy="5305425"/>
          </a:xfrm>
          <a:prstGeom prst="rect">
            <a:avLst/>
          </a:prstGeom>
          <a:solidFill>
            <a:srgbClr val="6ECFF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Turkiye</a:t>
            </a:r>
          </a:p>
          <a:p>
            <a:pPr algn="ctr"/>
            <a:r>
              <a:rPr sz="1100" b="0">
                <a:solidFill>
                  <a:srgbClr val="252423"/>
                </a:solidFill>
                <a:latin typeface="Segoe UI"/>
              </a:rPr>
              <a:t>118</a:t>
            </a:r>
          </a:p>
        </p:txBody>
      </p:sp>
      <p:sp>
        <p:nvSpPr>
          <p:cNvPr id="13" name="Rectangle 12"/>
          <p:cNvSpPr/>
          <p:nvPr/>
        </p:nvSpPr>
        <p:spPr>
          <a:xfrm>
            <a:off x="10299088" y="1266825"/>
            <a:ext cx="1654787" cy="5305425"/>
          </a:xfrm>
          <a:prstGeom prst="rect">
            <a:avLst/>
          </a:prstGeom>
          <a:solidFill>
            <a:srgbClr val="D6CAC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252423"/>
                </a:solidFill>
                <a:latin typeface="Segoe UI"/>
              </a:rPr>
              <a:t>South Africa</a:t>
            </a:r>
          </a:p>
          <a:p>
            <a:pPr algn="ctr"/>
            <a:r>
              <a:rPr sz="1100" b="0">
                <a:solidFill>
                  <a:srgbClr val="252423"/>
                </a:solidFill>
                <a:latin typeface="Segoe UI"/>
              </a:rPr>
              <a:t>39.2</a:t>
            </a:r>
          </a:p>
        </p:txBody>
      </p:sp>
      <p:sp>
        <p:nvSpPr>
          <p:cNvPr id="14" name="TextBox 1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Fabric Construction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2 sub-segments of Fabric Construction,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Middle East &amp; Africa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Fabric Construction segment categorizes the market by fabric construction.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4943475"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4943475"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Weft Knitted Fabrics</a:t>
            </a:r>
          </a:p>
        </p:txBody>
      </p:sp>
      <p:sp>
        <p:nvSpPr>
          <p:cNvPr id="21" name="Rectangle 20"/>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200.0</a:t>
            </a:r>
          </a:p>
        </p:txBody>
      </p:sp>
      <p:sp>
        <p:nvSpPr>
          <p:cNvPr id="22" name="Rectangle 21"/>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373.2</a:t>
            </a:r>
          </a:p>
        </p:txBody>
      </p:sp>
      <p:sp>
        <p:nvSpPr>
          <p:cNvPr id="23" name="Rectangle 22"/>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6.4%</a:t>
            </a:r>
          </a:p>
        </p:txBody>
      </p:sp>
      <p:sp>
        <p:nvSpPr>
          <p:cNvPr id="24" name="Oval 23"/>
          <p:cNvSpPr/>
          <p:nvPr/>
        </p:nvSpPr>
        <p:spPr>
          <a:xfrm>
            <a:off x="4176712"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6924675" y="1773916"/>
            <a:ext cx="4943475"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24675" y="1992961"/>
            <a:ext cx="4943475"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Segoe UI"/>
              </a:rPr>
              <a:t>Warp Knitted Fabrics</a:t>
            </a:r>
          </a:p>
        </p:txBody>
      </p:sp>
      <p:sp>
        <p:nvSpPr>
          <p:cNvPr id="28" name="Rectangle 27"/>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55.2</a:t>
            </a:r>
          </a:p>
        </p:txBody>
      </p:sp>
      <p:sp>
        <p:nvSpPr>
          <p:cNvPr id="29" name="Rectangle 28"/>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115.1</a:t>
            </a:r>
          </a:p>
        </p:txBody>
      </p:sp>
      <p:sp>
        <p:nvSpPr>
          <p:cNvPr id="30" name="Rectangle 29"/>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7.6%</a:t>
            </a:r>
          </a:p>
        </p:txBody>
      </p:sp>
      <p:sp>
        <p:nvSpPr>
          <p:cNvPr id="31" name="Oval 30"/>
          <p:cNvSpPr/>
          <p:nvPr/>
        </p:nvSpPr>
        <p:spPr>
          <a:xfrm>
            <a:off x="9234488"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34" name="Rectangle 33"/>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fabric construction, warp knitted fabrics segment is expected to witness the highest CAGR of 7.6% over the forecast period. In terms of value share by fabric construction, the weft knitted fabrics segment is expected to dominate the market, losing 195 BPS and accounting for 76.4%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Weft knitted fabrics segment is projected to register 3.2X higher value than warp knitted fabrics segment in 2036.</a:t>
            </a:r>
          </a:p>
        </p:txBody>
      </p:sp>
      <p:sp>
        <p:nvSpPr>
          <p:cNvPr id="36" name="Rounded Rectangle 35"/>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38" name="Rectangle 37"/>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Weft Knitted Fabrics: </a:t>
            </a:r>
            <a:r>
              <a:rPr sz="1100" b="0">
                <a:solidFill>
                  <a:srgbClr val="252423"/>
                </a:solidFill>
                <a:latin typeface="Segoe UI"/>
              </a:rPr>
              <a:t>78% of 2026 value · 6.4%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Warp Knitted Fabrics: </a:t>
            </a:r>
            <a:r>
              <a:rPr sz="1100" b="0">
                <a:solidFill>
                  <a:srgbClr val="252423"/>
                </a:solidFill>
                <a:latin typeface="Segoe UI"/>
              </a:rPr>
              <a:t>22% of 2026 value · 7.6% CAGR grows fastest.</a:t>
            </a:r>
          </a:p>
        </p:txBody>
      </p:sp>
      <p:sp>
        <p:nvSpPr>
          <p:cNvPr id="40" name="Rounded Rectangle 39"/>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2" name="Rectangle 41"/>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Fabric Construction split shows how demand is distributed across fabric construction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44" name="Rectangle 43"/>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Fabric Construction segment is projected to grow at a CAGR of 6.7% from 2026 to 2036.</a:t>
            </a:r>
          </a:p>
        </p:txBody>
      </p:sp>
      <p:sp>
        <p:nvSpPr>
          <p:cNvPr id="46" name="TextBox 45"/>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7" name="TextBox 4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Middle East &amp; Africa Market Value &amp; Share Shift, By Fabric Construction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Fabric Construction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Middle East &amp; Africa</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Middle East &amp; Africa Value Composition, By Fabric Construction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2210228"/>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2205466"/>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212926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Warp Knitted Fabrics</a:t>
            </a:r>
          </a:p>
        </p:txBody>
      </p:sp>
      <p:sp>
        <p:nvSpPr>
          <p:cNvPr id="17" name="BPS Value 1"/>
          <p:cNvSpPr txBox="1"/>
          <p:nvPr/>
        </p:nvSpPr>
        <p:spPr>
          <a:xfrm>
            <a:off x="6896100" y="2191178"/>
            <a:ext cx="514350" cy="123825"/>
          </a:xfrm>
          <a:prstGeom prst="rect">
            <a:avLst/>
          </a:prstGeom>
          <a:noFill/>
        </p:spPr>
        <p:txBody>
          <a:bodyPr wrap="none" lIns="0" rIns="0" tIns="0" bIns="0" anchor="ctr">
            <a:spAutoFit/>
          </a:bodyPr>
          <a:lstStyle/>
          <a:p>
            <a:pPr algn="r"/>
            <a:r>
              <a:rPr sz="900" b="1">
                <a:solidFill>
                  <a:srgbClr val="1E8E3E"/>
                </a:solidFill>
                <a:latin typeface="Segoe UI"/>
              </a:rPr>
              <a:t>+195</a:t>
            </a:r>
          </a:p>
        </p:txBody>
      </p:sp>
      <p:sp>
        <p:nvSpPr>
          <p:cNvPr id="18" name="FMI Legend Chip"/>
          <p:cNvSpPr/>
          <p:nvPr/>
        </p:nvSpPr>
        <p:spPr>
          <a:xfrm>
            <a:off x="4928997" y="4496419"/>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10800000">
            <a:off x="5090922" y="449165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441545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Weft Knitted Fabrics</a:t>
            </a:r>
          </a:p>
        </p:txBody>
      </p:sp>
      <p:sp>
        <p:nvSpPr>
          <p:cNvPr id="21" name="BPS Value 2"/>
          <p:cNvSpPr txBox="1"/>
          <p:nvPr/>
        </p:nvSpPr>
        <p:spPr>
          <a:xfrm>
            <a:off x="6896100" y="4477369"/>
            <a:ext cx="514350" cy="123825"/>
          </a:xfrm>
          <a:prstGeom prst="rect">
            <a:avLst/>
          </a:prstGeom>
          <a:noFill/>
        </p:spPr>
        <p:txBody>
          <a:bodyPr wrap="none" lIns="0" rIns="0" tIns="0" bIns="0" anchor="ctr">
            <a:spAutoFit/>
          </a:bodyPr>
          <a:lstStyle/>
          <a:p>
            <a:pPr algn="r"/>
            <a:r>
              <a:rPr sz="900" b="1">
                <a:solidFill>
                  <a:srgbClr val="D64545"/>
                </a:solidFill>
                <a:latin typeface="Segoe UI"/>
              </a:rPr>
              <a:t>-195</a:t>
            </a:r>
          </a:p>
        </p:txBody>
      </p:sp>
      <p:sp>
        <p:nvSpPr>
          <p:cNvPr id="22" name="Rectangle 21"/>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Middle East &amp; Africa Read-out, By Fabric Construction</a:t>
            </a:r>
          </a:p>
        </p:txBody>
      </p:sp>
      <p:sp>
        <p:nvSpPr>
          <p:cNvPr id="24" name="Rectangle 23"/>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fabric construction, warp knitted fabrics segment is expected to witness the highest CAGR of 7.6% over the forecast period.</a:t>
            </a:r>
          </a:p>
          <a:p>
            <a:pPr algn="l">
              <a:lnSpc>
                <a:spcPct val="110000"/>
              </a:lnSpc>
              <a:spcBef>
                <a:spcPts val="0"/>
              </a:spcBef>
              <a:spcAft>
                <a:spcPts val="500"/>
              </a:spcAft>
            </a:pPr>
            <a:r>
              <a:rPr sz="1150" b="0">
                <a:solidFill>
                  <a:srgbClr val="252423"/>
                </a:solidFill>
                <a:latin typeface="Segoe UI"/>
              </a:rPr>
              <a:t>In terms of value share by fabric construction, the weft knitted fabrics segment is expected to dominate the market, losing 195 BPS and accounting for 76.4% share by 2036.</a:t>
            </a:r>
          </a:p>
        </p:txBody>
      </p:sp>
      <p:sp>
        <p:nvSpPr>
          <p:cNvPr id="26" name="TextBox 2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Material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6 sub-segments of Material,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Middle East &amp; Africa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Material segment categorizes the market by material.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1571625"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1571625"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Polyester</a:t>
            </a:r>
          </a:p>
        </p:txBody>
      </p:sp>
      <p:sp>
        <p:nvSpPr>
          <p:cNvPr id="21" name="Rectangle 20"/>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138.3</a:t>
            </a:r>
          </a:p>
        </p:txBody>
      </p:sp>
      <p:sp>
        <p:nvSpPr>
          <p:cNvPr id="22" name="Rectangle 21"/>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252.1</a:t>
            </a:r>
          </a:p>
        </p:txBody>
      </p:sp>
      <p:sp>
        <p:nvSpPr>
          <p:cNvPr id="23" name="Rectangle 22"/>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6.2%</a:t>
            </a:r>
          </a:p>
        </p:txBody>
      </p:sp>
      <p:sp>
        <p:nvSpPr>
          <p:cNvPr id="24" name="Oval 23"/>
          <p:cNvSpPr/>
          <p:nvPr/>
        </p:nvSpPr>
        <p:spPr>
          <a:xfrm>
            <a:off x="2490788"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3552825" y="1773916"/>
            <a:ext cx="1571625"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552825" y="1992961"/>
            <a:ext cx="1571625"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Polyamide or Nylon</a:t>
            </a:r>
          </a:p>
        </p:txBody>
      </p:sp>
      <p:sp>
        <p:nvSpPr>
          <p:cNvPr id="28" name="Rectangle 27"/>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34.0</a:t>
            </a:r>
          </a:p>
        </p:txBody>
      </p:sp>
      <p:sp>
        <p:nvSpPr>
          <p:cNvPr id="29" name="Rectangle 28"/>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63.9</a:t>
            </a:r>
          </a:p>
        </p:txBody>
      </p:sp>
      <p:sp>
        <p:nvSpPr>
          <p:cNvPr id="30" name="Rectangle 29"/>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6.5%</a:t>
            </a:r>
          </a:p>
        </p:txBody>
      </p:sp>
      <p:sp>
        <p:nvSpPr>
          <p:cNvPr id="31" name="Oval 30"/>
          <p:cNvSpPr/>
          <p:nvPr/>
        </p:nvSpPr>
        <p:spPr>
          <a:xfrm>
            <a:off x="4176712"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5238750" y="1773916"/>
            <a:ext cx="1571625"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238750" y="1992961"/>
            <a:ext cx="1571625"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High-Performance &amp; Specialty Fibe…</a:t>
            </a:r>
          </a:p>
        </p:txBody>
      </p:sp>
      <p:sp>
        <p:nvSpPr>
          <p:cNvPr id="35" name="Rectangle 34"/>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30.0</a:t>
            </a:r>
          </a:p>
        </p:txBody>
      </p:sp>
      <p:sp>
        <p:nvSpPr>
          <p:cNvPr id="36" name="Rectangle 35"/>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67.0</a:t>
            </a:r>
          </a:p>
        </p:txBody>
      </p:sp>
      <p:sp>
        <p:nvSpPr>
          <p:cNvPr id="37" name="Rectangle 36"/>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8.4%</a:t>
            </a:r>
          </a:p>
        </p:txBody>
      </p:sp>
      <p:sp>
        <p:nvSpPr>
          <p:cNvPr id="38" name="Oval 37"/>
          <p:cNvSpPr/>
          <p:nvPr/>
        </p:nvSpPr>
        <p:spPr>
          <a:xfrm>
            <a:off x="5862638"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6924675" y="1773916"/>
            <a:ext cx="1571625"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924675" y="1992961"/>
            <a:ext cx="1571625"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Elastane or Spandex Blends</a:t>
            </a:r>
          </a:p>
        </p:txBody>
      </p:sp>
      <p:sp>
        <p:nvSpPr>
          <p:cNvPr id="42" name="Rectangle 41"/>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28.8</a:t>
            </a:r>
          </a:p>
        </p:txBody>
      </p:sp>
      <p:sp>
        <p:nvSpPr>
          <p:cNvPr id="43" name="Rectangle 42"/>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60.5</a:t>
            </a:r>
          </a:p>
        </p:txBody>
      </p:sp>
      <p:sp>
        <p:nvSpPr>
          <p:cNvPr id="44" name="Rectangle 43"/>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7.7%</a:t>
            </a:r>
          </a:p>
        </p:txBody>
      </p:sp>
      <p:sp>
        <p:nvSpPr>
          <p:cNvPr id="45" name="Oval 44"/>
          <p:cNvSpPr/>
          <p:nvPr/>
        </p:nvSpPr>
        <p:spPr>
          <a:xfrm>
            <a:off x="7548562"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8610600" y="1773916"/>
            <a:ext cx="1571625"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610600" y="1992961"/>
            <a:ext cx="1571625"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Cellulosic Fibers</a:t>
            </a:r>
          </a:p>
        </p:txBody>
      </p:sp>
      <p:sp>
        <p:nvSpPr>
          <p:cNvPr id="49" name="Rectangle 48"/>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12.5</a:t>
            </a:r>
          </a:p>
        </p:txBody>
      </p:sp>
      <p:sp>
        <p:nvSpPr>
          <p:cNvPr id="50" name="Rectangle 49"/>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22.0</a:t>
            </a:r>
          </a:p>
        </p:txBody>
      </p:sp>
      <p:sp>
        <p:nvSpPr>
          <p:cNvPr id="51" name="Rectangle 50"/>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5.8%</a:t>
            </a:r>
          </a:p>
        </p:txBody>
      </p:sp>
      <p:sp>
        <p:nvSpPr>
          <p:cNvPr id="52" name="Oval 51"/>
          <p:cNvSpPr/>
          <p:nvPr/>
        </p:nvSpPr>
        <p:spPr>
          <a:xfrm>
            <a:off x="9234488"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53" name="Rounded Rectangle 52"/>
          <p:cNvSpPr/>
          <p:nvPr/>
        </p:nvSpPr>
        <p:spPr>
          <a:xfrm>
            <a:off x="10296525" y="1773916"/>
            <a:ext cx="1571625"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296525" y="1992961"/>
            <a:ext cx="1571625"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Segoe UI"/>
              </a:rPr>
              <a:t>Polypropylene</a:t>
            </a:r>
          </a:p>
        </p:txBody>
      </p:sp>
      <p:sp>
        <p:nvSpPr>
          <p:cNvPr id="56" name="Rectangle 55"/>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11.6</a:t>
            </a:r>
          </a:p>
        </p:txBody>
      </p:sp>
      <p:sp>
        <p:nvSpPr>
          <p:cNvPr id="57" name="Rectangle 56"/>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22.8</a:t>
            </a:r>
          </a:p>
        </p:txBody>
      </p:sp>
      <p:sp>
        <p:nvSpPr>
          <p:cNvPr id="58" name="Rectangle 57"/>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7.0%</a:t>
            </a:r>
          </a:p>
        </p:txBody>
      </p:sp>
      <p:sp>
        <p:nvSpPr>
          <p:cNvPr id="59" name="Oval 58"/>
          <p:cNvSpPr/>
          <p:nvPr/>
        </p:nvSpPr>
        <p:spPr>
          <a:xfrm>
            <a:off x="10920412"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60" name="Rounded Rectangle 59"/>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62" name="Rectangle 61"/>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material, high-performance &amp; specialty fibers segment is expected to witness the highest CAGR of 8.4% over the forecast period. In terms of value share by material, the polyester segment is expected to dominate the market, losing 256 BPS and accounting for 51.6%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Polyester segment is projected to register 3.8X higher value than high-performance &amp; specialty fibers segment in 2036.</a:t>
            </a:r>
          </a:p>
        </p:txBody>
      </p:sp>
      <p:sp>
        <p:nvSpPr>
          <p:cNvPr id="64" name="Rounded Rectangle 63"/>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66" name="Rectangle 65"/>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Polyester: </a:t>
            </a:r>
            <a:r>
              <a:rPr sz="1100" b="0">
                <a:solidFill>
                  <a:srgbClr val="252423"/>
                </a:solidFill>
                <a:latin typeface="Segoe UI"/>
              </a:rPr>
              <a:t>54% of 2026 value · 6.2%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Polyamide or Nylon: </a:t>
            </a:r>
            <a:r>
              <a:rPr sz="1100" b="0">
                <a:solidFill>
                  <a:srgbClr val="252423"/>
                </a:solidFill>
                <a:latin typeface="Segoe UI"/>
              </a:rPr>
              <a:t>13% of 2026 value · 6.5%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High-Performance &amp; Specialty Fibers: </a:t>
            </a:r>
            <a:r>
              <a:rPr sz="1100" b="0">
                <a:solidFill>
                  <a:srgbClr val="252423"/>
                </a:solidFill>
                <a:latin typeface="Segoe UI"/>
              </a:rPr>
              <a:t>12% of 2026 value · 8.4% CAGR grows fastest.</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Elastane or Spandex Blends: </a:t>
            </a:r>
            <a:r>
              <a:rPr sz="1100" b="0">
                <a:solidFill>
                  <a:srgbClr val="252423"/>
                </a:solidFill>
                <a:latin typeface="Segoe UI"/>
              </a:rPr>
              <a:t>11% of 2026 value · 7.7% CAGR serves a niche.</a:t>
            </a:r>
          </a:p>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Cellulosic Fibers: </a:t>
            </a:r>
            <a:r>
              <a:rPr sz="1100" b="0">
                <a:solidFill>
                  <a:srgbClr val="252423"/>
                </a:solidFill>
                <a:latin typeface="Segoe UI"/>
              </a:rPr>
              <a:t>5% of 2026 value · 5.8% CAGR serves a niche.</a:t>
            </a:r>
          </a:p>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Polypropylene: </a:t>
            </a:r>
            <a:r>
              <a:rPr sz="1100" b="0">
                <a:solidFill>
                  <a:srgbClr val="252423"/>
                </a:solidFill>
                <a:latin typeface="Segoe UI"/>
              </a:rPr>
              <a:t>5% of 2026 value · 7.0% CAGR serves a niche.</a:t>
            </a:r>
          </a:p>
        </p:txBody>
      </p:sp>
      <p:sp>
        <p:nvSpPr>
          <p:cNvPr id="68" name="Rounded Rectangle 67"/>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70" name="Rectangle 69"/>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Material split shows how demand is distributed across material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72" name="Rectangle 71"/>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Material segment is projected to grow at a CAGR of 6.7% from 2026 to 2036.</a:t>
            </a:r>
          </a:p>
        </p:txBody>
      </p:sp>
      <p:sp>
        <p:nvSpPr>
          <p:cNvPr id="74" name="TextBox 73"/>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75" name="TextBox 74"/>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Middle East &amp; Africa Market Value &amp; Share Shift, By Material</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Material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Middle East &amp; Africa</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Middle East &amp; Africa Value Composition, By Material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774057"/>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5090922" y="176929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69309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Cellulosic Fibers</a:t>
            </a:r>
          </a:p>
        </p:txBody>
      </p:sp>
      <p:sp>
        <p:nvSpPr>
          <p:cNvPr id="17" name="BPS Value 1"/>
          <p:cNvSpPr txBox="1"/>
          <p:nvPr/>
        </p:nvSpPr>
        <p:spPr>
          <a:xfrm>
            <a:off x="6896100" y="1755007"/>
            <a:ext cx="514350" cy="123825"/>
          </a:xfrm>
          <a:prstGeom prst="rect">
            <a:avLst/>
          </a:prstGeom>
          <a:noFill/>
        </p:spPr>
        <p:txBody>
          <a:bodyPr wrap="none" lIns="0" rIns="0" tIns="0" bIns="0" anchor="ctr">
            <a:spAutoFit/>
          </a:bodyPr>
          <a:lstStyle/>
          <a:p>
            <a:pPr algn="r"/>
            <a:r>
              <a:rPr sz="900" b="1">
                <a:solidFill>
                  <a:srgbClr val="D64545"/>
                </a:solidFill>
                <a:latin typeface="Segoe UI"/>
              </a:rPr>
              <a:t>-39</a:t>
            </a:r>
          </a:p>
        </p:txBody>
      </p:sp>
      <p:sp>
        <p:nvSpPr>
          <p:cNvPr id="18" name="FMI Legend Chip"/>
          <p:cNvSpPr/>
          <p:nvPr/>
        </p:nvSpPr>
        <p:spPr>
          <a:xfrm>
            <a:off x="4928997" y="1983745"/>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1978982"/>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190278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Polypropylene</a:t>
            </a:r>
          </a:p>
        </p:txBody>
      </p:sp>
      <p:sp>
        <p:nvSpPr>
          <p:cNvPr id="21" name="BPS Value 2"/>
          <p:cNvSpPr txBox="1"/>
          <p:nvPr/>
        </p:nvSpPr>
        <p:spPr>
          <a:xfrm>
            <a:off x="6896100" y="1964695"/>
            <a:ext cx="514350" cy="123825"/>
          </a:xfrm>
          <a:prstGeom prst="rect">
            <a:avLst/>
          </a:prstGeom>
          <a:noFill/>
        </p:spPr>
        <p:txBody>
          <a:bodyPr wrap="none" lIns="0" rIns="0" tIns="0" bIns="0" anchor="ctr">
            <a:spAutoFit/>
          </a:bodyPr>
          <a:lstStyle/>
          <a:p>
            <a:pPr algn="r"/>
            <a:r>
              <a:rPr sz="900" b="1">
                <a:solidFill>
                  <a:srgbClr val="1E8E3E"/>
                </a:solidFill>
                <a:latin typeface="Segoe UI"/>
              </a:rPr>
              <a:t>+13</a:t>
            </a:r>
          </a:p>
        </p:txBody>
      </p:sp>
      <p:sp>
        <p:nvSpPr>
          <p:cNvPr id="22" name="FMI Legend Chip"/>
          <p:cNvSpPr/>
          <p:nvPr/>
        </p:nvSpPr>
        <p:spPr>
          <a:xfrm>
            <a:off x="4928997" y="2373862"/>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5090922" y="236909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29289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Elastane or Spandex Blends</a:t>
            </a:r>
          </a:p>
        </p:txBody>
      </p:sp>
      <p:sp>
        <p:nvSpPr>
          <p:cNvPr id="25" name="BPS Value 3"/>
          <p:cNvSpPr txBox="1"/>
          <p:nvPr/>
        </p:nvSpPr>
        <p:spPr>
          <a:xfrm>
            <a:off x="6896100" y="2354812"/>
            <a:ext cx="514350" cy="123825"/>
          </a:xfrm>
          <a:prstGeom prst="rect">
            <a:avLst/>
          </a:prstGeom>
          <a:noFill/>
        </p:spPr>
        <p:txBody>
          <a:bodyPr wrap="none" lIns="0" rIns="0" tIns="0" bIns="0" anchor="ctr">
            <a:spAutoFit/>
          </a:bodyPr>
          <a:lstStyle/>
          <a:p>
            <a:pPr algn="r"/>
            <a:r>
              <a:rPr sz="900" b="1">
                <a:solidFill>
                  <a:srgbClr val="1E8E3E"/>
                </a:solidFill>
                <a:latin typeface="Segoe UI"/>
              </a:rPr>
              <a:t>+109</a:t>
            </a:r>
          </a:p>
        </p:txBody>
      </p:sp>
      <p:sp>
        <p:nvSpPr>
          <p:cNvPr id="26" name="FMI Legend Chip"/>
          <p:cNvSpPr/>
          <p:nvPr/>
        </p:nvSpPr>
        <p:spPr>
          <a:xfrm>
            <a:off x="4928997" y="2956381"/>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rot="10800000">
            <a:off x="5090922" y="2951618"/>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2875418"/>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Polyamide or Nylon</a:t>
            </a:r>
          </a:p>
        </p:txBody>
      </p:sp>
      <p:sp>
        <p:nvSpPr>
          <p:cNvPr id="29" name="BPS Value 4"/>
          <p:cNvSpPr txBox="1"/>
          <p:nvPr/>
        </p:nvSpPr>
        <p:spPr>
          <a:xfrm>
            <a:off x="6896100" y="2937331"/>
            <a:ext cx="514350" cy="123825"/>
          </a:xfrm>
          <a:prstGeom prst="rect">
            <a:avLst/>
          </a:prstGeom>
          <a:noFill/>
        </p:spPr>
        <p:txBody>
          <a:bodyPr wrap="none" lIns="0" rIns="0" tIns="0" bIns="0" anchor="ctr">
            <a:spAutoFit/>
          </a:bodyPr>
          <a:lstStyle/>
          <a:p>
            <a:pPr algn="r"/>
            <a:r>
              <a:rPr sz="900" b="1">
                <a:solidFill>
                  <a:srgbClr val="D64545"/>
                </a:solidFill>
                <a:latin typeface="Segoe UI"/>
              </a:rPr>
              <a:t>-24</a:t>
            </a:r>
          </a:p>
        </p:txBody>
      </p:sp>
      <p:sp>
        <p:nvSpPr>
          <p:cNvPr id="30" name="FMI Legend Chip"/>
          <p:cNvSpPr/>
          <p:nvPr/>
        </p:nvSpPr>
        <p:spPr>
          <a:xfrm>
            <a:off x="4928997" y="3569423"/>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5090922" y="3564660"/>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348846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High-Performance &amp; Specialty Fibers</a:t>
            </a:r>
          </a:p>
        </p:txBody>
      </p:sp>
      <p:sp>
        <p:nvSpPr>
          <p:cNvPr id="33" name="BPS Value 5"/>
          <p:cNvSpPr txBox="1"/>
          <p:nvPr/>
        </p:nvSpPr>
        <p:spPr>
          <a:xfrm>
            <a:off x="6896100" y="3550373"/>
            <a:ext cx="514350" cy="123825"/>
          </a:xfrm>
          <a:prstGeom prst="rect">
            <a:avLst/>
          </a:prstGeom>
          <a:noFill/>
        </p:spPr>
        <p:txBody>
          <a:bodyPr wrap="none" lIns="0" rIns="0" tIns="0" bIns="0" anchor="ctr">
            <a:spAutoFit/>
          </a:bodyPr>
          <a:lstStyle/>
          <a:p>
            <a:pPr algn="r"/>
            <a:r>
              <a:rPr sz="900" b="1">
                <a:solidFill>
                  <a:srgbClr val="1E8E3E"/>
                </a:solidFill>
                <a:latin typeface="Segoe UI"/>
              </a:rPr>
              <a:t>+197</a:t>
            </a:r>
          </a:p>
        </p:txBody>
      </p:sp>
      <p:sp>
        <p:nvSpPr>
          <p:cNvPr id="34" name="FMI Legend Chip"/>
          <p:cNvSpPr/>
          <p:nvPr/>
        </p:nvSpPr>
        <p:spPr>
          <a:xfrm>
            <a:off x="4928997" y="5063406"/>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rot="10800000">
            <a:off x="5090922" y="5058644"/>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498244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Polyester</a:t>
            </a:r>
          </a:p>
        </p:txBody>
      </p:sp>
      <p:sp>
        <p:nvSpPr>
          <p:cNvPr id="37" name="BPS Value 6"/>
          <p:cNvSpPr txBox="1"/>
          <p:nvPr/>
        </p:nvSpPr>
        <p:spPr>
          <a:xfrm>
            <a:off x="6896100" y="5044356"/>
            <a:ext cx="514350" cy="123825"/>
          </a:xfrm>
          <a:prstGeom prst="rect">
            <a:avLst/>
          </a:prstGeom>
          <a:noFill/>
        </p:spPr>
        <p:txBody>
          <a:bodyPr wrap="none" lIns="0" rIns="0" tIns="0" bIns="0" anchor="ctr">
            <a:spAutoFit/>
          </a:bodyPr>
          <a:lstStyle/>
          <a:p>
            <a:pPr algn="r"/>
            <a:r>
              <a:rPr sz="900" b="1">
                <a:solidFill>
                  <a:srgbClr val="D64545"/>
                </a:solidFill>
                <a:latin typeface="Segoe UI"/>
              </a:rPr>
              <a:t>-256</a:t>
            </a:r>
          </a:p>
        </p:txBody>
      </p:sp>
      <p:sp>
        <p:nvSpPr>
          <p:cNvPr id="38" name="Rectangle 37"/>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Middle East &amp; Africa Read-out, By Material</a:t>
            </a:r>
          </a:p>
        </p:txBody>
      </p:sp>
      <p:sp>
        <p:nvSpPr>
          <p:cNvPr id="40" name="Rectangle 39"/>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material, high-performance &amp; specialty fibers segment is expected to witness the highest CAGR of 8.4% over the forecast period.</a:t>
            </a:r>
          </a:p>
          <a:p>
            <a:pPr algn="l">
              <a:lnSpc>
                <a:spcPct val="110000"/>
              </a:lnSpc>
              <a:spcBef>
                <a:spcPts val="0"/>
              </a:spcBef>
              <a:spcAft>
                <a:spcPts val="500"/>
              </a:spcAft>
            </a:pPr>
            <a:r>
              <a:rPr sz="1150" b="0">
                <a:solidFill>
                  <a:srgbClr val="252423"/>
                </a:solidFill>
                <a:latin typeface="Segoe UI"/>
              </a:rPr>
              <a:t>In terms of value share by material, the polyester segment is expected to dominate the market, losing 256 BPS and accounting for 51.6% share by 2036.</a:t>
            </a:r>
          </a:p>
        </p:txBody>
      </p:sp>
      <p:sp>
        <p:nvSpPr>
          <p:cNvPr id="42" name="TextBox 41"/>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Primary Performance Function Segment Outlook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10 sub-segments of Primary Performance Function,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Middle East &amp; Africa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Primary Performance Function segment categorizes the market by primary performance function.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190881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190881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Moisture Management &amp; Quick-Dry</a:t>
            </a:r>
          </a:p>
        </p:txBody>
      </p:sp>
      <p:sp>
        <p:nvSpPr>
          <p:cNvPr id="21" name="Rectangle 20"/>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60.0</a:t>
            </a:r>
          </a:p>
        </p:txBody>
      </p:sp>
      <p:sp>
        <p:nvSpPr>
          <p:cNvPr id="22" name="Rectangle 21"/>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115.1</a:t>
            </a:r>
          </a:p>
        </p:txBody>
      </p:sp>
      <p:sp>
        <p:nvSpPr>
          <p:cNvPr id="23" name="Rectangle 22"/>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6.7%</a:t>
            </a:r>
          </a:p>
        </p:txBody>
      </p:sp>
      <p:sp>
        <p:nvSpPr>
          <p:cNvPr id="24" name="Oval 23"/>
          <p:cNvSpPr/>
          <p:nvPr/>
        </p:nvSpPr>
        <p:spPr>
          <a:xfrm>
            <a:off x="265938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3890010" y="1773916"/>
            <a:ext cx="190881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890010" y="1992961"/>
            <a:ext cx="190881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Stretch &amp; Recovery</a:t>
            </a:r>
          </a:p>
        </p:txBody>
      </p:sp>
      <p:sp>
        <p:nvSpPr>
          <p:cNvPr id="28" name="Rectangle 27"/>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38.1</a:t>
            </a:r>
          </a:p>
        </p:txBody>
      </p:sp>
      <p:sp>
        <p:nvSpPr>
          <p:cNvPr id="29" name="Rectangle 28"/>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71.5</a:t>
            </a:r>
          </a:p>
        </p:txBody>
      </p:sp>
      <p:sp>
        <p:nvSpPr>
          <p:cNvPr id="30" name="Rectangle 29"/>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6.5%</a:t>
            </a:r>
          </a:p>
        </p:txBody>
      </p:sp>
      <p:sp>
        <p:nvSpPr>
          <p:cNvPr id="31" name="Oval 30"/>
          <p:cNvSpPr/>
          <p:nvPr/>
        </p:nvSpPr>
        <p:spPr>
          <a:xfrm>
            <a:off x="468249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5913120" y="1773916"/>
            <a:ext cx="190881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913120" y="1992961"/>
            <a:ext cx="190881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Abrasion &amp; Tear Resistance</a:t>
            </a:r>
          </a:p>
        </p:txBody>
      </p:sp>
      <p:sp>
        <p:nvSpPr>
          <p:cNvPr id="35" name="Rectangle 34"/>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30.0</a:t>
            </a:r>
          </a:p>
        </p:txBody>
      </p:sp>
      <p:sp>
        <p:nvSpPr>
          <p:cNvPr id="36" name="Rectangle 35"/>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52.3</a:t>
            </a:r>
          </a:p>
        </p:txBody>
      </p:sp>
      <p:sp>
        <p:nvSpPr>
          <p:cNvPr id="37" name="Rectangle 36"/>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5.7%</a:t>
            </a:r>
          </a:p>
        </p:txBody>
      </p:sp>
      <p:sp>
        <p:nvSpPr>
          <p:cNvPr id="38" name="Oval 37"/>
          <p:cNvSpPr/>
          <p:nvPr/>
        </p:nvSpPr>
        <p:spPr>
          <a:xfrm>
            <a:off x="670560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7936230" y="1773916"/>
            <a:ext cx="1908810"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36230" y="1992961"/>
            <a:ext cx="1908810"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Compression &amp; Support</a:t>
            </a:r>
          </a:p>
        </p:txBody>
      </p:sp>
      <p:sp>
        <p:nvSpPr>
          <p:cNvPr id="42" name="Rectangle 41"/>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27.2</a:t>
            </a:r>
          </a:p>
        </p:txBody>
      </p:sp>
      <p:sp>
        <p:nvSpPr>
          <p:cNvPr id="43" name="Rectangle 42"/>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51.6</a:t>
            </a:r>
          </a:p>
        </p:txBody>
      </p:sp>
      <p:sp>
        <p:nvSpPr>
          <p:cNvPr id="44" name="Rectangle 43"/>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6.6%</a:t>
            </a:r>
          </a:p>
        </p:txBody>
      </p:sp>
      <p:sp>
        <p:nvSpPr>
          <p:cNvPr id="45" name="Oval 44"/>
          <p:cNvSpPr/>
          <p:nvPr/>
        </p:nvSpPr>
        <p:spPr>
          <a:xfrm>
            <a:off x="8728710"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9959340" y="1773916"/>
            <a:ext cx="1908810"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959340" y="1992961"/>
            <a:ext cx="1908810"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Thermal Management</a:t>
            </a:r>
          </a:p>
        </p:txBody>
      </p:sp>
      <p:sp>
        <p:nvSpPr>
          <p:cNvPr id="49" name="Rectangle 48"/>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24.8</a:t>
            </a:r>
          </a:p>
        </p:txBody>
      </p:sp>
      <p:sp>
        <p:nvSpPr>
          <p:cNvPr id="50" name="Rectangle 49"/>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50.4</a:t>
            </a:r>
          </a:p>
        </p:txBody>
      </p:sp>
      <p:sp>
        <p:nvSpPr>
          <p:cNvPr id="51" name="Rectangle 50"/>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7.4%</a:t>
            </a:r>
          </a:p>
        </p:txBody>
      </p:sp>
      <p:sp>
        <p:nvSpPr>
          <p:cNvPr id="52" name="Oval 51"/>
          <p:cNvSpPr/>
          <p:nvPr/>
        </p:nvSpPr>
        <p:spPr>
          <a:xfrm>
            <a:off x="10751820"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53" name="Rounded Rectangle 5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55" name="Rectangle 54"/>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Among performance knitted fabrics by primary performance function, other specialized performance segment is expected to witness the highest CAGR of 8.3% over the forecast period. In terms of value share by primary performance function, the moisture management &amp; quick-dry segment is expected to dominate the market, maintaining its share and accounting for 23.6% share by 2036.</a:t>
            </a:r>
          </a:p>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Moisture management &amp; quick-dry segment is projected to register 1.6X higher value than stretch &amp; recovery segment in 2036.</a:t>
            </a:r>
          </a:p>
        </p:txBody>
      </p:sp>
      <p:sp>
        <p:nvSpPr>
          <p:cNvPr id="57" name="Rounded Rectangle 5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9" name="Rectangle 58"/>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Moisture Management &amp; Quick-Dry: </a:t>
            </a:r>
            <a:r>
              <a:rPr sz="1100" b="0">
                <a:solidFill>
                  <a:srgbClr val="252423"/>
                </a:solidFill>
                <a:latin typeface="Segoe UI"/>
              </a:rPr>
              <a:t>24% of 2026 value · 6.7%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Stretch &amp; Recovery: </a:t>
            </a:r>
            <a:r>
              <a:rPr sz="1100" b="0">
                <a:solidFill>
                  <a:srgbClr val="252423"/>
                </a:solidFill>
                <a:latin typeface="Segoe UI"/>
              </a:rPr>
              <a:t>15% of 2026 value · 6.5%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Abrasion &amp; Tear Resistance: </a:t>
            </a:r>
            <a:r>
              <a:rPr sz="1100" b="0">
                <a:solidFill>
                  <a:srgbClr val="252423"/>
                </a:solidFill>
                <a:latin typeface="Segoe UI"/>
              </a:rPr>
              <a:t>12% of 2026 value · 5.7% CAGR serves a niche.</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Compression &amp; Support: </a:t>
            </a:r>
            <a:r>
              <a:rPr sz="1100" b="0">
                <a:solidFill>
                  <a:srgbClr val="252423"/>
                </a:solidFill>
                <a:latin typeface="Segoe UI"/>
              </a:rPr>
              <a:t>11% of 2026 value · 6.6% CAGR serves a niche.</a:t>
            </a:r>
          </a:p>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Thermal Management: </a:t>
            </a:r>
            <a:r>
              <a:rPr sz="1100" b="0">
                <a:solidFill>
                  <a:srgbClr val="252423"/>
                </a:solidFill>
                <a:latin typeface="Segoe UI"/>
              </a:rPr>
              <a:t>10% of 2026 value · 7.4% CAGR serves a niche.</a:t>
            </a:r>
          </a:p>
        </p:txBody>
      </p:sp>
      <p:sp>
        <p:nvSpPr>
          <p:cNvPr id="61" name="Rounded Rectangle 6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63" name="Rectangle 62"/>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Primary Performance Function split shows how demand is distributed across primary performance function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65" name="Rectangle 6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Primary Performance Function segment is projected to grow at a CAGR of 6.7% from 2026 to 2036.</a:t>
            </a:r>
          </a:p>
        </p:txBody>
      </p:sp>
      <p:sp>
        <p:nvSpPr>
          <p:cNvPr id="67" name="TextBox 66"/>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8" name="TextBox 6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Primary Performance Function Segment Outlook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10 sub-segments of Primary Performance Function,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Primary Performance Function segment categorizes the market by primary performance function.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1908810"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1908810"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Water or Liquid Management</a:t>
            </a:r>
          </a:p>
        </p:txBody>
      </p:sp>
      <p:sp>
        <p:nvSpPr>
          <p:cNvPr id="20" name="Rectangle 19"/>
          <p:cNvSpPr/>
          <p:nvPr/>
        </p:nvSpPr>
        <p:spPr>
          <a:xfrm>
            <a:off x="186690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20.0</a:t>
            </a:r>
          </a:p>
        </p:txBody>
      </p:sp>
      <p:sp>
        <p:nvSpPr>
          <p:cNvPr id="21" name="Rectangle 20"/>
          <p:cNvSpPr/>
          <p:nvPr/>
        </p:nvSpPr>
        <p:spPr>
          <a:xfrm>
            <a:off x="186690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37.7</a:t>
            </a:r>
          </a:p>
        </p:txBody>
      </p:sp>
      <p:sp>
        <p:nvSpPr>
          <p:cNvPr id="22" name="Rectangle 21"/>
          <p:cNvSpPr/>
          <p:nvPr/>
        </p:nvSpPr>
        <p:spPr>
          <a:xfrm>
            <a:off x="186690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6.5%</a:t>
            </a:r>
          </a:p>
        </p:txBody>
      </p:sp>
      <p:sp>
        <p:nvSpPr>
          <p:cNvPr id="23" name="Oval 22"/>
          <p:cNvSpPr/>
          <p:nvPr/>
        </p:nvSpPr>
        <p:spPr>
          <a:xfrm>
            <a:off x="2659380"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24" name="Rounded Rectangle 23"/>
          <p:cNvSpPr/>
          <p:nvPr/>
        </p:nvSpPr>
        <p:spPr>
          <a:xfrm>
            <a:off x="3890010" y="1773916"/>
            <a:ext cx="1908810"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90010" y="1992961"/>
            <a:ext cx="1908810"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2811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UV Protection</a:t>
            </a:r>
          </a:p>
        </p:txBody>
      </p:sp>
      <p:sp>
        <p:nvSpPr>
          <p:cNvPr id="27" name="Rectangle 26"/>
          <p:cNvSpPr/>
          <p:nvPr/>
        </p:nvSpPr>
        <p:spPr>
          <a:xfrm>
            <a:off x="389001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20.0</a:t>
            </a:r>
          </a:p>
        </p:txBody>
      </p:sp>
      <p:sp>
        <p:nvSpPr>
          <p:cNvPr id="28" name="Rectangle 27"/>
          <p:cNvSpPr/>
          <p:nvPr/>
        </p:nvSpPr>
        <p:spPr>
          <a:xfrm>
            <a:off x="389001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36.4</a:t>
            </a:r>
          </a:p>
        </p:txBody>
      </p:sp>
      <p:sp>
        <p:nvSpPr>
          <p:cNvPr id="29" name="Rectangle 28"/>
          <p:cNvSpPr/>
          <p:nvPr/>
        </p:nvSpPr>
        <p:spPr>
          <a:xfrm>
            <a:off x="389001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6.2%</a:t>
            </a:r>
          </a:p>
        </p:txBody>
      </p:sp>
      <p:sp>
        <p:nvSpPr>
          <p:cNvPr id="30" name="Oval 29"/>
          <p:cNvSpPr/>
          <p:nvPr/>
        </p:nvSpPr>
        <p:spPr>
          <a:xfrm>
            <a:off x="4682490"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31" name="Rounded Rectangle 30"/>
          <p:cNvSpPr/>
          <p:nvPr/>
        </p:nvSpPr>
        <p:spPr>
          <a:xfrm>
            <a:off x="5913120" y="1773916"/>
            <a:ext cx="190881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913120" y="1992961"/>
            <a:ext cx="190881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5122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Antimicrobial &amp; Odor Control</a:t>
            </a:r>
          </a:p>
        </p:txBody>
      </p:sp>
      <p:sp>
        <p:nvSpPr>
          <p:cNvPr id="34" name="Rectangle 33"/>
          <p:cNvSpPr/>
          <p:nvPr/>
        </p:nvSpPr>
        <p:spPr>
          <a:xfrm>
            <a:off x="591312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17.3</a:t>
            </a:r>
          </a:p>
        </p:txBody>
      </p:sp>
      <p:sp>
        <p:nvSpPr>
          <p:cNvPr id="35" name="Rectangle 34"/>
          <p:cNvSpPr/>
          <p:nvPr/>
        </p:nvSpPr>
        <p:spPr>
          <a:xfrm>
            <a:off x="591312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36.0</a:t>
            </a:r>
          </a:p>
        </p:txBody>
      </p:sp>
      <p:sp>
        <p:nvSpPr>
          <p:cNvPr id="36" name="Rectangle 35"/>
          <p:cNvSpPr/>
          <p:nvPr/>
        </p:nvSpPr>
        <p:spPr>
          <a:xfrm>
            <a:off x="591312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7.6%</a:t>
            </a:r>
          </a:p>
        </p:txBody>
      </p:sp>
      <p:sp>
        <p:nvSpPr>
          <p:cNvPr id="37" name="Oval 36"/>
          <p:cNvSpPr/>
          <p:nvPr/>
        </p:nvSpPr>
        <p:spPr>
          <a:xfrm>
            <a:off x="670560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8</a:t>
            </a:r>
          </a:p>
        </p:txBody>
      </p:sp>
      <p:sp>
        <p:nvSpPr>
          <p:cNvPr id="38" name="Rounded Rectangle 37"/>
          <p:cNvSpPr/>
          <p:nvPr/>
        </p:nvSpPr>
        <p:spPr>
          <a:xfrm>
            <a:off x="7936230" y="1773916"/>
            <a:ext cx="190881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936230" y="1992961"/>
            <a:ext cx="190881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7433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Flame &amp; Heat Resistance</a:t>
            </a:r>
          </a:p>
        </p:txBody>
      </p:sp>
      <p:sp>
        <p:nvSpPr>
          <p:cNvPr id="41" name="Rectangle 40"/>
          <p:cNvSpPr/>
          <p:nvPr/>
        </p:nvSpPr>
        <p:spPr>
          <a:xfrm>
            <a:off x="793623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8.95</a:t>
            </a:r>
          </a:p>
        </p:txBody>
      </p:sp>
      <p:sp>
        <p:nvSpPr>
          <p:cNvPr id="42" name="Rectangle 41"/>
          <p:cNvSpPr/>
          <p:nvPr/>
        </p:nvSpPr>
        <p:spPr>
          <a:xfrm>
            <a:off x="793623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17.8</a:t>
            </a:r>
          </a:p>
        </p:txBody>
      </p:sp>
      <p:sp>
        <p:nvSpPr>
          <p:cNvPr id="43" name="Rectangle 42"/>
          <p:cNvSpPr/>
          <p:nvPr/>
        </p:nvSpPr>
        <p:spPr>
          <a:xfrm>
            <a:off x="793623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7.1%</a:t>
            </a:r>
          </a:p>
        </p:txBody>
      </p:sp>
      <p:sp>
        <p:nvSpPr>
          <p:cNvPr id="44" name="Oval 43"/>
          <p:cNvSpPr/>
          <p:nvPr/>
        </p:nvSpPr>
        <p:spPr>
          <a:xfrm>
            <a:off x="872871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9</a:t>
            </a:r>
          </a:p>
        </p:txBody>
      </p:sp>
      <p:sp>
        <p:nvSpPr>
          <p:cNvPr id="45" name="Rounded Rectangle 44"/>
          <p:cNvSpPr/>
          <p:nvPr/>
        </p:nvSpPr>
        <p:spPr>
          <a:xfrm>
            <a:off x="9959340" y="1773916"/>
            <a:ext cx="190881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959340" y="1992961"/>
            <a:ext cx="190881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997440" y="1773916"/>
            <a:ext cx="1832610" cy="438089"/>
          </a:xfrm>
          <a:prstGeom prst="rect">
            <a:avLst/>
          </a:prstGeom>
          <a:noFill/>
        </p:spPr>
        <p:txBody>
          <a:bodyPr wrap="square" lIns="28575" rIns="28575" tIns="9525" bIns="9525" anchor="ctr">
            <a:spAutoFit/>
          </a:bodyPr>
          <a:lstStyle/>
          <a:p>
            <a:pPr algn="ctr"/>
            <a:r>
              <a:rPr sz="1100" b="1">
                <a:solidFill>
                  <a:srgbClr val="FFFFFF"/>
                </a:solidFill>
                <a:latin typeface="Segoe UI"/>
              </a:rPr>
              <a:t>Other Specialized Performance</a:t>
            </a:r>
          </a:p>
        </p:txBody>
      </p:sp>
      <p:sp>
        <p:nvSpPr>
          <p:cNvPr id="48" name="Rectangle 47"/>
          <p:cNvSpPr/>
          <p:nvPr/>
        </p:nvSpPr>
        <p:spPr>
          <a:xfrm>
            <a:off x="9959340" y="22302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8.81</a:t>
            </a:r>
          </a:p>
        </p:txBody>
      </p:sp>
      <p:sp>
        <p:nvSpPr>
          <p:cNvPr id="49" name="Rectangle 48"/>
          <p:cNvSpPr/>
          <p:nvPr/>
        </p:nvSpPr>
        <p:spPr>
          <a:xfrm>
            <a:off x="9959340" y="2723109"/>
            <a:ext cx="190881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19.5</a:t>
            </a:r>
          </a:p>
        </p:txBody>
      </p:sp>
      <p:sp>
        <p:nvSpPr>
          <p:cNvPr id="50" name="Rectangle 49"/>
          <p:cNvSpPr/>
          <p:nvPr/>
        </p:nvSpPr>
        <p:spPr>
          <a:xfrm>
            <a:off x="9959340" y="3215959"/>
            <a:ext cx="190881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8.3%</a:t>
            </a:r>
          </a:p>
        </p:txBody>
      </p:sp>
      <p:sp>
        <p:nvSpPr>
          <p:cNvPr id="51" name="Oval 50"/>
          <p:cNvSpPr/>
          <p:nvPr/>
        </p:nvSpPr>
        <p:spPr>
          <a:xfrm>
            <a:off x="1075182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10</a:t>
            </a:r>
          </a:p>
        </p:txBody>
      </p:sp>
      <p:sp>
        <p:nvSpPr>
          <p:cNvPr id="52" name="Rounded Rectangle 51"/>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4" name="Rectangle 53"/>
          <p:cNvSpPr/>
          <p:nvPr/>
        </p:nvSpPr>
        <p:spPr>
          <a:xfrm>
            <a:off x="457200" y="4146897"/>
            <a:ext cx="112776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Water or Liquid Management: </a:t>
            </a:r>
            <a:r>
              <a:rPr sz="1100" b="0">
                <a:solidFill>
                  <a:srgbClr val="252423"/>
                </a:solidFill>
                <a:latin typeface="Segoe UI"/>
              </a:rPr>
              <a:t>8% of 2026 value · 6.5% CAGR serves a niche.</a:t>
            </a:r>
          </a:p>
          <a:p>
            <a:pPr algn="l">
              <a:lnSpc>
                <a:spcPct val="110000"/>
              </a:lnSpc>
              <a:spcBef>
                <a:spcPts val="0"/>
              </a:spcBef>
              <a:spcAft>
                <a:spcPts val="500"/>
              </a:spcAft>
            </a:pPr>
            <a:r>
              <a:rPr sz="1100" b="0">
                <a:solidFill>
                  <a:srgbClr val="2C6E7F"/>
                </a:solidFill>
                <a:latin typeface="Segoe UI"/>
              </a:rPr>
              <a:t>●  </a:t>
            </a:r>
            <a:r>
              <a:rPr sz="1100" b="1">
                <a:solidFill>
                  <a:srgbClr val="2C6E7F"/>
                </a:solidFill>
                <a:latin typeface="Segoe UI"/>
              </a:rPr>
              <a:t>UV Protection: </a:t>
            </a:r>
            <a:r>
              <a:rPr sz="1100" b="0">
                <a:solidFill>
                  <a:srgbClr val="252423"/>
                </a:solidFill>
                <a:latin typeface="Segoe UI"/>
              </a:rPr>
              <a:t>8% of 2026 value · 6.2% CAGR serves a niche.</a:t>
            </a:r>
          </a:p>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Antimicrobial &amp; Odor Control: </a:t>
            </a:r>
            <a:r>
              <a:rPr sz="1100" b="0">
                <a:solidFill>
                  <a:srgbClr val="252423"/>
                </a:solidFill>
                <a:latin typeface="Segoe UI"/>
              </a:rPr>
              <a:t>7% of 2026 value · 7.6% CAGR serves a niche.</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Flame &amp; Heat Resistance: </a:t>
            </a:r>
            <a:r>
              <a:rPr sz="1100" b="0">
                <a:solidFill>
                  <a:srgbClr val="252423"/>
                </a:solidFill>
                <a:latin typeface="Segoe UI"/>
              </a:rPr>
              <a:t>4% of 2026 value · 7.1%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Other Specialized Performance: </a:t>
            </a:r>
            <a:r>
              <a:rPr sz="1100" b="0">
                <a:solidFill>
                  <a:srgbClr val="252423"/>
                </a:solidFill>
                <a:latin typeface="Segoe UI"/>
              </a:rPr>
              <a:t>3% of 2026 value · 8.3% CAGR grows fastest.</a:t>
            </a:r>
          </a:p>
        </p:txBody>
      </p:sp>
      <p:sp>
        <p:nvSpPr>
          <p:cNvPr id="56" name="TextBox 55"/>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57" name="TextBox 56"/>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Middle East &amp; Africa Market Value &amp; Share Shift, By Primary Performance Function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Primary Performance Function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Middle East &amp; Africa</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Middle East &amp; Africa Value Composition, By Primary Performance Function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754509"/>
            <a:ext cx="85725" cy="85725"/>
          </a:xfrm>
          <a:prstGeom prst="rect">
            <a:avLst/>
          </a:prstGeom>
          <a:solidFill>
            <a:srgbClr val="E572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1749747"/>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673547"/>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Flame &amp; Heat Resistance</a:t>
            </a:r>
          </a:p>
        </p:txBody>
      </p:sp>
      <p:sp>
        <p:nvSpPr>
          <p:cNvPr id="17" name="BPS Value 1"/>
          <p:cNvSpPr txBox="1"/>
          <p:nvPr/>
        </p:nvSpPr>
        <p:spPr>
          <a:xfrm>
            <a:off x="6896100" y="1735459"/>
            <a:ext cx="514350" cy="123825"/>
          </a:xfrm>
          <a:prstGeom prst="rect">
            <a:avLst/>
          </a:prstGeom>
          <a:noFill/>
        </p:spPr>
        <p:txBody>
          <a:bodyPr wrap="none" lIns="0" rIns="0" tIns="0" bIns="0" anchor="ctr">
            <a:spAutoFit/>
          </a:bodyPr>
          <a:lstStyle/>
          <a:p>
            <a:pPr algn="r"/>
            <a:r>
              <a:rPr sz="900" b="1">
                <a:solidFill>
                  <a:srgbClr val="1E8E3E"/>
                </a:solidFill>
                <a:latin typeface="Segoe UI"/>
              </a:rPr>
              <a:t>+14</a:t>
            </a:r>
          </a:p>
        </p:txBody>
      </p:sp>
      <p:sp>
        <p:nvSpPr>
          <p:cNvPr id="18" name="FMI Legend Chip"/>
          <p:cNvSpPr/>
          <p:nvPr/>
        </p:nvSpPr>
        <p:spPr>
          <a:xfrm>
            <a:off x="4928997" y="1929203"/>
            <a:ext cx="85725" cy="85725"/>
          </a:xfrm>
          <a:prstGeom prst="rect">
            <a:avLst/>
          </a:prstGeom>
          <a:solidFill>
            <a:srgbClr val="CF7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192444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184824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Other Specialized Performance</a:t>
            </a:r>
          </a:p>
        </p:txBody>
      </p:sp>
      <p:sp>
        <p:nvSpPr>
          <p:cNvPr id="21" name="BPS Value 2"/>
          <p:cNvSpPr txBox="1"/>
          <p:nvPr/>
        </p:nvSpPr>
        <p:spPr>
          <a:xfrm>
            <a:off x="6896100" y="1910153"/>
            <a:ext cx="514350" cy="123825"/>
          </a:xfrm>
          <a:prstGeom prst="rect">
            <a:avLst/>
          </a:prstGeom>
          <a:noFill/>
        </p:spPr>
        <p:txBody>
          <a:bodyPr wrap="none" lIns="0" rIns="0" tIns="0" bIns="0" anchor="ctr">
            <a:spAutoFit/>
          </a:bodyPr>
          <a:lstStyle/>
          <a:p>
            <a:pPr algn="r"/>
            <a:r>
              <a:rPr sz="900" b="1">
                <a:solidFill>
                  <a:srgbClr val="1E8E3E"/>
                </a:solidFill>
                <a:latin typeface="Segoe UI"/>
              </a:rPr>
              <a:t>+55</a:t>
            </a:r>
          </a:p>
        </p:txBody>
      </p:sp>
      <p:sp>
        <p:nvSpPr>
          <p:cNvPr id="22" name="FMI Legend Chip"/>
          <p:cNvSpPr/>
          <p:nvPr/>
        </p:nvSpPr>
        <p:spPr>
          <a:xfrm>
            <a:off x="4928997" y="2189276"/>
            <a:ext cx="85725" cy="85725"/>
          </a:xfrm>
          <a:prstGeom prst="rect">
            <a:avLst/>
          </a:prstGeom>
          <a:solidFill>
            <a:srgbClr val="7D7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5090922" y="2184513"/>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10831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Antimicrobial &amp; Odor Control</a:t>
            </a:r>
          </a:p>
        </p:txBody>
      </p:sp>
      <p:sp>
        <p:nvSpPr>
          <p:cNvPr id="25" name="BPS Value 3"/>
          <p:cNvSpPr txBox="1"/>
          <p:nvPr/>
        </p:nvSpPr>
        <p:spPr>
          <a:xfrm>
            <a:off x="6896100" y="2170226"/>
            <a:ext cx="514350" cy="123825"/>
          </a:xfrm>
          <a:prstGeom prst="rect">
            <a:avLst/>
          </a:prstGeom>
          <a:noFill/>
        </p:spPr>
        <p:txBody>
          <a:bodyPr wrap="none" lIns="0" rIns="0" tIns="0" bIns="0" anchor="ctr">
            <a:spAutoFit/>
          </a:bodyPr>
          <a:lstStyle/>
          <a:p>
            <a:pPr algn="r"/>
            <a:r>
              <a:rPr sz="900" b="1">
                <a:solidFill>
                  <a:srgbClr val="1E8E3E"/>
                </a:solidFill>
                <a:latin typeface="Segoe UI"/>
              </a:rPr>
              <a:t>+60</a:t>
            </a:r>
          </a:p>
        </p:txBody>
      </p:sp>
      <p:sp>
        <p:nvSpPr>
          <p:cNvPr id="26" name="FMI Legend Chip"/>
          <p:cNvSpPr/>
          <p:nvPr/>
        </p:nvSpPr>
        <p:spPr>
          <a:xfrm>
            <a:off x="4928997" y="2528195"/>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rot="10800000">
            <a:off x="5090922" y="2523433"/>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244723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UV Protection</a:t>
            </a:r>
          </a:p>
        </p:txBody>
      </p:sp>
      <p:sp>
        <p:nvSpPr>
          <p:cNvPr id="29" name="BPS Value 4"/>
          <p:cNvSpPr txBox="1"/>
          <p:nvPr/>
        </p:nvSpPr>
        <p:spPr>
          <a:xfrm>
            <a:off x="6896100" y="2509145"/>
            <a:ext cx="514350" cy="123825"/>
          </a:xfrm>
          <a:prstGeom prst="rect">
            <a:avLst/>
          </a:prstGeom>
          <a:noFill/>
        </p:spPr>
        <p:txBody>
          <a:bodyPr wrap="none" lIns="0" rIns="0" tIns="0" bIns="0" anchor="ctr">
            <a:spAutoFit/>
          </a:bodyPr>
          <a:lstStyle/>
          <a:p>
            <a:pPr algn="r"/>
            <a:r>
              <a:rPr sz="900" b="1">
                <a:solidFill>
                  <a:srgbClr val="D64545"/>
                </a:solidFill>
                <a:latin typeface="Segoe UI"/>
              </a:rPr>
              <a:t>-39</a:t>
            </a:r>
          </a:p>
        </p:txBody>
      </p:sp>
      <p:sp>
        <p:nvSpPr>
          <p:cNvPr id="30" name="FMI Legend Chip"/>
          <p:cNvSpPr/>
          <p:nvPr/>
        </p:nvSpPr>
        <p:spPr>
          <a:xfrm>
            <a:off x="4928997" y="2874774"/>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rot="10800000">
            <a:off x="5090922" y="287001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279381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Water or Liquid Management</a:t>
            </a:r>
          </a:p>
        </p:txBody>
      </p:sp>
      <p:sp>
        <p:nvSpPr>
          <p:cNvPr id="33" name="BPS Value 5"/>
          <p:cNvSpPr txBox="1"/>
          <p:nvPr/>
        </p:nvSpPr>
        <p:spPr>
          <a:xfrm>
            <a:off x="6896100" y="2855724"/>
            <a:ext cx="514350" cy="123825"/>
          </a:xfrm>
          <a:prstGeom prst="rect">
            <a:avLst/>
          </a:prstGeom>
          <a:noFill/>
        </p:spPr>
        <p:txBody>
          <a:bodyPr wrap="none" lIns="0" rIns="0" tIns="0" bIns="0" anchor="ctr">
            <a:spAutoFit/>
          </a:bodyPr>
          <a:lstStyle/>
          <a:p>
            <a:pPr algn="r"/>
            <a:r>
              <a:rPr sz="900" b="1">
                <a:solidFill>
                  <a:srgbClr val="D64545"/>
                </a:solidFill>
                <a:latin typeface="Segoe UI"/>
              </a:rPr>
              <a:t>-14</a:t>
            </a:r>
          </a:p>
        </p:txBody>
      </p:sp>
      <p:sp>
        <p:nvSpPr>
          <p:cNvPr id="34" name="FMI Legend Chip"/>
          <p:cNvSpPr/>
          <p:nvPr/>
        </p:nvSpPr>
        <p:spPr>
          <a:xfrm>
            <a:off x="4928997" y="3287226"/>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a:off x="5090922" y="328246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320626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Thermal Management</a:t>
            </a:r>
          </a:p>
        </p:txBody>
      </p:sp>
      <p:sp>
        <p:nvSpPr>
          <p:cNvPr id="37" name="BPS Value 6"/>
          <p:cNvSpPr txBox="1"/>
          <p:nvPr/>
        </p:nvSpPr>
        <p:spPr>
          <a:xfrm>
            <a:off x="6896100" y="3268176"/>
            <a:ext cx="514350" cy="123825"/>
          </a:xfrm>
          <a:prstGeom prst="rect">
            <a:avLst/>
          </a:prstGeom>
          <a:noFill/>
        </p:spPr>
        <p:txBody>
          <a:bodyPr wrap="none" lIns="0" rIns="0" tIns="0" bIns="0" anchor="ctr">
            <a:spAutoFit/>
          </a:bodyPr>
          <a:lstStyle/>
          <a:p>
            <a:pPr algn="r"/>
            <a:r>
              <a:rPr sz="900" b="1">
                <a:solidFill>
                  <a:srgbClr val="1E8E3E"/>
                </a:solidFill>
                <a:latin typeface="Segoe UI"/>
              </a:rPr>
              <a:t>+61</a:t>
            </a:r>
          </a:p>
        </p:txBody>
      </p:sp>
      <p:sp>
        <p:nvSpPr>
          <p:cNvPr id="38" name="FMI Legend Chip"/>
          <p:cNvSpPr/>
          <p:nvPr/>
        </p:nvSpPr>
        <p:spPr>
          <a:xfrm>
            <a:off x="4928997" y="3764858"/>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rot="10800000">
            <a:off x="5090922" y="3760095"/>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5233797" y="3683895"/>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Compression &amp; Support</a:t>
            </a:r>
          </a:p>
        </p:txBody>
      </p:sp>
      <p:sp>
        <p:nvSpPr>
          <p:cNvPr id="41" name="BPS Value 7"/>
          <p:cNvSpPr txBox="1"/>
          <p:nvPr/>
        </p:nvSpPr>
        <p:spPr>
          <a:xfrm>
            <a:off x="6896100" y="3745808"/>
            <a:ext cx="514350" cy="123825"/>
          </a:xfrm>
          <a:prstGeom prst="rect">
            <a:avLst/>
          </a:prstGeom>
          <a:noFill/>
        </p:spPr>
        <p:txBody>
          <a:bodyPr wrap="none" lIns="0" rIns="0" tIns="0" bIns="0" anchor="ctr">
            <a:spAutoFit/>
          </a:bodyPr>
          <a:lstStyle/>
          <a:p>
            <a:pPr algn="r"/>
            <a:r>
              <a:rPr sz="900" b="1">
                <a:solidFill>
                  <a:srgbClr val="D64545"/>
                </a:solidFill>
                <a:latin typeface="Segoe UI"/>
              </a:rPr>
              <a:t>-9</a:t>
            </a:r>
          </a:p>
        </p:txBody>
      </p:sp>
      <p:sp>
        <p:nvSpPr>
          <p:cNvPr id="42" name="FMI Legend Chip"/>
          <p:cNvSpPr/>
          <p:nvPr/>
        </p:nvSpPr>
        <p:spPr>
          <a:xfrm>
            <a:off x="4928997" y="4251025"/>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Isosceles Triangle 42"/>
          <p:cNvSpPr/>
          <p:nvPr/>
        </p:nvSpPr>
        <p:spPr>
          <a:xfrm rot="10800000">
            <a:off x="5090922" y="424626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PS Name 8"/>
          <p:cNvSpPr txBox="1"/>
          <p:nvPr/>
        </p:nvSpPr>
        <p:spPr>
          <a:xfrm>
            <a:off x="5233797" y="417006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Abrasion &amp; Tear Resistance</a:t>
            </a:r>
          </a:p>
        </p:txBody>
      </p:sp>
      <p:sp>
        <p:nvSpPr>
          <p:cNvPr id="45" name="BPS Value 8"/>
          <p:cNvSpPr txBox="1"/>
          <p:nvPr/>
        </p:nvSpPr>
        <p:spPr>
          <a:xfrm>
            <a:off x="6896100" y="4231975"/>
            <a:ext cx="514350" cy="123825"/>
          </a:xfrm>
          <a:prstGeom prst="rect">
            <a:avLst/>
          </a:prstGeom>
          <a:noFill/>
        </p:spPr>
        <p:txBody>
          <a:bodyPr wrap="none" lIns="0" rIns="0" tIns="0" bIns="0" anchor="ctr">
            <a:spAutoFit/>
          </a:bodyPr>
          <a:lstStyle/>
          <a:p>
            <a:pPr algn="r"/>
            <a:r>
              <a:rPr sz="900" b="1">
                <a:solidFill>
                  <a:srgbClr val="D64545"/>
                </a:solidFill>
                <a:latin typeface="Segoe UI"/>
              </a:rPr>
              <a:t>-106</a:t>
            </a:r>
          </a:p>
        </p:txBody>
      </p:sp>
      <p:sp>
        <p:nvSpPr>
          <p:cNvPr id="46" name="FMI Legend Chip"/>
          <p:cNvSpPr/>
          <p:nvPr/>
        </p:nvSpPr>
        <p:spPr>
          <a:xfrm>
            <a:off x="4928997" y="4830684"/>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Isosceles Triangle 46"/>
          <p:cNvSpPr/>
          <p:nvPr/>
        </p:nvSpPr>
        <p:spPr>
          <a:xfrm rot="10800000">
            <a:off x="5090922" y="482592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PS Name 9"/>
          <p:cNvSpPr txBox="1"/>
          <p:nvPr/>
        </p:nvSpPr>
        <p:spPr>
          <a:xfrm>
            <a:off x="5233797" y="474972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Stretch &amp; Recovery</a:t>
            </a:r>
          </a:p>
        </p:txBody>
      </p:sp>
      <p:sp>
        <p:nvSpPr>
          <p:cNvPr id="49" name="BPS Value 9"/>
          <p:cNvSpPr txBox="1"/>
          <p:nvPr/>
        </p:nvSpPr>
        <p:spPr>
          <a:xfrm>
            <a:off x="6896100" y="4811634"/>
            <a:ext cx="514350" cy="123825"/>
          </a:xfrm>
          <a:prstGeom prst="rect">
            <a:avLst/>
          </a:prstGeom>
          <a:noFill/>
        </p:spPr>
        <p:txBody>
          <a:bodyPr wrap="none" lIns="0" rIns="0" tIns="0" bIns="0" anchor="ctr">
            <a:spAutoFit/>
          </a:bodyPr>
          <a:lstStyle/>
          <a:p>
            <a:pPr algn="r"/>
            <a:r>
              <a:rPr sz="900" b="1">
                <a:solidFill>
                  <a:srgbClr val="D64545"/>
                </a:solidFill>
                <a:latin typeface="Segoe UI"/>
              </a:rPr>
              <a:t>-26</a:t>
            </a:r>
          </a:p>
        </p:txBody>
      </p:sp>
      <p:sp>
        <p:nvSpPr>
          <p:cNvPr id="50" name="FMI Legend Chip"/>
          <p:cNvSpPr/>
          <p:nvPr/>
        </p:nvSpPr>
        <p:spPr>
          <a:xfrm>
            <a:off x="4928997" y="5704642"/>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Isosceles Triangle 50"/>
          <p:cNvSpPr/>
          <p:nvPr/>
        </p:nvSpPr>
        <p:spPr>
          <a:xfrm>
            <a:off x="5090922" y="5699880"/>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PS Name 10"/>
          <p:cNvSpPr txBox="1"/>
          <p:nvPr/>
        </p:nvSpPr>
        <p:spPr>
          <a:xfrm>
            <a:off x="5233797" y="562368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Moisture Management &amp; Quick-Dry</a:t>
            </a:r>
          </a:p>
        </p:txBody>
      </p:sp>
      <p:sp>
        <p:nvSpPr>
          <p:cNvPr id="53" name="BPS Value 10"/>
          <p:cNvSpPr txBox="1"/>
          <p:nvPr/>
        </p:nvSpPr>
        <p:spPr>
          <a:xfrm>
            <a:off x="6896100" y="5685592"/>
            <a:ext cx="514350" cy="123825"/>
          </a:xfrm>
          <a:prstGeom prst="rect">
            <a:avLst/>
          </a:prstGeom>
          <a:noFill/>
        </p:spPr>
        <p:txBody>
          <a:bodyPr wrap="none" lIns="0" rIns="0" tIns="0" bIns="0" anchor="ctr">
            <a:spAutoFit/>
          </a:bodyPr>
          <a:lstStyle/>
          <a:p>
            <a:pPr algn="r"/>
            <a:r>
              <a:rPr sz="900" b="1">
                <a:solidFill>
                  <a:srgbClr val="1E8E3E"/>
                </a:solidFill>
                <a:latin typeface="Segoe UI"/>
              </a:rPr>
              <a:t>+5</a:t>
            </a:r>
          </a:p>
        </p:txBody>
      </p:sp>
      <p:sp>
        <p:nvSpPr>
          <p:cNvPr id="54" name="Rectangle 53"/>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Middle East &amp; Africa Read-out, By Primary Performance Function</a:t>
            </a:r>
          </a:p>
        </p:txBody>
      </p:sp>
      <p:sp>
        <p:nvSpPr>
          <p:cNvPr id="56" name="Rectangle 55"/>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primary performance function, other specialized performance segment is expected to witness the highest CAGR of 8.3% over the forecast period. In terms of value share by primary performance function, the moisture management &amp; quick-dry segment is expected to dominate the market, maintaining its share and accounting for 23.6% share by 2036.</a:t>
            </a:r>
          </a:p>
          <a:p>
            <a:pPr algn="l">
              <a:lnSpc>
                <a:spcPct val="110000"/>
              </a:lnSpc>
              <a:spcBef>
                <a:spcPts val="0"/>
              </a:spcBef>
              <a:spcAft>
                <a:spcPts val="500"/>
              </a:spcAft>
            </a:pPr>
            <a:r>
              <a:rPr sz="1150" b="0">
                <a:solidFill>
                  <a:srgbClr val="252423"/>
                </a:solidFill>
                <a:latin typeface="Segoe UI"/>
              </a:rPr>
              <a:t>The abrasion &amp; tear resistance segment is expected to lose 106 BPS over the forecast period to account for 10.7% share by 2036.</a:t>
            </a:r>
          </a:p>
        </p:txBody>
      </p:sp>
      <p:sp>
        <p:nvSpPr>
          <p:cNvPr id="58" name="TextBox 5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Segment Outlook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Middle East &amp; Africa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segment categorizes the market by end-use application.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Industrial &amp; Technical Applicatio…</a:t>
            </a:r>
          </a:p>
        </p:txBody>
      </p:sp>
      <p:sp>
        <p:nvSpPr>
          <p:cNvPr id="21" name="Rectangle 20"/>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55.7</a:t>
            </a:r>
          </a:p>
        </p:txBody>
      </p:sp>
      <p:sp>
        <p:nvSpPr>
          <p:cNvPr id="22" name="Rectangle 21"/>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110.5</a:t>
            </a:r>
          </a:p>
        </p:txBody>
      </p:sp>
      <p:sp>
        <p:nvSpPr>
          <p:cNvPr id="23" name="Rectangle 22"/>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7.1%</a:t>
            </a:r>
          </a:p>
        </p:txBody>
      </p:sp>
      <p:sp>
        <p:nvSpPr>
          <p:cNvPr id="24" name="Oval 23"/>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Protective &amp; Occupational Wear</a:t>
            </a:r>
          </a:p>
        </p:txBody>
      </p:sp>
      <p:sp>
        <p:nvSpPr>
          <p:cNvPr id="28" name="Rectangle 27"/>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49.6</a:t>
            </a:r>
          </a:p>
        </p:txBody>
      </p:sp>
      <p:sp>
        <p:nvSpPr>
          <p:cNvPr id="29" name="Rectangle 28"/>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96.1</a:t>
            </a:r>
          </a:p>
        </p:txBody>
      </p:sp>
      <p:sp>
        <p:nvSpPr>
          <p:cNvPr id="30" name="Rectangle 29"/>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6.8%</a:t>
            </a:r>
          </a:p>
        </p:txBody>
      </p:sp>
      <p:sp>
        <p:nvSpPr>
          <p:cNvPr id="31" name="Oval 30"/>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Intimate &amp; Bodywear</a:t>
            </a:r>
          </a:p>
        </p:txBody>
      </p:sp>
      <p:sp>
        <p:nvSpPr>
          <p:cNvPr id="35" name="Rectangle 34"/>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45.2</a:t>
            </a:r>
          </a:p>
        </p:txBody>
      </p:sp>
      <p:sp>
        <p:nvSpPr>
          <p:cNvPr id="36" name="Rectangle 35"/>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79.9</a:t>
            </a:r>
          </a:p>
        </p:txBody>
      </p:sp>
      <p:sp>
        <p:nvSpPr>
          <p:cNvPr id="37" name="Rectangle 36"/>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5.9%</a:t>
            </a:r>
          </a:p>
        </p:txBody>
      </p:sp>
      <p:sp>
        <p:nvSpPr>
          <p:cNvPr id="38" name="Oval 37"/>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Sports &amp; Activewear</a:t>
            </a:r>
          </a:p>
        </p:txBody>
      </p:sp>
      <p:sp>
        <p:nvSpPr>
          <p:cNvPr id="42" name="Rectangle 41"/>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41.6</a:t>
            </a:r>
          </a:p>
        </p:txBody>
      </p:sp>
      <p:sp>
        <p:nvSpPr>
          <p:cNvPr id="43" name="Rectangle 42"/>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80.4</a:t>
            </a:r>
          </a:p>
        </p:txBody>
      </p:sp>
      <p:sp>
        <p:nvSpPr>
          <p:cNvPr id="44" name="Rectangle 43"/>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6.8%</a:t>
            </a:r>
          </a:p>
        </p:txBody>
      </p:sp>
      <p:sp>
        <p:nvSpPr>
          <p:cNvPr id="45" name="Oval 44"/>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8" name="Rectangle 47"/>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Among performance knitted fabrics by End-Use application, industrial &amp; technical applications segment is expected to witness the highest CAGR of 7.1% over the forecast period. In terms of value share by End-Use application, the industrial &amp; technical applications segment is expected to dominate the market, gaining 82 BPS and accounting for 22.6% share by 2036.</a:t>
            </a:r>
          </a:p>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Industrial &amp; technical applications segment is projected to register 1.2X higher value than protective &amp; occupational wear segment in 2036.</a:t>
            </a:r>
          </a:p>
        </p:txBody>
      </p:sp>
      <p:sp>
        <p:nvSpPr>
          <p:cNvPr id="50" name="Rounded Rectangle 49"/>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2" name="Rectangle 51"/>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Industrial &amp; Technical Applications: </a:t>
            </a:r>
            <a:r>
              <a:rPr sz="1100" b="0">
                <a:solidFill>
                  <a:srgbClr val="252423"/>
                </a:solidFill>
                <a:latin typeface="Segoe UI"/>
              </a:rPr>
              <a:t>22% of 2026 value · 7.1%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Protective &amp; Occupational Wear: </a:t>
            </a:r>
            <a:r>
              <a:rPr sz="1100" b="0">
                <a:solidFill>
                  <a:srgbClr val="252423"/>
                </a:solidFill>
                <a:latin typeface="Segoe UI"/>
              </a:rPr>
              <a:t>19% of 2026 value · 6.8%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Intimate &amp; Bodywear: </a:t>
            </a:r>
            <a:r>
              <a:rPr sz="1100" b="0">
                <a:solidFill>
                  <a:srgbClr val="252423"/>
                </a:solidFill>
                <a:latin typeface="Segoe UI"/>
              </a:rPr>
              <a:t>18% of 2026 value · 5.9% CAGR serves a niche.</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Sports &amp; Activewear: </a:t>
            </a:r>
            <a:r>
              <a:rPr sz="1100" b="0">
                <a:solidFill>
                  <a:srgbClr val="252423"/>
                </a:solidFill>
                <a:latin typeface="Segoe UI"/>
              </a:rPr>
              <a:t>16% of 2026 value · 6.8% CAGR serves a niche.</a:t>
            </a:r>
          </a:p>
        </p:txBody>
      </p:sp>
      <p:sp>
        <p:nvSpPr>
          <p:cNvPr id="54" name="Rounded Rectangle 53"/>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6" name="Rectangle 55"/>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End-Use Application split shows how demand is distributed across end-use application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8" name="Rectangle 57"/>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End-Use Application segment is projected to grow at a CAGR of 6.7% from 2026 to 2036.</a:t>
            </a:r>
          </a:p>
        </p:txBody>
      </p:sp>
      <p:sp>
        <p:nvSpPr>
          <p:cNvPr id="60" name="TextBox 59"/>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1" name="TextBox 6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Segment Outlook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segment categorizes the market by end-use application.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3257550"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3257550"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Medical &amp; Healthcare</a:t>
            </a:r>
          </a:p>
        </p:txBody>
      </p:sp>
      <p:sp>
        <p:nvSpPr>
          <p:cNvPr id="20" name="Rectangle 19"/>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25.8</a:t>
            </a:r>
          </a:p>
        </p:txBody>
      </p:sp>
      <p:sp>
        <p:nvSpPr>
          <p:cNvPr id="21" name="Rectangle 20"/>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50.9</a:t>
            </a:r>
          </a:p>
        </p:txBody>
      </p:sp>
      <p:sp>
        <p:nvSpPr>
          <p:cNvPr id="22" name="Rectangle 21"/>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7.0%</a:t>
            </a:r>
          </a:p>
        </p:txBody>
      </p:sp>
      <p:sp>
        <p:nvSpPr>
          <p:cNvPr id="23" name="Oval 22"/>
          <p:cNvSpPr/>
          <p:nvPr/>
        </p:nvSpPr>
        <p:spPr>
          <a:xfrm>
            <a:off x="3333750"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24" name="Rounded Rectangle 23"/>
          <p:cNvSpPr/>
          <p:nvPr/>
        </p:nvSpPr>
        <p:spPr>
          <a:xfrm>
            <a:off x="5238750" y="1773916"/>
            <a:ext cx="3257550"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38750" y="1992961"/>
            <a:ext cx="3257550"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Footwear</a:t>
            </a:r>
          </a:p>
        </p:txBody>
      </p:sp>
      <p:sp>
        <p:nvSpPr>
          <p:cNvPr id="27" name="Rectangle 26"/>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21.0</a:t>
            </a:r>
          </a:p>
        </p:txBody>
      </p:sp>
      <p:sp>
        <p:nvSpPr>
          <p:cNvPr id="28" name="Rectangle 27"/>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40.2</a:t>
            </a:r>
          </a:p>
        </p:txBody>
      </p:sp>
      <p:sp>
        <p:nvSpPr>
          <p:cNvPr id="29" name="Rectangle 28"/>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6.7%</a:t>
            </a:r>
          </a:p>
        </p:txBody>
      </p:sp>
      <p:sp>
        <p:nvSpPr>
          <p:cNvPr id="30" name="Oval 29"/>
          <p:cNvSpPr/>
          <p:nvPr/>
        </p:nvSpPr>
        <p:spPr>
          <a:xfrm>
            <a:off x="6705600"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31" name="Rounded Rectangle 30"/>
          <p:cNvSpPr/>
          <p:nvPr/>
        </p:nvSpPr>
        <p:spPr>
          <a:xfrm>
            <a:off x="8610600" y="1773916"/>
            <a:ext cx="3257550"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10600" y="1992961"/>
            <a:ext cx="3257550"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Automotive &amp; Transportation</a:t>
            </a:r>
          </a:p>
        </p:txBody>
      </p:sp>
      <p:sp>
        <p:nvSpPr>
          <p:cNvPr id="34" name="Rectangle 33"/>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16.3</a:t>
            </a:r>
          </a:p>
        </p:txBody>
      </p:sp>
      <p:sp>
        <p:nvSpPr>
          <p:cNvPr id="35" name="Rectangle 34"/>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30.3</a:t>
            </a:r>
          </a:p>
        </p:txBody>
      </p:sp>
      <p:sp>
        <p:nvSpPr>
          <p:cNvPr id="36" name="Rectangle 35"/>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6.4%</a:t>
            </a:r>
          </a:p>
        </p:txBody>
      </p:sp>
      <p:sp>
        <p:nvSpPr>
          <p:cNvPr id="37" name="Oval 36"/>
          <p:cNvSpPr/>
          <p:nvPr/>
        </p:nvSpPr>
        <p:spPr>
          <a:xfrm>
            <a:off x="10077450"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38" name="Rounded Rectangle 37"/>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0" name="Rectangle 39"/>
          <p:cNvSpPr/>
          <p:nvPr/>
        </p:nvSpPr>
        <p:spPr>
          <a:xfrm>
            <a:off x="457200" y="4146897"/>
            <a:ext cx="112776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Medical &amp; Healthcare: </a:t>
            </a:r>
            <a:r>
              <a:rPr sz="1100" b="0">
                <a:solidFill>
                  <a:srgbClr val="252423"/>
                </a:solidFill>
                <a:latin typeface="Segoe UI"/>
              </a:rPr>
              <a:t>10% of 2026 value · 7.0% CAGR serves a niche.</a:t>
            </a:r>
          </a:p>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Footwear: </a:t>
            </a:r>
            <a:r>
              <a:rPr sz="1100" b="0">
                <a:solidFill>
                  <a:srgbClr val="252423"/>
                </a:solidFill>
                <a:latin typeface="Segoe UI"/>
              </a:rPr>
              <a:t>8% of 2026 value · 6.7% CAGR serves a niche.</a:t>
            </a:r>
          </a:p>
          <a:p>
            <a:pPr algn="l">
              <a:lnSpc>
                <a:spcPct val="110000"/>
              </a:lnSpc>
              <a:spcBef>
                <a:spcPts val="0"/>
              </a:spcBef>
              <a:spcAft>
                <a:spcPts val="500"/>
              </a:spcAft>
            </a:pPr>
            <a:r>
              <a:rPr sz="1100" b="0">
                <a:solidFill>
                  <a:srgbClr val="2C6E7F"/>
                </a:solidFill>
                <a:latin typeface="Segoe UI"/>
              </a:rPr>
              <a:t>●  </a:t>
            </a:r>
            <a:r>
              <a:rPr sz="1100" b="1">
                <a:solidFill>
                  <a:srgbClr val="2C6E7F"/>
                </a:solidFill>
                <a:latin typeface="Segoe UI"/>
              </a:rPr>
              <a:t>Automotive &amp; Transportation: </a:t>
            </a:r>
            <a:r>
              <a:rPr sz="1100" b="0">
                <a:solidFill>
                  <a:srgbClr val="252423"/>
                </a:solidFill>
                <a:latin typeface="Segoe UI"/>
              </a:rPr>
              <a:t>6% of 2026 value · 6.4% CAGR serves a niche.</a:t>
            </a:r>
          </a:p>
        </p:txBody>
      </p:sp>
      <p:sp>
        <p:nvSpPr>
          <p:cNvPr id="42" name="TextBox 41"/>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3" name="TextBox 4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Middle East &amp; Africa Market Value &amp; Share Shift, By End-Use Application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End-Use Application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Middle East &amp; Africa</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Middle East &amp; Africa Value Composition, By End-Use Application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812909"/>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5090922" y="180814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73194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Automotive &amp; Transportation</a:t>
            </a:r>
          </a:p>
        </p:txBody>
      </p:sp>
      <p:sp>
        <p:nvSpPr>
          <p:cNvPr id="17" name="BPS Value 1"/>
          <p:cNvSpPr txBox="1"/>
          <p:nvPr/>
        </p:nvSpPr>
        <p:spPr>
          <a:xfrm>
            <a:off x="6896100" y="1793859"/>
            <a:ext cx="514350" cy="123825"/>
          </a:xfrm>
          <a:prstGeom prst="rect">
            <a:avLst/>
          </a:prstGeom>
          <a:noFill/>
        </p:spPr>
        <p:txBody>
          <a:bodyPr wrap="none" lIns="0" rIns="0" tIns="0" bIns="0" anchor="ctr">
            <a:spAutoFit/>
          </a:bodyPr>
          <a:lstStyle/>
          <a:p>
            <a:pPr algn="r"/>
            <a:r>
              <a:rPr sz="900" b="1">
                <a:solidFill>
                  <a:srgbClr val="D64545"/>
                </a:solidFill>
                <a:latin typeface="Segoe UI"/>
              </a:rPr>
              <a:t>-18</a:t>
            </a:r>
          </a:p>
        </p:txBody>
      </p:sp>
      <p:sp>
        <p:nvSpPr>
          <p:cNvPr id="18" name="FMI Legend Chip"/>
          <p:cNvSpPr/>
          <p:nvPr/>
        </p:nvSpPr>
        <p:spPr>
          <a:xfrm>
            <a:off x="4928997" y="2142856"/>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213809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206189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Footwear</a:t>
            </a:r>
          </a:p>
        </p:txBody>
      </p:sp>
      <p:sp>
        <p:nvSpPr>
          <p:cNvPr id="21" name="BPS Value 2"/>
          <p:cNvSpPr txBox="1"/>
          <p:nvPr/>
        </p:nvSpPr>
        <p:spPr>
          <a:xfrm>
            <a:off x="6896100" y="2123806"/>
            <a:ext cx="514350" cy="123825"/>
          </a:xfrm>
          <a:prstGeom prst="rect">
            <a:avLst/>
          </a:prstGeom>
          <a:noFill/>
        </p:spPr>
        <p:txBody>
          <a:bodyPr wrap="none" lIns="0" rIns="0" tIns="0" bIns="0" anchor="ctr">
            <a:spAutoFit/>
          </a:bodyPr>
          <a:lstStyle/>
          <a:p>
            <a:pPr algn="r"/>
            <a:r>
              <a:rPr sz="900" b="1">
                <a:solidFill>
                  <a:srgbClr val="1E8E3E"/>
                </a:solidFill>
                <a:latin typeface="Segoe UI"/>
              </a:rPr>
              <a:t>+0</a:t>
            </a:r>
          </a:p>
        </p:txBody>
      </p:sp>
      <p:sp>
        <p:nvSpPr>
          <p:cNvPr id="22" name="FMI Legend Chip"/>
          <p:cNvSpPr/>
          <p:nvPr/>
        </p:nvSpPr>
        <p:spPr>
          <a:xfrm>
            <a:off x="4928997" y="2569621"/>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5090922" y="2564858"/>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488658"/>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Medical &amp; Healthcare</a:t>
            </a:r>
          </a:p>
        </p:txBody>
      </p:sp>
      <p:sp>
        <p:nvSpPr>
          <p:cNvPr id="25" name="BPS Value 3"/>
          <p:cNvSpPr txBox="1"/>
          <p:nvPr/>
        </p:nvSpPr>
        <p:spPr>
          <a:xfrm>
            <a:off x="6896100" y="2550571"/>
            <a:ext cx="514350" cy="123825"/>
          </a:xfrm>
          <a:prstGeom prst="rect">
            <a:avLst/>
          </a:prstGeom>
          <a:noFill/>
        </p:spPr>
        <p:txBody>
          <a:bodyPr wrap="none" lIns="0" rIns="0" tIns="0" bIns="0" anchor="ctr">
            <a:spAutoFit/>
          </a:bodyPr>
          <a:lstStyle/>
          <a:p>
            <a:pPr algn="r"/>
            <a:r>
              <a:rPr sz="900" b="1">
                <a:solidFill>
                  <a:srgbClr val="1E8E3E"/>
                </a:solidFill>
                <a:latin typeface="Segoe UI"/>
              </a:rPr>
              <a:t>+30</a:t>
            </a:r>
          </a:p>
        </p:txBody>
      </p:sp>
      <p:sp>
        <p:nvSpPr>
          <p:cNvPr id="26" name="FMI Legend Chip"/>
          <p:cNvSpPr/>
          <p:nvPr/>
        </p:nvSpPr>
        <p:spPr>
          <a:xfrm>
            <a:off x="4928997" y="3182035"/>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rot="10800000">
            <a:off x="5090922" y="3177272"/>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3101072"/>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Intimate &amp; Bodywear</a:t>
            </a:r>
          </a:p>
        </p:txBody>
      </p:sp>
      <p:sp>
        <p:nvSpPr>
          <p:cNvPr id="29" name="BPS Value 4"/>
          <p:cNvSpPr txBox="1"/>
          <p:nvPr/>
        </p:nvSpPr>
        <p:spPr>
          <a:xfrm>
            <a:off x="6896100" y="3162985"/>
            <a:ext cx="514350" cy="123825"/>
          </a:xfrm>
          <a:prstGeom prst="rect">
            <a:avLst/>
          </a:prstGeom>
          <a:noFill/>
        </p:spPr>
        <p:txBody>
          <a:bodyPr wrap="none" lIns="0" rIns="0" tIns="0" bIns="0" anchor="ctr">
            <a:spAutoFit/>
          </a:bodyPr>
          <a:lstStyle/>
          <a:p>
            <a:pPr algn="r"/>
            <a:r>
              <a:rPr sz="900" b="1">
                <a:solidFill>
                  <a:srgbClr val="D64545"/>
                </a:solidFill>
                <a:latin typeface="Segoe UI"/>
              </a:rPr>
              <a:t>-136</a:t>
            </a:r>
          </a:p>
        </p:txBody>
      </p:sp>
      <p:sp>
        <p:nvSpPr>
          <p:cNvPr id="30" name="FMI Legend Chip"/>
          <p:cNvSpPr/>
          <p:nvPr/>
        </p:nvSpPr>
        <p:spPr>
          <a:xfrm>
            <a:off x="4928997" y="3932491"/>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5090922" y="392772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385152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Sports &amp; Activewear</a:t>
            </a:r>
          </a:p>
        </p:txBody>
      </p:sp>
      <p:sp>
        <p:nvSpPr>
          <p:cNvPr id="33" name="BPS Value 5"/>
          <p:cNvSpPr txBox="1"/>
          <p:nvPr/>
        </p:nvSpPr>
        <p:spPr>
          <a:xfrm>
            <a:off x="6896100" y="3913441"/>
            <a:ext cx="514350" cy="123825"/>
          </a:xfrm>
          <a:prstGeom prst="rect">
            <a:avLst/>
          </a:prstGeom>
          <a:noFill/>
        </p:spPr>
        <p:txBody>
          <a:bodyPr wrap="none" lIns="0" rIns="0" tIns="0" bIns="0" anchor="ctr">
            <a:spAutoFit/>
          </a:bodyPr>
          <a:lstStyle/>
          <a:p>
            <a:pPr algn="r"/>
            <a:r>
              <a:rPr sz="900" b="1">
                <a:solidFill>
                  <a:srgbClr val="1E8E3E"/>
                </a:solidFill>
                <a:latin typeface="Segoe UI"/>
              </a:rPr>
              <a:t>+15</a:t>
            </a:r>
          </a:p>
        </p:txBody>
      </p:sp>
      <p:sp>
        <p:nvSpPr>
          <p:cNvPr id="34" name="FMI Legend Chip"/>
          <p:cNvSpPr/>
          <p:nvPr/>
        </p:nvSpPr>
        <p:spPr>
          <a:xfrm>
            <a:off x="4928997" y="4758901"/>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a:off x="5090922" y="475413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467793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Protective &amp; Occupational Wear</a:t>
            </a:r>
          </a:p>
        </p:txBody>
      </p:sp>
      <p:sp>
        <p:nvSpPr>
          <p:cNvPr id="37" name="BPS Value 6"/>
          <p:cNvSpPr txBox="1"/>
          <p:nvPr/>
        </p:nvSpPr>
        <p:spPr>
          <a:xfrm>
            <a:off x="6896100" y="4739851"/>
            <a:ext cx="514350" cy="123825"/>
          </a:xfrm>
          <a:prstGeom prst="rect">
            <a:avLst/>
          </a:prstGeom>
          <a:noFill/>
        </p:spPr>
        <p:txBody>
          <a:bodyPr wrap="none" lIns="0" rIns="0" tIns="0" bIns="0" anchor="ctr">
            <a:spAutoFit/>
          </a:bodyPr>
          <a:lstStyle/>
          <a:p>
            <a:pPr algn="r"/>
            <a:r>
              <a:rPr sz="900" b="1">
                <a:solidFill>
                  <a:srgbClr val="1E8E3E"/>
                </a:solidFill>
                <a:latin typeface="Segoe UI"/>
              </a:rPr>
              <a:t>+25</a:t>
            </a:r>
          </a:p>
        </p:txBody>
      </p:sp>
      <p:sp>
        <p:nvSpPr>
          <p:cNvPr id="38" name="FMI Legend Chip"/>
          <p:cNvSpPr/>
          <p:nvPr/>
        </p:nvSpPr>
        <p:spPr>
          <a:xfrm>
            <a:off x="4928997" y="5726218"/>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a:off x="5090922" y="5721456"/>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5233797" y="564525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Industrial &amp; Technical Applications</a:t>
            </a:r>
          </a:p>
        </p:txBody>
      </p:sp>
      <p:sp>
        <p:nvSpPr>
          <p:cNvPr id="41" name="BPS Value 7"/>
          <p:cNvSpPr txBox="1"/>
          <p:nvPr/>
        </p:nvSpPr>
        <p:spPr>
          <a:xfrm>
            <a:off x="6896100" y="5707168"/>
            <a:ext cx="514350" cy="123825"/>
          </a:xfrm>
          <a:prstGeom prst="rect">
            <a:avLst/>
          </a:prstGeom>
          <a:noFill/>
        </p:spPr>
        <p:txBody>
          <a:bodyPr wrap="none" lIns="0" rIns="0" tIns="0" bIns="0" anchor="ctr">
            <a:spAutoFit/>
          </a:bodyPr>
          <a:lstStyle/>
          <a:p>
            <a:pPr algn="r"/>
            <a:r>
              <a:rPr sz="900" b="1">
                <a:solidFill>
                  <a:srgbClr val="1E8E3E"/>
                </a:solidFill>
                <a:latin typeface="Segoe UI"/>
              </a:rPr>
              <a:t>+82</a:t>
            </a:r>
          </a:p>
        </p:txBody>
      </p:sp>
      <p:sp>
        <p:nvSpPr>
          <p:cNvPr id="42" name="Rectangle 41"/>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Middle East &amp; Africa Read-out, By End-Use Application</a:t>
            </a:r>
          </a:p>
        </p:txBody>
      </p:sp>
      <p:sp>
        <p:nvSpPr>
          <p:cNvPr id="44" name="Rectangle 43"/>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End-Use application, industrial &amp; technical applications segment is expected to witness the highest CAGR of 7.1% over the forecast period. In terms of value share by End-Use application, the industrial &amp; technical applications segment is expected to dominate the market, gaining 82 BPS and accounting for 22.6% share by 2036.</a:t>
            </a:r>
          </a:p>
          <a:p>
            <a:pPr algn="l">
              <a:lnSpc>
                <a:spcPct val="110000"/>
              </a:lnSpc>
              <a:spcBef>
                <a:spcPts val="0"/>
              </a:spcBef>
              <a:spcAft>
                <a:spcPts val="500"/>
              </a:spcAft>
            </a:pPr>
            <a:r>
              <a:rPr sz="1150" b="0">
                <a:solidFill>
                  <a:srgbClr val="252423"/>
                </a:solidFill>
                <a:latin typeface="Segoe UI"/>
              </a:rPr>
              <a:t>The intimate &amp; bodywear segment is expected to lose 136 BPS over the forecast period to account for 16.4% share by 2036.</a:t>
            </a:r>
          </a:p>
        </p:txBody>
      </p:sp>
      <p:sp>
        <p:nvSpPr>
          <p:cNvPr id="46" name="TextBox 4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Fabric Weight Segment Outlook</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3 sub-segments of Fabric Weight,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Middle East &amp; Africa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Fabric Weight segment categorizes the market by fabric weight.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3257550"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3257550"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Medium Weight 150–250 GSM</a:t>
            </a:r>
          </a:p>
        </p:txBody>
      </p:sp>
      <p:sp>
        <p:nvSpPr>
          <p:cNvPr id="21" name="Rectangle 20"/>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130.7</a:t>
            </a:r>
          </a:p>
        </p:txBody>
      </p:sp>
      <p:sp>
        <p:nvSpPr>
          <p:cNvPr id="22" name="Rectangle 21"/>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239.6</a:t>
            </a:r>
          </a:p>
        </p:txBody>
      </p:sp>
      <p:sp>
        <p:nvSpPr>
          <p:cNvPr id="23" name="Rectangle 22"/>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6.2%</a:t>
            </a:r>
          </a:p>
        </p:txBody>
      </p:sp>
      <p:sp>
        <p:nvSpPr>
          <p:cNvPr id="24" name="Oval 23"/>
          <p:cNvSpPr/>
          <p:nvPr/>
        </p:nvSpPr>
        <p:spPr>
          <a:xfrm>
            <a:off x="3333750"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5238750" y="1773916"/>
            <a:ext cx="3257550"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238750" y="1992961"/>
            <a:ext cx="3257550"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Lightweight Below 150 GSM</a:t>
            </a:r>
          </a:p>
        </p:txBody>
      </p:sp>
      <p:sp>
        <p:nvSpPr>
          <p:cNvPr id="28" name="Rectangle 27"/>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75.3</a:t>
            </a:r>
          </a:p>
        </p:txBody>
      </p:sp>
      <p:sp>
        <p:nvSpPr>
          <p:cNvPr id="29" name="Rectangle 28"/>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146.4</a:t>
            </a:r>
          </a:p>
        </p:txBody>
      </p:sp>
      <p:sp>
        <p:nvSpPr>
          <p:cNvPr id="30" name="Rectangle 29"/>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6.9%</a:t>
            </a:r>
          </a:p>
        </p:txBody>
      </p:sp>
      <p:sp>
        <p:nvSpPr>
          <p:cNvPr id="31" name="Oval 30"/>
          <p:cNvSpPr/>
          <p:nvPr/>
        </p:nvSpPr>
        <p:spPr>
          <a:xfrm>
            <a:off x="6705600"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8610600" y="1773916"/>
            <a:ext cx="3257550"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610600" y="1992961"/>
            <a:ext cx="3257550"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Heavyweight Above 250 GSM</a:t>
            </a:r>
          </a:p>
        </p:txBody>
      </p:sp>
      <p:sp>
        <p:nvSpPr>
          <p:cNvPr id="35" name="Rectangle 34"/>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49.2</a:t>
            </a:r>
          </a:p>
        </p:txBody>
      </p:sp>
      <p:sp>
        <p:nvSpPr>
          <p:cNvPr id="36" name="Rectangle 35"/>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102.3</a:t>
            </a:r>
          </a:p>
        </p:txBody>
      </p:sp>
      <p:sp>
        <p:nvSpPr>
          <p:cNvPr id="37" name="Rectangle 36"/>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7.6%</a:t>
            </a:r>
          </a:p>
        </p:txBody>
      </p:sp>
      <p:sp>
        <p:nvSpPr>
          <p:cNvPr id="38" name="Oval 37"/>
          <p:cNvSpPr/>
          <p:nvPr/>
        </p:nvSpPr>
        <p:spPr>
          <a:xfrm>
            <a:off x="10077450"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1" name="Rectangle 40"/>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Among performance knitted fabrics by fabric weight, heavyweight above 250 GSM segment is expected to witness the highest CAGR of 7.6% over the forecast period. In terms of value share by fabric weight, the medium weight 150-250 GSM segment is expected to dominate the market, losing 216 BPS and accounting for 49.1% share by 2036.</a:t>
            </a:r>
          </a:p>
          <a:p>
            <a:pPr algn="l">
              <a:lnSpc>
                <a:spcPct val="110000"/>
              </a:lnSpc>
              <a:spcBef>
                <a:spcPts val="0"/>
              </a:spcBef>
              <a:spcAft>
                <a:spcPts val="500"/>
              </a:spcAft>
            </a:pPr>
            <a:r>
              <a:rPr sz="1100" b="0">
                <a:solidFill>
                  <a:srgbClr val="00A4DC"/>
                </a:solidFill>
                <a:latin typeface="Segoe UI"/>
              </a:rPr>
              <a:t>▪  </a:t>
            </a:r>
            <a:r>
              <a:rPr sz="1100" b="0">
                <a:solidFill>
                  <a:srgbClr val="252423"/>
                </a:solidFill>
                <a:latin typeface="Segoe UI"/>
              </a:rPr>
              <a:t>Medium weight 150-250 GSM segment is projected to register 1.6X higher value than lightweight below 150 GSM segment in 2036.</a:t>
            </a:r>
          </a:p>
        </p:txBody>
      </p:sp>
      <p:sp>
        <p:nvSpPr>
          <p:cNvPr id="43" name="Rounded Rectangle 42"/>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5" name="Rectangle 44"/>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Medium Weight 150–250 GSM: </a:t>
            </a:r>
            <a:r>
              <a:rPr sz="1100" b="0">
                <a:solidFill>
                  <a:srgbClr val="252423"/>
                </a:solidFill>
                <a:latin typeface="Segoe UI"/>
              </a:rPr>
              <a:t>51% of 2026 value · 6.2%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Lightweight Below 150 GSM: </a:t>
            </a:r>
            <a:r>
              <a:rPr sz="1100" b="0">
                <a:solidFill>
                  <a:srgbClr val="252423"/>
                </a:solidFill>
                <a:latin typeface="Segoe UI"/>
              </a:rPr>
              <a:t>30% of 2026 value · 6.9%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Heavyweight Above 250 GSM: </a:t>
            </a:r>
            <a:r>
              <a:rPr sz="1100" b="0">
                <a:solidFill>
                  <a:srgbClr val="252423"/>
                </a:solidFill>
                <a:latin typeface="Segoe UI"/>
              </a:rPr>
              <a:t>19% of 2026 value · 7.6% CAGR grows fastest.</a:t>
            </a:r>
          </a:p>
        </p:txBody>
      </p:sp>
      <p:sp>
        <p:nvSpPr>
          <p:cNvPr id="47" name="Rounded Rectangle 46"/>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49" name="Rectangle 48"/>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Fabric Weight split shows how demand is distributed across fabric weight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1" name="Rectangle 50"/>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Fabric Weight segment is projected to grow at a CAGR of 6.7% from 2026 to 2036.</a:t>
            </a:r>
          </a:p>
        </p:txBody>
      </p:sp>
      <p:sp>
        <p:nvSpPr>
          <p:cNvPr id="53" name="TextBox 52"/>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54" name="TextBox 53"/>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Middle East &amp; Africa Market Value &amp; Share Shift, By Fabric Weight</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Fabric Weight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Middle East &amp; Africa</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Middle East &amp; Africa Value Composition, By Fabric Weight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2150222"/>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5090922" y="2145460"/>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2069260"/>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Heavyweight Above 250 GSM</a:t>
            </a:r>
          </a:p>
        </p:txBody>
      </p:sp>
      <p:sp>
        <p:nvSpPr>
          <p:cNvPr id="17" name="BPS Value 1"/>
          <p:cNvSpPr txBox="1"/>
          <p:nvPr/>
        </p:nvSpPr>
        <p:spPr>
          <a:xfrm>
            <a:off x="6896100" y="2131172"/>
            <a:ext cx="514350" cy="123825"/>
          </a:xfrm>
          <a:prstGeom prst="rect">
            <a:avLst/>
          </a:prstGeom>
          <a:noFill/>
        </p:spPr>
        <p:txBody>
          <a:bodyPr wrap="none" lIns="0" rIns="0" tIns="0" bIns="0" anchor="ctr">
            <a:spAutoFit/>
          </a:bodyPr>
          <a:lstStyle/>
          <a:p>
            <a:pPr algn="r"/>
            <a:r>
              <a:rPr sz="900" b="1">
                <a:solidFill>
                  <a:srgbClr val="1E8E3E"/>
                </a:solidFill>
                <a:latin typeface="Segoe UI"/>
              </a:rPr>
              <a:t>+168</a:t>
            </a:r>
          </a:p>
        </p:txBody>
      </p:sp>
      <p:sp>
        <p:nvSpPr>
          <p:cNvPr id="18" name="FMI Legend Chip"/>
          <p:cNvSpPr/>
          <p:nvPr/>
        </p:nvSpPr>
        <p:spPr>
          <a:xfrm>
            <a:off x="4928997" y="3314776"/>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3310013"/>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3233813"/>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Lightweight Below 150 GSM</a:t>
            </a:r>
          </a:p>
        </p:txBody>
      </p:sp>
      <p:sp>
        <p:nvSpPr>
          <p:cNvPr id="21" name="BPS Value 2"/>
          <p:cNvSpPr txBox="1"/>
          <p:nvPr/>
        </p:nvSpPr>
        <p:spPr>
          <a:xfrm>
            <a:off x="6896100" y="3295726"/>
            <a:ext cx="514350" cy="123825"/>
          </a:xfrm>
          <a:prstGeom prst="rect">
            <a:avLst/>
          </a:prstGeom>
          <a:noFill/>
        </p:spPr>
        <p:txBody>
          <a:bodyPr wrap="none" lIns="0" rIns="0" tIns="0" bIns="0" anchor="ctr">
            <a:spAutoFit/>
          </a:bodyPr>
          <a:lstStyle/>
          <a:p>
            <a:pPr algn="r"/>
            <a:r>
              <a:rPr sz="900" b="1">
                <a:solidFill>
                  <a:srgbClr val="1E8E3E"/>
                </a:solidFill>
                <a:latin typeface="Segoe UI"/>
              </a:rPr>
              <a:t>+48</a:t>
            </a:r>
          </a:p>
        </p:txBody>
      </p:sp>
      <p:sp>
        <p:nvSpPr>
          <p:cNvPr id="22" name="FMI Legend Chip"/>
          <p:cNvSpPr/>
          <p:nvPr/>
        </p:nvSpPr>
        <p:spPr>
          <a:xfrm>
            <a:off x="4928997" y="5122000"/>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rot="10800000">
            <a:off x="5090922" y="5117238"/>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5041038"/>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Medium Weight 150–250 GSM</a:t>
            </a:r>
          </a:p>
        </p:txBody>
      </p:sp>
      <p:sp>
        <p:nvSpPr>
          <p:cNvPr id="25" name="BPS Value 3"/>
          <p:cNvSpPr txBox="1"/>
          <p:nvPr/>
        </p:nvSpPr>
        <p:spPr>
          <a:xfrm>
            <a:off x="6896100" y="5102950"/>
            <a:ext cx="514350" cy="123825"/>
          </a:xfrm>
          <a:prstGeom prst="rect">
            <a:avLst/>
          </a:prstGeom>
          <a:noFill/>
        </p:spPr>
        <p:txBody>
          <a:bodyPr wrap="none" lIns="0" rIns="0" tIns="0" bIns="0" anchor="ctr">
            <a:spAutoFit/>
          </a:bodyPr>
          <a:lstStyle/>
          <a:p>
            <a:pPr algn="r"/>
            <a:r>
              <a:rPr sz="900" b="1">
                <a:solidFill>
                  <a:srgbClr val="D64545"/>
                </a:solidFill>
                <a:latin typeface="Segoe UI"/>
              </a:rPr>
              <a:t>-216</a:t>
            </a:r>
          </a:p>
        </p:txBody>
      </p:sp>
      <p:sp>
        <p:nvSpPr>
          <p:cNvPr id="26" name="Rectangle 25"/>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Middle East &amp; Africa Read-out, By Fabric Weight</a:t>
            </a:r>
          </a:p>
        </p:txBody>
      </p:sp>
      <p:sp>
        <p:nvSpPr>
          <p:cNvPr id="28" name="Rectangle 27"/>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fabric weight, heavyweight above 250 GSM segment is expected to witness the highest CAGR of 7.6% over the forecast period.</a:t>
            </a:r>
          </a:p>
          <a:p>
            <a:pPr algn="l">
              <a:lnSpc>
                <a:spcPct val="110000"/>
              </a:lnSpc>
              <a:spcBef>
                <a:spcPts val="0"/>
              </a:spcBef>
              <a:spcAft>
                <a:spcPts val="500"/>
              </a:spcAft>
            </a:pPr>
            <a:r>
              <a:rPr sz="1150" b="0">
                <a:solidFill>
                  <a:srgbClr val="252423"/>
                </a:solidFill>
                <a:latin typeface="Segoe UI"/>
              </a:rPr>
              <a:t>In terms of value share by fabric weight, the medium weight 150-250 GSM segment is expected to dominate the market, losing 216 BPS and accounting for 49.1% share by 2036.</a:t>
            </a:r>
          </a:p>
        </p:txBody>
      </p:sp>
      <p:sp>
        <p:nvSpPr>
          <p:cNvPr id="30" name="TextBox 29"/>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Vs Material Segment Outlook (1/2)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Vs Material, 2026–2036</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Middle East &amp; Africa</a:t>
            </a:r>
          </a:p>
        </p:txBody>
      </p:sp>
      <p:sp>
        <p:nvSpPr>
          <p:cNvPr id="9" name="TextBox 8"/>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Vs Material segment categorizes the market by end-use application vs material. Each sub-category is evaluated on market size, growth outlook and adoption trends across the forecast period.</a:t>
            </a:r>
          </a:p>
        </p:txBody>
      </p:sp>
      <p:sp>
        <p:nvSpPr>
          <p:cNvPr id="10" name="Rectangle 9"/>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2" name="Rectangle 11"/>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4" name="Rectangle 13"/>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6" name="Rectangle 15"/>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8" name="Rounded Rectangle 17"/>
          <p:cNvSpPr/>
          <p:nvPr/>
        </p:nvSpPr>
        <p:spPr>
          <a:xfrm>
            <a:off x="1866900" y="1773916"/>
            <a:ext cx="2414588" cy="438089"/>
          </a:xfrm>
          <a:prstGeom prst="roundRect">
            <a:avLst>
              <a:gd name="adj" fmla="val 18000"/>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6900" y="1992961"/>
            <a:ext cx="2414588" cy="219044"/>
          </a:xfrm>
          <a:prstGeom prst="rect">
            <a:avLst/>
          </a:prstGeom>
          <a:solidFill>
            <a:srgbClr val="0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Industrial &amp; Technical Applicatio…</a:t>
            </a:r>
          </a:p>
        </p:txBody>
      </p:sp>
      <p:sp>
        <p:nvSpPr>
          <p:cNvPr id="21" name="Rectangle 20"/>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55.7</a:t>
            </a:r>
          </a:p>
        </p:txBody>
      </p:sp>
      <p:sp>
        <p:nvSpPr>
          <p:cNvPr id="22" name="Rectangle 21"/>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110.5</a:t>
            </a:r>
          </a:p>
        </p:txBody>
      </p:sp>
      <p:sp>
        <p:nvSpPr>
          <p:cNvPr id="23" name="Rectangle 22"/>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3A5F"/>
                </a:solidFill>
                <a:latin typeface="Segoe UI"/>
              </a:rPr>
              <a:t>7.1%</a:t>
            </a:r>
          </a:p>
        </p:txBody>
      </p:sp>
      <p:sp>
        <p:nvSpPr>
          <p:cNvPr id="24" name="Oval 23"/>
          <p:cNvSpPr/>
          <p:nvPr/>
        </p:nvSpPr>
        <p:spPr>
          <a:xfrm>
            <a:off x="2912269" y="1445350"/>
            <a:ext cx="323850" cy="310313"/>
          </a:xfrm>
          <a:prstGeom prst="ellipse">
            <a:avLst/>
          </a:prstGeom>
          <a:solidFill>
            <a:srgbClr val="0E3A5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1</a:t>
            </a:r>
          </a:p>
        </p:txBody>
      </p:sp>
      <p:sp>
        <p:nvSpPr>
          <p:cNvPr id="25" name="Rounded Rectangle 24"/>
          <p:cNvSpPr/>
          <p:nvPr/>
        </p:nvSpPr>
        <p:spPr>
          <a:xfrm>
            <a:off x="4395788" y="1773916"/>
            <a:ext cx="2414588" cy="438089"/>
          </a:xfrm>
          <a:prstGeom prst="roundRect">
            <a:avLst>
              <a:gd name="adj" fmla="val 18000"/>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95788" y="1992961"/>
            <a:ext cx="2414588" cy="219044"/>
          </a:xfrm>
          <a:prstGeom prst="rect">
            <a:avLst/>
          </a:prstGeom>
          <a:solidFill>
            <a:srgbClr val="166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Protective &amp; Occupational Wear</a:t>
            </a:r>
          </a:p>
        </p:txBody>
      </p:sp>
      <p:sp>
        <p:nvSpPr>
          <p:cNvPr id="28" name="Rectangle 27"/>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49.6</a:t>
            </a:r>
          </a:p>
        </p:txBody>
      </p:sp>
      <p:sp>
        <p:nvSpPr>
          <p:cNvPr id="29" name="Rectangle 28"/>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96.1</a:t>
            </a:r>
          </a:p>
        </p:txBody>
      </p:sp>
      <p:sp>
        <p:nvSpPr>
          <p:cNvPr id="30" name="Rectangle 29"/>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1668A8"/>
                </a:solidFill>
                <a:latin typeface="Segoe UI"/>
              </a:rPr>
              <a:t>6.8%</a:t>
            </a:r>
          </a:p>
        </p:txBody>
      </p:sp>
      <p:sp>
        <p:nvSpPr>
          <p:cNvPr id="31" name="Oval 30"/>
          <p:cNvSpPr/>
          <p:nvPr/>
        </p:nvSpPr>
        <p:spPr>
          <a:xfrm>
            <a:off x="5441156" y="1445350"/>
            <a:ext cx="323850" cy="310313"/>
          </a:xfrm>
          <a:prstGeom prst="ellipse">
            <a:avLst/>
          </a:prstGeom>
          <a:solidFill>
            <a:srgbClr val="1668A8"/>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2</a:t>
            </a:r>
          </a:p>
        </p:txBody>
      </p:sp>
      <p:sp>
        <p:nvSpPr>
          <p:cNvPr id="32" name="Rounded Rectangle 31"/>
          <p:cNvSpPr/>
          <p:nvPr/>
        </p:nvSpPr>
        <p:spPr>
          <a:xfrm>
            <a:off x="6924675" y="1773916"/>
            <a:ext cx="2414588" cy="438089"/>
          </a:xfrm>
          <a:prstGeom prst="roundRect">
            <a:avLst>
              <a:gd name="adj" fmla="val 18000"/>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24675" y="1992961"/>
            <a:ext cx="2414588" cy="219044"/>
          </a:xfrm>
          <a:prstGeom prst="rect">
            <a:avLst/>
          </a:pr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Intimate &amp; Bodywear</a:t>
            </a:r>
          </a:p>
        </p:txBody>
      </p:sp>
      <p:sp>
        <p:nvSpPr>
          <p:cNvPr id="35" name="Rectangle 34"/>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45.2</a:t>
            </a:r>
          </a:p>
        </p:txBody>
      </p:sp>
      <p:sp>
        <p:nvSpPr>
          <p:cNvPr id="36" name="Rectangle 35"/>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79.9</a:t>
            </a:r>
          </a:p>
        </p:txBody>
      </p:sp>
      <p:sp>
        <p:nvSpPr>
          <p:cNvPr id="37" name="Rectangle 36"/>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5B7C99"/>
                </a:solidFill>
                <a:latin typeface="Segoe UI"/>
              </a:rPr>
              <a:t>5.9%</a:t>
            </a:r>
          </a:p>
        </p:txBody>
      </p:sp>
      <p:sp>
        <p:nvSpPr>
          <p:cNvPr id="38" name="Oval 37"/>
          <p:cNvSpPr/>
          <p:nvPr/>
        </p:nvSpPr>
        <p:spPr>
          <a:xfrm>
            <a:off x="7970044" y="1445350"/>
            <a:ext cx="323850" cy="310313"/>
          </a:xfrm>
          <a:prstGeom prst="ellipse">
            <a:avLst/>
          </a:prstGeom>
          <a:solidFill>
            <a:srgbClr val="5B7C9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3</a:t>
            </a:r>
          </a:p>
        </p:txBody>
      </p:sp>
      <p:sp>
        <p:nvSpPr>
          <p:cNvPr id="39" name="Rounded Rectangle 38"/>
          <p:cNvSpPr/>
          <p:nvPr/>
        </p:nvSpPr>
        <p:spPr>
          <a:xfrm>
            <a:off x="9453562" y="1773916"/>
            <a:ext cx="2414588" cy="438089"/>
          </a:xfrm>
          <a:prstGeom prst="roundRect">
            <a:avLst>
              <a:gd name="adj" fmla="val 18000"/>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453562" y="1992961"/>
            <a:ext cx="2414588" cy="21904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Segoe UI"/>
              </a:rPr>
              <a:t>Sports &amp; Activewear</a:t>
            </a:r>
          </a:p>
        </p:txBody>
      </p:sp>
      <p:sp>
        <p:nvSpPr>
          <p:cNvPr id="42" name="Rectangle 41"/>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41.6</a:t>
            </a:r>
          </a:p>
        </p:txBody>
      </p:sp>
      <p:sp>
        <p:nvSpPr>
          <p:cNvPr id="43" name="Rectangle 42"/>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80.4</a:t>
            </a:r>
          </a:p>
        </p:txBody>
      </p:sp>
      <p:sp>
        <p:nvSpPr>
          <p:cNvPr id="44" name="Rectangle 43"/>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8E44AD"/>
                </a:solidFill>
                <a:latin typeface="Segoe UI"/>
              </a:rPr>
              <a:t>6.8%</a:t>
            </a:r>
          </a:p>
        </p:txBody>
      </p:sp>
      <p:sp>
        <p:nvSpPr>
          <p:cNvPr id="45" name="Oval 44"/>
          <p:cNvSpPr/>
          <p:nvPr/>
        </p:nvSpPr>
        <p:spPr>
          <a:xfrm>
            <a:off x="10498931" y="1445350"/>
            <a:ext cx="323850" cy="310313"/>
          </a:xfrm>
          <a:prstGeom prst="ellipse">
            <a:avLst/>
          </a:prstGeom>
          <a:solidFill>
            <a:srgbClr val="8E44AD"/>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4</a:t>
            </a:r>
          </a:p>
        </p:txBody>
      </p:sp>
      <p:sp>
        <p:nvSpPr>
          <p:cNvPr id="46" name="Rounded Rectangle 45"/>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E3A5F"/>
                </a:solidFill>
                <a:latin typeface="Segoe UI"/>
              </a:rPr>
              <a:t>Key Highlights</a:t>
            </a:r>
          </a:p>
        </p:txBody>
      </p:sp>
      <p:sp>
        <p:nvSpPr>
          <p:cNvPr id="48" name="Rectangle 47"/>
          <p:cNvSpPr/>
          <p:nvPr/>
        </p:nvSpPr>
        <p:spPr>
          <a:xfrm>
            <a:off x="457200" y="4146897"/>
            <a:ext cx="29718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Among performance knitted fabrics by End-Use application vs material, industrial &amp; technical applications segment is expected to witness the highest CAGR of 7.1% over the forecast period. In terms of value share by End-Use application vs material, the industrial &amp; technical applications segment is expected to dominate the market, gaining 82 BPS and accounting for 22.6% share by 2036.</a:t>
            </a:r>
          </a:p>
          <a:p>
            <a:pPr algn="l">
              <a:lnSpc>
                <a:spcPct val="105000"/>
              </a:lnSpc>
              <a:spcBef>
                <a:spcPts val="0"/>
              </a:spcBef>
              <a:spcAft>
                <a:spcPts val="300"/>
              </a:spcAft>
            </a:pPr>
            <a:r>
              <a:rPr sz="1100" b="0">
                <a:solidFill>
                  <a:srgbClr val="00A4DC"/>
                </a:solidFill>
                <a:latin typeface="Segoe UI"/>
              </a:rPr>
              <a:t>▪  </a:t>
            </a:r>
            <a:r>
              <a:rPr sz="1100" b="0">
                <a:solidFill>
                  <a:srgbClr val="252423"/>
                </a:solidFill>
                <a:latin typeface="Segoe UI"/>
              </a:rPr>
              <a:t>Industrial &amp; technical applications segment is projected to register 1.2X higher value than protective &amp; occupational wear segment in 2036.</a:t>
            </a:r>
          </a:p>
        </p:txBody>
      </p:sp>
      <p:sp>
        <p:nvSpPr>
          <p:cNvPr id="50" name="Rounded Rectangle 49"/>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52" name="Rectangle 51"/>
          <p:cNvSpPr/>
          <p:nvPr/>
        </p:nvSpPr>
        <p:spPr>
          <a:xfrm>
            <a:off x="3810000" y="4146897"/>
            <a:ext cx="42100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E3A5F"/>
                </a:solidFill>
                <a:latin typeface="Segoe UI"/>
              </a:rPr>
              <a:t>●  </a:t>
            </a:r>
            <a:r>
              <a:rPr sz="1100" b="1">
                <a:solidFill>
                  <a:srgbClr val="0E3A5F"/>
                </a:solidFill>
                <a:latin typeface="Segoe UI"/>
              </a:rPr>
              <a:t>Industrial &amp; Technical Applications: </a:t>
            </a:r>
            <a:r>
              <a:rPr sz="1100" b="0">
                <a:solidFill>
                  <a:srgbClr val="252423"/>
                </a:solidFill>
                <a:latin typeface="Segoe UI"/>
              </a:rPr>
              <a:t>22% of 2026 value · 7.1% CAGR leads the segment.</a:t>
            </a:r>
          </a:p>
          <a:p>
            <a:pPr algn="l">
              <a:lnSpc>
                <a:spcPct val="110000"/>
              </a:lnSpc>
              <a:spcBef>
                <a:spcPts val="0"/>
              </a:spcBef>
              <a:spcAft>
                <a:spcPts val="500"/>
              </a:spcAft>
            </a:pPr>
            <a:r>
              <a:rPr sz="1100" b="0">
                <a:solidFill>
                  <a:srgbClr val="1668A8"/>
                </a:solidFill>
                <a:latin typeface="Segoe UI"/>
              </a:rPr>
              <a:t>●  </a:t>
            </a:r>
            <a:r>
              <a:rPr sz="1100" b="1">
                <a:solidFill>
                  <a:srgbClr val="1668A8"/>
                </a:solidFill>
                <a:latin typeface="Segoe UI"/>
              </a:rPr>
              <a:t>Protective &amp; Occupational Wear: </a:t>
            </a:r>
            <a:r>
              <a:rPr sz="1100" b="0">
                <a:solidFill>
                  <a:srgbClr val="252423"/>
                </a:solidFill>
                <a:latin typeface="Segoe UI"/>
              </a:rPr>
              <a:t>19% of 2026 value · 6.8% CAGR serves a niche.</a:t>
            </a:r>
          </a:p>
          <a:p>
            <a:pPr algn="l">
              <a:lnSpc>
                <a:spcPct val="110000"/>
              </a:lnSpc>
              <a:spcBef>
                <a:spcPts val="0"/>
              </a:spcBef>
              <a:spcAft>
                <a:spcPts val="500"/>
              </a:spcAft>
            </a:pPr>
            <a:r>
              <a:rPr sz="1100" b="0">
                <a:solidFill>
                  <a:srgbClr val="5B7C99"/>
                </a:solidFill>
                <a:latin typeface="Segoe UI"/>
              </a:rPr>
              <a:t>●  </a:t>
            </a:r>
            <a:r>
              <a:rPr sz="1100" b="1">
                <a:solidFill>
                  <a:srgbClr val="5B7C99"/>
                </a:solidFill>
                <a:latin typeface="Segoe UI"/>
              </a:rPr>
              <a:t>Intimate &amp; Bodywear: </a:t>
            </a:r>
            <a:r>
              <a:rPr sz="1100" b="0">
                <a:solidFill>
                  <a:srgbClr val="252423"/>
                </a:solidFill>
                <a:latin typeface="Segoe UI"/>
              </a:rPr>
              <a:t>18% of 2026 value · 5.9% CAGR serves a niche.</a:t>
            </a:r>
          </a:p>
          <a:p>
            <a:pPr algn="l">
              <a:lnSpc>
                <a:spcPct val="110000"/>
              </a:lnSpc>
              <a:spcBef>
                <a:spcPts val="0"/>
              </a:spcBef>
              <a:spcAft>
                <a:spcPts val="500"/>
              </a:spcAft>
            </a:pPr>
            <a:r>
              <a:rPr sz="1100" b="0">
                <a:solidFill>
                  <a:srgbClr val="8E44AD"/>
                </a:solidFill>
                <a:latin typeface="Segoe UI"/>
              </a:rPr>
              <a:t>●  </a:t>
            </a:r>
            <a:r>
              <a:rPr sz="1100" b="1">
                <a:solidFill>
                  <a:srgbClr val="8E44AD"/>
                </a:solidFill>
                <a:latin typeface="Segoe UI"/>
              </a:rPr>
              <a:t>Sports &amp; Activewear: </a:t>
            </a:r>
            <a:r>
              <a:rPr sz="1100" b="0">
                <a:solidFill>
                  <a:srgbClr val="252423"/>
                </a:solidFill>
                <a:latin typeface="Segoe UI"/>
              </a:rPr>
              <a:t>16% of 2026 value · 6.8% CAGR serves a niche.</a:t>
            </a:r>
          </a:p>
        </p:txBody>
      </p:sp>
      <p:sp>
        <p:nvSpPr>
          <p:cNvPr id="54" name="Rounded Rectangle 53"/>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E3A5F"/>
                </a:solidFill>
                <a:latin typeface="Segoe UI"/>
              </a:rPr>
              <a:t>Segment Overview</a:t>
            </a:r>
          </a:p>
        </p:txBody>
      </p:sp>
      <p:sp>
        <p:nvSpPr>
          <p:cNvPr id="56" name="Rectangle 55"/>
          <p:cNvSpPr/>
          <p:nvPr/>
        </p:nvSpPr>
        <p:spPr>
          <a:xfrm>
            <a:off x="8401050" y="4146897"/>
            <a:ext cx="333375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The End-Use Application Vs Material split shows how demand is distributed across end-use application vs material types and where growth concentrates.</a:t>
            </a:r>
          </a:p>
          <a:p>
            <a:pPr algn="l">
              <a:lnSpc>
                <a:spcPct val="110000"/>
              </a:lnSpc>
              <a:spcBef>
                <a:spcPts val="0"/>
              </a:spcBef>
              <a:spcAft>
                <a:spcPts val="500"/>
              </a:spcAft>
            </a:pPr>
            <a:r>
              <a:rPr sz="1100" b="1">
                <a:solidFill>
                  <a:srgbClr val="2F6FB0"/>
                </a:solidFill>
                <a:latin typeface="Segoe UI"/>
              </a:rPr>
              <a:t>✓  </a:t>
            </a:r>
            <a:r>
              <a:rPr sz="1100" b="0">
                <a:solidFill>
                  <a:srgbClr val="252423"/>
                </a:solidFill>
                <a:latin typeface="Segoe UI"/>
              </a:rPr>
              <a:t>Shifting preferences and product innovation are reshaping the mix through 2036.</a:t>
            </a:r>
          </a:p>
        </p:txBody>
      </p:sp>
      <p:sp>
        <p:nvSpPr>
          <p:cNvPr id="58" name="Rectangle 57"/>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E3A5F"/>
                </a:solidFill>
                <a:latin typeface="Segoe UI"/>
              </a:rPr>
              <a:t>The End-Use Application Vs Material segment is projected to grow at a CAGR of 6.7% from 2026 to 2036.</a:t>
            </a:r>
          </a:p>
        </p:txBody>
      </p:sp>
      <p:sp>
        <p:nvSpPr>
          <p:cNvPr id="60" name="TextBox 59"/>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61" name="TextBox 60"/>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10182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By End-Use Application Vs Material Segment Outlook (2/2)</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Segment analysis of market size, growth and share across 7 sub-segments of End-Use Application Vs Material, 2026–2036</a:t>
            </a:r>
          </a:p>
        </p:txBody>
      </p:sp>
      <p:sp>
        <p:nvSpPr>
          <p:cNvPr id="8" name="TextBox 7"/>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52423"/>
                </a:solidFill>
                <a:latin typeface="Segoe UI"/>
              </a:rPr>
              <a:t>The End-Use Application Vs Material segment categorizes the market by end-use application vs material. Each sub-category is evaluated on market size, growth outlook and adoption trends across the forecast period.</a:t>
            </a:r>
          </a:p>
        </p:txBody>
      </p:sp>
      <p:sp>
        <p:nvSpPr>
          <p:cNvPr id="9" name="Rectangle 8"/>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E3A5F"/>
                </a:solidFill>
                <a:latin typeface="Segoe UI"/>
              </a:rPr>
              <a:t>Sub-Segment</a:t>
            </a:r>
          </a:p>
        </p:txBody>
      </p:sp>
      <p:sp>
        <p:nvSpPr>
          <p:cNvPr id="11" name="Rectangle 10"/>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2026 Value (US$ Mn)</a:t>
            </a:r>
          </a:p>
        </p:txBody>
      </p:sp>
      <p:sp>
        <p:nvSpPr>
          <p:cNvPr id="13" name="Rectangle 12"/>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2036 Value (US$ Mn)</a:t>
            </a:r>
          </a:p>
        </p:txBody>
      </p:sp>
      <p:sp>
        <p:nvSpPr>
          <p:cNvPr id="15" name="Rectangle 14"/>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05E5C"/>
                </a:solidFill>
                <a:latin typeface="Segoe UI"/>
              </a:rPr>
              <a:t>CAGR (2026–2036)</a:t>
            </a:r>
          </a:p>
        </p:txBody>
      </p:sp>
      <p:sp>
        <p:nvSpPr>
          <p:cNvPr id="17" name="Rounded Rectangle 16"/>
          <p:cNvSpPr/>
          <p:nvPr/>
        </p:nvSpPr>
        <p:spPr>
          <a:xfrm>
            <a:off x="1866900" y="1773916"/>
            <a:ext cx="3257550" cy="438089"/>
          </a:xfrm>
          <a:prstGeom prst="roundRect">
            <a:avLst>
              <a:gd name="adj" fmla="val 18000"/>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6900" y="1992961"/>
            <a:ext cx="3257550" cy="219044"/>
          </a:xfrm>
          <a:prstGeom prst="rect">
            <a:avLst/>
          </a:prstGeom>
          <a:solidFill>
            <a:srgbClr val="C58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050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Medical &amp; Healthcare</a:t>
            </a:r>
          </a:p>
        </p:txBody>
      </p:sp>
      <p:sp>
        <p:nvSpPr>
          <p:cNvPr id="20" name="Rectangle 19"/>
          <p:cNvSpPr/>
          <p:nvPr/>
        </p:nvSpPr>
        <p:spPr>
          <a:xfrm>
            <a:off x="18669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25.8</a:t>
            </a:r>
          </a:p>
        </p:txBody>
      </p:sp>
      <p:sp>
        <p:nvSpPr>
          <p:cNvPr id="21" name="Rectangle 20"/>
          <p:cNvSpPr/>
          <p:nvPr/>
        </p:nvSpPr>
        <p:spPr>
          <a:xfrm>
            <a:off x="18669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50.9</a:t>
            </a:r>
          </a:p>
        </p:txBody>
      </p:sp>
      <p:sp>
        <p:nvSpPr>
          <p:cNvPr id="22" name="Rectangle 21"/>
          <p:cNvSpPr/>
          <p:nvPr/>
        </p:nvSpPr>
        <p:spPr>
          <a:xfrm>
            <a:off x="18669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C58A21"/>
                </a:solidFill>
                <a:latin typeface="Segoe UI"/>
              </a:rPr>
              <a:t>7.0%</a:t>
            </a:r>
          </a:p>
        </p:txBody>
      </p:sp>
      <p:sp>
        <p:nvSpPr>
          <p:cNvPr id="23" name="Oval 22"/>
          <p:cNvSpPr/>
          <p:nvPr/>
        </p:nvSpPr>
        <p:spPr>
          <a:xfrm>
            <a:off x="3333750" y="1445350"/>
            <a:ext cx="323850" cy="310313"/>
          </a:xfrm>
          <a:prstGeom prst="ellipse">
            <a:avLst/>
          </a:prstGeom>
          <a:solidFill>
            <a:srgbClr val="C58A21"/>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5</a:t>
            </a:r>
          </a:p>
        </p:txBody>
      </p:sp>
      <p:sp>
        <p:nvSpPr>
          <p:cNvPr id="24" name="Rounded Rectangle 23"/>
          <p:cNvSpPr/>
          <p:nvPr/>
        </p:nvSpPr>
        <p:spPr>
          <a:xfrm>
            <a:off x="5238750" y="1773916"/>
            <a:ext cx="3257550" cy="438089"/>
          </a:xfrm>
          <a:prstGeom prst="roundRect">
            <a:avLst>
              <a:gd name="adj" fmla="val 18000"/>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38750" y="1992961"/>
            <a:ext cx="3257550" cy="219044"/>
          </a:xfrm>
          <a:prstGeom prst="rect">
            <a:avLst/>
          </a:prstGeom>
          <a:solidFill>
            <a:srgbClr val="B5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7685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Footwear</a:t>
            </a:r>
          </a:p>
        </p:txBody>
      </p:sp>
      <p:sp>
        <p:nvSpPr>
          <p:cNvPr id="27" name="Rectangle 26"/>
          <p:cNvSpPr/>
          <p:nvPr/>
        </p:nvSpPr>
        <p:spPr>
          <a:xfrm>
            <a:off x="523875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21.0</a:t>
            </a:r>
          </a:p>
        </p:txBody>
      </p:sp>
      <p:sp>
        <p:nvSpPr>
          <p:cNvPr id="28" name="Rectangle 27"/>
          <p:cNvSpPr/>
          <p:nvPr/>
        </p:nvSpPr>
        <p:spPr>
          <a:xfrm>
            <a:off x="523875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40.2</a:t>
            </a:r>
          </a:p>
        </p:txBody>
      </p:sp>
      <p:sp>
        <p:nvSpPr>
          <p:cNvPr id="29" name="Rectangle 28"/>
          <p:cNvSpPr/>
          <p:nvPr/>
        </p:nvSpPr>
        <p:spPr>
          <a:xfrm>
            <a:off x="523875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B5532F"/>
                </a:solidFill>
                <a:latin typeface="Segoe UI"/>
              </a:rPr>
              <a:t>6.7%</a:t>
            </a:r>
          </a:p>
        </p:txBody>
      </p:sp>
      <p:sp>
        <p:nvSpPr>
          <p:cNvPr id="30" name="Oval 29"/>
          <p:cNvSpPr/>
          <p:nvPr/>
        </p:nvSpPr>
        <p:spPr>
          <a:xfrm>
            <a:off x="6705600" y="1445350"/>
            <a:ext cx="323850" cy="310313"/>
          </a:xfrm>
          <a:prstGeom prst="ellipse">
            <a:avLst/>
          </a:prstGeom>
          <a:solidFill>
            <a:srgbClr val="B5532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6</a:t>
            </a:r>
          </a:p>
        </p:txBody>
      </p:sp>
      <p:sp>
        <p:nvSpPr>
          <p:cNvPr id="31" name="Rounded Rectangle 30"/>
          <p:cNvSpPr/>
          <p:nvPr/>
        </p:nvSpPr>
        <p:spPr>
          <a:xfrm>
            <a:off x="8610600" y="1773916"/>
            <a:ext cx="3257550" cy="438089"/>
          </a:xfrm>
          <a:prstGeom prst="roundRect">
            <a:avLst>
              <a:gd name="adj" fmla="val 18000"/>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610600" y="1992961"/>
            <a:ext cx="3257550" cy="219044"/>
          </a:xfrm>
          <a:prstGeom prst="rect">
            <a:avLst/>
          </a:prstGeom>
          <a:solidFill>
            <a:srgbClr val="2C6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48700" y="1773916"/>
            <a:ext cx="3181350" cy="438089"/>
          </a:xfrm>
          <a:prstGeom prst="rect">
            <a:avLst/>
          </a:prstGeom>
          <a:noFill/>
        </p:spPr>
        <p:txBody>
          <a:bodyPr wrap="square" lIns="28575" rIns="28575" tIns="9525" bIns="9525" anchor="ctr">
            <a:spAutoFit/>
          </a:bodyPr>
          <a:lstStyle/>
          <a:p>
            <a:pPr algn="ctr"/>
            <a:r>
              <a:rPr sz="1100" b="1">
                <a:solidFill>
                  <a:srgbClr val="FFFFFF"/>
                </a:solidFill>
                <a:latin typeface="Segoe UI"/>
              </a:rPr>
              <a:t>Automotive &amp; Transportation</a:t>
            </a:r>
          </a:p>
        </p:txBody>
      </p:sp>
      <p:sp>
        <p:nvSpPr>
          <p:cNvPr id="34" name="Rectangle 33"/>
          <p:cNvSpPr/>
          <p:nvPr/>
        </p:nvSpPr>
        <p:spPr>
          <a:xfrm>
            <a:off x="8610600" y="22302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16.3</a:t>
            </a:r>
          </a:p>
        </p:txBody>
      </p:sp>
      <p:sp>
        <p:nvSpPr>
          <p:cNvPr id="35" name="Rectangle 34"/>
          <p:cNvSpPr/>
          <p:nvPr/>
        </p:nvSpPr>
        <p:spPr>
          <a:xfrm>
            <a:off x="8610600" y="2723109"/>
            <a:ext cx="3257550"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30.3</a:t>
            </a:r>
          </a:p>
        </p:txBody>
      </p:sp>
      <p:sp>
        <p:nvSpPr>
          <p:cNvPr id="36" name="Rectangle 35"/>
          <p:cNvSpPr/>
          <p:nvPr/>
        </p:nvSpPr>
        <p:spPr>
          <a:xfrm>
            <a:off x="8610600" y="3215959"/>
            <a:ext cx="3257550"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2C6E7F"/>
                </a:solidFill>
                <a:latin typeface="Segoe UI"/>
              </a:rPr>
              <a:t>6.4%</a:t>
            </a:r>
          </a:p>
        </p:txBody>
      </p:sp>
      <p:sp>
        <p:nvSpPr>
          <p:cNvPr id="37" name="Oval 36"/>
          <p:cNvSpPr/>
          <p:nvPr/>
        </p:nvSpPr>
        <p:spPr>
          <a:xfrm>
            <a:off x="10077450" y="1445350"/>
            <a:ext cx="323850" cy="310313"/>
          </a:xfrm>
          <a:prstGeom prst="ellipse">
            <a:avLst/>
          </a:prstGeom>
          <a:solidFill>
            <a:srgbClr val="2C6E7F"/>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a:rPr>
              <a:t>7</a:t>
            </a:r>
          </a:p>
        </p:txBody>
      </p:sp>
      <p:sp>
        <p:nvSpPr>
          <p:cNvPr id="38" name="Rounded Rectangle 37"/>
          <p:cNvSpPr/>
          <p:nvPr/>
        </p:nvSpPr>
        <p:spPr>
          <a:xfrm>
            <a:off x="323850" y="3854838"/>
            <a:ext cx="115443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946106"/>
            <a:ext cx="11277600" cy="182537"/>
          </a:xfrm>
          <a:prstGeom prst="rect">
            <a:avLst/>
          </a:prstGeom>
          <a:noFill/>
        </p:spPr>
        <p:txBody>
          <a:bodyPr wrap="square" lIns="28575" rIns="28575" tIns="9525" bIns="9525">
            <a:spAutoFit/>
          </a:bodyPr>
          <a:lstStyle/>
          <a:p>
            <a:pPr algn="l"/>
            <a:r>
              <a:rPr sz="1250" b="1">
                <a:solidFill>
                  <a:srgbClr val="0E3A5F"/>
                </a:solidFill>
                <a:latin typeface="Segoe UI"/>
              </a:rPr>
              <a:t>Sub-Segment Insights</a:t>
            </a:r>
          </a:p>
        </p:txBody>
      </p:sp>
      <p:sp>
        <p:nvSpPr>
          <p:cNvPr id="40" name="Rectangle 39"/>
          <p:cNvSpPr/>
          <p:nvPr/>
        </p:nvSpPr>
        <p:spPr>
          <a:xfrm>
            <a:off x="457200" y="4146897"/>
            <a:ext cx="11277600" cy="18254"/>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4219912"/>
            <a:ext cx="112776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C58A21"/>
                </a:solidFill>
                <a:latin typeface="Segoe UI"/>
              </a:rPr>
              <a:t>●  </a:t>
            </a:r>
            <a:r>
              <a:rPr sz="1100" b="1">
                <a:solidFill>
                  <a:srgbClr val="C58A21"/>
                </a:solidFill>
                <a:latin typeface="Segoe UI"/>
              </a:rPr>
              <a:t>Medical &amp; Healthcare: </a:t>
            </a:r>
            <a:r>
              <a:rPr sz="1100" b="0">
                <a:solidFill>
                  <a:srgbClr val="252423"/>
                </a:solidFill>
                <a:latin typeface="Segoe UI"/>
              </a:rPr>
              <a:t>10% of 2026 value · 7.0% CAGR serves a niche.</a:t>
            </a:r>
          </a:p>
          <a:p>
            <a:pPr algn="l">
              <a:lnSpc>
                <a:spcPct val="110000"/>
              </a:lnSpc>
              <a:spcBef>
                <a:spcPts val="0"/>
              </a:spcBef>
              <a:spcAft>
                <a:spcPts val="500"/>
              </a:spcAft>
            </a:pPr>
            <a:r>
              <a:rPr sz="1100" b="0">
                <a:solidFill>
                  <a:srgbClr val="B5532F"/>
                </a:solidFill>
                <a:latin typeface="Segoe UI"/>
              </a:rPr>
              <a:t>●  </a:t>
            </a:r>
            <a:r>
              <a:rPr sz="1100" b="1">
                <a:solidFill>
                  <a:srgbClr val="B5532F"/>
                </a:solidFill>
                <a:latin typeface="Segoe UI"/>
              </a:rPr>
              <a:t>Footwear: </a:t>
            </a:r>
            <a:r>
              <a:rPr sz="1100" b="0">
                <a:solidFill>
                  <a:srgbClr val="252423"/>
                </a:solidFill>
                <a:latin typeface="Segoe UI"/>
              </a:rPr>
              <a:t>8% of 2026 value · 6.7% CAGR serves a niche.</a:t>
            </a:r>
          </a:p>
          <a:p>
            <a:pPr algn="l">
              <a:lnSpc>
                <a:spcPct val="110000"/>
              </a:lnSpc>
              <a:spcBef>
                <a:spcPts val="0"/>
              </a:spcBef>
              <a:spcAft>
                <a:spcPts val="500"/>
              </a:spcAft>
            </a:pPr>
            <a:r>
              <a:rPr sz="1100" b="0">
                <a:solidFill>
                  <a:srgbClr val="2C6E7F"/>
                </a:solidFill>
                <a:latin typeface="Segoe UI"/>
              </a:rPr>
              <a:t>●  </a:t>
            </a:r>
            <a:r>
              <a:rPr sz="1100" b="1">
                <a:solidFill>
                  <a:srgbClr val="2C6E7F"/>
                </a:solidFill>
                <a:latin typeface="Segoe UI"/>
              </a:rPr>
              <a:t>Automotive &amp; Transportation: </a:t>
            </a:r>
            <a:r>
              <a:rPr sz="1100" b="0">
                <a:solidFill>
                  <a:srgbClr val="252423"/>
                </a:solidFill>
                <a:latin typeface="Segoe UI"/>
              </a:rPr>
              <a:t>6% of 2026 value · 6.4% CAGR serves a niche.</a:t>
            </a:r>
          </a:p>
        </p:txBody>
      </p:sp>
      <p:sp>
        <p:nvSpPr>
          <p:cNvPr id="42" name="TextBox 41"/>
          <p:cNvSpPr txBox="1"/>
          <p:nvPr/>
        </p:nvSpPr>
        <p:spPr>
          <a:xfrm>
            <a:off x="323850" y="6446863"/>
            <a:ext cx="3429000" cy="164283"/>
          </a:xfrm>
          <a:prstGeom prst="rect">
            <a:avLst/>
          </a:prstGeom>
          <a:noFill/>
        </p:spPr>
        <p:txBody>
          <a:bodyPr wrap="none">
            <a:spAutoFit/>
          </a:bodyPr>
          <a:lstStyle/>
          <a:p>
            <a:r>
              <a:rPr sz="1100" i="1">
                <a:solidFill>
                  <a:srgbClr val="605E5C"/>
                </a:solidFill>
                <a:latin typeface="Segoe UI"/>
              </a:rPr>
              <a:t>Source: Fact.MR</a:t>
            </a:r>
          </a:p>
        </p:txBody>
      </p:sp>
      <p:sp>
        <p:nvSpPr>
          <p:cNvPr id="43" name="TextBox 42"/>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Middle East &amp; Africa Market Value &amp; Share Shift, By End-Use Application Vs Material</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Value composition by End-Use Application Vs Material in 2021, 2026 and 2036, highlighting share shifts in basis points</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Middle East &amp; Africa</a:t>
            </a:r>
          </a:p>
        </p:txBody>
      </p:sp>
      <p:sp>
        <p:nvSpPr>
          <p:cNvPr id="9" name="Rectangle 8"/>
          <p:cNvSpPr/>
          <p:nvPr/>
        </p:nvSpPr>
        <p:spPr>
          <a:xfrm>
            <a:off x="142875" y="981075"/>
            <a:ext cx="7400925"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Middle East &amp; Africa Value Composition, By End-Use Application Vs Material ·  2021 / 2026 / 2036 (US$ Mn)  ·  right axis = BPS share shift</a:t>
            </a:r>
          </a:p>
        </p:txBody>
      </p:sp>
      <p:graphicFrame>
        <p:nvGraphicFramePr>
          <p:cNvPr id="11" name="Chart 10"/>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2" name="TextBox 11"/>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0A4DC"/>
                </a:solidFill>
                <a:latin typeface="Segoe UI"/>
              </a:rPr>
              <a:t>BPS Δ  (2021→2036)</a:t>
            </a:r>
          </a:p>
        </p:txBody>
      </p:sp>
      <p:sp>
        <p:nvSpPr>
          <p:cNvPr id="13" name="FMI Lock Anchor"/>
          <p:cNvSpPr txBox="1"/>
          <p:nvPr/>
        </p:nvSpPr>
        <p:spPr>
          <a:xfrm>
            <a:off x="2678811" y="4014597"/>
            <a:ext cx="38100" cy="38100"/>
          </a:xfrm>
          <a:prstGeom prst="rect">
            <a:avLst/>
          </a:prstGeom>
          <a:noFill/>
        </p:spPr>
        <p:txBody>
          <a:bodyPr wrap="none">
            <a:spAutoFit/>
          </a:bodyPr>
          <a:lstStyle/>
          <a:p/>
        </p:txBody>
      </p:sp>
      <p:sp>
        <p:nvSpPr>
          <p:cNvPr id="14" name="FMI Legend Chip"/>
          <p:cNvSpPr/>
          <p:nvPr/>
        </p:nvSpPr>
        <p:spPr>
          <a:xfrm>
            <a:off x="4928997" y="1812909"/>
            <a:ext cx="85725" cy="85725"/>
          </a:xfrm>
          <a:prstGeom prst="rect">
            <a:avLst/>
          </a:prstGeom>
          <a:solidFill>
            <a:srgbClr val="9AB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rot="10800000">
            <a:off x="5090922" y="180814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PS Name 1"/>
          <p:cNvSpPr txBox="1"/>
          <p:nvPr/>
        </p:nvSpPr>
        <p:spPr>
          <a:xfrm>
            <a:off x="5233797" y="173194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Automotive &amp; Transportation</a:t>
            </a:r>
          </a:p>
        </p:txBody>
      </p:sp>
      <p:sp>
        <p:nvSpPr>
          <p:cNvPr id="17" name="BPS Value 1"/>
          <p:cNvSpPr txBox="1"/>
          <p:nvPr/>
        </p:nvSpPr>
        <p:spPr>
          <a:xfrm>
            <a:off x="6896100" y="1793859"/>
            <a:ext cx="514350" cy="123825"/>
          </a:xfrm>
          <a:prstGeom prst="rect">
            <a:avLst/>
          </a:prstGeom>
          <a:noFill/>
        </p:spPr>
        <p:txBody>
          <a:bodyPr wrap="none" lIns="0" rIns="0" tIns="0" bIns="0" anchor="ctr">
            <a:spAutoFit/>
          </a:bodyPr>
          <a:lstStyle/>
          <a:p>
            <a:pPr algn="r"/>
            <a:r>
              <a:rPr sz="900" b="1">
                <a:solidFill>
                  <a:srgbClr val="D64545"/>
                </a:solidFill>
                <a:latin typeface="Segoe UI"/>
              </a:rPr>
              <a:t>-18</a:t>
            </a:r>
          </a:p>
        </p:txBody>
      </p:sp>
      <p:sp>
        <p:nvSpPr>
          <p:cNvPr id="18" name="FMI Legend Chip"/>
          <p:cNvSpPr/>
          <p:nvPr/>
        </p:nvSpPr>
        <p:spPr>
          <a:xfrm>
            <a:off x="4928997" y="2142856"/>
            <a:ext cx="85725" cy="85725"/>
          </a:xfrm>
          <a:prstGeom prst="rect">
            <a:avLst/>
          </a:prstGeom>
          <a:solidFill>
            <a:srgbClr val="C4E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a:off x="5090922" y="2138094"/>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PS Name 2"/>
          <p:cNvSpPr txBox="1"/>
          <p:nvPr/>
        </p:nvSpPr>
        <p:spPr>
          <a:xfrm>
            <a:off x="5233797" y="2061894"/>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Footwear</a:t>
            </a:r>
          </a:p>
        </p:txBody>
      </p:sp>
      <p:sp>
        <p:nvSpPr>
          <p:cNvPr id="21" name="BPS Value 2"/>
          <p:cNvSpPr txBox="1"/>
          <p:nvPr/>
        </p:nvSpPr>
        <p:spPr>
          <a:xfrm>
            <a:off x="6896100" y="2123806"/>
            <a:ext cx="514350" cy="123825"/>
          </a:xfrm>
          <a:prstGeom prst="rect">
            <a:avLst/>
          </a:prstGeom>
          <a:noFill/>
        </p:spPr>
        <p:txBody>
          <a:bodyPr wrap="none" lIns="0" rIns="0" tIns="0" bIns="0" anchor="ctr">
            <a:spAutoFit/>
          </a:bodyPr>
          <a:lstStyle/>
          <a:p>
            <a:pPr algn="r"/>
            <a:r>
              <a:rPr sz="900" b="1">
                <a:solidFill>
                  <a:srgbClr val="1E8E3E"/>
                </a:solidFill>
                <a:latin typeface="Segoe UI"/>
              </a:rPr>
              <a:t>+0</a:t>
            </a:r>
          </a:p>
        </p:txBody>
      </p:sp>
      <p:sp>
        <p:nvSpPr>
          <p:cNvPr id="22" name="FMI Legend Chip"/>
          <p:cNvSpPr/>
          <p:nvPr/>
        </p:nvSpPr>
        <p:spPr>
          <a:xfrm>
            <a:off x="4928997" y="2569630"/>
            <a:ext cx="85725" cy="85725"/>
          </a:xfrm>
          <a:prstGeom prst="rect">
            <a:avLst/>
          </a:prstGeom>
          <a:solidFill>
            <a:srgbClr val="EDA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sosceles Triangle 22"/>
          <p:cNvSpPr/>
          <p:nvPr/>
        </p:nvSpPr>
        <p:spPr>
          <a:xfrm>
            <a:off x="5090922" y="2564868"/>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PS Name 3"/>
          <p:cNvSpPr txBox="1"/>
          <p:nvPr/>
        </p:nvSpPr>
        <p:spPr>
          <a:xfrm>
            <a:off x="5233797" y="2488668"/>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Medical &amp; Healthcare</a:t>
            </a:r>
          </a:p>
        </p:txBody>
      </p:sp>
      <p:sp>
        <p:nvSpPr>
          <p:cNvPr id="25" name="BPS Value 3"/>
          <p:cNvSpPr txBox="1"/>
          <p:nvPr/>
        </p:nvSpPr>
        <p:spPr>
          <a:xfrm>
            <a:off x="6896100" y="2550580"/>
            <a:ext cx="514350" cy="123825"/>
          </a:xfrm>
          <a:prstGeom prst="rect">
            <a:avLst/>
          </a:prstGeom>
          <a:noFill/>
        </p:spPr>
        <p:txBody>
          <a:bodyPr wrap="none" lIns="0" rIns="0" tIns="0" bIns="0" anchor="ctr">
            <a:spAutoFit/>
          </a:bodyPr>
          <a:lstStyle/>
          <a:p>
            <a:pPr algn="r"/>
            <a:r>
              <a:rPr sz="900" b="1">
                <a:solidFill>
                  <a:srgbClr val="1E8E3E"/>
                </a:solidFill>
                <a:latin typeface="Segoe UI"/>
              </a:rPr>
              <a:t>+31</a:t>
            </a:r>
          </a:p>
        </p:txBody>
      </p:sp>
      <p:sp>
        <p:nvSpPr>
          <p:cNvPr id="26" name="FMI Legend Chip"/>
          <p:cNvSpPr/>
          <p:nvPr/>
        </p:nvSpPr>
        <p:spPr>
          <a:xfrm>
            <a:off x="4928997" y="3182049"/>
            <a:ext cx="85725" cy="85725"/>
          </a:xfrm>
          <a:prstGeom prst="rect">
            <a:avLst/>
          </a:prstGeom>
          <a:solidFill>
            <a:srgbClr val="EBC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rot="10800000">
            <a:off x="5090922" y="3177286"/>
            <a:ext cx="95250" cy="95250"/>
          </a:xfrm>
          <a:prstGeom prst="triangle">
            <a:avLst/>
          </a:prstGeom>
          <a:solidFill>
            <a:srgbClr val="D6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PS Name 4"/>
          <p:cNvSpPr txBox="1"/>
          <p:nvPr/>
        </p:nvSpPr>
        <p:spPr>
          <a:xfrm>
            <a:off x="5233797" y="3101086"/>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Intimate &amp; Bodywear</a:t>
            </a:r>
          </a:p>
        </p:txBody>
      </p:sp>
      <p:sp>
        <p:nvSpPr>
          <p:cNvPr id="29" name="BPS Value 4"/>
          <p:cNvSpPr txBox="1"/>
          <p:nvPr/>
        </p:nvSpPr>
        <p:spPr>
          <a:xfrm>
            <a:off x="6896100" y="3162999"/>
            <a:ext cx="514350" cy="123825"/>
          </a:xfrm>
          <a:prstGeom prst="rect">
            <a:avLst/>
          </a:prstGeom>
          <a:noFill/>
        </p:spPr>
        <p:txBody>
          <a:bodyPr wrap="none" lIns="0" rIns="0" tIns="0" bIns="0" anchor="ctr">
            <a:spAutoFit/>
          </a:bodyPr>
          <a:lstStyle/>
          <a:p>
            <a:pPr algn="r"/>
            <a:r>
              <a:rPr sz="900" b="1">
                <a:solidFill>
                  <a:srgbClr val="D64545"/>
                </a:solidFill>
                <a:latin typeface="Segoe UI"/>
              </a:rPr>
              <a:t>-136</a:t>
            </a:r>
          </a:p>
        </p:txBody>
      </p:sp>
      <p:sp>
        <p:nvSpPr>
          <p:cNvPr id="30" name="FMI Legend Chip"/>
          <p:cNvSpPr/>
          <p:nvPr/>
        </p:nvSpPr>
        <p:spPr>
          <a:xfrm>
            <a:off x="4928997" y="3932491"/>
            <a:ext cx="85725" cy="85725"/>
          </a:xfrm>
          <a:prstGeom prst="rect">
            <a:avLst/>
          </a:prstGeom>
          <a:solidFill>
            <a:srgbClr val="D6C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sosceles Triangle 30"/>
          <p:cNvSpPr/>
          <p:nvPr/>
        </p:nvSpPr>
        <p:spPr>
          <a:xfrm>
            <a:off x="5090922" y="392772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PS Name 5"/>
          <p:cNvSpPr txBox="1"/>
          <p:nvPr/>
        </p:nvSpPr>
        <p:spPr>
          <a:xfrm>
            <a:off x="5233797" y="385152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Sports &amp; Activewear</a:t>
            </a:r>
          </a:p>
        </p:txBody>
      </p:sp>
      <p:sp>
        <p:nvSpPr>
          <p:cNvPr id="33" name="BPS Value 5"/>
          <p:cNvSpPr txBox="1"/>
          <p:nvPr/>
        </p:nvSpPr>
        <p:spPr>
          <a:xfrm>
            <a:off x="6896100" y="3913441"/>
            <a:ext cx="514350" cy="123825"/>
          </a:xfrm>
          <a:prstGeom prst="rect">
            <a:avLst/>
          </a:prstGeom>
          <a:noFill/>
        </p:spPr>
        <p:txBody>
          <a:bodyPr wrap="none" lIns="0" rIns="0" tIns="0" bIns="0" anchor="ctr">
            <a:spAutoFit/>
          </a:bodyPr>
          <a:lstStyle/>
          <a:p>
            <a:pPr algn="r"/>
            <a:r>
              <a:rPr sz="900" b="1">
                <a:solidFill>
                  <a:srgbClr val="1E8E3E"/>
                </a:solidFill>
                <a:latin typeface="Segoe UI"/>
              </a:rPr>
              <a:t>+15</a:t>
            </a:r>
          </a:p>
        </p:txBody>
      </p:sp>
      <p:sp>
        <p:nvSpPr>
          <p:cNvPr id="34" name="FMI Legend Chip"/>
          <p:cNvSpPr/>
          <p:nvPr/>
        </p:nvSpPr>
        <p:spPr>
          <a:xfrm>
            <a:off x="4928997" y="4758892"/>
            <a:ext cx="85725" cy="85725"/>
          </a:xfrm>
          <a:prstGeom prst="rect">
            <a:avLst/>
          </a:prstGeom>
          <a:solidFill>
            <a:srgbClr val="6EC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Isosceles Triangle 34"/>
          <p:cNvSpPr/>
          <p:nvPr/>
        </p:nvSpPr>
        <p:spPr>
          <a:xfrm>
            <a:off x="5090922" y="4754129"/>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PS Name 6"/>
          <p:cNvSpPr txBox="1"/>
          <p:nvPr/>
        </p:nvSpPr>
        <p:spPr>
          <a:xfrm>
            <a:off x="5233797" y="4677929"/>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Protective &amp; Occupational Wear</a:t>
            </a:r>
          </a:p>
        </p:txBody>
      </p:sp>
      <p:sp>
        <p:nvSpPr>
          <p:cNvPr id="37" name="BPS Value 6"/>
          <p:cNvSpPr txBox="1"/>
          <p:nvPr/>
        </p:nvSpPr>
        <p:spPr>
          <a:xfrm>
            <a:off x="6896100" y="4739842"/>
            <a:ext cx="514350" cy="123825"/>
          </a:xfrm>
          <a:prstGeom prst="rect">
            <a:avLst/>
          </a:prstGeom>
          <a:noFill/>
        </p:spPr>
        <p:txBody>
          <a:bodyPr wrap="none" lIns="0" rIns="0" tIns="0" bIns="0" anchor="ctr">
            <a:spAutoFit/>
          </a:bodyPr>
          <a:lstStyle/>
          <a:p>
            <a:pPr algn="r"/>
            <a:r>
              <a:rPr sz="900" b="1">
                <a:solidFill>
                  <a:srgbClr val="1E8E3E"/>
                </a:solidFill>
                <a:latin typeface="Segoe UI"/>
              </a:rPr>
              <a:t>+25</a:t>
            </a:r>
          </a:p>
        </p:txBody>
      </p:sp>
      <p:sp>
        <p:nvSpPr>
          <p:cNvPr id="38" name="FMI Legend Chip"/>
          <p:cNvSpPr/>
          <p:nvPr/>
        </p:nvSpPr>
        <p:spPr>
          <a:xfrm>
            <a:off x="4928997" y="5726214"/>
            <a:ext cx="85725" cy="85725"/>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sosceles Triangle 38"/>
          <p:cNvSpPr/>
          <p:nvPr/>
        </p:nvSpPr>
        <p:spPr>
          <a:xfrm>
            <a:off x="5090922" y="5721451"/>
            <a:ext cx="95250" cy="95250"/>
          </a:xfrm>
          <a:prstGeom prst="triangle">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PS Name 7"/>
          <p:cNvSpPr txBox="1"/>
          <p:nvPr/>
        </p:nvSpPr>
        <p:spPr>
          <a:xfrm>
            <a:off x="5233797" y="5645251"/>
            <a:ext cx="1528953" cy="247650"/>
          </a:xfrm>
          <a:prstGeom prst="rect">
            <a:avLst/>
          </a:prstGeom>
          <a:noFill/>
        </p:spPr>
        <p:txBody>
          <a:bodyPr wrap="square" lIns="19050" rIns="19050" tIns="0" bIns="0" anchor="ctr">
            <a:spAutoFit/>
          </a:bodyPr>
          <a:lstStyle/>
          <a:p>
            <a:pPr algn="l"/>
            <a:r>
              <a:rPr sz="900" b="0">
                <a:solidFill>
                  <a:srgbClr val="252423"/>
                </a:solidFill>
                <a:latin typeface="Segoe UI"/>
              </a:rPr>
              <a:t>Industrial &amp; Technical Applications</a:t>
            </a:r>
          </a:p>
        </p:txBody>
      </p:sp>
      <p:sp>
        <p:nvSpPr>
          <p:cNvPr id="41" name="BPS Value 7"/>
          <p:cNvSpPr txBox="1"/>
          <p:nvPr/>
        </p:nvSpPr>
        <p:spPr>
          <a:xfrm>
            <a:off x="6896100" y="5707164"/>
            <a:ext cx="514350" cy="123825"/>
          </a:xfrm>
          <a:prstGeom prst="rect">
            <a:avLst/>
          </a:prstGeom>
          <a:noFill/>
        </p:spPr>
        <p:txBody>
          <a:bodyPr wrap="none" lIns="0" rIns="0" tIns="0" bIns="0" anchor="ctr">
            <a:spAutoFit/>
          </a:bodyPr>
          <a:lstStyle/>
          <a:p>
            <a:pPr algn="r"/>
            <a:r>
              <a:rPr sz="900" b="1">
                <a:solidFill>
                  <a:srgbClr val="1E8E3E"/>
                </a:solidFill>
                <a:latin typeface="Segoe UI"/>
              </a:rPr>
              <a:t>+82</a:t>
            </a:r>
          </a:p>
        </p:txBody>
      </p:sp>
      <p:sp>
        <p:nvSpPr>
          <p:cNvPr id="42" name="Rectangle 41"/>
          <p:cNvSpPr/>
          <p:nvPr/>
        </p:nvSpPr>
        <p:spPr>
          <a:xfrm>
            <a:off x="7696200" y="981075"/>
            <a:ext cx="4343400" cy="564832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07BA5"/>
                </a:solidFill>
                <a:latin typeface="Segoe UI"/>
              </a:rPr>
              <a:t>Middle East &amp; Africa Read-out, By End-Use Application Vs Material</a:t>
            </a:r>
          </a:p>
        </p:txBody>
      </p:sp>
      <p:sp>
        <p:nvSpPr>
          <p:cNvPr id="44" name="Rectangle 43"/>
          <p:cNvSpPr/>
          <p:nvPr/>
        </p:nvSpPr>
        <p:spPr>
          <a:xfrm>
            <a:off x="7829550" y="1304925"/>
            <a:ext cx="4076700" cy="19050"/>
          </a:xfrm>
          <a:prstGeom prst="rect">
            <a:avLst/>
          </a:prstGeom>
          <a:solidFill>
            <a:srgbClr val="00A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52423"/>
                </a:solidFill>
                <a:latin typeface="Segoe UI"/>
              </a:rPr>
              <a:t>Among performance knitted fabrics by End-Use application vs material, industrial &amp; technical applications segment is expected to witness the highest CAGR of 7.1% over the forecast period. In terms of value share by End-Use application vs material, the industrial &amp; technical applications segment is expected to dominate the market, gaining 82 BPS and accounting for 22.6% share by 2036.</a:t>
            </a:r>
          </a:p>
          <a:p>
            <a:pPr algn="l">
              <a:lnSpc>
                <a:spcPct val="110000"/>
              </a:lnSpc>
              <a:spcBef>
                <a:spcPts val="0"/>
              </a:spcBef>
              <a:spcAft>
                <a:spcPts val="500"/>
              </a:spcAft>
            </a:pPr>
            <a:r>
              <a:rPr sz="1150" b="0">
                <a:solidFill>
                  <a:srgbClr val="252423"/>
                </a:solidFill>
                <a:latin typeface="Segoe UI"/>
              </a:rPr>
              <a:t>The intimate &amp; bodywear segment is expected to lose 136 BPS over the forecast period to account for 16.4% share by 2036.</a:t>
            </a:r>
          </a:p>
        </p:txBody>
      </p:sp>
      <p:sp>
        <p:nvSpPr>
          <p:cNvPr id="46" name="TextBox 45"/>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U.S.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U.S.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U.S.</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264.5</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491.7</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5.7%</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5.8%</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U.S.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-11 BPS</a:t>
            </a:r>
          </a:p>
          <a:p>
            <a:pPr algn="ctr"/>
            <a:r>
              <a:rPr sz="1100" b="0">
                <a:solidFill>
                  <a:srgbClr val="605E5C"/>
                </a:solidFill>
                <a:latin typeface="Segoe UI"/>
              </a:rPr>
              <a:t>vs North America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U.S.'s performance knitted fabrics market expands at 5.8% CAGR through 2036, trailing the North America benchmark of 5.9% by 11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U.S.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U.S. holds 16.5% of the global and 78.9% of the North America performance knitted fabrics market in 2026; by 2036 those shares move to 16.3% and 78.1%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211.8 Mn Sq. Yards between 2026 and 2036 the U.S. market grows to 1.8×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U.S.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U.S.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U.S.</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954.4</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2,121</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6.3%</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7.6%</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U.S. Value (US$ Mn),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-2 BPS</a:t>
            </a:r>
          </a:p>
          <a:p>
            <a:pPr algn="ctr"/>
            <a:r>
              <a:rPr sz="1100" b="0">
                <a:solidFill>
                  <a:srgbClr val="605E5C"/>
                </a:solidFill>
                <a:latin typeface="Segoe UI"/>
              </a:rPr>
              <a:t>vs North America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U.S.'s performance knitted fabrics market expands at 7.6% CAGR through 2036, trailing the North America benchmark of 7.6% by 2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U.S.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U.S. holds 18.6% of the global and 80.0% of the North America performance knitted fabrics market in 2026; by 2036 those shares move to 18.9% and 79.9%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the U.S. is expected to account for US$ 2,121 Mn by 2036 at a CAGR of 7.6% over the forecast period. The U.S. is expected to create an incremental opportunity of US$ 1,167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Canada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Canada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Canada</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41.2</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74.3</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5.8%</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5.5%</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Canada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-42 BPS</a:t>
            </a:r>
          </a:p>
          <a:p>
            <a:pPr algn="ctr"/>
            <a:r>
              <a:rPr sz="1100" b="0">
                <a:solidFill>
                  <a:srgbClr val="605E5C"/>
                </a:solidFill>
                <a:latin typeface="Segoe UI"/>
              </a:rPr>
              <a:t>vs North America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Canada's performance knitted fabrics market expands at 5.5% CAGR through 2036, trailing the North America benchmark of 5.9% by 42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Canada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Canada holds 2.6% of the global and 12.3% of the North America performance knitted fabrics market in 2026; by 2036 those shares move to 2.5% and 11.8%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30.7 Mn Sq. Yards between 2026 and 2036 the Canada market grows to 1.7×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Canada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Canada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Canada</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145.9</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306.6</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6.4%</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7.0%</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Canada Value (US$ Mn),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-59 BPS</a:t>
            </a:r>
          </a:p>
          <a:p>
            <a:pPr algn="ctr"/>
            <a:r>
              <a:rPr sz="1100" b="0">
                <a:solidFill>
                  <a:srgbClr val="605E5C"/>
                </a:solidFill>
                <a:latin typeface="Segoe UI"/>
              </a:rPr>
              <a:t>vs North America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Canada's performance knitted fabrics market expands at 7.0% CAGR through 2036, trailing the North America benchmark of 7.6% by 59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Canada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Canada holds 2.8% of the global and 12.2% of the North America performance knitted fabrics market in 2026; by 2036 those shares move to 2.7% and 11.5%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Canada is expected to account for US$ 306.6 Mn by 2036 at a CAGR of 7.0% over the forecast period. Canada is expected to create an incremental opportunity of US$ 160.7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Mexico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Mexico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Mexico</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29.5</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63.4</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5.7%</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7.3%</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Mexico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+143 BPS</a:t>
            </a:r>
          </a:p>
          <a:p>
            <a:pPr algn="ctr"/>
            <a:r>
              <a:rPr sz="1100" b="0">
                <a:solidFill>
                  <a:srgbClr val="605E5C"/>
                </a:solidFill>
                <a:latin typeface="Segoe UI"/>
              </a:rPr>
              <a:t>vs North America benchmark</a:t>
            </a:r>
          </a:p>
          <a:p>
            <a:pPr algn="ctr"/>
            <a:r>
              <a:rPr sz="1100" b="1">
                <a:solidFill>
                  <a:srgbClr val="1E8E3E"/>
                </a:solidFill>
                <a:latin typeface="Segoe UI"/>
              </a:rPr>
              <a:t>▲ above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Mexico's performance knitted fabrics market expands at 7.3% CAGR through 2036, outpacing the North America benchmark of 5.9% by 143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Mexico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Mexico holds 1.8% of the global and 8.8% of the North America performance knitted fabrics market in 2026; by 2036 those shares move to 2.1% and 10.1%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32.1 Mn Sq. Yards between 2026 and 2036 the Mexico market grows to 2.0×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Mexico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Mexico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Mexico</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92.8</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227.7</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6.4%</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8.7%</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Mexico Value (US$ Mn),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+106 BPS</a:t>
            </a:r>
          </a:p>
          <a:p>
            <a:pPr algn="ctr"/>
            <a:r>
              <a:rPr sz="1100" b="0">
                <a:solidFill>
                  <a:srgbClr val="605E5C"/>
                </a:solidFill>
                <a:latin typeface="Segoe UI"/>
              </a:rPr>
              <a:t>vs North America benchmark</a:t>
            </a:r>
          </a:p>
          <a:p>
            <a:pPr algn="ctr"/>
            <a:r>
              <a:rPr sz="1100" b="1">
                <a:solidFill>
                  <a:srgbClr val="1E8E3E"/>
                </a:solidFill>
                <a:latin typeface="Segoe UI"/>
              </a:rPr>
              <a:t>▲ above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Mexico's performance knitted fabrics market expands at 8.7% CAGR through 2036, outpacing the North America benchmark of 7.6% by 106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Mexico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Mexico holds 1.8% of the global and 7.8% of the North America performance knitted fabrics market in 2026; by 2036 those shares move to 2.0% and 8.6%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Mexico is expected to account for US$ 227.7 Mn by 2036 at a CAGR of 8.7% over the forecast period. Mexico is expected to create an incremental opportunity of US$ 134.9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Brazil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Brazil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Brazil</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49.5</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83.9</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4.3%</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4.9%</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Brazil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-7 BPS</a:t>
            </a:r>
          </a:p>
          <a:p>
            <a:pPr algn="ctr"/>
            <a:r>
              <a:rPr sz="1100" b="0">
                <a:solidFill>
                  <a:srgbClr val="605E5C"/>
                </a:solidFill>
                <a:latin typeface="Segoe UI"/>
              </a:rPr>
              <a:t>vs Latin America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Brazil's performance knitted fabrics market expands at 4.9% CAGR through 2036, trailing the Latin America benchmark of 5.0% by 7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Brazil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Brazil holds 3.1% of the global and 39.1% of the Latin America performance knitted fabrics market in 2026; by 2036 those shares move to 2.8% and 38.8%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32.0 Mn Sq. Yards between 2026 and 2036 the Brazil market grows to 1.6×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Brazil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Brazil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Brazil</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135.6</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277.2</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5.2%</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6.8%</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Brazil Value (US$ Mn),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-14 BPS</a:t>
            </a:r>
          </a:p>
          <a:p>
            <a:pPr algn="ctr"/>
            <a:r>
              <a:rPr sz="1100" b="0">
                <a:solidFill>
                  <a:srgbClr val="605E5C"/>
                </a:solidFill>
                <a:latin typeface="Segoe UI"/>
              </a:rPr>
              <a:t>vs Latin America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Brazil's performance knitted fabrics market expands at 6.8% CAGR through 2036, trailing the Latin America benchmark of 6.9% by 14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Brazil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Brazil holds 2.6% of the global and 39.6% of the Latin America performance knitted fabrics market in 2026; by 2036 those shares move to 2.5% and 39.1%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Brazil is expected to account for US$ 277.2 Mn by 2036 at a CAGR of 6.8% over the forecast period. Brazil is expected to create an incremental opportunity of US$ 141.6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Chile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Chile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Chile</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8.36</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14.5</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4.3%</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5.1%</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Chile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+14 BPS</a:t>
            </a:r>
          </a:p>
          <a:p>
            <a:pPr algn="ctr"/>
            <a:r>
              <a:rPr sz="1100" b="0">
                <a:solidFill>
                  <a:srgbClr val="605E5C"/>
                </a:solidFill>
                <a:latin typeface="Segoe UI"/>
              </a:rPr>
              <a:t>vs Latin America benchmark</a:t>
            </a:r>
          </a:p>
          <a:p>
            <a:pPr algn="ctr"/>
            <a:r>
              <a:rPr sz="1100" b="1">
                <a:solidFill>
                  <a:srgbClr val="1E8E3E"/>
                </a:solidFill>
                <a:latin typeface="Segoe UI"/>
              </a:rPr>
              <a:t>▲ above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Chile's performance knitted fabrics market expands at 5.1% CAGR through 2036, outpacing the Latin America benchmark of 5.0% by 14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Chile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Chile holds 0.5% of the global and 6.6% of the Latin America performance knitted fabrics market in 2026; by 2036 those shares move to 0.5% and 6.7%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5.69 Mn Sq. Yards between 2026 and 2036 the Chile market grows to 1.6×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Chile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Chile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Chile</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24.8</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49.0</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4.9%</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6.5%</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Chile Value (US$ Mn),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-43 BPS</a:t>
            </a:r>
          </a:p>
          <a:p>
            <a:pPr algn="ctr"/>
            <a:r>
              <a:rPr sz="1100" b="0">
                <a:solidFill>
                  <a:srgbClr val="605E5C"/>
                </a:solidFill>
                <a:latin typeface="Segoe UI"/>
              </a:rPr>
              <a:t>vs Latin America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Chile's performance knitted fabrics market expands at 6.5% CAGR through 2036, trailing the Latin America benchmark of 6.9% by 43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Chile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Chile holds 0.5% of the global and 7.2% of the Latin America performance knitted fabrics market in 2026; by 2036 those shares move to 0.4% and 6.9%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Chile is expected to account for US$ 49.0 Mn by 2036 at a CAGR of 6.5% over the forecast period. Chile is expected to create an incremental opportunity of US$ 24.3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Rest of LATAM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Rest of LATAM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Rest of LATAM</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68.8</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117.7</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4.4%</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5.0%</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Rest of LATAM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+4 BPS</a:t>
            </a:r>
          </a:p>
          <a:p>
            <a:pPr algn="ctr"/>
            <a:r>
              <a:rPr sz="1100" b="0">
                <a:solidFill>
                  <a:srgbClr val="605E5C"/>
                </a:solidFill>
                <a:latin typeface="Segoe UI"/>
              </a:rPr>
              <a:t>vs Latin America benchmark</a:t>
            </a:r>
          </a:p>
          <a:p>
            <a:pPr algn="ctr"/>
            <a:r>
              <a:rPr sz="1100" b="1">
                <a:solidFill>
                  <a:srgbClr val="1E8E3E"/>
                </a:solidFill>
                <a:latin typeface="Segoe UI"/>
              </a:rPr>
              <a:t>▲ above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Rest of LATAM's performance knitted fabrics market expands at 5.0% CAGR through 2036, outpacing the Latin America benchmark of 5.0% by 4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Rest of LATAM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Rest of LATAM holds 4.2% of the global and 54.3% of the Latin America performance knitted fabrics market in 2026; by 2036 those shares move to 3.9% and 54.5%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45.6 Mn Sq. Yards between 2026 and 2036 the Rest of LATAM market grows to 1.6×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Rest of LATAM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Rest of LATAM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Rest of LATAM</a:t>
            </a:r>
          </a:p>
        </p:txBody>
      </p:sp>
      <p:sp>
        <p:nvSpPr>
          <p:cNvPr id="9" name="Rounded Rectangle 8"/>
          <p:cNvSpPr/>
          <p:nvPr/>
        </p:nvSpPr>
        <p:spPr>
          <a:xfrm>
            <a:off x="1428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182.1</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383.3</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5.2%</a:t>
            </a:r>
          </a:p>
        </p:txBody>
      </p:sp>
      <p:sp>
        <p:nvSpPr>
          <p:cNvPr id="12" name="Rounded Rectangle 11"/>
          <p:cNvSpPr/>
          <p:nvPr/>
        </p:nvSpPr>
        <p:spPr>
          <a:xfrm>
            <a:off x="91725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7.1%</a:t>
            </a:r>
          </a:p>
        </p:txBody>
      </p:sp>
      <p:sp>
        <p:nvSpPr>
          <p:cNvPr id="13" name="Rectangle 12"/>
          <p:cNvSpPr/>
          <p:nvPr/>
        </p:nvSpPr>
        <p:spPr>
          <a:xfrm>
            <a:off x="142875" y="1781175"/>
            <a:ext cx="46958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383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Rest of LATAM Value (US$ Mn), 2021–2036</a:t>
            </a:r>
          </a:p>
        </p:txBody>
      </p:sp>
      <p:graphicFrame>
        <p:nvGraphicFramePr>
          <p:cNvPr id="15" name="Chart 14"/>
          <p:cNvGraphicFramePr>
            <a:graphicFrameLocks noGrp="1"/>
          </p:cNvGraphicFramePr>
          <p:nvPr/>
        </p:nvGraphicFramePr>
        <p:xfrm>
          <a:off x="238125" y="2066925"/>
          <a:ext cx="4505325" cy="1400175"/>
        </p:xfrm>
        <a:graphic>
          <a:graphicData uri="http://schemas.openxmlformats.org/drawingml/2006/chart">
            <c:chart xmlns:c="http://schemas.openxmlformats.org/drawingml/2006/chart" r:id="rId3"/>
          </a:graphicData>
        </a:graphic>
      </p:graphicFrame>
      <p:sp>
        <p:nvSpPr>
          <p:cNvPr id="16" name="Rectangle 15"/>
          <p:cNvSpPr/>
          <p:nvPr/>
        </p:nvSpPr>
        <p:spPr>
          <a:xfrm>
            <a:off x="4991100" y="1781175"/>
            <a:ext cx="704850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383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066925"/>
          <a:ext cx="2880360" cy="14001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0859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+16 BPS</a:t>
            </a:r>
          </a:p>
          <a:p>
            <a:pPr algn="ctr"/>
            <a:r>
              <a:rPr sz="1100" b="0">
                <a:solidFill>
                  <a:srgbClr val="605E5C"/>
                </a:solidFill>
                <a:latin typeface="Segoe UI"/>
              </a:rPr>
              <a:t>vs Latin America benchmark</a:t>
            </a:r>
          </a:p>
          <a:p>
            <a:pPr algn="ctr"/>
            <a:r>
              <a:rPr sz="1100" b="1">
                <a:solidFill>
                  <a:srgbClr val="1E8E3E"/>
                </a:solidFill>
                <a:latin typeface="Segoe UI"/>
              </a:rPr>
              <a:t>▲ above benchmark</a:t>
            </a:r>
          </a:p>
        </p:txBody>
      </p:sp>
      <p:sp>
        <p:nvSpPr>
          <p:cNvPr id="20" name="TextBox 19"/>
          <p:cNvSpPr txBox="1"/>
          <p:nvPr/>
        </p:nvSpPr>
        <p:spPr>
          <a:xfrm>
            <a:off x="8042910" y="2828925"/>
            <a:ext cx="3901440" cy="600075"/>
          </a:xfrm>
          <a:prstGeom prst="rect">
            <a:avLst/>
          </a:prstGeom>
          <a:noFill/>
        </p:spPr>
        <p:txBody>
          <a:bodyPr wrap="square" lIns="28575" rIns="28575" tIns="9525" bIns="9525" anchor="t">
            <a:spAutoFit/>
          </a:bodyPr>
          <a:lstStyle/>
          <a:p>
            <a:pPr algn="l"/>
            <a:r>
              <a:rPr sz="1100" b="0">
                <a:solidFill>
                  <a:srgbClr val="252423"/>
                </a:solidFill>
                <a:latin typeface="Segoe UI"/>
              </a:rPr>
              <a:t>Rest of LATAM's performance knitted fabrics market expands at 7.1% CAGR through 2036, outpacing the Latin America benchmark of 6.9% by 16 BPS.</a:t>
            </a:r>
          </a:p>
        </p:txBody>
      </p:sp>
      <p:sp>
        <p:nvSpPr>
          <p:cNvPr id="21" name="Rectangle 20"/>
          <p:cNvSpPr/>
          <p:nvPr/>
        </p:nvSpPr>
        <p:spPr>
          <a:xfrm>
            <a:off x="142875" y="3657600"/>
            <a:ext cx="46958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147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3943350"/>
          <a:ext cx="4505325" cy="1400175"/>
        </p:xfrm>
        <a:graphic>
          <a:graphicData uri="http://schemas.openxmlformats.org/drawingml/2006/chart">
            <c:chart xmlns:c="http://schemas.openxmlformats.org/drawingml/2006/chart" r:id="rId5"/>
          </a:graphicData>
        </a:graphic>
      </p:graphicFrame>
      <p:sp>
        <p:nvSpPr>
          <p:cNvPr id="24" name="Rectangle 23"/>
          <p:cNvSpPr/>
          <p:nvPr/>
        </p:nvSpPr>
        <p:spPr>
          <a:xfrm>
            <a:off x="4991100" y="3657600"/>
            <a:ext cx="704850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147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Rest of LATAM Market Share, 2026</a:t>
            </a:r>
          </a:p>
        </p:txBody>
      </p:sp>
      <p:graphicFrame>
        <p:nvGraphicFramePr>
          <p:cNvPr id="26" name="Chart 25"/>
          <p:cNvGraphicFramePr>
            <a:graphicFrameLocks noGrp="1"/>
          </p:cNvGraphicFramePr>
          <p:nvPr/>
        </p:nvGraphicFramePr>
        <p:xfrm>
          <a:off x="5086350" y="3943350"/>
          <a:ext cx="6858000" cy="1400175"/>
        </p:xfrm>
        <a:graphic>
          <a:graphicData uri="http://schemas.openxmlformats.org/drawingml/2006/chart">
            <c:chart xmlns:c="http://schemas.openxmlformats.org/drawingml/2006/chart" r:id="rId6"/>
          </a:graphicData>
        </a:graphic>
      </p:graphicFrame>
      <p:sp>
        <p:nvSpPr>
          <p:cNvPr id="27" name="Rectangle 26"/>
          <p:cNvSpPr/>
          <p:nvPr/>
        </p:nvSpPr>
        <p:spPr>
          <a:xfrm>
            <a:off x="142875" y="5534025"/>
            <a:ext cx="5876925" cy="1085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Rest of LATAM holds 3.5% of the global and 53.2% of the Latin America performance knitted fabrics market in 2026; by 2036 those shares move to 3.4% and 54.0% respectively.</a:t>
            </a:r>
          </a:p>
        </p:txBody>
      </p:sp>
      <p:sp>
        <p:nvSpPr>
          <p:cNvPr id="28" name="Rectangle 27"/>
          <p:cNvSpPr/>
          <p:nvPr/>
        </p:nvSpPr>
        <p:spPr>
          <a:xfrm>
            <a:off x="6172200" y="5534025"/>
            <a:ext cx="5876925" cy="1085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Rest of LATAM is expected to account for US$ 383.3 Mn by 2036 at a CAGR of 7.1% over the forecast period. Rest of LATAM is expected to create an incremental opportunity of US$ 201.2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Germany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Germany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Germany</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91.6</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150.2</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3.6%</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4.7%</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Germany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-12 BPS</a:t>
            </a:r>
          </a:p>
          <a:p>
            <a:pPr algn="ctr"/>
            <a:r>
              <a:rPr sz="1100" b="0">
                <a:solidFill>
                  <a:srgbClr val="605E5C"/>
                </a:solidFill>
                <a:latin typeface="Segoe UI"/>
              </a:rPr>
              <a:t>vs Western Europe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Germany's performance knitted fabrics market expands at 4.7% CAGR through 2036, trailing the Western Europe benchmark of 4.8% by 12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Germany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Germany holds 5.6% of the global and 26.6% of the Western Europe performance knitted fabrics market in 2026; by 2036 those shares move to 5.0% and 26.3%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55.2 Mn Sq. Yards between 2026 and 2036 the Germany market grows to 1.6×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Germany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Germany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Germany</a:t>
            </a:r>
          </a:p>
        </p:txBody>
      </p:sp>
      <p:sp>
        <p:nvSpPr>
          <p:cNvPr id="9" name="Rounded Rectangle 8"/>
          <p:cNvSpPr/>
          <p:nvPr/>
        </p:nvSpPr>
        <p:spPr>
          <a:xfrm>
            <a:off x="1428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372.4</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704.2</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4.1%</a:t>
            </a:r>
          </a:p>
        </p:txBody>
      </p:sp>
      <p:sp>
        <p:nvSpPr>
          <p:cNvPr id="12" name="Rounded Rectangle 11"/>
          <p:cNvSpPr/>
          <p:nvPr/>
        </p:nvSpPr>
        <p:spPr>
          <a:xfrm>
            <a:off x="91725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6.1%</a:t>
            </a:r>
          </a:p>
        </p:txBody>
      </p:sp>
      <p:sp>
        <p:nvSpPr>
          <p:cNvPr id="13" name="Rectangle 12"/>
          <p:cNvSpPr/>
          <p:nvPr/>
        </p:nvSpPr>
        <p:spPr>
          <a:xfrm>
            <a:off x="142875" y="1781175"/>
            <a:ext cx="46958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383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Germany Value (US$ Mn), 2021–2036</a:t>
            </a:r>
          </a:p>
        </p:txBody>
      </p:sp>
      <p:graphicFrame>
        <p:nvGraphicFramePr>
          <p:cNvPr id="15" name="Chart 14"/>
          <p:cNvGraphicFramePr>
            <a:graphicFrameLocks noGrp="1"/>
          </p:cNvGraphicFramePr>
          <p:nvPr/>
        </p:nvGraphicFramePr>
        <p:xfrm>
          <a:off x="238125" y="2066925"/>
          <a:ext cx="4505325" cy="1400175"/>
        </p:xfrm>
        <a:graphic>
          <a:graphicData uri="http://schemas.openxmlformats.org/drawingml/2006/chart">
            <c:chart xmlns:c="http://schemas.openxmlformats.org/drawingml/2006/chart" r:id="rId3"/>
          </a:graphicData>
        </a:graphic>
      </p:graphicFrame>
      <p:sp>
        <p:nvSpPr>
          <p:cNvPr id="16" name="Rectangle 15"/>
          <p:cNvSpPr/>
          <p:nvPr/>
        </p:nvSpPr>
        <p:spPr>
          <a:xfrm>
            <a:off x="4991100" y="1781175"/>
            <a:ext cx="704850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383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066925"/>
          <a:ext cx="2880360" cy="14001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0859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-23 BPS</a:t>
            </a:r>
          </a:p>
          <a:p>
            <a:pPr algn="ctr"/>
            <a:r>
              <a:rPr sz="1100" b="0">
                <a:solidFill>
                  <a:srgbClr val="605E5C"/>
                </a:solidFill>
                <a:latin typeface="Segoe UI"/>
              </a:rPr>
              <a:t>vs Western Europe benchmark</a:t>
            </a:r>
          </a:p>
          <a:p>
            <a:pPr algn="ctr"/>
            <a:r>
              <a:rPr sz="1100" b="1">
                <a:solidFill>
                  <a:srgbClr val="D64545"/>
                </a:solidFill>
                <a:latin typeface="Segoe UI"/>
              </a:rPr>
              <a:t>▼ below benchmark</a:t>
            </a:r>
          </a:p>
        </p:txBody>
      </p:sp>
      <p:sp>
        <p:nvSpPr>
          <p:cNvPr id="20" name="TextBox 19"/>
          <p:cNvSpPr txBox="1"/>
          <p:nvPr/>
        </p:nvSpPr>
        <p:spPr>
          <a:xfrm>
            <a:off x="8042910" y="2828925"/>
            <a:ext cx="3901440" cy="600075"/>
          </a:xfrm>
          <a:prstGeom prst="rect">
            <a:avLst/>
          </a:prstGeom>
          <a:noFill/>
        </p:spPr>
        <p:txBody>
          <a:bodyPr wrap="square" lIns="28575" rIns="28575" tIns="9525" bIns="9525" anchor="t">
            <a:spAutoFit/>
          </a:bodyPr>
          <a:lstStyle/>
          <a:p>
            <a:pPr algn="l"/>
            <a:r>
              <a:rPr sz="1100" b="0">
                <a:solidFill>
                  <a:srgbClr val="252423"/>
                </a:solidFill>
                <a:latin typeface="Segoe UI"/>
              </a:rPr>
              <a:t>Germany's performance knitted fabrics market expands at 6.1% CAGR through 2036, trailing the Western Europe benchmark of 6.3% by 23 BPS.</a:t>
            </a:r>
          </a:p>
        </p:txBody>
      </p:sp>
      <p:sp>
        <p:nvSpPr>
          <p:cNvPr id="21" name="Rectangle 20"/>
          <p:cNvSpPr/>
          <p:nvPr/>
        </p:nvSpPr>
        <p:spPr>
          <a:xfrm>
            <a:off x="142875" y="3657600"/>
            <a:ext cx="46958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147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3943350"/>
          <a:ext cx="4505325" cy="1400175"/>
        </p:xfrm>
        <a:graphic>
          <a:graphicData uri="http://schemas.openxmlformats.org/drawingml/2006/chart">
            <c:chart xmlns:c="http://schemas.openxmlformats.org/drawingml/2006/chart" r:id="rId5"/>
          </a:graphicData>
        </a:graphic>
      </p:graphicFrame>
      <p:sp>
        <p:nvSpPr>
          <p:cNvPr id="24" name="Rectangle 23"/>
          <p:cNvSpPr/>
          <p:nvPr/>
        </p:nvSpPr>
        <p:spPr>
          <a:xfrm>
            <a:off x="4991100" y="3657600"/>
            <a:ext cx="704850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147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Germany Market Share, 2026</a:t>
            </a:r>
          </a:p>
        </p:txBody>
      </p:sp>
      <p:graphicFrame>
        <p:nvGraphicFramePr>
          <p:cNvPr id="26" name="Chart 25"/>
          <p:cNvGraphicFramePr>
            <a:graphicFrameLocks noGrp="1"/>
          </p:cNvGraphicFramePr>
          <p:nvPr/>
        </p:nvGraphicFramePr>
        <p:xfrm>
          <a:off x="5086350" y="3943350"/>
          <a:ext cx="6858000" cy="1400175"/>
        </p:xfrm>
        <a:graphic>
          <a:graphicData uri="http://schemas.openxmlformats.org/drawingml/2006/chart">
            <c:chart xmlns:c="http://schemas.openxmlformats.org/drawingml/2006/chart" r:id="rId6"/>
          </a:graphicData>
        </a:graphic>
      </p:graphicFrame>
      <p:sp>
        <p:nvSpPr>
          <p:cNvPr id="27" name="Rectangle 26"/>
          <p:cNvSpPr/>
          <p:nvPr/>
        </p:nvSpPr>
        <p:spPr>
          <a:xfrm>
            <a:off x="142875" y="5534025"/>
            <a:ext cx="5876925" cy="1085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Germany holds 7.1% of the global and 26.9% of the Western Europe performance knitted fabrics market in 2026; by 2036 those shares move to 6.3% and 26.3% respectively.</a:t>
            </a:r>
          </a:p>
        </p:txBody>
      </p:sp>
      <p:sp>
        <p:nvSpPr>
          <p:cNvPr id="28" name="Rectangle 27"/>
          <p:cNvSpPr/>
          <p:nvPr/>
        </p:nvSpPr>
        <p:spPr>
          <a:xfrm>
            <a:off x="6172200" y="5534025"/>
            <a:ext cx="5876925" cy="1085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Germany is expected to account for US$ 704.2 Mn by 2036 at a CAGR of 6.1% over the forecast period. Germany is expected to create an incremental opportunity of US$ 331.8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Italy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Italy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Italy</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48.5</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82.1</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4.6%</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4.9%</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Italy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+12 BPS</a:t>
            </a:r>
          </a:p>
          <a:p>
            <a:pPr algn="ctr"/>
            <a:r>
              <a:rPr sz="1100" b="0">
                <a:solidFill>
                  <a:srgbClr val="605E5C"/>
                </a:solidFill>
                <a:latin typeface="Segoe UI"/>
              </a:rPr>
              <a:t>vs Western Europe benchmark</a:t>
            </a:r>
          </a:p>
          <a:p>
            <a:pPr algn="ctr"/>
            <a:r>
              <a:rPr sz="1100" b="1">
                <a:solidFill>
                  <a:srgbClr val="1E8E3E"/>
                </a:solidFill>
                <a:latin typeface="Segoe UI"/>
              </a:rPr>
              <a:t>▲ above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Italy's performance knitted fabrics market expands at 4.9% CAGR through 2036, outpacing the Western Europe benchmark of 4.8% by 12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Italy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Italy holds 3.0% of the global and 14.2% of the Western Europe performance knitted fabrics market in 2026; by 2036 those shares move to 2.7% and 14.4%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31.3 Mn Sq. Yards between 2026 and 2036 the Italy market grows to 1.6×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Italy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Italy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Italy</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205.8</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426.1</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5.5%</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6.9%</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Italy Value (US$ Mn),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+61 BPS</a:t>
            </a:r>
          </a:p>
          <a:p>
            <a:pPr algn="ctr"/>
            <a:r>
              <a:rPr sz="1100" b="0">
                <a:solidFill>
                  <a:srgbClr val="605E5C"/>
                </a:solidFill>
                <a:latin typeface="Segoe UI"/>
              </a:rPr>
              <a:t>vs Western Europe benchmark</a:t>
            </a:r>
          </a:p>
          <a:p>
            <a:pPr algn="ctr"/>
            <a:r>
              <a:rPr sz="1100" b="1">
                <a:solidFill>
                  <a:srgbClr val="1E8E3E"/>
                </a:solidFill>
                <a:latin typeface="Segoe UI"/>
              </a:rPr>
              <a:t>▲ above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Italy's performance knitted fabrics market expands at 6.9% CAGR through 2036, outpacing the Western Europe benchmark of 6.3% by 61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Italy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Italy holds 4.0% of the global and 15.1% of the Western Europe performance knitted fabrics market in 2026; by 2036 those shares move to 3.8% and 15.9%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Italy is expected to account for US$ 426.1 Mn by 2036 at a CAGR of 6.9% over the forecast period. Italy is expected to create an incremental opportunity of US$ 220.4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France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France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France</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71.7</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117.7</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4.5%</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4.6%</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France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-24 BPS</a:t>
            </a:r>
          </a:p>
          <a:p>
            <a:pPr algn="ctr"/>
            <a:r>
              <a:rPr sz="1100" b="0">
                <a:solidFill>
                  <a:srgbClr val="605E5C"/>
                </a:solidFill>
                <a:latin typeface="Segoe UI"/>
              </a:rPr>
              <a:t>vs Western Europe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France's performance knitted fabrics market expands at 4.6% CAGR through 2036, trailing the Western Europe benchmark of 4.8% by 24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France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France holds 4.4% of the global and 21.1% of the Western Europe performance knitted fabrics market in 2026; by 2036 those shares move to 3.9% and 20.6%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42.4 Mn Sq. Yards between 2026 and 2036 the France market grows to 1.6×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France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France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France</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287.7</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536.1</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5.0%</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5.8%</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France Value (US$ Mn),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-47 BPS</a:t>
            </a:r>
          </a:p>
          <a:p>
            <a:pPr algn="ctr"/>
            <a:r>
              <a:rPr sz="1100" b="0">
                <a:solidFill>
                  <a:srgbClr val="605E5C"/>
                </a:solidFill>
                <a:latin typeface="Segoe UI"/>
              </a:rPr>
              <a:t>vs Western Europe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France's performance knitted fabrics market expands at 5.8% CAGR through 2036, trailing the Western Europe benchmark of 6.3% by 47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France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France holds 5.5% of the global and 21.0% of the Western Europe performance knitted fabrics market in 2026; by 2036 those shares move to 4.8% and 20.1%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France is expected to account for US$ 536.1 Mn by 2036 at a CAGR of 5.8% over the forecast period. France is expected to create an incremental opportunity of US$ 248.5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U.K.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U.K.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U.K.</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58.1</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92.3</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4.0%</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4.3%</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U.K.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-48 BPS</a:t>
            </a:r>
          </a:p>
          <a:p>
            <a:pPr algn="ctr"/>
            <a:r>
              <a:rPr sz="1100" b="0">
                <a:solidFill>
                  <a:srgbClr val="605E5C"/>
                </a:solidFill>
                <a:latin typeface="Segoe UI"/>
              </a:rPr>
              <a:t>vs Western Europe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U.K.'s performance knitted fabrics market expands at 4.3% CAGR through 2036, trailing the Western Europe benchmark of 4.8% by 48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U.K.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U.K. holds 3.6% of the global and 16.9% of the Western Europe performance knitted fabrics market in 2026; by 2036 those shares move to 3.1% and 16.2%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31.9 Mn Sq. Yards between 2026 and 2036 the U.K. market grows to 1.5×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U.K.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U.K.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U.K.</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228.7</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421.1</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4.4%</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5.8%</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U.K. Value (US$ Mn),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-51 BPS</a:t>
            </a:r>
          </a:p>
          <a:p>
            <a:pPr algn="ctr"/>
            <a:r>
              <a:rPr sz="1100" b="0">
                <a:solidFill>
                  <a:srgbClr val="605E5C"/>
                </a:solidFill>
                <a:latin typeface="Segoe UI"/>
              </a:rPr>
              <a:t>vs Western Europe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U.K.'s performance knitted fabrics market expands at 5.8% CAGR through 2036, trailing the Western Europe benchmark of 6.3% by 51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U.K.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U.K. holds 4.4% of the global and 16.5% of the Western Europe performance knitted fabrics market in 2026; by 2036 those shares move to 3.7% and 15.8%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the U.K. is expected to account for US$ 421.1 Mn by 2036 at a CAGR of 5.8% over the forecast period. The U.K. is expected to create an incremental opportunity of US$ 192.4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Spain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Spain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Spain</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31.1</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57.2</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5.8%</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5.7%</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Spain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+86 BPS</a:t>
            </a:r>
          </a:p>
          <a:p>
            <a:pPr algn="ctr"/>
            <a:r>
              <a:rPr sz="1100" b="0">
                <a:solidFill>
                  <a:srgbClr val="605E5C"/>
                </a:solidFill>
                <a:latin typeface="Segoe UI"/>
              </a:rPr>
              <a:t>vs Western Europe benchmark</a:t>
            </a:r>
          </a:p>
          <a:p>
            <a:pPr algn="ctr"/>
            <a:r>
              <a:rPr sz="1100" b="1">
                <a:solidFill>
                  <a:srgbClr val="1E8E3E"/>
                </a:solidFill>
                <a:latin typeface="Segoe UI"/>
              </a:rPr>
              <a:t>▲ above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Spain's performance knitted fabrics market expands at 5.7% CAGR through 2036, outpacing the Western Europe benchmark of 4.8% by 86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Spain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Spain holds 1.9% of the global and 9.2% of the Western Europe performance knitted fabrics market in 2026; by 2036 those shares move to 1.9% and 10.0%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24.2 Mn Sq. Yards between 2026 and 2036 the Spain market grows to 1.7×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Spain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Spain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Spain</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117.2</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251.4</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6.3%</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7.2%</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Spain Value (US$ Mn),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+91 BPS</a:t>
            </a:r>
          </a:p>
          <a:p>
            <a:pPr algn="ctr"/>
            <a:r>
              <a:rPr sz="1100" b="0">
                <a:solidFill>
                  <a:srgbClr val="605E5C"/>
                </a:solidFill>
                <a:latin typeface="Segoe UI"/>
              </a:rPr>
              <a:t>vs Western Europe benchmark</a:t>
            </a:r>
          </a:p>
          <a:p>
            <a:pPr algn="ctr"/>
            <a:r>
              <a:rPr sz="1100" b="1">
                <a:solidFill>
                  <a:srgbClr val="1E8E3E"/>
                </a:solidFill>
                <a:latin typeface="Segoe UI"/>
              </a:rPr>
              <a:t>▲ above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Spain's performance knitted fabrics market expands at 7.2% CAGR through 2036, outpacing the Western Europe benchmark of 6.3% by 91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Spain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Spain holds 2.3% of the global and 8.6% of the Western Europe performance knitted fabrics market in 2026; by 2036 those shares move to 2.2% and 9.4%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Spain is expected to account for US$ 251.4 Mn by 2036 at a CAGR of 7.2% over the forecast period. Spain is expected to create an incremental opportunity of US$ 134.2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BENELUX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BENELUX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BENELUX</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17.8</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31.4</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5.8%</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5.3%</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BENELUX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+52 BPS</a:t>
            </a:r>
          </a:p>
          <a:p>
            <a:pPr algn="ctr"/>
            <a:r>
              <a:rPr sz="1100" b="0">
                <a:solidFill>
                  <a:srgbClr val="605E5C"/>
                </a:solidFill>
                <a:latin typeface="Segoe UI"/>
              </a:rPr>
              <a:t>vs Western Europe benchmark</a:t>
            </a:r>
          </a:p>
          <a:p>
            <a:pPr algn="ctr"/>
            <a:r>
              <a:rPr sz="1100" b="1">
                <a:solidFill>
                  <a:srgbClr val="1E8E3E"/>
                </a:solidFill>
                <a:latin typeface="Segoe UI"/>
              </a:rPr>
              <a:t>▲ above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BENELUX's performance knitted fabrics market expands at 5.3% CAGR through 2036, outpacing the Western Europe benchmark of 4.8% by 52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BENELUX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BENELUX holds 1.1% of the global and 5.2% of the Western Europe performance knitted fabrics market in 2026; by 2036 those shares move to 1.0% and 5.5%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12.7 Mn Sq. Yards between 2026 and 2036 the BENELUX market grows to 1.7×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BENELUX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BENELUX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BENELUX</a:t>
            </a:r>
          </a:p>
        </p:txBody>
      </p:sp>
      <p:sp>
        <p:nvSpPr>
          <p:cNvPr id="9" name="Rounded Rectangle 8"/>
          <p:cNvSpPr/>
          <p:nvPr/>
        </p:nvSpPr>
        <p:spPr>
          <a:xfrm>
            <a:off x="1428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71.4</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146.7</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6.2%</a:t>
            </a:r>
          </a:p>
        </p:txBody>
      </p:sp>
      <p:sp>
        <p:nvSpPr>
          <p:cNvPr id="12" name="Rounded Rectangle 11"/>
          <p:cNvSpPr/>
          <p:nvPr/>
        </p:nvSpPr>
        <p:spPr>
          <a:xfrm>
            <a:off x="91725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6.8%</a:t>
            </a:r>
          </a:p>
        </p:txBody>
      </p:sp>
      <p:sp>
        <p:nvSpPr>
          <p:cNvPr id="13" name="Rectangle 12"/>
          <p:cNvSpPr/>
          <p:nvPr/>
        </p:nvSpPr>
        <p:spPr>
          <a:xfrm>
            <a:off x="142875" y="1781175"/>
            <a:ext cx="46958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383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BENELUX Value (US$ Mn), 2021–2036</a:t>
            </a:r>
          </a:p>
        </p:txBody>
      </p:sp>
      <p:graphicFrame>
        <p:nvGraphicFramePr>
          <p:cNvPr id="15" name="Chart 14"/>
          <p:cNvGraphicFramePr>
            <a:graphicFrameLocks noGrp="1"/>
          </p:cNvGraphicFramePr>
          <p:nvPr/>
        </p:nvGraphicFramePr>
        <p:xfrm>
          <a:off x="238125" y="2066925"/>
          <a:ext cx="4505325" cy="1400175"/>
        </p:xfrm>
        <a:graphic>
          <a:graphicData uri="http://schemas.openxmlformats.org/drawingml/2006/chart">
            <c:chart xmlns:c="http://schemas.openxmlformats.org/drawingml/2006/chart" r:id="rId3"/>
          </a:graphicData>
        </a:graphic>
      </p:graphicFrame>
      <p:sp>
        <p:nvSpPr>
          <p:cNvPr id="16" name="Rectangle 15"/>
          <p:cNvSpPr/>
          <p:nvPr/>
        </p:nvSpPr>
        <p:spPr>
          <a:xfrm>
            <a:off x="4991100" y="1781175"/>
            <a:ext cx="704850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383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066925"/>
          <a:ext cx="2880360" cy="14001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0859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+53 BPS</a:t>
            </a:r>
          </a:p>
          <a:p>
            <a:pPr algn="ctr"/>
            <a:r>
              <a:rPr sz="1100" b="0">
                <a:solidFill>
                  <a:srgbClr val="605E5C"/>
                </a:solidFill>
                <a:latin typeface="Segoe UI"/>
              </a:rPr>
              <a:t>vs Western Europe benchmark</a:t>
            </a:r>
          </a:p>
          <a:p>
            <a:pPr algn="ctr"/>
            <a:r>
              <a:rPr sz="1100" b="1">
                <a:solidFill>
                  <a:srgbClr val="1E8E3E"/>
                </a:solidFill>
                <a:latin typeface="Segoe UI"/>
              </a:rPr>
              <a:t>▲ above benchmark</a:t>
            </a:r>
          </a:p>
        </p:txBody>
      </p:sp>
      <p:sp>
        <p:nvSpPr>
          <p:cNvPr id="20" name="TextBox 19"/>
          <p:cNvSpPr txBox="1"/>
          <p:nvPr/>
        </p:nvSpPr>
        <p:spPr>
          <a:xfrm>
            <a:off x="8042910" y="2828925"/>
            <a:ext cx="3901440" cy="600075"/>
          </a:xfrm>
          <a:prstGeom prst="rect">
            <a:avLst/>
          </a:prstGeom>
          <a:noFill/>
        </p:spPr>
        <p:txBody>
          <a:bodyPr wrap="square" lIns="28575" rIns="28575" tIns="9525" bIns="9525" anchor="t">
            <a:spAutoFit/>
          </a:bodyPr>
          <a:lstStyle/>
          <a:p>
            <a:pPr algn="l"/>
            <a:r>
              <a:rPr sz="1100" b="0">
                <a:solidFill>
                  <a:srgbClr val="252423"/>
                </a:solidFill>
                <a:latin typeface="Segoe UI"/>
              </a:rPr>
              <a:t>BENELUX's performance knitted fabrics market expands at 6.8% CAGR through 2036, outpacing the Western Europe benchmark of 6.3% by 53 BPS.</a:t>
            </a:r>
          </a:p>
        </p:txBody>
      </p:sp>
      <p:sp>
        <p:nvSpPr>
          <p:cNvPr id="21" name="Rectangle 20"/>
          <p:cNvSpPr/>
          <p:nvPr/>
        </p:nvSpPr>
        <p:spPr>
          <a:xfrm>
            <a:off x="142875" y="3657600"/>
            <a:ext cx="46958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147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3943350"/>
          <a:ext cx="4505325" cy="1400175"/>
        </p:xfrm>
        <a:graphic>
          <a:graphicData uri="http://schemas.openxmlformats.org/drawingml/2006/chart">
            <c:chart xmlns:c="http://schemas.openxmlformats.org/drawingml/2006/chart" r:id="rId5"/>
          </a:graphicData>
        </a:graphic>
      </p:graphicFrame>
      <p:sp>
        <p:nvSpPr>
          <p:cNvPr id="24" name="Rectangle 23"/>
          <p:cNvSpPr/>
          <p:nvPr/>
        </p:nvSpPr>
        <p:spPr>
          <a:xfrm>
            <a:off x="4991100" y="3657600"/>
            <a:ext cx="704850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147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BENELUX Market Share, 2026</a:t>
            </a:r>
          </a:p>
        </p:txBody>
      </p:sp>
      <p:graphicFrame>
        <p:nvGraphicFramePr>
          <p:cNvPr id="26" name="Chart 25"/>
          <p:cNvGraphicFramePr>
            <a:graphicFrameLocks noGrp="1"/>
          </p:cNvGraphicFramePr>
          <p:nvPr/>
        </p:nvGraphicFramePr>
        <p:xfrm>
          <a:off x="5086350" y="3943350"/>
          <a:ext cx="6858000" cy="1400175"/>
        </p:xfrm>
        <a:graphic>
          <a:graphicData uri="http://schemas.openxmlformats.org/drawingml/2006/chart">
            <c:chart xmlns:c="http://schemas.openxmlformats.org/drawingml/2006/chart" r:id="rId6"/>
          </a:graphicData>
        </a:graphic>
      </p:graphicFrame>
      <p:sp>
        <p:nvSpPr>
          <p:cNvPr id="27" name="Rectangle 26"/>
          <p:cNvSpPr/>
          <p:nvPr/>
        </p:nvSpPr>
        <p:spPr>
          <a:xfrm>
            <a:off x="142875" y="5534025"/>
            <a:ext cx="5876925" cy="1085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BENELUX holds 1.4% of the global and 5.2% of the Western Europe performance knitted fabrics market in 2026; by 2036 those shares move to 1.3% and 5.5% respectively.</a:t>
            </a:r>
          </a:p>
        </p:txBody>
      </p:sp>
      <p:sp>
        <p:nvSpPr>
          <p:cNvPr id="28" name="Rectangle 27"/>
          <p:cNvSpPr/>
          <p:nvPr/>
        </p:nvSpPr>
        <p:spPr>
          <a:xfrm>
            <a:off x="6172200" y="5534025"/>
            <a:ext cx="5876925" cy="1085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BENELUX is expected to account for US$ 146.7 Mn by 2036 at a CAGR of 6.8% over the forecast period. BENELUX is expected to create an incremental opportunity of US$ 75.3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Nordics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Nordics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Nordics</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10.6</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17.6</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4.9%</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4.7%</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Nordics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-11 BPS</a:t>
            </a:r>
          </a:p>
          <a:p>
            <a:pPr algn="ctr"/>
            <a:r>
              <a:rPr sz="1100" b="0">
                <a:solidFill>
                  <a:srgbClr val="605E5C"/>
                </a:solidFill>
                <a:latin typeface="Segoe UI"/>
              </a:rPr>
              <a:t>vs Western Europe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Nordics's performance knitted fabrics market expands at 4.7% CAGR through 2036, trailing the Western Europe benchmark of 4.8% by 11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Nordics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Nordics holds 0.7% of the global and 3.1% of the Western Europe performance knitted fabrics market in 2026; by 2036 those shares move to 0.6% and 3.1%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6.47 Mn Sq. Yards between 2026 and 2036 the Nordics market grows to 1.6×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Nordics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Nordics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Nordics</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44.0</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82.8</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5.3%</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6.0%</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Nordics Value (US$ Mn),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-35 BPS</a:t>
            </a:r>
          </a:p>
          <a:p>
            <a:pPr algn="ctr"/>
            <a:r>
              <a:rPr sz="1100" b="0">
                <a:solidFill>
                  <a:srgbClr val="605E5C"/>
                </a:solidFill>
                <a:latin typeface="Segoe UI"/>
              </a:rPr>
              <a:t>vs Western Europe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Nordics's performance knitted fabrics market expands at 6.0% CAGR through 2036, trailing the Western Europe benchmark of 6.3% by 35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Nordics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Nordics holds 0.8% of the global and 3.2% of the Western Europe performance knitted fabrics market in 2026; by 2036 those shares move to 0.7% and 3.1%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Nordics is expected to account for US$ 82.8 Mn by 2036 at a CAGR of 6.0% over the forecast period. Nordics is expected to create an incremental opportunity of US$ 38.8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Rest of Western Europe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Rest of Western Europe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Rest of Western Europe</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12.3</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23.1</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6.4%</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5.8%</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Rest of Western Europe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+100 BPS</a:t>
            </a:r>
          </a:p>
          <a:p>
            <a:pPr algn="ctr"/>
            <a:r>
              <a:rPr sz="1100" b="0">
                <a:solidFill>
                  <a:srgbClr val="605E5C"/>
                </a:solidFill>
                <a:latin typeface="Segoe UI"/>
              </a:rPr>
              <a:t>vs Western Europe benchmark</a:t>
            </a:r>
          </a:p>
          <a:p>
            <a:pPr algn="ctr"/>
            <a:r>
              <a:rPr sz="1100" b="1">
                <a:solidFill>
                  <a:srgbClr val="1E8E3E"/>
                </a:solidFill>
                <a:latin typeface="Segoe UI"/>
              </a:rPr>
              <a:t>▲ above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Rest of Western Europe's performance knitted fabrics market expands at 5.8% CAGR through 2036, outpacing the Western Europe benchmark of 4.8% by 100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Rest of Western Europe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Rest of Western Europe holds 0.8% of the global and 3.7% of the Western Europe performance knitted fabrics market in 2026; by 2036 those shares move to 0.8% and 4.0%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9.97 Mn Sq. Yards between 2026 and 2036 the Rest of Western Europe market grows to 1.8×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Rest of Western Europe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Rest of Western Europe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Rest of Western Europe</a:t>
            </a:r>
          </a:p>
        </p:txBody>
      </p:sp>
      <p:sp>
        <p:nvSpPr>
          <p:cNvPr id="9" name="Rounded Rectangle 8"/>
          <p:cNvSpPr/>
          <p:nvPr/>
        </p:nvSpPr>
        <p:spPr>
          <a:xfrm>
            <a:off x="1428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46.5</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104.1</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7.0%</a:t>
            </a:r>
          </a:p>
        </p:txBody>
      </p:sp>
      <p:sp>
        <p:nvSpPr>
          <p:cNvPr id="12" name="Rounded Rectangle 11"/>
          <p:cNvSpPr/>
          <p:nvPr/>
        </p:nvSpPr>
        <p:spPr>
          <a:xfrm>
            <a:off x="91725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7.6%</a:t>
            </a:r>
          </a:p>
        </p:txBody>
      </p:sp>
      <p:sp>
        <p:nvSpPr>
          <p:cNvPr id="13" name="Rectangle 12"/>
          <p:cNvSpPr/>
          <p:nvPr/>
        </p:nvSpPr>
        <p:spPr>
          <a:xfrm>
            <a:off x="142875" y="1781175"/>
            <a:ext cx="46958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383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Rest of Western Europe Value (US$ Mn), 2021–2036</a:t>
            </a:r>
          </a:p>
        </p:txBody>
      </p:sp>
      <p:graphicFrame>
        <p:nvGraphicFramePr>
          <p:cNvPr id="15" name="Chart 14"/>
          <p:cNvGraphicFramePr>
            <a:graphicFrameLocks noGrp="1"/>
          </p:cNvGraphicFramePr>
          <p:nvPr/>
        </p:nvGraphicFramePr>
        <p:xfrm>
          <a:off x="238125" y="2066925"/>
          <a:ext cx="4505325" cy="1400175"/>
        </p:xfrm>
        <a:graphic>
          <a:graphicData uri="http://schemas.openxmlformats.org/drawingml/2006/chart">
            <c:chart xmlns:c="http://schemas.openxmlformats.org/drawingml/2006/chart" r:id="rId3"/>
          </a:graphicData>
        </a:graphic>
      </p:graphicFrame>
      <p:sp>
        <p:nvSpPr>
          <p:cNvPr id="16" name="Rectangle 15"/>
          <p:cNvSpPr/>
          <p:nvPr/>
        </p:nvSpPr>
        <p:spPr>
          <a:xfrm>
            <a:off x="4991100" y="1781175"/>
            <a:ext cx="704850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383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066925"/>
          <a:ext cx="2880360" cy="14001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0859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+125 BPS</a:t>
            </a:r>
          </a:p>
          <a:p>
            <a:pPr algn="ctr"/>
            <a:r>
              <a:rPr sz="1100" b="0">
                <a:solidFill>
                  <a:srgbClr val="605E5C"/>
                </a:solidFill>
                <a:latin typeface="Segoe UI"/>
              </a:rPr>
              <a:t>vs Western Europe benchmark</a:t>
            </a:r>
          </a:p>
          <a:p>
            <a:pPr algn="ctr"/>
            <a:r>
              <a:rPr sz="1100" b="1">
                <a:solidFill>
                  <a:srgbClr val="1E8E3E"/>
                </a:solidFill>
                <a:latin typeface="Segoe UI"/>
              </a:rPr>
              <a:t>▲ above benchmark</a:t>
            </a:r>
          </a:p>
        </p:txBody>
      </p:sp>
      <p:sp>
        <p:nvSpPr>
          <p:cNvPr id="20" name="TextBox 19"/>
          <p:cNvSpPr txBox="1"/>
          <p:nvPr/>
        </p:nvSpPr>
        <p:spPr>
          <a:xfrm>
            <a:off x="8042910" y="2828925"/>
            <a:ext cx="3901440" cy="600075"/>
          </a:xfrm>
          <a:prstGeom prst="rect">
            <a:avLst/>
          </a:prstGeom>
          <a:noFill/>
        </p:spPr>
        <p:txBody>
          <a:bodyPr wrap="square" lIns="28575" rIns="28575" tIns="9525" bIns="9525" anchor="t">
            <a:spAutoFit/>
          </a:bodyPr>
          <a:lstStyle/>
          <a:p>
            <a:pPr algn="l"/>
            <a:r>
              <a:rPr sz="1100" b="0">
                <a:solidFill>
                  <a:srgbClr val="252423"/>
                </a:solidFill>
                <a:latin typeface="Segoe UI"/>
              </a:rPr>
              <a:t>Rest of Western Europe's performance knitted fabrics market expands at 7.6% CAGR through 2036, outpacing the Western Europe benchmark of 6.3% by 125 BPS.</a:t>
            </a:r>
          </a:p>
        </p:txBody>
      </p:sp>
      <p:sp>
        <p:nvSpPr>
          <p:cNvPr id="21" name="Rectangle 20"/>
          <p:cNvSpPr/>
          <p:nvPr/>
        </p:nvSpPr>
        <p:spPr>
          <a:xfrm>
            <a:off x="142875" y="3657600"/>
            <a:ext cx="46958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147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3943350"/>
          <a:ext cx="4505325" cy="1400175"/>
        </p:xfrm>
        <a:graphic>
          <a:graphicData uri="http://schemas.openxmlformats.org/drawingml/2006/chart">
            <c:chart xmlns:c="http://schemas.openxmlformats.org/drawingml/2006/chart" r:id="rId5"/>
          </a:graphicData>
        </a:graphic>
      </p:graphicFrame>
      <p:sp>
        <p:nvSpPr>
          <p:cNvPr id="24" name="Rectangle 23"/>
          <p:cNvSpPr/>
          <p:nvPr/>
        </p:nvSpPr>
        <p:spPr>
          <a:xfrm>
            <a:off x="4991100" y="3657600"/>
            <a:ext cx="704850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147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Rest of Western Europe Market Share, 2026</a:t>
            </a:r>
          </a:p>
        </p:txBody>
      </p:sp>
      <p:graphicFrame>
        <p:nvGraphicFramePr>
          <p:cNvPr id="26" name="Chart 25"/>
          <p:cNvGraphicFramePr>
            <a:graphicFrameLocks noGrp="1"/>
          </p:cNvGraphicFramePr>
          <p:nvPr/>
        </p:nvGraphicFramePr>
        <p:xfrm>
          <a:off x="5086350" y="3943350"/>
          <a:ext cx="6858000" cy="1400175"/>
        </p:xfrm>
        <a:graphic>
          <a:graphicData uri="http://schemas.openxmlformats.org/drawingml/2006/chart">
            <c:chart xmlns:c="http://schemas.openxmlformats.org/drawingml/2006/chart" r:id="rId6"/>
          </a:graphicData>
        </a:graphic>
      </p:graphicFrame>
      <p:sp>
        <p:nvSpPr>
          <p:cNvPr id="27" name="Rectangle 26"/>
          <p:cNvSpPr/>
          <p:nvPr/>
        </p:nvSpPr>
        <p:spPr>
          <a:xfrm>
            <a:off x="142875" y="5534025"/>
            <a:ext cx="5876925" cy="1085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Rest of Western Europe holds 0.9% of the global and 3.5% of the Western Europe performance knitted fabrics market in 2026; by 2036 those shares move to 0.9% and 3.9% respectively.</a:t>
            </a:r>
          </a:p>
        </p:txBody>
      </p:sp>
      <p:sp>
        <p:nvSpPr>
          <p:cNvPr id="28" name="Rectangle 27"/>
          <p:cNvSpPr/>
          <p:nvPr/>
        </p:nvSpPr>
        <p:spPr>
          <a:xfrm>
            <a:off x="6172200" y="5534025"/>
            <a:ext cx="5876925" cy="1085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Rest of Western Europe is expected to account for US$ 104.1 Mn by 2036 at a CAGR of 7.6% over the forecast period. Rest of Western Europe is expected to create an incremental opportunity of US$ 57.6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Russia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Russia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Russia</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39.7</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56.2</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3.0%</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3.2%</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Russia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-94 BPS</a:t>
            </a:r>
          </a:p>
          <a:p>
            <a:pPr algn="ctr"/>
            <a:r>
              <a:rPr sz="1100" b="0">
                <a:solidFill>
                  <a:srgbClr val="605E5C"/>
                </a:solidFill>
                <a:latin typeface="Segoe UI"/>
              </a:rPr>
              <a:t>vs Eastern Europe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Russia's performance knitted fabrics market expands at 3.2% CAGR through 2036, trailing the Eastern Europe benchmark of 4.1% by 94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Russia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Russia holds 2.4% of the global and 42.3% of the Eastern Europe performance knitted fabrics market in 2026; by 2036 those shares move to 1.9% and 38.6%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15.2 Mn Sq. Yards between 2026 and 2036 the Russia market grows to 1.4×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Russia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Russia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Russia</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111.0</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179.8</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3.6%</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4.5%</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Russia Value (US$ Mn),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-126 BPS</a:t>
            </a:r>
          </a:p>
          <a:p>
            <a:pPr algn="ctr"/>
            <a:r>
              <a:rPr sz="1100" b="0">
                <a:solidFill>
                  <a:srgbClr val="605E5C"/>
                </a:solidFill>
                <a:latin typeface="Segoe UI"/>
              </a:rPr>
              <a:t>vs Eastern Europe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Russia's performance knitted fabrics market expands at 4.5% CAGR through 2036, trailing the Eastern Europe benchmark of 5.8% by 126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Russia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Russia holds 2.1% of the global and 40.6% of the Eastern Europe performance knitted fabrics market in 2026; by 2036 those shares move to 1.6% and 36.0%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Russia is expected to account for US$ 179.8 Mn by 2036 at a CAGR of 4.5% over the forecast period. Russia is expected to create an incremental opportunity of US$ 68.8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Poland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Poland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Poland</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22.2</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37.6</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4.7%</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4.9%</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Poland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+73 BPS</a:t>
            </a:r>
          </a:p>
          <a:p>
            <a:pPr algn="ctr"/>
            <a:r>
              <a:rPr sz="1100" b="0">
                <a:solidFill>
                  <a:srgbClr val="605E5C"/>
                </a:solidFill>
                <a:latin typeface="Segoe UI"/>
              </a:rPr>
              <a:t>vs Eastern Europe benchmark</a:t>
            </a:r>
          </a:p>
          <a:p>
            <a:pPr algn="ctr"/>
            <a:r>
              <a:rPr sz="1100" b="1">
                <a:solidFill>
                  <a:srgbClr val="1E8E3E"/>
                </a:solidFill>
                <a:latin typeface="Segoe UI"/>
              </a:rPr>
              <a:t>▲ above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Poland's performance knitted fabrics market expands at 4.9% CAGR through 2036, outpacing the Eastern Europe benchmark of 4.1% by 73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Poland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Poland holds 1.4% of the global and 24.1% of the Eastern Europe performance knitted fabrics market in 2026; by 2036 those shares move to 1.2% and 25.9%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14.3 Mn Sq. Yards between 2026 and 2036 the Poland market grows to 1.6×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Poland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Poland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Poland</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68.5</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138.9</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5.4%</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6.7%</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Poland Value (US$ Mn),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+89 BPS</a:t>
            </a:r>
          </a:p>
          <a:p>
            <a:pPr algn="ctr"/>
            <a:r>
              <a:rPr sz="1100" b="0">
                <a:solidFill>
                  <a:srgbClr val="605E5C"/>
                </a:solidFill>
                <a:latin typeface="Segoe UI"/>
              </a:rPr>
              <a:t>vs Eastern Europe benchmark</a:t>
            </a:r>
          </a:p>
          <a:p>
            <a:pPr algn="ctr"/>
            <a:r>
              <a:rPr sz="1100" b="1">
                <a:solidFill>
                  <a:srgbClr val="1E8E3E"/>
                </a:solidFill>
                <a:latin typeface="Segoe UI"/>
              </a:rPr>
              <a:t>▲ above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Poland's performance knitted fabrics market expands at 6.7% CAGR through 2036, outpacing the Eastern Europe benchmark of 5.8% by 89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Poland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Poland holds 1.3% of the global and 25.6% of the Eastern Europe performance knitted fabrics market in 2026; by 2036 those shares move to 1.2% and 27.8%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Poland is expected to account for US$ 138.9 Mn by 2036 at a CAGR of 6.7% over the forecast period. Poland is expected to create an incremental opportunity of US$ 70.4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Hungary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Hungary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Hungary</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9.21</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15.3</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3.9%</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4.7%</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Hungary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+56 BPS</a:t>
            </a:r>
          </a:p>
          <a:p>
            <a:pPr algn="ctr"/>
            <a:r>
              <a:rPr sz="1100" b="0">
                <a:solidFill>
                  <a:srgbClr val="605E5C"/>
                </a:solidFill>
                <a:latin typeface="Segoe UI"/>
              </a:rPr>
              <a:t>vs Eastern Europe benchmark</a:t>
            </a:r>
          </a:p>
          <a:p>
            <a:pPr algn="ctr"/>
            <a:r>
              <a:rPr sz="1100" b="1">
                <a:solidFill>
                  <a:srgbClr val="1E8E3E"/>
                </a:solidFill>
                <a:latin typeface="Segoe UI"/>
              </a:rPr>
              <a:t>▲ above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Hungary's performance knitted fabrics market expands at 4.7% CAGR through 2036, outpacing the Eastern Europe benchmark of 4.1% by 56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Hungary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Hungary holds 0.6% of the global and 9.9% of the Eastern Europe performance knitted fabrics market in 2026; by 2036 those shares move to 0.5% and 10.5%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5.62 Mn Sq. Yards between 2026 and 2036 the Hungary market grows to 1.6×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Hungary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Hungary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Hungary</a:t>
            </a:r>
          </a:p>
        </p:txBody>
      </p:sp>
      <p:sp>
        <p:nvSpPr>
          <p:cNvPr id="9" name="Rounded Rectangle 8"/>
          <p:cNvSpPr/>
          <p:nvPr/>
        </p:nvSpPr>
        <p:spPr>
          <a:xfrm>
            <a:off x="1428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28.0</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55.6</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4.4%</a:t>
            </a:r>
          </a:p>
        </p:txBody>
      </p:sp>
      <p:sp>
        <p:nvSpPr>
          <p:cNvPr id="12" name="Rounded Rectangle 11"/>
          <p:cNvSpPr/>
          <p:nvPr/>
        </p:nvSpPr>
        <p:spPr>
          <a:xfrm>
            <a:off x="91725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6.5%</a:t>
            </a:r>
          </a:p>
        </p:txBody>
      </p:sp>
      <p:sp>
        <p:nvSpPr>
          <p:cNvPr id="13" name="Rectangle 12"/>
          <p:cNvSpPr/>
          <p:nvPr/>
        </p:nvSpPr>
        <p:spPr>
          <a:xfrm>
            <a:off x="142875" y="1781175"/>
            <a:ext cx="46958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383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Hungary Value (US$ Mn), 2021–2036</a:t>
            </a:r>
          </a:p>
        </p:txBody>
      </p:sp>
      <p:graphicFrame>
        <p:nvGraphicFramePr>
          <p:cNvPr id="15" name="Chart 14"/>
          <p:cNvGraphicFramePr>
            <a:graphicFrameLocks noGrp="1"/>
          </p:cNvGraphicFramePr>
          <p:nvPr/>
        </p:nvGraphicFramePr>
        <p:xfrm>
          <a:off x="238125" y="2066925"/>
          <a:ext cx="4505325" cy="1400175"/>
        </p:xfrm>
        <a:graphic>
          <a:graphicData uri="http://schemas.openxmlformats.org/drawingml/2006/chart">
            <c:chart xmlns:c="http://schemas.openxmlformats.org/drawingml/2006/chart" r:id="rId3"/>
          </a:graphicData>
        </a:graphic>
      </p:graphicFrame>
      <p:sp>
        <p:nvSpPr>
          <p:cNvPr id="16" name="Rectangle 15"/>
          <p:cNvSpPr/>
          <p:nvPr/>
        </p:nvSpPr>
        <p:spPr>
          <a:xfrm>
            <a:off x="4991100" y="1781175"/>
            <a:ext cx="704850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383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066925"/>
          <a:ext cx="2880360" cy="14001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0859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+74 BPS</a:t>
            </a:r>
          </a:p>
          <a:p>
            <a:pPr algn="ctr"/>
            <a:r>
              <a:rPr sz="1100" b="0">
                <a:solidFill>
                  <a:srgbClr val="605E5C"/>
                </a:solidFill>
                <a:latin typeface="Segoe UI"/>
              </a:rPr>
              <a:t>vs Eastern Europe benchmark</a:t>
            </a:r>
          </a:p>
          <a:p>
            <a:pPr algn="ctr"/>
            <a:r>
              <a:rPr sz="1100" b="1">
                <a:solidFill>
                  <a:srgbClr val="1E8E3E"/>
                </a:solidFill>
                <a:latin typeface="Segoe UI"/>
              </a:rPr>
              <a:t>▲ above benchmark</a:t>
            </a:r>
          </a:p>
        </p:txBody>
      </p:sp>
      <p:sp>
        <p:nvSpPr>
          <p:cNvPr id="20" name="TextBox 19"/>
          <p:cNvSpPr txBox="1"/>
          <p:nvPr/>
        </p:nvSpPr>
        <p:spPr>
          <a:xfrm>
            <a:off x="8042910" y="2828925"/>
            <a:ext cx="3901440" cy="600075"/>
          </a:xfrm>
          <a:prstGeom prst="rect">
            <a:avLst/>
          </a:prstGeom>
          <a:noFill/>
        </p:spPr>
        <p:txBody>
          <a:bodyPr wrap="square" lIns="28575" rIns="28575" tIns="9525" bIns="9525" anchor="t">
            <a:spAutoFit/>
          </a:bodyPr>
          <a:lstStyle/>
          <a:p>
            <a:pPr algn="l"/>
            <a:r>
              <a:rPr sz="1100" b="0">
                <a:solidFill>
                  <a:srgbClr val="252423"/>
                </a:solidFill>
                <a:latin typeface="Segoe UI"/>
              </a:rPr>
              <a:t>Hungary's performance knitted fabrics market expands at 6.5% CAGR through 2036, outpacing the Eastern Europe benchmark of 5.8% by 74 BPS.</a:t>
            </a:r>
          </a:p>
        </p:txBody>
      </p:sp>
      <p:sp>
        <p:nvSpPr>
          <p:cNvPr id="21" name="Rectangle 20"/>
          <p:cNvSpPr/>
          <p:nvPr/>
        </p:nvSpPr>
        <p:spPr>
          <a:xfrm>
            <a:off x="142875" y="3657600"/>
            <a:ext cx="46958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147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3943350"/>
          <a:ext cx="4505325" cy="1400175"/>
        </p:xfrm>
        <a:graphic>
          <a:graphicData uri="http://schemas.openxmlformats.org/drawingml/2006/chart">
            <c:chart xmlns:c="http://schemas.openxmlformats.org/drawingml/2006/chart" r:id="rId5"/>
          </a:graphicData>
        </a:graphic>
      </p:graphicFrame>
      <p:sp>
        <p:nvSpPr>
          <p:cNvPr id="24" name="Rectangle 23"/>
          <p:cNvSpPr/>
          <p:nvPr/>
        </p:nvSpPr>
        <p:spPr>
          <a:xfrm>
            <a:off x="4991100" y="3657600"/>
            <a:ext cx="704850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147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Hungary Market Share, 2026</a:t>
            </a:r>
          </a:p>
        </p:txBody>
      </p:sp>
      <p:graphicFrame>
        <p:nvGraphicFramePr>
          <p:cNvPr id="26" name="Chart 25"/>
          <p:cNvGraphicFramePr>
            <a:graphicFrameLocks noGrp="1"/>
          </p:cNvGraphicFramePr>
          <p:nvPr/>
        </p:nvGraphicFramePr>
        <p:xfrm>
          <a:off x="5086350" y="3943350"/>
          <a:ext cx="6858000" cy="1400175"/>
        </p:xfrm>
        <a:graphic>
          <a:graphicData uri="http://schemas.openxmlformats.org/drawingml/2006/chart">
            <c:chart xmlns:c="http://schemas.openxmlformats.org/drawingml/2006/chart" r:id="rId6"/>
          </a:graphicData>
        </a:graphic>
      </p:graphicFrame>
      <p:sp>
        <p:nvSpPr>
          <p:cNvPr id="27" name="Rectangle 26"/>
          <p:cNvSpPr/>
          <p:nvPr/>
        </p:nvSpPr>
        <p:spPr>
          <a:xfrm>
            <a:off x="142875" y="5534025"/>
            <a:ext cx="5876925" cy="1085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Hungary holds 0.5% of the global and 10.4% of the Eastern Europe performance knitted fabrics market in 2026; by 2036 those shares move to 0.5% and 11.1% respectively.</a:t>
            </a:r>
          </a:p>
        </p:txBody>
      </p:sp>
      <p:sp>
        <p:nvSpPr>
          <p:cNvPr id="28" name="Rectangle 27"/>
          <p:cNvSpPr/>
          <p:nvPr/>
        </p:nvSpPr>
        <p:spPr>
          <a:xfrm>
            <a:off x="6172200" y="5534025"/>
            <a:ext cx="5876925" cy="1085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Hungary is expected to account for US$ 55.6 Mn by 2036 at a CAGR of 6.5% over the forecast period. Hungary is expected to create an incremental opportunity of US$ 27.6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Balkan &amp; Baltics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Balkan &amp; Baltics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Balkan &amp; Baltics</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13.4</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22.9</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5.4%</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5.0%</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Balkan &amp; Baltics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+86 BPS</a:t>
            </a:r>
          </a:p>
          <a:p>
            <a:pPr algn="ctr"/>
            <a:r>
              <a:rPr sz="1100" b="0">
                <a:solidFill>
                  <a:srgbClr val="605E5C"/>
                </a:solidFill>
                <a:latin typeface="Segoe UI"/>
              </a:rPr>
              <a:t>vs Eastern Europe benchmark</a:t>
            </a:r>
          </a:p>
          <a:p>
            <a:pPr algn="ctr"/>
            <a:r>
              <a:rPr sz="1100" b="1">
                <a:solidFill>
                  <a:srgbClr val="1E8E3E"/>
                </a:solidFill>
                <a:latin typeface="Segoe UI"/>
              </a:rPr>
              <a:t>▲ above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Balkan &amp; Baltics's performance knitted fabrics market expands at 5.0% CAGR through 2036, outpacing the Eastern Europe benchmark of 4.1% by 86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Balkan &amp; Baltics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Balkan &amp; Baltics holds 0.8% of the global and 14.5% of the Eastern Europe performance knitted fabrics market in 2026; by 2036 those shares move to 0.8% and 15.8%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8.86 Mn Sq. Yards between 2026 and 2036 the Balkan &amp; Baltics market grows to 1.6×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Balkan &amp; Baltics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Balkan &amp; Baltics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Balkan &amp; Baltics</a:t>
            </a:r>
          </a:p>
        </p:txBody>
      </p:sp>
      <p:sp>
        <p:nvSpPr>
          <p:cNvPr id="9" name="Rounded Rectangle 8"/>
          <p:cNvSpPr/>
          <p:nvPr/>
        </p:nvSpPr>
        <p:spPr>
          <a:xfrm>
            <a:off x="1428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39.0</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80.4</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5.9%</a:t>
            </a:r>
          </a:p>
        </p:txBody>
      </p:sp>
      <p:sp>
        <p:nvSpPr>
          <p:cNvPr id="12" name="Rounded Rectangle 11"/>
          <p:cNvSpPr/>
          <p:nvPr/>
        </p:nvSpPr>
        <p:spPr>
          <a:xfrm>
            <a:off x="91725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6.9%</a:t>
            </a:r>
          </a:p>
        </p:txBody>
      </p:sp>
      <p:sp>
        <p:nvSpPr>
          <p:cNvPr id="13" name="Rectangle 12"/>
          <p:cNvSpPr/>
          <p:nvPr/>
        </p:nvSpPr>
        <p:spPr>
          <a:xfrm>
            <a:off x="142875" y="1781175"/>
            <a:ext cx="46958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383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Balkan &amp; Baltics Value (US$ Mn), 2021–2036</a:t>
            </a:r>
          </a:p>
        </p:txBody>
      </p:sp>
      <p:graphicFrame>
        <p:nvGraphicFramePr>
          <p:cNvPr id="15" name="Chart 14"/>
          <p:cNvGraphicFramePr>
            <a:graphicFrameLocks noGrp="1"/>
          </p:cNvGraphicFramePr>
          <p:nvPr/>
        </p:nvGraphicFramePr>
        <p:xfrm>
          <a:off x="238125" y="2066925"/>
          <a:ext cx="4505325" cy="1400175"/>
        </p:xfrm>
        <a:graphic>
          <a:graphicData uri="http://schemas.openxmlformats.org/drawingml/2006/chart">
            <c:chart xmlns:c="http://schemas.openxmlformats.org/drawingml/2006/chart" r:id="rId3"/>
          </a:graphicData>
        </a:graphic>
      </p:graphicFrame>
      <p:sp>
        <p:nvSpPr>
          <p:cNvPr id="16" name="Rectangle 15"/>
          <p:cNvSpPr/>
          <p:nvPr/>
        </p:nvSpPr>
        <p:spPr>
          <a:xfrm>
            <a:off x="4991100" y="1781175"/>
            <a:ext cx="704850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383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066925"/>
          <a:ext cx="2880360" cy="14001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0859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+112 BPS</a:t>
            </a:r>
          </a:p>
          <a:p>
            <a:pPr algn="ctr"/>
            <a:r>
              <a:rPr sz="1100" b="0">
                <a:solidFill>
                  <a:srgbClr val="605E5C"/>
                </a:solidFill>
                <a:latin typeface="Segoe UI"/>
              </a:rPr>
              <a:t>vs Eastern Europe benchmark</a:t>
            </a:r>
          </a:p>
          <a:p>
            <a:pPr algn="ctr"/>
            <a:r>
              <a:rPr sz="1100" b="1">
                <a:solidFill>
                  <a:srgbClr val="1E8E3E"/>
                </a:solidFill>
                <a:latin typeface="Segoe UI"/>
              </a:rPr>
              <a:t>▲ above benchmark</a:t>
            </a:r>
          </a:p>
        </p:txBody>
      </p:sp>
      <p:sp>
        <p:nvSpPr>
          <p:cNvPr id="20" name="TextBox 19"/>
          <p:cNvSpPr txBox="1"/>
          <p:nvPr/>
        </p:nvSpPr>
        <p:spPr>
          <a:xfrm>
            <a:off x="8042910" y="2828925"/>
            <a:ext cx="3901440" cy="600075"/>
          </a:xfrm>
          <a:prstGeom prst="rect">
            <a:avLst/>
          </a:prstGeom>
          <a:noFill/>
        </p:spPr>
        <p:txBody>
          <a:bodyPr wrap="square" lIns="28575" rIns="28575" tIns="9525" bIns="9525" anchor="t">
            <a:spAutoFit/>
          </a:bodyPr>
          <a:lstStyle/>
          <a:p>
            <a:pPr algn="l"/>
            <a:r>
              <a:rPr sz="1100" b="0">
                <a:solidFill>
                  <a:srgbClr val="252423"/>
                </a:solidFill>
                <a:latin typeface="Segoe UI"/>
              </a:rPr>
              <a:t>Balkan &amp; Baltics's performance knitted fabrics market expands at 6.9% CAGR through 2036, outpacing the Eastern Europe benchmark of 5.8% by 112 BPS.</a:t>
            </a:r>
          </a:p>
        </p:txBody>
      </p:sp>
      <p:sp>
        <p:nvSpPr>
          <p:cNvPr id="21" name="Rectangle 20"/>
          <p:cNvSpPr/>
          <p:nvPr/>
        </p:nvSpPr>
        <p:spPr>
          <a:xfrm>
            <a:off x="142875" y="3657600"/>
            <a:ext cx="46958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147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3943350"/>
          <a:ext cx="4505325" cy="1400175"/>
        </p:xfrm>
        <a:graphic>
          <a:graphicData uri="http://schemas.openxmlformats.org/drawingml/2006/chart">
            <c:chart xmlns:c="http://schemas.openxmlformats.org/drawingml/2006/chart" r:id="rId5"/>
          </a:graphicData>
        </a:graphic>
      </p:graphicFrame>
      <p:sp>
        <p:nvSpPr>
          <p:cNvPr id="24" name="Rectangle 23"/>
          <p:cNvSpPr/>
          <p:nvPr/>
        </p:nvSpPr>
        <p:spPr>
          <a:xfrm>
            <a:off x="4991100" y="3657600"/>
            <a:ext cx="704850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147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Balkan &amp; Baltics Market Share, 2026</a:t>
            </a:r>
          </a:p>
        </p:txBody>
      </p:sp>
      <p:graphicFrame>
        <p:nvGraphicFramePr>
          <p:cNvPr id="26" name="Chart 25"/>
          <p:cNvGraphicFramePr>
            <a:graphicFrameLocks noGrp="1"/>
          </p:cNvGraphicFramePr>
          <p:nvPr/>
        </p:nvGraphicFramePr>
        <p:xfrm>
          <a:off x="5086350" y="3943350"/>
          <a:ext cx="6858000" cy="1400175"/>
        </p:xfrm>
        <a:graphic>
          <a:graphicData uri="http://schemas.openxmlformats.org/drawingml/2006/chart">
            <c:chart xmlns:c="http://schemas.openxmlformats.org/drawingml/2006/chart" r:id="rId6"/>
          </a:graphicData>
        </a:graphic>
      </p:graphicFrame>
      <p:sp>
        <p:nvSpPr>
          <p:cNvPr id="27" name="Rectangle 26"/>
          <p:cNvSpPr/>
          <p:nvPr/>
        </p:nvSpPr>
        <p:spPr>
          <a:xfrm>
            <a:off x="142875" y="5534025"/>
            <a:ext cx="5876925" cy="1085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Balkan &amp; Baltics holds 0.8% of the global and 14.5% of the Eastern Europe performance knitted fabrics market in 2026; by 2036 those shares move to 0.7% and 16.1% respectively.</a:t>
            </a:r>
          </a:p>
        </p:txBody>
      </p:sp>
      <p:sp>
        <p:nvSpPr>
          <p:cNvPr id="28" name="Rectangle 27"/>
          <p:cNvSpPr/>
          <p:nvPr/>
        </p:nvSpPr>
        <p:spPr>
          <a:xfrm>
            <a:off x="6172200" y="5534025"/>
            <a:ext cx="5876925" cy="1085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Balkan &amp; Baltics is expected to account for US$ 80.4 Mn by 2036 at a CAGR of 6.9% over the forecast period. Balkan &amp; Baltics is expected to create an incremental opportunity of US$ 41.4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Rest of Eastern Europe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Rest of Eastern Europe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Rest of Eastern Europe</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8.46</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13.5</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5.0%</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4.3%</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Rest of Eastern Europe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+13 BPS</a:t>
            </a:r>
          </a:p>
          <a:p>
            <a:pPr algn="ctr"/>
            <a:r>
              <a:rPr sz="1100" b="0">
                <a:solidFill>
                  <a:srgbClr val="605E5C"/>
                </a:solidFill>
                <a:latin typeface="Segoe UI"/>
              </a:rPr>
              <a:t>vs Eastern Europe benchmark</a:t>
            </a:r>
          </a:p>
          <a:p>
            <a:pPr algn="ctr"/>
            <a:r>
              <a:rPr sz="1100" b="1">
                <a:solidFill>
                  <a:srgbClr val="1E8E3E"/>
                </a:solidFill>
                <a:latin typeface="Segoe UI"/>
              </a:rPr>
              <a:t>▲ above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Rest of Eastern Europe's performance knitted fabrics market expands at 4.3% CAGR through 2036, outpacing the Eastern Europe benchmark of 4.1% by 13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Rest of Eastern Europe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Rest of Eastern Europe holds 0.5% of the global and 9.1% of the Eastern Europe performance knitted fabrics market in 2026; by 2036 those shares move to 0.4% and 9.3%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4.61 Mn Sq. Yards between 2026 and 2036 the Rest of Eastern Europe market grows to 1.5×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Rest of Eastern Europe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Rest of Eastern Europe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Rest of Eastern Europe</a:t>
            </a:r>
          </a:p>
        </p:txBody>
      </p:sp>
      <p:sp>
        <p:nvSpPr>
          <p:cNvPr id="9" name="Rounded Rectangle 8"/>
          <p:cNvSpPr/>
          <p:nvPr/>
        </p:nvSpPr>
        <p:spPr>
          <a:xfrm>
            <a:off x="1428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24.0</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44.4</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5.5%</a:t>
            </a:r>
          </a:p>
        </p:txBody>
      </p:sp>
      <p:sp>
        <p:nvSpPr>
          <p:cNvPr id="12" name="Rounded Rectangle 11"/>
          <p:cNvSpPr/>
          <p:nvPr/>
        </p:nvSpPr>
        <p:spPr>
          <a:xfrm>
            <a:off x="91725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5.8%</a:t>
            </a:r>
          </a:p>
        </p:txBody>
      </p:sp>
      <p:sp>
        <p:nvSpPr>
          <p:cNvPr id="13" name="Rectangle 12"/>
          <p:cNvSpPr/>
          <p:nvPr/>
        </p:nvSpPr>
        <p:spPr>
          <a:xfrm>
            <a:off x="142875" y="1781175"/>
            <a:ext cx="46958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383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Rest of Eastern Europe Value (US$ Mn), 2021–2036</a:t>
            </a:r>
          </a:p>
        </p:txBody>
      </p:sp>
      <p:graphicFrame>
        <p:nvGraphicFramePr>
          <p:cNvPr id="15" name="Chart 14"/>
          <p:cNvGraphicFramePr>
            <a:graphicFrameLocks noGrp="1"/>
          </p:cNvGraphicFramePr>
          <p:nvPr/>
        </p:nvGraphicFramePr>
        <p:xfrm>
          <a:off x="238125" y="2066925"/>
          <a:ext cx="4505325" cy="1400175"/>
        </p:xfrm>
        <a:graphic>
          <a:graphicData uri="http://schemas.openxmlformats.org/drawingml/2006/chart">
            <c:chart xmlns:c="http://schemas.openxmlformats.org/drawingml/2006/chart" r:id="rId3"/>
          </a:graphicData>
        </a:graphic>
      </p:graphicFrame>
      <p:sp>
        <p:nvSpPr>
          <p:cNvPr id="16" name="Rectangle 15"/>
          <p:cNvSpPr/>
          <p:nvPr/>
        </p:nvSpPr>
        <p:spPr>
          <a:xfrm>
            <a:off x="4991100" y="1781175"/>
            <a:ext cx="704850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383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066925"/>
          <a:ext cx="2880360" cy="14001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0859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-2 BPS</a:t>
            </a:r>
          </a:p>
          <a:p>
            <a:pPr algn="ctr"/>
            <a:r>
              <a:rPr sz="1100" b="0">
                <a:solidFill>
                  <a:srgbClr val="605E5C"/>
                </a:solidFill>
                <a:latin typeface="Segoe UI"/>
              </a:rPr>
              <a:t>vs Eastern Europe benchmark</a:t>
            </a:r>
          </a:p>
          <a:p>
            <a:pPr algn="ctr"/>
            <a:r>
              <a:rPr sz="1100" b="1">
                <a:solidFill>
                  <a:srgbClr val="D64545"/>
                </a:solidFill>
                <a:latin typeface="Segoe UI"/>
              </a:rPr>
              <a:t>▼ below benchmark</a:t>
            </a:r>
          </a:p>
        </p:txBody>
      </p:sp>
      <p:sp>
        <p:nvSpPr>
          <p:cNvPr id="20" name="TextBox 19"/>
          <p:cNvSpPr txBox="1"/>
          <p:nvPr/>
        </p:nvSpPr>
        <p:spPr>
          <a:xfrm>
            <a:off x="8042910" y="2828925"/>
            <a:ext cx="3901440" cy="600075"/>
          </a:xfrm>
          <a:prstGeom prst="rect">
            <a:avLst/>
          </a:prstGeom>
          <a:noFill/>
        </p:spPr>
        <p:txBody>
          <a:bodyPr wrap="square" lIns="28575" rIns="28575" tIns="9525" bIns="9525" anchor="t">
            <a:spAutoFit/>
          </a:bodyPr>
          <a:lstStyle/>
          <a:p>
            <a:pPr algn="l"/>
            <a:r>
              <a:rPr sz="1100" b="0">
                <a:solidFill>
                  <a:srgbClr val="252423"/>
                </a:solidFill>
                <a:latin typeface="Segoe UI"/>
              </a:rPr>
              <a:t>Rest of Eastern Europe's performance knitted fabrics market expands at 5.8% CAGR through 2036, trailing the Eastern Europe benchmark of 5.8% by 2 BPS.</a:t>
            </a:r>
          </a:p>
        </p:txBody>
      </p:sp>
      <p:sp>
        <p:nvSpPr>
          <p:cNvPr id="21" name="Rectangle 20"/>
          <p:cNvSpPr/>
          <p:nvPr/>
        </p:nvSpPr>
        <p:spPr>
          <a:xfrm>
            <a:off x="142875" y="3657600"/>
            <a:ext cx="46958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147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3943350"/>
          <a:ext cx="4505325" cy="1400175"/>
        </p:xfrm>
        <a:graphic>
          <a:graphicData uri="http://schemas.openxmlformats.org/drawingml/2006/chart">
            <c:chart xmlns:c="http://schemas.openxmlformats.org/drawingml/2006/chart" r:id="rId5"/>
          </a:graphicData>
        </a:graphic>
      </p:graphicFrame>
      <p:sp>
        <p:nvSpPr>
          <p:cNvPr id="24" name="Rectangle 23"/>
          <p:cNvSpPr/>
          <p:nvPr/>
        </p:nvSpPr>
        <p:spPr>
          <a:xfrm>
            <a:off x="4991100" y="3657600"/>
            <a:ext cx="704850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147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Rest of Eastern Europe Market Share, 2026</a:t>
            </a:r>
          </a:p>
        </p:txBody>
      </p:sp>
      <p:graphicFrame>
        <p:nvGraphicFramePr>
          <p:cNvPr id="26" name="Chart 25"/>
          <p:cNvGraphicFramePr>
            <a:graphicFrameLocks noGrp="1"/>
          </p:cNvGraphicFramePr>
          <p:nvPr/>
        </p:nvGraphicFramePr>
        <p:xfrm>
          <a:off x="5086350" y="3943350"/>
          <a:ext cx="6858000" cy="1400175"/>
        </p:xfrm>
        <a:graphic>
          <a:graphicData uri="http://schemas.openxmlformats.org/drawingml/2006/chart">
            <c:chart xmlns:c="http://schemas.openxmlformats.org/drawingml/2006/chart" r:id="rId6"/>
          </a:graphicData>
        </a:graphic>
      </p:graphicFrame>
      <p:sp>
        <p:nvSpPr>
          <p:cNvPr id="27" name="Rectangle 26"/>
          <p:cNvSpPr/>
          <p:nvPr/>
        </p:nvSpPr>
        <p:spPr>
          <a:xfrm>
            <a:off x="142875" y="5534025"/>
            <a:ext cx="5876925" cy="1085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Rest of Eastern Europe holds 0.5% of the global and 8.9% of the Eastern Europe performance knitted fabrics market in 2026; by 2036 those shares move to 0.4% and 8.9% respectively.</a:t>
            </a:r>
          </a:p>
        </p:txBody>
      </p:sp>
      <p:sp>
        <p:nvSpPr>
          <p:cNvPr id="28" name="Rectangle 27"/>
          <p:cNvSpPr/>
          <p:nvPr/>
        </p:nvSpPr>
        <p:spPr>
          <a:xfrm>
            <a:off x="6172200" y="5534025"/>
            <a:ext cx="5876925" cy="1085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Rest of Eastern Europe is expected to account for US$ 44.4 Mn by 2036 at a CAGR of 5.8% over the forecast period. Rest of Eastern Europe is expected to create an incremental opportunity of US$ 20.4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China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China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China</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297.2</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625.6</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6.9%</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7.0%</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China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+35 BPS</a:t>
            </a:r>
          </a:p>
          <a:p>
            <a:pPr algn="ctr"/>
            <a:r>
              <a:rPr sz="1100" b="0">
                <a:solidFill>
                  <a:srgbClr val="605E5C"/>
                </a:solidFill>
                <a:latin typeface="Segoe UI"/>
              </a:rPr>
              <a:t>vs East Asia benchmark</a:t>
            </a:r>
          </a:p>
          <a:p>
            <a:pPr algn="ctr"/>
            <a:r>
              <a:rPr sz="1100" b="1">
                <a:solidFill>
                  <a:srgbClr val="1E8E3E"/>
                </a:solidFill>
                <a:latin typeface="Segoe UI"/>
              </a:rPr>
              <a:t>▲ above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China's performance knitted fabrics market expands at 7.0% CAGR through 2036, outpacing the East Asia benchmark of 6.6% by 35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China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China holds 18.8% of the global and 69.6% of the East Asia performance knitted fabrics market in 2026; by 2036 those shares move to 20.7% and 72.0%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306.2 Mn Sq. Yards between 2026 and 2036 the China market grows to 2.0×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China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China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China</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762.4</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1,952</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7.6%</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8.9%</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China Value (US$ Mn),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+61 BPS</a:t>
            </a:r>
          </a:p>
          <a:p>
            <a:pPr algn="ctr"/>
            <a:r>
              <a:rPr sz="1100" b="0">
                <a:solidFill>
                  <a:srgbClr val="605E5C"/>
                </a:solidFill>
                <a:latin typeface="Segoe UI"/>
              </a:rPr>
              <a:t>vs East Asia benchmark</a:t>
            </a:r>
          </a:p>
          <a:p>
            <a:pPr algn="ctr"/>
            <a:r>
              <a:rPr sz="1100" b="1">
                <a:solidFill>
                  <a:srgbClr val="1E8E3E"/>
                </a:solidFill>
                <a:latin typeface="Segoe UI"/>
              </a:rPr>
              <a:t>▲ above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China's performance knitted fabrics market expands at 8.9% CAGR through 2036, outpacing the East Asia benchmark of 8.3% by 61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China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China holds 15.1% of the global and 62.2% of the East Asia performance knitted fabrics market in 2026; by 2036 those shares move to 17.4% and 65.8%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China is expected to account for US$ 1,952 Mn by 2036 at a CAGR of 8.9% over the forecast period. China is expected to create an incremental opportunity of US$ 1,190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Japan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Japan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Japan</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77.9</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141.9</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6.2%</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5.5%</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Japan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-107 BPS</a:t>
            </a:r>
          </a:p>
          <a:p>
            <a:pPr algn="ctr"/>
            <a:r>
              <a:rPr sz="1100" b="0">
                <a:solidFill>
                  <a:srgbClr val="605E5C"/>
                </a:solidFill>
                <a:latin typeface="Segoe UI"/>
              </a:rPr>
              <a:t>vs East Asia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Japan's performance knitted fabrics market expands at 5.5% CAGR through 2036, trailing the East Asia benchmark of 6.6% by 107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Japan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Japan holds 4.9% of the global and 18.1% of the East Asia performance knitted fabrics market in 2026; by 2036 those shares move to 4.7% and 16.3%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59.1 Mn Sq. Yards between 2026 and 2036 the Japan market grows to 1.7×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Japan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Japan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Japan</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288.0</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594.2</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6.5%</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6.8%</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Japan Value (US$ Mn),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-155 BPS</a:t>
            </a:r>
          </a:p>
          <a:p>
            <a:pPr algn="ctr"/>
            <a:r>
              <a:rPr sz="1100" b="0">
                <a:solidFill>
                  <a:srgbClr val="605E5C"/>
                </a:solidFill>
                <a:latin typeface="Segoe UI"/>
              </a:rPr>
              <a:t>vs East Asia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Japan's performance knitted fabrics market expands at 6.8% CAGR through 2036, trailing the East Asia benchmark of 8.3% by 155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Japan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Japan holds 5.6% of the global and 23.1% of the East Asia performance knitted fabrics market in 2026; by 2036 those shares move to 5.3% and 20.0%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Japan is expected to account for US$ 594.2 Mn by 2036 at a CAGR of 6.8% over the forecast period. Japan is expected to create an incremental opportunity of US$ 306.2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South Korea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South Korea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Korea</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53.1</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101.9</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7.6%</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6.1%</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South Korea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-53 BPS</a:t>
            </a:r>
          </a:p>
          <a:p>
            <a:pPr algn="ctr"/>
            <a:r>
              <a:rPr sz="1100" b="0">
                <a:solidFill>
                  <a:srgbClr val="605E5C"/>
                </a:solidFill>
                <a:latin typeface="Segoe UI"/>
              </a:rPr>
              <a:t>vs East Asia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South Korea's performance knitted fabrics market expands at 6.1% CAGR through 2036, trailing the East Asia benchmark of 6.6% by 53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South Korea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South Korea holds 3.3% of the global and 12.3% of the East Asia performance knitted fabrics market in 2026; by 2036 those shares move to 3.4% and 11.7%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45.4 Mn Sq. Yards between 2026 and 2036 the South Korea market grows to 1.8×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South Korea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South Korea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Korea</a:t>
            </a:r>
          </a:p>
        </p:txBody>
      </p:sp>
      <p:sp>
        <p:nvSpPr>
          <p:cNvPr id="9" name="Rounded Rectangle 8"/>
          <p:cNvSpPr/>
          <p:nvPr/>
        </p:nvSpPr>
        <p:spPr>
          <a:xfrm>
            <a:off x="1428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182.1</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421.3</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8.1%</a:t>
            </a:r>
          </a:p>
        </p:txBody>
      </p:sp>
      <p:sp>
        <p:nvSpPr>
          <p:cNvPr id="12" name="Rounded Rectangle 11"/>
          <p:cNvSpPr/>
          <p:nvPr/>
        </p:nvSpPr>
        <p:spPr>
          <a:xfrm>
            <a:off x="91725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7.9%</a:t>
            </a:r>
          </a:p>
        </p:txBody>
      </p:sp>
      <p:sp>
        <p:nvSpPr>
          <p:cNvPr id="13" name="Rectangle 12"/>
          <p:cNvSpPr/>
          <p:nvPr/>
        </p:nvSpPr>
        <p:spPr>
          <a:xfrm>
            <a:off x="142875" y="1781175"/>
            <a:ext cx="46958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383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South Korea Value (US$ Mn), 2021–2036</a:t>
            </a:r>
          </a:p>
        </p:txBody>
      </p:sp>
      <p:graphicFrame>
        <p:nvGraphicFramePr>
          <p:cNvPr id="15" name="Chart 14"/>
          <p:cNvGraphicFramePr>
            <a:graphicFrameLocks noGrp="1"/>
          </p:cNvGraphicFramePr>
          <p:nvPr/>
        </p:nvGraphicFramePr>
        <p:xfrm>
          <a:off x="238125" y="2066925"/>
          <a:ext cx="4505325" cy="1400175"/>
        </p:xfrm>
        <a:graphic>
          <a:graphicData uri="http://schemas.openxmlformats.org/drawingml/2006/chart">
            <c:chart xmlns:c="http://schemas.openxmlformats.org/drawingml/2006/chart" r:id="rId3"/>
          </a:graphicData>
        </a:graphic>
      </p:graphicFrame>
      <p:sp>
        <p:nvSpPr>
          <p:cNvPr id="16" name="Rectangle 15"/>
          <p:cNvSpPr/>
          <p:nvPr/>
        </p:nvSpPr>
        <p:spPr>
          <a:xfrm>
            <a:off x="4991100" y="1781175"/>
            <a:ext cx="704850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383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066925"/>
          <a:ext cx="2880360" cy="14001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0859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-38 BPS</a:t>
            </a:r>
          </a:p>
          <a:p>
            <a:pPr algn="ctr"/>
            <a:r>
              <a:rPr sz="1100" b="0">
                <a:solidFill>
                  <a:srgbClr val="605E5C"/>
                </a:solidFill>
                <a:latin typeface="Segoe UI"/>
              </a:rPr>
              <a:t>vs East Asia benchmark</a:t>
            </a:r>
          </a:p>
          <a:p>
            <a:pPr algn="ctr"/>
            <a:r>
              <a:rPr sz="1100" b="1">
                <a:solidFill>
                  <a:srgbClr val="D64545"/>
                </a:solidFill>
                <a:latin typeface="Segoe UI"/>
              </a:rPr>
              <a:t>▼ below benchmark</a:t>
            </a:r>
          </a:p>
        </p:txBody>
      </p:sp>
      <p:sp>
        <p:nvSpPr>
          <p:cNvPr id="20" name="TextBox 19"/>
          <p:cNvSpPr txBox="1"/>
          <p:nvPr/>
        </p:nvSpPr>
        <p:spPr>
          <a:xfrm>
            <a:off x="8042910" y="2828925"/>
            <a:ext cx="3901440" cy="600075"/>
          </a:xfrm>
          <a:prstGeom prst="rect">
            <a:avLst/>
          </a:prstGeom>
          <a:noFill/>
        </p:spPr>
        <p:txBody>
          <a:bodyPr wrap="square" lIns="28575" rIns="28575" tIns="9525" bIns="9525" anchor="t">
            <a:spAutoFit/>
          </a:bodyPr>
          <a:lstStyle/>
          <a:p>
            <a:pPr algn="l"/>
            <a:r>
              <a:rPr sz="1100" b="0">
                <a:solidFill>
                  <a:srgbClr val="252423"/>
                </a:solidFill>
                <a:latin typeface="Segoe UI"/>
              </a:rPr>
              <a:t>South Korea's performance knitted fabrics market expands at 7.9% CAGR through 2036, trailing the East Asia benchmark of 8.3% by 38 BPS.</a:t>
            </a:r>
          </a:p>
        </p:txBody>
      </p:sp>
      <p:sp>
        <p:nvSpPr>
          <p:cNvPr id="21" name="Rectangle 20"/>
          <p:cNvSpPr/>
          <p:nvPr/>
        </p:nvSpPr>
        <p:spPr>
          <a:xfrm>
            <a:off x="142875" y="3657600"/>
            <a:ext cx="46958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147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3943350"/>
          <a:ext cx="4505325" cy="1400175"/>
        </p:xfrm>
        <a:graphic>
          <a:graphicData uri="http://schemas.openxmlformats.org/drawingml/2006/chart">
            <c:chart xmlns:c="http://schemas.openxmlformats.org/drawingml/2006/chart" r:id="rId5"/>
          </a:graphicData>
        </a:graphic>
      </p:graphicFrame>
      <p:sp>
        <p:nvSpPr>
          <p:cNvPr id="24" name="Rectangle 23"/>
          <p:cNvSpPr/>
          <p:nvPr/>
        </p:nvSpPr>
        <p:spPr>
          <a:xfrm>
            <a:off x="4991100" y="3657600"/>
            <a:ext cx="704850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147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South Korea Market Share, 2026</a:t>
            </a:r>
          </a:p>
        </p:txBody>
      </p:sp>
      <p:graphicFrame>
        <p:nvGraphicFramePr>
          <p:cNvPr id="26" name="Chart 25"/>
          <p:cNvGraphicFramePr>
            <a:graphicFrameLocks noGrp="1"/>
          </p:cNvGraphicFramePr>
          <p:nvPr/>
        </p:nvGraphicFramePr>
        <p:xfrm>
          <a:off x="5086350" y="3943350"/>
          <a:ext cx="6858000" cy="1400175"/>
        </p:xfrm>
        <a:graphic>
          <a:graphicData uri="http://schemas.openxmlformats.org/drawingml/2006/chart">
            <c:chart xmlns:c="http://schemas.openxmlformats.org/drawingml/2006/chart" r:id="rId6"/>
          </a:graphicData>
        </a:graphic>
      </p:graphicFrame>
      <p:sp>
        <p:nvSpPr>
          <p:cNvPr id="27" name="Rectangle 26"/>
          <p:cNvSpPr/>
          <p:nvPr/>
        </p:nvSpPr>
        <p:spPr>
          <a:xfrm>
            <a:off x="142875" y="5534025"/>
            <a:ext cx="5876925" cy="1085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South Korea holds 3.6% of the global and 14.7% of the East Asia performance knitted fabrics market in 2026; by 2036 those shares move to 3.7% and 14.2% respectively.</a:t>
            </a:r>
          </a:p>
        </p:txBody>
      </p:sp>
      <p:sp>
        <p:nvSpPr>
          <p:cNvPr id="28" name="Rectangle 27"/>
          <p:cNvSpPr/>
          <p:nvPr/>
        </p:nvSpPr>
        <p:spPr>
          <a:xfrm>
            <a:off x="6172200" y="5534025"/>
            <a:ext cx="5876925" cy="1085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South Korea is expected to account for US$ 421.3 Mn by 2036 at a CAGR of 7.9% over the forecast period. South Korea is expected to create an incremental opportunity of US$ 239.3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India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India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India</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84.2</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194.4</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7.7%</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7.9%</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India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+25 BPS</a:t>
            </a:r>
          </a:p>
          <a:p>
            <a:pPr algn="ctr"/>
            <a:r>
              <a:rPr sz="1100" b="0">
                <a:solidFill>
                  <a:srgbClr val="605E5C"/>
                </a:solidFill>
                <a:latin typeface="Segoe UI"/>
              </a:rPr>
              <a:t>vs South Asia Pacific benchmark</a:t>
            </a:r>
          </a:p>
          <a:p>
            <a:pPr algn="ctr"/>
            <a:r>
              <a:rPr sz="1100" b="1">
                <a:solidFill>
                  <a:srgbClr val="1E8E3E"/>
                </a:solidFill>
                <a:latin typeface="Segoe UI"/>
              </a:rPr>
              <a:t>▲ above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India's performance knitted fabrics market expands at 7.9% CAGR through 2036, outpacing the South Asia Pacific benchmark of 7.7% by 25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India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India holds 5.3% of the global and 42.9% of the South Asia Pacific performance knitted fabrics market in 2026; by 2036 those shares move to 6.4% and 43.8%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103.9 Mn Sq. Yards between 2026 and 2036 the India market grows to 2.1×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India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India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India</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190.7</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527.6</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8.2%</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9.8%</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India Value (US$ Mn),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+64 BPS</a:t>
            </a:r>
          </a:p>
          <a:p>
            <a:pPr algn="ctr"/>
            <a:r>
              <a:rPr sz="1100" b="0">
                <a:solidFill>
                  <a:srgbClr val="605E5C"/>
                </a:solidFill>
                <a:latin typeface="Segoe UI"/>
              </a:rPr>
              <a:t>vs South Asia Pacific benchmark</a:t>
            </a:r>
          </a:p>
          <a:p>
            <a:pPr algn="ctr"/>
            <a:r>
              <a:rPr sz="1100" b="1">
                <a:solidFill>
                  <a:srgbClr val="1E8E3E"/>
                </a:solidFill>
                <a:latin typeface="Segoe UI"/>
              </a:rPr>
              <a:t>▲ above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India's performance knitted fabrics market expands at 9.8% CAGR through 2036, outpacing the South Asia Pacific benchmark of 9.2% by 64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India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India holds 3.8% of the global and 39.9% of the South Asia Pacific performance knitted fabrics market in 2026; by 2036 those shares move to 4.7% and 42.3%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India is expected to account for US$ 527.6 Mn by 2036 at a CAGR of 9.8% over the forecast period. India is expected to create an incremental opportunity of US$ 336.9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ASEAN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ASEAN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ASEAN</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79.3</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179.3</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6.0%</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7.8%</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ASEAN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+7 BPS</a:t>
            </a:r>
          </a:p>
          <a:p>
            <a:pPr algn="ctr"/>
            <a:r>
              <a:rPr sz="1100" b="0">
                <a:solidFill>
                  <a:srgbClr val="605E5C"/>
                </a:solidFill>
                <a:latin typeface="Segoe UI"/>
              </a:rPr>
              <a:t>vs South Asia Pacific benchmark</a:t>
            </a:r>
          </a:p>
          <a:p>
            <a:pPr algn="ctr"/>
            <a:r>
              <a:rPr sz="1100" b="1">
                <a:solidFill>
                  <a:srgbClr val="1E8E3E"/>
                </a:solidFill>
                <a:latin typeface="Segoe UI"/>
              </a:rPr>
              <a:t>▲ above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ASEAN's performance knitted fabrics market expands at 7.8% CAGR through 2036, outpacing the South Asia Pacific benchmark of 7.7% by 7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ASEAN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ASEAN holds 5.0% of the global and 40.2% of the South Asia Pacific performance knitted fabrics market in 2026; by 2036 those shares move to 5.9% and 40.4%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94.5 Mn Sq. Yards between 2026 and 2036 the ASEAN market grows to 2.1×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ASEAN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ASEAN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ASEAN</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189.2</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489.4</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6.9%</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9.1%</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ASEAN Value (US$ Mn),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-5 BPS</a:t>
            </a:r>
          </a:p>
          <a:p>
            <a:pPr algn="ctr"/>
            <a:r>
              <a:rPr sz="1100" b="0">
                <a:solidFill>
                  <a:srgbClr val="605E5C"/>
                </a:solidFill>
                <a:latin typeface="Segoe UI"/>
              </a:rPr>
              <a:t>vs South Asia Pacific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ASEAN's performance knitted fabrics market expands at 9.1% CAGR through 2036, trailing the South Asia Pacific benchmark of 9.2% by 5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ASEAN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ASEAN holds 3.7% of the global and 39.4% of the South Asia Pacific performance knitted fabrics market in 2026; by 2036 those shares move to 4.4% and 39.2%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ASEAN is expected to account for US$ 489.4 Mn by 2036 at a CAGR of 9.1% over the forecast period. ASEAN is expected to create an incremental opportunity of US$ 300.2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ANZ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ANZ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ANZ</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20.3</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40.6</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5.1%</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6.5%</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ANZ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-115 BPS</a:t>
            </a:r>
          </a:p>
          <a:p>
            <a:pPr algn="ctr"/>
            <a:r>
              <a:rPr sz="1100" b="0">
                <a:solidFill>
                  <a:srgbClr val="605E5C"/>
                </a:solidFill>
                <a:latin typeface="Segoe UI"/>
              </a:rPr>
              <a:t>vs South Asia Pacific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ANZ's performance knitted fabrics market expands at 6.5% CAGR through 2036, trailing the South Asia Pacific benchmark of 7.7% by 115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ANZ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ANZ holds 1.3% of the global and 10.2% of the South Asia Pacific performance knitted fabrics market in 2026; by 2036 those shares move to 1.3% and 9.2%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19.1 Mn Sq. Yards between 2026 and 2036 the ANZ market grows to 1.9×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ANZ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ANZ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ANZ</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70.4</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158.1</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5.7%</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7.7%</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ANZ Value (US$ Mn),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-146 BPS</a:t>
            </a:r>
          </a:p>
          <a:p>
            <a:pPr algn="ctr"/>
            <a:r>
              <a:rPr sz="1100" b="0">
                <a:solidFill>
                  <a:srgbClr val="605E5C"/>
                </a:solidFill>
                <a:latin typeface="Segoe UI"/>
              </a:rPr>
              <a:t>vs South Asia Pacific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ANZ's performance knitted fabrics market expands at 7.7% CAGR through 2036, trailing the South Asia Pacific benchmark of 9.2% by 146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ANZ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ANZ holds 1.4% of the global and 14.5% of the South Asia Pacific performance knitted fabrics market in 2026; by 2036 those shares move to 1.4% and 12.7%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ANZ is expected to account for US$ 158.1 Mn by 2036 at a CAGR of 7.7% over the forecast period. ANZ is expected to create an incremental opportunity of US$ 87.6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Rest of South Asia Pacific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Rest of South Asia Pacific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Rest of South Asia Pacific</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13.4</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29.1</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6.9%</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7.3%</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Rest of South Asia Pacific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-35 BPS</a:t>
            </a:r>
          </a:p>
          <a:p>
            <a:pPr algn="ctr"/>
            <a:r>
              <a:rPr sz="1100" b="0">
                <a:solidFill>
                  <a:srgbClr val="605E5C"/>
                </a:solidFill>
                <a:latin typeface="Segoe UI"/>
              </a:rPr>
              <a:t>vs South Asia Pacific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Rest of South Asia Pacific's performance knitted fabrics market expands at 7.3% CAGR through 2036, trailing the South Asia Pacific benchmark of 7.7% by 35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Rest of South Asia Pacific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Rest of South Asia Pacific holds 0.8% of the global and 6.8% of the South Asia Pacific performance knitted fabrics market in 2026; by 2036 those shares move to 1.0% and 6.6%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14.8 Mn Sq. Yards between 2026 and 2036 the Rest of South Asia Pacific market grows to 2.0×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Rest of South Asia Pacific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Rest of South Asia Pacific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Rest of South Asia Pacific</a:t>
            </a:r>
          </a:p>
        </p:txBody>
      </p:sp>
      <p:sp>
        <p:nvSpPr>
          <p:cNvPr id="9" name="Rounded Rectangle 8"/>
          <p:cNvSpPr/>
          <p:nvPr/>
        </p:nvSpPr>
        <p:spPr>
          <a:xfrm>
            <a:off x="1428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30.0</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72.8</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7.5%</a:t>
            </a:r>
          </a:p>
        </p:txBody>
      </p:sp>
      <p:sp>
        <p:nvSpPr>
          <p:cNvPr id="12" name="Rounded Rectangle 11"/>
          <p:cNvSpPr/>
          <p:nvPr/>
        </p:nvSpPr>
        <p:spPr>
          <a:xfrm>
            <a:off x="91725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8.5%</a:t>
            </a:r>
          </a:p>
        </p:txBody>
      </p:sp>
      <p:sp>
        <p:nvSpPr>
          <p:cNvPr id="13" name="Rectangle 12"/>
          <p:cNvSpPr/>
          <p:nvPr/>
        </p:nvSpPr>
        <p:spPr>
          <a:xfrm>
            <a:off x="142875" y="1781175"/>
            <a:ext cx="46958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383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Rest of South Asia Pacific Value (US$ Mn), 2021–2036</a:t>
            </a:r>
          </a:p>
        </p:txBody>
      </p:sp>
      <p:graphicFrame>
        <p:nvGraphicFramePr>
          <p:cNvPr id="15" name="Chart 14"/>
          <p:cNvGraphicFramePr>
            <a:graphicFrameLocks noGrp="1"/>
          </p:cNvGraphicFramePr>
          <p:nvPr/>
        </p:nvGraphicFramePr>
        <p:xfrm>
          <a:off x="238125" y="2066925"/>
          <a:ext cx="4505325" cy="1400175"/>
        </p:xfrm>
        <a:graphic>
          <a:graphicData uri="http://schemas.openxmlformats.org/drawingml/2006/chart">
            <c:chart xmlns:c="http://schemas.openxmlformats.org/drawingml/2006/chart" r:id="rId3"/>
          </a:graphicData>
        </a:graphic>
      </p:graphicFrame>
      <p:sp>
        <p:nvSpPr>
          <p:cNvPr id="16" name="Rectangle 15"/>
          <p:cNvSpPr/>
          <p:nvPr/>
        </p:nvSpPr>
        <p:spPr>
          <a:xfrm>
            <a:off x="4991100" y="1781175"/>
            <a:ext cx="704850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383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066925"/>
          <a:ext cx="2880360" cy="14001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0859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-70 BPS</a:t>
            </a:r>
          </a:p>
          <a:p>
            <a:pPr algn="ctr"/>
            <a:r>
              <a:rPr sz="1100" b="0">
                <a:solidFill>
                  <a:srgbClr val="605E5C"/>
                </a:solidFill>
                <a:latin typeface="Segoe UI"/>
              </a:rPr>
              <a:t>vs South Asia Pacific benchmark</a:t>
            </a:r>
          </a:p>
          <a:p>
            <a:pPr algn="ctr"/>
            <a:r>
              <a:rPr sz="1100" b="1">
                <a:solidFill>
                  <a:srgbClr val="D64545"/>
                </a:solidFill>
                <a:latin typeface="Segoe UI"/>
              </a:rPr>
              <a:t>▼ below benchmark</a:t>
            </a:r>
          </a:p>
        </p:txBody>
      </p:sp>
      <p:sp>
        <p:nvSpPr>
          <p:cNvPr id="20" name="TextBox 19"/>
          <p:cNvSpPr txBox="1"/>
          <p:nvPr/>
        </p:nvSpPr>
        <p:spPr>
          <a:xfrm>
            <a:off x="8042910" y="2828925"/>
            <a:ext cx="3901440" cy="600075"/>
          </a:xfrm>
          <a:prstGeom prst="rect">
            <a:avLst/>
          </a:prstGeom>
          <a:noFill/>
        </p:spPr>
        <p:txBody>
          <a:bodyPr wrap="square" lIns="28575" rIns="28575" tIns="9525" bIns="9525" anchor="t">
            <a:spAutoFit/>
          </a:bodyPr>
          <a:lstStyle/>
          <a:p>
            <a:pPr algn="l"/>
            <a:r>
              <a:rPr sz="1100" b="0">
                <a:solidFill>
                  <a:srgbClr val="252423"/>
                </a:solidFill>
                <a:latin typeface="Segoe UI"/>
              </a:rPr>
              <a:t>Rest of South Asia Pacific's performance knitted fabrics market expands at 8.5% CAGR through 2036, trailing the South Asia Pacific benchmark of 9.2% by 70 BPS.</a:t>
            </a:r>
          </a:p>
        </p:txBody>
      </p:sp>
      <p:sp>
        <p:nvSpPr>
          <p:cNvPr id="21" name="Rectangle 20"/>
          <p:cNvSpPr/>
          <p:nvPr/>
        </p:nvSpPr>
        <p:spPr>
          <a:xfrm>
            <a:off x="142875" y="3657600"/>
            <a:ext cx="46958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147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3943350"/>
          <a:ext cx="4505325" cy="1400175"/>
        </p:xfrm>
        <a:graphic>
          <a:graphicData uri="http://schemas.openxmlformats.org/drawingml/2006/chart">
            <c:chart xmlns:c="http://schemas.openxmlformats.org/drawingml/2006/chart" r:id="rId5"/>
          </a:graphicData>
        </a:graphic>
      </p:graphicFrame>
      <p:sp>
        <p:nvSpPr>
          <p:cNvPr id="24" name="Rectangle 23"/>
          <p:cNvSpPr/>
          <p:nvPr/>
        </p:nvSpPr>
        <p:spPr>
          <a:xfrm>
            <a:off x="4991100" y="3657600"/>
            <a:ext cx="704850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147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Rest of South Asia Pacific Market Share, 2026</a:t>
            </a:r>
          </a:p>
        </p:txBody>
      </p:sp>
      <p:graphicFrame>
        <p:nvGraphicFramePr>
          <p:cNvPr id="26" name="Chart 25"/>
          <p:cNvGraphicFramePr>
            <a:graphicFrameLocks noGrp="1"/>
          </p:cNvGraphicFramePr>
          <p:nvPr/>
        </p:nvGraphicFramePr>
        <p:xfrm>
          <a:off x="5086350" y="3943350"/>
          <a:ext cx="6858000" cy="1400175"/>
        </p:xfrm>
        <a:graphic>
          <a:graphicData uri="http://schemas.openxmlformats.org/drawingml/2006/chart">
            <c:chart xmlns:c="http://schemas.openxmlformats.org/drawingml/2006/chart" r:id="rId6"/>
          </a:graphicData>
        </a:graphic>
      </p:graphicFrame>
      <p:sp>
        <p:nvSpPr>
          <p:cNvPr id="27" name="Rectangle 26"/>
          <p:cNvSpPr/>
          <p:nvPr/>
        </p:nvSpPr>
        <p:spPr>
          <a:xfrm>
            <a:off x="142875" y="5534025"/>
            <a:ext cx="5876925" cy="1085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Rest of South Asia Pacific holds 0.6% of the global and 6.2% of the South Asia Pacific performance knitted fabrics market in 2026; by 2036 those shares move to 0.6% and 5.8% respectively.</a:t>
            </a:r>
          </a:p>
        </p:txBody>
      </p:sp>
      <p:sp>
        <p:nvSpPr>
          <p:cNvPr id="28" name="Rectangle 27"/>
          <p:cNvSpPr/>
          <p:nvPr/>
        </p:nvSpPr>
        <p:spPr>
          <a:xfrm>
            <a:off x="6172200" y="5534025"/>
            <a:ext cx="5876925" cy="1085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Rest of South Asia Pacific is expected to account for US$ 72.8 Mn by 2036 at a CAGR of 8.5% over the forecast period. Rest of South Asia Pacific is expected to create an incremental opportunity of US$ 42.7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KSA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KSA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KSA</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17.9</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33.7</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7.1%</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5.8%</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KSA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+72 BPS</a:t>
            </a:r>
          </a:p>
          <a:p>
            <a:pPr algn="ctr"/>
            <a:r>
              <a:rPr sz="1100" b="0">
                <a:solidFill>
                  <a:srgbClr val="605E5C"/>
                </a:solidFill>
                <a:latin typeface="Segoe UI"/>
              </a:rPr>
              <a:t>vs Middle East &amp; Africa benchmark</a:t>
            </a:r>
          </a:p>
          <a:p>
            <a:pPr algn="ctr"/>
            <a:r>
              <a:rPr sz="1100" b="1">
                <a:solidFill>
                  <a:srgbClr val="1E8E3E"/>
                </a:solidFill>
                <a:latin typeface="Segoe UI"/>
              </a:rPr>
              <a:t>▲ above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KSA's performance knitted fabrics market expands at 5.8% CAGR through 2036, outpacing the Middle East &amp; Africa benchmark of 5.1% by 72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KSA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KSA holds 1.1% of the global and 22.2% of the Middle East &amp; Africa performance knitted fabrics market in 2026; by 2036 those shares move to 1.1% and 23.7%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14.6 Mn Sq. Yards between 2026 and 2036 the KSA market grows to 1.8×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KSA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KSA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KSA</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55.2</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120.3</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7.6%</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7.3%</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KSA Value (US$ Mn),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+60 BPS</a:t>
            </a:r>
          </a:p>
          <a:p>
            <a:pPr algn="ctr"/>
            <a:r>
              <a:rPr sz="1100" b="0">
                <a:solidFill>
                  <a:srgbClr val="605E5C"/>
                </a:solidFill>
                <a:latin typeface="Segoe UI"/>
              </a:rPr>
              <a:t>vs Middle East &amp; Africa benchmark</a:t>
            </a:r>
          </a:p>
          <a:p>
            <a:pPr algn="ctr"/>
            <a:r>
              <a:rPr sz="1100" b="1">
                <a:solidFill>
                  <a:srgbClr val="1E8E3E"/>
                </a:solidFill>
                <a:latin typeface="Segoe UI"/>
              </a:rPr>
              <a:t>▲ above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KSA's performance knitted fabrics market expands at 7.3% CAGR through 2036, outpacing the Middle East &amp; Africa benchmark of 6.7% by 60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KSA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KSA holds 1.1% of the global and 23.3% of the Middle East &amp; Africa performance knitted fabrics market in 2026; by 2036 those shares move to 1.1% and 24.6%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KSA is expected to account for US$ 120.3 Mn by 2036 at a CAGR of 7.3% over the forecast period. KSA is expected to create an incremental opportunity of US$ 65.1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Other GCC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Other GCC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Other GCC</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21.0</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37.5</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4.2%</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5.4%</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Other GCC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+33 BPS</a:t>
            </a:r>
          </a:p>
          <a:p>
            <a:pPr algn="ctr"/>
            <a:r>
              <a:rPr sz="1100" b="0">
                <a:solidFill>
                  <a:srgbClr val="605E5C"/>
                </a:solidFill>
                <a:latin typeface="Segoe UI"/>
              </a:rPr>
              <a:t>vs Middle East &amp; Africa benchmark</a:t>
            </a:r>
          </a:p>
          <a:p>
            <a:pPr algn="ctr"/>
            <a:r>
              <a:rPr sz="1100" b="1">
                <a:solidFill>
                  <a:srgbClr val="1E8E3E"/>
                </a:solidFill>
                <a:latin typeface="Segoe UI"/>
              </a:rPr>
              <a:t>▲ above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Other GCC's performance knitted fabrics market expands at 5.4% CAGR through 2036, outpacing the Middle East &amp; Africa benchmark of 5.1% by 33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Other GCC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Other GCC holds 1.3% of the global and 25.6% of the Middle East &amp; Africa performance knitted fabrics market in 2026; by 2036 those shares move to 1.2% and 26.4%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15.4 Mn Sq. Yards between 2026 and 2036 the Other GCC market grows to 1.7×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Other GCC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Other GCC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Other GCC</a:t>
            </a:r>
          </a:p>
        </p:txBody>
      </p:sp>
      <p:sp>
        <p:nvSpPr>
          <p:cNvPr id="9" name="Rounded Rectangle 8"/>
          <p:cNvSpPr/>
          <p:nvPr/>
        </p:nvSpPr>
        <p:spPr>
          <a:xfrm>
            <a:off x="1428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66.5</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144.9</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5.1%</a:t>
            </a:r>
          </a:p>
        </p:txBody>
      </p:sp>
      <p:sp>
        <p:nvSpPr>
          <p:cNvPr id="12" name="Rounded Rectangle 11"/>
          <p:cNvSpPr/>
          <p:nvPr/>
        </p:nvSpPr>
        <p:spPr>
          <a:xfrm>
            <a:off x="91725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7.4%</a:t>
            </a:r>
          </a:p>
        </p:txBody>
      </p:sp>
      <p:sp>
        <p:nvSpPr>
          <p:cNvPr id="13" name="Rectangle 12"/>
          <p:cNvSpPr/>
          <p:nvPr/>
        </p:nvSpPr>
        <p:spPr>
          <a:xfrm>
            <a:off x="142875" y="1781175"/>
            <a:ext cx="46958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383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Other GCC Value (US$ Mn), 2021–2036</a:t>
            </a:r>
          </a:p>
        </p:txBody>
      </p:sp>
      <p:graphicFrame>
        <p:nvGraphicFramePr>
          <p:cNvPr id="15" name="Chart 14"/>
          <p:cNvGraphicFramePr>
            <a:graphicFrameLocks noGrp="1"/>
          </p:cNvGraphicFramePr>
          <p:nvPr/>
        </p:nvGraphicFramePr>
        <p:xfrm>
          <a:off x="238125" y="2066925"/>
          <a:ext cx="4505325" cy="1400175"/>
        </p:xfrm>
        <a:graphic>
          <a:graphicData uri="http://schemas.openxmlformats.org/drawingml/2006/chart">
            <c:chart xmlns:c="http://schemas.openxmlformats.org/drawingml/2006/chart" r:id="rId3"/>
          </a:graphicData>
        </a:graphic>
      </p:graphicFrame>
      <p:sp>
        <p:nvSpPr>
          <p:cNvPr id="16" name="Rectangle 15"/>
          <p:cNvSpPr/>
          <p:nvPr/>
        </p:nvSpPr>
        <p:spPr>
          <a:xfrm>
            <a:off x="4991100" y="1781175"/>
            <a:ext cx="704850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383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066925"/>
          <a:ext cx="2880360" cy="14001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085975"/>
            <a:ext cx="3901440" cy="704850"/>
          </a:xfrm>
          <a:prstGeom prst="rect">
            <a:avLst/>
          </a:prstGeom>
          <a:noFill/>
        </p:spPr>
        <p:txBody>
          <a:bodyPr wrap="square" lIns="28575" rIns="28575" tIns="9525" bIns="9525">
            <a:spAutoFit/>
          </a:bodyPr>
          <a:lstStyle/>
          <a:p>
            <a:pPr algn="ctr"/>
            <a:r>
              <a:rPr sz="2200" b="1">
                <a:solidFill>
                  <a:srgbClr val="2F6FB0"/>
                </a:solidFill>
                <a:latin typeface="Segoe UI"/>
              </a:rPr>
              <a:t>+73 BPS</a:t>
            </a:r>
          </a:p>
          <a:p>
            <a:pPr algn="ctr"/>
            <a:r>
              <a:rPr sz="1100" b="0">
                <a:solidFill>
                  <a:srgbClr val="605E5C"/>
                </a:solidFill>
                <a:latin typeface="Segoe UI"/>
              </a:rPr>
              <a:t>vs Middle East &amp; Africa benchmark</a:t>
            </a:r>
          </a:p>
          <a:p>
            <a:pPr algn="ctr"/>
            <a:r>
              <a:rPr sz="1100" b="1">
                <a:solidFill>
                  <a:srgbClr val="1E8E3E"/>
                </a:solidFill>
                <a:latin typeface="Segoe UI"/>
              </a:rPr>
              <a:t>▲ above benchmark</a:t>
            </a:r>
          </a:p>
        </p:txBody>
      </p:sp>
      <p:sp>
        <p:nvSpPr>
          <p:cNvPr id="20" name="TextBox 19"/>
          <p:cNvSpPr txBox="1"/>
          <p:nvPr/>
        </p:nvSpPr>
        <p:spPr>
          <a:xfrm>
            <a:off x="8042910" y="2828925"/>
            <a:ext cx="3901440" cy="600075"/>
          </a:xfrm>
          <a:prstGeom prst="rect">
            <a:avLst/>
          </a:prstGeom>
          <a:noFill/>
        </p:spPr>
        <p:txBody>
          <a:bodyPr wrap="square" lIns="28575" rIns="28575" tIns="9525" bIns="9525" anchor="t">
            <a:spAutoFit/>
          </a:bodyPr>
          <a:lstStyle/>
          <a:p>
            <a:pPr algn="l"/>
            <a:r>
              <a:rPr sz="1100" b="0">
                <a:solidFill>
                  <a:srgbClr val="252423"/>
                </a:solidFill>
                <a:latin typeface="Segoe UI"/>
              </a:rPr>
              <a:t>Other GCC's performance knitted fabrics market expands at 7.4% CAGR through 2036, outpacing the Middle East &amp; Africa benchmark of 6.7% by 73 BPS.</a:t>
            </a:r>
          </a:p>
        </p:txBody>
      </p:sp>
      <p:sp>
        <p:nvSpPr>
          <p:cNvPr id="21" name="Rectangle 20"/>
          <p:cNvSpPr/>
          <p:nvPr/>
        </p:nvSpPr>
        <p:spPr>
          <a:xfrm>
            <a:off x="142875" y="3657600"/>
            <a:ext cx="46958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147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3943350"/>
          <a:ext cx="4505325" cy="1400175"/>
        </p:xfrm>
        <a:graphic>
          <a:graphicData uri="http://schemas.openxmlformats.org/drawingml/2006/chart">
            <c:chart xmlns:c="http://schemas.openxmlformats.org/drawingml/2006/chart" r:id="rId5"/>
          </a:graphicData>
        </a:graphic>
      </p:graphicFrame>
      <p:sp>
        <p:nvSpPr>
          <p:cNvPr id="24" name="Rectangle 23"/>
          <p:cNvSpPr/>
          <p:nvPr/>
        </p:nvSpPr>
        <p:spPr>
          <a:xfrm>
            <a:off x="4991100" y="3657600"/>
            <a:ext cx="704850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147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Other GCC Market Share, 2026</a:t>
            </a:r>
          </a:p>
        </p:txBody>
      </p:sp>
      <p:graphicFrame>
        <p:nvGraphicFramePr>
          <p:cNvPr id="26" name="Chart 25"/>
          <p:cNvGraphicFramePr>
            <a:graphicFrameLocks noGrp="1"/>
          </p:cNvGraphicFramePr>
          <p:nvPr/>
        </p:nvGraphicFramePr>
        <p:xfrm>
          <a:off x="5086350" y="3943350"/>
          <a:ext cx="6858000" cy="1400175"/>
        </p:xfrm>
        <a:graphic>
          <a:graphicData uri="http://schemas.openxmlformats.org/drawingml/2006/chart">
            <c:chart xmlns:c="http://schemas.openxmlformats.org/drawingml/2006/chart" r:id="rId6"/>
          </a:graphicData>
        </a:graphic>
      </p:graphicFrame>
      <p:sp>
        <p:nvSpPr>
          <p:cNvPr id="27" name="Rectangle 26"/>
          <p:cNvSpPr/>
          <p:nvPr/>
        </p:nvSpPr>
        <p:spPr>
          <a:xfrm>
            <a:off x="142875" y="5534025"/>
            <a:ext cx="5876925" cy="1085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Other GCC holds 1.3% of the global and 27.7% of the Middle East &amp; Africa performance knitted fabrics market in 2026; by 2036 those shares move to 1.3% and 29.7% respectively.</a:t>
            </a:r>
          </a:p>
        </p:txBody>
      </p:sp>
      <p:sp>
        <p:nvSpPr>
          <p:cNvPr id="28" name="Rectangle 27"/>
          <p:cNvSpPr/>
          <p:nvPr/>
        </p:nvSpPr>
        <p:spPr>
          <a:xfrm>
            <a:off x="6172200" y="5534025"/>
            <a:ext cx="5876925" cy="1085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Other GCC is expected to account for US$ 144.9 Mn by 2036 at a CAGR of 7.4% over the forecast period. Other GCC is expected to create an incremental opportunity of US$ 78.4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Turkiye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Turkiye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Turkiye</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23.6</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38.8</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4.2%</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4.6%</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Turkiye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-55 BPS</a:t>
            </a:r>
          </a:p>
          <a:p>
            <a:pPr algn="ctr"/>
            <a:r>
              <a:rPr sz="1100" b="0">
                <a:solidFill>
                  <a:srgbClr val="605E5C"/>
                </a:solidFill>
                <a:latin typeface="Segoe UI"/>
              </a:rPr>
              <a:t>vs Middle East &amp; Africa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Turkiye's performance knitted fabrics market expands at 4.6% CAGR through 2036, trailing the Middle East &amp; Africa benchmark of 5.1% by 55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Turkiye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Turkiye holds 1.5% of the global and 28.8% of the Middle East &amp; Africa performance knitted fabrics market in 2026; by 2036 those shares move to 1.3% and 27.4%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13.9 Mn Sq. Yards between 2026 and 2036 the Turkiye market grows to 1.6×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Turkiye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Turkiye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Turkiye</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64.3</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118.0</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4.7%</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5.7%</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Turkiye Value (US$ Mn),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-103 BPS</a:t>
            </a:r>
          </a:p>
          <a:p>
            <a:pPr algn="ctr"/>
            <a:r>
              <a:rPr sz="1100" b="0">
                <a:solidFill>
                  <a:srgbClr val="605E5C"/>
                </a:solidFill>
                <a:latin typeface="Segoe UI"/>
              </a:rPr>
              <a:t>vs Middle East &amp; Africa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Turkiye's performance knitted fabrics market expands at 5.7% CAGR through 2036, trailing the Middle East &amp; Africa benchmark of 6.7% by 103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Turkiye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Turkiye holds 1.2% of the global and 26.6% of the Middle East &amp; Africa performance knitted fabrics market in 2026; by 2036 those shares move to 1.1% and 24.2%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Turkiye is expected to account for US$ 118.0 Mn by 2036 at a CAGR of 5.7% over the forecast period. Turkiye is expected to create an incremental opportunity of US$ 53.7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South Africa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South Africa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Africa</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8.10</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13.0</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3.6%</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4.5%</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South Africa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-65 BPS</a:t>
            </a:r>
          </a:p>
          <a:p>
            <a:pPr algn="ctr"/>
            <a:r>
              <a:rPr sz="1100" b="0">
                <a:solidFill>
                  <a:srgbClr val="605E5C"/>
                </a:solidFill>
                <a:latin typeface="Segoe UI"/>
              </a:rPr>
              <a:t>vs Middle East &amp; Africa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South Africa's performance knitted fabrics market expands at 4.5% CAGR through 2036, trailing the Middle East &amp; Africa benchmark of 5.1% by 65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South Africa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South Africa holds 0.5% of the global and 9.8% of the Middle East &amp; Africa performance knitted fabrics market in 2026; by 2036 those shares move to 0.4% and 9.2%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4.60 Mn Sq. Yards between 2026 and 2036 the South Africa market grows to 1.5×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South Africa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South Africa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South Africa</a:t>
            </a:r>
          </a:p>
        </p:txBody>
      </p:sp>
      <p:sp>
        <p:nvSpPr>
          <p:cNvPr id="9" name="Rounded Rectangle 8"/>
          <p:cNvSpPr/>
          <p:nvPr/>
        </p:nvSpPr>
        <p:spPr>
          <a:xfrm>
            <a:off x="1428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21.3</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39.2</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4.3%</a:t>
            </a:r>
          </a:p>
        </p:txBody>
      </p:sp>
      <p:sp>
        <p:nvSpPr>
          <p:cNvPr id="12" name="Rounded Rectangle 11"/>
          <p:cNvSpPr/>
          <p:nvPr/>
        </p:nvSpPr>
        <p:spPr>
          <a:xfrm>
            <a:off x="91725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5.8%</a:t>
            </a:r>
          </a:p>
        </p:txBody>
      </p:sp>
      <p:sp>
        <p:nvSpPr>
          <p:cNvPr id="13" name="Rectangle 12"/>
          <p:cNvSpPr/>
          <p:nvPr/>
        </p:nvSpPr>
        <p:spPr>
          <a:xfrm>
            <a:off x="142875" y="1781175"/>
            <a:ext cx="46958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383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South Africa Value (US$ Mn), 2021–2036</a:t>
            </a:r>
          </a:p>
        </p:txBody>
      </p:sp>
      <p:graphicFrame>
        <p:nvGraphicFramePr>
          <p:cNvPr id="15" name="Chart 14"/>
          <p:cNvGraphicFramePr>
            <a:graphicFrameLocks noGrp="1"/>
          </p:cNvGraphicFramePr>
          <p:nvPr/>
        </p:nvGraphicFramePr>
        <p:xfrm>
          <a:off x="238125" y="2066925"/>
          <a:ext cx="4505325" cy="1400175"/>
        </p:xfrm>
        <a:graphic>
          <a:graphicData uri="http://schemas.openxmlformats.org/drawingml/2006/chart">
            <c:chart xmlns:c="http://schemas.openxmlformats.org/drawingml/2006/chart" r:id="rId3"/>
          </a:graphicData>
        </a:graphic>
      </p:graphicFrame>
      <p:sp>
        <p:nvSpPr>
          <p:cNvPr id="16" name="Rectangle 15"/>
          <p:cNvSpPr/>
          <p:nvPr/>
        </p:nvSpPr>
        <p:spPr>
          <a:xfrm>
            <a:off x="4991100" y="1781175"/>
            <a:ext cx="704850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383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066925"/>
          <a:ext cx="2880360" cy="14001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0859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-92 BPS</a:t>
            </a:r>
          </a:p>
          <a:p>
            <a:pPr algn="ctr"/>
            <a:r>
              <a:rPr sz="1100" b="0">
                <a:solidFill>
                  <a:srgbClr val="605E5C"/>
                </a:solidFill>
                <a:latin typeface="Segoe UI"/>
              </a:rPr>
              <a:t>vs Middle East &amp; Africa benchmark</a:t>
            </a:r>
          </a:p>
          <a:p>
            <a:pPr algn="ctr"/>
            <a:r>
              <a:rPr sz="1100" b="1">
                <a:solidFill>
                  <a:srgbClr val="D64545"/>
                </a:solidFill>
                <a:latin typeface="Segoe UI"/>
              </a:rPr>
              <a:t>▼ below benchmark</a:t>
            </a:r>
          </a:p>
        </p:txBody>
      </p:sp>
      <p:sp>
        <p:nvSpPr>
          <p:cNvPr id="20" name="TextBox 19"/>
          <p:cNvSpPr txBox="1"/>
          <p:nvPr/>
        </p:nvSpPr>
        <p:spPr>
          <a:xfrm>
            <a:off x="8042910" y="2828925"/>
            <a:ext cx="3901440" cy="600075"/>
          </a:xfrm>
          <a:prstGeom prst="rect">
            <a:avLst/>
          </a:prstGeom>
          <a:noFill/>
        </p:spPr>
        <p:txBody>
          <a:bodyPr wrap="square" lIns="28575" rIns="28575" tIns="9525" bIns="9525" anchor="t">
            <a:spAutoFit/>
          </a:bodyPr>
          <a:lstStyle/>
          <a:p>
            <a:pPr algn="l"/>
            <a:r>
              <a:rPr sz="1100" b="0">
                <a:solidFill>
                  <a:srgbClr val="252423"/>
                </a:solidFill>
                <a:latin typeface="Segoe UI"/>
              </a:rPr>
              <a:t>South Africa's performance knitted fabrics market expands at 5.8% CAGR through 2036, trailing the Middle East &amp; Africa benchmark of 6.7% by 92 BPS.</a:t>
            </a:r>
          </a:p>
        </p:txBody>
      </p:sp>
      <p:sp>
        <p:nvSpPr>
          <p:cNvPr id="21" name="Rectangle 20"/>
          <p:cNvSpPr/>
          <p:nvPr/>
        </p:nvSpPr>
        <p:spPr>
          <a:xfrm>
            <a:off x="142875" y="3657600"/>
            <a:ext cx="46958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147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3943350"/>
          <a:ext cx="4505325" cy="1400175"/>
        </p:xfrm>
        <a:graphic>
          <a:graphicData uri="http://schemas.openxmlformats.org/drawingml/2006/chart">
            <c:chart xmlns:c="http://schemas.openxmlformats.org/drawingml/2006/chart" r:id="rId5"/>
          </a:graphicData>
        </a:graphic>
      </p:graphicFrame>
      <p:sp>
        <p:nvSpPr>
          <p:cNvPr id="24" name="Rectangle 23"/>
          <p:cNvSpPr/>
          <p:nvPr/>
        </p:nvSpPr>
        <p:spPr>
          <a:xfrm>
            <a:off x="4991100" y="3657600"/>
            <a:ext cx="704850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147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South Africa Market Share, 2026</a:t>
            </a:r>
          </a:p>
        </p:txBody>
      </p:sp>
      <p:graphicFrame>
        <p:nvGraphicFramePr>
          <p:cNvPr id="26" name="Chart 25"/>
          <p:cNvGraphicFramePr>
            <a:graphicFrameLocks noGrp="1"/>
          </p:cNvGraphicFramePr>
          <p:nvPr/>
        </p:nvGraphicFramePr>
        <p:xfrm>
          <a:off x="5086350" y="3943350"/>
          <a:ext cx="6858000" cy="1400175"/>
        </p:xfrm>
        <a:graphic>
          <a:graphicData uri="http://schemas.openxmlformats.org/drawingml/2006/chart">
            <c:chart xmlns:c="http://schemas.openxmlformats.org/drawingml/2006/chart" r:id="rId6"/>
          </a:graphicData>
        </a:graphic>
      </p:graphicFrame>
      <p:sp>
        <p:nvSpPr>
          <p:cNvPr id="27" name="Rectangle 26"/>
          <p:cNvSpPr/>
          <p:nvPr/>
        </p:nvSpPr>
        <p:spPr>
          <a:xfrm>
            <a:off x="142875" y="5534025"/>
            <a:ext cx="5876925" cy="1085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South Africa holds 0.4% of the global and 8.8% of the Middle East &amp; Africa performance knitted fabrics market in 2026; by 2036 those shares move to 0.3% and 8.0% respectively.</a:t>
            </a:r>
          </a:p>
        </p:txBody>
      </p:sp>
      <p:sp>
        <p:nvSpPr>
          <p:cNvPr id="28" name="Rectangle 27"/>
          <p:cNvSpPr/>
          <p:nvPr/>
        </p:nvSpPr>
        <p:spPr>
          <a:xfrm>
            <a:off x="6172200" y="5534025"/>
            <a:ext cx="5876925" cy="1085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South Africa is expected to account for US$ 39.2 Mn by 2036 at a CAGR of 5.8% over the forecast period. South Africa is expected to create an incremental opportunity of US$ 17.9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Other African Union Performance Knitted Fabrics Market Volume Overview (Mn Sq. Yards)</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Other African Union market in volume: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Other African Union</a:t>
            </a:r>
          </a:p>
        </p:txBody>
      </p:sp>
      <p:sp>
        <p:nvSpPr>
          <p:cNvPr id="9" name="Rounded Rectangle 8"/>
          <p:cNvSpPr/>
          <p:nvPr/>
        </p:nvSpPr>
        <p:spPr>
          <a:xfrm>
            <a:off x="1428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(MN SQ. YARDS)</a:t>
            </a:r>
          </a:p>
          <a:p>
            <a:pPr algn="ctr">
              <a:lnSpc>
                <a:spcPct val="95000"/>
              </a:lnSpc>
            </a:pPr>
            <a:r>
              <a:rPr sz="1500" b="1">
                <a:solidFill>
                  <a:srgbClr val="00A4DC"/>
                </a:solidFill>
                <a:latin typeface="Segoe UI"/>
              </a:rPr>
              <a:t>11.1</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(MN SQ. YARDS)</a:t>
            </a:r>
          </a:p>
          <a:p>
            <a:pPr algn="ctr">
              <a:lnSpc>
                <a:spcPct val="95000"/>
              </a:lnSpc>
            </a:pPr>
            <a:r>
              <a:rPr sz="1500" b="1">
                <a:solidFill>
                  <a:srgbClr val="00A4DC"/>
                </a:solidFill>
                <a:latin typeface="Segoe UI"/>
              </a:rPr>
              <a:t>18.8</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4.1%</a:t>
            </a:r>
          </a:p>
        </p:txBody>
      </p:sp>
      <p:sp>
        <p:nvSpPr>
          <p:cNvPr id="12" name="Rounded Rectangle 11"/>
          <p:cNvSpPr/>
          <p:nvPr/>
        </p:nvSpPr>
        <p:spPr>
          <a:xfrm>
            <a:off x="9172575" y="981075"/>
            <a:ext cx="2857500" cy="7048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4.9%</a:t>
            </a:r>
          </a:p>
        </p:txBody>
      </p:sp>
      <p:sp>
        <p:nvSpPr>
          <p:cNvPr id="13" name="Rectangle 12"/>
          <p:cNvSpPr/>
          <p:nvPr/>
        </p:nvSpPr>
        <p:spPr>
          <a:xfrm>
            <a:off x="142875" y="1819275"/>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Other African Union Volume (Mn Sq. Yards), 2021–2036</a:t>
            </a:r>
          </a:p>
        </p:txBody>
      </p:sp>
      <p:graphicFrame>
        <p:nvGraphicFramePr>
          <p:cNvPr id="15" name="Chart 14"/>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6" name="Rectangle 15"/>
          <p:cNvSpPr/>
          <p:nvPr/>
        </p:nvSpPr>
        <p:spPr>
          <a:xfrm>
            <a:off x="4991100" y="1819275"/>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-25 BPS</a:t>
            </a:r>
          </a:p>
          <a:p>
            <a:pPr algn="ctr"/>
            <a:r>
              <a:rPr sz="1100" b="0">
                <a:solidFill>
                  <a:srgbClr val="605E5C"/>
                </a:solidFill>
                <a:latin typeface="Segoe UI"/>
              </a:rPr>
              <a:t>vs Middle East &amp; Africa benchmark</a:t>
            </a:r>
          </a:p>
          <a:p>
            <a:pPr algn="ctr"/>
            <a:r>
              <a:rPr sz="1100" b="1">
                <a:solidFill>
                  <a:srgbClr val="D64545"/>
                </a:solidFill>
                <a:latin typeface="Segoe UI"/>
              </a:rPr>
              <a:t>▼ below benchmark</a:t>
            </a:r>
          </a:p>
        </p:txBody>
      </p:sp>
      <p:sp>
        <p:nvSpPr>
          <p:cNvPr id="20" name="TextBox 19"/>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52423"/>
                </a:solidFill>
                <a:latin typeface="Segoe UI"/>
              </a:rPr>
              <a:t>Other African Union's performance knitted fabrics market expands at 4.9% CAGR through 2036, trailing the Middle East &amp; Africa benchmark of 5.1% by 25 BPS.</a:t>
            </a:r>
          </a:p>
        </p:txBody>
      </p:sp>
      <p:sp>
        <p:nvSpPr>
          <p:cNvPr id="21" name="Rectangle 20"/>
          <p:cNvSpPr/>
          <p:nvPr/>
        </p:nvSpPr>
        <p:spPr>
          <a:xfrm>
            <a:off x="142875" y="3733800"/>
            <a:ext cx="4695825"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(Mn Sq. Yards)</a:t>
            </a:r>
          </a:p>
        </p:txBody>
      </p:sp>
      <p:graphicFrame>
        <p:nvGraphicFramePr>
          <p:cNvPr id="23" name="Chart 22"/>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4" name="Rectangle 23"/>
          <p:cNvSpPr/>
          <p:nvPr/>
        </p:nvSpPr>
        <p:spPr>
          <a:xfrm>
            <a:off x="4991100" y="3733800"/>
            <a:ext cx="7048500" cy="17811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Other African Union Market Share, 2026</a:t>
            </a:r>
          </a:p>
        </p:txBody>
      </p:sp>
      <p:graphicFrame>
        <p:nvGraphicFramePr>
          <p:cNvPr id="26" name="Chart 25"/>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7" name="Rectangle 26"/>
          <p:cNvSpPr/>
          <p:nvPr/>
        </p:nvSpPr>
        <p:spPr>
          <a:xfrm>
            <a:off x="142875"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Other African Union holds 0.7% of the global and 13.6% of the Middle East &amp; Africa performance knitted fabrics market in 2026; by 2036 those shares move to 0.6% and 13.3% respectively.</a:t>
            </a:r>
          </a:p>
        </p:txBody>
      </p:sp>
      <p:sp>
        <p:nvSpPr>
          <p:cNvPr id="28" name="Rectangle 27"/>
          <p:cNvSpPr/>
          <p:nvPr/>
        </p:nvSpPr>
        <p:spPr>
          <a:xfrm>
            <a:off x="6172200" y="5648325"/>
            <a:ext cx="5876925" cy="9715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forecast build-up adds 7.12 Mn Sq. Yards between 2026 and 2036 the Other African Union market grows to 1.6× its 2026 size over the decade.</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007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1925" y="190500"/>
            <a:ext cx="1507851" cy="5334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tmr_logo.png"/>
          <p:cNvPicPr>
            <a:picLocks noChangeAspect="1"/>
          </p:cNvPicPr>
          <p:nvPr/>
        </p:nvPicPr>
        <p:blipFill>
          <a:blip r:embed="rId2"/>
          <a:stretch>
            <a:fillRect/>
          </a:stretch>
        </p:blipFill>
        <p:spPr>
          <a:xfrm>
            <a:off x="228600" y="238125"/>
            <a:ext cx="1374501" cy="438150"/>
          </a:xfrm>
          <a:prstGeom prst="rect">
            <a:avLst/>
          </a:prstGeom>
        </p:spPr>
      </p:pic>
      <p:sp>
        <p:nvSpPr>
          <p:cNvPr id="6" name="TextBox 5"/>
          <p:cNvSpPr txBox="1"/>
          <p:nvPr/>
        </p:nvSpPr>
        <p:spPr>
          <a:xfrm>
            <a:off x="1866900" y="19050"/>
            <a:ext cx="8658225" cy="628650"/>
          </a:xfrm>
          <a:prstGeom prst="rect">
            <a:avLst/>
          </a:prstGeom>
          <a:noFill/>
        </p:spPr>
        <p:txBody>
          <a:bodyPr wrap="square" lIns="28575" rIns="28575" tIns="0" bIns="0" anchor="b">
            <a:spAutoFit/>
          </a:bodyPr>
          <a:lstStyle/>
          <a:p>
            <a:pPr algn="l">
              <a:lnSpc>
                <a:spcPct val="90000"/>
              </a:lnSpc>
            </a:pPr>
            <a:r>
              <a:rPr sz="2100" b="1">
                <a:solidFill>
                  <a:srgbClr val="FFFFFF"/>
                </a:solidFill>
                <a:latin typeface="Segoe UI"/>
              </a:rPr>
              <a:t>Other African Union Performance Knitted Fabrics Market Value Overview (US$ Mn)</a:t>
            </a:r>
          </a:p>
        </p:txBody>
      </p:sp>
      <p:sp>
        <p:nvSpPr>
          <p:cNvPr id="7" name="TextBox 6"/>
          <p:cNvSpPr txBox="1"/>
          <p:nvPr/>
        </p:nvSpPr>
        <p:spPr>
          <a:xfrm>
            <a:off x="1866900" y="647700"/>
            <a:ext cx="10182225" cy="247650"/>
          </a:xfrm>
          <a:prstGeom prst="rect">
            <a:avLst/>
          </a:prstGeom>
          <a:noFill/>
        </p:spPr>
        <p:txBody>
          <a:bodyPr wrap="square" lIns="28575" rIns="28575" tIns="0" bIns="0" anchor="t">
            <a:spAutoFit/>
          </a:bodyPr>
          <a:lstStyle/>
          <a:p>
            <a:pPr algn="l"/>
            <a:r>
              <a:rPr sz="1400" b="0" i="1">
                <a:solidFill>
                  <a:srgbClr val="252423"/>
                </a:solidFill>
                <a:latin typeface="Segoe UI"/>
              </a:rPr>
              <a:t>Overview of the Other African Union market in value: size, growth, YoY momentum and gap to the Global benchmark</a:t>
            </a:r>
          </a:p>
        </p:txBody>
      </p:sp>
      <p:sp>
        <p:nvSpPr>
          <p:cNvPr id="8" name="Rounded Rectangle 7"/>
          <p:cNvSpPr/>
          <p:nvPr/>
        </p:nvSpPr>
        <p:spPr>
          <a:xfrm>
            <a:off x="10620375" y="228600"/>
            <a:ext cx="1428750" cy="419100"/>
          </a:xfrm>
          <a:prstGeom prst="roundRect">
            <a:avLst>
              <a:gd name="adj" fmla="val 22000"/>
            </a:avLst>
          </a:prstGeom>
          <a:solidFill>
            <a:srgbClr val="007BA5"/>
          </a:solidFill>
          <a:ln w="6350">
            <a:solidFill>
              <a:srgbClr val="6ECF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Segoe UI"/>
              </a:rPr>
              <a:t>Other African Union</a:t>
            </a:r>
          </a:p>
        </p:txBody>
      </p:sp>
      <p:sp>
        <p:nvSpPr>
          <p:cNvPr id="9" name="Rounded Rectangle 8"/>
          <p:cNvSpPr/>
          <p:nvPr/>
        </p:nvSpPr>
        <p:spPr>
          <a:xfrm>
            <a:off x="1428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2025 MARKET SIZE (US$ MN)</a:t>
            </a:r>
          </a:p>
          <a:p>
            <a:pPr algn="ctr">
              <a:lnSpc>
                <a:spcPct val="95000"/>
              </a:lnSpc>
            </a:pPr>
            <a:r>
              <a:rPr sz="1500" b="1">
                <a:solidFill>
                  <a:srgbClr val="00A4DC"/>
                </a:solidFill>
                <a:latin typeface="Segoe UI"/>
              </a:rPr>
              <a:t>32.6</a:t>
            </a:r>
          </a:p>
          <a:p>
            <a:pPr algn="ctr">
              <a:lnSpc>
                <a:spcPct val="95000"/>
              </a:lnSpc>
            </a:pPr>
            <a:r>
              <a:rPr sz="1100" b="0">
                <a:solidFill>
                  <a:srgbClr val="605E5C"/>
                </a:solidFill>
                <a:latin typeface="Segoe UI"/>
              </a:rPr>
              <a:t>estimate year</a:t>
            </a:r>
          </a:p>
        </p:txBody>
      </p:sp>
      <p:sp>
        <p:nvSpPr>
          <p:cNvPr id="10" name="Rounded Rectangle 9"/>
          <p:cNvSpPr/>
          <p:nvPr/>
        </p:nvSpPr>
        <p:spPr>
          <a:xfrm>
            <a:off x="31527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2036 MARKET SIZE (US$ MN)</a:t>
            </a:r>
          </a:p>
          <a:p>
            <a:pPr algn="ctr">
              <a:lnSpc>
                <a:spcPct val="95000"/>
              </a:lnSpc>
            </a:pPr>
            <a:r>
              <a:rPr sz="1500" b="1">
                <a:solidFill>
                  <a:srgbClr val="00A4DC"/>
                </a:solidFill>
                <a:latin typeface="Segoe UI"/>
              </a:rPr>
              <a:t>65.9</a:t>
            </a:r>
          </a:p>
          <a:p>
            <a:pPr algn="ctr">
              <a:lnSpc>
                <a:spcPct val="95000"/>
              </a:lnSpc>
            </a:pPr>
            <a:r>
              <a:rPr sz="1100" b="0">
                <a:solidFill>
                  <a:srgbClr val="605E5C"/>
                </a:solidFill>
                <a:latin typeface="Segoe UI"/>
              </a:rPr>
              <a:t>forecast horizon</a:t>
            </a:r>
          </a:p>
        </p:txBody>
      </p:sp>
      <p:sp>
        <p:nvSpPr>
          <p:cNvPr id="11" name="Rounded Rectangle 10"/>
          <p:cNvSpPr/>
          <p:nvPr/>
        </p:nvSpPr>
        <p:spPr>
          <a:xfrm>
            <a:off x="61626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H-CAGR (2021–2025)</a:t>
            </a:r>
          </a:p>
          <a:p>
            <a:pPr algn="ctr">
              <a:lnSpc>
                <a:spcPct val="95000"/>
              </a:lnSpc>
            </a:pPr>
            <a:r>
              <a:rPr sz="1500" b="1">
                <a:solidFill>
                  <a:srgbClr val="00A4DC"/>
                </a:solidFill>
                <a:latin typeface="Segoe UI"/>
              </a:rPr>
              <a:t>4.7%</a:t>
            </a:r>
          </a:p>
        </p:txBody>
      </p:sp>
      <p:sp>
        <p:nvSpPr>
          <p:cNvPr id="12" name="Rounded Rectangle 11"/>
          <p:cNvSpPr/>
          <p:nvPr/>
        </p:nvSpPr>
        <p:spPr>
          <a:xfrm>
            <a:off x="9172575" y="981075"/>
            <a:ext cx="2857500" cy="666750"/>
          </a:xfrm>
          <a:prstGeom prst="roundRect">
            <a:avLst>
              <a:gd name="adj" fmla="val 8000"/>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05E5C"/>
                </a:solidFill>
                <a:latin typeface="Segoe UI"/>
              </a:rPr>
              <a:t>F-CAGR (2026–2036)</a:t>
            </a:r>
          </a:p>
          <a:p>
            <a:pPr algn="ctr">
              <a:lnSpc>
                <a:spcPct val="95000"/>
              </a:lnSpc>
            </a:pPr>
            <a:r>
              <a:rPr sz="1500" b="1">
                <a:solidFill>
                  <a:srgbClr val="00A4DC"/>
                </a:solidFill>
                <a:latin typeface="Segoe UI"/>
              </a:rPr>
              <a:t>6.6%</a:t>
            </a:r>
          </a:p>
        </p:txBody>
      </p:sp>
      <p:sp>
        <p:nvSpPr>
          <p:cNvPr id="13" name="Rectangle 12"/>
          <p:cNvSpPr/>
          <p:nvPr/>
        </p:nvSpPr>
        <p:spPr>
          <a:xfrm>
            <a:off x="142875" y="1781175"/>
            <a:ext cx="46958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38325"/>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Other African Union Value (US$ Mn), 2021–2036</a:t>
            </a:r>
          </a:p>
        </p:txBody>
      </p:sp>
      <p:graphicFrame>
        <p:nvGraphicFramePr>
          <p:cNvPr id="15" name="Chart 14"/>
          <p:cNvGraphicFramePr>
            <a:graphicFrameLocks noGrp="1"/>
          </p:cNvGraphicFramePr>
          <p:nvPr/>
        </p:nvGraphicFramePr>
        <p:xfrm>
          <a:off x="238125" y="2066925"/>
          <a:ext cx="4505325" cy="1400175"/>
        </p:xfrm>
        <a:graphic>
          <a:graphicData uri="http://schemas.openxmlformats.org/drawingml/2006/chart">
            <c:chart xmlns:c="http://schemas.openxmlformats.org/drawingml/2006/chart" r:id="rId3"/>
          </a:graphicData>
        </a:graphic>
      </p:graphicFrame>
      <p:sp>
        <p:nvSpPr>
          <p:cNvPr id="16" name="Rectangle 15"/>
          <p:cNvSpPr/>
          <p:nvPr/>
        </p:nvSpPr>
        <p:spPr>
          <a:xfrm>
            <a:off x="4991100" y="1781175"/>
            <a:ext cx="704850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86350" y="1838325"/>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CAGR Comparison &amp; Growth Deviation from Regional Benchmark</a:t>
            </a:r>
          </a:p>
        </p:txBody>
      </p:sp>
      <p:graphicFrame>
        <p:nvGraphicFramePr>
          <p:cNvPr id="18" name="Chart 17"/>
          <p:cNvGraphicFramePr>
            <a:graphicFrameLocks noGrp="1"/>
          </p:cNvGraphicFramePr>
          <p:nvPr/>
        </p:nvGraphicFramePr>
        <p:xfrm>
          <a:off x="5086350" y="2066925"/>
          <a:ext cx="2880360" cy="1400175"/>
        </p:xfrm>
        <a:graphic>
          <a:graphicData uri="http://schemas.openxmlformats.org/drawingml/2006/chart">
            <c:chart xmlns:c="http://schemas.openxmlformats.org/drawingml/2006/chart" r:id="rId4"/>
          </a:graphicData>
        </a:graphic>
      </p:graphicFrame>
      <p:sp>
        <p:nvSpPr>
          <p:cNvPr id="19" name="TextBox 18"/>
          <p:cNvSpPr txBox="1"/>
          <p:nvPr/>
        </p:nvSpPr>
        <p:spPr>
          <a:xfrm>
            <a:off x="8042910" y="2085975"/>
            <a:ext cx="3901440" cy="704850"/>
          </a:xfrm>
          <a:prstGeom prst="rect">
            <a:avLst/>
          </a:prstGeom>
          <a:noFill/>
        </p:spPr>
        <p:txBody>
          <a:bodyPr wrap="square" lIns="28575" rIns="28575" tIns="9525" bIns="9525">
            <a:spAutoFit/>
          </a:bodyPr>
          <a:lstStyle/>
          <a:p>
            <a:pPr algn="ctr"/>
            <a:r>
              <a:rPr sz="2200" b="1">
                <a:solidFill>
                  <a:srgbClr val="E572A9"/>
                </a:solidFill>
                <a:latin typeface="Segoe UI"/>
              </a:rPr>
              <a:t>-8 BPS</a:t>
            </a:r>
          </a:p>
          <a:p>
            <a:pPr algn="ctr"/>
            <a:r>
              <a:rPr sz="1100" b="0">
                <a:solidFill>
                  <a:srgbClr val="605E5C"/>
                </a:solidFill>
                <a:latin typeface="Segoe UI"/>
              </a:rPr>
              <a:t>vs Middle East &amp; Africa benchmark</a:t>
            </a:r>
          </a:p>
          <a:p>
            <a:pPr algn="ctr"/>
            <a:r>
              <a:rPr sz="1100" b="1">
                <a:solidFill>
                  <a:srgbClr val="D64545"/>
                </a:solidFill>
                <a:latin typeface="Segoe UI"/>
              </a:rPr>
              <a:t>▼ below benchmark</a:t>
            </a:r>
          </a:p>
        </p:txBody>
      </p:sp>
      <p:sp>
        <p:nvSpPr>
          <p:cNvPr id="20" name="TextBox 19"/>
          <p:cNvSpPr txBox="1"/>
          <p:nvPr/>
        </p:nvSpPr>
        <p:spPr>
          <a:xfrm>
            <a:off x="8042910" y="2828925"/>
            <a:ext cx="3901440" cy="600075"/>
          </a:xfrm>
          <a:prstGeom prst="rect">
            <a:avLst/>
          </a:prstGeom>
          <a:noFill/>
        </p:spPr>
        <p:txBody>
          <a:bodyPr wrap="square" lIns="28575" rIns="28575" tIns="9525" bIns="9525" anchor="t">
            <a:spAutoFit/>
          </a:bodyPr>
          <a:lstStyle/>
          <a:p>
            <a:pPr algn="l"/>
            <a:r>
              <a:rPr sz="1100" b="0">
                <a:solidFill>
                  <a:srgbClr val="252423"/>
                </a:solidFill>
                <a:latin typeface="Segoe UI"/>
              </a:rPr>
              <a:t>Other African Union's performance knitted fabrics market expands at 6.6% CAGR through 2036, trailing the Middle East &amp; Africa benchmark of 6.7% by 8 BPS.</a:t>
            </a:r>
          </a:p>
        </p:txBody>
      </p:sp>
      <p:sp>
        <p:nvSpPr>
          <p:cNvPr id="21" name="Rectangle 20"/>
          <p:cNvSpPr/>
          <p:nvPr/>
        </p:nvSpPr>
        <p:spPr>
          <a:xfrm>
            <a:off x="142875" y="3657600"/>
            <a:ext cx="4695825"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8125" y="3714750"/>
            <a:ext cx="4505325"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Forecast Build-up 2026–2036 (US$ Mn)</a:t>
            </a:r>
          </a:p>
        </p:txBody>
      </p:sp>
      <p:graphicFrame>
        <p:nvGraphicFramePr>
          <p:cNvPr id="23" name="Chart 22"/>
          <p:cNvGraphicFramePr>
            <a:graphicFrameLocks noGrp="1"/>
          </p:cNvGraphicFramePr>
          <p:nvPr/>
        </p:nvGraphicFramePr>
        <p:xfrm>
          <a:off x="238125" y="3943350"/>
          <a:ext cx="4505325" cy="1400175"/>
        </p:xfrm>
        <a:graphic>
          <a:graphicData uri="http://schemas.openxmlformats.org/drawingml/2006/chart">
            <c:chart xmlns:c="http://schemas.openxmlformats.org/drawingml/2006/chart" r:id="rId5"/>
          </a:graphicData>
        </a:graphic>
      </p:graphicFrame>
      <p:sp>
        <p:nvSpPr>
          <p:cNvPr id="24" name="Rectangle 23"/>
          <p:cNvSpPr/>
          <p:nvPr/>
        </p:nvSpPr>
        <p:spPr>
          <a:xfrm>
            <a:off x="4991100" y="3657600"/>
            <a:ext cx="7048500" cy="1743075"/>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86350" y="3714750"/>
            <a:ext cx="6858000" cy="209550"/>
          </a:xfrm>
          <a:prstGeom prst="rect">
            <a:avLst/>
          </a:prstGeom>
          <a:noFill/>
        </p:spPr>
        <p:txBody>
          <a:bodyPr wrap="square" lIns="0" rIns="19050" tIns="9525" bIns="9525">
            <a:spAutoFit/>
          </a:bodyPr>
          <a:lstStyle/>
          <a:p>
            <a:pPr algn="l">
              <a:lnSpc>
                <a:spcPct val="100000"/>
              </a:lnSpc>
            </a:pPr>
            <a:r>
              <a:rPr sz="1200" b="1">
                <a:solidFill>
                  <a:srgbClr val="252423"/>
                </a:solidFill>
                <a:latin typeface="Segoe UI"/>
              </a:rPr>
              <a:t>Other African Union Market Share, 2026</a:t>
            </a:r>
          </a:p>
        </p:txBody>
      </p:sp>
      <p:graphicFrame>
        <p:nvGraphicFramePr>
          <p:cNvPr id="26" name="Chart 25"/>
          <p:cNvGraphicFramePr>
            <a:graphicFrameLocks noGrp="1"/>
          </p:cNvGraphicFramePr>
          <p:nvPr/>
        </p:nvGraphicFramePr>
        <p:xfrm>
          <a:off x="5086350" y="3943350"/>
          <a:ext cx="6858000" cy="1400175"/>
        </p:xfrm>
        <a:graphic>
          <a:graphicData uri="http://schemas.openxmlformats.org/drawingml/2006/chart">
            <c:chart xmlns:c="http://schemas.openxmlformats.org/drawingml/2006/chart" r:id="rId6"/>
          </a:graphicData>
        </a:graphic>
      </p:graphicFrame>
      <p:sp>
        <p:nvSpPr>
          <p:cNvPr id="27" name="Rectangle 26"/>
          <p:cNvSpPr/>
          <p:nvPr/>
        </p:nvSpPr>
        <p:spPr>
          <a:xfrm>
            <a:off x="142875" y="5534025"/>
            <a:ext cx="5876925" cy="1085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Other African Union holds 0.6% of the global and 13.6% of the Middle East &amp; Africa performance knitted fabrics market in 2026; by 2036 those shares move to 0.6% and 13.5% respectively.</a:t>
            </a:r>
          </a:p>
        </p:txBody>
      </p:sp>
      <p:sp>
        <p:nvSpPr>
          <p:cNvPr id="28" name="Rectangle 27"/>
          <p:cNvSpPr/>
          <p:nvPr/>
        </p:nvSpPr>
        <p:spPr>
          <a:xfrm>
            <a:off x="6172200" y="5534025"/>
            <a:ext cx="5876925" cy="108585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52423"/>
                </a:solidFill>
                <a:latin typeface="Segoe UI"/>
              </a:rPr>
              <a:t>The market in Other African Union is expected to account for US$ 65.9 Mn by 2036 at a CAGR of 6.6% over the forecast period. Other African Union is expected to create an incremental opportunity of US$ 33.3 Mn for the overall performance knitted fabrics market from 2025 to 2036.</a:t>
            </a:r>
          </a:p>
        </p:txBody>
      </p:sp>
      <p:sp>
        <p:nvSpPr>
          <p:cNvPr id="29" name="TextBox 2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605E5C"/>
                </a:solidFill>
                <a:latin typeface="Segoe UI"/>
              </a:rPr>
              <a:t>© Fact.MR  ·  www.factmr.com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