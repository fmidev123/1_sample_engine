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550" r:id="rId302"/>
    <p:sldId id="544" r:id="rId296"/>
    <p:sldId id="545" r:id="rId297"/>
    <p:sldId id="546" r:id="rId298"/>
    <p:sldId id="547" r:id="rId299"/>
    <p:sldId id="548" r:id="rId300"/>
    <p:sldId id="549" r:id="rId301"/>
    <p:sldId id="559" r:id="rId311"/>
    <p:sldId id="551" r:id="rId303"/>
    <p:sldId id="552" r:id="rId304"/>
    <p:sldId id="553" r:id="rId305"/>
    <p:sldId id="554" r:id="rId306"/>
    <p:sldId id="555" r:id="rId307"/>
    <p:sldId id="556" r:id="rId308"/>
    <p:sldId id="557" r:id="rId309"/>
    <p:sldId id="558" r:id="rId310"/>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slide" Target="slides/slide85.xml"/><Relationship Id="rId93" Type="http://schemas.openxmlformats.org/officeDocument/2006/relationships/slide" Target="slides/slide86.xml"/><Relationship Id="rId94" Type="http://schemas.openxmlformats.org/officeDocument/2006/relationships/slide" Target="slides/slide87.xml"/><Relationship Id="rId95" Type="http://schemas.openxmlformats.org/officeDocument/2006/relationships/slide" Target="slides/slide88.xml"/><Relationship Id="rId96" Type="http://schemas.openxmlformats.org/officeDocument/2006/relationships/slide" Target="slides/slide89.xml"/><Relationship Id="rId97" Type="http://schemas.openxmlformats.org/officeDocument/2006/relationships/slide" Target="slides/slide90.xml"/><Relationship Id="rId98"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4" Type="http://schemas.openxmlformats.org/officeDocument/2006/relationships/slide" Target="slides/slide97.xml"/><Relationship Id="rId105" Type="http://schemas.openxmlformats.org/officeDocument/2006/relationships/slide" Target="slides/slide98.xml"/><Relationship Id="rId106" Type="http://schemas.openxmlformats.org/officeDocument/2006/relationships/slide" Target="slides/slide99.xml"/><Relationship Id="rId107" Type="http://schemas.openxmlformats.org/officeDocument/2006/relationships/slide" Target="slides/slide100.xml"/><Relationship Id="rId108" Type="http://schemas.openxmlformats.org/officeDocument/2006/relationships/slide" Target="slides/slide101.xml"/><Relationship Id="rId109" Type="http://schemas.openxmlformats.org/officeDocument/2006/relationships/slide" Target="slides/slide102.xml"/><Relationship Id="rId110" Type="http://schemas.openxmlformats.org/officeDocument/2006/relationships/slide" Target="slides/slide103.xml"/><Relationship Id="rId111" Type="http://schemas.openxmlformats.org/officeDocument/2006/relationships/slide" Target="slides/slide104.xml"/><Relationship Id="rId112" Type="http://schemas.openxmlformats.org/officeDocument/2006/relationships/slide" Target="slides/slide105.xml"/><Relationship Id="rId113" Type="http://schemas.openxmlformats.org/officeDocument/2006/relationships/slide" Target="slides/slide106.xml"/><Relationship Id="rId114" Type="http://schemas.openxmlformats.org/officeDocument/2006/relationships/slide" Target="slides/slide107.xml"/><Relationship Id="rId115" Type="http://schemas.openxmlformats.org/officeDocument/2006/relationships/slide" Target="slides/slide108.xml"/><Relationship Id="rId116" Type="http://schemas.openxmlformats.org/officeDocument/2006/relationships/slide" Target="slides/slide109.xml"/><Relationship Id="rId117" Type="http://schemas.openxmlformats.org/officeDocument/2006/relationships/slide" Target="slides/slide110.xml"/><Relationship Id="rId118" Type="http://schemas.openxmlformats.org/officeDocument/2006/relationships/slide" Target="slides/slide111.xml"/><Relationship Id="rId119" Type="http://schemas.openxmlformats.org/officeDocument/2006/relationships/slide" Target="slides/slide112.xml"/><Relationship Id="rId120" Type="http://schemas.openxmlformats.org/officeDocument/2006/relationships/slide" Target="slides/slide113.xml"/><Relationship Id="rId121" Type="http://schemas.openxmlformats.org/officeDocument/2006/relationships/slide" Target="slides/slide114.xml"/><Relationship Id="rId122" Type="http://schemas.openxmlformats.org/officeDocument/2006/relationships/slide" Target="slides/slide115.xml"/><Relationship Id="rId123" Type="http://schemas.openxmlformats.org/officeDocument/2006/relationships/slide" Target="slides/slide116.xml"/><Relationship Id="rId124" Type="http://schemas.openxmlformats.org/officeDocument/2006/relationships/slide" Target="slides/slide117.xml"/><Relationship Id="rId125" Type="http://schemas.openxmlformats.org/officeDocument/2006/relationships/slide" Target="slides/slide118.xml"/><Relationship Id="rId126" Type="http://schemas.openxmlformats.org/officeDocument/2006/relationships/slide" Target="slides/slide119.xml"/><Relationship Id="rId127" Type="http://schemas.openxmlformats.org/officeDocument/2006/relationships/slide" Target="slides/slide120.xml"/><Relationship Id="rId128" Type="http://schemas.openxmlformats.org/officeDocument/2006/relationships/slide" Target="slides/slide121.xml"/><Relationship Id="rId129" Type="http://schemas.openxmlformats.org/officeDocument/2006/relationships/slide" Target="slides/slide122.xml"/><Relationship Id="rId130" Type="http://schemas.openxmlformats.org/officeDocument/2006/relationships/slide" Target="slides/slide123.xml"/><Relationship Id="rId131" Type="http://schemas.openxmlformats.org/officeDocument/2006/relationships/slide" Target="slides/slide124.xml"/><Relationship Id="rId132" Type="http://schemas.openxmlformats.org/officeDocument/2006/relationships/slide" Target="slides/slide125.xml"/><Relationship Id="rId133" Type="http://schemas.openxmlformats.org/officeDocument/2006/relationships/slide" Target="slides/slide126.xml"/><Relationship Id="rId134" Type="http://schemas.openxmlformats.org/officeDocument/2006/relationships/slide" Target="slides/slide127.xml"/><Relationship Id="rId135" Type="http://schemas.openxmlformats.org/officeDocument/2006/relationships/slide" Target="slides/slide128.xml"/><Relationship Id="rId136" Type="http://schemas.openxmlformats.org/officeDocument/2006/relationships/slide" Target="slides/slide129.xml"/><Relationship Id="rId137" Type="http://schemas.openxmlformats.org/officeDocument/2006/relationships/slide" Target="slides/slide130.xml"/><Relationship Id="rId138" Type="http://schemas.openxmlformats.org/officeDocument/2006/relationships/slide" Target="slides/slide131.xml"/><Relationship Id="rId139" Type="http://schemas.openxmlformats.org/officeDocument/2006/relationships/slide" Target="slides/slide132.xml"/><Relationship Id="rId140" Type="http://schemas.openxmlformats.org/officeDocument/2006/relationships/slide" Target="slides/slide133.xml"/><Relationship Id="rId141" Type="http://schemas.openxmlformats.org/officeDocument/2006/relationships/slide" Target="slides/slide134.xml"/><Relationship Id="rId142" Type="http://schemas.openxmlformats.org/officeDocument/2006/relationships/slide" Target="slides/slide135.xml"/><Relationship Id="rId143" Type="http://schemas.openxmlformats.org/officeDocument/2006/relationships/slide" Target="slides/slide136.xml"/><Relationship Id="rId144" Type="http://schemas.openxmlformats.org/officeDocument/2006/relationships/slide" Target="slides/slide137.xml"/><Relationship Id="rId145" Type="http://schemas.openxmlformats.org/officeDocument/2006/relationships/slide" Target="slides/slide138.xml"/><Relationship Id="rId146" Type="http://schemas.openxmlformats.org/officeDocument/2006/relationships/slide" Target="slides/slide139.xml"/><Relationship Id="rId147" Type="http://schemas.openxmlformats.org/officeDocument/2006/relationships/slide" Target="slides/slide140.xml"/><Relationship Id="rId148" Type="http://schemas.openxmlformats.org/officeDocument/2006/relationships/slide" Target="slides/slide141.xml"/><Relationship Id="rId149" Type="http://schemas.openxmlformats.org/officeDocument/2006/relationships/slide" Target="slides/slide142.xml"/><Relationship Id="rId150" Type="http://schemas.openxmlformats.org/officeDocument/2006/relationships/slide" Target="slides/slide143.xml"/><Relationship Id="rId151" Type="http://schemas.openxmlformats.org/officeDocument/2006/relationships/slide" Target="slides/slide144.xml"/><Relationship Id="rId152" Type="http://schemas.openxmlformats.org/officeDocument/2006/relationships/slide" Target="slides/slide145.xml"/><Relationship Id="rId153" Type="http://schemas.openxmlformats.org/officeDocument/2006/relationships/slide" Target="slides/slide146.xml"/><Relationship Id="rId154" Type="http://schemas.openxmlformats.org/officeDocument/2006/relationships/slide" Target="slides/slide147.xml"/><Relationship Id="rId155" Type="http://schemas.openxmlformats.org/officeDocument/2006/relationships/slide" Target="slides/slide148.xml"/><Relationship Id="rId156" Type="http://schemas.openxmlformats.org/officeDocument/2006/relationships/slide" Target="slides/slide149.xml"/><Relationship Id="rId157" Type="http://schemas.openxmlformats.org/officeDocument/2006/relationships/slide" Target="slides/slide150.xml"/><Relationship Id="rId158" Type="http://schemas.openxmlformats.org/officeDocument/2006/relationships/slide" Target="slides/slide151.xml"/><Relationship Id="rId159" Type="http://schemas.openxmlformats.org/officeDocument/2006/relationships/slide" Target="slides/slide152.xml"/><Relationship Id="rId160" Type="http://schemas.openxmlformats.org/officeDocument/2006/relationships/slide" Target="slides/slide153.xml"/><Relationship Id="rId161" Type="http://schemas.openxmlformats.org/officeDocument/2006/relationships/slide" Target="slides/slide154.xml"/><Relationship Id="rId162" Type="http://schemas.openxmlformats.org/officeDocument/2006/relationships/slide" Target="slides/slide155.xml"/><Relationship Id="rId163" Type="http://schemas.openxmlformats.org/officeDocument/2006/relationships/slide" Target="slides/slide156.xml"/><Relationship Id="rId164" Type="http://schemas.openxmlformats.org/officeDocument/2006/relationships/slide" Target="slides/slide157.xml"/><Relationship Id="rId165" Type="http://schemas.openxmlformats.org/officeDocument/2006/relationships/slide" Target="slides/slide158.xml"/><Relationship Id="rId166" Type="http://schemas.openxmlformats.org/officeDocument/2006/relationships/slide" Target="slides/slide159.xml"/><Relationship Id="rId167" Type="http://schemas.openxmlformats.org/officeDocument/2006/relationships/slide" Target="slides/slide160.xml"/><Relationship Id="rId168" Type="http://schemas.openxmlformats.org/officeDocument/2006/relationships/slide" Target="slides/slide161.xml"/><Relationship Id="rId169" Type="http://schemas.openxmlformats.org/officeDocument/2006/relationships/slide" Target="slides/slide162.xml"/><Relationship Id="rId170" Type="http://schemas.openxmlformats.org/officeDocument/2006/relationships/slide" Target="slides/slide163.xml"/><Relationship Id="rId171" Type="http://schemas.openxmlformats.org/officeDocument/2006/relationships/slide" Target="slides/slide164.xml"/><Relationship Id="rId172" Type="http://schemas.openxmlformats.org/officeDocument/2006/relationships/slide" Target="slides/slide165.xml"/><Relationship Id="rId173" Type="http://schemas.openxmlformats.org/officeDocument/2006/relationships/slide" Target="slides/slide166.xml"/><Relationship Id="rId174" Type="http://schemas.openxmlformats.org/officeDocument/2006/relationships/slide" Target="slides/slide167.xml"/><Relationship Id="rId175" Type="http://schemas.openxmlformats.org/officeDocument/2006/relationships/slide" Target="slides/slide168.xml"/><Relationship Id="rId176" Type="http://schemas.openxmlformats.org/officeDocument/2006/relationships/slide" Target="slides/slide169.xml"/><Relationship Id="rId177" Type="http://schemas.openxmlformats.org/officeDocument/2006/relationships/slide" Target="slides/slide170.xml"/><Relationship Id="rId178" Type="http://schemas.openxmlformats.org/officeDocument/2006/relationships/slide" Target="slides/slide171.xml"/><Relationship Id="rId179" Type="http://schemas.openxmlformats.org/officeDocument/2006/relationships/slide" Target="slides/slide172.xml"/><Relationship Id="rId180" Type="http://schemas.openxmlformats.org/officeDocument/2006/relationships/slide" Target="slides/slide173.xml"/><Relationship Id="rId181" Type="http://schemas.openxmlformats.org/officeDocument/2006/relationships/slide" Target="slides/slide174.xml"/><Relationship Id="rId182" Type="http://schemas.openxmlformats.org/officeDocument/2006/relationships/slide" Target="slides/slide175.xml"/><Relationship Id="rId183" Type="http://schemas.openxmlformats.org/officeDocument/2006/relationships/slide" Target="slides/slide176.xml"/><Relationship Id="rId184" Type="http://schemas.openxmlformats.org/officeDocument/2006/relationships/slide" Target="slides/slide177.xml"/><Relationship Id="rId185" Type="http://schemas.openxmlformats.org/officeDocument/2006/relationships/slide" Target="slides/slide178.xml"/><Relationship Id="rId186" Type="http://schemas.openxmlformats.org/officeDocument/2006/relationships/slide" Target="slides/slide179.xml"/><Relationship Id="rId187" Type="http://schemas.openxmlformats.org/officeDocument/2006/relationships/slide" Target="slides/slide180.xml"/><Relationship Id="rId188" Type="http://schemas.openxmlformats.org/officeDocument/2006/relationships/slide" Target="slides/slide181.xml"/><Relationship Id="rId189" Type="http://schemas.openxmlformats.org/officeDocument/2006/relationships/slide" Target="slides/slide182.xml"/><Relationship Id="rId190" Type="http://schemas.openxmlformats.org/officeDocument/2006/relationships/slide" Target="slides/slide183.xml"/><Relationship Id="rId191" Type="http://schemas.openxmlformats.org/officeDocument/2006/relationships/slide" Target="slides/slide184.xml"/><Relationship Id="rId192" Type="http://schemas.openxmlformats.org/officeDocument/2006/relationships/slide" Target="slides/slide185.xml"/><Relationship Id="rId193" Type="http://schemas.openxmlformats.org/officeDocument/2006/relationships/slide" Target="slides/slide186.xml"/><Relationship Id="rId194" Type="http://schemas.openxmlformats.org/officeDocument/2006/relationships/slide" Target="slides/slide187.xml"/><Relationship Id="rId195" Type="http://schemas.openxmlformats.org/officeDocument/2006/relationships/slide" Target="slides/slide188.xml"/><Relationship Id="rId196" Type="http://schemas.openxmlformats.org/officeDocument/2006/relationships/slide" Target="slides/slide189.xml"/><Relationship Id="rId197" Type="http://schemas.openxmlformats.org/officeDocument/2006/relationships/slide" Target="slides/slide190.xml"/><Relationship Id="rId198" Type="http://schemas.openxmlformats.org/officeDocument/2006/relationships/slide" Target="slides/slide191.xml"/><Relationship Id="rId199" Type="http://schemas.openxmlformats.org/officeDocument/2006/relationships/slide" Target="slides/slide192.xml"/><Relationship Id="rId200" Type="http://schemas.openxmlformats.org/officeDocument/2006/relationships/slide" Target="slides/slide193.xml"/><Relationship Id="rId201" Type="http://schemas.openxmlformats.org/officeDocument/2006/relationships/slide" Target="slides/slide194.xml"/><Relationship Id="rId202" Type="http://schemas.openxmlformats.org/officeDocument/2006/relationships/slide" Target="slides/slide195.xml"/><Relationship Id="rId203" Type="http://schemas.openxmlformats.org/officeDocument/2006/relationships/slide" Target="slides/slide196.xml"/><Relationship Id="rId204" Type="http://schemas.openxmlformats.org/officeDocument/2006/relationships/slide" Target="slides/slide197.xml"/><Relationship Id="rId205" Type="http://schemas.openxmlformats.org/officeDocument/2006/relationships/slide" Target="slides/slide198.xml"/><Relationship Id="rId206" Type="http://schemas.openxmlformats.org/officeDocument/2006/relationships/slide" Target="slides/slide199.xml"/><Relationship Id="rId207" Type="http://schemas.openxmlformats.org/officeDocument/2006/relationships/slide" Target="slides/slide200.xml"/><Relationship Id="rId208" Type="http://schemas.openxmlformats.org/officeDocument/2006/relationships/slide" Target="slides/slide201.xml"/><Relationship Id="rId209" Type="http://schemas.openxmlformats.org/officeDocument/2006/relationships/slide" Target="slides/slide202.xml"/><Relationship Id="rId210" Type="http://schemas.openxmlformats.org/officeDocument/2006/relationships/slide" Target="slides/slide203.xml"/><Relationship Id="rId211" Type="http://schemas.openxmlformats.org/officeDocument/2006/relationships/slide" Target="slides/slide204.xml"/><Relationship Id="rId212" Type="http://schemas.openxmlformats.org/officeDocument/2006/relationships/slide" Target="slides/slide205.xml"/><Relationship Id="rId213" Type="http://schemas.openxmlformats.org/officeDocument/2006/relationships/slide" Target="slides/slide206.xml"/><Relationship Id="rId214" Type="http://schemas.openxmlformats.org/officeDocument/2006/relationships/slide" Target="slides/slide207.xml"/><Relationship Id="rId215" Type="http://schemas.openxmlformats.org/officeDocument/2006/relationships/slide" Target="slides/slide208.xml"/><Relationship Id="rId216" Type="http://schemas.openxmlformats.org/officeDocument/2006/relationships/slide" Target="slides/slide209.xml"/><Relationship Id="rId217" Type="http://schemas.openxmlformats.org/officeDocument/2006/relationships/slide" Target="slides/slide210.xml"/><Relationship Id="rId218" Type="http://schemas.openxmlformats.org/officeDocument/2006/relationships/slide" Target="slides/slide211.xml"/><Relationship Id="rId219" Type="http://schemas.openxmlformats.org/officeDocument/2006/relationships/slide" Target="slides/slide212.xml"/><Relationship Id="rId220" Type="http://schemas.openxmlformats.org/officeDocument/2006/relationships/slide" Target="slides/slide213.xml"/><Relationship Id="rId221" Type="http://schemas.openxmlformats.org/officeDocument/2006/relationships/slide" Target="slides/slide214.xml"/><Relationship Id="rId222" Type="http://schemas.openxmlformats.org/officeDocument/2006/relationships/slide" Target="slides/slide215.xml"/><Relationship Id="rId223" Type="http://schemas.openxmlformats.org/officeDocument/2006/relationships/slide" Target="slides/slide216.xml"/><Relationship Id="rId224" Type="http://schemas.openxmlformats.org/officeDocument/2006/relationships/slide" Target="slides/slide217.xml"/><Relationship Id="rId225" Type="http://schemas.openxmlformats.org/officeDocument/2006/relationships/slide" Target="slides/slide218.xml"/><Relationship Id="rId226" Type="http://schemas.openxmlformats.org/officeDocument/2006/relationships/slide" Target="slides/slide219.xml"/><Relationship Id="rId227" Type="http://schemas.openxmlformats.org/officeDocument/2006/relationships/slide" Target="slides/slide220.xml"/><Relationship Id="rId228" Type="http://schemas.openxmlformats.org/officeDocument/2006/relationships/slide" Target="slides/slide221.xml"/><Relationship Id="rId229" Type="http://schemas.openxmlformats.org/officeDocument/2006/relationships/slide" Target="slides/slide222.xml"/><Relationship Id="rId230" Type="http://schemas.openxmlformats.org/officeDocument/2006/relationships/slide" Target="slides/slide223.xml"/><Relationship Id="rId231" Type="http://schemas.openxmlformats.org/officeDocument/2006/relationships/slide" Target="slides/slide224.xml"/><Relationship Id="rId232" Type="http://schemas.openxmlformats.org/officeDocument/2006/relationships/slide" Target="slides/slide225.xml"/><Relationship Id="rId233" Type="http://schemas.openxmlformats.org/officeDocument/2006/relationships/slide" Target="slides/slide226.xml"/><Relationship Id="rId234" Type="http://schemas.openxmlformats.org/officeDocument/2006/relationships/slide" Target="slides/slide227.xml"/><Relationship Id="rId235" Type="http://schemas.openxmlformats.org/officeDocument/2006/relationships/slide" Target="slides/slide228.xml"/><Relationship Id="rId236" Type="http://schemas.openxmlformats.org/officeDocument/2006/relationships/slide" Target="slides/slide229.xml"/><Relationship Id="rId237" Type="http://schemas.openxmlformats.org/officeDocument/2006/relationships/slide" Target="slides/slide230.xml"/><Relationship Id="rId238" Type="http://schemas.openxmlformats.org/officeDocument/2006/relationships/slide" Target="slides/slide231.xml"/><Relationship Id="rId239" Type="http://schemas.openxmlformats.org/officeDocument/2006/relationships/slide" Target="slides/slide232.xml"/><Relationship Id="rId240" Type="http://schemas.openxmlformats.org/officeDocument/2006/relationships/slide" Target="slides/slide233.xml"/><Relationship Id="rId241" Type="http://schemas.openxmlformats.org/officeDocument/2006/relationships/slide" Target="slides/slide234.xml"/><Relationship Id="rId242" Type="http://schemas.openxmlformats.org/officeDocument/2006/relationships/slide" Target="slides/slide235.xml"/><Relationship Id="rId243" Type="http://schemas.openxmlformats.org/officeDocument/2006/relationships/slide" Target="slides/slide236.xml"/><Relationship Id="rId244" Type="http://schemas.openxmlformats.org/officeDocument/2006/relationships/slide" Target="slides/slide237.xml"/><Relationship Id="rId245" Type="http://schemas.openxmlformats.org/officeDocument/2006/relationships/slide" Target="slides/slide238.xml"/><Relationship Id="rId246" Type="http://schemas.openxmlformats.org/officeDocument/2006/relationships/slide" Target="slides/slide239.xml"/><Relationship Id="rId247" Type="http://schemas.openxmlformats.org/officeDocument/2006/relationships/slide" Target="slides/slide240.xml"/><Relationship Id="rId248" Type="http://schemas.openxmlformats.org/officeDocument/2006/relationships/slide" Target="slides/slide241.xml"/><Relationship Id="rId249" Type="http://schemas.openxmlformats.org/officeDocument/2006/relationships/slide" Target="slides/slide242.xml"/><Relationship Id="rId250" Type="http://schemas.openxmlformats.org/officeDocument/2006/relationships/slide" Target="slides/slide243.xml"/><Relationship Id="rId251" Type="http://schemas.openxmlformats.org/officeDocument/2006/relationships/slide" Target="slides/slide244.xml"/><Relationship Id="rId252" Type="http://schemas.openxmlformats.org/officeDocument/2006/relationships/slide" Target="slides/slide245.xml"/><Relationship Id="rId253" Type="http://schemas.openxmlformats.org/officeDocument/2006/relationships/slide" Target="slides/slide246.xml"/><Relationship Id="rId254" Type="http://schemas.openxmlformats.org/officeDocument/2006/relationships/slide" Target="slides/slide247.xml"/><Relationship Id="rId255" Type="http://schemas.openxmlformats.org/officeDocument/2006/relationships/slide" Target="slides/slide248.xml"/><Relationship Id="rId256" Type="http://schemas.openxmlformats.org/officeDocument/2006/relationships/slide" Target="slides/slide249.xml"/><Relationship Id="rId257" Type="http://schemas.openxmlformats.org/officeDocument/2006/relationships/slide" Target="slides/slide250.xml"/><Relationship Id="rId258" Type="http://schemas.openxmlformats.org/officeDocument/2006/relationships/slide" Target="slides/slide251.xml"/><Relationship Id="rId259" Type="http://schemas.openxmlformats.org/officeDocument/2006/relationships/slide" Target="slides/slide252.xml"/><Relationship Id="rId260" Type="http://schemas.openxmlformats.org/officeDocument/2006/relationships/slide" Target="slides/slide253.xml"/><Relationship Id="rId261" Type="http://schemas.openxmlformats.org/officeDocument/2006/relationships/slide" Target="slides/slide254.xml"/><Relationship Id="rId262" Type="http://schemas.openxmlformats.org/officeDocument/2006/relationships/slide" Target="slides/slide255.xml"/><Relationship Id="rId263" Type="http://schemas.openxmlformats.org/officeDocument/2006/relationships/slide" Target="slides/slide256.xml"/><Relationship Id="rId264" Type="http://schemas.openxmlformats.org/officeDocument/2006/relationships/slide" Target="slides/slide257.xml"/><Relationship Id="rId265" Type="http://schemas.openxmlformats.org/officeDocument/2006/relationships/slide" Target="slides/slide258.xml"/><Relationship Id="rId266" Type="http://schemas.openxmlformats.org/officeDocument/2006/relationships/slide" Target="slides/slide259.xml"/><Relationship Id="rId267" Type="http://schemas.openxmlformats.org/officeDocument/2006/relationships/slide" Target="slides/slide260.xml"/><Relationship Id="rId268" Type="http://schemas.openxmlformats.org/officeDocument/2006/relationships/slide" Target="slides/slide261.xml"/><Relationship Id="rId269" Type="http://schemas.openxmlformats.org/officeDocument/2006/relationships/slide" Target="slides/slide262.xml"/><Relationship Id="rId270" Type="http://schemas.openxmlformats.org/officeDocument/2006/relationships/slide" Target="slides/slide263.xml"/><Relationship Id="rId271" Type="http://schemas.openxmlformats.org/officeDocument/2006/relationships/slide" Target="slides/slide264.xml"/><Relationship Id="rId272" Type="http://schemas.openxmlformats.org/officeDocument/2006/relationships/slide" Target="slides/slide265.xml"/><Relationship Id="rId273" Type="http://schemas.openxmlformats.org/officeDocument/2006/relationships/slide" Target="slides/slide266.xml"/><Relationship Id="rId274" Type="http://schemas.openxmlformats.org/officeDocument/2006/relationships/slide" Target="slides/slide267.xml"/><Relationship Id="rId275" Type="http://schemas.openxmlformats.org/officeDocument/2006/relationships/slide" Target="slides/slide268.xml"/><Relationship Id="rId276" Type="http://schemas.openxmlformats.org/officeDocument/2006/relationships/slide" Target="slides/slide269.xml"/><Relationship Id="rId277" Type="http://schemas.openxmlformats.org/officeDocument/2006/relationships/slide" Target="slides/slide270.xml"/><Relationship Id="rId278" Type="http://schemas.openxmlformats.org/officeDocument/2006/relationships/slide" Target="slides/slide271.xml"/><Relationship Id="rId279" Type="http://schemas.openxmlformats.org/officeDocument/2006/relationships/slide" Target="slides/slide272.xml"/><Relationship Id="rId280" Type="http://schemas.openxmlformats.org/officeDocument/2006/relationships/slide" Target="slides/slide273.xml"/><Relationship Id="rId281" Type="http://schemas.openxmlformats.org/officeDocument/2006/relationships/slide" Target="slides/slide274.xml"/><Relationship Id="rId282" Type="http://schemas.openxmlformats.org/officeDocument/2006/relationships/slide" Target="slides/slide275.xml"/><Relationship Id="rId283" Type="http://schemas.openxmlformats.org/officeDocument/2006/relationships/slide" Target="slides/slide276.xml"/><Relationship Id="rId284" Type="http://schemas.openxmlformats.org/officeDocument/2006/relationships/slide" Target="slides/slide277.xml"/><Relationship Id="rId285" Type="http://schemas.openxmlformats.org/officeDocument/2006/relationships/slide" Target="slides/slide278.xml"/><Relationship Id="rId286" Type="http://schemas.openxmlformats.org/officeDocument/2006/relationships/slide" Target="slides/slide279.xml"/><Relationship Id="rId287" Type="http://schemas.openxmlformats.org/officeDocument/2006/relationships/slide" Target="slides/slide280.xml"/><Relationship Id="rId288" Type="http://schemas.openxmlformats.org/officeDocument/2006/relationships/slide" Target="slides/slide281.xml"/><Relationship Id="rId289" Type="http://schemas.openxmlformats.org/officeDocument/2006/relationships/slide" Target="slides/slide282.xml"/><Relationship Id="rId290" Type="http://schemas.openxmlformats.org/officeDocument/2006/relationships/slide" Target="slides/slide283.xml"/><Relationship Id="rId291" Type="http://schemas.openxmlformats.org/officeDocument/2006/relationships/slide" Target="slides/slide284.xml"/><Relationship Id="rId292" Type="http://schemas.openxmlformats.org/officeDocument/2006/relationships/slide" Target="slides/slide285.xml"/><Relationship Id="rId293" Type="http://schemas.openxmlformats.org/officeDocument/2006/relationships/slide" Target="slides/slide286.xml"/><Relationship Id="rId294" Type="http://schemas.openxmlformats.org/officeDocument/2006/relationships/slide" Target="slides/slide287.xml"/><Relationship Id="rId295" Type="http://schemas.openxmlformats.org/officeDocument/2006/relationships/slide" Target="slides/slide288.xml"/><Relationship Id="rId296" Type="http://schemas.openxmlformats.org/officeDocument/2006/relationships/slide" Target="slides/slide289.xml"/><Relationship Id="rId297" Type="http://schemas.openxmlformats.org/officeDocument/2006/relationships/slide" Target="slides/slide290.xml"/><Relationship Id="rId298" Type="http://schemas.openxmlformats.org/officeDocument/2006/relationships/slide" Target="slides/slide291.xml"/><Relationship Id="rId299" Type="http://schemas.openxmlformats.org/officeDocument/2006/relationships/slide" Target="slides/slide292.xml"/><Relationship Id="rId300" Type="http://schemas.openxmlformats.org/officeDocument/2006/relationships/slide" Target="slides/slide293.xml"/><Relationship Id="rId301" Type="http://schemas.openxmlformats.org/officeDocument/2006/relationships/slide" Target="slides/slide294.xml"/><Relationship Id="rId302" Type="http://schemas.openxmlformats.org/officeDocument/2006/relationships/slide" Target="slides/slide295.xml"/><Relationship Id="rId303" Type="http://schemas.openxmlformats.org/officeDocument/2006/relationships/slide" Target="slides/slide296.xml"/><Relationship Id="rId304" Type="http://schemas.openxmlformats.org/officeDocument/2006/relationships/slide" Target="slides/slide297.xml"/><Relationship Id="rId305" Type="http://schemas.openxmlformats.org/officeDocument/2006/relationships/slide" Target="slides/slide298.xml"/><Relationship Id="rId306" Type="http://schemas.openxmlformats.org/officeDocument/2006/relationships/slide" Target="slides/slide299.xml"/><Relationship Id="rId307" Type="http://schemas.openxmlformats.org/officeDocument/2006/relationships/slide" Target="slides/slide300.xml"/><Relationship Id="rId308" Type="http://schemas.openxmlformats.org/officeDocument/2006/relationships/slide" Target="slides/slide301.xml"/><Relationship Id="rId309" Type="http://schemas.openxmlformats.org/officeDocument/2006/relationships/slide" Target="slides/slide302.xml"/><Relationship Id="rId310" Type="http://schemas.openxmlformats.org/officeDocument/2006/relationships/slide" Target="slides/slide303.xml"/><Relationship Id="rId311" Type="http://schemas.openxmlformats.org/officeDocument/2006/relationships/slide" Target="slides/slide30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Sheet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Sheet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29.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Sheet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Sheet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Sheet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Sheet39.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Sheet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Sheet41.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Sheet42.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Sheet43.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Sheet44.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Sheet45.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Sheet46.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Sheet47.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Sheet48.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Sheet49.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Sheet50.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Sheet51.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Sheet52.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Sheet53.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Sheet54.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Sheet55.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Sheet56.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Sheet57.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Sheet58.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Sheet59.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Sheet60.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Sheet61.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Sheet62.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Sheet63.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Sheet64.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Sheet65.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Sheet66.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Sheet67.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Sheet68.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Sheet69.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Sheet70.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Sheet71.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Sheet72.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Sheet73.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Sheet74.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Sheet75.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Sheet76.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Sheet77.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Sheet78.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Sheet79.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Sheet80.xlsx"/></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Sheet81.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Sheet82.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Sheet83.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Sheet84.xlsx"/></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Sheet85.xlsx"/></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Sheet86.xlsx"/></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Sheet87.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Sheet88.xlsx"/></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Sheet89.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Sheet90.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Sheet91.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Sheet92.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Sheet93.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Sheet94.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Sheet95.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Sheet96.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Sheet97.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Excel_Sheet98.xlsx"/></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Excel_Sheet99.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Sheet100.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Excel_Sheet101.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Sheet102.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Sheet103.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Sheet104.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Sheet105.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Sheet106.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Sheet107.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Sheet108.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Sheet109.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Sheet110.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Sheet111.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Sheet112.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Sheet113.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Sheet114.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Sheet115.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Sheet116.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Sheet117.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Sheet118.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Sheet119.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Sheet120.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Sheet121.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Excel_Sheet122.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Excel_Sheet123.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Sheet124.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Sheet125.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Sheet126.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Sheet127.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Excel_Sheet128.xlsx"/></Relationships>
</file>

<file path=ppt/charts/_rels/chart129.xml.rels><?xml version='1.0' encoding='UTF-8' standalone='yes'?>
<Relationships xmlns="http://schemas.openxmlformats.org/package/2006/relationships"><Relationship Id="rId1" Type="http://schemas.openxmlformats.org/officeDocument/2006/relationships/package" Target="../embeddings/Microsoft_Excel_Sheet129.xlsx"/></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Sheet130.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Sheet131.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Sheet132.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Sheet133.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Sheet134.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Sheet135.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Sheet136.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Sheet137.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Sheet138.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Sheet139.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Sheet140.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Sheet141.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Sheet142.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Sheet143.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Sheet144.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Sheet145.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Excel_Sheet146.xlsx"/></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Excel_Sheet147.xlsx"/></Relationships>
</file>

<file path=ppt/charts/_rels/chart148.xml.rels><?xml version='1.0' encoding='UTF-8' standalone='yes'?>
<Relationships xmlns="http://schemas.openxmlformats.org/package/2006/relationships"><Relationship Id="rId1" Type="http://schemas.openxmlformats.org/officeDocument/2006/relationships/package" Target="../embeddings/Microsoft_Excel_Sheet148.xlsx"/></Relationships>
</file>

<file path=ppt/charts/_rels/chart149.xml.rels><?xml version='1.0' encoding='UTF-8' standalone='yes'?>
<Relationships xmlns="http://schemas.openxmlformats.org/package/2006/relationships"><Relationship Id="rId1" Type="http://schemas.openxmlformats.org/officeDocument/2006/relationships/package" Target="../embeddings/Microsoft_Excel_Sheet149.xlsx"/></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Excel_Sheet150.xlsx"/></Relationships>
</file>

<file path=ppt/charts/_rels/chart151.xml.rels><?xml version='1.0' encoding='UTF-8' standalone='yes'?>
<Relationships xmlns="http://schemas.openxmlformats.org/package/2006/relationships"><Relationship Id="rId1" Type="http://schemas.openxmlformats.org/officeDocument/2006/relationships/package" Target="../embeddings/Microsoft_Excel_Sheet151.xlsx"/></Relationships>
</file>

<file path=ppt/charts/_rels/chart152.xml.rels><?xml version='1.0' encoding='UTF-8' standalone='yes'?>
<Relationships xmlns="http://schemas.openxmlformats.org/package/2006/relationships"><Relationship Id="rId1" Type="http://schemas.openxmlformats.org/officeDocument/2006/relationships/package" Target="../embeddings/Microsoft_Excel_Sheet152.xlsx"/></Relationships>
</file>

<file path=ppt/charts/_rels/chart153.xml.rels><?xml version='1.0' encoding='UTF-8' standalone='yes'?>
<Relationships xmlns="http://schemas.openxmlformats.org/package/2006/relationships"><Relationship Id="rId1" Type="http://schemas.openxmlformats.org/officeDocument/2006/relationships/package" Target="../embeddings/Microsoft_Excel_Sheet153.xlsx"/></Relationships>
</file>

<file path=ppt/charts/_rels/chart154.xml.rels><?xml version='1.0' encoding='UTF-8' standalone='yes'?>
<Relationships xmlns="http://schemas.openxmlformats.org/package/2006/relationships"><Relationship Id="rId1" Type="http://schemas.openxmlformats.org/officeDocument/2006/relationships/package" Target="../embeddings/Microsoft_Excel_Sheet154.xlsx"/></Relationships>
</file>

<file path=ppt/charts/_rels/chart155.xml.rels><?xml version='1.0' encoding='UTF-8' standalone='yes'?>
<Relationships xmlns="http://schemas.openxmlformats.org/package/2006/relationships"><Relationship Id="rId1" Type="http://schemas.openxmlformats.org/officeDocument/2006/relationships/package" Target="../embeddings/Microsoft_Excel_Sheet155.xlsx"/></Relationships>
</file>

<file path=ppt/charts/_rels/chart156.xml.rels><?xml version='1.0' encoding='UTF-8' standalone='yes'?>
<Relationships xmlns="http://schemas.openxmlformats.org/package/2006/relationships"><Relationship Id="rId1" Type="http://schemas.openxmlformats.org/officeDocument/2006/relationships/package" Target="../embeddings/Microsoft_Excel_Sheet156.xlsx"/></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Excel_Sheet157.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3.215474479243574</c:v>
                </c:pt>
                <c:pt idx="1">
                  <c:v>3.61238926182077</c:v>
                </c:pt>
                <c:pt idx="2">
                  <c:v>3.4799150307714743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768353825603416"/>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2985701.5930000003</c:v>
                </c:pt>
                <c:pt idx="2">
                  <c:v>0.0</c:v>
                </c:pt>
                <c:pt idx="3">
                  <c:v>3497602.628</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2985701.5930000003</c:v>
                </c:pt>
                <c:pt idx="1">
                  <c:v>511901.0349999997</c:v>
                </c:pt>
                <c:pt idx="2">
                  <c:v>3497602.628</c:v>
                </c:pt>
                <c:pt idx="3">
                  <c:v>1489948.3929999997</c:v>
                </c:pt>
                <c:pt idx="4">
                  <c:v>4987551.021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3.9991764270067787</c:v>
                </c:pt>
                <c:pt idx="1">
                  <c:v>4.400292708053355</c:v>
                </c:pt>
                <c:pt idx="2">
                  <c:v>4.26641567809003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808386374630428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924.8689999999999</c:v>
                </c:pt>
                <c:pt idx="2">
                  <c:v>0.0</c:v>
                </c:pt>
                <c:pt idx="3">
                  <c:v>1125.2</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924.8689999999999</c:v>
                </c:pt>
                <c:pt idx="1">
                  <c:v>200.33100000000013</c:v>
                </c:pt>
                <c:pt idx="2">
                  <c:v>1125.2</c:v>
                </c:pt>
                <c:pt idx="3">
                  <c:v>605.6000000000001</c:v>
                </c:pt>
                <c:pt idx="4">
                  <c:v>1730.8000000000002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924.8689999999999</c:v>
                </c:pt>
                <c:pt idx="1">
                  <c:v>958.164</c:v>
                </c:pt>
                <c:pt idx="2">
                  <c:v>994.5740000000001</c:v>
                </c:pt>
                <c:pt idx="3">
                  <c:v>1034.357</c:v>
                </c:pt>
                <c:pt idx="4">
                  <c:v>1077.8</c:v>
                </c:pt>
              </c:numCache>
            </c:numRef>
          </c:val>
        </c:ser>
        <c:gapWidth val="50"/>
        <c:axId val="-2068027336"/>
        <c:axId val="-2113994440"/>
      </c:barChart>
      <c:barChart>
        <c:barDir val="col"/>
        <c:grouping val="clustered"/>
        <c:varyColors val="0"/>
        <c:ser>
          <c:idx val="1"/>
          <c:order val="1"/>
          <c:tx>
            <c:strRef>
              <c:f>Sheet1!$C$1</c:f>
              <c:strCache>
                <c:ptCount val="1"/>
                <c:pt idx="0">
                  <c:v>Volume (Units)</c:v>
                </c:pt>
              </c:strCache>
            </c:strRef>
          </c:tx>
          <c:spPr>
            <a:solidFill>
              <a:srgbClr val="C55A11"/>
            </a:solidFill>
            <a:ln>
              <a:noFill/>
            </a:ln>
          </c:spPr>
          <c:dLbls>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2985701.5930000003</c:v>
                </c:pt>
                <c:pt idx="1">
                  <c:v>3069885.951</c:v>
                </c:pt>
                <c:pt idx="2">
                  <c:v>3162546.981</c:v>
                </c:pt>
                <c:pt idx="3">
                  <c:v>3264250.4609999997</c:v>
                </c:pt>
                <c:pt idx="4">
                  <c:v>3375722.052</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27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4665559"/>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1125.2</c:v>
                </c:pt>
                <c:pt idx="1">
                  <c:v>1174.712</c:v>
                </c:pt>
                <c:pt idx="2">
                  <c:v>1226.403</c:v>
                </c:pt>
                <c:pt idx="3">
                  <c:v>1280.368</c:v>
                </c:pt>
                <c:pt idx="4">
                  <c:v>1336.708</c:v>
                </c:pt>
                <c:pt idx="5">
                  <c:v>1395.527</c:v>
                </c:pt>
                <c:pt idx="6">
                  <c:v>1456.9340000000002</c:v>
                </c:pt>
                <c:pt idx="7">
                  <c:v>1521.0439999999999</c:v>
                </c:pt>
                <c:pt idx="8">
                  <c:v>1587.974</c:v>
                </c:pt>
                <c:pt idx="9">
                  <c:v>1657.85</c:v>
                </c:pt>
                <c:pt idx="10">
                  <c:v>1730.8000000000002</c:v>
                </c:pt>
              </c:numCache>
            </c:numRef>
          </c:val>
        </c:ser>
        <c:gapWidth val="50"/>
        <c:axId val="-2068027336"/>
        <c:axId val="-2113994440"/>
      </c:barChart>
      <c:barChart>
        <c:barDir val="col"/>
        <c:grouping val="clustered"/>
        <c:varyColors val="0"/>
        <c:ser>
          <c:idx val="1"/>
          <c:order val="1"/>
          <c:tx>
            <c:strRef>
              <c:f>Sheet1!$C$1</c:f>
              <c:strCache>
                <c:ptCount val="1"/>
                <c:pt idx="0">
                  <c:v>Volume (Units)</c:v>
                </c:pt>
              </c:strCache>
            </c:strRef>
          </c:tx>
          <c:spPr>
            <a:solidFill>
              <a:srgbClr val="C55A11"/>
            </a:solidFill>
            <a:ln>
              <a:noFill/>
            </a:ln>
          </c:spPr>
          <c:dLbls>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3497602.628</c:v>
                </c:pt>
                <c:pt idx="1">
                  <c:v>3623984.807</c:v>
                </c:pt>
                <c:pt idx="2">
                  <c:v>3754922.3150000004</c:v>
                </c:pt>
                <c:pt idx="3">
                  <c:v>3890585.863</c:v>
                </c:pt>
                <c:pt idx="4">
                  <c:v>4031140.731</c:v>
                </c:pt>
                <c:pt idx="5">
                  <c:v>4176754.3109999998</c:v>
                </c:pt>
                <c:pt idx="6">
                  <c:v>4327640.784</c:v>
                </c:pt>
                <c:pt idx="7">
                  <c:v>4483940.468</c:v>
                </c:pt>
                <c:pt idx="8">
                  <c:v>4645896.989</c:v>
                </c:pt>
                <c:pt idx="9">
                  <c:v>4813703.564</c:v>
                </c:pt>
                <c:pt idx="10">
                  <c:v>4987551.021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204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7214180"/>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Mexico</c:v>
                </c:pt>
                <c:pt idx="1">
                  <c:v>China</c:v>
                </c:pt>
                <c:pt idx="2">
                  <c:v>Malaysia</c:v>
                </c:pt>
                <c:pt idx="3">
                  <c:v>Spain</c:v>
                </c:pt>
                <c:pt idx="4">
                  <c:v>Thailand</c:v>
                </c:pt>
                <c:pt idx="5">
                  <c:v>Brazil</c:v>
                </c:pt>
                <c:pt idx="6">
                  <c:v>France</c:v>
                </c:pt>
                <c:pt idx="7">
                  <c:v>Netherlands</c:v>
                </c:pt>
                <c:pt idx="8">
                  <c:v>Germany</c:v>
                </c:pt>
                <c:pt idx="9">
                  <c:v>India</c:v>
                </c:pt>
              </c:strCache>
            </c:strRef>
          </c:cat>
          <c:val>
            <c:numRef>
              <c:f>Sheet1!$B$2:$B$11</c:f>
              <c:numCache>
                <c:formatCode>General</c:formatCode>
                <c:ptCount val="10"/>
                <c:pt idx="0">
                  <c:v>102.1157429214519</c:v>
                </c:pt>
                <c:pt idx="1">
                  <c:v>102.61245026470091</c:v>
                </c:pt>
                <c:pt idx="2">
                  <c:v>107.52830750822118</c:v>
                </c:pt>
                <c:pt idx="3">
                  <c:v>117.05697538804678</c:v>
                </c:pt>
                <c:pt idx="4">
                  <c:v>121.1689882252827</c:v>
                </c:pt>
                <c:pt idx="5">
                  <c:v>121.76545665264453</c:v>
                </c:pt>
                <c:pt idx="6">
                  <c:v>126.74195903623655</c:v>
                </c:pt>
                <c:pt idx="7">
                  <c:v>132.07554966301777</c:v>
                </c:pt>
                <c:pt idx="8">
                  <c:v>135.85362756734023</c:v>
                </c:pt>
                <c:pt idx="9">
                  <c:v>140.790540599514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Thailand</c:v>
                </c:pt>
                <c:pt idx="1">
                  <c:v>Japan</c:v>
                </c:pt>
                <c:pt idx="2">
                  <c:v>U.K.</c:v>
                </c:pt>
                <c:pt idx="3">
                  <c:v>France</c:v>
                </c:pt>
                <c:pt idx="4">
                  <c:v>Brazil</c:v>
                </c:pt>
                <c:pt idx="5">
                  <c:v>India</c:v>
                </c:pt>
                <c:pt idx="6">
                  <c:v>China</c:v>
                </c:pt>
                <c:pt idx="7">
                  <c:v>Canada</c:v>
                </c:pt>
                <c:pt idx="8">
                  <c:v>Germany</c:v>
                </c:pt>
                <c:pt idx="9">
                  <c:v>U.S.</c:v>
                </c:pt>
              </c:strCache>
            </c:strRef>
          </c:cat>
          <c:val>
            <c:numRef>
              <c:f>Sheet1!$B$2:$B$11</c:f>
              <c:numCache>
                <c:formatCode>General</c:formatCode>
                <c:ptCount val="10"/>
                <c:pt idx="0">
                  <c:v>2.778401585204755</c:v>
                </c:pt>
                <c:pt idx="1">
                  <c:v>3.039960369881108</c:v>
                </c:pt>
                <c:pt idx="2">
                  <c:v>3.2810435931307795</c:v>
                </c:pt>
                <c:pt idx="3">
                  <c:v>3.8352047556142668</c:v>
                </c:pt>
                <c:pt idx="4">
                  <c:v>5.5209709379128125</c:v>
                </c:pt>
                <c:pt idx="5">
                  <c:v>7.460039630118888</c:v>
                </c:pt>
                <c:pt idx="6">
                  <c:v>7.737285336856006</c:v>
                </c:pt>
                <c:pt idx="7">
                  <c:v>9.13375165125495</c:v>
                </c:pt>
                <c:pt idx="8">
                  <c:v>14.818031704095109</c:v>
                </c:pt>
                <c:pt idx="9">
                  <c:v>16.062582562747682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tx>
                <c:rich>
                  <a:bodyPr/>
                  <a:lstStyle/>
                  <a:p>
                    <a:pPr>
                      <a:defRPr sz="1100" b="1">
                        <a:solidFill>
                          <a:srgbClr val="FFFFFF"/>
                        </a:solidFill>
                        <a:latin typeface="Calibri"/>
                      </a:defRPr>
                    </a:pPr>
                    <a:r>
                      <a:t>24.9%</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17.5%</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30.6%</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27.0%</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Sheet1!$B$2:$B$5</c:f>
              <c:numCache>
                <c:formatCode>General</c:formatCode>
                <c:ptCount val="4"/>
                <c:pt idx="0">
                  <c:v>431.107</c:v>
                </c:pt>
                <c:pt idx="1">
                  <c:v>302.657</c:v>
                </c:pt>
                <c:pt idx="2">
                  <c:v>529.801</c:v>
                </c:pt>
                <c:pt idx="3">
                  <c:v>467.235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0.05581631449339353</c:v>
                </c:pt>
                <c:pt idx="1">
                  <c:v>0.05630855974502243</c:v>
                </c:pt>
                <c:pt idx="2">
                  <c:v>0.057970896168556066</c:v>
                </c:pt>
                <c:pt idx="3">
                  <c:v>0.05916519612332781</c:v>
                </c:pt>
                <c:pt idx="4">
                  <c:v>0.05822105359151502</c:v>
                </c:pt>
                <c:pt idx="5">
                  <c:v>0.05672010905376134</c:v>
                </c:pt>
                <c:pt idx="6">
                  <c:v>0.054581666567176806</c:v>
                </c:pt>
                <c:pt idx="7">
                  <c:v>0.053113000406579125</c:v>
                </c:pt>
                <c:pt idx="8">
                  <c:v>0.05211237071474334</c:v>
                </c:pt>
                <c:pt idx="9">
                  <c:v>0.05099069710857258</c:v>
                </c:pt>
                <c:pt idx="10">
                  <c:v>0.050054624171048785</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0.039053877112995024</c:v>
                </c:pt>
                <c:pt idx="1">
                  <c:v>0.039851732384235464</c:v>
                </c:pt>
                <c:pt idx="2">
                  <c:v>0.04144744292671636</c:v>
                </c:pt>
                <c:pt idx="3">
                  <c:v>0.04264422583357702</c:v>
                </c:pt>
                <c:pt idx="4">
                  <c:v>0.0440404725582478</c:v>
                </c:pt>
                <c:pt idx="5">
                  <c:v>0.04543671928291857</c:v>
                </c:pt>
                <c:pt idx="6">
                  <c:v>0.046633502189779234</c:v>
                </c:pt>
                <c:pt idx="7">
                  <c:v>0.04703242982539946</c:v>
                </c:pt>
                <c:pt idx="8">
                  <c:v>0.046434038371969126</c:v>
                </c:pt>
                <c:pt idx="9">
                  <c:v>0.0460351107363489</c:v>
                </c:pt>
                <c:pt idx="10">
                  <c:v>0.04543671928291857</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0.02845725513198149</c:v>
                </c:pt>
                <c:pt idx="1">
                  <c:v>0.029618376656434332</c:v>
                </c:pt>
                <c:pt idx="2">
                  <c:v>0.030734839660715912</c:v>
                </c:pt>
                <c:pt idx="3">
                  <c:v>0.03149403450362739</c:v>
                </c:pt>
                <c:pt idx="4">
                  <c:v>0.03227803963552289</c:v>
                </c:pt>
                <c:pt idx="5">
                  <c:v>0.03283875216656209</c:v>
                </c:pt>
                <c:pt idx="6">
                  <c:v>0.03351855408472465</c:v>
                </c:pt>
                <c:pt idx="7">
                  <c:v>0.03409911484695107</c:v>
                </c:pt>
                <c:pt idx="8">
                  <c:v>0.03516595727326458</c:v>
                </c:pt>
                <c:pt idx="9">
                  <c:v>0.036887791328756615</c:v>
                </c:pt>
                <c:pt idx="10">
                  <c:v>0.037954633755070126</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North America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35.5010122665084</c:v>
                </c:pt>
                <c:pt idx="1">
                  <c:v>32.676611650445516</c:v>
                </c:pt>
              </c:numCache>
            </c:numRef>
          </c:val>
        </c:ser>
        <c:ser>
          <c:idx val="1"/>
          <c:order val="1"/>
          <c:tx>
            <c:strRef>
              <c:f>Sheet1!$C$1</c:f>
              <c:strCache>
                <c:ptCount val="1"/>
                <c:pt idx="0">
                  <c:v>Europe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25.19632393185633</c:v>
                </c:pt>
                <c:pt idx="1">
                  <c:v>26.82632894112704</c:v>
                </c:pt>
              </c:numCache>
            </c:numRef>
          </c:val>
        </c:ser>
        <c:ser>
          <c:idx val="2"/>
          <c:order val="2"/>
          <c:tx>
            <c:strRef>
              <c:f>Sheet1!$D$1</c:f>
              <c:strCache>
                <c:ptCount val="1"/>
                <c:pt idx="0">
                  <c:v>East Asia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12.92819454045767</c:v>
                </c:pt>
                <c:pt idx="1">
                  <c:v>12.813901658531023</c:v>
                </c:pt>
              </c:numCache>
            </c:numRef>
          </c:val>
        </c:ser>
        <c:ser>
          <c:idx val="3"/>
          <c:order val="3"/>
          <c:tx>
            <c:strRef>
              <c:f>Sheet1!$E$1</c:f>
              <c:strCache>
                <c:ptCount val="1"/>
                <c:pt idx="0">
                  <c:v>South Asia &amp; Pacific</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11.722180865195758</c:v>
                </c:pt>
                <c:pt idx="1">
                  <c:v>12.742296396049237</c:v>
                </c:pt>
              </c:numCache>
            </c:numRef>
          </c:val>
        </c:ser>
        <c:ser>
          <c:idx val="4"/>
          <c:order val="4"/>
          <c:tx>
            <c:strRef>
              <c:f>Sheet1!$F$1</c:f>
              <c:strCache>
                <c:ptCount val="1"/>
                <c:pt idx="0">
                  <c:v>Latin America</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7.941805389105511</c:v>
                </c:pt>
                <c:pt idx="1">
                  <c:v>8.269025705471575</c:v>
                </c:pt>
              </c:numCache>
            </c:numRef>
          </c:val>
        </c:ser>
        <c:ser>
          <c:idx val="5"/>
          <c:order val="5"/>
          <c:tx>
            <c:strRef>
              <c:f>Sheet1!$G$1</c:f>
              <c:strCache>
                <c:ptCount val="1"/>
                <c:pt idx="0">
                  <c:v>Middle East &amp; Africa</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6.7104830068763315</c:v>
                </c:pt>
                <c:pt idx="1">
                  <c:v>6.671835648375617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North America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32.99999999999999</c:v>
                </c:pt>
                <c:pt idx="1">
                  <c:v>30.269528541714813</c:v>
                </c:pt>
              </c:numCache>
            </c:numRef>
          </c:val>
        </c:ser>
        <c:ser>
          <c:idx val="1"/>
          <c:order val="1"/>
          <c:tx>
            <c:strRef>
              <c:f>Sheet1!$C$1</c:f>
              <c:strCache>
                <c:ptCount val="1"/>
                <c:pt idx="0">
                  <c:v>Europe</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27.00008887308923</c:v>
                </c:pt>
                <c:pt idx="1">
                  <c:v>28.628553270164087</c:v>
                </c:pt>
              </c:numCache>
            </c:numRef>
          </c:val>
        </c:ser>
        <c:ser>
          <c:idx val="2"/>
          <c:order val="2"/>
          <c:tx>
            <c:strRef>
              <c:f>Sheet1!$D$1</c:f>
              <c:strCache>
                <c:ptCount val="1"/>
                <c:pt idx="0">
                  <c:v>South Asia &amp; Pacific</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11.99991112691077</c:v>
                </c:pt>
                <c:pt idx="1">
                  <c:v>13.060261150912872</c:v>
                </c:pt>
              </c:numCache>
            </c:numRef>
          </c:val>
        </c:ser>
        <c:ser>
          <c:idx val="3"/>
          <c:order val="3"/>
          <c:tx>
            <c:strRef>
              <c:f>Sheet1!$E$1</c:f>
              <c:strCache>
                <c:ptCount val="1"/>
                <c:pt idx="0">
                  <c:v>East Asia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13.0</c:v>
                </c:pt>
                <c:pt idx="1">
                  <c:v>12.798994684538942</c:v>
                </c:pt>
              </c:numCache>
            </c:numRef>
          </c:val>
        </c:ser>
        <c:ser>
          <c:idx val="4"/>
          <c:order val="4"/>
          <c:tx>
            <c:strRef>
              <c:f>Sheet1!$F$1</c:f>
              <c:strCache>
                <c:ptCount val="1"/>
                <c:pt idx="0">
                  <c:v>Latin America</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8.0</c:v>
                </c:pt>
                <c:pt idx="1">
                  <c:v>8.314536630459903</c:v>
                </c:pt>
              </c:numCache>
            </c:numRef>
          </c:val>
        </c:ser>
        <c:ser>
          <c:idx val="5"/>
          <c:order val="5"/>
          <c:tx>
            <c:strRef>
              <c:f>Sheet1!$G$1</c:f>
              <c:strCache>
                <c:ptCount val="1"/>
                <c:pt idx="0">
                  <c:v>Middle East &amp; Africa</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6.999999999999999</c:v>
                </c:pt>
                <c:pt idx="1">
                  <c:v>6.928125722209383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North America</c:v>
                </c:pt>
              </c:strCache>
            </c:strRef>
          </c:tx>
          <c:spPr>
            <a:solidFill>
              <a:srgbClr val="3D85C6"/>
            </a:solidFill>
            <a:ln>
              <a:noFill/>
            </a:ln>
          </c:spPr>
          <c:dLbls>
            <c:dLbl>
              <c:idx val="0"/>
              <c:tx>
                <c:rich>
                  <a:bodyPr/>
                  <a:lstStyle/>
                  <a:p>
                    <a:r>
                      <a:rPr sz="1100">
                        <a:solidFill>
                          <a:srgbClr val="FFFFFF"/>
                        </a:solidFill>
                        <a:latin typeface="Calibri"/>
                      </a:rPr>
                      <a:t>1.1M</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1.1M</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1.1M</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1.2M</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1.2M</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1.2M</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1.3M</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1.3M</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1.3M</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1.4M</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1.4M</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1.5M</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1.5M</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1.5M</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1.6M</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1.6M</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1101518.448</c:v>
                </c:pt>
                <c:pt idx="1">
                  <c:v>1124091.437</c:v>
                </c:pt>
                <c:pt idx="2">
                  <c:v>1149246.427</c:v>
                </c:pt>
                <c:pt idx="3">
                  <c:v>1177115.154</c:v>
                </c:pt>
                <c:pt idx="4">
                  <c:v>1207879.891</c:v>
                </c:pt>
                <c:pt idx="5">
                  <c:v>1241684.338</c:v>
                </c:pt>
                <c:pt idx="6">
                  <c:v>1276436.119</c:v>
                </c:pt>
                <c:pt idx="7">
                  <c:v>1312042.414</c:v>
                </c:pt>
                <c:pt idx="8">
                  <c:v>1348522.328</c:v>
                </c:pt>
                <c:pt idx="9">
                  <c:v>1385891.187</c:v>
                </c:pt>
                <c:pt idx="10">
                  <c:v>1424163.206</c:v>
                </c:pt>
                <c:pt idx="11">
                  <c:v>1463366.568</c:v>
                </c:pt>
                <c:pt idx="12">
                  <c:v>1503502.321</c:v>
                </c:pt>
                <c:pt idx="13">
                  <c:v>1544604.342</c:v>
                </c:pt>
                <c:pt idx="14">
                  <c:v>1586687.222</c:v>
                </c:pt>
                <c:pt idx="15">
                  <c:v>1629762.678</c:v>
                </c:pt>
              </c:numCache>
            </c:numRef>
          </c:val>
        </c:ser>
        <c:ser>
          <c:idx val="1"/>
          <c:order val="1"/>
          <c:tx>
            <c:strRef>
              <c:f>Sheet1!$C$1</c:f>
              <c:strCache>
                <c:ptCount val="1"/>
                <c:pt idx="0">
                  <c:v>Europe</c:v>
                </c:pt>
              </c:strCache>
            </c:strRef>
          </c:tx>
          <c:spPr>
            <a:solidFill>
              <a:srgbClr val="9E7E0A"/>
            </a:solidFill>
            <a:ln>
              <a:noFill/>
            </a:ln>
          </c:spPr>
          <c:dLbls>
            <c:dLbl>
              <c:idx val="0"/>
              <c:tx>
                <c:rich>
                  <a:bodyPr/>
                  <a:lstStyle/>
                  <a:p>
                    <a:r>
                      <a:rPr sz="1100">
                        <a:solidFill>
                          <a:srgbClr val="FFFFFF"/>
                        </a:solidFill>
                        <a:latin typeface="Calibri"/>
                      </a:rPr>
                      <a:t>729,489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754,646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782,203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812,343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845,294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881,267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918,775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957,899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998,707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1.0M</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1.1M</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1.1M</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1.2M</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1.2M</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1.3M</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1.3M</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729489.258</c:v>
                </c:pt>
                <c:pt idx="1">
                  <c:v>754646.284</c:v>
                </c:pt>
                <c:pt idx="2">
                  <c:v>782203.159</c:v>
                </c:pt>
                <c:pt idx="3">
                  <c:v>812343.222</c:v>
                </c:pt>
                <c:pt idx="4">
                  <c:v>845294.08</c:v>
                </c:pt>
                <c:pt idx="5">
                  <c:v>881267.288</c:v>
                </c:pt>
                <c:pt idx="6">
                  <c:v>918775.489</c:v>
                </c:pt>
                <c:pt idx="7">
                  <c:v>957898.531</c:v>
                </c:pt>
                <c:pt idx="8">
                  <c:v>998707.172</c:v>
                </c:pt>
                <c:pt idx="9">
                  <c:v>1041272.155</c:v>
                </c:pt>
                <c:pt idx="10">
                  <c:v>1085666.133</c:v>
                </c:pt>
                <c:pt idx="11">
                  <c:v>1131975.386</c:v>
                </c:pt>
                <c:pt idx="12">
                  <c:v>1180268.461</c:v>
                </c:pt>
                <c:pt idx="13">
                  <c:v>1230642.49</c:v>
                </c:pt>
                <c:pt idx="14">
                  <c:v>1283183.092</c:v>
                </c:pt>
                <c:pt idx="15">
                  <c:v>1337976.843</c:v>
                </c:pt>
              </c:numCache>
            </c:numRef>
          </c:val>
        </c:ser>
        <c:ser>
          <c:idx val="2"/>
          <c:order val="2"/>
          <c:tx>
            <c:strRef>
              <c:f>Sheet1!$D$1</c:f>
              <c:strCache>
                <c:ptCount val="1"/>
                <c:pt idx="0">
                  <c:v>East Asia</c:v>
                </c:pt>
              </c:strCache>
            </c:strRef>
          </c:tx>
          <c:spPr>
            <a:solidFill>
              <a:srgbClr val="008189"/>
            </a:solidFill>
            <a:ln>
              <a:noFill/>
            </a:ln>
          </c:spPr>
          <c:dLbls>
            <c:dLbl>
              <c:idx val="0"/>
              <c:tx>
                <c:rich>
                  <a:bodyPr/>
                  <a:lstStyle/>
                  <a:p>
                    <a:r>
                      <a:rPr sz="1100">
                        <a:solidFill>
                          <a:srgbClr val="FFFFFF"/>
                        </a:solidFill>
                        <a:latin typeface="Calibri"/>
                      </a:rPr>
                      <a:t>386,476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397,342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409,268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422,325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436,602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452,177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468,282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484,918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502,101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519,848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538,172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557,096</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576,629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596,797</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617,615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639,100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386476.418</c:v>
                </c:pt>
                <c:pt idx="1">
                  <c:v>397341.639</c:v>
                </c:pt>
                <c:pt idx="2">
                  <c:v>409268.037</c:v>
                </c:pt>
                <c:pt idx="3">
                  <c:v>422325.037</c:v>
                </c:pt>
                <c:pt idx="4">
                  <c:v>436602.076</c:v>
                </c:pt>
                <c:pt idx="5">
                  <c:v>452176.872</c:v>
                </c:pt>
                <c:pt idx="6">
                  <c:v>468281.96</c:v>
                </c:pt>
                <c:pt idx="7">
                  <c:v>484917.967</c:v>
                </c:pt>
                <c:pt idx="8">
                  <c:v>502101.397</c:v>
                </c:pt>
                <c:pt idx="9">
                  <c:v>519847.68</c:v>
                </c:pt>
                <c:pt idx="10">
                  <c:v>538172.126</c:v>
                </c:pt>
                <c:pt idx="11">
                  <c:v>557095.661</c:v>
                </c:pt>
                <c:pt idx="12">
                  <c:v>576629.258</c:v>
                </c:pt>
                <c:pt idx="13">
                  <c:v>596796.734</c:v>
                </c:pt>
                <c:pt idx="14">
                  <c:v>617614.93</c:v>
                </c:pt>
                <c:pt idx="15">
                  <c:v>639099.883</c:v>
                </c:pt>
              </c:numCache>
            </c:numRef>
          </c:val>
        </c:ser>
        <c:ser>
          <c:idx val="3"/>
          <c:order val="3"/>
          <c:tx>
            <c:strRef>
              <c:f>Sheet1!$E$1</c:f>
              <c:strCache>
                <c:ptCount val="1"/>
                <c:pt idx="0">
                  <c:v>South Asia &amp; Pacific</c:v>
                </c:pt>
              </c:strCache>
            </c:strRef>
          </c:tx>
          <c:spPr>
            <a:solidFill>
              <a:srgbClr val="40315E"/>
            </a:solidFill>
            <a:ln>
              <a:noFill/>
            </a:ln>
          </c:spPr>
          <c:dLbls>
            <c:dLbl>
              <c:idx val="0"/>
              <c:tx>
                <c:rich>
                  <a:bodyPr/>
                  <a:lstStyle/>
                  <a:p>
                    <a:r>
                      <a:rPr sz="1100">
                        <a:solidFill>
                          <a:srgbClr val="FFFFFF"/>
                        </a:solidFill>
                        <a:latin typeface="Calibri"/>
                      </a:rPr>
                      <a:t>335,663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348,015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361,525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376,284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392,405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409,995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428,362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447,554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467,608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488,561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510,453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533,329</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557,225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582,193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608,279</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635,529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335663.106</c:v>
                </c:pt>
                <c:pt idx="1">
                  <c:v>348015.348</c:v>
                </c:pt>
                <c:pt idx="2">
                  <c:v>361524.999</c:v>
                </c:pt>
                <c:pt idx="3">
                  <c:v>376283.924</c:v>
                </c:pt>
                <c:pt idx="4">
                  <c:v>392405.21</c:v>
                </c:pt>
                <c:pt idx="5">
                  <c:v>409995.306</c:v>
                </c:pt>
                <c:pt idx="6">
                  <c:v>428362.328</c:v>
                </c:pt>
                <c:pt idx="7">
                  <c:v>447554.103</c:v>
                </c:pt>
                <c:pt idx="8">
                  <c:v>467607.952</c:v>
                </c:pt>
                <c:pt idx="9">
                  <c:v>488561.429</c:v>
                </c:pt>
                <c:pt idx="10">
                  <c:v>510453.201</c:v>
                </c:pt>
                <c:pt idx="11">
                  <c:v>533328.597</c:v>
                </c:pt>
                <c:pt idx="12">
                  <c:v>557224.844</c:v>
                </c:pt>
                <c:pt idx="13">
                  <c:v>582192.914</c:v>
                </c:pt>
                <c:pt idx="14">
                  <c:v>608278.626</c:v>
                </c:pt>
                <c:pt idx="15">
                  <c:v>635528.534</c:v>
                </c:pt>
              </c:numCache>
            </c:numRef>
          </c:val>
        </c:ser>
        <c:ser>
          <c:idx val="4"/>
          <c:order val="4"/>
          <c:tx>
            <c:strRef>
              <c:f>Sheet1!$F$1</c:f>
              <c:strCache>
                <c:ptCount val="1"/>
                <c:pt idx="0">
                  <c:v>Latin America</c:v>
                </c:pt>
              </c:strCache>
            </c:strRef>
          </c:tx>
          <c:spPr>
            <a:solidFill>
              <a:srgbClr val="A35313"/>
            </a:solidFill>
            <a:ln>
              <a:noFill/>
            </a:ln>
          </c:spPr>
          <c:dLbls>
            <c:dLbl>
              <c:idx val="7"/>
              <c:tx>
                <c:rich>
                  <a:bodyPr/>
                  <a:lstStyle/>
                  <a:p>
                    <a:r>
                      <a:rPr sz="1100">
                        <a:solidFill>
                          <a:srgbClr val="FFFFFF"/>
                        </a:solidFill>
                        <a:latin typeface="Calibri"/>
                      </a:rPr>
                      <a:t>300,758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312,928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325,572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338,708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352,355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366,528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381,251</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396,542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412,422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231877.942</c:v>
                </c:pt>
                <c:pt idx="1">
                  <c:v>239508.227</c:v>
                </c:pt>
                <c:pt idx="2">
                  <c:v>247855.575</c:v>
                </c:pt>
                <c:pt idx="3">
                  <c:v>256972.547</c:v>
                </c:pt>
                <c:pt idx="4">
                  <c:v>266924.977</c:v>
                </c:pt>
                <c:pt idx="5">
                  <c:v>277772.794</c:v>
                </c:pt>
                <c:pt idx="6">
                  <c:v>289044.81</c:v>
                </c:pt>
                <c:pt idx="7">
                  <c:v>300757.531</c:v>
                </c:pt>
                <c:pt idx="8">
                  <c:v>312927.838</c:v>
                </c:pt>
                <c:pt idx="9">
                  <c:v>325572.266</c:v>
                </c:pt>
                <c:pt idx="10">
                  <c:v>338707.605</c:v>
                </c:pt>
                <c:pt idx="11">
                  <c:v>352354.528</c:v>
                </c:pt>
                <c:pt idx="12">
                  <c:v>366527.784</c:v>
                </c:pt>
                <c:pt idx="13">
                  <c:v>381250.627</c:v>
                </c:pt>
                <c:pt idx="14">
                  <c:v>396542.292</c:v>
                </c:pt>
                <c:pt idx="15">
                  <c:v>412421.876</c:v>
                </c:pt>
              </c:numCache>
            </c:numRef>
          </c:val>
        </c:ser>
        <c:ser>
          <c:idx val="5"/>
          <c:order val="5"/>
          <c:tx>
            <c:strRef>
              <c:f>Sheet1!$G$1</c:f>
              <c:strCache>
                <c:ptCount val="1"/>
                <c:pt idx="0">
                  <c:v>Middle East &amp; Africa</c:v>
                </c:pt>
              </c:strCache>
            </c:strRef>
          </c:tx>
          <c:spPr>
            <a:solidFill>
              <a:srgbClr val="808080"/>
            </a:solidFill>
            <a:ln>
              <a:noFill/>
            </a:ln>
          </c:spPr>
          <c:dLbls>
            <c:dLbl>
              <c:idx val="12"/>
              <c:tx>
                <c:rich>
                  <a:bodyPr/>
                  <a:lstStyle/>
                  <a:p>
                    <a:r>
                      <a:rPr sz="1100">
                        <a:solidFill>
                          <a:srgbClr val="FFFFFF"/>
                        </a:solidFill>
                        <a:latin typeface="Calibri"/>
                      </a:rPr>
                      <a:t>299,788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310,410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321,397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332,761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200676.421</c:v>
                </c:pt>
                <c:pt idx="1">
                  <c:v>206283.016</c:v>
                </c:pt>
                <c:pt idx="2">
                  <c:v>212448.784</c:v>
                </c:pt>
                <c:pt idx="3">
                  <c:v>219210.577</c:v>
                </c:pt>
                <c:pt idx="4">
                  <c:v>226615.818</c:v>
                </c:pt>
                <c:pt idx="5">
                  <c:v>234706.03</c:v>
                </c:pt>
                <c:pt idx="6">
                  <c:v>243084.101</c:v>
                </c:pt>
                <c:pt idx="7">
                  <c:v>251751.769</c:v>
                </c:pt>
                <c:pt idx="8">
                  <c:v>260719.176</c:v>
                </c:pt>
                <c:pt idx="9">
                  <c:v>269996.014</c:v>
                </c:pt>
                <c:pt idx="10">
                  <c:v>279592.04</c:v>
                </c:pt>
                <c:pt idx="11">
                  <c:v>289520.044</c:v>
                </c:pt>
                <c:pt idx="12">
                  <c:v>299787.8</c:v>
                </c:pt>
                <c:pt idx="13">
                  <c:v>310409.882</c:v>
                </c:pt>
                <c:pt idx="14">
                  <c:v>321397.402</c:v>
                </c:pt>
                <c:pt idx="15">
                  <c:v>332761.207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North America</c:v>
                </c:pt>
              </c:strCache>
            </c:strRef>
          </c:tx>
          <c:spPr>
            <a:solidFill>
              <a:srgbClr val="3D85C6"/>
            </a:solidFill>
            <a:ln>
              <a:noFill/>
            </a:ln>
          </c:spPr>
          <c:dLbls>
            <c:dLbl>
              <c:idx val="0"/>
              <c:tx>
                <c:rich>
                  <a:bodyPr/>
                  <a:lstStyle/>
                  <a:p>
                    <a:r>
                      <a:rPr sz="1100">
                        <a:solidFill>
                          <a:srgbClr val="FFFFFF"/>
                        </a:solidFill>
                        <a:latin typeface="Calibri"/>
                      </a:rPr>
                      <a:t>318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347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359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371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384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398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412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427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442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457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473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489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506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317.71</c:v>
                </c:pt>
                <c:pt idx="1">
                  <c:v>326.573</c:v>
                </c:pt>
                <c:pt idx="2">
                  <c:v>336.3</c:v>
                </c:pt>
                <c:pt idx="3">
                  <c:v>346.954</c:v>
                </c:pt>
                <c:pt idx="4">
                  <c:v>358.609</c:v>
                </c:pt>
                <c:pt idx="5">
                  <c:v>371.316</c:v>
                </c:pt>
                <c:pt idx="6">
                  <c:v>384.476</c:v>
                </c:pt>
                <c:pt idx="7">
                  <c:v>398.068</c:v>
                </c:pt>
                <c:pt idx="8">
                  <c:v>412.101</c:v>
                </c:pt>
                <c:pt idx="9">
                  <c:v>426.594</c:v>
                </c:pt>
                <c:pt idx="10">
                  <c:v>441.556</c:v>
                </c:pt>
                <c:pt idx="11">
                  <c:v>457.002</c:v>
                </c:pt>
                <c:pt idx="12">
                  <c:v>472.944</c:v>
                </c:pt>
                <c:pt idx="13">
                  <c:v>489.4</c:v>
                </c:pt>
                <c:pt idx="14">
                  <c:v>506.381</c:v>
                </c:pt>
                <c:pt idx="15">
                  <c:v>523.905</c:v>
                </c:pt>
              </c:numCache>
            </c:numRef>
          </c:val>
        </c:ser>
        <c:ser>
          <c:idx val="1"/>
          <c:order val="1"/>
          <c:tx>
            <c:strRef>
              <c:f>Sheet1!$C$1</c:f>
              <c:strCache>
                <c:ptCount val="1"/>
                <c:pt idx="0">
                  <c:v>Europe</c:v>
                </c:pt>
              </c:strCache>
            </c:strRef>
          </c:tx>
          <c:spPr>
            <a:solidFill>
              <a:srgbClr val="9E7E0A"/>
            </a:solidFill>
            <a:ln>
              <a:noFill/>
            </a:ln>
          </c:spPr>
          <c:dLbls>
            <c:dLbl>
              <c:idx val="0"/>
              <c:tx>
                <c:rich>
                  <a:bodyPr/>
                  <a:lstStyle/>
                  <a:p>
                    <a:r>
                      <a:rPr sz="1100">
                        <a:solidFill>
                          <a:srgbClr val="FFFFFF"/>
                        </a:solidFill>
                        <a:latin typeface="Calibri"/>
                      </a:rPr>
                      <a:t>243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264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276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289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304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319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335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352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369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388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407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428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449</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472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496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242.63</c:v>
                </c:pt>
                <c:pt idx="1">
                  <c:v>252.8</c:v>
                </c:pt>
                <c:pt idx="2">
                  <c:v>263.919</c:v>
                </c:pt>
                <c:pt idx="3">
                  <c:v>276.06</c:v>
                </c:pt>
                <c:pt idx="4">
                  <c:v>289.32</c:v>
                </c:pt>
                <c:pt idx="5">
                  <c:v>303.805</c:v>
                </c:pt>
                <c:pt idx="6">
                  <c:v>319.011</c:v>
                </c:pt>
                <c:pt idx="7">
                  <c:v>334.986</c:v>
                </c:pt>
                <c:pt idx="8">
                  <c:v>351.77</c:v>
                </c:pt>
                <c:pt idx="9">
                  <c:v>369.4</c:v>
                </c:pt>
                <c:pt idx="10">
                  <c:v>387.92</c:v>
                </c:pt>
                <c:pt idx="11">
                  <c:v>407.372</c:v>
                </c:pt>
                <c:pt idx="12">
                  <c:v>427.808</c:v>
                </c:pt>
                <c:pt idx="13">
                  <c:v>449.271</c:v>
                </c:pt>
                <c:pt idx="14">
                  <c:v>471.822</c:v>
                </c:pt>
                <c:pt idx="15">
                  <c:v>495.503</c:v>
                </c:pt>
              </c:numCache>
            </c:numRef>
          </c:val>
        </c:ser>
        <c:ser>
          <c:idx val="2"/>
          <c:order val="2"/>
          <c:tx>
            <c:strRef>
              <c:f>Sheet1!$D$1</c:f>
              <c:strCache>
                <c:ptCount val="1"/>
                <c:pt idx="0">
                  <c:v>East Asia</c:v>
                </c:pt>
              </c:strCache>
            </c:strRef>
          </c:tx>
          <c:spPr>
            <a:solidFill>
              <a:srgbClr val="008189"/>
            </a:solidFill>
            <a:ln>
              <a:noFill/>
            </a:ln>
          </c:spPr>
          <c:dLbls>
            <c:dLbl>
              <c:idx val="0"/>
              <c:tx>
                <c:rich>
                  <a:bodyPr/>
                  <a:lstStyle/>
                  <a:p>
                    <a:r>
                      <a:rPr sz="1100">
                        <a:solidFill>
                          <a:srgbClr val="FFFFFF"/>
                        </a:solidFill>
                        <a:latin typeface="Calibri"/>
                      </a:rPr>
                      <a:t>121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140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146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173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180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188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196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204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213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120.782</c:v>
                </c:pt>
                <c:pt idx="1">
                  <c:v>125.038</c:v>
                </c:pt>
                <c:pt idx="2">
                  <c:v>129.682</c:v>
                </c:pt>
                <c:pt idx="3">
                  <c:v>134.747</c:v>
                </c:pt>
                <c:pt idx="4">
                  <c:v>140.266</c:v>
                </c:pt>
                <c:pt idx="5">
                  <c:v>146.276</c:v>
                </c:pt>
                <c:pt idx="6">
                  <c:v>152.535</c:v>
                </c:pt>
                <c:pt idx="7">
                  <c:v>159.049</c:v>
                </c:pt>
                <c:pt idx="8">
                  <c:v>165.825</c:v>
                </c:pt>
                <c:pt idx="9">
                  <c:v>172.875</c:v>
                </c:pt>
                <c:pt idx="10">
                  <c:v>180.209</c:v>
                </c:pt>
                <c:pt idx="11">
                  <c:v>187.84</c:v>
                </c:pt>
                <c:pt idx="12">
                  <c:v>195.773</c:v>
                </c:pt>
                <c:pt idx="13">
                  <c:v>204.023</c:v>
                </c:pt>
                <c:pt idx="14">
                  <c:v>212.604</c:v>
                </c:pt>
                <c:pt idx="15">
                  <c:v>221.525</c:v>
                </c:pt>
              </c:numCache>
            </c:numRef>
          </c:val>
        </c:ser>
        <c:ser>
          <c:idx val="3"/>
          <c:order val="3"/>
          <c:tx>
            <c:strRef>
              <c:f>Sheet1!$E$1</c:f>
              <c:strCache>
                <c:ptCount val="1"/>
                <c:pt idx="0">
                  <c:v>South Asia &amp; Pacific</c:v>
                </c:pt>
              </c:strCache>
            </c:strRef>
          </c:tx>
          <c:spPr>
            <a:solidFill>
              <a:srgbClr val="40315E"/>
            </a:solidFill>
            <a:ln>
              <a:noFill/>
            </a:ln>
          </c:spPr>
          <c:dLbls>
            <c:dLbl>
              <c:idx val="0"/>
              <c:tx>
                <c:rich>
                  <a:bodyPr/>
                  <a:lstStyle/>
                  <a:p>
                    <a:r>
                      <a:rPr sz="1100">
                        <a:solidFill>
                          <a:srgbClr val="FFFFFF"/>
                        </a:solidFill>
                        <a:latin typeface="Calibri"/>
                      </a:rPr>
                      <a:t>106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122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128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142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175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184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194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204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215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106.342</c:v>
                </c:pt>
                <c:pt idx="1">
                  <c:v>111.116</c:v>
                </c:pt>
                <c:pt idx="2">
                  <c:v>116.326</c:v>
                </c:pt>
                <c:pt idx="3">
                  <c:v>122.018</c:v>
                </c:pt>
                <c:pt idx="4">
                  <c:v>128.233</c:v>
                </c:pt>
                <c:pt idx="5">
                  <c:v>135.023</c:v>
                </c:pt>
                <c:pt idx="6">
                  <c:v>142.169</c:v>
                </c:pt>
                <c:pt idx="7">
                  <c:v>149.687</c:v>
                </c:pt>
                <c:pt idx="8">
                  <c:v>157.606</c:v>
                </c:pt>
                <c:pt idx="9">
                  <c:v>165.942</c:v>
                </c:pt>
                <c:pt idx="10">
                  <c:v>174.718</c:v>
                </c:pt>
                <c:pt idx="11">
                  <c:v>183.958</c:v>
                </c:pt>
                <c:pt idx="12">
                  <c:v>193.685</c:v>
                </c:pt>
                <c:pt idx="13">
                  <c:v>203.922</c:v>
                </c:pt>
                <c:pt idx="14">
                  <c:v>214.699</c:v>
                </c:pt>
                <c:pt idx="15">
                  <c:v>226.047</c:v>
                </c:pt>
              </c:numCache>
            </c:numRef>
          </c:val>
        </c:ser>
        <c:ser>
          <c:idx val="4"/>
          <c:order val="4"/>
          <c:tx>
            <c:strRef>
              <c:f>Sheet1!$F$1</c:f>
              <c:strCache>
                <c:ptCount val="1"/>
                <c:pt idx="0">
                  <c:v>Latin America</c:v>
                </c:pt>
              </c:strCache>
            </c:strRef>
          </c:tx>
          <c:spPr>
            <a:solidFill>
              <a:srgbClr val="A35313"/>
            </a:solidFill>
            <a:ln>
              <a:noFill/>
            </a:ln>
          </c:spPr>
          <c:dLbls>
            <c:dLbl>
              <c:idx val="9"/>
              <c:tx>
                <c:rich>
                  <a:bodyPr/>
                  <a:lstStyle/>
                  <a:p>
                    <a:r>
                      <a:rPr sz="1100">
                        <a:solidFill>
                          <a:srgbClr val="FFFFFF"/>
                        </a:solidFill>
                        <a:latin typeface="Calibri"/>
                      </a:rPr>
                      <a:t>109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114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119</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125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131</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137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144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72.412</c:v>
                </c:pt>
                <c:pt idx="1">
                  <c:v>75.35</c:v>
                </c:pt>
                <c:pt idx="2">
                  <c:v>78.556</c:v>
                </c:pt>
                <c:pt idx="3">
                  <c:v>82.051</c:v>
                </c:pt>
                <c:pt idx="4">
                  <c:v>85.862</c:v>
                </c:pt>
                <c:pt idx="5">
                  <c:v>90.016</c:v>
                </c:pt>
                <c:pt idx="6">
                  <c:v>94.363</c:v>
                </c:pt>
                <c:pt idx="7">
                  <c:v>98.918</c:v>
                </c:pt>
                <c:pt idx="8">
                  <c:v>103.685</c:v>
                </c:pt>
                <c:pt idx="9">
                  <c:v>108.675</c:v>
                </c:pt>
                <c:pt idx="10">
                  <c:v>113.899</c:v>
                </c:pt>
                <c:pt idx="11">
                  <c:v>119.366</c:v>
                </c:pt>
                <c:pt idx="12">
                  <c:v>125.09</c:v>
                </c:pt>
                <c:pt idx="13">
                  <c:v>131.08</c:v>
                </c:pt>
                <c:pt idx="14">
                  <c:v>137.349</c:v>
                </c:pt>
                <c:pt idx="15">
                  <c:v>143.908</c:v>
                </c:pt>
              </c:numCache>
            </c:numRef>
          </c:val>
        </c:ser>
        <c:ser>
          <c:idx val="5"/>
          <c:order val="5"/>
          <c:tx>
            <c:strRef>
              <c:f>Sheet1!$G$1</c:f>
              <c:strCache>
                <c:ptCount val="1"/>
                <c:pt idx="0">
                  <c:v>Middle East &amp; Africa</c:v>
                </c:pt>
              </c:strCache>
            </c:strRef>
          </c:tx>
          <c:spPr>
            <a:solidFill>
              <a:srgbClr val="808080"/>
            </a:solidFill>
            <a:ln>
              <a:noFill/>
            </a:ln>
          </c:spPr>
          <c:dLbls>
            <c:dLbl>
              <c:idx val="12"/>
              <c:tx>
                <c:rich>
                  <a:bodyPr/>
                  <a:lstStyle/>
                  <a:p>
                    <a:r>
                      <a:rPr sz="1100">
                        <a:solidFill>
                          <a:srgbClr val="FFFFFF"/>
                        </a:solidFill>
                        <a:latin typeface="Calibri"/>
                      </a:rPr>
                      <a:t>106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110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115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64.993</c:v>
                </c:pt>
                <c:pt idx="1">
                  <c:v>67.287</c:v>
                </c:pt>
                <c:pt idx="2">
                  <c:v>69.791</c:v>
                </c:pt>
                <c:pt idx="3">
                  <c:v>72.527</c:v>
                </c:pt>
                <c:pt idx="4">
                  <c:v>75.51</c:v>
                </c:pt>
                <c:pt idx="5">
                  <c:v>78.764</c:v>
                </c:pt>
                <c:pt idx="6">
                  <c:v>82.158</c:v>
                </c:pt>
                <c:pt idx="7">
                  <c:v>85.695</c:v>
                </c:pt>
                <c:pt idx="8">
                  <c:v>89.381</c:v>
                </c:pt>
                <c:pt idx="9">
                  <c:v>93.222</c:v>
                </c:pt>
                <c:pt idx="10">
                  <c:v>97.225</c:v>
                </c:pt>
                <c:pt idx="11">
                  <c:v>101.396</c:v>
                </c:pt>
                <c:pt idx="12">
                  <c:v>105.744</c:v>
                </c:pt>
                <c:pt idx="13">
                  <c:v>110.278</c:v>
                </c:pt>
                <c:pt idx="14">
                  <c:v>114.995</c:v>
                </c:pt>
                <c:pt idx="15">
                  <c:v>119.912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Cast Metal Partial Dentures</c:v>
                </c:pt>
              </c:strCache>
            </c:strRef>
          </c:tx>
          <c:spPr>
            <a:solidFill>
              <a:srgbClr val="3D85C6"/>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Sheet1!$B$2:$B$7</c:f>
              <c:numCache>
                <c:formatCode>General</c:formatCode>
                <c:ptCount val="6"/>
                <c:pt idx="0">
                  <c:v>25.71635866301955</c:v>
                </c:pt>
                <c:pt idx="1">
                  <c:v>26.452316757928674</c:v>
                </c:pt>
                <c:pt idx="2">
                  <c:v>21.1524658616409</c:v>
                </c:pt>
                <c:pt idx="3">
                  <c:v>21.376085504342022</c:v>
                </c:pt>
                <c:pt idx="4">
                  <c:v>27.784695551792826</c:v>
                </c:pt>
                <c:pt idx="5">
                  <c:v>24.68978154436396</c:v>
                </c:pt>
              </c:numCache>
            </c:numRef>
          </c:val>
        </c:ser>
        <c:ser>
          <c:idx val="1"/>
          <c:order val="1"/>
          <c:tx>
            <c:strRef>
              <c:f>Sheet1!$C$1</c:f>
              <c:strCache>
                <c:ptCount val="1"/>
                <c:pt idx="0">
                  <c:v>Acrylic Partial Dentures</c:v>
                </c:pt>
              </c:strCache>
            </c:strRef>
          </c:tx>
          <c:spPr>
            <a:solidFill>
              <a:srgbClr val="9E7E0A"/>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Sheet1!$C$2:$C$7</c:f>
              <c:numCache>
                <c:formatCode>General</c:formatCode>
                <c:ptCount val="6"/>
                <c:pt idx="0">
                  <c:v>17.459470278204016</c:v>
                </c:pt>
                <c:pt idx="1">
                  <c:v>18.36659532479084</c:v>
                </c:pt>
                <c:pt idx="2">
                  <c:v>19.971109355603208</c:v>
                </c:pt>
                <c:pt idx="3">
                  <c:v>18.07632925895942</c:v>
                </c:pt>
                <c:pt idx="4">
                  <c:v>16.881633410897614</c:v>
                </c:pt>
                <c:pt idx="5">
                  <c:v>16.51807102432693</c:v>
                </c:pt>
              </c:numCache>
            </c:numRef>
          </c:val>
        </c:ser>
        <c:ser>
          <c:idx val="2"/>
          <c:order val="2"/>
          <c:tx>
            <c:strRef>
              <c:f>Sheet1!$D$1</c:f>
              <c:strCache>
                <c:ptCount val="1"/>
                <c:pt idx="0">
                  <c:v>Flexible Partial Dentures</c:v>
                </c:pt>
              </c:strCache>
            </c:strRef>
          </c:tx>
          <c:spPr>
            <a:solidFill>
              <a:srgbClr val="008189"/>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Sheet1!$D$2:$D$7</c:f>
              <c:numCache>
                <c:formatCode>General</c:formatCode>
                <c:ptCount val="6"/>
                <c:pt idx="0">
                  <c:v>31.076956434718795</c:v>
                </c:pt>
                <c:pt idx="1">
                  <c:v>30.666120021124605</c:v>
                </c:pt>
                <c:pt idx="2">
                  <c:v>31.476808486626794</c:v>
                </c:pt>
                <c:pt idx="3">
                  <c:v>30.806425212455824</c:v>
                </c:pt>
                <c:pt idx="4">
                  <c:v>29.230700924111456</c:v>
                </c:pt>
                <c:pt idx="5">
                  <c:v>31.341560015651694</c:v>
                </c:pt>
              </c:numCache>
            </c:numRef>
          </c:val>
        </c:ser>
        <c:ser>
          <c:idx val="3"/>
          <c:order val="3"/>
          <c:tx>
            <c:strRef>
              <c:f>Sheet1!$E$1</c:f>
              <c:strCache>
                <c:ptCount val="1"/>
                <c:pt idx="0">
                  <c:v>Combination Framework Partial Dentures</c:v>
                </c:pt>
              </c:strCache>
            </c:strRef>
          </c:tx>
          <c:spPr>
            <a:solidFill>
              <a:srgbClr val="40315E"/>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Sheet1!$E$2:$E$7</c:f>
              <c:numCache>
                <c:formatCode>General</c:formatCode>
                <c:ptCount val="6"/>
                <c:pt idx="0">
                  <c:v>25.74721462405764</c:v>
                </c:pt>
                <c:pt idx="1">
                  <c:v>24.514967896155877</c:v>
                </c:pt>
                <c:pt idx="2">
                  <c:v>27.39961629612911</c:v>
                </c:pt>
                <c:pt idx="3">
                  <c:v>29.741160024242753</c:v>
                </c:pt>
                <c:pt idx="4">
                  <c:v>26.102970113198104</c:v>
                </c:pt>
                <c:pt idx="5">
                  <c:v>27.450587415657417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Cast Metal Partial Dentures</c:v>
                </c:pt>
              </c:strCache>
            </c:strRef>
          </c:tx>
          <c:spPr>
            <a:solidFill>
              <a:srgbClr val="3D85C6"/>
            </a:solidFill>
          </c:spPr>
          <c:invertIfNegative val="0"/>
          <c:xVal>
            <c:numRef>
              <c:f>Sheet1!$A$2:$A$2</c:f>
              <c:numCache>
                <c:formatCode>General</c:formatCode>
                <c:ptCount val="1"/>
                <c:pt idx="0">
                  <c:v>144.72589768703983</c:v>
                </c:pt>
              </c:numCache>
            </c:numRef>
          </c:xVal>
          <c:yVal>
            <c:numRef>
              <c:f>Sheet1!$B$2:$B$2</c:f>
              <c:numCache>
                <c:formatCode>General</c:formatCode>
                <c:ptCount val="1"/>
                <c:pt idx="0">
                  <c:v>82.65908282971917</c:v>
                </c:pt>
              </c:numCache>
            </c:numRef>
          </c:yVal>
          <c:bubbleSize>
            <c:numRef>
              <c:f>Sheet1!$C$2:$C$2</c:f>
              <c:numCache>
                <c:formatCode>General</c:formatCode>
                <c:ptCount val="1"/>
                <c:pt idx="0">
                  <c:v>431.107</c:v>
                </c:pt>
              </c:numCache>
            </c:numRef>
          </c:bubbleSize>
          <c:bubble3D val="0"/>
        </c:ser>
        <c:ser>
          <c:idx val="1"/>
          <c:order val="1"/>
          <c:tx>
            <c:strRef>
              <c:f>Sheet1!$B$4</c:f>
              <c:strCache>
                <c:ptCount val="1"/>
                <c:pt idx="0">
                  <c:v>Acrylic Partial Dentures</c:v>
                </c:pt>
              </c:strCache>
            </c:strRef>
          </c:tx>
          <c:spPr>
            <a:solidFill>
              <a:srgbClr val="9E7E0A"/>
            </a:solidFill>
          </c:spPr>
          <c:invertIfNegative val="0"/>
          <c:xVal>
            <c:numRef>
              <c:f>Sheet1!$A$5:$A$5</c:f>
              <c:numCache>
                <c:formatCode>General</c:formatCode>
                <c:ptCount val="1"/>
                <c:pt idx="0">
                  <c:v>74.36782573788618</c:v>
                </c:pt>
              </c:numCache>
            </c:numRef>
          </c:xVal>
          <c:yVal>
            <c:numRef>
              <c:f>Sheet1!$B$5:$B$5</c:f>
              <c:numCache>
                <c:formatCode>General</c:formatCode>
                <c:ptCount val="1"/>
                <c:pt idx="0">
                  <c:v>77.97191610380378</c:v>
                </c:pt>
              </c:numCache>
            </c:numRef>
          </c:yVal>
          <c:bubbleSize>
            <c:numRef>
              <c:f>Sheet1!$C$5:$C$5</c:f>
              <c:numCache>
                <c:formatCode>General</c:formatCode>
                <c:ptCount val="1"/>
                <c:pt idx="0">
                  <c:v>302.657</c:v>
                </c:pt>
              </c:numCache>
            </c:numRef>
          </c:bubbleSize>
          <c:bubble3D val="0"/>
        </c:ser>
        <c:ser>
          <c:idx val="2"/>
          <c:order val="2"/>
          <c:tx>
            <c:strRef>
              <c:f>Sheet1!$B$7</c:f>
              <c:strCache>
                <c:ptCount val="1"/>
                <c:pt idx="0">
                  <c:v>Flexible Partial Dentures</c:v>
                </c:pt>
              </c:strCache>
            </c:strRef>
          </c:tx>
          <c:spPr>
            <a:solidFill>
              <a:srgbClr val="008189"/>
            </a:solidFill>
          </c:spPr>
          <c:invertIfNegative val="0"/>
          <c:xVal>
            <c:numRef>
              <c:f>Sheet1!$A$8:$A$8</c:f>
              <c:numCache>
                <c:formatCode>General</c:formatCode>
                <c:ptCount val="1"/>
                <c:pt idx="0">
                  <c:v>69.05650410735002</c:v>
                </c:pt>
              </c:numCache>
            </c:numRef>
          </c:xVal>
          <c:yVal>
            <c:numRef>
              <c:f>Sheet1!$B$8:$B$8</c:f>
              <c:numCache>
                <c:formatCode>General</c:formatCode>
                <c:ptCount val="1"/>
                <c:pt idx="0">
                  <c:v>139.6174902239602</c:v>
                </c:pt>
              </c:numCache>
            </c:numRef>
          </c:yVal>
          <c:bubbleSize>
            <c:numRef>
              <c:f>Sheet1!$C$8:$C$8</c:f>
              <c:numCache>
                <c:formatCode>General</c:formatCode>
                <c:ptCount val="1"/>
                <c:pt idx="0">
                  <c:v>529.801</c:v>
                </c:pt>
              </c:numCache>
            </c:numRef>
          </c:bubbleSize>
          <c:bubble3D val="0"/>
        </c:ser>
        <c:ser>
          <c:idx val="3"/>
          <c:order val="3"/>
          <c:tx>
            <c:strRef>
              <c:f>Sheet1!$B$10</c:f>
              <c:strCache>
                <c:ptCount val="1"/>
                <c:pt idx="0">
                  <c:v>Combination Framework Partial Dentures</c:v>
                </c:pt>
              </c:strCache>
            </c:strRef>
          </c:tx>
          <c:spPr>
            <a:solidFill>
              <a:srgbClr val="40315E"/>
            </a:solidFill>
          </c:spPr>
          <c:invertIfNegative val="0"/>
          <c:xVal>
            <c:numRef>
              <c:f>Sheet1!$A$11:$A$11</c:f>
              <c:numCache>
                <c:formatCode>General</c:formatCode>
                <c:ptCount val="1"/>
                <c:pt idx="0">
                  <c:v>118.88350952671698</c:v>
                </c:pt>
              </c:numCache>
            </c:numRef>
          </c:xVal>
          <c:yVal>
            <c:numRef>
              <c:f>Sheet1!$B$11:$B$11</c:f>
              <c:numCache>
                <c:formatCode>General</c:formatCode>
                <c:ptCount val="1"/>
                <c:pt idx="0">
                  <c:v>99.75151084251688</c:v>
                </c:pt>
              </c:numCache>
            </c:numRef>
          </c:yVal>
          <c:bubbleSize>
            <c:numRef>
              <c:f>Sheet1!$C$11:$C$11</c:f>
              <c:numCache>
                <c:formatCode>General</c:formatCode>
                <c:ptCount val="1"/>
                <c:pt idx="0">
                  <c:v>467.235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232.52</c:v>
                </c:pt>
                <c:pt idx="2">
                  <c:v>263.314</c:v>
                </c:pt>
                <c:pt idx="3">
                  <c:v>298.042</c:v>
                </c:pt>
                <c:pt idx="4">
                  <c:v>337.197</c:v>
                </c:pt>
                <c:pt idx="5">
                  <c:v>381.349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232.52</c:v>
                </c:pt>
                <c:pt idx="1">
                  <c:v>30.79400000000001</c:v>
                </c:pt>
                <c:pt idx="2">
                  <c:v>34.72799999999995</c:v>
                </c:pt>
                <c:pt idx="3">
                  <c:v>39.15500000000003</c:v>
                </c:pt>
                <c:pt idx="4">
                  <c:v>44.15199999999999</c:v>
                </c:pt>
                <c:pt idx="5">
                  <c:v>49.75800000000004</c:v>
                </c:pt>
                <c:pt idx="6">
                  <c:v>431.107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219.335</c:v>
                </c:pt>
                <c:pt idx="2">
                  <c:v>234.415</c:v>
                </c:pt>
                <c:pt idx="3">
                  <c:v>250.291</c:v>
                </c:pt>
                <c:pt idx="4">
                  <c:v>266.963</c:v>
                </c:pt>
                <c:pt idx="5">
                  <c:v>284.421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219.335</c:v>
                </c:pt>
                <c:pt idx="1">
                  <c:v>15.079999999999984</c:v>
                </c:pt>
                <c:pt idx="2">
                  <c:v>15.876000000000005</c:v>
                </c:pt>
                <c:pt idx="3">
                  <c:v>16.672000000000025</c:v>
                </c:pt>
                <c:pt idx="4">
                  <c:v>17.45799999999997</c:v>
                </c:pt>
                <c:pt idx="5">
                  <c:v>18.23599999999999</c:v>
                </c:pt>
                <c:pt idx="6">
                  <c:v>302.657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392.744</c:v>
                </c:pt>
                <c:pt idx="2">
                  <c:v>418.052</c:v>
                </c:pt>
                <c:pt idx="3">
                  <c:v>444.461</c:v>
                </c:pt>
                <c:pt idx="4">
                  <c:v>471.941</c:v>
                </c:pt>
                <c:pt idx="5">
                  <c:v>500.413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392.744</c:v>
                </c:pt>
                <c:pt idx="1">
                  <c:v>25.307999999999993</c:v>
                </c:pt>
                <c:pt idx="2">
                  <c:v>26.408999999999992</c:v>
                </c:pt>
                <c:pt idx="3">
                  <c:v>27.47999999999996</c:v>
                </c:pt>
                <c:pt idx="4">
                  <c:v>28.472000000000037</c:v>
                </c:pt>
                <c:pt idx="5">
                  <c:v>29.388000000000034</c:v>
                </c:pt>
                <c:pt idx="6">
                  <c:v>529.801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280.601</c:v>
                </c:pt>
                <c:pt idx="2">
                  <c:v>310.622</c:v>
                </c:pt>
                <c:pt idx="3">
                  <c:v>343.914</c:v>
                </c:pt>
                <c:pt idx="4">
                  <c:v>380.833</c:v>
                </c:pt>
                <c:pt idx="5">
                  <c:v>421.791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280.601</c:v>
                </c:pt>
                <c:pt idx="1">
                  <c:v>30.021000000000015</c:v>
                </c:pt>
                <c:pt idx="2">
                  <c:v>33.29199999999997</c:v>
                </c:pt>
                <c:pt idx="3">
                  <c:v>36.91900000000004</c:v>
                </c:pt>
                <c:pt idx="4">
                  <c:v>40.95799999999997</c:v>
                </c:pt>
                <c:pt idx="5">
                  <c:v>45.44400000000002</c:v>
                </c:pt>
                <c:pt idx="6">
                  <c:v>467.235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Flexible Partial Dentures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36.86186908632466</c:v>
                </c:pt>
                <c:pt idx="1">
                  <c:v>34.90437255599005</c:v>
                </c:pt>
                <c:pt idx="2">
                  <c:v>30.610180263461984</c:v>
                </c:pt>
              </c:numCache>
            </c:numRef>
          </c:val>
        </c:ser>
        <c:ser>
          <c:idx val="1"/>
          <c:order val="1"/>
          <c:tx>
            <c:strRef>
              <c:f>Sheet1!$C$1</c:f>
              <c:strCache>
                <c:ptCount val="1"/>
                <c:pt idx="0">
                  <c:v>Combination Framework Partial Dentures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24.00512937507907</c:v>
                </c:pt>
                <c:pt idx="1">
                  <c:v>24.93787771062922</c:v>
                </c:pt>
                <c:pt idx="2">
                  <c:v>26.99532008319852</c:v>
                </c:pt>
              </c:numCache>
            </c:numRef>
          </c:val>
        </c:ser>
        <c:ser>
          <c:idx val="2"/>
          <c:order val="2"/>
          <c:tx>
            <c:strRef>
              <c:f>Sheet1!$D$1</c:f>
              <c:strCache>
                <c:ptCount val="1"/>
                <c:pt idx="0">
                  <c:v>Cast Metal Partial Dentures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18.73735631748929</c:v>
                </c:pt>
                <c:pt idx="1">
                  <c:v>20.664770707429792</c:v>
                </c:pt>
                <c:pt idx="2">
                  <c:v>24.907961636237577</c:v>
                </c:pt>
              </c:numCache>
            </c:numRef>
          </c:val>
        </c:ser>
        <c:ser>
          <c:idx val="3"/>
          <c:order val="3"/>
          <c:tx>
            <c:strRef>
              <c:f>Sheet1!$E$1</c:f>
              <c:strCache>
                <c:ptCount val="1"/>
                <c:pt idx="0">
                  <c:v>Acrylic Partial Dentures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20.395645221106992</c:v>
                </c:pt>
                <c:pt idx="1">
                  <c:v>19.492979025950945</c:v>
                </c:pt>
                <c:pt idx="2">
                  <c:v>17.486538017101914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Metal Alloys</c:v>
                </c:pt>
              </c:strCache>
            </c:strRef>
          </c:tx>
          <c:spPr>
            <a:solidFill>
              <a:srgbClr val="3D85C6"/>
            </a:solidFill>
            <a:ln>
              <a:noFill/>
            </a:ln>
          </c:spPr>
          <c:dLbls>
            <c:dLbl>
              <c:idx val="0"/>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Sheet1!$B$2:$B$7</c:f>
              <c:numCache>
                <c:formatCode>General</c:formatCode>
                <c:ptCount val="6"/>
                <c:pt idx="0">
                  <c:v>28.208186003068924</c:v>
                </c:pt>
                <c:pt idx="1">
                  <c:v>30.099091085971597</c:v>
                </c:pt>
                <c:pt idx="2">
                  <c:v>28.07312944362939</c:v>
                </c:pt>
                <c:pt idx="3">
                  <c:v>29.232858653288922</c:v>
                </c:pt>
                <c:pt idx="4">
                  <c:v>28.546345834434906</c:v>
                </c:pt>
                <c:pt idx="5">
                  <c:v>28.548114639104412</c:v>
                </c:pt>
              </c:numCache>
            </c:numRef>
          </c:val>
        </c:ser>
        <c:ser>
          <c:idx val="1"/>
          <c:order val="1"/>
          <c:tx>
            <c:strRef>
              <c:f>Sheet1!$C$1</c:f>
              <c:strCache>
                <c:ptCount val="1"/>
                <c:pt idx="0">
                  <c:v>Acrylic / Resin</c:v>
                </c:pt>
              </c:strCache>
            </c:strRef>
          </c:tx>
          <c:spPr>
            <a:solidFill>
              <a:srgbClr val="9E7E0A"/>
            </a:solidFill>
            <a:ln>
              <a:noFill/>
            </a:ln>
          </c:spPr>
          <c:dLbls>
            <c:dLbl>
              <c:idx val="0"/>
              <c:tx>
                <c:rich>
                  <a:bodyPr/>
                  <a:lstStyle/>
                  <a:p>
                    <a:r>
                      <a:rPr sz="1100">
                        <a:solidFill>
                          <a:srgbClr val="FFFFFF"/>
                        </a:solidFill>
                        <a:latin typeface="Calibri"/>
                      </a:rPr>
                      <a:t>43%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43%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Sheet1!$C$2:$C$7</c:f>
              <c:numCache>
                <c:formatCode>General</c:formatCode>
                <c:ptCount val="6"/>
                <c:pt idx="0">
                  <c:v>42.6954766829008</c:v>
                </c:pt>
                <c:pt idx="1">
                  <c:v>43.10601217444479</c:v>
                </c:pt>
                <c:pt idx="2">
                  <c:v>44.39679494413723</c:v>
                </c:pt>
                <c:pt idx="3">
                  <c:v>43.05166624640009</c:v>
                </c:pt>
                <c:pt idx="4">
                  <c:v>43.73031041184413</c:v>
                </c:pt>
                <c:pt idx="5">
                  <c:v>44.97876523415504</c:v>
                </c:pt>
              </c:numCache>
            </c:numRef>
          </c:val>
        </c:ser>
        <c:ser>
          <c:idx val="2"/>
          <c:order val="2"/>
          <c:tx>
            <c:strRef>
              <c:f>Sheet1!$D$1</c:f>
              <c:strCache>
                <c:ptCount val="1"/>
                <c:pt idx="0">
                  <c:v>Flexible Thermoplastics</c:v>
                </c:pt>
              </c:strCache>
            </c:strRef>
          </c:tx>
          <c:spPr>
            <a:solidFill>
              <a:srgbClr val="008189"/>
            </a:solidFill>
            <a:ln>
              <a:noFill/>
            </a:ln>
          </c:spPr>
          <c:dLbls>
            <c:dLbl>
              <c:idx val="0"/>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Sheet1!$D$2:$D$7</c:f>
              <c:numCache>
                <c:formatCode>General</c:formatCode>
                <c:ptCount val="6"/>
                <c:pt idx="0">
                  <c:v>19.24411234905598</c:v>
                </c:pt>
                <c:pt idx="1">
                  <c:v>17.402090224309976</c:v>
                </c:pt>
                <c:pt idx="2">
                  <c:v>19.026746416882972</c:v>
                </c:pt>
                <c:pt idx="3">
                  <c:v>17.618017491937522</c:v>
                </c:pt>
                <c:pt idx="4">
                  <c:v>18.50846513542804</c:v>
                </c:pt>
                <c:pt idx="5">
                  <c:v>17.04316622288392</c:v>
                </c:pt>
              </c:numCache>
            </c:numRef>
          </c:val>
        </c:ser>
        <c:ser>
          <c:idx val="3"/>
          <c:order val="3"/>
          <c:tx>
            <c:strRef>
              <c:f>Sheet1!$E$1</c:f>
              <c:strCache>
                <c:ptCount val="1"/>
                <c:pt idx="0">
                  <c:v>High-performance Polymers</c:v>
                </c:pt>
              </c:strCache>
            </c:strRef>
          </c:tx>
          <c:spPr>
            <a:solidFill>
              <a:srgbClr val="40315E"/>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Sheet1!$E$2:$E$7</c:f>
              <c:numCache>
                <c:formatCode>General</c:formatCode>
                <c:ptCount val="6"/>
                <c:pt idx="0">
                  <c:v>9.852224964974317</c:v>
                </c:pt>
                <c:pt idx="1">
                  <c:v>9.392806515273648</c:v>
                </c:pt>
                <c:pt idx="2">
                  <c:v>8.503329195350412</c:v>
                </c:pt>
                <c:pt idx="3">
                  <c:v>10.097457608373482</c:v>
                </c:pt>
                <c:pt idx="4">
                  <c:v>9.214878618292927</c:v>
                </c:pt>
                <c:pt idx="5">
                  <c:v>9.429953903856614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Metal Alloys</c:v>
                </c:pt>
              </c:strCache>
            </c:strRef>
          </c:tx>
          <c:spPr>
            <a:solidFill>
              <a:srgbClr val="3D85C6"/>
            </a:solidFill>
          </c:spPr>
          <c:invertIfNegative val="0"/>
          <c:xVal>
            <c:numRef>
              <c:f>Sheet1!$A$2:$A$2</c:f>
              <c:numCache>
                <c:formatCode>General</c:formatCode>
                <c:ptCount val="1"/>
                <c:pt idx="0">
                  <c:v>98.58426015904568</c:v>
                </c:pt>
              </c:numCache>
            </c:numRef>
          </c:xVal>
          <c:yVal>
            <c:numRef>
              <c:f>Sheet1!$B$2:$B$2</c:f>
              <c:numCache>
                <c:formatCode>General</c:formatCode>
                <c:ptCount val="1"/>
                <c:pt idx="0">
                  <c:v>115.41343761109135</c:v>
                </c:pt>
              </c:numCache>
            </c:numRef>
          </c:yVal>
          <c:bubbleSize>
            <c:numRef>
              <c:f>Sheet1!$C$2:$C$2</c:f>
              <c:numCache>
                <c:formatCode>General</c:formatCode>
                <c:ptCount val="1"/>
                <c:pt idx="0">
                  <c:v>496.422</c:v>
                </c:pt>
              </c:numCache>
            </c:numRef>
          </c:bubbleSize>
          <c:bubble3D val="0"/>
        </c:ser>
        <c:ser>
          <c:idx val="1"/>
          <c:order val="1"/>
          <c:tx>
            <c:strRef>
              <c:f>Sheet1!$B$4</c:f>
              <c:strCache>
                <c:ptCount val="1"/>
                <c:pt idx="0">
                  <c:v>Acrylic / Resin</c:v>
                </c:pt>
              </c:strCache>
            </c:strRef>
          </c:tx>
          <c:spPr>
            <a:solidFill>
              <a:srgbClr val="9E7E0A"/>
            </a:solidFill>
          </c:spPr>
          <c:invertIfNegative val="0"/>
          <c:xVal>
            <c:numRef>
              <c:f>Sheet1!$A$5:$A$5</c:f>
              <c:numCache>
                <c:formatCode>General</c:formatCode>
                <c:ptCount val="1"/>
                <c:pt idx="0">
                  <c:v>102.76104758452247</c:v>
                </c:pt>
              </c:numCache>
            </c:numRef>
          </c:xVal>
          <c:yVal>
            <c:numRef>
              <c:f>Sheet1!$B$5:$B$5</c:f>
              <c:numCache>
                <c:formatCode>General</c:formatCode>
                <c:ptCount val="1"/>
                <c:pt idx="0">
                  <c:v>173.8908638464273</c:v>
                </c:pt>
              </c:numCache>
            </c:numRef>
          </c:yVal>
          <c:bubbleSize>
            <c:numRef>
              <c:f>Sheet1!$C$5:$C$5</c:f>
              <c:numCache>
                <c:formatCode>General</c:formatCode>
                <c:ptCount val="1"/>
                <c:pt idx="0">
                  <c:v>761.228</c:v>
                </c:pt>
              </c:numCache>
            </c:numRef>
          </c:bubbleSize>
          <c:bubble3D val="0"/>
        </c:ser>
        <c:ser>
          <c:idx val="2"/>
          <c:order val="2"/>
          <c:tx>
            <c:strRef>
              <c:f>Sheet1!$B$7</c:f>
              <c:strCache>
                <c:ptCount val="1"/>
                <c:pt idx="0">
                  <c:v>Flexible Thermoplastics</c:v>
                </c:pt>
              </c:strCache>
            </c:strRef>
          </c:tx>
          <c:spPr>
            <a:solidFill>
              <a:srgbClr val="008189"/>
            </a:solidFill>
          </c:spPr>
          <c:invertIfNegative val="0"/>
          <c:xVal>
            <c:numRef>
              <c:f>Sheet1!$A$8:$A$8</c:f>
              <c:numCache>
                <c:formatCode>General</c:formatCode>
                <c:ptCount val="1"/>
                <c:pt idx="0">
                  <c:v>92.27410639855349</c:v>
                </c:pt>
              </c:numCache>
            </c:numRef>
          </c:xVal>
          <c:yVal>
            <c:numRef>
              <c:f>Sheet1!$B$8:$B$8</c:f>
              <c:numCache>
                <c:formatCode>General</c:formatCode>
                <c:ptCount val="1"/>
                <c:pt idx="0">
                  <c:v>74.27941699253465</c:v>
                </c:pt>
              </c:numCache>
            </c:numRef>
          </c:yVal>
          <c:bubbleSize>
            <c:numRef>
              <c:f>Sheet1!$C$8:$C$8</c:f>
              <c:numCache>
                <c:formatCode>General</c:formatCode>
                <c:ptCount val="1"/>
                <c:pt idx="0">
                  <c:v>311.09299999999996</c:v>
                </c:pt>
              </c:numCache>
            </c:numRef>
          </c:bubbleSize>
          <c:bubble3D val="0"/>
        </c:ser>
        <c:ser>
          <c:idx val="3"/>
          <c:order val="3"/>
          <c:tx>
            <c:strRef>
              <c:f>Sheet1!$B$10</c:f>
              <c:strCache>
                <c:ptCount val="1"/>
                <c:pt idx="0">
                  <c:v>High-performance Polymers</c:v>
                </c:pt>
              </c:strCache>
            </c:strRef>
          </c:tx>
          <c:spPr>
            <a:solidFill>
              <a:srgbClr val="40315E"/>
            </a:solidFill>
          </c:spPr>
          <c:invertIfNegative val="0"/>
          <c:xVal>
            <c:numRef>
              <c:f>Sheet1!$A$11:$A$11</c:f>
              <c:numCache>
                <c:formatCode>General</c:formatCode>
                <c:ptCount val="1"/>
                <c:pt idx="0">
                  <c:v>106.66624899777055</c:v>
                </c:pt>
              </c:numCache>
            </c:numRef>
          </c:xVal>
          <c:yVal>
            <c:numRef>
              <c:f>Sheet1!$B$11:$B$11</c:f>
              <c:numCache>
                <c:formatCode>General</c:formatCode>
                <c:ptCount val="1"/>
                <c:pt idx="0">
                  <c:v>36.416281549946675</c:v>
                </c:pt>
              </c:numCache>
            </c:numRef>
          </c:yVal>
          <c:bubbleSize>
            <c:numRef>
              <c:f>Sheet1!$C$11:$C$11</c:f>
              <c:numCache>
                <c:formatCode>General</c:formatCode>
                <c:ptCount val="1"/>
                <c:pt idx="0">
                  <c:v>162.057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324.658</c:v>
                </c:pt>
                <c:pt idx="2">
                  <c:v>353.39300000000003</c:v>
                </c:pt>
                <c:pt idx="3">
                  <c:v>384.693</c:v>
                </c:pt>
                <c:pt idx="4">
                  <c:v>418.794</c:v>
                </c:pt>
                <c:pt idx="5">
                  <c:v>455.944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324.658</c:v>
                </c:pt>
                <c:pt idx="1">
                  <c:v>28.735000000000014</c:v>
                </c:pt>
                <c:pt idx="2">
                  <c:v>31.299999999999955</c:v>
                </c:pt>
                <c:pt idx="3">
                  <c:v>34.101</c:v>
                </c:pt>
                <c:pt idx="4">
                  <c:v>37.150000000000034</c:v>
                </c:pt>
                <c:pt idx="5">
                  <c:v>40.47800000000001</c:v>
                </c:pt>
                <c:pt idx="6">
                  <c:v>496.422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489.155</c:v>
                </c:pt>
                <c:pt idx="2">
                  <c:v>534.396</c:v>
                </c:pt>
                <c:pt idx="3">
                  <c:v>583.825</c:v>
                </c:pt>
                <c:pt idx="4">
                  <c:v>637.813</c:v>
                </c:pt>
                <c:pt idx="5">
                  <c:v>696.801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489.155</c:v>
                </c:pt>
                <c:pt idx="1">
                  <c:v>45.240999999999985</c:v>
                </c:pt>
                <c:pt idx="2">
                  <c:v>49.42900000000009</c:v>
                </c:pt>
                <c:pt idx="3">
                  <c:v>53.98799999999994</c:v>
                </c:pt>
                <c:pt idx="4">
                  <c:v>58.988000000000056</c:v>
                </c:pt>
                <c:pt idx="5">
                  <c:v>64.42699999999991</c:v>
                </c:pt>
                <c:pt idx="6">
                  <c:v>761.228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208.94799999999998</c:v>
                </c:pt>
                <c:pt idx="2">
                  <c:v>226.33499999999998</c:v>
                </c:pt>
                <c:pt idx="3">
                  <c:v>245.12600000000003</c:v>
                </c:pt>
                <c:pt idx="4">
                  <c:v>265.444</c:v>
                </c:pt>
                <c:pt idx="5">
                  <c:v>287.383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208.94799999999998</c:v>
                </c:pt>
                <c:pt idx="1">
                  <c:v>17.387</c:v>
                </c:pt>
                <c:pt idx="2">
                  <c:v>18.791000000000054</c:v>
                </c:pt>
                <c:pt idx="3">
                  <c:v>20.317999999999984</c:v>
                </c:pt>
                <c:pt idx="4">
                  <c:v>21.938999999999965</c:v>
                </c:pt>
                <c:pt idx="5">
                  <c:v>23.70999999999998</c:v>
                </c:pt>
                <c:pt idx="6">
                  <c:v>311.09299999999996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102.439</c:v>
                </c:pt>
                <c:pt idx="2">
                  <c:v>112.279</c:v>
                </c:pt>
                <c:pt idx="3">
                  <c:v>123.06400000000001</c:v>
                </c:pt>
                <c:pt idx="4">
                  <c:v>134.883</c:v>
                </c:pt>
                <c:pt idx="5">
                  <c:v>147.846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102.439</c:v>
                </c:pt>
                <c:pt idx="1">
                  <c:v>9.840000000000003</c:v>
                </c:pt>
                <c:pt idx="2">
                  <c:v>10.78500000000001</c:v>
                </c:pt>
                <c:pt idx="3">
                  <c:v>11.819000000000003</c:v>
                </c:pt>
                <c:pt idx="4">
                  <c:v>12.962999999999994</c:v>
                </c:pt>
                <c:pt idx="5">
                  <c:v>14.210999999999984</c:v>
                </c:pt>
                <c:pt idx="6">
                  <c:v>162.057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Acrylic / Resin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43.22049933558158</c:v>
                </c:pt>
                <c:pt idx="1">
                  <c:v>43.47271596160682</c:v>
                </c:pt>
                <c:pt idx="2">
                  <c:v>43.98128033279408</c:v>
                </c:pt>
              </c:numCache>
            </c:numRef>
          </c:val>
        </c:ser>
        <c:ser>
          <c:idx val="1"/>
          <c:order val="1"/>
          <c:tx>
            <c:strRef>
              <c:f>Sheet1!$C$1</c:f>
              <c:strCache>
                <c:ptCount val="1"/>
                <c:pt idx="0">
                  <c:v>Metal Alloys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28.95383021811737</c:v>
                </c:pt>
                <c:pt idx="1">
                  <c:v>28.85335940277284</c:v>
                </c:pt>
                <c:pt idx="2">
                  <c:v>28.68165010399815</c:v>
                </c:pt>
              </c:numCache>
            </c:numRef>
          </c:val>
        </c:ser>
        <c:ser>
          <c:idx val="2"/>
          <c:order val="2"/>
          <c:tx>
            <c:strRef>
              <c:f>Sheet1!$D$1</c:f>
              <c:strCache>
                <c:ptCount val="1"/>
                <c:pt idx="0">
                  <c:v>Flexible Thermoplastics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18.847425959784577</c:v>
                </c:pt>
                <c:pt idx="1">
                  <c:v>18.569854248133662</c:v>
                </c:pt>
                <c:pt idx="2">
                  <c:v>17.973942685463367</c:v>
                </c:pt>
              </c:numCache>
            </c:numRef>
          </c:val>
        </c:ser>
        <c:ser>
          <c:idx val="3"/>
          <c:order val="3"/>
          <c:tx>
            <c:strRef>
              <c:f>Sheet1!$E$1</c:f>
              <c:strCache>
                <c:ptCount val="1"/>
                <c:pt idx="0">
                  <c:v>High-performance Polymers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8.97824448651647</c:v>
                </c:pt>
                <c:pt idx="1">
                  <c:v>9.104070387486669</c:v>
                </c:pt>
                <c:pt idx="2">
                  <c:v>9.363126877744394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Conventional Fabrication</c:v>
                </c:pt>
              </c:strCache>
            </c:strRef>
          </c:tx>
          <c:spPr>
            <a:solidFill>
              <a:srgbClr val="3D85C6"/>
            </a:solidFill>
            <a:ln>
              <a:noFill/>
            </a:ln>
          </c:spPr>
          <c:dLbls>
            <c:dLbl>
              <c:idx val="0"/>
              <c:tx>
                <c:rich>
                  <a:bodyPr/>
                  <a:lstStyle/>
                  <a:p>
                    <a:r>
                      <a:rPr sz="1100">
                        <a:solidFill>
                          <a:srgbClr val="FFFFFF"/>
                        </a:solidFill>
                        <a:latin typeface="Calibri"/>
                      </a:rPr>
                      <a:t>45%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47%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50%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Sheet1!$B$2:$B$7</c:f>
              <c:numCache>
                <c:formatCode>General</c:formatCode>
                <c:ptCount val="6"/>
                <c:pt idx="0">
                  <c:v>45.34658749749817</c:v>
                </c:pt>
                <c:pt idx="1">
                  <c:v>46.57558996025238</c:v>
                </c:pt>
                <c:pt idx="2">
                  <c:v>45.170071098070196</c:v>
                </c:pt>
                <c:pt idx="3">
                  <c:v>48.16476219547262</c:v>
                </c:pt>
                <c:pt idx="4">
                  <c:v>50.408171090790574</c:v>
                </c:pt>
                <c:pt idx="5">
                  <c:v>40.66366994016091</c:v>
                </c:pt>
              </c:numCache>
            </c:numRef>
          </c:val>
        </c:ser>
        <c:ser>
          <c:idx val="1"/>
          <c:order val="1"/>
          <c:tx>
            <c:strRef>
              <c:f>Sheet1!$C$1</c:f>
              <c:strCache>
                <c:ptCount val="1"/>
                <c:pt idx="0">
                  <c:v>Digital Fabrication</c:v>
                </c:pt>
              </c:strCache>
            </c:strRef>
          </c:tx>
          <c:spPr>
            <a:solidFill>
              <a:srgbClr val="9E7E0A"/>
            </a:solidFill>
            <a:ln>
              <a:noFill/>
            </a:ln>
          </c:spPr>
          <c:dLbls>
            <c:dLbl>
              <c:idx val="0"/>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53%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52%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50%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59%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Sheet1!$C$2:$C$7</c:f>
              <c:numCache>
                <c:formatCode>General</c:formatCode>
                <c:ptCount val="6"/>
                <c:pt idx="0">
                  <c:v>54.65341250250183</c:v>
                </c:pt>
                <c:pt idx="1">
                  <c:v>53.42441003974761</c:v>
                </c:pt>
                <c:pt idx="2">
                  <c:v>54.829928901929804</c:v>
                </c:pt>
                <c:pt idx="3">
                  <c:v>51.83523780452738</c:v>
                </c:pt>
                <c:pt idx="4">
                  <c:v>49.591828909209426</c:v>
                </c:pt>
                <c:pt idx="5">
                  <c:v>59.33633005983909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Conventional Fabrication</c:v>
                </c:pt>
              </c:strCache>
            </c:strRef>
          </c:tx>
          <c:spPr>
            <a:solidFill>
              <a:srgbClr val="3D85C6"/>
            </a:solidFill>
          </c:spPr>
          <c:invertIfNegative val="0"/>
          <c:xVal>
            <c:numRef>
              <c:f>Sheet1!$A$2:$A$2</c:f>
              <c:numCache>
                <c:formatCode>General</c:formatCode>
                <c:ptCount val="1"/>
                <c:pt idx="0">
                  <c:v>130.8978683401889</c:v>
                </c:pt>
              </c:numCache>
            </c:numRef>
          </c:xVal>
          <c:yVal>
            <c:numRef>
              <c:f>Sheet1!$B$2:$B$2</c:f>
              <c:numCache>
                <c:formatCode>General</c:formatCode>
                <c:ptCount val="1"/>
                <c:pt idx="0">
                  <c:v>80.52808389619624</c:v>
                </c:pt>
              </c:numCache>
            </c:numRef>
          </c:yVal>
          <c:bubbleSize>
            <c:numRef>
              <c:f>Sheet1!$C$2:$C$2</c:f>
              <c:numCache>
                <c:formatCode>General</c:formatCode>
                <c:ptCount val="1"/>
                <c:pt idx="0">
                  <c:v>793.153</c:v>
                </c:pt>
              </c:numCache>
            </c:numRef>
          </c:bubbleSize>
          <c:bubble3D val="0"/>
        </c:ser>
        <c:ser>
          <c:idx val="1"/>
          <c:order val="1"/>
          <c:tx>
            <c:strRef>
              <c:f>Sheet1!$B$4</c:f>
              <c:strCache>
                <c:ptCount val="1"/>
                <c:pt idx="0">
                  <c:v>Digital Fabrication</c:v>
                </c:pt>
              </c:strCache>
            </c:strRef>
          </c:tx>
          <c:spPr>
            <a:solidFill>
              <a:srgbClr val="9E7E0A"/>
            </a:solidFill>
          </c:spPr>
          <c:invertIfNegative val="0"/>
          <c:xVal>
            <c:numRef>
              <c:f>Sheet1!$A$5:$A$5</c:f>
              <c:numCache>
                <c:formatCode>General</c:formatCode>
                <c:ptCount val="1"/>
                <c:pt idx="0">
                  <c:v>76.92588416104496</c:v>
                </c:pt>
              </c:numCache>
            </c:numRef>
          </c:xVal>
          <c:yVal>
            <c:numRef>
              <c:f>Sheet1!$B$5:$B$5</c:f>
              <c:numCache>
                <c:formatCode>General</c:formatCode>
                <c:ptCount val="1"/>
                <c:pt idx="0">
                  <c:v>119.47191610380376</c:v>
                </c:pt>
              </c:numCache>
            </c:numRef>
          </c:yVal>
          <c:bubbleSize>
            <c:numRef>
              <c:f>Sheet1!$C$5:$C$5</c:f>
              <c:numCache>
                <c:formatCode>General</c:formatCode>
                <c:ptCount val="1"/>
                <c:pt idx="0">
                  <c:v>937.6469999999999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453.05100000000004</c:v>
                </c:pt>
                <c:pt idx="2">
                  <c:v>506.82000000000005</c:v>
                </c:pt>
                <c:pt idx="3">
                  <c:v>566.924</c:v>
                </c:pt>
                <c:pt idx="4">
                  <c:v>634.115</c:v>
                </c:pt>
                <c:pt idx="5">
                  <c:v>709.207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453.05100000000004</c:v>
                </c:pt>
                <c:pt idx="1">
                  <c:v>53.769000000000005</c:v>
                </c:pt>
                <c:pt idx="2">
                  <c:v>60.10399999999993</c:v>
                </c:pt>
                <c:pt idx="3">
                  <c:v>67.19100000000003</c:v>
                </c:pt>
                <c:pt idx="4">
                  <c:v>75.09199999999998</c:v>
                </c:pt>
                <c:pt idx="5">
                  <c:v>83.94600000000003</c:v>
                </c:pt>
                <c:pt idx="6">
                  <c:v>793.153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672.149</c:v>
                </c:pt>
                <c:pt idx="2">
                  <c:v>719.583</c:v>
                </c:pt>
                <c:pt idx="3">
                  <c:v>769.784</c:v>
                </c:pt>
                <c:pt idx="4">
                  <c:v>822.8190000000001</c:v>
                </c:pt>
                <c:pt idx="5">
                  <c:v>878.767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672.149</c:v>
                </c:pt>
                <c:pt idx="1">
                  <c:v>47.43399999999997</c:v>
                </c:pt>
                <c:pt idx="2">
                  <c:v>50.20100000000002</c:v>
                </c:pt>
                <c:pt idx="3">
                  <c:v>53.03500000000008</c:v>
                </c:pt>
                <c:pt idx="4">
                  <c:v>55.94799999999998</c:v>
                </c:pt>
                <c:pt idx="5">
                  <c:v>58.87999999999988</c:v>
                </c:pt>
                <c:pt idx="6">
                  <c:v>937.6469999999999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Digital Fabrication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62.28828082679817</c:v>
                </c:pt>
                <c:pt idx="1">
                  <c:v>59.73595805190188</c:v>
                </c:pt>
                <c:pt idx="2">
                  <c:v>54.17419690316616</c:v>
                </c:pt>
              </c:numCache>
            </c:numRef>
          </c:val>
        </c:ser>
        <c:ser>
          <c:idx val="1"/>
          <c:order val="1"/>
          <c:tx>
            <c:strRef>
              <c:f>Sheet1!$C$1</c:f>
              <c:strCache>
                <c:ptCount val="1"/>
                <c:pt idx="0">
                  <c:v>Conventional Fabrication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37.71171917320182</c:v>
                </c:pt>
                <c:pt idx="1">
                  <c:v>40.26404194809812</c:v>
                </c:pt>
                <c:pt idx="2">
                  <c:v>45.82580309683383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Dental Clinics</c:v>
                </c:pt>
              </c:strCache>
            </c:strRef>
          </c:tx>
          <c:spPr>
            <a:solidFill>
              <a:srgbClr val="3D85C6"/>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Sheet1!$B$2:$B$7</c:f>
              <c:numCache>
                <c:formatCode>General</c:formatCode>
                <c:ptCount val="6"/>
                <c:pt idx="0">
                  <c:v>15.321235572753352</c:v>
                </c:pt>
                <c:pt idx="1">
                  <c:v>11.971537371098204</c:v>
                </c:pt>
                <c:pt idx="2">
                  <c:v>14.58029567768875</c:v>
                </c:pt>
                <c:pt idx="3">
                  <c:v>14.546532358314861</c:v>
                </c:pt>
                <c:pt idx="4">
                  <c:v>14.951473553136912</c:v>
                </c:pt>
                <c:pt idx="5">
                  <c:v>10.88689743369504</c:v>
                </c:pt>
              </c:numCache>
            </c:numRef>
          </c:val>
        </c:ser>
        <c:ser>
          <c:idx val="1"/>
          <c:order val="1"/>
          <c:tx>
            <c:strRef>
              <c:f>Sheet1!$C$1</c:f>
              <c:strCache>
                <c:ptCount val="1"/>
                <c:pt idx="0">
                  <c:v>Dental Hospitals</c:v>
                </c:pt>
              </c:strCache>
            </c:strRef>
          </c:tx>
          <c:spPr>
            <a:solidFill>
              <a:srgbClr val="9E7E0A"/>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Sheet1!$C$2:$C$7</c:f>
              <c:numCache>
                <c:formatCode>General</c:formatCode>
                <c:ptCount val="6"/>
                <c:pt idx="0">
                  <c:v>9.19424244445927</c:v>
                </c:pt>
                <c:pt idx="1">
                  <c:v>8.421352530783558</c:v>
                </c:pt>
                <c:pt idx="2">
                  <c:v>8.248730391603656</c:v>
                </c:pt>
                <c:pt idx="3">
                  <c:v>8.963180223581821</c:v>
                </c:pt>
                <c:pt idx="4">
                  <c:v>8.181786992207918</c:v>
                </c:pt>
                <c:pt idx="5">
                  <c:v>8.335671543505025</c:v>
                </c:pt>
              </c:numCache>
            </c:numRef>
          </c:val>
        </c:ser>
        <c:ser>
          <c:idx val="2"/>
          <c:order val="2"/>
          <c:tx>
            <c:strRef>
              <c:f>Sheet1!$D$1</c:f>
              <c:strCache>
                <c:ptCount val="1"/>
                <c:pt idx="0">
                  <c:v>Dental Laboratories</c:v>
                </c:pt>
              </c:strCache>
            </c:strRef>
          </c:tx>
          <c:spPr>
            <a:solidFill>
              <a:srgbClr val="008189"/>
            </a:solidFill>
            <a:ln>
              <a:noFill/>
            </a:ln>
          </c:spPr>
          <c:dLbls>
            <c:dLbl>
              <c:idx val="0"/>
              <c:tx>
                <c:rich>
                  <a:bodyPr/>
                  <a:lstStyle/>
                  <a:p>
                    <a:r>
                      <a:rPr sz="1100">
                        <a:solidFill>
                          <a:srgbClr val="FFFFFF"/>
                        </a:solidFill>
                        <a:latin typeface="Calibri"/>
                      </a:rPr>
                      <a:t>42%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44%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Sheet1!$D$2:$D$7</c:f>
              <c:numCache>
                <c:formatCode>General</c:formatCode>
                <c:ptCount val="6"/>
                <c:pt idx="0">
                  <c:v>41.97828407498832</c:v>
                </c:pt>
                <c:pt idx="1">
                  <c:v>43.730716846874394</c:v>
                </c:pt>
                <c:pt idx="2">
                  <c:v>43.71199638866945</c:v>
                </c:pt>
                <c:pt idx="3">
                  <c:v>37.63420881498096</c:v>
                </c:pt>
                <c:pt idx="4">
                  <c:v>37.75779359559882</c:v>
                </c:pt>
                <c:pt idx="5">
                  <c:v>35.48983117168189</c:v>
                </c:pt>
              </c:numCache>
            </c:numRef>
          </c:val>
        </c:ser>
        <c:ser>
          <c:idx val="3"/>
          <c:order val="3"/>
          <c:tx>
            <c:strRef>
              <c:f>Sheet1!$E$1</c:f>
              <c:strCache>
                <c:ptCount val="1"/>
                <c:pt idx="0">
                  <c:v>Academic &amp; Teaching Dental Institutions</c:v>
                </c:pt>
              </c:strCache>
            </c:strRef>
          </c:tx>
          <c:spPr>
            <a:solidFill>
              <a:srgbClr val="40315E"/>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Sheet1!$E$2:$E$7</c:f>
              <c:numCache>
                <c:formatCode>General</c:formatCode>
                <c:ptCount val="6"/>
                <c:pt idx="0">
                  <c:v>33.50623790779905</c:v>
                </c:pt>
                <c:pt idx="1">
                  <c:v>35.876393251243854</c:v>
                </c:pt>
                <c:pt idx="2">
                  <c:v>33.45897754203815</c:v>
                </c:pt>
                <c:pt idx="3">
                  <c:v>38.856078603122356</c:v>
                </c:pt>
                <c:pt idx="4">
                  <c:v>39.108945859056355</c:v>
                </c:pt>
                <c:pt idx="5">
                  <c:v>45.287599851118046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Dental Clinics</c:v>
                </c:pt>
              </c:strCache>
            </c:strRef>
          </c:tx>
          <c:spPr>
            <a:solidFill>
              <a:srgbClr val="3D85C6"/>
            </a:solidFill>
          </c:spPr>
          <c:invertIfNegative val="0"/>
          <c:xVal>
            <c:numRef>
              <c:f>Sheet1!$A$2:$A$2</c:f>
              <c:numCache>
                <c:formatCode>General</c:formatCode>
                <c:ptCount val="1"/>
                <c:pt idx="0">
                  <c:v>111.05348532813184</c:v>
                </c:pt>
              </c:numCache>
            </c:numRef>
          </c:xVal>
          <c:yVal>
            <c:numRef>
              <c:f>Sheet1!$B$2:$B$2</c:f>
              <c:numCache>
                <c:formatCode>General</c:formatCode>
                <c:ptCount val="1"/>
                <c:pt idx="0">
                  <c:v>51.16032705296837</c:v>
                </c:pt>
              </c:numCache>
            </c:numRef>
          </c:yVal>
          <c:bubbleSize>
            <c:numRef>
              <c:f>Sheet1!$C$2:$C$2</c:f>
              <c:numCache>
                <c:formatCode>General</c:formatCode>
                <c:ptCount val="1"/>
                <c:pt idx="0">
                  <c:v>231.903</c:v>
                </c:pt>
              </c:numCache>
            </c:numRef>
          </c:bubbleSize>
          <c:bubble3D val="0"/>
        </c:ser>
        <c:ser>
          <c:idx val="1"/>
          <c:order val="1"/>
          <c:tx>
            <c:strRef>
              <c:f>Sheet1!$B$4</c:f>
              <c:strCache>
                <c:ptCount val="1"/>
                <c:pt idx="0">
                  <c:v>Dental Hospitals</c:v>
                </c:pt>
              </c:strCache>
            </c:strRef>
          </c:tx>
          <c:spPr>
            <a:solidFill>
              <a:srgbClr val="9E7E0A"/>
            </a:solidFill>
          </c:spPr>
          <c:invertIfNegative val="0"/>
          <c:xVal>
            <c:numRef>
              <c:f>Sheet1!$A$5:$A$5</c:f>
              <c:numCache>
                <c:formatCode>General</c:formatCode>
                <c:ptCount val="1"/>
                <c:pt idx="0">
                  <c:v>147.09674341200142</c:v>
                </c:pt>
              </c:numCache>
            </c:numRef>
          </c:xVal>
          <c:yVal>
            <c:numRef>
              <c:f>Sheet1!$B$5:$B$5</c:f>
              <c:numCache>
                <c:formatCode>General</c:formatCode>
                <c:ptCount val="1"/>
                <c:pt idx="0">
                  <c:v>27.699608958407396</c:v>
                </c:pt>
              </c:numCache>
            </c:numRef>
          </c:yVal>
          <c:bubbleSize>
            <c:numRef>
              <c:f>Sheet1!$C$5:$C$5</c:f>
              <c:numCache>
                <c:formatCode>General</c:formatCode>
                <c:ptCount val="1"/>
                <c:pt idx="0">
                  <c:v>145.89</c:v>
                </c:pt>
              </c:numCache>
            </c:numRef>
          </c:bubbleSize>
          <c:bubble3D val="0"/>
        </c:ser>
        <c:ser>
          <c:idx val="2"/>
          <c:order val="2"/>
          <c:tx>
            <c:strRef>
              <c:f>Sheet1!$B$7</c:f>
              <c:strCache>
                <c:ptCount val="1"/>
                <c:pt idx="0">
                  <c:v>Dental Laboratories</c:v>
                </c:pt>
              </c:strCache>
            </c:strRef>
          </c:tx>
          <c:spPr>
            <a:solidFill>
              <a:srgbClr val="008189"/>
            </a:solidFill>
          </c:spPr>
          <c:invertIfNegative val="0"/>
          <c:xVal>
            <c:numRef>
              <c:f>Sheet1!$A$8:$A$8</c:f>
              <c:numCache>
                <c:formatCode>General</c:formatCode>
                <c:ptCount val="1"/>
                <c:pt idx="0">
                  <c:v>71.57284159060377</c:v>
                </c:pt>
              </c:numCache>
            </c:numRef>
          </c:xVal>
          <c:yVal>
            <c:numRef>
              <c:f>Sheet1!$B$8:$B$8</c:f>
              <c:numCache>
                <c:formatCode>General</c:formatCode>
                <c:ptCount val="1"/>
                <c:pt idx="0">
                  <c:v>174.207607536438</c:v>
                </c:pt>
              </c:numCache>
            </c:numRef>
          </c:yVal>
          <c:bubbleSize>
            <c:numRef>
              <c:f>Sheet1!$C$8:$C$8</c:f>
              <c:numCache>
                <c:formatCode>General</c:formatCode>
                <c:ptCount val="1"/>
                <c:pt idx="0">
                  <c:v>668.197</c:v>
                </c:pt>
              </c:numCache>
            </c:numRef>
          </c:bubbleSize>
          <c:bubble3D val="0"/>
        </c:ser>
        <c:ser>
          <c:idx val="3"/>
          <c:order val="3"/>
          <c:tx>
            <c:strRef>
              <c:f>Sheet1!$B$10</c:f>
              <c:strCache>
                <c:ptCount val="1"/>
                <c:pt idx="0">
                  <c:v>Academic &amp; Teaching Dental Institutions</c:v>
                </c:pt>
              </c:strCache>
            </c:strRef>
          </c:tx>
          <c:spPr>
            <a:solidFill>
              <a:srgbClr val="40315E"/>
            </a:solidFill>
          </c:spPr>
          <c:invertIfNegative val="0"/>
          <c:xVal>
            <c:numRef>
              <c:f>Sheet1!$A$11:$A$11</c:f>
              <c:numCache>
                <c:formatCode>General</c:formatCode>
                <c:ptCount val="1"/>
                <c:pt idx="0">
                  <c:v>117.69244923779387</c:v>
                </c:pt>
              </c:numCache>
            </c:numRef>
          </c:xVal>
          <c:yVal>
            <c:numRef>
              <c:f>Sheet1!$B$11:$B$11</c:f>
              <c:numCache>
                <c:formatCode>General</c:formatCode>
                <c:ptCount val="1"/>
                <c:pt idx="0">
                  <c:v>146.9324564521863</c:v>
                </c:pt>
              </c:numCache>
            </c:numRef>
          </c:yVal>
          <c:bubbleSize>
            <c:numRef>
              <c:f>Sheet1!$C$11:$C$11</c:f>
              <c:numCache>
                <c:formatCode>General</c:formatCode>
                <c:ptCount val="1"/>
                <c:pt idx="0">
                  <c:v>684.81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143.914</c:v>
                </c:pt>
                <c:pt idx="2">
                  <c:v>158.152</c:v>
                </c:pt>
                <c:pt idx="3">
                  <c:v>173.88</c:v>
                </c:pt>
                <c:pt idx="4">
                  <c:v>191.276</c:v>
                </c:pt>
                <c:pt idx="5">
                  <c:v>210.539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143.914</c:v>
                </c:pt>
                <c:pt idx="1">
                  <c:v>14.238</c:v>
                </c:pt>
                <c:pt idx="2">
                  <c:v>15.728000000000009</c:v>
                </c:pt>
                <c:pt idx="3">
                  <c:v>17.396000000000015</c:v>
                </c:pt>
                <c:pt idx="4">
                  <c:v>19.262999999999977</c:v>
                </c:pt>
                <c:pt idx="5">
                  <c:v>21.364000000000004</c:v>
                </c:pt>
                <c:pt idx="6">
                  <c:v>231.903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77.919</c:v>
                </c:pt>
                <c:pt idx="2">
                  <c:v>88.054</c:v>
                </c:pt>
                <c:pt idx="3">
                  <c:v>99.651</c:v>
                </c:pt>
                <c:pt idx="4">
                  <c:v>112.952</c:v>
                </c:pt>
                <c:pt idx="5">
                  <c:v>128.249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77.919</c:v>
                </c:pt>
                <c:pt idx="1">
                  <c:v>10.135000000000005</c:v>
                </c:pt>
                <c:pt idx="2">
                  <c:v>11.596999999999994</c:v>
                </c:pt>
                <c:pt idx="3">
                  <c:v>13.301000000000002</c:v>
                </c:pt>
                <c:pt idx="4">
                  <c:v>15.296999999999997</c:v>
                </c:pt>
                <c:pt idx="5">
                  <c:v>17.64099999999999</c:v>
                </c:pt>
                <c:pt idx="6">
                  <c:v>145.89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490.046</c:v>
                </c:pt>
                <c:pt idx="2">
                  <c:v>523.856</c:v>
                </c:pt>
                <c:pt idx="3">
                  <c:v>558.885</c:v>
                </c:pt>
                <c:pt idx="4">
                  <c:v>594.888</c:v>
                </c:pt>
                <c:pt idx="5">
                  <c:v>631.486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490.046</c:v>
                </c:pt>
                <c:pt idx="1">
                  <c:v>33.81</c:v>
                </c:pt>
                <c:pt idx="2">
                  <c:v>35.028999999999996</c:v>
                </c:pt>
                <c:pt idx="3">
                  <c:v>36.00300000000004</c:v>
                </c:pt>
                <c:pt idx="4">
                  <c:v>36.597999999999956</c:v>
                </c:pt>
                <c:pt idx="5">
                  <c:v>36.71100000000001</c:v>
                </c:pt>
                <c:pt idx="6">
                  <c:v>668.197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413.321</c:v>
                </c:pt>
                <c:pt idx="2">
                  <c:v>456.341</c:v>
                </c:pt>
                <c:pt idx="3">
                  <c:v>504.292</c:v>
                </c:pt>
                <c:pt idx="4">
                  <c:v>557.818</c:v>
                </c:pt>
                <c:pt idx="5">
                  <c:v>617.7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413.321</c:v>
                </c:pt>
                <c:pt idx="1">
                  <c:v>43.01999999999998</c:v>
                </c:pt>
                <c:pt idx="2">
                  <c:v>47.950999999999965</c:v>
                </c:pt>
                <c:pt idx="3">
                  <c:v>53.52600000000001</c:v>
                </c:pt>
                <c:pt idx="4">
                  <c:v>59.88200000000006</c:v>
                </c:pt>
                <c:pt idx="5">
                  <c:v>67.1099999999999</c:v>
                </c:pt>
                <c:pt idx="6">
                  <c:v>684.81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Academic &amp; Teaching Dental Institutions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35.687432490439186</c:v>
                </c:pt>
                <c:pt idx="1">
                  <c:v>36.733114113046575</c:v>
                </c:pt>
                <c:pt idx="2">
                  <c:v>39.56609660272706</c:v>
                </c:pt>
              </c:numCache>
            </c:numRef>
          </c:val>
        </c:ser>
        <c:ser>
          <c:idx val="1"/>
          <c:order val="1"/>
          <c:tx>
            <c:strRef>
              <c:f>Sheet1!$C$1</c:f>
              <c:strCache>
                <c:ptCount val="1"/>
                <c:pt idx="0">
                  <c:v>Laboratories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45.396050683934696</c:v>
                </c:pt>
                <c:pt idx="1">
                  <c:v>43.55190188410949</c:v>
                </c:pt>
                <c:pt idx="2">
                  <c:v>38.60625144441877</c:v>
                </c:pt>
              </c:numCache>
            </c:numRef>
          </c:val>
        </c:ser>
        <c:ser>
          <c:idx val="2"/>
          <c:order val="2"/>
          <c:tx>
            <c:strRef>
              <c:f>Sheet1!$D$1</c:f>
              <c:strCache>
                <c:ptCount val="1"/>
                <c:pt idx="0">
                  <c:v>Clinics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12.553129145857412</c:v>
                </c:pt>
                <c:pt idx="1">
                  <c:v>12.790081763242089</c:v>
                </c:pt>
                <c:pt idx="2">
                  <c:v>13.39860180263462</c:v>
                </c:pt>
              </c:numCache>
            </c:numRef>
          </c:val>
        </c:ser>
        <c:ser>
          <c:idx val="3"/>
          <c:order val="3"/>
          <c:tx>
            <c:strRef>
              <c:f>Sheet1!$E$1</c:f>
              <c:strCache>
                <c:ptCount val="1"/>
                <c:pt idx="0">
                  <c:v>Hospitals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6.363387679768702</c:v>
                </c:pt>
                <c:pt idx="1">
                  <c:v>6.924902239601847</c:v>
                </c:pt>
                <c:pt idx="2">
                  <c:v>8.42905015021955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Direct Sales</c:v>
                </c:pt>
              </c:strCache>
            </c:strRef>
          </c:tx>
          <c:spPr>
            <a:solidFill>
              <a:srgbClr val="3D85C6"/>
            </a:solidFill>
            <a:ln>
              <a:noFill/>
            </a:ln>
          </c:spPr>
          <c:dLbls>
            <c:dLbl>
              <c:idx val="0"/>
              <c:tx>
                <c:rich>
                  <a:bodyPr/>
                  <a:lstStyle/>
                  <a:p>
                    <a:r>
                      <a:rPr sz="1100">
                        <a:solidFill>
                          <a:srgbClr val="FFFFFF"/>
                        </a:solidFill>
                        <a:latin typeface="Calibri"/>
                      </a:rPr>
                      <a:t>39%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40%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Sheet1!$B$2:$B$7</c:f>
              <c:numCache>
                <c:formatCode>General</c:formatCode>
                <c:ptCount val="6"/>
                <c:pt idx="0">
                  <c:v>39.35135766228567</c:v>
                </c:pt>
                <c:pt idx="1">
                  <c:v>39.559996664535674</c:v>
                </c:pt>
                <c:pt idx="2">
                  <c:v>38.19343189256293</c:v>
                </c:pt>
                <c:pt idx="3">
                  <c:v>40.93617698974107</c:v>
                </c:pt>
                <c:pt idx="4">
                  <c:v>40.74929919697762</c:v>
                </c:pt>
                <c:pt idx="5">
                  <c:v>35.94086714194367</c:v>
                </c:pt>
              </c:numCache>
            </c:numRef>
          </c:val>
        </c:ser>
        <c:ser>
          <c:idx val="1"/>
          <c:order val="1"/>
          <c:tx>
            <c:strRef>
              <c:f>Sheet1!$C$1</c:f>
              <c:strCache>
                <c:ptCount val="1"/>
                <c:pt idx="0">
                  <c:v>Dental Dealers &amp; Distributors</c:v>
                </c:pt>
              </c:strCache>
            </c:strRef>
          </c:tx>
          <c:spPr>
            <a:solidFill>
              <a:srgbClr val="9E7E0A"/>
            </a:solidFill>
            <a:ln>
              <a:noFill/>
            </a:ln>
          </c:spPr>
          <c:dLbls>
            <c:dLbl>
              <c:idx val="0"/>
              <c:tx>
                <c:rich>
                  <a:bodyPr/>
                  <a:lstStyle/>
                  <a:p>
                    <a:r>
                      <a:rPr sz="1100">
                        <a:solidFill>
                          <a:srgbClr val="FFFFFF"/>
                        </a:solidFill>
                        <a:latin typeface="Calibri"/>
                      </a:rPr>
                      <a:t>52%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51%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54%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50%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50%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56%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Sheet1!$C$2:$C$7</c:f>
              <c:numCache>
                <c:formatCode>General</c:formatCode>
                <c:ptCount val="6"/>
                <c:pt idx="0">
                  <c:v>52.01731269597706</c:v>
                </c:pt>
                <c:pt idx="1">
                  <c:v>50.544792506323475</c:v>
                </c:pt>
                <c:pt idx="2">
                  <c:v>54.16589549712223</c:v>
                </c:pt>
                <c:pt idx="3">
                  <c:v>49.750273173278124</c:v>
                </c:pt>
                <c:pt idx="4">
                  <c:v>50.188192604282925</c:v>
                </c:pt>
                <c:pt idx="5">
                  <c:v>56.04603888109485</c:v>
                </c:pt>
              </c:numCache>
            </c:numRef>
          </c:val>
        </c:ser>
        <c:ser>
          <c:idx val="2"/>
          <c:order val="2"/>
          <c:tx>
            <c:strRef>
              <c:f>Sheet1!$D$1</c:f>
              <c:strCache>
                <c:ptCount val="1"/>
                <c:pt idx="0">
                  <c:v>Online Dental Supply Channels</c:v>
                </c:pt>
              </c:strCache>
            </c:strRef>
          </c:tx>
          <c:spPr>
            <a:solidFill>
              <a:srgbClr val="008189"/>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Sheet1!$D$2:$D$7</c:f>
              <c:numCache>
                <c:formatCode>General</c:formatCode>
                <c:ptCount val="6"/>
                <c:pt idx="0">
                  <c:v>8.631329641737274</c:v>
                </c:pt>
                <c:pt idx="1">
                  <c:v>9.89521082914084</c:v>
                </c:pt>
                <c:pt idx="2">
                  <c:v>7.640672610314862</c:v>
                </c:pt>
                <c:pt idx="3">
                  <c:v>9.313549836980805</c:v>
                </c:pt>
                <c:pt idx="4">
                  <c:v>9.062508198739465</c:v>
                </c:pt>
                <c:pt idx="5">
                  <c:v>8.013093976961473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Direct Sales</c:v>
                </c:pt>
              </c:strCache>
            </c:strRef>
          </c:tx>
          <c:spPr>
            <a:solidFill>
              <a:srgbClr val="3D85C6"/>
            </a:solidFill>
          </c:spPr>
          <c:invertIfNegative val="0"/>
          <c:xVal>
            <c:numRef>
              <c:f>Sheet1!$A$2:$A$2</c:f>
              <c:numCache>
                <c:formatCode>General</c:formatCode>
                <c:ptCount val="1"/>
                <c:pt idx="0">
                  <c:v>194.67212285775867</c:v>
                </c:pt>
              </c:numCache>
            </c:numRef>
          </c:xVal>
          <c:yVal>
            <c:numRef>
              <c:f>Sheet1!$B$2:$B$2</c:f>
              <c:numCache>
                <c:formatCode>General</c:formatCode>
                <c:ptCount val="1"/>
                <c:pt idx="0">
                  <c:v>78.69987557767509</c:v>
                </c:pt>
              </c:numCache>
            </c:numRef>
          </c:yVal>
          <c:bubbleSize>
            <c:numRef>
              <c:f>Sheet1!$C$2:$C$2</c:f>
              <c:numCache>
                <c:formatCode>General</c:formatCode>
                <c:ptCount val="1"/>
                <c:pt idx="0">
                  <c:v>671.47</c:v>
                </c:pt>
              </c:numCache>
            </c:numRef>
          </c:bubbleSize>
          <c:bubble3D val="0"/>
        </c:ser>
        <c:ser>
          <c:idx val="1"/>
          <c:order val="1"/>
          <c:tx>
            <c:strRef>
              <c:f>Sheet1!$B$4</c:f>
              <c:strCache>
                <c:ptCount val="1"/>
                <c:pt idx="0">
                  <c:v>Dental Dealers &amp; Distributors</c:v>
                </c:pt>
              </c:strCache>
            </c:strRef>
          </c:tx>
          <c:spPr>
            <a:solidFill>
              <a:srgbClr val="9E7E0A"/>
            </a:solidFill>
          </c:spPr>
          <c:invertIfNegative val="0"/>
          <c:xVal>
            <c:numRef>
              <c:f>Sheet1!$A$5:$A$5</c:f>
              <c:numCache>
                <c:formatCode>General</c:formatCode>
                <c:ptCount val="1"/>
                <c:pt idx="0">
                  <c:v>56.19359954308071</c:v>
                </c:pt>
              </c:numCache>
            </c:numRef>
          </c:xVal>
          <c:yVal>
            <c:numRef>
              <c:f>Sheet1!$B$5:$B$5</c:f>
              <c:numCache>
                <c:formatCode>General</c:formatCode>
                <c:ptCount val="1"/>
                <c:pt idx="0">
                  <c:v>190.01688588695342</c:v>
                </c:pt>
              </c:numCache>
            </c:numRef>
          </c:yVal>
          <c:bubbleSize>
            <c:numRef>
              <c:f>Sheet1!$C$5:$C$5</c:f>
              <c:numCache>
                <c:formatCode>General</c:formatCode>
                <c:ptCount val="1"/>
                <c:pt idx="0">
                  <c:v>909.875</c:v>
                </c:pt>
              </c:numCache>
            </c:numRef>
          </c:bubbleSize>
          <c:bubble3D val="0"/>
        </c:ser>
        <c:ser>
          <c:idx val="2"/>
          <c:order val="2"/>
          <c:tx>
            <c:strRef>
              <c:f>Sheet1!$B$7</c:f>
              <c:strCache>
                <c:ptCount val="1"/>
                <c:pt idx="0">
                  <c:v>Online Dental Supply Channels</c:v>
                </c:pt>
              </c:strCache>
            </c:strRef>
          </c:tx>
          <c:spPr>
            <a:solidFill>
              <a:srgbClr val="008189"/>
            </a:solidFill>
          </c:spPr>
          <c:invertIfNegative val="0"/>
          <c:xVal>
            <c:numRef>
              <c:f>Sheet1!$A$8:$A$8</c:f>
              <c:numCache>
                <c:formatCode>General</c:formatCode>
                <c:ptCount val="1"/>
                <c:pt idx="0">
                  <c:v>55.662377880120474</c:v>
                </c:pt>
              </c:numCache>
            </c:numRef>
          </c:xVal>
          <c:yVal>
            <c:numRef>
              <c:f>Sheet1!$B$8:$B$8</c:f>
              <c:numCache>
                <c:formatCode>General</c:formatCode>
                <c:ptCount val="1"/>
                <c:pt idx="0">
                  <c:v>31.283238535371495</c:v>
                </c:pt>
              </c:numCache>
            </c:numRef>
          </c:yVal>
          <c:bubbleSize>
            <c:numRef>
              <c:f>Sheet1!$C$8:$C$8</c:f>
              <c:numCache>
                <c:formatCode>General</c:formatCode>
                <c:ptCount val="1"/>
                <c:pt idx="0">
                  <c:v>149.455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3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295.177</c:v>
                </c:pt>
                <c:pt idx="2">
                  <c:v>348.923</c:v>
                </c:pt>
                <c:pt idx="3">
                  <c:v>411.744</c:v>
                </c:pt>
                <c:pt idx="4">
                  <c:v>485.187</c:v>
                </c:pt>
                <c:pt idx="5">
                  <c:v>571.048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295.177</c:v>
                </c:pt>
                <c:pt idx="1">
                  <c:v>53.74599999999998</c:v>
                </c:pt>
                <c:pt idx="2">
                  <c:v>62.821000000000026</c:v>
                </c:pt>
                <c:pt idx="3">
                  <c:v>73.44299999999998</c:v>
                </c:pt>
                <c:pt idx="4">
                  <c:v>85.86099999999999</c:v>
                </c:pt>
                <c:pt idx="5">
                  <c:v>100.42200000000003</c:v>
                </c:pt>
                <c:pt idx="6">
                  <c:v>671.47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712.69</c:v>
                </c:pt>
                <c:pt idx="2">
                  <c:v>753.423</c:v>
                </c:pt>
                <c:pt idx="3">
                  <c:v>794.209</c:v>
                </c:pt>
                <c:pt idx="4">
                  <c:v>834.423</c:v>
                </c:pt>
                <c:pt idx="5">
                  <c:v>873.311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712.69</c:v>
                </c:pt>
                <c:pt idx="1">
                  <c:v>40.73299999999995</c:v>
                </c:pt>
                <c:pt idx="2">
                  <c:v>40.785999999999945</c:v>
                </c:pt>
                <c:pt idx="3">
                  <c:v>40.214000000000055</c:v>
                </c:pt>
                <c:pt idx="4">
                  <c:v>38.888000000000034</c:v>
                </c:pt>
                <c:pt idx="5">
                  <c:v>36.563999999999965</c:v>
                </c:pt>
                <c:pt idx="6">
                  <c:v>909.875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117.333</c:v>
                </c:pt>
                <c:pt idx="2">
                  <c:v>124.057</c:v>
                </c:pt>
                <c:pt idx="3">
                  <c:v>130.755</c:v>
                </c:pt>
                <c:pt idx="4">
                  <c:v>137.324</c:v>
                </c:pt>
                <c:pt idx="5">
                  <c:v>143.615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117.333</c:v>
                </c:pt>
                <c:pt idx="1">
                  <c:v>6.724000000000004</c:v>
                </c:pt>
                <c:pt idx="2">
                  <c:v>6.697999999999993</c:v>
                </c:pt>
                <c:pt idx="3">
                  <c:v>6.569000000000017</c:v>
                </c:pt>
                <c:pt idx="4">
                  <c:v>6.290999999999997</c:v>
                </c:pt>
                <c:pt idx="5">
                  <c:v>5.840000000000003</c:v>
                </c:pt>
                <c:pt idx="6">
                  <c:v>149.455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Dental Dealers &amp; Distributors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67.6625554537994</c:v>
                </c:pt>
                <c:pt idx="1">
                  <c:v>63.33896196231781</c:v>
                </c:pt>
                <c:pt idx="2">
                  <c:v>52.56962098451583</c:v>
                </c:pt>
              </c:numCache>
            </c:numRef>
          </c:val>
        </c:ser>
        <c:ser>
          <c:idx val="1"/>
          <c:order val="1"/>
          <c:tx>
            <c:strRef>
              <c:f>Sheet1!$C$1</c:f>
              <c:strCache>
                <c:ptCount val="1"/>
                <c:pt idx="0">
                  <c:v>Direct Sales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21.210355196249417</c:v>
                </c:pt>
                <c:pt idx="1">
                  <c:v>26.233291859225027</c:v>
                </c:pt>
                <c:pt idx="2">
                  <c:v>38.79535474924891</c:v>
                </c:pt>
              </c:numCache>
            </c:numRef>
          </c:val>
        </c:ser>
        <c:ser>
          <c:idx val="2"/>
          <c:order val="2"/>
          <c:tx>
            <c:strRef>
              <c:f>Sheet1!$D$1</c:f>
              <c:strCache>
                <c:ptCount val="1"/>
                <c:pt idx="0">
                  <c:v>Online Dental Supply Channels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11.127089349951182</c:v>
                </c:pt>
                <c:pt idx="1">
                  <c:v>10.427746178457163</c:v>
                </c:pt>
                <c:pt idx="2">
                  <c:v>8.635024266235268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Adults</c:v>
                </c:pt>
              </c:strCache>
            </c:strRef>
          </c:tx>
          <c:spPr>
            <a:solidFill>
              <a:srgbClr val="3D85C6"/>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Sheet1!$B$2:$B$7</c:f>
              <c:numCache>
                <c:formatCode>General</c:formatCode>
                <c:ptCount val="6"/>
                <c:pt idx="0">
                  <c:v>33.99576355994396</c:v>
                </c:pt>
                <c:pt idx="1">
                  <c:v>31.481919003807988</c:v>
                </c:pt>
                <c:pt idx="2">
                  <c:v>29.814242184854983</c:v>
                </c:pt>
                <c:pt idx="3">
                  <c:v>32.92899264312289</c:v>
                </c:pt>
                <c:pt idx="4">
                  <c:v>35.04398560654527</c:v>
                </c:pt>
                <c:pt idx="5">
                  <c:v>31.131980034548253</c:v>
                </c:pt>
              </c:numCache>
            </c:numRef>
          </c:val>
        </c:ser>
        <c:ser>
          <c:idx val="1"/>
          <c:order val="1"/>
          <c:tx>
            <c:strRef>
              <c:f>Sheet1!$C$1</c:f>
              <c:strCache>
                <c:ptCount val="1"/>
                <c:pt idx="0">
                  <c:v>Geriatric Patients</c:v>
                </c:pt>
              </c:strCache>
            </c:strRef>
          </c:tx>
          <c:spPr>
            <a:solidFill>
              <a:srgbClr val="9E7E0A"/>
            </a:solidFill>
            <a:ln>
              <a:noFill/>
            </a:ln>
          </c:spPr>
          <c:dLbls>
            <c:dLbl>
              <c:idx val="0"/>
              <c:tx>
                <c:rich>
                  <a:bodyPr/>
                  <a:lstStyle/>
                  <a:p>
                    <a:r>
                      <a:rPr sz="1100">
                        <a:solidFill>
                          <a:srgbClr val="FFFFFF"/>
                        </a:solidFill>
                        <a:latin typeface="Calibri"/>
                      </a:rPr>
                      <a:t>66%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69%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67%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65%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69%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Sheet1!$A$2:$A$7</c:f>
              <c:strCache>
                <c:ptCount val="6"/>
                <c:pt idx="0">
                  <c:v>Middle East &amp; Africa  ·  120</c:v>
                </c:pt>
                <c:pt idx="1">
                  <c:v>Latin America  ·  144</c:v>
                </c:pt>
                <c:pt idx="2">
                  <c:v>East Asia  ·  222</c:v>
                </c:pt>
                <c:pt idx="3">
                  <c:v>South Asia &amp; Pacific  ·  226</c:v>
                </c:pt>
                <c:pt idx="4">
                  <c:v>Europe  ·  496</c:v>
                </c:pt>
                <c:pt idx="5">
                  <c:v>North America  ·  524</c:v>
                </c:pt>
              </c:strCache>
            </c:strRef>
          </c:cat>
          <c:val>
            <c:numRef>
              <c:f>Sheet1!$C$2:$C$7</c:f>
              <c:numCache>
                <c:formatCode>General</c:formatCode>
                <c:ptCount val="6"/>
                <c:pt idx="0">
                  <c:v>66.00423644005605</c:v>
                </c:pt>
                <c:pt idx="1">
                  <c:v>68.51808099619201</c:v>
                </c:pt>
                <c:pt idx="2">
                  <c:v>70.18575781514501</c:v>
                </c:pt>
                <c:pt idx="3">
                  <c:v>67.0710073568771</c:v>
                </c:pt>
                <c:pt idx="4">
                  <c:v>64.95601439345474</c:v>
                </c:pt>
                <c:pt idx="5">
                  <c:v>68.86801996545175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Adults</c:v>
                </c:pt>
              </c:strCache>
            </c:strRef>
          </c:tx>
          <c:spPr>
            <a:solidFill>
              <a:srgbClr val="3D85C6"/>
            </a:solidFill>
          </c:spPr>
          <c:invertIfNegative val="0"/>
          <c:xVal>
            <c:numRef>
              <c:f>Sheet1!$A$2:$A$2</c:f>
              <c:numCache>
                <c:formatCode>General</c:formatCode>
                <c:ptCount val="1"/>
                <c:pt idx="0">
                  <c:v>96.1986271163346</c:v>
                </c:pt>
              </c:numCache>
            </c:numRef>
          </c:xVal>
          <c:yVal>
            <c:numRef>
              <c:f>Sheet1!$B$2:$B$2</c:f>
              <c:numCache>
                <c:formatCode>General</c:formatCode>
                <c:ptCount val="1"/>
                <c:pt idx="0">
                  <c:v>66.14308567365802</c:v>
                </c:pt>
              </c:numCache>
            </c:numRef>
          </c:yVal>
          <c:bubbleSize>
            <c:numRef>
              <c:f>Sheet1!$C$2:$C$2</c:f>
              <c:numCache>
                <c:formatCode>General</c:formatCode>
                <c:ptCount val="1"/>
                <c:pt idx="0">
                  <c:v>563.297</c:v>
                </c:pt>
              </c:numCache>
            </c:numRef>
          </c:bubbleSize>
          <c:bubble3D val="0"/>
        </c:ser>
        <c:ser>
          <c:idx val="1"/>
          <c:order val="1"/>
          <c:tx>
            <c:strRef>
              <c:f>Sheet1!$B$4</c:f>
              <c:strCache>
                <c:ptCount val="1"/>
                <c:pt idx="0">
                  <c:v>Geriatric Patients</c:v>
                </c:pt>
              </c:strCache>
            </c:strRef>
          </c:tx>
          <c:spPr>
            <a:solidFill>
              <a:srgbClr val="9E7E0A"/>
            </a:solidFill>
          </c:spPr>
          <c:invertIfNegative val="0"/>
          <c:xVal>
            <c:numRef>
              <c:f>Sheet1!$A$5:$A$5</c:f>
              <c:numCache>
                <c:formatCode>General</c:formatCode>
                <c:ptCount val="1"/>
                <c:pt idx="0">
                  <c:v>101.85833381054444</c:v>
                </c:pt>
              </c:numCache>
            </c:numRef>
          </c:xVal>
          <c:yVal>
            <c:numRef>
              <c:f>Sheet1!$B$5:$B$5</c:f>
              <c:numCache>
                <c:formatCode>General</c:formatCode>
                <c:ptCount val="1"/>
                <c:pt idx="0">
                  <c:v>133.85691432634198</c:v>
                </c:pt>
              </c:numCache>
            </c:numRef>
          </c:yVal>
          <c:bubbleSize>
            <c:numRef>
              <c:f>Sheet1!$C$5:$C$5</c:f>
              <c:numCache>
                <c:formatCode>General</c:formatCode>
                <c:ptCount val="1"/>
                <c:pt idx="0">
                  <c:v>1167.503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372.121</c:v>
                </c:pt>
                <c:pt idx="2">
                  <c:v>404.572</c:v>
                </c:pt>
                <c:pt idx="3">
                  <c:v>439.72</c:v>
                </c:pt>
                <c:pt idx="4">
                  <c:v>477.761</c:v>
                </c:pt>
                <c:pt idx="5">
                  <c:v>518.888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372.121</c:v>
                </c:pt>
                <c:pt idx="1">
                  <c:v>32.45100000000002</c:v>
                </c:pt>
                <c:pt idx="2">
                  <c:v>35.148000000000025</c:v>
                </c:pt>
                <c:pt idx="3">
                  <c:v>38.041</c:v>
                </c:pt>
                <c:pt idx="4">
                  <c:v>41.12700000000001</c:v>
                </c:pt>
                <c:pt idx="5">
                  <c:v>44.40899999999999</c:v>
                </c:pt>
                <c:pt idx="6">
                  <c:v>563.297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753.079</c:v>
                </c:pt>
                <c:pt idx="2">
                  <c:v>821.831</c:v>
                </c:pt>
                <c:pt idx="3">
                  <c:v>896.988</c:v>
                </c:pt>
                <c:pt idx="4">
                  <c:v>979.173</c:v>
                </c:pt>
                <c:pt idx="5">
                  <c:v>1069.086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753.079</c:v>
                </c:pt>
                <c:pt idx="1">
                  <c:v>68.75200000000007</c:v>
                </c:pt>
                <c:pt idx="2">
                  <c:v>75.15700000000004</c:v>
                </c:pt>
                <c:pt idx="3">
                  <c:v>82.18499999999995</c:v>
                </c:pt>
                <c:pt idx="4">
                  <c:v>89.91300000000001</c:v>
                </c:pt>
                <c:pt idx="5">
                  <c:v>98.41699999999992</c:v>
                </c:pt>
                <c:pt idx="6">
                  <c:v>1167.503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Geriatric Patients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66.7562649413052</c:v>
                </c:pt>
                <c:pt idx="1">
                  <c:v>66.92845716317099</c:v>
                </c:pt>
                <c:pt idx="2">
                  <c:v>67.45452969724982</c:v>
                </c:pt>
              </c:numCache>
            </c:numRef>
          </c:val>
        </c:ser>
        <c:ser>
          <c:idx val="1"/>
          <c:order val="1"/>
          <c:tx>
            <c:strRef>
              <c:f>Sheet1!$C$1</c:f>
              <c:strCache>
                <c:ptCount val="1"/>
                <c:pt idx="0">
                  <c:v>Adults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33.2437350586948</c:v>
                </c:pt>
                <c:pt idx="1">
                  <c:v>33.07154283682901</c:v>
                </c:pt>
                <c:pt idx="2">
                  <c:v>32.545470302750175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Acrylic / Resin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Sheet1!$B$2:$B$5</c:f>
              <c:numCache>
                <c:formatCode>General</c:formatCode>
                <c:ptCount val="4"/>
                <c:pt idx="0">
                  <c:v>30.064915673615655</c:v>
                </c:pt>
                <c:pt idx="1">
                  <c:v>30.06533856610642</c:v>
                </c:pt>
                <c:pt idx="2">
                  <c:v>30.06533856610642</c:v>
                </c:pt>
                <c:pt idx="3">
                  <c:v>30.06533856610642</c:v>
                </c:pt>
              </c:numCache>
            </c:numRef>
          </c:val>
        </c:ser>
        <c:ser>
          <c:idx val="1"/>
          <c:order val="1"/>
          <c:tx>
            <c:strRef>
              <c:f>Sheet1!$C$1</c:f>
              <c:strCache>
                <c:ptCount val="1"/>
                <c:pt idx="0">
                  <c:v>High-performance Polymers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Sheet1!$C$2:$C$5</c:f>
              <c:numCache>
                <c:formatCode>General</c:formatCode>
                <c:ptCount val="4"/>
                <c:pt idx="0">
                  <c:v>29.68843320724666</c:v>
                </c:pt>
                <c:pt idx="1">
                  <c:v>29.6902994625032</c:v>
                </c:pt>
                <c:pt idx="2">
                  <c:v>29.6902994625032</c:v>
                </c:pt>
                <c:pt idx="3">
                  <c:v>29.6902994625032</c:v>
                </c:pt>
              </c:numCache>
            </c:numRef>
          </c:val>
        </c:ser>
        <c:ser>
          <c:idx val="2"/>
          <c:order val="2"/>
          <c:tx>
            <c:strRef>
              <c:f>Sheet1!$D$1</c:f>
              <c:strCache>
                <c:ptCount val="1"/>
                <c:pt idx="0">
                  <c:v>Flexible Thermoplastics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Sheet1!$D$2:$D$5</c:f>
              <c:numCache>
                <c:formatCode>General</c:formatCode>
                <c:ptCount val="4"/>
                <c:pt idx="0">
                  <c:v>23.268322857711667</c:v>
                </c:pt>
                <c:pt idx="1">
                  <c:v>23.266999402781334</c:v>
                </c:pt>
                <c:pt idx="2">
                  <c:v>23.266999402781334</c:v>
                </c:pt>
                <c:pt idx="3">
                  <c:v>23.266999402781334</c:v>
                </c:pt>
              </c:numCache>
            </c:numRef>
          </c:val>
        </c:ser>
        <c:ser>
          <c:idx val="3"/>
          <c:order val="3"/>
          <c:tx>
            <c:strRef>
              <c:f>Sheet1!$E$1</c:f>
              <c:strCache>
                <c:ptCount val="1"/>
                <c:pt idx="0">
                  <c:v>Metal Alloys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Sheet1!$E$2:$E$5</c:f>
              <c:numCache>
                <c:formatCode>General</c:formatCode>
                <c:ptCount val="4"/>
                <c:pt idx="0">
                  <c:v>16.97832826142601</c:v>
                </c:pt>
                <c:pt idx="1">
                  <c:v>16.97736256860905</c:v>
                </c:pt>
                <c:pt idx="2">
                  <c:v>16.97736256860905</c:v>
                </c:pt>
                <c:pt idx="3">
                  <c:v>16.97736256860905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Conventional Fabrication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Sheet1!$B$2:$B$5</c:f>
              <c:numCache>
                <c:formatCode>General</c:formatCode>
                <c:ptCount val="4"/>
                <c:pt idx="0">
                  <c:v>51.094324867141815</c:v>
                </c:pt>
                <c:pt idx="1">
                  <c:v>51.09546916937735</c:v>
                </c:pt>
                <c:pt idx="2">
                  <c:v>51.09546916937735</c:v>
                </c:pt>
                <c:pt idx="3">
                  <c:v>51.09546916937735</c:v>
                </c:pt>
              </c:numCache>
            </c:numRef>
          </c:val>
        </c:ser>
        <c:ser>
          <c:idx val="1"/>
          <c:order val="1"/>
          <c:tx>
            <c:strRef>
              <c:f>Sheet1!$C$1</c:f>
              <c:strCache>
                <c:ptCount val="1"/>
                <c:pt idx="0">
                  <c:v>Digital Fabrication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Sheet1!$C$2:$C$5</c:f>
              <c:numCache>
                <c:formatCode>General</c:formatCode>
                <c:ptCount val="4"/>
                <c:pt idx="0">
                  <c:v>48.90567513285819</c:v>
                </c:pt>
                <c:pt idx="1">
                  <c:v>48.904530830622654</c:v>
                </c:pt>
                <c:pt idx="2">
                  <c:v>48.904530830622654</c:v>
                </c:pt>
                <c:pt idx="3">
                  <c:v>48.904530830622654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2.424507799758535</c:v>
                </c:pt>
                <c:pt idx="1">
                  <c:v>2.7569763351350085</c:v>
                </c:pt>
                <c:pt idx="2">
                  <c:v>2.6460337528644295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6392087623782112"/>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1101518.448</c:v>
                </c:pt>
                <c:pt idx="2">
                  <c:v>0.0</c:v>
                </c:pt>
                <c:pt idx="3">
                  <c:v>1241684.338</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1101518.448</c:v>
                </c:pt>
                <c:pt idx="1">
                  <c:v>140165.8899999999</c:v>
                </c:pt>
                <c:pt idx="2">
                  <c:v>1241684.338</c:v>
                </c:pt>
                <c:pt idx="3">
                  <c:v>388078.3400000001</c:v>
                </c:pt>
                <c:pt idx="4">
                  <c:v>1629762.678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3.1674166443515617</c:v>
                </c:pt>
                <c:pt idx="1">
                  <c:v>3.5025114673608027</c:v>
                </c:pt>
                <c:pt idx="2">
                  <c:v>3.390692432729714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623315136916259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317.71</c:v>
                </c:pt>
                <c:pt idx="2">
                  <c:v>0.0</c:v>
                </c:pt>
                <c:pt idx="3">
                  <c:v>371.31600000000003</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317.71</c:v>
                </c:pt>
                <c:pt idx="1">
                  <c:v>53.60600000000005</c:v>
                </c:pt>
                <c:pt idx="2">
                  <c:v>371.31600000000003</c:v>
                </c:pt>
                <c:pt idx="3">
                  <c:v>152.58899999999994</c:v>
                </c:pt>
                <c:pt idx="4">
                  <c:v>523.905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317.71</c:v>
                </c:pt>
                <c:pt idx="1">
                  <c:v>326.573</c:v>
                </c:pt>
                <c:pt idx="2">
                  <c:v>336.29999999999995</c:v>
                </c:pt>
                <c:pt idx="3">
                  <c:v>346.95399999999995</c:v>
                </c:pt>
                <c:pt idx="4">
                  <c:v>358.6089999999999</c:v>
                </c:pt>
              </c:numCache>
            </c:numRef>
          </c:val>
        </c:ser>
        <c:gapWidth val="50"/>
        <c:axId val="-2068027336"/>
        <c:axId val="-2113994440"/>
      </c:barChart>
      <c:barChart>
        <c:barDir val="col"/>
        <c:grouping val="clustered"/>
        <c:varyColors val="0"/>
        <c:ser>
          <c:idx val="1"/>
          <c:order val="1"/>
          <c:tx>
            <c:strRef>
              <c:f>Sheet1!$C$1</c:f>
              <c:strCache>
                <c:ptCount val="1"/>
                <c:pt idx="0">
                  <c:v>Volume (Units)</c:v>
                </c:pt>
              </c:strCache>
            </c:strRef>
          </c:tx>
          <c:spPr>
            <a:solidFill>
              <a:srgbClr val="C55A11"/>
            </a:solidFill>
            <a:ln>
              <a:noFill/>
            </a:ln>
          </c:spPr>
          <c:dLbls>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1101518.448</c:v>
                </c:pt>
                <c:pt idx="1">
                  <c:v>1124091.437</c:v>
                </c:pt>
                <c:pt idx="2">
                  <c:v>1149246.4270000001</c:v>
                </c:pt>
                <c:pt idx="3">
                  <c:v>1177115.1539999999</c:v>
                </c:pt>
                <c:pt idx="4">
                  <c:v>1207879.891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423"/>
          <c:min val="0"/>
        </c:scaling>
        <c:delete val="0"/>
        <c:axPos val="l"/>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667176"/>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371.31600000000003</c:v>
                </c:pt>
                <c:pt idx="1">
                  <c:v>384.476</c:v>
                </c:pt>
                <c:pt idx="2">
                  <c:v>398.068</c:v>
                </c:pt>
                <c:pt idx="3">
                  <c:v>412.101</c:v>
                </c:pt>
                <c:pt idx="4">
                  <c:v>426.59400000000005</c:v>
                </c:pt>
                <c:pt idx="5">
                  <c:v>441.55600000000004</c:v>
                </c:pt>
                <c:pt idx="6">
                  <c:v>457.002</c:v>
                </c:pt>
                <c:pt idx="7">
                  <c:v>472.94399999999996</c:v>
                </c:pt>
                <c:pt idx="8">
                  <c:v>489.4</c:v>
                </c:pt>
                <c:pt idx="9">
                  <c:v>506.381</c:v>
                </c:pt>
                <c:pt idx="10">
                  <c:v>523.905</c:v>
                </c:pt>
              </c:numCache>
            </c:numRef>
          </c:val>
        </c:ser>
        <c:gapWidth val="50"/>
        <c:axId val="-2068027336"/>
        <c:axId val="-2113994440"/>
      </c:barChart>
      <c:barChart>
        <c:barDir val="col"/>
        <c:grouping val="clustered"/>
        <c:varyColors val="0"/>
        <c:ser>
          <c:idx val="1"/>
          <c:order val="1"/>
          <c:tx>
            <c:strRef>
              <c:f>Sheet1!$C$1</c:f>
              <c:strCache>
                <c:ptCount val="1"/>
                <c:pt idx="0">
                  <c:v>Volume (Units)</c:v>
                </c:pt>
              </c:strCache>
            </c:strRef>
          </c:tx>
          <c:spPr>
            <a:solidFill>
              <a:srgbClr val="C55A11"/>
            </a:solidFill>
            <a:ln>
              <a:noFill/>
            </a:ln>
          </c:spPr>
          <c:dLbls>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1241684.338</c:v>
                </c:pt>
                <c:pt idx="1">
                  <c:v>1276436.119</c:v>
                </c:pt>
                <c:pt idx="2">
                  <c:v>1312042.414</c:v>
                </c:pt>
                <c:pt idx="3">
                  <c:v>1348522.328</c:v>
                </c:pt>
                <c:pt idx="4">
                  <c:v>1385891.187</c:v>
                </c:pt>
                <c:pt idx="5">
                  <c:v>1424163.2059999998</c:v>
                </c:pt>
                <c:pt idx="6">
                  <c:v>1463366.568</c:v>
                </c:pt>
                <c:pt idx="7">
                  <c:v>1503502.321</c:v>
                </c:pt>
                <c:pt idx="8">
                  <c:v>1544604.342</c:v>
                </c:pt>
                <c:pt idx="9">
                  <c:v>1586687.222</c:v>
                </c:pt>
                <c:pt idx="10">
                  <c:v>1629762.678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618"/>
          <c:min val="0"/>
        </c:scaling>
        <c:delete val="0"/>
        <c:axPos val="l"/>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349197"/>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Sheet1!$A$2:$A$3</c:f>
              <c:strCache>
                <c:ptCount val="2"/>
                <c:pt idx="0">
                  <c:v>U.S.</c:v>
                </c:pt>
                <c:pt idx="1">
                  <c:v>Canada</c:v>
                </c:pt>
              </c:strCache>
            </c:strRef>
          </c:cat>
          <c:val>
            <c:numRef>
              <c:f>Sheet1!$B$2:$B$3</c:f>
              <c:numCache>
                <c:formatCode>General</c:formatCode>
                <c:ptCount val="2"/>
                <c:pt idx="0">
                  <c:v>93.46014725517603</c:v>
                </c:pt>
                <c:pt idx="1">
                  <c:v>114.06416316681829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Sheet1!$A$2:$A$3</c:f>
              <c:strCache>
                <c:ptCount val="2"/>
                <c:pt idx="0">
                  <c:v>Canada</c:v>
                </c:pt>
                <c:pt idx="1">
                  <c:v>U.S.</c:v>
                </c:pt>
              </c:strCache>
            </c:strRef>
          </c:cat>
          <c:val>
            <c:numRef>
              <c:f>Sheet1!$B$2:$B$3</c:f>
              <c:numCache>
                <c:formatCode>General</c:formatCode>
                <c:ptCount val="2"/>
                <c:pt idx="0">
                  <c:v>36.25031948567722</c:v>
                </c:pt>
                <c:pt idx="1">
                  <c:v>63.74968051432279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tx>
                <c:rich>
                  <a:bodyPr/>
                  <a:lstStyle/>
                  <a:p>
                    <a:pPr>
                      <a:defRPr sz="1100" b="1">
                        <a:solidFill>
                          <a:srgbClr val="FFFFFF"/>
                        </a:solidFill>
                        <a:latin typeface="Calibri"/>
                      </a:defRPr>
                    </a:pPr>
                    <a:r>
                      <a:t>24.7%</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16.5%</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31.3%</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27.5%</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Sheet1!$B$2:$B$5</c:f>
              <c:numCache>
                <c:formatCode>General</c:formatCode>
                <c:ptCount val="4"/>
                <c:pt idx="0">
                  <c:v>129.351</c:v>
                </c:pt>
                <c:pt idx="1">
                  <c:v>86.539</c:v>
                </c:pt>
                <c:pt idx="2">
                  <c:v>164.2</c:v>
                </c:pt>
                <c:pt idx="3">
                  <c:v>143.815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0.04021327315999948</c:v>
                </c:pt>
                <c:pt idx="1">
                  <c:v>0.04071271972369234</c:v>
                </c:pt>
                <c:pt idx="2">
                  <c:v>0.041460143252575354</c:v>
                </c:pt>
                <c:pt idx="3">
                  <c:v>0.041956097182955676</c:v>
                </c:pt>
                <c:pt idx="4">
                  <c:v>0.04248697744646137</c:v>
                </c:pt>
                <c:pt idx="5">
                  <c:v>0.0436360538062862</c:v>
                </c:pt>
                <c:pt idx="6">
                  <c:v>0.044421896301607124</c:v>
                </c:pt>
                <c:pt idx="7">
                  <c:v>0.04554303159493166</c:v>
                </c:pt>
                <c:pt idx="8">
                  <c:v>0.046723541654569316</c:v>
                </c:pt>
                <c:pt idx="9">
                  <c:v>0.047216002951637095</c:v>
                </c:pt>
                <c:pt idx="10">
                  <c:v>0.047771331648330556</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0.03694746601946209</c:v>
                </c:pt>
                <c:pt idx="1">
                  <c:v>0.03806505981192823</c:v>
                </c:pt>
                <c:pt idx="2">
                  <c:v>0.03875814123361266</c:v>
                </c:pt>
                <c:pt idx="3">
                  <c:v>0.03833362886283095</c:v>
                </c:pt>
                <c:pt idx="4">
                  <c:v>0.03692147546614892</c:v>
                </c:pt>
                <c:pt idx="5">
                  <c:v>0.03511946376976941</c:v>
                </c:pt>
                <c:pt idx="6">
                  <c:v>0.03381127258634005</c:v>
                </c:pt>
                <c:pt idx="7">
                  <c:v>0.03272833286495813</c:v>
                </c:pt>
                <c:pt idx="8">
                  <c:v>0.032225848834236924</c:v>
                </c:pt>
                <c:pt idx="9">
                  <c:v>0.031688710732431485</c:v>
                </c:pt>
                <c:pt idx="10">
                  <c:v>0.03112558207731289</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0.023189472728295357</c:v>
                </c:pt>
                <c:pt idx="1">
                  <c:v>0.023632404715748623</c:v>
                </c:pt>
                <c:pt idx="2">
                  <c:v>0.024340424786601957</c:v>
                </c:pt>
                <c:pt idx="3">
                  <c:v>0.02482697886372865</c:v>
                </c:pt>
                <c:pt idx="4">
                  <c:v>0.025326955122293326</c:v>
                </c:pt>
                <c:pt idx="5">
                  <c:v>0.025823575835498505</c:v>
                </c:pt>
                <c:pt idx="6">
                  <c:v>0.0266154845403392</c:v>
                </c:pt>
                <c:pt idx="7">
                  <c:v>0.02769261460073692</c:v>
                </c:pt>
                <c:pt idx="8">
                  <c:v>0.028222790767537045</c:v>
                </c:pt>
                <c:pt idx="9">
                  <c:v>0.029380453916562632</c:v>
                </c:pt>
                <c:pt idx="10">
                  <c:v>0.030239473528593214</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U.S.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72.52736210320147</c:v>
                </c:pt>
                <c:pt idx="1">
                  <c:v>71.11839537412699</c:v>
                </c:pt>
              </c:numCache>
            </c:numRef>
          </c:val>
        </c:ser>
        <c:ser>
          <c:idx val="1"/>
          <c:order val="1"/>
          <c:tx>
            <c:strRef>
              <c:f>Sheet1!$C$1</c:f>
              <c:strCache>
                <c:ptCount val="1"/>
                <c:pt idx="0">
                  <c:v>Canada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27.472637896798535</c:v>
                </c:pt>
                <c:pt idx="1">
                  <c:v>28.881604625873024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U.S.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68.93589287830311</c:v>
                </c:pt>
                <c:pt idx="1">
                  <c:v>67.42539200809307</c:v>
                </c:pt>
              </c:numCache>
            </c:numRef>
          </c:val>
        </c:ser>
        <c:ser>
          <c:idx val="1"/>
          <c:order val="1"/>
          <c:tx>
            <c:strRef>
              <c:f>Sheet1!$C$1</c:f>
              <c:strCache>
                <c:ptCount val="1"/>
                <c:pt idx="0">
                  <c:v>Canada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31.064107121696882</c:v>
                </c:pt>
                <c:pt idx="1">
                  <c:v>32.57460799190693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U.S.</c:v>
                </c:pt>
              </c:strCache>
            </c:strRef>
          </c:tx>
          <c:spPr>
            <a:solidFill>
              <a:srgbClr val="3D85C6"/>
            </a:solidFill>
            <a:ln>
              <a:noFill/>
            </a:ln>
          </c:spPr>
          <c:dLbls>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806541.661</c:v>
                </c:pt>
                <c:pt idx="1">
                  <c:v>821520.643</c:v>
                </c:pt>
                <c:pt idx="2">
                  <c:v>838315.715</c:v>
                </c:pt>
                <c:pt idx="3">
                  <c:v>857011.757</c:v>
                </c:pt>
                <c:pt idx="4">
                  <c:v>877729.572</c:v>
                </c:pt>
                <c:pt idx="5">
                  <c:v>900560.896</c:v>
                </c:pt>
                <c:pt idx="6">
                  <c:v>923991.699</c:v>
                </c:pt>
                <c:pt idx="7">
                  <c:v>947937.608</c:v>
                </c:pt>
                <c:pt idx="8">
                  <c:v>972408.38</c:v>
                </c:pt>
                <c:pt idx="9">
                  <c:v>997410.926</c:v>
                </c:pt>
                <c:pt idx="10">
                  <c:v>1022951.252</c:v>
                </c:pt>
                <c:pt idx="11">
                  <c:v>1049045.28</c:v>
                </c:pt>
                <c:pt idx="12">
                  <c:v>1075689.333</c:v>
                </c:pt>
                <c:pt idx="13">
                  <c:v>1102903.152</c:v>
                </c:pt>
                <c:pt idx="14">
                  <c:v>1130692.518</c:v>
                </c:pt>
                <c:pt idx="15">
                  <c:v>1159061.065</c:v>
                </c:pt>
              </c:numCache>
            </c:numRef>
          </c:val>
        </c:ser>
        <c:ser>
          <c:idx val="1"/>
          <c:order val="1"/>
          <c:tx>
            <c:strRef>
              <c:f>Sheet1!$C$1</c:f>
              <c:strCache>
                <c:ptCount val="1"/>
                <c:pt idx="0">
                  <c:v>Canada</c:v>
                </c:pt>
              </c:strCache>
            </c:strRef>
          </c:tx>
          <c:spPr>
            <a:solidFill>
              <a:srgbClr val="9E7E0A"/>
            </a:solidFill>
            <a:ln>
              <a:noFill/>
            </a:ln>
          </c:spPr>
          <c:dLbls>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294976.787</c:v>
                </c:pt>
                <c:pt idx="1">
                  <c:v>302570.794</c:v>
                </c:pt>
                <c:pt idx="2">
                  <c:v>310930.712</c:v>
                </c:pt>
                <c:pt idx="3">
                  <c:v>320103.397</c:v>
                </c:pt>
                <c:pt idx="4">
                  <c:v>330150.319</c:v>
                </c:pt>
                <c:pt idx="5">
                  <c:v>341123.442</c:v>
                </c:pt>
                <c:pt idx="6">
                  <c:v>352444.42</c:v>
                </c:pt>
                <c:pt idx="7">
                  <c:v>364104.806</c:v>
                </c:pt>
                <c:pt idx="8">
                  <c:v>376113.948</c:v>
                </c:pt>
                <c:pt idx="9">
                  <c:v>388480.261</c:v>
                </c:pt>
                <c:pt idx="10">
                  <c:v>401211.954</c:v>
                </c:pt>
                <c:pt idx="11">
                  <c:v>414321.288</c:v>
                </c:pt>
                <c:pt idx="12">
                  <c:v>427812.988</c:v>
                </c:pt>
                <c:pt idx="13">
                  <c:v>441701.19</c:v>
                </c:pt>
                <c:pt idx="14">
                  <c:v>455994.704</c:v>
                </c:pt>
                <c:pt idx="15">
                  <c:v>470701.613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U.S.</c:v>
                </c:pt>
              </c:strCache>
            </c:strRef>
          </c:tx>
          <c:spPr>
            <a:solidFill>
              <a:srgbClr val="3D85C6"/>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221.386</c:v>
                </c:pt>
                <c:pt idx="1">
                  <c:v>227.078</c:v>
                </c:pt>
                <c:pt idx="2">
                  <c:v>233.34</c:v>
                </c:pt>
                <c:pt idx="3">
                  <c:v>240.215</c:v>
                </c:pt>
                <c:pt idx="4">
                  <c:v>247.749</c:v>
                </c:pt>
                <c:pt idx="5">
                  <c:v>255.97</c:v>
                </c:pt>
                <c:pt idx="6">
                  <c:v>264.468</c:v>
                </c:pt>
                <c:pt idx="7">
                  <c:v>273.221</c:v>
                </c:pt>
                <c:pt idx="8">
                  <c:v>282.234</c:v>
                </c:pt>
                <c:pt idx="9">
                  <c:v>291.518</c:v>
                </c:pt>
                <c:pt idx="10">
                  <c:v>301.076</c:v>
                </c:pt>
                <c:pt idx="11">
                  <c:v>310.917</c:v>
                </c:pt>
                <c:pt idx="12">
                  <c:v>321.046</c:v>
                </c:pt>
                <c:pt idx="13">
                  <c:v>331.473</c:v>
                </c:pt>
                <c:pt idx="14">
                  <c:v>342.202</c:v>
                </c:pt>
                <c:pt idx="15">
                  <c:v>353.245</c:v>
                </c:pt>
              </c:numCache>
            </c:numRef>
          </c:val>
        </c:ser>
        <c:ser>
          <c:idx val="1"/>
          <c:order val="1"/>
          <c:tx>
            <c:strRef>
              <c:f>Sheet1!$C$1</c:f>
              <c:strCache>
                <c:ptCount val="1"/>
                <c:pt idx="0">
                  <c:v>Canada</c:v>
                </c:pt>
              </c:strCache>
            </c:strRef>
          </c:tx>
          <c:spPr>
            <a:solidFill>
              <a:srgbClr val="9E7E0A"/>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96.324</c:v>
                </c:pt>
                <c:pt idx="1">
                  <c:v>99.495</c:v>
                </c:pt>
                <c:pt idx="2">
                  <c:v>102.96</c:v>
                </c:pt>
                <c:pt idx="3">
                  <c:v>106.739</c:v>
                </c:pt>
                <c:pt idx="4">
                  <c:v>110.86</c:v>
                </c:pt>
                <c:pt idx="5">
                  <c:v>115.346</c:v>
                </c:pt>
                <c:pt idx="6">
                  <c:v>120.008</c:v>
                </c:pt>
                <c:pt idx="7">
                  <c:v>124.847</c:v>
                </c:pt>
                <c:pt idx="8">
                  <c:v>129.867</c:v>
                </c:pt>
                <c:pt idx="9">
                  <c:v>135.076</c:v>
                </c:pt>
                <c:pt idx="10">
                  <c:v>140.48</c:v>
                </c:pt>
                <c:pt idx="11">
                  <c:v>146.085</c:v>
                </c:pt>
                <c:pt idx="12">
                  <c:v>151.898</c:v>
                </c:pt>
                <c:pt idx="13">
                  <c:v>157.927</c:v>
                </c:pt>
                <c:pt idx="14">
                  <c:v>164.179</c:v>
                </c:pt>
                <c:pt idx="15">
                  <c:v>170.66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Cast Metal Partial Dentures</c:v>
                </c:pt>
              </c:strCache>
            </c:strRef>
          </c:tx>
          <c:spPr>
            <a:solidFill>
              <a:srgbClr val="3D85C6"/>
            </a:solidFill>
            <a:ln>
              <a:noFill/>
            </a:ln>
          </c:spPr>
          <c:dLbls>
            <c:dLbl>
              <c:idx val="0"/>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Sheet1!$B$2:$B$3</c:f>
              <c:numCache>
                <c:formatCode>General</c:formatCode>
                <c:ptCount val="2"/>
                <c:pt idx="0">
                  <c:v>27.844251728583146</c:v>
                </c:pt>
                <c:pt idx="1">
                  <c:v>23.165791447861963</c:v>
                </c:pt>
              </c:numCache>
            </c:numRef>
          </c:val>
        </c:ser>
        <c:ser>
          <c:idx val="1"/>
          <c:order val="1"/>
          <c:tx>
            <c:strRef>
              <c:f>Sheet1!$C$1</c:f>
              <c:strCache>
                <c:ptCount val="1"/>
                <c:pt idx="0">
                  <c:v>Acrylic Partial Dentures</c:v>
                </c:pt>
              </c:strCache>
            </c:strRef>
          </c:tx>
          <c:spPr>
            <a:solidFill>
              <a:srgbClr val="9E7E0A"/>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Sheet1!$C$2:$C$3</c:f>
              <c:numCache>
                <c:formatCode>General</c:formatCode>
                <c:ptCount val="2"/>
                <c:pt idx="0">
                  <c:v>17.463377475682645</c:v>
                </c:pt>
                <c:pt idx="1">
                  <c:v>16.061373834024543</c:v>
                </c:pt>
              </c:numCache>
            </c:numRef>
          </c:val>
        </c:ser>
        <c:ser>
          <c:idx val="2"/>
          <c:order val="2"/>
          <c:tx>
            <c:strRef>
              <c:f>Sheet1!$D$1</c:f>
              <c:strCache>
                <c:ptCount val="1"/>
                <c:pt idx="0">
                  <c:v>Flexible Partial Dentures</c:v>
                </c:pt>
              </c:strCache>
            </c:strRef>
          </c:tx>
          <c:spPr>
            <a:solidFill>
              <a:srgbClr val="008189"/>
            </a:solidFill>
            <a:ln>
              <a:noFill/>
            </a:ln>
          </c:spPr>
          <c:dLbls>
            <c:dLbl>
              <c:idx val="0"/>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Sheet1!$D$2:$D$3</c:f>
              <c:numCache>
                <c:formatCode>General</c:formatCode>
                <c:ptCount val="2"/>
                <c:pt idx="0">
                  <c:v>29.257588187038557</c:v>
                </c:pt>
                <c:pt idx="1">
                  <c:v>32.348370111395774</c:v>
                </c:pt>
              </c:numCache>
            </c:numRef>
          </c:val>
        </c:ser>
        <c:ser>
          <c:idx val="3"/>
          <c:order val="3"/>
          <c:tx>
            <c:strRef>
              <c:f>Sheet1!$E$1</c:f>
              <c:strCache>
                <c:ptCount val="1"/>
                <c:pt idx="0">
                  <c:v>Combination Framework Partial Dentures</c:v>
                </c:pt>
              </c:strCache>
            </c:strRef>
          </c:tx>
          <c:spPr>
            <a:solidFill>
              <a:srgbClr val="40315E"/>
            </a:solidFill>
            <a:ln>
              <a:noFill/>
            </a:ln>
          </c:spPr>
          <c:dLbls>
            <c:dLbl>
              <c:idx val="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Sheet1!$E$2:$E$3</c:f>
              <c:numCache>
                <c:formatCode>General</c:formatCode>
                <c:ptCount val="2"/>
                <c:pt idx="0">
                  <c:v>25.43478260869565</c:v>
                </c:pt>
                <c:pt idx="1">
                  <c:v>28.42446460671772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Cast Metal Partial Dentures</c:v>
                </c:pt>
              </c:strCache>
            </c:strRef>
          </c:tx>
          <c:spPr>
            <a:solidFill>
              <a:srgbClr val="3D85C6"/>
            </a:solidFill>
          </c:spPr>
          <c:invertIfNegative val="0"/>
          <c:xVal>
            <c:numRef>
              <c:f>Sheet1!$A$2:$A$2</c:f>
              <c:numCache>
                <c:formatCode>General</c:formatCode>
                <c:ptCount val="1"/>
                <c:pt idx="0">
                  <c:v>156.61296474095542</c:v>
                </c:pt>
              </c:numCache>
            </c:numRef>
          </c:xVal>
          <c:yVal>
            <c:numRef>
              <c:f>Sheet1!$B$2:$B$2</c:f>
              <c:numCache>
                <c:formatCode>General</c:formatCode>
                <c:ptCount val="1"/>
                <c:pt idx="0">
                  <c:v>81.68891187021296</c:v>
                </c:pt>
              </c:numCache>
            </c:numRef>
          </c:yVal>
          <c:bubbleSize>
            <c:numRef>
              <c:f>Sheet1!$C$2:$C$2</c:f>
              <c:numCache>
                <c:formatCode>General</c:formatCode>
                <c:ptCount val="1"/>
                <c:pt idx="0">
                  <c:v>129.351</c:v>
                </c:pt>
              </c:numCache>
            </c:numRef>
          </c:bubbleSize>
          <c:bubble3D val="0"/>
        </c:ser>
        <c:ser>
          <c:idx val="1"/>
          <c:order val="1"/>
          <c:tx>
            <c:strRef>
              <c:f>Sheet1!$B$4</c:f>
              <c:strCache>
                <c:ptCount val="1"/>
                <c:pt idx="0">
                  <c:v>Acrylic Partial Dentures</c:v>
                </c:pt>
              </c:strCache>
            </c:strRef>
          </c:tx>
          <c:spPr>
            <a:solidFill>
              <a:srgbClr val="9E7E0A"/>
            </a:solidFill>
          </c:spPr>
          <c:invertIfNegative val="0"/>
          <c:xVal>
            <c:numRef>
              <c:f>Sheet1!$A$5:$A$5</c:f>
              <c:numCache>
                <c:formatCode>General</c:formatCode>
                <c:ptCount val="1"/>
                <c:pt idx="0">
                  <c:v>67.70226725115347</c:v>
                </c:pt>
              </c:numCache>
            </c:numRef>
          </c:xVal>
          <c:yVal>
            <c:numRef>
              <c:f>Sheet1!$B$5:$B$5</c:f>
              <c:numCache>
                <c:formatCode>General</c:formatCode>
                <c:ptCount val="1"/>
                <c:pt idx="0">
                  <c:v>73.7474280666602</c:v>
                </c:pt>
              </c:numCache>
            </c:numRef>
          </c:yVal>
          <c:bubbleSize>
            <c:numRef>
              <c:f>Sheet1!$C$5:$C$5</c:f>
              <c:numCache>
                <c:formatCode>General</c:formatCode>
                <c:ptCount val="1"/>
                <c:pt idx="0">
                  <c:v>86.539</c:v>
                </c:pt>
              </c:numCache>
            </c:numRef>
          </c:bubbleSize>
          <c:bubble3D val="0"/>
        </c:ser>
        <c:ser>
          <c:idx val="2"/>
          <c:order val="2"/>
          <c:tx>
            <c:strRef>
              <c:f>Sheet1!$B$7</c:f>
              <c:strCache>
                <c:ptCount val="1"/>
                <c:pt idx="0">
                  <c:v>Flexible Partial Dentures</c:v>
                </c:pt>
              </c:strCache>
            </c:strRef>
          </c:tx>
          <c:spPr>
            <a:solidFill>
              <a:srgbClr val="008189"/>
            </a:solidFill>
          </c:spPr>
          <c:invertIfNegative val="0"/>
          <c:xVal>
            <c:numRef>
              <c:f>Sheet1!$A$8:$A$8</c:f>
              <c:numCache>
                <c:formatCode>General</c:formatCode>
                <c:ptCount val="1"/>
                <c:pt idx="0">
                  <c:v>61.61581248658897</c:v>
                </c:pt>
              </c:numCache>
            </c:numRef>
          </c:xVal>
          <c:yVal>
            <c:numRef>
              <c:f>Sheet1!$B$8:$B$8</c:f>
              <c:numCache>
                <c:formatCode>General</c:formatCode>
                <c:ptCount val="1"/>
                <c:pt idx="0">
                  <c:v>142.87668724213339</c:v>
                </c:pt>
              </c:numCache>
            </c:numRef>
          </c:yVal>
          <c:bubbleSize>
            <c:numRef>
              <c:f>Sheet1!$C$8:$C$8</c:f>
              <c:numCache>
                <c:formatCode>General</c:formatCode>
                <c:ptCount val="1"/>
                <c:pt idx="0">
                  <c:v>164.2</c:v>
                </c:pt>
              </c:numCache>
            </c:numRef>
          </c:bubbleSize>
          <c:bubble3D val="0"/>
        </c:ser>
        <c:ser>
          <c:idx val="3"/>
          <c:order val="3"/>
          <c:tx>
            <c:strRef>
              <c:f>Sheet1!$B$10</c:f>
              <c:strCache>
                <c:ptCount val="1"/>
                <c:pt idx="0">
                  <c:v>Combination Framework Partial Dentures</c:v>
                </c:pt>
              </c:strCache>
            </c:strRef>
          </c:tx>
          <c:spPr>
            <a:solidFill>
              <a:srgbClr val="40315E"/>
            </a:solidFill>
          </c:spPr>
          <c:invertIfNegative val="0"/>
          <c:xVal>
            <c:numRef>
              <c:f>Sheet1!$A$11:$A$11</c:f>
              <c:numCache>
                <c:formatCode>General</c:formatCode>
                <c:ptCount val="1"/>
                <c:pt idx="0">
                  <c:v>122.77735238962049</c:v>
                </c:pt>
              </c:numCache>
            </c:numRef>
          </c:xVal>
          <c:yVal>
            <c:numRef>
              <c:f>Sheet1!$B$11:$B$11</c:f>
              <c:numCache>
                <c:formatCode>General</c:formatCode>
                <c:ptCount val="1"/>
                <c:pt idx="0">
                  <c:v>101.68697282099343</c:v>
                </c:pt>
              </c:numCache>
            </c:numRef>
          </c:yVal>
          <c:bubbleSize>
            <c:numRef>
              <c:f>Sheet1!$C$11:$C$11</c:f>
              <c:numCache>
                <c:formatCode>General</c:formatCode>
                <c:ptCount val="1"/>
                <c:pt idx="0">
                  <c:v>143.815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75.831</c:v>
                </c:pt>
                <c:pt idx="2">
                  <c:v>84.514</c:v>
                </c:pt>
                <c:pt idx="3">
                  <c:v>94.113</c:v>
                </c:pt>
                <c:pt idx="4">
                  <c:v>104.718</c:v>
                </c:pt>
                <c:pt idx="5">
                  <c:v>116.428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75.831</c:v>
                </c:pt>
                <c:pt idx="1">
                  <c:v>8.682999999999993</c:v>
                </c:pt>
                <c:pt idx="2">
                  <c:v>9.599000000000004</c:v>
                </c:pt>
                <c:pt idx="3">
                  <c:v>10.605000000000004</c:v>
                </c:pt>
                <c:pt idx="4">
                  <c:v>11.709999999999994</c:v>
                </c:pt>
                <c:pt idx="5">
                  <c:v>12.923000000000002</c:v>
                </c:pt>
                <c:pt idx="6">
                  <c:v>129.351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68.459</c:v>
                </c:pt>
                <c:pt idx="2">
                  <c:v>71.946</c:v>
                </c:pt>
                <c:pt idx="3">
                  <c:v>75.51</c:v>
                </c:pt>
                <c:pt idx="4">
                  <c:v>79.14</c:v>
                </c:pt>
                <c:pt idx="5">
                  <c:v>82.822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68.459</c:v>
                </c:pt>
                <c:pt idx="1">
                  <c:v>3.4869999999999948</c:v>
                </c:pt>
                <c:pt idx="2">
                  <c:v>3.564000000000007</c:v>
                </c:pt>
                <c:pt idx="3">
                  <c:v>3.6299999999999955</c:v>
                </c:pt>
                <c:pt idx="4">
                  <c:v>3.682000000000002</c:v>
                </c:pt>
                <c:pt idx="5">
                  <c:v>3.7169999999999987</c:v>
                </c:pt>
                <c:pt idx="6">
                  <c:v>86.539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132.631</c:v>
                </c:pt>
                <c:pt idx="2">
                  <c:v>138.877</c:v>
                </c:pt>
                <c:pt idx="3">
                  <c:v>145.193</c:v>
                </c:pt>
                <c:pt idx="4">
                  <c:v>151.546</c:v>
                </c:pt>
                <c:pt idx="5">
                  <c:v>157.895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132.631</c:v>
                </c:pt>
                <c:pt idx="1">
                  <c:v>6.246000000000009</c:v>
                </c:pt>
                <c:pt idx="2">
                  <c:v>6.3160000000000025</c:v>
                </c:pt>
                <c:pt idx="3">
                  <c:v>6.35299999999998</c:v>
                </c:pt>
                <c:pt idx="4">
                  <c:v>6.349000000000018</c:v>
                </c:pt>
                <c:pt idx="5">
                  <c:v>6.304999999999978</c:v>
                </c:pt>
                <c:pt idx="6">
                  <c:v>164.2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94.395</c:v>
                </c:pt>
                <c:pt idx="2">
                  <c:v>102.731</c:v>
                </c:pt>
                <c:pt idx="3">
                  <c:v>111.778</c:v>
                </c:pt>
                <c:pt idx="4">
                  <c:v>121.598</c:v>
                </c:pt>
                <c:pt idx="5">
                  <c:v>132.255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94.395</c:v>
                </c:pt>
                <c:pt idx="1">
                  <c:v>8.335999999999999</c:v>
                </c:pt>
                <c:pt idx="2">
                  <c:v>9.047000000000011</c:v>
                </c:pt>
                <c:pt idx="3">
                  <c:v>9.819999999999993</c:v>
                </c:pt>
                <c:pt idx="4">
                  <c:v>10.656999999999996</c:v>
                </c:pt>
                <c:pt idx="5">
                  <c:v>11.560000000000002</c:v>
                </c:pt>
                <c:pt idx="6">
                  <c:v>143.815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Flexible Partial Dentures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37.708287431934785</c:v>
                </c:pt>
                <c:pt idx="1">
                  <c:v>35.719171810533346</c:v>
                </c:pt>
                <c:pt idx="2">
                  <c:v>31.341560015651694</c:v>
                </c:pt>
              </c:numCache>
            </c:numRef>
          </c:val>
        </c:ser>
        <c:ser>
          <c:idx val="1"/>
          <c:order val="1"/>
          <c:tx>
            <c:strRef>
              <c:f>Sheet1!$C$1</c:f>
              <c:strCache>
                <c:ptCount val="1"/>
                <c:pt idx="0">
                  <c:v>Combination Framework Partial Dentures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24.499071480280758</c:v>
                </c:pt>
                <c:pt idx="1">
                  <c:v>25.421743205248358</c:v>
                </c:pt>
                <c:pt idx="2">
                  <c:v>27.450587415657417</c:v>
                </c:pt>
              </c:numCache>
            </c:numRef>
          </c:val>
        </c:ser>
        <c:ser>
          <c:idx val="2"/>
          <c:order val="2"/>
          <c:tx>
            <c:strRef>
              <c:f>Sheet1!$D$1</c:f>
              <c:strCache>
                <c:ptCount val="1"/>
                <c:pt idx="0">
                  <c:v>Cast Metal Partial Dentures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18.48887350099147</c:v>
                </c:pt>
                <c:pt idx="1">
                  <c:v>20.42222796755324</c:v>
                </c:pt>
                <c:pt idx="2">
                  <c:v>24.68978154436396</c:v>
                </c:pt>
              </c:numCache>
            </c:numRef>
          </c:val>
        </c:ser>
        <c:ser>
          <c:idx val="3"/>
          <c:order val="3"/>
          <c:tx>
            <c:strRef>
              <c:f>Sheet1!$E$1</c:f>
              <c:strCache>
                <c:ptCount val="1"/>
                <c:pt idx="0">
                  <c:v>Acrylic Partial Dentures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19.30376758679299</c:v>
                </c:pt>
                <c:pt idx="1">
                  <c:v>18.43685701666505</c:v>
                </c:pt>
                <c:pt idx="2">
                  <c:v>16.51807102432693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Metal Alloys</c:v>
                </c:pt>
              </c:strCache>
            </c:strRef>
          </c:tx>
          <c:spPr>
            <a:solidFill>
              <a:srgbClr val="3D85C6"/>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Sheet1!$B$2:$B$3</c:f>
              <c:numCache>
                <c:formatCode>General</c:formatCode>
                <c:ptCount val="2"/>
                <c:pt idx="0">
                  <c:v>30.620532052033283</c:v>
                </c:pt>
                <c:pt idx="1">
                  <c:v>27.54688672168042</c:v>
                </c:pt>
              </c:numCache>
            </c:numRef>
          </c:val>
        </c:ser>
        <c:ser>
          <c:idx val="1"/>
          <c:order val="1"/>
          <c:tx>
            <c:strRef>
              <c:f>Sheet1!$C$1</c:f>
              <c:strCache>
                <c:ptCount val="1"/>
                <c:pt idx="0">
                  <c:v>Acrylic / Resin</c:v>
                </c:pt>
              </c:strCache>
            </c:strRef>
          </c:tx>
          <c:spPr>
            <a:solidFill>
              <a:srgbClr val="9E7E0A"/>
            </a:solidFill>
            <a:ln>
              <a:noFill/>
            </a:ln>
          </c:spPr>
          <c:dLbls>
            <c:dLbl>
              <c:idx val="0"/>
              <c:tx>
                <c:rich>
                  <a:bodyPr/>
                  <a:lstStyle/>
                  <a:p>
                    <a:r>
                      <a:rPr sz="1100">
                        <a:solidFill>
                          <a:srgbClr val="FFFFFF"/>
                        </a:solidFill>
                        <a:latin typeface="Calibri"/>
                      </a:rPr>
                      <a:t>47%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44%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Sheet1!$C$2:$C$3</c:f>
              <c:numCache>
                <c:formatCode>General</c:formatCode>
                <c:ptCount val="2"/>
                <c:pt idx="0">
                  <c:v>47.200281260986756</c:v>
                </c:pt>
                <c:pt idx="1">
                  <c:v>43.9055046780563</c:v>
                </c:pt>
              </c:numCache>
            </c:numRef>
          </c:val>
        </c:ser>
        <c:ser>
          <c:idx val="2"/>
          <c:order val="2"/>
          <c:tx>
            <c:strRef>
              <c:f>Sheet1!$D$1</c:f>
              <c:strCache>
                <c:ptCount val="1"/>
                <c:pt idx="0">
                  <c:v>Flexible Thermoplastics</c:v>
                </c:pt>
              </c:strCache>
            </c:strRef>
          </c:tx>
          <c:spPr>
            <a:solidFill>
              <a:srgbClr val="008189"/>
            </a:solidFill>
            <a:ln>
              <a:noFill/>
            </a:ln>
          </c:spPr>
          <c:dLbls>
            <c:dLbl>
              <c:idx val="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Sheet1!$D$2:$D$3</c:f>
              <c:numCache>
                <c:formatCode>General</c:formatCode>
                <c:ptCount val="2"/>
                <c:pt idx="0">
                  <c:v>14.332005156451427</c:v>
                </c:pt>
                <c:pt idx="1">
                  <c:v>18.35298447253323</c:v>
                </c:pt>
              </c:numCache>
            </c:numRef>
          </c:val>
        </c:ser>
        <c:ser>
          <c:idx val="3"/>
          <c:order val="3"/>
          <c:tx>
            <c:strRef>
              <c:f>Sheet1!$E$1</c:f>
              <c:strCache>
                <c:ptCount val="1"/>
                <c:pt idx="0">
                  <c:v>High-performance Polymers</c:v>
                </c:pt>
              </c:strCache>
            </c:strRef>
          </c:tx>
          <c:spPr>
            <a:solidFill>
              <a:srgbClr val="40315E"/>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Sheet1!$E$2:$E$3</c:f>
              <c:numCache>
                <c:formatCode>General</c:formatCode>
                <c:ptCount val="2"/>
                <c:pt idx="0">
                  <c:v>7.847181530528537</c:v>
                </c:pt>
                <c:pt idx="1">
                  <c:v>10.194624127730044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Metal Alloys</c:v>
                </c:pt>
              </c:strCache>
            </c:strRef>
          </c:tx>
          <c:spPr>
            <a:solidFill>
              <a:srgbClr val="3D85C6"/>
            </a:solidFill>
          </c:spPr>
          <c:invertIfNegative val="0"/>
          <c:xVal>
            <c:numRef>
              <c:f>Sheet1!$A$2:$A$2</c:f>
              <c:numCache>
                <c:formatCode>General</c:formatCode>
                <c:ptCount val="1"/>
                <c:pt idx="0">
                  <c:v>94.35528164917186</c:v>
                </c:pt>
              </c:numCache>
            </c:numRef>
          </c:xVal>
          <c:yVal>
            <c:numRef>
              <c:f>Sheet1!$B$2:$B$2</c:f>
              <c:numCache>
                <c:formatCode>General</c:formatCode>
                <c:ptCount val="1"/>
                <c:pt idx="0">
                  <c:v>116.39681565028171</c:v>
                </c:pt>
              </c:numCache>
            </c:numRef>
          </c:yVal>
          <c:bubbleSize>
            <c:numRef>
              <c:f>Sheet1!$C$2:$C$2</c:f>
              <c:numCache>
                <c:formatCode>General</c:formatCode>
                <c:ptCount val="1"/>
                <c:pt idx="0">
                  <c:v>149.565</c:v>
                </c:pt>
              </c:numCache>
            </c:numRef>
          </c:bubbleSize>
          <c:bubble3D val="0"/>
        </c:ser>
        <c:ser>
          <c:idx val="1"/>
          <c:order val="1"/>
          <c:tx>
            <c:strRef>
              <c:f>Sheet1!$B$4</c:f>
              <c:strCache>
                <c:ptCount val="1"/>
                <c:pt idx="0">
                  <c:v>Acrylic / Resin</c:v>
                </c:pt>
              </c:strCache>
            </c:strRef>
          </c:tx>
          <c:spPr>
            <a:solidFill>
              <a:srgbClr val="9E7E0A"/>
            </a:solidFill>
          </c:spPr>
          <c:invertIfNegative val="0"/>
          <c:xVal>
            <c:numRef>
              <c:f>Sheet1!$A$5:$A$5</c:f>
              <c:numCache>
                <c:formatCode>General</c:formatCode>
                <c:ptCount val="1"/>
                <c:pt idx="0">
                  <c:v>105.60566041208584</c:v>
                </c:pt>
              </c:numCache>
            </c:numRef>
          </c:xVal>
          <c:yVal>
            <c:numRef>
              <c:f>Sheet1!$B$5:$B$5</c:f>
              <c:numCache>
                <c:formatCode>General</c:formatCode>
                <c:ptCount val="1"/>
                <c:pt idx="0">
                  <c:v>176.53750444365446</c:v>
                </c:pt>
              </c:numCache>
            </c:numRef>
          </c:yVal>
          <c:bubbleSize>
            <c:numRef>
              <c:f>Sheet1!$C$5:$C$5</c:f>
              <c:numCache>
                <c:formatCode>General</c:formatCode>
                <c:ptCount val="1"/>
                <c:pt idx="0">
                  <c:v>235.646</c:v>
                </c:pt>
              </c:numCache>
            </c:numRef>
          </c:bubbleSize>
          <c:bubble3D val="0"/>
        </c:ser>
        <c:ser>
          <c:idx val="2"/>
          <c:order val="2"/>
          <c:tx>
            <c:strRef>
              <c:f>Sheet1!$B$7</c:f>
              <c:strCache>
                <c:ptCount val="1"/>
                <c:pt idx="0">
                  <c:v>Flexible Thermoplastics</c:v>
                </c:pt>
              </c:strCache>
            </c:strRef>
          </c:tx>
          <c:spPr>
            <a:solidFill>
              <a:srgbClr val="008189"/>
            </a:solidFill>
          </c:spPr>
          <c:invertIfNegative val="0"/>
          <c:xVal>
            <c:numRef>
              <c:f>Sheet1!$A$8:$A$8</c:f>
              <c:numCache>
                <c:formatCode>General</c:formatCode>
                <c:ptCount val="1"/>
                <c:pt idx="0">
                  <c:v>89.96369306847451</c:v>
                </c:pt>
              </c:numCache>
            </c:numRef>
          </c:xVal>
          <c:yVal>
            <c:numRef>
              <c:f>Sheet1!$B$8:$B$8</c:f>
              <c:numCache>
                <c:formatCode>General</c:formatCode>
                <c:ptCount val="1"/>
                <c:pt idx="0">
                  <c:v>70.53183811093515</c:v>
                </c:pt>
              </c:numCache>
            </c:numRef>
          </c:yVal>
          <c:bubbleSize>
            <c:numRef>
              <c:f>Sheet1!$C$8:$C$8</c:f>
              <c:numCache>
                <c:formatCode>General</c:formatCode>
                <c:ptCount val="1"/>
                <c:pt idx="0">
                  <c:v>89.29</c:v>
                </c:pt>
              </c:numCache>
            </c:numRef>
          </c:bubbleSize>
          <c:bubble3D val="0"/>
        </c:ser>
        <c:ser>
          <c:idx val="3"/>
          <c:order val="3"/>
          <c:tx>
            <c:strRef>
              <c:f>Sheet1!$B$10</c:f>
              <c:strCache>
                <c:ptCount val="1"/>
                <c:pt idx="0">
                  <c:v>High-performance Polymers</c:v>
                </c:pt>
              </c:strCache>
            </c:strRef>
          </c:tx>
          <c:spPr>
            <a:solidFill>
              <a:srgbClr val="40315E"/>
            </a:solidFill>
          </c:spPr>
          <c:invertIfNegative val="0"/>
          <c:xVal>
            <c:numRef>
              <c:f>Sheet1!$A$11:$A$11</c:f>
              <c:numCache>
                <c:formatCode>General</c:formatCode>
                <c:ptCount val="1"/>
                <c:pt idx="0">
                  <c:v>109.45560669855612</c:v>
                </c:pt>
              </c:numCache>
            </c:numRef>
          </c:xVal>
          <c:yVal>
            <c:numRef>
              <c:f>Sheet1!$B$11:$B$11</c:f>
              <c:numCache>
                <c:formatCode>General</c:formatCode>
                <c:ptCount val="1"/>
                <c:pt idx="0">
                  <c:v>36.53384179512868</c:v>
                </c:pt>
              </c:numCache>
            </c:numRef>
          </c:yVal>
          <c:bubbleSize>
            <c:numRef>
              <c:f>Sheet1!$C$11:$C$11</c:f>
              <c:numCache>
                <c:formatCode>General</c:formatCode>
                <c:ptCount val="1"/>
                <c:pt idx="0">
                  <c:v>49.404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108.05</c:v>
                </c:pt>
                <c:pt idx="2">
                  <c:v>115.405</c:v>
                </c:pt>
                <c:pt idx="3">
                  <c:v>123.209</c:v>
                </c:pt>
                <c:pt idx="4">
                  <c:v>131.489</c:v>
                </c:pt>
                <c:pt idx="5">
                  <c:v>140.265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108.05</c:v>
                </c:pt>
                <c:pt idx="1">
                  <c:v>7.355000000000004</c:v>
                </c:pt>
                <c:pt idx="2">
                  <c:v>7.804000000000002</c:v>
                </c:pt>
                <c:pt idx="3">
                  <c:v>8.280000000000001</c:v>
                </c:pt>
                <c:pt idx="4">
                  <c:v>8.775999999999982</c:v>
                </c:pt>
                <c:pt idx="5">
                  <c:v>9.300000000000011</c:v>
                </c:pt>
                <c:pt idx="6">
                  <c:v>149.565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163.878</c:v>
                </c:pt>
                <c:pt idx="2">
                  <c:v>176.341</c:v>
                </c:pt>
                <c:pt idx="3">
                  <c:v>189.691</c:v>
                </c:pt>
                <c:pt idx="4">
                  <c:v>203.983</c:v>
                </c:pt>
                <c:pt idx="5">
                  <c:v>219.281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163.878</c:v>
                </c:pt>
                <c:pt idx="1">
                  <c:v>12.463000000000022</c:v>
                </c:pt>
                <c:pt idx="2">
                  <c:v>13.349999999999994</c:v>
                </c:pt>
                <c:pt idx="3">
                  <c:v>14.292000000000002</c:v>
                </c:pt>
                <c:pt idx="4">
                  <c:v>15.298000000000002</c:v>
                </c:pt>
                <c:pt idx="5">
                  <c:v>16.36499999999998</c:v>
                </c:pt>
                <c:pt idx="6">
                  <c:v>235.646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65.47399999999999</c:v>
                </c:pt>
                <c:pt idx="2">
                  <c:v>69.73400000000001</c:v>
                </c:pt>
                <c:pt idx="3">
                  <c:v>74.23400000000001</c:v>
                </c:pt>
                <c:pt idx="4">
                  <c:v>78.987</c:v>
                </c:pt>
                <c:pt idx="5">
                  <c:v>84.00200000000001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65.47399999999999</c:v>
                </c:pt>
                <c:pt idx="1">
                  <c:v>4.260000000000019</c:v>
                </c:pt>
                <c:pt idx="2">
                  <c:v>4.5</c:v>
                </c:pt>
                <c:pt idx="3">
                  <c:v>4.752999999999986</c:v>
                </c:pt>
                <c:pt idx="4">
                  <c:v>5.015000000000015</c:v>
                </c:pt>
                <c:pt idx="5">
                  <c:v>5.287999999999997</c:v>
                </c:pt>
                <c:pt idx="6">
                  <c:v>89.29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33.914</c:v>
                </c:pt>
                <c:pt idx="2">
                  <c:v>36.588</c:v>
                </c:pt>
                <c:pt idx="3">
                  <c:v>39.46</c:v>
                </c:pt>
                <c:pt idx="4">
                  <c:v>42.543</c:v>
                </c:pt>
                <c:pt idx="5">
                  <c:v>45.852000000000004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33.914</c:v>
                </c:pt>
                <c:pt idx="1">
                  <c:v>2.6739999999999995</c:v>
                </c:pt>
                <c:pt idx="2">
                  <c:v>2.872</c:v>
                </c:pt>
                <c:pt idx="3">
                  <c:v>3.0829999999999984</c:v>
                </c:pt>
                <c:pt idx="4">
                  <c:v>3.3090000000000046</c:v>
                </c:pt>
                <c:pt idx="5">
                  <c:v>3.5519999999999996</c:v>
                </c:pt>
                <c:pt idx="6">
                  <c:v>49.404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Acrylic / Resin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43.72887224198168</c:v>
                </c:pt>
                <c:pt idx="1">
                  <c:v>44.134376110913614</c:v>
                </c:pt>
                <c:pt idx="2">
                  <c:v>44.97876523415505</c:v>
                </c:pt>
              </c:numCache>
            </c:numRef>
          </c:val>
        </c:ser>
        <c:ser>
          <c:idx val="1"/>
          <c:order val="1"/>
          <c:tx>
            <c:strRef>
              <c:f>Sheet1!$C$1</c:f>
              <c:strCache>
                <c:ptCount val="1"/>
                <c:pt idx="0">
                  <c:v>Metal Alloys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29.36420005665544</c:v>
                </c:pt>
                <c:pt idx="1">
                  <c:v>29.099203912570427</c:v>
                </c:pt>
                <c:pt idx="2">
                  <c:v>28.548114639104423</c:v>
                </c:pt>
              </c:numCache>
            </c:numRef>
          </c:val>
        </c:ser>
        <c:ser>
          <c:idx val="2"/>
          <c:order val="2"/>
          <c:tx>
            <c:strRef>
              <c:f>Sheet1!$D$1</c:f>
              <c:strCache>
                <c:ptCount val="1"/>
                <c:pt idx="0">
                  <c:v>Flexible Thermoplastics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17.915079789745366</c:v>
                </c:pt>
                <c:pt idx="1">
                  <c:v>17.63295952773379</c:v>
                </c:pt>
                <c:pt idx="2">
                  <c:v>17.043166222883922</c:v>
                </c:pt>
              </c:numCache>
            </c:numRef>
          </c:val>
        </c:ser>
        <c:ser>
          <c:idx val="3"/>
          <c:order val="3"/>
          <c:tx>
            <c:strRef>
              <c:f>Sheet1!$E$1</c:f>
              <c:strCache>
                <c:ptCount val="1"/>
                <c:pt idx="0">
                  <c:v>High-performance Polymers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8.991847911617512</c:v>
                </c:pt>
                <c:pt idx="1">
                  <c:v>9.13346044878217</c:v>
                </c:pt>
                <c:pt idx="2">
                  <c:v>9.429953903856617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Conventional Fabrication</c:v>
                </c:pt>
              </c:strCache>
            </c:strRef>
          </c:tx>
          <c:spPr>
            <a:solidFill>
              <a:srgbClr val="3D85C6"/>
            </a:solidFill>
            <a:ln>
              <a:noFill/>
            </a:ln>
          </c:spPr>
          <c:dLbls>
            <c:dLbl>
              <c:idx val="0"/>
              <c:tx>
                <c:rich>
                  <a:bodyPr/>
                  <a:lstStyle/>
                  <a:p>
                    <a:r>
                      <a:rPr sz="1100">
                        <a:solidFill>
                          <a:srgbClr val="FFFFFF"/>
                        </a:solidFill>
                        <a:latin typeface="Calibri"/>
                      </a:rPr>
                      <a:t>42%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40%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Sheet1!$B$2:$B$3</c:f>
              <c:numCache>
                <c:formatCode>General</c:formatCode>
                <c:ptCount val="2"/>
                <c:pt idx="0">
                  <c:v>41.52759873432556</c:v>
                </c:pt>
                <c:pt idx="1">
                  <c:v>40.24628798709111</c:v>
                </c:pt>
              </c:numCache>
            </c:numRef>
          </c:val>
        </c:ser>
        <c:ser>
          <c:idx val="1"/>
          <c:order val="1"/>
          <c:tx>
            <c:strRef>
              <c:f>Sheet1!$C$1</c:f>
              <c:strCache>
                <c:ptCount val="1"/>
                <c:pt idx="0">
                  <c:v>Digital Fabrication</c:v>
                </c:pt>
              </c:strCache>
            </c:strRef>
          </c:tx>
          <c:spPr>
            <a:solidFill>
              <a:srgbClr val="9E7E0A"/>
            </a:solidFill>
            <a:ln>
              <a:noFill/>
            </a:ln>
          </c:spPr>
          <c:dLbls>
            <c:dLbl>
              <c:idx val="0"/>
              <c:tx>
                <c:rich>
                  <a:bodyPr/>
                  <a:lstStyle/>
                  <a:p>
                    <a:r>
                      <a:rPr sz="1100">
                        <a:solidFill>
                          <a:srgbClr val="FFFFFF"/>
                        </a:solidFill>
                        <a:latin typeface="Calibri"/>
                      </a:rPr>
                      <a:t>58%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60%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Sheet1!$C$2:$C$3</c:f>
              <c:numCache>
                <c:formatCode>General</c:formatCode>
                <c:ptCount val="2"/>
                <c:pt idx="0">
                  <c:v>58.47240126567444</c:v>
                </c:pt>
                <c:pt idx="1">
                  <c:v>59.75371201290889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Conventional Fabrication</c:v>
                </c:pt>
              </c:strCache>
            </c:strRef>
          </c:tx>
          <c:spPr>
            <a:solidFill>
              <a:srgbClr val="3D85C6"/>
            </a:solidFill>
          </c:spPr>
          <c:invertIfNegative val="0"/>
          <c:xVal>
            <c:numRef>
              <c:f>Sheet1!$A$2:$A$2</c:f>
              <c:numCache>
                <c:formatCode>General</c:formatCode>
                <c:ptCount val="1"/>
                <c:pt idx="0">
                  <c:v>139.70826266001893</c:v>
                </c:pt>
              </c:numCache>
            </c:numRef>
          </c:xVal>
          <c:yVal>
            <c:numRef>
              <c:f>Sheet1!$B$2:$B$2</c:f>
              <c:numCache>
                <c:formatCode>General</c:formatCode>
                <c:ptCount val="1"/>
                <c:pt idx="0">
                  <c:v>71.1652608559825</c:v>
                </c:pt>
              </c:numCache>
            </c:numRef>
          </c:yVal>
          <c:bubbleSize>
            <c:numRef>
              <c:f>Sheet1!$C$2:$C$2</c:f>
              <c:numCache>
                <c:formatCode>General</c:formatCode>
                <c:ptCount val="1"/>
                <c:pt idx="0">
                  <c:v>213.039</c:v>
                </c:pt>
              </c:numCache>
            </c:numRef>
          </c:bubbleSize>
          <c:bubble3D val="0"/>
        </c:ser>
        <c:ser>
          <c:idx val="1"/>
          <c:order val="1"/>
          <c:tx>
            <c:strRef>
              <c:f>Sheet1!$B$4</c:f>
              <c:strCache>
                <c:ptCount val="1"/>
                <c:pt idx="0">
                  <c:v>Digital Fabrication</c:v>
                </c:pt>
              </c:strCache>
            </c:strRef>
          </c:tx>
          <c:spPr>
            <a:solidFill>
              <a:srgbClr val="9E7E0A"/>
            </a:solidFill>
          </c:spPr>
          <c:invertIfNegative val="0"/>
          <c:xVal>
            <c:numRef>
              <c:f>Sheet1!$A$5:$A$5</c:f>
              <c:numCache>
                <c:formatCode>General</c:formatCode>
                <c:ptCount val="1"/>
                <c:pt idx="0">
                  <c:v>75.81995980553519</c:v>
                </c:pt>
              </c:numCache>
            </c:numRef>
          </c:xVal>
          <c:yVal>
            <c:numRef>
              <c:f>Sheet1!$B$5:$B$5</c:f>
              <c:numCache>
                <c:formatCode>General</c:formatCode>
                <c:ptCount val="1"/>
                <c:pt idx="0">
                  <c:v>128.83473914401748</c:v>
                </c:pt>
              </c:numCache>
            </c:numRef>
          </c:yVal>
          <c:bubbleSize>
            <c:numRef>
              <c:f>Sheet1!$C$5:$C$5</c:f>
              <c:numCache>
                <c:formatCode>General</c:formatCode>
                <c:ptCount val="1"/>
                <c:pt idx="0">
                  <c:v>310.866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50.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132.124</c:v>
                </c:pt>
                <c:pt idx="2">
                  <c:v>145.483</c:v>
                </c:pt>
                <c:pt idx="3">
                  <c:v>160.13</c:v>
                </c:pt>
                <c:pt idx="4">
                  <c:v>176.185</c:v>
                </c:pt>
                <c:pt idx="5">
                  <c:v>193.77200000000002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132.124</c:v>
                </c:pt>
                <c:pt idx="1">
                  <c:v>13.359000000000009</c:v>
                </c:pt>
                <c:pt idx="2">
                  <c:v>14.646999999999991</c:v>
                </c:pt>
                <c:pt idx="3">
                  <c:v>16.055000000000007</c:v>
                </c:pt>
                <c:pt idx="4">
                  <c:v>17.587000000000018</c:v>
                </c:pt>
                <c:pt idx="5">
                  <c:v>19.266999999999967</c:v>
                </c:pt>
                <c:pt idx="6">
                  <c:v>213.039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239.192</c:v>
                </c:pt>
                <c:pt idx="2">
                  <c:v>252.585</c:v>
                </c:pt>
                <c:pt idx="3">
                  <c:v>266.464</c:v>
                </c:pt>
                <c:pt idx="4">
                  <c:v>280.817</c:v>
                </c:pt>
                <c:pt idx="5">
                  <c:v>295.628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239.192</c:v>
                </c:pt>
                <c:pt idx="1">
                  <c:v>13.393</c:v>
                </c:pt>
                <c:pt idx="2">
                  <c:v>13.87899999999999</c:v>
                </c:pt>
                <c:pt idx="3">
                  <c:v>14.353000000000009</c:v>
                </c:pt>
                <c:pt idx="4">
                  <c:v>14.810999999999979</c:v>
                </c:pt>
                <c:pt idx="5">
                  <c:v>15.238</c:v>
                </c:pt>
                <c:pt idx="6">
                  <c:v>310.866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Digital Fabrication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66.72720405401152</c:v>
                </c:pt>
                <c:pt idx="1">
                  <c:v>64.41736957200874</c:v>
                </c:pt>
                <c:pt idx="2">
                  <c:v>59.33633005983909</c:v>
                </c:pt>
              </c:numCache>
            </c:numRef>
          </c:val>
        </c:ser>
        <c:ser>
          <c:idx val="1"/>
          <c:order val="1"/>
          <c:tx>
            <c:strRef>
              <c:f>Sheet1!$C$1</c:f>
              <c:strCache>
                <c:ptCount val="1"/>
                <c:pt idx="0">
                  <c:v>Conventional Fabrication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33.272795945988484</c:v>
                </c:pt>
                <c:pt idx="1">
                  <c:v>35.58263042799125</c:v>
                </c:pt>
                <c:pt idx="2">
                  <c:v>40.66366994016091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Dental Clinics</c:v>
                </c:pt>
              </c:strCache>
            </c:strRef>
          </c:tx>
          <c:spPr>
            <a:solidFill>
              <a:srgbClr val="3D85C6"/>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Sheet1!$B$2:$B$3</c:f>
              <c:numCache>
                <c:formatCode>General</c:formatCode>
                <c:ptCount val="2"/>
                <c:pt idx="0">
                  <c:v>11.310793390366811</c:v>
                </c:pt>
                <c:pt idx="1">
                  <c:v>10.682104488386248</c:v>
                </c:pt>
              </c:numCache>
            </c:numRef>
          </c:val>
        </c:ser>
        <c:ser>
          <c:idx val="1"/>
          <c:order val="1"/>
          <c:tx>
            <c:strRef>
              <c:f>Sheet1!$C$1</c:f>
              <c:strCache>
                <c:ptCount val="1"/>
                <c:pt idx="0">
                  <c:v>Dental Hospitals</c:v>
                </c:pt>
              </c:strCache>
            </c:strRef>
          </c:tx>
          <c:spPr>
            <a:solidFill>
              <a:srgbClr val="9E7E0A"/>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Sheet1!$C$2:$C$3</c:f>
              <c:numCache>
                <c:formatCode>General</c:formatCode>
                <c:ptCount val="2"/>
                <c:pt idx="0">
                  <c:v>8.708543302472751</c:v>
                </c:pt>
                <c:pt idx="1">
                  <c:v>8.155529448399836</c:v>
                </c:pt>
              </c:numCache>
            </c:numRef>
          </c:val>
        </c:ser>
        <c:ser>
          <c:idx val="2"/>
          <c:order val="2"/>
          <c:tx>
            <c:strRef>
              <c:f>Sheet1!$D$1</c:f>
              <c:strCache>
                <c:ptCount val="1"/>
                <c:pt idx="0">
                  <c:v>Dental Laboratories</c:v>
                </c:pt>
              </c:strCache>
            </c:strRef>
          </c:tx>
          <c:spPr>
            <a:solidFill>
              <a:srgbClr val="008189"/>
            </a:solidFill>
            <a:ln>
              <a:noFill/>
            </a:ln>
          </c:spPr>
          <c:dLbls>
            <c:dLbl>
              <c:idx val="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Sheet1!$D$2:$D$3</c:f>
              <c:numCache>
                <c:formatCode>General</c:formatCode>
                <c:ptCount val="2"/>
                <c:pt idx="0">
                  <c:v>33.04230634009141</c:v>
                </c:pt>
                <c:pt idx="1">
                  <c:v>36.67228127786664</c:v>
                </c:pt>
              </c:numCache>
            </c:numRef>
          </c:val>
        </c:ser>
        <c:ser>
          <c:idx val="3"/>
          <c:order val="3"/>
          <c:tx>
            <c:strRef>
              <c:f>Sheet1!$E$1</c:f>
              <c:strCache>
                <c:ptCount val="1"/>
                <c:pt idx="0">
                  <c:v>Academic &amp; Teaching Dental Institutions</c:v>
                </c:pt>
              </c:strCache>
            </c:strRef>
          </c:tx>
          <c:spPr>
            <a:solidFill>
              <a:srgbClr val="40315E"/>
            </a:solidFill>
            <a:ln>
              <a:noFill/>
            </a:ln>
          </c:spPr>
          <c:dLbls>
            <c:dLbl>
              <c:idx val="0"/>
              <c:tx>
                <c:rich>
                  <a:bodyPr/>
                  <a:lstStyle/>
                  <a:p>
                    <a:r>
                      <a:rPr sz="1100">
                        <a:solidFill>
                          <a:srgbClr val="FFFFFF"/>
                        </a:solidFill>
                        <a:latin typeface="Calibri"/>
                      </a:rPr>
                      <a:t>47%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44%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Sheet1!$E$2:$E$3</c:f>
              <c:numCache>
                <c:formatCode>General</c:formatCode>
                <c:ptCount val="2"/>
                <c:pt idx="0">
                  <c:v>46.93835696706902</c:v>
                </c:pt>
                <c:pt idx="1">
                  <c:v>44.49008478534728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Dental Clinics</c:v>
                </c:pt>
              </c:strCache>
            </c:strRef>
          </c:tx>
          <c:spPr>
            <a:solidFill>
              <a:srgbClr val="3D85C6"/>
            </a:solidFill>
          </c:spPr>
          <c:invertIfNegative val="0"/>
          <c:xVal>
            <c:numRef>
              <c:f>Sheet1!$A$2:$A$2</c:f>
              <c:numCache>
                <c:formatCode>General</c:formatCode>
                <c:ptCount val="1"/>
                <c:pt idx="0">
                  <c:v>109.16629606476609</c:v>
                </c:pt>
              </c:numCache>
            </c:numRef>
          </c:xVal>
          <c:yVal>
            <c:numRef>
              <c:f>Sheet1!$B$2:$B$2</c:f>
              <c:numCache>
                <c:formatCode>General</c:formatCode>
                <c:ptCount val="1"/>
                <c:pt idx="0">
                  <c:v>42.21956500662509</c:v>
                </c:pt>
              </c:numCache>
            </c:numRef>
          </c:yVal>
          <c:bubbleSize>
            <c:numRef>
              <c:f>Sheet1!$C$2:$C$2</c:f>
              <c:numCache>
                <c:formatCode>General</c:formatCode>
                <c:ptCount val="1"/>
                <c:pt idx="0">
                  <c:v>57.037</c:v>
                </c:pt>
              </c:numCache>
            </c:numRef>
          </c:bubbleSize>
          <c:bubble3D val="0"/>
        </c:ser>
        <c:ser>
          <c:idx val="1"/>
          <c:order val="1"/>
          <c:tx>
            <c:strRef>
              <c:f>Sheet1!$B$4</c:f>
              <c:strCache>
                <c:ptCount val="1"/>
                <c:pt idx="0">
                  <c:v>Dental Hospitals</c:v>
                </c:pt>
              </c:strCache>
            </c:strRef>
          </c:tx>
          <c:spPr>
            <a:solidFill>
              <a:srgbClr val="9E7E0A"/>
            </a:solidFill>
          </c:spPr>
          <c:invertIfNegative val="0"/>
          <c:xVal>
            <c:numRef>
              <c:f>Sheet1!$A$5:$A$5</c:f>
              <c:numCache>
                <c:formatCode>General</c:formatCode>
                <c:ptCount val="1"/>
                <c:pt idx="0">
                  <c:v>157.41144681330866</c:v>
                </c:pt>
              </c:numCache>
            </c:numRef>
          </c:xVal>
          <c:yVal>
            <c:numRef>
              <c:f>Sheet1!$B$5:$B$5</c:f>
              <c:numCache>
                <c:formatCode>General</c:formatCode>
                <c:ptCount val="1"/>
                <c:pt idx="0">
                  <c:v>27.506490428637605</c:v>
                </c:pt>
              </c:numCache>
            </c:numRef>
          </c:yVal>
          <c:bubbleSize>
            <c:numRef>
              <c:f>Sheet1!$C$5:$C$5</c:f>
              <c:numCache>
                <c:formatCode>General</c:formatCode>
                <c:ptCount val="1"/>
                <c:pt idx="0">
                  <c:v>43.671</c:v>
                </c:pt>
              </c:numCache>
            </c:numRef>
          </c:bubbleSize>
          <c:bubble3D val="0"/>
        </c:ser>
        <c:ser>
          <c:idx val="2"/>
          <c:order val="2"/>
          <c:tx>
            <c:strRef>
              <c:f>Sheet1!$B$7</c:f>
              <c:strCache>
                <c:ptCount val="1"/>
                <c:pt idx="0">
                  <c:v>Dental Laboratories</c:v>
                </c:pt>
              </c:strCache>
            </c:strRef>
          </c:tx>
          <c:spPr>
            <a:solidFill>
              <a:srgbClr val="008189"/>
            </a:solidFill>
          </c:spPr>
          <c:invertIfNegative val="0"/>
          <c:xVal>
            <c:numRef>
              <c:f>Sheet1!$A$8:$A$8</c:f>
              <c:numCache>
                <c:formatCode>General</c:formatCode>
                <c:ptCount val="1"/>
                <c:pt idx="0">
                  <c:v>61.81908060920194</c:v>
                </c:pt>
              </c:numCache>
            </c:numRef>
          </c:xVal>
          <c:yVal>
            <c:numRef>
              <c:f>Sheet1!$B$8:$B$8</c:f>
              <c:numCache>
                <c:formatCode>General</c:formatCode>
                <c:ptCount val="1"/>
                <c:pt idx="0">
                  <c:v>161.6746921759364</c:v>
                </c:pt>
              </c:numCache>
            </c:numRef>
          </c:yVal>
          <c:bubbleSize>
            <c:numRef>
              <c:f>Sheet1!$C$8:$C$8</c:f>
              <c:numCache>
                <c:formatCode>General</c:formatCode>
                <c:ptCount val="1"/>
                <c:pt idx="0">
                  <c:v>185.933</c:v>
                </c:pt>
              </c:numCache>
            </c:numRef>
          </c:bubbleSize>
          <c:bubble3D val="0"/>
        </c:ser>
        <c:ser>
          <c:idx val="3"/>
          <c:order val="3"/>
          <c:tx>
            <c:strRef>
              <c:f>Sheet1!$B$10</c:f>
              <c:strCache>
                <c:ptCount val="1"/>
                <c:pt idx="0">
                  <c:v>Academic &amp; Teaching Dental Institutions</c:v>
                </c:pt>
              </c:strCache>
            </c:strRef>
          </c:tx>
          <c:spPr>
            <a:solidFill>
              <a:srgbClr val="40315E"/>
            </a:solidFill>
          </c:spPr>
          <c:invertIfNegative val="0"/>
          <c:xVal>
            <c:numRef>
              <c:f>Sheet1!$A$11:$A$11</c:f>
              <c:numCache>
                <c:formatCode>General</c:formatCode>
                <c:ptCount val="1"/>
                <c:pt idx="0">
                  <c:v>121.29482586620274</c:v>
                </c:pt>
              </c:numCache>
            </c:numRef>
          </c:xVal>
          <c:yVal>
            <c:numRef>
              <c:f>Sheet1!$B$11:$B$11</c:f>
              <c:numCache>
                <c:formatCode>General</c:formatCode>
                <c:ptCount val="1"/>
                <c:pt idx="0">
                  <c:v>168.59925238880092</c:v>
                </c:pt>
              </c:numCache>
            </c:numRef>
          </c:yVal>
          <c:bubbleSize>
            <c:numRef>
              <c:f>Sheet1!$C$11:$C$11</c:f>
              <c:numCache>
                <c:formatCode>General</c:formatCode>
                <c:ptCount val="1"/>
                <c:pt idx="0">
                  <c:v>237.264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39.192</c:v>
                </c:pt>
                <c:pt idx="2">
                  <c:v>42.243</c:v>
                </c:pt>
                <c:pt idx="3">
                  <c:v>45.531</c:v>
                </c:pt>
                <c:pt idx="4">
                  <c:v>49.077</c:v>
                </c:pt>
                <c:pt idx="5">
                  <c:v>52.903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39.192</c:v>
                </c:pt>
                <c:pt idx="1">
                  <c:v>3.051000000000002</c:v>
                </c:pt>
                <c:pt idx="2">
                  <c:v>3.2879999999999967</c:v>
                </c:pt>
                <c:pt idx="3">
                  <c:v>3.5459999999999994</c:v>
                </c:pt>
                <c:pt idx="4">
                  <c:v>3.8260000000000005</c:v>
                </c:pt>
                <c:pt idx="5">
                  <c:v>4.134</c:v>
                </c:pt>
                <c:pt idx="6">
                  <c:v>57.037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25.534</c:v>
                </c:pt>
                <c:pt idx="2">
                  <c:v>28.364</c:v>
                </c:pt>
                <c:pt idx="3">
                  <c:v>31.539</c:v>
                </c:pt>
                <c:pt idx="4">
                  <c:v>35.109</c:v>
                </c:pt>
                <c:pt idx="5">
                  <c:v>39.13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25.534</c:v>
                </c:pt>
                <c:pt idx="1">
                  <c:v>2.830000000000002</c:v>
                </c:pt>
                <c:pt idx="2">
                  <c:v>3.1750000000000007</c:v>
                </c:pt>
                <c:pt idx="3">
                  <c:v>3.5700000000000003</c:v>
                </c:pt>
                <c:pt idx="4">
                  <c:v>4.021000000000001</c:v>
                </c:pt>
                <c:pt idx="5">
                  <c:v>4.540999999999997</c:v>
                </c:pt>
                <c:pt idx="6">
                  <c:v>43.671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150.081</c:v>
                </c:pt>
                <c:pt idx="2">
                  <c:v>157.542</c:v>
                </c:pt>
                <c:pt idx="3">
                  <c:v>164.969</c:v>
                </c:pt>
                <c:pt idx="4">
                  <c:v>172.264</c:v>
                </c:pt>
                <c:pt idx="5">
                  <c:v>179.303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150.081</c:v>
                </c:pt>
                <c:pt idx="1">
                  <c:v>7.461000000000013</c:v>
                </c:pt>
                <c:pt idx="2">
                  <c:v>7.4269999999999925</c:v>
                </c:pt>
                <c:pt idx="3">
                  <c:v>7.295000000000016</c:v>
                </c:pt>
                <c:pt idx="4">
                  <c:v>7.038999999999987</c:v>
                </c:pt>
                <c:pt idx="5">
                  <c:v>6.6299999999999955</c:v>
                </c:pt>
                <c:pt idx="6">
                  <c:v>185.933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156.509</c:v>
                </c:pt>
                <c:pt idx="2">
                  <c:v>169.919</c:v>
                </c:pt>
                <c:pt idx="3">
                  <c:v>184.555</c:v>
                </c:pt>
                <c:pt idx="4">
                  <c:v>200.552</c:v>
                </c:pt>
                <c:pt idx="5">
                  <c:v>218.064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156.509</c:v>
                </c:pt>
                <c:pt idx="1">
                  <c:v>13.410000000000025</c:v>
                </c:pt>
                <c:pt idx="2">
                  <c:v>14.635999999999996</c:v>
                </c:pt>
                <c:pt idx="3">
                  <c:v>15.996999999999986</c:v>
                </c:pt>
                <c:pt idx="4">
                  <c:v>17.512</c:v>
                </c:pt>
                <c:pt idx="5">
                  <c:v>19.200000000000017</c:v>
                </c:pt>
                <c:pt idx="6">
                  <c:v>237.264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Academic &amp; Teaching Dental Institutions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40.960624468855244</c:v>
                </c:pt>
                <c:pt idx="1">
                  <c:v>42.14981309720023</c:v>
                </c:pt>
                <c:pt idx="2">
                  <c:v>45.287599851118046</c:v>
                </c:pt>
              </c:numCache>
            </c:numRef>
          </c:val>
        </c:ser>
        <c:ser>
          <c:idx val="1"/>
          <c:order val="1"/>
          <c:tx>
            <c:strRef>
              <c:f>Sheet1!$C$1</c:f>
              <c:strCache>
                <c:ptCount val="1"/>
                <c:pt idx="0">
                  <c:v>Laboratories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42.28510276667401</c:v>
                </c:pt>
                <c:pt idx="1">
                  <c:v>40.4186730439841</c:v>
                </c:pt>
                <c:pt idx="2">
                  <c:v>35.48983117168189</c:v>
                </c:pt>
              </c:numCache>
            </c:numRef>
          </c:val>
        </c:ser>
        <c:ser>
          <c:idx val="2"/>
          <c:order val="2"/>
          <c:tx>
            <c:strRef>
              <c:f>Sheet1!$D$1</c:f>
              <c:strCache>
                <c:ptCount val="1"/>
                <c:pt idx="0">
                  <c:v>Clinics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10.428063328192378</c:v>
                </c:pt>
                <c:pt idx="1">
                  <c:v>10.554891251656272</c:v>
                </c:pt>
                <c:pt idx="2">
                  <c:v>10.88689743369504</c:v>
                </c:pt>
              </c:numCache>
            </c:numRef>
          </c:val>
        </c:ser>
        <c:ser>
          <c:idx val="3"/>
          <c:order val="3"/>
          <c:tx>
            <c:strRef>
              <c:f>Sheet1!$E$1</c:f>
              <c:strCache>
                <c:ptCount val="1"/>
                <c:pt idx="0">
                  <c:v>Hospitals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6.326209436278367</c:v>
                </c:pt>
                <c:pt idx="1">
                  <c:v>6.876622607159401</c:v>
                </c:pt>
                <c:pt idx="2">
                  <c:v>8.335671543505025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Direct Sales</c:v>
                </c:pt>
              </c:strCache>
            </c:strRef>
          </c:tx>
          <c:spPr>
            <a:solidFill>
              <a:srgbClr val="3D85C6"/>
            </a:solidFill>
            <a:ln>
              <a:noFill/>
            </a:ln>
          </c:spPr>
          <c:dLbls>
            <c:dLbl>
              <c:idx val="0"/>
              <c:tx>
                <c:rich>
                  <a:bodyPr/>
                  <a:lstStyle/>
                  <a:p>
                    <a:r>
                      <a:rPr sz="1100">
                        <a:solidFill>
                          <a:srgbClr val="FFFFFF"/>
                        </a:solidFill>
                        <a:latin typeface="Calibri"/>
                      </a:rPr>
                      <a:t>41%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Sheet1!$B$2:$B$3</c:f>
              <c:numCache>
                <c:formatCode>General</c:formatCode>
                <c:ptCount val="2"/>
                <c:pt idx="0">
                  <c:v>41.36294386499472</c:v>
                </c:pt>
                <c:pt idx="1">
                  <c:v>33.321349205225836</c:v>
                </c:pt>
              </c:numCache>
            </c:numRef>
          </c:val>
        </c:ser>
        <c:ser>
          <c:idx val="1"/>
          <c:order val="1"/>
          <c:tx>
            <c:strRef>
              <c:f>Sheet1!$C$1</c:f>
              <c:strCache>
                <c:ptCount val="1"/>
                <c:pt idx="0">
                  <c:v>Dental Dealers &amp; Distributors</c:v>
                </c:pt>
              </c:strCache>
            </c:strRef>
          </c:tx>
          <c:spPr>
            <a:solidFill>
              <a:srgbClr val="9E7E0A"/>
            </a:solidFill>
            <a:ln>
              <a:noFill/>
            </a:ln>
          </c:spPr>
          <c:dLbls>
            <c:dLbl>
              <c:idx val="0"/>
              <c:tx>
                <c:rich>
                  <a:bodyPr/>
                  <a:lstStyle/>
                  <a:p>
                    <a:r>
                      <a:rPr sz="1100">
                        <a:solidFill>
                          <a:srgbClr val="FFFFFF"/>
                        </a:solidFill>
                        <a:latin typeface="Calibri"/>
                      </a:rPr>
                      <a:t>49%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60%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Sheet1!$C$2:$C$3</c:f>
              <c:numCache>
                <c:formatCode>General</c:formatCode>
                <c:ptCount val="2"/>
                <c:pt idx="0">
                  <c:v>48.782960271885614</c:v>
                </c:pt>
                <c:pt idx="1">
                  <c:v>59.554983085393985</c:v>
                </c:pt>
              </c:numCache>
            </c:numRef>
          </c:val>
        </c:ser>
        <c:ser>
          <c:idx val="2"/>
          <c:order val="2"/>
          <c:tx>
            <c:strRef>
              <c:f>Sheet1!$D$1</c:f>
              <c:strCache>
                <c:ptCount val="1"/>
                <c:pt idx="0">
                  <c:v>Online Dental Supply Channels</c:v>
                </c:pt>
              </c:strCache>
            </c:strRef>
          </c:tx>
          <c:spPr>
            <a:solidFill>
              <a:srgbClr val="008189"/>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Sheet1!$D$2:$D$3</c:f>
              <c:numCache>
                <c:formatCode>General</c:formatCode>
                <c:ptCount val="2"/>
                <c:pt idx="0">
                  <c:v>9.854095863119653</c:v>
                </c:pt>
                <c:pt idx="1">
                  <c:v>7.123667709380175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Direct Sales</c:v>
                </c:pt>
              </c:strCache>
            </c:strRef>
          </c:tx>
          <c:spPr>
            <a:solidFill>
              <a:srgbClr val="3D85C6"/>
            </a:solidFill>
          </c:spPr>
          <c:invertIfNegative val="0"/>
          <c:xVal>
            <c:numRef>
              <c:f>Sheet1!$A$2:$A$2</c:f>
              <c:numCache>
                <c:formatCode>General</c:formatCode>
                <c:ptCount val="1"/>
                <c:pt idx="0">
                  <c:v>221.45371680970212</c:v>
                </c:pt>
              </c:numCache>
            </c:numRef>
          </c:xVal>
          <c:yVal>
            <c:numRef>
              <c:f>Sheet1!$B$2:$B$2</c:f>
              <c:numCache>
                <c:formatCode>General</c:formatCode>
                <c:ptCount val="1"/>
                <c:pt idx="0">
                  <c:v>72.07526742720486</c:v>
                </c:pt>
              </c:numCache>
            </c:numRef>
          </c:yVal>
          <c:bubbleSize>
            <c:numRef>
              <c:f>Sheet1!$C$2:$C$2</c:f>
              <c:numCache>
                <c:formatCode>General</c:formatCode>
                <c:ptCount val="1"/>
                <c:pt idx="0">
                  <c:v>188.296</c:v>
                </c:pt>
              </c:numCache>
            </c:numRef>
          </c:bubbleSize>
          <c:bubble3D val="0"/>
        </c:ser>
        <c:ser>
          <c:idx val="1"/>
          <c:order val="1"/>
          <c:tx>
            <c:strRef>
              <c:f>Sheet1!$B$4</c:f>
              <c:strCache>
                <c:ptCount val="1"/>
                <c:pt idx="0">
                  <c:v>Dental Dealers &amp; Distributors</c:v>
                </c:pt>
              </c:strCache>
            </c:strRef>
          </c:tx>
          <c:spPr>
            <a:solidFill>
              <a:srgbClr val="9E7E0A"/>
            </a:solidFill>
          </c:spPr>
          <c:invertIfNegative val="0"/>
          <c:xVal>
            <c:numRef>
              <c:f>Sheet1!$A$5:$A$5</c:f>
              <c:numCache>
                <c:formatCode>General</c:formatCode>
                <c:ptCount val="1"/>
                <c:pt idx="0">
                  <c:v>50.284969066194016</c:v>
                </c:pt>
              </c:numCache>
            </c:numRef>
          </c:xVal>
          <c:yVal>
            <c:numRef>
              <c:f>Sheet1!$B$5:$B$5</c:f>
              <c:numCache>
                <c:formatCode>General</c:formatCode>
                <c:ptCount val="1"/>
                <c:pt idx="0">
                  <c:v>199.22841999806093</c:v>
                </c:pt>
              </c:numCache>
            </c:numRef>
          </c:yVal>
          <c:bubbleSize>
            <c:numRef>
              <c:f>Sheet1!$C$5:$C$5</c:f>
              <c:numCache>
                <c:formatCode>General</c:formatCode>
                <c:ptCount val="1"/>
                <c:pt idx="0">
                  <c:v>293.628</c:v>
                </c:pt>
              </c:numCache>
            </c:numRef>
          </c:bubbleSize>
          <c:bubble3D val="0"/>
        </c:ser>
        <c:ser>
          <c:idx val="2"/>
          <c:order val="2"/>
          <c:tx>
            <c:strRef>
              <c:f>Sheet1!$B$7</c:f>
              <c:strCache>
                <c:ptCount val="1"/>
                <c:pt idx="0">
                  <c:v>Online Dental Supply Channels</c:v>
                </c:pt>
              </c:strCache>
            </c:strRef>
          </c:tx>
          <c:spPr>
            <a:solidFill>
              <a:srgbClr val="008189"/>
            </a:solidFill>
          </c:spPr>
          <c:invertIfNegative val="0"/>
          <c:xVal>
            <c:numRef>
              <c:f>Sheet1!$A$8:$A$8</c:f>
              <c:numCache>
                <c:formatCode>General</c:formatCode>
                <c:ptCount val="1"/>
                <c:pt idx="0">
                  <c:v>48.131965427759376</c:v>
                </c:pt>
              </c:numCache>
            </c:numRef>
          </c:xVal>
          <c:yVal>
            <c:numRef>
              <c:f>Sheet1!$B$8:$B$8</c:f>
              <c:numCache>
                <c:formatCode>General</c:formatCode>
                <c:ptCount val="1"/>
                <c:pt idx="0">
                  <c:v>28.69631257473419</c:v>
                </c:pt>
              </c:numCache>
            </c:numRef>
          </c:yVal>
          <c:bubbleSize>
            <c:numRef>
              <c:f>Sheet1!$C$8:$C$8</c:f>
              <c:numCache>
                <c:formatCode>General</c:formatCode>
                <c:ptCount val="1"/>
                <c:pt idx="0">
                  <c:v>41.981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7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89.209</c:v>
                </c:pt>
                <c:pt idx="2">
                  <c:v>103.915</c:v>
                </c:pt>
                <c:pt idx="3">
                  <c:v>120.818</c:v>
                </c:pt>
                <c:pt idx="4">
                  <c:v>140.248</c:v>
                </c:pt>
                <c:pt idx="5">
                  <c:v>162.591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89.209</c:v>
                </c:pt>
                <c:pt idx="1">
                  <c:v>14.706000000000003</c:v>
                </c:pt>
                <c:pt idx="2">
                  <c:v>16.90299999999999</c:v>
                </c:pt>
                <c:pt idx="3">
                  <c:v>19.429999999999993</c:v>
                </c:pt>
                <c:pt idx="4">
                  <c:v>22.343000000000018</c:v>
                </c:pt>
                <c:pt idx="5">
                  <c:v>25.704999999999984</c:v>
                </c:pt>
                <c:pt idx="6">
                  <c:v>188.296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246.589</c:v>
                </c:pt>
                <c:pt idx="2">
                  <c:v>257.145</c:v>
                </c:pt>
                <c:pt idx="3">
                  <c:v>267.343</c:v>
                </c:pt>
                <c:pt idx="4">
                  <c:v>276.991</c:v>
                </c:pt>
                <c:pt idx="5">
                  <c:v>285.848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246.589</c:v>
                </c:pt>
                <c:pt idx="1">
                  <c:v>10.555999999999983</c:v>
                </c:pt>
                <c:pt idx="2">
                  <c:v>10.198000000000036</c:v>
                </c:pt>
                <c:pt idx="3">
                  <c:v>9.647999999999968</c:v>
                </c:pt>
                <c:pt idx="4">
                  <c:v>8.857000000000028</c:v>
                </c:pt>
                <c:pt idx="5">
                  <c:v>7.779999999999973</c:v>
                </c:pt>
                <c:pt idx="6">
                  <c:v>293.628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35.518</c:v>
                </c:pt>
                <c:pt idx="2">
                  <c:v>37.008</c:v>
                </c:pt>
                <c:pt idx="3">
                  <c:v>38.433</c:v>
                </c:pt>
                <c:pt idx="4">
                  <c:v>39.763</c:v>
                </c:pt>
                <c:pt idx="5">
                  <c:v>40.961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35.518</c:v>
                </c:pt>
                <c:pt idx="1">
                  <c:v>1.490000000000002</c:v>
                </c:pt>
                <c:pt idx="2">
                  <c:v>1.4249999999999972</c:v>
                </c:pt>
                <c:pt idx="3">
                  <c:v>1.3299999999999983</c:v>
                </c:pt>
                <c:pt idx="4">
                  <c:v>1.1980000000000004</c:v>
                </c:pt>
                <c:pt idx="5">
                  <c:v>1.0200000000000031</c:v>
                </c:pt>
                <c:pt idx="6">
                  <c:v>41.981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Dental Dealers &amp; Distributors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70.48629253092442</c:v>
                </c:pt>
                <c:pt idx="1">
                  <c:v>66.40947333268697</c:v>
                </c:pt>
                <c:pt idx="2">
                  <c:v>56.04603888109485</c:v>
                </c:pt>
              </c:numCache>
            </c:numRef>
          </c:val>
        </c:ser>
        <c:ser>
          <c:idx val="1"/>
          <c:order val="1"/>
          <c:tx>
            <c:strRef>
              <c:f>Sheet1!$C$1</c:f>
              <c:strCache>
                <c:ptCount val="1"/>
                <c:pt idx="0">
                  <c:v>Direct Sales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19.348777186742623</c:v>
                </c:pt>
                <c:pt idx="1">
                  <c:v>24.02508914240162</c:v>
                </c:pt>
                <c:pt idx="2">
                  <c:v>35.94086714194367</c:v>
                </c:pt>
              </c:numCache>
            </c:numRef>
          </c:val>
        </c:ser>
        <c:ser>
          <c:idx val="2"/>
          <c:order val="2"/>
          <c:tx>
            <c:strRef>
              <c:f>Sheet1!$D$1</c:f>
              <c:strCache>
                <c:ptCount val="1"/>
                <c:pt idx="0">
                  <c:v>Online Dental Supply Channels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10.164930282332945</c:v>
                </c:pt>
                <c:pt idx="1">
                  <c:v>9.565437524911395</c:v>
                </c:pt>
                <c:pt idx="2">
                  <c:v>8.013093976961473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Adults</c:v>
                </c:pt>
              </c:strCache>
            </c:strRef>
          </c:tx>
          <c:spPr>
            <a:solidFill>
              <a:srgbClr val="3D85C6"/>
            </a:solidFill>
            <a:ln>
              <a:noFill/>
            </a:ln>
          </c:spPr>
          <c:dLbls>
            <c:dLbl>
              <c:idx val="0"/>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Sheet1!$B$2:$B$3</c:f>
              <c:numCache>
                <c:formatCode>General</c:formatCode>
                <c:ptCount val="2"/>
                <c:pt idx="0">
                  <c:v>34.743349349583966</c:v>
                </c:pt>
                <c:pt idx="1">
                  <c:v>29.387252473495735</c:v>
                </c:pt>
              </c:numCache>
            </c:numRef>
          </c:val>
        </c:ser>
        <c:ser>
          <c:idx val="1"/>
          <c:order val="1"/>
          <c:tx>
            <c:strRef>
              <c:f>Sheet1!$C$1</c:f>
              <c:strCache>
                <c:ptCount val="1"/>
                <c:pt idx="0">
                  <c:v>Geriatric Patients</c:v>
                </c:pt>
              </c:strCache>
            </c:strRef>
          </c:tx>
          <c:spPr>
            <a:solidFill>
              <a:srgbClr val="9E7E0A"/>
            </a:solidFill>
            <a:ln>
              <a:noFill/>
            </a:ln>
          </c:spPr>
          <c:dLbls>
            <c:dLbl>
              <c:idx val="0"/>
              <c:tx>
                <c:rich>
                  <a:bodyPr/>
                  <a:lstStyle/>
                  <a:p>
                    <a:r>
                      <a:rPr sz="1100">
                        <a:solidFill>
                          <a:srgbClr val="FFFFFF"/>
                        </a:solidFill>
                        <a:latin typeface="Calibri"/>
                      </a:rPr>
                      <a:t>65%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71%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Sheet1!$A$2:$A$3</c:f>
              <c:strCache>
                <c:ptCount val="2"/>
                <c:pt idx="0">
                  <c:v>Canada  ·  171</c:v>
                </c:pt>
                <c:pt idx="1">
                  <c:v>U.S.  ·  353</c:v>
                </c:pt>
              </c:strCache>
            </c:strRef>
          </c:cat>
          <c:val>
            <c:numRef>
              <c:f>Sheet1!$C$2:$C$3</c:f>
              <c:numCache>
                <c:formatCode>General</c:formatCode>
                <c:ptCount val="2"/>
                <c:pt idx="0">
                  <c:v>65.25665065041603</c:v>
                </c:pt>
                <c:pt idx="1">
                  <c:v>70.61274752650426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Adults</c:v>
                </c:pt>
              </c:strCache>
            </c:strRef>
          </c:tx>
          <c:spPr>
            <a:solidFill>
              <a:srgbClr val="3D85C6"/>
            </a:solidFill>
          </c:spPr>
          <c:invertIfNegative val="0"/>
          <c:xVal>
            <c:numRef>
              <c:f>Sheet1!$A$2:$A$2</c:f>
              <c:numCache>
                <c:formatCode>General</c:formatCode>
                <c:ptCount val="1"/>
                <c:pt idx="0">
                  <c:v>94.34655310901744</c:v>
                </c:pt>
              </c:numCache>
            </c:numRef>
          </c:xVal>
          <c:yVal>
            <c:numRef>
              <c:f>Sheet1!$B$2:$B$2</c:f>
              <c:numCache>
                <c:formatCode>General</c:formatCode>
                <c:ptCount val="1"/>
                <c:pt idx="0">
                  <c:v>63.46777407922093</c:v>
                </c:pt>
              </c:numCache>
            </c:numRef>
          </c:yVal>
          <c:bubbleSize>
            <c:numRef>
              <c:f>Sheet1!$C$2:$C$2</c:f>
              <c:numCache>
                <c:formatCode>General</c:formatCode>
                <c:ptCount val="1"/>
                <c:pt idx="0">
                  <c:v>163.102</c:v>
                </c:pt>
              </c:numCache>
            </c:numRef>
          </c:bubbleSize>
          <c:bubble3D val="0"/>
        </c:ser>
        <c:ser>
          <c:idx val="1"/>
          <c:order val="1"/>
          <c:tx>
            <c:strRef>
              <c:f>Sheet1!$B$4</c:f>
              <c:strCache>
                <c:ptCount val="1"/>
                <c:pt idx="0">
                  <c:v>Geriatric Patients</c:v>
                </c:pt>
              </c:strCache>
            </c:strRef>
          </c:tx>
          <c:spPr>
            <a:solidFill>
              <a:srgbClr val="9E7E0A"/>
            </a:solidFill>
          </c:spPr>
          <c:invertIfNegative val="0"/>
          <c:xVal>
            <c:numRef>
              <c:f>Sheet1!$A$5:$A$5</c:f>
              <c:numCache>
                <c:formatCode>General</c:formatCode>
                <c:ptCount val="1"/>
                <c:pt idx="0">
                  <c:v>102.59524626416881</c:v>
                </c:pt>
              </c:numCache>
            </c:numRef>
          </c:xVal>
          <c:yVal>
            <c:numRef>
              <c:f>Sheet1!$B$5:$B$5</c:f>
              <c:numCache>
                <c:formatCode>General</c:formatCode>
                <c:ptCount val="1"/>
                <c:pt idx="0">
                  <c:v>136.53222592077904</c:v>
                </c:pt>
              </c:numCache>
            </c:numRef>
          </c:yVal>
          <c:bubbleSize>
            <c:numRef>
              <c:f>Sheet1!$C$5:$C$5</c:f>
              <c:numCache>
                <c:formatCode>General</c:formatCode>
                <c:ptCount val="1"/>
                <c:pt idx="0">
                  <c:v>360.803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117.833</c:v>
                </c:pt>
                <c:pt idx="2">
                  <c:v>125.931</c:v>
                </c:pt>
                <c:pt idx="3">
                  <c:v>134.496</c:v>
                </c:pt>
                <c:pt idx="4">
                  <c:v>143.54</c:v>
                </c:pt>
                <c:pt idx="5">
                  <c:v>153.073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117.833</c:v>
                </c:pt>
                <c:pt idx="1">
                  <c:v>8.097999999999999</c:v>
                </c:pt>
                <c:pt idx="2">
                  <c:v>8.565000000000012</c:v>
                </c:pt>
                <c:pt idx="3">
                  <c:v>9.043999999999983</c:v>
                </c:pt>
                <c:pt idx="4">
                  <c:v>9.533000000000015</c:v>
                </c:pt>
                <c:pt idx="5">
                  <c:v>10.028999999999996</c:v>
                </c:pt>
                <c:pt idx="6">
                  <c:v>163.102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253.483</c:v>
                </c:pt>
                <c:pt idx="2">
                  <c:v>272.137</c:v>
                </c:pt>
                <c:pt idx="3">
                  <c:v>292.098</c:v>
                </c:pt>
                <c:pt idx="4">
                  <c:v>313.462</c:v>
                </c:pt>
                <c:pt idx="5">
                  <c:v>336.327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253.483</c:v>
                </c:pt>
                <c:pt idx="1">
                  <c:v>18.653999999999996</c:v>
                </c:pt>
                <c:pt idx="2">
                  <c:v>19.961000000000013</c:v>
                </c:pt>
                <c:pt idx="3">
                  <c:v>21.363999999999976</c:v>
                </c:pt>
                <c:pt idx="4">
                  <c:v>22.86500000000001</c:v>
                </c:pt>
                <c:pt idx="5">
                  <c:v>24.476</c:v>
                </c:pt>
                <c:pt idx="6">
                  <c:v>360.803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Geriatric Patients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68.05608888609108</c:v>
                </c:pt>
                <c:pt idx="1">
                  <c:v>68.26611296038952</c:v>
                </c:pt>
                <c:pt idx="2">
                  <c:v>68.86801996545175</c:v>
                </c:pt>
              </c:numCache>
            </c:numRef>
          </c:val>
        </c:ser>
        <c:ser>
          <c:idx val="1"/>
          <c:order val="1"/>
          <c:tx>
            <c:strRef>
              <c:f>Sheet1!$C$1</c:f>
              <c:strCache>
                <c:ptCount val="1"/>
                <c:pt idx="0">
                  <c:v>Adults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31.943911113908907</c:v>
                </c:pt>
                <c:pt idx="1">
                  <c:v>31.733887039610465</c:v>
                </c:pt>
                <c:pt idx="2">
                  <c:v>31.131980034548253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High-performance Polymers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Sheet1!$B$2:$B$5</c:f>
              <c:numCache>
                <c:formatCode>General</c:formatCode>
                <c:ptCount val="4"/>
                <c:pt idx="0">
                  <c:v>32.58354340378773</c:v>
                </c:pt>
                <c:pt idx="1">
                  <c:v>32.58860282236347</c:v>
                </c:pt>
                <c:pt idx="2">
                  <c:v>32.58860282236347</c:v>
                </c:pt>
                <c:pt idx="3">
                  <c:v>32.58860282236347</c:v>
                </c:pt>
              </c:numCache>
            </c:numRef>
          </c:val>
        </c:ser>
        <c:ser>
          <c:idx val="1"/>
          <c:order val="1"/>
          <c:tx>
            <c:strRef>
              <c:f>Sheet1!$C$1</c:f>
              <c:strCache>
                <c:ptCount val="1"/>
                <c:pt idx="0">
                  <c:v>Acrylic / Resin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Sheet1!$C$2:$C$5</c:f>
              <c:numCache>
                <c:formatCode>General</c:formatCode>
                <c:ptCount val="4"/>
                <c:pt idx="0">
                  <c:v>26.77374873419085</c:v>
                </c:pt>
                <c:pt idx="1">
                  <c:v>26.770440590326405</c:v>
                </c:pt>
                <c:pt idx="2">
                  <c:v>26.770440590326405</c:v>
                </c:pt>
                <c:pt idx="3">
                  <c:v>26.770440590326405</c:v>
                </c:pt>
              </c:numCache>
            </c:numRef>
          </c:val>
        </c:ser>
        <c:ser>
          <c:idx val="2"/>
          <c:order val="2"/>
          <c:tx>
            <c:strRef>
              <c:f>Sheet1!$D$1</c:f>
              <c:strCache>
                <c:ptCount val="1"/>
                <c:pt idx="0">
                  <c:v>Flexible Thermoplastics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Sheet1!$D$2:$D$5</c:f>
              <c:numCache>
                <c:formatCode>General</c:formatCode>
                <c:ptCount val="4"/>
                <c:pt idx="0">
                  <c:v>22.76086441298774</c:v>
                </c:pt>
                <c:pt idx="1">
                  <c:v>22.75988365830012</c:v>
                </c:pt>
                <c:pt idx="2">
                  <c:v>22.75988365830012</c:v>
                </c:pt>
                <c:pt idx="3">
                  <c:v>22.75988365830012</c:v>
                </c:pt>
              </c:numCache>
            </c:numRef>
          </c:val>
        </c:ser>
        <c:ser>
          <c:idx val="3"/>
          <c:order val="3"/>
          <c:tx>
            <c:strRef>
              <c:f>Sheet1!$E$1</c:f>
              <c:strCache>
                <c:ptCount val="1"/>
                <c:pt idx="0">
                  <c:v>Metal Alloys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Sheet1!$E$2:$E$5</c:f>
              <c:numCache>
                <c:formatCode>General</c:formatCode>
                <c:ptCount val="4"/>
                <c:pt idx="0">
                  <c:v>17.881843449033674</c:v>
                </c:pt>
                <c:pt idx="1">
                  <c:v>17.88107292901002</c:v>
                </c:pt>
                <c:pt idx="2">
                  <c:v>17.88107292901002</c:v>
                </c:pt>
                <c:pt idx="3">
                  <c:v>17.88107292901002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Conventional Fabrication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Sheet1!$B$2:$B$5</c:f>
              <c:numCache>
                <c:formatCode>General</c:formatCode>
                <c:ptCount val="4"/>
                <c:pt idx="0">
                  <c:v>53.87797311271976</c:v>
                </c:pt>
                <c:pt idx="1">
                  <c:v>53.87598569397164</c:v>
                </c:pt>
                <c:pt idx="2">
                  <c:v>53.87598569397164</c:v>
                </c:pt>
                <c:pt idx="3">
                  <c:v>53.87598569397164</c:v>
                </c:pt>
              </c:numCache>
            </c:numRef>
          </c:val>
        </c:ser>
        <c:ser>
          <c:idx val="1"/>
          <c:order val="1"/>
          <c:tx>
            <c:strRef>
              <c:f>Sheet1!$C$1</c:f>
              <c:strCache>
                <c:ptCount val="1"/>
                <c:pt idx="0">
                  <c:v>Digital Fabrication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Sheet1!$C$2:$C$5</c:f>
              <c:numCache>
                <c:formatCode>General</c:formatCode>
                <c:ptCount val="4"/>
                <c:pt idx="0">
                  <c:v>46.12202688728025</c:v>
                </c:pt>
                <c:pt idx="1">
                  <c:v>46.12401430602836</c:v>
                </c:pt>
                <c:pt idx="2">
                  <c:v>46.12401430602836</c:v>
                </c:pt>
                <c:pt idx="3">
                  <c:v>46.12401430602836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(Units)</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0,,&quot;M&quot;"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806541.6610000001</c:v>
                </c:pt>
                <c:pt idx="1">
                  <c:v>821520.6429999999</c:v>
                </c:pt>
                <c:pt idx="2">
                  <c:v>838315.7150000001</c:v>
                </c:pt>
                <c:pt idx="3">
                  <c:v>857011.757</c:v>
                </c:pt>
                <c:pt idx="4">
                  <c:v>877729.5719999999</c:v>
                </c:pt>
                <c:pt idx="5">
                  <c:v>900560.8960000001</c:v>
                </c:pt>
                <c:pt idx="6">
                  <c:v>923991.699</c:v>
                </c:pt>
                <c:pt idx="7">
                  <c:v>947937.608</c:v>
                </c:pt>
                <c:pt idx="8">
                  <c:v>972408.3800000001</c:v>
                </c:pt>
                <c:pt idx="9">
                  <c:v>997410.926</c:v>
                </c:pt>
                <c:pt idx="10">
                  <c:v>1022951.2519999999</c:v>
                </c:pt>
                <c:pt idx="11">
                  <c:v>1049045.28</c:v>
                </c:pt>
                <c:pt idx="12">
                  <c:v>1075689.3329999999</c:v>
                </c:pt>
                <c:pt idx="13">
                  <c:v>1102903.152</c:v>
                </c:pt>
                <c:pt idx="14">
                  <c:v>1130692.5180000002</c:v>
                </c:pt>
                <c:pt idx="15">
                  <c:v>1159061.065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North America</c:v>
                </c:pt>
                <c:pt idx="2">
                  <c:v>U.S.</c:v>
                </c:pt>
              </c:strCache>
            </c:strRef>
          </c:cat>
          <c:val>
            <c:numRef>
              <c:f>Sheet1!$B$2:$B$4</c:f>
              <c:numCache>
                <c:formatCode>General</c:formatCode>
                <c:ptCount val="3"/>
                <c:pt idx="0">
                  <c:v>0.0361238926182077</c:v>
                </c:pt>
                <c:pt idx="1">
                  <c:v>0.027569763351350085</c:v>
                </c:pt>
                <c:pt idx="2">
                  <c:v>0.025555866385660098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4876725503458039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900560.8960000001</c:v>
                </c:pt>
                <c:pt idx="2">
                  <c:v>923991.699</c:v>
                </c:pt>
                <c:pt idx="3">
                  <c:v>947937.608</c:v>
                </c:pt>
                <c:pt idx="4">
                  <c:v>972408.3800000001</c:v>
                </c:pt>
                <c:pt idx="5">
                  <c:v>997410.926</c:v>
                </c:pt>
                <c:pt idx="6">
                  <c:v>1022951.2519999999</c:v>
                </c:pt>
                <c:pt idx="7">
                  <c:v>1049045.28</c:v>
                </c:pt>
                <c:pt idx="8">
                  <c:v>1075689.3329999999</c:v>
                </c:pt>
                <c:pt idx="9">
                  <c:v>1102903.152</c:v>
                </c:pt>
                <c:pt idx="10">
                  <c:v>1130692.5180000002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900560.8960000001</c:v>
                </c:pt>
                <c:pt idx="1">
                  <c:v>23430.802999999956</c:v>
                </c:pt>
                <c:pt idx="2">
                  <c:v>23945.908999999985</c:v>
                </c:pt>
                <c:pt idx="3">
                  <c:v>24470.772000000114</c:v>
                </c:pt>
                <c:pt idx="4">
                  <c:v>25002.545999999857</c:v>
                </c:pt>
                <c:pt idx="5">
                  <c:v>25540.325999999885</c:v>
                </c:pt>
                <c:pt idx="6">
                  <c:v>26094.028000000166</c:v>
                </c:pt>
                <c:pt idx="7">
                  <c:v>26644.05299999984</c:v>
                </c:pt>
                <c:pt idx="8">
                  <c:v>27213.819000000134</c:v>
                </c:pt>
                <c:pt idx="9">
                  <c:v>27789.366000000155</c:v>
                </c:pt>
                <c:pt idx="10">
                  <c:v>28368.546999999788</c:v>
                </c:pt>
                <c:pt idx="11">
                  <c:v>1159061.065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Sheet1!$B$2:$B$3</c:f>
              <c:numCache>
                <c:formatCode>General</c:formatCode>
                <c:ptCount val="2"/>
                <c:pt idx="0">
                  <c:v>72.52736210320148</c:v>
                </c:pt>
                <c:pt idx="1">
                  <c:v>25.74794771683252</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Sheet1!$C$2:$C$3</c:f>
              <c:numCache>
                <c:formatCode>General</c:formatCode>
                <c:ptCount val="2"/>
                <c:pt idx="0">
                  <c:v>27.472637896798517</c:v>
                </c:pt>
                <c:pt idx="1">
                  <c:v>74.25205228316747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221.38599999999997</c:v>
                </c:pt>
                <c:pt idx="1">
                  <c:v>227.078</c:v>
                </c:pt>
                <c:pt idx="2">
                  <c:v>233.33999999999997</c:v>
                </c:pt>
                <c:pt idx="3">
                  <c:v>240.215</c:v>
                </c:pt>
                <c:pt idx="4">
                  <c:v>247.74899999999997</c:v>
                </c:pt>
                <c:pt idx="5">
                  <c:v>255.97000000000003</c:v>
                </c:pt>
                <c:pt idx="6">
                  <c:v>264.468</c:v>
                </c:pt>
                <c:pt idx="7">
                  <c:v>273.221</c:v>
                </c:pt>
                <c:pt idx="8">
                  <c:v>282.23400000000004</c:v>
                </c:pt>
                <c:pt idx="9">
                  <c:v>291.518</c:v>
                </c:pt>
                <c:pt idx="10">
                  <c:v>301.076</c:v>
                </c:pt>
                <c:pt idx="11">
                  <c:v>310.91700000000003</c:v>
                </c:pt>
                <c:pt idx="12">
                  <c:v>321.046</c:v>
                </c:pt>
                <c:pt idx="13">
                  <c:v>331.473</c:v>
                </c:pt>
                <c:pt idx="14">
                  <c:v>342.202</c:v>
                </c:pt>
                <c:pt idx="15">
                  <c:v>353.245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Sheet1!$A$2:$A$4</c:f>
              <c:strCache>
                <c:ptCount val="3"/>
                <c:pt idx="0">
                  <c:v>Global</c:v>
                </c:pt>
                <c:pt idx="1">
                  <c:v>North America</c:v>
                </c:pt>
                <c:pt idx="2">
                  <c:v>U.S.</c:v>
                </c:pt>
              </c:strCache>
            </c:strRef>
          </c:cat>
          <c:val>
            <c:numRef>
              <c:f>Sheet1!$B$2:$B$4</c:f>
              <c:numCache>
                <c:formatCode>General</c:formatCode>
                <c:ptCount val="3"/>
                <c:pt idx="0">
                  <c:v>0.04400292708053355</c:v>
                </c:pt>
                <c:pt idx="1">
                  <c:v>0.03502511467360803</c:v>
                </c:pt>
                <c:pt idx="2">
                  <c:v>0.03273452375024832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5940395155872029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255.97000000000003</c:v>
                </c:pt>
                <c:pt idx="2">
                  <c:v>264.468</c:v>
                </c:pt>
                <c:pt idx="3">
                  <c:v>273.221</c:v>
                </c:pt>
                <c:pt idx="4">
                  <c:v>282.23400000000004</c:v>
                </c:pt>
                <c:pt idx="5">
                  <c:v>291.518</c:v>
                </c:pt>
                <c:pt idx="6">
                  <c:v>301.076</c:v>
                </c:pt>
                <c:pt idx="7">
                  <c:v>310.91700000000003</c:v>
                </c:pt>
                <c:pt idx="8">
                  <c:v>321.046</c:v>
                </c:pt>
                <c:pt idx="9">
                  <c:v>331.473</c:v>
                </c:pt>
                <c:pt idx="10">
                  <c:v>342.202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255.97000000000003</c:v>
                </c:pt>
                <c:pt idx="1">
                  <c:v>8.49799999999999</c:v>
                </c:pt>
                <c:pt idx="2">
                  <c:v>8.752999999999986</c:v>
                </c:pt>
                <c:pt idx="3">
                  <c:v>9.013000000000034</c:v>
                </c:pt>
                <c:pt idx="4">
                  <c:v>9.283999999999935</c:v>
                </c:pt>
                <c:pt idx="5">
                  <c:v>9.55800000000005</c:v>
                </c:pt>
                <c:pt idx="6">
                  <c:v>9.841000000000008</c:v>
                </c:pt>
                <c:pt idx="7">
                  <c:v>10.128999999999962</c:v>
                </c:pt>
                <c:pt idx="8">
                  <c:v>10.427000000000021</c:v>
                </c:pt>
                <c:pt idx="9">
                  <c:v>10.728999999999985</c:v>
                </c:pt>
                <c:pt idx="10">
                  <c:v>11.043000000000006</c:v>
                </c:pt>
                <c:pt idx="11">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Sheet1!$B$2:$B$3</c:f>
              <c:numCache>
                <c:formatCode>General</c:formatCode>
                <c:ptCount val="2"/>
                <c:pt idx="0">
                  <c:v>68.93589287830312</c:v>
                </c:pt>
                <c:pt idx="1">
                  <c:v>22.748844649840034</c:v>
                </c:pt>
              </c:numCache>
            </c:numRef>
          </c:val>
        </c:ser>
        <c:ser>
          <c:idx val="1"/>
          <c:order val="1"/>
          <c:tx>
            <c:strRef>
              <c:f>Sheet1!$C$1</c:f>
              <c:strCache>
                <c:ptCount val="1"/>
                <c:pt idx="0">
                  <c:v>Rest of the market</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Share of North America</c:v>
                </c:pt>
                <c:pt idx="1">
                  <c:v>Share of Global</c:v>
                </c:pt>
              </c:strCache>
            </c:strRef>
          </c:cat>
          <c:val>
            <c:numRef>
              <c:f>Sheet1!$C$2:$C$3</c:f>
              <c:numCache>
                <c:formatCode>General</c:formatCode>
                <c:ptCount val="2"/>
                <c:pt idx="0">
                  <c:v>31.06410712169688</c:v>
                </c:pt>
                <c:pt idx="1">
                  <c:v>77.25115535015996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EC6DE"/>
              </a:solidFill>
            </c:spPr>
          </c:dPt>
          <c:dPt>
            <c:idx val="1"/>
            <c:spPr>
              <a:solidFill>
                <a:srgbClr val="6EAACE"/>
              </a:solidFill>
            </c:spPr>
          </c:dPt>
          <c:dPt>
            <c:idx val="2"/>
            <c:spPr>
              <a:solidFill>
                <a:srgbClr val="3E8EBE"/>
              </a:solidFill>
            </c:spPr>
          </c:dPt>
          <c:dPt>
            <c:idx val="3"/>
            <c:spPr>
              <a:solidFill>
                <a:srgbClr val="0E72AE"/>
              </a:solidFill>
            </c:spPr>
          </c:dPt>
          <c:cat>
            <c:strRef>
              <c:f>Sheet1!$A$2:$A$5</c:f>
              <c:strCache>
                <c:ptCount val="4"/>
                <c:pt idx="0">
                  <c:v>Acrylic Partial Dentu…</c:v>
                </c:pt>
                <c:pt idx="1">
                  <c:v>Cast Metal Partial De…</c:v>
                </c:pt>
                <c:pt idx="2">
                  <c:v>Combination Framework…</c:v>
                </c:pt>
                <c:pt idx="3">
                  <c:v>Flexible Partial Dent…</c:v>
                </c:pt>
              </c:strCache>
            </c:strRef>
          </c:cat>
          <c:val>
            <c:numRef>
              <c:f>Sheet1!$B$2:$B$5</c:f>
              <c:numCache>
                <c:formatCode>General</c:formatCode>
                <c:ptCount val="4"/>
                <c:pt idx="0">
                  <c:v>45.82</c:v>
                </c:pt>
                <c:pt idx="1">
                  <c:v>49.044</c:v>
                </c:pt>
                <c:pt idx="2">
                  <c:v>67.108</c:v>
                </c:pt>
                <c:pt idx="3">
                  <c:v>93.998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5.9573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6C8192"/>
              </a:solidFill>
            </c:spPr>
          </c:dPt>
          <c:dPt>
            <c:idx val="2"/>
            <c:spPr>
              <a:solidFill>
                <a:srgbClr val="3B576E"/>
              </a:solidFill>
            </c:spPr>
          </c:dPt>
          <c:dPt>
            <c:idx val="3"/>
            <c:spPr>
              <a:solidFill>
                <a:srgbClr val="0B2E4A"/>
              </a:solidFill>
            </c:spPr>
          </c:dPt>
          <c:cat>
            <c:strRef>
              <c:f>Sheet1!$A$2:$A$5</c:f>
              <c:strCache>
                <c:ptCount val="4"/>
                <c:pt idx="0">
                  <c:v>High-performance Poly…</c:v>
                </c:pt>
                <c:pt idx="1">
                  <c:v>Flexible Thermoplasti…</c:v>
                </c:pt>
                <c:pt idx="2">
                  <c:v>Metal Alloys</c:v>
                </c:pt>
                <c:pt idx="3">
                  <c:v>Acrylic / Resin</c:v>
                </c:pt>
              </c:strCache>
            </c:strRef>
          </c:cat>
          <c:val>
            <c:numRef>
              <c:f>Sheet1!$B$2:$B$5</c:f>
              <c:numCache>
                <c:formatCode>General</c:formatCode>
                <c:ptCount val="4"/>
                <c:pt idx="0">
                  <c:v>25.088</c:v>
                </c:pt>
                <c:pt idx="1">
                  <c:v>48.462</c:v>
                </c:pt>
                <c:pt idx="2">
                  <c:v>72.461</c:v>
                </c:pt>
                <c:pt idx="3">
                  <c:v>109.959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7.34506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C5B1E6"/>
              </a:solidFill>
            </c:spPr>
          </c:dPt>
          <c:dPt>
            <c:idx val="3"/>
            <c:spPr>
              <a:solidFill>
                <a:srgbClr val="6F3CC2"/>
              </a:solidFill>
            </c:spPr>
          </c:dPt>
          <c:cat>
            <c:strRef>
              <c:f>Sheet1!$A$2:$A$5</c:f>
              <c:strCache>
                <c:ptCount val="4"/>
                <c:pt idx="0">
                  <c:v> </c:v>
                </c:pt>
                <c:pt idx="1">
                  <c:v>  </c:v>
                </c:pt>
                <c:pt idx="2">
                  <c:v>Conventional Fabricat…</c:v>
                </c:pt>
                <c:pt idx="3">
                  <c:v>Digital Fabrication</c:v>
                </c:pt>
              </c:strCache>
            </c:strRef>
          </c:cat>
          <c:val>
            <c:numRef>
              <c:f>Sheet1!$B$2:$B$5</c:f>
              <c:numCache>
                <c:formatCode>General</c:formatCode>
                <c:ptCount val="4"/>
                <c:pt idx="2">
                  <c:v>90.68100000000001</c:v>
                </c:pt>
                <c:pt idx="3">
                  <c:v>165.289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1.487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DABAA0"/>
              </a:solidFill>
            </c:spPr>
          </c:dPt>
          <c:dPt>
            <c:idx val="1"/>
            <c:spPr>
              <a:solidFill>
                <a:srgbClr val="C79771"/>
              </a:solidFill>
            </c:spPr>
          </c:dPt>
          <c:dPt>
            <c:idx val="2"/>
            <c:spPr>
              <a:solidFill>
                <a:srgbClr val="B57542"/>
              </a:solidFill>
            </c:spPr>
          </c:dPt>
          <c:dPt>
            <c:idx val="3"/>
            <c:spPr>
              <a:solidFill>
                <a:srgbClr val="A35313"/>
              </a:solidFill>
            </c:spPr>
          </c:dPt>
          <c:cat>
            <c:strRef>
              <c:f>Sheet1!$A$2:$A$5</c:f>
              <c:strCache>
                <c:ptCount val="4"/>
                <c:pt idx="0">
                  <c:v>Hospitals</c:v>
                </c:pt>
                <c:pt idx="1">
                  <c:v>Clinics</c:v>
                </c:pt>
                <c:pt idx="2">
                  <c:v>Academic &amp; Teaching D…</c:v>
                </c:pt>
                <c:pt idx="3">
                  <c:v>Laboratories</c:v>
                </c:pt>
              </c:strCache>
            </c:strRef>
          </c:cat>
          <c:val>
            <c:numRef>
              <c:f>Sheet1!$B$2:$B$5</c:f>
              <c:numCache>
                <c:formatCode>General</c:formatCode>
                <c:ptCount val="4"/>
                <c:pt idx="0">
                  <c:v>17.195</c:v>
                </c:pt>
                <c:pt idx="1">
                  <c:v>26.465</c:v>
                </c:pt>
                <c:pt idx="2">
                  <c:v>105.81</c:v>
                </c:pt>
                <c:pt idx="3">
                  <c:v>106.5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2.7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C29A4C"/>
              </a:solidFill>
            </c:spPr>
          </c:dPt>
          <c:dPt>
            <c:idx val="3"/>
            <c:spPr>
              <a:solidFill>
                <a:srgbClr val="A86F00"/>
              </a:solidFill>
            </c:spPr>
          </c:dPt>
          <c:cat>
            <c:strRef>
              <c:f>Sheet1!$A$2:$A$5</c:f>
              <c:strCache>
                <c:ptCount val="4"/>
                <c:pt idx="0">
                  <c:v> </c:v>
                </c:pt>
                <c:pt idx="1">
                  <c:v>Online Dental Supply…</c:v>
                </c:pt>
                <c:pt idx="2">
                  <c:v>Direct Sales</c:v>
                </c:pt>
                <c:pt idx="3">
                  <c:v>Dental Dealers &amp; Dist…</c:v>
                </c:pt>
              </c:strCache>
            </c:strRef>
          </c:cat>
          <c:val>
            <c:numRef>
              <c:f>Sheet1!$B$2:$B$5</c:f>
              <c:numCache>
                <c:formatCode>General</c:formatCode>
                <c:ptCount val="4"/>
                <c:pt idx="1">
                  <c:v>21.531</c:v>
                </c:pt>
                <c:pt idx="2">
                  <c:v>56.356</c:v>
                </c:pt>
                <c:pt idx="3">
                  <c:v>178.083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8.631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E59999"/>
              </a:solidFill>
            </c:spPr>
          </c:dPt>
          <c:dPt>
            <c:idx val="3"/>
            <c:spPr>
              <a:solidFill>
                <a:srgbClr val="C00000"/>
              </a:solidFill>
            </c:spPr>
          </c:dPt>
          <c:cat>
            <c:strRef>
              <c:f>Sheet1!$A$2:$A$5</c:f>
              <c:strCache>
                <c:ptCount val="4"/>
                <c:pt idx="0">
                  <c:v> </c:v>
                </c:pt>
                <c:pt idx="1">
                  <c:v>  </c:v>
                </c:pt>
                <c:pt idx="2">
                  <c:v>Adults</c:v>
                </c:pt>
                <c:pt idx="3">
                  <c:v>Geriatric Patients</c:v>
                </c:pt>
              </c:strCache>
            </c:strRef>
          </c:cat>
          <c:val>
            <c:numRef>
              <c:f>Sheet1!$B$2:$B$5</c:f>
              <c:numCache>
                <c:formatCode>General</c:formatCode>
                <c:ptCount val="4"/>
                <c:pt idx="2">
                  <c:v>76.922</c:v>
                </c:pt>
                <c:pt idx="3">
                  <c:v>179.048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9.92432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Cast Metal Partial Dentures</c:v>
                </c:pt>
                <c:pt idx="2">
                  <c:v>Acrylic Partial Dentures</c:v>
                </c:pt>
                <c:pt idx="3">
                  <c:v>Flexible Partial Dentures</c:v>
                </c:pt>
                <c:pt idx="4">
                  <c:v>Combination Framework Partial Dentures</c:v>
                </c:pt>
                <c:pt idx="5">
                  <c:v>2036 Total</c:v>
                </c:pt>
              </c:strCache>
            </c:strRef>
          </c:cat>
          <c:val>
            <c:numRef>
              <c:f>Sheet1!$B$2:$B$7</c:f>
              <c:numCache>
                <c:formatCode>General</c:formatCode>
                <c:ptCount val="6"/>
                <c:pt idx="0">
                  <c:v>0.0</c:v>
                </c:pt>
                <c:pt idx="1">
                  <c:v>255.97000000000003</c:v>
                </c:pt>
                <c:pt idx="2">
                  <c:v>288.75800000000004</c:v>
                </c:pt>
                <c:pt idx="3">
                  <c:v>299.67400000000004</c:v>
                </c:pt>
                <c:pt idx="4">
                  <c:v>319.94500000000005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Cast Metal Partial Dentures</c:v>
                </c:pt>
                <c:pt idx="2">
                  <c:v>Acrylic Partial Dentures</c:v>
                </c:pt>
                <c:pt idx="3">
                  <c:v>Flexible Partial Dentures</c:v>
                </c:pt>
                <c:pt idx="4">
                  <c:v>Combination Framework Partial Dentures</c:v>
                </c:pt>
                <c:pt idx="5">
                  <c:v>2036 Total</c:v>
                </c:pt>
              </c:strCache>
            </c:strRef>
          </c:cat>
          <c:val>
            <c:numRef>
              <c:f>Sheet1!$C$2:$C$7</c:f>
              <c:numCache>
                <c:formatCode>General</c:formatCode>
                <c:ptCount val="6"/>
                <c:pt idx="0">
                  <c:v>255.97000000000003</c:v>
                </c:pt>
                <c:pt idx="1">
                  <c:v>32.788</c:v>
                </c:pt>
                <c:pt idx="2">
                  <c:v>10.915999999999997</c:v>
                </c:pt>
                <c:pt idx="3">
                  <c:v>20.271</c:v>
                </c:pt>
                <c:pt idx="4">
                  <c:v>33.3</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Cast Metal Partial Dentures</c:v>
                </c:pt>
                <c:pt idx="1">
                  <c:v>Acrylic Partial Dentures</c:v>
                </c:pt>
                <c:pt idx="2">
                  <c:v>Flexible Partial Dentures</c:v>
                </c:pt>
                <c:pt idx="3">
                  <c:v>Combination Framework Partial Dentures</c:v>
                </c:pt>
                <c:pt idx="4">
                  <c:v>Total Absolute $ Opportunity</c:v>
                </c:pt>
              </c:strCache>
            </c:strRef>
          </c:cat>
          <c:val>
            <c:numRef>
              <c:f>Sheet1!$B$2:$B$6</c:f>
              <c:numCache>
                <c:formatCode>General</c:formatCode>
                <c:ptCount val="5"/>
                <c:pt idx="0">
                  <c:v>0.0</c:v>
                </c:pt>
                <c:pt idx="1">
                  <c:v>32.788</c:v>
                </c:pt>
                <c:pt idx="2">
                  <c:v>43.70399999999999</c:v>
                </c:pt>
                <c:pt idx="3">
                  <c:v>63.974999999999994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Cast Metal Partial Dentures</c:v>
                </c:pt>
                <c:pt idx="1">
                  <c:v>Acrylic Partial Dentures</c:v>
                </c:pt>
                <c:pt idx="2">
                  <c:v>Flexible Partial Dentures</c:v>
                </c:pt>
                <c:pt idx="3">
                  <c:v>Combination Framework Partial Dentures</c:v>
                </c:pt>
                <c:pt idx="4">
                  <c:v>Total Absolute $ Opportunity</c:v>
                </c:pt>
              </c:strCache>
            </c:strRef>
          </c:cat>
          <c:val>
            <c:numRef>
              <c:f>Sheet1!$C$2:$C$6</c:f>
              <c:numCache>
                <c:formatCode>General</c:formatCode>
                <c:ptCount val="5"/>
                <c:pt idx="0">
                  <c:v>32.788</c:v>
                </c:pt>
                <c:pt idx="1">
                  <c:v>10.915999999999997</c:v>
                </c:pt>
                <c:pt idx="2">
                  <c:v>20.271</c:v>
                </c:pt>
                <c:pt idx="3">
                  <c:v>33.3</c:v>
                </c:pt>
                <c:pt idx="4">
                  <c:v>97.27499999999999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Metal Alloys</c:v>
                </c:pt>
                <c:pt idx="2">
                  <c:v>Acrylic / Resin</c:v>
                </c:pt>
                <c:pt idx="3">
                  <c:v>Flexible Thermoplastics</c:v>
                </c:pt>
                <c:pt idx="4">
                  <c:v>High-performance Polymers</c:v>
                </c:pt>
                <c:pt idx="5">
                  <c:v>2036 Total</c:v>
                </c:pt>
              </c:strCache>
            </c:strRef>
          </c:cat>
          <c:val>
            <c:numRef>
              <c:f>Sheet1!$B$2:$B$7</c:f>
              <c:numCache>
                <c:formatCode>General</c:formatCode>
                <c:ptCount val="6"/>
                <c:pt idx="0">
                  <c:v>0.0</c:v>
                </c:pt>
                <c:pt idx="1">
                  <c:v>255.97</c:v>
                </c:pt>
                <c:pt idx="2">
                  <c:v>280.817</c:v>
                </c:pt>
                <c:pt idx="3">
                  <c:v>325.952</c:v>
                </c:pt>
                <c:pt idx="4">
                  <c:v>342.321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Metal Alloys</c:v>
                </c:pt>
                <c:pt idx="2">
                  <c:v>Acrylic / Resin</c:v>
                </c:pt>
                <c:pt idx="3">
                  <c:v>Flexible Thermoplastics</c:v>
                </c:pt>
                <c:pt idx="4">
                  <c:v>High-performance Polymers</c:v>
                </c:pt>
                <c:pt idx="5">
                  <c:v>2036 Total</c:v>
                </c:pt>
              </c:strCache>
            </c:strRef>
          </c:cat>
          <c:val>
            <c:numRef>
              <c:f>Sheet1!$C$2:$C$7</c:f>
              <c:numCache>
                <c:formatCode>General</c:formatCode>
                <c:ptCount val="6"/>
                <c:pt idx="0">
                  <c:v>255.97</c:v>
                </c:pt>
                <c:pt idx="1">
                  <c:v>24.846999999999994</c:v>
                </c:pt>
                <c:pt idx="2">
                  <c:v>45.13499999999999</c:v>
                </c:pt>
                <c:pt idx="3">
                  <c:v>16.369</c:v>
                </c:pt>
                <c:pt idx="4">
                  <c:v>10.924</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Metal Alloys</c:v>
                </c:pt>
                <c:pt idx="1">
                  <c:v>Acrylic / Resin</c:v>
                </c:pt>
                <c:pt idx="2">
                  <c:v>Flexible Thermoplastics</c:v>
                </c:pt>
                <c:pt idx="3">
                  <c:v>High-performance Polymers</c:v>
                </c:pt>
                <c:pt idx="4">
                  <c:v>Total Absolute $ Opportunity</c:v>
                </c:pt>
              </c:strCache>
            </c:strRef>
          </c:cat>
          <c:val>
            <c:numRef>
              <c:f>Sheet1!$B$2:$B$6</c:f>
              <c:numCache>
                <c:formatCode>General</c:formatCode>
                <c:ptCount val="5"/>
                <c:pt idx="0">
                  <c:v>0.0</c:v>
                </c:pt>
                <c:pt idx="1">
                  <c:v>24.846999999999994</c:v>
                </c:pt>
                <c:pt idx="2">
                  <c:v>69.98199999999999</c:v>
                </c:pt>
                <c:pt idx="3">
                  <c:v>86.35099999999998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Metal Alloys</c:v>
                </c:pt>
                <c:pt idx="1">
                  <c:v>Acrylic / Resin</c:v>
                </c:pt>
                <c:pt idx="2">
                  <c:v>Flexible Thermoplastics</c:v>
                </c:pt>
                <c:pt idx="3">
                  <c:v>High-performance Polymers</c:v>
                </c:pt>
                <c:pt idx="4">
                  <c:v>Total Absolute $ Opportunity</c:v>
                </c:pt>
              </c:strCache>
            </c:strRef>
          </c:cat>
          <c:val>
            <c:numRef>
              <c:f>Sheet1!$C$2:$C$6</c:f>
              <c:numCache>
                <c:formatCode>General</c:formatCode>
                <c:ptCount val="5"/>
                <c:pt idx="0">
                  <c:v>24.846999999999994</c:v>
                </c:pt>
                <c:pt idx="1">
                  <c:v>45.13499999999999</c:v>
                </c:pt>
                <c:pt idx="2">
                  <c:v>16.369</c:v>
                </c:pt>
                <c:pt idx="3">
                  <c:v>10.924</c:v>
                </c:pt>
                <c:pt idx="4">
                  <c:v>97.27499999999998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Conventional Fabrication</c:v>
                </c:pt>
                <c:pt idx="2">
                  <c:v>Digital Fabrication</c:v>
                </c:pt>
                <c:pt idx="3">
                  <c:v>2036 Total</c:v>
                </c:pt>
              </c:strCache>
            </c:strRef>
          </c:cat>
          <c:val>
            <c:numRef>
              <c:f>Sheet1!$B$2:$B$5</c:f>
              <c:numCache>
                <c:formatCode>General</c:formatCode>
                <c:ptCount val="4"/>
                <c:pt idx="0">
                  <c:v>0.0</c:v>
                </c:pt>
                <c:pt idx="1">
                  <c:v>255.97</c:v>
                </c:pt>
                <c:pt idx="2">
                  <c:v>307.457</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Conventional Fabrication</c:v>
                </c:pt>
                <c:pt idx="2">
                  <c:v>Digital Fabrication</c:v>
                </c:pt>
                <c:pt idx="3">
                  <c:v>2036 Total</c:v>
                </c:pt>
              </c:strCache>
            </c:strRef>
          </c:cat>
          <c:val>
            <c:numRef>
              <c:f>Sheet1!$C$2:$C$5</c:f>
              <c:numCache>
                <c:formatCode>General</c:formatCode>
                <c:ptCount val="4"/>
                <c:pt idx="0">
                  <c:v>255.97</c:v>
                </c:pt>
                <c:pt idx="1">
                  <c:v>51.486999999999995</c:v>
                </c:pt>
                <c:pt idx="2">
                  <c:v>45.78800000000001</c:v>
                </c:pt>
                <c:pt idx="3">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Conventional Fabrication</c:v>
                </c:pt>
                <c:pt idx="1">
                  <c:v>Digital Fabrication</c:v>
                </c:pt>
                <c:pt idx="2">
                  <c:v>Total Absolute $ Opportunity</c:v>
                </c:pt>
              </c:strCache>
            </c:strRef>
          </c:cat>
          <c:val>
            <c:numRef>
              <c:f>Sheet1!$B$2:$B$4</c:f>
              <c:numCache>
                <c:formatCode>General</c:formatCode>
                <c:ptCount val="3"/>
                <c:pt idx="0">
                  <c:v>0.0</c:v>
                </c:pt>
                <c:pt idx="1">
                  <c:v>51.486999999999995</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Conventional Fabrication</c:v>
                </c:pt>
                <c:pt idx="1">
                  <c:v>Digital Fabrication</c:v>
                </c:pt>
                <c:pt idx="2">
                  <c:v>Total Absolute $ Opportunity</c:v>
                </c:pt>
              </c:strCache>
            </c:strRef>
          </c:cat>
          <c:val>
            <c:numRef>
              <c:f>Sheet1!$C$2:$C$4</c:f>
              <c:numCache>
                <c:formatCode>General</c:formatCode>
                <c:ptCount val="3"/>
                <c:pt idx="0">
                  <c:v>51.486999999999995</c:v>
                </c:pt>
                <c:pt idx="1">
                  <c:v>45.78800000000001</c:v>
                </c:pt>
                <c:pt idx="2">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Dental Clinics</c:v>
                </c:pt>
                <c:pt idx="2">
                  <c:v>Dental Hospitals</c:v>
                </c:pt>
                <c:pt idx="3">
                  <c:v>Dental Laboratories</c:v>
                </c:pt>
                <c:pt idx="4">
                  <c:v>Academic &amp; Teaching Dental Institutions</c:v>
                </c:pt>
                <c:pt idx="5">
                  <c:v>2036 Total</c:v>
                </c:pt>
              </c:strCache>
            </c:strRef>
          </c:cat>
          <c:val>
            <c:numRef>
              <c:f>Sheet1!$B$2:$B$7</c:f>
              <c:numCache>
                <c:formatCode>General</c:formatCode>
                <c:ptCount val="6"/>
                <c:pt idx="0">
                  <c:v>0.0</c:v>
                </c:pt>
                <c:pt idx="1">
                  <c:v>255.97</c:v>
                </c:pt>
                <c:pt idx="2">
                  <c:v>267.239</c:v>
                </c:pt>
                <c:pt idx="3">
                  <c:v>278.85299999999995</c:v>
                </c:pt>
                <c:pt idx="4">
                  <c:v>301.89599999999996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Dental Clinics</c:v>
                </c:pt>
                <c:pt idx="2">
                  <c:v>Dental Hospitals</c:v>
                </c:pt>
                <c:pt idx="3">
                  <c:v>Dental Laboratories</c:v>
                </c:pt>
                <c:pt idx="4">
                  <c:v>Academic &amp; Teaching Dental Institutions</c:v>
                </c:pt>
                <c:pt idx="5">
                  <c:v>2036 Total</c:v>
                </c:pt>
              </c:strCache>
            </c:strRef>
          </c:cat>
          <c:val>
            <c:numRef>
              <c:f>Sheet1!$C$2:$C$7</c:f>
              <c:numCache>
                <c:formatCode>General</c:formatCode>
                <c:ptCount val="6"/>
                <c:pt idx="0">
                  <c:v>255.97</c:v>
                </c:pt>
                <c:pt idx="1">
                  <c:v>11.269000000000002</c:v>
                </c:pt>
                <c:pt idx="2">
                  <c:v>11.614</c:v>
                </c:pt>
                <c:pt idx="3">
                  <c:v>23.043000000000006</c:v>
                </c:pt>
                <c:pt idx="4">
                  <c:v>51.34899999999999</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Dental Clinics</c:v>
                </c:pt>
                <c:pt idx="1">
                  <c:v>Dental Hospitals</c:v>
                </c:pt>
                <c:pt idx="2">
                  <c:v>Dental Laboratories</c:v>
                </c:pt>
                <c:pt idx="3">
                  <c:v>Academic &amp; Teaching Dental Institutions</c:v>
                </c:pt>
                <c:pt idx="4">
                  <c:v>Total Absolute $ Opportunity</c:v>
                </c:pt>
              </c:strCache>
            </c:strRef>
          </c:cat>
          <c:val>
            <c:numRef>
              <c:f>Sheet1!$B$2:$B$6</c:f>
              <c:numCache>
                <c:formatCode>General</c:formatCode>
                <c:ptCount val="5"/>
                <c:pt idx="0">
                  <c:v>0.0</c:v>
                </c:pt>
                <c:pt idx="1">
                  <c:v>11.269000000000002</c:v>
                </c:pt>
                <c:pt idx="2">
                  <c:v>22.883000000000003</c:v>
                </c:pt>
                <c:pt idx="3">
                  <c:v>45.92600000000001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Dental Clinics</c:v>
                </c:pt>
                <c:pt idx="1">
                  <c:v>Dental Hospitals</c:v>
                </c:pt>
                <c:pt idx="2">
                  <c:v>Dental Laboratories</c:v>
                </c:pt>
                <c:pt idx="3">
                  <c:v>Academic &amp; Teaching Dental Institutions</c:v>
                </c:pt>
                <c:pt idx="4">
                  <c:v>Total Absolute $ Opportunity</c:v>
                </c:pt>
              </c:strCache>
            </c:strRef>
          </c:cat>
          <c:val>
            <c:numRef>
              <c:f>Sheet1!$C$2:$C$6</c:f>
              <c:numCache>
                <c:formatCode>General</c:formatCode>
                <c:ptCount val="5"/>
                <c:pt idx="0">
                  <c:v>11.269000000000002</c:v>
                </c:pt>
                <c:pt idx="1">
                  <c:v>11.614</c:v>
                </c:pt>
                <c:pt idx="2">
                  <c:v>23.043000000000006</c:v>
                </c:pt>
                <c:pt idx="3">
                  <c:v>51.34899999999999</c:v>
                </c:pt>
                <c:pt idx="4">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2026</c:v>
                </c:pt>
                <c:pt idx="1">
                  <c:v>Direct Sales</c:v>
                </c:pt>
                <c:pt idx="2">
                  <c:v>Dental Dealers &amp; Distributors</c:v>
                </c:pt>
                <c:pt idx="3">
                  <c:v>Online Dental Supply Channels</c:v>
                </c:pt>
                <c:pt idx="4">
                  <c:v>2036 Total</c:v>
                </c:pt>
              </c:strCache>
            </c:strRef>
          </c:cat>
          <c:val>
            <c:numRef>
              <c:f>Sheet1!$B$2:$B$6</c:f>
              <c:numCache>
                <c:formatCode>General</c:formatCode>
                <c:ptCount val="5"/>
                <c:pt idx="0">
                  <c:v>0.0</c:v>
                </c:pt>
                <c:pt idx="1">
                  <c:v>255.97</c:v>
                </c:pt>
                <c:pt idx="2">
                  <c:v>317.32</c:v>
                </c:pt>
                <c:pt idx="3">
                  <c:v>349.61199999999997</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2026</c:v>
                </c:pt>
                <c:pt idx="1">
                  <c:v>Direct Sales</c:v>
                </c:pt>
                <c:pt idx="2">
                  <c:v>Dental Dealers &amp; Distributors</c:v>
                </c:pt>
                <c:pt idx="3">
                  <c:v>Online Dental Supply Channels</c:v>
                </c:pt>
                <c:pt idx="4">
                  <c:v>2036 Total</c:v>
                </c:pt>
              </c:strCache>
            </c:strRef>
          </c:cat>
          <c:val>
            <c:numRef>
              <c:f>Sheet1!$C$2:$C$6</c:f>
              <c:numCache>
                <c:formatCode>General</c:formatCode>
                <c:ptCount val="5"/>
                <c:pt idx="0">
                  <c:v>255.97</c:v>
                </c:pt>
                <c:pt idx="1">
                  <c:v>61.35</c:v>
                </c:pt>
                <c:pt idx="2">
                  <c:v>32.292</c:v>
                </c:pt>
                <c:pt idx="3">
                  <c:v>3.6330000000000027</c:v>
                </c:pt>
                <c:pt idx="4">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Direct Sales</c:v>
                </c:pt>
                <c:pt idx="1">
                  <c:v>Dental Dealers &amp; Distributors</c:v>
                </c:pt>
                <c:pt idx="2">
                  <c:v>Online Dental Supply Channels</c:v>
                </c:pt>
                <c:pt idx="3">
                  <c:v>Total Absolute $ Opportunity</c:v>
                </c:pt>
              </c:strCache>
            </c:strRef>
          </c:cat>
          <c:val>
            <c:numRef>
              <c:f>Sheet1!$B$2:$B$5</c:f>
              <c:numCache>
                <c:formatCode>General</c:formatCode>
                <c:ptCount val="4"/>
                <c:pt idx="0">
                  <c:v>0.0</c:v>
                </c:pt>
                <c:pt idx="1">
                  <c:v>61.35</c:v>
                </c:pt>
                <c:pt idx="2">
                  <c:v>93.642</c:v>
                </c:pt>
                <c:pt idx="3">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Direct Sales</c:v>
                </c:pt>
                <c:pt idx="1">
                  <c:v>Dental Dealers &amp; Distributors</c:v>
                </c:pt>
                <c:pt idx="2">
                  <c:v>Online Dental Supply Channels</c:v>
                </c:pt>
                <c:pt idx="3">
                  <c:v>Total Absolute $ Opportunity</c:v>
                </c:pt>
              </c:strCache>
            </c:strRef>
          </c:cat>
          <c:val>
            <c:numRef>
              <c:f>Sheet1!$C$2:$C$5</c:f>
              <c:numCache>
                <c:formatCode>General</c:formatCode>
                <c:ptCount val="4"/>
                <c:pt idx="0">
                  <c:v>61.35</c:v>
                </c:pt>
                <c:pt idx="1">
                  <c:v>32.292</c:v>
                </c:pt>
                <c:pt idx="2">
                  <c:v>3.6330000000000027</c:v>
                </c:pt>
                <c:pt idx="3">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Adults</c:v>
                </c:pt>
                <c:pt idx="2">
                  <c:v>Geriatric Patients</c:v>
                </c:pt>
                <c:pt idx="3">
                  <c:v>2036 Total</c:v>
                </c:pt>
              </c:strCache>
            </c:strRef>
          </c:cat>
          <c:val>
            <c:numRef>
              <c:f>Sheet1!$B$2:$B$5</c:f>
              <c:numCache>
                <c:formatCode>General</c:formatCode>
                <c:ptCount val="4"/>
                <c:pt idx="0">
                  <c:v>0.0</c:v>
                </c:pt>
                <c:pt idx="1">
                  <c:v>255.97</c:v>
                </c:pt>
                <c:pt idx="2">
                  <c:v>282.85699999999997</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Adults</c:v>
                </c:pt>
                <c:pt idx="2">
                  <c:v>Geriatric Patients</c:v>
                </c:pt>
                <c:pt idx="3">
                  <c:v>2036 Total</c:v>
                </c:pt>
              </c:strCache>
            </c:strRef>
          </c:cat>
          <c:val>
            <c:numRef>
              <c:f>Sheet1!$C$2:$C$5</c:f>
              <c:numCache>
                <c:formatCode>General</c:formatCode>
                <c:ptCount val="4"/>
                <c:pt idx="0">
                  <c:v>255.97</c:v>
                </c:pt>
                <c:pt idx="1">
                  <c:v>26.887</c:v>
                </c:pt>
                <c:pt idx="2">
                  <c:v>70.388</c:v>
                </c:pt>
                <c:pt idx="3">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Adults</c:v>
                </c:pt>
                <c:pt idx="1">
                  <c:v>Geriatric Patients</c:v>
                </c:pt>
                <c:pt idx="2">
                  <c:v>Total Absolute $ Opportunity</c:v>
                </c:pt>
              </c:strCache>
            </c:strRef>
          </c:cat>
          <c:val>
            <c:numRef>
              <c:f>Sheet1!$B$2:$B$4</c:f>
              <c:numCache>
                <c:formatCode>General</c:formatCode>
                <c:ptCount val="3"/>
                <c:pt idx="0">
                  <c:v>0.0</c:v>
                </c:pt>
                <c:pt idx="1">
                  <c:v>26.887</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Adults</c:v>
                </c:pt>
                <c:pt idx="1">
                  <c:v>Geriatric Patients</c:v>
                </c:pt>
                <c:pt idx="2">
                  <c:v>Total Absolute $ Opportunity</c:v>
                </c:pt>
              </c:strCache>
            </c:strRef>
          </c:cat>
          <c:val>
            <c:numRef>
              <c:f>Sheet1!$C$2:$C$4</c:f>
              <c:numCache>
                <c:formatCode>General</c:formatCode>
                <c:ptCount val="3"/>
                <c:pt idx="0">
                  <c:v>26.887</c:v>
                </c:pt>
                <c:pt idx="1">
                  <c:v>70.388</c:v>
                </c:pt>
                <c:pt idx="2">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High-performance Polymers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Sheet1!$B$2:$B$5</c:f>
              <c:numCache>
                <c:formatCode>General</c:formatCode>
                <c:ptCount val="4"/>
                <c:pt idx="0">
                  <c:v>34.35800462586735</c:v>
                </c:pt>
                <c:pt idx="1">
                  <c:v>34.364159139919366</c:v>
                </c:pt>
                <c:pt idx="2">
                  <c:v>34.364159139919366</c:v>
                </c:pt>
                <c:pt idx="3">
                  <c:v>34.364159139919366</c:v>
                </c:pt>
              </c:numCache>
            </c:numRef>
          </c:val>
        </c:ser>
        <c:ser>
          <c:idx val="1"/>
          <c:order val="1"/>
          <c:tx>
            <c:strRef>
              <c:f>Sheet1!$C$1</c:f>
              <c:strCache>
                <c:ptCount val="1"/>
                <c:pt idx="0">
                  <c:v>Acrylic / Resin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Sheet1!$C$2:$C$5</c:f>
              <c:numCache>
                <c:formatCode>General</c:formatCode>
                <c:ptCount val="4"/>
                <c:pt idx="0">
                  <c:v>26.26586234919047</c:v>
                </c:pt>
                <c:pt idx="1">
                  <c:v>26.263399693721283</c:v>
                </c:pt>
                <c:pt idx="2">
                  <c:v>26.263399693721283</c:v>
                </c:pt>
                <c:pt idx="3">
                  <c:v>26.263399693721283</c:v>
                </c:pt>
              </c:numCache>
            </c:numRef>
          </c:val>
        </c:ser>
        <c:ser>
          <c:idx val="2"/>
          <c:order val="2"/>
          <c:tx>
            <c:strRef>
              <c:f>Sheet1!$D$1</c:f>
              <c:strCache>
                <c:ptCount val="1"/>
                <c:pt idx="0">
                  <c:v>Flexible Thermoplastics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Sheet1!$D$2:$D$5</c:f>
              <c:numCache>
                <c:formatCode>General</c:formatCode>
                <c:ptCount val="4"/>
                <c:pt idx="0">
                  <c:v>20.54291429643058</c:v>
                </c:pt>
                <c:pt idx="1">
                  <c:v>20.540988217645403</c:v>
                </c:pt>
                <c:pt idx="2">
                  <c:v>20.540988217645403</c:v>
                </c:pt>
                <c:pt idx="3">
                  <c:v>20.540988217645403</c:v>
                </c:pt>
              </c:numCache>
            </c:numRef>
          </c:val>
        </c:ser>
        <c:ser>
          <c:idx val="3"/>
          <c:order val="3"/>
          <c:tx>
            <c:strRef>
              <c:f>Sheet1!$E$1</c:f>
              <c:strCache>
                <c:ptCount val="1"/>
                <c:pt idx="0">
                  <c:v>Metal Alloys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Sheet1!$E$2:$E$5</c:f>
              <c:numCache>
                <c:formatCode>General</c:formatCode>
                <c:ptCount val="4"/>
                <c:pt idx="0">
                  <c:v>18.833218728511596</c:v>
                </c:pt>
                <c:pt idx="1">
                  <c:v>18.83145294871394</c:v>
                </c:pt>
                <c:pt idx="2">
                  <c:v>18.83145294871394</c:v>
                </c:pt>
                <c:pt idx="3">
                  <c:v>18.83145294871394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Conventional Fabrication</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Sheet1!$B$2:$B$5</c:f>
              <c:numCache>
                <c:formatCode>General</c:formatCode>
                <c:ptCount val="4"/>
                <c:pt idx="0">
                  <c:v>53.30812263649718</c:v>
                </c:pt>
                <c:pt idx="1">
                  <c:v>53.306663332916614</c:v>
                </c:pt>
                <c:pt idx="2">
                  <c:v>53.306663332916614</c:v>
                </c:pt>
                <c:pt idx="3">
                  <c:v>53.306663332916614</c:v>
                </c:pt>
              </c:numCache>
            </c:numRef>
          </c:val>
        </c:ser>
        <c:ser>
          <c:idx val="1"/>
          <c:order val="1"/>
          <c:tx>
            <c:strRef>
              <c:f>Sheet1!$C$1</c:f>
              <c:strCache>
                <c:ptCount val="1"/>
                <c:pt idx="0">
                  <c:v>Digital Fabrication</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Sheet1!$A$2:$A$5</c:f>
              <c:strCache>
                <c:ptCount val="4"/>
                <c:pt idx="0">
                  <c:v>Cast Metal Partial Dentures</c:v>
                </c:pt>
                <c:pt idx="1">
                  <c:v>Acrylic Partial Dentures</c:v>
                </c:pt>
                <c:pt idx="2">
                  <c:v>Flexible Partial Dentures</c:v>
                </c:pt>
                <c:pt idx="3">
                  <c:v>Combination Framework Partial Dentures</c:v>
                </c:pt>
              </c:strCache>
            </c:strRef>
          </c:cat>
          <c:val>
            <c:numRef>
              <c:f>Sheet1!$C$2:$C$5</c:f>
              <c:numCache>
                <c:formatCode>General</c:formatCode>
                <c:ptCount val="4"/>
                <c:pt idx="0">
                  <c:v>46.691877363502826</c:v>
                </c:pt>
                <c:pt idx="1">
                  <c:v>46.69333666708339</c:v>
                </c:pt>
                <c:pt idx="2">
                  <c:v>46.69333666708339</c:v>
                </c:pt>
                <c:pt idx="3">
                  <c:v>46.69333666708339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f>Sheet1!$B$1</c:f>
              <c:strCache>
                <c:ptCount val="1"/>
                <c:pt idx="0">
                  <c:v>Flexible Partial Dentures</c:v>
                </c:pt>
              </c:strCache>
            </c:strRef>
          </c:tx>
          <c:spPr>
            <a:ln w="25400">
              <a:solidFill>
                <a:srgbClr val="C55A11"/>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389.0</c:v>
                </c:pt>
                <c:pt idx="1">
                  <c:v>390.0</c:v>
                </c:pt>
                <c:pt idx="2">
                  <c:v>393.0</c:v>
                </c:pt>
                <c:pt idx="3">
                  <c:v>396.0</c:v>
                </c:pt>
                <c:pt idx="4">
                  <c:v>400.0</c:v>
                </c:pt>
                <c:pt idx="5">
                  <c:v>407.0</c:v>
                </c:pt>
                <c:pt idx="6">
                  <c:v>413.0</c:v>
                </c:pt>
                <c:pt idx="7">
                  <c:v>419.0</c:v>
                </c:pt>
                <c:pt idx="8">
                  <c:v>425.0</c:v>
                </c:pt>
                <c:pt idx="9">
                  <c:v>430.0</c:v>
                </c:pt>
                <c:pt idx="10">
                  <c:v>434.0</c:v>
                </c:pt>
                <c:pt idx="11">
                  <c:v>437.0</c:v>
                </c:pt>
                <c:pt idx="12">
                  <c:v>440.0</c:v>
                </c:pt>
                <c:pt idx="13">
                  <c:v>442.0</c:v>
                </c:pt>
                <c:pt idx="14">
                  <c:v>445.0</c:v>
                </c:pt>
                <c:pt idx="15">
                  <c:v>446.0</c:v>
                </c:pt>
              </c:numCache>
            </c:numRef>
          </c:val>
          <c:smooth val="0"/>
        </c:ser>
        <c:ser>
          <c:idx val="1"/>
          <c:order val="1"/>
          <c:tx>
            <c:strRef>
              <c:f>Sheet1!$C$1</c:f>
              <c:strCache>
                <c:ptCount val="1"/>
                <c:pt idx="0">
                  <c:v>Acrylic Partial Dentures</c:v>
                </c:pt>
              </c:strCache>
            </c:strRef>
          </c:tx>
          <c:spPr>
            <a:ln w="25400">
              <a:solidFill>
                <a:srgbClr val="0B2E4A"/>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317.0</c:v>
                </c:pt>
                <c:pt idx="1">
                  <c:v>320.0</c:v>
                </c:pt>
                <c:pt idx="2">
                  <c:v>323.0</c:v>
                </c:pt>
                <c:pt idx="3">
                  <c:v>326.0</c:v>
                </c:pt>
                <c:pt idx="4">
                  <c:v>329.0</c:v>
                </c:pt>
                <c:pt idx="5">
                  <c:v>332.0</c:v>
                </c:pt>
                <c:pt idx="6">
                  <c:v>336.0</c:v>
                </c:pt>
                <c:pt idx="7">
                  <c:v>340.0</c:v>
                </c:pt>
                <c:pt idx="8">
                  <c:v>344.0</c:v>
                </c:pt>
                <c:pt idx="9">
                  <c:v>348.0</c:v>
                </c:pt>
                <c:pt idx="10">
                  <c:v>351.0</c:v>
                </c:pt>
                <c:pt idx="11">
                  <c:v>354.0</c:v>
                </c:pt>
                <c:pt idx="12">
                  <c:v>357.0</c:v>
                </c:pt>
                <c:pt idx="13">
                  <c:v>360.0</c:v>
                </c:pt>
                <c:pt idx="14">
                  <c:v>362.0</c:v>
                </c:pt>
                <c:pt idx="15">
                  <c:v>364.0</c:v>
                </c:pt>
              </c:numCache>
            </c:numRef>
          </c:val>
          <c:smooth val="0"/>
        </c:ser>
        <c:ser>
          <c:idx val="2"/>
          <c:order val="2"/>
          <c:tx>
            <c:strRef>
              <c:f>Sheet1!$D$1</c:f>
              <c:strCache>
                <c:ptCount val="1"/>
                <c:pt idx="0">
                  <c:v>Cast Metal Partial Dentures</c:v>
                </c:pt>
              </c:strCache>
            </c:strRef>
          </c:tx>
          <c:spPr>
            <a:ln w="25400">
              <a:solidFill>
                <a:srgbClr val="7030A0"/>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300.0</c:v>
                </c:pt>
                <c:pt idx="1">
                  <c:v>303.0</c:v>
                </c:pt>
                <c:pt idx="2">
                  <c:v>306.0</c:v>
                </c:pt>
                <c:pt idx="3">
                  <c:v>309.0</c:v>
                </c:pt>
                <c:pt idx="4">
                  <c:v>311.0</c:v>
                </c:pt>
                <c:pt idx="5">
                  <c:v>314.0</c:v>
                </c:pt>
                <c:pt idx="6">
                  <c:v>316.0</c:v>
                </c:pt>
                <c:pt idx="7">
                  <c:v>319.0</c:v>
                </c:pt>
                <c:pt idx="8">
                  <c:v>322.0</c:v>
                </c:pt>
                <c:pt idx="9">
                  <c:v>325.0</c:v>
                </c:pt>
                <c:pt idx="10">
                  <c:v>328.0</c:v>
                </c:pt>
                <c:pt idx="11">
                  <c:v>332.0</c:v>
                </c:pt>
                <c:pt idx="12">
                  <c:v>335.0</c:v>
                </c:pt>
                <c:pt idx="13">
                  <c:v>338.0</c:v>
                </c:pt>
                <c:pt idx="14">
                  <c:v>341.0</c:v>
                </c:pt>
                <c:pt idx="15">
                  <c:v>344.0</c:v>
                </c:pt>
              </c:numCache>
            </c:numRef>
          </c:val>
          <c:smooth val="0"/>
        </c:ser>
        <c:ser>
          <c:idx val="3"/>
          <c:order val="3"/>
          <c:tx>
            <c:strRef>
              <c:f>Sheet1!$E$1</c:f>
              <c:strCache>
                <c:ptCount val="1"/>
                <c:pt idx="0">
                  <c:v>Combination Framework Partial Dentures</c:v>
                </c:pt>
              </c:strCache>
            </c:strRef>
          </c:tx>
          <c:spPr>
            <a:ln w="25400">
              <a:solidFill>
                <a:srgbClr val="008189"/>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237.0</c:v>
                </c:pt>
                <c:pt idx="1">
                  <c:v>239.0</c:v>
                </c:pt>
                <c:pt idx="2">
                  <c:v>242.0</c:v>
                </c:pt>
                <c:pt idx="3">
                  <c:v>244.0</c:v>
                </c:pt>
                <c:pt idx="4">
                  <c:v>246.0</c:v>
                </c:pt>
                <c:pt idx="5">
                  <c:v>248.0</c:v>
                </c:pt>
                <c:pt idx="6">
                  <c:v>250.0</c:v>
                </c:pt>
                <c:pt idx="7">
                  <c:v>252.0</c:v>
                </c:pt>
                <c:pt idx="8">
                  <c:v>254.0</c:v>
                </c:pt>
                <c:pt idx="9">
                  <c:v>256.0</c:v>
                </c:pt>
                <c:pt idx="10">
                  <c:v>259.0</c:v>
                </c:pt>
                <c:pt idx="11">
                  <c:v>262.0</c:v>
                </c:pt>
                <c:pt idx="12">
                  <c:v>264.0</c:v>
                </c:pt>
                <c:pt idx="13">
                  <c:v>267.0</c:v>
                </c:pt>
                <c:pt idx="14">
                  <c:v>270.0</c:v>
                </c:pt>
                <c:pt idx="15">
                  <c:v>273.0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
          <c:min val="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Index</c:v>
                </c:pt>
              </c:strCache>
            </c:strRef>
          </c:tx>
          <c:dPt>
            <c:idx val="0"/>
            <c:spPr>
              <a:solidFill>
                <a:srgbClr val="5B7DB1"/>
              </a:solidFill>
            </c:spPr>
          </c:dPt>
          <c:dPt>
            <c:idx val="1"/>
            <c:spPr>
              <a:solidFill>
                <a:srgbClr val="5B7DB1"/>
              </a:solidFill>
            </c:spPr>
          </c:dPt>
          <c:dPt>
            <c:idx val="2"/>
            <c:spPr>
              <a:solidFill>
                <a:srgbClr val="C55A11"/>
              </a:solidFill>
            </c:spPr>
          </c:dPt>
          <c:dPt>
            <c:idx val="3"/>
            <c:spPr>
              <a:solidFill>
                <a:srgbClr val="C55A11"/>
              </a:solidFill>
            </c:spPr>
          </c:dPt>
          <c:cat>
            <c:strRef>
              <c:f>Sheet1!$A$2:$A$5</c:f>
              <c:strCache>
                <c:ptCount val="4"/>
                <c:pt idx="0">
                  <c:v>Combination Framework Partial Dentures</c:v>
                </c:pt>
                <c:pt idx="1">
                  <c:v>Cast Metal Partial Dentures</c:v>
                </c:pt>
                <c:pt idx="2">
                  <c:v>Acrylic Partial Dentures</c:v>
                </c:pt>
                <c:pt idx="3">
                  <c:v>Flexible Partial Dentures</c:v>
                </c:pt>
              </c:strCache>
            </c:strRef>
          </c:cat>
          <c:val>
            <c:numRef>
              <c:f>Sheet1!$B$2:$B$5</c:f>
              <c:numCache>
                <c:formatCode>General</c:formatCode>
                <c:ptCount val="4"/>
                <c:pt idx="0">
                  <c:v>77.2</c:v>
                </c:pt>
                <c:pt idx="1">
                  <c:v>97.5</c:v>
                </c:pt>
                <c:pt idx="2">
                  <c:v>103.1</c:v>
                </c:pt>
                <c:pt idx="3">
                  <c:v>126.5</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28.0"/>
          <c:min val="74.0"/>
        </c:scaling>
        <c:delete/>
        <c:axPos val="b"/>
        <c:majorTickMark val="out"/>
        <c:minorTickMark val="none"/>
        <c:tickLblPos val="nextTo"/>
        <c:crossAx val="-2068027336"/>
        <c:crosses val="autoZero"/>
      </c:valAx>
    </c:plotArea>
    <c:dispBlanksAs val="gap"/>
  </c:chart>
  <c:txPr>
    <a:bodyPr/>
    <a:lstStyle/>
    <a:p>
      <a:pPr>
        <a:defRPr sz="1800"/>
      </a:pPr>
      <a:endParaRPr lang="en-US"/>
    </a:p>
  </c:tx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bar"/>
        <c:grouping val="stacked"/>
        <c:ser>
          <c:idx val="0"/>
          <c:order val="0"/>
          <c:tx>
            <c:strRef>
              <c:f>Sheet1!$B$1</c:f>
              <c:strCache>
                <c:ptCount val="1"/>
                <c:pt idx="0">
                  <c:v>Base</c:v>
                </c:pt>
              </c:strCache>
            </c:strRef>
          </c:tx>
          <c:spPr>
            <a:noFill/>
          </c:spPr>
          <c:dLbls>
            <c:dLbl>
              <c:idx val="0"/>
              <c:tx>
                <c:rich>
                  <a:bodyPr/>
                  <a:lstStyle/>
                  <a:p>
                    <a:r>
                      <a:rPr sz="850" b="1">
                        <a:solidFill>
                          <a:srgbClr val="1F1F1F"/>
                        </a:solidFill>
                        <a:latin typeface="Calibri"/>
                      </a:rPr>
                      <a:t>272 to 374</a:t>
                    </a:r>
                  </a:p>
                </c:rich>
              </c:tx>
              <c:dLblPos val="inEnd"/>
              <c:showLegendKey val="0"/>
              <c:showVal val="1"/>
              <c:showCatName val="0"/>
              <c:showSerName val="0"/>
              <c:showPercent val="0"/>
              <c:showBubbleSize val="0"/>
            </c:dLbl>
            <c:dLbl>
              <c:idx val="1"/>
              <c:tx>
                <c:rich>
                  <a:bodyPr/>
                  <a:lstStyle/>
                  <a:p>
                    <a:r>
                      <a:rPr sz="850" b="1">
                        <a:solidFill>
                          <a:srgbClr val="1F1F1F"/>
                        </a:solidFill>
                        <a:latin typeface="Calibri"/>
                      </a:rPr>
                      <a:t>272 to 374</a:t>
                    </a:r>
                  </a:p>
                </c:rich>
              </c:tx>
              <c:dLblPos val="inEnd"/>
              <c:showLegendKey val="0"/>
              <c:showVal val="1"/>
              <c:showCatName val="0"/>
              <c:showSerName val="0"/>
              <c:showPercent val="0"/>
              <c:showBubbleSize val="0"/>
            </c:dLbl>
            <c:dLbl>
              <c:idx val="2"/>
              <c:tx>
                <c:rich>
                  <a:bodyPr/>
                  <a:lstStyle/>
                  <a:p>
                    <a:r>
                      <a:rPr sz="850" b="1">
                        <a:solidFill>
                          <a:srgbClr val="1F1F1F"/>
                        </a:solidFill>
                        <a:latin typeface="Calibri"/>
                      </a:rPr>
                      <a:t>272 to 374</a:t>
                    </a:r>
                  </a:p>
                </c:rich>
              </c:tx>
              <c:dLblPos val="inEnd"/>
              <c:showLegendKey val="0"/>
              <c:showVal val="1"/>
              <c:showCatName val="0"/>
              <c:showSerName val="0"/>
              <c:showPercent val="0"/>
              <c:showBubbleSize val="0"/>
            </c:dLbl>
            <c:dLbl>
              <c:idx val="3"/>
              <c:tx>
                <c:rich>
                  <a:bodyPr/>
                  <a:lstStyle/>
                  <a:p>
                    <a:r>
                      <a:rPr sz="850" b="1">
                        <a:solidFill>
                          <a:srgbClr val="1F1F1F"/>
                        </a:solidFill>
                        <a:latin typeface="Calibri"/>
                      </a:rPr>
                      <a:t>272 to 374</a:t>
                    </a:r>
                  </a:p>
                </c:rich>
              </c:tx>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Cast Metal Partial Dentures</c:v>
                </c:pt>
                <c:pt idx="1">
                  <c:v>Combination Framework Partial Dentures</c:v>
                </c:pt>
                <c:pt idx="2">
                  <c:v>Flexible Partial Dentures</c:v>
                </c:pt>
                <c:pt idx="3">
                  <c:v>Acrylic Partial Dentures</c:v>
                </c:pt>
              </c:strCache>
            </c:strRef>
          </c:cat>
          <c:val>
            <c:numRef>
              <c:f>Sheet1!$B$2:$B$5</c:f>
              <c:numCache>
                <c:formatCode>General</c:formatCode>
                <c:ptCount val="4"/>
                <c:pt idx="0">
                  <c:v>272</c:v>
                </c:pt>
                <c:pt idx="1">
                  <c:v>272</c:v>
                </c:pt>
                <c:pt idx="2">
                  <c:v>272</c:v>
                </c:pt>
                <c:pt idx="3">
                  <c:v>272</c:v>
                </c:pt>
              </c:numCache>
            </c:numRef>
          </c:val>
        </c:ser>
        <c:ser>
          <c:idx val="1"/>
          <c:order val="1"/>
          <c:tx>
            <c:strRef>
              <c:f>Sheet1!$C$1</c:f>
              <c:strCache>
                <c:ptCount val="1"/>
                <c:pt idx="0">
                  <c:v>Range</c:v>
                </c:pt>
              </c:strCache>
            </c:strRef>
          </c:tx>
          <c:spPr>
            <a:solidFill>
              <a:srgbClr val="008189"/>
            </a:solidFill>
          </c:spPr>
          <c:cat>
            <c:strRef>
              <c:f>Sheet1!$A$2:$A$5</c:f>
              <c:strCache>
                <c:ptCount val="4"/>
                <c:pt idx="0">
                  <c:v>Cast Metal Partial Dentures</c:v>
                </c:pt>
                <c:pt idx="1">
                  <c:v>Combination Framework Partial Dentures</c:v>
                </c:pt>
                <c:pt idx="2">
                  <c:v>Flexible Partial Dentures</c:v>
                </c:pt>
                <c:pt idx="3">
                  <c:v>Acrylic Partial Dentures</c:v>
                </c:pt>
              </c:strCache>
            </c:strRef>
          </c:cat>
          <c:val>
            <c:numRef>
              <c:f>Sheet1!$C$2:$C$5</c:f>
              <c:numCache>
                <c:formatCode>General</c:formatCode>
                <c:ptCount val="4"/>
                <c:pt idx="0">
                  <c:v>102</c:v>
                </c:pt>
                <c:pt idx="1">
                  <c:v>102</c:v>
                </c:pt>
                <c:pt idx="2">
                  <c:v>102</c:v>
                </c:pt>
                <c:pt idx="3">
                  <c:v>102</c:v>
                </c:pt>
              </c:numCache>
            </c:numRef>
          </c:val>
        </c:ser>
        <c:gapWidth val="55"/>
        <c:overlap val="100"/>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2000.0"/>
          <c:min val="0.0"/>
        </c:scaling>
        <c:delete val="0"/>
        <c:axPos val="b"/>
        <c:majorGridlines>
          <c:spPr>
            <a:ln>
              <a:solidFill>
                <a:srgbClr val="D9DEE4"/>
              </a:solidFill>
            </a:ln>
          </c:spPr>
        </c:majorGridlines>
        <c:numFmt formatCode="#,##0" sourceLinked="0"/>
        <c:majorTickMark val="out"/>
        <c:minorTickMark val="none"/>
        <c:tickLblPos val="nextTo"/>
        <c:spPr>
          <a:ln>
            <a:noFill/>
          </a:ln>
        </c:spPr>
        <c:txPr>
          <a:bodyPr/>
          <a:lstStyle/>
          <a:p>
            <a:pPr>
              <a:defRPr sz="800">
                <a:solidFill>
                  <a:srgbClr val="59636E"/>
                </a:solidFill>
                <a:latin typeface="Calibri"/>
              </a:defRPr>
            </a:pPr>
          </a:p>
        </c:txPr>
        <c:crossAx val="-2068027336"/>
        <c:crosses val="autoZero"/>
        <c:majorUnit val="2000.0"/>
      </c:valAx>
    </c:plotArea>
    <c:dispBlanksAs val="gap"/>
  </c:chart>
  <c:txPr>
    <a:bodyPr/>
    <a:lstStyle/>
    <a:p>
      <a:pPr>
        <a:defRPr sz="1800"/>
      </a:pPr>
      <a:endParaRPr lang="en-US"/>
    </a:p>
  </c:tx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f>Sheet1!$B$1</c:f>
              <c:strCache>
                <c:ptCount val="1"/>
                <c:pt idx="0">
                  <c:v>Base</c:v>
                </c:pt>
              </c:strCache>
            </c:strRef>
          </c:tx>
          <c:spPr>
            <a:noFill/>
          </c:spPr>
          <c:cat>
            <c:strRef>
              <c:f>Sheet1!$A$2:$A$7</c:f>
              <c:strCache>
                <c:ptCount val="6"/>
                <c:pt idx="0">
                  <c:v>Europe</c:v>
                </c:pt>
                <c:pt idx="1">
                  <c:v>Middle East &amp; Africa</c:v>
                </c:pt>
                <c:pt idx="2">
                  <c:v>South Asia &amp; Pacific</c:v>
                </c:pt>
                <c:pt idx="3">
                  <c:v>Latin America</c:v>
                </c:pt>
                <c:pt idx="4">
                  <c:v>East Asia</c:v>
                </c:pt>
                <c:pt idx="5">
                  <c:v>North America</c:v>
                </c:pt>
              </c:strCache>
            </c:strRef>
          </c:cat>
          <c:val>
            <c:numRef>
              <c:f>Sheet1!$B$2:$B$7</c:f>
              <c:numCache>
                <c:formatCode>General</c:formatCode>
                <c:ptCount val="6"/>
                <c:pt idx="0">
                  <c:v>83.3</c:v>
                </c:pt>
                <c:pt idx="1">
                  <c:v>80.3</c:v>
                </c:pt>
                <c:pt idx="2">
                  <c:v>79.6</c:v>
                </c:pt>
                <c:pt idx="3">
                  <c:v>77.3</c:v>
                </c:pt>
                <c:pt idx="4">
                  <c:v>77.6</c:v>
                </c:pt>
                <c:pt idx="5">
                  <c:v>71.6</c:v>
                </c:pt>
              </c:numCache>
            </c:numRef>
          </c:val>
        </c:ser>
        <c:ser>
          <c:idx val="1"/>
          <c:order val="1"/>
          <c:tx>
            <c:strRef>
              <c:f>Sheet1!$C$1</c:f>
              <c:strCache>
                <c:ptCount val="1"/>
                <c:pt idx="0">
                  <c:v>Range</c:v>
                </c:pt>
              </c:strCache>
            </c:strRef>
          </c:tx>
          <c:spPr>
            <a:solidFill>
              <a:srgbClr val="008189"/>
            </a:solidFill>
          </c:spPr>
          <c:dPt>
            <c:idx val="5"/>
            <c:spPr>
              <a:solidFill>
                <a:srgbClr val="5B7DB1"/>
              </a:solidFill>
            </c:spPr>
          </c:dPt>
          <c:cat>
            <c:strRef>
              <c:f>Sheet1!$A$2:$A$7</c:f>
              <c:strCache>
                <c:ptCount val="6"/>
                <c:pt idx="0">
                  <c:v>Europe</c:v>
                </c:pt>
                <c:pt idx="1">
                  <c:v>Middle East &amp; Africa</c:v>
                </c:pt>
                <c:pt idx="2">
                  <c:v>South Asia &amp; Pacific</c:v>
                </c:pt>
                <c:pt idx="3">
                  <c:v>Latin America</c:v>
                </c:pt>
                <c:pt idx="4">
                  <c:v>East Asia</c:v>
                </c:pt>
                <c:pt idx="5">
                  <c:v>North America</c:v>
                </c:pt>
              </c:strCache>
            </c:strRef>
          </c:cat>
          <c:val>
            <c:numRef>
              <c:f>Sheet1!$C$2:$C$7</c:f>
              <c:numCache>
                <c:formatCode>General</c:formatCode>
                <c:ptCount val="6"/>
                <c:pt idx="0">
                  <c:v>52.3</c:v>
                </c:pt>
                <c:pt idx="1">
                  <c:v>51.3</c:v>
                </c:pt>
                <c:pt idx="2">
                  <c:v>51.9</c:v>
                </c:pt>
                <c:pt idx="3">
                  <c:v>49.6</c:v>
                </c:pt>
                <c:pt idx="4">
                  <c:v>49.7</c:v>
                </c:pt>
                <c:pt idx="5">
                  <c:v>45.9</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40.0"/>
          <c:min val="7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tx>
                <c:rich>
                  <a:bodyPr/>
                  <a:lstStyle/>
                  <a:p>
                    <a:pPr>
                      <a:defRPr sz="1100" b="1">
                        <a:solidFill>
                          <a:srgbClr val="FFFFFF"/>
                        </a:solidFill>
                        <a:latin typeface="Calibri"/>
                      </a:defRPr>
                    </a:pPr>
                    <a:r>
                      <a:t>16.4%</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14.4%</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9.9%</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7.0%</a:t>
                    </a:r>
                  </a:p>
                </c:rich>
              </c:tx>
              <c:showLegendKey val="0"/>
              <c:showVal val="1"/>
              <c:showCatName val="0"/>
              <c:showSerName val="0"/>
              <c:showPercent val="0"/>
              <c:showBubbleSize val="0"/>
            </c:dLbl>
            <c:dLbl>
              <c:idx val="4"/>
              <c:tx>
                <c:rich>
                  <a:bodyPr/>
                  <a:lstStyle/>
                  <a:p>
                    <a:pPr>
                      <a:defRPr sz="1100" b="1">
                        <a:solidFill>
                          <a:srgbClr val="FFFFFF"/>
                        </a:solidFill>
                        <a:latin typeface="Calibri"/>
                      </a:defRPr>
                    </a:pPr>
                    <a:r>
                      <a:t>6.9%</a:t>
                    </a:r>
                  </a:p>
                </c:rich>
              </c:tx>
              <c:showLegendKey val="0"/>
              <c:showVal val="1"/>
              <c:showCatName val="0"/>
              <c:showSerName val="0"/>
              <c:showPercent val="0"/>
              <c:showBubbleSize val="0"/>
            </c:dLbl>
            <c:dLbl>
              <c:idx val="5"/>
              <c:tx>
                <c:rich>
                  <a:bodyPr/>
                  <a:lstStyle/>
                  <a:p>
                    <a:pPr>
                      <a:defRPr sz="1100" b="1">
                        <a:solidFill>
                          <a:srgbClr val="FFFFFF"/>
                        </a:solidFill>
                        <a:latin typeface="Calibri"/>
                      </a:defRPr>
                    </a:pPr>
                    <a:r>
                      <a:t>6.9%</a:t>
                    </a:r>
                  </a:p>
                </c:rich>
              </c:tx>
              <c:showLegendKey val="0"/>
              <c:showVal val="1"/>
              <c:showCatName val="0"/>
              <c:showSerName val="0"/>
              <c:showPercent val="0"/>
              <c:showBubbleSize val="0"/>
            </c:dLbl>
            <c:dLbl>
              <c:idx val="6"/>
              <c:tx>
                <c:rich>
                  <a:bodyPr/>
                  <a:lstStyle/>
                  <a:p>
                    <a:pPr>
                      <a:defRPr sz="1100" b="1">
                        <a:solidFill>
                          <a:srgbClr val="FFFFFF"/>
                        </a:solidFill>
                        <a:latin typeface="Calibri"/>
                      </a:defRPr>
                    </a:pPr>
                    <a:r>
                      <a:t>5.5%</a:t>
                    </a:r>
                  </a:p>
                </c:rich>
              </c:tx>
              <c:showLegendKey val="0"/>
              <c:showVal val="1"/>
              <c:showCatName val="0"/>
              <c:showSerName val="0"/>
              <c:showPercent val="0"/>
              <c:showBubbleSize val="0"/>
            </c:dLbl>
            <c:dLbl>
              <c:idx val="7"/>
              <c:tx>
                <c:rich>
                  <a:bodyPr/>
                  <a:lstStyle/>
                  <a:p>
                    <a:pPr>
                      <a:defRPr sz="1100" b="1">
                        <a:solidFill>
                          <a:srgbClr val="FFFFFF"/>
                        </a:solidFill>
                        <a:latin typeface="Calibri"/>
                      </a:defRPr>
                    </a:pPr>
                    <a:r>
                      <a:t>3.3%</a:t>
                    </a:r>
                  </a:p>
                </c:rich>
              </c:tx>
              <c:showLegendKey val="0"/>
              <c:showVal val="1"/>
              <c:showCatName val="0"/>
              <c:showSerName val="0"/>
              <c:showPercent val="0"/>
              <c:showBubbleSize val="0"/>
            </c:dLbl>
            <c:dLbl>
              <c:idx val="8"/>
              <c:tx>
                <c:rich>
                  <a:bodyPr/>
                  <a:lstStyle/>
                  <a:p>
                    <a:pPr>
                      <a:defRPr sz="1100" b="1">
                        <a:solidFill>
                          <a:srgbClr val="2E2E2E"/>
                        </a:solidFill>
                        <a:latin typeface="Calibri"/>
                      </a:defRPr>
                    </a:pPr>
                    <a:r>
                      <a:t>29.8%</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16.40671985632649</c:v>
                </c:pt>
                <c:pt idx="1">
                  <c:v>14.36342749497713</c:v>
                </c:pt>
                <c:pt idx="2">
                  <c:v>9.906466607900706</c:v>
                </c:pt>
                <c:pt idx="3">
                  <c:v>6.95937915947461</c:v>
                </c:pt>
                <c:pt idx="4">
                  <c:v>6.895934323353047</c:v>
                </c:pt>
                <c:pt idx="5">
                  <c:v>6.853242844843239</c:v>
                </c:pt>
                <c:pt idx="6">
                  <c:v>5.486614965564599</c:v>
                </c:pt>
                <c:pt idx="7">
                  <c:v>3.3040038111377297</c:v>
                </c:pt>
                <c:pt idx="8">
                  <c:v>29.824210936422443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tx>
                <c:rich>
                  <a:bodyPr/>
                  <a:lstStyle/>
                  <a:p>
                    <a:pPr>
                      <a:defRPr sz="1100" b="1">
                        <a:solidFill>
                          <a:srgbClr val="FFFFFF"/>
                        </a:solidFill>
                        <a:latin typeface="Calibri"/>
                      </a:defRPr>
                    </a:pPr>
                    <a:r>
                      <a:t>12.8%</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11.0%</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12.4%</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12.7%</a:t>
                    </a:r>
                  </a:p>
                </c:rich>
              </c:tx>
              <c:showLegendKey val="0"/>
              <c:showVal val="1"/>
              <c:showCatName val="0"/>
              <c:showSerName val="0"/>
              <c:showPercent val="0"/>
              <c:showBubbleSize val="0"/>
            </c:dLbl>
            <c:dLbl>
              <c:idx val="4"/>
              <c:tx>
                <c:rich>
                  <a:bodyPr/>
                  <a:lstStyle/>
                  <a:p>
                    <a:pPr>
                      <a:defRPr sz="1100" b="1">
                        <a:solidFill>
                          <a:srgbClr val="FFFFFF"/>
                        </a:solidFill>
                        <a:latin typeface="Calibri"/>
                      </a:defRPr>
                    </a:pPr>
                    <a:r>
                      <a:t>10.1%</a:t>
                    </a:r>
                  </a:p>
                </c:rich>
              </c:tx>
              <c:showLegendKey val="0"/>
              <c:showVal val="1"/>
              <c:showCatName val="0"/>
              <c:showSerName val="0"/>
              <c:showPercent val="0"/>
              <c:showBubbleSize val="0"/>
            </c:dLbl>
            <c:dLbl>
              <c:idx val="5"/>
              <c:tx>
                <c:rich>
                  <a:bodyPr/>
                  <a:lstStyle/>
                  <a:p>
                    <a:pPr>
                      <a:defRPr sz="1100" b="1">
                        <a:solidFill>
                          <a:srgbClr val="FFFFFF"/>
                        </a:solidFill>
                        <a:latin typeface="Calibri"/>
                      </a:defRPr>
                    </a:pPr>
                    <a:r>
                      <a:t>6.2%</a:t>
                    </a:r>
                  </a:p>
                </c:rich>
              </c:tx>
              <c:showLegendKey val="0"/>
              <c:showVal val="1"/>
              <c:showCatName val="0"/>
              <c:showSerName val="0"/>
              <c:showPercent val="0"/>
              <c:showBubbleSize val="0"/>
            </c:dLbl>
            <c:dLbl>
              <c:idx val="6"/>
              <c:tx>
                <c:rich>
                  <a:bodyPr/>
                  <a:lstStyle/>
                  <a:p>
                    <a:pPr>
                      <a:defRPr sz="1100" b="1">
                        <a:solidFill>
                          <a:srgbClr val="FFFFFF"/>
                        </a:solidFill>
                        <a:latin typeface="Calibri"/>
                      </a:defRPr>
                    </a:pPr>
                    <a:r>
                      <a:t>4.1%</a:t>
                    </a:r>
                  </a:p>
                </c:rich>
              </c:tx>
              <c:showLegendKey val="0"/>
              <c:showVal val="1"/>
              <c:showCatName val="0"/>
              <c:showSerName val="0"/>
              <c:showPercent val="0"/>
              <c:showBubbleSize val="0"/>
            </c:dLbl>
            <c:dLbl>
              <c:idx val="7"/>
              <c:tx>
                <c:rich>
                  <a:bodyPr/>
                  <a:lstStyle/>
                  <a:p>
                    <a:pPr>
                      <a:defRPr sz="1100" b="1">
                        <a:solidFill>
                          <a:srgbClr val="FFFFFF"/>
                        </a:solidFill>
                        <a:latin typeface="Calibri"/>
                      </a:defRPr>
                    </a:pPr>
                    <a:r>
                      <a:t>3.6%</a:t>
                    </a:r>
                  </a:p>
                </c:rich>
              </c:tx>
              <c:showLegendKey val="0"/>
              <c:showVal val="1"/>
              <c:showCatName val="0"/>
              <c:showSerName val="0"/>
              <c:showPercent val="0"/>
              <c:showBubbleSize val="0"/>
            </c:dLbl>
            <c:dLbl>
              <c:idx val="8"/>
              <c:tx>
                <c:rich>
                  <a:bodyPr/>
                  <a:lstStyle/>
                  <a:p>
                    <a:pPr>
                      <a:defRPr sz="1100" b="1">
                        <a:solidFill>
                          <a:srgbClr val="2E2E2E"/>
                        </a:solidFill>
                        <a:latin typeface="Calibri"/>
                      </a:defRPr>
                    </a:pPr>
                    <a:r>
                      <a:t>27.2%</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12.825191395384453</c:v>
                </c:pt>
                <c:pt idx="1">
                  <c:v>10.95571182148254</c:v>
                </c:pt>
                <c:pt idx="2">
                  <c:v>12.354580159020578</c:v>
                </c:pt>
                <c:pt idx="3">
                  <c:v>12.659425329755038</c:v>
                </c:pt>
                <c:pt idx="4">
                  <c:v>10.058161896840053</c:v>
                </c:pt>
                <c:pt idx="5">
                  <c:v>6.24469615282758</c:v>
                </c:pt>
                <c:pt idx="6">
                  <c:v>4.114628946933352</c:v>
                </c:pt>
                <c:pt idx="7">
                  <c:v>3.5536186824780462</c:v>
                </c:pt>
                <c:pt idx="8">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tx>
                <c:rich>
                  <a:bodyPr/>
                  <a:lstStyle/>
                  <a:p>
                    <a:pPr>
                      <a:defRPr sz="1100" b="1">
                        <a:solidFill>
                          <a:srgbClr val="FFFFFF"/>
                        </a:solidFill>
                        <a:latin typeface="Calibri"/>
                      </a:defRPr>
                    </a:pPr>
                    <a:r>
                      <a:t>13.2%</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14.8%</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14.9%</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11.7%</a:t>
                    </a:r>
                  </a:p>
                </c:rich>
              </c:tx>
              <c:showLegendKey val="0"/>
              <c:showVal val="1"/>
              <c:showCatName val="0"/>
              <c:showSerName val="0"/>
              <c:showPercent val="0"/>
              <c:showBubbleSize val="0"/>
            </c:dLbl>
            <c:dLbl>
              <c:idx val="4"/>
              <c:tx>
                <c:rich>
                  <a:bodyPr/>
                  <a:lstStyle/>
                  <a:p>
                    <a:pPr>
                      <a:defRPr sz="1100" b="1">
                        <a:solidFill>
                          <a:srgbClr val="FFFFFF"/>
                        </a:solidFill>
                        <a:latin typeface="Calibri"/>
                      </a:defRPr>
                    </a:pPr>
                    <a:r>
                      <a:t>7.5%</a:t>
                    </a:r>
                  </a:p>
                </c:rich>
              </c:tx>
              <c:showLegendKey val="0"/>
              <c:showVal val="1"/>
              <c:showCatName val="0"/>
              <c:showSerName val="0"/>
              <c:showPercent val="0"/>
              <c:showBubbleSize val="0"/>
            </c:dLbl>
            <c:dLbl>
              <c:idx val="5"/>
              <c:tx>
                <c:rich>
                  <a:bodyPr/>
                  <a:lstStyle/>
                  <a:p>
                    <a:pPr>
                      <a:defRPr sz="1100" b="1">
                        <a:solidFill>
                          <a:srgbClr val="FFFFFF"/>
                        </a:solidFill>
                        <a:latin typeface="Calibri"/>
                      </a:defRPr>
                    </a:pPr>
                    <a:r>
                      <a:t>4.9%</a:t>
                    </a:r>
                  </a:p>
                </c:rich>
              </c:tx>
              <c:showLegendKey val="0"/>
              <c:showVal val="1"/>
              <c:showCatName val="0"/>
              <c:showSerName val="0"/>
              <c:showPercent val="0"/>
              <c:showBubbleSize val="0"/>
            </c:dLbl>
            <c:dLbl>
              <c:idx val="6"/>
              <c:tx>
                <c:rich>
                  <a:bodyPr/>
                  <a:lstStyle/>
                  <a:p>
                    <a:pPr>
                      <a:defRPr sz="1100" b="1">
                        <a:solidFill>
                          <a:srgbClr val="FFFFFF"/>
                        </a:solidFill>
                        <a:latin typeface="Calibri"/>
                      </a:defRPr>
                    </a:pPr>
                    <a:r>
                      <a:t>4.8%</a:t>
                    </a:r>
                  </a:p>
                </c:rich>
              </c:tx>
              <c:showLegendKey val="0"/>
              <c:showVal val="1"/>
              <c:showCatName val="0"/>
              <c:showSerName val="0"/>
              <c:showPercent val="0"/>
              <c:showBubbleSize val="0"/>
            </c:dLbl>
            <c:dLbl>
              <c:idx val="7"/>
              <c:tx>
                <c:rich>
                  <a:bodyPr/>
                  <a:lstStyle/>
                  <a:p>
                    <a:pPr>
                      <a:defRPr sz="1100" b="1">
                        <a:solidFill>
                          <a:srgbClr val="FFFFFF"/>
                        </a:solidFill>
                        <a:latin typeface="Calibri"/>
                      </a:defRPr>
                    </a:pPr>
                    <a:r>
                      <a:t>4.8%</a:t>
                    </a:r>
                  </a:p>
                </c:rich>
              </c:tx>
              <c:showLegendKey val="0"/>
              <c:showVal val="1"/>
              <c:showCatName val="0"/>
              <c:showSerName val="0"/>
              <c:showPercent val="0"/>
              <c:showBubbleSize val="0"/>
            </c:dLbl>
            <c:dLbl>
              <c:idx val="8"/>
              <c:tx>
                <c:rich>
                  <a:bodyPr/>
                  <a:lstStyle/>
                  <a:p>
                    <a:pPr>
                      <a:defRPr sz="1100" b="1">
                        <a:solidFill>
                          <a:srgbClr val="2E2E2E"/>
                        </a:solidFill>
                        <a:latin typeface="Calibri"/>
                      </a:defRPr>
                    </a:pPr>
                    <a:r>
                      <a:t>23.4%</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13.241300171729673</c:v>
                </c:pt>
                <c:pt idx="1">
                  <c:v>14.757821817091273</c:v>
                </c:pt>
                <c:pt idx="2">
                  <c:v>14.928751533095168</c:v>
                </c:pt>
                <c:pt idx="3">
                  <c:v>11.734746524584317</c:v>
                </c:pt>
                <c:pt idx="4">
                  <c:v>7.483554686717547</c:v>
                </c:pt>
                <c:pt idx="5">
                  <c:v>4.943534691833558</c:v>
                </c:pt>
                <c:pt idx="6">
                  <c:v>4.751324429490797</c:v>
                </c:pt>
                <c:pt idx="7">
                  <c:v>4.789948922030665</c:v>
                </c:pt>
                <c:pt idx="8">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tx>
                <c:rich>
                  <a:bodyPr/>
                  <a:lstStyle/>
                  <a:p>
                    <a:pPr>
                      <a:defRPr sz="1100" b="1">
                        <a:solidFill>
                          <a:srgbClr val="FFFFFF"/>
                        </a:solidFill>
                        <a:latin typeface="Calibri"/>
                      </a:defRPr>
                    </a:pPr>
                    <a:r>
                      <a:t>17.8%</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16.9%</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13.1%</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8.5%</a:t>
                    </a:r>
                  </a:p>
                </c:rich>
              </c:tx>
              <c:showLegendKey val="0"/>
              <c:showVal val="1"/>
              <c:showCatName val="0"/>
              <c:showSerName val="0"/>
              <c:showPercent val="0"/>
              <c:showBubbleSize val="0"/>
            </c:dLbl>
            <c:dLbl>
              <c:idx val="4"/>
              <c:tx>
                <c:rich>
                  <a:bodyPr/>
                  <a:lstStyle/>
                  <a:p>
                    <a:pPr>
                      <a:defRPr sz="1100" b="1">
                        <a:solidFill>
                          <a:srgbClr val="FFFFFF"/>
                        </a:solidFill>
                        <a:latin typeface="Calibri"/>
                      </a:defRPr>
                    </a:pPr>
                    <a:r>
                      <a:t>6.2%</a:t>
                    </a:r>
                  </a:p>
                </c:rich>
              </c:tx>
              <c:showLegendKey val="0"/>
              <c:showVal val="1"/>
              <c:showCatName val="0"/>
              <c:showSerName val="0"/>
              <c:showPercent val="0"/>
              <c:showBubbleSize val="0"/>
            </c:dLbl>
            <c:dLbl>
              <c:idx val="5"/>
              <c:tx>
                <c:rich>
                  <a:bodyPr/>
                  <a:lstStyle/>
                  <a:p>
                    <a:pPr>
                      <a:defRPr sz="1100" b="1">
                        <a:solidFill>
                          <a:srgbClr val="FFFFFF"/>
                        </a:solidFill>
                        <a:latin typeface="Calibri"/>
                      </a:defRPr>
                    </a:pPr>
                    <a:r>
                      <a:t>6.0%</a:t>
                    </a:r>
                  </a:p>
                </c:rich>
              </c:tx>
              <c:showLegendKey val="0"/>
              <c:showVal val="1"/>
              <c:showCatName val="0"/>
              <c:showSerName val="0"/>
              <c:showPercent val="0"/>
              <c:showBubbleSize val="0"/>
            </c:dLbl>
            <c:dLbl>
              <c:idx val="6"/>
              <c:tx>
                <c:rich>
                  <a:bodyPr/>
                  <a:lstStyle/>
                  <a:p>
                    <a:pPr>
                      <a:defRPr sz="1100" b="1">
                        <a:solidFill>
                          <a:srgbClr val="FFFFFF"/>
                        </a:solidFill>
                        <a:latin typeface="Calibri"/>
                      </a:defRPr>
                    </a:pPr>
                    <a:r>
                      <a:t>6.3%</a:t>
                    </a:r>
                  </a:p>
                </c:rich>
              </c:tx>
              <c:showLegendKey val="0"/>
              <c:showVal val="1"/>
              <c:showCatName val="0"/>
              <c:showSerName val="0"/>
              <c:showPercent val="0"/>
              <c:showBubbleSize val="0"/>
            </c:dLbl>
            <c:dLbl>
              <c:idx val="7"/>
              <c:tx>
                <c:rich>
                  <a:bodyPr/>
                  <a:lstStyle/>
                  <a:p>
                    <a:pPr>
                      <a:defRPr sz="1100" b="1">
                        <a:solidFill>
                          <a:srgbClr val="FFFFFF"/>
                        </a:solidFill>
                        <a:latin typeface="Calibri"/>
                      </a:defRPr>
                    </a:pPr>
                    <a:r>
                      <a:t>5.1%</a:t>
                    </a:r>
                  </a:p>
                </c:rich>
              </c:tx>
              <c:showLegendKey val="0"/>
              <c:showVal val="1"/>
              <c:showCatName val="0"/>
              <c:showSerName val="0"/>
              <c:showPercent val="0"/>
              <c:showBubbleSize val="0"/>
            </c:dLbl>
            <c:dLbl>
              <c:idx val="8"/>
              <c:tx>
                <c:rich>
                  <a:bodyPr/>
                  <a:lstStyle/>
                  <a:p>
                    <a:pPr>
                      <a:defRPr sz="1100" b="1">
                        <a:solidFill>
                          <a:srgbClr val="2E2E2E"/>
                        </a:solidFill>
                        <a:latin typeface="Calibri"/>
                      </a:defRPr>
                    </a:pPr>
                    <a:r>
                      <a:t>20.2%</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17.755466218387074</c:v>
                </c:pt>
                <c:pt idx="1">
                  <c:v>16.923512057220726</c:v>
                </c:pt>
                <c:pt idx="2">
                  <c:v>13.06398834839756</c:v>
                </c:pt>
                <c:pt idx="3">
                  <c:v>8.501111419992805</c:v>
                </c:pt>
                <c:pt idx="4">
                  <c:v>6.212483469935218</c:v>
                </c:pt>
                <c:pt idx="5">
                  <c:v>6.00372205577132</c:v>
                </c:pt>
                <c:pt idx="6">
                  <c:v>6.25214775447386</c:v>
                </c:pt>
                <c:pt idx="7">
                  <c:v>5.093976971379507</c:v>
                </c:pt>
                <c:pt idx="8">
                  <c:v>20.193591704441936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tx>
                <c:rich>
                  <a:bodyPr/>
                  <a:lstStyle/>
                  <a:p>
                    <a:pPr>
                      <a:defRPr sz="1100" b="1">
                        <a:solidFill>
                          <a:srgbClr val="FFFFFF"/>
                        </a:solidFill>
                        <a:latin typeface="Calibri"/>
                      </a:defRPr>
                    </a:pPr>
                    <a:r>
                      <a:t>18.4%</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13.5%</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9.0%</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8.0%</a:t>
                    </a:r>
                  </a:p>
                </c:rich>
              </c:tx>
              <c:showLegendKey val="0"/>
              <c:showVal val="1"/>
              <c:showCatName val="0"/>
              <c:showSerName val="0"/>
              <c:showPercent val="0"/>
              <c:showBubbleSize val="0"/>
            </c:dLbl>
            <c:dLbl>
              <c:idx val="4"/>
              <c:tx>
                <c:rich>
                  <a:bodyPr/>
                  <a:lstStyle/>
                  <a:p>
                    <a:pPr>
                      <a:defRPr sz="1100" b="1">
                        <a:solidFill>
                          <a:srgbClr val="FFFFFF"/>
                        </a:solidFill>
                        <a:latin typeface="Calibri"/>
                      </a:defRPr>
                    </a:pPr>
                    <a:r>
                      <a:t>8.7%</a:t>
                    </a:r>
                  </a:p>
                </c:rich>
              </c:tx>
              <c:showLegendKey val="0"/>
              <c:showVal val="1"/>
              <c:showCatName val="0"/>
              <c:showSerName val="0"/>
              <c:showPercent val="0"/>
              <c:showBubbleSize val="0"/>
            </c:dLbl>
            <c:dLbl>
              <c:idx val="5"/>
              <c:tx>
                <c:rich>
                  <a:bodyPr/>
                  <a:lstStyle/>
                  <a:p>
                    <a:pPr>
                      <a:defRPr sz="1100" b="1">
                        <a:solidFill>
                          <a:srgbClr val="FFFFFF"/>
                        </a:solidFill>
                        <a:latin typeface="Calibri"/>
                      </a:defRPr>
                    </a:pPr>
                    <a:r>
                      <a:t>7.4%</a:t>
                    </a:r>
                  </a:p>
                </c:rich>
              </c:tx>
              <c:showLegendKey val="0"/>
              <c:showVal val="1"/>
              <c:showCatName val="0"/>
              <c:showSerName val="0"/>
              <c:showPercent val="0"/>
              <c:showBubbleSize val="0"/>
            </c:dLbl>
            <c:dLbl>
              <c:idx val="6"/>
              <c:tx>
                <c:rich>
                  <a:bodyPr/>
                  <a:lstStyle/>
                  <a:p>
                    <a:pPr>
                      <a:defRPr sz="1100" b="1">
                        <a:solidFill>
                          <a:srgbClr val="FFFFFF"/>
                        </a:solidFill>
                        <a:latin typeface="Calibri"/>
                      </a:defRPr>
                    </a:pPr>
                    <a:r>
                      <a:t>5.0%</a:t>
                    </a:r>
                  </a:p>
                </c:rich>
              </c:tx>
              <c:showLegendKey val="0"/>
              <c:showVal val="1"/>
              <c:showCatName val="0"/>
              <c:showSerName val="0"/>
              <c:showPercent val="0"/>
              <c:showBubbleSize val="0"/>
            </c:dLbl>
            <c:dLbl>
              <c:idx val="7"/>
              <c:tx>
                <c:rich>
                  <a:bodyPr/>
                  <a:lstStyle/>
                  <a:p>
                    <a:pPr>
                      <a:defRPr sz="1100" b="1">
                        <a:solidFill>
                          <a:srgbClr val="FFFFFF"/>
                        </a:solidFill>
                        <a:latin typeface="Calibri"/>
                      </a:defRPr>
                    </a:pPr>
                    <a:r>
                      <a:t>3.1%</a:t>
                    </a:r>
                  </a:p>
                </c:rich>
              </c:tx>
              <c:showLegendKey val="0"/>
              <c:showVal val="1"/>
              <c:showCatName val="0"/>
              <c:showSerName val="0"/>
              <c:showPercent val="0"/>
              <c:showBubbleSize val="0"/>
            </c:dLbl>
            <c:dLbl>
              <c:idx val="8"/>
              <c:tx>
                <c:rich>
                  <a:bodyPr/>
                  <a:lstStyle/>
                  <a:p>
                    <a:pPr>
                      <a:defRPr sz="1100" b="1">
                        <a:solidFill>
                          <a:srgbClr val="2E2E2E"/>
                        </a:solidFill>
                        <a:latin typeface="Calibri"/>
                      </a:defRPr>
                    </a:pPr>
                    <a:r>
                      <a:t>26.8%</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18.375494481479823</c:v>
                </c:pt>
                <c:pt idx="1">
                  <c:v>13.506860544917371</c:v>
                </c:pt>
                <c:pt idx="2">
                  <c:v>9.018334357772936</c:v>
                </c:pt>
                <c:pt idx="3">
                  <c:v>8.01201879742635</c:v>
                </c:pt>
                <c:pt idx="4">
                  <c:v>8.65950070279257</c:v>
                </c:pt>
                <c:pt idx="5">
                  <c:v>7.44623663894267</c:v>
                </c:pt>
                <c:pt idx="6">
                  <c:v>5.048380480706811</c:v>
                </c:pt>
                <c:pt idx="7">
                  <c:v>3.0833382814602577</c:v>
                </c:pt>
                <c:pt idx="8">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tx>
                <c:rich>
                  <a:bodyPr/>
                  <a:lstStyle/>
                  <a:p>
                    <a:pPr>
                      <a:defRPr sz="1100" b="1">
                        <a:solidFill>
                          <a:srgbClr val="FFFFFF"/>
                        </a:solidFill>
                        <a:latin typeface="Calibri"/>
                      </a:defRPr>
                    </a:pPr>
                    <a:r>
                      <a:t>17.1%</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11.6%</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11.5%</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12.6%</a:t>
                    </a:r>
                  </a:p>
                </c:rich>
              </c:tx>
              <c:showLegendKey val="0"/>
              <c:showVal val="1"/>
              <c:showCatName val="0"/>
              <c:showSerName val="0"/>
              <c:showPercent val="0"/>
              <c:showBubbleSize val="0"/>
            </c:dLbl>
            <c:dLbl>
              <c:idx val="4"/>
              <c:tx>
                <c:rich>
                  <a:bodyPr/>
                  <a:lstStyle/>
                  <a:p>
                    <a:pPr>
                      <a:defRPr sz="1100" b="1">
                        <a:solidFill>
                          <a:srgbClr val="FFFFFF"/>
                        </a:solidFill>
                        <a:latin typeface="Calibri"/>
                      </a:defRPr>
                    </a:pPr>
                    <a:r>
                      <a:t>10.6%</a:t>
                    </a:r>
                  </a:p>
                </c:rich>
              </c:tx>
              <c:showLegendKey val="0"/>
              <c:showVal val="1"/>
              <c:showCatName val="0"/>
              <c:showSerName val="0"/>
              <c:showPercent val="0"/>
              <c:showBubbleSize val="0"/>
            </c:dLbl>
            <c:dLbl>
              <c:idx val="5"/>
              <c:tx>
                <c:rich>
                  <a:bodyPr/>
                  <a:lstStyle/>
                  <a:p>
                    <a:pPr>
                      <a:defRPr sz="1100" b="1">
                        <a:solidFill>
                          <a:srgbClr val="FFFFFF"/>
                        </a:solidFill>
                        <a:latin typeface="Calibri"/>
                      </a:defRPr>
                    </a:pPr>
                    <a:r>
                      <a:t>6.6%</a:t>
                    </a:r>
                  </a:p>
                </c:rich>
              </c:tx>
              <c:showLegendKey val="0"/>
              <c:showVal val="1"/>
              <c:showCatName val="0"/>
              <c:showSerName val="0"/>
              <c:showPercent val="0"/>
              <c:showBubbleSize val="0"/>
            </c:dLbl>
            <c:dLbl>
              <c:idx val="6"/>
              <c:tx>
                <c:rich>
                  <a:bodyPr/>
                  <a:lstStyle/>
                  <a:p>
                    <a:pPr>
                      <a:defRPr sz="1100" b="1">
                        <a:solidFill>
                          <a:srgbClr val="FFFFFF"/>
                        </a:solidFill>
                        <a:latin typeface="Calibri"/>
                      </a:defRPr>
                    </a:pPr>
                    <a:r>
                      <a:t>4.5%</a:t>
                    </a:r>
                  </a:p>
                </c:rich>
              </c:tx>
              <c:showLegendKey val="0"/>
              <c:showVal val="1"/>
              <c:showCatName val="0"/>
              <c:showSerName val="0"/>
              <c:showPercent val="0"/>
              <c:showBubbleSize val="0"/>
            </c:dLbl>
            <c:dLbl>
              <c:idx val="7"/>
              <c:tx>
                <c:rich>
                  <a:bodyPr/>
                  <a:lstStyle/>
                  <a:p>
                    <a:pPr>
                      <a:defRPr sz="1100" b="1">
                        <a:solidFill>
                          <a:srgbClr val="FFFFFF"/>
                        </a:solidFill>
                        <a:latin typeface="Calibri"/>
                      </a:defRPr>
                    </a:pPr>
                    <a:r>
                      <a:t>4.2%</a:t>
                    </a:r>
                  </a:p>
                </c:rich>
              </c:tx>
              <c:showLegendKey val="0"/>
              <c:showVal val="1"/>
              <c:showCatName val="0"/>
              <c:showSerName val="0"/>
              <c:showPercent val="0"/>
              <c:showBubbleSize val="0"/>
            </c:dLbl>
            <c:dLbl>
              <c:idx val="8"/>
              <c:tx>
                <c:rich>
                  <a:bodyPr/>
                  <a:lstStyle/>
                  <a:p>
                    <a:pPr>
                      <a:defRPr sz="1100" b="1">
                        <a:solidFill>
                          <a:srgbClr val="2E2E2E"/>
                        </a:solidFill>
                        <a:latin typeface="Calibri"/>
                      </a:defRPr>
                    </a:pPr>
                    <a:r>
                      <a:t>21.3%</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17.059182852443715</c:v>
                </c:pt>
                <c:pt idx="1">
                  <c:v>11.555110199289217</c:v>
                </c:pt>
                <c:pt idx="2">
                  <c:v>11.49241996011639</c:v>
                </c:pt>
                <c:pt idx="3">
                  <c:v>12.62567293240893</c:v>
                </c:pt>
                <c:pt idx="4">
                  <c:v>10.645270539100778</c:v>
                </c:pt>
                <c:pt idx="5">
                  <c:v>6.6195232003608835</c:v>
                </c:pt>
                <c:pt idx="6">
                  <c:v>4.493101603948456</c:v>
                </c:pt>
                <c:pt idx="7">
                  <c:v>4.22083041567492</c:v>
                </c:pt>
                <c:pt idx="8">
                  <c:v>21.288888296656708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B9B3AC"/>
              </a:solidFill>
            </c:spPr>
          </c:dPt>
          <c:dLbls>
            <c:dLbl>
              <c:idx val="0"/>
              <c:tx>
                <c:rich>
                  <a:bodyPr/>
                  <a:lstStyle/>
                  <a:p>
                    <a:pPr>
                      <a:defRPr sz="1100" b="1">
                        <a:solidFill>
                          <a:srgbClr val="FFFFFF"/>
                        </a:solidFill>
                        <a:latin typeface="Calibri"/>
                      </a:defRPr>
                    </a:pPr>
                    <a:r>
                      <a:t>12.9%</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13.5%</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14.6%</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11.9%</a:t>
                    </a:r>
                  </a:p>
                </c:rich>
              </c:tx>
              <c:showLegendKey val="0"/>
              <c:showVal val="1"/>
              <c:showCatName val="0"/>
              <c:showSerName val="0"/>
              <c:showPercent val="0"/>
              <c:showBubbleSize val="0"/>
            </c:dLbl>
            <c:dLbl>
              <c:idx val="4"/>
              <c:tx>
                <c:rich>
                  <a:bodyPr/>
                  <a:lstStyle/>
                  <a:p>
                    <a:pPr>
                      <a:defRPr sz="1100" b="1">
                        <a:solidFill>
                          <a:srgbClr val="FFFFFF"/>
                        </a:solidFill>
                        <a:latin typeface="Calibri"/>
                      </a:defRPr>
                    </a:pPr>
                    <a:r>
                      <a:t>7.5%</a:t>
                    </a:r>
                  </a:p>
                </c:rich>
              </c:tx>
              <c:showLegendKey val="0"/>
              <c:showVal val="1"/>
              <c:showCatName val="0"/>
              <c:showSerName val="0"/>
              <c:showPercent val="0"/>
              <c:showBubbleSize val="0"/>
            </c:dLbl>
            <c:dLbl>
              <c:idx val="5"/>
              <c:tx>
                <c:rich>
                  <a:bodyPr/>
                  <a:lstStyle/>
                  <a:p>
                    <a:pPr>
                      <a:defRPr sz="1100" b="1">
                        <a:solidFill>
                          <a:srgbClr val="FFFFFF"/>
                        </a:solidFill>
                        <a:latin typeface="Calibri"/>
                      </a:defRPr>
                    </a:pPr>
                    <a:r>
                      <a:t>5.3%</a:t>
                    </a:r>
                  </a:p>
                </c:rich>
              </c:tx>
              <c:showLegendKey val="0"/>
              <c:showVal val="1"/>
              <c:showCatName val="0"/>
              <c:showSerName val="0"/>
              <c:showPercent val="0"/>
              <c:showBubbleSize val="0"/>
            </c:dLbl>
            <c:dLbl>
              <c:idx val="6"/>
              <c:tx>
                <c:rich>
                  <a:bodyPr/>
                  <a:lstStyle/>
                  <a:p>
                    <a:pPr>
                      <a:defRPr sz="1100" b="1">
                        <a:solidFill>
                          <a:srgbClr val="FFFFFF"/>
                        </a:solidFill>
                        <a:latin typeface="Calibri"/>
                      </a:defRPr>
                    </a:pPr>
                    <a:r>
                      <a:t>5.5%</a:t>
                    </a:r>
                  </a:p>
                </c:rich>
              </c:tx>
              <c:showLegendKey val="0"/>
              <c:showVal val="1"/>
              <c:showCatName val="0"/>
              <c:showSerName val="0"/>
              <c:showPercent val="0"/>
              <c:showBubbleSize val="0"/>
            </c:dLbl>
            <c:dLbl>
              <c:idx val="7"/>
              <c:tx>
                <c:rich>
                  <a:bodyPr/>
                  <a:lstStyle/>
                  <a:p>
                    <a:pPr>
                      <a:defRPr sz="1100" b="1">
                        <a:solidFill>
                          <a:srgbClr val="FFFFFF"/>
                        </a:solidFill>
                        <a:latin typeface="Calibri"/>
                      </a:defRPr>
                    </a:pPr>
                    <a:r>
                      <a:t>5.2%</a:t>
                    </a:r>
                  </a:p>
                </c:rich>
              </c:tx>
              <c:showLegendKey val="0"/>
              <c:showVal val="1"/>
              <c:showCatName val="0"/>
              <c:showSerName val="0"/>
              <c:showPercent val="0"/>
              <c:showBubbleSize val="0"/>
            </c:dLbl>
            <c:dLbl>
              <c:idx val="8"/>
              <c:tx>
                <c:rich>
                  <a:bodyPr/>
                  <a:lstStyle/>
                  <a:p>
                    <a:pPr>
                      <a:defRPr sz="1100" b="1">
                        <a:solidFill>
                          <a:srgbClr val="2E2E2E"/>
                        </a:solidFill>
                        <a:latin typeface="Calibri"/>
                      </a:defRPr>
                    </a:pPr>
                    <a:r>
                      <a:t>23.5%</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Company A</c:v>
                </c:pt>
                <c:pt idx="1">
                  <c:v>Company B</c:v>
                </c:pt>
                <c:pt idx="2">
                  <c:v>Company C</c:v>
                </c:pt>
                <c:pt idx="3">
                  <c:v>Company D</c:v>
                </c:pt>
                <c:pt idx="4">
                  <c:v>Company E</c:v>
                </c:pt>
                <c:pt idx="5">
                  <c:v>Company F</c:v>
                </c:pt>
                <c:pt idx="6">
                  <c:v>Company G</c:v>
                </c:pt>
                <c:pt idx="7">
                  <c:v>Company H</c:v>
                </c:pt>
                <c:pt idx="8">
                  <c:v>Others</c:v>
                </c:pt>
              </c:strCache>
            </c:strRef>
          </c:cat>
          <c:val>
            <c:numRef>
              <c:f>Sheet1!$B$2:$B$10</c:f>
              <c:numCache>
                <c:formatCode>General</c:formatCode>
                <c:ptCount val="9"/>
                <c:pt idx="0">
                  <c:v>12.876523990364655</c:v>
                </c:pt>
                <c:pt idx="1">
                  <c:v>13.484520794788184</c:v>
                </c:pt>
                <c:pt idx="2">
                  <c:v>14.6303422624123</c:v>
                </c:pt>
                <c:pt idx="3">
                  <c:v>11.897306046712039</c:v>
                </c:pt>
                <c:pt idx="4">
                  <c:v>7.5272619834945145</c:v>
                </c:pt>
                <c:pt idx="5">
                  <c:v>5.3082837668973415</c:v>
                </c:pt>
                <c:pt idx="6">
                  <c:v>5.537502197974981</c:v>
                </c:pt>
                <c:pt idx="7">
                  <c:v>5.189563064059484</c:v>
                </c:pt>
                <c:pt idx="8">
                  <c:v>23.5486958932965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1668A8"/>
            </a:solidFill>
            <a:ln>
              <a:noFill/>
            </a:ln>
          </c:spPr>
          <c:cat>
            <c:strRef>
              <c:f>Sheet1!$A$2:$A$5</c:f>
              <c:strCache>
                <c:ptCount val="4"/>
                <c:pt idx="0">
                  <c:v>Dental Clinics</c:v>
                </c:pt>
                <c:pt idx="1">
                  <c:v>Dental Hospitals</c:v>
                </c:pt>
                <c:pt idx="2">
                  <c:v>Dental Laboratories</c:v>
                </c:pt>
                <c:pt idx="3">
                  <c:v>Academic &amp; Teaching Dental Institutions</c:v>
                </c:pt>
              </c:strCache>
            </c:strRef>
          </c:cat>
          <c:val>
            <c:numRef>
              <c:f>Sheet1!$B$2:$B$5</c:f>
              <c:numCache>
                <c:formatCode>General</c:formatCode>
                <c:ptCount val="4"/>
                <c:pt idx="0">
                  <c:v>79.33215212012503</c:v>
                </c:pt>
                <c:pt idx="1">
                  <c:v>44.135287857323846</c:v>
                </c:pt>
                <c:pt idx="2">
                  <c:v>55.553763336323854</c:v>
                </c:pt>
                <c:pt idx="3">
                  <c:v>104.94630395952619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38.52912122657457"/>
          <c:min val="0.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E3A5F"/>
            </a:solidFill>
            <a:ln>
              <a:noFill/>
            </a:ln>
          </c:spPr>
          <c:cat>
            <c:strRef>
              <c:f>Sheet1!$A$2:$A$6</c:f>
              <c:strCache>
                <c:ptCount val="5"/>
                <c:pt idx="0">
                  <c:v>North America</c:v>
                </c:pt>
                <c:pt idx="1">
                  <c:v>Europe</c:v>
                </c:pt>
                <c:pt idx="2">
                  <c:v>South Asia &amp; Pacific</c:v>
                </c:pt>
                <c:pt idx="3">
                  <c:v>East Asia</c:v>
                </c:pt>
                <c:pt idx="4">
                  <c:v>Rest of the World</c:v>
                </c:pt>
              </c:strCache>
            </c:strRef>
          </c:cat>
          <c:val>
            <c:numRef>
              <c:f>Sheet1!$B$2:$B$6</c:f>
              <c:numCache>
                <c:formatCode>General</c:formatCode>
                <c:ptCount val="5"/>
                <c:pt idx="0">
                  <c:v>94.27190471188969</c:v>
                </c:pt>
                <c:pt idx="1">
                  <c:v>57.383098503339404</c:v>
                </c:pt>
                <c:pt idx="2">
                  <c:v>30.9450415114417</c:v>
                </c:pt>
                <c:pt idx="3">
                  <c:v>34.96552818424891</c:v>
                </c:pt>
                <c:pt idx="4">
                  <c:v>66.40193436237921</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24.4389142196944"/>
          <c:min val="0.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tx>
                <c:rich>
                  <a:bodyPr/>
                  <a:lstStyle/>
                  <a:p>
                    <a:pPr>
                      <a:defRPr sz="1100" b="1">
                        <a:solidFill>
                          <a:srgbClr val="FFFFFF"/>
                        </a:solidFill>
                        <a:latin typeface="Calibri"/>
                      </a:defRPr>
                    </a:pPr>
                    <a:r>
                      <a:t>11.5%</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16.0%</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29.9%</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42.6%</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Flexible Partial Dentures</c:v>
                </c:pt>
                <c:pt idx="1">
                  <c:v>Combination Framework Partial Dentures</c:v>
                </c:pt>
                <c:pt idx="2">
                  <c:v>Cast Metal Partial Dentures</c:v>
                </c:pt>
                <c:pt idx="3">
                  <c:v>Acrylic Partial Dentures</c:v>
                </c:pt>
              </c:strCache>
            </c:strRef>
          </c:cat>
          <c:val>
            <c:numRef>
              <c:f>Sheet1!$B$2:$B$5</c:f>
              <c:numCache>
                <c:formatCode>General</c:formatCode>
                <c:ptCount val="4"/>
                <c:pt idx="0">
                  <c:v>32.718371245564526</c:v>
                </c:pt>
                <c:pt idx="1">
                  <c:v>45.48614011914645</c:v>
                </c:pt>
                <c:pt idx="2">
                  <c:v>84.81695549391542</c:v>
                </c:pt>
                <c:pt idx="3">
                  <c:v>120.94604041467251</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SAM</c:v>
                </c:pt>
              </c:strCache>
            </c:strRef>
          </c:tx>
          <c:spPr>
            <a:solidFill>
              <a:srgbClr val="69B1E0"/>
            </a:solidFill>
            <a:ln>
              <a:noFill/>
            </a:ln>
          </c:spPr>
          <c:cat>
            <c:strRef>
              <c:f>Sheet1!$A$2:$A$6</c:f>
              <c:strCache>
                <c:ptCount val="5"/>
                <c:pt idx="0">
                  <c:v>North America</c:v>
                </c:pt>
                <c:pt idx="1">
                  <c:v>Europe</c:v>
                </c:pt>
                <c:pt idx="2">
                  <c:v>South Asia &amp; Pacific</c:v>
                </c:pt>
                <c:pt idx="3">
                  <c:v>East Asia</c:v>
                </c:pt>
                <c:pt idx="4">
                  <c:v>Rest of the World</c:v>
                </c:pt>
              </c:strCache>
            </c:strRef>
          </c:cat>
          <c:val>
            <c:numRef>
              <c:f>Sheet1!$B$2:$B$6</c:f>
              <c:numCache>
                <c:formatCode>General</c:formatCode>
                <c:ptCount val="5"/>
                <c:pt idx="0">
                  <c:v>270.00480000000005</c:v>
                </c:pt>
                <c:pt idx="1">
                  <c:v>242.70791857197986</c:v>
                </c:pt>
                <c:pt idx="2">
                  <c:v>177.37519627364833</c:v>
                </c:pt>
                <c:pt idx="3">
                  <c:v>113.63658577134302</c:v>
                </c:pt>
                <c:pt idx="4">
                  <c:v>90.15507290683095</c:v>
                </c:pt>
              </c:numCache>
            </c:numRef>
          </c:val>
        </c:ser>
        <c:ser>
          <c:idx val="1"/>
          <c:order val="1"/>
          <c:tx>
            <c:strRef>
              <c:f>Sheet1!$C$1</c:f>
              <c:strCache>
                <c:ptCount val="1"/>
                <c:pt idx="0">
                  <c:v>SOM</c:v>
                </c:pt>
              </c:strCache>
            </c:strRef>
          </c:tx>
          <c:spPr>
            <a:solidFill>
              <a:srgbClr val="0E72AE"/>
            </a:solidFill>
            <a:ln>
              <a:noFill/>
            </a:ln>
          </c:spPr>
          <c:cat>
            <c:strRef>
              <c:f>Sheet1!$A$2:$A$6</c:f>
              <c:strCache>
                <c:ptCount val="5"/>
                <c:pt idx="0">
                  <c:v>North America</c:v>
                </c:pt>
                <c:pt idx="1">
                  <c:v>Europe</c:v>
                </c:pt>
                <c:pt idx="2">
                  <c:v>South Asia &amp; Pacific</c:v>
                </c:pt>
                <c:pt idx="3">
                  <c:v>East Asia</c:v>
                </c:pt>
                <c:pt idx="4">
                  <c:v>Rest of the World</c:v>
                </c:pt>
              </c:strCache>
            </c:strRef>
          </c:cat>
          <c:val>
            <c:numRef>
              <c:f>Sheet1!$C$2:$C$6</c:f>
              <c:numCache>
                <c:formatCode>General</c:formatCode>
                <c:ptCount val="5"/>
                <c:pt idx="0">
                  <c:v>94.27190471188969</c:v>
                </c:pt>
                <c:pt idx="1">
                  <c:v>57.383098503339404</c:v>
                </c:pt>
                <c:pt idx="2">
                  <c:v>30.9450415114417</c:v>
                </c:pt>
                <c:pt idx="3">
                  <c:v>34.96552818424891</c:v>
                </c:pt>
                <c:pt idx="4">
                  <c:v>66.40193436237921</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45.606144000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1668A8"/>
            </a:solidFill>
            <a:ln>
              <a:noFill/>
            </a:ln>
          </c:spPr>
          <c:cat>
            <c:strRef>
              <c:f>Sheet1!$A$2:$A$5</c:f>
              <c:strCache>
                <c:ptCount val="4"/>
                <c:pt idx="0">
                  <c:v>Dental Clinics</c:v>
                </c:pt>
                <c:pt idx="1">
                  <c:v>Dental Hospitals</c:v>
                </c:pt>
                <c:pt idx="2">
                  <c:v>Dental Laboratories</c:v>
                </c:pt>
                <c:pt idx="3">
                  <c:v>Academic &amp; Teaching Dental Institutions</c:v>
                </c:pt>
              </c:strCache>
            </c:strRef>
          </c:cat>
          <c:val>
            <c:numRef>
              <c:f>Sheet1!$B$2:$B$5</c:f>
              <c:numCache>
                <c:formatCode>General</c:formatCode>
                <c:ptCount val="4"/>
                <c:pt idx="0">
                  <c:v>28.643626346688485</c:v>
                </c:pt>
                <c:pt idx="1">
                  <c:v>39.82129769685811</c:v>
                </c:pt>
                <c:pt idx="2">
                  <c:v>74.25385459432891</c:v>
                </c:pt>
                <c:pt idx="3">
                  <c:v>105.88342444518865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39.76612026764903"/>
          <c:min val="0.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E3A5F"/>
            </a:solidFill>
            <a:ln>
              <a:noFill/>
            </a:ln>
          </c:spPr>
          <c:cat>
            <c:strRef>
              <c:f>Sheet1!$A$2:$A$6</c:f>
              <c:strCache>
                <c:ptCount val="5"/>
                <c:pt idx="0">
                  <c:v>North America</c:v>
                </c:pt>
                <c:pt idx="1">
                  <c:v>Europe</c:v>
                </c:pt>
                <c:pt idx="2">
                  <c:v>South Asia &amp; Pacific</c:v>
                </c:pt>
                <c:pt idx="3">
                  <c:v>East Asia</c:v>
                </c:pt>
                <c:pt idx="4">
                  <c:v>Rest of the World</c:v>
                </c:pt>
              </c:strCache>
            </c:strRef>
          </c:cat>
          <c:val>
            <c:numRef>
              <c:f>Sheet1!$B$2:$B$6</c:f>
              <c:numCache>
                <c:formatCode>General</c:formatCode>
                <c:ptCount val="5"/>
                <c:pt idx="0">
                  <c:v>44.93528628737452</c:v>
                </c:pt>
                <c:pt idx="1">
                  <c:v>24.9990923256628</c:v>
                </c:pt>
                <c:pt idx="2">
                  <c:v>31.466740699014686</c:v>
                </c:pt>
                <c:pt idx="3">
                  <c:v>59.44364406101659</c:v>
                </c:pt>
                <c:pt idx="4">
                  <c:v>87.75743970999558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15.83982041719418"/>
          <c:min val="0.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tx>
                <c:rich>
                  <a:bodyPr/>
                  <a:lstStyle/>
                  <a:p>
                    <a:pPr>
                      <a:defRPr sz="1100" b="1">
                        <a:solidFill>
                          <a:srgbClr val="FFFFFF"/>
                        </a:solidFill>
                        <a:latin typeface="Calibri"/>
                      </a:defRPr>
                    </a:pPr>
                    <a:r>
                      <a:t>12.7%</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23.2%</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31.9%</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32.3%</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Flexible Partial Dentures</c:v>
                </c:pt>
                <c:pt idx="1">
                  <c:v>Combination Framework Partial Dentures</c:v>
                </c:pt>
                <c:pt idx="2">
                  <c:v>Cast Metal Partial Dentures</c:v>
                </c:pt>
                <c:pt idx="3">
                  <c:v>Acrylic Partial Dentures</c:v>
                </c:pt>
              </c:strCache>
            </c:strRef>
          </c:cat>
          <c:val>
            <c:numRef>
              <c:f>Sheet1!$B$2:$B$5</c:f>
              <c:numCache>
                <c:formatCode>General</c:formatCode>
                <c:ptCount val="4"/>
                <c:pt idx="0">
                  <c:v>31.48218142690979</c:v>
                </c:pt>
                <c:pt idx="1">
                  <c:v>57.59209415068907</c:v>
                </c:pt>
                <c:pt idx="2">
                  <c:v>79.31545960428221</c:v>
                </c:pt>
                <c:pt idx="3">
                  <c:v>80.2124679011831</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SAM</c:v>
                </c:pt>
              </c:strCache>
            </c:strRef>
          </c:tx>
          <c:spPr>
            <a:solidFill>
              <a:srgbClr val="69B1E0"/>
            </a:solidFill>
            <a:ln>
              <a:noFill/>
            </a:ln>
          </c:spPr>
          <c:cat>
            <c:strRef>
              <c:f>Sheet1!$A$2:$A$6</c:f>
              <c:strCache>
                <c:ptCount val="5"/>
                <c:pt idx="0">
                  <c:v>North America</c:v>
                </c:pt>
                <c:pt idx="1">
                  <c:v>Europe</c:v>
                </c:pt>
                <c:pt idx="2">
                  <c:v>South Asia &amp; Pacific</c:v>
                </c:pt>
                <c:pt idx="3">
                  <c:v>East Asia</c:v>
                </c:pt>
                <c:pt idx="4">
                  <c:v>Rest of the World</c:v>
                </c:pt>
              </c:strCache>
            </c:strRef>
          </c:cat>
          <c:val>
            <c:numRef>
              <c:f>Sheet1!$B$2:$B$6</c:f>
              <c:numCache>
                <c:formatCode>General</c:formatCode>
                <c:ptCount val="5"/>
                <c:pt idx="0">
                  <c:v>285.58200000000005</c:v>
                </c:pt>
                <c:pt idx="1">
                  <c:v>256.7102984895941</c:v>
                </c:pt>
                <c:pt idx="2">
                  <c:v>187.60838067405115</c:v>
                </c:pt>
                <c:pt idx="3">
                  <c:v>120.19254264276667</c:v>
                </c:pt>
                <c:pt idx="4">
                  <c:v>95.3563271129943</c:v>
                </c:pt>
              </c:numCache>
            </c:numRef>
          </c:val>
        </c:ser>
        <c:ser>
          <c:idx val="1"/>
          <c:order val="1"/>
          <c:tx>
            <c:strRef>
              <c:f>Sheet1!$C$1</c:f>
              <c:strCache>
                <c:ptCount val="1"/>
                <c:pt idx="0">
                  <c:v>SOM</c:v>
                </c:pt>
              </c:strCache>
            </c:strRef>
          </c:tx>
          <c:spPr>
            <a:solidFill>
              <a:srgbClr val="0E72AE"/>
            </a:solidFill>
            <a:ln>
              <a:noFill/>
            </a:ln>
          </c:spPr>
          <c:cat>
            <c:strRef>
              <c:f>Sheet1!$A$2:$A$6</c:f>
              <c:strCache>
                <c:ptCount val="5"/>
                <c:pt idx="0">
                  <c:v>North America</c:v>
                </c:pt>
                <c:pt idx="1">
                  <c:v>Europe</c:v>
                </c:pt>
                <c:pt idx="2">
                  <c:v>South Asia &amp; Pacific</c:v>
                </c:pt>
                <c:pt idx="3">
                  <c:v>East Asia</c:v>
                </c:pt>
                <c:pt idx="4">
                  <c:v>Rest of the World</c:v>
                </c:pt>
              </c:strCache>
            </c:strRef>
          </c:cat>
          <c:val>
            <c:numRef>
              <c:f>Sheet1!$C$2:$C$6</c:f>
              <c:numCache>
                <c:formatCode>General</c:formatCode>
                <c:ptCount val="5"/>
                <c:pt idx="0">
                  <c:v>44.93528628737452</c:v>
                </c:pt>
                <c:pt idx="1">
                  <c:v>24.9990923256628</c:v>
                </c:pt>
                <c:pt idx="2">
                  <c:v>31.466740699014686</c:v>
                </c:pt>
                <c:pt idx="3">
                  <c:v>59.44364406101659</c:v>
                </c:pt>
                <c:pt idx="4">
                  <c:v>87.75743970999558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65.54496000000006"/>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1668A8"/>
            </a:solidFill>
            <a:ln>
              <a:noFill/>
            </a:ln>
          </c:spPr>
          <c:cat>
            <c:strRef>
              <c:f>Sheet1!$A$2:$A$5</c:f>
              <c:strCache>
                <c:ptCount val="4"/>
                <c:pt idx="0">
                  <c:v>Dental Clinics</c:v>
                </c:pt>
                <c:pt idx="1">
                  <c:v>Dental Hospitals</c:v>
                </c:pt>
                <c:pt idx="2">
                  <c:v>Dental Laboratories</c:v>
                </c:pt>
                <c:pt idx="3">
                  <c:v>Academic &amp; Teaching Dental Institutions</c:v>
                </c:pt>
              </c:strCache>
            </c:strRef>
          </c:cat>
          <c:val>
            <c:numRef>
              <c:f>Sheet1!$B$2:$B$5</c:f>
              <c:numCache>
                <c:formatCode>General</c:formatCode>
                <c:ptCount val="4"/>
                <c:pt idx="0">
                  <c:v>21.713283905155414</c:v>
                </c:pt>
                <c:pt idx="1">
                  <c:v>39.721310096938204</c:v>
                </c:pt>
                <c:pt idx="2">
                  <c:v>54.70393137953249</c:v>
                </c:pt>
                <c:pt idx="3">
                  <c:v>55.32259866791933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73.02583024165352"/>
          <c:min val="0.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E3A5F"/>
            </a:solidFill>
            <a:ln>
              <a:noFill/>
            </a:ln>
          </c:spPr>
          <c:cat>
            <c:strRef>
              <c:f>Sheet1!$A$2:$A$6</c:f>
              <c:strCache>
                <c:ptCount val="5"/>
                <c:pt idx="0">
                  <c:v>North America</c:v>
                </c:pt>
                <c:pt idx="1">
                  <c:v>Europe</c:v>
                </c:pt>
                <c:pt idx="2">
                  <c:v>South Asia &amp; Pacific</c:v>
                </c:pt>
                <c:pt idx="3">
                  <c:v>East Asia</c:v>
                </c:pt>
                <c:pt idx="4">
                  <c:v>Rest of the World</c:v>
                </c:pt>
              </c:strCache>
            </c:strRef>
          </c:cat>
          <c:val>
            <c:numRef>
              <c:f>Sheet1!$B$2:$B$6</c:f>
              <c:numCache>
                <c:formatCode>General</c:formatCode>
                <c:ptCount val="5"/>
                <c:pt idx="0">
                  <c:v>13.666115924535655</c:v>
                </c:pt>
                <c:pt idx="1">
                  <c:v>18.99907728176406</c:v>
                </c:pt>
                <c:pt idx="2">
                  <c:v>35.427140839205606</c:v>
                </c:pt>
                <c:pt idx="3">
                  <c:v>50.517875615356616</c:v>
                </c:pt>
                <c:pt idx="4">
                  <c:v>52.85091438868352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9.76320699306225"/>
          <c:min val="0.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tx>
                <c:rich>
                  <a:bodyPr/>
                  <a:lstStyle/>
                  <a:p>
                    <a:pPr>
                      <a:defRPr sz="1100" b="1">
                        <a:solidFill>
                          <a:srgbClr val="FFFFFF"/>
                        </a:solidFill>
                        <a:latin typeface="Calibri"/>
                      </a:defRPr>
                    </a:pPr>
                    <a:r>
                      <a:t>21.9%</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29.1%</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28.5%</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20.4%</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Flexible Partial Dentures</c:v>
                </c:pt>
                <c:pt idx="1">
                  <c:v>Combination Framework Partial Dentures</c:v>
                </c:pt>
                <c:pt idx="2">
                  <c:v>Cast Metal Partial Dentures</c:v>
                </c:pt>
                <c:pt idx="3">
                  <c:v>Acrylic Partial Dentures</c:v>
                </c:pt>
              </c:strCache>
            </c:strRef>
          </c:cat>
          <c:val>
            <c:numRef>
              <c:f>Sheet1!$B$2:$B$5</c:f>
              <c:numCache>
                <c:formatCode>General</c:formatCode>
                <c:ptCount val="4"/>
                <c:pt idx="0">
                  <c:v>37.571217665290796</c:v>
                </c:pt>
                <c:pt idx="1">
                  <c:v>49.97372110027794</c:v>
                </c:pt>
                <c:pt idx="2">
                  <c:v>48.854847402966534</c:v>
                </c:pt>
                <c:pt idx="3">
                  <c:v>35.061337881010154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SAM</c:v>
                </c:pt>
              </c:strCache>
            </c:strRef>
          </c:tx>
          <c:spPr>
            <a:solidFill>
              <a:srgbClr val="69B1E0"/>
            </a:solidFill>
            <a:ln>
              <a:noFill/>
            </a:ln>
          </c:spPr>
          <c:cat>
            <c:strRef>
              <c:f>Sheet1!$A$2:$A$6</c:f>
              <c:strCache>
                <c:ptCount val="5"/>
                <c:pt idx="0">
                  <c:v>North America</c:v>
                </c:pt>
                <c:pt idx="1">
                  <c:v>Europe</c:v>
                </c:pt>
                <c:pt idx="2">
                  <c:v>South Asia &amp; Pacific</c:v>
                </c:pt>
                <c:pt idx="3">
                  <c:v>East Asia</c:v>
                </c:pt>
                <c:pt idx="4">
                  <c:v>Rest of the World</c:v>
                </c:pt>
              </c:strCache>
            </c:strRef>
          </c:cat>
          <c:val>
            <c:numRef>
              <c:f>Sheet1!$B$2:$B$6</c:f>
              <c:numCache>
                <c:formatCode>General</c:formatCode>
                <c:ptCount val="5"/>
                <c:pt idx="0">
                  <c:v>301.15920000000006</c:v>
                </c:pt>
                <c:pt idx="1">
                  <c:v>270.71267840720833</c:v>
                </c:pt>
                <c:pt idx="2">
                  <c:v>197.84156507445397</c:v>
                </c:pt>
                <c:pt idx="3">
                  <c:v>126.74849951419033</c:v>
                </c:pt>
                <c:pt idx="4">
                  <c:v>100.55758131915762</c:v>
                </c:pt>
              </c:numCache>
            </c:numRef>
          </c:val>
        </c:ser>
        <c:ser>
          <c:idx val="1"/>
          <c:order val="1"/>
          <c:tx>
            <c:strRef>
              <c:f>Sheet1!$C$1</c:f>
              <c:strCache>
                <c:ptCount val="1"/>
                <c:pt idx="0">
                  <c:v>SOM</c:v>
                </c:pt>
              </c:strCache>
            </c:strRef>
          </c:tx>
          <c:spPr>
            <a:solidFill>
              <a:srgbClr val="0E72AE"/>
            </a:solidFill>
            <a:ln>
              <a:noFill/>
            </a:ln>
          </c:spPr>
          <c:cat>
            <c:strRef>
              <c:f>Sheet1!$A$2:$A$6</c:f>
              <c:strCache>
                <c:ptCount val="5"/>
                <c:pt idx="0">
                  <c:v>North America</c:v>
                </c:pt>
                <c:pt idx="1">
                  <c:v>Europe</c:v>
                </c:pt>
                <c:pt idx="2">
                  <c:v>South Asia &amp; Pacific</c:v>
                </c:pt>
                <c:pt idx="3">
                  <c:v>East Asia</c:v>
                </c:pt>
                <c:pt idx="4">
                  <c:v>Rest of the World</c:v>
                </c:pt>
              </c:strCache>
            </c:strRef>
          </c:cat>
          <c:val>
            <c:numRef>
              <c:f>Sheet1!$C$2:$C$6</c:f>
              <c:numCache>
                <c:formatCode>General</c:formatCode>
                <c:ptCount val="5"/>
                <c:pt idx="0">
                  <c:v>13.666115924535655</c:v>
                </c:pt>
                <c:pt idx="1">
                  <c:v>18.99907728176406</c:v>
                </c:pt>
                <c:pt idx="2">
                  <c:v>35.427140839205606</c:v>
                </c:pt>
                <c:pt idx="3">
                  <c:v>50.517875615356616</c:v>
                </c:pt>
                <c:pt idx="4">
                  <c:v>52.85091438868352</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85.483776000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Global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Global Removable Partial Dentures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By Material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By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By End User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By Distribution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By Patient Age Group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North America Removable Partial Dentures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By Material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By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By End User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By Distribution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By Patient Age Group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YoY</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YoY</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YoY</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YoY</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A Snapshot</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A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A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A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A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B Snapshot</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B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B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B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B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C Snapshot</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C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C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C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Company C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295.xml"/><Relationship Id="rId7" Type="http://schemas.openxmlformats.org/officeDocument/2006/relationships/slide" Target="slide304.xml"/><Relationship Id="rId8" Type="http://schemas.openxmlformats.org/officeDocument/2006/relationships/slide" Target="slide10.xml"/><Relationship Id="rId9" Type="http://schemas.openxmlformats.org/officeDocument/2006/relationships/slide" Target="slide11.xml"/><Relationship Id="rId10" Type="http://schemas.openxmlformats.org/officeDocument/2006/relationships/slide" Target="slide22.xml"/><Relationship Id="rId11" Type="http://schemas.openxmlformats.org/officeDocument/2006/relationships/slide" Target="slide30.xml"/><Relationship Id="rId12" Type="http://schemas.openxmlformats.org/officeDocument/2006/relationships/slide" Target="slide88.xml"/><Relationship Id="rId13" Type="http://schemas.openxmlformats.org/officeDocument/2006/relationships/slide" Target="slide97.xml"/><Relationship Id="rId14" Type="http://schemas.openxmlformats.org/officeDocument/2006/relationships/slide" Target="slide98.xml"/><Relationship Id="rId15" Type="http://schemas.openxmlformats.org/officeDocument/2006/relationships/slide" Target="slide108.xml"/><Relationship Id="rId16" Type="http://schemas.openxmlformats.org/officeDocument/2006/relationships/slide" Target="slide116.xml"/><Relationship Id="rId17" Type="http://schemas.openxmlformats.org/officeDocument/2006/relationships/slide" Target="slide174.xml"/><Relationship Id="rId18" Type="http://schemas.openxmlformats.org/officeDocument/2006/relationships/slide" Target="slide183.xml"/><Relationship Id="rId19" Type="http://schemas.openxmlformats.org/officeDocument/2006/relationships/slide" Target="slide184.xml"/><Relationship Id="rId20" Type="http://schemas.openxmlformats.org/officeDocument/2006/relationships/slide" Target="slide188.xml"/><Relationship Id="rId21" Type="http://schemas.openxmlformats.org/officeDocument/2006/relationships/slide" Target="slide216.xml"/><Relationship Id="rId22" Type="http://schemas.openxmlformats.org/officeDocument/2006/relationships/slide" Target="slide225.xml"/><Relationship Id="rId23" Type="http://schemas.openxmlformats.org/officeDocument/2006/relationships/slide" Target="slide226.xml"/><Relationship Id="rId24" Type="http://schemas.openxmlformats.org/officeDocument/2006/relationships/slide" Target="slide239.xml"/><Relationship Id="rId25" Type="http://schemas.openxmlformats.org/officeDocument/2006/relationships/slide" Target="slide243.xml"/><Relationship Id="rId26" Type="http://schemas.openxmlformats.org/officeDocument/2006/relationships/slide" Target="slide244.xml"/><Relationship Id="rId27" Type="http://schemas.openxmlformats.org/officeDocument/2006/relationships/slide" Target="slide252.xml"/><Relationship Id="rId28" Type="http://schemas.openxmlformats.org/officeDocument/2006/relationships/slide" Target="slide253.xml"/><Relationship Id="rId29" Type="http://schemas.openxmlformats.org/officeDocument/2006/relationships/slide" Target="slide267.xml"/><Relationship Id="rId30" Type="http://schemas.openxmlformats.org/officeDocument/2006/relationships/slide" Target="slide27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notesSlide" Target="../notesSlides/notesSlide2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notesSlide" Target="../notesSlides/notesSlide3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notesSlide" Target="../notesSlides/notesSlide3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xml"/><Relationship Id="rId4" Type="http://schemas.openxmlformats.org/officeDocument/2006/relationships/chart" Target="../charts/chart30.xml"/><Relationship Id="rId5" Type="http://schemas.openxmlformats.org/officeDocument/2006/relationships/notesSlide" Target="../notesSlides/notesSlide4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xml"/><Relationship Id="rId4" Type="http://schemas.openxmlformats.org/officeDocument/2006/relationships/chart" Target="../charts/chart32.xml"/><Relationship Id="rId5" Type="http://schemas.openxmlformats.org/officeDocument/2006/relationships/notesSlide" Target="../notesSlides/notesSlide4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xml"/><Relationship Id="rId4" Type="http://schemas.openxmlformats.org/officeDocument/2006/relationships/notesSlide" Target="../notesSlides/notesSlide4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xml"/><Relationship Id="rId4" Type="http://schemas.openxmlformats.org/officeDocument/2006/relationships/chart" Target="../charts/chart35.xml"/><Relationship Id="rId5" Type="http://schemas.openxmlformats.org/officeDocument/2006/relationships/notesSlide" Target="../notesSlides/notesSlide5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chart" Target="../charts/chart38.xml"/><Relationship Id="rId6" Type="http://schemas.openxmlformats.org/officeDocument/2006/relationships/chart" Target="../charts/chart39.xml"/><Relationship Id="rId7" Type="http://schemas.openxmlformats.org/officeDocument/2006/relationships/notesSlide" Target="../notesSlides/notesSlide5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xml"/><Relationship Id="rId4" Type="http://schemas.openxmlformats.org/officeDocument/2006/relationships/notesSlide" Target="../notesSlides/notesSlide56.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xml"/><Relationship Id="rId4" Type="http://schemas.openxmlformats.org/officeDocument/2006/relationships/chart" Target="../charts/chart42.xml"/><Relationship Id="rId5" Type="http://schemas.openxmlformats.org/officeDocument/2006/relationships/notesSlide" Target="../notesSlides/notesSlide60.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xml"/><Relationship Id="rId4" Type="http://schemas.openxmlformats.org/officeDocument/2006/relationships/chart" Target="../charts/chart44.xml"/><Relationship Id="rId5" Type="http://schemas.openxmlformats.org/officeDocument/2006/relationships/chart" Target="../charts/chart45.xml"/><Relationship Id="rId6" Type="http://schemas.openxmlformats.org/officeDocument/2006/relationships/notesSlide" Target="../notesSlides/notesSlide6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notesSlide" Target="../notesSlides/notesSlide64.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xml"/><Relationship Id="rId4" Type="http://schemas.openxmlformats.org/officeDocument/2006/relationships/chart" Target="../charts/chart48.xml"/><Relationship Id="rId5" Type="http://schemas.openxmlformats.org/officeDocument/2006/relationships/notesSlide" Target="../notesSlides/notesSlide68.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xml"/><Relationship Id="rId4" Type="http://schemas.openxmlformats.org/officeDocument/2006/relationships/chart" Target="../charts/chart50.xml"/><Relationship Id="rId5" Type="http://schemas.openxmlformats.org/officeDocument/2006/relationships/notesSlide" Target="../notesSlides/notesSlide69.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xml"/><Relationship Id="rId4" Type="http://schemas.openxmlformats.org/officeDocument/2006/relationships/notesSlide" Target="../notesSlides/notesSlide7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76.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notesSlide" Target="../notesSlides/notesSlide79.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xml"/><Relationship Id="rId4" Type="http://schemas.openxmlformats.org/officeDocument/2006/relationships/chart" Target="../charts/chart55.xml"/><Relationship Id="rId5" Type="http://schemas.openxmlformats.org/officeDocument/2006/relationships/notesSlide" Target="../notesSlides/notesSlide8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xml"/><Relationship Id="rId4" Type="http://schemas.openxmlformats.org/officeDocument/2006/relationships/chart" Target="../charts/chart57.xml"/><Relationship Id="rId5" Type="http://schemas.openxmlformats.org/officeDocument/2006/relationships/notesSlide" Target="../notesSlides/notesSlide84.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chart" Target="../charts/chart59.xml"/><Relationship Id="rId5" Type="http://schemas.openxmlformats.org/officeDocument/2006/relationships/notesSlide" Target="../notesSlides/notesSlide85.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chart" Target="../charts/chart61.xml"/><Relationship Id="rId5" Type="http://schemas.openxmlformats.org/officeDocument/2006/relationships/notesSlide" Target="../notesSlides/notesSlide86.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xml"/><Relationship Id="rId4" Type="http://schemas.openxmlformats.org/officeDocument/2006/relationships/notesSlide" Target="../notesSlides/notesSlide88.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xml"/><Relationship Id="rId4" Type="http://schemas.openxmlformats.org/officeDocument/2006/relationships/notesSlide" Target="../notesSlides/notesSlide90.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9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notesSlide" Target="../notesSlides/notesSlide93.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xml"/><Relationship Id="rId4" Type="http://schemas.openxmlformats.org/officeDocument/2006/relationships/chart" Target="../charts/chart67.xml"/><Relationship Id="rId5" Type="http://schemas.openxmlformats.org/officeDocument/2006/relationships/notesSlide" Target="../notesSlides/notesSlide96.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xml"/><Relationship Id="rId4" Type="http://schemas.openxmlformats.org/officeDocument/2006/relationships/chart" Target="../charts/chart69.xml"/><Relationship Id="rId5" Type="http://schemas.openxmlformats.org/officeDocument/2006/relationships/notesSlide" Target="../notesSlides/notesSlide99.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xml"/><Relationship Id="rId4" Type="http://schemas.openxmlformats.org/officeDocument/2006/relationships/chart" Target="../charts/chart71.xml"/><Relationship Id="rId5" Type="http://schemas.openxmlformats.org/officeDocument/2006/relationships/chart" Target="../charts/chart72.xml"/><Relationship Id="rId6" Type="http://schemas.openxmlformats.org/officeDocument/2006/relationships/chart" Target="../charts/chart73.xml"/><Relationship Id="rId7" Type="http://schemas.openxmlformats.org/officeDocument/2006/relationships/notesSlide" Target="../notesSlides/notesSlide10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xml"/><Relationship Id="rId4" Type="http://schemas.openxmlformats.org/officeDocument/2006/relationships/notesSlide" Target="../notesSlides/notesSlide10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xml"/><Relationship Id="rId4" Type="http://schemas.openxmlformats.org/officeDocument/2006/relationships/chart" Target="../charts/chart76.xml"/><Relationship Id="rId5" Type="http://schemas.openxmlformats.org/officeDocument/2006/relationships/notesSlide" Target="../notesSlides/notesSlide10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7.xml"/><Relationship Id="rId4" Type="http://schemas.openxmlformats.org/officeDocument/2006/relationships/chart" Target="../charts/chart78.xml"/><Relationship Id="rId5" Type="http://schemas.openxmlformats.org/officeDocument/2006/relationships/chart" Target="../charts/chart79.xml"/><Relationship Id="rId6" Type="http://schemas.openxmlformats.org/officeDocument/2006/relationships/chart" Target="../charts/chart80.xml"/><Relationship Id="rId7" Type="http://schemas.openxmlformats.org/officeDocument/2006/relationships/notesSlide" Target="../notesSlides/notesSlide108.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11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chart" Target="../charts/chart83.xml"/><Relationship Id="rId5" Type="http://schemas.openxmlformats.org/officeDocument/2006/relationships/notesSlide" Target="../notesSlides/notesSlide118.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xml"/><Relationship Id="rId4" Type="http://schemas.openxmlformats.org/officeDocument/2006/relationships/chart" Target="../charts/chart85.xml"/><Relationship Id="rId5" Type="http://schemas.openxmlformats.org/officeDocument/2006/relationships/notesSlide" Target="../notesSlides/notesSlide11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xml"/><Relationship Id="rId4" Type="http://schemas.openxmlformats.org/officeDocument/2006/relationships/notesSlide" Target="../notesSlides/notesSlide12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chart" Target="../charts/chart88.xml"/><Relationship Id="rId5" Type="http://schemas.openxmlformats.org/officeDocument/2006/relationships/notesSlide" Target="../notesSlides/notesSlide12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xml"/><Relationship Id="rId4" Type="http://schemas.openxmlformats.org/officeDocument/2006/relationships/chart" Target="../charts/chart90.xml"/><Relationship Id="rId5" Type="http://schemas.openxmlformats.org/officeDocument/2006/relationships/chart" Target="../charts/chart91.xml"/><Relationship Id="rId6" Type="http://schemas.openxmlformats.org/officeDocument/2006/relationships/chart" Target="../charts/chart92.xml"/><Relationship Id="rId7" Type="http://schemas.openxmlformats.org/officeDocument/2006/relationships/notesSlide" Target="../notesSlides/notesSlide12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xml"/><Relationship Id="rId4" Type="http://schemas.openxmlformats.org/officeDocument/2006/relationships/notesSlide" Target="../notesSlides/notesSlide130.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xml"/><Relationship Id="rId4" Type="http://schemas.openxmlformats.org/officeDocument/2006/relationships/chart" Target="../charts/chart95.xml"/><Relationship Id="rId5" Type="http://schemas.openxmlformats.org/officeDocument/2006/relationships/notesSlide" Target="../notesSlides/notesSlide134.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xml"/><Relationship Id="rId4" Type="http://schemas.openxmlformats.org/officeDocument/2006/relationships/chart" Target="../charts/chart97.xml"/><Relationship Id="rId5" Type="http://schemas.openxmlformats.org/officeDocument/2006/relationships/chart" Target="../charts/chart98.xml"/><Relationship Id="rId6" Type="http://schemas.openxmlformats.org/officeDocument/2006/relationships/notesSlide" Target="../notesSlides/notesSlide135.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notesSlide" Target="../notesSlides/notesSlide138.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xml"/><Relationship Id="rId4" Type="http://schemas.openxmlformats.org/officeDocument/2006/relationships/chart" Target="../charts/chart101.xml"/><Relationship Id="rId5" Type="http://schemas.openxmlformats.org/officeDocument/2006/relationships/notesSlide" Target="../notesSlides/notesSlide14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xml"/><Relationship Id="rId4" Type="http://schemas.openxmlformats.org/officeDocument/2006/relationships/chart" Target="../charts/chart103.xml"/><Relationship Id="rId5" Type="http://schemas.openxmlformats.org/officeDocument/2006/relationships/notesSlide" Target="../notesSlides/notesSlide14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4.xml"/><Relationship Id="rId4" Type="http://schemas.openxmlformats.org/officeDocument/2006/relationships/notesSlide" Target="../notesSlides/notesSlide146.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notesSlide" Target="../notesSlides/notesSlide150.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xml"/><Relationship Id="rId4" Type="http://schemas.openxmlformats.org/officeDocument/2006/relationships/notesSlide" Target="../notesSlides/notesSlide153.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chart" Target="../charts/chart108.xml"/><Relationship Id="rId5" Type="http://schemas.openxmlformats.org/officeDocument/2006/relationships/chart" Target="../charts/chart109.xml"/><Relationship Id="rId6" Type="http://schemas.openxmlformats.org/officeDocument/2006/relationships/chart" Target="../charts/chart110.xml"/><Relationship Id="rId7" Type="http://schemas.openxmlformats.org/officeDocument/2006/relationships/notesSlide" Target="../notesSlides/notesSlide156.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chart" Target="../charts/chart113.xml"/><Relationship Id="rId6" Type="http://schemas.openxmlformats.org/officeDocument/2006/relationships/chart" Target="../charts/chart114.xml"/><Relationship Id="rId7" Type="http://schemas.openxmlformats.org/officeDocument/2006/relationships/notesSlide" Target="../notesSlides/notesSlide15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chart" Target="../charts/chart117.xml"/><Relationship Id="rId6" Type="http://schemas.openxmlformats.org/officeDocument/2006/relationships/chart" Target="../charts/chart118.xml"/><Relationship Id="rId7" Type="http://schemas.openxmlformats.org/officeDocument/2006/relationships/chart" Target="../charts/chart119.xml"/><Relationship Id="rId8" Type="http://schemas.openxmlformats.org/officeDocument/2006/relationships/chart" Target="../charts/chart120.xml"/><Relationship Id="rId9" Type="http://schemas.openxmlformats.org/officeDocument/2006/relationships/notesSlide" Target="../notesSlides/notesSlide158.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chart" Target="../charts/chart122.xml"/><Relationship Id="rId5" Type="http://schemas.openxmlformats.org/officeDocument/2006/relationships/notesSlide" Target="../notesSlides/notesSlide159.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xml"/><Relationship Id="rId4" Type="http://schemas.openxmlformats.org/officeDocument/2006/relationships/chart" Target="../charts/chart124.xml"/><Relationship Id="rId5" Type="http://schemas.openxmlformats.org/officeDocument/2006/relationships/notesSlide" Target="../notesSlides/notesSlide16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xml"/><Relationship Id="rId4" Type="http://schemas.openxmlformats.org/officeDocument/2006/relationships/chart" Target="../charts/chart126.xml"/><Relationship Id="rId5" Type="http://schemas.openxmlformats.org/officeDocument/2006/relationships/notesSlide" Target="../notesSlides/notesSlide16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7.xml"/><Relationship Id="rId4" Type="http://schemas.openxmlformats.org/officeDocument/2006/relationships/chart" Target="../charts/chart128.xml"/><Relationship Id="rId5" Type="http://schemas.openxmlformats.org/officeDocument/2006/relationships/notesSlide" Target="../notesSlides/notesSlide171.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xml"/><Relationship Id="rId4" Type="http://schemas.openxmlformats.org/officeDocument/2006/relationships/chart" Target="../charts/chart130.xml"/><Relationship Id="rId5" Type="http://schemas.openxmlformats.org/officeDocument/2006/relationships/notesSlide" Target="../notesSlides/notesSlide174.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notesSlide" Target="../notesSlides/notesSlide17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notesSlide" Target="../notesSlides/notesSlide181.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notesSlide" Target="../notesSlides/notesSlide184.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xml"/><Relationship Id="rId4" Type="http://schemas.openxmlformats.org/officeDocument/2006/relationships/chart" Target="../charts/chart136.xml"/><Relationship Id="rId5" Type="http://schemas.openxmlformats.org/officeDocument/2006/relationships/notesSlide" Target="../notesSlides/notesSlide188.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notesSlide" Target="../notesSlides/notesSlide189.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xml"/><Relationship Id="rId4" Type="http://schemas.openxmlformats.org/officeDocument/2006/relationships/notesSlide" Target="../notesSlides/notesSlide190.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5.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6.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1.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9.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4.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5.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9.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0.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notesSlide" Target="../notesSlides/notesSlide225.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xml"/><Relationship Id="rId4" Type="http://schemas.openxmlformats.org/officeDocument/2006/relationships/chart" Target="../charts/chart141.xml"/><Relationship Id="rId5" Type="http://schemas.openxmlformats.org/officeDocument/2006/relationships/chart" Target="../charts/chart142.xml"/><Relationship Id="rId6" Type="http://schemas.openxmlformats.org/officeDocument/2006/relationships/notesSlide" Target="../notesSlides/notesSlide226.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chart" Target="../charts/chart144.xml"/><Relationship Id="rId5" Type="http://schemas.openxmlformats.org/officeDocument/2006/relationships/chart" Target="../charts/chart145.xml"/><Relationship Id="rId6" Type="http://schemas.openxmlformats.org/officeDocument/2006/relationships/notesSlide" Target="../notesSlides/notesSlide22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8.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xml"/><Relationship Id="rId4" Type="http://schemas.openxmlformats.org/officeDocument/2006/relationships/chart" Target="../charts/chart147.xml"/><Relationship Id="rId5" Type="http://schemas.openxmlformats.org/officeDocument/2006/relationships/chart" Target="../charts/chart148.xml"/><Relationship Id="rId6" Type="http://schemas.openxmlformats.org/officeDocument/2006/relationships/notesSlide" Target="../notesSlides/notesSlide229.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xml"/><Relationship Id="rId4" Type="http://schemas.openxmlformats.org/officeDocument/2006/relationships/notesSlide" Target="../notesSlides/notesSlide230.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3.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0.xml"/><Relationship Id="rId4" Type="http://schemas.openxmlformats.org/officeDocument/2006/relationships/chart" Target="../charts/chart151.xml"/><Relationship Id="rId5" Type="http://schemas.openxmlformats.org/officeDocument/2006/relationships/chart" Target="../charts/chart152.xml"/><Relationship Id="rId6" Type="http://schemas.openxmlformats.org/officeDocument/2006/relationships/notesSlide" Target="../notesSlides/notesSlide234.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xml"/><Relationship Id="rId4" Type="http://schemas.openxmlformats.org/officeDocument/2006/relationships/notesSlide" Target="../notesSlides/notesSlide235.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8.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xml"/><Relationship Id="rId4" Type="http://schemas.openxmlformats.org/officeDocument/2006/relationships/chart" Target="../charts/chart155.xml"/><Relationship Id="rId5" Type="http://schemas.openxmlformats.org/officeDocument/2006/relationships/chart" Target="../charts/chart156.xml"/><Relationship Id="rId6" Type="http://schemas.openxmlformats.org/officeDocument/2006/relationships/notesSlide" Target="../notesSlides/notesSlide239.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notesSlide" Target="../notesSlides/notesSlide240.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1.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2.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6.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0.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1.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2.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3.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4.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5.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6.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Global Removable Partial Dentures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(Units) Analysis and Forecast, 2021–2036</a:t>
            </a:r>
          </a:p>
          <a:p>
            <a:pPr algn="l"/>
            <a:r>
              <a:rPr sz="1100" b="0">
                <a:solidFill>
                  <a:srgbClr val="8FCBE6"/>
                </a:solidFill>
                <a:latin typeface="Calibri"/>
              </a:rPr>
              <a:t>Region focus: Global   ·   Country focus: U.S.   ·   Generated 12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494026"/>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1868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22721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258620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294519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Global Market Outlook</a:t>
            </a:r>
          </a:p>
        </p:txBody>
      </p:sp>
      <p:sp>
        <p:nvSpPr>
          <p:cNvPr id="16" name="Rounded Rectangle 15">
            <a:hlinkClick action="ppaction://hlinksldjump" r:id="rId9"/>
          </p:cNvPr>
          <p:cNvSpPr/>
          <p:nvPr/>
        </p:nvSpPr>
        <p:spPr>
          <a:xfrm>
            <a:off x="314325" y="331939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Removable Partial Dentures Market Global Overview</a:t>
            </a:r>
          </a:p>
        </p:txBody>
      </p:sp>
      <p:sp>
        <p:nvSpPr>
          <p:cNvPr id="17" name="Rounded Rectangle 16">
            <a:hlinkClick action="ppaction://hlinksldjump" r:id="rId10"/>
          </p:cNvPr>
          <p:cNvSpPr/>
          <p:nvPr/>
        </p:nvSpPr>
        <p:spPr>
          <a:xfrm>
            <a:off x="314325" y="367838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Global Market Analysis By Region</a:t>
            </a:r>
          </a:p>
        </p:txBody>
      </p:sp>
      <p:sp>
        <p:nvSpPr>
          <p:cNvPr id="18" name="Rounded Rectangle 17">
            <a:hlinkClick action="ppaction://hlinksldjump" r:id="rId11"/>
          </p:cNvPr>
          <p:cNvSpPr/>
          <p:nvPr/>
        </p:nvSpPr>
        <p:spPr>
          <a:xfrm>
            <a:off x="314325" y="403737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Global Market Analysis By Segments</a:t>
            </a:r>
          </a:p>
        </p:txBody>
      </p:sp>
      <p:sp>
        <p:nvSpPr>
          <p:cNvPr id="19" name="Rounded Rectangle 18">
            <a:hlinkClick action="ppaction://hlinksldjump" r:id="rId12"/>
          </p:cNvPr>
          <p:cNvSpPr/>
          <p:nvPr/>
        </p:nvSpPr>
        <p:spPr>
          <a:xfrm>
            <a:off x="314325" y="439636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Cross-sectional Assessment</a:t>
            </a:r>
          </a:p>
        </p:txBody>
      </p:sp>
      <p:sp>
        <p:nvSpPr>
          <p:cNvPr id="20" name="Rounded Rectangle 19">
            <a:hlinkClick action="ppaction://hlinksldjump" r:id="rId13"/>
          </p:cNvPr>
          <p:cNvSpPr/>
          <p:nvPr/>
        </p:nvSpPr>
        <p:spPr>
          <a:xfrm>
            <a:off x="142875" y="4755354"/>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21" name="Rounded Rectangle 20">
            <a:hlinkClick action="ppaction://hlinksldjump" r:id="rId14"/>
          </p:cNvPr>
          <p:cNvSpPr/>
          <p:nvPr/>
        </p:nvSpPr>
        <p:spPr>
          <a:xfrm>
            <a:off x="314325" y="51295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North America Overview</a:t>
            </a:r>
          </a:p>
        </p:txBody>
      </p:sp>
      <p:sp>
        <p:nvSpPr>
          <p:cNvPr id="22" name="Rounded Rectangle 21">
            <a:hlinkClick action="ppaction://hlinksldjump" r:id="rId15"/>
          </p:cNvPr>
          <p:cNvSpPr/>
          <p:nvPr/>
        </p:nvSpPr>
        <p:spPr>
          <a:xfrm>
            <a:off x="314325" y="548854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North America Market Analysis By Country</a:t>
            </a:r>
          </a:p>
        </p:txBody>
      </p:sp>
      <p:sp>
        <p:nvSpPr>
          <p:cNvPr id="23" name="Rounded Rectangle 22">
            <a:hlinkClick action="ppaction://hlinksldjump" r:id="rId16"/>
          </p:cNvPr>
          <p:cNvSpPr/>
          <p:nvPr/>
        </p:nvSpPr>
        <p:spPr>
          <a:xfrm>
            <a:off x="314325" y="584753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North America Market Analysis By Segments</a:t>
            </a:r>
          </a:p>
        </p:txBody>
      </p:sp>
      <p:sp>
        <p:nvSpPr>
          <p:cNvPr id="24" name="Rounded Rectangle 23">
            <a:hlinkClick action="ppaction://hlinksldjump" r:id="rId17"/>
          </p:cNvPr>
          <p:cNvSpPr/>
          <p:nvPr/>
        </p:nvSpPr>
        <p:spPr>
          <a:xfrm>
            <a:off x="31432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Cross-sectional Assessment</a:t>
            </a:r>
          </a:p>
        </p:txBody>
      </p:sp>
      <p:sp>
        <p:nvSpPr>
          <p:cNvPr id="25" name="Rounded Rectangle 24">
            <a:hlinkClick action="ppaction://hlinksldjump" r:id="rId18"/>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6" name="Rounded Rectangle 25">
            <a:hlinkClick action="ppaction://hlinksldjump" r:id="rId19"/>
          </p:cNvPr>
          <p:cNvSpPr/>
          <p:nvPr/>
        </p:nvSpPr>
        <p:spPr>
          <a:xfrm>
            <a:off x="6391275" y="1567802"/>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Removable Partial Dentures Market Overview (Volume &amp; Value)</a:t>
            </a:r>
          </a:p>
        </p:txBody>
      </p:sp>
      <p:sp>
        <p:nvSpPr>
          <p:cNvPr id="27" name="Rounded Rectangle 26">
            <a:hlinkClick action="ppaction://hlinksldjump" r:id="rId20"/>
          </p:cNvPr>
          <p:cNvSpPr/>
          <p:nvPr/>
        </p:nvSpPr>
        <p:spPr>
          <a:xfrm>
            <a:off x="6391275" y="19853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14. Segment Overview (Volume &amp; Value)</a:t>
            </a:r>
          </a:p>
        </p:txBody>
      </p:sp>
      <p:sp>
        <p:nvSpPr>
          <p:cNvPr id="28" name="Rounded Rectangle 27">
            <a:hlinkClick action="ppaction://hlinksldjump" r:id="rId21"/>
          </p:cNvPr>
          <p:cNvSpPr/>
          <p:nvPr/>
        </p:nvSpPr>
        <p:spPr>
          <a:xfrm>
            <a:off x="6391275" y="240290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15. Cross-sectional Assessment</a:t>
            </a:r>
          </a:p>
        </p:txBody>
      </p:sp>
      <p:sp>
        <p:nvSpPr>
          <p:cNvPr id="29" name="Rounded Rectangle 28">
            <a:hlinkClick action="ppaction://hlinksldjump" r:id="rId22"/>
          </p:cNvPr>
          <p:cNvSpPr/>
          <p:nvPr/>
        </p:nvSpPr>
        <p:spPr>
          <a:xfrm>
            <a:off x="6219825" y="2820462"/>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30" name="Rounded Rectangle 29">
            <a:hlinkClick action="ppaction://hlinksldjump" r:id="rId23"/>
          </p:cNvPr>
          <p:cNvSpPr/>
          <p:nvPr/>
        </p:nvSpPr>
        <p:spPr>
          <a:xfrm>
            <a:off x="6391275" y="3253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16. Removable Partial Dentures Market Pricing Analysis</a:t>
            </a:r>
          </a:p>
        </p:txBody>
      </p:sp>
      <p:sp>
        <p:nvSpPr>
          <p:cNvPr id="31" name="Rounded Rectangle 30">
            <a:hlinkClick action="ppaction://hlinksldjump" r:id="rId24"/>
          </p:cNvPr>
          <p:cNvSpPr/>
          <p:nvPr/>
        </p:nvSpPr>
        <p:spPr>
          <a:xfrm>
            <a:off x="6391275" y="367077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17. Supply Chain Analysis</a:t>
            </a:r>
          </a:p>
        </p:txBody>
      </p:sp>
      <p:sp>
        <p:nvSpPr>
          <p:cNvPr id="32" name="Rounded Rectangle 31">
            <a:hlinkClick action="ppaction://hlinksldjump" r:id="rId25"/>
          </p:cNvPr>
          <p:cNvSpPr/>
          <p:nvPr/>
        </p:nvSpPr>
        <p:spPr>
          <a:xfrm>
            <a:off x="6219825" y="4088333"/>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33" name="Rounded Rectangle 32">
            <a:hlinkClick action="ppaction://hlinksldjump" r:id="rId26"/>
          </p:cNvPr>
          <p:cNvSpPr/>
          <p:nvPr/>
        </p:nvSpPr>
        <p:spPr>
          <a:xfrm>
            <a:off x="6391275" y="452109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18. Market Dynamics &amp; Forces</a:t>
            </a:r>
          </a:p>
        </p:txBody>
      </p:sp>
      <p:sp>
        <p:nvSpPr>
          <p:cNvPr id="34" name="Rounded Rectangle 33">
            <a:hlinkClick action="ppaction://hlinksldjump" r:id="rId27"/>
          </p:cNvPr>
          <p:cNvSpPr/>
          <p:nvPr/>
        </p:nvSpPr>
        <p:spPr>
          <a:xfrm>
            <a:off x="6219825" y="4938651"/>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35" name="Rounded Rectangle 34">
            <a:hlinkClick action="ppaction://hlinksldjump" r:id="rId28"/>
          </p:cNvPr>
          <p:cNvSpPr/>
          <p:nvPr/>
        </p:nvSpPr>
        <p:spPr>
          <a:xfrm>
            <a:off x="6391275" y="537141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19. Competitive Landscape</a:t>
            </a:r>
          </a:p>
        </p:txBody>
      </p:sp>
      <p:sp>
        <p:nvSpPr>
          <p:cNvPr id="36" name="Rounded Rectangle 35">
            <a:hlinkClick action="ppaction://hlinksldjump" r:id="rId29"/>
          </p:cNvPr>
          <p:cNvSpPr/>
          <p:nvPr/>
        </p:nvSpPr>
        <p:spPr>
          <a:xfrm>
            <a:off x="6391275" y="578896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20. Market Share by Leading Players</a:t>
            </a:r>
          </a:p>
        </p:txBody>
      </p:sp>
      <p:sp>
        <p:nvSpPr>
          <p:cNvPr id="37" name="Rounded Rectangle 36">
            <a:hlinkClick action="ppaction://hlinksldjump" r:id="rId30"/>
          </p:cNvPr>
          <p:cNvSpPr/>
          <p:nvPr/>
        </p:nvSpPr>
        <p:spPr>
          <a:xfrm>
            <a:off x="639127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21. Company Profiles &amp; Strategic Benchmarking</a:t>
            </a:r>
          </a:p>
        </p:txBody>
      </p:sp>
      <p:sp>
        <p:nvSpPr>
          <p:cNvPr id="38" name="TextBox 3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Removable Partial Dentures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Removable Partial Dentures demand, the evidence behind each and what it implies for the global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Removable Partial Dentures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Global demand expands at a 4.4% forecast CAGR (2026–2036), accelerating from 3.9% across 2021–2025.</a:t>
                      </a:r>
                    </a:p>
                  </a:txBody>
                  <a:tcPr marL="70000" marR="70000" marT="45000" marB="45000" anchor="ctr">
                    <a:solidFill>
                      <a:srgbClr val="FFFFFF"/>
                    </a:solidFill>
                  </a:tcPr>
                </a:tc>
                <a:tc>
                  <a:txBody>
                    <a:bodyPr wrap="square"/>
                    <a:lstStyle/>
                    <a:p>
                      <a:pPr algn="l"/>
                      <a:r>
                        <a:rPr sz="1100" b="0">
                          <a:solidFill>
                            <a:srgbClr val="2E2E2E"/>
                          </a:solidFill>
                          <a:latin typeface="Calibri"/>
                        </a:rPr>
                        <a:t>1,125 → 1,731 US$ Mn  ·  CAGR 4.4%</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Flexible Partial Dentures leads Product Type, at 30.6% of 2036 value, within a mix of 4 tracked categories.</a:t>
                      </a:r>
                    </a:p>
                  </a:txBody>
                  <a:tcPr marL="70000" marR="70000" marT="45000" marB="45000" anchor="ctr">
                    <a:solidFill>
                      <a:srgbClr val="F6F9FC"/>
                    </a:solidFill>
                  </a:tcPr>
                </a:tc>
                <a:tc>
                  <a:txBody>
                    <a:bodyPr wrap="square"/>
                    <a:lstStyle/>
                    <a:p>
                      <a:pPr algn="l"/>
                      <a:r>
                        <a:rPr sz="1100" b="0">
                          <a:solidFill>
                            <a:srgbClr val="2E2E2E"/>
                          </a:solidFill>
                          <a:latin typeface="Calibri"/>
                        </a:rPr>
                        <a:t>Lead: Flexible Partial Dentures  ·  30.6% share (2036)</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Dental Hospitals is the fastest-growing part of End User, at a 6.5% forecast CAGR outpacing the wider market.</a:t>
                      </a:r>
                    </a:p>
                  </a:txBody>
                  <a:tcPr marL="70000" marR="70000" marT="45000" marB="45000" anchor="ctr">
                    <a:solidFill>
                      <a:srgbClr val="FFFFFF"/>
                    </a:solidFill>
                  </a:tcPr>
                </a:tc>
                <a:tc>
                  <a:txBody>
                    <a:bodyPr wrap="square"/>
                    <a:lstStyle/>
                    <a:p>
                      <a:pPr algn="l"/>
                      <a:r>
                        <a:rPr sz="1100" b="0">
                          <a:solidFill>
                            <a:srgbClr val="2E2E2E"/>
                          </a:solidFill>
                          <a:latin typeface="Calibri"/>
                        </a:rPr>
                        <a:t>Fastest: Dental Hospitals  ·  6.5% F-CAGR</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Removable Partial Dentures demand?</a:t>
                      </a:r>
                    </a:p>
                  </a:txBody>
                  <a:tcPr marL="70000" marR="70000" marT="45000" marB="45000" anchor="ctr">
                    <a:solidFill>
                      <a:srgbClr val="F6F9FC"/>
                    </a:solidFill>
                  </a:tcPr>
                </a:tc>
                <a:tc>
                  <a:txBody>
                    <a:bodyPr wrap="square"/>
                    <a:lstStyle/>
                    <a:p>
                      <a:pPr algn="l"/>
                      <a:r>
                        <a:rPr sz="1100" b="0">
                          <a:solidFill>
                            <a:srgbClr val="2E2E2E"/>
                          </a:solidFill>
                          <a:latin typeface="Calibri"/>
                        </a:rPr>
                        <a:t>North America is the largest regional market (30.3% of 2036 value), while South Asia &amp; Pacific grows fastest at 5.3%.</a:t>
                      </a:r>
                    </a:p>
                  </a:txBody>
                  <a:tcPr marL="70000" marR="70000" marT="45000" marB="45000" anchor="ctr">
                    <a:solidFill>
                      <a:srgbClr val="F6F9FC"/>
                    </a:solidFill>
                  </a:tcPr>
                </a:tc>
                <a:tc>
                  <a:txBody>
                    <a:bodyPr wrap="square"/>
                    <a:lstStyle/>
                    <a:p>
                      <a:pPr algn="l"/>
                      <a:r>
                        <a:rPr sz="1100" b="0">
                          <a:solidFill>
                            <a:srgbClr val="2E2E2E"/>
                          </a:solidFill>
                          <a:latin typeface="Calibri"/>
                        </a:rPr>
                        <a:t>Largest: North America (30.3%)  ·  Fastest: South Asia &amp; Pacific (5.3%)</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An incremental 605.6 US$ Mn of demand is added between 2026 and 2036, front-loaded in the leading categories and regions above.</a:t>
                      </a:r>
                    </a:p>
                  </a:txBody>
                  <a:tcPr marL="70000" marR="70000" marT="45000" marB="45000" anchor="ctr">
                    <a:solidFill>
                      <a:srgbClr val="FFFFFF"/>
                    </a:solidFill>
                  </a:tcPr>
                </a:tc>
                <a:tc>
                  <a:txBody>
                    <a:bodyPr wrap="square"/>
                    <a:lstStyle/>
                    <a:p>
                      <a:pPr algn="l"/>
                      <a:r>
                        <a:rPr sz="1100" b="0">
                          <a:solidFill>
                            <a:srgbClr val="2E2E2E"/>
                          </a:solidFill>
                          <a:latin typeface="Calibri"/>
                        </a:rPr>
                        <a:t>$ opportunity 605.6 US$ Mn (2026–2036)  ·  270.3 by 2031</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682648"/>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846931"/>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75048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09730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45325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80007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1468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49371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84966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9648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54330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901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4607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24211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1116330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6" name="Rounded Rectangle 55"/>
          <p:cNvSpPr/>
          <p:nvPr/>
        </p:nvSpPr>
        <p:spPr>
          <a:xfrm>
            <a:off x="4667250" y="1080276"/>
            <a:ext cx="2857500" cy="602372"/>
          </a:xfrm>
          <a:prstGeom prst="roundRect">
            <a:avLst>
              <a:gd name="adj" fmla="val 10606"/>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Removable Partial Dentures Market</a:t>
            </a:r>
          </a:p>
        </p:txBody>
      </p:sp>
      <p:sp>
        <p:nvSpPr>
          <p:cNvPr id="57" name="Rounded Rectangle 56"/>
          <p:cNvSpPr/>
          <p:nvPr/>
        </p:nvSpPr>
        <p:spPr>
          <a:xfrm>
            <a:off x="1428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8" name="Rounded Rectangle 57"/>
          <p:cNvSpPr/>
          <p:nvPr/>
        </p:nvSpPr>
        <p:spPr>
          <a:xfrm>
            <a:off x="2762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9" name="Rounded Rectangle 58"/>
          <p:cNvSpPr/>
          <p:nvPr/>
        </p:nvSpPr>
        <p:spPr>
          <a:xfrm>
            <a:off x="27622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60" name="Rounded Rectangle 59"/>
          <p:cNvSpPr/>
          <p:nvPr/>
        </p:nvSpPr>
        <p:spPr>
          <a:xfrm>
            <a:off x="214312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1" name="Rounded Rectangle 60"/>
          <p:cNvSpPr/>
          <p:nvPr/>
        </p:nvSpPr>
        <p:spPr>
          <a:xfrm>
            <a:off x="227647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2" name="Rounded Rectangle 61"/>
          <p:cNvSpPr/>
          <p:nvPr/>
        </p:nvSpPr>
        <p:spPr>
          <a:xfrm>
            <a:off x="227647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3" name="Rounded Rectangle 62"/>
          <p:cNvSpPr/>
          <p:nvPr/>
        </p:nvSpPr>
        <p:spPr>
          <a:xfrm>
            <a:off x="2276475"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4" name="Rounded Rectangle 63"/>
          <p:cNvSpPr/>
          <p:nvPr/>
        </p:nvSpPr>
        <p:spPr>
          <a:xfrm>
            <a:off x="2276475"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5" name="Rounded Rectangle 64"/>
          <p:cNvSpPr/>
          <p:nvPr/>
        </p:nvSpPr>
        <p:spPr>
          <a:xfrm>
            <a:off x="41433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6" name="Rounded Rectangle 65"/>
          <p:cNvSpPr/>
          <p:nvPr/>
        </p:nvSpPr>
        <p:spPr>
          <a:xfrm>
            <a:off x="42767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7" name="Rounded Rectangle 66"/>
          <p:cNvSpPr/>
          <p:nvPr/>
        </p:nvSpPr>
        <p:spPr>
          <a:xfrm>
            <a:off x="4276725" y="281437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8" name="Rounded Rectangle 67"/>
          <p:cNvSpPr/>
          <p:nvPr/>
        </p:nvSpPr>
        <p:spPr>
          <a:xfrm>
            <a:off x="4276725" y="317032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9" name="Rounded Rectangle 68"/>
          <p:cNvSpPr/>
          <p:nvPr/>
        </p:nvSpPr>
        <p:spPr>
          <a:xfrm>
            <a:off x="4276725" y="35171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70" name="Rounded Rectangle 69"/>
          <p:cNvSpPr/>
          <p:nvPr/>
        </p:nvSpPr>
        <p:spPr>
          <a:xfrm>
            <a:off x="4276725" y="386396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1" name="Rounded Rectangle 70"/>
          <p:cNvSpPr/>
          <p:nvPr/>
        </p:nvSpPr>
        <p:spPr>
          <a:xfrm>
            <a:off x="4276725" y="421078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2" name="Rounded Rectangle 71"/>
          <p:cNvSpPr/>
          <p:nvPr/>
        </p:nvSpPr>
        <p:spPr>
          <a:xfrm>
            <a:off x="4276725" y="456673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3" name="Rounded Rectangle 72"/>
          <p:cNvSpPr/>
          <p:nvPr/>
        </p:nvSpPr>
        <p:spPr>
          <a:xfrm>
            <a:off x="4276725" y="491355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 Countries</a:t>
            </a:r>
          </a:p>
        </p:txBody>
      </p:sp>
      <p:sp>
        <p:nvSpPr>
          <p:cNvPr id="74" name="Rounded Rectangle 73"/>
          <p:cNvSpPr/>
          <p:nvPr/>
        </p:nvSpPr>
        <p:spPr>
          <a:xfrm>
            <a:off x="4276725" y="526037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5" name="Rounded Rectangle 74"/>
          <p:cNvSpPr/>
          <p:nvPr/>
        </p:nvSpPr>
        <p:spPr>
          <a:xfrm>
            <a:off x="4276725" y="560719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6" name="Rounded Rectangle 75"/>
          <p:cNvSpPr/>
          <p:nvPr/>
        </p:nvSpPr>
        <p:spPr>
          <a:xfrm>
            <a:off x="4276725" y="59631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7" name="Rounded Rectangle 76"/>
          <p:cNvSpPr/>
          <p:nvPr/>
        </p:nvSpPr>
        <p:spPr>
          <a:xfrm>
            <a:off x="4276725" y="630996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8" name="Rounded Rectangle 77"/>
          <p:cNvSpPr/>
          <p:nvPr/>
        </p:nvSpPr>
        <p:spPr>
          <a:xfrm>
            <a:off x="61531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9" name="Rounded Rectangle 78"/>
          <p:cNvSpPr/>
          <p:nvPr/>
        </p:nvSpPr>
        <p:spPr>
          <a:xfrm>
            <a:off x="62865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80" name="Rounded Rectangle 79"/>
          <p:cNvSpPr/>
          <p:nvPr/>
        </p:nvSpPr>
        <p:spPr>
          <a:xfrm>
            <a:off x="62865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1" name="Rounded Rectangle 80"/>
          <p:cNvSpPr/>
          <p:nvPr/>
        </p:nvSpPr>
        <p:spPr>
          <a:xfrm>
            <a:off x="62865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2" name="Rounded Rectangle 81"/>
          <p:cNvSpPr/>
          <p:nvPr/>
        </p:nvSpPr>
        <p:spPr>
          <a:xfrm>
            <a:off x="815340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3" name="Rounded Rectangle 82"/>
          <p:cNvSpPr/>
          <p:nvPr/>
        </p:nvSpPr>
        <p:spPr>
          <a:xfrm>
            <a:off x="828675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4" name="Rounded Rectangle 83"/>
          <p:cNvSpPr/>
          <p:nvPr/>
        </p:nvSpPr>
        <p:spPr>
          <a:xfrm>
            <a:off x="828675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5" name="Rounded Rectangle 84"/>
          <p:cNvSpPr/>
          <p:nvPr/>
        </p:nvSpPr>
        <p:spPr>
          <a:xfrm>
            <a:off x="828675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6" name="Rounded Rectangle 85"/>
          <p:cNvSpPr/>
          <p:nvPr/>
        </p:nvSpPr>
        <p:spPr>
          <a:xfrm>
            <a:off x="828675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7" name="Rounded Rectangle 86"/>
          <p:cNvSpPr/>
          <p:nvPr/>
        </p:nvSpPr>
        <p:spPr>
          <a:xfrm>
            <a:off x="828675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8" name="Rounded Rectangle 87"/>
          <p:cNvSpPr/>
          <p:nvPr/>
        </p:nvSpPr>
        <p:spPr>
          <a:xfrm>
            <a:off x="828675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9" name="Rounded Rectangle 88"/>
          <p:cNvSpPr/>
          <p:nvPr/>
        </p:nvSpPr>
        <p:spPr>
          <a:xfrm>
            <a:off x="828675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90" name="Rounded Rectangle 89"/>
          <p:cNvSpPr/>
          <p:nvPr/>
        </p:nvSpPr>
        <p:spPr>
          <a:xfrm>
            <a:off x="828675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1" name="Rounded Rectangle 90"/>
          <p:cNvSpPr/>
          <p:nvPr/>
        </p:nvSpPr>
        <p:spPr>
          <a:xfrm>
            <a:off x="8286750" y="531513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 &amp; Pacific</a:t>
            </a:r>
          </a:p>
        </p:txBody>
      </p:sp>
      <p:sp>
        <p:nvSpPr>
          <p:cNvPr id="92" name="Rounded Rectangle 91"/>
          <p:cNvSpPr/>
          <p:nvPr/>
        </p:nvSpPr>
        <p:spPr>
          <a:xfrm>
            <a:off x="101536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3" name="Rounded Rectangle 92"/>
          <p:cNvSpPr/>
          <p:nvPr/>
        </p:nvSpPr>
        <p:spPr>
          <a:xfrm>
            <a:off x="102870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4" name="Rounded Rectangle 93"/>
          <p:cNvSpPr/>
          <p:nvPr/>
        </p:nvSpPr>
        <p:spPr>
          <a:xfrm>
            <a:off x="102870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5" name="Rounded Rectangle 94"/>
          <p:cNvSpPr/>
          <p:nvPr/>
        </p:nvSpPr>
        <p:spPr>
          <a:xfrm>
            <a:off x="102870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6" name="Rounded Rectangle 95"/>
          <p:cNvSpPr/>
          <p:nvPr/>
        </p:nvSpPr>
        <p:spPr>
          <a:xfrm>
            <a:off x="1028700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7" name="Rounded Rectangle 96"/>
          <p:cNvSpPr/>
          <p:nvPr/>
        </p:nvSpPr>
        <p:spPr>
          <a:xfrm>
            <a:off x="1028700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Other GCC Countries</a:t>
            </a:r>
          </a:p>
        </p:txBody>
      </p:sp>
      <p:sp>
        <p:nvSpPr>
          <p:cNvPr id="98" name="Rounded Rectangle 97"/>
          <p:cNvSpPr/>
          <p:nvPr/>
        </p:nvSpPr>
        <p:spPr>
          <a:xfrm>
            <a:off x="1028700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North Africa</a:t>
            </a:r>
          </a:p>
        </p:txBody>
      </p:sp>
      <p:sp>
        <p:nvSpPr>
          <p:cNvPr id="99" name="Rounded Rectangle 98"/>
          <p:cNvSpPr/>
          <p:nvPr/>
        </p:nvSpPr>
        <p:spPr>
          <a:xfrm>
            <a:off x="1028700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100" name="Rounded Rectangle 99"/>
          <p:cNvSpPr/>
          <p:nvPr/>
        </p:nvSpPr>
        <p:spPr>
          <a:xfrm>
            <a:off x="1028700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Middle East &amp; Africa</a:t>
            </a:r>
          </a:p>
        </p:txBody>
      </p:sp>
      <p:sp>
        <p:nvSpPr>
          <p:cNvPr id="101" name="TextBox 10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6 axes and the sub-segments sized under each</a:t>
            </a:r>
          </a:p>
        </p:txBody>
      </p:sp>
      <p:sp>
        <p:nvSpPr>
          <p:cNvPr id="10" name="Rectangle 9"/>
          <p:cNvSpPr/>
          <p:nvPr/>
        </p:nvSpPr>
        <p:spPr>
          <a:xfrm>
            <a:off x="1428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000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3905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2000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3905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2000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3905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24" name="Rectangle 23"/>
          <p:cNvSpPr/>
          <p:nvPr/>
        </p:nvSpPr>
        <p:spPr>
          <a:xfrm>
            <a:off x="142875" y="208026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Rectangle 24"/>
          <p:cNvSpPr/>
          <p:nvPr/>
        </p:nvSpPr>
        <p:spPr>
          <a:xfrm>
            <a:off x="1428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190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Distribution Channel</a:t>
            </a:r>
          </a:p>
        </p:txBody>
      </p:sp>
      <p:sp>
        <p:nvSpPr>
          <p:cNvPr id="27" name="TextBox 26"/>
          <p:cNvSpPr txBox="1"/>
          <p:nvPr/>
        </p:nvSpPr>
        <p:spPr>
          <a:xfrm>
            <a:off x="2000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8" name="TextBox 27"/>
          <p:cNvSpPr txBox="1"/>
          <p:nvPr/>
        </p:nvSpPr>
        <p:spPr>
          <a:xfrm>
            <a:off x="3905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cxnSp>
        <p:nvCxnSpPr>
          <p:cNvPr id="29" name="Connector 28"/>
          <p:cNvCxnSpPr/>
          <p:nvPr/>
        </p:nvCxnSpPr>
        <p:spPr>
          <a:xfrm>
            <a:off x="1524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2000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1" name="TextBox 30"/>
          <p:cNvSpPr txBox="1"/>
          <p:nvPr/>
        </p:nvSpPr>
        <p:spPr>
          <a:xfrm>
            <a:off x="3905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cxnSp>
        <p:nvCxnSpPr>
          <p:cNvPr id="32" name="Connector 31"/>
          <p:cNvCxnSpPr/>
          <p:nvPr/>
        </p:nvCxnSpPr>
        <p:spPr>
          <a:xfrm>
            <a:off x="1524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000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4" name="TextBox 33"/>
          <p:cNvSpPr txBox="1"/>
          <p:nvPr/>
        </p:nvSpPr>
        <p:spPr>
          <a:xfrm>
            <a:off x="3905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35" name="Rectangle 34"/>
          <p:cNvSpPr/>
          <p:nvPr/>
        </p:nvSpPr>
        <p:spPr>
          <a:xfrm>
            <a:off x="3152775" y="1028700"/>
            <a:ext cx="2876550" cy="253174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Material Type</a:t>
            </a:r>
          </a:p>
        </p:txBody>
      </p:sp>
      <p:sp>
        <p:nvSpPr>
          <p:cNvPr id="38" name="TextBox 37"/>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9" name="TextBox 38"/>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Metal Alloys</a:t>
            </a:r>
          </a:p>
        </p:txBody>
      </p:sp>
      <p:cxnSp>
        <p:nvCxnSpPr>
          <p:cNvPr id="40" name="Connector 39"/>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33813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2" name="TextBox 41"/>
          <p:cNvSpPr txBox="1"/>
          <p:nvPr/>
        </p:nvSpPr>
        <p:spPr>
          <a:xfrm>
            <a:off x="35718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Cobalt-Chromium Alloys</a:t>
            </a:r>
          </a:p>
        </p:txBody>
      </p:sp>
      <p:cxnSp>
        <p:nvCxnSpPr>
          <p:cNvPr id="43" name="Connector 42"/>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5" name="TextBox 44"/>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Titanium Alloys</a:t>
            </a:r>
          </a:p>
        </p:txBody>
      </p:sp>
      <p:cxnSp>
        <p:nvCxnSpPr>
          <p:cNvPr id="46" name="Connector 45"/>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TextBox 46"/>
          <p:cNvSpPr txBox="1"/>
          <p:nvPr/>
        </p:nvSpPr>
        <p:spPr>
          <a:xfrm>
            <a:off x="32099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8" name="TextBox 47"/>
          <p:cNvSpPr txBox="1"/>
          <p:nvPr/>
        </p:nvSpPr>
        <p:spPr>
          <a:xfrm>
            <a:off x="34004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Acrylic / Resin</a:t>
            </a:r>
          </a:p>
        </p:txBody>
      </p:sp>
      <p:cxnSp>
        <p:nvCxnSpPr>
          <p:cNvPr id="49" name="Connector 48"/>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1" name="TextBox 50"/>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PMMA</a:t>
            </a:r>
          </a:p>
        </p:txBody>
      </p:sp>
      <p:cxnSp>
        <p:nvCxnSpPr>
          <p:cNvPr id="52" name="Connector 51"/>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Printable Denture Resins</a:t>
            </a:r>
          </a:p>
        </p:txBody>
      </p:sp>
      <p:cxnSp>
        <p:nvCxnSpPr>
          <p:cNvPr id="55" name="Connector 54"/>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2099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7" name="TextBox 56"/>
          <p:cNvSpPr txBox="1"/>
          <p:nvPr/>
        </p:nvSpPr>
        <p:spPr>
          <a:xfrm>
            <a:off x="34004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Flexible Thermoplastics</a:t>
            </a:r>
          </a:p>
        </p:txBody>
      </p:sp>
      <p:cxnSp>
        <p:nvCxnSpPr>
          <p:cNvPr id="58" name="Connector 57"/>
          <p:cNvCxnSpPr/>
          <p:nvPr/>
        </p:nvCxnSpPr>
        <p:spPr>
          <a:xfrm>
            <a:off x="31623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33813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0" name="TextBox 59"/>
          <p:cNvSpPr txBox="1"/>
          <p:nvPr/>
        </p:nvSpPr>
        <p:spPr>
          <a:xfrm>
            <a:off x="35718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Polyamide / Nylon</a:t>
            </a:r>
          </a:p>
        </p:txBody>
      </p:sp>
      <p:cxnSp>
        <p:nvCxnSpPr>
          <p:cNvPr id="61" name="Connector 60"/>
          <p:cNvCxnSpPr/>
          <p:nvPr/>
        </p:nvCxnSpPr>
        <p:spPr>
          <a:xfrm>
            <a:off x="31623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33813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3" name="TextBox 62"/>
          <p:cNvSpPr txBox="1"/>
          <p:nvPr/>
        </p:nvSpPr>
        <p:spPr>
          <a:xfrm>
            <a:off x="35718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Thermoplastic Resins</a:t>
            </a:r>
          </a:p>
        </p:txBody>
      </p:sp>
      <p:cxnSp>
        <p:nvCxnSpPr>
          <p:cNvPr id="64" name="Connector 63"/>
          <p:cNvCxnSpPr/>
          <p:nvPr/>
        </p:nvCxnSpPr>
        <p:spPr>
          <a:xfrm>
            <a:off x="31623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32099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6" name="TextBox 65"/>
          <p:cNvSpPr txBox="1"/>
          <p:nvPr/>
        </p:nvSpPr>
        <p:spPr>
          <a:xfrm>
            <a:off x="34004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High-performance Polymers</a:t>
            </a:r>
          </a:p>
        </p:txBody>
      </p:sp>
      <p:cxnSp>
        <p:nvCxnSpPr>
          <p:cNvPr id="67" name="Connector 66"/>
          <p:cNvCxnSpPr/>
          <p:nvPr/>
        </p:nvCxnSpPr>
        <p:spPr>
          <a:xfrm>
            <a:off x="31623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33813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9" name="TextBox 68"/>
          <p:cNvSpPr txBox="1"/>
          <p:nvPr/>
        </p:nvSpPr>
        <p:spPr>
          <a:xfrm>
            <a:off x="35718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PEEK-based Materials</a:t>
            </a:r>
          </a:p>
        </p:txBody>
      </p:sp>
      <p:cxnSp>
        <p:nvCxnSpPr>
          <p:cNvPr id="70" name="Connector 69"/>
          <p:cNvCxnSpPr/>
          <p:nvPr/>
        </p:nvCxnSpPr>
        <p:spPr>
          <a:xfrm>
            <a:off x="31623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33813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3571875" y="3206115"/>
            <a:ext cx="241935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High-performance Dental Polymers</a:t>
            </a:r>
          </a:p>
        </p:txBody>
      </p:sp>
      <p:sp>
        <p:nvSpPr>
          <p:cNvPr id="73" name="Rectangle 72"/>
          <p:cNvSpPr/>
          <p:nvPr/>
        </p:nvSpPr>
        <p:spPr>
          <a:xfrm>
            <a:off x="6162675" y="1028700"/>
            <a:ext cx="2876550" cy="164592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Technology</a:t>
            </a:r>
          </a:p>
        </p:txBody>
      </p:sp>
      <p:sp>
        <p:nvSpPr>
          <p:cNvPr id="76" name="TextBox 75"/>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7" name="TextBox 76"/>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Conventional Fabrication</a:t>
            </a:r>
          </a:p>
        </p:txBody>
      </p:sp>
      <p:cxnSp>
        <p:nvCxnSpPr>
          <p:cNvPr id="78" name="Connector 77"/>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912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65817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Metal Casting</a:t>
            </a:r>
          </a:p>
        </p:txBody>
      </p:sp>
      <p:cxnSp>
        <p:nvCxnSpPr>
          <p:cNvPr id="81" name="Connector 80"/>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Heat-cured / Compression Processing</a:t>
            </a:r>
          </a:p>
        </p:txBody>
      </p:sp>
      <p:cxnSp>
        <p:nvCxnSpPr>
          <p:cNvPr id="84" name="Connector 83"/>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Injection Molding</a:t>
            </a:r>
          </a:p>
        </p:txBody>
      </p:sp>
      <p:cxnSp>
        <p:nvCxnSpPr>
          <p:cNvPr id="87" name="Connector 86"/>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62198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6410325" y="19659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Digital Fabrication</a:t>
            </a:r>
          </a:p>
        </p:txBody>
      </p:sp>
      <p:cxnSp>
        <p:nvCxnSpPr>
          <p:cNvPr id="90" name="Connector 89"/>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63912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65817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CAD/CAM Milling</a:t>
            </a:r>
          </a:p>
        </p:txBody>
      </p:sp>
      <p:cxnSp>
        <p:nvCxnSpPr>
          <p:cNvPr id="93" name="Connector 92"/>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3D Printing / Additive Manufacturing</a:t>
            </a:r>
          </a:p>
        </p:txBody>
      </p:sp>
      <p:cxnSp>
        <p:nvCxnSpPr>
          <p:cNvPr id="96" name="Connector 95"/>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Hybrid Digital Fabrication</a:t>
            </a:r>
          </a:p>
        </p:txBody>
      </p:sp>
      <p:sp>
        <p:nvSpPr>
          <p:cNvPr id="99" name="Rectangle 98"/>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End User</a:t>
            </a:r>
          </a:p>
        </p:txBody>
      </p:sp>
      <p:sp>
        <p:nvSpPr>
          <p:cNvPr id="102" name="TextBox 101"/>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cxnSp>
        <p:nvCxnSpPr>
          <p:cNvPr id="104" name="Connector 103"/>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cxnSp>
        <p:nvCxnSpPr>
          <p:cNvPr id="107" name="Connector 106"/>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cxnSp>
        <p:nvCxnSpPr>
          <p:cNvPr id="110" name="Connector 109"/>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113" name="Rectangle 112"/>
          <p:cNvSpPr/>
          <p:nvPr/>
        </p:nvSpPr>
        <p:spPr>
          <a:xfrm>
            <a:off x="9172575" y="2080260"/>
            <a:ext cx="2876550" cy="58293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Patient Age Group</a:t>
            </a:r>
          </a:p>
        </p:txBody>
      </p:sp>
      <p:sp>
        <p:nvSpPr>
          <p:cNvPr id="116" name="TextBox 115"/>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cxnSp>
        <p:nvCxnSpPr>
          <p:cNvPr id="118" name="Connector 117"/>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92297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94202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121" name="TextBox 1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Removable Partial Dentures Market profiled and benchmarked in the Competition Assessment section.</a:t>
            </a:r>
          </a:p>
        </p:txBody>
      </p:sp>
      <p:sp>
        <p:nvSpPr>
          <p:cNvPr id="11" name="Rectangle 10"/>
          <p:cNvSpPr/>
          <p:nvPr/>
        </p:nvSpPr>
        <p:spPr>
          <a:xfrm>
            <a:off x="142875"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A</a:t>
            </a:r>
          </a:p>
        </p:txBody>
      </p:sp>
      <p:sp>
        <p:nvSpPr>
          <p:cNvPr id="16" name="Rectangle 15"/>
          <p:cNvSpPr/>
          <p:nvPr/>
        </p:nvSpPr>
        <p:spPr>
          <a:xfrm>
            <a:off x="152400"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B</a:t>
            </a:r>
          </a:p>
        </p:txBody>
      </p:sp>
      <p:cxnSp>
        <p:nvCxnSpPr>
          <p:cNvPr id="20" name="Connector 19"/>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C</a:t>
            </a:r>
          </a:p>
        </p:txBody>
      </p:sp>
      <p:sp>
        <p:nvSpPr>
          <p:cNvPr id="23" name="Rectangle 22"/>
          <p:cNvSpPr/>
          <p:nvPr/>
        </p:nvSpPr>
        <p:spPr>
          <a:xfrm>
            <a:off x="152400"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D</a:t>
            </a:r>
          </a:p>
        </p:txBody>
      </p:sp>
      <p:sp>
        <p:nvSpPr>
          <p:cNvPr id="27" name="Rectangle 26"/>
          <p:cNvSpPr/>
          <p:nvPr/>
        </p:nvSpPr>
        <p:spPr>
          <a:xfrm>
            <a:off x="6191250"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191250"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191250"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30" name="TextBox 29"/>
          <p:cNvSpPr txBox="1"/>
          <p:nvPr/>
        </p:nvSpPr>
        <p:spPr>
          <a:xfrm>
            <a:off x="6381750"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1" name="TextBox 30"/>
          <p:cNvSpPr txBox="1"/>
          <p:nvPr/>
        </p:nvSpPr>
        <p:spPr>
          <a:xfrm>
            <a:off x="6629400"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E</a:t>
            </a:r>
          </a:p>
        </p:txBody>
      </p:sp>
      <p:sp>
        <p:nvSpPr>
          <p:cNvPr id="32" name="Rectangle 31"/>
          <p:cNvSpPr/>
          <p:nvPr/>
        </p:nvSpPr>
        <p:spPr>
          <a:xfrm>
            <a:off x="6200775"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3" name="Connector 32"/>
          <p:cNvCxnSpPr/>
          <p:nvPr/>
        </p:nvCxnSpPr>
        <p:spPr>
          <a:xfrm>
            <a:off x="6200775"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6381750"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5" name="TextBox 34"/>
          <p:cNvSpPr txBox="1"/>
          <p:nvPr/>
        </p:nvSpPr>
        <p:spPr>
          <a:xfrm>
            <a:off x="6629400"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F</a:t>
            </a:r>
          </a:p>
        </p:txBody>
      </p:sp>
      <p:cxnSp>
        <p:nvCxnSpPr>
          <p:cNvPr id="36" name="Connector 35"/>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6381750"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8" name="TextBox 37"/>
          <p:cNvSpPr txBox="1"/>
          <p:nvPr/>
        </p:nvSpPr>
        <p:spPr>
          <a:xfrm>
            <a:off x="6629400"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G</a:t>
            </a:r>
          </a:p>
        </p:txBody>
      </p:sp>
      <p:sp>
        <p:nvSpPr>
          <p:cNvPr id="39" name="Rectangle 38"/>
          <p:cNvSpPr/>
          <p:nvPr/>
        </p:nvSpPr>
        <p:spPr>
          <a:xfrm>
            <a:off x="6200775"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0" name="Connector 39"/>
          <p:cNvCxnSpPr/>
          <p:nvPr/>
        </p:nvCxnSpPr>
        <p:spPr>
          <a:xfrm>
            <a:off x="6200775"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6381750"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2" name="TextBox 41"/>
          <p:cNvSpPr txBox="1"/>
          <p:nvPr/>
        </p:nvSpPr>
        <p:spPr>
          <a:xfrm>
            <a:off x="6629400"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H</a:t>
            </a:r>
          </a:p>
        </p:txBody>
      </p:sp>
      <p:sp>
        <p:nvSpPr>
          <p:cNvPr id="43" name="TextBox 42"/>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70116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005965"/>
            <a:ext cx="7239000" cy="514350"/>
          </a:xfrm>
          <a:prstGeom prst="rect">
            <a:avLst/>
          </a:prstGeom>
          <a:noFill/>
        </p:spPr>
        <p:txBody>
          <a:bodyPr wrap="square" lIns="0" rIns="0" tIns="0">
            <a:spAutoFit/>
          </a:bodyPr>
          <a:lstStyle/>
          <a:p>
            <a:r>
              <a:rPr sz="3000" b="1" cap="all" spc="400">
                <a:solidFill>
                  <a:srgbClr val="FFFFFF"/>
                </a:solidFill>
                <a:latin typeface="Calibri"/>
              </a:rPr>
              <a:t>Global Market Outlook</a:t>
            </a:r>
          </a:p>
        </p:txBody>
      </p:sp>
      <p:sp>
        <p:nvSpPr>
          <p:cNvPr id="7" name="TextBox 6"/>
          <p:cNvSpPr txBox="1"/>
          <p:nvPr/>
        </p:nvSpPr>
        <p:spPr>
          <a:xfrm>
            <a:off x="914400" y="2710815"/>
            <a:ext cx="7124700" cy="387477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Region</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Patient Age Group</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By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(UNITS)</a:t>
            </a:r>
          </a:p>
          <a:p>
            <a:pPr algn="ctr">
              <a:lnSpc>
                <a:spcPct val="95000"/>
              </a:lnSpc>
            </a:pPr>
            <a:r>
              <a:rPr sz="1500" b="1">
                <a:solidFill>
                  <a:srgbClr val="0E72AE"/>
                </a:solidFill>
                <a:latin typeface="Calibri"/>
              </a:rPr>
              <a:t>3,497,603</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4,987,551</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3.1%</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3.6%</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Global removable partial dentures market is projected to register 1.5X increase in volume by the end of forecast period, 2036. Global removable partial dentures market volume stood at 3,375,722 Units in 2025 and is expected to reach 4,987,551 Units by 2036 end, at a CAGR of 3.6%.</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leads regional growth at 4.5%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'Combination Framework Partial Dentures'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(US$/Units)</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rIns="0" tIns="0" bIns="0" anchor="ctr">
            <a:spAutoFit/>
          </a:bodyPr>
          <a:lstStyle/>
          <a:p>
            <a:pPr algn="r"/>
            <a:r>
              <a:rPr sz="1100" b="0">
                <a:solidFill>
                  <a:srgbClr val="6C7A89"/>
                </a:solidFill>
                <a:latin typeface="Calibri"/>
              </a:rPr>
              <a:t>206</a:t>
            </a:r>
          </a:p>
        </p:txBody>
      </p:sp>
      <p:sp>
        <p:nvSpPr>
          <p:cNvPr id="25" name="FMI Scale tick"/>
          <p:cNvSpPr txBox="1"/>
          <p:nvPr/>
        </p:nvSpPr>
        <p:spPr>
          <a:xfrm>
            <a:off x="219075" y="2328265"/>
            <a:ext cx="381000" cy="133350"/>
          </a:xfrm>
          <a:prstGeom prst="rect">
            <a:avLst/>
          </a:prstGeom>
          <a:noFill/>
        </p:spPr>
        <p:txBody>
          <a:bodyPr wrap="none" lIns="0" rIns="0" tIns="0" bIns="0" anchor="ctr">
            <a:spAutoFit/>
          </a:bodyPr>
          <a:lstStyle/>
          <a:p>
            <a:pPr algn="r"/>
            <a:r>
              <a:rPr sz="1100" b="0">
                <a:solidFill>
                  <a:srgbClr val="6C7A89"/>
                </a:solidFill>
                <a:latin typeface="Calibri"/>
              </a:rPr>
              <a:t>342</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478</a:t>
            </a:r>
          </a:p>
        </p:txBody>
      </p:sp>
      <p:cxnSp>
        <p:nvCxnSpPr>
          <p:cNvPr id="27" name="Connector 26"/>
          <p:cNvCxnSpPr/>
          <p:nvPr/>
        </p:nvCxnSpPr>
        <p:spPr>
          <a:xfrm flipV="1">
            <a:off x="1533525" y="2381104"/>
            <a:ext cx="0" cy="30659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68769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38110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462696"/>
            <a:ext cx="438150" cy="15311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54084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28704"/>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321</a:t>
            </a:r>
          </a:p>
        </p:txBody>
      </p:sp>
      <p:cxnSp>
        <p:nvCxnSpPr>
          <p:cNvPr id="33" name="Connector 32"/>
          <p:cNvCxnSpPr/>
          <p:nvPr/>
        </p:nvCxnSpPr>
        <p:spPr>
          <a:xfrm flipV="1">
            <a:off x="3286125" y="2243498"/>
            <a:ext cx="0" cy="32294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566441"/>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224349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2329416"/>
            <a:ext cx="438150" cy="16126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241175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2091098"/>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339</a:t>
            </a:r>
          </a:p>
        </p:txBody>
      </p:sp>
      <p:cxnSp>
        <p:nvCxnSpPr>
          <p:cNvPr id="39" name="Connector 38"/>
          <p:cNvCxnSpPr/>
          <p:nvPr/>
        </p:nvCxnSpPr>
        <p:spPr>
          <a:xfrm flipV="1">
            <a:off x="5038725" y="1670329"/>
            <a:ext cx="0" cy="39880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206913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1776472"/>
            <a:ext cx="438150" cy="19910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187816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416</a:t>
            </a:r>
          </a:p>
        </p:txBody>
      </p:sp>
      <p:cxnSp>
        <p:nvCxnSpPr>
          <p:cNvPr id="45" name="Connector 44"/>
          <p:cNvCxnSpPr/>
          <p:nvPr/>
        </p:nvCxnSpPr>
        <p:spPr>
          <a:xfrm flipV="1">
            <a:off x="6791325" y="2875494"/>
            <a:ext cx="0" cy="24405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87549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40454"/>
            <a:ext cx="438150" cy="12190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0267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723094"/>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254</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  2026–2036</a:t>
            </a:r>
          </a:p>
        </p:txBody>
      </p:sp>
      <p:cxnSp>
        <p:nvCxnSpPr>
          <p:cNvPr id="57" name="Connector 56"/>
          <p:cNvCxnSpPr/>
          <p:nvPr/>
        </p:nvCxnSpPr>
        <p:spPr>
          <a:xfrm>
            <a:off x="619125" y="432242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3110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54845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595712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22428"/>
            <a:ext cx="0" cy="163469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2242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3110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54845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595712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138112" y="4255753"/>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+8.3%</a:t>
            </a:r>
          </a:p>
        </p:txBody>
      </p:sp>
      <p:sp>
        <p:nvSpPr>
          <p:cNvPr id="69" name="FMI Scale tick"/>
          <p:cNvSpPr txBox="1"/>
          <p:nvPr/>
        </p:nvSpPr>
        <p:spPr>
          <a:xfrm>
            <a:off x="138112" y="4664427"/>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70" name="FMI Scale tick"/>
          <p:cNvSpPr txBox="1"/>
          <p:nvPr/>
        </p:nvSpPr>
        <p:spPr>
          <a:xfrm>
            <a:off x="107156" y="5073101"/>
            <a:ext cx="473869" cy="133350"/>
          </a:xfrm>
          <a:prstGeom prst="rect">
            <a:avLst/>
          </a:prstGeom>
          <a:noFill/>
        </p:spPr>
        <p:txBody>
          <a:bodyPr wrap="square" lIns="28575" rIns="28575" tIns="9525" bIns="9525" anchor="ctr">
            <a:spAutoFit/>
          </a:bodyPr>
          <a:lstStyle/>
          <a:p>
            <a:pPr algn="r"/>
            <a:r>
              <a:rPr sz="1100" b="1">
                <a:solidFill>
                  <a:srgbClr val="6C7A89"/>
                </a:solidFill>
                <a:latin typeface="Calibri"/>
              </a:rPr>
              <a:t>Global</a:t>
            </a:r>
          </a:p>
        </p:txBody>
      </p:sp>
      <p:sp>
        <p:nvSpPr>
          <p:cNvPr id="71" name="FMI Scale tick"/>
          <p:cNvSpPr txBox="1"/>
          <p:nvPr/>
        </p:nvSpPr>
        <p:spPr>
          <a:xfrm>
            <a:off x="164306" y="5481775"/>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72" name="FMI Scale tick"/>
          <p:cNvSpPr txBox="1"/>
          <p:nvPr/>
        </p:nvSpPr>
        <p:spPr>
          <a:xfrm>
            <a:off x="164306" y="5890449"/>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-8.3%</a:t>
            </a:r>
          </a:p>
        </p:txBody>
      </p:sp>
      <p:cxnSp>
        <p:nvCxnSpPr>
          <p:cNvPr id="73" name="Connector 72"/>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977900" y="5139776"/>
            <a:ext cx="457200" cy="71631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586561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-7.3%</a:t>
            </a:r>
          </a:p>
        </p:txBody>
      </p:sp>
      <p:sp>
        <p:nvSpPr>
          <p:cNvPr id="76" name="Rectangle 75"/>
          <p:cNvSpPr/>
          <p:nvPr/>
        </p:nvSpPr>
        <p:spPr>
          <a:xfrm>
            <a:off x="2152650" y="5074214"/>
            <a:ext cx="457200" cy="6556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1793875" y="493133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+0.7%</a:t>
            </a:r>
          </a:p>
        </p:txBody>
      </p:sp>
      <p:sp>
        <p:nvSpPr>
          <p:cNvPr id="78" name="Rectangle 77"/>
          <p:cNvSpPr/>
          <p:nvPr/>
        </p:nvSpPr>
        <p:spPr>
          <a:xfrm>
            <a:off x="3327400" y="4453525"/>
            <a:ext cx="457200" cy="68625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MI Data Label"/>
          <p:cNvSpPr txBox="1"/>
          <p:nvPr/>
        </p:nvSpPr>
        <p:spPr>
          <a:xfrm>
            <a:off x="2968625" y="431065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+7.0%</a:t>
            </a:r>
          </a:p>
        </p:txBody>
      </p:sp>
      <p:sp>
        <p:nvSpPr>
          <p:cNvPr id="80" name="Rectangle 79"/>
          <p:cNvSpPr/>
          <p:nvPr/>
        </p:nvSpPr>
        <p:spPr>
          <a:xfrm>
            <a:off x="4502150" y="5121533"/>
            <a:ext cx="457200" cy="1824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MI Data Label"/>
          <p:cNvSpPr txBox="1"/>
          <p:nvPr/>
        </p:nvSpPr>
        <p:spPr>
          <a:xfrm>
            <a:off x="4143375" y="497865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+0.2%</a:t>
            </a:r>
          </a:p>
        </p:txBody>
      </p:sp>
      <p:sp>
        <p:nvSpPr>
          <p:cNvPr id="82" name="Rectangle 81"/>
          <p:cNvSpPr/>
          <p:nvPr/>
        </p:nvSpPr>
        <p:spPr>
          <a:xfrm>
            <a:off x="5676900" y="4892671"/>
            <a:ext cx="457200" cy="24710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MI Data Label"/>
          <p:cNvSpPr txBox="1"/>
          <p:nvPr/>
        </p:nvSpPr>
        <p:spPr>
          <a:xfrm>
            <a:off x="5318125" y="4749796"/>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+2.5%</a:t>
            </a:r>
          </a:p>
        </p:txBody>
      </p:sp>
      <p:sp>
        <p:nvSpPr>
          <p:cNvPr id="84" name="Rectangle 83"/>
          <p:cNvSpPr/>
          <p:nvPr/>
        </p:nvSpPr>
        <p:spPr>
          <a:xfrm>
            <a:off x="6851650" y="4740624"/>
            <a:ext cx="457200" cy="39915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MI Data Label"/>
          <p:cNvSpPr txBox="1"/>
          <p:nvPr/>
        </p:nvSpPr>
        <p:spPr>
          <a:xfrm>
            <a:off x="6492875" y="459774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+4.1%</a:t>
            </a:r>
          </a:p>
        </p:txBody>
      </p:sp>
      <p:sp>
        <p:nvSpPr>
          <p:cNvPr id="86" name="TextBox 85"/>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87" name="TextBox 86"/>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88" name="TextBox 87"/>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89" name="TextBox 88"/>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90" name="TextBox 89"/>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91" name="TextBox 90"/>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92" name="Rounded Rectangle 91"/>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94" name="Rectangle 93"/>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Flexible partial dentures segment is expected to command the highest average price of US$ 446 per Unit in 2036. Average selling price of removable partial dentures is estimated at US$ 319 per Unit in 2025 and is projected to increase to US$ 347 per Unit by 2036.</a:t>
            </a:r>
          </a:p>
          <a:p>
            <a:pPr algn="l">
              <a:lnSpc>
                <a:spcPct val="110000"/>
              </a:lnSpc>
              <a:spcBef>
                <a:spcPts val="0"/>
              </a:spcBef>
              <a:spcAft>
                <a:spcPts val="500"/>
              </a:spcAft>
            </a:pPr>
            <a:r>
              <a:rPr sz="1150" b="0">
                <a:solidFill>
                  <a:srgbClr val="2E2E2E"/>
                </a:solidFill>
                <a:latin typeface="Calibri"/>
              </a:rPr>
              <a:t>Europe is the highest-priced region, while North America is the most price-competitive market. Against the global price of 335 US$/Units, 5 of 6 regions price above and 1 below.</a:t>
            </a:r>
          </a:p>
          <a:p>
            <a:pPr algn="l">
              <a:lnSpc>
                <a:spcPct val="110000"/>
              </a:lnSpc>
              <a:spcBef>
                <a:spcPts val="0"/>
              </a:spcBef>
              <a:spcAft>
                <a:spcPts val="500"/>
              </a:spcAft>
            </a:pPr>
            <a:r>
              <a:rPr sz="1150" b="0">
                <a:solidFill>
                  <a:srgbClr val="2E2E2E"/>
                </a:solidFill>
                <a:latin typeface="Calibri"/>
              </a:rPr>
              <a:t>'Europe' is the dearest at +7.0% versus Global, 'North America' the cheapest at -7.3% pointing to premiumisation headroom in the lower-priced regions.</a:t>
            </a:r>
          </a:p>
        </p:txBody>
      </p:sp>
      <p:sp>
        <p:nvSpPr>
          <p:cNvPr id="96" name="TextBox 9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1,125</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1,731</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3.9%</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4.4%</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Removable partial dentures market is projected to register 1.6X increase in its revenue by the end of forecast period, 2036. Global removable partial dentures market is expected to be valued at US$ 1,731 Mn by 2036 end.</a:t>
            </a:r>
          </a:p>
          <a:p>
            <a:pPr algn="l">
              <a:lnSpc>
                <a:spcPct val="110000"/>
              </a:lnSpc>
              <a:spcBef>
                <a:spcPts val="0"/>
              </a:spcBef>
              <a:spcAft>
                <a:spcPts val="500"/>
              </a:spcAft>
            </a:pPr>
            <a:r>
              <a:rPr sz="1100" b="0">
                <a:solidFill>
                  <a:srgbClr val="2E2E2E"/>
                </a:solidFill>
                <a:latin typeface="Calibri"/>
              </a:rPr>
              <a:t>It is projected to create overall incremental opportunity of US$ 653.0 Mn from 2025 to 2036. Increasing prevalence of chronic diseases along with increasing ageing population is fuelling demand for removable partial dentures.</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leads regional growth at 5.3%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'Flexible Partial Dentures'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3.9%</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4.4%</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270.3 US$ Mn</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605.6 US$ Mn</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Removable partial dentures market is projected to register 1.6X increase in its revenue by the end of forecast period, 2036. Global removable partial dentures market is expected to be valued at US$ 1,731 Mn by 2036 end. It is projected to create overall incremental opportunity of US$ 653.0 Mn from 2025 to 2036.</a:t>
            </a:r>
          </a:p>
          <a:p>
            <a:pPr algn="l">
              <a:lnSpc>
                <a:spcPct val="110000"/>
              </a:lnSpc>
              <a:spcBef>
                <a:spcPts val="0"/>
              </a:spcBef>
              <a:spcAft>
                <a:spcPts val="500"/>
              </a:spcAft>
            </a:pPr>
            <a:r>
              <a:rPr sz="1150" b="0">
                <a:solidFill>
                  <a:srgbClr val="2E2E2E"/>
                </a:solidFill>
                <a:latin typeface="Calibri"/>
              </a:rPr>
              <a:t>Increasing prevalence of chronic diseases along with increasing ageing population is fuelling demand for removable partial dentures. Global removable partial dentures market is projected to register 1.5X increase in volume by the end of forecast period, 2036.</a:t>
            </a:r>
          </a:p>
          <a:p>
            <a:pPr algn="l">
              <a:lnSpc>
                <a:spcPct val="110000"/>
              </a:lnSpc>
              <a:spcBef>
                <a:spcPts val="0"/>
              </a:spcBef>
              <a:spcAft>
                <a:spcPts val="500"/>
              </a:spcAft>
            </a:pPr>
            <a:r>
              <a:rPr sz="1150" b="0">
                <a:solidFill>
                  <a:srgbClr val="2E2E2E"/>
                </a:solidFill>
                <a:latin typeface="Calibri"/>
              </a:rPr>
              <a:t>Global removable partial dentures market volume stood at 3,375,722 Units in 2025 and is expected to reach 4,987,551 Units by 2036 end, at a CAGR of 3.6%.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0"/>
        </p:xfrm>
        <a:graphic>
          <a:graphicData uri="http://schemas.openxmlformats.org/drawingml/2006/table">
            <a:tbl>
              <a:tblPr>
                <a:tableStyleId>{5C22544A-7EE6-4342-B048-85BDC9FD1C3A}</a:tableStyleId>
              </a:tblPr>
              <a:tblGrid>
                <a:gridCol w="1013910"/>
                <a:gridCol w="969873"/>
                <a:gridCol w="661933"/>
                <a:gridCol w="126906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3361">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74030" cy="2003628"/>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353</a:t>
            </a:r>
          </a:p>
        </p:txBody>
      </p:sp>
      <p:sp>
        <p:nvSpPr>
          <p:cNvPr id="19" name="Rectangle 18"/>
          <p:cNvSpPr/>
          <p:nvPr/>
        </p:nvSpPr>
        <p:spPr>
          <a:xfrm>
            <a:off x="6584080" y="1293011"/>
            <a:ext cx="1369295" cy="2003628"/>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204</a:t>
            </a:r>
          </a:p>
        </p:txBody>
      </p:sp>
      <p:sp>
        <p:nvSpPr>
          <p:cNvPr id="20" name="Rectangle 19"/>
          <p:cNvSpPr/>
          <p:nvPr/>
        </p:nvSpPr>
        <p:spPr>
          <a:xfrm>
            <a:off x="4210050" y="3296639"/>
            <a:ext cx="1574528" cy="145951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171</a:t>
            </a:r>
          </a:p>
        </p:txBody>
      </p:sp>
      <p:sp>
        <p:nvSpPr>
          <p:cNvPr id="21" name="Rectangle 20"/>
          <p:cNvSpPr/>
          <p:nvPr/>
        </p:nvSpPr>
        <p:spPr>
          <a:xfrm>
            <a:off x="4210050" y="4756153"/>
            <a:ext cx="1574528" cy="1122456"/>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131</a:t>
            </a:r>
          </a:p>
        </p:txBody>
      </p:sp>
      <p:sp>
        <p:nvSpPr>
          <p:cNvPr id="22" name="Rectangle 21"/>
          <p:cNvSpPr/>
          <p:nvPr/>
        </p:nvSpPr>
        <p:spPr>
          <a:xfrm>
            <a:off x="5784578" y="3296639"/>
            <a:ext cx="1190176" cy="1131388"/>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100.0</a:t>
            </a:r>
          </a:p>
        </p:txBody>
      </p:sp>
      <p:sp>
        <p:nvSpPr>
          <p:cNvPr id="23" name="Rectangle 22"/>
          <p:cNvSpPr/>
          <p:nvPr/>
        </p:nvSpPr>
        <p:spPr>
          <a:xfrm>
            <a:off x="6974755" y="3296639"/>
            <a:ext cx="978620" cy="1131388"/>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82.2</a:t>
            </a:r>
          </a:p>
        </p:txBody>
      </p:sp>
      <p:sp>
        <p:nvSpPr>
          <p:cNvPr id="24" name="Rectangle 23"/>
          <p:cNvSpPr/>
          <p:nvPr/>
        </p:nvSpPr>
        <p:spPr>
          <a:xfrm>
            <a:off x="5784578" y="4428027"/>
            <a:ext cx="1185271" cy="809390"/>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71.2</a:t>
            </a:r>
          </a:p>
        </p:txBody>
      </p:sp>
      <p:sp>
        <p:nvSpPr>
          <p:cNvPr id="25" name="Rectangle 24"/>
          <p:cNvSpPr/>
          <p:nvPr/>
        </p:nvSpPr>
        <p:spPr>
          <a:xfrm>
            <a:off x="5784578" y="5237417"/>
            <a:ext cx="1185271" cy="641193"/>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56.4</a:t>
            </a:r>
          </a:p>
        </p:txBody>
      </p:sp>
      <p:sp>
        <p:nvSpPr>
          <p:cNvPr id="26" name="Rectangle 25"/>
          <p:cNvSpPr/>
          <p:nvPr/>
        </p:nvSpPr>
        <p:spPr>
          <a:xfrm>
            <a:off x="6969850" y="4428027"/>
            <a:ext cx="983525" cy="759246"/>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55.5</a:t>
            </a:r>
          </a:p>
        </p:txBody>
      </p:sp>
      <p:sp>
        <p:nvSpPr>
          <p:cNvPr id="27" name="Rectangle 26"/>
          <p:cNvSpPr/>
          <p:nvPr/>
        </p:nvSpPr>
        <p:spPr>
          <a:xfrm>
            <a:off x="6969850" y="5187272"/>
            <a:ext cx="983525" cy="691337"/>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50.5</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14776" cy="2159450"/>
        </p:xfrm>
        <a:graphic>
          <a:graphicData uri="http://schemas.openxmlformats.org/drawingml/2006/table">
            <a:tbl>
              <a:tblPr>
                <a:tableStyleId>{5C22544A-7EE6-4342-B048-85BDC9FD1C3A}</a:tableStyleId>
              </a:tblPr>
              <a:tblGrid>
                <a:gridCol w="671383"/>
                <a:gridCol w="1081131"/>
                <a:gridCol w="1081131"/>
                <a:gridCol w="108113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8837">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U.S. removable partial dentures market is projected to register 1.7X higher value than Germany in 2036. India posts the highest CAGR Index (141), growing at 6.2% against the global benchmark, while U.S. offers the largest absolute opportunity 97.3 US$ Mn of incremental market between 2026 and 2036 (16% of the global increment).</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199" cy="1295400"/>
        </p:xfrm>
        <a:graphic>
          <a:graphicData uri="http://schemas.openxmlformats.org/drawingml/2006/table">
            <a:tbl>
              <a:tblPr>
                <a:tableStyleId>{5C22544A-7EE6-4342-B048-85BDC9FD1C3A}</a:tableStyleId>
              </a:tblPr>
              <a:tblGrid>
                <a:gridCol w="1994456"/>
                <a:gridCol w="3297581"/>
                <a:gridCol w="3297581"/>
                <a:gridCol w="329758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Thailand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Spain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Mexico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362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71462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790825"/>
          <a:ext cx="11887201" cy="1295400"/>
        </p:xfrm>
        <a:graphic>
          <a:graphicData uri="http://schemas.openxmlformats.org/drawingml/2006/table">
            <a:tbl>
              <a:tblPr>
                <a:tableStyleId>{5C22544A-7EE6-4342-B048-85BDC9FD1C3A}</a:tableStyleId>
              </a:tblPr>
              <a:tblGrid>
                <a:gridCol w="1943458"/>
                <a:gridCol w="3314581"/>
                <a:gridCol w="3314581"/>
                <a:gridCol w="331458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Thailand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095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removable partial dentures market is expected to witness 1.6X increase in revenue by 2036 end. Global removable partial dentures market accounted for US$ 1,078 Mn in 2025, which is expected to increase to US$ 1,731 Mn in 2036 at a CAGR of 4.4%.</a:t>
            </a:r>
          </a:p>
          <a:p>
            <a:pPr algn="l">
              <a:lnSpc>
                <a:spcPct val="110000"/>
              </a:lnSpc>
              <a:spcBef>
                <a:spcPts val="0"/>
              </a:spcBef>
              <a:spcAft>
                <a:spcPts val="500"/>
              </a:spcAft>
            </a:pPr>
            <a:r>
              <a:rPr sz="1150" b="0">
                <a:solidFill>
                  <a:srgbClr val="2E2E2E"/>
                </a:solidFill>
                <a:latin typeface="Calibri"/>
              </a:rPr>
              <a:t>The global removable partial dentures market has been analysed on the basis of product type, material type, technology and end user across the globe. North America is expected to remain the largest market for removable partial dentures, while demand in South Asia &amp; Pacific is projected to increase at the highest CAGR of 5.3%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moderately fragmented: the leading product type category 'Flexible Partial Dentures' holds 30.6%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6 regions and 8 segmentation lenses (4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North America is the largest regional market at 30.3%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'Cast Metal Partial Dentures' (6.4%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South Asia &amp; Pacific (5.3%).</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Dental Hospitals within end user (6.5%).</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'Flexible Partial Dentures' (3.0%).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4.4%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'Flexible Partial Dentures'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'Cast Metal Partial Dentures'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'Cast Metal Partial Dentures' and South Asia &amp; Pacific.</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North America and South Asia &amp; Pacific.</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2026 size 1,125 US$ Mn; 2036 1,731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Forecast CAGR 4.4% (2026–2036).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category 'Flexible Partial Dentures' 30.6% of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region North America 30.3%.</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Incremental opportunity 605.6 US$ Mn.</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Investment is flowing toward the fastest-growing tier 'Cast Metal Partial Dentures' (6.4%).</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South Asia &amp; Pacific (5.3%) is a priority region for new capacity.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Scale players anchor around 'Flexible Partial Dentures' (30.6% share).</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aligns with the migration to 'Cast Metal Partial Dentures' and adjacent premium tiers.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targets product type categories gaining share to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4.4% forecast CAGR.</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'Flexible Partial Dentures' with targeted growth in 'Cast Metal Partial Dentures', pursuing the 4.4% CAGR trajectory to 2036.</a:t>
            </a:r>
          </a:p>
        </p:txBody>
      </p:sp>
      <p:sp>
        <p:nvSpPr>
          <p:cNvPr id="14" name="Rounded Rectangle 13"/>
          <p:cNvSpPr/>
          <p:nvPr/>
        </p:nvSpPr>
        <p:spPr>
          <a:xfrm>
            <a:off x="6172200"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'Cast Metal Partial Dentures' tier and Dental Hospitals within end user.</a:t>
            </a:r>
          </a:p>
        </p:txBody>
      </p:sp>
      <p:sp>
        <p:nvSpPr>
          <p:cNvPr id="18" name="Rounded Rectangle 17"/>
          <p:cNvSpPr/>
          <p:nvPr/>
        </p:nvSpPr>
        <p:spPr>
          <a:xfrm>
            <a:off x="142875"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'Cast Metal Partial Dentures' (6.4%); 'Flexible Partial Dentures' anchors 30.6% of value.</a:t>
            </a:r>
          </a:p>
        </p:txBody>
      </p:sp>
      <p:sp>
        <p:nvSpPr>
          <p:cNvPr id="22" name="Rounded Rectangle 21"/>
          <p:cNvSpPr/>
          <p:nvPr/>
        </p:nvSpPr>
        <p:spPr>
          <a:xfrm>
            <a:off x="6172200"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Region</a:t>
            </a:r>
          </a:p>
        </p:txBody>
      </p:sp>
      <p:sp>
        <p:nvSpPr>
          <p:cNvPr id="24" name="Rectangle 23"/>
          <p:cNvSpPr/>
          <p:nvPr/>
        </p:nvSpPr>
        <p:spPr>
          <a:xfrm>
            <a:off x="6305550"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North America (30.3%); capture upside in South Asia &amp; Pacific (5.3%).</a:t>
            </a:r>
          </a:p>
        </p:txBody>
      </p:sp>
      <p:sp>
        <p:nvSpPr>
          <p:cNvPr id="26" name="Rounded Rectangle 25"/>
          <p:cNvSpPr/>
          <p:nvPr/>
        </p:nvSpPr>
        <p:spPr>
          <a:xfrm>
            <a:off x="142875" y="4619625"/>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05350"/>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943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029200"/>
            <a:ext cx="11639550" cy="1514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Removable Partial Dentures adds 605.6 US$ Mn of demand to 2036 a 1.5× expansion.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segment/region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'Flexible Partial Dentures' as the value anchor of the portfolio.</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1,942 US$ Mn</a:t>
            </a:r>
          </a:p>
          <a:p>
            <a:pPr algn="ctr">
              <a:lnSpc>
                <a:spcPct val="95000"/>
              </a:lnSpc>
            </a:pPr>
            <a:r>
              <a:rPr sz="1100" b="0">
                <a:solidFill>
                  <a:srgbClr val="6C7A89"/>
                </a:solidFill>
                <a:latin typeface="Calibri"/>
              </a:rPr>
              <a:t>CAGR 5.5%</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1,731 US$ Mn</a:t>
            </a:r>
          </a:p>
          <a:p>
            <a:pPr algn="ctr">
              <a:lnSpc>
                <a:spcPct val="95000"/>
              </a:lnSpc>
            </a:pPr>
            <a:r>
              <a:rPr sz="1100" b="0">
                <a:solidFill>
                  <a:srgbClr val="6C7A89"/>
                </a:solidFill>
                <a:latin typeface="Calibri"/>
              </a:rPr>
              <a:t>CAGR 4.4%</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1,540 US$ Mn</a:t>
            </a:r>
          </a:p>
          <a:p>
            <a:pPr algn="ctr">
              <a:lnSpc>
                <a:spcPct val="95000"/>
              </a:lnSpc>
            </a:pPr>
            <a:r>
              <a:rPr sz="1100" b="0">
                <a:solidFill>
                  <a:srgbClr val="6C7A89"/>
                </a:solidFill>
                <a:latin typeface="Calibri"/>
              </a:rPr>
              <a:t>CAGR 3.3%</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Removable Partial Dentures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72838"/>
            <a:ext cx="635826" cy="832462"/>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115510"/>
            <a:ext cx="635826" cy="1189790"/>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68479"/>
            <a:ext cx="635826" cy="1336821"/>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805113"/>
            <a:ext cx="635826" cy="15001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82160"/>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77385"/>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3.3%</a:t>
            </a:r>
          </a:p>
        </p:txBody>
      </p:sp>
      <p:cxnSp>
        <p:nvCxnSpPr>
          <p:cNvPr id="22" name="Connector 21"/>
          <p:cNvCxnSpPr/>
          <p:nvPr/>
        </p:nvCxnSpPr>
        <p:spPr>
          <a:xfrm>
            <a:off x="1456468" y="2724985"/>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620210"/>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4.4%</a:t>
            </a:r>
          </a:p>
        </p:txBody>
      </p:sp>
      <p:cxnSp>
        <p:nvCxnSpPr>
          <p:cNvPr id="24" name="Connector 23"/>
          <p:cNvCxnSpPr/>
          <p:nvPr/>
        </p:nvCxnSpPr>
        <p:spPr>
          <a:xfrm>
            <a:off x="1456468" y="2467810"/>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63035"/>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5.5%</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Removable Partial Dentures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1,942 US$ Mn by 2036 at 5.5%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1,731 US$ Mn at 4.4%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1,540 US$ Mn at 3.3%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±25% across the 2026–2036 horizon.</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Global Market Analysis By Region</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Removable Partial Dentures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North America</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371.3</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523.9</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3.5%</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Europe</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303.8</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495.5</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5.0%</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East Asia</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146.3</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221.5</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4.2%</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Asia &amp; Pacific</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135.0</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226.0</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5.3%</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Latin America</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90.0</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143.9</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4.8%</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Middle East &amp; Africa</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78.8</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119.9</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4.3%</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North America removable partial dentures market is projected to register 1.1X higher value than Europe in 2036. Among removable partial dentures by region, South Asia &amp; Pacific is expected to witness the highest CAGR of 5.3% over the forecast period.</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In terms of value share by region, North America is expected to dominate the market, losing 273 BPS and accounting for 30.3% share by 2036.</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North America: </a:t>
            </a:r>
            <a:r>
              <a:rPr sz="1100" b="0">
                <a:solidFill>
                  <a:srgbClr val="2E2E2E"/>
                </a:solidFill>
                <a:latin typeface="Calibri"/>
              </a:rPr>
              <a:t>33% of 2026 value · 3.5%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Europe: </a:t>
            </a:r>
            <a:r>
              <a:rPr sz="1100" b="0">
                <a:solidFill>
                  <a:srgbClr val="2E2E2E"/>
                </a:solidFill>
                <a:latin typeface="Calibri"/>
              </a:rPr>
              <a:t>27% of 2026 value · 5.0%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East Asia: </a:t>
            </a:r>
            <a:r>
              <a:rPr sz="1100" b="0">
                <a:solidFill>
                  <a:srgbClr val="2E2E2E"/>
                </a:solidFill>
                <a:latin typeface="Calibri"/>
              </a:rPr>
              <a:t>13% of 2026 value · 4.2% CAGR a smaller market.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South Asia &amp; Pacific: </a:t>
            </a:r>
            <a:r>
              <a:rPr sz="1100" b="0">
                <a:solidFill>
                  <a:srgbClr val="2E2E2E"/>
                </a:solidFill>
                <a:latin typeface="Calibri"/>
              </a:rPr>
              <a:t>12% of 2026 value · 5.3% CAGR grows fastest.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Latin America: </a:t>
            </a:r>
            <a:r>
              <a:rPr sz="1100" b="0">
                <a:solidFill>
                  <a:srgbClr val="2E2E2E"/>
                </a:solidFill>
                <a:latin typeface="Calibri"/>
              </a:rPr>
              <a:t>8% of 2026 value · 4.8% CAGR a smaller market.</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Middle East &amp; Africa: </a:t>
            </a:r>
            <a:r>
              <a:rPr sz="1100" b="0">
                <a:solidFill>
                  <a:srgbClr val="2E2E2E"/>
                </a:solidFill>
                <a:latin typeface="Calibri"/>
              </a:rPr>
              <a:t>7% of 2026 value · 4.3% CAGR a smaller market.</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Global market is projected to grow at a CAGR of 4.4%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Analysis, By Region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4420"/>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7965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345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65370"/>
            <a:ext cx="514350" cy="123825"/>
          </a:xfrm>
          <a:prstGeom prst="rect">
            <a:avLst/>
          </a:prstGeom>
          <a:noFill/>
        </p:spPr>
        <p:txBody>
          <a:bodyPr wrap="none" lIns="0" rIns="0" tIns="0" bIns="0" anchor="ctr">
            <a:spAutoFit/>
          </a:bodyPr>
          <a:lstStyle/>
          <a:p>
            <a:pPr algn="r"/>
            <a:r>
              <a:rPr sz="900" b="1">
                <a:solidFill>
                  <a:srgbClr val="E44D3A"/>
                </a:solidFill>
                <a:latin typeface="Calibri"/>
              </a:rPr>
              <a:t>-4</a:t>
            </a:r>
          </a:p>
        </p:txBody>
      </p:sp>
      <p:sp>
        <p:nvSpPr>
          <p:cNvPr id="20" name="FMI Legend Chip"/>
          <p:cNvSpPr/>
          <p:nvPr/>
        </p:nvSpPr>
        <p:spPr>
          <a:xfrm>
            <a:off x="4551045" y="185837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5360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7740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39320"/>
            <a:ext cx="514350" cy="123825"/>
          </a:xfrm>
          <a:prstGeom prst="rect">
            <a:avLst/>
          </a:prstGeom>
          <a:noFill/>
        </p:spPr>
        <p:txBody>
          <a:bodyPr wrap="none" lIns="0" rIns="0" tIns="0" bIns="0" anchor="ctr">
            <a:spAutoFit/>
          </a:bodyPr>
          <a:lstStyle/>
          <a:p>
            <a:pPr algn="r"/>
            <a:r>
              <a:rPr sz="900" b="1">
                <a:solidFill>
                  <a:srgbClr val="2E7D32"/>
                </a:solidFill>
                <a:latin typeface="Calibri"/>
              </a:rPr>
              <a:t>+33</a:t>
            </a:r>
          </a:p>
        </p:txBody>
      </p:sp>
      <p:sp>
        <p:nvSpPr>
          <p:cNvPr id="24" name="FMI Legend Chip"/>
          <p:cNvSpPr/>
          <p:nvPr/>
        </p:nvSpPr>
        <p:spPr>
          <a:xfrm>
            <a:off x="4551045" y="224362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23886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6266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27" name="BPS Value 3"/>
          <p:cNvSpPr txBox="1"/>
          <p:nvPr/>
        </p:nvSpPr>
        <p:spPr>
          <a:xfrm>
            <a:off x="6305550" y="2224576"/>
            <a:ext cx="514350" cy="123825"/>
          </a:xfrm>
          <a:prstGeom prst="rect">
            <a:avLst/>
          </a:prstGeom>
          <a:noFill/>
        </p:spPr>
        <p:txBody>
          <a:bodyPr wrap="none" lIns="0" rIns="0" tIns="0" bIns="0" anchor="ctr">
            <a:spAutoFit/>
          </a:bodyPr>
          <a:lstStyle/>
          <a:p>
            <a:pPr algn="r"/>
            <a:r>
              <a:rPr sz="900" b="1">
                <a:solidFill>
                  <a:srgbClr val="2E7D32"/>
                </a:solidFill>
                <a:latin typeface="Calibri"/>
              </a:rPr>
              <a:t>+102</a:t>
            </a:r>
          </a:p>
        </p:txBody>
      </p:sp>
      <p:sp>
        <p:nvSpPr>
          <p:cNvPr id="28" name="FMI Legend Chip"/>
          <p:cNvSpPr/>
          <p:nvPr/>
        </p:nvSpPr>
        <p:spPr>
          <a:xfrm>
            <a:off x="4551045" y="271221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70745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3125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31" name="BPS Value 4"/>
          <p:cNvSpPr txBox="1"/>
          <p:nvPr/>
        </p:nvSpPr>
        <p:spPr>
          <a:xfrm>
            <a:off x="6305550" y="2693164"/>
            <a:ext cx="514350" cy="123825"/>
          </a:xfrm>
          <a:prstGeom prst="rect">
            <a:avLst/>
          </a:prstGeom>
          <a:noFill/>
        </p:spPr>
        <p:txBody>
          <a:bodyPr wrap="none" lIns="0" rIns="0" tIns="0" bIns="0" anchor="ctr">
            <a:spAutoFit/>
          </a:bodyPr>
          <a:lstStyle/>
          <a:p>
            <a:pPr algn="r"/>
            <a:r>
              <a:rPr sz="900" b="1">
                <a:solidFill>
                  <a:srgbClr val="E44D3A"/>
                </a:solidFill>
                <a:latin typeface="Calibri"/>
              </a:rPr>
              <a:t>-11</a:t>
            </a:r>
          </a:p>
        </p:txBody>
      </p:sp>
      <p:sp>
        <p:nvSpPr>
          <p:cNvPr id="32" name="FMI Legend Chip"/>
          <p:cNvSpPr/>
          <p:nvPr/>
        </p:nvSpPr>
        <p:spPr>
          <a:xfrm>
            <a:off x="4551045" y="343904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342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35808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19993"/>
            <a:ext cx="514350" cy="123825"/>
          </a:xfrm>
          <a:prstGeom prst="rect">
            <a:avLst/>
          </a:prstGeom>
          <a:noFill/>
        </p:spPr>
        <p:txBody>
          <a:bodyPr wrap="none" lIns="0" rIns="0" tIns="0" bIns="0" anchor="ctr">
            <a:spAutoFit/>
          </a:bodyPr>
          <a:lstStyle/>
          <a:p>
            <a:pPr algn="r"/>
            <a:r>
              <a:rPr sz="900" b="1">
                <a:solidFill>
                  <a:srgbClr val="2E7D32"/>
                </a:solidFill>
                <a:latin typeface="Calibri"/>
              </a:rPr>
              <a:t>+163</a:t>
            </a:r>
          </a:p>
        </p:txBody>
      </p:sp>
      <p:sp>
        <p:nvSpPr>
          <p:cNvPr id="36" name="FMI Legend Chip"/>
          <p:cNvSpPr/>
          <p:nvPr/>
        </p:nvSpPr>
        <p:spPr>
          <a:xfrm>
            <a:off x="4551045" y="453006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253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4910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11016"/>
            <a:ext cx="514350" cy="123825"/>
          </a:xfrm>
          <a:prstGeom prst="rect">
            <a:avLst/>
          </a:prstGeom>
          <a:noFill/>
        </p:spPr>
        <p:txBody>
          <a:bodyPr wrap="none" lIns="0" rIns="0" tIns="0" bIns="0" anchor="ctr">
            <a:spAutoFit/>
          </a:bodyPr>
          <a:lstStyle/>
          <a:p>
            <a:pPr algn="r"/>
            <a:r>
              <a:rPr sz="900" b="1">
                <a:solidFill>
                  <a:srgbClr val="E44D3A"/>
                </a:solidFill>
                <a:latin typeface="Calibri"/>
              </a:rPr>
              <a:t>-282</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North America removable partial dentures market is projected to register 1.2X higher volume than Europe in 2036. Among removable partial dentures by region, South Asia &amp; Pacific is expected to witness the highest CAGR of 4.5% over the forecast period.</a:t>
            </a:r>
          </a:p>
          <a:p>
            <a:pPr algn="l">
              <a:lnSpc>
                <a:spcPct val="110000"/>
              </a:lnSpc>
              <a:spcBef>
                <a:spcPts val="0"/>
              </a:spcBef>
              <a:spcAft>
                <a:spcPts val="500"/>
              </a:spcAft>
            </a:pPr>
            <a:r>
              <a:rPr sz="1150" b="0">
                <a:solidFill>
                  <a:srgbClr val="2E2E2E"/>
                </a:solidFill>
                <a:latin typeface="Calibri"/>
              </a:rPr>
              <a:t>In terms of volume share by region, North America is expected to dominate the market, losing 282 BPS and accounting for 32.7% share by 2036.</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(UNITS)</a:t>
            </a:r>
          </a:p>
          <a:p>
            <a:pPr algn="ctr">
              <a:lnSpc>
                <a:spcPct val="95000"/>
              </a:lnSpc>
            </a:pPr>
            <a:r>
              <a:rPr sz="2000" b="1">
                <a:solidFill>
                  <a:srgbClr val="0E72AE"/>
                </a:solidFill>
                <a:latin typeface="Calibri"/>
              </a:rPr>
              <a:t>3,497,603</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(UNITS)</a:t>
            </a:r>
          </a:p>
          <a:p>
            <a:pPr algn="ctr">
              <a:lnSpc>
                <a:spcPct val="95000"/>
              </a:lnSpc>
            </a:pPr>
            <a:r>
              <a:rPr sz="2000" b="1">
                <a:solidFill>
                  <a:srgbClr val="0E72AE"/>
                </a:solidFill>
                <a:latin typeface="Calibri"/>
              </a:rPr>
              <a:t>4,987,551</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3.6%</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911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8435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815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70069"/>
            <a:ext cx="514350" cy="123825"/>
          </a:xfrm>
          <a:prstGeom prst="rect">
            <a:avLst/>
          </a:prstGeom>
          <a:noFill/>
        </p:spPr>
        <p:txBody>
          <a:bodyPr wrap="none" lIns="0" rIns="0" tIns="0" bIns="0" anchor="ctr">
            <a:spAutoFit/>
          </a:bodyPr>
          <a:lstStyle/>
          <a:p>
            <a:pPr algn="r"/>
            <a:r>
              <a:rPr sz="900" b="1">
                <a:solidFill>
                  <a:srgbClr val="E44D3A"/>
                </a:solidFill>
                <a:latin typeface="Calibri"/>
              </a:rPr>
              <a:t>-7</a:t>
            </a:r>
          </a:p>
        </p:txBody>
      </p:sp>
      <p:sp>
        <p:nvSpPr>
          <p:cNvPr id="20" name="FMI Legend Chip"/>
          <p:cNvSpPr/>
          <p:nvPr/>
        </p:nvSpPr>
        <p:spPr>
          <a:xfrm>
            <a:off x="4551045" y="186860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6384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8764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49553"/>
            <a:ext cx="514350" cy="123825"/>
          </a:xfrm>
          <a:prstGeom prst="rect">
            <a:avLst/>
          </a:prstGeom>
          <a:noFill/>
        </p:spPr>
        <p:txBody>
          <a:bodyPr wrap="none" lIns="0" rIns="0" tIns="0" bIns="0" anchor="ctr">
            <a:spAutoFit/>
          </a:bodyPr>
          <a:lstStyle/>
          <a:p>
            <a:pPr algn="r"/>
            <a:r>
              <a:rPr sz="900" b="1">
                <a:solidFill>
                  <a:srgbClr val="2E7D32"/>
                </a:solidFill>
                <a:latin typeface="Calibri"/>
              </a:rPr>
              <a:t>+31</a:t>
            </a:r>
          </a:p>
        </p:txBody>
      </p:sp>
      <p:sp>
        <p:nvSpPr>
          <p:cNvPr id="24" name="FMI Legend Chip"/>
          <p:cNvSpPr/>
          <p:nvPr/>
        </p:nvSpPr>
        <p:spPr>
          <a:xfrm>
            <a:off x="4551045" y="225573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2509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7477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7" name="BPS Value 3"/>
          <p:cNvSpPr txBox="1"/>
          <p:nvPr/>
        </p:nvSpPr>
        <p:spPr>
          <a:xfrm>
            <a:off x="6305550" y="2236683"/>
            <a:ext cx="514350" cy="123825"/>
          </a:xfrm>
          <a:prstGeom prst="rect">
            <a:avLst/>
          </a:prstGeom>
          <a:noFill/>
        </p:spPr>
        <p:txBody>
          <a:bodyPr wrap="none" lIns="0" rIns="0" tIns="0" bIns="0" anchor="ctr">
            <a:spAutoFit/>
          </a:bodyPr>
          <a:lstStyle/>
          <a:p>
            <a:pPr algn="r"/>
            <a:r>
              <a:rPr sz="900" b="1">
                <a:solidFill>
                  <a:srgbClr val="E44D3A"/>
                </a:solidFill>
                <a:latin typeface="Calibri"/>
              </a:rPr>
              <a:t>-20</a:t>
            </a:r>
          </a:p>
        </p:txBody>
      </p:sp>
      <p:sp>
        <p:nvSpPr>
          <p:cNvPr id="28" name="FMI Legend Chip"/>
          <p:cNvSpPr/>
          <p:nvPr/>
        </p:nvSpPr>
        <p:spPr>
          <a:xfrm>
            <a:off x="4551045" y="272987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7251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4891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2710828"/>
            <a:ext cx="514350" cy="123825"/>
          </a:xfrm>
          <a:prstGeom prst="rect">
            <a:avLst/>
          </a:prstGeom>
          <a:noFill/>
        </p:spPr>
        <p:txBody>
          <a:bodyPr wrap="none" lIns="0" rIns="0" tIns="0" bIns="0" anchor="ctr">
            <a:spAutoFit/>
          </a:bodyPr>
          <a:lstStyle/>
          <a:p>
            <a:pPr algn="r"/>
            <a:r>
              <a:rPr sz="900" b="1">
                <a:solidFill>
                  <a:srgbClr val="2E7D32"/>
                </a:solidFill>
                <a:latin typeface="Calibri"/>
              </a:rPr>
              <a:t>+106</a:t>
            </a:r>
          </a:p>
        </p:txBody>
      </p:sp>
      <p:sp>
        <p:nvSpPr>
          <p:cNvPr id="32" name="FMI Legend Chip"/>
          <p:cNvSpPr/>
          <p:nvPr/>
        </p:nvSpPr>
        <p:spPr>
          <a:xfrm>
            <a:off x="4551045" y="349426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8950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41330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75219"/>
            <a:ext cx="514350" cy="123825"/>
          </a:xfrm>
          <a:prstGeom prst="rect">
            <a:avLst/>
          </a:prstGeom>
          <a:noFill/>
        </p:spPr>
        <p:txBody>
          <a:bodyPr wrap="none" lIns="0" rIns="0" tIns="0" bIns="0" anchor="ctr">
            <a:spAutoFit/>
          </a:bodyPr>
          <a:lstStyle/>
          <a:p>
            <a:pPr algn="r"/>
            <a:r>
              <a:rPr sz="900" b="1">
                <a:solidFill>
                  <a:srgbClr val="2E7D32"/>
                </a:solidFill>
                <a:latin typeface="Calibri"/>
              </a:rPr>
              <a:t>+163</a:t>
            </a:r>
          </a:p>
        </p:txBody>
      </p:sp>
      <p:sp>
        <p:nvSpPr>
          <p:cNvPr id="36" name="FMI Legend Chip"/>
          <p:cNvSpPr/>
          <p:nvPr/>
        </p:nvSpPr>
        <p:spPr>
          <a:xfrm>
            <a:off x="4551045" y="457420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694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9323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55152"/>
            <a:ext cx="514350" cy="123825"/>
          </a:xfrm>
          <a:prstGeom prst="rect">
            <a:avLst/>
          </a:prstGeom>
          <a:noFill/>
        </p:spPr>
        <p:txBody>
          <a:bodyPr wrap="none" lIns="0" rIns="0" tIns="0" bIns="0" anchor="ctr">
            <a:spAutoFit/>
          </a:bodyPr>
          <a:lstStyle/>
          <a:p>
            <a:pPr algn="r"/>
            <a:r>
              <a:rPr sz="900" b="1">
                <a:solidFill>
                  <a:srgbClr val="E44D3A"/>
                </a:solidFill>
                <a:latin typeface="Calibri"/>
              </a:rPr>
              <a:t>-273</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North America removable partial dentures market is projected to register 1.1X higher value than Europe in 2036. Among removable partial dentures by region, South Asia &amp; Pacific is expected to witness the highest CAGR of 5.3% over the forecast period.</a:t>
            </a:r>
          </a:p>
          <a:p>
            <a:pPr algn="l">
              <a:lnSpc>
                <a:spcPct val="110000"/>
              </a:lnSpc>
              <a:spcBef>
                <a:spcPts val="0"/>
              </a:spcBef>
              <a:spcAft>
                <a:spcPts val="500"/>
              </a:spcAft>
            </a:pPr>
            <a:r>
              <a:rPr sz="1150" b="0">
                <a:solidFill>
                  <a:srgbClr val="2E2E2E"/>
                </a:solidFill>
                <a:latin typeface="Calibri"/>
              </a:rPr>
              <a:t>In terms of value share by region, North America is expected to dominate the market, losing 273 BPS and accounting for 30.3% share by 2036.</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1,125</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1,731</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4.4%</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Share Analysis, By Region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(Units)</a:t>
            </a:r>
          </a:p>
        </p:txBody>
      </p:sp>
      <p:graphicFrame>
        <p:nvGraphicFramePr>
          <p:cNvPr id="13" name="Table 12"/>
          <p:cNvGraphicFramePr>
            <a:graphicFrameLocks noGrp="1"/>
          </p:cNvGraphicFramePr>
          <p:nvPr/>
        </p:nvGraphicFramePr>
        <p:xfrm>
          <a:off x="152400" y="1238250"/>
          <a:ext cx="11887208" cy="1990722"/>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Region</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215319">
                <a:tc>
                  <a:txBody>
                    <a:bodyPr wrap="none"/>
                    <a:lstStyle/>
                    <a:p>
                      <a:pPr algn="l"/>
                      <a:r>
                        <a:rPr sz="1100" b="1">
                          <a:solidFill>
                            <a:srgbClr val="2E2E2E"/>
                          </a:solidFill>
                          <a:latin typeface="Calibri"/>
                        </a:rPr>
                        <a:t>North America</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1,101,518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1,124,091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1,149,246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1,177,115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1,207,880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1,241,684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1,276,436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1,312,042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1,348,522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1,385,891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1,424,163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1,463,367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1,503,502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1,544,604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1,586,687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1,629,763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a:t>
                      </a:r>
                      <a:endParaRPr sz="1100"/>
                    </a:p>
                  </a:txBody>
                  <a:tcPr marL="19050" marR="14288" marT="19050" marB="19050" anchor="ctr">
                    <a:solidFill>
                      <a:srgbClr val="FFFFFF"/>
                    </a:solidFill>
                  </a:tcPr>
                </a:tc>
              </a:tr>
              <a:tr h="215319">
                <a:tc>
                  <a:txBody>
                    <a:bodyPr wrap="none"/>
                    <a:lstStyle/>
                    <a:p>
                      <a:pPr algn="l"/>
                      <a:r>
                        <a:rPr sz="1100" b="1">
                          <a:solidFill>
                            <a:srgbClr val="2E2E2E"/>
                          </a:solidFill>
                          <a:latin typeface="Calibri"/>
                        </a:rPr>
                        <a:t>Latin America</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231,878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239,508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247,856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256,973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266,925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277,773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289,045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300,758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312,928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325,572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338,708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352,355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366,528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381,251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396,542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412,422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4.0%</a:t>
                      </a:r>
                      <a:endParaRPr sz="1100"/>
                    </a:p>
                  </a:txBody>
                  <a:tcPr marL="19050" marR="14288" marT="19050" marB="19050" anchor="ctr">
                    <a:solidFill>
                      <a:srgbClr val="F5F8FA"/>
                    </a:solidFill>
                  </a:tcPr>
                </a:tc>
              </a:tr>
              <a:tr h="215319">
                <a:tc>
                  <a:txBody>
                    <a:bodyPr wrap="none"/>
                    <a:lstStyle/>
                    <a:p>
                      <a:pPr algn="l"/>
                      <a:r>
                        <a:rPr sz="1100" b="1">
                          <a:solidFill>
                            <a:srgbClr val="2E2E2E"/>
                          </a:solidFill>
                          <a:latin typeface="Calibri"/>
                        </a:rPr>
                        <a:t>Europe</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729,489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754,646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782,203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812,343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845,294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881,267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918,775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957,899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998,707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1,041,272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1,085,666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1,131,975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1,180,268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1,230,642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1,283,183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1,337,977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4.3%</a:t>
                      </a:r>
                      <a:endParaRPr sz="1100"/>
                    </a:p>
                  </a:txBody>
                  <a:tcPr marL="19050" marR="14288" marT="19050" marB="19050" anchor="ctr">
                    <a:solidFill>
                      <a:srgbClr val="FFFFFF"/>
                    </a:solidFill>
                  </a:tcPr>
                </a:tc>
              </a:tr>
              <a:tr h="215319">
                <a:tc>
                  <a:txBody>
                    <a:bodyPr wrap="none"/>
                    <a:lstStyle/>
                    <a:p>
                      <a:pPr algn="l"/>
                      <a:r>
                        <a:rPr sz="1100" b="1">
                          <a:solidFill>
                            <a:srgbClr val="2E2E2E"/>
                          </a:solidFill>
                          <a:latin typeface="Calibri"/>
                        </a:rPr>
                        <a:t>East Asia</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386,476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397,342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409,268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422,325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436,602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452,177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468,282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484,918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502,101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519,848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538,172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557,096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576,629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596,797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617,615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639,100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3.5%</a:t>
                      </a:r>
                      <a:endParaRPr sz="1100"/>
                    </a:p>
                  </a:txBody>
                  <a:tcPr marL="19050" marR="14288" marT="19050" marB="19050" anchor="ctr">
                    <a:solidFill>
                      <a:srgbClr val="F5F8FA"/>
                    </a:solidFill>
                  </a:tcPr>
                </a:tc>
              </a:tr>
              <a:tr h="215319">
                <a:tc>
                  <a:txBody>
                    <a:bodyPr wrap="square"/>
                    <a:lstStyle/>
                    <a:p>
                      <a:pPr algn="l">
                        <a:lnSpc>
                          <a:spcPct val="90000"/>
                        </a:lnSpc>
                      </a:pPr>
                      <a:r>
                        <a:rPr sz="1100" b="1">
                          <a:solidFill>
                            <a:srgbClr val="2E2E2E"/>
                          </a:solidFill>
                          <a:latin typeface="Calibri"/>
                        </a:rPr>
                        <a:t>South Asia &amp; Pacific</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335,663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348,015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361,525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376,284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392,405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409,995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428,362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447,554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467,608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488,561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510,453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533,329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557,225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582,193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608,279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635,529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4.5%</a:t>
                      </a:r>
                      <a:endParaRPr sz="1100"/>
                    </a:p>
                  </a:txBody>
                  <a:tcPr marL="19050" marR="14288" marT="19050" marB="19050" anchor="ctr">
                    <a:solidFill>
                      <a:srgbClr val="FFFFFF"/>
                    </a:solidFill>
                  </a:tcPr>
                </a:tc>
              </a:tr>
              <a:tr h="349431">
                <a:tc>
                  <a:txBody>
                    <a:bodyPr wrap="square"/>
                    <a:lstStyle/>
                    <a:p>
                      <a:pPr algn="l">
                        <a:lnSpc>
                          <a:spcPct val="90000"/>
                        </a:lnSpc>
                      </a:pPr>
                      <a:r>
                        <a:rPr sz="1100" b="1">
                          <a:solidFill>
                            <a:srgbClr val="2E2E2E"/>
                          </a:solidFill>
                          <a:latin typeface="Calibri"/>
                        </a:rPr>
                        <a:t>Middle East &amp; Africa</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200,676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206,283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212,449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219,211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226,616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234,706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243,084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251,752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260,719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269,996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279,592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289,520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299,788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310,410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321,397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332,761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3.6%</a:t>
                      </a:r>
                      <a:endParaRPr sz="1100"/>
                    </a:p>
                  </a:txBody>
                  <a:tcPr marL="19050" marR="14288" marT="19050" marB="19050" anchor="ctr">
                    <a:solidFill>
                      <a:srgbClr val="F5F8FA"/>
                    </a:solidFill>
                  </a:tcPr>
                </a:tc>
              </a:tr>
              <a:tr h="215319">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2,985,702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3,069,886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3,162,547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3,264,250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3,375,722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3,497,603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3,623,985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3,754,922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3,890,586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4,031,141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4,176,754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4,327,641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4,483,940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4,645,897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4,813,704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4,987,551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238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718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576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Share Read-out, By Region</a:t>
            </a:r>
          </a:p>
        </p:txBody>
      </p:sp>
      <p:sp>
        <p:nvSpPr>
          <p:cNvPr id="17" name="Rectangle 16"/>
          <p:cNvSpPr/>
          <p:nvPr/>
        </p:nvSpPr>
        <p:spPr>
          <a:xfrm>
            <a:off x="276225" y="3895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81450"/>
            <a:ext cx="11639550" cy="25717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North America removable partial dentures market is projected to register 1.2X higher volume than Europe in 2036. Among removable partial dentures by region, South Asia &amp; Pacific is expected to witness the highest CAGR of 4.5% over the forecast period.</a:t>
            </a:r>
          </a:p>
          <a:p>
            <a:pPr algn="l">
              <a:lnSpc>
                <a:spcPct val="110000"/>
              </a:lnSpc>
              <a:spcBef>
                <a:spcPts val="0"/>
              </a:spcBef>
              <a:spcAft>
                <a:spcPts val="500"/>
              </a:spcAft>
            </a:pPr>
            <a:r>
              <a:rPr sz="1150" b="0">
                <a:solidFill>
                  <a:srgbClr val="2E2E2E"/>
                </a:solidFill>
                <a:latin typeface="Calibri"/>
              </a:rPr>
              <a:t>In terms of volume share by region, North America is expected to dominate the market, losing 282 BPS and accounting for 32.7%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(US$ Mn)</a:t>
            </a:r>
          </a:p>
        </p:txBody>
      </p:sp>
      <p:graphicFrame>
        <p:nvGraphicFramePr>
          <p:cNvPr id="13" name="Table 12"/>
          <p:cNvGraphicFramePr>
            <a:graphicFrameLocks noGrp="1"/>
          </p:cNvGraphicFramePr>
          <p:nvPr/>
        </p:nvGraphicFramePr>
        <p:xfrm>
          <a:off x="152400" y="1238250"/>
          <a:ext cx="11887195" cy="1724024"/>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Share Read-out, By Region</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North America removable partial dentures market is projected to register 1.1X higher value than Europe in 2036. Among removable partial dentures by region, South Asia &amp; Pacific is expected to witness the highest CAGR of 5.3% over the forecast period.</a:t>
            </a:r>
          </a:p>
          <a:p>
            <a:pPr algn="l">
              <a:lnSpc>
                <a:spcPct val="110000"/>
              </a:lnSpc>
              <a:spcBef>
                <a:spcPts val="0"/>
              </a:spcBef>
              <a:spcAft>
                <a:spcPts val="500"/>
              </a:spcAft>
            </a:pPr>
            <a:r>
              <a:rPr sz="1150" b="0">
                <a:solidFill>
                  <a:srgbClr val="2E2E2E"/>
                </a:solidFill>
                <a:latin typeface="Calibri"/>
              </a:rPr>
              <a:t>In terms of value share by region, North America is expected to dominate the market, losing 273 BPS and accounting for 30.3%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Trends,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Region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Region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3" name="Rectangle 12"/>
          <p:cNvSpPr/>
          <p:nvPr/>
        </p:nvSpPr>
        <p:spPr>
          <a:xfrm>
            <a:off x="238125" y="1266825"/>
            <a:ext cx="3246532"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353</a:t>
            </a:r>
          </a:p>
        </p:txBody>
      </p:sp>
      <p:sp>
        <p:nvSpPr>
          <p:cNvPr id="14" name="Rectangle 13"/>
          <p:cNvSpPr/>
          <p:nvPr/>
        </p:nvSpPr>
        <p:spPr>
          <a:xfrm>
            <a:off x="3484657" y="1266825"/>
            <a:ext cx="3441005" cy="2887124"/>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204</a:t>
            </a:r>
          </a:p>
        </p:txBody>
      </p:sp>
      <p:sp>
        <p:nvSpPr>
          <p:cNvPr id="15" name="Rectangle 14"/>
          <p:cNvSpPr/>
          <p:nvPr/>
        </p:nvSpPr>
        <p:spPr>
          <a:xfrm>
            <a:off x="3484657" y="4153949"/>
            <a:ext cx="3441005" cy="2418301"/>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171</a:t>
            </a:r>
          </a:p>
        </p:txBody>
      </p:sp>
      <p:sp>
        <p:nvSpPr>
          <p:cNvPr id="16" name="Rectangle 15"/>
          <p:cNvSpPr/>
          <p:nvPr/>
        </p:nvSpPr>
        <p:spPr>
          <a:xfrm>
            <a:off x="6925663" y="1266825"/>
            <a:ext cx="2853844" cy="2242469"/>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131</a:t>
            </a:r>
          </a:p>
        </p:txBody>
      </p:sp>
      <p:sp>
        <p:nvSpPr>
          <p:cNvPr id="17" name="Rectangle 16"/>
          <p:cNvSpPr/>
          <p:nvPr/>
        </p:nvSpPr>
        <p:spPr>
          <a:xfrm>
            <a:off x="9779506" y="1266825"/>
            <a:ext cx="2174369" cy="2242469"/>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100.0</a:t>
            </a:r>
          </a:p>
        </p:txBody>
      </p:sp>
      <p:sp>
        <p:nvSpPr>
          <p:cNvPr id="18" name="Rectangle 17"/>
          <p:cNvSpPr/>
          <p:nvPr/>
        </p:nvSpPr>
        <p:spPr>
          <a:xfrm>
            <a:off x="6925663" y="3509294"/>
            <a:ext cx="2443098" cy="1641049"/>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82.2</a:t>
            </a:r>
          </a:p>
        </p:txBody>
      </p:sp>
      <p:sp>
        <p:nvSpPr>
          <p:cNvPr id="19" name="Rectangle 18"/>
          <p:cNvSpPr/>
          <p:nvPr/>
        </p:nvSpPr>
        <p:spPr>
          <a:xfrm>
            <a:off x="6925663" y="5150343"/>
            <a:ext cx="2443098" cy="1421907"/>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71.2</a:t>
            </a:r>
          </a:p>
        </p:txBody>
      </p:sp>
      <p:sp>
        <p:nvSpPr>
          <p:cNvPr id="20" name="Rectangle 19"/>
          <p:cNvSpPr/>
          <p:nvPr/>
        </p:nvSpPr>
        <p:spPr>
          <a:xfrm>
            <a:off x="9368761" y="3509294"/>
            <a:ext cx="1303924" cy="2110527"/>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56.4</a:t>
            </a:r>
          </a:p>
        </p:txBody>
      </p:sp>
      <p:sp>
        <p:nvSpPr>
          <p:cNvPr id="21" name="Rectangle 20"/>
          <p:cNvSpPr/>
          <p:nvPr/>
        </p:nvSpPr>
        <p:spPr>
          <a:xfrm>
            <a:off x="10672685" y="3509294"/>
            <a:ext cx="1281190" cy="2110527"/>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55.5</a:t>
            </a:r>
          </a:p>
        </p:txBody>
      </p:sp>
      <p:sp>
        <p:nvSpPr>
          <p:cNvPr id="22" name="Rectangle 21"/>
          <p:cNvSpPr/>
          <p:nvPr/>
        </p:nvSpPr>
        <p:spPr>
          <a:xfrm>
            <a:off x="9368761" y="5619821"/>
            <a:ext cx="2585114" cy="952429"/>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50.5</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Global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Partial Dentures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392.7</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529.8</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3.0%</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Combination Framework Partial Den…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280.6</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467.2</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5.2%</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Cast Metal Partial Dentures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232.5</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431.1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6.4%</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Partial Dentures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219.3</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302.7</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3.3%</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Among removable partial dentures by product type, cast metal partial dentures segment is expected to witness the highest CAGR of 6.4% over the forecast period. In terms of value share by product type, the flexible partial dentures segment is expected to dominate the market, losing 429 BPS and accounting for 30.6% share by 2036.</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Flexible partial dentures segment is projected to register 1.1X higher value than combination framework partial dentures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Flexible Partial Dentures: </a:t>
            </a:r>
            <a:r>
              <a:rPr sz="1100" b="0">
                <a:solidFill>
                  <a:srgbClr val="2E2E2E"/>
                </a:solidFill>
                <a:latin typeface="Calibri"/>
              </a:rPr>
              <a:t>35% of 2026 value · 3.0%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Combination Framework Partial Dentures: </a:t>
            </a:r>
            <a:r>
              <a:rPr sz="1100" b="0">
                <a:solidFill>
                  <a:srgbClr val="2E2E2E"/>
                </a:solidFill>
                <a:latin typeface="Calibri"/>
              </a:rPr>
              <a:t>25% of 2026 value · 5.2%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Cast Metal Partial Dentures: </a:t>
            </a:r>
            <a:r>
              <a:rPr sz="1100" b="0">
                <a:solidFill>
                  <a:srgbClr val="2E2E2E"/>
                </a:solidFill>
                <a:latin typeface="Calibri"/>
              </a:rPr>
              <a:t>21% of 2026 value · 6.4%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Acrylic Partial Dentures: </a:t>
            </a:r>
            <a:r>
              <a:rPr sz="1100" b="0">
                <a:solidFill>
                  <a:srgbClr val="2E2E2E"/>
                </a:solidFill>
                <a:latin typeface="Calibri"/>
              </a:rPr>
              <a:t>19% of 2026 value · 3.3%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Type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Cast metal partial dentures followed by combination framework partial dentures are expected to be the two most attractive product type segments in the global removable partial dentures market in terms of value over the forecast period. Cast metal partial dentures and combination framework partial dentures exhibit a CAGR index of 144.7 and 118.9 and a market share index of 82.7 and 99.8 respectively, against the segment average of 100. The acrylic partial dentures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Cast Metal Partial Dentures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Acrylic Partial Dentures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Flexible Partial Dentures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Combination Framework Partial Dentures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Product Type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Product Type (Units)</a:t>
            </a:r>
          </a:p>
        </p:txBody>
      </p:sp>
      <p:graphicFrame>
        <p:nvGraphicFramePr>
          <p:cNvPr id="13" name="Table 12"/>
          <p:cNvGraphicFramePr>
            <a:graphicFrameLocks noGrp="1"/>
          </p:cNvGraphicFramePr>
          <p:nvPr/>
        </p:nvGraphicFramePr>
        <p:xfrm>
          <a:off x="152400" y="1238250"/>
          <a:ext cx="11887208" cy="2114551"/>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Product Type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349682">
                <a:tc>
                  <a:txBody>
                    <a:bodyPr wrap="square"/>
                    <a:lstStyle/>
                    <a:p>
                      <a:pPr algn="l">
                        <a:lnSpc>
                          <a:spcPct val="90000"/>
                        </a:lnSpc>
                      </a:pPr>
                      <a:r>
                        <a:rPr sz="1100" b="1">
                          <a:solidFill>
                            <a:srgbClr val="2E2E2E"/>
                          </a:solidFill>
                          <a:latin typeface="Calibri"/>
                        </a:rPr>
                        <a:t>Cast Metal Partial Dentures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578,428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605,770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635,528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667,918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703,205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741,645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782,094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824,630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869,361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916,394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965,843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1,017,837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1,072,492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1,129,951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1,190,354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1,253,842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5.4%</a:t>
                      </a:r>
                      <a:endParaRPr sz="1100"/>
                    </a:p>
                  </a:txBody>
                  <a:tcPr marL="19050" marR="14288" marT="19050" marB="19050" anchor="ctr">
                    <a:solidFill>
                      <a:srgbClr val="FFFFFF"/>
                    </a:solidFill>
                  </a:tcPr>
                </a:tc>
              </a:tr>
              <a:tr h="349682">
                <a:tc>
                  <a:txBody>
                    <a:bodyPr wrap="square"/>
                    <a:lstStyle/>
                    <a:p>
                      <a:pPr algn="l">
                        <a:lnSpc>
                          <a:spcPct val="90000"/>
                        </a:lnSpc>
                      </a:pPr>
                      <a:r>
                        <a:rPr sz="1100" b="1">
                          <a:solidFill>
                            <a:srgbClr val="2E2E2E"/>
                          </a:solidFill>
                          <a:latin typeface="Calibri"/>
                        </a:rPr>
                        <a:t>Acrylic Partial Dentures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594,886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605,516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617,396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630,579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645,139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661,130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677,370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693,834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710,512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727,394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744,466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761,721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779,136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796,701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814,399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832,206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a:t>
                      </a:r>
                      <a:endParaRPr sz="1100"/>
                    </a:p>
                  </a:txBody>
                  <a:tcPr marL="19050" marR="14288" marT="19050" marB="19050" anchor="ctr">
                    <a:solidFill>
                      <a:srgbClr val="F5F8FA"/>
                    </a:solidFill>
                  </a:tcPr>
                </a:tc>
              </a:tr>
              <a:tr h="349682">
                <a:tc>
                  <a:txBody>
                    <a:bodyPr wrap="square"/>
                    <a:lstStyle/>
                    <a:p>
                      <a:pPr algn="l">
                        <a:lnSpc>
                          <a:spcPct val="90000"/>
                        </a:lnSpc>
                      </a:pPr>
                      <a:r>
                        <a:rPr sz="1100" b="1">
                          <a:solidFill>
                            <a:srgbClr val="2E2E2E"/>
                          </a:solidFill>
                          <a:latin typeface="Calibri"/>
                        </a:rPr>
                        <a:t>Flexible Partial Dentures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876,783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890,810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906,583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924,164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943,648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965,095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986,772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1,008,628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1,030,645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1,052,796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1,075,054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1,097,399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1,119,786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1,142,195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1,164,586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1,186,914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a:t>
                      </a:r>
                      <a:endParaRPr sz="1100"/>
                    </a:p>
                  </a:txBody>
                  <a:tcPr marL="19050" marR="14288" marT="19050" marB="19050" anchor="ctr">
                    <a:solidFill>
                      <a:srgbClr val="FFFFFF"/>
                    </a:solidFill>
                  </a:tcPr>
                </a:tc>
              </a:tr>
              <a:tr h="500558">
                <a:tc>
                  <a:txBody>
                    <a:bodyPr wrap="square"/>
                    <a:lstStyle/>
                    <a:p>
                      <a:pPr algn="l">
                        <a:lnSpc>
                          <a:spcPct val="90000"/>
                        </a:lnSpc>
                      </a:pPr>
                      <a:r>
                        <a:rPr sz="1100" b="1">
                          <a:solidFill>
                            <a:srgbClr val="2E2E2E"/>
                          </a:solidFill>
                          <a:latin typeface="Calibri"/>
                        </a:rPr>
                        <a:t>Combination Framework Partial Dentures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935,605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967,790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1,003,040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1,041,589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1,083,730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1,129,734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1,177,749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1,227,830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1,280,068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1,334,556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1,391,390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1,450,683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1,512,527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1,577,049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1,644,364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1,714,588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4.3%</a:t>
                      </a:r>
                      <a:endParaRPr sz="1100"/>
                    </a:p>
                  </a:txBody>
                  <a:tcPr marL="19050" marR="14288" marT="19050" marB="19050" anchor="ctr">
                    <a:solidFill>
                      <a:srgbClr val="F5F8FA"/>
                    </a:solidFill>
                  </a:tcPr>
                </a:tc>
              </a:tr>
              <a:tr h="21557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2,985,702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3,069,886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3,162,547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3,264,250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3,375,722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3,497,603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3,623,985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3,754,922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3,890,586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4,031,141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4,176,754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4,327,641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4,483,940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4,645,897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4,813,704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4,987,551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814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Product Type</a:t>
            </a:r>
          </a:p>
        </p:txBody>
      </p:sp>
      <p:sp>
        <p:nvSpPr>
          <p:cNvPr id="17" name="Rectangle 16"/>
          <p:cNvSpPr/>
          <p:nvPr/>
        </p:nvSpPr>
        <p:spPr>
          <a:xfrm>
            <a:off x="276225" y="4019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05275"/>
            <a:ext cx="1163955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Combination framework partial dentures segment is projected to register 1.4X higher volume than cast metal partial dentures segment in 2036. Among removable partial dentures by product type, cast metal partial dentures segment is expected to witness the highest CAGR of 5.4% over the forecast period.</a:t>
            </a:r>
          </a:p>
          <a:p>
            <a:pPr algn="l">
              <a:lnSpc>
                <a:spcPct val="110000"/>
              </a:lnSpc>
              <a:spcBef>
                <a:spcPts val="0"/>
              </a:spcBef>
              <a:spcAft>
                <a:spcPts val="500"/>
              </a:spcAft>
            </a:pPr>
            <a:r>
              <a:rPr sz="1150" b="0">
                <a:solidFill>
                  <a:srgbClr val="2E2E2E"/>
                </a:solidFill>
                <a:latin typeface="Calibri"/>
              </a:rPr>
              <a:t>In terms of volume share by product type, the combination framework partial dentures segment is expected to dominate the market, gaining 208 BPS and accounting for 34.4% share by 2036. The flexible partial dentures segment is expected to lose 380 BPS over the forecast period to account for 23.8%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Product Type (US$ Mn)</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Product Type</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Flexible partial dentures segment is projected to register 1.1X higher value than combination framework partial dentures segment in 2036. Among removable partial dentures by product type, cast metal partial dentures segment is expected to witness the highest CAGR of 6.4% over the forecast period.</a:t>
            </a:r>
          </a:p>
          <a:p>
            <a:pPr algn="l">
              <a:lnSpc>
                <a:spcPct val="110000"/>
              </a:lnSpc>
              <a:spcBef>
                <a:spcPts val="0"/>
              </a:spcBef>
              <a:spcAft>
                <a:spcPts val="500"/>
              </a:spcAft>
            </a:pPr>
            <a:r>
              <a:rPr sz="1150" b="0">
                <a:solidFill>
                  <a:srgbClr val="2E2E2E"/>
                </a:solidFill>
                <a:latin typeface="Calibri"/>
              </a:rPr>
              <a:t>In terms of value share by product type, the flexible partial dentures segment is expected to dominate the market, losing 429 BPS and accounting for 30.6%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7103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662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900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Partial Dentures</a:t>
            </a:r>
          </a:p>
        </p:txBody>
      </p:sp>
      <p:sp>
        <p:nvSpPr>
          <p:cNvPr id="19" name="BPS Value 1"/>
          <p:cNvSpPr txBox="1"/>
          <p:nvPr/>
        </p:nvSpPr>
        <p:spPr>
          <a:xfrm>
            <a:off x="6896100" y="2051982"/>
            <a:ext cx="514350" cy="123825"/>
          </a:xfrm>
          <a:prstGeom prst="rect">
            <a:avLst/>
          </a:prstGeom>
          <a:noFill/>
        </p:spPr>
        <p:txBody>
          <a:bodyPr wrap="none" lIns="0" rIns="0" tIns="0" bIns="0" anchor="ctr">
            <a:spAutoFit/>
          </a:bodyPr>
          <a:lstStyle/>
          <a:p>
            <a:pPr algn="r"/>
            <a:r>
              <a:rPr sz="900" b="1">
                <a:solidFill>
                  <a:srgbClr val="E44D3A"/>
                </a:solidFill>
                <a:latin typeface="Calibri"/>
              </a:rPr>
              <a:t>-201</a:t>
            </a:r>
          </a:p>
        </p:txBody>
      </p:sp>
      <p:sp>
        <p:nvSpPr>
          <p:cNvPr id="20" name="FMI Legend Chip"/>
          <p:cNvSpPr/>
          <p:nvPr/>
        </p:nvSpPr>
        <p:spPr>
          <a:xfrm>
            <a:off x="4928997" y="304025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03548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592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Cast Metal Partial Dentures</a:t>
            </a:r>
          </a:p>
        </p:txBody>
      </p:sp>
      <p:sp>
        <p:nvSpPr>
          <p:cNvPr id="23" name="BPS Value 2"/>
          <p:cNvSpPr txBox="1"/>
          <p:nvPr/>
        </p:nvSpPr>
        <p:spPr>
          <a:xfrm>
            <a:off x="6896100" y="3021201"/>
            <a:ext cx="514350" cy="123825"/>
          </a:xfrm>
          <a:prstGeom prst="rect">
            <a:avLst/>
          </a:prstGeom>
          <a:noFill/>
        </p:spPr>
        <p:txBody>
          <a:bodyPr wrap="none" lIns="0" rIns="0" tIns="0" bIns="0" anchor="ctr">
            <a:spAutoFit/>
          </a:bodyPr>
          <a:lstStyle/>
          <a:p>
            <a:pPr algn="r"/>
            <a:r>
              <a:rPr sz="900" b="1">
                <a:solidFill>
                  <a:srgbClr val="2E7D32"/>
                </a:solidFill>
                <a:latin typeface="Calibri"/>
              </a:rPr>
              <a:t>+424</a:t>
            </a:r>
          </a:p>
        </p:txBody>
      </p:sp>
      <p:sp>
        <p:nvSpPr>
          <p:cNvPr id="24" name="FMI Legend Chip"/>
          <p:cNvSpPr/>
          <p:nvPr/>
        </p:nvSpPr>
        <p:spPr>
          <a:xfrm>
            <a:off x="4928997" y="422685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22209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14589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Combination Framework Partial Dentures</a:t>
            </a:r>
          </a:p>
        </p:txBody>
      </p:sp>
      <p:sp>
        <p:nvSpPr>
          <p:cNvPr id="27" name="BPS Value 3"/>
          <p:cNvSpPr txBox="1"/>
          <p:nvPr/>
        </p:nvSpPr>
        <p:spPr>
          <a:xfrm>
            <a:off x="6896100" y="4207809"/>
            <a:ext cx="514350" cy="123825"/>
          </a:xfrm>
          <a:prstGeom prst="rect">
            <a:avLst/>
          </a:prstGeom>
          <a:noFill/>
        </p:spPr>
        <p:txBody>
          <a:bodyPr wrap="none" lIns="0" rIns="0" tIns="0" bIns="0" anchor="ctr">
            <a:spAutoFit/>
          </a:bodyPr>
          <a:lstStyle/>
          <a:p>
            <a:pPr algn="r"/>
            <a:r>
              <a:rPr sz="900" b="1">
                <a:solidFill>
                  <a:srgbClr val="2E7D32"/>
                </a:solidFill>
                <a:latin typeface="Calibri"/>
              </a:rPr>
              <a:t>+206</a:t>
            </a:r>
          </a:p>
        </p:txBody>
      </p:sp>
      <p:sp>
        <p:nvSpPr>
          <p:cNvPr id="28" name="FMI Legend Chip"/>
          <p:cNvSpPr/>
          <p:nvPr/>
        </p:nvSpPr>
        <p:spPr>
          <a:xfrm>
            <a:off x="4928997" y="554383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5390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628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Partial Dentures</a:t>
            </a:r>
          </a:p>
        </p:txBody>
      </p:sp>
      <p:sp>
        <p:nvSpPr>
          <p:cNvPr id="31" name="BPS Value 4"/>
          <p:cNvSpPr txBox="1"/>
          <p:nvPr/>
        </p:nvSpPr>
        <p:spPr>
          <a:xfrm>
            <a:off x="6896100" y="5524780"/>
            <a:ext cx="514350" cy="123825"/>
          </a:xfrm>
          <a:prstGeom prst="rect">
            <a:avLst/>
          </a:prstGeom>
          <a:noFill/>
        </p:spPr>
        <p:txBody>
          <a:bodyPr wrap="none" lIns="0" rIns="0" tIns="0" bIns="0" anchor="ctr">
            <a:spAutoFit/>
          </a:bodyPr>
          <a:lstStyle/>
          <a:p>
            <a:pPr algn="r"/>
            <a:r>
              <a:rPr sz="900" b="1">
                <a:solidFill>
                  <a:srgbClr val="E44D3A"/>
                </a:solidFill>
                <a:latin typeface="Calibri"/>
              </a:rPr>
              <a:t>-429</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product type, cast metal partial dentures segment is expected to witness the highest CAGR of 6.4% over the forecast period.</a:t>
            </a:r>
          </a:p>
          <a:p>
            <a:pPr algn="l">
              <a:lnSpc>
                <a:spcPct val="110000"/>
              </a:lnSpc>
              <a:spcBef>
                <a:spcPts val="0"/>
              </a:spcBef>
              <a:spcAft>
                <a:spcPts val="500"/>
              </a:spcAft>
            </a:pPr>
            <a:r>
              <a:rPr sz="1150" b="0">
                <a:solidFill>
                  <a:srgbClr val="2E2E2E"/>
                </a:solidFill>
                <a:latin typeface="Calibri"/>
              </a:rPr>
              <a:t>In terms of value share by product type, the flexible partial dentures segment is expected to dominate the market, losing 429 BPS and accounting for 30.6%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076325"/>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Product Type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086100"/>
            <a:ext cx="643890" cy="87153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3957638"/>
            <a:ext cx="643890" cy="87153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829175"/>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00712"/>
            <a:ext cx="643890" cy="871538"/>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076325"/>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Product Type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086100"/>
            <a:ext cx="643890" cy="871538"/>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3957638"/>
            <a:ext cx="643890" cy="87153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829175"/>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00712"/>
            <a:ext cx="643890" cy="871538"/>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Material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Type segment categorizes the market by material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 Resin</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489.2</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761.2</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4.5%</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 Alloys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324.7</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496.4</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4.3%</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Thermoplastics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208.9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311.1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4.1%</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High-performance Polymers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102.4</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162.1</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4.7%</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removable partial dentures by material type, high-performance polymers segment is expected to witness the highest CAGR of 4.7% over the forecast period. In terms of value share by material type, the acrylic / resin segment is expected to dominate the market, gaining 51 BPS and accounting for 44.0%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Acrylic / resin segment is projected to register 1.5X higher value than metal alloys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Acrylic / Resin: </a:t>
            </a:r>
            <a:r>
              <a:rPr sz="1100" b="0">
                <a:solidFill>
                  <a:srgbClr val="2E2E2E"/>
                </a:solidFill>
                <a:latin typeface="Calibri"/>
              </a:rPr>
              <a:t>43% of 2026 value · 4.5%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Metal Alloys: </a:t>
            </a:r>
            <a:r>
              <a:rPr sz="1100" b="0">
                <a:solidFill>
                  <a:srgbClr val="2E2E2E"/>
                </a:solidFill>
                <a:latin typeface="Calibri"/>
              </a:rPr>
              <a:t>29% of 2026 value · 4.3%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Flexible Thermoplastics: </a:t>
            </a:r>
            <a:r>
              <a:rPr sz="1100" b="0">
                <a:solidFill>
                  <a:srgbClr val="2E2E2E"/>
                </a:solidFill>
                <a:latin typeface="Calibri"/>
              </a:rPr>
              <a:t>19% of 2026 value · 4.1%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High-performance Polymers: </a:t>
            </a:r>
            <a:r>
              <a:rPr sz="1100" b="0">
                <a:solidFill>
                  <a:srgbClr val="2E2E2E"/>
                </a:solidFill>
                <a:latin typeface="Calibri"/>
              </a:rPr>
              <a:t>9% of 2026 value · 4.7%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Type split shows how demand is distributed across material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Material Type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Material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Acrylic / resin followed by metal alloys are expected to be the two most attractive material type segments in the global removable partial dentures market in terms of value over the forecast period. Acrylic / resin and metal alloys exhibit a CAGR index of 102.8 and 98.6 and a market share index of 173.9 and 115.4 respectively, against the segment average of 100. The high-performance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Metal Alloys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Acrylic / Resin</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Flexible Thermoplastics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High-performance Polymers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Material Type (Units)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733675"/>
          </a:xfrm>
          <a:prstGeom prst="roundRect">
            <a:avLst>
              <a:gd name="adj" fmla="val 27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Material Type (Units)</a:t>
            </a:r>
          </a:p>
        </p:txBody>
      </p:sp>
      <p:graphicFrame>
        <p:nvGraphicFramePr>
          <p:cNvPr id="13" name="Table 12"/>
          <p:cNvGraphicFramePr>
            <a:graphicFrameLocks noGrp="1"/>
          </p:cNvGraphicFramePr>
          <p:nvPr/>
        </p:nvGraphicFramePr>
        <p:xfrm>
          <a:off x="152400" y="1238250"/>
          <a:ext cx="11887208" cy="2266947"/>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216462">
                <a:tc>
                  <a:txBody>
                    <a:bodyPr wrap="none"/>
                    <a:lstStyle/>
                    <a:p>
                      <a:pPr algn="l"/>
                      <a:r>
                        <a:rPr sz="1100" b="1">
                          <a:solidFill>
                            <a:srgbClr val="2E2E2E"/>
                          </a:solidFill>
                          <a:latin typeface="Calibri"/>
                        </a:rPr>
                        <a:t>Metal Alloys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848,033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870,676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895,654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923,118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953,260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986,252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1,020,419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1,055,770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1,092,349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1,130,196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1,169,354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1,209,878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1,251,802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1,295,188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1,340,085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1,386,541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3.5%</a:t>
                      </a:r>
                      <a:endParaRPr sz="1100"/>
                    </a:p>
                  </a:txBody>
                  <a:tcPr marL="19050" marR="14288" marT="19050" marB="19050" anchor="ctr">
                    <a:solidFill>
                      <a:srgbClr val="FFFFFF"/>
                    </a:solidFill>
                  </a:tcPr>
                </a:tc>
              </a:tr>
              <a:tr h="350574">
                <a:tc>
                  <a:txBody>
                    <a:bodyPr wrap="square"/>
                    <a:lstStyle/>
                    <a:p>
                      <a:pPr algn="l">
                        <a:lnSpc>
                          <a:spcPct val="90000"/>
                        </a:lnSpc>
                      </a:pPr>
                      <a:r>
                        <a:rPr sz="1100" b="1">
                          <a:solidFill>
                            <a:srgbClr val="2E2E2E"/>
                          </a:solidFill>
                          <a:latin typeface="Calibri"/>
                        </a:rPr>
                        <a:t>– Cobalt-Chromium Alloys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308,368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323,402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339,767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357,585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377,002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398,164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420,458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443,935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468,655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494,681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522,082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550,929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581,293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613,257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646,901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682,310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5.5%</a:t>
                      </a:r>
                      <a:endParaRPr sz="1100"/>
                    </a:p>
                  </a:txBody>
                  <a:tcPr marL="19050" marR="14288" marT="19050" marB="19050" anchor="ctr">
                    <a:solidFill>
                      <a:srgbClr val="F5F8FA"/>
                    </a:solidFill>
                  </a:tcPr>
                </a:tc>
              </a:tr>
              <a:tr h="216462">
                <a:tc>
                  <a:txBody>
                    <a:bodyPr wrap="none"/>
                    <a:lstStyle/>
                    <a:p>
                      <a:pPr algn="l"/>
                      <a:r>
                        <a:rPr sz="1100" b="1">
                          <a:solidFill>
                            <a:srgbClr val="2E2E2E"/>
                          </a:solidFill>
                          <a:latin typeface="Calibri"/>
                        </a:rPr>
                        <a:t>– Titanium Alloys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539,665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547,274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555,887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565,532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576,258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588,089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599,961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611,836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623,694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635,514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647,273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658,949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670,509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681,932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693,184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704,231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a:t>
                      </a:r>
                      <a:endParaRPr sz="1100"/>
                    </a:p>
                  </a:txBody>
                  <a:tcPr marL="19050" marR="14288" marT="19050" marB="19050" anchor="ctr">
                    <a:solidFill>
                      <a:srgbClr val="FFFFFF"/>
                    </a:solidFill>
                  </a:tcPr>
                </a:tc>
              </a:tr>
              <a:tr h="216462">
                <a:tc>
                  <a:txBody>
                    <a:bodyPr wrap="none"/>
                    <a:lstStyle/>
                    <a:p>
                      <a:pPr algn="l"/>
                      <a:r>
                        <a:rPr sz="1100" b="1">
                          <a:solidFill>
                            <a:srgbClr val="2E2E2E"/>
                          </a:solidFill>
                          <a:latin typeface="Calibri"/>
                        </a:rPr>
                        <a:t>Acrylic / Resin</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1,389,459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1,429,777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1,474,107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1,522,724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1,575,976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1,634,173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1,694,563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1,757,177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1,822,100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1,889,415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1,959,204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2,031,574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2,106,597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2,184,392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2,265,057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2,348,687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3.7%</a:t>
                      </a:r>
                      <a:endParaRPr sz="1100"/>
                    </a:p>
                  </a:txBody>
                  <a:tcPr marL="19050" marR="14288" marT="19050" marB="19050" anchor="ctr">
                    <a:solidFill>
                      <a:srgbClr val="F5F8FA"/>
                    </a:solidFill>
                  </a:tcPr>
                </a:tc>
              </a:tr>
              <a:tr h="216462">
                <a:tc>
                  <a:txBody>
                    <a:bodyPr wrap="none"/>
                    <a:lstStyle/>
                    <a:p>
                      <a:pPr algn="l"/>
                      <a:r>
                        <a:rPr sz="1100" b="1">
                          <a:solidFill>
                            <a:srgbClr val="2E2E2E"/>
                          </a:solidFill>
                          <a:latin typeface="Calibri"/>
                        </a:rPr>
                        <a:t>– PMMA</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635,122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668,818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705,429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745,233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788,558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835,733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885,502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937,974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993,293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1,051,603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1,113,057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1,177,827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1,246,070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1,317,979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1,393,740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1,473,545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5.8%</a:t>
                      </a:r>
                      <a:endParaRPr sz="1100"/>
                    </a:p>
                  </a:txBody>
                  <a:tcPr marL="19050" marR="14288" marT="19050" marB="19050" anchor="ctr">
                    <a:solidFill>
                      <a:srgbClr val="FFFFFF"/>
                    </a:solidFill>
                  </a:tcPr>
                </a:tc>
              </a:tr>
              <a:tr h="350574">
                <a:tc>
                  <a:txBody>
                    <a:bodyPr wrap="square"/>
                    <a:lstStyle/>
                    <a:p>
                      <a:pPr algn="l">
                        <a:lnSpc>
                          <a:spcPct val="90000"/>
                        </a:lnSpc>
                      </a:pPr>
                      <a:r>
                        <a:rPr sz="1100" b="1">
                          <a:solidFill>
                            <a:srgbClr val="2E2E2E"/>
                          </a:solidFill>
                          <a:latin typeface="Calibri"/>
                        </a:rPr>
                        <a:t>– Printable Denture Resins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754,337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760,959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768,678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777,492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787,418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798,440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809,061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819,203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828,807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837,812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846,147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853,747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860,527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866,413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871,318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875,142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0.9%</a:t>
                      </a:r>
                      <a:endParaRPr sz="1100"/>
                    </a:p>
                  </a:txBody>
                  <a:tcPr marL="19050" marR="14288" marT="19050" marB="19050" anchor="ctr">
                    <a:solidFill>
                      <a:srgbClr val="F5F8FA"/>
                    </a:solidFill>
                  </a:tcPr>
                </a:tc>
              </a:tr>
              <a:tr h="350574">
                <a:tc>
                  <a:txBody>
                    <a:bodyPr wrap="square"/>
                    <a:lstStyle/>
                    <a:p>
                      <a:pPr algn="l">
                        <a:lnSpc>
                          <a:spcPct val="90000"/>
                        </a:lnSpc>
                      </a:pPr>
                      <a:r>
                        <a:rPr sz="1100" b="1">
                          <a:solidFill>
                            <a:srgbClr val="2E2E2E"/>
                          </a:solidFill>
                          <a:latin typeface="Calibri"/>
                        </a:rPr>
                        <a:t>Flexible Thermoplastics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480,341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493,171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507,311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522,845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539,883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558,516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577,795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597,723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618,323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639,614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661,619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684,364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707,867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732,158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757,262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783,200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a:t>
                      </a:r>
                      <a:endParaRPr sz="1100"/>
                    </a:p>
                  </a:txBody>
                  <a:tcPr marL="19050" marR="14288" marT="19050" marB="19050" anchor="ctr">
                    <a:solidFill>
                      <a:srgbClr val="FFFFFF"/>
                    </a:solidFill>
                  </a:tcPr>
                </a:tc>
              </a:tr>
            </a:tbl>
          </a:graphicData>
        </a:graphic>
      </p:graphicFrame>
      <p:sp>
        <p:nvSpPr>
          <p:cNvPr id="14" name="TextBox 13"/>
          <p:cNvSpPr txBox="1"/>
          <p:nvPr/>
        </p:nvSpPr>
        <p:spPr>
          <a:xfrm>
            <a:off x="219075" y="3514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Material Type (Units)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42875" y="981075"/>
            <a:ext cx="11906250" cy="3086100"/>
          </a:xfrm>
          <a:prstGeom prst="roundRect">
            <a:avLst>
              <a:gd name="adj" fmla="val 2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Material Type (Units)</a:t>
            </a:r>
          </a:p>
        </p:txBody>
      </p:sp>
      <p:graphicFrame>
        <p:nvGraphicFramePr>
          <p:cNvPr id="12" name="Table 11"/>
          <p:cNvGraphicFramePr>
            <a:graphicFrameLocks noGrp="1"/>
          </p:cNvGraphicFramePr>
          <p:nvPr/>
        </p:nvGraphicFramePr>
        <p:xfrm>
          <a:off x="152400" y="1238250"/>
          <a:ext cx="11887208" cy="2619375"/>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350393">
                <a:tc>
                  <a:txBody>
                    <a:bodyPr wrap="square"/>
                    <a:lstStyle/>
                    <a:p>
                      <a:pPr algn="l">
                        <a:lnSpc>
                          <a:spcPct val="90000"/>
                        </a:lnSpc>
                      </a:pPr>
                      <a:r>
                        <a:rPr sz="1100" b="1">
                          <a:solidFill>
                            <a:srgbClr val="2E2E2E"/>
                          </a:solidFill>
                          <a:latin typeface="Calibri"/>
                        </a:rPr>
                        <a:t>– Polyamide / Nylon</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367,148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374,889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383,485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392,981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403,435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414,895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426,633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438,639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450,916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463,466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476,288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489,387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502,759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516,410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530,337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544,539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a:t>
                      </a:r>
                      <a:endParaRPr sz="1100"/>
                    </a:p>
                  </a:txBody>
                  <a:tcPr marL="19050" marR="14288" marT="19050" marB="19050" anchor="ctr">
                    <a:solidFill>
                      <a:srgbClr val="FFFFFF"/>
                    </a:solidFill>
                  </a:tcPr>
                </a:tc>
              </a:tr>
              <a:tr h="501269">
                <a:tc>
                  <a:txBody>
                    <a:bodyPr wrap="square"/>
                    <a:lstStyle/>
                    <a:p>
                      <a:pPr algn="l">
                        <a:lnSpc>
                          <a:spcPct val="90000"/>
                        </a:lnSpc>
                      </a:pPr>
                      <a:r>
                        <a:rPr sz="1100" b="1">
                          <a:solidFill>
                            <a:srgbClr val="2E2E2E"/>
                          </a:solidFill>
                          <a:latin typeface="Calibri"/>
                        </a:rPr>
                        <a:t>– Other Thermoplastic Resins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113,193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118,282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123,826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129,865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136,447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143,621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151,162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159,084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167,406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176,148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185,331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194,977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205,107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215,748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226,924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238,661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5.2%</a:t>
                      </a:r>
                      <a:endParaRPr sz="1100"/>
                    </a:p>
                  </a:txBody>
                  <a:tcPr marL="19050" marR="14288" marT="19050" marB="19050" anchor="ctr">
                    <a:solidFill>
                      <a:srgbClr val="F5F8FA"/>
                    </a:solidFill>
                  </a:tcPr>
                </a:tc>
              </a:tr>
              <a:tr h="350393">
                <a:tc>
                  <a:txBody>
                    <a:bodyPr wrap="square"/>
                    <a:lstStyle/>
                    <a:p>
                      <a:pPr algn="l">
                        <a:lnSpc>
                          <a:spcPct val="90000"/>
                        </a:lnSpc>
                      </a:pPr>
                      <a:r>
                        <a:rPr sz="1100" b="1">
                          <a:solidFill>
                            <a:srgbClr val="2E2E2E"/>
                          </a:solidFill>
                          <a:latin typeface="Calibri"/>
                        </a:rPr>
                        <a:t>High-performance Polymers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267,868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276,262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285,474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295,563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306,603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318,661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331,208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344,252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357,815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371,916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386,578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401,824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417,675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434,158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451,300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469,123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3.9%</a:t>
                      </a:r>
                      <a:endParaRPr sz="1100"/>
                    </a:p>
                  </a:txBody>
                  <a:tcPr marL="19050" marR="14288" marT="19050" marB="19050" anchor="ctr">
                    <a:solidFill>
                      <a:srgbClr val="FFFFFF"/>
                    </a:solidFill>
                  </a:tcPr>
                </a:tc>
              </a:tr>
              <a:tr h="350393">
                <a:tc>
                  <a:txBody>
                    <a:bodyPr wrap="square"/>
                    <a:lstStyle/>
                    <a:p>
                      <a:pPr algn="l">
                        <a:lnSpc>
                          <a:spcPct val="90000"/>
                        </a:lnSpc>
                      </a:pPr>
                      <a:r>
                        <a:rPr sz="1100" b="1">
                          <a:solidFill>
                            <a:srgbClr val="2E2E2E"/>
                          </a:solidFill>
                          <a:latin typeface="Calibri"/>
                        </a:rPr>
                        <a:t>– PEEK-based Materials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137,862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141,189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144,865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148,913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153,358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158,224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163,237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168,395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173,703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179,164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184,781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190,559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196,500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202,610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208,891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215,346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3.1%</a:t>
                      </a:r>
                      <a:endParaRPr sz="1100"/>
                    </a:p>
                  </a:txBody>
                  <a:tcPr marL="19050" marR="14288" marT="19050" marB="19050" anchor="ctr">
                    <a:solidFill>
                      <a:srgbClr val="F5F8FA"/>
                    </a:solidFill>
                  </a:tcPr>
                </a:tc>
              </a:tr>
              <a:tr h="501269">
                <a:tc>
                  <a:txBody>
                    <a:bodyPr wrap="square"/>
                    <a:lstStyle/>
                    <a:p>
                      <a:pPr algn="l">
                        <a:lnSpc>
                          <a:spcPct val="90000"/>
                        </a:lnSpc>
                      </a:pPr>
                      <a:r>
                        <a:rPr sz="1100" b="1">
                          <a:solidFill>
                            <a:srgbClr val="2E2E2E"/>
                          </a:solidFill>
                          <a:latin typeface="Calibri"/>
                        </a:rPr>
                        <a:t>– Other High-performance Dental Polymers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130,006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135,074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140,609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146,650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153,245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160,437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167,971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175,857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184,112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192,752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201,797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211,265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221,174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231,549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242,409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253,777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4.7%</a:t>
                      </a:r>
                      <a:endParaRPr sz="1100"/>
                    </a:p>
                  </a:txBody>
                  <a:tcPr marL="19050" marR="14288" marT="19050" marB="19050" anchor="ctr">
                    <a:solidFill>
                      <a:srgbClr val="FFFFFF"/>
                    </a:solidFill>
                  </a:tcPr>
                </a:tc>
              </a:tr>
              <a:tr h="216281">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2,985,702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3,069,886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3,162,547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3,264,250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3,375,722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3,497,603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3,623,985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3,754,922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3,890,586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4,031,141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4,176,754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4,327,641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4,483,940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4,645,897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4,813,704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4,987,551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a:t>
                      </a:r>
                      <a:endParaRPr sz="1100"/>
                    </a:p>
                  </a:txBody>
                  <a:tcPr marL="19050" marR="14288" marT="19050" marB="19050" anchor="ctr">
                    <a:solidFill>
                      <a:srgbClr val="E0E8EF"/>
                    </a:solidFill>
                  </a:tcPr>
                </a:tc>
              </a:tr>
            </a:tbl>
          </a:graphicData>
        </a:graphic>
      </p:graphicFrame>
      <p:sp>
        <p:nvSpPr>
          <p:cNvPr id="13" name="TextBox 12"/>
          <p:cNvSpPr txBox="1"/>
          <p:nvPr/>
        </p:nvSpPr>
        <p:spPr>
          <a:xfrm>
            <a:off x="219075" y="3867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00525"/>
            <a:ext cx="11906250" cy="2428875"/>
          </a:xfrm>
          <a:prstGeom prst="roundRect">
            <a:avLst>
              <a:gd name="adj" fmla="val 31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2862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Material Type</a:t>
            </a:r>
          </a:p>
        </p:txBody>
      </p:sp>
      <p:sp>
        <p:nvSpPr>
          <p:cNvPr id="16" name="Rectangle 15"/>
          <p:cNvSpPr/>
          <p:nvPr/>
        </p:nvSpPr>
        <p:spPr>
          <a:xfrm>
            <a:off x="276225" y="4524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610100"/>
            <a:ext cx="11639550" cy="19431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Acrylic / resin segment is projected to register 1.7X higher volume than metal alloys segment in 2036. Among removable partial dentures by material type, high-performance polymers segment is expected to witness the highest CAGR of 3.9% over the forecast period.</a:t>
            </a:r>
          </a:p>
          <a:p>
            <a:pPr algn="l">
              <a:lnSpc>
                <a:spcPct val="110000"/>
              </a:lnSpc>
              <a:spcBef>
                <a:spcPts val="0"/>
              </a:spcBef>
              <a:spcAft>
                <a:spcPts val="500"/>
              </a:spcAft>
            </a:pPr>
            <a:r>
              <a:rPr sz="1150" b="0">
                <a:solidFill>
                  <a:srgbClr val="2E2E2E"/>
                </a:solidFill>
                <a:latin typeface="Calibri"/>
              </a:rPr>
              <a:t>In terms of volume share by material type, the acrylic / resin segment is expected to dominate the market, gaining 37 BPS and accounting for 47.1% share by 2036. The metal alloys segment is expected to lose 40 BPS over the forecast period to account for 27.8% share by 2036.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Material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Material Type (US$ Mn)</a:t>
            </a:r>
          </a:p>
        </p:txBody>
      </p:sp>
      <p:graphicFrame>
        <p:nvGraphicFramePr>
          <p:cNvPr id="13" name="Table 12"/>
          <p:cNvGraphicFramePr>
            <a:graphicFrameLocks noGrp="1"/>
          </p:cNvGraphicFramePr>
          <p:nvPr/>
        </p:nvGraphicFramePr>
        <p:xfrm>
          <a:off x="152400" y="1238250"/>
          <a:ext cx="11887201" cy="3019430"/>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Material Type</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Acrylic / resin segment is projected to register 1.5X higher value than metal alloys segment in 2036. Among removable partial dentures by material type, high-performance polymers segment is expected to witness the highest CAGR of 4.7% over the forecast period.</a:t>
            </a:r>
          </a:p>
          <a:p>
            <a:pPr algn="l">
              <a:lnSpc>
                <a:spcPct val="110000"/>
              </a:lnSpc>
              <a:spcBef>
                <a:spcPts val="0"/>
              </a:spcBef>
              <a:spcAft>
                <a:spcPts val="500"/>
              </a:spcAft>
            </a:pPr>
            <a:r>
              <a:rPr sz="1150" b="0">
                <a:solidFill>
                  <a:srgbClr val="2E2E2E"/>
                </a:solidFill>
                <a:latin typeface="Calibri"/>
              </a:rPr>
              <a:t>In terms of value share by material type, the acrylic / resin segment is expected to dominate the market, gaining 51 BPS and accounting for 44.0% share by 2036. The flexible thermoplastics segment is expected to lose 60 BPS over the forecast period to account for 18.0%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Material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8531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805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043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High-performance Polymers</a:t>
            </a:r>
          </a:p>
        </p:txBody>
      </p:sp>
      <p:sp>
        <p:nvSpPr>
          <p:cNvPr id="19" name="BPS Value 1"/>
          <p:cNvSpPr txBox="1"/>
          <p:nvPr/>
        </p:nvSpPr>
        <p:spPr>
          <a:xfrm>
            <a:off x="6896100" y="1866265"/>
            <a:ext cx="514350" cy="123825"/>
          </a:xfrm>
          <a:prstGeom prst="rect">
            <a:avLst/>
          </a:prstGeom>
          <a:noFill/>
        </p:spPr>
        <p:txBody>
          <a:bodyPr wrap="none" lIns="0" rIns="0" tIns="0" bIns="0" anchor="ctr">
            <a:spAutoFit/>
          </a:bodyPr>
          <a:lstStyle/>
          <a:p>
            <a:pPr algn="r"/>
            <a:r>
              <a:rPr sz="900" b="1">
                <a:solidFill>
                  <a:srgbClr val="2E7D32"/>
                </a:solidFill>
                <a:latin typeface="Calibri"/>
              </a:rPr>
              <a:t>+26</a:t>
            </a:r>
          </a:p>
        </p:txBody>
      </p:sp>
      <p:sp>
        <p:nvSpPr>
          <p:cNvPr id="20" name="FMI Legend Chip"/>
          <p:cNvSpPr/>
          <p:nvPr/>
        </p:nvSpPr>
        <p:spPr>
          <a:xfrm>
            <a:off x="4928997" y="251029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5055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293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Thermoplastics</a:t>
            </a:r>
          </a:p>
        </p:txBody>
      </p:sp>
      <p:sp>
        <p:nvSpPr>
          <p:cNvPr id="23" name="BPS Value 2"/>
          <p:cNvSpPr txBox="1"/>
          <p:nvPr/>
        </p:nvSpPr>
        <p:spPr>
          <a:xfrm>
            <a:off x="6896100" y="2491243"/>
            <a:ext cx="514350" cy="123825"/>
          </a:xfrm>
          <a:prstGeom prst="rect">
            <a:avLst/>
          </a:prstGeom>
          <a:noFill/>
        </p:spPr>
        <p:txBody>
          <a:bodyPr wrap="none" lIns="0" rIns="0" tIns="0" bIns="0" anchor="ctr">
            <a:spAutoFit/>
          </a:bodyPr>
          <a:lstStyle/>
          <a:p>
            <a:pPr algn="r"/>
            <a:r>
              <a:rPr sz="900" b="1">
                <a:solidFill>
                  <a:srgbClr val="E44D3A"/>
                </a:solidFill>
                <a:latin typeface="Calibri"/>
              </a:rPr>
              <a:t>-60</a:t>
            </a:r>
          </a:p>
        </p:txBody>
      </p:sp>
      <p:sp>
        <p:nvSpPr>
          <p:cNvPr id="24" name="FMI Legend Chip"/>
          <p:cNvSpPr/>
          <p:nvPr/>
        </p:nvSpPr>
        <p:spPr>
          <a:xfrm>
            <a:off x="4928997" y="357692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57216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4959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 Alloys</a:t>
            </a:r>
          </a:p>
        </p:txBody>
      </p:sp>
      <p:sp>
        <p:nvSpPr>
          <p:cNvPr id="27" name="BPS Value 3"/>
          <p:cNvSpPr txBox="1"/>
          <p:nvPr/>
        </p:nvSpPr>
        <p:spPr>
          <a:xfrm>
            <a:off x="6896100" y="3557879"/>
            <a:ext cx="514350" cy="123825"/>
          </a:xfrm>
          <a:prstGeom prst="rect">
            <a:avLst/>
          </a:prstGeom>
          <a:noFill/>
        </p:spPr>
        <p:txBody>
          <a:bodyPr wrap="none" lIns="0" rIns="0" tIns="0" bIns="0" anchor="ctr">
            <a:spAutoFit/>
          </a:bodyPr>
          <a:lstStyle/>
          <a:p>
            <a:pPr algn="r"/>
            <a:r>
              <a:rPr sz="900" b="1">
                <a:solidFill>
                  <a:srgbClr val="E44D3A"/>
                </a:solidFill>
                <a:latin typeface="Calibri"/>
              </a:rPr>
              <a:t>-17</a:t>
            </a:r>
          </a:p>
        </p:txBody>
      </p:sp>
      <p:sp>
        <p:nvSpPr>
          <p:cNvPr id="28" name="FMI Legend Chip"/>
          <p:cNvSpPr/>
          <p:nvPr/>
        </p:nvSpPr>
        <p:spPr>
          <a:xfrm>
            <a:off x="4928997" y="523814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3337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5717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 Resin</a:t>
            </a:r>
          </a:p>
        </p:txBody>
      </p:sp>
      <p:sp>
        <p:nvSpPr>
          <p:cNvPr id="31" name="BPS Value 4"/>
          <p:cNvSpPr txBox="1"/>
          <p:nvPr/>
        </p:nvSpPr>
        <p:spPr>
          <a:xfrm>
            <a:off x="6896100" y="5219092"/>
            <a:ext cx="514350" cy="123825"/>
          </a:xfrm>
          <a:prstGeom prst="rect">
            <a:avLst/>
          </a:prstGeom>
          <a:noFill/>
        </p:spPr>
        <p:txBody>
          <a:bodyPr wrap="none" lIns="0" rIns="0" tIns="0" bIns="0" anchor="ctr">
            <a:spAutoFit/>
          </a:bodyPr>
          <a:lstStyle/>
          <a:p>
            <a:pPr algn="r"/>
            <a:r>
              <a:rPr sz="900" b="1">
                <a:solidFill>
                  <a:srgbClr val="2E7D32"/>
                </a:solidFill>
                <a:latin typeface="Calibri"/>
              </a:rPr>
              <a:t>+51</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Material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material type, high-performance polymers segment is expected to witness the highest CAGR of 4.7% over the forecast period. In terms of value share by material type, the acrylic / resin segment is expected to dominate the market, gaining 51 BPS and accounting for 44.0% share by 2036.</a:t>
            </a:r>
          </a:p>
          <a:p>
            <a:pPr algn="l">
              <a:lnSpc>
                <a:spcPct val="110000"/>
              </a:lnSpc>
              <a:spcBef>
                <a:spcPts val="0"/>
              </a:spcBef>
              <a:spcAft>
                <a:spcPts val="500"/>
              </a:spcAft>
            </a:pPr>
            <a:r>
              <a:rPr sz="1150" b="0">
                <a:solidFill>
                  <a:srgbClr val="2E2E2E"/>
                </a:solidFill>
                <a:latin typeface="Calibri"/>
              </a:rPr>
              <a:t>The flexible thermoplastics segment is expected to lose 60 BPS over the forecast period to account for 18.0%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2800353"/>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E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A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2800353"/>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E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Technology segment categorizes the market by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Digital Fabrication</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672.1</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937.6</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3.4%</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Fabrication</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453.1</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793.2</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5.8%</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removable partial dentures by technology, conventional fabrication segment is expected to witness the highest CAGR of 5.8% over the forecast period. In terms of value share by technology, the digital fabrication segment is expected to dominate the market, losing 556 BPS and accounting for 54.2%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Digital fabrication segment is projected to register 1.2X higher value than conventional fabrication segment in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Digital Fabrication: </a:t>
            </a:r>
            <a:r>
              <a:rPr sz="1100" b="0">
                <a:solidFill>
                  <a:srgbClr val="2E2E2E"/>
                </a:solidFill>
                <a:latin typeface="Calibri"/>
              </a:rPr>
              <a:t>60% of 2026 value · 3.4%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Conventional Fabrication: </a:t>
            </a:r>
            <a:r>
              <a:rPr sz="1100" b="0">
                <a:solidFill>
                  <a:srgbClr val="2E2E2E"/>
                </a:solidFill>
                <a:latin typeface="Calibri"/>
              </a:rPr>
              <a:t>40% of 2026 value · 5.8% CAGR grows fastest.</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Technology split shows how demand is distributed across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Technology segment is projected to grow at a CAGR of 4.4%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Technology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Conventional fabrication followed by digital fabrication are expected to be the two most attractive technology segments in the global removable partial dentures market in terms of value over the forecast period. Conventional fabrication and digital fabrication exhibit a CAGR index of 130.9 and 76.9 and a market share index of 80.5 and 119.5 respectively, against the segment average of 100.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Conventional Fabrication</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Digital Fabrication</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Technology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00450"/>
          </a:xfrm>
          <a:prstGeom prst="roundRect">
            <a:avLst>
              <a:gd name="adj" fmla="val 21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Technology (Units)</a:t>
            </a:r>
          </a:p>
        </p:txBody>
      </p:sp>
      <p:graphicFrame>
        <p:nvGraphicFramePr>
          <p:cNvPr id="13" name="Table 12"/>
          <p:cNvGraphicFramePr>
            <a:graphicFrameLocks noGrp="1"/>
          </p:cNvGraphicFramePr>
          <p:nvPr/>
        </p:nvGraphicFramePr>
        <p:xfrm>
          <a:off x="152400" y="1238250"/>
          <a:ext cx="11887208" cy="313372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Technology</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350351">
                <a:tc>
                  <a:txBody>
                    <a:bodyPr wrap="square"/>
                    <a:lstStyle/>
                    <a:p>
                      <a:pPr algn="l">
                        <a:lnSpc>
                          <a:spcPct val="90000"/>
                        </a:lnSpc>
                      </a:pPr>
                      <a:r>
                        <a:rPr sz="1100" b="1">
                          <a:solidFill>
                            <a:srgbClr val="2E2E2E"/>
                          </a:solidFill>
                          <a:latin typeface="Calibri"/>
                        </a:rPr>
                        <a:t>Conventional Fabrication</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1,004,421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1,049,977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1,099,657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1,153,832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1,212,946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1,277,434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1,345,314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1,416,729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1,491,864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1,570,910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1,654,067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1,741,559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1,833,592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1,930,420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2,032,288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2,139,450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5.3%</a:t>
                      </a:r>
                      <a:endParaRPr sz="1100"/>
                    </a:p>
                  </a:txBody>
                  <a:tcPr marL="19050" marR="14288" marT="19050" marB="19050" anchor="ctr">
                    <a:solidFill>
                      <a:srgbClr val="FFFFFF"/>
                    </a:solidFill>
                  </a:tcPr>
                </a:tc>
              </a:tr>
              <a:tr h="216239">
                <a:tc>
                  <a:txBody>
                    <a:bodyPr wrap="none"/>
                    <a:lstStyle/>
                    <a:p>
                      <a:pPr algn="l"/>
                      <a:r>
                        <a:rPr sz="1100" b="1">
                          <a:solidFill>
                            <a:srgbClr val="2E2E2E"/>
                          </a:solidFill>
                          <a:latin typeface="Calibri"/>
                        </a:rPr>
                        <a:t>– Metal Casting</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143,365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151,516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160,376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170,015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180,515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191,960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204,067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216,869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230,403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244,710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259,832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275,814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292,702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310,547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329,402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349,321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6.2%</a:t>
                      </a:r>
                      <a:endParaRPr sz="1100"/>
                    </a:p>
                  </a:txBody>
                  <a:tcPr marL="19050" marR="14288" marT="19050" marB="19050" anchor="ctr">
                    <a:solidFill>
                      <a:srgbClr val="F5F8FA"/>
                    </a:solidFill>
                  </a:tcPr>
                </a:tc>
              </a:tr>
              <a:tr h="501227">
                <a:tc>
                  <a:txBody>
                    <a:bodyPr wrap="square"/>
                    <a:lstStyle/>
                    <a:p>
                      <a:pPr algn="l">
                        <a:lnSpc>
                          <a:spcPct val="90000"/>
                        </a:lnSpc>
                      </a:pPr>
                      <a:r>
                        <a:rPr sz="1100" b="1">
                          <a:solidFill>
                            <a:srgbClr val="2E2E2E"/>
                          </a:solidFill>
                          <a:latin typeface="Calibri"/>
                        </a:rPr>
                        <a:t>– Heat-cured / Compression Processing</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374,372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398,521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424,746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453,260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484,312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518,159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554,067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592,140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632,504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675,288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720,627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768,671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819,565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873,479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930,581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991,049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6.7%</a:t>
                      </a:r>
                      <a:endParaRPr sz="1100"/>
                    </a:p>
                  </a:txBody>
                  <a:tcPr marL="19050" marR="14288" marT="19050" marB="19050" anchor="ctr">
                    <a:solidFill>
                      <a:srgbClr val="FFFFFF"/>
                    </a:solidFill>
                  </a:tcPr>
                </a:tc>
              </a:tr>
              <a:tr h="216239">
                <a:tc>
                  <a:txBody>
                    <a:bodyPr wrap="none"/>
                    <a:lstStyle/>
                    <a:p>
                      <a:pPr algn="l"/>
                      <a:r>
                        <a:rPr sz="1100" b="1">
                          <a:solidFill>
                            <a:srgbClr val="2E2E2E"/>
                          </a:solidFill>
                          <a:latin typeface="Calibri"/>
                        </a:rPr>
                        <a:t>– Injection Molding</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486,684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499,939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514,535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530,558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548,119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567,316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587,180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607,720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628,956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650,912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673,609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697,074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721,325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746,394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772,305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799,080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3.5%</a:t>
                      </a:r>
                      <a:endParaRPr sz="1100"/>
                    </a:p>
                  </a:txBody>
                  <a:tcPr marL="19050" marR="14288" marT="19050" marB="19050" anchor="ctr">
                    <a:solidFill>
                      <a:srgbClr val="F5F8FA"/>
                    </a:solidFill>
                  </a:tcPr>
                </a:tc>
              </a:tr>
              <a:tr h="216239">
                <a:tc>
                  <a:txBody>
                    <a:bodyPr wrap="none"/>
                    <a:lstStyle/>
                    <a:p>
                      <a:pPr algn="l"/>
                      <a:r>
                        <a:rPr sz="1100" b="1">
                          <a:solidFill>
                            <a:srgbClr val="2E2E2E"/>
                          </a:solidFill>
                          <a:latin typeface="Calibri"/>
                        </a:rPr>
                        <a:t>Digital Fabrication</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1,981,280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2,019,909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2,062,890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2,110,418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2,162,776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2,220,168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2,278,671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2,338,193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2,398,722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2,460,230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2,522,687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2,586,082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2,650,349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2,715,477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2,781,415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2,848,101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a:t>
                      </a:r>
                      <a:endParaRPr sz="1100"/>
                    </a:p>
                  </a:txBody>
                  <a:tcPr marL="19050" marR="14288" marT="19050" marB="19050" anchor="ctr">
                    <a:solidFill>
                      <a:srgbClr val="FFFFFF"/>
                    </a:solidFill>
                  </a:tcPr>
                </a:tc>
              </a:tr>
              <a:tr h="216239">
                <a:tc>
                  <a:txBody>
                    <a:bodyPr wrap="none"/>
                    <a:lstStyle/>
                    <a:p>
                      <a:pPr algn="l"/>
                      <a:r>
                        <a:rPr sz="1100" b="1">
                          <a:solidFill>
                            <a:srgbClr val="2E2E2E"/>
                          </a:solidFill>
                          <a:latin typeface="Calibri"/>
                        </a:rPr>
                        <a:t>– CAD/CAM Milling</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554,603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567,599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581,978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597,818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615,223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634,279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653,891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674,048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694,763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716,047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737,909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760,368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783,424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807,099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831,402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856,340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3.0%</a:t>
                      </a:r>
                      <a:endParaRPr sz="1100"/>
                    </a:p>
                  </a:txBody>
                  <a:tcPr marL="19050" marR="14288" marT="19050" marB="19050" anchor="ctr">
                    <a:solidFill>
                      <a:srgbClr val="F5F8FA"/>
                    </a:solidFill>
                  </a:tcPr>
                </a:tc>
              </a:tr>
              <a:tr h="501227">
                <a:tc>
                  <a:txBody>
                    <a:bodyPr wrap="square"/>
                    <a:lstStyle/>
                    <a:p>
                      <a:pPr algn="l">
                        <a:lnSpc>
                          <a:spcPct val="90000"/>
                        </a:lnSpc>
                      </a:pPr>
                      <a:r>
                        <a:rPr sz="1100" b="1">
                          <a:solidFill>
                            <a:srgbClr val="2E2E2E"/>
                          </a:solidFill>
                          <a:latin typeface="Calibri"/>
                        </a:rPr>
                        <a:t>– 3D Printing / Additive Manufacturing</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549,877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565,153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581,974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600,442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620,688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642,828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665,778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689,542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714,151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739,633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766,019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793,344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821,635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850,933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881,273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912,687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3.6%</a:t>
                      </a:r>
                      <a:endParaRPr sz="1100"/>
                    </a:p>
                  </a:txBody>
                  <a:tcPr marL="19050" marR="14288" marT="19050" marB="19050" anchor="ctr">
                    <a:solidFill>
                      <a:srgbClr val="FFFFFF"/>
                    </a:solidFill>
                  </a:tcPr>
                </a:tc>
              </a:tr>
              <a:tr h="350351">
                <a:tc>
                  <a:txBody>
                    <a:bodyPr wrap="square"/>
                    <a:lstStyle/>
                    <a:p>
                      <a:pPr algn="l">
                        <a:lnSpc>
                          <a:spcPct val="90000"/>
                        </a:lnSpc>
                      </a:pPr>
                      <a:r>
                        <a:rPr sz="1100" b="1">
                          <a:solidFill>
                            <a:srgbClr val="2E2E2E"/>
                          </a:solidFill>
                          <a:latin typeface="Calibri"/>
                        </a:rPr>
                        <a:t>– Hybrid Digital Fabrication</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876,800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887,157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898,938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912,159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926,865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943,061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959,002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974,603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989,808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1,004,550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1,018,759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1,032,370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1,045,289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1,057,444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1,068,740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1,079,075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a:t>
                      </a:r>
                      <a:endParaRPr sz="1100"/>
                    </a:p>
                  </a:txBody>
                  <a:tcPr marL="19050" marR="14288" marT="19050" marB="19050" anchor="ctr">
                    <a:solidFill>
                      <a:srgbClr val="F5F8FA"/>
                    </a:solidFill>
                  </a:tcPr>
                </a:tc>
              </a:tr>
              <a:tr h="216239">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2,985,702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3,069,886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3,162,547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3,264,250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3,375,722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3,497,603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3,623,985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3,754,922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3,890,586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4,031,141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4,176,754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4,327,641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4,483,940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4,645,897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4,813,704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4,987,551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381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71487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8006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Technology</a:t>
            </a:r>
          </a:p>
        </p:txBody>
      </p:sp>
      <p:sp>
        <p:nvSpPr>
          <p:cNvPr id="17" name="Rectangle 16"/>
          <p:cNvSpPr/>
          <p:nvPr/>
        </p:nvSpPr>
        <p:spPr>
          <a:xfrm>
            <a:off x="276225" y="5038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12445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Digital fabrication segment is projected to register 1.3X higher volume than conventional fabrication segment in 2036. Among removable partial dentures by technology, conventional fabrication segment is expected to witness the highest CAGR of 5.3% over the forecast period.</a:t>
            </a:r>
          </a:p>
          <a:p>
            <a:pPr algn="l">
              <a:lnSpc>
                <a:spcPct val="110000"/>
              </a:lnSpc>
              <a:spcBef>
                <a:spcPts val="0"/>
              </a:spcBef>
              <a:spcAft>
                <a:spcPts val="500"/>
              </a:spcAft>
            </a:pPr>
            <a:r>
              <a:rPr sz="1150" b="0">
                <a:solidFill>
                  <a:srgbClr val="2E2E2E"/>
                </a:solidFill>
                <a:latin typeface="Calibri"/>
              </a:rPr>
              <a:t>In terms of volume share by technology, the digital fabrication segment is expected to dominate the market, losing 637 BPS and accounting for 57.1%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Technology (US$ Mn)</a:t>
            </a:r>
          </a:p>
        </p:txBody>
      </p:sp>
      <p:graphicFrame>
        <p:nvGraphicFramePr>
          <p:cNvPr id="13" name="Table 12"/>
          <p:cNvGraphicFramePr>
            <a:graphicFrameLocks noGrp="1"/>
          </p:cNvGraphicFramePr>
          <p:nvPr/>
        </p:nvGraphicFramePr>
        <p:xfrm>
          <a:off x="152400" y="1238250"/>
          <a:ext cx="11887195" cy="2152650"/>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15265">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733800"/>
            <a:ext cx="11906250" cy="2895600"/>
          </a:xfrm>
          <a:prstGeom prst="roundRect">
            <a:avLst>
              <a:gd name="adj" fmla="val 26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195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Technology</a:t>
            </a:r>
          </a:p>
        </p:txBody>
      </p:sp>
      <p:sp>
        <p:nvSpPr>
          <p:cNvPr id="17" name="Rectangle 16"/>
          <p:cNvSpPr/>
          <p:nvPr/>
        </p:nvSpPr>
        <p:spPr>
          <a:xfrm>
            <a:off x="276225" y="40576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43375"/>
            <a:ext cx="11639550" cy="24098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Digital fabrication segment is projected to register 1.2X higher value than conventional fabrication segment in 2036. Among removable partial dentures by technology, conventional fabrication segment is expected to witness the highest CAGR of 5.8% over the forecast period.</a:t>
            </a:r>
          </a:p>
          <a:p>
            <a:pPr algn="l">
              <a:lnSpc>
                <a:spcPct val="110000"/>
              </a:lnSpc>
              <a:spcBef>
                <a:spcPts val="0"/>
              </a:spcBef>
              <a:spcAft>
                <a:spcPts val="500"/>
              </a:spcAft>
            </a:pPr>
            <a:r>
              <a:rPr sz="1150" b="0">
                <a:solidFill>
                  <a:srgbClr val="2E2E2E"/>
                </a:solidFill>
                <a:latin typeface="Calibri"/>
              </a:rPr>
              <a:t>In terms of value share by technology, the digital fabrication segment is expected to dominate the market, losing 556 BPS and accounting for 54.2%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Technology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59204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5872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110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Fabrication</a:t>
            </a:r>
          </a:p>
        </p:txBody>
      </p:sp>
      <p:sp>
        <p:nvSpPr>
          <p:cNvPr id="19" name="BPS Value 1"/>
          <p:cNvSpPr txBox="1"/>
          <p:nvPr/>
        </p:nvSpPr>
        <p:spPr>
          <a:xfrm>
            <a:off x="6896100" y="2572992"/>
            <a:ext cx="514350" cy="123825"/>
          </a:xfrm>
          <a:prstGeom prst="rect">
            <a:avLst/>
          </a:prstGeom>
          <a:noFill/>
        </p:spPr>
        <p:txBody>
          <a:bodyPr wrap="none" lIns="0" rIns="0" tIns="0" bIns="0" anchor="ctr">
            <a:spAutoFit/>
          </a:bodyPr>
          <a:lstStyle/>
          <a:p>
            <a:pPr algn="r"/>
            <a:r>
              <a:rPr sz="900" b="1">
                <a:solidFill>
                  <a:srgbClr val="2E7D32"/>
                </a:solidFill>
                <a:latin typeface="Calibri"/>
              </a:rPr>
              <a:t>+556</a:t>
            </a:r>
          </a:p>
        </p:txBody>
      </p:sp>
      <p:sp>
        <p:nvSpPr>
          <p:cNvPr id="20" name="FMI Legend Chip"/>
          <p:cNvSpPr/>
          <p:nvPr/>
        </p:nvSpPr>
        <p:spPr>
          <a:xfrm>
            <a:off x="4928997" y="49605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95576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795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Digital Fabrication</a:t>
            </a:r>
          </a:p>
        </p:txBody>
      </p:sp>
      <p:sp>
        <p:nvSpPr>
          <p:cNvPr id="23" name="BPS Value 2"/>
          <p:cNvSpPr txBox="1"/>
          <p:nvPr/>
        </p:nvSpPr>
        <p:spPr>
          <a:xfrm>
            <a:off x="6896100" y="4941479"/>
            <a:ext cx="514350" cy="123825"/>
          </a:xfrm>
          <a:prstGeom prst="rect">
            <a:avLst/>
          </a:prstGeom>
          <a:noFill/>
        </p:spPr>
        <p:txBody>
          <a:bodyPr wrap="none" lIns="0" rIns="0" tIns="0" bIns="0" anchor="ctr">
            <a:spAutoFit/>
          </a:bodyPr>
          <a:lstStyle/>
          <a:p>
            <a:pPr algn="r"/>
            <a:r>
              <a:rPr sz="900" b="1">
                <a:solidFill>
                  <a:srgbClr val="E44D3A"/>
                </a:solidFill>
                <a:latin typeface="Calibri"/>
              </a:rPr>
              <a:t>-556</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Technology</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technology, conventional fabrication segment is expected to witness the highest CAGR of 5.8% over the forecast period.</a:t>
            </a:r>
          </a:p>
          <a:p>
            <a:pPr algn="l">
              <a:lnSpc>
                <a:spcPct val="110000"/>
              </a:lnSpc>
              <a:spcBef>
                <a:spcPts val="0"/>
              </a:spcBef>
              <a:spcAft>
                <a:spcPts val="500"/>
              </a:spcAft>
            </a:pPr>
            <a:r>
              <a:rPr sz="1150" b="0">
                <a:solidFill>
                  <a:srgbClr val="2E2E2E"/>
                </a:solidFill>
                <a:latin typeface="Calibri"/>
              </a:rPr>
              <a:t>In terms of value share by technology, the digital fabrication segment is expected to dominate the market, losing 556 BPS and accounting for 54.2% share by 2036.</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943097"/>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15265">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814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Technology (%)  ·  light = lower, dark = higher growth</a:t>
            </a:r>
          </a:p>
        </p:txBody>
      </p:sp>
      <p:sp>
        <p:nvSpPr>
          <p:cNvPr id="17" name="TextBox 16"/>
          <p:cNvSpPr txBox="1"/>
          <p:nvPr/>
        </p:nvSpPr>
        <p:spPr>
          <a:xfrm>
            <a:off x="185737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52875"/>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3952875"/>
            <a:ext cx="643890" cy="32742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52875"/>
            <a:ext cx="643890" cy="32742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52875"/>
            <a:ext cx="643890" cy="327422"/>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52875"/>
            <a:ext cx="643890" cy="32742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52875"/>
            <a:ext cx="643890" cy="32742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52875"/>
            <a:ext cx="643890" cy="32742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52875"/>
            <a:ext cx="643890" cy="32742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52875"/>
            <a:ext cx="643890" cy="32742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52875"/>
            <a:ext cx="643890" cy="32742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52875"/>
            <a:ext cx="643890" cy="327422"/>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52875"/>
            <a:ext cx="643890" cy="32742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52875"/>
            <a:ext cx="643890" cy="32742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52875"/>
            <a:ext cx="643890" cy="32742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52875"/>
            <a:ext cx="643890" cy="32742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52875"/>
            <a:ext cx="643890" cy="32742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80297"/>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280297"/>
            <a:ext cx="643890" cy="32742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80297"/>
            <a:ext cx="643890" cy="32742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80297"/>
            <a:ext cx="643890" cy="32742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80297"/>
            <a:ext cx="643890" cy="327422"/>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80297"/>
            <a:ext cx="643890" cy="327422"/>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80297"/>
            <a:ext cx="643890" cy="32742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80297"/>
            <a:ext cx="643890" cy="327422"/>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80297"/>
            <a:ext cx="643890" cy="327422"/>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80297"/>
            <a:ext cx="643890" cy="327422"/>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80297"/>
            <a:ext cx="643890" cy="32742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80297"/>
            <a:ext cx="643890" cy="327422"/>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80297"/>
            <a:ext cx="643890" cy="327422"/>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80297"/>
            <a:ext cx="643890" cy="32742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80297"/>
            <a:ext cx="643890" cy="32742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80297"/>
            <a:ext cx="643890" cy="32742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07719"/>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607719"/>
            <a:ext cx="643890" cy="32742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07719"/>
            <a:ext cx="643890" cy="327422"/>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07719"/>
            <a:ext cx="643890" cy="32742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07719"/>
            <a:ext cx="643890" cy="32742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07719"/>
            <a:ext cx="643890" cy="32742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07719"/>
            <a:ext cx="643890" cy="32742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07719"/>
            <a:ext cx="643890" cy="32742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07719"/>
            <a:ext cx="643890" cy="32742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07719"/>
            <a:ext cx="643890" cy="32742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07719"/>
            <a:ext cx="643890" cy="32742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07719"/>
            <a:ext cx="643890" cy="327422"/>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07719"/>
            <a:ext cx="643890" cy="32742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07719"/>
            <a:ext cx="643890" cy="327422"/>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07719"/>
            <a:ext cx="643890" cy="327422"/>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07719"/>
            <a:ext cx="643890" cy="327422"/>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35141"/>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4935141"/>
            <a:ext cx="643890" cy="32742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4935141"/>
            <a:ext cx="643890" cy="327422"/>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4935141"/>
            <a:ext cx="643890" cy="32742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4935141"/>
            <a:ext cx="643890" cy="32742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4935141"/>
            <a:ext cx="643890" cy="32742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4935141"/>
            <a:ext cx="643890" cy="32742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4935141"/>
            <a:ext cx="643890" cy="32742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4935141"/>
            <a:ext cx="643890" cy="32742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4935141"/>
            <a:ext cx="643890" cy="32742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4935141"/>
            <a:ext cx="643890" cy="32742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4935141"/>
            <a:ext cx="643890" cy="32742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4935141"/>
            <a:ext cx="643890" cy="32742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4935141"/>
            <a:ext cx="643890" cy="32742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4935141"/>
            <a:ext cx="643890" cy="32742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4935141"/>
            <a:ext cx="643890" cy="32742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262562"/>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262562"/>
            <a:ext cx="643890" cy="32742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262562"/>
            <a:ext cx="643890" cy="32742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262562"/>
            <a:ext cx="643890" cy="32742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262562"/>
            <a:ext cx="643890" cy="32742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262562"/>
            <a:ext cx="643890" cy="32742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262562"/>
            <a:ext cx="643890" cy="32742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262562"/>
            <a:ext cx="643890" cy="32742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262562"/>
            <a:ext cx="643890" cy="32742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262562"/>
            <a:ext cx="643890" cy="327422"/>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262562"/>
            <a:ext cx="643890" cy="32742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262562"/>
            <a:ext cx="643890" cy="32742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262562"/>
            <a:ext cx="643890" cy="327422"/>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262562"/>
            <a:ext cx="643890" cy="32742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262562"/>
            <a:ext cx="643890" cy="32742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262562"/>
            <a:ext cx="643890" cy="32742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589984"/>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589984"/>
            <a:ext cx="643890" cy="32742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589984"/>
            <a:ext cx="643890" cy="32742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589984"/>
            <a:ext cx="643890" cy="32742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589984"/>
            <a:ext cx="643890" cy="327422"/>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589984"/>
            <a:ext cx="643890" cy="32742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589984"/>
            <a:ext cx="643890" cy="32742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589984"/>
            <a:ext cx="643890" cy="32742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589984"/>
            <a:ext cx="643890" cy="32742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589984"/>
            <a:ext cx="643890" cy="32742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589984"/>
            <a:ext cx="643890" cy="327422"/>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589984"/>
            <a:ext cx="643890" cy="32742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589984"/>
            <a:ext cx="643890" cy="32742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589984"/>
            <a:ext cx="643890" cy="327422"/>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589984"/>
            <a:ext cx="643890" cy="327422"/>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589984"/>
            <a:ext cx="643890" cy="32742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17406"/>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17406"/>
            <a:ext cx="643890" cy="32742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17406"/>
            <a:ext cx="643890" cy="32742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17406"/>
            <a:ext cx="643890" cy="32742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17406"/>
            <a:ext cx="643890" cy="327422"/>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17406"/>
            <a:ext cx="643890" cy="32742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17406"/>
            <a:ext cx="643890" cy="32742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17406"/>
            <a:ext cx="643890" cy="32742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17406"/>
            <a:ext cx="643890" cy="32742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44828"/>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44828"/>
            <a:ext cx="643890" cy="32742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44828"/>
            <a:ext cx="643890" cy="32742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44828"/>
            <a:ext cx="643890" cy="327422"/>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44828"/>
            <a:ext cx="643890" cy="32742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44828"/>
            <a:ext cx="643890" cy="32742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44828"/>
            <a:ext cx="643890" cy="32742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44828"/>
            <a:ext cx="643890" cy="32742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44828"/>
            <a:ext cx="643890" cy="32742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44828"/>
            <a:ext cx="643890" cy="327422"/>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44828"/>
            <a:ext cx="643890" cy="32742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44828"/>
            <a:ext cx="643890" cy="32742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44828"/>
            <a:ext cx="643890" cy="32742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44828"/>
            <a:ext cx="643890" cy="32742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44828"/>
            <a:ext cx="643890" cy="327422"/>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44828"/>
            <a:ext cx="643890" cy="32742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3990975"/>
            <a:ext cx="104775" cy="7119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054554"/>
            <a:ext cx="104775" cy="7119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118134"/>
            <a:ext cx="104775" cy="7119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181713"/>
            <a:ext cx="104775" cy="7119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245292"/>
            <a:ext cx="104775" cy="7119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308872"/>
            <a:ext cx="104775" cy="7119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372451"/>
            <a:ext cx="104775" cy="7119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436031"/>
            <a:ext cx="104775" cy="7119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499610"/>
            <a:ext cx="104775" cy="7119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563189"/>
            <a:ext cx="104775" cy="7119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626769"/>
            <a:ext cx="104775" cy="7119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690348"/>
            <a:ext cx="104775" cy="7119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753928"/>
            <a:ext cx="104775" cy="7119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4817507"/>
            <a:ext cx="104775" cy="7119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4881086"/>
            <a:ext cx="104775" cy="7119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4944666"/>
            <a:ext cx="104775" cy="7119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008245"/>
            <a:ext cx="104775" cy="7119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071824"/>
            <a:ext cx="104775" cy="7119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135404"/>
            <a:ext cx="104775" cy="7119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198983"/>
            <a:ext cx="104775" cy="7119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262562"/>
            <a:ext cx="104775" cy="7119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326142"/>
            <a:ext cx="104775" cy="7119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389721"/>
            <a:ext cx="104775" cy="7119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453301"/>
            <a:ext cx="104775" cy="7119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516880"/>
            <a:ext cx="104775" cy="7119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580459"/>
            <a:ext cx="104775" cy="7119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644039"/>
            <a:ext cx="104775" cy="7119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07618"/>
            <a:ext cx="104775" cy="7119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771198"/>
            <a:ext cx="104775" cy="7119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834777"/>
            <a:ext cx="104775" cy="7119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898356"/>
            <a:ext cx="104775" cy="7119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5961936"/>
            <a:ext cx="104775" cy="7119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25515"/>
            <a:ext cx="104775" cy="7119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089094"/>
            <a:ext cx="104775" cy="7119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52674"/>
            <a:ext cx="104775" cy="7119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16253"/>
            <a:ext cx="104775" cy="7119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279832"/>
            <a:ext cx="104775" cy="7119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43412"/>
            <a:ext cx="104775" cy="7119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06991"/>
            <a:ext cx="104775" cy="7119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0571"/>
            <a:ext cx="104775" cy="7119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3990975"/>
            <a:ext cx="104775" cy="25431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02" name="TextBox 201"/>
          <p:cNvSpPr txBox="1"/>
          <p:nvPr/>
        </p:nvSpPr>
        <p:spPr>
          <a:xfrm>
            <a:off x="11687175" y="519588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943097"/>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15265">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814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Technology (%)  ·  light = lower, dark = higher growth</a:t>
            </a:r>
          </a:p>
        </p:txBody>
      </p:sp>
      <p:sp>
        <p:nvSpPr>
          <p:cNvPr id="17" name="TextBox 16"/>
          <p:cNvSpPr txBox="1"/>
          <p:nvPr/>
        </p:nvSpPr>
        <p:spPr>
          <a:xfrm>
            <a:off x="185737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52875"/>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3952875"/>
            <a:ext cx="643890" cy="32742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52875"/>
            <a:ext cx="643890" cy="32742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52875"/>
            <a:ext cx="643890" cy="327422"/>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52875"/>
            <a:ext cx="643890" cy="327422"/>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52875"/>
            <a:ext cx="643890" cy="327422"/>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52875"/>
            <a:ext cx="643890" cy="32742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52875"/>
            <a:ext cx="643890" cy="32742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52875"/>
            <a:ext cx="643890" cy="32742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52875"/>
            <a:ext cx="643890" cy="32742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52875"/>
            <a:ext cx="643890" cy="32742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52875"/>
            <a:ext cx="643890" cy="327422"/>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52875"/>
            <a:ext cx="643890" cy="327422"/>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52875"/>
            <a:ext cx="643890" cy="327422"/>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52875"/>
            <a:ext cx="643890" cy="327422"/>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52875"/>
            <a:ext cx="643890" cy="327422"/>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80297"/>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280297"/>
            <a:ext cx="643890" cy="327422"/>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80297"/>
            <a:ext cx="643890" cy="327422"/>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80297"/>
            <a:ext cx="643890" cy="32742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80297"/>
            <a:ext cx="643890" cy="32742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80297"/>
            <a:ext cx="643890" cy="327422"/>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80297"/>
            <a:ext cx="643890" cy="327422"/>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80297"/>
            <a:ext cx="643890" cy="327422"/>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80297"/>
            <a:ext cx="643890" cy="327422"/>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80297"/>
            <a:ext cx="643890" cy="327422"/>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80297"/>
            <a:ext cx="643890" cy="32742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80297"/>
            <a:ext cx="643890" cy="32742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80297"/>
            <a:ext cx="643890" cy="327422"/>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80297"/>
            <a:ext cx="643890" cy="32742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80297"/>
            <a:ext cx="643890" cy="327422"/>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80297"/>
            <a:ext cx="643890" cy="32742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07719"/>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607719"/>
            <a:ext cx="643890" cy="327422"/>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07719"/>
            <a:ext cx="643890" cy="32742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07719"/>
            <a:ext cx="643890" cy="32742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07719"/>
            <a:ext cx="643890" cy="32742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07719"/>
            <a:ext cx="643890" cy="32742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07719"/>
            <a:ext cx="643890" cy="32742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07719"/>
            <a:ext cx="643890" cy="32742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07719"/>
            <a:ext cx="643890" cy="32742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07719"/>
            <a:ext cx="643890" cy="32742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07719"/>
            <a:ext cx="643890" cy="32742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07719"/>
            <a:ext cx="643890" cy="327422"/>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07719"/>
            <a:ext cx="643890" cy="32742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07719"/>
            <a:ext cx="643890" cy="327422"/>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07719"/>
            <a:ext cx="643890" cy="327422"/>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07719"/>
            <a:ext cx="643890" cy="32742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35141"/>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4935141"/>
            <a:ext cx="643890" cy="327422"/>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4935141"/>
            <a:ext cx="643890" cy="32742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4935141"/>
            <a:ext cx="643890" cy="32742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4935141"/>
            <a:ext cx="643890" cy="32742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4935141"/>
            <a:ext cx="643890" cy="32742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4935141"/>
            <a:ext cx="643890" cy="32742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4935141"/>
            <a:ext cx="643890" cy="32742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4935141"/>
            <a:ext cx="643890" cy="32742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4935141"/>
            <a:ext cx="643890" cy="32742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4935141"/>
            <a:ext cx="643890" cy="32742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4935141"/>
            <a:ext cx="643890" cy="32742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4935141"/>
            <a:ext cx="643890" cy="32742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4935141"/>
            <a:ext cx="643890" cy="32742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4935141"/>
            <a:ext cx="643890" cy="32742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4935141"/>
            <a:ext cx="643890" cy="32742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262562"/>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262562"/>
            <a:ext cx="643890" cy="327422"/>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262562"/>
            <a:ext cx="643890" cy="327422"/>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262562"/>
            <a:ext cx="643890" cy="32742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262562"/>
            <a:ext cx="643890" cy="32742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262562"/>
            <a:ext cx="643890" cy="32742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262562"/>
            <a:ext cx="643890" cy="32742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262562"/>
            <a:ext cx="643890" cy="32742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262562"/>
            <a:ext cx="643890" cy="32742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262562"/>
            <a:ext cx="643890" cy="327422"/>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262562"/>
            <a:ext cx="643890" cy="32742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262562"/>
            <a:ext cx="643890" cy="32742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262562"/>
            <a:ext cx="643890" cy="32742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262562"/>
            <a:ext cx="643890" cy="32742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262562"/>
            <a:ext cx="643890" cy="32742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262562"/>
            <a:ext cx="643890" cy="327422"/>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589984"/>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589984"/>
            <a:ext cx="643890" cy="32742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589984"/>
            <a:ext cx="643890" cy="32742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589984"/>
            <a:ext cx="643890" cy="327422"/>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589984"/>
            <a:ext cx="643890" cy="32742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589984"/>
            <a:ext cx="643890" cy="32742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589984"/>
            <a:ext cx="643890" cy="32742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589984"/>
            <a:ext cx="643890" cy="32742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589984"/>
            <a:ext cx="643890" cy="327422"/>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589984"/>
            <a:ext cx="643890" cy="32742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589984"/>
            <a:ext cx="643890" cy="32742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589984"/>
            <a:ext cx="643890" cy="327422"/>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589984"/>
            <a:ext cx="643890" cy="32742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589984"/>
            <a:ext cx="643890" cy="32742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589984"/>
            <a:ext cx="643890" cy="327422"/>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589984"/>
            <a:ext cx="643890" cy="32742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17406"/>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17406"/>
            <a:ext cx="643890" cy="32742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17406"/>
            <a:ext cx="643890" cy="32742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17406"/>
            <a:ext cx="643890" cy="327422"/>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17406"/>
            <a:ext cx="643890" cy="32742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44828"/>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44828"/>
            <a:ext cx="643890" cy="327422"/>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44828"/>
            <a:ext cx="643890" cy="32742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44828"/>
            <a:ext cx="643890" cy="327422"/>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44828"/>
            <a:ext cx="643890" cy="32742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44828"/>
            <a:ext cx="643890" cy="32742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44828"/>
            <a:ext cx="643890" cy="32742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44828"/>
            <a:ext cx="643890" cy="327422"/>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44828"/>
            <a:ext cx="643890" cy="32742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44828"/>
            <a:ext cx="643890" cy="327422"/>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44828"/>
            <a:ext cx="643890" cy="32742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44828"/>
            <a:ext cx="643890" cy="32742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44828"/>
            <a:ext cx="643890" cy="32742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44828"/>
            <a:ext cx="643890" cy="32742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44828"/>
            <a:ext cx="643890" cy="32742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44828"/>
            <a:ext cx="643890" cy="32742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3990975"/>
            <a:ext cx="104775" cy="7119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054554"/>
            <a:ext cx="104775" cy="7119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118134"/>
            <a:ext cx="104775" cy="7119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181713"/>
            <a:ext cx="104775" cy="7119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245292"/>
            <a:ext cx="104775" cy="7119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308872"/>
            <a:ext cx="104775" cy="7119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372451"/>
            <a:ext cx="104775" cy="7119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436031"/>
            <a:ext cx="104775" cy="7119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499610"/>
            <a:ext cx="104775" cy="7119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563189"/>
            <a:ext cx="104775" cy="7119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626769"/>
            <a:ext cx="104775" cy="7119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690348"/>
            <a:ext cx="104775" cy="7119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753928"/>
            <a:ext cx="104775" cy="7119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4817507"/>
            <a:ext cx="104775" cy="7119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4881086"/>
            <a:ext cx="104775" cy="7119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4944666"/>
            <a:ext cx="104775" cy="7119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008245"/>
            <a:ext cx="104775" cy="7119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071824"/>
            <a:ext cx="104775" cy="7119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135404"/>
            <a:ext cx="104775" cy="7119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198983"/>
            <a:ext cx="104775" cy="7119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262562"/>
            <a:ext cx="104775" cy="7119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326142"/>
            <a:ext cx="104775" cy="7119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389721"/>
            <a:ext cx="104775" cy="7119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453301"/>
            <a:ext cx="104775" cy="7119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516880"/>
            <a:ext cx="104775" cy="7119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580459"/>
            <a:ext cx="104775" cy="7119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644039"/>
            <a:ext cx="104775" cy="7119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07618"/>
            <a:ext cx="104775" cy="7119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771198"/>
            <a:ext cx="104775" cy="7119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834777"/>
            <a:ext cx="104775" cy="7119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898356"/>
            <a:ext cx="104775" cy="7119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5961936"/>
            <a:ext cx="104775" cy="7119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25515"/>
            <a:ext cx="104775" cy="7119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089094"/>
            <a:ext cx="104775" cy="7119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52674"/>
            <a:ext cx="104775" cy="7119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16253"/>
            <a:ext cx="104775" cy="7119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279832"/>
            <a:ext cx="104775" cy="7119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43412"/>
            <a:ext cx="104775" cy="7119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06991"/>
            <a:ext cx="104775" cy="7119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0571"/>
            <a:ext cx="104775" cy="7119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3990975"/>
            <a:ext cx="104775" cy="25431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02" name="TextBox 201"/>
          <p:cNvSpPr txBox="1"/>
          <p:nvPr/>
        </p:nvSpPr>
        <p:spPr>
          <a:xfrm>
            <a:off x="11687175" y="5195888"/>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End User,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User segment categorizes the market by end user.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Laboratories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490.0</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668.2</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3.1%</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Academic &amp; Teaching Dental Instit…</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413.3</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684.8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5.2%</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Clinics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143.9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231.9</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4.9%</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Hospitals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77.9</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145.9</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6.5%</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Among removable partial dentures by end user, dental hospitals segment is expected to witness the highest CAGR of 6.5% over the forecast period. In terms of value share by end user, the academic &amp; teaching dental institutions segment is expected to dominate the market, gaining 283 BPS and accounting for 39.6% share by 2036.</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Academic &amp; teaching dental institutions segment is projected to register 1.0X higher value than dental laboratories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Dental Laboratories: </a:t>
            </a:r>
            <a:r>
              <a:rPr sz="1100" b="0">
                <a:solidFill>
                  <a:srgbClr val="2E2E2E"/>
                </a:solidFill>
                <a:latin typeface="Calibri"/>
              </a:rPr>
              <a:t>44% of 2026 value · 3.1%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Academic &amp; Teaching Dental Institutions: </a:t>
            </a:r>
            <a:r>
              <a:rPr sz="1100" b="0">
                <a:solidFill>
                  <a:srgbClr val="2E2E2E"/>
                </a:solidFill>
                <a:latin typeface="Calibri"/>
              </a:rPr>
              <a:t>37% of 2026 value · 5.2%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Dental Clinics: </a:t>
            </a:r>
            <a:r>
              <a:rPr sz="1100" b="0">
                <a:solidFill>
                  <a:srgbClr val="2E2E2E"/>
                </a:solidFill>
                <a:latin typeface="Calibri"/>
              </a:rPr>
              <a:t>13% of 2026 value · 4.9%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Dental Hospitals: </a:t>
            </a:r>
            <a:r>
              <a:rPr sz="1100" b="0">
                <a:solidFill>
                  <a:srgbClr val="2E2E2E"/>
                </a:solidFill>
                <a:latin typeface="Calibri"/>
              </a:rPr>
              <a:t>7% of 2026 value · 6.5%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User split shows how demand is distributed across end user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End User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End User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End User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End User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Academic &amp; teaching dental institutions followed by dental laboratories are expected to be the two most attractive end user segments in the global removable partial dentures market in terms of value over the forecast period. Academic &amp; teaching dental institutions and dental laboratories exhibit a CAGR index of 117.7 and 71.6 and a market share index of 146.9 and 174.2 respectively, against the segment average of 100. The dental clinics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Clinics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Hospitals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Laboratories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Academic &amp; Teaching Dental Institutions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End User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81225"/>
          </a:xfrm>
          <a:prstGeom prst="roundRect">
            <a:avLst>
              <a:gd name="adj" fmla="val 34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End User (Units)</a:t>
            </a:r>
          </a:p>
        </p:txBody>
      </p:sp>
      <p:graphicFrame>
        <p:nvGraphicFramePr>
          <p:cNvPr id="13" name="Table 12"/>
          <p:cNvGraphicFramePr>
            <a:graphicFrameLocks noGrp="1"/>
          </p:cNvGraphicFramePr>
          <p:nvPr/>
        </p:nvGraphicFramePr>
        <p:xfrm>
          <a:off x="152400" y="1238250"/>
          <a:ext cx="11887208" cy="1714500"/>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End User</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216027">
                <a:tc>
                  <a:txBody>
                    <a:bodyPr wrap="none"/>
                    <a:lstStyle/>
                    <a:p>
                      <a:pPr algn="l"/>
                      <a:r>
                        <a:rPr sz="1100" b="1">
                          <a:solidFill>
                            <a:srgbClr val="2E2E2E"/>
                          </a:solidFill>
                          <a:latin typeface="Calibri"/>
                        </a:rPr>
                        <a:t>Dental Clinics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519,204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536,099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554,679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575,074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597,447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621,949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647,562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674,329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702,314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731,580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762,196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794,244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827,796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862,948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899,791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938,424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a:t>
                      </a:r>
                      <a:endParaRPr sz="1100"/>
                    </a:p>
                  </a:txBody>
                  <a:tcPr marL="19050" marR="14288" marT="19050" marB="19050" anchor="ctr">
                    <a:solidFill>
                      <a:srgbClr val="FFFFFF"/>
                    </a:solidFill>
                  </a:tcPr>
                </a:tc>
              </a:tr>
              <a:tr h="216027">
                <a:tc>
                  <a:txBody>
                    <a:bodyPr wrap="none"/>
                    <a:lstStyle/>
                    <a:p>
                      <a:pPr algn="l"/>
                      <a:r>
                        <a:rPr sz="1100" b="1">
                          <a:solidFill>
                            <a:srgbClr val="2E2E2E"/>
                          </a:solidFill>
                          <a:latin typeface="Calibri"/>
                        </a:rPr>
                        <a:t>Dental Hospitals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162,272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169,709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177,887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186,878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196,769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207,650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219,221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231,524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244,616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258,555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273,406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289,242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306,139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324,184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343,471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364,101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5.8%</a:t>
                      </a:r>
                      <a:endParaRPr sz="1100"/>
                    </a:p>
                  </a:txBody>
                  <a:tcPr marL="19050" marR="14288" marT="19050" marB="19050" anchor="ctr">
                    <a:solidFill>
                      <a:srgbClr val="F5F8FA"/>
                    </a:solidFill>
                  </a:tcPr>
                </a:tc>
              </a:tr>
              <a:tr h="216027">
                <a:tc>
                  <a:txBody>
                    <a:bodyPr wrap="none"/>
                    <a:lstStyle/>
                    <a:p>
                      <a:pPr algn="l"/>
                      <a:r>
                        <a:rPr sz="1100" b="1">
                          <a:solidFill>
                            <a:srgbClr val="2E2E2E"/>
                          </a:solidFill>
                          <a:latin typeface="Calibri"/>
                        </a:rPr>
                        <a:t>Dental Laboratories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1,464,389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1,495,307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1,529,366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1,566,693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1,607,471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1,651,817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1,696,761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1,742,178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1,787,988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1,834,089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1,880,363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1,926,691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1,972,901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2,018,840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2,064,302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2,109,050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a:t>
                      </a:r>
                      <a:endParaRPr sz="1100"/>
                    </a:p>
                  </a:txBody>
                  <a:tcPr marL="19050" marR="14288" marT="19050" marB="19050" anchor="ctr">
                    <a:solidFill>
                      <a:srgbClr val="FFFFFF"/>
                    </a:solidFill>
                  </a:tcPr>
                </a:tc>
              </a:tr>
              <a:tr h="501015">
                <a:tc>
                  <a:txBody>
                    <a:bodyPr wrap="square"/>
                    <a:lstStyle/>
                    <a:p>
                      <a:pPr algn="l">
                        <a:lnSpc>
                          <a:spcPct val="90000"/>
                        </a:lnSpc>
                      </a:pPr>
                      <a:r>
                        <a:rPr sz="1100" b="1">
                          <a:solidFill>
                            <a:srgbClr val="2E2E2E"/>
                          </a:solidFill>
                          <a:latin typeface="Calibri"/>
                        </a:rPr>
                        <a:t>Academic &amp; Teaching Dental Institutions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839,836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868,771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900,615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935,605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974,035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1,016,187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1,060,442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1,106,890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1,155,668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1,206,917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1,260,789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1,317,463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1,377,104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1,439,926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1,506,140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1,575,975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4.5%</a:t>
                      </a:r>
                      <a:endParaRPr sz="1100"/>
                    </a:p>
                  </a:txBody>
                  <a:tcPr marL="19050" marR="14288"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2,985,702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3,069,886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3,162,547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3,264,250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3,375,722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3,497,603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3,623,985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3,754,922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3,890,586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4,031,141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4,176,754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4,327,641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4,483,940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4,645,897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4,813,704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4,987,551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962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95650"/>
            <a:ext cx="11906250" cy="3333750"/>
          </a:xfrm>
          <a:prstGeom prst="roundRect">
            <a:avLst>
              <a:gd name="adj" fmla="val 22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813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End User</a:t>
            </a:r>
          </a:p>
        </p:txBody>
      </p:sp>
      <p:sp>
        <p:nvSpPr>
          <p:cNvPr id="17" name="Rectangle 16"/>
          <p:cNvSpPr/>
          <p:nvPr/>
        </p:nvSpPr>
        <p:spPr>
          <a:xfrm>
            <a:off x="276225" y="36195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05225"/>
            <a:ext cx="11639550" cy="28479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Dental laboratories segment is projected to register 1.3X higher volume than academic &amp; teaching dental institutions segment in 2036. Among removable partial dentures by end user, dental hospitals segment is expected to witness the highest CAGR of 5.8% over the forecast period.</a:t>
            </a:r>
          </a:p>
          <a:p>
            <a:pPr algn="l">
              <a:lnSpc>
                <a:spcPct val="110000"/>
              </a:lnSpc>
              <a:spcBef>
                <a:spcPts val="0"/>
              </a:spcBef>
              <a:spcAft>
                <a:spcPts val="500"/>
              </a:spcAft>
            </a:pPr>
            <a:r>
              <a:rPr sz="1150" b="0">
                <a:solidFill>
                  <a:srgbClr val="2E2E2E"/>
                </a:solidFill>
                <a:latin typeface="Calibri"/>
              </a:rPr>
              <a:t>In terms of volume share by end user, the dental laboratories segment is expected to dominate the market, losing 494 BPS and accounting for 42.3%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End User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End User (US$ Mn)</a:t>
            </a:r>
          </a:p>
        </p:txBody>
      </p:sp>
      <p:graphicFrame>
        <p:nvGraphicFramePr>
          <p:cNvPr id="13" name="Table 12"/>
          <p:cNvGraphicFramePr>
            <a:graphicFrameLocks noGrp="1"/>
          </p:cNvGraphicFramePr>
          <p:nvPr/>
        </p:nvGraphicFramePr>
        <p:xfrm>
          <a:off x="152400" y="1238250"/>
          <a:ext cx="11887196" cy="1295400"/>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15265">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End User</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Academic &amp; teaching dental institutions segment is projected to register 1.0X higher value than dental laboratories segment in 2036. Among removable partial dentures by end user, dental hospitals segment is expected to witness the highest CAGR of 6.5% over the forecast period.</a:t>
            </a:r>
          </a:p>
          <a:p>
            <a:pPr algn="l">
              <a:lnSpc>
                <a:spcPct val="110000"/>
              </a:lnSpc>
              <a:spcBef>
                <a:spcPts val="0"/>
              </a:spcBef>
              <a:spcAft>
                <a:spcPts val="500"/>
              </a:spcAft>
            </a:pPr>
            <a:r>
              <a:rPr sz="1150" b="0">
                <a:solidFill>
                  <a:srgbClr val="2E2E2E"/>
                </a:solidFill>
                <a:latin typeface="Calibri"/>
              </a:rPr>
              <a:t>In terms of value share by end user, the academic &amp; teaching dental institutions segment is expected to dominate the market, gaining 283 BPS and accounting for 39.6% share by 2036. The dental laboratories segment is expected to lose 495 BPS over the forecast period to account for 38.6%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End User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End User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170630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015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253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Hospitals</a:t>
            </a:r>
          </a:p>
        </p:txBody>
      </p:sp>
      <p:sp>
        <p:nvSpPr>
          <p:cNvPr id="19" name="BPS Value 1"/>
          <p:cNvSpPr txBox="1"/>
          <p:nvPr/>
        </p:nvSpPr>
        <p:spPr>
          <a:xfrm>
            <a:off x="6896100" y="1687255"/>
            <a:ext cx="514350" cy="123825"/>
          </a:xfrm>
          <a:prstGeom prst="rect">
            <a:avLst/>
          </a:prstGeom>
          <a:noFill/>
        </p:spPr>
        <p:txBody>
          <a:bodyPr wrap="none" lIns="0" rIns="0" tIns="0" bIns="0" anchor="ctr">
            <a:spAutoFit/>
          </a:bodyPr>
          <a:lstStyle/>
          <a:p>
            <a:pPr algn="r"/>
            <a:r>
              <a:rPr sz="900" b="1">
                <a:solidFill>
                  <a:srgbClr val="2E7D32"/>
                </a:solidFill>
                <a:latin typeface="Calibri"/>
              </a:rPr>
              <a:t>+150</a:t>
            </a:r>
          </a:p>
        </p:txBody>
      </p:sp>
      <p:sp>
        <p:nvSpPr>
          <p:cNvPr id="20" name="FMI Legend Chip"/>
          <p:cNvSpPr/>
          <p:nvPr/>
        </p:nvSpPr>
        <p:spPr>
          <a:xfrm>
            <a:off x="4928997" y="222329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185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423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Clinics</a:t>
            </a:r>
          </a:p>
        </p:txBody>
      </p:sp>
      <p:sp>
        <p:nvSpPr>
          <p:cNvPr id="23" name="BPS Value 2"/>
          <p:cNvSpPr txBox="1"/>
          <p:nvPr/>
        </p:nvSpPr>
        <p:spPr>
          <a:xfrm>
            <a:off x="6896100" y="2204240"/>
            <a:ext cx="514350" cy="123825"/>
          </a:xfrm>
          <a:prstGeom prst="rect">
            <a:avLst/>
          </a:prstGeom>
          <a:noFill/>
        </p:spPr>
        <p:txBody>
          <a:bodyPr wrap="none" lIns="0" rIns="0" tIns="0" bIns="0" anchor="ctr">
            <a:spAutoFit/>
          </a:bodyPr>
          <a:lstStyle/>
          <a:p>
            <a:pPr algn="r"/>
            <a:r>
              <a:rPr sz="900" b="1">
                <a:solidFill>
                  <a:srgbClr val="2E7D32"/>
                </a:solidFill>
                <a:latin typeface="Calibri"/>
              </a:rPr>
              <a:t>+61</a:t>
            </a:r>
          </a:p>
        </p:txBody>
      </p:sp>
      <p:sp>
        <p:nvSpPr>
          <p:cNvPr id="24" name="FMI Legend Chip"/>
          <p:cNvSpPr/>
          <p:nvPr/>
        </p:nvSpPr>
        <p:spPr>
          <a:xfrm>
            <a:off x="4928997" y="34550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45025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3740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Laboratories</a:t>
            </a:r>
          </a:p>
        </p:txBody>
      </p:sp>
      <p:sp>
        <p:nvSpPr>
          <p:cNvPr id="27" name="BPS Value 3"/>
          <p:cNvSpPr txBox="1"/>
          <p:nvPr/>
        </p:nvSpPr>
        <p:spPr>
          <a:xfrm>
            <a:off x="6896100" y="3435968"/>
            <a:ext cx="514350" cy="123825"/>
          </a:xfrm>
          <a:prstGeom prst="rect">
            <a:avLst/>
          </a:prstGeom>
          <a:noFill/>
        </p:spPr>
        <p:txBody>
          <a:bodyPr wrap="none" lIns="0" rIns="0" tIns="0" bIns="0" anchor="ctr">
            <a:spAutoFit/>
          </a:bodyPr>
          <a:lstStyle/>
          <a:p>
            <a:pPr algn="r"/>
            <a:r>
              <a:rPr sz="900" b="1">
                <a:solidFill>
                  <a:srgbClr val="E44D3A"/>
                </a:solidFill>
                <a:latin typeface="Calibri"/>
              </a:rPr>
              <a:t>-495</a:t>
            </a:r>
          </a:p>
        </p:txBody>
      </p:sp>
      <p:sp>
        <p:nvSpPr>
          <p:cNvPr id="28" name="FMI Legend Chip"/>
          <p:cNvSpPr/>
          <p:nvPr/>
        </p:nvSpPr>
        <p:spPr>
          <a:xfrm>
            <a:off x="4928997" y="530652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30175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22555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Academic &amp; Teaching Dental Institutions</a:t>
            </a:r>
          </a:p>
        </p:txBody>
      </p:sp>
      <p:sp>
        <p:nvSpPr>
          <p:cNvPr id="31" name="BPS Value 4"/>
          <p:cNvSpPr txBox="1"/>
          <p:nvPr/>
        </p:nvSpPr>
        <p:spPr>
          <a:xfrm>
            <a:off x="6896100" y="5287470"/>
            <a:ext cx="514350" cy="123825"/>
          </a:xfrm>
          <a:prstGeom prst="rect">
            <a:avLst/>
          </a:prstGeom>
          <a:noFill/>
        </p:spPr>
        <p:txBody>
          <a:bodyPr wrap="none" lIns="0" rIns="0" tIns="0" bIns="0" anchor="ctr">
            <a:spAutoFit/>
          </a:bodyPr>
          <a:lstStyle/>
          <a:p>
            <a:pPr algn="r"/>
            <a:r>
              <a:rPr sz="900" b="1">
                <a:solidFill>
                  <a:srgbClr val="2E7D32"/>
                </a:solidFill>
                <a:latin typeface="Calibri"/>
              </a:rPr>
              <a:t>+283</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End User</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end user, dental hospitals segment is expected to witness the highest CAGR of 6.5% over the forecast period. In terms of value share by end user, the academic &amp; teaching dental institutions segment is expected to dominate the market, gaining 283 BPS and accounting for 39.6% share by 2036.</a:t>
            </a:r>
          </a:p>
          <a:p>
            <a:pPr algn="l">
              <a:lnSpc>
                <a:spcPct val="110000"/>
              </a:lnSpc>
              <a:spcBef>
                <a:spcPts val="0"/>
              </a:spcBef>
              <a:spcAft>
                <a:spcPts val="500"/>
              </a:spcAft>
            </a:pPr>
            <a:r>
              <a:rPr sz="1150" b="0">
                <a:solidFill>
                  <a:srgbClr val="2E2E2E"/>
                </a:solidFill>
                <a:latin typeface="Calibri"/>
              </a:rPr>
              <a:t>The dental laboratories segment is expected to lose 495 BPS over the forecast period to account for 38.6%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076325"/>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15265">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End User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086100"/>
            <a:ext cx="643890" cy="87153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3957638"/>
            <a:ext cx="643890" cy="87153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829175"/>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00712"/>
            <a:ext cx="643890" cy="871538"/>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076325"/>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15265">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End User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086100"/>
            <a:ext cx="643890" cy="87153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3957638"/>
            <a:ext cx="643890" cy="87153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829175"/>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00712"/>
            <a:ext cx="643890" cy="87153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Dental Dealers &amp; Distributors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712.7</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909.9</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2.5%</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 Sales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295.2</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671.5</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8.6%</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Dental Supply Channels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117.3</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149.5</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2.4%</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removable partial dentures by distribution channel, direct sales segment is expected to witness the highest CAGR of 8.6% over the forecast period. In terms of value share by distribution channel, the dental dealers &amp; distributors segment is expected to dominate the market, losing 1,077 BPS and accounting for 52.6%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Dental dealers &amp; distributors segment is projected to register 1.4X higher value than direct sales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Dental Dealers &amp; Distributors: </a:t>
            </a:r>
            <a:r>
              <a:rPr sz="1100" b="0">
                <a:solidFill>
                  <a:srgbClr val="2E2E2E"/>
                </a:solidFill>
                <a:latin typeface="Calibri"/>
              </a:rPr>
              <a:t>63% of 2026 value · 2.5%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Direct Sales: </a:t>
            </a:r>
            <a:r>
              <a:rPr sz="1100" b="0">
                <a:solidFill>
                  <a:srgbClr val="2E2E2E"/>
                </a:solidFill>
                <a:latin typeface="Calibri"/>
              </a:rPr>
              <a:t>26% of 2026 value · 8.6%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Online Dental Supply Channels: </a:t>
            </a:r>
            <a:r>
              <a:rPr sz="1100" b="0">
                <a:solidFill>
                  <a:srgbClr val="2E2E2E"/>
                </a:solidFill>
                <a:latin typeface="Calibri"/>
              </a:rPr>
              <a:t>10% of 2026 value · 2.4%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4.4%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Direct sales followed by dental dealers &amp; distributors are expected to be the two most attractive distribution channel segments in the global removable partial dentures market in terms of value over the forecast period. Direct sales and dental dealers &amp; distributors exhibit a CAGR index of 194.7 and 56.2 and a market share index of 78.7 and 190.0 respectively, against the segment average of 100. The online dental supply channels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Direct Sales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Dealers &amp; Distributors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Online Dental Supply Channels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Distribution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direct sales segment is anticipated to witness an increase of 2.3X in terms of value as compared to 2026. The direct sales segment is expected to create an incremental opportunity of US$ 376.3 Mn for the overall removable partial dentures market from 2026 to 2036.</a:t>
            </a:r>
          </a:p>
          <a:p>
            <a:pPr algn="l">
              <a:lnSpc>
                <a:spcPct val="110000"/>
              </a:lnSpc>
              <a:spcBef>
                <a:spcPts val="0"/>
              </a:spcBef>
              <a:spcAft>
                <a:spcPts val="500"/>
              </a:spcAft>
            </a:pPr>
            <a:r>
              <a:rPr sz="1150" b="0">
                <a:solidFill>
                  <a:srgbClr val="2E2E2E"/>
                </a:solidFill>
                <a:latin typeface="Calibri"/>
              </a:rPr>
              <a:t>The dental dealers &amp; distributors segment is expected to create an incremental opportunity of US$ 197.2 Mn for the overall removable partial dentures market from 2026 to 2036. The online dental supply channels segment is expected to create an incremental opportunity of US$ 32.1 Mn for the overall removable partial dentures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Distribution Channel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Distribution Channel (Units)</a:t>
            </a:r>
          </a:p>
        </p:txBody>
      </p:sp>
      <p:graphicFrame>
        <p:nvGraphicFramePr>
          <p:cNvPr id="13" name="Table 12"/>
          <p:cNvGraphicFramePr>
            <a:graphicFrameLocks noGrp="1"/>
          </p:cNvGraphicFramePr>
          <p:nvPr/>
        </p:nvGraphicFramePr>
        <p:xfrm>
          <a:off x="152400" y="1238250"/>
          <a:ext cx="11887208" cy="1485901"/>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square"/>
                    <a:lstStyle/>
                    <a:p>
                      <a:pPr algn="l">
                        <a:lnSpc>
                          <a:spcPct val="90000"/>
                        </a:lnSpc>
                      </a:pPr>
                      <a:r>
                        <a:rPr sz="1100" b="1">
                          <a:solidFill>
                            <a:srgbClr val="0B2E4A"/>
                          </a:solidFill>
                          <a:latin typeface="Calibri"/>
                        </a:rPr>
                        <a:t>Distribution Channel</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217075">
                <a:tc>
                  <a:txBody>
                    <a:bodyPr wrap="none"/>
                    <a:lstStyle/>
                    <a:p>
                      <a:pPr algn="l"/>
                      <a:r>
                        <a:rPr sz="1100" b="1">
                          <a:solidFill>
                            <a:srgbClr val="2E2E2E"/>
                          </a:solidFill>
                          <a:latin typeface="Calibri"/>
                        </a:rPr>
                        <a:t>Direct Sales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538,854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579,912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624,903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674,278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728,566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788,328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852,632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921,808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996,236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1,076,324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1,162,514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1,255,297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1,355,182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1,462,754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1,578,630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1,703,479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8.0%</a:t>
                      </a:r>
                      <a:endParaRPr sz="1100"/>
                    </a:p>
                  </a:txBody>
                  <a:tcPr marL="19050" marR="14288" marT="19050" marB="19050" anchor="ctr">
                    <a:solidFill>
                      <a:srgbClr val="FFFFFF"/>
                    </a:solidFill>
                  </a:tcPr>
                </a:tc>
              </a:tr>
              <a:tr h="351187">
                <a:tc>
                  <a:txBody>
                    <a:bodyPr wrap="square"/>
                    <a:lstStyle/>
                    <a:p>
                      <a:pPr algn="l">
                        <a:lnSpc>
                          <a:spcPct val="90000"/>
                        </a:lnSpc>
                      </a:pPr>
                      <a:r>
                        <a:rPr sz="1100" b="1">
                          <a:solidFill>
                            <a:srgbClr val="2E2E2E"/>
                          </a:solidFill>
                          <a:latin typeface="Calibri"/>
                        </a:rPr>
                        <a:t>Dental Dealers &amp; Distributors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2,192,620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2,231,186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2,273,829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2,320,652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2,371,832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2,427,443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2,483,030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2,538,346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2,593,205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2,647,393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2,700,666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2,752,781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2,803,409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2,852,250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2,898,928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2,943,019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a:t>
                      </a:r>
                      <a:endParaRPr sz="1100"/>
                    </a:p>
                  </a:txBody>
                  <a:tcPr marL="19050" marR="14288" marT="19050" marB="19050" anchor="ctr">
                    <a:solidFill>
                      <a:srgbClr val="F5F8FA"/>
                    </a:solidFill>
                  </a:tcPr>
                </a:tc>
              </a:tr>
              <a:tr h="351187">
                <a:tc>
                  <a:txBody>
                    <a:bodyPr wrap="square"/>
                    <a:lstStyle/>
                    <a:p>
                      <a:pPr algn="l">
                        <a:lnSpc>
                          <a:spcPct val="90000"/>
                        </a:lnSpc>
                      </a:pPr>
                      <a:r>
                        <a:rPr sz="1100" b="1">
                          <a:solidFill>
                            <a:srgbClr val="2E2E2E"/>
                          </a:solidFill>
                          <a:latin typeface="Calibri"/>
                        </a:rPr>
                        <a:t>Online Dental Supply Channels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254,227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258,788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263,815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269,321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275,324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281,832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288,323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294,769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301,145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307,424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313,574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319,563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325,349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330,893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336,146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341,053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a:t>
                      </a:r>
                      <a:endParaRPr sz="1100"/>
                    </a:p>
                  </a:txBody>
                  <a:tcPr marL="19050" marR="14288" marT="19050" marB="19050" anchor="ctr">
                    <a:solidFill>
                      <a:srgbClr val="FFFFFF"/>
                    </a:solidFill>
                  </a:tcPr>
                </a:tc>
              </a:tr>
              <a:tr h="217075">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2,985,702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3,069,886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3,162,547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3,264,250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3,375,722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3,497,603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3,623,985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3,754,922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3,890,586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4,031,141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4,176,754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4,327,641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4,483,940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4,645,897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4,813,704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4,987,551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3.6%</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Distribution Channel</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Dental dealers &amp; distributors segment is projected to register 1.7X higher volume than direct sales segment in 2036. Among removable partial dentures by distribution channel, direct sales segment is expected to witness the highest CAGR of 8.0% over the forecast period.</a:t>
            </a:r>
          </a:p>
          <a:p>
            <a:pPr algn="l">
              <a:lnSpc>
                <a:spcPct val="110000"/>
              </a:lnSpc>
              <a:spcBef>
                <a:spcPts val="0"/>
              </a:spcBef>
              <a:spcAft>
                <a:spcPts val="500"/>
              </a:spcAft>
            </a:pPr>
            <a:r>
              <a:rPr sz="1150" b="0">
                <a:solidFill>
                  <a:srgbClr val="2E2E2E"/>
                </a:solidFill>
                <a:latin typeface="Calibri"/>
              </a:rPr>
              <a:t>In terms of volume share by distribution channel, the dental dealers &amp; distributors segment is expected to dominate the market, losing 1,040 BPS and accounting for 59.0%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Distribution Channel (US$ Mn)</a:t>
            </a:r>
          </a:p>
        </p:txBody>
      </p:sp>
      <p:graphicFrame>
        <p:nvGraphicFramePr>
          <p:cNvPr id="13" name="Table 12"/>
          <p:cNvGraphicFramePr>
            <a:graphicFrameLocks noGrp="1"/>
          </p:cNvGraphicFramePr>
          <p:nvPr/>
        </p:nvGraphicFramePr>
        <p:xfrm>
          <a:off x="152400" y="1238250"/>
          <a:ext cx="11887206" cy="1076325"/>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Distribution Channel</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Dental dealers &amp; distributors segment is projected to register 1.4X higher value than direct sales segment in 2036. Among removable partial dentures by distribution channel, direct sales segment is expected to witness the highest CAGR of 8.6%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dental dealers &amp; distributors segment is expected to dominate the market, losing 1,077 BPS and accounting for 52.6%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6867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639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877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Dental Supply Channels</a:t>
            </a:r>
          </a:p>
        </p:txBody>
      </p:sp>
      <p:sp>
        <p:nvSpPr>
          <p:cNvPr id="19" name="BPS Value 1"/>
          <p:cNvSpPr txBox="1"/>
          <p:nvPr/>
        </p:nvSpPr>
        <p:spPr>
          <a:xfrm>
            <a:off x="6896100" y="1849620"/>
            <a:ext cx="514350" cy="123825"/>
          </a:xfrm>
          <a:prstGeom prst="rect">
            <a:avLst/>
          </a:prstGeom>
          <a:noFill/>
        </p:spPr>
        <p:txBody>
          <a:bodyPr wrap="none" lIns="0" rIns="0" tIns="0" bIns="0" anchor="ctr">
            <a:spAutoFit/>
          </a:bodyPr>
          <a:lstStyle/>
          <a:p>
            <a:pPr algn="r"/>
            <a:r>
              <a:rPr sz="900" b="1">
                <a:solidFill>
                  <a:srgbClr val="E44D3A"/>
                </a:solidFill>
                <a:latin typeface="Calibri"/>
              </a:rPr>
              <a:t>-179</a:t>
            </a:r>
          </a:p>
        </p:txBody>
      </p:sp>
      <p:sp>
        <p:nvSpPr>
          <p:cNvPr id="20" name="FMI Legend Chip"/>
          <p:cNvSpPr/>
          <p:nvPr/>
        </p:nvSpPr>
        <p:spPr>
          <a:xfrm>
            <a:off x="4928997" y="29530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4825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720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 Sales</a:t>
            </a:r>
          </a:p>
        </p:txBody>
      </p:sp>
      <p:sp>
        <p:nvSpPr>
          <p:cNvPr id="23" name="BPS Value 2"/>
          <p:cNvSpPr txBox="1"/>
          <p:nvPr/>
        </p:nvSpPr>
        <p:spPr>
          <a:xfrm>
            <a:off x="6896100" y="2933968"/>
            <a:ext cx="514350" cy="123825"/>
          </a:xfrm>
          <a:prstGeom prst="rect">
            <a:avLst/>
          </a:prstGeom>
          <a:noFill/>
        </p:spPr>
        <p:txBody>
          <a:bodyPr wrap="none" lIns="19050" rIns="19050" tIns="0" bIns="0" anchor="ctr">
            <a:spAutoFit/>
          </a:bodyPr>
          <a:lstStyle/>
          <a:p>
            <a:pPr algn="r"/>
            <a:r>
              <a:rPr sz="900" b="1">
                <a:solidFill>
                  <a:srgbClr val="2E7D32"/>
                </a:solidFill>
                <a:latin typeface="Calibri"/>
              </a:rPr>
              <a:t>+1,256</a:t>
            </a:r>
          </a:p>
        </p:txBody>
      </p:sp>
      <p:sp>
        <p:nvSpPr>
          <p:cNvPr id="24" name="FMI Legend Chip"/>
          <p:cNvSpPr/>
          <p:nvPr/>
        </p:nvSpPr>
        <p:spPr>
          <a:xfrm>
            <a:off x="4928997" y="504179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0370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9608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Dental Dealers &amp; Distributors</a:t>
            </a:r>
          </a:p>
        </p:txBody>
      </p:sp>
      <p:sp>
        <p:nvSpPr>
          <p:cNvPr id="27" name="BPS Value 3"/>
          <p:cNvSpPr txBox="1"/>
          <p:nvPr/>
        </p:nvSpPr>
        <p:spPr>
          <a:xfrm>
            <a:off x="6896100" y="5022746"/>
            <a:ext cx="514350" cy="123825"/>
          </a:xfrm>
          <a:prstGeom prst="rect">
            <a:avLst/>
          </a:prstGeom>
          <a:noFill/>
        </p:spPr>
        <p:txBody>
          <a:bodyPr wrap="none" lIns="19050" rIns="19050" tIns="0" bIns="0" anchor="ctr">
            <a:spAutoFit/>
          </a:bodyPr>
          <a:lstStyle/>
          <a:p>
            <a:pPr algn="r"/>
            <a:r>
              <a:rPr sz="900" b="1">
                <a:solidFill>
                  <a:srgbClr val="E44D3A"/>
                </a:solidFill>
                <a:latin typeface="Calibri"/>
              </a:rPr>
              <a:t>-1,077</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Distribution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distribution channel, direct sales segment is expected to witness the highest CAGR of 8.6%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dental dealers &amp; distributors segment is expected to dominate the market, losing 1,077 BPS and accounting for 52.6%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Distribution Channel (%)  ·  light = lower, dark = higher growth</a:t>
            </a:r>
          </a:p>
        </p:txBody>
      </p:sp>
      <p:sp>
        <p:nvSpPr>
          <p:cNvPr id="17" name="TextBox 16"/>
          <p:cNvSpPr txBox="1"/>
          <p:nvPr/>
        </p:nvSpPr>
        <p:spPr>
          <a:xfrm>
            <a:off x="185737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2876550"/>
            <a:ext cx="643890" cy="1231900"/>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876550"/>
            <a:ext cx="643890" cy="1231900"/>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876550"/>
            <a:ext cx="643890" cy="1231900"/>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876550"/>
            <a:ext cx="643890" cy="1231900"/>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876550"/>
            <a:ext cx="643890"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876550"/>
            <a:ext cx="643890" cy="1231900"/>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876550"/>
            <a:ext cx="643890" cy="1231900"/>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876550"/>
            <a:ext cx="643890" cy="1231900"/>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876550"/>
            <a:ext cx="643890" cy="1231900"/>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876550"/>
            <a:ext cx="643890" cy="1231900"/>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876550"/>
            <a:ext cx="643890" cy="1231900"/>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876550"/>
            <a:ext cx="643890" cy="1231900"/>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876550"/>
            <a:ext cx="643890" cy="1231900"/>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876550"/>
            <a:ext cx="643890" cy="1231900"/>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876550"/>
            <a:ext cx="643890" cy="1231900"/>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08450"/>
            <a:ext cx="643890" cy="12319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08450"/>
            <a:ext cx="643890" cy="12319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08450"/>
            <a:ext cx="643890" cy="1231900"/>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08450"/>
            <a:ext cx="643890"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08450"/>
            <a:ext cx="643890" cy="1231900"/>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08450"/>
            <a:ext cx="643890" cy="1231900"/>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08450"/>
            <a:ext cx="643890"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08450"/>
            <a:ext cx="643890" cy="123190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08450"/>
            <a:ext cx="643890" cy="12319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08450"/>
            <a:ext cx="643890" cy="12319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08450"/>
            <a:ext cx="643890" cy="12319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08450"/>
            <a:ext cx="643890" cy="123190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08450"/>
            <a:ext cx="643890" cy="123190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08450"/>
            <a:ext cx="643890" cy="123190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08450"/>
            <a:ext cx="643890" cy="123190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40350"/>
            <a:ext cx="643890" cy="12319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40350"/>
            <a:ext cx="643890" cy="12319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40350"/>
            <a:ext cx="643890" cy="12319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40350"/>
            <a:ext cx="643890"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40350"/>
            <a:ext cx="643890" cy="123190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40350"/>
            <a:ext cx="643890" cy="12319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40350"/>
            <a:ext cx="643890"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40350"/>
            <a:ext cx="643890" cy="123190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40350"/>
            <a:ext cx="643890" cy="12319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40350"/>
            <a:ext cx="643890" cy="12319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40350"/>
            <a:ext cx="643890" cy="12319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40350"/>
            <a:ext cx="643890" cy="1231900"/>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40350"/>
            <a:ext cx="643890" cy="12319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40350"/>
            <a:ext cx="643890" cy="12319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40350"/>
            <a:ext cx="643890"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Distribution Channel (%)  ·  light = lower, dark = higher growth</a:t>
            </a:r>
          </a:p>
        </p:txBody>
      </p:sp>
      <p:sp>
        <p:nvSpPr>
          <p:cNvPr id="17" name="TextBox 16"/>
          <p:cNvSpPr txBox="1"/>
          <p:nvPr/>
        </p:nvSpPr>
        <p:spPr>
          <a:xfrm>
            <a:off x="185737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2876550"/>
            <a:ext cx="643890" cy="1231900"/>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876550"/>
            <a:ext cx="643890" cy="1231900"/>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876550"/>
            <a:ext cx="643890" cy="1231900"/>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876550"/>
            <a:ext cx="643890" cy="1231900"/>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876550"/>
            <a:ext cx="643890"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876550"/>
            <a:ext cx="643890" cy="1231900"/>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876550"/>
            <a:ext cx="643890" cy="1231900"/>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876550"/>
            <a:ext cx="643890" cy="1231900"/>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876550"/>
            <a:ext cx="643890" cy="1231900"/>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876550"/>
            <a:ext cx="643890" cy="1231900"/>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876550"/>
            <a:ext cx="643890" cy="1231900"/>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876550"/>
            <a:ext cx="643890" cy="1231900"/>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876550"/>
            <a:ext cx="643890" cy="1231900"/>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876550"/>
            <a:ext cx="643890" cy="1231900"/>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876550"/>
            <a:ext cx="643890" cy="1231900"/>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08450"/>
            <a:ext cx="643890" cy="12319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08450"/>
            <a:ext cx="643890" cy="12319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08450"/>
            <a:ext cx="643890" cy="123190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08450"/>
            <a:ext cx="643890" cy="12319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08450"/>
            <a:ext cx="643890" cy="123190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08450"/>
            <a:ext cx="643890" cy="123190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08450"/>
            <a:ext cx="643890" cy="1231900"/>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08450"/>
            <a:ext cx="643890"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08450"/>
            <a:ext cx="643890" cy="123190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08450"/>
            <a:ext cx="643890" cy="1231900"/>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08450"/>
            <a:ext cx="643890" cy="12319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08450"/>
            <a:ext cx="643890" cy="12319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08450"/>
            <a:ext cx="643890" cy="1231900"/>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08450"/>
            <a:ext cx="643890" cy="1231900"/>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08450"/>
            <a:ext cx="643890" cy="1231900"/>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40350"/>
            <a:ext cx="643890" cy="12319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40350"/>
            <a:ext cx="643890" cy="123190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40350"/>
            <a:ext cx="643890" cy="123190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40350"/>
            <a:ext cx="643890" cy="12319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40350"/>
            <a:ext cx="643890" cy="123190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40350"/>
            <a:ext cx="643890" cy="123190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40350"/>
            <a:ext cx="643890" cy="12319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40350"/>
            <a:ext cx="643890"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40350"/>
            <a:ext cx="643890" cy="123190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40350"/>
            <a:ext cx="643890" cy="1231900"/>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40350"/>
            <a:ext cx="643890" cy="12319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40350"/>
            <a:ext cx="643890" cy="123190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40350"/>
            <a:ext cx="643890" cy="123190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40350"/>
            <a:ext cx="643890" cy="12319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40350"/>
            <a:ext cx="643890"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Patient Age Group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Patient Age Group,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Patient Age Group segment categorizes the market by patient age group.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Geriatric Patients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753.1</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1,168</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4.5%</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Adults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372.1</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563.3</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4.2%</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removable partial dentures by patient age group, geriatric patients segment is expected to witness the highest CAGR of 4.5% over the forecast period. In terms of value share by patient age group, the geriatric patients segment is expected to dominate the market, gaining 53 BPS and accounting for 67.5%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Geriatric patients segment is projected to register 2.1X higher value than adults segment in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Geriatric Patients: </a:t>
            </a:r>
            <a:r>
              <a:rPr sz="1100" b="0">
                <a:solidFill>
                  <a:srgbClr val="2E2E2E"/>
                </a:solidFill>
                <a:latin typeface="Calibri"/>
              </a:rPr>
              <a:t>67% of 2026 value · 4.5%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Adults: </a:t>
            </a:r>
            <a:r>
              <a:rPr sz="1100" b="0">
                <a:solidFill>
                  <a:srgbClr val="2E2E2E"/>
                </a:solidFill>
                <a:latin typeface="Calibri"/>
              </a:rPr>
              <a:t>33% of 2026 value · 4.2% CAGR serves a niche.</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Patient Age Group split shows how demand is distributed across patient age group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Patient Age Group segment is projected to grow at a CAGR of 4.4%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Patient Age Group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Patient Age Group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Patient Age Group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Geriatric patients followed by adults are expected to be the two most attractive patient age group segments in the global removable partial dentures market in terms of value over the forecast period. Geriatric patients and adults exhibit a CAGR index of 101.9 and 96.2 and a market share index of 133.9 and 66.1 respectively, against the segment average of 100.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Patient Age Group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Adults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Geriatric Patients</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Patient Age Group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66850"/>
          </a:xfrm>
          <a:prstGeom prst="roundRect">
            <a:avLst>
              <a:gd name="adj" fmla="val 51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Patient Age Group (Units)</a:t>
            </a:r>
          </a:p>
        </p:txBody>
      </p:sp>
      <p:graphicFrame>
        <p:nvGraphicFramePr>
          <p:cNvPr id="13" name="Table 12"/>
          <p:cNvGraphicFramePr>
            <a:graphicFrameLocks noGrp="1"/>
          </p:cNvGraphicFramePr>
          <p:nvPr/>
        </p:nvGraphicFramePr>
        <p:xfrm>
          <a:off x="152400" y="1238250"/>
          <a:ext cx="11887200" cy="1000125"/>
        </p:xfrm>
        <a:graphic>
          <a:graphicData uri="http://schemas.openxmlformats.org/drawingml/2006/table">
            <a:tbl>
              <a:tblPr>
                <a:tableStyleId>{5C22544A-7EE6-4342-B048-85BDC9FD1C3A}</a:tableStyleId>
              </a:tblPr>
              <a:tblGrid>
                <a:gridCol w="1121278"/>
                <a:gridCol w="645795"/>
                <a:gridCol w="645795"/>
                <a:gridCol w="645795"/>
                <a:gridCol w="645795"/>
                <a:gridCol w="645795"/>
                <a:gridCol w="645795"/>
                <a:gridCol w="645795"/>
                <a:gridCol w="645795"/>
                <a:gridCol w="645795"/>
                <a:gridCol w="645795"/>
                <a:gridCol w="645795"/>
                <a:gridCol w="645795"/>
                <a:gridCol w="645795"/>
                <a:gridCol w="645795"/>
                <a:gridCol w="645795"/>
                <a:gridCol w="645795"/>
                <a:gridCol w="433202"/>
              </a:tblGrid>
              <a:tr h="349377">
                <a:tc>
                  <a:txBody>
                    <a:bodyPr wrap="square"/>
                    <a:lstStyle/>
                    <a:p>
                      <a:pPr algn="l">
                        <a:lnSpc>
                          <a:spcPct val="90000"/>
                        </a:lnSpc>
                      </a:pPr>
                      <a:r>
                        <a:rPr sz="1100" b="1">
                          <a:solidFill>
                            <a:srgbClr val="0B2E4A"/>
                          </a:solidFill>
                          <a:latin typeface="Calibri"/>
                        </a:rPr>
                        <a:t>Patient Age Group</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9050" marT="19050" marB="19050" anchor="ctr">
                    <a:solidFill>
                      <a:srgbClr val="E0E8EF"/>
                    </a:solidFill>
                  </a:tcPr>
                </a:tc>
              </a:tr>
              <a:tr h="216916">
                <a:tc>
                  <a:txBody>
                    <a:bodyPr wrap="none"/>
                    <a:lstStyle/>
                    <a:p>
                      <a:pPr algn="l"/>
                      <a:r>
                        <a:rPr sz="1100" b="1">
                          <a:solidFill>
                            <a:srgbClr val="2E2E2E"/>
                          </a:solidFill>
                          <a:latin typeface="Calibri"/>
                        </a:rPr>
                        <a:t>Adults</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1,148,220</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1,179,567</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1,214,056</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1,251,887</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1,293,318</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1,338,572</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1,385,360</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1,433,686</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1,483,595</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1,535,125</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1,588,313</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1,643,210</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1,699,837</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1,758,248</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1,818,476</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1,880,546</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3.5%</a:t>
                      </a:r>
                      <a:endParaRPr sz="1100"/>
                    </a:p>
                  </a:txBody>
                  <a:tcPr marL="19050" marR="19050" marT="19050" marB="19050" anchor="ctr">
                    <a:solidFill>
                      <a:srgbClr val="FFFFFF"/>
                    </a:solidFill>
                  </a:tcPr>
                </a:tc>
              </a:tr>
              <a:tr h="216916">
                <a:tc>
                  <a:txBody>
                    <a:bodyPr wrap="none"/>
                    <a:lstStyle/>
                    <a:p>
                      <a:pPr algn="l"/>
                      <a:r>
                        <a:rPr sz="1100" b="1">
                          <a:solidFill>
                            <a:srgbClr val="2E2E2E"/>
                          </a:solidFill>
                          <a:latin typeface="Calibri"/>
                        </a:rPr>
                        <a:t>Geriatric Patients</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1,837,482</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1,890,319</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1,948,490</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2,012,363</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2,082,404</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2,159,031</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2,238,625</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2,321,236</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2,406,991</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2,496,015</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2,588,441</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2,684,430</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2,784,104</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2,887,649</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2,995,228</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3,107,005</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3.7%</a:t>
                      </a:r>
                      <a:endParaRPr sz="1100"/>
                    </a:p>
                  </a:txBody>
                  <a:tcPr marL="19050" marR="19050" marT="19050" marB="19050" anchor="ctr">
                    <a:solidFill>
                      <a:srgbClr val="F5F8FA"/>
                    </a:solidFill>
                  </a:tcPr>
                </a:tc>
              </a:tr>
              <a:tr h="216916">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2,985,702</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3,069,886</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3,162,547</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3,264,250</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3,375,722</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3,497,603</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3,623,985</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3,754,922</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3,890,586</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4,031,141</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4,176,754</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4,327,641</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4,483,940</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4,645,897</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4,813,704</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4,987,551</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3.6%</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247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81275"/>
            <a:ext cx="11906250" cy="4048125"/>
          </a:xfrm>
          <a:prstGeom prst="roundRect">
            <a:avLst>
              <a:gd name="adj" fmla="val 18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670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Patient Age Group</a:t>
            </a:r>
          </a:p>
        </p:txBody>
      </p:sp>
      <p:sp>
        <p:nvSpPr>
          <p:cNvPr id="17" name="Rectangle 16"/>
          <p:cNvSpPr/>
          <p:nvPr/>
        </p:nvSpPr>
        <p:spPr>
          <a:xfrm>
            <a:off x="276225" y="2905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90850"/>
            <a:ext cx="11639550" cy="35623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Geriatric patients segment is projected to register 1.7X higher volume than adults segment in 2036. Among removable partial dentures by patient age group, geriatric patients segment is expected to witness the highest CAGR of 3.7% over the forecast period.</a:t>
            </a:r>
          </a:p>
          <a:p>
            <a:pPr algn="l">
              <a:lnSpc>
                <a:spcPct val="110000"/>
              </a:lnSpc>
              <a:spcBef>
                <a:spcPts val="0"/>
              </a:spcBef>
              <a:spcAft>
                <a:spcPts val="500"/>
              </a:spcAft>
            </a:pPr>
            <a:r>
              <a:rPr sz="1150" b="0">
                <a:solidFill>
                  <a:srgbClr val="2E2E2E"/>
                </a:solidFill>
                <a:latin typeface="Calibri"/>
              </a:rPr>
              <a:t>In terms of volume share by patient age group, the geriatric patients segment is expected to dominate the market, gaining 57 BPS and accounting for 62.3% share by 2036. The adults segment is expected to lose 57 BPS over the forecast period to account for 37.7%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Patient Age Group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Patient Age Group (US$ Mn)</a:t>
            </a:r>
          </a:p>
        </p:txBody>
      </p:sp>
      <p:graphicFrame>
        <p:nvGraphicFramePr>
          <p:cNvPr id="13" name="Table 12"/>
          <p:cNvGraphicFramePr>
            <a:graphicFrameLocks noGrp="1"/>
          </p:cNvGraphicFramePr>
          <p:nvPr/>
        </p:nvGraphicFramePr>
        <p:xfrm>
          <a:off x="152400" y="1238250"/>
          <a:ext cx="11887195" cy="866775"/>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5336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Patient Age Group</a:t>
            </a:r>
          </a:p>
        </p:txBody>
      </p:sp>
      <p:sp>
        <p:nvSpPr>
          <p:cNvPr id="17" name="Rectangle 16"/>
          <p:cNvSpPr/>
          <p:nvPr/>
        </p:nvSpPr>
        <p:spPr>
          <a:xfrm>
            <a:off x="276225" y="2771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857500"/>
            <a:ext cx="11639550" cy="36957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Geriatric patients segment is projected to register 2.1X higher value than adults segment in 2036. Among removable partial dentures by patient age group, geriatric patients segment is expected to witness the highest CAGR of 4.5% over the forecast period.</a:t>
            </a:r>
          </a:p>
          <a:p>
            <a:pPr algn="l">
              <a:lnSpc>
                <a:spcPct val="110000"/>
              </a:lnSpc>
              <a:spcBef>
                <a:spcPts val="0"/>
              </a:spcBef>
              <a:spcAft>
                <a:spcPts val="500"/>
              </a:spcAft>
            </a:pPr>
            <a:r>
              <a:rPr sz="1150" b="0">
                <a:solidFill>
                  <a:srgbClr val="2E2E2E"/>
                </a:solidFill>
                <a:latin typeface="Calibri"/>
              </a:rPr>
              <a:t>In terms of value share by patient age group, the geriatric patients segment is expected to dominate the market, gaining 53 BPS and accounting for 67.5% share by 2036. The adults segment is expected to lose 53 BPS over the forecast period to account for 32.5%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Patient Age Group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Patient Age Group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1530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41054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3434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Adults</a:t>
            </a:r>
          </a:p>
        </p:txBody>
      </p:sp>
      <p:sp>
        <p:nvSpPr>
          <p:cNvPr id="19" name="BPS Value 1"/>
          <p:cNvSpPr txBox="1"/>
          <p:nvPr/>
        </p:nvSpPr>
        <p:spPr>
          <a:xfrm>
            <a:off x="6896100" y="2396258"/>
            <a:ext cx="514350" cy="123825"/>
          </a:xfrm>
          <a:prstGeom prst="rect">
            <a:avLst/>
          </a:prstGeom>
          <a:noFill/>
        </p:spPr>
        <p:txBody>
          <a:bodyPr wrap="none" lIns="0" rIns="0" tIns="0" bIns="0" anchor="ctr">
            <a:spAutoFit/>
          </a:bodyPr>
          <a:lstStyle/>
          <a:p>
            <a:pPr algn="r"/>
            <a:r>
              <a:rPr sz="900" b="1">
                <a:solidFill>
                  <a:srgbClr val="E44D3A"/>
                </a:solidFill>
                <a:latin typeface="Calibri"/>
              </a:rPr>
              <a:t>-53</a:t>
            </a:r>
          </a:p>
        </p:txBody>
      </p:sp>
      <p:sp>
        <p:nvSpPr>
          <p:cNvPr id="20" name="FMI Legend Chip"/>
          <p:cNvSpPr/>
          <p:nvPr/>
        </p:nvSpPr>
        <p:spPr>
          <a:xfrm>
            <a:off x="4928997" y="470149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69673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62053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Geriatric Patients</a:t>
            </a:r>
          </a:p>
        </p:txBody>
      </p:sp>
      <p:sp>
        <p:nvSpPr>
          <p:cNvPr id="23" name="BPS Value 2"/>
          <p:cNvSpPr txBox="1"/>
          <p:nvPr/>
        </p:nvSpPr>
        <p:spPr>
          <a:xfrm>
            <a:off x="6896100" y="4682448"/>
            <a:ext cx="514350" cy="123825"/>
          </a:xfrm>
          <a:prstGeom prst="rect">
            <a:avLst/>
          </a:prstGeom>
          <a:noFill/>
        </p:spPr>
        <p:txBody>
          <a:bodyPr wrap="none" lIns="0" rIns="0" tIns="0" bIns="0" anchor="ctr">
            <a:spAutoFit/>
          </a:bodyPr>
          <a:lstStyle/>
          <a:p>
            <a:pPr algn="r"/>
            <a:r>
              <a:rPr sz="900" b="1">
                <a:solidFill>
                  <a:srgbClr val="2E7D32"/>
                </a:solidFill>
                <a:latin typeface="Calibri"/>
              </a:rPr>
              <a:t>+53</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Patient Age Group</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patient age group, geriatric patients segment is expected to witness the highest CAGR of 4.5% over the forecast period. In terms of value share by patient age group, the geriatric patients segment is expected to dominate the market, gaining 53 BPS and accounting for 67.5% share by 2036.</a:t>
            </a:r>
          </a:p>
          <a:p>
            <a:pPr algn="l">
              <a:lnSpc>
                <a:spcPct val="110000"/>
              </a:lnSpc>
              <a:spcBef>
                <a:spcPts val="0"/>
              </a:spcBef>
              <a:spcAft>
                <a:spcPts val="500"/>
              </a:spcAft>
            </a:pPr>
            <a:r>
              <a:rPr sz="1150" b="0">
                <a:solidFill>
                  <a:srgbClr val="2E2E2E"/>
                </a:solidFill>
                <a:latin typeface="Calibri"/>
              </a:rPr>
              <a:t>The adults segment is expected to lose 53 BPS over the forecast period to account for 32.5% share by 2036.</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114425"/>
          </a:xfrm>
          <a:prstGeom prst="roundRect">
            <a:avLst>
              <a:gd name="adj" fmla="val 68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647701"/>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21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1621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895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228850"/>
            <a:ext cx="11906250" cy="4400550"/>
          </a:xfrm>
          <a:prstGeom prst="roundRect">
            <a:avLst>
              <a:gd name="adj" fmla="val 17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2860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Patient Age Group (%)  ·  light = lower, dark = higher growth</a:t>
            </a:r>
          </a:p>
        </p:txBody>
      </p:sp>
      <p:sp>
        <p:nvSpPr>
          <p:cNvPr id="17" name="TextBox 16"/>
          <p:cNvSpPr txBox="1"/>
          <p:nvPr/>
        </p:nvSpPr>
        <p:spPr>
          <a:xfrm>
            <a:off x="185737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657475"/>
            <a:ext cx="1590675" cy="1957388"/>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657475"/>
            <a:ext cx="643890" cy="195738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657475"/>
            <a:ext cx="643890" cy="195738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657475"/>
            <a:ext cx="643890" cy="195738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657475"/>
            <a:ext cx="643890" cy="195738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657475"/>
            <a:ext cx="643890" cy="195738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657475"/>
            <a:ext cx="643890" cy="195738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657475"/>
            <a:ext cx="643890" cy="195738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657475"/>
            <a:ext cx="643890" cy="195738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657475"/>
            <a:ext cx="643890" cy="195738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657475"/>
            <a:ext cx="643890" cy="1957388"/>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657475"/>
            <a:ext cx="643890" cy="1957388"/>
          </a:xfrm>
          <a:prstGeom prst="rect">
            <a:avLst/>
          </a:prstGeom>
          <a:solidFill>
            <a:srgbClr val="37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657475"/>
            <a:ext cx="643890" cy="1957388"/>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657475"/>
            <a:ext cx="643890" cy="195738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657475"/>
            <a:ext cx="643890" cy="1957388"/>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657475"/>
            <a:ext cx="643890" cy="195738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14862"/>
            <a:ext cx="1590675" cy="1957388"/>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14862"/>
            <a:ext cx="643890" cy="1957388"/>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14862"/>
            <a:ext cx="643890" cy="195738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14862"/>
            <a:ext cx="643890" cy="195738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14862"/>
            <a:ext cx="643890" cy="195738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14862"/>
            <a:ext cx="643890" cy="1957388"/>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14862"/>
            <a:ext cx="643890" cy="1957388"/>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14862"/>
            <a:ext cx="643890" cy="1957388"/>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14862"/>
            <a:ext cx="643890" cy="1957388"/>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14862"/>
            <a:ext cx="643890" cy="1957388"/>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14862"/>
            <a:ext cx="643890" cy="1957388"/>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14862"/>
            <a:ext cx="643890" cy="1957388"/>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14862"/>
            <a:ext cx="643890" cy="1957388"/>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14862"/>
            <a:ext cx="643890" cy="1957388"/>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14862"/>
            <a:ext cx="643890" cy="1957388"/>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14862"/>
            <a:ext cx="643890" cy="195738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695575"/>
            <a:ext cx="104775" cy="10358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791539"/>
            <a:ext cx="104775" cy="10358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887504"/>
            <a:ext cx="104775" cy="10358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2983468"/>
            <a:ext cx="104775" cy="10358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079432"/>
            <a:ext cx="104775" cy="10358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175397"/>
            <a:ext cx="104775" cy="10358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271361"/>
            <a:ext cx="104775" cy="10358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367326"/>
            <a:ext cx="104775" cy="10358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463290"/>
            <a:ext cx="104775" cy="10358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559254"/>
            <a:ext cx="104775" cy="10358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655219"/>
            <a:ext cx="104775" cy="10358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751183"/>
            <a:ext cx="104775" cy="10358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847148"/>
            <a:ext cx="104775" cy="10358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3943112"/>
            <a:ext cx="104775" cy="10358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039076"/>
            <a:ext cx="104775" cy="10358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35041"/>
            <a:ext cx="104775" cy="10358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31005"/>
            <a:ext cx="104775" cy="10358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26969"/>
            <a:ext cx="104775" cy="10358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22934"/>
            <a:ext cx="104775" cy="10358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18898"/>
            <a:ext cx="104775" cy="10358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14862"/>
            <a:ext cx="104775" cy="10358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10827"/>
            <a:ext cx="104775" cy="10358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06791"/>
            <a:ext cx="104775" cy="10358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02756"/>
            <a:ext cx="104775" cy="10358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4998720"/>
            <a:ext cx="104775" cy="10358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094684"/>
            <a:ext cx="104775" cy="10358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190649"/>
            <a:ext cx="104775" cy="10358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286613"/>
            <a:ext cx="104775" cy="10358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382577"/>
            <a:ext cx="104775" cy="10358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478542"/>
            <a:ext cx="104775" cy="10358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74506"/>
            <a:ext cx="104775" cy="10358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70471"/>
            <a:ext cx="104775" cy="10358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66435"/>
            <a:ext cx="104775" cy="10358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62399"/>
            <a:ext cx="104775" cy="10358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58364"/>
            <a:ext cx="104775" cy="10358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54328"/>
            <a:ext cx="104775" cy="10358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0292"/>
            <a:ext cx="104775" cy="10358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46257"/>
            <a:ext cx="104775" cy="10358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2221"/>
            <a:ext cx="104775" cy="10358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38186"/>
            <a:ext cx="104775" cy="10358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695575"/>
            <a:ext cx="104775" cy="38385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6289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48188"/>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114425"/>
          </a:xfrm>
          <a:prstGeom prst="roundRect">
            <a:avLst>
              <a:gd name="adj" fmla="val 68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647701"/>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21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621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895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228850"/>
            <a:ext cx="11906250" cy="4400550"/>
          </a:xfrm>
          <a:prstGeom prst="roundRect">
            <a:avLst>
              <a:gd name="adj" fmla="val 17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2860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Patient Age Group (%)  ·  light = lower, dark = higher growth</a:t>
            </a:r>
          </a:p>
        </p:txBody>
      </p:sp>
      <p:sp>
        <p:nvSpPr>
          <p:cNvPr id="17" name="TextBox 16"/>
          <p:cNvSpPr txBox="1"/>
          <p:nvPr/>
        </p:nvSpPr>
        <p:spPr>
          <a:xfrm>
            <a:off x="185737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657475"/>
            <a:ext cx="1590675" cy="1957388"/>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657475"/>
            <a:ext cx="643890" cy="195738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657475"/>
            <a:ext cx="643890" cy="195738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657475"/>
            <a:ext cx="643890" cy="1957388"/>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657475"/>
            <a:ext cx="643890" cy="195738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657475"/>
            <a:ext cx="643890" cy="195738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657475"/>
            <a:ext cx="643890" cy="195738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657475"/>
            <a:ext cx="643890" cy="195738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657475"/>
            <a:ext cx="643890" cy="195738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657475"/>
            <a:ext cx="643890" cy="195738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657475"/>
            <a:ext cx="643890" cy="195738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657475"/>
            <a:ext cx="643890" cy="195738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657475"/>
            <a:ext cx="643890" cy="195738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657475"/>
            <a:ext cx="643890" cy="195738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657475"/>
            <a:ext cx="643890" cy="1957388"/>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657475"/>
            <a:ext cx="643890" cy="195738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14862"/>
            <a:ext cx="1590675" cy="1957388"/>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14862"/>
            <a:ext cx="643890" cy="1957388"/>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14862"/>
            <a:ext cx="643890" cy="195738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14862"/>
            <a:ext cx="643890" cy="1957388"/>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14862"/>
            <a:ext cx="643890" cy="1957388"/>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14862"/>
            <a:ext cx="643890" cy="1957388"/>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14862"/>
            <a:ext cx="643890" cy="1957388"/>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14862"/>
            <a:ext cx="643890" cy="1957388"/>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14862"/>
            <a:ext cx="643890" cy="1957388"/>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14862"/>
            <a:ext cx="643890" cy="1957388"/>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14862"/>
            <a:ext cx="643890" cy="1957388"/>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14862"/>
            <a:ext cx="643890" cy="1957388"/>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14862"/>
            <a:ext cx="643890" cy="1957388"/>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14862"/>
            <a:ext cx="643890" cy="1957388"/>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14862"/>
            <a:ext cx="643890" cy="1957388"/>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14862"/>
            <a:ext cx="643890" cy="195738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695575"/>
            <a:ext cx="104775" cy="10358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791539"/>
            <a:ext cx="104775" cy="10358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887504"/>
            <a:ext cx="104775" cy="10358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2983468"/>
            <a:ext cx="104775" cy="10358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079432"/>
            <a:ext cx="104775" cy="10358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175397"/>
            <a:ext cx="104775" cy="10358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271361"/>
            <a:ext cx="104775" cy="10358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367326"/>
            <a:ext cx="104775" cy="10358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463290"/>
            <a:ext cx="104775" cy="10358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559254"/>
            <a:ext cx="104775" cy="10358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655219"/>
            <a:ext cx="104775" cy="10358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751183"/>
            <a:ext cx="104775" cy="10358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847148"/>
            <a:ext cx="104775" cy="10358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3943112"/>
            <a:ext cx="104775" cy="10358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039076"/>
            <a:ext cx="104775" cy="10358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35041"/>
            <a:ext cx="104775" cy="10358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31005"/>
            <a:ext cx="104775" cy="10358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26969"/>
            <a:ext cx="104775" cy="10358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22934"/>
            <a:ext cx="104775" cy="10358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18898"/>
            <a:ext cx="104775" cy="10358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14862"/>
            <a:ext cx="104775" cy="10358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10827"/>
            <a:ext cx="104775" cy="10358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06791"/>
            <a:ext cx="104775" cy="10358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02756"/>
            <a:ext cx="104775" cy="10358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4998720"/>
            <a:ext cx="104775" cy="10358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094684"/>
            <a:ext cx="104775" cy="10358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190649"/>
            <a:ext cx="104775" cy="10358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286613"/>
            <a:ext cx="104775" cy="10358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382577"/>
            <a:ext cx="104775" cy="10358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478542"/>
            <a:ext cx="104775" cy="10358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74506"/>
            <a:ext cx="104775" cy="10358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70471"/>
            <a:ext cx="104775" cy="10358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66435"/>
            <a:ext cx="104775" cy="10358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62399"/>
            <a:ext cx="104775" cy="10358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58364"/>
            <a:ext cx="104775" cy="10358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54328"/>
            <a:ext cx="104775" cy="10358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0292"/>
            <a:ext cx="104775" cy="10358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46257"/>
            <a:ext cx="104775" cy="10358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2221"/>
            <a:ext cx="104775" cy="10358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38186"/>
            <a:ext cx="104775" cy="10358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695575"/>
            <a:ext cx="104775" cy="38385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6289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4818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Material Type, 2026E and 2036F (US$ Mn)</a:t>
            </a:r>
          </a:p>
        </p:txBody>
      </p:sp>
      <p:graphicFrame>
        <p:nvGraphicFramePr>
          <p:cNvPr id="13" name="Table 12"/>
          <p:cNvGraphicFramePr>
            <a:graphicFrameLocks noGrp="1"/>
          </p:cNvGraphicFramePr>
          <p:nvPr/>
        </p:nvGraphicFramePr>
        <p:xfrm>
          <a:off x="152400" y="1238250"/>
          <a:ext cx="11887198" cy="1647825"/>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34937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square"/>
                    <a:lstStyle/>
                    <a:p>
                      <a:pPr algn="ctr">
                        <a:lnSpc>
                          <a:spcPct val="90000"/>
                        </a:lnSpc>
                      </a:pP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408">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1190625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147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552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38550"/>
            <a:ext cx="1163955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Acrylic partial dentures segment is projected to account for the largest share of the global removable partial dentures market, led by high-performance polymers at US$ 125.1 Mn in 2036. 'Acrylic Partial Dentures × Acrylic / Resin' is the single largest cross-sectional cell (84.6 US$ Mn, 2026E), while 'Acrylic Partial Dentures × Flexible Thermoplastics' records the fastest growth at a CAGR of 6.6% over 2026E–2036F.</a:t>
            </a:r>
          </a:p>
          <a:p>
            <a:pPr algn="l">
              <a:lnSpc>
                <a:spcPct val="110000"/>
              </a:lnSpc>
              <a:spcBef>
                <a:spcPts val="0"/>
              </a:spcBef>
              <a:spcAft>
                <a:spcPts val="500"/>
              </a:spcAft>
            </a:pPr>
            <a:r>
              <a:rPr sz="1150" b="0">
                <a:solidFill>
                  <a:srgbClr val="2E2E2E"/>
                </a:solidFill>
                <a:latin typeface="Calibri"/>
              </a:rPr>
              <a:t>Combined, the top three product type × material type cells generate an absolute $ opportunity of 174.1 US$ Mn by 2036F.</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Material Type, 2026E (% of each row)</a:t>
            </a:r>
          </a:p>
        </p:txBody>
      </p:sp>
      <p:graphicFrame>
        <p:nvGraphicFramePr>
          <p:cNvPr id="13" name="Table 12"/>
          <p:cNvGraphicFramePr>
            <a:graphicFrameLocks noGrp="1"/>
          </p:cNvGraphicFramePr>
          <p:nvPr/>
        </p:nvGraphicFramePr>
        <p:xfrm>
          <a:off x="152400" y="1238250"/>
          <a:ext cx="11887201" cy="1647825"/>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350520">
                <a:tc vMerge="1">
                  <a:txBody>
                    <a:bodyPr wrap="none"/>
                    <a:lstStyle/>
                    <a:p>
                      <a:pPr algn="l"/>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7286625"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861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514725"/>
          <a:ext cx="7096125" cy="3057525"/>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28975"/>
            <a:ext cx="445770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3147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528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38550"/>
            <a:ext cx="41910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'Printable Denture Resins' holds the highest share of 'Acrylic Partial Dentures' at 18.7% (2026E).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is the most concentrated product type sub-segment, with 18.7% of its value via 'Printable Denture Resins'.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'Other Thermoplastic Resins' gains +339 BPS of share of the Global cross-section by 2036F.</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647825"/>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34937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square"/>
                    <a:lstStyle/>
                    <a:p>
                      <a:pPr algn="ctr">
                        <a:lnSpc>
                          <a:spcPct val="90000"/>
                        </a:lnSpc>
                      </a:pP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408">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560070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147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5528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38550"/>
            <a:ext cx="53340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1. Acrylic Partial Dentures × Flexible Thermoplastics  –  58.0  ·  6.6%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2. Flexible Partial Dentures × Flexible Thermoplastics  –  58.0  ·  6.6%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3. Combination Framework Partial Dentures × Flexible Thermoplastics  –  58.0  ·  6.6%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4. Cast Metal Partial Dentures × Flexible Thermoplastics  –  58.0  ·  6.6%  ·  4/5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5. Cast Metal Partial Dentures × High-performance Polymers  –  41.6  ·  4.1%  ·  4/5</a:t>
            </a:r>
          </a:p>
        </p:txBody>
      </p:sp>
      <p:sp>
        <p:nvSpPr>
          <p:cNvPr id="19" name="Rounded Rectangle 18"/>
          <p:cNvSpPr/>
          <p:nvPr/>
        </p:nvSpPr>
        <p:spPr>
          <a:xfrm>
            <a:off x="5895975" y="3228975"/>
            <a:ext cx="1943100" cy="34004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147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5528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638550"/>
            <a:ext cx="16764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adds 58.0 US$ Mn by 2036F – 9.6% of the total opportunity.</a:t>
            </a:r>
          </a:p>
        </p:txBody>
      </p:sp>
      <p:sp>
        <p:nvSpPr>
          <p:cNvPr id="23" name="Rounded Rectangle 22"/>
          <p:cNvSpPr/>
          <p:nvPr/>
        </p:nvSpPr>
        <p:spPr>
          <a:xfrm>
            <a:off x="7991475" y="3228975"/>
            <a:ext cx="1943100" cy="34004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147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5528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638550"/>
            <a:ext cx="16764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grows at a 6.6% CAGR, 215 BPS above the cross-section.</a:t>
            </a:r>
          </a:p>
        </p:txBody>
      </p:sp>
      <p:sp>
        <p:nvSpPr>
          <p:cNvPr id="27" name="Rounded Rectangle 26"/>
          <p:cNvSpPr/>
          <p:nvPr/>
        </p:nvSpPr>
        <p:spPr>
          <a:xfrm>
            <a:off x="10086975" y="3228975"/>
            <a:ext cx="1943100" cy="34004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147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5528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638550"/>
            <a:ext cx="16764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Technology, 2026E and 2036F (US$ Mn)</a:t>
            </a:r>
          </a:p>
        </p:txBody>
      </p:sp>
      <p:graphicFrame>
        <p:nvGraphicFramePr>
          <p:cNvPr id="13" name="Table 12"/>
          <p:cNvGraphicFramePr>
            <a:graphicFrameLocks noGrp="1"/>
          </p:cNvGraphicFramePr>
          <p:nvPr/>
        </p:nvGraphicFramePr>
        <p:xfrm>
          <a:off x="152400" y="1238250"/>
          <a:ext cx="11887202" cy="1514475"/>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535">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Acrylic partial dentures segment is projected to account for the largest share of the global removable partial dentures market, led by conventional fabrication at US$ 222.1 Mn in 2036. 'Cast Metal Partial Dentures × Conventional Fabrication' is the single largest cross-sectional cell (143.7 US$ Mn, 2026E), while 'Acrylic Partial Dentures × Conventional Fabrication' records the fastest growth at a CAGR of 4.4% over 2026E–2036F.</a:t>
            </a:r>
          </a:p>
          <a:p>
            <a:pPr algn="l">
              <a:lnSpc>
                <a:spcPct val="110000"/>
              </a:lnSpc>
              <a:spcBef>
                <a:spcPts val="0"/>
              </a:spcBef>
              <a:spcAft>
                <a:spcPts val="500"/>
              </a:spcAft>
            </a:pPr>
            <a:r>
              <a:rPr sz="1150" b="0">
                <a:solidFill>
                  <a:srgbClr val="2E2E2E"/>
                </a:solidFill>
                <a:latin typeface="Calibri"/>
              </a:rPr>
              <a:t>Combined, the top three product type × technology cells generate an absolute $ opportunity of 235.1 US$ Mn by 2036F.</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Technology, 2026E (% of each row)</a:t>
            </a:r>
          </a:p>
        </p:txBody>
      </p:sp>
      <p:graphicFrame>
        <p:nvGraphicFramePr>
          <p:cNvPr id="13" name="Table 12"/>
          <p:cNvGraphicFramePr>
            <a:graphicFrameLocks noGrp="1"/>
          </p:cNvGraphicFramePr>
          <p:nvPr/>
        </p:nvGraphicFramePr>
        <p:xfrm>
          <a:off x="152400" y="1238250"/>
          <a:ext cx="11887200" cy="1647825"/>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350520">
                <a:tc vMerge="1">
                  <a:txBody>
                    <a:bodyPr wrap="none"/>
                    <a:lstStyle/>
                    <a:p>
                      <a:pPr algn="l"/>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7286625"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861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514725"/>
          <a:ext cx="7096125" cy="3057525"/>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28975"/>
            <a:ext cx="445770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3147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528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38550"/>
            <a:ext cx="41910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'Hybrid Digital Fabrication' holds the highest share of 'Cast Metal Partial Dentures' at 22.0% (2026E).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'Cast Metal Partial Dentures' is the most concentrated product type sub-segment, with 22.0% of its value via 'Hybrid Digital Fabrication'.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'Metal Casting' gains +147 BPS of share of the Global cross-section by 2036F.</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514475"/>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535">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560070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41947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53340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1. Acrylic Partial Dentures × Conventional Fabrication  –  78.4  ·  4.4%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2. Flexible Partial Dentures × Conventional Fabrication  –  78.4  ·  4.4%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3. Combination Framework Partial Dentures × Conventional Fabrication  –  78.4  ·  4.4%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4. Cast Metal Partial Dentures × Conventional Fabrication  –  78.4  ·  4.4%  ·  4/5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5. Flexible Partial Dentures × Digital Fabrication  –  73.0  ·  4.4%  ·  2/5</a:t>
            </a:r>
          </a:p>
        </p:txBody>
      </p:sp>
      <p:sp>
        <p:nvSpPr>
          <p:cNvPr id="19" name="Rounded Rectangle 18"/>
          <p:cNvSpPr/>
          <p:nvPr/>
        </p:nvSpPr>
        <p:spPr>
          <a:xfrm>
            <a:off x="5895975" y="3095625"/>
            <a:ext cx="1943100" cy="353377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18135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41947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505200"/>
            <a:ext cx="16764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adds 78.4 US$ Mn by 2036F – 12.9% of the total opportunity.</a:t>
            </a:r>
          </a:p>
        </p:txBody>
      </p:sp>
      <p:sp>
        <p:nvSpPr>
          <p:cNvPr id="23" name="Rounded Rectangle 22"/>
          <p:cNvSpPr/>
          <p:nvPr/>
        </p:nvSpPr>
        <p:spPr>
          <a:xfrm>
            <a:off x="7991475" y="3095625"/>
            <a:ext cx="1943100" cy="353377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18135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41947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505200"/>
            <a:ext cx="16764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grows at a 4.4% CAGR, 5 BPS above the cross-section.</a:t>
            </a:r>
          </a:p>
        </p:txBody>
      </p:sp>
      <p:sp>
        <p:nvSpPr>
          <p:cNvPr id="27" name="Rounded Rectangle 26"/>
          <p:cNvSpPr/>
          <p:nvPr/>
        </p:nvSpPr>
        <p:spPr>
          <a:xfrm>
            <a:off x="10086975" y="3095625"/>
            <a:ext cx="1943100" cy="353377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18135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41947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505200"/>
            <a:ext cx="16764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58390"/>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663190"/>
            <a:ext cx="7239000" cy="9715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3825240"/>
            <a:ext cx="5067300" cy="210312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Technology</a:t>
            </a:r>
          </a:p>
        </p:txBody>
      </p:sp>
      <p:sp>
        <p:nvSpPr>
          <p:cNvPr id="8" name="TextBox 7"/>
          <p:cNvSpPr txBox="1"/>
          <p:nvPr/>
        </p:nvSpPr>
        <p:spPr>
          <a:xfrm>
            <a:off x="6096000" y="3825240"/>
            <a:ext cx="5067300" cy="1866900"/>
          </a:xfrm>
          <a:prstGeom prst="rect">
            <a:avLst/>
          </a:prstGeom>
          <a:noFill/>
        </p:spPr>
        <p:txBody>
          <a:bodyPr wrap="square" lIns="0" rIns="0" tIns="0" bIns="0">
            <a:spAutoFit/>
          </a:bodyPr>
          <a:lstStyle/>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Patient Age Group</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Technology</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By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(UNITS)</a:t>
            </a:r>
          </a:p>
          <a:p>
            <a:pPr algn="ctr">
              <a:lnSpc>
                <a:spcPct val="95000"/>
              </a:lnSpc>
            </a:pPr>
            <a:r>
              <a:rPr sz="1500" b="1">
                <a:solidFill>
                  <a:srgbClr val="0E72AE"/>
                </a:solidFill>
                <a:latin typeface="Calibri"/>
              </a:rPr>
              <a:t>1,241,684</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1,629,763</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2.3%</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2.8%</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North America removable partial dentures market is projected to register 1.3X increase in volume by the end of forecast period, 2036. North America removable partial dentures market volume stood at 1,207,880 Units in 2025 and is expected to reach 1,629,763 Units by 2036 end, at a CAGR of 2.8%.</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leads regional growth at 3.3%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'Combination Framework Partial Dentures'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(US$/Units)</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rIns="0" tIns="0" bIns="0" anchor="ctr">
            <a:spAutoFit/>
          </a:bodyPr>
          <a:lstStyle/>
          <a:p>
            <a:pPr algn="r"/>
            <a:r>
              <a:rPr sz="1100" b="0">
                <a:solidFill>
                  <a:srgbClr val="6C7A89"/>
                </a:solidFill>
                <a:latin typeface="Calibri"/>
              </a:rPr>
              <a:t>192</a:t>
            </a:r>
          </a:p>
        </p:txBody>
      </p:sp>
      <p:sp>
        <p:nvSpPr>
          <p:cNvPr id="25" name="FMI Scale tick"/>
          <p:cNvSpPr txBox="1"/>
          <p:nvPr/>
        </p:nvSpPr>
        <p:spPr>
          <a:xfrm>
            <a:off x="219075" y="2328265"/>
            <a:ext cx="381000" cy="133350"/>
          </a:xfrm>
          <a:prstGeom prst="rect">
            <a:avLst/>
          </a:prstGeom>
          <a:noFill/>
        </p:spPr>
        <p:txBody>
          <a:bodyPr wrap="none" lIns="0" rIns="0" tIns="0" bIns="0" anchor="ctr">
            <a:spAutoFit/>
          </a:bodyPr>
          <a:lstStyle/>
          <a:p>
            <a:pPr algn="r"/>
            <a:r>
              <a:rPr sz="1100" b="0">
                <a:solidFill>
                  <a:srgbClr val="6C7A89"/>
                </a:solidFill>
                <a:latin typeface="Calibri"/>
              </a:rPr>
              <a:t>317</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442</a:t>
            </a:r>
          </a:p>
        </p:txBody>
      </p:sp>
      <p:cxnSp>
        <p:nvCxnSpPr>
          <p:cNvPr id="27" name="Connector 26"/>
          <p:cNvCxnSpPr/>
          <p:nvPr/>
        </p:nvCxnSpPr>
        <p:spPr>
          <a:xfrm flipV="1">
            <a:off x="1533525" y="2376676"/>
            <a:ext cx="0" cy="29911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67579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37667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456118"/>
            <a:ext cx="438150" cy="14935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53234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2427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299</a:t>
            </a:r>
          </a:p>
        </p:txBody>
      </p:sp>
      <p:cxnSp>
        <p:nvCxnSpPr>
          <p:cNvPr id="33" name="Connector 32"/>
          <p:cNvCxnSpPr/>
          <p:nvPr/>
        </p:nvCxnSpPr>
        <p:spPr>
          <a:xfrm flipV="1">
            <a:off x="3286125" y="2235112"/>
            <a:ext cx="0" cy="31657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55168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223511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2319210"/>
            <a:ext cx="438150" cy="15804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2399850"/>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2082712"/>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316</a:t>
            </a:r>
          </a:p>
        </p:txBody>
      </p:sp>
      <p:cxnSp>
        <p:nvCxnSpPr>
          <p:cNvPr id="39" name="Connector 38"/>
          <p:cNvCxnSpPr/>
          <p:nvPr/>
        </p:nvCxnSpPr>
        <p:spPr>
          <a:xfrm flipV="1">
            <a:off x="5038725" y="1670329"/>
            <a:ext cx="0" cy="38639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205672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1772959"/>
            <a:ext cx="438150" cy="19294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187141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386</a:t>
            </a:r>
          </a:p>
        </p:txBody>
      </p:sp>
      <p:cxnSp>
        <p:nvCxnSpPr>
          <p:cNvPr id="45" name="Connector 44"/>
          <p:cNvCxnSpPr/>
          <p:nvPr/>
        </p:nvCxnSpPr>
        <p:spPr>
          <a:xfrm flipV="1">
            <a:off x="6791325" y="2884094"/>
            <a:ext cx="0" cy="23545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88409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46645"/>
            <a:ext cx="438150" cy="11757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0662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731694"/>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236</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57" name="Connector 56"/>
          <p:cNvCxnSpPr/>
          <p:nvPr/>
        </p:nvCxnSpPr>
        <p:spPr>
          <a:xfrm>
            <a:off x="619125" y="432414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5862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62760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606208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24142"/>
            <a:ext cx="0" cy="1737947"/>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2414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5862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62760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606208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219075" y="4257467"/>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sp>
        <p:nvSpPr>
          <p:cNvPr id="69" name="FMI Scale tick"/>
          <p:cNvSpPr txBox="1"/>
          <p:nvPr/>
        </p:nvSpPr>
        <p:spPr>
          <a:xfrm>
            <a:off x="219075" y="4691954"/>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70"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71" name="FMI Scale tick"/>
          <p:cNvSpPr txBox="1"/>
          <p:nvPr/>
        </p:nvSpPr>
        <p:spPr>
          <a:xfrm>
            <a:off x="219075" y="5560928"/>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72" name="FMI Scale tick"/>
          <p:cNvSpPr txBox="1"/>
          <p:nvPr/>
        </p:nvSpPr>
        <p:spPr>
          <a:xfrm>
            <a:off x="219075" y="5995414"/>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cxnSp>
        <p:nvCxnSpPr>
          <p:cNvPr id="73" name="Connector 72"/>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2152650" y="5193116"/>
            <a:ext cx="457200" cy="29703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5499677"/>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-5.1%</a:t>
            </a:r>
          </a:p>
        </p:txBody>
      </p:sp>
      <p:sp>
        <p:nvSpPr>
          <p:cNvPr id="76" name="Rectangle 75"/>
          <p:cNvSpPr/>
          <p:nvPr/>
        </p:nvSpPr>
        <p:spPr>
          <a:xfrm>
            <a:off x="5676900"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4143375" y="4294412"/>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+13.0%</a:t>
            </a:r>
          </a:p>
        </p:txBody>
      </p:sp>
      <p:sp>
        <p:nvSpPr>
          <p:cNvPr id="78" name="TextBox 77"/>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79" name="TextBox 78"/>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80" name="Rounded Rectangle 79"/>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2" name="Rectangle 81"/>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Flexible partial dentures segment is expected to command the highest average price of US$ 413 per Unit in 2036. Average selling price of removable partial dentures is estimated at US$ 297 per Unit in 2025 and is projected to increase to US$ 321 per Unit by 2036.</a:t>
            </a:r>
          </a:p>
          <a:p>
            <a:pPr algn="l">
              <a:lnSpc>
                <a:spcPct val="110000"/>
              </a:lnSpc>
              <a:spcBef>
                <a:spcPts val="0"/>
              </a:spcBef>
              <a:spcAft>
                <a:spcPts val="500"/>
              </a:spcAft>
            </a:pPr>
            <a:r>
              <a:rPr sz="1150" b="0">
                <a:solidFill>
                  <a:srgbClr val="2E2E2E"/>
                </a:solidFill>
                <a:latin typeface="Calibri"/>
              </a:rPr>
              <a:t>Canada is the highest-priced country, while U.S. is the most price-competitive market. Against the North America price of 311 US$/Units, 1 of 2 countries price above and 1 below.</a:t>
            </a:r>
          </a:p>
          <a:p>
            <a:pPr algn="l">
              <a:lnSpc>
                <a:spcPct val="110000"/>
              </a:lnSpc>
              <a:spcBef>
                <a:spcPts val="0"/>
              </a:spcBef>
              <a:spcAft>
                <a:spcPts val="500"/>
              </a:spcAft>
            </a:pPr>
            <a:r>
              <a:rPr sz="1150" b="0">
                <a:solidFill>
                  <a:srgbClr val="2E2E2E"/>
                </a:solidFill>
                <a:latin typeface="Calibri"/>
              </a:rPr>
              <a:t>'Canada' is the dearest at +13.0% versus North America, 'U.S.' the cheapest at -5.1% pointing to premiumisation headroom in the lower-priced countries.</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371.3</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523.9</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3.1%</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3.5%</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051231"/>
          </a:xfrm>
          <a:prstGeom prst="roundRect">
            <a:avLst>
              <a:gd name="adj" fmla="val 24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56545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Removable partial dentures market value in North America is expected to increase 1.5X between 2025 and 2036. In 2025, the removable partial dentures market in North America was valued at US$ 358.6 Mn and is estimated to account for US$ 371.3 Mn by the end of 2026, reflecting a Y-o-Y growth rate of 3.5%.</a:t>
            </a:r>
          </a:p>
          <a:p>
            <a:pPr algn="l">
              <a:lnSpc>
                <a:spcPct val="110000"/>
              </a:lnSpc>
              <a:spcBef>
                <a:spcPts val="0"/>
              </a:spcBef>
              <a:spcAft>
                <a:spcPts val="500"/>
              </a:spcAft>
            </a:pPr>
            <a:r>
              <a:rPr sz="1100" b="0">
                <a:solidFill>
                  <a:srgbClr val="2E2E2E"/>
                </a:solidFill>
                <a:latin typeface="Calibri"/>
              </a:rPr>
              <a:t>The market in North America is expected to account for US$ 523.9 Mn by 2036 at a CAGR of 3.5% over the forecast period. North America is expected to create an incremental opportunity of US$ 165.3 Mn for the overall removable partial dentures market from 2025 to 2036.</a:t>
            </a:r>
          </a:p>
          <a:p>
            <a:pPr algn="l">
              <a:lnSpc>
                <a:spcPct val="110000"/>
              </a:lnSpc>
              <a:spcBef>
                <a:spcPts val="0"/>
              </a:spcBef>
              <a:spcAft>
                <a:spcPts val="500"/>
              </a:spcAft>
            </a:pPr>
            <a:r>
              <a:rPr sz="1100" b="0">
                <a:solidFill>
                  <a:srgbClr val="2E2E2E"/>
                </a:solidFill>
                <a:latin typeface="Calibri"/>
              </a:rPr>
              <a:t>Absolute $ value for 2026 is estimated to be US$ 12.7 Mn.</a:t>
            </a:r>
          </a:p>
        </p:txBody>
      </p:sp>
      <p:sp>
        <p:nvSpPr>
          <p:cNvPr id="25" name="Rounded Rectangle 24"/>
          <p:cNvSpPr/>
          <p:nvPr/>
        </p:nvSpPr>
        <p:spPr>
          <a:xfrm>
            <a:off x="7915275" y="4733879"/>
            <a:ext cx="4133850" cy="1822506"/>
          </a:xfrm>
          <a:prstGeom prst="roundRect">
            <a:avLst>
              <a:gd name="adj" fmla="val 41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81960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05772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143454"/>
            <a:ext cx="3867150" cy="133673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leads regional growth at 4.0%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'Flexible Partial Dentures'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3.1%</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3.5%</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70.2 US$ Mn</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152.6 US$ Mn</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Removable partial dentures market value in North America is expected to increase 1.5X between 2025 and 2036. In 2025, the removable partial dentures market in North America was valued at US$ 358.6 Mn and is estimated to account for US$ 371.3 Mn by the end of 2026, reflecting a Y-o-Y growth rate of 3.5%. The market in North America is expected to account for US$ 523.9 Mn by 2036 at a CAGR of 3.5% over the forecast period.</a:t>
            </a:r>
          </a:p>
          <a:p>
            <a:pPr algn="l">
              <a:lnSpc>
                <a:spcPct val="110000"/>
              </a:lnSpc>
              <a:spcBef>
                <a:spcPts val="0"/>
              </a:spcBef>
              <a:spcAft>
                <a:spcPts val="500"/>
              </a:spcAft>
            </a:pPr>
            <a:r>
              <a:rPr sz="1100" b="0">
                <a:solidFill>
                  <a:srgbClr val="2E2E2E"/>
                </a:solidFill>
                <a:latin typeface="Calibri"/>
              </a:rPr>
              <a:t>North America is expected to create an incremental opportunity of US$ 165.3 Mn for the overall removable partial dentures market from 2025 to 2036. Absolute $ value for 2026 is estimated to be US$ 12.7 Mn. North America removable partial dentures market is projected to register 1.3X increase in volume by the end of forecast period, 2036.</a:t>
            </a:r>
          </a:p>
          <a:p>
            <a:pPr algn="l">
              <a:lnSpc>
                <a:spcPct val="110000"/>
              </a:lnSpc>
              <a:spcBef>
                <a:spcPts val="0"/>
              </a:spcBef>
              <a:spcAft>
                <a:spcPts val="500"/>
              </a:spcAft>
            </a:pPr>
            <a:r>
              <a:rPr sz="1100" b="0">
                <a:solidFill>
                  <a:srgbClr val="2E2E2E"/>
                </a:solidFill>
                <a:latin typeface="Calibri"/>
              </a:rPr>
              <a:t>North America removable partial dentures market volume stood at 1,207,880 Units in 2025 and is expected to reach 1,629,763 Units by 2036 end, at a CAGR of 2.8%. Value is projected to grow faster than volume over the forecast period, owing to an increase in average selling price.</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69"/>
        </p:xfrm>
        <a:graphic>
          <a:graphicData uri="http://schemas.openxmlformats.org/drawingml/2006/table">
            <a:tbl>
              <a:tblPr>
                <a:tableStyleId>{5C22544A-7EE6-4342-B048-85BDC9FD1C3A}</a:tableStyleId>
              </a:tblPr>
              <a:tblGrid>
                <a:gridCol w="608071"/>
                <a:gridCol w="1102235"/>
                <a:gridCol w="1102235"/>
                <a:gridCol w="110223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958402">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r>
              <a:tr h="958402">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91858"/>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353</a:t>
            </a:r>
          </a:p>
        </p:txBody>
      </p:sp>
      <p:sp>
        <p:nvSpPr>
          <p:cNvPr id="19" name="Rectangle 18"/>
          <p:cNvSpPr/>
          <p:nvPr/>
        </p:nvSpPr>
        <p:spPr>
          <a:xfrm>
            <a:off x="4210050" y="4384869"/>
            <a:ext cx="3743325" cy="1493741"/>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171</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14776" cy="2159449"/>
        </p:xfrm>
        <a:graphic>
          <a:graphicData uri="http://schemas.openxmlformats.org/drawingml/2006/table">
            <a:tbl>
              <a:tblPr>
                <a:tableStyleId>{5C22544A-7EE6-4342-B048-85BDC9FD1C3A}</a:tableStyleId>
              </a:tblPr>
              <a:tblGrid>
                <a:gridCol w="608071"/>
                <a:gridCol w="1102235"/>
                <a:gridCol w="1102235"/>
                <a:gridCol w="110223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97209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r>
              <a:tr h="97209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U.S. removable partial dentures market is projected to register 2.1X higher value than Canada in 2036. Canada posts the highest CAGR Index (114), growing at 4.0% against the North America benchmark, while U.S. offers the largest absolute opportunity 97.3 US$ Mn of incremental market between 2026 and 2036 (64% of the North America increment).</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removable partial dentures market is expected to witness 1.5X increase in revenue by 2036 end. Global removable partial dentures market accounted for US$ 358.6 Mn in 2025, which is expected to increase to US$ 523.9 Mn in 2036 at a CAGR of 3.5%.</a:t>
            </a:r>
          </a:p>
          <a:p>
            <a:pPr algn="l">
              <a:lnSpc>
                <a:spcPct val="110000"/>
              </a:lnSpc>
              <a:spcBef>
                <a:spcPts val="0"/>
              </a:spcBef>
              <a:spcAft>
                <a:spcPts val="500"/>
              </a:spcAft>
            </a:pPr>
            <a:r>
              <a:rPr sz="1150" b="0">
                <a:solidFill>
                  <a:srgbClr val="2E2E2E"/>
                </a:solidFill>
                <a:latin typeface="Calibri"/>
              </a:rPr>
              <a:t>The global removable partial dentures market has been analysed on the basis of product type, material type, technology and end user across the globe. U.S. is expected to remain the largest market for removable partial dentures, while demand in Canada is projected to increase at the highest CAGR of 4.0%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moderately fragmented: the leading product type category 'Flexible Partial Dentures' holds 31.3%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2 countries and 8 segmentation lenses (4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U.S. is the largest country market at 67.4%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'Cast Metal Partial Dentures' (5.5%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Canada (4.0%).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Dental Hospitals within end user (5.5%).</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'Flexible Partial Dentures' (2.2%).</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3.5%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'Flexible Partial Dentures'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'Cast Metal Partial Dentures'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'Cast Metal Partial Dentures' and Canada.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U.S. and Canada.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2026 size 371.3 US$ Mn; 2036 523.9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Forecast CAGR 3.5% (2026–2036).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category 'Flexible Partial Dentures' 31.3% of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country U.S. 67.4%.</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Incremental opportunity 152.6 US$ Mn.</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Investment is flowing toward the fastest-growing tier 'Cast Metal Partial Dentures' (5.5%).</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Canada (4.0%) is a priority country for new capacity.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Scale players anchor around 'Flexible Partial Dentures' (31.3% share).</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aligns with the migration to 'Cast Metal Partial Dentures' and adjacent premium tiers.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targets product type categories gaining share to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3.5% forecast CAGR.</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'Flexible Partial Dentures' with targeted growth in 'Cast Metal Partial Dentures', pursuing the 3.5% CAGR trajectory to 2036.</a:t>
            </a:r>
          </a:p>
        </p:txBody>
      </p:sp>
      <p:sp>
        <p:nvSpPr>
          <p:cNvPr id="14" name="Rounded Rectangle 13"/>
          <p:cNvSpPr/>
          <p:nvPr/>
        </p:nvSpPr>
        <p:spPr>
          <a:xfrm>
            <a:off x="6172200" y="981075"/>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'Cast Metal Partial Dentures' tier and Dental Hospitals within end user.</a:t>
            </a:r>
          </a:p>
        </p:txBody>
      </p:sp>
      <p:sp>
        <p:nvSpPr>
          <p:cNvPr id="18" name="Rounded Rectangle 17"/>
          <p:cNvSpPr/>
          <p:nvPr/>
        </p:nvSpPr>
        <p:spPr>
          <a:xfrm>
            <a:off x="142875"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'Cast Metal Partial Dentures' (5.5%); 'Flexible Partial Dentures' anchors 31.3% of value.</a:t>
            </a:r>
          </a:p>
        </p:txBody>
      </p:sp>
      <p:sp>
        <p:nvSpPr>
          <p:cNvPr id="22" name="Rounded Rectangle 21"/>
          <p:cNvSpPr/>
          <p:nvPr/>
        </p:nvSpPr>
        <p:spPr>
          <a:xfrm>
            <a:off x="6172200" y="2800350"/>
            <a:ext cx="5876925" cy="1685925"/>
          </a:xfrm>
          <a:prstGeom prst="roundRect">
            <a:avLst>
              <a:gd name="adj" fmla="val 45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8607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242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09925"/>
            <a:ext cx="5610225" cy="1200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U.S. (67.4%); capture upside in Canada (4.0%).</a:t>
            </a:r>
          </a:p>
        </p:txBody>
      </p:sp>
      <p:sp>
        <p:nvSpPr>
          <p:cNvPr id="26" name="Rounded Rectangle 25"/>
          <p:cNvSpPr/>
          <p:nvPr/>
        </p:nvSpPr>
        <p:spPr>
          <a:xfrm>
            <a:off x="142875" y="4619625"/>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05350"/>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943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029200"/>
            <a:ext cx="11639550" cy="1514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Removable Partial Dentures adds 152.6 US$ Mn of demand to 2036 a 1.4× expansion.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'Flexible Partial Dentures' as the value anchor of the portfolio.</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574.8 US$ Mn</a:t>
            </a:r>
          </a:p>
          <a:p>
            <a:pPr algn="ctr">
              <a:lnSpc>
                <a:spcPct val="95000"/>
              </a:lnSpc>
            </a:pPr>
            <a:r>
              <a:rPr sz="1100" b="0">
                <a:solidFill>
                  <a:srgbClr val="6C7A89"/>
                </a:solidFill>
                <a:latin typeface="Calibri"/>
              </a:rPr>
              <a:t>CAGR 4.4%</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523.9 US$ Mn</a:t>
            </a:r>
          </a:p>
          <a:p>
            <a:pPr algn="ctr">
              <a:lnSpc>
                <a:spcPct val="95000"/>
              </a:lnSpc>
            </a:pPr>
            <a:r>
              <a:rPr sz="1100" b="0">
                <a:solidFill>
                  <a:srgbClr val="6C7A89"/>
                </a:solidFill>
                <a:latin typeface="Calibri"/>
              </a:rPr>
              <a:t>CAGR 3.5%</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477.1 US$ Mn</a:t>
            </a:r>
          </a:p>
          <a:p>
            <a:pPr algn="ctr">
              <a:lnSpc>
                <a:spcPct val="95000"/>
              </a:lnSpc>
            </a:pPr>
            <a:r>
              <a:rPr sz="1100" b="0">
                <a:solidFill>
                  <a:srgbClr val="6C7A89"/>
                </a:solidFill>
                <a:latin typeface="Calibri"/>
              </a:rPr>
              <a:t>CAGR 2.7%</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Removable Partial Dentures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369403"/>
            <a:ext cx="635826" cy="935897"/>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60125"/>
            <a:ext cx="635826" cy="1245175"/>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38015"/>
            <a:ext cx="635826" cy="1367285"/>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805113"/>
            <a:ext cx="635826" cy="15001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26775"/>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22000"/>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2.7%</a:t>
            </a:r>
          </a:p>
        </p:txBody>
      </p:sp>
      <p:cxnSp>
        <p:nvCxnSpPr>
          <p:cNvPr id="22" name="Connector 21"/>
          <p:cNvCxnSpPr/>
          <p:nvPr/>
        </p:nvCxnSpPr>
        <p:spPr>
          <a:xfrm>
            <a:off x="1456468" y="2669600"/>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64825"/>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3.5%</a:t>
            </a:r>
          </a:p>
        </p:txBody>
      </p:sp>
      <p:cxnSp>
        <p:nvCxnSpPr>
          <p:cNvPr id="24" name="Connector 23"/>
          <p:cNvCxnSpPr/>
          <p:nvPr/>
        </p:nvCxnSpPr>
        <p:spPr>
          <a:xfrm>
            <a:off x="1456468" y="2412425"/>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07650"/>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4.4%</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Removable Partial Dentures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574.8 US$ Mn by 2036 at 4.4%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523.9 US$ Mn at 3.5%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477.1 US$ Mn at 2.7%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±25% across the 2026–2036 horizon.</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Removable Partial Dentures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256.0</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353.2</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3.3%</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115.3</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170.7</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4.0%</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The U.S. removable partial dentures market is projected to register 2.1X higher value than Canada in 2036. Among removable partial dentures by country, Canada is expected to witness the highest CAGR of 4.0% over the forecast period.</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In terms of value share by country, U.S. is expected to dominate the market, losing 151 BPS and accounting for 67.4% share by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U.S.: </a:t>
            </a:r>
            <a:r>
              <a:rPr sz="1100" b="0">
                <a:solidFill>
                  <a:srgbClr val="2E2E2E"/>
                </a:solidFill>
                <a:latin typeface="Calibri"/>
              </a:rPr>
              <a:t>69% of 2026 value · 3.3%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Canada: </a:t>
            </a:r>
            <a:r>
              <a:rPr sz="1100" b="0">
                <a:solidFill>
                  <a:srgbClr val="2E2E2E"/>
                </a:solidFill>
                <a:latin typeface="Calibri"/>
              </a:rPr>
              <a:t>31% of 2026 value · 4.0% CAGR grows fastest.</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North America market is projected to grow at a CAGR of 3.5%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Analysis, By Country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99165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98688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1068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1972600"/>
            <a:ext cx="514350" cy="123825"/>
          </a:xfrm>
          <a:prstGeom prst="rect">
            <a:avLst/>
          </a:prstGeom>
          <a:noFill/>
        </p:spPr>
        <p:txBody>
          <a:bodyPr wrap="none" lIns="0" rIns="0" tIns="0" bIns="0" anchor="ctr">
            <a:spAutoFit/>
          </a:bodyPr>
          <a:lstStyle/>
          <a:p>
            <a:pPr algn="r"/>
            <a:r>
              <a:rPr sz="900" b="1">
                <a:solidFill>
                  <a:srgbClr val="2E7D32"/>
                </a:solidFill>
                <a:latin typeface="Calibri"/>
              </a:rPr>
              <a:t>+141</a:t>
            </a:r>
          </a:p>
        </p:txBody>
      </p:sp>
      <p:sp>
        <p:nvSpPr>
          <p:cNvPr id="20" name="FMI Legend Chip"/>
          <p:cNvSpPr/>
          <p:nvPr/>
        </p:nvSpPr>
        <p:spPr>
          <a:xfrm>
            <a:off x="4551045" y="38252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204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74425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06162"/>
            <a:ext cx="514350" cy="123825"/>
          </a:xfrm>
          <a:prstGeom prst="rect">
            <a:avLst/>
          </a:prstGeom>
          <a:noFill/>
        </p:spPr>
        <p:txBody>
          <a:bodyPr wrap="none" lIns="0" rIns="0" tIns="0" bIns="0" anchor="ctr">
            <a:spAutoFit/>
          </a:bodyPr>
          <a:lstStyle/>
          <a:p>
            <a:pPr algn="r"/>
            <a:r>
              <a:rPr sz="900" b="1">
                <a:solidFill>
                  <a:srgbClr val="E44D3A"/>
                </a:solidFill>
                <a:latin typeface="Calibri"/>
              </a:rPr>
              <a:t>-141</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removable partial dentures market is projected to register 2.5X higher volume than Canada in 2036. Among removable partial dentures by country, Canada is expected to witness the highest CAGR of 3.3% over the forecast period.</a:t>
            </a:r>
          </a:p>
          <a:p>
            <a:pPr algn="l">
              <a:lnSpc>
                <a:spcPct val="110000"/>
              </a:lnSpc>
              <a:spcBef>
                <a:spcPts val="0"/>
              </a:spcBef>
              <a:spcAft>
                <a:spcPts val="500"/>
              </a:spcAft>
            </a:pPr>
            <a:r>
              <a:rPr sz="1150" b="0">
                <a:solidFill>
                  <a:srgbClr val="2E2E2E"/>
                </a:solidFill>
                <a:latin typeface="Calibri"/>
              </a:rPr>
              <a:t>In terms of volume share by country, U.S. is expected to dominate the market, losing 141 BPS and accounting for 71.1% share by 2036.</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(UNITS)</a:t>
            </a:r>
          </a:p>
          <a:p>
            <a:pPr algn="ctr">
              <a:lnSpc>
                <a:spcPct val="95000"/>
              </a:lnSpc>
            </a:pPr>
            <a:r>
              <a:rPr sz="2000" b="1">
                <a:solidFill>
                  <a:srgbClr val="0E72AE"/>
                </a:solidFill>
                <a:latin typeface="Calibri"/>
              </a:rPr>
              <a:t>1,241,684</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(UNITS)</a:t>
            </a:r>
          </a:p>
          <a:p>
            <a:pPr algn="ctr">
              <a:lnSpc>
                <a:spcPct val="95000"/>
              </a:lnSpc>
            </a:pPr>
            <a:r>
              <a:rPr sz="2000" b="1">
                <a:solidFill>
                  <a:srgbClr val="0E72AE"/>
                </a:solidFill>
                <a:latin typeface="Calibri"/>
              </a:rPr>
              <a:t>1,629,763</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2.8%</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205936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20546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784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2040313"/>
            <a:ext cx="514350" cy="123825"/>
          </a:xfrm>
          <a:prstGeom prst="rect">
            <a:avLst/>
          </a:prstGeom>
          <a:noFill/>
        </p:spPr>
        <p:txBody>
          <a:bodyPr wrap="none" lIns="0" rIns="0" tIns="0" bIns="0" anchor="ctr">
            <a:spAutoFit/>
          </a:bodyPr>
          <a:lstStyle/>
          <a:p>
            <a:pPr algn="r"/>
            <a:r>
              <a:rPr sz="900" b="1">
                <a:solidFill>
                  <a:srgbClr val="2E7D32"/>
                </a:solidFill>
                <a:latin typeface="Calibri"/>
              </a:rPr>
              <a:t>+151</a:t>
            </a:r>
          </a:p>
        </p:txBody>
      </p:sp>
      <p:sp>
        <p:nvSpPr>
          <p:cNvPr id="20" name="FMI Legend Chip"/>
          <p:cNvSpPr/>
          <p:nvPr/>
        </p:nvSpPr>
        <p:spPr>
          <a:xfrm>
            <a:off x="4551045" y="38929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8816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81196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73876"/>
            <a:ext cx="514350" cy="123825"/>
          </a:xfrm>
          <a:prstGeom prst="rect">
            <a:avLst/>
          </a:prstGeom>
          <a:noFill/>
        </p:spPr>
        <p:txBody>
          <a:bodyPr wrap="none" lIns="0" rIns="0" tIns="0" bIns="0" anchor="ctr">
            <a:spAutoFit/>
          </a:bodyPr>
          <a:lstStyle/>
          <a:p>
            <a:pPr algn="r"/>
            <a:r>
              <a:rPr sz="900" b="1">
                <a:solidFill>
                  <a:srgbClr val="E44D3A"/>
                </a:solidFill>
                <a:latin typeface="Calibri"/>
              </a:rPr>
              <a:t>-151</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removable partial dentures market is projected to register 2.1X higher value than Canada in 2036. Among removable partial dentures by country, Canada is expected to witness the highest CAGR of 4.0% over the forecast period.</a:t>
            </a:r>
          </a:p>
          <a:p>
            <a:pPr algn="l">
              <a:lnSpc>
                <a:spcPct val="110000"/>
              </a:lnSpc>
              <a:spcBef>
                <a:spcPts val="0"/>
              </a:spcBef>
              <a:spcAft>
                <a:spcPts val="500"/>
              </a:spcAft>
            </a:pPr>
            <a:r>
              <a:rPr sz="1150" b="0">
                <a:solidFill>
                  <a:srgbClr val="2E2E2E"/>
                </a:solidFill>
                <a:latin typeface="Calibri"/>
              </a:rPr>
              <a:t>In terms of value share by country, U.S. is expected to dominate the market, losing 151 BPS and accounting for 67.4% share by 2036.</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371.3</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523.9</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3.5%</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Share Analysis, By Country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(Units)</a:t>
            </a:r>
          </a:p>
        </p:txBody>
      </p:sp>
      <p:graphicFrame>
        <p:nvGraphicFramePr>
          <p:cNvPr id="13" name="Table 12"/>
          <p:cNvGraphicFramePr>
            <a:graphicFrameLocks noGrp="1"/>
          </p:cNvGraphicFramePr>
          <p:nvPr/>
        </p:nvGraphicFramePr>
        <p:xfrm>
          <a:off x="152400" y="1238250"/>
          <a:ext cx="11887200" cy="866775"/>
        </p:xfrm>
        <a:graphic>
          <a:graphicData uri="http://schemas.openxmlformats.org/drawingml/2006/table">
            <a:tbl>
              <a:tblPr>
                <a:tableStyleId>{5C22544A-7EE6-4342-B048-85BDC9FD1C3A}</a:tableStyleId>
              </a:tblPr>
              <a:tblGrid>
                <a:gridCol w="566452"/>
                <a:gridCol w="674370"/>
                <a:gridCol w="674370"/>
                <a:gridCol w="674370"/>
                <a:gridCol w="674370"/>
                <a:gridCol w="674370"/>
                <a:gridCol w="674370"/>
                <a:gridCol w="674370"/>
                <a:gridCol w="674370"/>
                <a:gridCol w="674370"/>
                <a:gridCol w="674370"/>
                <a:gridCol w="674370"/>
                <a:gridCol w="674370"/>
                <a:gridCol w="674370"/>
                <a:gridCol w="674370"/>
                <a:gridCol w="674370"/>
                <a:gridCol w="674370"/>
                <a:gridCol w="530828"/>
              </a:tblGrid>
              <a:tr h="215265">
                <a:tc>
                  <a:txBody>
                    <a:bodyPr wrap="none"/>
                    <a:lstStyle/>
                    <a:p>
                      <a:pPr algn="l"/>
                      <a:r>
                        <a:rPr sz="1100" b="1">
                          <a:solidFill>
                            <a:srgbClr val="0B2E4A"/>
                          </a:solidFill>
                          <a:latin typeface="Calibri"/>
                        </a:rPr>
                        <a:t>Country</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l"/>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38100" marR="28575" marT="19050" marB="19050" anchor="ctr">
                    <a:solidFill>
                      <a:srgbClr val="E0E8EF"/>
                    </a:solidFill>
                  </a:tcPr>
                </a:tc>
              </a:tr>
              <a:tr h="217170">
                <a:tc>
                  <a:txBody>
                    <a:bodyPr wrap="none"/>
                    <a:lstStyle/>
                    <a:p>
                      <a:pPr algn="l"/>
                      <a:r>
                        <a:rPr sz="1100" b="1">
                          <a:solidFill>
                            <a:srgbClr val="2E2E2E"/>
                          </a:solidFill>
                          <a:latin typeface="Calibri"/>
                        </a:rPr>
                        <a:t>U.S.</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806,542</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821,521</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838,316</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857,012</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877,730</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900,561</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923,992</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947,938</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972,408</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997,411</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1,022,951</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1,049,045</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1,075,689</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1,102,903</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1,130,693</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1,159,061</a:t>
                      </a:r>
                      <a:endParaRPr sz="1100"/>
                    </a:p>
                  </a:txBody>
                  <a:tcPr marL="38100" marR="28575" marT="19050" marB="19050" anchor="ctr">
                    <a:solidFill>
                      <a:srgbClr val="FFFFFF"/>
                    </a:solidFill>
                  </a:tcPr>
                </a:tc>
                <a:tc>
                  <a:txBody>
                    <a:bodyPr wrap="none"/>
                    <a:lstStyle/>
                    <a:p>
                      <a:pPr algn="l"/>
                      <a:r>
                        <a:rPr sz="1100" b="0">
                          <a:solidFill>
                            <a:srgbClr val="2E2E2E"/>
                          </a:solidFill>
                          <a:latin typeface="Calibri"/>
                        </a:rPr>
                        <a:t>2.6%</a:t>
                      </a:r>
                      <a:endParaRPr sz="1100"/>
                    </a:p>
                  </a:txBody>
                  <a:tcPr marL="38100" marR="28575" marT="19050" marB="19050" anchor="ctr">
                    <a:solidFill>
                      <a:srgbClr val="FFFFFF"/>
                    </a:solidFill>
                  </a:tcPr>
                </a:tc>
              </a:tr>
              <a:tr h="217170">
                <a:tc>
                  <a:txBody>
                    <a:bodyPr wrap="none"/>
                    <a:lstStyle/>
                    <a:p>
                      <a:pPr algn="l"/>
                      <a:r>
                        <a:rPr sz="1100" b="1">
                          <a:solidFill>
                            <a:srgbClr val="2E2E2E"/>
                          </a:solidFill>
                          <a:latin typeface="Calibri"/>
                        </a:rPr>
                        <a:t>Canada</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294,977</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302,571</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310,931</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320,103</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330,150</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341,123</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352,444</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364,105</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376,114</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388,480</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401,212</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414,321</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427,813</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441,701</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455,995</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470,702</a:t>
                      </a:r>
                      <a:endParaRPr sz="1100"/>
                    </a:p>
                  </a:txBody>
                  <a:tcPr marL="38100" marR="28575" marT="19050" marB="19050" anchor="ctr">
                    <a:solidFill>
                      <a:srgbClr val="F5F8FA"/>
                    </a:solidFill>
                  </a:tcPr>
                </a:tc>
                <a:tc>
                  <a:txBody>
                    <a:bodyPr wrap="none"/>
                    <a:lstStyle/>
                    <a:p>
                      <a:pPr algn="l"/>
                      <a:r>
                        <a:rPr sz="1100" b="0">
                          <a:solidFill>
                            <a:srgbClr val="2E2E2E"/>
                          </a:solidFill>
                          <a:latin typeface="Calibri"/>
                        </a:rPr>
                        <a:t>3.3%</a:t>
                      </a:r>
                      <a:endParaRPr sz="1100"/>
                    </a:p>
                  </a:txBody>
                  <a:tcPr marL="38100" marR="28575"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1,101,518</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1,124,091</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1,149,246</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1,177,115</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1,207,880</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1,241,684</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1,276,436</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1,312,042</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1,348,522</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1,385,891</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1,424,163</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1,463,367</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1,503,502</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1,544,604</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1,586,687</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1,629,763</a:t>
                      </a:r>
                      <a:endParaRPr sz="1100"/>
                    </a:p>
                  </a:txBody>
                  <a:tcPr marL="38100" marR="28575" marT="19050" marB="19050" anchor="ctr">
                    <a:solidFill>
                      <a:srgbClr val="E0E8EF"/>
                    </a:solidFill>
                  </a:tcPr>
                </a:tc>
                <a:tc>
                  <a:txBody>
                    <a:bodyPr wrap="none"/>
                    <a:lstStyle/>
                    <a:p>
                      <a:pPr algn="l"/>
                      <a:r>
                        <a:rPr sz="1100" b="1">
                          <a:solidFill>
                            <a:srgbClr val="2E2E2E"/>
                          </a:solidFill>
                          <a:latin typeface="Calibri"/>
                        </a:rPr>
                        <a:t>2.8%</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5336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771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857500"/>
            <a:ext cx="11639550" cy="36957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removable partial dentures market is projected to register 2.5X higher volume than Canada in 2036. Among removable partial dentures by country, Canada is expected to witness the highest CAGR of 3.3% over the forecast period.</a:t>
            </a:r>
          </a:p>
          <a:p>
            <a:pPr algn="l">
              <a:lnSpc>
                <a:spcPct val="110000"/>
              </a:lnSpc>
              <a:spcBef>
                <a:spcPts val="0"/>
              </a:spcBef>
              <a:spcAft>
                <a:spcPts val="500"/>
              </a:spcAft>
            </a:pPr>
            <a:r>
              <a:rPr sz="1150" b="0">
                <a:solidFill>
                  <a:srgbClr val="2E2E2E"/>
                </a:solidFill>
                <a:latin typeface="Calibri"/>
              </a:rPr>
              <a:t>In terms of volume share by country, U.S. is expected to dominate the market, losing 141 BPS and accounting for 71.1%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866775"/>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5336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771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857500"/>
            <a:ext cx="11639550" cy="36957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The U.S. removable partial dentures market is projected to register 2.1X higher value than Canada in 2036. Among removable partial dentures by country, Canada is expected to witness the highest CAGR of 4.0% over the forecast period.</a:t>
            </a:r>
          </a:p>
          <a:p>
            <a:pPr algn="l">
              <a:lnSpc>
                <a:spcPct val="110000"/>
              </a:lnSpc>
              <a:spcBef>
                <a:spcPts val="0"/>
              </a:spcBef>
              <a:spcAft>
                <a:spcPts val="500"/>
              </a:spcAft>
            </a:pPr>
            <a:r>
              <a:rPr sz="1150" b="0">
                <a:solidFill>
                  <a:srgbClr val="2E2E2E"/>
                </a:solidFill>
                <a:latin typeface="Calibri"/>
              </a:rPr>
              <a:t>In terms of value share by country, U.S. is expected to dominate the market, losing 151 BPS and accounting for 67.4%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(Units)</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7899390"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353</a:t>
            </a:r>
          </a:p>
        </p:txBody>
      </p:sp>
      <p:sp>
        <p:nvSpPr>
          <p:cNvPr id="14" name="Rectangle 13"/>
          <p:cNvSpPr/>
          <p:nvPr/>
        </p:nvSpPr>
        <p:spPr>
          <a:xfrm>
            <a:off x="8137515" y="1266825"/>
            <a:ext cx="3816360"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171</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Partial Dentures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132.6</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164.2</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2.2%</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Combination Framework Partial Den…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94.4</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143.8</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4.3%</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Cast Metal Partial Dentures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75.8</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129.4</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5.5%</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Partial Dentures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68.5</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86.5</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Among removable partial dentures by product type, cast metal partial dentures segment is expected to witness the highest CAGR of 5.5% over the forecast period. In terms of value share by product type, the flexible partial dentures segment is expected to dominate the market, losing 438 BPS and accounting for 31.3% share by 2036.</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Flexible partial dentures segment is projected to register 1.1X higher value than combination framework partial dentures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Flexible Partial Dentures: </a:t>
            </a:r>
            <a:r>
              <a:rPr sz="1100" b="0">
                <a:solidFill>
                  <a:srgbClr val="2E2E2E"/>
                </a:solidFill>
                <a:latin typeface="Calibri"/>
              </a:rPr>
              <a:t>36% of 2026 value · 2.2%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Combination Framework Partial Dentures: </a:t>
            </a:r>
            <a:r>
              <a:rPr sz="1100" b="0">
                <a:solidFill>
                  <a:srgbClr val="2E2E2E"/>
                </a:solidFill>
                <a:latin typeface="Calibri"/>
              </a:rPr>
              <a:t>25% of 2026 value · 4.3%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Cast Metal Partial Dentures: </a:t>
            </a:r>
            <a:r>
              <a:rPr sz="1100" b="0">
                <a:solidFill>
                  <a:srgbClr val="2E2E2E"/>
                </a:solidFill>
                <a:latin typeface="Calibri"/>
              </a:rPr>
              <a:t>20% of 2026 value · 5.5%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Acrylic Partial Dentures: </a:t>
            </a:r>
            <a:r>
              <a:rPr sz="1100" b="0">
                <a:solidFill>
                  <a:srgbClr val="2E2E2E"/>
                </a:solidFill>
                <a:latin typeface="Calibri"/>
              </a:rPr>
              <a:t>18% of 2026 value · 2.4%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Type segment is projected to grow at a CAGR of 3.5%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Cast metal partial dentures followed by combination framework partial dentures are expected to be the two most attractive product type segments in the North America removable partial dentures market in terms of value over the forecast period. Cast metal partial dentures and combination framework partial dentures exhibit a CAGR index of 156.6 and 122.8 and a market share index of 81.7 and 101.7 respectively, against the segment average of 100. The acrylic partial dentures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Cast Metal Partial Dentures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Acrylic Partial Dentures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Flexible Partial Dentures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Combination Framework Partial Dentures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Product Type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Product Type (Units)</a:t>
            </a:r>
          </a:p>
        </p:txBody>
      </p:sp>
      <p:graphicFrame>
        <p:nvGraphicFramePr>
          <p:cNvPr id="13" name="Table 12"/>
          <p:cNvGraphicFramePr>
            <a:graphicFrameLocks noGrp="1"/>
          </p:cNvGraphicFramePr>
          <p:nvPr/>
        </p:nvGraphicFramePr>
        <p:xfrm>
          <a:off x="152400" y="1238250"/>
          <a:ext cx="11887208" cy="2114551"/>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Product Type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349682">
                <a:tc>
                  <a:txBody>
                    <a:bodyPr wrap="square"/>
                    <a:lstStyle/>
                    <a:p>
                      <a:pPr algn="l">
                        <a:lnSpc>
                          <a:spcPct val="90000"/>
                        </a:lnSpc>
                      </a:pPr>
                      <a:r>
                        <a:rPr sz="1100" b="1">
                          <a:solidFill>
                            <a:srgbClr val="2E2E2E"/>
                          </a:solidFill>
                          <a:latin typeface="Calibri"/>
                        </a:rPr>
                        <a:t>Cast Metal Partial Dentures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210,172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218,520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227,580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237,413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248,087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259,671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271,755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284,335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297,431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311,061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325,243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339,999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355,348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371,313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387,916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405,178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4.5%</a:t>
                      </a:r>
                      <a:endParaRPr sz="1100"/>
                    </a:p>
                  </a:txBody>
                  <a:tcPr marL="19050" marR="14288" marT="19050" marB="19050" anchor="ctr">
                    <a:solidFill>
                      <a:srgbClr val="FFFFFF"/>
                    </a:solidFill>
                  </a:tcPr>
                </a:tc>
              </a:tr>
              <a:tr h="349682">
                <a:tc>
                  <a:txBody>
                    <a:bodyPr wrap="square"/>
                    <a:lstStyle/>
                    <a:p>
                      <a:pPr algn="l">
                        <a:lnSpc>
                          <a:spcPct val="90000"/>
                        </a:lnSpc>
                      </a:pPr>
                      <a:r>
                        <a:rPr sz="1100" b="1">
                          <a:solidFill>
                            <a:srgbClr val="2E2E2E"/>
                          </a:solidFill>
                          <a:latin typeface="Calibri"/>
                        </a:rPr>
                        <a:t>Acrylic Partial Dentures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207,207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209,287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211,733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214,554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217,764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221,369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224,979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228,571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232,139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235,678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239,183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242,649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246,068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249,436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252,745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255,988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a:t>
                      </a:r>
                      <a:endParaRPr sz="1100"/>
                    </a:p>
                  </a:txBody>
                  <a:tcPr marL="19050" marR="14288" marT="19050" marB="19050" anchor="ctr">
                    <a:solidFill>
                      <a:srgbClr val="F5F8FA"/>
                    </a:solidFill>
                  </a:tcPr>
                </a:tc>
              </a:tr>
              <a:tr h="349682">
                <a:tc>
                  <a:txBody>
                    <a:bodyPr wrap="square"/>
                    <a:lstStyle/>
                    <a:p>
                      <a:pPr algn="l">
                        <a:lnSpc>
                          <a:spcPct val="90000"/>
                        </a:lnSpc>
                      </a:pPr>
                      <a:r>
                        <a:rPr sz="1100" b="1">
                          <a:solidFill>
                            <a:srgbClr val="2E2E2E"/>
                          </a:solidFill>
                          <a:latin typeface="Calibri"/>
                        </a:rPr>
                        <a:t>Flexible Partial Dentures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331,159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333,966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337,333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341,268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345,790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350,905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355,992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361,010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365,951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370,804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375,558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380,205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384,728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389,121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393,370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397,460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a:t>
                      </a:r>
                      <a:endParaRPr sz="1100"/>
                    </a:p>
                  </a:txBody>
                  <a:tcPr marL="19050" marR="14288" marT="19050" marB="19050" anchor="ctr">
                    <a:solidFill>
                      <a:srgbClr val="FFFFFF"/>
                    </a:solidFill>
                  </a:tcPr>
                </a:tc>
              </a:tr>
              <a:tr h="500558">
                <a:tc>
                  <a:txBody>
                    <a:bodyPr wrap="square"/>
                    <a:lstStyle/>
                    <a:p>
                      <a:pPr algn="l">
                        <a:lnSpc>
                          <a:spcPct val="90000"/>
                        </a:lnSpc>
                      </a:pPr>
                      <a:r>
                        <a:rPr sz="1100" b="1">
                          <a:solidFill>
                            <a:srgbClr val="2E2E2E"/>
                          </a:solidFill>
                          <a:latin typeface="Calibri"/>
                        </a:rPr>
                        <a:t>Combination Framework Partial Dentures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352,980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362,319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372,600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383,881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396,239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409,740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423,710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438,126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453,001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468,348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484,179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500,513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517,358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534,734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552,656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571,136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a:t>
                      </a:r>
                      <a:endParaRPr sz="1100"/>
                    </a:p>
                  </a:txBody>
                  <a:tcPr marL="19050" marR="14288" marT="19050" marB="19050" anchor="ctr">
                    <a:solidFill>
                      <a:srgbClr val="F5F8FA"/>
                    </a:solidFill>
                  </a:tcPr>
                </a:tc>
              </a:tr>
              <a:tr h="21557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1,101,518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1,124,091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1,149,246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1,177,115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1,207,880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1,241,684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1,276,436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1,312,042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1,348,522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1,385,891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1,424,163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1,463,367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1,503,502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1,544,604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1,586,687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1,629,763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2.8%</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81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Product Type</a:t>
            </a:r>
          </a:p>
        </p:txBody>
      </p:sp>
      <p:sp>
        <p:nvSpPr>
          <p:cNvPr id="17" name="Rectangle 16"/>
          <p:cNvSpPr/>
          <p:nvPr/>
        </p:nvSpPr>
        <p:spPr>
          <a:xfrm>
            <a:off x="276225" y="4019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05275"/>
            <a:ext cx="1163955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Combination framework partial dentures segment is projected to register 1.4X higher volume than cast metal partial dentures segment in 2036. Among removable partial dentures by product type, cast metal partial dentures segment is expected to witness the highest CAGR of 4.5% over the forecast period.</a:t>
            </a:r>
          </a:p>
          <a:p>
            <a:pPr algn="l">
              <a:lnSpc>
                <a:spcPct val="110000"/>
              </a:lnSpc>
              <a:spcBef>
                <a:spcPts val="0"/>
              </a:spcBef>
              <a:spcAft>
                <a:spcPts val="500"/>
              </a:spcAft>
            </a:pPr>
            <a:r>
              <a:rPr sz="1150" b="0">
                <a:solidFill>
                  <a:srgbClr val="2E2E2E"/>
                </a:solidFill>
                <a:latin typeface="Calibri"/>
              </a:rPr>
              <a:t>In terms of volume share by product type, the combination framework partial dentures segment is expected to dominate the market, gaining 205 BPS and accounting for 35.0% share by 2036. The flexible partial dentures segment is expected to lose 387 BPS over the forecast period to account for 24.4%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Type (US$ Mn)</a:t>
            </a:r>
          </a:p>
        </p:txBody>
      </p:sp>
      <p:graphicFrame>
        <p:nvGraphicFramePr>
          <p:cNvPr id="13" name="Table 12"/>
          <p:cNvGraphicFramePr>
            <a:graphicFrameLocks noGrp="1"/>
          </p:cNvGraphicFramePr>
          <p:nvPr/>
        </p:nvGraphicFramePr>
        <p:xfrm>
          <a:off x="152400" y="1238250"/>
          <a:ext cx="11887203" cy="1295400"/>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Type</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Flexible partial dentures segment is projected to register 1.1X higher value than combination framework partial dentures segment in 2036. Among removable partial dentures by product type, cast metal partial dentures segment is expected to witness the highest CAGR of 5.5% over the forecast period.</a:t>
            </a:r>
          </a:p>
          <a:p>
            <a:pPr algn="l">
              <a:lnSpc>
                <a:spcPct val="110000"/>
              </a:lnSpc>
              <a:spcBef>
                <a:spcPts val="0"/>
              </a:spcBef>
              <a:spcAft>
                <a:spcPts val="500"/>
              </a:spcAft>
            </a:pPr>
            <a:r>
              <a:rPr sz="1150" b="0">
                <a:solidFill>
                  <a:srgbClr val="2E2E2E"/>
                </a:solidFill>
                <a:latin typeface="Calibri"/>
              </a:rPr>
              <a:t>In terms of value share by product type, the flexible partial dentures segment is expected to dominate the market, losing 438 BPS and accounting for 31.3%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889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41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79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Partial Dentures</a:t>
            </a:r>
          </a:p>
        </p:txBody>
      </p:sp>
      <p:sp>
        <p:nvSpPr>
          <p:cNvPr id="19" name="BPS Value 1"/>
          <p:cNvSpPr txBox="1"/>
          <p:nvPr/>
        </p:nvSpPr>
        <p:spPr>
          <a:xfrm>
            <a:off x="6896100" y="2029841"/>
            <a:ext cx="514350" cy="123825"/>
          </a:xfrm>
          <a:prstGeom prst="rect">
            <a:avLst/>
          </a:prstGeom>
          <a:noFill/>
        </p:spPr>
        <p:txBody>
          <a:bodyPr wrap="none" lIns="0" rIns="0" tIns="0" bIns="0" anchor="ctr">
            <a:spAutoFit/>
          </a:bodyPr>
          <a:lstStyle/>
          <a:p>
            <a:pPr algn="r"/>
            <a:r>
              <a:rPr sz="900" b="1">
                <a:solidFill>
                  <a:srgbClr val="E44D3A"/>
                </a:solidFill>
                <a:latin typeface="Calibri"/>
              </a:rPr>
              <a:t>-192</a:t>
            </a:r>
          </a:p>
        </p:txBody>
      </p:sp>
      <p:sp>
        <p:nvSpPr>
          <p:cNvPr id="20" name="FMI Legend Chip"/>
          <p:cNvSpPr/>
          <p:nvPr/>
        </p:nvSpPr>
        <p:spPr>
          <a:xfrm>
            <a:off x="4928997" y="299098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862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100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Cast Metal Partial Dentures</a:t>
            </a:r>
          </a:p>
        </p:txBody>
      </p:sp>
      <p:sp>
        <p:nvSpPr>
          <p:cNvPr id="23" name="BPS Value 2"/>
          <p:cNvSpPr txBox="1"/>
          <p:nvPr/>
        </p:nvSpPr>
        <p:spPr>
          <a:xfrm>
            <a:off x="6896100" y="2971931"/>
            <a:ext cx="514350" cy="123825"/>
          </a:xfrm>
          <a:prstGeom prst="rect">
            <a:avLst/>
          </a:prstGeom>
          <a:noFill/>
        </p:spPr>
        <p:txBody>
          <a:bodyPr wrap="none" lIns="0" rIns="0" tIns="0" bIns="0" anchor="ctr">
            <a:spAutoFit/>
          </a:bodyPr>
          <a:lstStyle/>
          <a:p>
            <a:pPr algn="r"/>
            <a:r>
              <a:rPr sz="900" b="1">
                <a:solidFill>
                  <a:srgbClr val="2E7D32"/>
                </a:solidFill>
                <a:latin typeface="Calibri"/>
              </a:rPr>
              <a:t>+427</a:t>
            </a:r>
          </a:p>
        </p:txBody>
      </p:sp>
      <p:sp>
        <p:nvSpPr>
          <p:cNvPr id="24" name="FMI Legend Chip"/>
          <p:cNvSpPr/>
          <p:nvPr/>
        </p:nvSpPr>
        <p:spPr>
          <a:xfrm>
            <a:off x="4928997" y="418300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1782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1020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Combination Framework Partial Dentures</a:t>
            </a:r>
          </a:p>
        </p:txBody>
      </p:sp>
      <p:sp>
        <p:nvSpPr>
          <p:cNvPr id="27" name="BPS Value 3"/>
          <p:cNvSpPr txBox="1"/>
          <p:nvPr/>
        </p:nvSpPr>
        <p:spPr>
          <a:xfrm>
            <a:off x="6896100" y="4163959"/>
            <a:ext cx="514350" cy="123825"/>
          </a:xfrm>
          <a:prstGeom prst="rect">
            <a:avLst/>
          </a:prstGeom>
          <a:noFill/>
        </p:spPr>
        <p:txBody>
          <a:bodyPr wrap="none" lIns="0" rIns="0" tIns="0" bIns="0" anchor="ctr">
            <a:spAutoFit/>
          </a:bodyPr>
          <a:lstStyle/>
          <a:p>
            <a:pPr algn="r"/>
            <a:r>
              <a:rPr sz="900" b="1">
                <a:solidFill>
                  <a:srgbClr val="2E7D32"/>
                </a:solidFill>
                <a:latin typeface="Calibri"/>
              </a:rPr>
              <a:t>+203</a:t>
            </a:r>
          </a:p>
        </p:txBody>
      </p:sp>
      <p:sp>
        <p:nvSpPr>
          <p:cNvPr id="28" name="FMI Legend Chip"/>
          <p:cNvSpPr/>
          <p:nvPr/>
        </p:nvSpPr>
        <p:spPr>
          <a:xfrm>
            <a:off x="4928997" y="552711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52234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461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Partial Dentures</a:t>
            </a:r>
          </a:p>
        </p:txBody>
      </p:sp>
      <p:sp>
        <p:nvSpPr>
          <p:cNvPr id="31" name="BPS Value 4"/>
          <p:cNvSpPr txBox="1"/>
          <p:nvPr/>
        </p:nvSpPr>
        <p:spPr>
          <a:xfrm>
            <a:off x="6896100" y="5508060"/>
            <a:ext cx="514350" cy="123825"/>
          </a:xfrm>
          <a:prstGeom prst="rect">
            <a:avLst/>
          </a:prstGeom>
          <a:noFill/>
        </p:spPr>
        <p:txBody>
          <a:bodyPr wrap="none" lIns="0" rIns="0" tIns="0" bIns="0" anchor="ctr">
            <a:spAutoFit/>
          </a:bodyPr>
          <a:lstStyle/>
          <a:p>
            <a:pPr algn="r"/>
            <a:r>
              <a:rPr sz="900" b="1">
                <a:solidFill>
                  <a:srgbClr val="E44D3A"/>
                </a:solidFill>
                <a:latin typeface="Calibri"/>
              </a:rPr>
              <a:t>-438</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product type, cast metal partial dentures segment is expected to witness the highest CAGR of 5.5% over the forecast period.</a:t>
            </a:r>
          </a:p>
          <a:p>
            <a:pPr algn="l">
              <a:lnSpc>
                <a:spcPct val="110000"/>
              </a:lnSpc>
              <a:spcBef>
                <a:spcPts val="0"/>
              </a:spcBef>
              <a:spcAft>
                <a:spcPts val="500"/>
              </a:spcAft>
            </a:pPr>
            <a:r>
              <a:rPr sz="1150" b="0">
                <a:solidFill>
                  <a:srgbClr val="2E2E2E"/>
                </a:solidFill>
                <a:latin typeface="Calibri"/>
              </a:rPr>
              <a:t>In terms of value share by product type, the flexible partial dentures segment is expected to dominate the market, losing 438 BPS and accounting for 31.3%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076325"/>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Product Type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086100"/>
            <a:ext cx="643890" cy="87153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3957638"/>
            <a:ext cx="643890" cy="871538"/>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829175"/>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00712"/>
            <a:ext cx="643890" cy="871538"/>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076325"/>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Product Type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086100"/>
            <a:ext cx="643890" cy="87153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3957638"/>
            <a:ext cx="643890" cy="871538"/>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829175"/>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00712"/>
            <a:ext cx="643890" cy="871538"/>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Material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Type segment categorizes the market by material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 Resin</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163.9</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235.6</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3.7%</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 Alloys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108.0</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149.6</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3.3%</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Thermoplastics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65.5</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89.3</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3.2%</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High-performance Polymers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33.9</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49.4</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3.8%</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removable partial dentures by material type, high-performance polymers segment is expected to witness the highest CAGR of 3.8% over the forecast period. In terms of value share by material type, the acrylic / resin segment is expected to dominate the market, gaining 84 BPS and accounting for 45.0%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Acrylic / resin segment is projected to register 1.6X higher value than metal alloys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Acrylic / Resin: </a:t>
            </a:r>
            <a:r>
              <a:rPr sz="1100" b="0">
                <a:solidFill>
                  <a:srgbClr val="2E2E2E"/>
                </a:solidFill>
                <a:latin typeface="Calibri"/>
              </a:rPr>
              <a:t>44% of 2026 value · 3.7%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Metal Alloys: </a:t>
            </a:r>
            <a:r>
              <a:rPr sz="1100" b="0">
                <a:solidFill>
                  <a:srgbClr val="2E2E2E"/>
                </a:solidFill>
                <a:latin typeface="Calibri"/>
              </a:rPr>
              <a:t>29% of 2026 value · 3.3%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Flexible Thermoplastics: </a:t>
            </a:r>
            <a:r>
              <a:rPr sz="1100" b="0">
                <a:solidFill>
                  <a:srgbClr val="2E2E2E"/>
                </a:solidFill>
                <a:latin typeface="Calibri"/>
              </a:rPr>
              <a:t>18% of 2026 value · 3.2%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High-performance Polymers: </a:t>
            </a:r>
            <a:r>
              <a:rPr sz="1100" b="0">
                <a:solidFill>
                  <a:srgbClr val="2E2E2E"/>
                </a:solidFill>
                <a:latin typeface="Calibri"/>
              </a:rPr>
              <a:t>9% of 2026 value · 3.8%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Type split shows how demand is distributed across material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Material Type segment is projected to grow at a CAGR of 3.5%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Material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Acrylic / resin followed by metal alloys are expected to be the two most attractive material type segments in the North America removable partial dentures market in terms of value over the forecast period. Acrylic / resin and metal alloys exhibit a CAGR index of 105.6 and 94.4 and a market share index of 176.5 and 116.4 respectively, against the segment average of 100. The high-performance polymers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Metal Alloys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Acrylic / Resin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Flexible Thermoplastics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High-performance Polymers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Material Type (Units)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33675"/>
          </a:xfrm>
          <a:prstGeom prst="roundRect">
            <a:avLst>
              <a:gd name="adj" fmla="val 27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Material Type (Units)</a:t>
            </a:r>
          </a:p>
        </p:txBody>
      </p:sp>
      <p:graphicFrame>
        <p:nvGraphicFramePr>
          <p:cNvPr id="13" name="Table 12"/>
          <p:cNvGraphicFramePr>
            <a:graphicFrameLocks noGrp="1"/>
          </p:cNvGraphicFramePr>
          <p:nvPr/>
        </p:nvGraphicFramePr>
        <p:xfrm>
          <a:off x="152400" y="1238250"/>
          <a:ext cx="11887201" cy="2266951"/>
        </p:xfrm>
        <a:graphic>
          <a:graphicData uri="http://schemas.openxmlformats.org/drawingml/2006/table">
            <a:tbl>
              <a:tblPr>
                <a:tableStyleId>{5C22544A-7EE6-4342-B048-85BDC9FD1C3A}</a:tableStyleId>
              </a:tblPr>
              <a:tblGrid>
                <a:gridCol w="1739459"/>
                <a:gridCol w="596926"/>
                <a:gridCol w="596926"/>
                <a:gridCol w="596926"/>
                <a:gridCol w="596926"/>
                <a:gridCol w="596926"/>
                <a:gridCol w="596926"/>
                <a:gridCol w="596926"/>
                <a:gridCol w="596926"/>
                <a:gridCol w="596926"/>
                <a:gridCol w="596926"/>
                <a:gridCol w="596926"/>
                <a:gridCol w="596926"/>
                <a:gridCol w="596926"/>
                <a:gridCol w="596926"/>
                <a:gridCol w="596926"/>
                <a:gridCol w="596926"/>
                <a:gridCol w="596926"/>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3098">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r>
              <a:tr h="293098">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93098">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a:t>
                      </a:r>
                      <a:endParaRPr sz="1100"/>
                    </a:p>
                  </a:txBody>
                  <a:tcPr marL="47625" marR="38100" marT="19050" marB="19050" anchor="ctr">
                    <a:solidFill>
                      <a:srgbClr val="FFFFFF"/>
                    </a:solidFill>
                  </a:tcPr>
                </a:tc>
              </a:tr>
              <a:tr h="293098">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r>
              <a:tr h="293098">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93098">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0.1%</a:t>
                      </a:r>
                      <a:endParaRPr sz="1100"/>
                    </a:p>
                  </a:txBody>
                  <a:tcPr marL="47625" marR="38100" marT="19050" marB="19050" anchor="ctr">
                    <a:solidFill>
                      <a:srgbClr val="F5F8FA"/>
                    </a:solidFill>
                  </a:tcPr>
                </a:tc>
              </a:tr>
              <a:tr h="293098">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514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Material Type (Units)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42875" y="981075"/>
            <a:ext cx="11906250" cy="3086100"/>
          </a:xfrm>
          <a:prstGeom prst="roundRect">
            <a:avLst>
              <a:gd name="adj" fmla="val 2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Material Type (Units)</a:t>
            </a:r>
          </a:p>
        </p:txBody>
      </p:sp>
      <p:graphicFrame>
        <p:nvGraphicFramePr>
          <p:cNvPr id="12" name="Table 11"/>
          <p:cNvGraphicFramePr>
            <a:graphicFrameLocks noGrp="1"/>
          </p:cNvGraphicFramePr>
          <p:nvPr/>
        </p:nvGraphicFramePr>
        <p:xfrm>
          <a:off x="152400" y="1238250"/>
          <a:ext cx="11887208" cy="2619375"/>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350393">
                <a:tc>
                  <a:txBody>
                    <a:bodyPr wrap="square"/>
                    <a:lstStyle/>
                    <a:p>
                      <a:pPr algn="l">
                        <a:lnSpc>
                          <a:spcPct val="90000"/>
                        </a:lnSpc>
                      </a:pPr>
                      <a:r>
                        <a:rPr sz="1100" b="1">
                          <a:solidFill>
                            <a:srgbClr val="2E2E2E"/>
                          </a:solidFill>
                          <a:latin typeface="Calibri"/>
                        </a:rPr>
                        <a:t>– Polyamide / Nylon</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128,827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130,501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132,426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134,607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137,059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139,789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142,554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145,340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148,145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150,969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153,809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156,663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159,529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162,406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165,292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168,182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a:t>
                      </a:r>
                      <a:endParaRPr sz="1100"/>
                    </a:p>
                  </a:txBody>
                  <a:tcPr marL="19050" marR="14288" marT="19050" marB="19050" anchor="ctr">
                    <a:solidFill>
                      <a:srgbClr val="FFFFFF"/>
                    </a:solidFill>
                  </a:tcPr>
                </a:tc>
              </a:tr>
              <a:tr h="501269">
                <a:tc>
                  <a:txBody>
                    <a:bodyPr wrap="square"/>
                    <a:lstStyle/>
                    <a:p>
                      <a:pPr algn="l">
                        <a:lnSpc>
                          <a:spcPct val="90000"/>
                        </a:lnSpc>
                      </a:pPr>
                      <a:r>
                        <a:rPr sz="1100" b="1">
                          <a:solidFill>
                            <a:srgbClr val="2E2E2E"/>
                          </a:solidFill>
                          <a:latin typeface="Calibri"/>
                        </a:rPr>
                        <a:t>– Other Thermoplastic Resins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40,412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41,912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43,543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45,315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47,242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49,335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51,516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53,785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56,143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58,594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61,142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63,791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66,542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69,402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72,372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75,457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4.3%</a:t>
                      </a:r>
                      <a:endParaRPr sz="1100"/>
                    </a:p>
                  </a:txBody>
                  <a:tcPr marL="19050" marR="14288" marT="19050" marB="19050" anchor="ctr">
                    <a:solidFill>
                      <a:srgbClr val="F5F8FA"/>
                    </a:solidFill>
                  </a:tcPr>
                </a:tc>
              </a:tr>
              <a:tr h="350393">
                <a:tc>
                  <a:txBody>
                    <a:bodyPr wrap="square"/>
                    <a:lstStyle/>
                    <a:p>
                      <a:pPr algn="l">
                        <a:lnSpc>
                          <a:spcPct val="90000"/>
                        </a:lnSpc>
                      </a:pPr>
                      <a:r>
                        <a:rPr sz="1100" b="1">
                          <a:solidFill>
                            <a:srgbClr val="2E2E2E"/>
                          </a:solidFill>
                          <a:latin typeface="Calibri"/>
                        </a:rPr>
                        <a:t>High-performance Polymers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98,021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100,368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102,964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105,822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108,962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112,399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115,948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119,600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123,360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127,228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131,209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135,305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139,519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143,854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148,315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152,903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3.1%</a:t>
                      </a:r>
                      <a:endParaRPr sz="1100"/>
                    </a:p>
                  </a:txBody>
                  <a:tcPr marL="19050" marR="14288" marT="19050" marB="19050" anchor="ctr">
                    <a:solidFill>
                      <a:srgbClr val="FFFFFF"/>
                    </a:solidFill>
                  </a:tcPr>
                </a:tc>
              </a:tr>
              <a:tr h="350393">
                <a:tc>
                  <a:txBody>
                    <a:bodyPr wrap="square"/>
                    <a:lstStyle/>
                    <a:p>
                      <a:pPr algn="l">
                        <a:lnSpc>
                          <a:spcPct val="90000"/>
                        </a:lnSpc>
                      </a:pPr>
                      <a:r>
                        <a:rPr sz="1100" b="1">
                          <a:solidFill>
                            <a:srgbClr val="2E2E2E"/>
                          </a:solidFill>
                          <a:latin typeface="Calibri"/>
                        </a:rPr>
                        <a:t>– PEEK-based Materials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46,737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47,485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48,332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49,280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50,336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51,504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52,696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53,907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55,136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56,384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57,651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58,937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60,240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61,562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62,902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64,260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a:t>
                      </a:r>
                      <a:endParaRPr sz="1100"/>
                    </a:p>
                  </a:txBody>
                  <a:tcPr marL="19050" marR="14288" marT="19050" marB="19050" anchor="ctr">
                    <a:solidFill>
                      <a:srgbClr val="F5F8FA"/>
                    </a:solidFill>
                  </a:tcPr>
                </a:tc>
              </a:tr>
              <a:tr h="501269">
                <a:tc>
                  <a:txBody>
                    <a:bodyPr wrap="square"/>
                    <a:lstStyle/>
                    <a:p>
                      <a:pPr algn="l">
                        <a:lnSpc>
                          <a:spcPct val="90000"/>
                        </a:lnSpc>
                      </a:pPr>
                      <a:r>
                        <a:rPr sz="1100" b="1">
                          <a:solidFill>
                            <a:srgbClr val="2E2E2E"/>
                          </a:solidFill>
                          <a:latin typeface="Calibri"/>
                        </a:rPr>
                        <a:t>– Other High-performance Dental Polymers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51,285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52,883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54,632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56,542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58,625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60,895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63,252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65,694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68,224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70,844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73,558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76,368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79,279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82,292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85,413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88,643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3.8%</a:t>
                      </a:r>
                      <a:endParaRPr sz="1100"/>
                    </a:p>
                  </a:txBody>
                  <a:tcPr marL="19050" marR="14288" marT="19050" marB="19050" anchor="ctr">
                    <a:solidFill>
                      <a:srgbClr val="FFFFFF"/>
                    </a:solidFill>
                  </a:tcPr>
                </a:tc>
              </a:tr>
              <a:tr h="216281">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1,101,518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1,124,091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1,149,246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1,177,115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1,207,880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1,241,684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1,276,436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1,312,042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1,348,522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1,385,891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1,424,163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1,463,367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1,503,502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1,544,604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1,586,687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1,629,763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2.8%</a:t>
                      </a:r>
                      <a:endParaRPr sz="1100"/>
                    </a:p>
                  </a:txBody>
                  <a:tcPr marL="19050" marR="14288" marT="19050" marB="19050" anchor="ctr">
                    <a:solidFill>
                      <a:srgbClr val="E0E8EF"/>
                    </a:solidFill>
                  </a:tcPr>
                </a:tc>
              </a:tr>
            </a:tbl>
          </a:graphicData>
        </a:graphic>
      </p:graphicFrame>
      <p:sp>
        <p:nvSpPr>
          <p:cNvPr id="13" name="TextBox 12"/>
          <p:cNvSpPr txBox="1"/>
          <p:nvPr/>
        </p:nvSpPr>
        <p:spPr>
          <a:xfrm>
            <a:off x="219075" y="3867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00525"/>
            <a:ext cx="11906250" cy="2428875"/>
          </a:xfrm>
          <a:prstGeom prst="roundRect">
            <a:avLst>
              <a:gd name="adj" fmla="val 31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2862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Material Type</a:t>
            </a:r>
          </a:p>
        </p:txBody>
      </p:sp>
      <p:sp>
        <p:nvSpPr>
          <p:cNvPr id="16" name="Rectangle 15"/>
          <p:cNvSpPr/>
          <p:nvPr/>
        </p:nvSpPr>
        <p:spPr>
          <a:xfrm>
            <a:off x="276225" y="4524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610100"/>
            <a:ext cx="11639550" cy="19431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Acrylic / resin segment is projected to register 1.7X higher volume than metal alloys segment in 2036. Among removable partial dentures by material type, high-performance polymers segment is expected to witness the highest CAGR of 3.1% over the forecast period.</a:t>
            </a:r>
          </a:p>
          <a:p>
            <a:pPr algn="l">
              <a:lnSpc>
                <a:spcPct val="110000"/>
              </a:lnSpc>
              <a:spcBef>
                <a:spcPts val="0"/>
              </a:spcBef>
              <a:spcAft>
                <a:spcPts val="500"/>
              </a:spcAft>
            </a:pPr>
            <a:r>
              <a:rPr sz="1150" b="0">
                <a:solidFill>
                  <a:srgbClr val="2E2E2E"/>
                </a:solidFill>
                <a:latin typeface="Calibri"/>
              </a:rPr>
              <a:t>In terms of volume share by material type, the acrylic / resin segment is expected to dominate the market, gaining 71 BPS and accounting for 47.8% share by 2036. The metal alloys segment is expected to lose 76 BPS over the forecast period to account for 27.9% share by 2036.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Material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Material Type (US$ Mn)</a:t>
            </a:r>
          </a:p>
        </p:txBody>
      </p:sp>
      <p:graphicFrame>
        <p:nvGraphicFramePr>
          <p:cNvPr id="13" name="Table 12"/>
          <p:cNvGraphicFramePr>
            <a:graphicFrameLocks noGrp="1"/>
          </p:cNvGraphicFramePr>
          <p:nvPr/>
        </p:nvGraphicFramePr>
        <p:xfrm>
          <a:off x="152400" y="1238250"/>
          <a:ext cx="11887201" cy="3019430"/>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0.7%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Material Type</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Acrylic / resin segment is projected to register 1.6X higher value than metal alloys segment in 2036. Among removable partial dentures by material type, high-performance polymers segment is expected to witness the highest CAGR of 3.8% over the forecast period.</a:t>
            </a:r>
          </a:p>
          <a:p>
            <a:pPr algn="l">
              <a:lnSpc>
                <a:spcPct val="110000"/>
              </a:lnSpc>
              <a:spcBef>
                <a:spcPts val="0"/>
              </a:spcBef>
              <a:spcAft>
                <a:spcPts val="500"/>
              </a:spcAft>
            </a:pPr>
            <a:r>
              <a:rPr sz="1150" b="0">
                <a:solidFill>
                  <a:srgbClr val="2E2E2E"/>
                </a:solidFill>
                <a:latin typeface="Calibri"/>
              </a:rPr>
              <a:t>In terms of value share by material type, the acrylic / resin segment is expected to dominate the market, gaining 84 BPS and accounting for 45.0% share by 2036. The flexible thermoplastics segment is expected to lose 59 BPS over the forecast period to account for 17.0%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Material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8684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8208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058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High-performance Polymers</a:t>
            </a:r>
          </a:p>
        </p:txBody>
      </p:sp>
      <p:sp>
        <p:nvSpPr>
          <p:cNvPr id="19" name="BPS Value 1"/>
          <p:cNvSpPr txBox="1"/>
          <p:nvPr/>
        </p:nvSpPr>
        <p:spPr>
          <a:xfrm>
            <a:off x="6896100" y="1867793"/>
            <a:ext cx="514350" cy="123825"/>
          </a:xfrm>
          <a:prstGeom prst="rect">
            <a:avLst/>
          </a:prstGeom>
          <a:noFill/>
        </p:spPr>
        <p:txBody>
          <a:bodyPr wrap="none" lIns="0" rIns="0" tIns="0" bIns="0" anchor="ctr">
            <a:spAutoFit/>
          </a:bodyPr>
          <a:lstStyle/>
          <a:p>
            <a:pPr algn="r"/>
            <a:r>
              <a:rPr sz="900" b="1">
                <a:solidFill>
                  <a:srgbClr val="2E7D32"/>
                </a:solidFill>
                <a:latin typeface="Calibri"/>
              </a:rPr>
              <a:t>+30</a:t>
            </a:r>
          </a:p>
        </p:txBody>
      </p:sp>
      <p:sp>
        <p:nvSpPr>
          <p:cNvPr id="20" name="FMI Legend Chip"/>
          <p:cNvSpPr/>
          <p:nvPr/>
        </p:nvSpPr>
        <p:spPr>
          <a:xfrm>
            <a:off x="4928997" y="249206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873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111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Thermoplastics</a:t>
            </a:r>
          </a:p>
        </p:txBody>
      </p:sp>
      <p:sp>
        <p:nvSpPr>
          <p:cNvPr id="23" name="BPS Value 2"/>
          <p:cNvSpPr txBox="1"/>
          <p:nvPr/>
        </p:nvSpPr>
        <p:spPr>
          <a:xfrm>
            <a:off x="6896100" y="2473019"/>
            <a:ext cx="514350" cy="123825"/>
          </a:xfrm>
          <a:prstGeom prst="rect">
            <a:avLst/>
          </a:prstGeom>
          <a:noFill/>
        </p:spPr>
        <p:txBody>
          <a:bodyPr wrap="none" lIns="0" rIns="0" tIns="0" bIns="0" anchor="ctr">
            <a:spAutoFit/>
          </a:bodyPr>
          <a:lstStyle/>
          <a:p>
            <a:pPr algn="r"/>
            <a:r>
              <a:rPr sz="900" b="1">
                <a:solidFill>
                  <a:srgbClr val="E44D3A"/>
                </a:solidFill>
                <a:latin typeface="Calibri"/>
              </a:rPr>
              <a:t>-59</a:t>
            </a:r>
          </a:p>
        </p:txBody>
      </p:sp>
      <p:sp>
        <p:nvSpPr>
          <p:cNvPr id="24" name="FMI Legend Chip"/>
          <p:cNvSpPr/>
          <p:nvPr/>
        </p:nvSpPr>
        <p:spPr>
          <a:xfrm>
            <a:off x="4928997" y="353437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52961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45341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 Alloys</a:t>
            </a:r>
          </a:p>
        </p:txBody>
      </p:sp>
      <p:sp>
        <p:nvSpPr>
          <p:cNvPr id="27" name="BPS Value 3"/>
          <p:cNvSpPr txBox="1"/>
          <p:nvPr/>
        </p:nvSpPr>
        <p:spPr>
          <a:xfrm>
            <a:off x="6896100" y="3515323"/>
            <a:ext cx="514350" cy="123825"/>
          </a:xfrm>
          <a:prstGeom prst="rect">
            <a:avLst/>
          </a:prstGeom>
          <a:noFill/>
        </p:spPr>
        <p:txBody>
          <a:bodyPr wrap="none" lIns="0" rIns="0" tIns="0" bIns="0" anchor="ctr">
            <a:spAutoFit/>
          </a:bodyPr>
          <a:lstStyle/>
          <a:p>
            <a:pPr algn="r"/>
            <a:r>
              <a:rPr sz="900" b="1">
                <a:solidFill>
                  <a:srgbClr val="E44D3A"/>
                </a:solidFill>
                <a:latin typeface="Calibri"/>
              </a:rPr>
              <a:t>-55</a:t>
            </a:r>
          </a:p>
        </p:txBody>
      </p:sp>
      <p:sp>
        <p:nvSpPr>
          <p:cNvPr id="28" name="FMI Legend Chip"/>
          <p:cNvSpPr/>
          <p:nvPr/>
        </p:nvSpPr>
        <p:spPr>
          <a:xfrm>
            <a:off x="4928997" y="521533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1057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3437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 Resin</a:t>
            </a:r>
          </a:p>
        </p:txBody>
      </p:sp>
      <p:sp>
        <p:nvSpPr>
          <p:cNvPr id="31" name="BPS Value 4"/>
          <p:cNvSpPr txBox="1"/>
          <p:nvPr/>
        </p:nvSpPr>
        <p:spPr>
          <a:xfrm>
            <a:off x="6896100" y="5196287"/>
            <a:ext cx="514350" cy="123825"/>
          </a:xfrm>
          <a:prstGeom prst="rect">
            <a:avLst/>
          </a:prstGeom>
          <a:noFill/>
        </p:spPr>
        <p:txBody>
          <a:bodyPr wrap="none" lIns="0" rIns="0" tIns="0" bIns="0" anchor="ctr">
            <a:spAutoFit/>
          </a:bodyPr>
          <a:lstStyle/>
          <a:p>
            <a:pPr algn="r"/>
            <a:r>
              <a:rPr sz="900" b="1">
                <a:solidFill>
                  <a:srgbClr val="2E7D32"/>
                </a:solidFill>
                <a:latin typeface="Calibri"/>
              </a:rPr>
              <a:t>+84</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Material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material type, high-performance polymers segment is expected to witness the highest CAGR of 3.8% over the forecast period. In terms of value share by material type, the acrylic / resin segment is expected to dominate the market, gaining 84 BPS and accounting for 45.0% share by 2036.</a:t>
            </a:r>
          </a:p>
          <a:p>
            <a:pPr algn="l">
              <a:lnSpc>
                <a:spcPct val="110000"/>
              </a:lnSpc>
              <a:spcBef>
                <a:spcPts val="0"/>
              </a:spcBef>
              <a:spcAft>
                <a:spcPts val="500"/>
              </a:spcAft>
            </a:pPr>
            <a:r>
              <a:rPr sz="1150" b="0">
                <a:solidFill>
                  <a:srgbClr val="2E2E2E"/>
                </a:solidFill>
                <a:latin typeface="Calibri"/>
              </a:rPr>
              <a:t>The flexible thermoplastics segment is expected to lose 59 BPS over the forecast period to account for 17.0%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2800353"/>
        </p:xfrm>
        <a:graphic>
          <a:graphicData uri="http://schemas.openxmlformats.org/drawingml/2006/table">
            <a:tbl>
              <a:tblPr>
                <a:tableStyleId>{5C22544A-7EE6-4342-B048-85BDC9FD1C3A}</a:tableStyleId>
              </a:tblPr>
              <a:tblGrid>
                <a:gridCol w="2718001"/>
                <a:gridCol w="611280"/>
                <a:gridCol w="611280"/>
                <a:gridCol w="611280"/>
                <a:gridCol w="611280"/>
                <a:gridCol w="611280"/>
                <a:gridCol w="611280"/>
                <a:gridCol w="611280"/>
                <a:gridCol w="611280"/>
                <a:gridCol w="611280"/>
                <a:gridCol w="611280"/>
                <a:gridCol w="611280"/>
                <a:gridCol w="611280"/>
                <a:gridCol w="611280"/>
                <a:gridCol w="611280"/>
                <a:gridCol w="611280"/>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2800353"/>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Technology segment categorizes the market by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Digital Fabrication</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239.2</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310.9</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2.7%</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Fabrication</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132.1</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213.0</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4.9%</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removable partial dentures by technology, conventional fabrication segment is expected to witness the highest CAGR of 4.9% over the forecast period. In terms of value share by technology, the digital fabrication segment is expected to dominate the market, losing 508 BPS and accounting for 59.3%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Digital fabrication segment is projected to register 1.5X higher value than conventional fabrication segment in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Digital Fabrication: </a:t>
            </a:r>
            <a:r>
              <a:rPr sz="1100" b="0">
                <a:solidFill>
                  <a:srgbClr val="2E2E2E"/>
                </a:solidFill>
                <a:latin typeface="Calibri"/>
              </a:rPr>
              <a:t>64% of 2026 value · 2.7%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Conventional Fabrication: </a:t>
            </a:r>
            <a:r>
              <a:rPr sz="1100" b="0">
                <a:solidFill>
                  <a:srgbClr val="2E2E2E"/>
                </a:solidFill>
                <a:latin typeface="Calibri"/>
              </a:rPr>
              <a:t>36% of 2026 value · 4.9% CAGR grows fastest.</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Technology split shows how demand is distributed across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Technology segment is projected to grow at a CAGR of 3.5%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Conventional fabrication followed by digital fabrication are expected to be the two most attractive technology segments in the North America removable partial dentures market in terms of value over the forecast period. Conventional fabrication and digital fabrication exhibit a CAGR index of 139.7 and 75.8 and a market share index of 71.2 and 128.8 respectively, against the segment average of 100.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Conventional Fabrication</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Digital Fabrication</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Technology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00450"/>
          </a:xfrm>
          <a:prstGeom prst="roundRect">
            <a:avLst>
              <a:gd name="adj" fmla="val 21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Technology (Units)</a:t>
            </a:r>
          </a:p>
        </p:txBody>
      </p:sp>
      <p:graphicFrame>
        <p:nvGraphicFramePr>
          <p:cNvPr id="13" name="Table 12"/>
          <p:cNvGraphicFramePr>
            <a:graphicFrameLocks noGrp="1"/>
          </p:cNvGraphicFramePr>
          <p:nvPr/>
        </p:nvGraphicFramePr>
        <p:xfrm>
          <a:off x="152400" y="1238250"/>
          <a:ext cx="11887208" cy="313372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Technology</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350351">
                <a:tc>
                  <a:txBody>
                    <a:bodyPr wrap="square"/>
                    <a:lstStyle/>
                    <a:p>
                      <a:pPr algn="l">
                        <a:lnSpc>
                          <a:spcPct val="90000"/>
                        </a:lnSpc>
                      </a:pPr>
                      <a:r>
                        <a:rPr sz="1100" b="1">
                          <a:solidFill>
                            <a:srgbClr val="2E2E2E"/>
                          </a:solidFill>
                          <a:latin typeface="Calibri"/>
                        </a:rPr>
                        <a:t>Conventional Fabrication</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331,990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344,524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358,173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373,027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389,193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406,776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425,135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444,265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464,199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484,966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506,599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529,136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552,606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577,053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602,514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629,025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4.5%</a:t>
                      </a:r>
                      <a:endParaRPr sz="1100"/>
                    </a:p>
                  </a:txBody>
                  <a:tcPr marL="19050" marR="14288" marT="19050" marB="19050" anchor="ctr">
                    <a:solidFill>
                      <a:srgbClr val="FFFFFF"/>
                    </a:solidFill>
                  </a:tcPr>
                </a:tc>
              </a:tr>
              <a:tr h="216239">
                <a:tc>
                  <a:txBody>
                    <a:bodyPr wrap="none"/>
                    <a:lstStyle/>
                    <a:p>
                      <a:pPr algn="l"/>
                      <a:r>
                        <a:rPr sz="1100" b="1">
                          <a:solidFill>
                            <a:srgbClr val="2E2E2E"/>
                          </a:solidFill>
                          <a:latin typeface="Calibri"/>
                        </a:rPr>
                        <a:t>– Metal Casting</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54,345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57,019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59,912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63,044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66,438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70,118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73,977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78,019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82,249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86,678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91,311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96,160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101,231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106,536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112,084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117,884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5.3%</a:t>
                      </a:r>
                      <a:endParaRPr sz="1100"/>
                    </a:p>
                  </a:txBody>
                  <a:tcPr marL="19050" marR="14288" marT="19050" marB="19050" anchor="ctr">
                    <a:solidFill>
                      <a:srgbClr val="F5F8FA"/>
                    </a:solidFill>
                  </a:tcPr>
                </a:tc>
              </a:tr>
              <a:tr h="501227">
                <a:tc>
                  <a:txBody>
                    <a:bodyPr wrap="square"/>
                    <a:lstStyle/>
                    <a:p>
                      <a:pPr algn="l">
                        <a:lnSpc>
                          <a:spcPct val="90000"/>
                        </a:lnSpc>
                      </a:pPr>
                      <a:r>
                        <a:rPr sz="1100" b="1">
                          <a:solidFill>
                            <a:srgbClr val="2E2E2E"/>
                          </a:solidFill>
                          <a:latin typeface="Calibri"/>
                        </a:rPr>
                        <a:t>– Heat-cured / Compression Processing</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123,310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130,254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137,746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145,840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154,597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164,079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174,045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184,502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195,472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206,977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219,041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231,688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244,942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258,831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273,382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288,623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5.8%</a:t>
                      </a:r>
                      <a:endParaRPr sz="1100"/>
                    </a:p>
                  </a:txBody>
                  <a:tcPr marL="19050" marR="14288" marT="19050" marB="19050" anchor="ctr">
                    <a:solidFill>
                      <a:srgbClr val="FFFFFF"/>
                    </a:solidFill>
                  </a:tcPr>
                </a:tc>
              </a:tr>
              <a:tr h="216239">
                <a:tc>
                  <a:txBody>
                    <a:bodyPr wrap="none"/>
                    <a:lstStyle/>
                    <a:p>
                      <a:pPr algn="l"/>
                      <a:r>
                        <a:rPr sz="1100" b="1">
                          <a:solidFill>
                            <a:srgbClr val="2E2E2E"/>
                          </a:solidFill>
                          <a:latin typeface="Calibri"/>
                        </a:rPr>
                        <a:t>– Injection Molding</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154,336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157,252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160,515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164,143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168,159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172,579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177,113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181,745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186,477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191,311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196,247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201,288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206,433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211,686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217,048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222,518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2.6%</a:t>
                      </a:r>
                      <a:endParaRPr sz="1100"/>
                    </a:p>
                  </a:txBody>
                  <a:tcPr marL="19050" marR="14288" marT="19050" marB="19050" anchor="ctr">
                    <a:solidFill>
                      <a:srgbClr val="F5F8FA"/>
                    </a:solidFill>
                  </a:tcPr>
                </a:tc>
              </a:tr>
              <a:tr h="216239">
                <a:tc>
                  <a:txBody>
                    <a:bodyPr wrap="none"/>
                    <a:lstStyle/>
                    <a:p>
                      <a:pPr algn="l"/>
                      <a:r>
                        <a:rPr sz="1100" b="1">
                          <a:solidFill>
                            <a:srgbClr val="2E2E2E"/>
                          </a:solidFill>
                          <a:latin typeface="Calibri"/>
                        </a:rPr>
                        <a:t>Digital Fabrication</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769,528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779,567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791,073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804,088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818,686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834,909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851,301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867,777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884,324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900,925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917,564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934,231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950,896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967,551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984,173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1,000,737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a:t>
                      </a:r>
                      <a:endParaRPr sz="1100"/>
                    </a:p>
                  </a:txBody>
                  <a:tcPr marL="19050" marR="14288" marT="19050" marB="19050" anchor="ctr">
                    <a:solidFill>
                      <a:srgbClr val="FFFFFF"/>
                    </a:solidFill>
                  </a:tcPr>
                </a:tc>
              </a:tr>
              <a:tr h="216239">
                <a:tc>
                  <a:txBody>
                    <a:bodyPr wrap="none"/>
                    <a:lstStyle/>
                    <a:p>
                      <a:pPr algn="l"/>
                      <a:r>
                        <a:rPr sz="1100" b="1">
                          <a:solidFill>
                            <a:srgbClr val="2E2E2E"/>
                          </a:solidFill>
                          <a:latin typeface="Calibri"/>
                        </a:rPr>
                        <a:t>– CAD/CAM Milling</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218,552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222,136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226,180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230,705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235,737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241,296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246,970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252,735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258,593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264,542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270,580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276,710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282,927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289,234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295,627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302,106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2.3%</a:t>
                      </a:r>
                      <a:endParaRPr sz="1100"/>
                    </a:p>
                  </a:txBody>
                  <a:tcPr marL="19050" marR="14288" marT="19050" marB="19050" anchor="ctr">
                    <a:solidFill>
                      <a:srgbClr val="F5F8FA"/>
                    </a:solidFill>
                  </a:tcPr>
                </a:tc>
              </a:tr>
              <a:tr h="501227">
                <a:tc>
                  <a:txBody>
                    <a:bodyPr wrap="square"/>
                    <a:lstStyle/>
                    <a:p>
                      <a:pPr algn="l">
                        <a:lnSpc>
                          <a:spcPct val="90000"/>
                        </a:lnSpc>
                      </a:pPr>
                      <a:r>
                        <a:rPr sz="1100" b="1">
                          <a:solidFill>
                            <a:srgbClr val="2E2E2E"/>
                          </a:solidFill>
                          <a:latin typeface="Calibri"/>
                        </a:rPr>
                        <a:t>– 3D Printing / Additive Manufacturing</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234,964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239,879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245,351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251,410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258,095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265,438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272,994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280,742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288,688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296,835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305,187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313,750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322,526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331,522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340,742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350,191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a:t>
                      </a:r>
                      <a:endParaRPr sz="1100"/>
                    </a:p>
                  </a:txBody>
                  <a:tcPr marL="19050" marR="14288" marT="19050" marB="19050" anchor="ctr">
                    <a:solidFill>
                      <a:srgbClr val="FFFFFF"/>
                    </a:solidFill>
                  </a:tcPr>
                </a:tc>
              </a:tr>
              <a:tr h="350351">
                <a:tc>
                  <a:txBody>
                    <a:bodyPr wrap="square"/>
                    <a:lstStyle/>
                    <a:p>
                      <a:pPr algn="l">
                        <a:lnSpc>
                          <a:spcPct val="90000"/>
                        </a:lnSpc>
                      </a:pPr>
                      <a:r>
                        <a:rPr sz="1100" b="1">
                          <a:solidFill>
                            <a:srgbClr val="2E2E2E"/>
                          </a:solidFill>
                          <a:latin typeface="Calibri"/>
                        </a:rPr>
                        <a:t>– Hybrid Digital Fabrication</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316,011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317,553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319,542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321,974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324,855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328,174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331,338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334,299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337,043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339,549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341,798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343,771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345,443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346,795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347,803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348,441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0.6%</a:t>
                      </a:r>
                      <a:endParaRPr sz="1100"/>
                    </a:p>
                  </a:txBody>
                  <a:tcPr marL="19050" marR="14288" marT="19050" marB="19050" anchor="ctr">
                    <a:solidFill>
                      <a:srgbClr val="F5F8FA"/>
                    </a:solidFill>
                  </a:tcPr>
                </a:tc>
              </a:tr>
              <a:tr h="216239">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1,101,518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1,124,091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1,149,246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1,177,115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1,207,880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1,241,684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1,276,436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1,312,042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1,348,522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1,385,891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1,424,163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1,463,367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1,503,502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1,544,604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1,586,687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1,629,763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2.8%</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381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71487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8006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Technology</a:t>
            </a:r>
          </a:p>
        </p:txBody>
      </p:sp>
      <p:sp>
        <p:nvSpPr>
          <p:cNvPr id="17" name="Rectangle 16"/>
          <p:cNvSpPr/>
          <p:nvPr/>
        </p:nvSpPr>
        <p:spPr>
          <a:xfrm>
            <a:off x="276225" y="5038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12445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Digital fabrication segment is projected to register 1.6X higher volume than conventional fabrication segment in 2036. Among removable partial dentures by technology, conventional fabrication segment is expected to witness the highest CAGR of 4.5% over the forecast period.</a:t>
            </a:r>
          </a:p>
          <a:p>
            <a:pPr algn="l">
              <a:lnSpc>
                <a:spcPct val="110000"/>
              </a:lnSpc>
              <a:spcBef>
                <a:spcPts val="0"/>
              </a:spcBef>
              <a:spcAft>
                <a:spcPts val="500"/>
              </a:spcAft>
            </a:pPr>
            <a:r>
              <a:rPr sz="1150" b="0">
                <a:solidFill>
                  <a:srgbClr val="2E2E2E"/>
                </a:solidFill>
                <a:latin typeface="Calibri"/>
              </a:rPr>
              <a:t>In terms of volume share by technology, the digital fabrication segment is expected to dominate the market, losing 584 BPS and accounting for 61.4%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Technology (US$ Mn)</a:t>
            </a:r>
          </a:p>
        </p:txBody>
      </p:sp>
      <p:graphicFrame>
        <p:nvGraphicFramePr>
          <p:cNvPr id="13" name="Table 12"/>
          <p:cNvGraphicFramePr>
            <a:graphicFrameLocks noGrp="1"/>
          </p:cNvGraphicFramePr>
          <p:nvPr/>
        </p:nvGraphicFramePr>
        <p:xfrm>
          <a:off x="152400" y="1238250"/>
          <a:ext cx="11887195" cy="2152650"/>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15265">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733800"/>
            <a:ext cx="11906250" cy="2895600"/>
          </a:xfrm>
          <a:prstGeom prst="roundRect">
            <a:avLst>
              <a:gd name="adj" fmla="val 26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195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Technology</a:t>
            </a:r>
          </a:p>
        </p:txBody>
      </p:sp>
      <p:sp>
        <p:nvSpPr>
          <p:cNvPr id="17" name="Rectangle 16"/>
          <p:cNvSpPr/>
          <p:nvPr/>
        </p:nvSpPr>
        <p:spPr>
          <a:xfrm>
            <a:off x="276225" y="40576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43375"/>
            <a:ext cx="11639550" cy="24098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Digital fabrication segment is projected to register 1.5X higher value than conventional fabrication segment in 2036. Among removable partial dentures by technology, conventional fabrication segment is expected to witness the highest CAGR of 4.9% over the forecast period.</a:t>
            </a:r>
          </a:p>
          <a:p>
            <a:pPr algn="l">
              <a:lnSpc>
                <a:spcPct val="110000"/>
              </a:lnSpc>
              <a:spcBef>
                <a:spcPts val="0"/>
              </a:spcBef>
              <a:spcAft>
                <a:spcPts val="500"/>
              </a:spcAft>
            </a:pPr>
            <a:r>
              <a:rPr sz="1150" b="0">
                <a:solidFill>
                  <a:srgbClr val="2E2E2E"/>
                </a:solidFill>
                <a:latin typeface="Calibri"/>
              </a:rPr>
              <a:t>In terms of value share by technology, the digital fabrication segment is expected to dominate the market, losing 508 BPS and accounting for 59.3%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0090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5961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199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Fabrication</a:t>
            </a:r>
          </a:p>
        </p:txBody>
      </p:sp>
      <p:sp>
        <p:nvSpPr>
          <p:cNvPr id="19" name="BPS Value 1"/>
          <p:cNvSpPr txBox="1"/>
          <p:nvPr/>
        </p:nvSpPr>
        <p:spPr>
          <a:xfrm>
            <a:off x="6896100" y="2581855"/>
            <a:ext cx="514350" cy="123825"/>
          </a:xfrm>
          <a:prstGeom prst="rect">
            <a:avLst/>
          </a:prstGeom>
          <a:noFill/>
        </p:spPr>
        <p:txBody>
          <a:bodyPr wrap="none" lIns="0" rIns="0" tIns="0" bIns="0" anchor="ctr">
            <a:spAutoFit/>
          </a:bodyPr>
          <a:lstStyle/>
          <a:p>
            <a:pPr algn="r"/>
            <a:r>
              <a:rPr sz="900" b="1">
                <a:solidFill>
                  <a:srgbClr val="2E7D32"/>
                </a:solidFill>
                <a:latin typeface="Calibri"/>
              </a:rPr>
              <a:t>+508</a:t>
            </a:r>
          </a:p>
        </p:txBody>
      </p:sp>
      <p:sp>
        <p:nvSpPr>
          <p:cNvPr id="20" name="FMI Legend Chip"/>
          <p:cNvSpPr/>
          <p:nvPr/>
        </p:nvSpPr>
        <p:spPr>
          <a:xfrm>
            <a:off x="4928997" y="488709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8823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061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Digital Fabrication</a:t>
            </a:r>
          </a:p>
        </p:txBody>
      </p:sp>
      <p:sp>
        <p:nvSpPr>
          <p:cNvPr id="23" name="BPS Value 2"/>
          <p:cNvSpPr txBox="1"/>
          <p:nvPr/>
        </p:nvSpPr>
        <p:spPr>
          <a:xfrm>
            <a:off x="6896100" y="4868046"/>
            <a:ext cx="514350" cy="123825"/>
          </a:xfrm>
          <a:prstGeom prst="rect">
            <a:avLst/>
          </a:prstGeom>
          <a:noFill/>
        </p:spPr>
        <p:txBody>
          <a:bodyPr wrap="none" lIns="0" rIns="0" tIns="0" bIns="0" anchor="ctr">
            <a:spAutoFit/>
          </a:bodyPr>
          <a:lstStyle/>
          <a:p>
            <a:pPr algn="r"/>
            <a:r>
              <a:rPr sz="900" b="1">
                <a:solidFill>
                  <a:srgbClr val="E44D3A"/>
                </a:solidFill>
                <a:latin typeface="Calibri"/>
              </a:rPr>
              <a:t>-508</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Technology</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technology, conventional fabrication segment is expected to witness the highest CAGR of 4.9% over the forecast period.</a:t>
            </a:r>
          </a:p>
          <a:p>
            <a:pPr algn="l">
              <a:lnSpc>
                <a:spcPct val="110000"/>
              </a:lnSpc>
              <a:spcBef>
                <a:spcPts val="0"/>
              </a:spcBef>
              <a:spcAft>
                <a:spcPts val="500"/>
              </a:spcAft>
            </a:pPr>
            <a:r>
              <a:rPr sz="1150" b="0">
                <a:solidFill>
                  <a:srgbClr val="2E2E2E"/>
                </a:solidFill>
                <a:latin typeface="Calibri"/>
              </a:rPr>
              <a:t>In terms of value share by technology, the digital fabrication segment is expected to dominate the market, losing 508 BPS and accounting for 59.3% share by 2036.</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943097"/>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15265">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814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Technology (%)  ·  light = lower, dark = higher growth</a:t>
            </a:r>
          </a:p>
        </p:txBody>
      </p:sp>
      <p:sp>
        <p:nvSpPr>
          <p:cNvPr id="17" name="TextBox 16"/>
          <p:cNvSpPr txBox="1"/>
          <p:nvPr/>
        </p:nvSpPr>
        <p:spPr>
          <a:xfrm>
            <a:off x="185737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52875"/>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3952875"/>
            <a:ext cx="643890" cy="327422"/>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52875"/>
            <a:ext cx="643890" cy="32742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52875"/>
            <a:ext cx="643890" cy="32742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52875"/>
            <a:ext cx="643890" cy="32742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52875"/>
            <a:ext cx="643890" cy="327422"/>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52875"/>
            <a:ext cx="643890" cy="32742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52875"/>
            <a:ext cx="643890" cy="32742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52875"/>
            <a:ext cx="643890" cy="32742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52875"/>
            <a:ext cx="643890" cy="32742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52875"/>
            <a:ext cx="643890" cy="327422"/>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52875"/>
            <a:ext cx="643890" cy="32742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52875"/>
            <a:ext cx="643890" cy="327422"/>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52875"/>
            <a:ext cx="643890" cy="32742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52875"/>
            <a:ext cx="643890" cy="32742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52875"/>
            <a:ext cx="643890" cy="32742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80297"/>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280297"/>
            <a:ext cx="643890" cy="327422"/>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80297"/>
            <a:ext cx="643890" cy="327422"/>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80297"/>
            <a:ext cx="643890" cy="32742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80297"/>
            <a:ext cx="643890" cy="327422"/>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80297"/>
            <a:ext cx="643890" cy="327422"/>
          </a:xfrm>
          <a:prstGeom prst="rect">
            <a:avLst/>
          </a:prstGeom>
          <a:solidFill>
            <a:srgbClr val="0D5F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80297"/>
            <a:ext cx="643890" cy="327422"/>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80297"/>
            <a:ext cx="643890" cy="327422"/>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80297"/>
            <a:ext cx="643890" cy="327422"/>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80297"/>
            <a:ext cx="643890" cy="327422"/>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80297"/>
            <a:ext cx="643890" cy="327422"/>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80297"/>
            <a:ext cx="643890" cy="32742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80297"/>
            <a:ext cx="643890" cy="327422"/>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80297"/>
            <a:ext cx="643890" cy="32742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80297"/>
            <a:ext cx="643890" cy="32742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80297"/>
            <a:ext cx="643890" cy="32742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07719"/>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607719"/>
            <a:ext cx="643890" cy="327422"/>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07719"/>
            <a:ext cx="643890" cy="327422"/>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07719"/>
            <a:ext cx="643890" cy="32742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07719"/>
            <a:ext cx="643890" cy="32742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07719"/>
            <a:ext cx="643890" cy="32742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07719"/>
            <a:ext cx="643890" cy="32742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07719"/>
            <a:ext cx="643890" cy="32742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07719"/>
            <a:ext cx="643890" cy="32742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07719"/>
            <a:ext cx="643890" cy="327422"/>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07719"/>
            <a:ext cx="643890" cy="327422"/>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07719"/>
            <a:ext cx="643890" cy="32742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07719"/>
            <a:ext cx="643890" cy="327422"/>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07719"/>
            <a:ext cx="643890" cy="32742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07719"/>
            <a:ext cx="643890" cy="327422"/>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07719"/>
            <a:ext cx="643890" cy="327422"/>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35141"/>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4935141"/>
            <a:ext cx="643890" cy="32742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4935141"/>
            <a:ext cx="643890" cy="32742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4935141"/>
            <a:ext cx="643890" cy="32742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4935141"/>
            <a:ext cx="643890" cy="32742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4935141"/>
            <a:ext cx="643890" cy="32742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4935141"/>
            <a:ext cx="643890" cy="32742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4935141"/>
            <a:ext cx="643890" cy="32742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4935141"/>
            <a:ext cx="643890" cy="32742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4935141"/>
            <a:ext cx="643890" cy="32742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4935141"/>
            <a:ext cx="643890" cy="32742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4935141"/>
            <a:ext cx="643890" cy="32742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4935141"/>
            <a:ext cx="643890" cy="327422"/>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4935141"/>
            <a:ext cx="643890" cy="32742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4935141"/>
            <a:ext cx="643890" cy="32742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4935141"/>
            <a:ext cx="643890" cy="32742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262562"/>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262562"/>
            <a:ext cx="643890" cy="327422"/>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262562"/>
            <a:ext cx="643890" cy="327422"/>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262562"/>
            <a:ext cx="643890" cy="32742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262562"/>
            <a:ext cx="643890" cy="32742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262562"/>
            <a:ext cx="643890" cy="32742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262562"/>
            <a:ext cx="643890" cy="32742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262562"/>
            <a:ext cx="643890" cy="327422"/>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262562"/>
            <a:ext cx="643890" cy="32742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262562"/>
            <a:ext cx="643890" cy="32742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262562"/>
            <a:ext cx="643890" cy="32742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262562"/>
            <a:ext cx="643890" cy="32742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262562"/>
            <a:ext cx="643890" cy="32742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262562"/>
            <a:ext cx="643890" cy="32742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262562"/>
            <a:ext cx="643890" cy="327422"/>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262562"/>
            <a:ext cx="643890" cy="327422"/>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589984"/>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589984"/>
            <a:ext cx="643890" cy="32742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589984"/>
            <a:ext cx="643890" cy="32742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589984"/>
            <a:ext cx="643890" cy="32742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589984"/>
            <a:ext cx="643890" cy="32742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589984"/>
            <a:ext cx="643890" cy="32742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589984"/>
            <a:ext cx="643890" cy="327422"/>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589984"/>
            <a:ext cx="643890" cy="32742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589984"/>
            <a:ext cx="643890" cy="32742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589984"/>
            <a:ext cx="643890" cy="32742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589984"/>
            <a:ext cx="643890" cy="32742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589984"/>
            <a:ext cx="643890" cy="32742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589984"/>
            <a:ext cx="643890" cy="32742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589984"/>
            <a:ext cx="643890" cy="32742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589984"/>
            <a:ext cx="643890" cy="327422"/>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589984"/>
            <a:ext cx="643890" cy="32742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17406"/>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17406"/>
            <a:ext cx="643890" cy="32742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17406"/>
            <a:ext cx="643890" cy="32742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17406"/>
            <a:ext cx="643890" cy="32742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17406"/>
            <a:ext cx="643890" cy="32742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17406"/>
            <a:ext cx="643890" cy="327422"/>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17406"/>
            <a:ext cx="643890" cy="327422"/>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17406"/>
            <a:ext cx="643890" cy="327422"/>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17406"/>
            <a:ext cx="643890" cy="32742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17406"/>
            <a:ext cx="643890" cy="32742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17406"/>
            <a:ext cx="643890" cy="32742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17406"/>
            <a:ext cx="643890" cy="327422"/>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17406"/>
            <a:ext cx="643890" cy="32742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17406"/>
            <a:ext cx="643890" cy="32742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17406"/>
            <a:ext cx="643890" cy="32742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17406"/>
            <a:ext cx="643890" cy="32742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44828"/>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44828"/>
            <a:ext cx="643890" cy="327422"/>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44828"/>
            <a:ext cx="643890" cy="32742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44828"/>
            <a:ext cx="643890" cy="32742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44828"/>
            <a:ext cx="643890" cy="32742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44828"/>
            <a:ext cx="643890" cy="32742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44828"/>
            <a:ext cx="643890" cy="32742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44828"/>
            <a:ext cx="643890" cy="32742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44828"/>
            <a:ext cx="643890" cy="32742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44828"/>
            <a:ext cx="643890" cy="32742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44828"/>
            <a:ext cx="643890" cy="32742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44828"/>
            <a:ext cx="643890" cy="32742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44828"/>
            <a:ext cx="643890" cy="327422"/>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44828"/>
            <a:ext cx="643890" cy="32742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44828"/>
            <a:ext cx="643890" cy="32742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44828"/>
            <a:ext cx="643890" cy="32742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3990975"/>
            <a:ext cx="104775" cy="7119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054554"/>
            <a:ext cx="104775" cy="7119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118134"/>
            <a:ext cx="104775" cy="7119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181713"/>
            <a:ext cx="104775" cy="7119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245292"/>
            <a:ext cx="104775" cy="7119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308872"/>
            <a:ext cx="104775" cy="7119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372451"/>
            <a:ext cx="104775" cy="7119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436031"/>
            <a:ext cx="104775" cy="7119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499610"/>
            <a:ext cx="104775" cy="7119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563189"/>
            <a:ext cx="104775" cy="7119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626769"/>
            <a:ext cx="104775" cy="7119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690348"/>
            <a:ext cx="104775" cy="7119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753928"/>
            <a:ext cx="104775" cy="7119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4817507"/>
            <a:ext cx="104775" cy="7119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4881086"/>
            <a:ext cx="104775" cy="7119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4944666"/>
            <a:ext cx="104775" cy="7119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008245"/>
            <a:ext cx="104775" cy="7119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071824"/>
            <a:ext cx="104775" cy="7119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135404"/>
            <a:ext cx="104775" cy="7119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198983"/>
            <a:ext cx="104775" cy="7119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262562"/>
            <a:ext cx="104775" cy="7119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326142"/>
            <a:ext cx="104775" cy="7119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389721"/>
            <a:ext cx="104775" cy="7119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453301"/>
            <a:ext cx="104775" cy="7119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516880"/>
            <a:ext cx="104775" cy="7119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580459"/>
            <a:ext cx="104775" cy="7119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644039"/>
            <a:ext cx="104775" cy="7119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07618"/>
            <a:ext cx="104775" cy="7119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771198"/>
            <a:ext cx="104775" cy="7119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834777"/>
            <a:ext cx="104775" cy="7119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898356"/>
            <a:ext cx="104775" cy="7119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5961936"/>
            <a:ext cx="104775" cy="7119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25515"/>
            <a:ext cx="104775" cy="7119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089094"/>
            <a:ext cx="104775" cy="7119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52674"/>
            <a:ext cx="104775" cy="7119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16253"/>
            <a:ext cx="104775" cy="7119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279832"/>
            <a:ext cx="104775" cy="7119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43412"/>
            <a:ext cx="104775" cy="7119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06991"/>
            <a:ext cx="104775" cy="7119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0571"/>
            <a:ext cx="104775" cy="7119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3990975"/>
            <a:ext cx="104775" cy="25431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02" name="TextBox 201"/>
          <p:cNvSpPr txBox="1"/>
          <p:nvPr/>
        </p:nvSpPr>
        <p:spPr>
          <a:xfrm>
            <a:off x="11687175" y="5195888"/>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943097"/>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15265">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814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Technology (%)  ·  light = lower, dark = higher growth</a:t>
            </a:r>
          </a:p>
        </p:txBody>
      </p:sp>
      <p:sp>
        <p:nvSpPr>
          <p:cNvPr id="17" name="TextBox 16"/>
          <p:cNvSpPr txBox="1"/>
          <p:nvPr/>
        </p:nvSpPr>
        <p:spPr>
          <a:xfrm>
            <a:off x="185737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100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52875"/>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3952875"/>
            <a:ext cx="643890" cy="32742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52875"/>
            <a:ext cx="643890" cy="327422"/>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52875"/>
            <a:ext cx="643890" cy="32742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52875"/>
            <a:ext cx="643890" cy="32742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52875"/>
            <a:ext cx="643890" cy="32742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52875"/>
            <a:ext cx="643890" cy="32742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52875"/>
            <a:ext cx="643890" cy="32742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52875"/>
            <a:ext cx="643890" cy="327422"/>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52875"/>
            <a:ext cx="643890" cy="327422"/>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52875"/>
            <a:ext cx="643890" cy="32742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52875"/>
            <a:ext cx="643890" cy="327422"/>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52875"/>
            <a:ext cx="643890" cy="327422"/>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52875"/>
            <a:ext cx="643890" cy="327422"/>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52875"/>
            <a:ext cx="643890" cy="327422"/>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52875"/>
            <a:ext cx="643890" cy="327422"/>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80297"/>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280297"/>
            <a:ext cx="643890" cy="327422"/>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80297"/>
            <a:ext cx="643890" cy="327422"/>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80297"/>
            <a:ext cx="643890" cy="32742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80297"/>
            <a:ext cx="643890" cy="327422"/>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80297"/>
            <a:ext cx="643890" cy="327422"/>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80297"/>
            <a:ext cx="643890" cy="327422"/>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80297"/>
            <a:ext cx="643890" cy="32742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80297"/>
            <a:ext cx="643890" cy="327422"/>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80297"/>
            <a:ext cx="643890" cy="327422"/>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80297"/>
            <a:ext cx="643890" cy="327422"/>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80297"/>
            <a:ext cx="643890" cy="32742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80297"/>
            <a:ext cx="643890" cy="32742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80297"/>
            <a:ext cx="643890" cy="32742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80297"/>
            <a:ext cx="643890" cy="32742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80297"/>
            <a:ext cx="643890" cy="32742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07719"/>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607719"/>
            <a:ext cx="643890" cy="32742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07719"/>
            <a:ext cx="643890" cy="327422"/>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07719"/>
            <a:ext cx="643890" cy="327422"/>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07719"/>
            <a:ext cx="643890" cy="32742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07719"/>
            <a:ext cx="643890" cy="32742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07719"/>
            <a:ext cx="643890" cy="32742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07719"/>
            <a:ext cx="643890" cy="32742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07719"/>
            <a:ext cx="643890" cy="32742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07719"/>
            <a:ext cx="643890" cy="327422"/>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07719"/>
            <a:ext cx="643890" cy="327422"/>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07719"/>
            <a:ext cx="643890" cy="32742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07719"/>
            <a:ext cx="643890" cy="327422"/>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07719"/>
            <a:ext cx="643890" cy="327422"/>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07719"/>
            <a:ext cx="643890" cy="32742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07719"/>
            <a:ext cx="643890" cy="32742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4935141"/>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4935141"/>
            <a:ext cx="643890" cy="32742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4935141"/>
            <a:ext cx="643890" cy="32742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4935141"/>
            <a:ext cx="643890" cy="32742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4935141"/>
            <a:ext cx="643890" cy="32742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4935141"/>
            <a:ext cx="643890" cy="32742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4935141"/>
            <a:ext cx="643890" cy="327422"/>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4935141"/>
            <a:ext cx="643890" cy="32742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4935141"/>
            <a:ext cx="643890" cy="32742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4935141"/>
            <a:ext cx="643890" cy="327422"/>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4935141"/>
            <a:ext cx="643890" cy="32742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4935141"/>
            <a:ext cx="643890" cy="32742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4935141"/>
            <a:ext cx="643890" cy="32742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4935141"/>
            <a:ext cx="643890" cy="32742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4935141"/>
            <a:ext cx="643890" cy="32742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4935141"/>
            <a:ext cx="643890" cy="32742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262562"/>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262562"/>
            <a:ext cx="643890" cy="327422"/>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262562"/>
            <a:ext cx="643890" cy="32742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262562"/>
            <a:ext cx="643890" cy="327422"/>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262562"/>
            <a:ext cx="643890" cy="32742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262562"/>
            <a:ext cx="643890" cy="32742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262562"/>
            <a:ext cx="643890" cy="32742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262562"/>
            <a:ext cx="643890" cy="32742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262562"/>
            <a:ext cx="643890" cy="32742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262562"/>
            <a:ext cx="643890" cy="327422"/>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262562"/>
            <a:ext cx="643890" cy="32742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262562"/>
            <a:ext cx="643890" cy="32742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262562"/>
            <a:ext cx="643890" cy="32742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262562"/>
            <a:ext cx="643890" cy="32742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262562"/>
            <a:ext cx="643890" cy="32742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262562"/>
            <a:ext cx="643890" cy="32742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589984"/>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589984"/>
            <a:ext cx="643890" cy="32742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589984"/>
            <a:ext cx="643890" cy="32742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589984"/>
            <a:ext cx="643890" cy="32742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589984"/>
            <a:ext cx="643890" cy="32742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589984"/>
            <a:ext cx="643890" cy="32742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589984"/>
            <a:ext cx="643890" cy="327422"/>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589984"/>
            <a:ext cx="643890" cy="32742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589984"/>
            <a:ext cx="643890" cy="32742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589984"/>
            <a:ext cx="643890" cy="32742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589984"/>
            <a:ext cx="643890" cy="32742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589984"/>
            <a:ext cx="643890" cy="32742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589984"/>
            <a:ext cx="643890" cy="327422"/>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589984"/>
            <a:ext cx="643890" cy="32742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589984"/>
            <a:ext cx="643890" cy="327422"/>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589984"/>
            <a:ext cx="643890" cy="32742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17406"/>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17406"/>
            <a:ext cx="643890" cy="327422"/>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17406"/>
            <a:ext cx="643890" cy="32742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17406"/>
            <a:ext cx="643890" cy="32742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17406"/>
            <a:ext cx="643890" cy="32742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17406"/>
            <a:ext cx="643890" cy="327422"/>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17406"/>
            <a:ext cx="643890" cy="327422"/>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17406"/>
            <a:ext cx="643890" cy="327422"/>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17406"/>
            <a:ext cx="643890" cy="32742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17406"/>
            <a:ext cx="643890" cy="32742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17406"/>
            <a:ext cx="643890" cy="32742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17406"/>
            <a:ext cx="643890" cy="32742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17406"/>
            <a:ext cx="643890" cy="32742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17406"/>
            <a:ext cx="643890" cy="32742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17406"/>
            <a:ext cx="643890" cy="32742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17406"/>
            <a:ext cx="643890" cy="32742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44828"/>
            <a:ext cx="1590675" cy="327422"/>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44828"/>
            <a:ext cx="643890" cy="327422"/>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44828"/>
            <a:ext cx="643890" cy="32742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44828"/>
            <a:ext cx="643890" cy="32742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44828"/>
            <a:ext cx="643890" cy="32742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44828"/>
            <a:ext cx="643890" cy="32742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44828"/>
            <a:ext cx="643890" cy="32742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44828"/>
            <a:ext cx="643890" cy="32742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44828"/>
            <a:ext cx="643890" cy="32742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44828"/>
            <a:ext cx="643890" cy="32742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44828"/>
            <a:ext cx="643890" cy="32742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44828"/>
            <a:ext cx="643890" cy="32742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44828"/>
            <a:ext cx="643890" cy="327422"/>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44828"/>
            <a:ext cx="643890" cy="32742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44828"/>
            <a:ext cx="643890" cy="32742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44828"/>
            <a:ext cx="643890" cy="32742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3990975"/>
            <a:ext cx="104775" cy="7119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054554"/>
            <a:ext cx="104775" cy="7119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118134"/>
            <a:ext cx="104775" cy="7119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181713"/>
            <a:ext cx="104775" cy="7119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245292"/>
            <a:ext cx="104775" cy="7119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308872"/>
            <a:ext cx="104775" cy="7119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372451"/>
            <a:ext cx="104775" cy="7119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436031"/>
            <a:ext cx="104775" cy="7119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499610"/>
            <a:ext cx="104775" cy="7119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563189"/>
            <a:ext cx="104775" cy="7119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626769"/>
            <a:ext cx="104775" cy="7119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690348"/>
            <a:ext cx="104775" cy="7119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753928"/>
            <a:ext cx="104775" cy="7119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4817507"/>
            <a:ext cx="104775" cy="7119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4881086"/>
            <a:ext cx="104775" cy="7119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4944666"/>
            <a:ext cx="104775" cy="7119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008245"/>
            <a:ext cx="104775" cy="7119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071824"/>
            <a:ext cx="104775" cy="7119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135404"/>
            <a:ext cx="104775" cy="7119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198983"/>
            <a:ext cx="104775" cy="7119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262562"/>
            <a:ext cx="104775" cy="7119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326142"/>
            <a:ext cx="104775" cy="7119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389721"/>
            <a:ext cx="104775" cy="7119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453301"/>
            <a:ext cx="104775" cy="7119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516880"/>
            <a:ext cx="104775" cy="7119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580459"/>
            <a:ext cx="104775" cy="7119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644039"/>
            <a:ext cx="104775" cy="7119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07618"/>
            <a:ext cx="104775" cy="7119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771198"/>
            <a:ext cx="104775" cy="7119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834777"/>
            <a:ext cx="104775" cy="7119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898356"/>
            <a:ext cx="104775" cy="7119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5961936"/>
            <a:ext cx="104775" cy="7119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25515"/>
            <a:ext cx="104775" cy="7119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089094"/>
            <a:ext cx="104775" cy="7119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52674"/>
            <a:ext cx="104775" cy="7119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16253"/>
            <a:ext cx="104775" cy="7119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279832"/>
            <a:ext cx="104775" cy="7119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43412"/>
            <a:ext cx="104775" cy="7119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06991"/>
            <a:ext cx="104775" cy="7119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0571"/>
            <a:ext cx="104775" cy="7119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3990975"/>
            <a:ext cx="104775" cy="25431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02" name="TextBox 201"/>
          <p:cNvSpPr txBox="1"/>
          <p:nvPr/>
        </p:nvSpPr>
        <p:spPr>
          <a:xfrm>
            <a:off x="11687175" y="519588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End User,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User segment categorizes the market by end user.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Academic &amp; Teaching Dental Instit…</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156.5</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237.3</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4.2%</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Laboratories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150.1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185.9</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2.2%</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Clinics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39.2</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57.0</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3.8%</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Hospitals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25.5</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43.7</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5.5%</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Among removable partial dentures by end user, dental hospitals segment is expected to witness the highest CAGR of 5.5% over the forecast period. In terms of value share by end user, the academic &amp; teaching dental institutions segment is expected to dominate the market, gaining 314 BPS and accounting for 45.3% share by 2036.</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Academic &amp; teaching dental institutions segment is projected to register 1.3X higher value than dental laboratories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Academic &amp; Teaching Dental Institutions: </a:t>
            </a:r>
            <a:r>
              <a:rPr sz="1100" b="0">
                <a:solidFill>
                  <a:srgbClr val="2E2E2E"/>
                </a:solidFill>
                <a:latin typeface="Calibri"/>
              </a:rPr>
              <a:t>42% of 2026 value · 4.2%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Dental Laboratories: </a:t>
            </a:r>
            <a:r>
              <a:rPr sz="1100" b="0">
                <a:solidFill>
                  <a:srgbClr val="2E2E2E"/>
                </a:solidFill>
                <a:latin typeface="Calibri"/>
              </a:rPr>
              <a:t>40% of 2026 value · 2.2%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Dental Clinics: </a:t>
            </a:r>
            <a:r>
              <a:rPr sz="1100" b="0">
                <a:solidFill>
                  <a:srgbClr val="2E2E2E"/>
                </a:solidFill>
                <a:latin typeface="Calibri"/>
              </a:rPr>
              <a:t>11% of 2026 value · 3.8%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Dental Hospitals: </a:t>
            </a:r>
            <a:r>
              <a:rPr sz="1100" b="0">
                <a:solidFill>
                  <a:srgbClr val="2E2E2E"/>
                </a:solidFill>
                <a:latin typeface="Calibri"/>
              </a:rPr>
              <a:t>7% of 2026 value · 5.5%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User split shows how demand is distributed across end user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End User segment is projected to grow at a CAGR of 3.5%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End User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End User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End User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Academic &amp; teaching dental institutions followed by dental laboratories are expected to be the two most attractive end user segments in the North America removable partial dentures market in terms of value over the forecast period. Academic &amp; teaching dental institutions and dental laboratories exhibit a CAGR index of 121.3 and 61.8 and a market share index of 168.6 and 161.7 respectively, against the segment average of 100. The dental clinics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Clinics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Hospitals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Laboratories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Academic &amp; Teaching Dental Institutions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End User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81225"/>
          </a:xfrm>
          <a:prstGeom prst="roundRect">
            <a:avLst>
              <a:gd name="adj" fmla="val 34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End User (Units)</a:t>
            </a:r>
          </a:p>
        </p:txBody>
      </p:sp>
      <p:graphicFrame>
        <p:nvGraphicFramePr>
          <p:cNvPr id="13" name="Table 12"/>
          <p:cNvGraphicFramePr>
            <a:graphicFrameLocks noGrp="1"/>
          </p:cNvGraphicFramePr>
          <p:nvPr/>
        </p:nvGraphicFramePr>
        <p:xfrm>
          <a:off x="152400" y="1238250"/>
          <a:ext cx="11887208" cy="1714500"/>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End User</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216027">
                <a:tc>
                  <a:txBody>
                    <a:bodyPr wrap="none"/>
                    <a:lstStyle/>
                    <a:p>
                      <a:pPr algn="l"/>
                      <a:r>
                        <a:rPr sz="1100" b="1">
                          <a:solidFill>
                            <a:srgbClr val="2E2E2E"/>
                          </a:solidFill>
                          <a:latin typeface="Calibri"/>
                        </a:rPr>
                        <a:t>Dental Clinics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163,954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167,839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172,150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176,913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182,163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187,928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193,898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200,065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206,436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213,021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219,828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226,868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234,149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241,685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249,487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257,567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3.2%</a:t>
                      </a:r>
                      <a:endParaRPr sz="1100"/>
                    </a:p>
                  </a:txBody>
                  <a:tcPr marL="19050" marR="14288" marT="19050" marB="19050" anchor="ctr">
                    <a:solidFill>
                      <a:srgbClr val="FFFFFF"/>
                    </a:solidFill>
                  </a:tcPr>
                </a:tc>
              </a:tr>
              <a:tr h="216027">
                <a:tc>
                  <a:txBody>
                    <a:bodyPr wrap="none"/>
                    <a:lstStyle/>
                    <a:p>
                      <a:pPr algn="l"/>
                      <a:r>
                        <a:rPr sz="1100" b="1">
                          <a:solidFill>
                            <a:srgbClr val="2E2E2E"/>
                          </a:solidFill>
                          <a:latin typeface="Calibri"/>
                        </a:rPr>
                        <a:t>Dental Hospitals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60,635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62,938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65,468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68,246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71,297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74,644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78,175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81,896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85,820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89,959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94,328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98,943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103,820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108,979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114,440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120,225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4.9%</a:t>
                      </a:r>
                      <a:endParaRPr sz="1100"/>
                    </a:p>
                  </a:txBody>
                  <a:tcPr marL="19050" marR="14288" marT="19050" marB="19050" anchor="ctr">
                    <a:solidFill>
                      <a:srgbClr val="F5F8FA"/>
                    </a:solidFill>
                  </a:tcPr>
                </a:tc>
              </a:tr>
              <a:tr h="216027">
                <a:tc>
                  <a:txBody>
                    <a:bodyPr wrap="none"/>
                    <a:lstStyle/>
                    <a:p>
                      <a:pPr algn="l"/>
                      <a:r>
                        <a:rPr sz="1100" b="1">
                          <a:solidFill>
                            <a:srgbClr val="2E2E2E"/>
                          </a:solidFill>
                          <a:latin typeface="Calibri"/>
                        </a:rPr>
                        <a:t>Dental Laboratories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516,830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523,525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531,118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539,623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549,075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559,482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569,849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580,096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590,190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600,093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609,762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619,157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628,220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636,902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645,140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652,862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a:t>
                      </a:r>
                      <a:endParaRPr sz="1100"/>
                    </a:p>
                  </a:txBody>
                  <a:tcPr marL="19050" marR="14288" marT="19050" marB="19050" anchor="ctr">
                    <a:solidFill>
                      <a:srgbClr val="FFFFFF"/>
                    </a:solidFill>
                  </a:tcPr>
                </a:tc>
              </a:tr>
              <a:tr h="501015">
                <a:tc>
                  <a:txBody>
                    <a:bodyPr wrap="square"/>
                    <a:lstStyle/>
                    <a:p>
                      <a:pPr algn="l">
                        <a:lnSpc>
                          <a:spcPct val="90000"/>
                        </a:lnSpc>
                      </a:pPr>
                      <a:r>
                        <a:rPr sz="1100" b="1">
                          <a:solidFill>
                            <a:srgbClr val="2E2E2E"/>
                          </a:solidFill>
                          <a:latin typeface="Calibri"/>
                        </a:rPr>
                        <a:t>Academic &amp; Teaching Dental Institutions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360,099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369,790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380,510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392,332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405,345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419,631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434,514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449,986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466,076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482,818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500,245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518,399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537,313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557,038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577,620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599,108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3.6%</a:t>
                      </a:r>
                      <a:endParaRPr sz="1100"/>
                    </a:p>
                  </a:txBody>
                  <a:tcPr marL="19050" marR="14288"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1,101,518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1,124,091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1,149,246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1,177,115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1,207,880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1,241,684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1,276,436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1,312,042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1,348,522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1,385,891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1,424,163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1,463,367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1,503,502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1,544,604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1,586,687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1,629,763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2.8%</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962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95650"/>
            <a:ext cx="11906250" cy="3333750"/>
          </a:xfrm>
          <a:prstGeom prst="roundRect">
            <a:avLst>
              <a:gd name="adj" fmla="val 22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813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End User</a:t>
            </a:r>
          </a:p>
        </p:txBody>
      </p:sp>
      <p:sp>
        <p:nvSpPr>
          <p:cNvPr id="17" name="Rectangle 16"/>
          <p:cNvSpPr/>
          <p:nvPr/>
        </p:nvSpPr>
        <p:spPr>
          <a:xfrm>
            <a:off x="276225" y="36195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05225"/>
            <a:ext cx="11639550" cy="28479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Dental laboratories segment is projected to register 1.1X higher volume than academic &amp; teaching dental institutions segment in 2036. Among removable partial dentures by end user, dental hospitals segment is expected to witness the highest CAGR of 4.9% over the forecast period.</a:t>
            </a:r>
          </a:p>
          <a:p>
            <a:pPr algn="l">
              <a:lnSpc>
                <a:spcPct val="110000"/>
              </a:lnSpc>
              <a:spcBef>
                <a:spcPts val="0"/>
              </a:spcBef>
              <a:spcAft>
                <a:spcPts val="500"/>
              </a:spcAft>
            </a:pPr>
            <a:r>
              <a:rPr sz="1150" b="0">
                <a:solidFill>
                  <a:srgbClr val="2E2E2E"/>
                </a:solidFill>
                <a:latin typeface="Calibri"/>
              </a:rPr>
              <a:t>In terms of volume share by end user, the dental laboratories segment is expected to dominate the market, losing 500 BPS and accounting for 40.1%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End User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End User (US$ Mn)</a:t>
            </a:r>
          </a:p>
        </p:txBody>
      </p:sp>
      <p:graphicFrame>
        <p:nvGraphicFramePr>
          <p:cNvPr id="13" name="Table 12"/>
          <p:cNvGraphicFramePr>
            <a:graphicFrameLocks noGrp="1"/>
          </p:cNvGraphicFramePr>
          <p:nvPr/>
        </p:nvGraphicFramePr>
        <p:xfrm>
          <a:off x="152400" y="1238250"/>
          <a:ext cx="11887196" cy="1295400"/>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15265">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End User</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Academic &amp; teaching dental institutions segment is projected to register 1.3X higher value than dental laboratories segment in 2036. Among removable partial dentures by end user, dental hospitals segment is expected to witness the highest CAGR of 5.5% over the forecast period.</a:t>
            </a:r>
          </a:p>
          <a:p>
            <a:pPr algn="l">
              <a:lnSpc>
                <a:spcPct val="110000"/>
              </a:lnSpc>
              <a:spcBef>
                <a:spcPts val="0"/>
              </a:spcBef>
              <a:spcAft>
                <a:spcPts val="500"/>
              </a:spcAft>
            </a:pPr>
            <a:r>
              <a:rPr sz="1150" b="0">
                <a:solidFill>
                  <a:srgbClr val="2E2E2E"/>
                </a:solidFill>
                <a:latin typeface="Calibri"/>
              </a:rPr>
              <a:t>In terms of value share by end user, the academic &amp; teaching dental institutions segment is expected to dominate the market, gaining 314 BPS and accounting for 45.3% share by 2036. The dental laboratories segment is expected to lose 493 BPS over the forecast period to account for 35.5%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End User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End User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6182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5706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8086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Hospitals</a:t>
            </a:r>
          </a:p>
        </p:txBody>
      </p:sp>
      <p:sp>
        <p:nvSpPr>
          <p:cNvPr id="19" name="BPS Value 1"/>
          <p:cNvSpPr txBox="1"/>
          <p:nvPr/>
        </p:nvSpPr>
        <p:spPr>
          <a:xfrm>
            <a:off x="6896100" y="1842776"/>
            <a:ext cx="514350" cy="123825"/>
          </a:xfrm>
          <a:prstGeom prst="rect">
            <a:avLst/>
          </a:prstGeom>
          <a:noFill/>
        </p:spPr>
        <p:txBody>
          <a:bodyPr wrap="none" lIns="0" rIns="0" tIns="0" bIns="0" anchor="ctr">
            <a:spAutoFit/>
          </a:bodyPr>
          <a:lstStyle/>
          <a:p>
            <a:pPr algn="r"/>
            <a:r>
              <a:rPr sz="900" b="1">
                <a:solidFill>
                  <a:srgbClr val="2E7D32"/>
                </a:solidFill>
                <a:latin typeface="Calibri"/>
              </a:rPr>
              <a:t>+146</a:t>
            </a:r>
          </a:p>
        </p:txBody>
      </p:sp>
      <p:sp>
        <p:nvSpPr>
          <p:cNvPr id="20" name="FMI Legend Chip"/>
          <p:cNvSpPr/>
          <p:nvPr/>
        </p:nvSpPr>
        <p:spPr>
          <a:xfrm>
            <a:off x="4928997" y="230129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965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2203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Clinics</a:t>
            </a:r>
          </a:p>
        </p:txBody>
      </p:sp>
      <p:sp>
        <p:nvSpPr>
          <p:cNvPr id="23" name="BPS Value 2"/>
          <p:cNvSpPr txBox="1"/>
          <p:nvPr/>
        </p:nvSpPr>
        <p:spPr>
          <a:xfrm>
            <a:off x="6896100" y="2282240"/>
            <a:ext cx="514350" cy="123825"/>
          </a:xfrm>
          <a:prstGeom prst="rect">
            <a:avLst/>
          </a:prstGeom>
          <a:noFill/>
        </p:spPr>
        <p:txBody>
          <a:bodyPr wrap="none" lIns="0" rIns="0" tIns="0" bIns="0" anchor="ctr">
            <a:spAutoFit/>
          </a:bodyPr>
          <a:lstStyle/>
          <a:p>
            <a:pPr algn="r"/>
            <a:r>
              <a:rPr sz="900" b="1">
                <a:solidFill>
                  <a:srgbClr val="2E7D32"/>
                </a:solidFill>
                <a:latin typeface="Calibri"/>
              </a:rPr>
              <a:t>+33</a:t>
            </a:r>
          </a:p>
        </p:txBody>
      </p:sp>
      <p:sp>
        <p:nvSpPr>
          <p:cNvPr id="24" name="FMI Legend Chip"/>
          <p:cNvSpPr/>
          <p:nvPr/>
        </p:nvSpPr>
        <p:spPr>
          <a:xfrm>
            <a:off x="4928997" y="336155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35678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805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Laboratories</a:t>
            </a:r>
          </a:p>
        </p:txBody>
      </p:sp>
      <p:sp>
        <p:nvSpPr>
          <p:cNvPr id="27" name="BPS Value 3"/>
          <p:cNvSpPr txBox="1"/>
          <p:nvPr/>
        </p:nvSpPr>
        <p:spPr>
          <a:xfrm>
            <a:off x="6896100" y="3342501"/>
            <a:ext cx="514350" cy="123825"/>
          </a:xfrm>
          <a:prstGeom prst="rect">
            <a:avLst/>
          </a:prstGeom>
          <a:noFill/>
        </p:spPr>
        <p:txBody>
          <a:bodyPr wrap="none" lIns="0" rIns="0" tIns="0" bIns="0" anchor="ctr">
            <a:spAutoFit/>
          </a:bodyPr>
          <a:lstStyle/>
          <a:p>
            <a:pPr algn="r"/>
            <a:r>
              <a:rPr sz="900" b="1">
                <a:solidFill>
                  <a:srgbClr val="E44D3A"/>
                </a:solidFill>
                <a:latin typeface="Calibri"/>
              </a:rPr>
              <a:t>-493</a:t>
            </a:r>
          </a:p>
        </p:txBody>
      </p:sp>
      <p:sp>
        <p:nvSpPr>
          <p:cNvPr id="28" name="FMI Legend Chip"/>
          <p:cNvSpPr/>
          <p:nvPr/>
        </p:nvSpPr>
        <p:spPr>
          <a:xfrm>
            <a:off x="4928997" y="520827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0351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273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Academic &amp; Teaching Dental Institutions</a:t>
            </a:r>
          </a:p>
        </p:txBody>
      </p:sp>
      <p:sp>
        <p:nvSpPr>
          <p:cNvPr id="31" name="BPS Value 4"/>
          <p:cNvSpPr txBox="1"/>
          <p:nvPr/>
        </p:nvSpPr>
        <p:spPr>
          <a:xfrm>
            <a:off x="6896100" y="5189227"/>
            <a:ext cx="514350" cy="123825"/>
          </a:xfrm>
          <a:prstGeom prst="rect">
            <a:avLst/>
          </a:prstGeom>
          <a:noFill/>
        </p:spPr>
        <p:txBody>
          <a:bodyPr wrap="none" lIns="0" rIns="0" tIns="0" bIns="0" anchor="ctr">
            <a:spAutoFit/>
          </a:bodyPr>
          <a:lstStyle/>
          <a:p>
            <a:pPr algn="r"/>
            <a:r>
              <a:rPr sz="900" b="1">
                <a:solidFill>
                  <a:srgbClr val="2E7D32"/>
                </a:solidFill>
                <a:latin typeface="Calibri"/>
              </a:rPr>
              <a:t>+314</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End User</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end user, dental hospitals segment is expected to witness the highest CAGR of 5.5% over the forecast period. In terms of value share by end user, the academic &amp; teaching dental institutions segment is expected to dominate the market, gaining 314 BPS and accounting for 45.3% share by 2036.</a:t>
            </a:r>
          </a:p>
          <a:p>
            <a:pPr algn="l">
              <a:lnSpc>
                <a:spcPct val="110000"/>
              </a:lnSpc>
              <a:spcBef>
                <a:spcPts val="0"/>
              </a:spcBef>
              <a:spcAft>
                <a:spcPts val="500"/>
              </a:spcAft>
            </a:pPr>
            <a:r>
              <a:rPr sz="1150" b="0">
                <a:solidFill>
                  <a:srgbClr val="2E2E2E"/>
                </a:solidFill>
                <a:latin typeface="Calibri"/>
              </a:rPr>
              <a:t>The dental laboratories segment is expected to lose 493 BPS over the forecast period to account for 35.5% share by 2036.</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076325"/>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15265">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End User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086100"/>
            <a:ext cx="643890" cy="871538"/>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3957638"/>
            <a:ext cx="643890" cy="871538"/>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829175"/>
            <a:ext cx="643890" cy="87153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00712"/>
            <a:ext cx="643890" cy="87153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076325"/>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15265">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End User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086100"/>
            <a:ext cx="643890" cy="87153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3957638"/>
            <a:ext cx="643890" cy="871538"/>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829175"/>
            <a:ext cx="643890" cy="871538"/>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00712"/>
            <a:ext cx="643890" cy="87153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Dental Dealers &amp; Distributors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246.6</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293.6</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1.8%</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 Sales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89.2</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188.3</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7.8%</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Dental Supply Channels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35.5</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42.0</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1.7%</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removable partial dentures by distribution channel, direct sales segment is expected to witness the highest CAGR of 7.8% over the forecast period. In terms of value share by distribution channel, the dental dealers &amp; distributors segment is expected to dominate the market, losing 1,036 BPS and accounting for 56.0%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Dental dealers &amp; distributors segment is projected to register 1.6X higher value than direct sales segment in 2036.</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Dental Dealers &amp; Distributors: </a:t>
            </a:r>
            <a:r>
              <a:rPr sz="1100" b="0">
                <a:solidFill>
                  <a:srgbClr val="2E2E2E"/>
                </a:solidFill>
                <a:latin typeface="Calibri"/>
              </a:rPr>
              <a:t>66% of 2026 value · 1.8%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Direct Sales: </a:t>
            </a:r>
            <a:r>
              <a:rPr sz="1100" b="0">
                <a:solidFill>
                  <a:srgbClr val="2E2E2E"/>
                </a:solidFill>
                <a:latin typeface="Calibri"/>
              </a:rPr>
              <a:t>24% of 2026 value · 7.8%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Online Dental Supply Channels: </a:t>
            </a:r>
            <a:r>
              <a:rPr sz="1100" b="0">
                <a:solidFill>
                  <a:srgbClr val="2E2E2E"/>
                </a:solidFill>
                <a:latin typeface="Calibri"/>
              </a:rPr>
              <a:t>10% of 2026 value · 1.7% CAGR serves a niche.</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3.5%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Direct sales followed by dental dealers &amp; distributors are expected to be the two most attractive distribution channel segments in the North America removable partial dentures market in terms of value over the forecast period. Direct sales and dental dealers &amp; distributors exhibit a CAGR index of 221.5 and 50.3 and a market share index of 72.1 and 199.2 respectively, against the segment average of 100. The online dental supply channels segment is expected to be less attractive as compared to other segments over the forecast period, owing to its lower CAGR and incremental opportunity.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Direct Sales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Dealers &amp; Distributors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Online Dental Supply Channels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Distribution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By 2036, direct sales segment is anticipated to witness an increase of 2.1X in terms of value as compared to 2026. The direct sales segment is expected to create an incremental opportunity of US$ 99.1 Mn for the overall removable partial dentures market from 2026 to 2036.</a:t>
            </a:r>
          </a:p>
          <a:p>
            <a:pPr algn="l">
              <a:lnSpc>
                <a:spcPct val="110000"/>
              </a:lnSpc>
              <a:spcBef>
                <a:spcPts val="0"/>
              </a:spcBef>
              <a:spcAft>
                <a:spcPts val="500"/>
              </a:spcAft>
            </a:pPr>
            <a:r>
              <a:rPr sz="1150" b="0">
                <a:solidFill>
                  <a:srgbClr val="2E2E2E"/>
                </a:solidFill>
                <a:latin typeface="Calibri"/>
              </a:rPr>
              <a:t>The dental dealers &amp; distributors segment is expected to create an incremental opportunity of US$ 47.0 Mn for the overall removable partial dentures market from 2026 to 2036. The online dental supply channels segment is expected to create an incremental opportunity of US$ 6.46 Mn for the overall removable partial dentures market from 2026 to 2036.</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Distribution Channel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Distribution Channel (Units)</a:t>
            </a:r>
          </a:p>
        </p:txBody>
      </p:sp>
      <p:graphicFrame>
        <p:nvGraphicFramePr>
          <p:cNvPr id="13" name="Table 12"/>
          <p:cNvGraphicFramePr>
            <a:graphicFrameLocks noGrp="1"/>
          </p:cNvGraphicFramePr>
          <p:nvPr/>
        </p:nvGraphicFramePr>
        <p:xfrm>
          <a:off x="152400" y="1238250"/>
          <a:ext cx="11887208" cy="1485901"/>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349377">
                <a:tc>
                  <a:txBody>
                    <a:bodyPr wrap="square"/>
                    <a:lstStyle/>
                    <a:p>
                      <a:pPr algn="l">
                        <a:lnSpc>
                          <a:spcPct val="90000"/>
                        </a:lnSpc>
                      </a:pPr>
                      <a:r>
                        <a:rPr sz="1100" b="1">
                          <a:solidFill>
                            <a:srgbClr val="0B2E4A"/>
                          </a:solidFill>
                          <a:latin typeface="Calibri"/>
                        </a:rPr>
                        <a:t>Distribution Channel</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217075">
                <a:tc>
                  <a:txBody>
                    <a:bodyPr wrap="none"/>
                    <a:lstStyle/>
                    <a:p>
                      <a:pPr algn="l"/>
                      <a:r>
                        <a:rPr sz="1100" b="1">
                          <a:solidFill>
                            <a:srgbClr val="2E2E2E"/>
                          </a:solidFill>
                          <a:latin typeface="Calibri"/>
                        </a:rPr>
                        <a:t>Direct Sales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179,785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192,145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205,611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220,302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236,360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253,933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272,704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292,732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314,107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336,922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361,278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387,290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415,071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444,756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476,485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510,410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7.2%</a:t>
                      </a:r>
                      <a:endParaRPr sz="1100"/>
                    </a:p>
                  </a:txBody>
                  <a:tcPr marL="19050" marR="14288" marT="19050" marB="19050" anchor="ctr">
                    <a:solidFill>
                      <a:srgbClr val="FFFFFF"/>
                    </a:solidFill>
                  </a:tcPr>
                </a:tc>
              </a:tr>
              <a:tr h="351187">
                <a:tc>
                  <a:txBody>
                    <a:bodyPr wrap="square"/>
                    <a:lstStyle/>
                    <a:p>
                      <a:pPr algn="l">
                        <a:lnSpc>
                          <a:spcPct val="90000"/>
                        </a:lnSpc>
                      </a:pPr>
                      <a:r>
                        <a:rPr sz="1100" b="1">
                          <a:solidFill>
                            <a:srgbClr val="2E2E2E"/>
                          </a:solidFill>
                          <a:latin typeface="Calibri"/>
                        </a:rPr>
                        <a:t>Dental Dealers &amp; Distributors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837,018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846,303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856,934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868,919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882,298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897,066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911,613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925,800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939,564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952,835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965,535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977,587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988,888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999,349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1,008,856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1,017,283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a:t>
                      </a:r>
                      <a:endParaRPr sz="1100"/>
                    </a:p>
                  </a:txBody>
                  <a:tcPr marL="19050" marR="14288" marT="19050" marB="19050" anchor="ctr">
                    <a:solidFill>
                      <a:srgbClr val="F5F8FA"/>
                    </a:solidFill>
                  </a:tcPr>
                </a:tc>
              </a:tr>
              <a:tr h="351187">
                <a:tc>
                  <a:txBody>
                    <a:bodyPr wrap="square"/>
                    <a:lstStyle/>
                    <a:p>
                      <a:pPr algn="l">
                        <a:lnSpc>
                          <a:spcPct val="90000"/>
                        </a:lnSpc>
                      </a:pPr>
                      <a:r>
                        <a:rPr sz="1100" b="1">
                          <a:solidFill>
                            <a:srgbClr val="2E2E2E"/>
                          </a:solidFill>
                          <a:latin typeface="Calibri"/>
                        </a:rPr>
                        <a:t>Online Dental Supply Channels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84,716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85,643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86,702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87,894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89,222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90,685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92,120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93,510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94,851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96,134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97,350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98,490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99,543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100,500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101,346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102,070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a:t>
                      </a:r>
                      <a:endParaRPr sz="1100"/>
                    </a:p>
                  </a:txBody>
                  <a:tcPr marL="19050" marR="14288" marT="19050" marB="19050" anchor="ctr">
                    <a:solidFill>
                      <a:srgbClr val="FFFFFF"/>
                    </a:solidFill>
                  </a:tcPr>
                </a:tc>
              </a:tr>
              <a:tr h="217075">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1,101,518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1,124,091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1,149,246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1,177,115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1,207,880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1,241,684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1,276,436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1,312,042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1,348,522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1,385,891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1,424,163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1,463,367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1,503,502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1,544,604</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1,586,687</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1,629,763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2.8%</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Distribution Channel</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Dental dealers &amp; distributors segment is projected to register 2.0X higher volume than direct sales segment in 2036. Among removable partial dentures by distribution channel, direct sales segment is expected to witness the highest CAGR of 7.2% over the forecast period.</a:t>
            </a:r>
          </a:p>
          <a:p>
            <a:pPr algn="l">
              <a:lnSpc>
                <a:spcPct val="110000"/>
              </a:lnSpc>
              <a:spcBef>
                <a:spcPts val="0"/>
              </a:spcBef>
              <a:spcAft>
                <a:spcPts val="500"/>
              </a:spcAft>
            </a:pPr>
            <a:r>
              <a:rPr sz="1150" b="0">
                <a:solidFill>
                  <a:srgbClr val="2E2E2E"/>
                </a:solidFill>
                <a:latin typeface="Calibri"/>
              </a:rPr>
              <a:t>In terms of volume share by distribution channel, the dental dealers &amp; distributors segment is expected to dominate the market, losing 983 BPS and accounting for 62.4%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Distribution Channel (US$ Mn)</a:t>
            </a:r>
          </a:p>
        </p:txBody>
      </p:sp>
      <p:graphicFrame>
        <p:nvGraphicFramePr>
          <p:cNvPr id="13" name="Table 12"/>
          <p:cNvGraphicFramePr>
            <a:graphicFrameLocks noGrp="1"/>
          </p:cNvGraphicFramePr>
          <p:nvPr/>
        </p:nvGraphicFramePr>
        <p:xfrm>
          <a:off x="152400" y="1238250"/>
          <a:ext cx="11887206" cy="1076325"/>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7432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Distribution Channel</a:t>
            </a:r>
          </a:p>
        </p:txBody>
      </p:sp>
      <p:sp>
        <p:nvSpPr>
          <p:cNvPr id="17" name="Rectangle 16"/>
          <p:cNvSpPr/>
          <p:nvPr/>
        </p:nvSpPr>
        <p:spPr>
          <a:xfrm>
            <a:off x="276225" y="2981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067050"/>
            <a:ext cx="11639550" cy="3486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Dental dealers &amp; distributors segment is projected to register 1.6X higher value than direct sales segment in 2036. Among removable partial dentures by distribution channel, direct sales segment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dental dealers &amp; distributors segment is expected to dominate the market, losing 1,036 BPS and accounting for 56.0%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5445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496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734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Dental Supply Channels</a:t>
            </a:r>
          </a:p>
        </p:txBody>
      </p:sp>
      <p:sp>
        <p:nvSpPr>
          <p:cNvPr id="19" name="BPS Value 1"/>
          <p:cNvSpPr txBox="1"/>
          <p:nvPr/>
        </p:nvSpPr>
        <p:spPr>
          <a:xfrm>
            <a:off x="6896100" y="1835401"/>
            <a:ext cx="514350" cy="123825"/>
          </a:xfrm>
          <a:prstGeom prst="rect">
            <a:avLst/>
          </a:prstGeom>
          <a:noFill/>
        </p:spPr>
        <p:txBody>
          <a:bodyPr wrap="none" lIns="0" rIns="0" tIns="0" bIns="0" anchor="ctr">
            <a:spAutoFit/>
          </a:bodyPr>
          <a:lstStyle/>
          <a:p>
            <a:pPr algn="r"/>
            <a:r>
              <a:rPr sz="900" b="1">
                <a:solidFill>
                  <a:srgbClr val="E44D3A"/>
                </a:solidFill>
                <a:latin typeface="Calibri"/>
              </a:rPr>
              <a:t>-155</a:t>
            </a:r>
          </a:p>
        </p:txBody>
      </p:sp>
      <p:sp>
        <p:nvSpPr>
          <p:cNvPr id="20" name="FMI Legend Chip"/>
          <p:cNvSpPr/>
          <p:nvPr/>
        </p:nvSpPr>
        <p:spPr>
          <a:xfrm>
            <a:off x="4928997" y="285932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5456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836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 Sales</a:t>
            </a:r>
          </a:p>
        </p:txBody>
      </p:sp>
      <p:sp>
        <p:nvSpPr>
          <p:cNvPr id="23" name="BPS Value 2"/>
          <p:cNvSpPr txBox="1"/>
          <p:nvPr/>
        </p:nvSpPr>
        <p:spPr>
          <a:xfrm>
            <a:off x="6896100" y="2840272"/>
            <a:ext cx="514350" cy="123825"/>
          </a:xfrm>
          <a:prstGeom prst="rect">
            <a:avLst/>
          </a:prstGeom>
          <a:noFill/>
        </p:spPr>
        <p:txBody>
          <a:bodyPr wrap="none" lIns="19050" rIns="19050" tIns="0" bIns="0" anchor="ctr">
            <a:spAutoFit/>
          </a:bodyPr>
          <a:lstStyle/>
          <a:p>
            <a:pPr algn="r"/>
            <a:r>
              <a:rPr sz="900" b="1">
                <a:solidFill>
                  <a:srgbClr val="2E7D32"/>
                </a:solidFill>
                <a:latin typeface="Calibri"/>
              </a:rPr>
              <a:t>+1,192</a:t>
            </a:r>
          </a:p>
        </p:txBody>
      </p:sp>
      <p:sp>
        <p:nvSpPr>
          <p:cNvPr id="24" name="FMI Legend Chip"/>
          <p:cNvSpPr/>
          <p:nvPr/>
        </p:nvSpPr>
        <p:spPr>
          <a:xfrm>
            <a:off x="4928997" y="496231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95755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813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Dental Dealers &amp; Distributors</a:t>
            </a:r>
          </a:p>
        </p:txBody>
      </p:sp>
      <p:sp>
        <p:nvSpPr>
          <p:cNvPr id="27" name="BPS Value 3"/>
          <p:cNvSpPr txBox="1"/>
          <p:nvPr/>
        </p:nvSpPr>
        <p:spPr>
          <a:xfrm>
            <a:off x="6896100" y="4943268"/>
            <a:ext cx="514350" cy="123825"/>
          </a:xfrm>
          <a:prstGeom prst="rect">
            <a:avLst/>
          </a:prstGeom>
          <a:noFill/>
        </p:spPr>
        <p:txBody>
          <a:bodyPr wrap="none" lIns="19050" rIns="19050" tIns="0" bIns="0" anchor="ctr">
            <a:spAutoFit/>
          </a:bodyPr>
          <a:lstStyle/>
          <a:p>
            <a:pPr algn="r"/>
            <a:r>
              <a:rPr sz="900" b="1">
                <a:solidFill>
                  <a:srgbClr val="E44D3A"/>
                </a:solidFill>
                <a:latin typeface="Calibri"/>
              </a:rPr>
              <a:t>-1,036</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Distribution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distribution channel, direct sales segment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distribution channel, the dental dealers &amp; distributors segment is expected to dominate the market, losing 1,036 BPS and accounting for 56.0% share by 2036.</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Distribution Channel (%)  ·  light = lower, dark = higher growth</a:t>
            </a:r>
          </a:p>
        </p:txBody>
      </p:sp>
      <p:sp>
        <p:nvSpPr>
          <p:cNvPr id="17" name="TextBox 16"/>
          <p:cNvSpPr txBox="1"/>
          <p:nvPr/>
        </p:nvSpPr>
        <p:spPr>
          <a:xfrm>
            <a:off x="185737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2876550"/>
            <a:ext cx="643890" cy="1231900"/>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876550"/>
            <a:ext cx="643890" cy="1231900"/>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876550"/>
            <a:ext cx="643890" cy="1231900"/>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876550"/>
            <a:ext cx="643890" cy="1231900"/>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876550"/>
            <a:ext cx="643890"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876550"/>
            <a:ext cx="643890" cy="1231900"/>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876550"/>
            <a:ext cx="643890" cy="1231900"/>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876550"/>
            <a:ext cx="643890" cy="1231900"/>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876550"/>
            <a:ext cx="643890" cy="1231900"/>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876550"/>
            <a:ext cx="643890" cy="1231900"/>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876550"/>
            <a:ext cx="643890" cy="1231900"/>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876550"/>
            <a:ext cx="643890" cy="1231900"/>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876550"/>
            <a:ext cx="643890" cy="1231900"/>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876550"/>
            <a:ext cx="643890" cy="1231900"/>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876550"/>
            <a:ext cx="643890" cy="1231900"/>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08450"/>
            <a:ext cx="643890" cy="1231900"/>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08450"/>
            <a:ext cx="643890" cy="12319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08450"/>
            <a:ext cx="643890" cy="123190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08450"/>
            <a:ext cx="643890" cy="1231900"/>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08450"/>
            <a:ext cx="643890" cy="123190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08450"/>
            <a:ext cx="643890" cy="123190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08450"/>
            <a:ext cx="643890" cy="12319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08450"/>
            <a:ext cx="643890"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08450"/>
            <a:ext cx="643890" cy="123190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08450"/>
            <a:ext cx="643890" cy="12319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08450"/>
            <a:ext cx="643890" cy="12319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08450"/>
            <a:ext cx="643890" cy="12319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08450"/>
            <a:ext cx="643890" cy="1231900"/>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08450"/>
            <a:ext cx="643890" cy="12319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08450"/>
            <a:ext cx="643890" cy="12319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40350"/>
            <a:ext cx="643890" cy="123190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40350"/>
            <a:ext cx="643890" cy="12319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40350"/>
            <a:ext cx="643890" cy="123190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40350"/>
            <a:ext cx="643890" cy="12319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40350"/>
            <a:ext cx="643890" cy="123190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40350"/>
            <a:ext cx="643890" cy="12319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40350"/>
            <a:ext cx="643890" cy="12319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40350"/>
            <a:ext cx="643890" cy="1231900"/>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40350"/>
            <a:ext cx="643890" cy="12319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40350"/>
            <a:ext cx="643890" cy="1231900"/>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40350"/>
            <a:ext cx="643890" cy="12319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40350"/>
            <a:ext cx="643890" cy="123190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40350"/>
            <a:ext cx="643890" cy="1231900"/>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40350"/>
            <a:ext cx="643890" cy="12319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40350"/>
            <a:ext cx="643890"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Distribution Channel (%)  ·  light = lower, dark = higher growth</a:t>
            </a:r>
          </a:p>
        </p:txBody>
      </p:sp>
      <p:sp>
        <p:nvSpPr>
          <p:cNvPr id="17" name="TextBox 16"/>
          <p:cNvSpPr txBox="1"/>
          <p:nvPr/>
        </p:nvSpPr>
        <p:spPr>
          <a:xfrm>
            <a:off x="185737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7336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8765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2876550"/>
            <a:ext cx="643890" cy="1231900"/>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876550"/>
            <a:ext cx="643890" cy="1231900"/>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876550"/>
            <a:ext cx="643890" cy="1231900"/>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876550"/>
            <a:ext cx="643890" cy="1231900"/>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876550"/>
            <a:ext cx="643890" cy="1231900"/>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876550"/>
            <a:ext cx="643890" cy="1231900"/>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876550"/>
            <a:ext cx="643890" cy="1231900"/>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876550"/>
            <a:ext cx="643890" cy="1231900"/>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876550"/>
            <a:ext cx="643890" cy="1231900"/>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876550"/>
            <a:ext cx="643890" cy="1231900"/>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876550"/>
            <a:ext cx="643890" cy="1231900"/>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876550"/>
            <a:ext cx="643890" cy="1231900"/>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876550"/>
            <a:ext cx="643890" cy="1231900"/>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876550"/>
            <a:ext cx="643890" cy="1231900"/>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876550"/>
            <a:ext cx="643890" cy="1231900"/>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084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08450"/>
            <a:ext cx="643890" cy="12319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08450"/>
            <a:ext cx="643890" cy="12319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08450"/>
            <a:ext cx="643890"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08450"/>
            <a:ext cx="643890" cy="123190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08450"/>
            <a:ext cx="643890" cy="1231900"/>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08450"/>
            <a:ext cx="643890" cy="1231900"/>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08450"/>
            <a:ext cx="643890" cy="1231900"/>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08450"/>
            <a:ext cx="643890" cy="1231900"/>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08450"/>
            <a:ext cx="643890"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08450"/>
            <a:ext cx="643890" cy="1231900"/>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08450"/>
            <a:ext cx="643890" cy="1231900"/>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08450"/>
            <a:ext cx="643890" cy="1231900"/>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08450"/>
            <a:ext cx="643890" cy="1231900"/>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08450"/>
            <a:ext cx="643890" cy="1231900"/>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08450"/>
            <a:ext cx="643890" cy="12319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40350"/>
            <a:ext cx="1590675" cy="1231900"/>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40350"/>
            <a:ext cx="643890" cy="12319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40350"/>
            <a:ext cx="643890" cy="1231900"/>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40350"/>
            <a:ext cx="643890"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40350"/>
            <a:ext cx="643890" cy="1231900"/>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40350"/>
            <a:ext cx="643890" cy="1231900"/>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40350"/>
            <a:ext cx="643890" cy="1231900"/>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40350"/>
            <a:ext cx="643890" cy="1231900"/>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40350"/>
            <a:ext cx="643890" cy="1231900"/>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40350"/>
            <a:ext cx="643890" cy="1231900"/>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40350"/>
            <a:ext cx="643890" cy="1231900"/>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40350"/>
            <a:ext cx="643890" cy="1231900"/>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40350"/>
            <a:ext cx="643890" cy="1231900"/>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40350"/>
            <a:ext cx="643890" cy="1231900"/>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40350"/>
            <a:ext cx="643890" cy="1231900"/>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40350"/>
            <a:ext cx="643890" cy="1231900"/>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2914650"/>
            <a:ext cx="104775" cy="98108"/>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005138"/>
            <a:ext cx="104775" cy="98108"/>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095625"/>
            <a:ext cx="104775" cy="98108"/>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186112"/>
            <a:ext cx="104775" cy="98108"/>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276600"/>
            <a:ext cx="104775" cy="98108"/>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367088"/>
            <a:ext cx="104775" cy="98108"/>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457575"/>
            <a:ext cx="104775" cy="98108"/>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548062"/>
            <a:ext cx="104775" cy="98108"/>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638550"/>
            <a:ext cx="104775" cy="98108"/>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729038"/>
            <a:ext cx="104775" cy="98108"/>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819525"/>
            <a:ext cx="104775" cy="98108"/>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10012"/>
            <a:ext cx="104775" cy="98108"/>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00500"/>
            <a:ext cx="104775" cy="98108"/>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090988"/>
            <a:ext cx="104775" cy="98108"/>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181475"/>
            <a:ext cx="104775" cy="98108"/>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271962"/>
            <a:ext cx="104775" cy="98108"/>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362450"/>
            <a:ext cx="104775" cy="98108"/>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452938"/>
            <a:ext cx="104775" cy="98108"/>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543425"/>
            <a:ext cx="104775" cy="98108"/>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33912"/>
            <a:ext cx="104775" cy="98108"/>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24400"/>
            <a:ext cx="104775" cy="98108"/>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14888"/>
            <a:ext cx="104775" cy="98108"/>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05375"/>
            <a:ext cx="104775" cy="98108"/>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4995862"/>
            <a:ext cx="104775" cy="98108"/>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086350"/>
            <a:ext cx="104775" cy="98108"/>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176838"/>
            <a:ext cx="104775" cy="98108"/>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267325"/>
            <a:ext cx="104775" cy="98108"/>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57812"/>
            <a:ext cx="104775" cy="98108"/>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48300"/>
            <a:ext cx="104775" cy="98108"/>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38788"/>
            <a:ext cx="104775" cy="98108"/>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29275"/>
            <a:ext cx="104775" cy="98108"/>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19762"/>
            <a:ext cx="104775" cy="98108"/>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10250"/>
            <a:ext cx="104775" cy="98108"/>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00738"/>
            <a:ext cx="104775" cy="98108"/>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5991225"/>
            <a:ext cx="104775" cy="98108"/>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81712"/>
            <a:ext cx="104775" cy="98108"/>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72200"/>
            <a:ext cx="104775" cy="98108"/>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62688"/>
            <a:ext cx="104775" cy="98108"/>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3175"/>
            <a:ext cx="104775" cy="98108"/>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3662"/>
            <a:ext cx="104775" cy="98108"/>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2914650"/>
            <a:ext cx="104775" cy="36195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84797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22" name="TextBox 121"/>
          <p:cNvSpPr txBox="1"/>
          <p:nvPr/>
        </p:nvSpPr>
        <p:spPr>
          <a:xfrm>
            <a:off x="11687175" y="46577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Patient Age Group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Patient Age Group,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Patient Age Group segment categorizes the market by patient age group.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Geriatric Patients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253.5</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360.8</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3.6%</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Adults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117.8</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163.1</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3.3%</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removable partial dentures by patient age group, geriatric patients segment is expected to witness the highest CAGR of 3.6% over the forecast period. In terms of value share by patient age group, the geriatric patients segment is expected to dominate the market, gaining 60 BPS and accounting for 68.9%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Geriatric patients segment is projected to register 2.2X higher value than adults segment in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Geriatric Patients: </a:t>
            </a:r>
            <a:r>
              <a:rPr sz="1100" b="0">
                <a:solidFill>
                  <a:srgbClr val="2E2E2E"/>
                </a:solidFill>
                <a:latin typeface="Calibri"/>
              </a:rPr>
              <a:t>68% of 2026 value · 3.6%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Adults: </a:t>
            </a:r>
            <a:r>
              <a:rPr sz="1100" b="0">
                <a:solidFill>
                  <a:srgbClr val="2E2E2E"/>
                </a:solidFill>
                <a:latin typeface="Calibri"/>
              </a:rPr>
              <a:t>32% of 2026 value · 3.3% CAGR serves a niche.</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Patient Age Group split shows how demand is distributed across patient age group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Patient Age Group segment is projected to grow at a CAGR of 3.5%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Patient Age Group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Patient Age Group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Patient Age Group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Geriatric patients followed by adults are expected to be the two most attractive patient age group segments in the North America removable partial dentures market in terms of value over the forecast period. Geriatric patients and adults exhibit a CAGR index of 102.6 and 94.3 and a market share index of 136.5 and 63.5 respectively, against the segment average of 100.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Patient Age Group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Adults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Geriatric Patients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Patient Age Group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66850"/>
          </a:xfrm>
          <a:prstGeom prst="roundRect">
            <a:avLst>
              <a:gd name="adj" fmla="val 51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Patient Age Group (Units)</a:t>
            </a:r>
          </a:p>
        </p:txBody>
      </p:sp>
      <p:graphicFrame>
        <p:nvGraphicFramePr>
          <p:cNvPr id="13" name="Table 12"/>
          <p:cNvGraphicFramePr>
            <a:graphicFrameLocks noGrp="1"/>
          </p:cNvGraphicFramePr>
          <p:nvPr/>
        </p:nvGraphicFramePr>
        <p:xfrm>
          <a:off x="152400" y="1238250"/>
          <a:ext cx="11887200" cy="1000125"/>
        </p:xfrm>
        <a:graphic>
          <a:graphicData uri="http://schemas.openxmlformats.org/drawingml/2006/table">
            <a:tbl>
              <a:tblPr>
                <a:tableStyleId>{5C22544A-7EE6-4342-B048-85BDC9FD1C3A}</a:tableStyleId>
              </a:tblPr>
              <a:tblGrid>
                <a:gridCol w="1121278"/>
                <a:gridCol w="645795"/>
                <a:gridCol w="645795"/>
                <a:gridCol w="645795"/>
                <a:gridCol w="645795"/>
                <a:gridCol w="645795"/>
                <a:gridCol w="645795"/>
                <a:gridCol w="645795"/>
                <a:gridCol w="645795"/>
                <a:gridCol w="645795"/>
                <a:gridCol w="645795"/>
                <a:gridCol w="645795"/>
                <a:gridCol w="645795"/>
                <a:gridCol w="645795"/>
                <a:gridCol w="645795"/>
                <a:gridCol w="645795"/>
                <a:gridCol w="645795"/>
                <a:gridCol w="433202"/>
              </a:tblGrid>
              <a:tr h="349377">
                <a:tc>
                  <a:txBody>
                    <a:bodyPr wrap="square"/>
                    <a:lstStyle/>
                    <a:p>
                      <a:pPr algn="l">
                        <a:lnSpc>
                          <a:spcPct val="90000"/>
                        </a:lnSpc>
                      </a:pPr>
                      <a:r>
                        <a:rPr sz="1100" b="1">
                          <a:solidFill>
                            <a:srgbClr val="0B2E4A"/>
                          </a:solidFill>
                          <a:latin typeface="Calibri"/>
                        </a:rPr>
                        <a:t>Patient Age Group</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9050" marT="19050" marB="19050" anchor="ctr">
                    <a:solidFill>
                      <a:srgbClr val="E0E8EF"/>
                    </a:solidFill>
                  </a:tcPr>
                </a:tc>
              </a:tr>
              <a:tr h="216916">
                <a:tc>
                  <a:txBody>
                    <a:bodyPr wrap="none"/>
                    <a:lstStyle/>
                    <a:p>
                      <a:pPr algn="l"/>
                      <a:r>
                        <a:rPr sz="1100" b="1">
                          <a:solidFill>
                            <a:srgbClr val="2E2E2E"/>
                          </a:solidFill>
                          <a:latin typeface="Calibri"/>
                        </a:rPr>
                        <a:t>Adults</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408,459</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416,359</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425,174</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434,948</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445,740</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457,596</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469,737</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482,124</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494,757</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507,636</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520,758</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534,126</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547,731</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561,577</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575,656</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589,963</a:t>
                      </a:r>
                      <a:endParaRPr sz="1100"/>
                    </a:p>
                  </a:txBody>
                  <a:tcPr marL="19050" marR="19050" marT="19050" marB="19050" anchor="ctr">
                    <a:solidFill>
                      <a:srgbClr val="FFFFFF"/>
                    </a:solidFill>
                  </a:tcPr>
                </a:tc>
                <a:tc>
                  <a:txBody>
                    <a:bodyPr wrap="none"/>
                    <a:lstStyle/>
                    <a:p>
                      <a:pPr algn="l"/>
                      <a:r>
                        <a:rPr sz="1100" b="0">
                          <a:solidFill>
                            <a:srgbClr val="2E2E2E"/>
                          </a:solidFill>
                          <a:latin typeface="Calibri"/>
                        </a:rPr>
                        <a:t>2.6%</a:t>
                      </a:r>
                      <a:endParaRPr sz="1100"/>
                    </a:p>
                  </a:txBody>
                  <a:tcPr marL="19050" marR="19050" marT="19050" marB="19050" anchor="ctr">
                    <a:solidFill>
                      <a:srgbClr val="FFFFFF"/>
                    </a:solidFill>
                  </a:tcPr>
                </a:tc>
              </a:tr>
              <a:tr h="216916">
                <a:tc>
                  <a:txBody>
                    <a:bodyPr wrap="none"/>
                    <a:lstStyle/>
                    <a:p>
                      <a:pPr algn="l"/>
                      <a:r>
                        <a:rPr sz="1100" b="1">
                          <a:solidFill>
                            <a:srgbClr val="2E2E2E"/>
                          </a:solidFill>
                          <a:latin typeface="Calibri"/>
                        </a:rPr>
                        <a:t>Geriatric Patients</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693,060</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707,733</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724,072</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742,167</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762,140</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784,088</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806,699</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829,918</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853,765</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878,255</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903,405</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929,240</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955,771</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983,028</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1,011,031</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1,039,800</a:t>
                      </a:r>
                      <a:endParaRPr sz="1100"/>
                    </a:p>
                  </a:txBody>
                  <a:tcPr marL="19050" marR="19050" marT="19050" marB="19050" anchor="ctr">
                    <a:solidFill>
                      <a:srgbClr val="F5F8FA"/>
                    </a:solidFill>
                  </a:tcPr>
                </a:tc>
                <a:tc>
                  <a:txBody>
                    <a:bodyPr wrap="none"/>
                    <a:lstStyle/>
                    <a:p>
                      <a:pPr algn="l"/>
                      <a:r>
                        <a:rPr sz="1100" b="0">
                          <a:solidFill>
                            <a:srgbClr val="2E2E2E"/>
                          </a:solidFill>
                          <a:latin typeface="Calibri"/>
                        </a:rPr>
                        <a:t>2.9%</a:t>
                      </a:r>
                      <a:endParaRPr sz="1100"/>
                    </a:p>
                  </a:txBody>
                  <a:tcPr marL="19050" marR="19050" marT="19050" marB="19050" anchor="ctr">
                    <a:solidFill>
                      <a:srgbClr val="F5F8FA"/>
                    </a:solidFill>
                  </a:tcPr>
                </a:tc>
              </a:tr>
              <a:tr h="216916">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1,101,518</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1,124,091</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1,149,246</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1,177,115</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1,207,880</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1,241,684</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1,276,436</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1,312,042</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1,348,522</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1,385,891</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1,424,163</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1,463,367</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1,503,502</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1,544,604</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1,586,687</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1,629,763</a:t>
                      </a:r>
                      <a:endParaRPr sz="1100"/>
                    </a:p>
                  </a:txBody>
                  <a:tcPr marL="19050" marR="19050" marT="19050" marB="19050" anchor="ctr">
                    <a:solidFill>
                      <a:srgbClr val="E0E8EF"/>
                    </a:solidFill>
                  </a:tcPr>
                </a:tc>
                <a:tc>
                  <a:txBody>
                    <a:bodyPr wrap="none"/>
                    <a:lstStyle/>
                    <a:p>
                      <a:pPr algn="l"/>
                      <a:r>
                        <a:rPr sz="1100" b="1">
                          <a:solidFill>
                            <a:srgbClr val="2E2E2E"/>
                          </a:solidFill>
                          <a:latin typeface="Calibri"/>
                        </a:rPr>
                        <a:t>2.8%</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247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81275"/>
            <a:ext cx="11906250" cy="4048125"/>
          </a:xfrm>
          <a:prstGeom prst="roundRect">
            <a:avLst>
              <a:gd name="adj" fmla="val 18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670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Patient Age Group</a:t>
            </a:r>
          </a:p>
        </p:txBody>
      </p:sp>
      <p:sp>
        <p:nvSpPr>
          <p:cNvPr id="17" name="Rectangle 16"/>
          <p:cNvSpPr/>
          <p:nvPr/>
        </p:nvSpPr>
        <p:spPr>
          <a:xfrm>
            <a:off x="276225" y="2905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90850"/>
            <a:ext cx="11639550" cy="35623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Geriatric patients segment is projected to register 1.8X higher volume than adults segment in 2036. Among removable partial dentures by patient age group, geriatric patients segment is expected to witness the highest CAGR of 2.9% over the forecast period.</a:t>
            </a:r>
          </a:p>
          <a:p>
            <a:pPr algn="l">
              <a:lnSpc>
                <a:spcPct val="110000"/>
              </a:lnSpc>
              <a:spcBef>
                <a:spcPts val="0"/>
              </a:spcBef>
              <a:spcAft>
                <a:spcPts val="500"/>
              </a:spcAft>
            </a:pPr>
            <a:r>
              <a:rPr sz="1150" b="0">
                <a:solidFill>
                  <a:srgbClr val="2E2E2E"/>
                </a:solidFill>
                <a:latin typeface="Calibri"/>
              </a:rPr>
              <a:t>In terms of volume share by patient age group, the geriatric patients segment is expected to dominate the market, gaining 65 BPS and accounting for 63.8% share by 2036. The adults segment is expected to lose 65 BPS over the forecast period to account for 36.2%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Patient Age Group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Patient Age Group (US$ Mn)</a:t>
            </a:r>
          </a:p>
        </p:txBody>
      </p:sp>
      <p:graphicFrame>
        <p:nvGraphicFramePr>
          <p:cNvPr id="13" name="Table 12"/>
          <p:cNvGraphicFramePr>
            <a:graphicFrameLocks noGrp="1"/>
          </p:cNvGraphicFramePr>
          <p:nvPr/>
        </p:nvGraphicFramePr>
        <p:xfrm>
          <a:off x="152400" y="1238250"/>
          <a:ext cx="11887195" cy="866775"/>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4181475"/>
          </a:xfrm>
          <a:prstGeom prst="roundRect">
            <a:avLst>
              <a:gd name="adj" fmla="val 18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5336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Patient Age Group</a:t>
            </a:r>
          </a:p>
        </p:txBody>
      </p:sp>
      <p:sp>
        <p:nvSpPr>
          <p:cNvPr id="17" name="Rectangle 16"/>
          <p:cNvSpPr/>
          <p:nvPr/>
        </p:nvSpPr>
        <p:spPr>
          <a:xfrm>
            <a:off x="276225" y="2771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857500"/>
            <a:ext cx="11639550" cy="36957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Geriatric patients segment is projected to register 2.2X higher value than adults segment in 2036. Among removable partial dentures by patient age group, geriatric patients segment is expected to witness the highest CAGR of 3.6% over the forecast period.</a:t>
            </a:r>
          </a:p>
          <a:p>
            <a:pPr algn="l">
              <a:lnSpc>
                <a:spcPct val="110000"/>
              </a:lnSpc>
              <a:spcBef>
                <a:spcPts val="0"/>
              </a:spcBef>
              <a:spcAft>
                <a:spcPts val="500"/>
              </a:spcAft>
            </a:pPr>
            <a:r>
              <a:rPr sz="1150" b="0">
                <a:solidFill>
                  <a:srgbClr val="2E2E2E"/>
                </a:solidFill>
                <a:latin typeface="Calibri"/>
              </a:rPr>
              <a:t>In terms of value share by patient age group, the geriatric patients segment is expected to dominate the market, gaining 60 BPS and accounting for 68.9% share by 2036. The adults segment is expected to lose 60 BPS over the forecast period to account for 31.1% share by 2036.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Patient Age Group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Patient Age Group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3829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3782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020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Adults</a:t>
            </a:r>
          </a:p>
        </p:txBody>
      </p:sp>
      <p:sp>
        <p:nvSpPr>
          <p:cNvPr id="19" name="BPS Value 1"/>
          <p:cNvSpPr txBox="1"/>
          <p:nvPr/>
        </p:nvSpPr>
        <p:spPr>
          <a:xfrm>
            <a:off x="6896100" y="2363943"/>
            <a:ext cx="514350" cy="123825"/>
          </a:xfrm>
          <a:prstGeom prst="rect">
            <a:avLst/>
          </a:prstGeom>
          <a:noFill/>
        </p:spPr>
        <p:txBody>
          <a:bodyPr wrap="none" lIns="0" rIns="0" tIns="0" bIns="0" anchor="ctr">
            <a:spAutoFit/>
          </a:bodyPr>
          <a:lstStyle/>
          <a:p>
            <a:pPr algn="r"/>
            <a:r>
              <a:rPr sz="900" b="1">
                <a:solidFill>
                  <a:srgbClr val="E44D3A"/>
                </a:solidFill>
                <a:latin typeface="Calibri"/>
              </a:rPr>
              <a:t>-60</a:t>
            </a:r>
          </a:p>
        </p:txBody>
      </p:sp>
      <p:sp>
        <p:nvSpPr>
          <p:cNvPr id="20" name="FMI Legend Chip"/>
          <p:cNvSpPr/>
          <p:nvPr/>
        </p:nvSpPr>
        <p:spPr>
          <a:xfrm>
            <a:off x="4928997" y="466918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66442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58822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Geriatric Patients</a:t>
            </a:r>
          </a:p>
        </p:txBody>
      </p:sp>
      <p:sp>
        <p:nvSpPr>
          <p:cNvPr id="23" name="BPS Value 2"/>
          <p:cNvSpPr txBox="1"/>
          <p:nvPr/>
        </p:nvSpPr>
        <p:spPr>
          <a:xfrm>
            <a:off x="6896100" y="4650133"/>
            <a:ext cx="514350" cy="123825"/>
          </a:xfrm>
          <a:prstGeom prst="rect">
            <a:avLst/>
          </a:prstGeom>
          <a:noFill/>
        </p:spPr>
        <p:txBody>
          <a:bodyPr wrap="none" lIns="0" rIns="0" tIns="0" bIns="0" anchor="ctr">
            <a:spAutoFit/>
          </a:bodyPr>
          <a:lstStyle/>
          <a:p>
            <a:pPr algn="r"/>
            <a:r>
              <a:rPr sz="900" b="1">
                <a:solidFill>
                  <a:srgbClr val="2E7D32"/>
                </a:solidFill>
                <a:latin typeface="Calibri"/>
              </a:rPr>
              <a:t>+60</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Patient Age Group</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removable partial dentures by patient age group, geriatric patients segment is expected to witness the highest CAGR of 3.6% over the forecast period. In terms of value share by patient age group, the geriatric patients segment is expected to dominate the market, gaining 60 BPS and accounting for 68.9% share by 2036.</a:t>
            </a:r>
          </a:p>
          <a:p>
            <a:pPr algn="l">
              <a:lnSpc>
                <a:spcPct val="110000"/>
              </a:lnSpc>
              <a:spcBef>
                <a:spcPts val="0"/>
              </a:spcBef>
              <a:spcAft>
                <a:spcPts val="500"/>
              </a:spcAft>
            </a:pPr>
            <a:r>
              <a:rPr sz="1150" b="0">
                <a:solidFill>
                  <a:srgbClr val="2E2E2E"/>
                </a:solidFill>
                <a:latin typeface="Calibri"/>
              </a:rPr>
              <a:t>The adults segment is expected to lose 60 BPS over the forecast period to account for 31.1% share by 2036.</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114425"/>
          </a:xfrm>
          <a:prstGeom prst="roundRect">
            <a:avLst>
              <a:gd name="adj" fmla="val 68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647701"/>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21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r>
              <a:tr h="21621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895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228850"/>
            <a:ext cx="11906250" cy="4400550"/>
          </a:xfrm>
          <a:prstGeom prst="roundRect">
            <a:avLst>
              <a:gd name="adj" fmla="val 17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2860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Patient Age Group (%)  ·  light = lower, dark = higher growth</a:t>
            </a:r>
          </a:p>
        </p:txBody>
      </p:sp>
      <p:sp>
        <p:nvSpPr>
          <p:cNvPr id="17" name="TextBox 16"/>
          <p:cNvSpPr txBox="1"/>
          <p:nvPr/>
        </p:nvSpPr>
        <p:spPr>
          <a:xfrm>
            <a:off x="185737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657475"/>
            <a:ext cx="1590675" cy="1957388"/>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657475"/>
            <a:ext cx="643890" cy="195738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657475"/>
            <a:ext cx="643890" cy="195738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657475"/>
            <a:ext cx="643890" cy="195738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657475"/>
            <a:ext cx="643890" cy="195738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657475"/>
            <a:ext cx="643890" cy="195738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657475"/>
            <a:ext cx="643890" cy="195738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657475"/>
            <a:ext cx="643890" cy="195738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657475"/>
            <a:ext cx="643890" cy="195738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657475"/>
            <a:ext cx="643890" cy="195738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657475"/>
            <a:ext cx="643890" cy="195738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657475"/>
            <a:ext cx="643890" cy="195738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657475"/>
            <a:ext cx="643890" cy="195738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657475"/>
            <a:ext cx="643890" cy="195738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657475"/>
            <a:ext cx="643890" cy="1957388"/>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657475"/>
            <a:ext cx="643890" cy="1957388"/>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14862"/>
            <a:ext cx="1590675" cy="1957388"/>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14862"/>
            <a:ext cx="643890" cy="195738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14862"/>
            <a:ext cx="643890" cy="1957388"/>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14862"/>
            <a:ext cx="643890" cy="1957388"/>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14862"/>
            <a:ext cx="643890" cy="195738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14862"/>
            <a:ext cx="643890" cy="1957388"/>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14862"/>
            <a:ext cx="643890" cy="195738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14862"/>
            <a:ext cx="643890" cy="1957388"/>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14862"/>
            <a:ext cx="643890" cy="1957388"/>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14862"/>
            <a:ext cx="643890" cy="1957388"/>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14862"/>
            <a:ext cx="643890" cy="1957388"/>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14862"/>
            <a:ext cx="643890" cy="1957388"/>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14862"/>
            <a:ext cx="643890" cy="1957388"/>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14862"/>
            <a:ext cx="643890" cy="1957388"/>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14862"/>
            <a:ext cx="643890" cy="1957388"/>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14862"/>
            <a:ext cx="643890" cy="1957388"/>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695575"/>
            <a:ext cx="104775" cy="10358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791539"/>
            <a:ext cx="104775" cy="10358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887504"/>
            <a:ext cx="104775" cy="10358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2983468"/>
            <a:ext cx="104775" cy="10358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079432"/>
            <a:ext cx="104775" cy="10358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175397"/>
            <a:ext cx="104775" cy="10358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271361"/>
            <a:ext cx="104775" cy="10358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367326"/>
            <a:ext cx="104775" cy="10358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463290"/>
            <a:ext cx="104775" cy="10358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559254"/>
            <a:ext cx="104775" cy="10358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655219"/>
            <a:ext cx="104775" cy="10358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751183"/>
            <a:ext cx="104775" cy="10358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847148"/>
            <a:ext cx="104775" cy="10358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3943112"/>
            <a:ext cx="104775" cy="10358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039076"/>
            <a:ext cx="104775" cy="10358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35041"/>
            <a:ext cx="104775" cy="10358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31005"/>
            <a:ext cx="104775" cy="10358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26969"/>
            <a:ext cx="104775" cy="10358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22934"/>
            <a:ext cx="104775" cy="10358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18898"/>
            <a:ext cx="104775" cy="10358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14862"/>
            <a:ext cx="104775" cy="10358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10827"/>
            <a:ext cx="104775" cy="10358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06791"/>
            <a:ext cx="104775" cy="10358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02756"/>
            <a:ext cx="104775" cy="10358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4998720"/>
            <a:ext cx="104775" cy="10358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094684"/>
            <a:ext cx="104775" cy="10358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190649"/>
            <a:ext cx="104775" cy="10358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286613"/>
            <a:ext cx="104775" cy="10358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382577"/>
            <a:ext cx="104775" cy="10358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478542"/>
            <a:ext cx="104775" cy="10358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74506"/>
            <a:ext cx="104775" cy="10358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70471"/>
            <a:ext cx="104775" cy="10358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66435"/>
            <a:ext cx="104775" cy="10358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62399"/>
            <a:ext cx="104775" cy="10358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58364"/>
            <a:ext cx="104775" cy="10358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54328"/>
            <a:ext cx="104775" cy="10358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0292"/>
            <a:ext cx="104775" cy="10358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46257"/>
            <a:ext cx="104775" cy="10358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2221"/>
            <a:ext cx="104775" cy="10358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38186"/>
            <a:ext cx="104775" cy="10358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695575"/>
            <a:ext cx="104775" cy="38385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6289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6" name="TextBox 105"/>
          <p:cNvSpPr txBox="1"/>
          <p:nvPr/>
        </p:nvSpPr>
        <p:spPr>
          <a:xfrm>
            <a:off x="11687175" y="4548188"/>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114425"/>
          </a:xfrm>
          <a:prstGeom prst="roundRect">
            <a:avLst>
              <a:gd name="adj" fmla="val 68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647701"/>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21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r>
              <a:tr h="21621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895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228850"/>
            <a:ext cx="11906250" cy="4400550"/>
          </a:xfrm>
          <a:prstGeom prst="roundRect">
            <a:avLst>
              <a:gd name="adj" fmla="val 17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2860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Patient Age Group (%)  ·  light = lower, dark = higher growth</a:t>
            </a:r>
          </a:p>
        </p:txBody>
      </p:sp>
      <p:sp>
        <p:nvSpPr>
          <p:cNvPr id="17" name="TextBox 16"/>
          <p:cNvSpPr txBox="1"/>
          <p:nvPr/>
        </p:nvSpPr>
        <p:spPr>
          <a:xfrm>
            <a:off x="185737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5146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657475"/>
            <a:ext cx="1590675" cy="1957388"/>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657475"/>
            <a:ext cx="643890" cy="195738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657475"/>
            <a:ext cx="643890" cy="195738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657475"/>
            <a:ext cx="643890" cy="195738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657475"/>
            <a:ext cx="643890" cy="1957388"/>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657475"/>
            <a:ext cx="643890" cy="195738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657475"/>
            <a:ext cx="643890" cy="195738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657475"/>
            <a:ext cx="643890" cy="195738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657475"/>
            <a:ext cx="643890" cy="195738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657475"/>
            <a:ext cx="643890" cy="195738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657475"/>
            <a:ext cx="643890" cy="195738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657475"/>
            <a:ext cx="643890" cy="195738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657475"/>
            <a:ext cx="643890" cy="195738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657475"/>
            <a:ext cx="643890" cy="1957388"/>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657475"/>
            <a:ext cx="643890" cy="195738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657475"/>
            <a:ext cx="643890" cy="1957388"/>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14862"/>
            <a:ext cx="1590675" cy="1957388"/>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14862"/>
            <a:ext cx="643890" cy="195738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14862"/>
            <a:ext cx="643890" cy="1957388"/>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14862"/>
            <a:ext cx="643890" cy="1957388"/>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14862"/>
            <a:ext cx="643890" cy="195738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14862"/>
            <a:ext cx="643890" cy="1957388"/>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14862"/>
            <a:ext cx="643890" cy="195738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14862"/>
            <a:ext cx="643890" cy="1957388"/>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14862"/>
            <a:ext cx="643890" cy="1957388"/>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14862"/>
            <a:ext cx="643890" cy="1957388"/>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14862"/>
            <a:ext cx="643890" cy="1957388"/>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14862"/>
            <a:ext cx="643890" cy="1957388"/>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14862"/>
            <a:ext cx="643890" cy="1957388"/>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14862"/>
            <a:ext cx="643890" cy="1957388"/>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14862"/>
            <a:ext cx="643890" cy="1957388"/>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14862"/>
            <a:ext cx="643890" cy="1957388"/>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695575"/>
            <a:ext cx="104775" cy="10358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791539"/>
            <a:ext cx="104775" cy="10358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887504"/>
            <a:ext cx="104775" cy="10358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2983468"/>
            <a:ext cx="104775" cy="10358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079432"/>
            <a:ext cx="104775" cy="10358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175397"/>
            <a:ext cx="104775" cy="10358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271361"/>
            <a:ext cx="104775" cy="10358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367326"/>
            <a:ext cx="104775" cy="10358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463290"/>
            <a:ext cx="104775" cy="10358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559254"/>
            <a:ext cx="104775" cy="10358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655219"/>
            <a:ext cx="104775" cy="10358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751183"/>
            <a:ext cx="104775" cy="10358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847148"/>
            <a:ext cx="104775" cy="10358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3943112"/>
            <a:ext cx="104775" cy="10358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039076"/>
            <a:ext cx="104775" cy="10358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35041"/>
            <a:ext cx="104775" cy="10358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31005"/>
            <a:ext cx="104775" cy="10358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26969"/>
            <a:ext cx="104775" cy="10358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22934"/>
            <a:ext cx="104775" cy="10358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18898"/>
            <a:ext cx="104775" cy="10358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14862"/>
            <a:ext cx="104775" cy="10358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10827"/>
            <a:ext cx="104775" cy="10358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06791"/>
            <a:ext cx="104775" cy="10358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02756"/>
            <a:ext cx="104775" cy="10358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4998720"/>
            <a:ext cx="104775" cy="10358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094684"/>
            <a:ext cx="104775" cy="10358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190649"/>
            <a:ext cx="104775" cy="10358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286613"/>
            <a:ext cx="104775" cy="10358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382577"/>
            <a:ext cx="104775" cy="10358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478542"/>
            <a:ext cx="104775" cy="10358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74506"/>
            <a:ext cx="104775" cy="10358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70471"/>
            <a:ext cx="104775" cy="10358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66435"/>
            <a:ext cx="104775" cy="10358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62399"/>
            <a:ext cx="104775" cy="10358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58364"/>
            <a:ext cx="104775" cy="10358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54328"/>
            <a:ext cx="104775" cy="10358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0292"/>
            <a:ext cx="104775" cy="10358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46257"/>
            <a:ext cx="104775" cy="10358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2221"/>
            <a:ext cx="104775" cy="10358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38186"/>
            <a:ext cx="104775" cy="10358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695575"/>
            <a:ext cx="104775" cy="38385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6289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48188"/>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Product Type × Material Type, 2026E and 2036F (US$ Mn)</a:t>
            </a:r>
          </a:p>
        </p:txBody>
      </p:sp>
      <p:graphicFrame>
        <p:nvGraphicFramePr>
          <p:cNvPr id="13" name="Table 12"/>
          <p:cNvGraphicFramePr>
            <a:graphicFrameLocks noGrp="1"/>
          </p:cNvGraphicFramePr>
          <p:nvPr/>
        </p:nvGraphicFramePr>
        <p:xfrm>
          <a:off x="152400" y="1238250"/>
          <a:ext cx="11887198" cy="1647825"/>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34937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square"/>
                    <a:lstStyle/>
                    <a:p>
                      <a:pPr algn="ctr">
                        <a:lnSpc>
                          <a:spcPct val="90000"/>
                        </a:lnSpc>
                      </a:pP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408">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1190625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147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552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38550"/>
            <a:ext cx="1163955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Acrylic partial dentures segment is projected to account for the largest share of the North America removable partial dentures market, led by high-performance polymers at US$ 41.7 Mn in 2036. 'Acrylic Partial Dentures × High-performance Polymers' is the single largest cross-sectional cell (30.3 US$ Mn, 2026E), while 'Acrylic Partial Dentures × Flexible Thermoplastics' records the fastest growth at a CAGR of 5.6% over 2026E–2036F.</a:t>
            </a:r>
          </a:p>
          <a:p>
            <a:pPr algn="l">
              <a:lnSpc>
                <a:spcPct val="110000"/>
              </a:lnSpc>
              <a:spcBef>
                <a:spcPts val="0"/>
              </a:spcBef>
              <a:spcAft>
                <a:spcPts val="500"/>
              </a:spcAft>
            </a:pPr>
            <a:r>
              <a:rPr sz="1150" b="0">
                <a:solidFill>
                  <a:srgbClr val="2E2E2E"/>
                </a:solidFill>
                <a:latin typeface="Calibri"/>
              </a:rPr>
              <a:t>Combined, the top three product type × material type cells generate an absolute $ opportunity of 45.6 US$ Mn by 2036F.</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Product Type × Material Type, 2026E (% of each row)</a:t>
            </a:r>
          </a:p>
        </p:txBody>
      </p:sp>
      <p:graphicFrame>
        <p:nvGraphicFramePr>
          <p:cNvPr id="13" name="Table 12"/>
          <p:cNvGraphicFramePr>
            <a:graphicFrameLocks noGrp="1"/>
          </p:cNvGraphicFramePr>
          <p:nvPr/>
        </p:nvGraphicFramePr>
        <p:xfrm>
          <a:off x="152400" y="1238250"/>
          <a:ext cx="11887201" cy="1647825"/>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350520">
                <a:tc vMerge="1">
                  <a:txBody>
                    <a:bodyPr wrap="none"/>
                    <a:lstStyle/>
                    <a:p>
                      <a:pPr algn="l"/>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7286625"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861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514725"/>
          <a:ext cx="7096125" cy="3057525"/>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28975"/>
            <a:ext cx="445770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3147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528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38550"/>
            <a:ext cx="41910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'PEEK-based Materials' holds the highest share of 'Acrylic Partial Dentures' at 17.3% (2026E).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is the most concentrated product type sub-segment, with 17.3% of its value via 'PEEK-based Materials'.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'Other Thermoplastic Resins' gains +318 BPS of share of the North America cross-section by 2036F.</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647825"/>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34937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square"/>
                    <a:lstStyle/>
                    <a:p>
                      <a:pPr algn="ctr">
                        <a:lnSpc>
                          <a:spcPct val="90000"/>
                        </a:lnSpc>
                      </a:pP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408">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560070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147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5528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38550"/>
            <a:ext cx="53340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1. Acrylic Partial Dentures × Flexible Thermoplastics  –  15.2  ·  5.6%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2. Flexible Partial Dentures × Flexible Thermoplastics  –  15.2  ·  5.6%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3. Combination Framework Partial Dentures × Flexible Thermoplastics  –  15.2  ·  5.6%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4. Cast Metal Partial Dentures × Flexible Thermoplastics  –  15.2  ·  5.6%  ·  4/5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5. Cast Metal Partial Dentures × High-performance Polymers  –  11.4  ·  3.3%  ·  4/5</a:t>
            </a:r>
          </a:p>
        </p:txBody>
      </p:sp>
      <p:sp>
        <p:nvSpPr>
          <p:cNvPr id="19" name="Rounded Rectangle 18"/>
          <p:cNvSpPr/>
          <p:nvPr/>
        </p:nvSpPr>
        <p:spPr>
          <a:xfrm>
            <a:off x="5895975" y="3228975"/>
            <a:ext cx="1943100" cy="34004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147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5528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638550"/>
            <a:ext cx="16764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adds 15.2 US$ Mn by 2036F – 10.0% of the total opportunity.</a:t>
            </a:r>
          </a:p>
        </p:txBody>
      </p:sp>
      <p:sp>
        <p:nvSpPr>
          <p:cNvPr id="23" name="Rounded Rectangle 22"/>
          <p:cNvSpPr/>
          <p:nvPr/>
        </p:nvSpPr>
        <p:spPr>
          <a:xfrm>
            <a:off x="7991475" y="3228975"/>
            <a:ext cx="1943100" cy="34004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147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5528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638550"/>
            <a:ext cx="16764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grows at a 5.6% CAGR, 207 BPS above the cross-section.</a:t>
            </a:r>
          </a:p>
        </p:txBody>
      </p:sp>
      <p:sp>
        <p:nvSpPr>
          <p:cNvPr id="27" name="Rounded Rectangle 26"/>
          <p:cNvSpPr/>
          <p:nvPr/>
        </p:nvSpPr>
        <p:spPr>
          <a:xfrm>
            <a:off x="10086975" y="3228975"/>
            <a:ext cx="1943100" cy="34004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147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5528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638550"/>
            <a:ext cx="16764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Product Type × Technology, 2026E and 2036F (US$ Mn)</a:t>
            </a:r>
          </a:p>
        </p:txBody>
      </p:sp>
      <p:graphicFrame>
        <p:nvGraphicFramePr>
          <p:cNvPr id="13" name="Table 12"/>
          <p:cNvGraphicFramePr>
            <a:graphicFrameLocks noGrp="1"/>
          </p:cNvGraphicFramePr>
          <p:nvPr/>
        </p:nvGraphicFramePr>
        <p:xfrm>
          <a:off x="152400" y="1238250"/>
          <a:ext cx="11887202" cy="1514475"/>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535">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523.9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Acrylic partial dentures segment is projected to account for the largest share of the North America removable partial dentures market, led by conventional fabrication at US$ 71.0 Mn in 2036. 'Cast Metal Partial Dentures × Conventional Fabrication' is the single largest cross-sectional cell (50.0 US$ Mn, 2026E), while 'Acrylic Partial Dentures × Conventional Fabrication' records the fastest growth at a CAGR of 3.6% over 2026E–2036F.</a:t>
            </a:r>
          </a:p>
          <a:p>
            <a:pPr algn="l">
              <a:lnSpc>
                <a:spcPct val="110000"/>
              </a:lnSpc>
              <a:spcBef>
                <a:spcPts val="0"/>
              </a:spcBef>
              <a:spcAft>
                <a:spcPts val="500"/>
              </a:spcAft>
            </a:pPr>
            <a:r>
              <a:rPr sz="1150" b="0">
                <a:solidFill>
                  <a:srgbClr val="2E2E2E"/>
                </a:solidFill>
                <a:latin typeface="Calibri"/>
              </a:rPr>
              <a:t>Combined, the top three product type × technology cells generate an absolute $ opportunity of 63.0 US$ Mn by 2036F.</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Product Type × Technology, 2026E (% of each row)</a:t>
            </a:r>
          </a:p>
        </p:txBody>
      </p:sp>
      <p:graphicFrame>
        <p:nvGraphicFramePr>
          <p:cNvPr id="13" name="Table 12"/>
          <p:cNvGraphicFramePr>
            <a:graphicFrameLocks noGrp="1"/>
          </p:cNvGraphicFramePr>
          <p:nvPr/>
        </p:nvGraphicFramePr>
        <p:xfrm>
          <a:off x="152400" y="1238250"/>
          <a:ext cx="11887200" cy="1647825"/>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350520">
                <a:tc vMerge="1">
                  <a:txBody>
                    <a:bodyPr wrap="none"/>
                    <a:lstStyle/>
                    <a:p>
                      <a:pPr algn="l"/>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7286625"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861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514725"/>
          <a:ext cx="7096125" cy="3057525"/>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28975"/>
            <a:ext cx="445770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3147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528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38550"/>
            <a:ext cx="41910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'Heat-cured / Compression Processing' holds the highest share of 'Cast Metal Partial Dentures' at 22.4% (2026E).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'Cast Metal Partial Dentures' is the most concentrated product type sub-segment, with 22.4% of its value via 'Heat-cured / Compression Processing'.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'Metal Casting' gains +141 BPS of share of the North America cross-section by 2036F.</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514475"/>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535">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560070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41947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53340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1. Acrylic Partial Dentures × Conventional Fabrication  –  21.0  ·  3.6%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2. Flexible Partial Dentures × Conventional Fabrication  –  21.0  ·  3.6%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3. Combination Framework Partial Dentures × Conventional Fabrication  –  21.0  ·  3.6%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4. Cast Metal Partial Dentures × Conventional Fabrication  –  21.0  ·  3.6%  ·  4/5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5. Flexible Partial Dentures × Digital Fabrication  –  17.2  ·  3.4%  ·  2/5</a:t>
            </a:r>
          </a:p>
        </p:txBody>
      </p:sp>
      <p:sp>
        <p:nvSpPr>
          <p:cNvPr id="19" name="Rounded Rectangle 18"/>
          <p:cNvSpPr/>
          <p:nvPr/>
        </p:nvSpPr>
        <p:spPr>
          <a:xfrm>
            <a:off x="5895975" y="3095625"/>
            <a:ext cx="1943100" cy="353377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18135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41947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505200"/>
            <a:ext cx="16764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adds 21.0 US$ Mn by 2036F – 13.8% of the total opportunity.</a:t>
            </a:r>
          </a:p>
        </p:txBody>
      </p:sp>
      <p:sp>
        <p:nvSpPr>
          <p:cNvPr id="23" name="Rounded Rectangle 22"/>
          <p:cNvSpPr/>
          <p:nvPr/>
        </p:nvSpPr>
        <p:spPr>
          <a:xfrm>
            <a:off x="7991475" y="3095625"/>
            <a:ext cx="1943100" cy="353377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18135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41947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505200"/>
            <a:ext cx="16764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grows at a 3.6% CAGR, 7 BPS above the cross-section.</a:t>
            </a:r>
          </a:p>
        </p:txBody>
      </p:sp>
      <p:sp>
        <p:nvSpPr>
          <p:cNvPr id="27" name="Rounded Rectangle 26"/>
          <p:cNvSpPr/>
          <p:nvPr/>
        </p:nvSpPr>
        <p:spPr>
          <a:xfrm>
            <a:off x="10086975" y="3095625"/>
            <a:ext cx="1943100" cy="353377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18135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41947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505200"/>
            <a:ext cx="16764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7045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67525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380105"/>
            <a:ext cx="7124700" cy="25361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Patient Age Group</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Volume Overview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(UNITS)</a:t>
            </a:r>
          </a:p>
          <a:p>
            <a:pPr algn="ctr">
              <a:lnSpc>
                <a:spcPct val="95000"/>
              </a:lnSpc>
            </a:pPr>
            <a:r>
              <a:rPr sz="1500" b="1">
                <a:solidFill>
                  <a:srgbClr val="0E72AE"/>
                </a:solidFill>
                <a:latin typeface="Calibri"/>
              </a:rPr>
              <a:t>877,730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1,159,061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2.1%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2.6%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-20 BPS</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U.S.'s removable partial dentures market expands at 2.6% CAGR through 2036, trailing the North America benchmark of 2.8% by 20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U.S. holds 25.7% of the global and 72.5% of the North America removable partial dentures market in 2026; by 2036 those shares move to 23.2% and 71.1%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258,500 Units between 2026 and 2036 the U.S. market grows to 1.3×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247.7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353.2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2.9%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3.3%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-23 BPS</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U.S.'s removable partial dentures market expands at 3.3% CAGR through 2036, trailing the North America benchmark of 3.5% by 23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U.S. holds 22.7% of the global and 68.9% of the North America removable partial dentures market in 2026; by 2036 those shares move to 20.4% and 67.4% respectively.</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U.S. is expected to account for US$ 353.2 Mn by 2036 at a CAGR of 3.3% over the forecast period. The U.S. is expected to create an incremental opportunity of US$ 105.5 Mn for the overall removable partial dentures market from 2025 to 2036.</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(US$ Mn)</a:t>
            </a:r>
          </a:p>
        </p:txBody>
      </p:sp>
      <p:graphicFrame>
        <p:nvGraphicFramePr>
          <p:cNvPr id="16" name="Chart 15"/>
          <p:cNvGraphicFramePr>
            <a:graphicFrameLocks noGrp="1"/>
          </p:cNvGraphicFramePr>
          <p:nvPr/>
        </p:nvGraphicFramePr>
        <p:xfrm>
          <a:off x="3248025" y="1266825"/>
          <a:ext cx="2667000" cy="135255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(US$ Mn)</a:t>
            </a:r>
          </a:p>
        </p:txBody>
      </p:sp>
      <p:graphicFrame>
        <p:nvGraphicFramePr>
          <p:cNvPr id="28" name="Chart 27"/>
          <p:cNvGraphicFramePr>
            <a:graphicFrameLocks noGrp="1"/>
          </p:cNvGraphicFramePr>
          <p:nvPr/>
        </p:nvGraphicFramePr>
        <p:xfrm>
          <a:off x="3324225" y="3095625"/>
          <a:ext cx="2743200" cy="135255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256.0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'Flexible Partial Dentures' leads at 94.0 US$ Mn (37% share), ahead of 'Combination Framework Partial Dentures' (67.1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Type, 'Acrylic / Resin' leads at 110.0 US$ Mn (43% share), ahead of 'Metal Alloys' (72.5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Technology, 'Digital Fabrication' leads at 165.3 US$ Mn (65% share), ahead of 'Conventional Fabrication' (90.7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End User, 'Dental Laboratories' leads at 106.5 US$ Mn (42% share), ahead of 'Academic &amp; Teaching Dental Institutions' (105.8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Distribution Channel, 'Dental Dealers &amp; Distributors' leads at 178.1 US$ Mn (70% share), ahead of 'Direct Sales' (56.4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Patient Age Group, 'Geriatric Patients' leads at 179.0 US$ Mn (70% share), ahead of 'Adults' (76.9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683585"/>
                <a:gridCol w="798006"/>
                <a:gridCol w="798006"/>
                <a:gridCol w="1007795"/>
                <a:gridCol w="57048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5" cy="2286001"/>
        </p:xfrm>
        <a:graphic>
          <a:graphicData uri="http://schemas.openxmlformats.org/drawingml/2006/table">
            <a:tbl>
              <a:tblPr>
                <a:tableStyleId>{5C22544A-7EE6-4342-B048-85BDC9FD1C3A}</a:tableStyleId>
              </a:tblPr>
              <a:tblGrid>
                <a:gridCol w="2683585"/>
                <a:gridCol w="798006"/>
                <a:gridCol w="798006"/>
                <a:gridCol w="1007795"/>
                <a:gridCol w="57048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Product Type (Units)</a:t>
            </a:r>
          </a:p>
        </p:txBody>
      </p:sp>
      <p:graphicFrame>
        <p:nvGraphicFramePr>
          <p:cNvPr id="13" name="Table 12"/>
          <p:cNvGraphicFramePr>
            <a:graphicFrameLocks noGrp="1"/>
          </p:cNvGraphicFramePr>
          <p:nvPr/>
        </p:nvGraphicFramePr>
        <p:xfrm>
          <a:off x="152400" y="1238250"/>
          <a:ext cx="11887207" cy="1562099"/>
        </p:xfrm>
        <a:graphic>
          <a:graphicData uri="http://schemas.openxmlformats.org/drawingml/2006/table">
            <a:tbl>
              <a:tblPr>
                <a:tableStyleId>{5C22544A-7EE6-4342-B048-85BDC9FD1C3A}</a:tableStyleId>
              </a:tblPr>
              <a:tblGrid>
                <a:gridCol w="2343569"/>
                <a:gridCol w="530662"/>
                <a:gridCol w="530662"/>
                <a:gridCol w="530662"/>
                <a:gridCol w="530662"/>
                <a:gridCol w="530662"/>
                <a:gridCol w="530662"/>
                <a:gridCol w="530662"/>
                <a:gridCol w="530662"/>
                <a:gridCol w="530662"/>
                <a:gridCol w="530662"/>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Product Type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215722">
                <a:tc>
                  <a:txBody>
                    <a:bodyPr wrap="none"/>
                    <a:lstStyle/>
                    <a:p>
                      <a:pPr algn="l"/>
                      <a:r>
                        <a:rPr sz="1100" b="1">
                          <a:solidFill>
                            <a:srgbClr val="2E2E2E"/>
                          </a:solidFill>
                          <a:latin typeface="Calibri"/>
                        </a:rPr>
                        <a:t>Cast Metal Partial Dentures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145,475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150,956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156,905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163,361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170,368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177,968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185,881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194,101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202,636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211,499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220,698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230,248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240,156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250,439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261,106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272,170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4.3%</a:t>
                      </a:r>
                      <a:endParaRPr sz="1100"/>
                    </a:p>
                  </a:txBody>
                  <a:tcPr marL="19050" marR="14288" marT="19050" marB="19050" anchor="ctr">
                    <a:solidFill>
                      <a:srgbClr val="FFFFFF"/>
                    </a:solidFill>
                  </a:tcPr>
                </a:tc>
              </a:tr>
              <a:tr h="215722">
                <a:tc>
                  <a:txBody>
                    <a:bodyPr wrap="none"/>
                    <a:lstStyle/>
                    <a:p>
                      <a:pPr algn="l"/>
                      <a:r>
                        <a:rPr sz="1100" b="1">
                          <a:solidFill>
                            <a:srgbClr val="2E2E2E"/>
                          </a:solidFill>
                          <a:latin typeface="Calibri"/>
                        </a:rPr>
                        <a:t>Acrylic Partial Dentures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147,761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148,972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150,437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152,160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154,151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156,413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158,670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160,905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163,113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165,292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167,436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169,544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171,609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173,629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175,599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177,514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a:t>
                      </a:r>
                      <a:endParaRPr sz="1100"/>
                    </a:p>
                  </a:txBody>
                  <a:tcPr marL="19050" marR="14288" marT="19050" marB="19050" anchor="ctr">
                    <a:solidFill>
                      <a:srgbClr val="F5F8FA"/>
                    </a:solidFill>
                  </a:tcPr>
                </a:tc>
              </a:tr>
              <a:tr h="215722">
                <a:tc>
                  <a:txBody>
                    <a:bodyPr wrap="none"/>
                    <a:lstStyle/>
                    <a:p>
                      <a:pPr algn="l"/>
                      <a:r>
                        <a:rPr sz="1100" b="1">
                          <a:solidFill>
                            <a:srgbClr val="2E2E2E"/>
                          </a:solidFill>
                          <a:latin typeface="Calibri"/>
                        </a:rPr>
                        <a:t>Flexible Partial Dentures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248,124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249,827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251,941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254,469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257,425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260,809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264,162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267,452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270,671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273,813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276,869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279,834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282,696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285,451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288,089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290,599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a:t>
                      </a:r>
                      <a:endParaRPr sz="1100"/>
                    </a:p>
                  </a:txBody>
                  <a:tcPr marL="19050" marR="14288" marT="19050" marB="19050" anchor="ctr">
                    <a:solidFill>
                      <a:srgbClr val="FFFFFF"/>
                    </a:solidFill>
                  </a:tcPr>
                </a:tc>
              </a:tr>
              <a:tr h="349834">
                <a:tc>
                  <a:txBody>
                    <a:bodyPr wrap="square"/>
                    <a:lstStyle/>
                    <a:p>
                      <a:pPr algn="l">
                        <a:lnSpc>
                          <a:spcPct val="90000"/>
                        </a:lnSpc>
                      </a:pPr>
                      <a:r>
                        <a:rPr sz="1100" b="1">
                          <a:solidFill>
                            <a:srgbClr val="2E2E2E"/>
                          </a:solidFill>
                          <a:latin typeface="Calibri"/>
                        </a:rPr>
                        <a:t>Combination Framework Partial Dentures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265,181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271,766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279,032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287,021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295,786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305,372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315,278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325,480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335,988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346,808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357,948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369,420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381,228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393,385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405,899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418,778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3.2%</a:t>
                      </a:r>
                      <a:endParaRPr sz="1100"/>
                    </a:p>
                  </a:txBody>
                  <a:tcPr marL="19050" marR="14288" marT="19050" marB="19050" anchor="ctr">
                    <a:solidFill>
                      <a:srgbClr val="F5F8FA"/>
                    </a:solidFill>
                  </a:tcPr>
                </a:tc>
              </a:tr>
              <a:tr h="215722">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806,542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821,521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838,316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857,012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877,730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900,561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923,992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947,938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972,408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997,411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1,022,951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1,049,045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1,075,689</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1,102,903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1,130,693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1,159,061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2.6%</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809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1432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004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Product Type (US$ Mn)</a:t>
            </a:r>
          </a:p>
        </p:txBody>
      </p:sp>
      <p:graphicFrame>
        <p:nvGraphicFramePr>
          <p:cNvPr id="17" name="Table 16"/>
          <p:cNvGraphicFramePr>
            <a:graphicFrameLocks noGrp="1"/>
          </p:cNvGraphicFramePr>
          <p:nvPr/>
        </p:nvGraphicFramePr>
        <p:xfrm>
          <a:off x="152400" y="3400425"/>
          <a:ext cx="11887203" cy="1295400"/>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705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076325"/>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5" cy="1076325"/>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Material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Type</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1842315"/>
                <a:gridCol w="1003890"/>
                <a:gridCol w="1003890"/>
                <a:gridCol w="1003890"/>
                <a:gridCol w="1003890"/>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Type</a:t>
            </a:r>
          </a:p>
        </p:txBody>
      </p:sp>
      <p:graphicFrame>
        <p:nvGraphicFramePr>
          <p:cNvPr id="23" name="Table 22"/>
          <p:cNvGraphicFramePr>
            <a:graphicFrameLocks noGrp="1"/>
          </p:cNvGraphicFramePr>
          <p:nvPr/>
        </p:nvGraphicFramePr>
        <p:xfrm>
          <a:off x="6181725" y="4124325"/>
          <a:ext cx="5857875" cy="2286001"/>
        </p:xfrm>
        <a:graphic>
          <a:graphicData uri="http://schemas.openxmlformats.org/drawingml/2006/table">
            <a:tbl>
              <a:tblPr>
                <a:tableStyleId>{5C22544A-7EE6-4342-B048-85BDC9FD1C3A}</a:tableStyleId>
              </a:tblPr>
              <a:tblGrid>
                <a:gridCol w="1842315"/>
                <a:gridCol w="1003890"/>
                <a:gridCol w="1003890"/>
                <a:gridCol w="1003890"/>
                <a:gridCol w="1003890"/>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Material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Material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Material Type (Units)</a:t>
            </a:r>
          </a:p>
        </p:txBody>
      </p:sp>
      <p:graphicFrame>
        <p:nvGraphicFramePr>
          <p:cNvPr id="13" name="Table 12"/>
          <p:cNvGraphicFramePr>
            <a:graphicFrameLocks noGrp="1"/>
          </p:cNvGraphicFramePr>
          <p:nvPr/>
        </p:nvGraphicFramePr>
        <p:xfrm>
          <a:off x="152400" y="1238250"/>
          <a:ext cx="11887207" cy="3286120"/>
        </p:xfrm>
        <a:graphic>
          <a:graphicData uri="http://schemas.openxmlformats.org/drawingml/2006/table">
            <a:tbl>
              <a:tblPr>
                <a:tableStyleId>{5C22544A-7EE6-4342-B048-85BDC9FD1C3A}</a:tableStyleId>
              </a:tblPr>
              <a:tblGrid>
                <a:gridCol w="2343569"/>
                <a:gridCol w="530662"/>
                <a:gridCol w="530662"/>
                <a:gridCol w="530662"/>
                <a:gridCol w="530662"/>
                <a:gridCol w="530662"/>
                <a:gridCol w="530662"/>
                <a:gridCol w="530662"/>
                <a:gridCol w="530662"/>
                <a:gridCol w="530662"/>
                <a:gridCol w="530662"/>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215587">
                <a:tc>
                  <a:txBody>
                    <a:bodyPr wrap="none"/>
                    <a:lstStyle/>
                    <a:p>
                      <a:pPr algn="l"/>
                      <a:r>
                        <a:rPr sz="1100" b="1">
                          <a:solidFill>
                            <a:srgbClr val="2E2E2E"/>
                          </a:solidFill>
                          <a:latin typeface="Calibri"/>
                        </a:rPr>
                        <a:t>Metal Alloys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230,461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234,038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238,099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242,661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247,753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253,396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259,157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265,011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270,959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276,999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283,133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289,360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295,678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302,090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308,594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315,189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2.2%</a:t>
                      </a:r>
                      <a:endParaRPr sz="1100"/>
                    </a:p>
                  </a:txBody>
                  <a:tcPr marL="19050" marR="14288" marT="19050" marB="19050" anchor="ctr">
                    <a:solidFill>
                      <a:srgbClr val="FFFFFF"/>
                    </a:solidFill>
                  </a:tcPr>
                </a:tc>
              </a:tr>
              <a:tr h="215587">
                <a:tc>
                  <a:txBody>
                    <a:bodyPr wrap="none"/>
                    <a:lstStyle/>
                    <a:p>
                      <a:pPr algn="l"/>
                      <a:r>
                        <a:rPr sz="1100" b="1">
                          <a:solidFill>
                            <a:srgbClr val="2E2E2E"/>
                          </a:solidFill>
                          <a:latin typeface="Calibri"/>
                        </a:rPr>
                        <a:t>– Cobalt-Chromium Alloys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71,248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73,971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76,926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80,132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83,612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87,385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91,316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95,400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99,643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104,051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108,628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113,381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118,316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123,438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128,755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134,272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4.4%</a:t>
                      </a:r>
                      <a:endParaRPr sz="1100"/>
                    </a:p>
                  </a:txBody>
                  <a:tcPr marL="19050" marR="14288" marT="19050" marB="19050" anchor="ctr">
                    <a:solidFill>
                      <a:srgbClr val="F5F8FA"/>
                    </a:solidFill>
                  </a:tcPr>
                </a:tc>
              </a:tr>
              <a:tr h="215587">
                <a:tc>
                  <a:txBody>
                    <a:bodyPr wrap="none"/>
                    <a:lstStyle/>
                    <a:p>
                      <a:pPr algn="l"/>
                      <a:r>
                        <a:rPr sz="1100" b="1">
                          <a:solidFill>
                            <a:srgbClr val="2E2E2E"/>
                          </a:solidFill>
                          <a:latin typeface="Calibri"/>
                        </a:rPr>
                        <a:t>– Titanium Alloys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159,213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160,067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161,172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162,528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164,142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166,011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167,841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169,611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171,316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172,949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174,505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175,979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177,362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178,652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179,839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180,917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0.9%</a:t>
                      </a:r>
                      <a:endParaRPr sz="1100"/>
                    </a:p>
                  </a:txBody>
                  <a:tcPr marL="19050" marR="14288" marT="19050" marB="19050" anchor="ctr">
                    <a:solidFill>
                      <a:srgbClr val="FFFFFF"/>
                    </a:solidFill>
                  </a:tcPr>
                </a:tc>
              </a:tr>
              <a:tr h="215587">
                <a:tc>
                  <a:txBody>
                    <a:bodyPr wrap="none"/>
                    <a:lstStyle/>
                    <a:p>
                      <a:pPr algn="l"/>
                      <a:r>
                        <a:rPr sz="1100" b="1">
                          <a:solidFill>
                            <a:srgbClr val="2E2E2E"/>
                          </a:solidFill>
                          <a:latin typeface="Calibri"/>
                        </a:rPr>
                        <a:t>Acrylic / Resin</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368,258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375,688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383,978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393,171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403,328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414,494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425,978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437,744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449,796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462,141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474,783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487,731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500,987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514,561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528,458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542,683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a:t>
                      </a:r>
                      <a:endParaRPr sz="1100"/>
                    </a:p>
                  </a:txBody>
                  <a:tcPr marL="19050" marR="14288" marT="19050" marB="19050" anchor="ctr">
                    <a:solidFill>
                      <a:srgbClr val="F5F8FA"/>
                    </a:solidFill>
                  </a:tcPr>
                </a:tc>
              </a:tr>
              <a:tr h="215587">
                <a:tc>
                  <a:txBody>
                    <a:bodyPr wrap="none"/>
                    <a:lstStyle/>
                    <a:p>
                      <a:pPr algn="l"/>
                      <a:r>
                        <a:rPr sz="1100" b="1">
                          <a:solidFill>
                            <a:srgbClr val="2E2E2E"/>
                          </a:solidFill>
                          <a:latin typeface="Calibri"/>
                        </a:rPr>
                        <a:t>– PMMA</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174,750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182,313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190,490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199,335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208,909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219,273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230,089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241,349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253,071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265,270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277,962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291,166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304,898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319,178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334,026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349,458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4.8%</a:t>
                      </a:r>
                      <a:endParaRPr sz="1100"/>
                    </a:p>
                  </a:txBody>
                  <a:tcPr marL="19050" marR="14288" marT="19050" marB="19050" anchor="ctr">
                    <a:solidFill>
                      <a:srgbClr val="FFFFFF"/>
                    </a:solidFill>
                  </a:tcPr>
                </a:tc>
              </a:tr>
              <a:tr h="215587">
                <a:tc>
                  <a:txBody>
                    <a:bodyPr wrap="none"/>
                    <a:lstStyle/>
                    <a:p>
                      <a:pPr algn="l"/>
                      <a:r>
                        <a:rPr sz="1100" b="1">
                          <a:solidFill>
                            <a:srgbClr val="2E2E2E"/>
                          </a:solidFill>
                          <a:latin typeface="Calibri"/>
                        </a:rPr>
                        <a:t>– Printable Denture Resins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193,508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193,376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193,488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193,837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194,418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195,221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195,890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196,394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196,725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196,871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196,821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196,565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196,089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195,382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194,432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193,225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-0.1%</a:t>
                      </a:r>
                      <a:endParaRPr sz="1100"/>
                    </a:p>
                  </a:txBody>
                  <a:tcPr marL="19050" marR="14288" marT="19050" marB="19050" anchor="ctr">
                    <a:solidFill>
                      <a:srgbClr val="F5F8FA"/>
                    </a:solidFill>
                  </a:tcPr>
                </a:tc>
              </a:tr>
              <a:tr h="215587">
                <a:tc>
                  <a:txBody>
                    <a:bodyPr wrap="none"/>
                    <a:lstStyle/>
                    <a:p>
                      <a:pPr algn="l"/>
                      <a:r>
                        <a:rPr sz="1100" b="1">
                          <a:solidFill>
                            <a:srgbClr val="2E2E2E"/>
                          </a:solidFill>
                          <a:latin typeface="Calibri"/>
                        </a:rPr>
                        <a:t>Flexible Thermoplastics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132,015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134,271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136,815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139,659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142,820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146,312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149,888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153,533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157,248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161,034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164,890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168,820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172,821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176,897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181,046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185,270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a:t>
                      </a:r>
                      <a:endParaRPr sz="1100"/>
                    </a:p>
                  </a:txBody>
                  <a:tcPr marL="19050" marR="14288" marT="19050" marB="19050" anchor="ctr">
                    <a:solidFill>
                      <a:srgbClr val="FFFFFF"/>
                    </a:solidFill>
                  </a:tcPr>
                </a:tc>
              </a:tr>
              <a:tr h="215587">
                <a:tc>
                  <a:txBody>
                    <a:bodyPr wrap="none"/>
                    <a:lstStyle/>
                    <a:p>
                      <a:pPr algn="l"/>
                      <a:r>
                        <a:rPr sz="1100" b="1">
                          <a:solidFill>
                            <a:srgbClr val="2E2E2E"/>
                          </a:solidFill>
                          <a:latin typeface="Calibri"/>
                        </a:rPr>
                        <a:t>– Polyamide / Nylon</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100,907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102,062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103,407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104,948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106,693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108,648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110,623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112,608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114,600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116,599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118,602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120,609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122,617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124,626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126,633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128,635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a:t>
                      </a:r>
                      <a:endParaRPr sz="1100"/>
                    </a:p>
                  </a:txBody>
                  <a:tcPr marL="19050" marR="14288" marT="19050" marB="19050" anchor="ctr">
                    <a:solidFill>
                      <a:srgbClr val="F5F8FA"/>
                    </a:solidFill>
                  </a:tcPr>
                </a:tc>
              </a:tr>
              <a:tr h="215587">
                <a:tc>
                  <a:txBody>
                    <a:bodyPr wrap="none"/>
                    <a:lstStyle/>
                    <a:p>
                      <a:pPr algn="l"/>
                      <a:r>
                        <a:rPr sz="1100" b="1">
                          <a:solidFill>
                            <a:srgbClr val="2E2E2E"/>
                          </a:solidFill>
                          <a:latin typeface="Calibri"/>
                        </a:rPr>
                        <a:t>– Other Thermoplastic Resins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31,108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32,209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33,408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34,710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36,127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37,664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39,264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40,925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42,647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44,435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46,288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48,211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50,204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52,271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54,414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56,634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a:t>
                      </a:r>
                      <a:endParaRPr sz="1100"/>
                    </a:p>
                  </a:txBody>
                  <a:tcPr marL="19050" marR="14288" marT="19050" marB="19050" anchor="ctr">
                    <a:solidFill>
                      <a:srgbClr val="FFFFFF"/>
                    </a:solidFill>
                  </a:tcPr>
                </a:tc>
              </a:tr>
              <a:tr h="215587">
                <a:tc>
                  <a:txBody>
                    <a:bodyPr wrap="none"/>
                    <a:lstStyle/>
                    <a:p>
                      <a:pPr algn="l"/>
                      <a:r>
                        <a:rPr sz="1100" b="1">
                          <a:solidFill>
                            <a:srgbClr val="2E2E2E"/>
                          </a:solidFill>
                          <a:latin typeface="Calibri"/>
                        </a:rPr>
                        <a:t>High-performance Polymers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75,808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77,523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79,423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81,521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83,829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86,359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88,969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91,650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94,406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97,237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100,146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103,134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106,203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109,356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112,594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115,920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3.0%</a:t>
                      </a:r>
                      <a:endParaRPr sz="1100"/>
                    </a:p>
                  </a:txBody>
                  <a:tcPr marL="19050" marR="14288" marT="19050" marB="19050" anchor="ctr">
                    <a:solidFill>
                      <a:srgbClr val="F5F8FA"/>
                    </a:solidFill>
                  </a:tcPr>
                </a:tc>
              </a:tr>
              <a:tr h="215587">
                <a:tc>
                  <a:txBody>
                    <a:bodyPr wrap="none"/>
                    <a:lstStyle/>
                    <a:p>
                      <a:pPr algn="l"/>
                      <a:r>
                        <a:rPr sz="1100" b="1">
                          <a:solidFill>
                            <a:srgbClr val="2E2E2E"/>
                          </a:solidFill>
                          <a:latin typeface="Calibri"/>
                        </a:rPr>
                        <a:t>– PEEK-based Materials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34,660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35,150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35,711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36,345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37,055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37,844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38,648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39,461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40,286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41,120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41,964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42,817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43,680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44,553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45,434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46,324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a:t>
                      </a:r>
                      <a:endParaRPr sz="1100"/>
                    </a:p>
                  </a:txBody>
                  <a:tcPr marL="19050" marR="14288" marT="19050" marB="19050" anchor="ctr">
                    <a:solidFill>
                      <a:srgbClr val="FFFFFF"/>
                    </a:solidFill>
                  </a:tcPr>
                </a:tc>
              </a:tr>
              <a:tr h="349699">
                <a:tc>
                  <a:txBody>
                    <a:bodyPr wrap="square"/>
                    <a:lstStyle/>
                    <a:p>
                      <a:pPr algn="l">
                        <a:lnSpc>
                          <a:spcPct val="90000"/>
                        </a:lnSpc>
                      </a:pPr>
                      <a:r>
                        <a:rPr sz="1100" b="1">
                          <a:solidFill>
                            <a:srgbClr val="2E2E2E"/>
                          </a:solidFill>
                          <a:latin typeface="Calibri"/>
                        </a:rPr>
                        <a:t>– Other High-performance Dental Polymers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41,149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42,372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43,712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45,176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46,774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48,515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50,321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52,189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54,120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56,117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58,182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60,317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62,523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64,803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67,160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69,595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3.7%</a:t>
                      </a:r>
                      <a:endParaRPr sz="1100"/>
                    </a:p>
                  </a:txBody>
                  <a:tcPr marL="19050" marR="14288" marT="19050" marB="19050" anchor="ctr">
                    <a:solidFill>
                      <a:srgbClr val="F5F8FA"/>
                    </a:solidFill>
                  </a:tcPr>
                </a:tc>
              </a:tr>
              <a:tr h="21558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806,542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821,521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838,316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857,012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877,730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900,561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923,992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947,938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972,408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997,411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1,022,951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1,049,045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1,075,689</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1,102,903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1,130,693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1,159,061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2.6%</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533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8672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9244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Material Type (US$ Mn)</a:t>
            </a:r>
          </a:p>
        </p:txBody>
      </p:sp>
      <p:graphicFrame>
        <p:nvGraphicFramePr>
          <p:cNvPr id="17" name="Table 16"/>
          <p:cNvGraphicFramePr>
            <a:graphicFrameLocks noGrp="1"/>
          </p:cNvGraphicFramePr>
          <p:nvPr/>
        </p:nvGraphicFramePr>
        <p:xfrm>
          <a:off x="152400" y="5124450"/>
          <a:ext cx="11887208" cy="1295400"/>
        </p:xfrm>
        <a:graphic>
          <a:graphicData uri="http://schemas.openxmlformats.org/drawingml/2006/table">
            <a:tbl>
              <a:tblPr>
                <a:tableStyleId>{5C22544A-7EE6-4342-B048-85BDC9FD1C3A}</a:tableStyleId>
              </a:tblPr>
              <a:tblGrid>
                <a:gridCol w="1788919"/>
                <a:gridCol w="594017"/>
                <a:gridCol w="594017"/>
                <a:gridCol w="594017"/>
                <a:gridCol w="594017"/>
                <a:gridCol w="594017"/>
                <a:gridCol w="594017"/>
                <a:gridCol w="594017"/>
                <a:gridCol w="594017"/>
                <a:gridCol w="594017"/>
                <a:gridCol w="594017"/>
                <a:gridCol w="594017"/>
                <a:gridCol w="594017"/>
                <a:gridCol w="594017"/>
                <a:gridCol w="594017"/>
                <a:gridCol w="594017"/>
                <a:gridCol w="594017"/>
                <a:gridCol w="594017"/>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429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Material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Material Type, 2021–2036</a:t>
            </a:r>
          </a:p>
        </p:txBody>
      </p:sp>
      <p:sp>
        <p:nvSpPr>
          <p:cNvPr id="10" name="Rounded Rectangle 9"/>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Material Type (US$ Mn)</a:t>
            </a:r>
          </a:p>
        </p:txBody>
      </p:sp>
      <p:graphicFrame>
        <p:nvGraphicFramePr>
          <p:cNvPr id="12" name="Table 11"/>
          <p:cNvGraphicFramePr>
            <a:graphicFrameLocks noGrp="1"/>
          </p:cNvGraphicFramePr>
          <p:nvPr/>
        </p:nvGraphicFramePr>
        <p:xfrm>
          <a:off x="152400" y="1238250"/>
          <a:ext cx="11887201" cy="1943097"/>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0.4%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Polyamide / Nylon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PEEK-based Materials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Material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Material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2800353"/>
        </p:xfrm>
        <a:graphic>
          <a:graphicData uri="http://schemas.openxmlformats.org/drawingml/2006/table">
            <a:tbl>
              <a:tblPr>
                <a:tableStyleId>{5C22544A-7EE6-4342-B048-85BDC9FD1C3A}</a:tableStyleId>
              </a:tblPr>
              <a:tblGrid>
                <a:gridCol w="2718001"/>
                <a:gridCol w="611280"/>
                <a:gridCol w="611280"/>
                <a:gridCol w="611280"/>
                <a:gridCol w="611280"/>
                <a:gridCol w="611280"/>
                <a:gridCol w="611280"/>
                <a:gridCol w="611280"/>
                <a:gridCol w="611280"/>
                <a:gridCol w="611280"/>
                <a:gridCol w="611280"/>
                <a:gridCol w="611280"/>
                <a:gridCol w="611280"/>
                <a:gridCol w="611280"/>
                <a:gridCol w="611280"/>
                <a:gridCol w="611280"/>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193" cy="1724024"/>
        </p:xfrm>
        <a:graphic>
          <a:graphicData uri="http://schemas.openxmlformats.org/drawingml/2006/table">
            <a:tbl>
              <a:tblPr>
                <a:tableStyleId>{5C22544A-7EE6-4342-B048-85BDC9FD1C3A}</a:tableStyleId>
              </a:tblPr>
              <a:tblGrid>
                <a:gridCol w="1863218"/>
                <a:gridCol w="668265"/>
                <a:gridCol w="668265"/>
                <a:gridCol w="668265"/>
                <a:gridCol w="668265"/>
                <a:gridCol w="668265"/>
                <a:gridCol w="668265"/>
                <a:gridCol w="668265"/>
                <a:gridCol w="668265"/>
                <a:gridCol w="668265"/>
                <a:gridCol w="668265"/>
                <a:gridCol w="668265"/>
                <a:gridCol w="668265"/>
                <a:gridCol w="668265"/>
                <a:gridCol w="668265"/>
                <a:gridCol w="668265"/>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Material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Material Type,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1295400"/>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15265">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Polyamide / Nylon</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PEEK-based Materials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Technology</a:t>
            </a:r>
          </a:p>
        </p:txBody>
      </p:sp>
      <p:graphicFrame>
        <p:nvGraphicFramePr>
          <p:cNvPr id="16" name="Table 15"/>
          <p:cNvGraphicFramePr>
            <a:graphicFrameLocks noGrp="1"/>
          </p:cNvGraphicFramePr>
          <p:nvPr/>
        </p:nvGraphicFramePr>
        <p:xfrm>
          <a:off x="6181725" y="1238250"/>
          <a:ext cx="5857876" cy="2285999"/>
        </p:xfrm>
        <a:graphic>
          <a:graphicData uri="http://schemas.openxmlformats.org/drawingml/2006/table">
            <a:tbl>
              <a:tblPr>
                <a:tableStyleId>{5C22544A-7EE6-4342-B048-85BDC9FD1C3A}</a:tableStyleId>
              </a:tblPr>
              <a:tblGrid>
                <a:gridCol w="1708500"/>
                <a:gridCol w="1037344"/>
                <a:gridCol w="1037344"/>
                <a:gridCol w="1037344"/>
                <a:gridCol w="1037344"/>
              </a:tblGrid>
              <a:tr h="215265">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Digital Fabrication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Technology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Technology</a:t>
            </a:r>
          </a:p>
        </p:txBody>
      </p:sp>
      <p:graphicFrame>
        <p:nvGraphicFramePr>
          <p:cNvPr id="23" name="Table 22"/>
          <p:cNvGraphicFramePr>
            <a:graphicFrameLocks noGrp="1"/>
          </p:cNvGraphicFramePr>
          <p:nvPr/>
        </p:nvGraphicFramePr>
        <p:xfrm>
          <a:off x="6181725" y="4124325"/>
          <a:ext cx="5857876" cy="2285999"/>
        </p:xfrm>
        <a:graphic>
          <a:graphicData uri="http://schemas.openxmlformats.org/drawingml/2006/table">
            <a:tbl>
              <a:tblPr>
                <a:tableStyleId>{5C22544A-7EE6-4342-B048-85BDC9FD1C3A}</a:tableStyleId>
              </a:tblPr>
              <a:tblGrid>
                <a:gridCol w="1708500"/>
                <a:gridCol w="1037344"/>
                <a:gridCol w="1037344"/>
                <a:gridCol w="1037344"/>
                <a:gridCol w="1037344"/>
              </a:tblGrid>
              <a:tr h="215265">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Digital Fabrication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028950"/>
          </a:xfrm>
          <a:prstGeom prst="roundRect">
            <a:avLst>
              <a:gd name="adj" fmla="val 25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Technology (Units)</a:t>
            </a:r>
          </a:p>
        </p:txBody>
      </p:sp>
      <p:graphicFrame>
        <p:nvGraphicFramePr>
          <p:cNvPr id="13" name="Table 12"/>
          <p:cNvGraphicFramePr>
            <a:graphicFrameLocks noGrp="1"/>
          </p:cNvGraphicFramePr>
          <p:nvPr/>
        </p:nvGraphicFramePr>
        <p:xfrm>
          <a:off x="152400" y="1238250"/>
          <a:ext cx="11887207" cy="2562222"/>
        </p:xfrm>
        <a:graphic>
          <a:graphicData uri="http://schemas.openxmlformats.org/drawingml/2006/table">
            <a:tbl>
              <a:tblPr>
                <a:tableStyleId>{5C22544A-7EE6-4342-B048-85BDC9FD1C3A}</a:tableStyleId>
              </a:tblPr>
              <a:tblGrid>
                <a:gridCol w="2343569"/>
                <a:gridCol w="530662"/>
                <a:gridCol w="530662"/>
                <a:gridCol w="530662"/>
                <a:gridCol w="530662"/>
                <a:gridCol w="530662"/>
                <a:gridCol w="530662"/>
                <a:gridCol w="530662"/>
                <a:gridCol w="530662"/>
                <a:gridCol w="530662"/>
                <a:gridCol w="530662"/>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Technology</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216069">
                <a:tc>
                  <a:txBody>
                    <a:bodyPr wrap="none"/>
                    <a:lstStyle/>
                    <a:p>
                      <a:pPr algn="l"/>
                      <a:r>
                        <a:rPr sz="1100" b="1">
                          <a:solidFill>
                            <a:srgbClr val="2E2E2E"/>
                          </a:solidFill>
                          <a:latin typeface="Calibri"/>
                        </a:rPr>
                        <a:t>Conventional Fabrication</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243,511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252,091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261,440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271,616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282,692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294,733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307,277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320,310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333,849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347,914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362,522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377,694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393,448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409,808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426,795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444,429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a:t>
                      </a:r>
                      <a:endParaRPr sz="1100"/>
                    </a:p>
                  </a:txBody>
                  <a:tcPr marL="19050" marR="14288" marT="19050" marB="19050" anchor="ctr">
                    <a:solidFill>
                      <a:srgbClr val="FFFFFF"/>
                    </a:solidFill>
                  </a:tcPr>
                </a:tc>
              </a:tr>
              <a:tr h="216069">
                <a:tc>
                  <a:txBody>
                    <a:bodyPr wrap="none"/>
                    <a:lstStyle/>
                    <a:p>
                      <a:pPr algn="l"/>
                      <a:r>
                        <a:rPr sz="1100" b="1">
                          <a:solidFill>
                            <a:srgbClr val="2E2E2E"/>
                          </a:solidFill>
                          <a:latin typeface="Calibri"/>
                        </a:rPr>
                        <a:t>– Metal Casting</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39,413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41,266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43,268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45,433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47,777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50,315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52,971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55,744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58,639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61,661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64,814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68,104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71,536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75,115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78,848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82,739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5.1%</a:t>
                      </a:r>
                      <a:endParaRPr sz="1100"/>
                    </a:p>
                  </a:txBody>
                  <a:tcPr marL="19050" marR="14288" marT="19050" marB="19050" anchor="ctr">
                    <a:solidFill>
                      <a:srgbClr val="F5F8FA"/>
                    </a:solidFill>
                  </a:tcPr>
                </a:tc>
              </a:tr>
              <a:tr h="350181">
                <a:tc>
                  <a:txBody>
                    <a:bodyPr wrap="square"/>
                    <a:lstStyle/>
                    <a:p>
                      <a:pPr algn="l">
                        <a:lnSpc>
                          <a:spcPct val="90000"/>
                        </a:lnSpc>
                      </a:pPr>
                      <a:r>
                        <a:rPr sz="1100" b="1">
                          <a:solidFill>
                            <a:srgbClr val="2E2E2E"/>
                          </a:solidFill>
                          <a:latin typeface="Calibri"/>
                        </a:rPr>
                        <a:t>– Heat-cured / Compression Processing</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88,124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92,885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98,013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103,544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109,518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115,976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122,746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129,829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137,238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144,985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153,085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161,551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170,396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179,638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189,292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199,372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5.6%</a:t>
                      </a:r>
                      <a:endParaRPr sz="1100"/>
                    </a:p>
                  </a:txBody>
                  <a:tcPr marL="19050" marR="14288" marT="19050" marB="19050" anchor="ctr">
                    <a:solidFill>
                      <a:srgbClr val="FFFFFF"/>
                    </a:solidFill>
                  </a:tcPr>
                </a:tc>
              </a:tr>
              <a:tr h="216069">
                <a:tc>
                  <a:txBody>
                    <a:bodyPr wrap="none"/>
                    <a:lstStyle/>
                    <a:p>
                      <a:pPr algn="l"/>
                      <a:r>
                        <a:rPr sz="1100" b="1">
                          <a:solidFill>
                            <a:srgbClr val="2E2E2E"/>
                          </a:solidFill>
                          <a:latin typeface="Calibri"/>
                        </a:rPr>
                        <a:t>– Injection Molding</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115,973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117,941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120,159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122,639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125,396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128,442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131,560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134,736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137,972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141,268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144,623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148,040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151,516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155,055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158,655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162,318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2.4%</a:t>
                      </a:r>
                      <a:endParaRPr sz="1100"/>
                    </a:p>
                  </a:txBody>
                  <a:tcPr marL="19050" marR="14288" marT="19050" marB="19050" anchor="ctr">
                    <a:solidFill>
                      <a:srgbClr val="F5F8FA"/>
                    </a:solidFill>
                  </a:tcPr>
                </a:tc>
              </a:tr>
              <a:tr h="216069">
                <a:tc>
                  <a:txBody>
                    <a:bodyPr wrap="none"/>
                    <a:lstStyle/>
                    <a:p>
                      <a:pPr algn="l"/>
                      <a:r>
                        <a:rPr sz="1100" b="1">
                          <a:solidFill>
                            <a:srgbClr val="2E2E2E"/>
                          </a:solidFill>
                          <a:latin typeface="Calibri"/>
                        </a:rPr>
                        <a:t>Digital Fabrication</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563,031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569,430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576,876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585,396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595,038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605,828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616,715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627,628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638,559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649,497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660,430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671,351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682,241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693,095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703,898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714,632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a:t>
                      </a:r>
                      <a:endParaRPr sz="1100"/>
                    </a:p>
                  </a:txBody>
                  <a:tcPr marL="19050" marR="14288" marT="19050" marB="19050" anchor="ctr">
                    <a:solidFill>
                      <a:srgbClr val="FFFFFF"/>
                    </a:solidFill>
                  </a:tcPr>
                </a:tc>
              </a:tr>
              <a:tr h="216069">
                <a:tc>
                  <a:txBody>
                    <a:bodyPr wrap="none"/>
                    <a:lstStyle/>
                    <a:p>
                      <a:pPr algn="l"/>
                      <a:r>
                        <a:rPr sz="1100" b="1">
                          <a:solidFill>
                            <a:srgbClr val="2E2E2E"/>
                          </a:solidFill>
                          <a:latin typeface="Calibri"/>
                        </a:rPr>
                        <a:t>– CAD/CAM Milling</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166,979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169,412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172,184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175,309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178,804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182,683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186,633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190,634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194,687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198,790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202,942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207,143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211,389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215,682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220,019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224,398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a:t>
                      </a:r>
                      <a:endParaRPr sz="1100"/>
                    </a:p>
                  </a:txBody>
                  <a:tcPr marL="19050" marR="14288" marT="19050" marB="19050" anchor="ctr">
                    <a:solidFill>
                      <a:srgbClr val="F5F8FA"/>
                    </a:solidFill>
                  </a:tcPr>
                </a:tc>
              </a:tr>
              <a:tr h="350181">
                <a:tc>
                  <a:txBody>
                    <a:bodyPr wrap="square"/>
                    <a:lstStyle/>
                    <a:p>
                      <a:pPr algn="l">
                        <a:lnSpc>
                          <a:spcPct val="90000"/>
                        </a:lnSpc>
                      </a:pPr>
                      <a:r>
                        <a:rPr sz="1100" b="1">
                          <a:solidFill>
                            <a:srgbClr val="2E2E2E"/>
                          </a:solidFill>
                          <a:latin typeface="Calibri"/>
                        </a:rPr>
                        <a:t>– 3D Printing / Additive Manufacturing</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179,841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183,274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187,118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191,391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196,122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201,332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206,682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212,156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217,754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223,479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229,333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235,320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241,439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247,694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254,089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260,624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2.6%</a:t>
                      </a:r>
                      <a:endParaRPr sz="1100"/>
                    </a:p>
                  </a:txBody>
                  <a:tcPr marL="19050" marR="14288" marT="19050" marB="19050" anchor="ctr">
                    <a:solidFill>
                      <a:srgbClr val="FFFFFF"/>
                    </a:solidFill>
                  </a:tcPr>
                </a:tc>
              </a:tr>
              <a:tr h="216069">
                <a:tc>
                  <a:txBody>
                    <a:bodyPr wrap="none"/>
                    <a:lstStyle/>
                    <a:p>
                      <a:pPr algn="l"/>
                      <a:r>
                        <a:rPr sz="1100" b="1">
                          <a:solidFill>
                            <a:srgbClr val="2E2E2E"/>
                          </a:solidFill>
                          <a:latin typeface="Calibri"/>
                        </a:rPr>
                        <a:t>– Hybrid Digital Fabrication</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216,211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216,743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217,573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218,696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220,112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221,813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223,400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224,838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226,118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227,228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228,155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228,888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229,413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229,719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229,789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229,610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0.3%</a:t>
                      </a:r>
                      <a:endParaRPr sz="1100"/>
                    </a:p>
                  </a:txBody>
                  <a:tcPr marL="19050" marR="14288" marT="19050" marB="19050" anchor="ctr">
                    <a:solidFill>
                      <a:srgbClr val="F5F8FA"/>
                    </a:solidFill>
                  </a:tcPr>
                </a:tc>
              </a:tr>
              <a:tr h="216069">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806,542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821,521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838,316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857,012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877,730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900,561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923,992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947,938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972,408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997,411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1,022,951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1,049,045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1,075,689</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1,102,903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1,130,693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1,159,061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2.6%</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100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Technology, 2021–2036</a:t>
            </a:r>
          </a:p>
        </p:txBody>
      </p:sp>
      <p:sp>
        <p:nvSpPr>
          <p:cNvPr id="10" name="Rounded Rectangle 9"/>
          <p:cNvSpPr/>
          <p:nvPr/>
        </p:nvSpPr>
        <p:spPr>
          <a:xfrm>
            <a:off x="142875" y="981075"/>
            <a:ext cx="11906250" cy="2619375"/>
          </a:xfrm>
          <a:prstGeom prst="roundRect">
            <a:avLst>
              <a:gd name="adj" fmla="val 29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Technology (US$ Mn)</a:t>
            </a:r>
          </a:p>
        </p:txBody>
      </p:sp>
      <p:graphicFrame>
        <p:nvGraphicFramePr>
          <p:cNvPr id="12" name="Table 11"/>
          <p:cNvGraphicFramePr>
            <a:graphicFrameLocks noGrp="1"/>
          </p:cNvGraphicFramePr>
          <p:nvPr/>
        </p:nvGraphicFramePr>
        <p:xfrm>
          <a:off x="152400" y="1238250"/>
          <a:ext cx="11887195" cy="2152650"/>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15265">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004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Technology,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1943097"/>
        </p:xfrm>
        <a:graphic>
          <a:graphicData uri="http://schemas.openxmlformats.org/drawingml/2006/table">
            <a:tbl>
              <a:tblPr>
                <a:tableStyleId>{5C22544A-7EE6-4342-B048-85BDC9FD1C3A}</a:tableStyleId>
              </a:tblPr>
              <a:tblGrid>
                <a:gridCol w="2522231"/>
                <a:gridCol w="624331"/>
                <a:gridCol w="624331"/>
                <a:gridCol w="624331"/>
                <a:gridCol w="624331"/>
                <a:gridCol w="624331"/>
                <a:gridCol w="624331"/>
                <a:gridCol w="624331"/>
                <a:gridCol w="624331"/>
                <a:gridCol w="624331"/>
                <a:gridCol w="624331"/>
                <a:gridCol w="624331"/>
                <a:gridCol w="624331"/>
                <a:gridCol w="624331"/>
                <a:gridCol w="624331"/>
                <a:gridCol w="624331"/>
              </a:tblGrid>
              <a:tr h="215265">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-0.1%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190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24250"/>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814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781425"/>
          <a:ext cx="11887200" cy="1943097"/>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15265">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79">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r>
              <a:tr h="215979">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r>
              <a:tr h="215979">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734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End User: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End User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End User</a:t>
            </a:r>
          </a:p>
        </p:txBody>
      </p:sp>
      <p:graphicFrame>
        <p:nvGraphicFramePr>
          <p:cNvPr id="16" name="Table 15"/>
          <p:cNvGraphicFramePr>
            <a:graphicFrameLocks noGrp="1"/>
          </p:cNvGraphicFramePr>
          <p:nvPr/>
        </p:nvGraphicFramePr>
        <p:xfrm>
          <a:off x="6181725" y="1238250"/>
          <a:ext cx="5857875" cy="2286001"/>
        </p:xfrm>
        <a:graphic>
          <a:graphicData uri="http://schemas.openxmlformats.org/drawingml/2006/table">
            <a:tbl>
              <a:tblPr>
                <a:tableStyleId>{5C22544A-7EE6-4342-B048-85BDC9FD1C3A}</a:tableStyleId>
              </a:tblPr>
              <a:tblGrid>
                <a:gridCol w="2648970"/>
                <a:gridCol w="806708"/>
                <a:gridCol w="806708"/>
                <a:gridCol w="1018785"/>
                <a:gridCol w="576704"/>
              </a:tblGrid>
              <a:tr h="215265">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End User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End User</a:t>
            </a:r>
          </a:p>
        </p:txBody>
      </p:sp>
      <p:graphicFrame>
        <p:nvGraphicFramePr>
          <p:cNvPr id="23" name="Table 22"/>
          <p:cNvGraphicFramePr>
            <a:graphicFrameLocks noGrp="1"/>
          </p:cNvGraphicFramePr>
          <p:nvPr/>
        </p:nvGraphicFramePr>
        <p:xfrm>
          <a:off x="6181725" y="4124325"/>
          <a:ext cx="5857875" cy="2286001"/>
        </p:xfrm>
        <a:graphic>
          <a:graphicData uri="http://schemas.openxmlformats.org/drawingml/2006/table">
            <a:tbl>
              <a:tblPr>
                <a:tableStyleId>{5C22544A-7EE6-4342-B048-85BDC9FD1C3A}</a:tableStyleId>
              </a:tblPr>
              <a:tblGrid>
                <a:gridCol w="2648970"/>
                <a:gridCol w="806708"/>
                <a:gridCol w="806708"/>
                <a:gridCol w="1018785"/>
                <a:gridCol w="576704"/>
              </a:tblGrid>
              <a:tr h="215265">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End User,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End User (Units)</a:t>
            </a:r>
          </a:p>
        </p:txBody>
      </p:sp>
      <p:graphicFrame>
        <p:nvGraphicFramePr>
          <p:cNvPr id="13" name="Table 12"/>
          <p:cNvGraphicFramePr>
            <a:graphicFrameLocks noGrp="1"/>
          </p:cNvGraphicFramePr>
          <p:nvPr/>
        </p:nvGraphicFramePr>
        <p:xfrm>
          <a:off x="152400" y="1238250"/>
          <a:ext cx="11887207" cy="1562099"/>
        </p:xfrm>
        <a:graphic>
          <a:graphicData uri="http://schemas.openxmlformats.org/drawingml/2006/table">
            <a:tbl>
              <a:tblPr>
                <a:tableStyleId>{5C22544A-7EE6-4342-B048-85BDC9FD1C3A}</a:tableStyleId>
              </a:tblPr>
              <a:tblGrid>
                <a:gridCol w="2343569"/>
                <a:gridCol w="530662"/>
                <a:gridCol w="530662"/>
                <a:gridCol w="530662"/>
                <a:gridCol w="530662"/>
                <a:gridCol w="530662"/>
                <a:gridCol w="530662"/>
                <a:gridCol w="530662"/>
                <a:gridCol w="530662"/>
                <a:gridCol w="530662"/>
                <a:gridCol w="530662"/>
                <a:gridCol w="641033"/>
                <a:gridCol w="641033"/>
                <a:gridCol w="641033"/>
                <a:gridCol w="641033"/>
                <a:gridCol w="641033"/>
                <a:gridCol w="641033"/>
                <a:gridCol w="390820"/>
              </a:tblGrid>
              <a:tr h="349377">
                <a:tc>
                  <a:txBody>
                    <a:bodyPr wrap="none"/>
                    <a:lstStyle/>
                    <a:p>
                      <a:pPr algn="l"/>
                      <a:r>
                        <a:rPr sz="1100" b="1">
                          <a:solidFill>
                            <a:srgbClr val="0B2E4A"/>
                          </a:solidFill>
                          <a:latin typeface="Calibri"/>
                        </a:rPr>
                        <a:t>End User</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l">
                        <a:lnSpc>
                          <a:spcPct val="90000"/>
                        </a:lnSpc>
                      </a:pPr>
                      <a:r>
                        <a:rPr sz="1100" b="1">
                          <a:solidFill>
                            <a:srgbClr val="0B2E4A"/>
                          </a:solidFill>
                          <a:latin typeface="Calibri"/>
                        </a:rPr>
                        <a:t>F-CAGR</a:t>
                      </a:r>
                      <a:endParaRPr sz="1100"/>
                    </a:p>
                  </a:txBody>
                  <a:tcPr marL="19050" marR="14288" marT="19050" marB="19050" anchor="ctr">
                    <a:solidFill>
                      <a:srgbClr val="E0E8EF"/>
                    </a:solidFill>
                  </a:tcPr>
                </a:tc>
              </a:tr>
              <a:tr h="215722">
                <a:tc>
                  <a:txBody>
                    <a:bodyPr wrap="none"/>
                    <a:lstStyle/>
                    <a:p>
                      <a:pPr algn="l"/>
                      <a:r>
                        <a:rPr sz="1100" b="1">
                          <a:solidFill>
                            <a:srgbClr val="2E2E2E"/>
                          </a:solidFill>
                          <a:latin typeface="Calibri"/>
                        </a:rPr>
                        <a:t>Dental Clinics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117,596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120,163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123,023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126,195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129,701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133,559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137,550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141,665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145,910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150,290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154,809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159,475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164,293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169,273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174,420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179,743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3.0%</a:t>
                      </a:r>
                      <a:endParaRPr sz="1100"/>
                    </a:p>
                  </a:txBody>
                  <a:tcPr marL="19050" marR="14288" marT="19050" marB="19050" anchor="ctr">
                    <a:solidFill>
                      <a:srgbClr val="FFFFFF"/>
                    </a:solidFill>
                  </a:tcPr>
                </a:tc>
              </a:tr>
              <a:tr h="215722">
                <a:tc>
                  <a:txBody>
                    <a:bodyPr wrap="none"/>
                    <a:lstStyle/>
                    <a:p>
                      <a:pPr algn="l"/>
                      <a:r>
                        <a:rPr sz="1100" b="1">
                          <a:solidFill>
                            <a:srgbClr val="2E2E2E"/>
                          </a:solidFill>
                          <a:latin typeface="Calibri"/>
                        </a:rPr>
                        <a:t>Dental Hospitals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43,387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44,951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46,672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48,563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50,640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52,919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55,321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57,847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60,507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63,309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66,262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69,376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72,662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76,134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79,803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83,685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4.7%</a:t>
                      </a:r>
                      <a:endParaRPr sz="1100"/>
                    </a:p>
                  </a:txBody>
                  <a:tcPr marL="19050" marR="14288" marT="19050" marB="19050" anchor="ctr">
                    <a:solidFill>
                      <a:srgbClr val="F5F8FA"/>
                    </a:solidFill>
                  </a:tcPr>
                </a:tc>
              </a:tr>
              <a:tr h="215722">
                <a:tc>
                  <a:txBody>
                    <a:bodyPr wrap="none"/>
                    <a:lstStyle/>
                    <a:p>
                      <a:pPr algn="l"/>
                      <a:r>
                        <a:rPr sz="1100" b="1">
                          <a:solidFill>
                            <a:srgbClr val="2E2E2E"/>
                          </a:solidFill>
                          <a:latin typeface="Calibri"/>
                        </a:rPr>
                        <a:t>Dental Laboratories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387,011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391,387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396,416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402,106</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408,480</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415,541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422,554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429,453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436,215</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442,813</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449,217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455,398</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461,314</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466,932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472,207</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477,089</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1.4%</a:t>
                      </a:r>
                      <a:endParaRPr sz="1100"/>
                    </a:p>
                  </a:txBody>
                  <a:tcPr marL="19050" marR="14288" marT="19050" marB="19050" anchor="ctr">
                    <a:solidFill>
                      <a:srgbClr val="FFFFFF"/>
                    </a:solidFill>
                  </a:tcPr>
                </a:tc>
              </a:tr>
              <a:tr h="349834">
                <a:tc>
                  <a:txBody>
                    <a:bodyPr wrap="square"/>
                    <a:lstStyle/>
                    <a:p>
                      <a:pPr algn="l">
                        <a:lnSpc>
                          <a:spcPct val="90000"/>
                        </a:lnSpc>
                      </a:pPr>
                      <a:r>
                        <a:rPr sz="1100" b="1">
                          <a:solidFill>
                            <a:srgbClr val="2E2E2E"/>
                          </a:solidFill>
                          <a:latin typeface="Calibri"/>
                        </a:rPr>
                        <a:t>Academic &amp; Teaching Dental Institutions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258,548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265,020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272,205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280,148</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288,909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298,542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308,567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318,972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329,776</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340,999</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352,664</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364,797</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377,420</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390,565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404,263</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418,545</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3.4%</a:t>
                      </a:r>
                      <a:endParaRPr sz="1100"/>
                    </a:p>
                  </a:txBody>
                  <a:tcPr marL="19050" marR="14288" marT="19050" marB="19050" anchor="ctr">
                    <a:solidFill>
                      <a:srgbClr val="F5F8FA"/>
                    </a:solidFill>
                  </a:tcPr>
                </a:tc>
              </a:tr>
              <a:tr h="215722">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806,542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821,521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838,316</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857,012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877,730</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900,561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923,992</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947,938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972,408</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997,411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1,022,951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1,049,045</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1,075,689</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1,102,903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1,130,693</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1,159,061</a:t>
                      </a:r>
                      <a:endParaRPr sz="1100"/>
                    </a:p>
                  </a:txBody>
                  <a:tcPr marL="19050" marR="14288" marT="19050" marB="19050" anchor="ctr">
                    <a:solidFill>
                      <a:srgbClr val="E0E8EF"/>
                    </a:solidFill>
                  </a:tcPr>
                </a:tc>
                <a:tc>
                  <a:txBody>
                    <a:bodyPr wrap="none"/>
                    <a:lstStyle/>
                    <a:p>
                      <a:pPr algn="l"/>
                      <a:r>
                        <a:rPr sz="1100" b="1">
                          <a:solidFill>
                            <a:srgbClr val="2E2E2E"/>
                          </a:solidFill>
                          <a:latin typeface="Calibri"/>
                        </a:rPr>
                        <a:t>2.6%</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809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1432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004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End User (US$ Mn)</a:t>
            </a:r>
          </a:p>
        </p:txBody>
      </p:sp>
      <p:graphicFrame>
        <p:nvGraphicFramePr>
          <p:cNvPr id="17" name="Table 16"/>
          <p:cNvGraphicFramePr>
            <a:graphicFrameLocks noGrp="1"/>
          </p:cNvGraphicFramePr>
          <p:nvPr/>
        </p:nvGraphicFramePr>
        <p:xfrm>
          <a:off x="152400" y="3400425"/>
          <a:ext cx="11887196" cy="1295400"/>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15265">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705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End User,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076325"/>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15265">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5" cy="1076325"/>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15265">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2272018"/>
                <a:gridCol w="901472"/>
                <a:gridCol w="901472"/>
                <a:gridCol w="1138462"/>
                <a:gridCol w="644450"/>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Distribution Channel</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2272018"/>
                <a:gridCol w="901472"/>
                <a:gridCol w="901472"/>
                <a:gridCol w="1138462"/>
                <a:gridCol w="644450"/>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690245">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690245">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a:t>
                      </a:r>
                      <a:endParaRPr sz="1100"/>
                    </a:p>
                  </a:txBody>
                  <a:tcPr marL="47625" marR="38100" marT="19050" marB="19050" anchor="ctr">
                    <a:solidFill>
                      <a:srgbClr val="F5F8FA"/>
                    </a:solidFill>
                  </a:tcPr>
                </a:tc>
              </a:tr>
              <a:tr h="690245">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Distribution Channel (Units)</a:t>
            </a:r>
          </a:p>
        </p:txBody>
      </p:sp>
      <p:graphicFrame>
        <p:nvGraphicFramePr>
          <p:cNvPr id="13" name="Table 12"/>
          <p:cNvGraphicFramePr>
            <a:graphicFrameLocks noGrp="1"/>
          </p:cNvGraphicFramePr>
          <p:nvPr/>
        </p:nvGraphicFramePr>
        <p:xfrm>
          <a:off x="152400" y="1238250"/>
          <a:ext cx="11887199" cy="1076325"/>
        </p:xfrm>
        <a:graphic>
          <a:graphicData uri="http://schemas.openxmlformats.org/drawingml/2006/table">
            <a:tbl>
              <a:tblPr>
                <a:tableStyleId>{5C22544A-7EE6-4342-B048-85BDC9FD1C3A}</a:tableStyleId>
              </a:tblPr>
              <a:tblGrid>
                <a:gridCol w="1925986"/>
                <a:gridCol w="548491"/>
                <a:gridCol w="548491"/>
                <a:gridCol w="548491"/>
                <a:gridCol w="548491"/>
                <a:gridCol w="548491"/>
                <a:gridCol w="548491"/>
                <a:gridCol w="548491"/>
                <a:gridCol w="548491"/>
                <a:gridCol w="548491"/>
                <a:gridCol w="548491"/>
                <a:gridCol w="659579"/>
                <a:gridCol w="659579"/>
                <a:gridCol w="659579"/>
                <a:gridCol w="659579"/>
                <a:gridCol w="659579"/>
                <a:gridCol w="659579"/>
                <a:gridCol w="518829"/>
              </a:tblGrid>
              <a:tr h="215265">
                <a:tc>
                  <a:txBody>
                    <a:bodyPr wrap="none"/>
                    <a:lstStyle/>
                    <a:p>
                      <a:pPr algn="l"/>
                      <a:r>
                        <a:rPr sz="1100" b="1">
                          <a:solidFill>
                            <a:srgbClr val="0B2E4A"/>
                          </a:solidFill>
                          <a:latin typeface="Calibri"/>
                        </a:rPr>
                        <a:t>Distribution Channel</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l"/>
                      <a:r>
                        <a:rPr sz="1100" b="1">
                          <a:solidFill>
                            <a:srgbClr val="0B2E4A"/>
                          </a:solidFill>
                          <a:latin typeface="Calibri"/>
                        </a:rPr>
                        <a:t>F-CAGR</a:t>
                      </a:r>
                      <a:endParaRPr sz="1100"/>
                    </a:p>
                  </a:txBody>
                  <a:tcPr marL="28575" marR="19050" marT="19050" marB="19050" anchor="ctr">
                    <a:solidFill>
                      <a:srgbClr val="E0E8EF"/>
                    </a:solidFill>
                  </a:tcPr>
                </a:tc>
              </a:tr>
              <a:tr h="215265">
                <a:tc>
                  <a:txBody>
                    <a:bodyPr wrap="none"/>
                    <a:lstStyle/>
                    <a:p>
                      <a:pPr algn="l"/>
                      <a:r>
                        <a:rPr sz="1100" b="1">
                          <a:solidFill>
                            <a:srgbClr val="2E2E2E"/>
                          </a:solidFill>
                          <a:latin typeface="Calibri"/>
                        </a:rPr>
                        <a:t>Direct Sales</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120,398</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128,500</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137,322</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146,942</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157,451</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168,948</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181,220</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194,305</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208,260</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223,148</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239,033</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255,991</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274,098</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293,443</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314,120</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336,228</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7.1%</a:t>
                      </a:r>
                      <a:endParaRPr sz="1100"/>
                    </a:p>
                  </a:txBody>
                  <a:tcPr marL="28575" marR="19050" marT="19050" marB="19050" anchor="ctr">
                    <a:solidFill>
                      <a:srgbClr val="FFFFFF"/>
                    </a:solidFill>
                  </a:tcPr>
                </a:tc>
              </a:tr>
              <a:tr h="215265">
                <a:tc>
                  <a:txBody>
                    <a:bodyPr wrap="none"/>
                    <a:lstStyle/>
                    <a:p>
                      <a:pPr algn="l"/>
                      <a:r>
                        <a:rPr sz="1100" b="1">
                          <a:solidFill>
                            <a:srgbClr val="2E2E2E"/>
                          </a:solidFill>
                          <a:latin typeface="Calibri"/>
                        </a:rPr>
                        <a:t>Dental Dealers &amp; Distributors</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631,477</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637,836</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645,207</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653,596</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663,029</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673,503</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683,817</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693,862</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703,593</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712,961</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721,909</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730,384</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738,314</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745,635</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752,267</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758,121</a:t>
                      </a:r>
                      <a:endParaRPr sz="1100"/>
                    </a:p>
                  </a:txBody>
                  <a:tcPr marL="28575" marR="19050" marT="19050" marB="19050" anchor="ctr">
                    <a:solidFill>
                      <a:srgbClr val="F5F8FA"/>
                    </a:solidFill>
                  </a:tcPr>
                </a:tc>
                <a:tc>
                  <a:txBody>
                    <a:bodyPr wrap="none"/>
                    <a:lstStyle/>
                    <a:p>
                      <a:pPr algn="l"/>
                      <a:r>
                        <a:rPr sz="1100" b="0">
                          <a:solidFill>
                            <a:srgbClr val="2E2E2E"/>
                          </a:solidFill>
                          <a:latin typeface="Calibri"/>
                        </a:rPr>
                        <a:t>1.2%</a:t>
                      </a:r>
                      <a:endParaRPr sz="1100"/>
                    </a:p>
                  </a:txBody>
                  <a:tcPr marL="28575" marR="19050" marT="19050" marB="19050" anchor="ctr">
                    <a:solidFill>
                      <a:srgbClr val="F5F8FA"/>
                    </a:solidFill>
                  </a:tcPr>
                </a:tc>
              </a:tr>
              <a:tr h="215265">
                <a:tc>
                  <a:txBody>
                    <a:bodyPr wrap="none"/>
                    <a:lstStyle/>
                    <a:p>
                      <a:pPr algn="l"/>
                      <a:r>
                        <a:rPr sz="1100" b="1">
                          <a:solidFill>
                            <a:srgbClr val="2E2E2E"/>
                          </a:solidFill>
                          <a:latin typeface="Calibri"/>
                        </a:rPr>
                        <a:t>Online Dental Supply Channels</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54,667</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55,184</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55,787</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56,475</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57,249</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58,111</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58,954</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59,770</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60,555</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61,303</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62,010</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62,670</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63,277</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63,825</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64,306</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64,712</a:t>
                      </a:r>
                      <a:endParaRPr sz="1100"/>
                    </a:p>
                  </a:txBody>
                  <a:tcPr marL="28575" marR="19050" marT="19050" marB="19050" anchor="ctr">
                    <a:solidFill>
                      <a:srgbClr val="FFFFFF"/>
                    </a:solidFill>
                  </a:tcPr>
                </a:tc>
                <a:tc>
                  <a:txBody>
                    <a:bodyPr wrap="none"/>
                    <a:lstStyle/>
                    <a:p>
                      <a:pPr algn="l"/>
                      <a:r>
                        <a:rPr sz="1100" b="0">
                          <a:solidFill>
                            <a:srgbClr val="2E2E2E"/>
                          </a:solidFill>
                          <a:latin typeface="Calibri"/>
                        </a:rPr>
                        <a:t>1.1%</a:t>
                      </a:r>
                      <a:endParaRPr sz="1100"/>
                    </a:p>
                  </a:txBody>
                  <a:tcPr marL="28575" marR="1905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806,542</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821,521</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838,316</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857,012</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877,730</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900,561</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923,992</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947,938</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972,408</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997,411</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1,022,951</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1,049,045</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1,075,689</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1,102,903</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1,130,693</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1,159,061</a:t>
                      </a:r>
                      <a:endParaRPr sz="1100"/>
                    </a:p>
                  </a:txBody>
                  <a:tcPr marL="28575" marR="19050" marT="19050" marB="19050" anchor="ctr">
                    <a:solidFill>
                      <a:srgbClr val="E0E8EF"/>
                    </a:solidFill>
                  </a:tcPr>
                </a:tc>
                <a:tc>
                  <a:txBody>
                    <a:bodyPr wrap="none"/>
                    <a:lstStyle/>
                    <a:p>
                      <a:pPr algn="l"/>
                      <a:r>
                        <a:rPr sz="1100" b="1">
                          <a:solidFill>
                            <a:srgbClr val="2E2E2E"/>
                          </a:solidFill>
                          <a:latin typeface="Calibri"/>
                        </a:rPr>
                        <a:t>2.6%</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Distribution Channel (US$ Mn)</a:t>
            </a:r>
          </a:p>
        </p:txBody>
      </p:sp>
      <p:graphicFrame>
        <p:nvGraphicFramePr>
          <p:cNvPr id="17" name="Table 16"/>
          <p:cNvGraphicFramePr>
            <a:graphicFrameLocks noGrp="1"/>
          </p:cNvGraphicFramePr>
          <p:nvPr/>
        </p:nvGraphicFramePr>
        <p:xfrm>
          <a:off x="152400" y="2914650"/>
          <a:ext cx="11887206" cy="1076325"/>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866775"/>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0.6%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705100"/>
          <a:ext cx="11887204" cy="866775"/>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15265">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3581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Patient Age Group: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Patient Age Group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Patient Age Group</a:t>
            </a:r>
          </a:p>
        </p:txBody>
      </p:sp>
      <p:graphicFrame>
        <p:nvGraphicFramePr>
          <p:cNvPr id="16" name="Table 15"/>
          <p:cNvGraphicFramePr>
            <a:graphicFrameLocks noGrp="1"/>
          </p:cNvGraphicFramePr>
          <p:nvPr/>
        </p:nvGraphicFramePr>
        <p:xfrm>
          <a:off x="6181725" y="1238250"/>
          <a:ext cx="5857876" cy="2285999"/>
        </p:xfrm>
        <a:graphic>
          <a:graphicData uri="http://schemas.openxmlformats.org/drawingml/2006/table">
            <a:tbl>
              <a:tblPr>
                <a:tableStyleId>{5C22544A-7EE6-4342-B048-85BDC9FD1C3A}</a:tableStyleId>
              </a:tblPr>
              <a:tblGrid>
                <a:gridCol w="1384732"/>
                <a:gridCol w="1118286"/>
                <a:gridCol w="1118286"/>
                <a:gridCol w="1118286"/>
                <a:gridCol w="1118286"/>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Patient Age Group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Patient Age Group</a:t>
            </a:r>
          </a:p>
        </p:txBody>
      </p:sp>
      <p:graphicFrame>
        <p:nvGraphicFramePr>
          <p:cNvPr id="23" name="Table 22"/>
          <p:cNvGraphicFramePr>
            <a:graphicFrameLocks noGrp="1"/>
          </p:cNvGraphicFramePr>
          <p:nvPr/>
        </p:nvGraphicFramePr>
        <p:xfrm>
          <a:off x="6181725" y="4124325"/>
          <a:ext cx="5857876" cy="2285999"/>
        </p:xfrm>
        <a:graphic>
          <a:graphicData uri="http://schemas.openxmlformats.org/drawingml/2006/table">
            <a:tbl>
              <a:tblPr>
                <a:tableStyleId>{5C22544A-7EE6-4342-B048-85BDC9FD1C3A}</a:tableStyleId>
              </a:tblPr>
              <a:tblGrid>
                <a:gridCol w="1384732"/>
                <a:gridCol w="1118286"/>
                <a:gridCol w="1118286"/>
                <a:gridCol w="1118286"/>
                <a:gridCol w="1118286"/>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Patient Age Group,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Patient Age Group (Units)</a:t>
            </a:r>
          </a:p>
        </p:txBody>
      </p:sp>
      <p:graphicFrame>
        <p:nvGraphicFramePr>
          <p:cNvPr id="13" name="Table 12"/>
          <p:cNvGraphicFramePr>
            <a:graphicFrameLocks noGrp="1"/>
          </p:cNvGraphicFramePr>
          <p:nvPr/>
        </p:nvGraphicFramePr>
        <p:xfrm>
          <a:off x="152400" y="1238250"/>
          <a:ext cx="11887202" cy="866775"/>
        </p:xfrm>
        <a:graphic>
          <a:graphicData uri="http://schemas.openxmlformats.org/drawingml/2006/table">
            <a:tbl>
              <a:tblPr>
                <a:tableStyleId>{5C22544A-7EE6-4342-B048-85BDC9FD1C3A}</a:tableStyleId>
              </a:tblPr>
              <a:tblGrid>
                <a:gridCol w="1224501"/>
                <a:gridCol w="589580"/>
                <a:gridCol w="589580"/>
                <a:gridCol w="589580"/>
                <a:gridCol w="589580"/>
                <a:gridCol w="589580"/>
                <a:gridCol w="589580"/>
                <a:gridCol w="589580"/>
                <a:gridCol w="589580"/>
                <a:gridCol w="589580"/>
                <a:gridCol w="589580"/>
                <a:gridCol w="701187"/>
                <a:gridCol w="701187"/>
                <a:gridCol w="701187"/>
                <a:gridCol w="701187"/>
                <a:gridCol w="701187"/>
                <a:gridCol w="701187"/>
                <a:gridCol w="559779"/>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806,542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838,316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857,012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877,730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900,561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923,992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947,938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972,408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997,411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1,022,951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1,049,045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1,075,689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1,102,903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1,130,693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1,159,061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11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447925"/>
            <a:ext cx="11906250" cy="1333500"/>
          </a:xfrm>
          <a:prstGeom prst="roundRect">
            <a:avLst>
              <a:gd name="adj" fmla="val 57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5050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Patient Age Group (US$ Mn)</a:t>
            </a:r>
          </a:p>
        </p:txBody>
      </p:sp>
      <p:graphicFrame>
        <p:nvGraphicFramePr>
          <p:cNvPr id="17" name="Table 16"/>
          <p:cNvGraphicFramePr>
            <a:graphicFrameLocks noGrp="1"/>
          </p:cNvGraphicFramePr>
          <p:nvPr/>
        </p:nvGraphicFramePr>
        <p:xfrm>
          <a:off x="152400" y="2705100"/>
          <a:ext cx="11887195" cy="866775"/>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7170">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17170">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717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581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Patient Age Group,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114425"/>
          </a:xfrm>
          <a:prstGeom prst="roundRect">
            <a:avLst>
              <a:gd name="adj" fmla="val 68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647701"/>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21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r>
              <a:tr h="21621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895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228850"/>
            <a:ext cx="11906250" cy="1114425"/>
          </a:xfrm>
          <a:prstGeom prst="roundRect">
            <a:avLst>
              <a:gd name="adj" fmla="val 68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2860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486025"/>
          <a:ext cx="11887204" cy="647701"/>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15265">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21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r>
              <a:tr h="21621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3143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x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Product Type × Material Type, 2026E and 2036F (US$ Mn)</a:t>
            </a:r>
          </a:p>
        </p:txBody>
      </p:sp>
      <p:graphicFrame>
        <p:nvGraphicFramePr>
          <p:cNvPr id="13" name="Table 12"/>
          <p:cNvGraphicFramePr>
            <a:graphicFrameLocks noGrp="1"/>
          </p:cNvGraphicFramePr>
          <p:nvPr/>
        </p:nvGraphicFramePr>
        <p:xfrm>
          <a:off x="152400" y="1238250"/>
          <a:ext cx="11887198" cy="1647825"/>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34937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square"/>
                    <a:lstStyle/>
                    <a:p>
                      <a:pPr algn="ctr">
                        <a:lnSpc>
                          <a:spcPct val="90000"/>
                        </a:lnSpc>
                      </a:pP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408">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1190625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147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552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38550"/>
            <a:ext cx="1163955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Cast metal partial dentures segment is projected to account for the largest share of the U.S. removable partial dentures market, led by high-performance polymers at US$ 29.9 Mn in 2036. 'Acrylic Partial Dentures × High-performance Polymers' is the single largest cross-sectional cell (22.0 US$ Mn, 2026E), while 'Cast Metal Partial Dentures × Flexible Thermoplastics' records the fastest growth at a CAGR of 5.4% over 2026E–2036F.</a:t>
            </a:r>
          </a:p>
          <a:p>
            <a:pPr algn="l">
              <a:lnSpc>
                <a:spcPct val="110000"/>
              </a:lnSpc>
              <a:spcBef>
                <a:spcPts val="0"/>
              </a:spcBef>
              <a:spcAft>
                <a:spcPts val="500"/>
              </a:spcAft>
            </a:pPr>
            <a:r>
              <a:rPr sz="1150" b="0">
                <a:solidFill>
                  <a:srgbClr val="2E2E2E"/>
                </a:solidFill>
                <a:latin typeface="Calibri"/>
              </a:rPr>
              <a:t>Combined, the top three product type × material type cells generate an absolute $ opportunity of 27.1 US$ Mn by 2036F.</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Product Type × Material Type, 2026E (% of each row)</a:t>
            </a:r>
          </a:p>
        </p:txBody>
      </p:sp>
      <p:graphicFrame>
        <p:nvGraphicFramePr>
          <p:cNvPr id="13" name="Table 12"/>
          <p:cNvGraphicFramePr>
            <a:graphicFrameLocks noGrp="1"/>
          </p:cNvGraphicFramePr>
          <p:nvPr/>
        </p:nvGraphicFramePr>
        <p:xfrm>
          <a:off x="152400" y="1238250"/>
          <a:ext cx="11887201" cy="1647825"/>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350520">
                <a:tc vMerge="1">
                  <a:txBody>
                    <a:bodyPr wrap="none"/>
                    <a:lstStyle/>
                    <a:p>
                      <a:pPr algn="l"/>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7286625"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861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514725"/>
          <a:ext cx="7096125" cy="3057525"/>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28975"/>
            <a:ext cx="445770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3147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528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38550"/>
            <a:ext cx="41910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'PEEK-based Materials' holds the highest share of 'Acrylic Partial Dentures' at 18.4% (2026E).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is the most concentrated product type sub-segment, with 18.4% of its value via 'PEEK-based Materials'.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'Other Thermoplastic Resins' gains +287 BPS of share of the U.S. cross-section by 2036F.</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647825"/>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34937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square"/>
                    <a:lstStyle/>
                    <a:p>
                      <a:pPr algn="ctr">
                        <a:lnSpc>
                          <a:spcPct val="90000"/>
                        </a:lnSpc>
                      </a:pP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408">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560070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147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5528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38550"/>
            <a:ext cx="53340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1. Cast Metal Partial Dentures × Flexible Thermoplastics  –  9.02  ·  5.4%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2. Acrylic Partial Dentures × Flexible Thermoplastics  –  9.02  ·  5.4%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3. Combination Framework Partial Dentures × Flexible Thermoplastics  –  9.02  ·  5.4%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4. Flexible Partial Dentures × Flexible Thermoplastics  –  9.02  ·  5.4%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5. Cast Metal Partial Dentures × High-performance Polymers  –  7.87  ·  3.1%  ·  4/5</a:t>
            </a:r>
          </a:p>
        </p:txBody>
      </p:sp>
      <p:sp>
        <p:nvSpPr>
          <p:cNvPr id="19" name="Rounded Rectangle 18"/>
          <p:cNvSpPr/>
          <p:nvPr/>
        </p:nvSpPr>
        <p:spPr>
          <a:xfrm>
            <a:off x="5895975" y="3228975"/>
            <a:ext cx="1943100" cy="34004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147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5528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638550"/>
            <a:ext cx="16764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'Cast Metal Partial Dentures × Flexible Thermoplastics' adds 9.02 US$ Mn by 2036F – 9.3% of the total opportunity.</a:t>
            </a:r>
          </a:p>
        </p:txBody>
      </p:sp>
      <p:sp>
        <p:nvSpPr>
          <p:cNvPr id="23" name="Rounded Rectangle 22"/>
          <p:cNvSpPr/>
          <p:nvPr/>
        </p:nvSpPr>
        <p:spPr>
          <a:xfrm>
            <a:off x="7991475" y="3228975"/>
            <a:ext cx="1943100" cy="34004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147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5528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638550"/>
            <a:ext cx="16764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'Cast Metal Partial Dentures × Flexible Thermoplastics' grows at a 5.4% CAGR, 209 BPS above the cross-section.</a:t>
            </a:r>
          </a:p>
        </p:txBody>
      </p:sp>
      <p:sp>
        <p:nvSpPr>
          <p:cNvPr id="27" name="Rounded Rectangle 26"/>
          <p:cNvSpPr/>
          <p:nvPr/>
        </p:nvSpPr>
        <p:spPr>
          <a:xfrm>
            <a:off x="10086975" y="3228975"/>
            <a:ext cx="1943100" cy="34004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147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5528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638550"/>
            <a:ext cx="16764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'Cast Metal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x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Product Type × Technology, 2026E and 2036F (US$ Mn)</a:t>
            </a:r>
          </a:p>
        </p:txBody>
      </p:sp>
      <p:graphicFrame>
        <p:nvGraphicFramePr>
          <p:cNvPr id="13" name="Table 12"/>
          <p:cNvGraphicFramePr>
            <a:graphicFrameLocks noGrp="1"/>
          </p:cNvGraphicFramePr>
          <p:nvPr/>
        </p:nvGraphicFramePr>
        <p:xfrm>
          <a:off x="152400" y="1238250"/>
          <a:ext cx="11887202" cy="1514475"/>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535">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353.2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Acrylic partial dentures segment is projected to account for the largest share of the U.S. removable partial dentures market, led by conventional fabrication at US$ 47.3 Mn in 2036. 'Cast Metal Partial Dentures × Conventional Fabrication' is the single largest cross-sectional cell (34.1 US$ Mn, 2026E), while 'Acrylic Partial Dentures × Conventional Fabrication' records the fastest growth at a CAGR of 3.3% over 2026E–2036F.</a:t>
            </a:r>
          </a:p>
          <a:p>
            <a:pPr algn="l">
              <a:lnSpc>
                <a:spcPct val="110000"/>
              </a:lnSpc>
              <a:spcBef>
                <a:spcPts val="0"/>
              </a:spcBef>
              <a:spcAft>
                <a:spcPts val="500"/>
              </a:spcAft>
            </a:pPr>
            <a:r>
              <a:rPr sz="1150" b="0">
                <a:solidFill>
                  <a:srgbClr val="2E2E2E"/>
                </a:solidFill>
                <a:latin typeface="Calibri"/>
              </a:rPr>
              <a:t>Combined, the top three product type × technology cells generate an absolute $ opportunity of 39.7 US$ Mn by 2036F.</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Product Type × Technology, 2026E (% of each row)</a:t>
            </a:r>
          </a:p>
        </p:txBody>
      </p:sp>
      <p:graphicFrame>
        <p:nvGraphicFramePr>
          <p:cNvPr id="13" name="Table 12"/>
          <p:cNvGraphicFramePr>
            <a:graphicFrameLocks noGrp="1"/>
          </p:cNvGraphicFramePr>
          <p:nvPr/>
        </p:nvGraphicFramePr>
        <p:xfrm>
          <a:off x="152400" y="1238250"/>
          <a:ext cx="11887200" cy="1647825"/>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350520">
                <a:tc vMerge="1">
                  <a:txBody>
                    <a:bodyPr wrap="none"/>
                    <a:lstStyle/>
                    <a:p>
                      <a:pPr algn="l"/>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lnSpc>
                          <a:spcPct val="90000"/>
                        </a:lnSpc>
                      </a:pP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1640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r>
              <a:tr h="21640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r>
              <a:tr h="21640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956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28975"/>
            <a:ext cx="7286625"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2861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514725"/>
          <a:ext cx="7096125" cy="3057525"/>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228975"/>
            <a:ext cx="4457700" cy="3400425"/>
          </a:xfrm>
          <a:prstGeom prst="roundRect">
            <a:avLst>
              <a:gd name="adj" fmla="val 22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3147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5528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638550"/>
            <a:ext cx="4191000" cy="29146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'Heat-cured / Compression Processing' holds the highest share of 'Cast Metal Partial Dentures' at 22.5% (2026E).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'Cast Metal Partial Dentures' is the most concentrated product type sub-segment, with 22.5% of its value via 'Heat-cured / Compression Processing'.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'Metal Casting' gains +141 BPS of share of the U.S. cross-section by 2036F.</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514475"/>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15265">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16535">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95625"/>
            <a:ext cx="560070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8135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41947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05200"/>
            <a:ext cx="53340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1. Acrylic Partial Dentures × Conventional Fabrication  –  13.2  ·  3.3%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2. Flexible Partial Dentures × Conventional Fabrication  –  13.2  ·  3.3%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3. Combination Framework Partial Dentures × Conventional Fabrication  –  13.2  ·  3.3%  ·  5/5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4. Cast Metal Partial Dentures × Conventional Fabrication  –  13.2  ·  3.3%  ·  4/5</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5. Flexible Partial Dentures × Digital Fabrication  –  11.1  ·  3.2%  ·  2/5</a:t>
            </a:r>
          </a:p>
        </p:txBody>
      </p:sp>
      <p:sp>
        <p:nvSpPr>
          <p:cNvPr id="19" name="Rounded Rectangle 18"/>
          <p:cNvSpPr/>
          <p:nvPr/>
        </p:nvSpPr>
        <p:spPr>
          <a:xfrm>
            <a:off x="5895975" y="3095625"/>
            <a:ext cx="1943100" cy="353377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18135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41947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505200"/>
            <a:ext cx="16764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adds 13.2 US$ Mn by 2036F – 13.6% of the total opportunity.</a:t>
            </a:r>
          </a:p>
        </p:txBody>
      </p:sp>
      <p:sp>
        <p:nvSpPr>
          <p:cNvPr id="23" name="Rounded Rectangle 22"/>
          <p:cNvSpPr/>
          <p:nvPr/>
        </p:nvSpPr>
        <p:spPr>
          <a:xfrm>
            <a:off x="7991475" y="3095625"/>
            <a:ext cx="1943100" cy="353377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18135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41947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505200"/>
            <a:ext cx="16764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grows at a 3.3% CAGR, 6 BPS above the cross-section.</a:t>
            </a:r>
          </a:p>
        </p:txBody>
      </p:sp>
      <p:sp>
        <p:nvSpPr>
          <p:cNvPr id="27" name="Rounded Rectangle 26"/>
          <p:cNvSpPr/>
          <p:nvPr/>
        </p:nvSpPr>
        <p:spPr>
          <a:xfrm>
            <a:off x="10086975" y="3095625"/>
            <a:ext cx="1943100" cy="353377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18135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41947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505200"/>
            <a:ext cx="167640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219075" y="3471051"/>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205.9</a:t>
            </a:r>
          </a:p>
        </p:txBody>
      </p:sp>
      <p:sp>
        <p:nvSpPr>
          <p:cNvPr id="14" name="TextBox 13"/>
          <p:cNvSpPr txBox="1"/>
          <p:nvPr/>
        </p:nvSpPr>
        <p:spPr>
          <a:xfrm>
            <a:off x="219075" y="256100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341.8</a:t>
            </a:r>
          </a:p>
        </p:txBody>
      </p:sp>
      <p:sp>
        <p:nvSpPr>
          <p:cNvPr id="15" name="TextBox 14"/>
          <p:cNvSpPr txBox="1"/>
          <p:nvPr/>
        </p:nvSpPr>
        <p:spPr>
          <a:xfrm>
            <a:off x="219075" y="1650949"/>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477.7</a:t>
            </a:r>
          </a:p>
        </p:txBody>
      </p:sp>
      <p:cxnSp>
        <p:nvCxnSpPr>
          <p:cNvPr id="16" name="Connector 15"/>
          <p:cNvCxnSpPr/>
          <p:nvPr/>
        </p:nvCxnSpPr>
        <p:spPr>
          <a:xfrm>
            <a:off x="1533525" y="2614307"/>
            <a:ext cx="0" cy="296195"/>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314450" y="2614307"/>
            <a:ext cx="438150" cy="296195"/>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461907"/>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343.8</a:t>
            </a:r>
          </a:p>
        </p:txBody>
      </p:sp>
      <p:sp>
        <p:nvSpPr>
          <p:cNvPr id="19" name="TextBox 18"/>
          <p:cNvSpPr txBox="1"/>
          <p:nvPr/>
        </p:nvSpPr>
        <p:spPr>
          <a:xfrm>
            <a:off x="6572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cxnSp>
        <p:nvCxnSpPr>
          <p:cNvPr id="20" name="Connector 19"/>
          <p:cNvCxnSpPr/>
          <p:nvPr/>
        </p:nvCxnSpPr>
        <p:spPr>
          <a:xfrm>
            <a:off x="3286125" y="2481368"/>
            <a:ext cx="0" cy="31199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067050" y="2481368"/>
            <a:ext cx="438150" cy="31199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409825" y="2328968"/>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363.7</a:t>
            </a:r>
          </a:p>
        </p:txBody>
      </p:sp>
      <p:sp>
        <p:nvSpPr>
          <p:cNvPr id="23" name="TextBox 22"/>
          <p:cNvSpPr txBox="1"/>
          <p:nvPr/>
        </p:nvSpPr>
        <p:spPr>
          <a:xfrm>
            <a:off x="24098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cxnSp>
        <p:nvCxnSpPr>
          <p:cNvPr id="24" name="Connector 23"/>
          <p:cNvCxnSpPr/>
          <p:nvPr/>
        </p:nvCxnSpPr>
        <p:spPr>
          <a:xfrm>
            <a:off x="5038725" y="1927636"/>
            <a:ext cx="0" cy="385280"/>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4819650" y="1927636"/>
            <a:ext cx="438150" cy="385280"/>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4162425" y="17752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446.4</a:t>
            </a:r>
          </a:p>
        </p:txBody>
      </p:sp>
      <p:sp>
        <p:nvSpPr>
          <p:cNvPr id="27" name="TextBox 26"/>
          <p:cNvSpPr txBox="1"/>
          <p:nvPr/>
        </p:nvSpPr>
        <p:spPr>
          <a:xfrm>
            <a:off x="41624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cxnSp>
        <p:nvCxnSpPr>
          <p:cNvPr id="28" name="Connector 27"/>
          <p:cNvCxnSpPr/>
          <p:nvPr/>
        </p:nvCxnSpPr>
        <p:spPr>
          <a:xfrm>
            <a:off x="6791325" y="3091932"/>
            <a:ext cx="0" cy="23578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6572250" y="3091932"/>
            <a:ext cx="438150" cy="23578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5915025" y="2939532"/>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272.5</a:t>
            </a:r>
          </a:p>
        </p:txBody>
      </p:sp>
      <p:sp>
        <p:nvSpPr>
          <p:cNvPr id="31" name="TextBox 30"/>
          <p:cNvSpPr txBox="1"/>
          <p:nvPr/>
        </p:nvSpPr>
        <p:spPr>
          <a:xfrm>
            <a:off x="59150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32" name="Rounded Rectangle 31"/>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a:t>
            </a:r>
          </a:p>
        </p:txBody>
      </p:sp>
      <p:cxnSp>
        <p:nvCxnSpPr>
          <p:cNvPr id="34" name="Connector 33"/>
          <p:cNvCxnSpPr/>
          <p:nvPr/>
        </p:nvCxnSpPr>
        <p:spPr>
          <a:xfrm>
            <a:off x="619125" y="451908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88418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619125" y="561440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619125" y="59795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619125" y="4519080"/>
            <a:ext cx="0" cy="146043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451908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590550" y="488418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590550" y="561440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590550" y="59795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5" name="FMI Scale tick"/>
          <p:cNvSpPr txBox="1"/>
          <p:nvPr/>
        </p:nvSpPr>
        <p:spPr>
          <a:xfrm>
            <a:off x="138112" y="4452405"/>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+9.2%</a:t>
            </a:r>
          </a:p>
        </p:txBody>
      </p:sp>
      <p:sp>
        <p:nvSpPr>
          <p:cNvPr id="46" name="FMI Scale tick"/>
          <p:cNvSpPr txBox="1"/>
          <p:nvPr/>
        </p:nvSpPr>
        <p:spPr>
          <a:xfrm>
            <a:off x="138112" y="4817514"/>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+4.6%</a:t>
            </a:r>
          </a:p>
        </p:txBody>
      </p:sp>
      <p:sp>
        <p:nvSpPr>
          <p:cNvPr id="47"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tick"/>
          <p:cNvSpPr txBox="1"/>
          <p:nvPr/>
        </p:nvSpPr>
        <p:spPr>
          <a:xfrm>
            <a:off x="164306" y="5547732"/>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-4.6%</a:t>
            </a:r>
          </a:p>
        </p:txBody>
      </p:sp>
      <p:sp>
        <p:nvSpPr>
          <p:cNvPr id="49" name="FMI Scale tick"/>
          <p:cNvSpPr txBox="1"/>
          <p:nvPr/>
        </p:nvSpPr>
        <p:spPr>
          <a:xfrm>
            <a:off x="164306" y="5912841"/>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-9.2%</a:t>
            </a:r>
          </a:p>
        </p:txBody>
      </p:sp>
      <p:cxnSp>
        <p:nvCxnSpPr>
          <p:cNvPr id="50" name="Connector 49"/>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977900" y="4654262"/>
            <a:ext cx="457200" cy="59503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619125" y="4511387"/>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+7.5%</a:t>
            </a:r>
          </a:p>
        </p:txBody>
      </p:sp>
      <p:sp>
        <p:nvSpPr>
          <p:cNvPr id="53" name="Rectangle 52"/>
          <p:cNvSpPr/>
          <p:nvPr/>
        </p:nvSpPr>
        <p:spPr>
          <a:xfrm>
            <a:off x="2152650" y="4640154"/>
            <a:ext cx="457200" cy="6091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1793875" y="449727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+7.7%</a:t>
            </a:r>
          </a:p>
        </p:txBody>
      </p:sp>
      <p:sp>
        <p:nvSpPr>
          <p:cNvPr id="55" name="Rectangle 54"/>
          <p:cNvSpPr/>
          <p:nvPr/>
        </p:nvSpPr>
        <p:spPr>
          <a:xfrm>
            <a:off x="3327400" y="4659865"/>
            <a:ext cx="457200" cy="58943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MI Data Label"/>
          <p:cNvSpPr txBox="1"/>
          <p:nvPr/>
        </p:nvSpPr>
        <p:spPr>
          <a:xfrm>
            <a:off x="2968625" y="451699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+7.4%</a:t>
            </a:r>
          </a:p>
        </p:txBody>
      </p:sp>
      <p:sp>
        <p:nvSpPr>
          <p:cNvPr id="57" name="Rectangle 56"/>
          <p:cNvSpPr/>
          <p:nvPr/>
        </p:nvSpPr>
        <p:spPr>
          <a:xfrm>
            <a:off x="4502150" y="4681848"/>
            <a:ext cx="457200" cy="56745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MI Data Label"/>
          <p:cNvSpPr txBox="1"/>
          <p:nvPr/>
        </p:nvSpPr>
        <p:spPr>
          <a:xfrm>
            <a:off x="4143375" y="453897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+7.1%</a:t>
            </a:r>
          </a:p>
        </p:txBody>
      </p:sp>
      <p:sp>
        <p:nvSpPr>
          <p:cNvPr id="59" name="Rectangle 58"/>
          <p:cNvSpPr/>
          <p:nvPr/>
        </p:nvSpPr>
        <p:spPr>
          <a:xfrm>
            <a:off x="5676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MI Data Label"/>
          <p:cNvSpPr txBox="1"/>
          <p:nvPr/>
        </p:nvSpPr>
        <p:spPr>
          <a:xfrm>
            <a:off x="5318125" y="447123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+8.0%</a:t>
            </a:r>
          </a:p>
        </p:txBody>
      </p:sp>
      <p:sp>
        <p:nvSpPr>
          <p:cNvPr id="61" name="Rectangle 60"/>
          <p:cNvSpPr/>
          <p:nvPr/>
        </p:nvSpPr>
        <p:spPr>
          <a:xfrm>
            <a:off x="6851650" y="4663477"/>
            <a:ext cx="457200" cy="58582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MI Data Label"/>
          <p:cNvSpPr txBox="1"/>
          <p:nvPr/>
        </p:nvSpPr>
        <p:spPr>
          <a:xfrm>
            <a:off x="6492875" y="452060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+7.4%</a:t>
            </a:r>
          </a:p>
        </p:txBody>
      </p:sp>
      <p:sp>
        <p:nvSpPr>
          <p:cNvPr id="63" name="TextBox 62"/>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64" name="TextBox 63"/>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65" name="TextBox 64"/>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66" name="TextBox 65"/>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67" name="TextBox 66"/>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68" name="TextBox 67"/>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69" name="Rounded Rectangle 68"/>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71" name="Rectangle 70"/>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chart shows global average pricing of key product type types in USD, harmonised across regions. Each candlestick spans the minimum-to-maximum observed price within the base year, giving a clear read of price range and market dispersion.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Wider bodies mark a larger gap between opening and closing price levels 'Combination Framework Partial Dentures' shows the most movement (+14.8%) and 'Acrylic Partial Dentures' the least (+14.7%) variability stakeholders should monitor when planning procurement or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lower chart indexes region-level price movement to the base year, applied consistently across the horizon to strip out year-on-year inflationary volatility and reveal structural price shifts.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Region price indices diverge by up to 8.0% between 2026 and 2036: higher-priced regions start higher and grow steadily, while lower-priced regions start lower and converge, reflecting catch-up growth.</a:t>
            </a:r>
          </a:p>
        </p:txBody>
      </p:sp>
      <p:sp>
        <p:nvSpPr>
          <p:cNvPr id="73" name="TextBox 7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(US$/Units)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Flexible Partial Dentures command the highest 2026 price point at US$ 407/MT, a 63.8% premium over Combination Framework Partial Dentures.</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(US$/Units)</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Global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07848">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07848">
                <a:tc>
                  <a:txBody>
                    <a:bodyPr wrap="square"/>
                    <a:lstStyle/>
                    <a:p>
                      <a:pPr algn="l"/>
                      <a:r>
                        <a:rPr sz="850" b="1">
                          <a:solidFill>
                            <a:srgbClr val="1F1F1F"/>
                          </a:solidFill>
                          <a:latin typeface="Calibri"/>
                        </a:rPr>
                        <a:t>Flexible Partial Dentures</a:t>
                      </a:r>
                    </a:p>
                  </a:txBody>
                  <a:tcPr marL="36576" marR="36576" marT="9144" marB="9144" anchor="ctr">
                    <a:solidFill>
                      <a:srgbClr val="FFFFFF"/>
                    </a:solidFill>
                  </a:tcPr>
                </a:tc>
                <a:tc>
                  <a:txBody>
                    <a:bodyPr wrap="square"/>
                    <a:lstStyle/>
                    <a:p>
                      <a:pPr algn="ctr"/>
                      <a:r>
                        <a:rPr sz="850" b="0">
                          <a:solidFill>
                            <a:srgbClr val="1F1F1F"/>
                          </a:solidFill>
                          <a:latin typeface="Calibri"/>
                        </a:rPr>
                        <a:t>389</a:t>
                      </a:r>
                    </a:p>
                  </a:txBody>
                  <a:tcPr marL="36576" marR="36576" marT="9144" marB="9144" anchor="ctr">
                    <a:solidFill>
                      <a:srgbClr val="FFFFFF"/>
                    </a:solidFill>
                  </a:tcPr>
                </a:tc>
                <a:tc>
                  <a:txBody>
                    <a:bodyPr wrap="square"/>
                    <a:lstStyle/>
                    <a:p>
                      <a:pPr algn="ctr"/>
                      <a:r>
                        <a:rPr sz="850" b="0">
                          <a:solidFill>
                            <a:srgbClr val="1F1F1F"/>
                          </a:solidFill>
                          <a:latin typeface="Calibri"/>
                        </a:rPr>
                        <a:t>407</a:t>
                      </a:r>
                    </a:p>
                  </a:txBody>
                  <a:tcPr marL="36576" marR="36576" marT="9144" marB="9144" anchor="ctr">
                    <a:solidFill>
                      <a:srgbClr val="FFFFFF"/>
                    </a:solidFill>
                  </a:tcPr>
                </a:tc>
                <a:tc>
                  <a:txBody>
                    <a:bodyPr wrap="square"/>
                    <a:lstStyle/>
                    <a:p>
                      <a:pPr algn="ctr"/>
                      <a:r>
                        <a:rPr sz="850" b="0">
                          <a:solidFill>
                            <a:srgbClr val="1F1F1F"/>
                          </a:solidFill>
                          <a:latin typeface="Calibri"/>
                        </a:rPr>
                        <a:t>446</a:t>
                      </a:r>
                    </a:p>
                  </a:txBody>
                  <a:tcPr marL="36576" marR="36576" marT="9144" marB="9144" anchor="ctr">
                    <a:solidFill>
                      <a:srgbClr val="FFFFFF"/>
                    </a:solidFill>
                  </a:tcPr>
                </a:tc>
                <a:tc>
                  <a:txBody>
                    <a:bodyPr wrap="square"/>
                    <a:lstStyle/>
                    <a:p>
                      <a:pPr algn="ctr"/>
                      <a:r>
                        <a:rPr sz="850" b="0">
                          <a:solidFill>
                            <a:srgbClr val="1F1F1F"/>
                          </a:solidFill>
                          <a:latin typeface="Calibri"/>
                        </a:rPr>
                        <a:t>0.93%</a:t>
                      </a:r>
                    </a:p>
                  </a:txBody>
                  <a:tcPr marL="36576" marR="36576" marT="9144" marB="9144" anchor="ctr">
                    <a:solidFill>
                      <a:srgbClr val="FFFFFF"/>
                    </a:solidFill>
                  </a:tcPr>
                </a:tc>
                <a:tc>
                  <a:txBody>
                    <a:bodyPr wrap="square"/>
                    <a:lstStyle/>
                    <a:p>
                      <a:pPr algn="ctr"/>
                      <a:r>
                        <a:rPr sz="850" b="0">
                          <a:solidFill>
                            <a:srgbClr val="1F1F1F"/>
                          </a:solidFill>
                          <a:latin typeface="Calibri"/>
                        </a:rPr>
                        <a:t>126.5</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Acrylic Partial Dentures</a:t>
                      </a:r>
                    </a:p>
                  </a:txBody>
                  <a:tcPr marL="36576" marR="36576" marT="9144" marB="9144" anchor="ctr">
                    <a:solidFill>
                      <a:srgbClr val="F3F6F9"/>
                    </a:solidFill>
                  </a:tcPr>
                </a:tc>
                <a:tc>
                  <a:txBody>
                    <a:bodyPr wrap="square"/>
                    <a:lstStyle/>
                    <a:p>
                      <a:pPr algn="ctr"/>
                      <a:r>
                        <a:rPr sz="850" b="0">
                          <a:solidFill>
                            <a:srgbClr val="1F1F1F"/>
                          </a:solidFill>
                          <a:latin typeface="Calibri"/>
                        </a:rPr>
                        <a:t>317</a:t>
                      </a:r>
                    </a:p>
                  </a:txBody>
                  <a:tcPr marL="36576" marR="36576" marT="9144" marB="9144" anchor="ctr">
                    <a:solidFill>
                      <a:srgbClr val="F3F6F9"/>
                    </a:solidFill>
                  </a:tcPr>
                </a:tc>
                <a:tc>
                  <a:txBody>
                    <a:bodyPr wrap="square"/>
                    <a:lstStyle/>
                    <a:p>
                      <a:pPr algn="ctr"/>
                      <a:r>
                        <a:rPr sz="850" b="0">
                          <a:solidFill>
                            <a:srgbClr val="1F1F1F"/>
                          </a:solidFill>
                          <a:latin typeface="Calibri"/>
                        </a:rPr>
                        <a:t>332</a:t>
                      </a:r>
                    </a:p>
                  </a:txBody>
                  <a:tcPr marL="36576" marR="36576" marT="9144" marB="9144" anchor="ctr">
                    <a:solidFill>
                      <a:srgbClr val="F3F6F9"/>
                    </a:solidFill>
                  </a:tcPr>
                </a:tc>
                <a:tc>
                  <a:txBody>
                    <a:bodyPr wrap="square"/>
                    <a:lstStyle/>
                    <a:p>
                      <a:pPr algn="ctr"/>
                      <a:r>
                        <a:rPr sz="850" b="0">
                          <a:solidFill>
                            <a:srgbClr val="1F1F1F"/>
                          </a:solidFill>
                          <a:latin typeface="Calibri"/>
                        </a:rPr>
                        <a:t>364</a:t>
                      </a:r>
                    </a:p>
                  </a:txBody>
                  <a:tcPr marL="36576" marR="36576" marT="9144" marB="9144" anchor="ctr">
                    <a:solidFill>
                      <a:srgbClr val="F3F6F9"/>
                    </a:solidFill>
                  </a:tcPr>
                </a:tc>
                <a:tc>
                  <a:txBody>
                    <a:bodyPr wrap="square"/>
                    <a:lstStyle/>
                    <a:p>
                      <a:pPr algn="ctr"/>
                      <a:r>
                        <a:rPr sz="850" b="0">
                          <a:solidFill>
                            <a:srgbClr val="1F1F1F"/>
                          </a:solidFill>
                          <a:latin typeface="Calibri"/>
                        </a:rPr>
                        <a:t>0.92%</a:t>
                      </a:r>
                    </a:p>
                  </a:txBody>
                  <a:tcPr marL="36576" marR="36576" marT="9144" marB="9144" anchor="ctr">
                    <a:solidFill>
                      <a:srgbClr val="F3F6F9"/>
                    </a:solidFill>
                  </a:tcPr>
                </a:tc>
                <a:tc>
                  <a:txBody>
                    <a:bodyPr wrap="square"/>
                    <a:lstStyle/>
                    <a:p>
                      <a:pPr algn="ctr"/>
                      <a:r>
                        <a:rPr sz="850" b="0">
                          <a:solidFill>
                            <a:srgbClr val="1F1F1F"/>
                          </a:solidFill>
                          <a:latin typeface="Calibri"/>
                        </a:rPr>
                        <a:t>103.1</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Cast Metal Partial Dentures</a:t>
                      </a:r>
                    </a:p>
                  </a:txBody>
                  <a:tcPr marL="36576" marR="36576" marT="9144" marB="9144" anchor="ctr">
                    <a:solidFill>
                      <a:srgbClr val="FFFFFF"/>
                    </a:solidFill>
                  </a:tcPr>
                </a:tc>
                <a:tc>
                  <a:txBody>
                    <a:bodyPr wrap="square"/>
                    <a:lstStyle/>
                    <a:p>
                      <a:pPr algn="ctr"/>
                      <a:r>
                        <a:rPr sz="850" b="0">
                          <a:solidFill>
                            <a:srgbClr val="1F1F1F"/>
                          </a:solidFill>
                          <a:latin typeface="Calibri"/>
                        </a:rPr>
                        <a:t>300</a:t>
                      </a:r>
                    </a:p>
                  </a:txBody>
                  <a:tcPr marL="36576" marR="36576" marT="9144" marB="9144" anchor="ctr">
                    <a:solidFill>
                      <a:srgbClr val="FFFFFF"/>
                    </a:solidFill>
                  </a:tcPr>
                </a:tc>
                <a:tc>
                  <a:txBody>
                    <a:bodyPr wrap="square"/>
                    <a:lstStyle/>
                    <a:p>
                      <a:pPr algn="ctr"/>
                      <a:r>
                        <a:rPr sz="850" b="0">
                          <a:solidFill>
                            <a:srgbClr val="1F1F1F"/>
                          </a:solidFill>
                          <a:latin typeface="Calibri"/>
                        </a:rPr>
                        <a:t>314</a:t>
                      </a:r>
                    </a:p>
                  </a:txBody>
                  <a:tcPr marL="36576" marR="36576" marT="9144" marB="9144" anchor="ctr">
                    <a:solidFill>
                      <a:srgbClr val="FFFFFF"/>
                    </a:solidFill>
                  </a:tcPr>
                </a:tc>
                <a:tc>
                  <a:txBody>
                    <a:bodyPr wrap="square"/>
                    <a:lstStyle/>
                    <a:p>
                      <a:pPr algn="ctr"/>
                      <a:r>
                        <a:rPr sz="850" b="0">
                          <a:solidFill>
                            <a:srgbClr val="1F1F1F"/>
                          </a:solidFill>
                          <a:latin typeface="Calibri"/>
                        </a:rPr>
                        <a:t>344</a:t>
                      </a:r>
                    </a:p>
                  </a:txBody>
                  <a:tcPr marL="36576" marR="36576" marT="9144" marB="9144" anchor="ctr">
                    <a:solidFill>
                      <a:srgbClr val="FFFFFF"/>
                    </a:solidFill>
                  </a:tcPr>
                </a:tc>
                <a:tc>
                  <a:txBody>
                    <a:bodyPr wrap="square"/>
                    <a:lstStyle/>
                    <a:p>
                      <a:pPr algn="ctr"/>
                      <a:r>
                        <a:rPr sz="850" b="0">
                          <a:solidFill>
                            <a:srgbClr val="1F1F1F"/>
                          </a:solidFill>
                          <a:latin typeface="Calibri"/>
                        </a:rPr>
                        <a:t>0.93%</a:t>
                      </a:r>
                    </a:p>
                  </a:txBody>
                  <a:tcPr marL="36576" marR="36576" marT="9144" marB="9144" anchor="ctr">
                    <a:solidFill>
                      <a:srgbClr val="FFFFFF"/>
                    </a:solidFill>
                  </a:tcPr>
                </a:tc>
                <a:tc>
                  <a:txBody>
                    <a:bodyPr wrap="square"/>
                    <a:lstStyle/>
                    <a:p>
                      <a:pPr algn="ctr"/>
                      <a:r>
                        <a:rPr sz="850" b="0">
                          <a:solidFill>
                            <a:srgbClr val="1F1F1F"/>
                          </a:solidFill>
                          <a:latin typeface="Calibri"/>
                        </a:rPr>
                        <a:t>97.5</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Combination Framework Partial Dentures</a:t>
                      </a:r>
                    </a:p>
                  </a:txBody>
                  <a:tcPr marL="36576" marR="36576" marT="9144" marB="9144" anchor="ctr">
                    <a:solidFill>
                      <a:srgbClr val="F3F6F9"/>
                    </a:solidFill>
                  </a:tcPr>
                </a:tc>
                <a:tc>
                  <a:txBody>
                    <a:bodyPr wrap="square"/>
                    <a:lstStyle/>
                    <a:p>
                      <a:pPr algn="ctr"/>
                      <a:r>
                        <a:rPr sz="850" b="0">
                          <a:solidFill>
                            <a:srgbClr val="1F1F1F"/>
                          </a:solidFill>
                          <a:latin typeface="Calibri"/>
                        </a:rPr>
                        <a:t>237</a:t>
                      </a:r>
                    </a:p>
                  </a:txBody>
                  <a:tcPr marL="36576" marR="36576" marT="9144" marB="9144" anchor="ctr">
                    <a:solidFill>
                      <a:srgbClr val="F3F6F9"/>
                    </a:solidFill>
                  </a:tcPr>
                </a:tc>
                <a:tc>
                  <a:txBody>
                    <a:bodyPr wrap="square"/>
                    <a:lstStyle/>
                    <a:p>
                      <a:pPr algn="ctr"/>
                      <a:r>
                        <a:rPr sz="850" b="0">
                          <a:solidFill>
                            <a:srgbClr val="1F1F1F"/>
                          </a:solidFill>
                          <a:latin typeface="Calibri"/>
                        </a:rPr>
                        <a:t>248</a:t>
                      </a:r>
                    </a:p>
                  </a:txBody>
                  <a:tcPr marL="36576" marR="36576" marT="9144" marB="9144" anchor="ctr">
                    <a:solidFill>
                      <a:srgbClr val="F3F6F9"/>
                    </a:solidFill>
                  </a:tcPr>
                </a:tc>
                <a:tc>
                  <a:txBody>
                    <a:bodyPr wrap="square"/>
                    <a:lstStyle/>
                    <a:p>
                      <a:pPr algn="ctr"/>
                      <a:r>
                        <a:rPr sz="850" b="0">
                          <a:solidFill>
                            <a:srgbClr val="1F1F1F"/>
                          </a:solidFill>
                          <a:latin typeface="Calibri"/>
                        </a:rPr>
                        <a:t>273</a:t>
                      </a:r>
                    </a:p>
                  </a:txBody>
                  <a:tcPr marL="36576" marR="36576" marT="9144" marB="9144" anchor="ctr">
                    <a:solidFill>
                      <a:srgbClr val="F3F6F9"/>
                    </a:solidFill>
                  </a:tcPr>
                </a:tc>
                <a:tc>
                  <a:txBody>
                    <a:bodyPr wrap="square"/>
                    <a:lstStyle/>
                    <a:p>
                      <a:pPr algn="ctr"/>
                      <a:r>
                        <a:rPr sz="850" b="0">
                          <a:solidFill>
                            <a:srgbClr val="1F1F1F"/>
                          </a:solidFill>
                          <a:latin typeface="Calibri"/>
                        </a:rPr>
                        <a:t>0.93%</a:t>
                      </a:r>
                    </a:p>
                  </a:txBody>
                  <a:tcPr marL="36576" marR="36576" marT="9144" marB="9144" anchor="ctr">
                    <a:solidFill>
                      <a:srgbClr val="F3F6F9"/>
                    </a:solidFill>
                  </a:tcPr>
                </a:tc>
                <a:tc>
                  <a:txBody>
                    <a:bodyPr wrap="square"/>
                    <a:lstStyle/>
                    <a:p>
                      <a:pPr algn="ctr"/>
                      <a:r>
                        <a:rPr sz="850" b="0">
                          <a:solidFill>
                            <a:srgbClr val="1F1F1F"/>
                          </a:solidFill>
                          <a:latin typeface="Calibri"/>
                        </a:rPr>
                        <a:t>77.2</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Global Average</a:t>
                      </a:r>
                    </a:p>
                  </a:txBody>
                  <a:tcPr marL="36576" marR="36576" marT="9144" marB="9144" anchor="ctr">
                    <a:solidFill>
                      <a:srgbClr val="F3F6F9"/>
                    </a:solidFill>
                  </a:tcPr>
                </a:tc>
                <a:tc>
                  <a:txBody>
                    <a:bodyPr wrap="square"/>
                    <a:lstStyle/>
                    <a:p>
                      <a:pPr algn="ctr"/>
                      <a:r>
                        <a:rPr sz="850" b="0">
                          <a:solidFill>
                            <a:srgbClr val="1F1F1F"/>
                          </a:solidFill>
                          <a:latin typeface="Calibri"/>
                        </a:rPr>
                        <a:t>310</a:t>
                      </a:r>
                    </a:p>
                  </a:txBody>
                  <a:tcPr marL="36576" marR="36576" marT="9144" marB="9144" anchor="ctr">
                    <a:solidFill>
                      <a:srgbClr val="F3F6F9"/>
                    </a:solidFill>
                  </a:tcPr>
                </a:tc>
                <a:tc>
                  <a:txBody>
                    <a:bodyPr wrap="square"/>
                    <a:lstStyle/>
                    <a:p>
                      <a:pPr algn="ctr"/>
                      <a:r>
                        <a:rPr sz="850" b="0">
                          <a:solidFill>
                            <a:srgbClr val="1F1F1F"/>
                          </a:solidFill>
                          <a:latin typeface="Calibri"/>
                        </a:rPr>
                        <a:t>322</a:t>
                      </a:r>
                    </a:p>
                  </a:txBody>
                  <a:tcPr marL="36576" marR="36576" marT="9144" marB="9144" anchor="ctr">
                    <a:solidFill>
                      <a:srgbClr val="F3F6F9"/>
                    </a:solidFill>
                  </a:tcPr>
                </a:tc>
                <a:tc>
                  <a:txBody>
                    <a:bodyPr wrap="square"/>
                    <a:lstStyle/>
                    <a:p>
                      <a:pPr algn="ctr"/>
                      <a:r>
                        <a:rPr sz="850" b="0">
                          <a:solidFill>
                            <a:srgbClr val="1F1F1F"/>
                          </a:solidFill>
                          <a:latin typeface="Calibri"/>
                        </a:rPr>
                        <a:t>347</a:t>
                      </a:r>
                    </a:p>
                  </a:txBody>
                  <a:tcPr marL="36576" marR="36576" marT="9144" marB="9144" anchor="ctr">
                    <a:solidFill>
                      <a:srgbClr val="F3F6F9"/>
                    </a:solidFill>
                  </a:tcPr>
                </a:tc>
                <a:tc>
                  <a:txBody>
                    <a:bodyPr wrap="square"/>
                    <a:lstStyle/>
                    <a:p>
                      <a:pPr algn="ctr"/>
                      <a:r>
                        <a:rPr sz="850" b="0">
                          <a:solidFill>
                            <a:srgbClr val="1F1F1F"/>
                          </a:solidFill>
                          <a:latin typeface="Calibri"/>
                        </a:rPr>
                        <a:t>0.76%</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Flexible Partial Dentures sit at the top of the 2026 price ladder at an index of 126.5, while Combination Framework Partial Dentures trade at 77.2, which keeps the full product type spread within 63.8%.</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Combination Framework Partial Dentures post the fastest price growth at a 0.93% CAGR between 2026 and 2036, compared with 0.92% for Acrylic Partial Dentures.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The Global average price rises from US$ 322/MT in 2026 to US$ 347/MT in 2036, and the gap between the highest and lowest priced product type moves from 63.9% in 2021 to 63.8% in 2036.</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Price Matrix: Product Type ×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(US$/Units) for every product type and material type combination, 2026</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Acrylic Partial Dentures for Metal Alloys is the highest priced combination in 2026 at US$ 348/MT, +8.3% above the Global average.</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Matrix (US$/Units), Shaded by Index vs Global Average</a:t>
            </a:r>
          </a:p>
        </p:txBody>
      </p:sp>
      <p:graphicFrame>
        <p:nvGraphicFramePr>
          <p:cNvPr id="13" name="Table 12"/>
          <p:cNvGraphicFramePr>
            <a:graphicFrameLocks noGrp="1"/>
          </p:cNvGraphicFramePr>
          <p:nvPr/>
        </p:nvGraphicFramePr>
        <p:xfrm>
          <a:off x="365760" y="1868043"/>
          <a:ext cx="7360920" cy="2834640"/>
        </p:xfrm>
        <a:graphic>
          <a:graphicData uri="http://schemas.openxmlformats.org/drawingml/2006/table">
            <a:tbl>
              <a:tblPr firstRow="1" bandRow="1">
                <a:tableStyleId>{5C22544A-7EE6-4342-B048-85BDC9FD1C3A}</a:tableStyleId>
              </a:tblPr>
              <a:tblGrid>
                <a:gridCol w="1554480"/>
                <a:gridCol w="1300734"/>
                <a:gridCol w="1300734"/>
                <a:gridCol w="1300734"/>
                <a:gridCol w="1300734"/>
                <a:gridCol w="603504"/>
              </a:tblGrid>
              <a:tr h="472440">
                <a:tc>
                  <a:txBody>
                    <a:bodyPr wrap="square"/>
                    <a:lstStyle/>
                    <a:p>
                      <a:pPr algn="l"/>
                      <a:r>
                        <a:rPr sz="800" b="1">
                          <a:solidFill>
                            <a:srgbClr val="FFFFFF"/>
                          </a:solidFill>
                          <a:latin typeface="Calibri"/>
                        </a:rPr>
                        <a:t>Product Type</a:t>
                      </a:r>
                    </a:p>
                  </a:txBody>
                  <a:tcPr marL="36576" marR="36576" marT="9144" marB="9144" anchor="ctr">
                    <a:solidFill>
                      <a:srgbClr val="0B2E4A"/>
                    </a:solidFill>
                  </a:tcPr>
                </a:tc>
                <a:tc>
                  <a:txBody>
                    <a:bodyPr wrap="square"/>
                    <a:lstStyle/>
                    <a:p>
                      <a:pPr algn="ctr"/>
                      <a:r>
                        <a:rPr sz="800" b="1">
                          <a:solidFill>
                            <a:srgbClr val="FFFFFF"/>
                          </a:solidFill>
                          <a:latin typeface="Calibri"/>
                        </a:rPr>
                        <a:t>Metal Alloys</a:t>
                      </a:r>
                    </a:p>
                  </a:txBody>
                  <a:tcPr marL="36576" marR="36576" marT="9144" marB="9144" anchor="ctr">
                    <a:solidFill>
                      <a:srgbClr val="0B2E4A"/>
                    </a:solidFill>
                  </a:tcPr>
                </a:tc>
                <a:tc>
                  <a:txBody>
                    <a:bodyPr wrap="square"/>
                    <a:lstStyle/>
                    <a:p>
                      <a:pPr algn="ctr"/>
                      <a:r>
                        <a:rPr sz="800" b="1">
                          <a:solidFill>
                            <a:srgbClr val="FFFFFF"/>
                          </a:solidFill>
                          <a:latin typeface="Calibri"/>
                        </a:rPr>
                        <a:t>Acrylic / Resin</a:t>
                      </a:r>
                    </a:p>
                  </a:txBody>
                  <a:tcPr marL="36576" marR="36576" marT="9144" marB="9144" anchor="ctr">
                    <a:solidFill>
                      <a:srgbClr val="0B2E4A"/>
                    </a:solidFill>
                  </a:tcPr>
                </a:tc>
                <a:tc>
                  <a:txBody>
                    <a:bodyPr wrap="square"/>
                    <a:lstStyle/>
                    <a:p>
                      <a:pPr algn="ctr"/>
                      <a:r>
                        <a:rPr sz="800" b="1">
                          <a:solidFill>
                            <a:srgbClr val="FFFFFF"/>
                          </a:solidFill>
                          <a:latin typeface="Calibri"/>
                        </a:rPr>
                        <a:t>Flexible Thermoplastics</a:t>
                      </a:r>
                    </a:p>
                  </a:txBody>
                  <a:tcPr marL="36576" marR="36576" marT="9144" marB="9144" anchor="ctr">
                    <a:solidFill>
                      <a:srgbClr val="0B2E4A"/>
                    </a:solidFill>
                  </a:tcPr>
                </a:tc>
                <a:tc>
                  <a:txBody>
                    <a:bodyPr wrap="square"/>
                    <a:lstStyle/>
                    <a:p>
                      <a:pPr algn="ctr"/>
                      <a:r>
                        <a:rPr sz="800" b="1">
                          <a:solidFill>
                            <a:srgbClr val="FFFFFF"/>
                          </a:solidFill>
                          <a:latin typeface="Calibri"/>
                        </a:rPr>
                        <a:t>High-performance Polymers</a:t>
                      </a:r>
                    </a:p>
                  </a:txBody>
                  <a:tcPr marL="36576" marR="36576" marT="9144" marB="9144" anchor="ctr">
                    <a:solidFill>
                      <a:srgbClr val="0B2E4A"/>
                    </a:solidFill>
                  </a:tcPr>
                </a:tc>
                <a:tc>
                  <a:txBody>
                    <a:bodyPr wrap="square"/>
                    <a:lstStyle/>
                    <a:p>
                      <a:pPr algn="ctr"/>
                      <a:r>
                        <a:rPr sz="800" b="1">
                          <a:solidFill>
                            <a:srgbClr val="FFFFFF"/>
                          </a:solidFill>
                          <a:latin typeface="Calibri"/>
                        </a:rPr>
                        <a:t>Row Avg.</a:t>
                      </a:r>
                    </a:p>
                  </a:txBody>
                  <a:tcPr marL="36576" marR="36576" marT="9144" marB="9144" anchor="ctr">
                    <a:solidFill>
                      <a:srgbClr val="0B2E4A"/>
                    </a:solidFill>
                  </a:tcPr>
                </a:tc>
              </a:tr>
              <a:tr h="472440">
                <a:tc>
                  <a:txBody>
                    <a:bodyPr wrap="square"/>
                    <a:lstStyle/>
                    <a:p>
                      <a:pPr algn="l"/>
                      <a:r>
                        <a:rPr sz="900" b="1">
                          <a:solidFill>
                            <a:srgbClr val="1F1F1F"/>
                          </a:solidFill>
                          <a:latin typeface="Calibri"/>
                        </a:rPr>
                        <a:t>Acrylic Partial Dentures</a:t>
                      </a:r>
                    </a:p>
                  </a:txBody>
                  <a:tcPr marL="36576" marR="36576" marT="9144" marB="9144" anchor="ctr">
                    <a:solidFill>
                      <a:srgbClr val="FFFFFF"/>
                    </a:solidFill>
                  </a:tcPr>
                </a:tc>
                <a:tc>
                  <a:txBody>
                    <a:bodyPr wrap="square"/>
                    <a:lstStyle/>
                    <a:p>
                      <a:pPr algn="ctr"/>
                      <a:r>
                        <a:rPr sz="900" b="0">
                          <a:solidFill>
                            <a:srgbClr val="1F1F1F"/>
                          </a:solidFill>
                          <a:latin typeface="Calibri"/>
                        </a:rPr>
                        <a:t>348</a:t>
                      </a:r>
                    </a:p>
                  </a:txBody>
                  <a:tcPr marL="36576" marR="36576" marT="9144" marB="9144" anchor="ctr">
                    <a:solidFill>
                      <a:srgbClr val="F4B183"/>
                    </a:solidFill>
                  </a:tcPr>
                </a:tc>
                <a:tc>
                  <a:txBody>
                    <a:bodyPr wrap="square"/>
                    <a:lstStyle/>
                    <a:p>
                      <a:pPr algn="ctr"/>
                      <a:r>
                        <a:rPr sz="900" b="0">
                          <a:solidFill>
                            <a:srgbClr val="1F1F1F"/>
                          </a:solidFill>
                          <a:latin typeface="Calibri"/>
                        </a:rPr>
                        <a:t>344</a:t>
                      </a:r>
                    </a:p>
                  </a:txBody>
                  <a:tcPr marL="36576" marR="36576" marT="9144" marB="9144" anchor="ctr">
                    <a:solidFill>
                      <a:srgbClr val="F4B183"/>
                    </a:solidFill>
                  </a:tcPr>
                </a:tc>
                <a:tc>
                  <a:txBody>
                    <a:bodyPr wrap="square"/>
                    <a:lstStyle/>
                    <a:p>
                      <a:pPr algn="ctr"/>
                      <a:r>
                        <a:rPr sz="900" b="0">
                          <a:solidFill>
                            <a:srgbClr val="1F1F1F"/>
                          </a:solidFill>
                          <a:latin typeface="Calibri"/>
                        </a:rPr>
                        <a:t>318</a:t>
                      </a:r>
                    </a:p>
                  </a:txBody>
                  <a:tcPr marL="36576" marR="36576" marT="9144" marB="9144" anchor="ctr">
                    <a:solidFill>
                      <a:srgbClr val="D9E6F2"/>
                    </a:solidFill>
                  </a:tcPr>
                </a:tc>
                <a:tc>
                  <a:txBody>
                    <a:bodyPr wrap="square"/>
                    <a:lstStyle/>
                    <a:p>
                      <a:pPr algn="ctr"/>
                      <a:r>
                        <a:rPr sz="900" b="0">
                          <a:solidFill>
                            <a:srgbClr val="1F1F1F"/>
                          </a:solidFill>
                          <a:latin typeface="Calibri"/>
                        </a:rPr>
                        <a:t>292</a:t>
                      </a:r>
                    </a:p>
                  </a:txBody>
                  <a:tcPr marL="36576" marR="36576" marT="9144" marB="9144" anchor="ctr">
                    <a:solidFill>
                      <a:srgbClr val="9DC0E0"/>
                    </a:solidFill>
                  </a:tcPr>
                </a:tc>
                <a:tc>
                  <a:txBody>
                    <a:bodyPr wrap="square"/>
                    <a:lstStyle/>
                    <a:p>
                      <a:pPr algn="ctr"/>
                      <a:r>
                        <a:rPr sz="900" b="0">
                          <a:solidFill>
                            <a:srgbClr val="1F1F1F"/>
                          </a:solidFill>
                          <a:latin typeface="Calibri"/>
                        </a:rPr>
                        <a:t>322</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Flexible Partial Dentures</a:t>
                      </a:r>
                    </a:p>
                  </a:txBody>
                  <a:tcPr marL="36576" marR="36576" marT="9144" marB="9144" anchor="ctr">
                    <a:solidFill>
                      <a:srgbClr val="FFFFFF"/>
                    </a:solidFill>
                  </a:tcPr>
                </a:tc>
                <a:tc>
                  <a:txBody>
                    <a:bodyPr wrap="square"/>
                    <a:lstStyle/>
                    <a:p>
                      <a:pPr algn="ctr"/>
                      <a:r>
                        <a:rPr sz="900" b="0">
                          <a:solidFill>
                            <a:srgbClr val="1F1F1F"/>
                          </a:solidFill>
                          <a:latin typeface="Calibri"/>
                        </a:rPr>
                        <a:t>348</a:t>
                      </a:r>
                    </a:p>
                  </a:txBody>
                  <a:tcPr marL="36576" marR="36576" marT="9144" marB="9144" anchor="ctr">
                    <a:solidFill>
                      <a:srgbClr val="F4B183"/>
                    </a:solidFill>
                  </a:tcPr>
                </a:tc>
                <a:tc>
                  <a:txBody>
                    <a:bodyPr wrap="square"/>
                    <a:lstStyle/>
                    <a:p>
                      <a:pPr algn="ctr"/>
                      <a:r>
                        <a:rPr sz="900" b="0">
                          <a:solidFill>
                            <a:srgbClr val="1F1F1F"/>
                          </a:solidFill>
                          <a:latin typeface="Calibri"/>
                        </a:rPr>
                        <a:t>344</a:t>
                      </a:r>
                    </a:p>
                  </a:txBody>
                  <a:tcPr marL="36576" marR="36576" marT="9144" marB="9144" anchor="ctr">
                    <a:solidFill>
                      <a:srgbClr val="F4B183"/>
                    </a:solidFill>
                  </a:tcPr>
                </a:tc>
                <a:tc>
                  <a:txBody>
                    <a:bodyPr wrap="square"/>
                    <a:lstStyle/>
                    <a:p>
                      <a:pPr algn="ctr"/>
                      <a:r>
                        <a:rPr sz="900" b="0">
                          <a:solidFill>
                            <a:srgbClr val="1F1F1F"/>
                          </a:solidFill>
                          <a:latin typeface="Calibri"/>
                        </a:rPr>
                        <a:t>318</a:t>
                      </a:r>
                    </a:p>
                  </a:txBody>
                  <a:tcPr marL="36576" marR="36576" marT="9144" marB="9144" anchor="ctr">
                    <a:solidFill>
                      <a:srgbClr val="D9E6F2"/>
                    </a:solidFill>
                  </a:tcPr>
                </a:tc>
                <a:tc>
                  <a:txBody>
                    <a:bodyPr wrap="square"/>
                    <a:lstStyle/>
                    <a:p>
                      <a:pPr algn="ctr"/>
                      <a:r>
                        <a:rPr sz="900" b="0">
                          <a:solidFill>
                            <a:srgbClr val="1F1F1F"/>
                          </a:solidFill>
                          <a:latin typeface="Calibri"/>
                        </a:rPr>
                        <a:t>292</a:t>
                      </a:r>
                    </a:p>
                  </a:txBody>
                  <a:tcPr marL="36576" marR="36576" marT="9144" marB="9144" anchor="ctr">
                    <a:solidFill>
                      <a:srgbClr val="9DC0E0"/>
                    </a:solidFill>
                  </a:tcPr>
                </a:tc>
                <a:tc>
                  <a:txBody>
                    <a:bodyPr wrap="square"/>
                    <a:lstStyle/>
                    <a:p>
                      <a:pPr algn="ctr"/>
                      <a:r>
                        <a:rPr sz="900" b="0">
                          <a:solidFill>
                            <a:srgbClr val="1F1F1F"/>
                          </a:solidFill>
                          <a:latin typeface="Calibri"/>
                        </a:rPr>
                        <a:t>322</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Combination Framework Partial Dentures</a:t>
                      </a:r>
                    </a:p>
                  </a:txBody>
                  <a:tcPr marL="36576" marR="36576" marT="9144" marB="9144" anchor="ctr">
                    <a:solidFill>
                      <a:srgbClr val="FFFFFF"/>
                    </a:solidFill>
                  </a:tcPr>
                </a:tc>
                <a:tc>
                  <a:txBody>
                    <a:bodyPr wrap="square"/>
                    <a:lstStyle/>
                    <a:p>
                      <a:pPr algn="ctr"/>
                      <a:r>
                        <a:rPr sz="900" b="0">
                          <a:solidFill>
                            <a:srgbClr val="1F1F1F"/>
                          </a:solidFill>
                          <a:latin typeface="Calibri"/>
                        </a:rPr>
                        <a:t>348</a:t>
                      </a:r>
                    </a:p>
                  </a:txBody>
                  <a:tcPr marL="36576" marR="36576" marT="9144" marB="9144" anchor="ctr">
                    <a:solidFill>
                      <a:srgbClr val="F4B183"/>
                    </a:solidFill>
                  </a:tcPr>
                </a:tc>
                <a:tc>
                  <a:txBody>
                    <a:bodyPr wrap="square"/>
                    <a:lstStyle/>
                    <a:p>
                      <a:pPr algn="ctr"/>
                      <a:r>
                        <a:rPr sz="900" b="0">
                          <a:solidFill>
                            <a:srgbClr val="1F1F1F"/>
                          </a:solidFill>
                          <a:latin typeface="Calibri"/>
                        </a:rPr>
                        <a:t>344</a:t>
                      </a:r>
                    </a:p>
                  </a:txBody>
                  <a:tcPr marL="36576" marR="36576" marT="9144" marB="9144" anchor="ctr">
                    <a:solidFill>
                      <a:srgbClr val="F4B183"/>
                    </a:solidFill>
                  </a:tcPr>
                </a:tc>
                <a:tc>
                  <a:txBody>
                    <a:bodyPr wrap="square"/>
                    <a:lstStyle/>
                    <a:p>
                      <a:pPr algn="ctr"/>
                      <a:r>
                        <a:rPr sz="900" b="0">
                          <a:solidFill>
                            <a:srgbClr val="1F1F1F"/>
                          </a:solidFill>
                          <a:latin typeface="Calibri"/>
                        </a:rPr>
                        <a:t>318</a:t>
                      </a:r>
                    </a:p>
                  </a:txBody>
                  <a:tcPr marL="36576" marR="36576" marT="9144" marB="9144" anchor="ctr">
                    <a:solidFill>
                      <a:srgbClr val="D9E6F2"/>
                    </a:solidFill>
                  </a:tcPr>
                </a:tc>
                <a:tc>
                  <a:txBody>
                    <a:bodyPr wrap="square"/>
                    <a:lstStyle/>
                    <a:p>
                      <a:pPr algn="ctr"/>
                      <a:r>
                        <a:rPr sz="900" b="0">
                          <a:solidFill>
                            <a:srgbClr val="1F1F1F"/>
                          </a:solidFill>
                          <a:latin typeface="Calibri"/>
                        </a:rPr>
                        <a:t>292</a:t>
                      </a:r>
                    </a:p>
                  </a:txBody>
                  <a:tcPr marL="36576" marR="36576" marT="9144" marB="9144" anchor="ctr">
                    <a:solidFill>
                      <a:srgbClr val="9DC0E0"/>
                    </a:solidFill>
                  </a:tcPr>
                </a:tc>
                <a:tc>
                  <a:txBody>
                    <a:bodyPr wrap="square"/>
                    <a:lstStyle/>
                    <a:p>
                      <a:pPr algn="ctr"/>
                      <a:r>
                        <a:rPr sz="900" b="0">
                          <a:solidFill>
                            <a:srgbClr val="1F1F1F"/>
                          </a:solidFill>
                          <a:latin typeface="Calibri"/>
                        </a:rPr>
                        <a:t>322</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Cast Metal Partial Dentures</a:t>
                      </a:r>
                    </a:p>
                  </a:txBody>
                  <a:tcPr marL="36576" marR="36576" marT="9144" marB="9144" anchor="ctr">
                    <a:solidFill>
                      <a:srgbClr val="FFFFFF"/>
                    </a:solidFill>
                  </a:tcPr>
                </a:tc>
                <a:tc>
                  <a:txBody>
                    <a:bodyPr wrap="square"/>
                    <a:lstStyle/>
                    <a:p>
                      <a:pPr algn="ctr"/>
                      <a:r>
                        <a:rPr sz="900" b="0">
                          <a:solidFill>
                            <a:srgbClr val="1F1F1F"/>
                          </a:solidFill>
                          <a:latin typeface="Calibri"/>
                        </a:rPr>
                        <a:t>348</a:t>
                      </a:r>
                    </a:p>
                  </a:txBody>
                  <a:tcPr marL="36576" marR="36576" marT="9144" marB="9144" anchor="ctr">
                    <a:solidFill>
                      <a:srgbClr val="F4B183"/>
                    </a:solidFill>
                  </a:tcPr>
                </a:tc>
                <a:tc>
                  <a:txBody>
                    <a:bodyPr wrap="square"/>
                    <a:lstStyle/>
                    <a:p>
                      <a:pPr algn="ctr"/>
                      <a:r>
                        <a:rPr sz="900" b="0">
                          <a:solidFill>
                            <a:srgbClr val="1F1F1F"/>
                          </a:solidFill>
                          <a:latin typeface="Calibri"/>
                        </a:rPr>
                        <a:t>344</a:t>
                      </a:r>
                    </a:p>
                  </a:txBody>
                  <a:tcPr marL="36576" marR="36576" marT="9144" marB="9144" anchor="ctr">
                    <a:solidFill>
                      <a:srgbClr val="F4B183"/>
                    </a:solidFill>
                  </a:tcPr>
                </a:tc>
                <a:tc>
                  <a:txBody>
                    <a:bodyPr wrap="square"/>
                    <a:lstStyle/>
                    <a:p>
                      <a:pPr algn="ctr"/>
                      <a:r>
                        <a:rPr sz="900" b="0">
                          <a:solidFill>
                            <a:srgbClr val="1F1F1F"/>
                          </a:solidFill>
                          <a:latin typeface="Calibri"/>
                        </a:rPr>
                        <a:t>318</a:t>
                      </a:r>
                    </a:p>
                  </a:txBody>
                  <a:tcPr marL="36576" marR="36576" marT="9144" marB="9144" anchor="ctr">
                    <a:solidFill>
                      <a:srgbClr val="D9E6F2"/>
                    </a:solidFill>
                  </a:tcPr>
                </a:tc>
                <a:tc>
                  <a:txBody>
                    <a:bodyPr wrap="square"/>
                    <a:lstStyle/>
                    <a:p>
                      <a:pPr algn="ctr"/>
                      <a:r>
                        <a:rPr sz="900" b="0">
                          <a:solidFill>
                            <a:srgbClr val="1F1F1F"/>
                          </a:solidFill>
                          <a:latin typeface="Calibri"/>
                        </a:rPr>
                        <a:t>292</a:t>
                      </a:r>
                    </a:p>
                  </a:txBody>
                  <a:tcPr marL="36576" marR="36576" marT="9144" marB="9144" anchor="ctr">
                    <a:solidFill>
                      <a:srgbClr val="9DC0E0"/>
                    </a:solidFill>
                  </a:tcPr>
                </a:tc>
                <a:tc>
                  <a:txBody>
                    <a:bodyPr wrap="square"/>
                    <a:lstStyle/>
                    <a:p>
                      <a:pPr algn="ctr"/>
                      <a:r>
                        <a:rPr sz="900" b="0">
                          <a:solidFill>
                            <a:srgbClr val="1F1F1F"/>
                          </a:solidFill>
                          <a:latin typeface="Calibri"/>
                        </a:rPr>
                        <a:t>322</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Column Avg.</a:t>
                      </a:r>
                    </a:p>
                  </a:txBody>
                  <a:tcPr marL="36576" marR="36576" marT="9144" marB="9144" anchor="ctr">
                    <a:solidFill>
                      <a:srgbClr val="F3F6F9"/>
                    </a:solidFill>
                  </a:tcPr>
                </a:tc>
                <a:tc>
                  <a:txBody>
                    <a:bodyPr wrap="square"/>
                    <a:lstStyle/>
                    <a:p>
                      <a:pPr algn="ctr"/>
                      <a:r>
                        <a:rPr sz="900" b="0">
                          <a:solidFill>
                            <a:srgbClr val="1F1F1F"/>
                          </a:solidFill>
                          <a:latin typeface="Calibri"/>
                        </a:rPr>
                        <a:t>348</a:t>
                      </a:r>
                    </a:p>
                  </a:txBody>
                  <a:tcPr marL="36576" marR="36576" marT="9144" marB="9144" anchor="ctr">
                    <a:solidFill>
                      <a:srgbClr val="F3F6F9"/>
                    </a:solidFill>
                  </a:tcPr>
                </a:tc>
                <a:tc>
                  <a:txBody>
                    <a:bodyPr wrap="square"/>
                    <a:lstStyle/>
                    <a:p>
                      <a:pPr algn="ctr"/>
                      <a:r>
                        <a:rPr sz="900" b="0">
                          <a:solidFill>
                            <a:srgbClr val="1F1F1F"/>
                          </a:solidFill>
                          <a:latin typeface="Calibri"/>
                        </a:rPr>
                        <a:t>344</a:t>
                      </a:r>
                    </a:p>
                  </a:txBody>
                  <a:tcPr marL="36576" marR="36576" marT="9144" marB="9144" anchor="ctr">
                    <a:solidFill>
                      <a:srgbClr val="F3F6F9"/>
                    </a:solidFill>
                  </a:tcPr>
                </a:tc>
                <a:tc>
                  <a:txBody>
                    <a:bodyPr wrap="square"/>
                    <a:lstStyle/>
                    <a:p>
                      <a:pPr algn="ctr"/>
                      <a:r>
                        <a:rPr sz="900" b="0">
                          <a:solidFill>
                            <a:srgbClr val="1F1F1F"/>
                          </a:solidFill>
                          <a:latin typeface="Calibri"/>
                        </a:rPr>
                        <a:t>318</a:t>
                      </a:r>
                    </a:p>
                  </a:txBody>
                  <a:tcPr marL="36576" marR="36576" marT="9144" marB="9144" anchor="ctr">
                    <a:solidFill>
                      <a:srgbClr val="F3F6F9"/>
                    </a:solidFill>
                  </a:tcPr>
                </a:tc>
                <a:tc>
                  <a:txBody>
                    <a:bodyPr wrap="square"/>
                    <a:lstStyle/>
                    <a:p>
                      <a:pPr algn="ctr"/>
                      <a:r>
                        <a:rPr sz="900" b="0">
                          <a:solidFill>
                            <a:srgbClr val="1F1F1F"/>
                          </a:solidFill>
                          <a:latin typeface="Calibri"/>
                        </a:rPr>
                        <a:t>292</a:t>
                      </a:r>
                    </a:p>
                  </a:txBody>
                  <a:tcPr marL="36576" marR="36576" marT="9144" marB="9144" anchor="ctr">
                    <a:solidFill>
                      <a:srgbClr val="F3F6F9"/>
                    </a:solidFill>
                  </a:tcPr>
                </a:tc>
                <a:tc>
                  <a:txBody>
                    <a:bodyPr wrap="square"/>
                    <a:lstStyle/>
                    <a:p>
                      <a:pPr algn="ctr"/>
                      <a:r>
                        <a:rPr sz="900" b="0">
                          <a:solidFill>
                            <a:srgbClr val="1F1F1F"/>
                          </a:solidFill>
                          <a:latin typeface="Calibri"/>
                        </a:rPr>
                        <a:t>322</a:t>
                      </a:r>
                    </a:p>
                  </a:txBody>
                  <a:tcPr marL="36576" marR="36576" marT="9144" marB="9144" anchor="ctr">
                    <a:solidFill>
                      <a:srgbClr val="F3F6F9"/>
                    </a:solidFill>
                  </a:tcPr>
                </a:tc>
              </a:tr>
            </a:tbl>
          </a:graphicData>
        </a:graphic>
      </p:graphicFrame>
      <p:sp>
        <p:nvSpPr>
          <p:cNvPr id="14" name="Rectangle 13"/>
          <p:cNvSpPr/>
          <p:nvPr/>
        </p:nvSpPr>
        <p:spPr>
          <a:xfrm>
            <a:off x="384048" y="4794123"/>
            <a:ext cx="180975" cy="142875"/>
          </a:xfrm>
          <a:prstGeom prst="rect">
            <a:avLst/>
          </a:prstGeom>
          <a:solidFill>
            <a:srgbClr val="9DC0E0"/>
          </a:solidFill>
          <a:ln w="9525">
            <a:solidFill>
              <a:srgbClr val="D9DEE4"/>
            </a:solidFill>
          </a:ln>
          <a:effectLst/>
        </p:spPr>
        <p:txBody>
          <a:bodyPr rtlCol="0" anchor="ctr"/>
          <a:lstStyle/>
          <a:p>
            <a:pPr algn="ctr"/>
          </a:p>
        </p:txBody>
      </p:sp>
      <p:sp>
        <p:nvSpPr>
          <p:cNvPr id="15" name="FMI Scale legend"/>
          <p:cNvSpPr txBox="1"/>
          <p:nvPr/>
        </p:nvSpPr>
        <p:spPr>
          <a:xfrm>
            <a:off x="5935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below 97.5</a:t>
            </a:r>
          </a:p>
        </p:txBody>
      </p:sp>
      <p:sp>
        <p:nvSpPr>
          <p:cNvPr id="16" name="Rectangle 15"/>
          <p:cNvSpPr/>
          <p:nvPr/>
        </p:nvSpPr>
        <p:spPr>
          <a:xfrm>
            <a:off x="1850898" y="4794123"/>
            <a:ext cx="180975" cy="142875"/>
          </a:xfrm>
          <a:prstGeom prst="rect">
            <a:avLst/>
          </a:prstGeom>
          <a:solidFill>
            <a:srgbClr val="D9E6F2"/>
          </a:solidFill>
          <a:ln w="9525">
            <a:solidFill>
              <a:srgbClr val="D9DEE4"/>
            </a:solidFill>
          </a:ln>
          <a:effectLst/>
        </p:spPr>
        <p:txBody>
          <a:bodyPr rtlCol="0" anchor="ctr"/>
          <a:lstStyle/>
          <a:p>
            <a:pPr algn="ctr"/>
          </a:p>
        </p:txBody>
      </p:sp>
      <p:sp>
        <p:nvSpPr>
          <p:cNvPr id="17" name="FMI Scale legend"/>
          <p:cNvSpPr txBox="1"/>
          <p:nvPr/>
        </p:nvSpPr>
        <p:spPr>
          <a:xfrm>
            <a:off x="20604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97.5 to 99</a:t>
            </a:r>
          </a:p>
        </p:txBody>
      </p:sp>
      <p:sp>
        <p:nvSpPr>
          <p:cNvPr id="18" name="Rectangle 17"/>
          <p:cNvSpPr/>
          <p:nvPr/>
        </p:nvSpPr>
        <p:spPr>
          <a:xfrm>
            <a:off x="3317748" y="4794123"/>
            <a:ext cx="180975" cy="142875"/>
          </a:xfrm>
          <a:prstGeom prst="rect">
            <a:avLst/>
          </a:prstGeom>
          <a:solidFill>
            <a:srgbClr val="F7F7F7"/>
          </a:solidFill>
          <a:ln w="9525">
            <a:solidFill>
              <a:srgbClr val="D9DEE4"/>
            </a:solidFill>
          </a:ln>
          <a:effectLst/>
        </p:spPr>
        <p:txBody>
          <a:bodyPr rtlCol="0" anchor="ctr"/>
          <a:lstStyle/>
          <a:p>
            <a:pPr algn="ctr"/>
          </a:p>
        </p:txBody>
      </p:sp>
      <p:sp>
        <p:nvSpPr>
          <p:cNvPr id="19" name="FMI Scale legend"/>
          <p:cNvSpPr txBox="1"/>
          <p:nvPr/>
        </p:nvSpPr>
        <p:spPr>
          <a:xfrm>
            <a:off x="35272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Parity: 99 to 101</a:t>
            </a:r>
          </a:p>
        </p:txBody>
      </p:sp>
      <p:sp>
        <p:nvSpPr>
          <p:cNvPr id="20" name="Rectangle 19"/>
          <p:cNvSpPr/>
          <p:nvPr/>
        </p:nvSpPr>
        <p:spPr>
          <a:xfrm>
            <a:off x="4784598" y="4794123"/>
            <a:ext cx="180975" cy="142875"/>
          </a:xfrm>
          <a:prstGeom prst="rect">
            <a:avLst/>
          </a:prstGeom>
          <a:solidFill>
            <a:srgbClr val="FBE3D3"/>
          </a:solidFill>
          <a:ln w="9525">
            <a:solidFill>
              <a:srgbClr val="D9DEE4"/>
            </a:solidFill>
          </a:ln>
          <a:effectLst/>
        </p:spPr>
        <p:txBody>
          <a:bodyPr rtlCol="0" anchor="ctr"/>
          <a:lstStyle/>
          <a:p>
            <a:pPr algn="ctr"/>
          </a:p>
        </p:txBody>
      </p:sp>
      <p:sp>
        <p:nvSpPr>
          <p:cNvPr id="21" name="FMI Scale legend"/>
          <p:cNvSpPr txBox="1"/>
          <p:nvPr/>
        </p:nvSpPr>
        <p:spPr>
          <a:xfrm>
            <a:off x="49941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101 to 102.5</a:t>
            </a:r>
          </a:p>
        </p:txBody>
      </p:sp>
      <p:sp>
        <p:nvSpPr>
          <p:cNvPr id="22" name="Rectangle 21"/>
          <p:cNvSpPr/>
          <p:nvPr/>
        </p:nvSpPr>
        <p:spPr>
          <a:xfrm>
            <a:off x="6251448" y="4794123"/>
            <a:ext cx="180975" cy="142875"/>
          </a:xfrm>
          <a:prstGeom prst="rect">
            <a:avLst/>
          </a:prstGeom>
          <a:solidFill>
            <a:srgbClr val="F4B183"/>
          </a:solidFill>
          <a:ln w="9525">
            <a:solidFill>
              <a:srgbClr val="D9DEE4"/>
            </a:solidFill>
          </a:ln>
          <a:effectLst/>
        </p:spPr>
        <p:txBody>
          <a:bodyPr rtlCol="0" anchor="ctr"/>
          <a:lstStyle/>
          <a:p>
            <a:pPr algn="ctr"/>
          </a:p>
        </p:txBody>
      </p:sp>
      <p:sp>
        <p:nvSpPr>
          <p:cNvPr id="23" name="FMI Scale legend"/>
          <p:cNvSpPr txBox="1"/>
          <p:nvPr/>
        </p:nvSpPr>
        <p:spPr>
          <a:xfrm>
            <a:off x="64609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above 102.5</a:t>
            </a:r>
          </a:p>
        </p:txBody>
      </p:sp>
      <p:sp>
        <p:nvSpPr>
          <p:cNvPr id="24" name="Rectangle 23"/>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25" name="TextBox 24"/>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Range Across All Material Type Sub-Types, 2026</a:t>
            </a:r>
          </a:p>
        </p:txBody>
      </p:sp>
      <p:sp>
        <p:nvSpPr>
          <p:cNvPr id="26" name="TextBox 25"/>
          <p:cNvSpPr txBox="1"/>
          <p:nvPr/>
        </p:nvSpPr>
        <p:spPr>
          <a:xfrm>
            <a:off x="8065008" y="1965579"/>
            <a:ext cx="374904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lowest to highest price (US$/Units) at the finest data level.</a:t>
            </a:r>
          </a:p>
        </p:txBody>
      </p:sp>
      <p:graphicFrame>
        <p:nvGraphicFramePr>
          <p:cNvPr id="27" name="FMI Price Chart"/>
          <p:cNvGraphicFramePr>
            <a:graphicFrameLocks noGrp="1"/>
          </p:cNvGraphicFramePr>
          <p:nvPr/>
        </p:nvGraphicFramePr>
        <p:xfrm>
          <a:off x="8001000" y="2032635"/>
          <a:ext cx="3867912" cy="2971800"/>
        </p:xfrm>
        <a:graphic>
          <a:graphicData uri="http://schemas.openxmlformats.org/drawingml/2006/chart">
            <c:chart xmlns:c="http://schemas.openxmlformats.org/drawingml/2006/chart" r:id="rId3"/>
          </a:graphicData>
        </a:graphic>
      </p:graphicFrame>
      <p:sp>
        <p:nvSpPr>
          <p:cNvPr id="28" name="Rectangle 2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9" name="Oval 2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30" name="TextBox 2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Premium Pockets</a:t>
            </a:r>
          </a:p>
        </p:txBody>
      </p:sp>
      <p:sp>
        <p:nvSpPr>
          <p:cNvPr id="31" name="TextBox 3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Acrylic Partial Dentures positioned on Metal Alloys carry the strongest premium at an index of 108.3, which signals room for value-added claims in this combination.</a:t>
            </a:r>
          </a:p>
        </p:txBody>
      </p:sp>
      <p:sp>
        <p:nvSpPr>
          <p:cNvPr id="32" name="Rectangle 3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33" name="Oval 3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34" name="TextBox 3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Value Pockets</a:t>
            </a:r>
          </a:p>
        </p:txBody>
      </p:sp>
      <p:sp>
        <p:nvSpPr>
          <p:cNvPr id="35" name="TextBox 3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Cast Metal Partial Dentures for High-performance Polymers is the lowest priced combination at an index of 90.7, sitting 9.3% below the Global average of US$ 322/MT.</a:t>
            </a:r>
          </a:p>
        </p:txBody>
      </p:sp>
      <p:sp>
        <p:nvSpPr>
          <p:cNvPr id="36" name="Rectangle 3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37" name="Oval 3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38" name="TextBox 3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Within-Type Spread</a:t>
            </a:r>
          </a:p>
        </p:txBody>
      </p:sp>
      <p:sp>
        <p:nvSpPr>
          <p:cNvPr id="39" name="TextBox 3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Cast Metal Partial Dentures show the widest internal price spread at 37.4%, ranging from US$ 272/MT to US$ 374/MT across sub-types.</a:t>
            </a:r>
          </a:p>
        </p:txBody>
      </p:sp>
      <p:sp>
        <p:nvSpPr>
          <p:cNvPr id="40" name="TextBox 3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Cell price = combined value (US$) / combined volume (MT); shading shows the index vs the Global average of US$ 322/MT.</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 average price and price range across product types, 2026 (US$/Units)</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Europe is the most premium Global region at US$ 345/MT in 2026, +7.2% above the global average, while North America is the lowest priced.</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Region (US$/Units),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the lowest to highest product type price in each region, read on the price index axis (Global average = 100). Teal = above Global average, blue = below.</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gridCol w="786384"/>
                <a:gridCol w="658368"/>
                <a:gridCol w="914400"/>
              </a:tblGrid>
              <a:tr h="441525">
                <a:tc>
                  <a:txBody>
                    <a:bodyPr wrap="square"/>
                    <a:lstStyle/>
                    <a:p>
                      <a:pPr algn="l"/>
                      <a:r>
                        <a:rPr sz="900" b="1">
                          <a:solidFill>
                            <a:srgbClr val="FFFFFF"/>
                          </a:solidFill>
                          <a:latin typeface="Calibri"/>
                        </a:rPr>
                        <a:t>Region</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441525">
                <a:tc>
                  <a:txBody>
                    <a:bodyPr wrap="square"/>
                    <a:lstStyle/>
                    <a:p>
                      <a:pPr algn="l"/>
                      <a:r>
                        <a:rPr sz="900" b="1">
                          <a:solidFill>
                            <a:srgbClr val="1F1F1F"/>
                          </a:solidFill>
                          <a:latin typeface="Calibri"/>
                        </a:rPr>
                        <a:t>Europe</a:t>
                      </a:r>
                    </a:p>
                  </a:txBody>
                  <a:tcPr marL="36576" marR="36576" marT="9144" marB="9144" anchor="ctr">
                    <a:solidFill>
                      <a:srgbClr val="FFFFFF"/>
                    </a:solidFill>
                  </a:tcPr>
                </a:tc>
                <a:tc>
                  <a:txBody>
                    <a:bodyPr wrap="square"/>
                    <a:lstStyle/>
                    <a:p>
                      <a:pPr algn="ctr"/>
                      <a:r>
                        <a:rPr sz="900" b="0">
                          <a:solidFill>
                            <a:srgbClr val="1F1F1F"/>
                          </a:solidFill>
                          <a:latin typeface="Calibri"/>
                        </a:rPr>
                        <a:t>345</a:t>
                      </a:r>
                    </a:p>
                  </a:txBody>
                  <a:tcPr marL="36576" marR="36576" marT="9144" marB="9144" anchor="ctr">
                    <a:solidFill>
                      <a:srgbClr val="FFFFFF"/>
                    </a:solidFill>
                  </a:tcPr>
                </a:tc>
                <a:tc>
                  <a:txBody>
                    <a:bodyPr wrap="square"/>
                    <a:lstStyle/>
                    <a:p>
                      <a:pPr algn="ctr"/>
                      <a:r>
                        <a:rPr sz="900" b="0">
                          <a:solidFill>
                            <a:srgbClr val="1F1F1F"/>
                          </a:solidFill>
                          <a:latin typeface="Calibri"/>
                        </a:rPr>
                        <a:t>107.2</a:t>
                      </a:r>
                    </a:p>
                  </a:txBody>
                  <a:tcPr marL="36576" marR="36576" marT="9144" marB="9144" anchor="ctr">
                    <a:solidFill>
                      <a:srgbClr val="F4B183"/>
                    </a:solidFill>
                  </a:tcPr>
                </a:tc>
                <a:tc>
                  <a:txBody>
                    <a:bodyPr wrap="square"/>
                    <a:lstStyle/>
                    <a:p>
                      <a:pPr algn="ctr"/>
                      <a:r>
                        <a:rPr sz="900" b="0">
                          <a:solidFill>
                            <a:srgbClr val="1F1F1F"/>
                          </a:solidFill>
                          <a:latin typeface="Calibri"/>
                        </a:rPr>
                        <a:t>0.72%</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Middle East &amp; Africa</a:t>
                      </a:r>
                    </a:p>
                  </a:txBody>
                  <a:tcPr marL="36576" marR="36576" marT="9144" marB="9144" anchor="ctr">
                    <a:solidFill>
                      <a:srgbClr val="F3F6F9"/>
                    </a:solidFill>
                  </a:tcPr>
                </a:tc>
                <a:tc>
                  <a:txBody>
                    <a:bodyPr wrap="square"/>
                    <a:lstStyle/>
                    <a:p>
                      <a:pPr algn="ctr"/>
                      <a:r>
                        <a:rPr sz="900" b="0">
                          <a:solidFill>
                            <a:srgbClr val="1F1F1F"/>
                          </a:solidFill>
                          <a:latin typeface="Calibri"/>
                        </a:rPr>
                        <a:t>336</a:t>
                      </a:r>
                    </a:p>
                  </a:txBody>
                  <a:tcPr marL="36576" marR="36576" marT="9144" marB="9144" anchor="ctr">
                    <a:solidFill>
                      <a:srgbClr val="F3F6F9"/>
                    </a:solidFill>
                  </a:tcPr>
                </a:tc>
                <a:tc>
                  <a:txBody>
                    <a:bodyPr wrap="square"/>
                    <a:lstStyle/>
                    <a:p>
                      <a:pPr algn="ctr"/>
                      <a:r>
                        <a:rPr sz="900" b="0">
                          <a:solidFill>
                            <a:srgbClr val="1F1F1F"/>
                          </a:solidFill>
                          <a:latin typeface="Calibri"/>
                        </a:rPr>
                        <a:t>104.3</a:t>
                      </a:r>
                    </a:p>
                  </a:txBody>
                  <a:tcPr marL="36576" marR="36576" marT="9144" marB="9144" anchor="ctr">
                    <a:solidFill>
                      <a:srgbClr val="F4B183"/>
                    </a:solidFill>
                  </a:tcPr>
                </a:tc>
                <a:tc>
                  <a:txBody>
                    <a:bodyPr wrap="square"/>
                    <a:lstStyle/>
                    <a:p>
                      <a:pPr algn="ctr"/>
                      <a:r>
                        <a:rPr sz="900" b="0">
                          <a:solidFill>
                            <a:srgbClr val="1F1F1F"/>
                          </a:solidFill>
                          <a:latin typeface="Calibri"/>
                        </a:rPr>
                        <a:t>0.71%</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South Asia &amp; Pacific</a:t>
                      </a:r>
                    </a:p>
                  </a:txBody>
                  <a:tcPr marL="36576" marR="36576" marT="9144" marB="9144" anchor="ctr">
                    <a:solidFill>
                      <a:srgbClr val="FFFFFF"/>
                    </a:solidFill>
                  </a:tcPr>
                </a:tc>
                <a:tc>
                  <a:txBody>
                    <a:bodyPr wrap="square"/>
                    <a:lstStyle/>
                    <a:p>
                      <a:pPr algn="ctr"/>
                      <a:r>
                        <a:rPr sz="900" b="0">
                          <a:solidFill>
                            <a:srgbClr val="1F1F1F"/>
                          </a:solidFill>
                          <a:latin typeface="Calibri"/>
                        </a:rPr>
                        <a:t>329</a:t>
                      </a:r>
                    </a:p>
                  </a:txBody>
                  <a:tcPr marL="36576" marR="36576" marT="9144" marB="9144" anchor="ctr">
                    <a:solidFill>
                      <a:srgbClr val="FFFFFF"/>
                    </a:solidFill>
                  </a:tcPr>
                </a:tc>
                <a:tc>
                  <a:txBody>
                    <a:bodyPr wrap="square"/>
                    <a:lstStyle/>
                    <a:p>
                      <a:pPr algn="ctr"/>
                      <a:r>
                        <a:rPr sz="900" b="0">
                          <a:solidFill>
                            <a:srgbClr val="1F1F1F"/>
                          </a:solidFill>
                          <a:latin typeface="Calibri"/>
                        </a:rPr>
                        <a:t>102.4</a:t>
                      </a:r>
                    </a:p>
                  </a:txBody>
                  <a:tcPr marL="36576" marR="36576" marT="9144" marB="9144" anchor="ctr">
                    <a:solidFill>
                      <a:srgbClr val="FBE3D3"/>
                    </a:solidFill>
                  </a:tcPr>
                </a:tc>
                <a:tc>
                  <a:txBody>
                    <a:bodyPr wrap="square"/>
                    <a:lstStyle/>
                    <a:p>
                      <a:pPr algn="ctr"/>
                      <a:r>
                        <a:rPr sz="900" b="0">
                          <a:solidFill>
                            <a:srgbClr val="1F1F1F"/>
                          </a:solidFill>
                          <a:latin typeface="Calibri"/>
                        </a:rPr>
                        <a:t>0.77%</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Latin America</a:t>
                      </a:r>
                    </a:p>
                  </a:txBody>
                  <a:tcPr marL="36576" marR="36576" marT="9144" marB="9144" anchor="ctr">
                    <a:solidFill>
                      <a:srgbClr val="F3F6F9"/>
                    </a:solidFill>
                  </a:tcPr>
                </a:tc>
                <a:tc>
                  <a:txBody>
                    <a:bodyPr wrap="square"/>
                    <a:lstStyle/>
                    <a:p>
                      <a:pPr algn="ctr"/>
                      <a:r>
                        <a:rPr sz="900" b="0">
                          <a:solidFill>
                            <a:srgbClr val="1F1F1F"/>
                          </a:solidFill>
                          <a:latin typeface="Calibri"/>
                        </a:rPr>
                        <a:t>324</a:t>
                      </a:r>
                    </a:p>
                  </a:txBody>
                  <a:tcPr marL="36576" marR="36576" marT="9144" marB="9144" anchor="ctr">
                    <a:solidFill>
                      <a:srgbClr val="F3F6F9"/>
                    </a:solidFill>
                  </a:tcPr>
                </a:tc>
                <a:tc>
                  <a:txBody>
                    <a:bodyPr wrap="square"/>
                    <a:lstStyle/>
                    <a:p>
                      <a:pPr algn="ctr"/>
                      <a:r>
                        <a:rPr sz="900" b="0">
                          <a:solidFill>
                            <a:srgbClr val="1F1F1F"/>
                          </a:solidFill>
                          <a:latin typeface="Calibri"/>
                        </a:rPr>
                        <a:t>100.7</a:t>
                      </a:r>
                    </a:p>
                  </a:txBody>
                  <a:tcPr marL="36576" marR="36576" marT="9144" marB="9144" anchor="ctr">
                    <a:solidFill>
                      <a:srgbClr val="F7F7F7"/>
                    </a:solidFill>
                  </a:tcPr>
                </a:tc>
                <a:tc>
                  <a:txBody>
                    <a:bodyPr wrap="square"/>
                    <a:lstStyle/>
                    <a:p>
                      <a:pPr algn="ctr"/>
                      <a:r>
                        <a:rPr sz="900" b="0">
                          <a:solidFill>
                            <a:srgbClr val="1F1F1F"/>
                          </a:solidFill>
                          <a:latin typeface="Calibri"/>
                        </a:rPr>
                        <a:t>0.74%</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East Asia</a:t>
                      </a:r>
                    </a:p>
                  </a:txBody>
                  <a:tcPr marL="36576" marR="36576" marT="9144" marB="9144" anchor="ctr">
                    <a:solidFill>
                      <a:srgbClr val="FFFFFF"/>
                    </a:solidFill>
                  </a:tcPr>
                </a:tc>
                <a:tc>
                  <a:txBody>
                    <a:bodyPr wrap="square"/>
                    <a:lstStyle/>
                    <a:p>
                      <a:pPr algn="ctr"/>
                      <a:r>
                        <a:rPr sz="900" b="0">
                          <a:solidFill>
                            <a:srgbClr val="1F1F1F"/>
                          </a:solidFill>
                          <a:latin typeface="Calibri"/>
                        </a:rPr>
                        <a:t>323</a:t>
                      </a:r>
                    </a:p>
                  </a:txBody>
                  <a:tcPr marL="36576" marR="36576" marT="9144" marB="9144" anchor="ctr">
                    <a:solidFill>
                      <a:srgbClr val="FFFFFF"/>
                    </a:solidFill>
                  </a:tcPr>
                </a:tc>
                <a:tc>
                  <a:txBody>
                    <a:bodyPr wrap="square"/>
                    <a:lstStyle/>
                    <a:p>
                      <a:pPr algn="ctr"/>
                      <a:r>
                        <a:rPr sz="900" b="0">
                          <a:solidFill>
                            <a:srgbClr val="1F1F1F"/>
                          </a:solidFill>
                          <a:latin typeface="Calibri"/>
                        </a:rPr>
                        <a:t>100.6</a:t>
                      </a:r>
                    </a:p>
                  </a:txBody>
                  <a:tcPr marL="36576" marR="36576" marT="9144" marB="9144" anchor="ctr">
                    <a:solidFill>
                      <a:srgbClr val="F7F7F7"/>
                    </a:solidFill>
                  </a:tcPr>
                </a:tc>
                <a:tc>
                  <a:txBody>
                    <a:bodyPr wrap="square"/>
                    <a:lstStyle/>
                    <a:p>
                      <a:pPr algn="ctr"/>
                      <a:r>
                        <a:rPr sz="900" b="0">
                          <a:solidFill>
                            <a:srgbClr val="1F1F1F"/>
                          </a:solidFill>
                          <a:latin typeface="Calibri"/>
                        </a:rPr>
                        <a:t>0.69%</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North America</a:t>
                      </a:r>
                    </a:p>
                  </a:txBody>
                  <a:tcPr marL="36576" marR="36576" marT="9144" marB="9144" anchor="ctr">
                    <a:solidFill>
                      <a:srgbClr val="F3F6F9"/>
                    </a:solidFill>
                  </a:tcPr>
                </a:tc>
                <a:tc>
                  <a:txBody>
                    <a:bodyPr wrap="square"/>
                    <a:lstStyle/>
                    <a:p>
                      <a:pPr algn="ctr"/>
                      <a:r>
                        <a:rPr sz="900" b="0">
                          <a:solidFill>
                            <a:srgbClr val="1F1F1F"/>
                          </a:solidFill>
                          <a:latin typeface="Calibri"/>
                        </a:rPr>
                        <a:t>299</a:t>
                      </a:r>
                    </a:p>
                  </a:txBody>
                  <a:tcPr marL="36576" marR="36576" marT="9144" marB="9144" anchor="ctr">
                    <a:solidFill>
                      <a:srgbClr val="F3F6F9"/>
                    </a:solidFill>
                  </a:tcPr>
                </a:tc>
                <a:tc>
                  <a:txBody>
                    <a:bodyPr wrap="square"/>
                    <a:lstStyle/>
                    <a:p>
                      <a:pPr algn="ctr"/>
                      <a:r>
                        <a:rPr sz="900" b="0">
                          <a:solidFill>
                            <a:srgbClr val="1F1F1F"/>
                          </a:solidFill>
                          <a:latin typeface="Calibri"/>
                        </a:rPr>
                        <a:t>93.0</a:t>
                      </a:r>
                    </a:p>
                  </a:txBody>
                  <a:tcPr marL="36576" marR="36576" marT="9144" marB="9144" anchor="ctr">
                    <a:solidFill>
                      <a:srgbClr val="9DC0E0"/>
                    </a:solidFill>
                  </a:tcPr>
                </a:tc>
                <a:tc>
                  <a:txBody>
                    <a:bodyPr wrap="square"/>
                    <a:lstStyle/>
                    <a:p>
                      <a:pPr algn="ctr"/>
                      <a:r>
                        <a:rPr sz="900" b="0">
                          <a:solidFill>
                            <a:srgbClr val="1F1F1F"/>
                          </a:solidFill>
                          <a:latin typeface="Calibri"/>
                        </a:rPr>
                        <a:t>0.73%</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Average prices across the ranked regions differ by 15.3% in 2026, from US$ 299/MT in North America to US$ 345/MT in Europe.</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South Asia &amp; Pacific records the fastest average price growth at a 0.77% CAGR between 2026 and 2036, against 0.76% for Global as a whole.</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South Asia &amp; Pacific shows the widest gap between its cheapest and most expensive product type at 65.3%, so product mix shifts move its average price the most.</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(US$/Units).</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none" lIns="0" rIns="0" tIns="0" bIns="0">
            <a:spAutoFit/>
          </a:bodyPr>
          <a:lstStyle/>
          <a:p>
            <a:pPr algn="ctr"/>
            <a:r>
              <a:rPr sz="1100" b="0">
                <a:solidFill>
                  <a:srgbClr val="6C7A89"/>
                </a:solidFill>
                <a:latin typeface="Calibri"/>
              </a:rPr>
              <a:t>202</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none" lIns="0" rIns="0" tIns="0" bIns="0">
            <a:spAutoFit/>
          </a:bodyPr>
          <a:lstStyle/>
          <a:p>
            <a:pPr algn="ctr"/>
            <a:r>
              <a:rPr sz="1100" b="0">
                <a:solidFill>
                  <a:srgbClr val="6C7A89"/>
                </a:solidFill>
                <a:latin typeface="Calibri"/>
              </a:rPr>
              <a:t>254</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none" lIns="0" rIns="0" tIns="0" bIns="0">
            <a:spAutoFit/>
          </a:bodyPr>
          <a:lstStyle/>
          <a:p>
            <a:pPr algn="ctr"/>
            <a:r>
              <a:rPr sz="1100" b="0">
                <a:solidFill>
                  <a:srgbClr val="6C7A89"/>
                </a:solidFill>
                <a:latin typeface="Calibri"/>
              </a:rPr>
              <a:t>307</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none" lIns="0" rIns="0" tIns="0" bIns="0">
            <a:spAutoFit/>
          </a:bodyPr>
          <a:lstStyle/>
          <a:p>
            <a:pPr algn="ctr"/>
            <a:r>
              <a:rPr sz="1100" b="0">
                <a:solidFill>
                  <a:srgbClr val="6C7A89"/>
                </a:solidFill>
                <a:latin typeface="Calibri"/>
              </a:rPr>
              <a:t>360</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none" lIns="0" rIns="0" tIns="0" bIns="0">
            <a:spAutoFit/>
          </a:bodyPr>
          <a:lstStyle/>
          <a:p>
            <a:pPr algn="ctr"/>
            <a:r>
              <a:rPr sz="1100" b="0">
                <a:solidFill>
                  <a:srgbClr val="6C7A89"/>
                </a:solidFill>
                <a:latin typeface="Calibri"/>
              </a:rPr>
              <a:t>412</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none" lIns="0" rIns="0" tIns="0" bIns="0">
            <a:spAutoFit/>
          </a:bodyPr>
          <a:lstStyle/>
          <a:p>
            <a:pPr algn="ctr"/>
            <a:r>
              <a:rPr sz="1100" b="0">
                <a:solidFill>
                  <a:srgbClr val="6C7A89"/>
                </a:solidFill>
                <a:latin typeface="Calibri"/>
              </a:rPr>
              <a:t>465</a:t>
            </a:r>
          </a:p>
        </p:txBody>
      </p:sp>
      <p:sp>
        <p:nvSpPr>
          <p:cNvPr id="25" name="TextBox 24"/>
          <p:cNvSpPr txBox="1"/>
          <p:nvPr/>
        </p:nvSpPr>
        <p:spPr>
          <a:xfrm>
            <a:off x="238125" y="220340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North America</a:t>
            </a:r>
          </a:p>
        </p:txBody>
      </p:sp>
      <p:sp>
        <p:nvSpPr>
          <p:cNvPr id="26" name="Rectangle 25"/>
          <p:cNvSpPr/>
          <p:nvPr/>
        </p:nvSpPr>
        <p:spPr>
          <a:xfrm>
            <a:off x="2045494" y="2100912"/>
            <a:ext cx="3497362"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3690406"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Latin America</a:t>
            </a:r>
          </a:p>
        </p:txBody>
      </p:sp>
      <p:sp>
        <p:nvSpPr>
          <p:cNvPr id="29" name="Rectangle 28"/>
          <p:cNvSpPr/>
          <p:nvPr/>
        </p:nvSpPr>
        <p:spPr>
          <a:xfrm>
            <a:off x="2476271" y="2824823"/>
            <a:ext cx="3781364"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235879"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5122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Europe</a:t>
            </a:r>
          </a:p>
        </p:txBody>
      </p:sp>
      <p:sp>
        <p:nvSpPr>
          <p:cNvPr id="32" name="Rectangle 31"/>
          <p:cNvSpPr/>
          <p:nvPr/>
        </p:nvSpPr>
        <p:spPr>
          <a:xfrm>
            <a:off x="2937036" y="3548733"/>
            <a:ext cx="3990020"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780796"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37513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East Asia</a:t>
            </a:r>
          </a:p>
        </p:txBody>
      </p:sp>
      <p:sp>
        <p:nvSpPr>
          <p:cNvPr id="35" name="Rectangle 34"/>
          <p:cNvSpPr/>
          <p:nvPr/>
        </p:nvSpPr>
        <p:spPr>
          <a:xfrm>
            <a:off x="2500314" y="4272643"/>
            <a:ext cx="3790145"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4252798"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Asia &amp; Pacific</a:t>
            </a:r>
          </a:p>
        </p:txBody>
      </p:sp>
      <p:sp>
        <p:nvSpPr>
          <p:cNvPr id="38" name="Rectangle 37"/>
          <p:cNvSpPr/>
          <p:nvPr/>
        </p:nvSpPr>
        <p:spPr>
          <a:xfrm>
            <a:off x="2652396" y="4996553"/>
            <a:ext cx="3959398"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4464038"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82295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Middle East &amp; Africa</a:t>
            </a:r>
          </a:p>
        </p:txBody>
      </p:sp>
      <p:sp>
        <p:nvSpPr>
          <p:cNvPr id="41" name="Rectangle 40"/>
          <p:cNvSpPr/>
          <p:nvPr/>
        </p:nvSpPr>
        <p:spPr>
          <a:xfrm>
            <a:off x="2707440" y="5720463"/>
            <a:ext cx="3909164"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4522492"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Flexible partial dentures segment is expected to command the highest average price of US$ 446 per Unit in 2036. Average selling price of removable partial dentures is estimated at US$ 319 per Unit in 2025 and is projected to increase to US$ 347 per Unit by 2036.</a:t>
            </a:r>
          </a:p>
          <a:p>
            <a:pPr algn="l">
              <a:lnSpc>
                <a:spcPct val="110000"/>
              </a:lnSpc>
              <a:spcBef>
                <a:spcPts val="0"/>
              </a:spcBef>
              <a:spcAft>
                <a:spcPts val="500"/>
              </a:spcAft>
            </a:pPr>
            <a:r>
              <a:rPr sz="1150" b="0">
                <a:solidFill>
                  <a:srgbClr val="2E2E2E"/>
                </a:solidFill>
                <a:latin typeface="Calibri"/>
              </a:rPr>
              <a:t>Europe is the highest-priced region, while North America is the most price-competitive market. The orange dot is each region's average selling price; the blue band is its full low-to-high price range, all derived as Value ÷ Volume.</a:t>
            </a:r>
          </a:p>
          <a:p>
            <a:pPr algn="l">
              <a:lnSpc>
                <a:spcPct val="110000"/>
              </a:lnSpc>
              <a:spcBef>
                <a:spcPts val="0"/>
              </a:spcBef>
              <a:spcAft>
                <a:spcPts val="500"/>
              </a:spcAft>
            </a:pPr>
            <a:r>
              <a:rPr sz="1150" b="0">
                <a:solidFill>
                  <a:srgbClr val="2E2E2E"/>
                </a:solidFill>
                <a:latin typeface="Calibri"/>
              </a:rPr>
              <a:t>Narrow bands point to commoditised, price-led competition; wider bands flag premiumisation headroom to trade buyers up the mix.</a:t>
            </a: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Removable Partial Dentures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69342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743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48025"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895600"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33650"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171700"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19275"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09975"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09975"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09975"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09975"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09975"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09975"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01189"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15922"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15922"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01189"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47925"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576638"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352787"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42772"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22177"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19105"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576638"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11366"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589908"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10503"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077684"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38550"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38550"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38550"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38550"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38550"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2952750"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Input Cost  13.0%</a:t>
            </a:r>
          </a:p>
        </p:txBody>
      </p:sp>
      <p:sp>
        <p:nvSpPr>
          <p:cNvPr id="46" name="TextBox 45"/>
          <p:cNvSpPr txBox="1"/>
          <p:nvPr/>
        </p:nvSpPr>
        <p:spPr>
          <a:xfrm>
            <a:off x="4184706"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Labor &amp; Production Costs  10.1%</a:t>
            </a:r>
          </a:p>
        </p:txBody>
      </p:sp>
      <p:sp>
        <p:nvSpPr>
          <p:cNvPr id="47" name="TextBox 46"/>
          <p:cNvSpPr txBox="1"/>
          <p:nvPr/>
        </p:nvSpPr>
        <p:spPr>
          <a:xfrm>
            <a:off x="4946097"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Technology &amp; Innovation  9.4%</a:t>
            </a:r>
          </a:p>
        </p:txBody>
      </p:sp>
      <p:sp>
        <p:nvSpPr>
          <p:cNvPr id="48" name="TextBox 47"/>
          <p:cNvSpPr txBox="1"/>
          <p:nvPr/>
        </p:nvSpPr>
        <p:spPr>
          <a:xfrm>
            <a:off x="4946097"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Supply Chain &amp; Logistics  10.9%</a:t>
            </a:r>
          </a:p>
        </p:txBody>
      </p:sp>
      <p:sp>
        <p:nvSpPr>
          <p:cNvPr id="49" name="TextBox 48"/>
          <p:cNvSpPr txBox="1"/>
          <p:nvPr/>
        </p:nvSpPr>
        <p:spPr>
          <a:xfrm>
            <a:off x="4184706"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Demand &amp; Market Conditions  12.3%</a:t>
            </a:r>
          </a:p>
        </p:txBody>
      </p:sp>
      <p:sp>
        <p:nvSpPr>
          <p:cNvPr id="50" name="TextBox 49"/>
          <p:cNvSpPr txBox="1"/>
          <p:nvPr/>
        </p:nvSpPr>
        <p:spPr>
          <a:xfrm>
            <a:off x="2952750"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Competitive Landscape  11.6%</a:t>
            </a:r>
          </a:p>
        </p:txBody>
      </p:sp>
      <p:sp>
        <p:nvSpPr>
          <p:cNvPr id="51" name="TextBox 50"/>
          <p:cNvSpPr txBox="1"/>
          <p:nvPr/>
        </p:nvSpPr>
        <p:spPr>
          <a:xfrm>
            <a:off x="1720794"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Regulatory &amp; Compliance Costs  8.7%</a:t>
            </a:r>
          </a:p>
        </p:txBody>
      </p:sp>
      <p:sp>
        <p:nvSpPr>
          <p:cNvPr id="52" name="TextBox 51"/>
          <p:cNvSpPr txBox="1"/>
          <p:nvPr/>
        </p:nvSpPr>
        <p:spPr>
          <a:xfrm>
            <a:off x="959403"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Currency &amp; Trade Dynamics  8.0%</a:t>
            </a:r>
          </a:p>
        </p:txBody>
      </p:sp>
      <p:sp>
        <p:nvSpPr>
          <p:cNvPr id="53" name="TextBox 52"/>
          <p:cNvSpPr txBox="1"/>
          <p:nvPr/>
        </p:nvSpPr>
        <p:spPr>
          <a:xfrm>
            <a:off x="959403"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Brand &amp; Value Perception  9.4%</a:t>
            </a:r>
          </a:p>
        </p:txBody>
      </p:sp>
      <p:sp>
        <p:nvSpPr>
          <p:cNvPr id="54" name="TextBox 53"/>
          <p:cNvSpPr txBox="1"/>
          <p:nvPr/>
        </p:nvSpPr>
        <p:spPr>
          <a:xfrm>
            <a:off x="1720794"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Aftermarket &amp; Service Costs  6.5%</a:t>
            </a:r>
          </a:p>
        </p:txBody>
      </p:sp>
      <p:sp>
        <p:nvSpPr>
          <p:cNvPr id="55" name="Rounded Rectangle 54"/>
          <p:cNvSpPr/>
          <p:nvPr/>
        </p:nvSpPr>
        <p:spPr>
          <a:xfrm>
            <a:off x="7153275" y="1354081"/>
            <a:ext cx="4895850" cy="3393718"/>
          </a:xfrm>
          <a:prstGeom prst="roundRect">
            <a:avLst>
              <a:gd name="adj" fmla="val 22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286625" y="1439806"/>
            <a:ext cx="4629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286625" y="1677931"/>
            <a:ext cx="4629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286625" y="1763656"/>
            <a:ext cx="4629150" cy="2907943"/>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Removable Partial Dentures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Removable Partial Dentures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153275" y="4857321"/>
            <a:ext cx="48958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286625" y="4943046"/>
            <a:ext cx="462915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286625" y="5181171"/>
            <a:ext cx="4629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286625" y="5266896"/>
            <a:ext cx="46291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Input Cost 9.0 / 10  ·  dominant cost pressure</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Demand &amp; Market Conditions 8.5 / 10  ·  major cost pressure</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Competitive Landscape 8.0 / 10  ·  key pricing lever</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Supply Chain &amp; Logistics 7.5 / 10  ·  key pricing lever</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Labor &amp; Production Costs 7.0 / 10  ·  supporting factor</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114675"/>
          </a:xfrm>
          <a:prstGeom prst="roundRect">
            <a:avLst>
              <a:gd name="adj" fmla="val 24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809875"/>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15265">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59461">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581525"/>
            <a:ext cx="11906250" cy="1962150"/>
          </a:xfrm>
          <a:prstGeom prst="roundRect">
            <a:avLst>
              <a:gd name="adj" fmla="val 388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66725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4905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991100"/>
            <a:ext cx="11639550" cy="1476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Input Cost and Demand &amp; Market Conditions carry the heaviest weight on selling prices (9.0 and 8.5 / 10).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8 of 10 factors exert upward pressure on price; the rest pull prices down chiefly Technology &amp; Innovation and the Competitive Landscape.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Cost-side factors set the price floor; demand, brand and competitive forces determine how much of that cost can be passed through.</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Aftermarket &amp; Service Costs exerts the least pressure a second-order effect to monitor rather than actively manage.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(US$/Units)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(US$/Units)</a:t>
            </a:r>
          </a:p>
        </p:txBody>
      </p:sp>
      <p:graphicFrame>
        <p:nvGraphicFramePr>
          <p:cNvPr id="13" name="Table 12"/>
          <p:cNvGraphicFramePr>
            <a:graphicFrameLocks noGrp="1"/>
          </p:cNvGraphicFramePr>
          <p:nvPr/>
        </p:nvGraphicFramePr>
        <p:xfrm>
          <a:off x="152400" y="1574749"/>
          <a:ext cx="5886452" cy="2271327"/>
        </p:xfrm>
        <a:graphic>
          <a:graphicData uri="http://schemas.openxmlformats.org/drawingml/2006/table">
            <a:tbl>
              <a:tblPr>
                <a:tableStyleId>{5C22544A-7EE6-4342-B048-85BDC9FD1C3A}</a:tableStyleId>
              </a:tblPr>
              <a:tblGrid>
                <a:gridCol w="1370904"/>
                <a:gridCol w="1128887"/>
                <a:gridCol w="1128887"/>
                <a:gridCol w="1128887"/>
                <a:gridCol w="1128887"/>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Total Margin (%)</a:t>
                      </a:r>
                      <a:endParaRPr sz="1100"/>
                    </a:p>
                  </a:txBody>
                  <a:tcPr marL="47625" marR="38100" marT="19050" marB="19050" anchor="ctr">
                    <a:solidFill>
                      <a:srgbClr val="E0E8EF"/>
                    </a:solidFill>
                  </a:tcPr>
                </a:tc>
              </a:tr>
              <a:tr h="34267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(US$/Units)</a:t>
            </a:r>
          </a:p>
        </p:txBody>
      </p:sp>
      <p:graphicFrame>
        <p:nvGraphicFramePr>
          <p:cNvPr id="17" name="Table 16"/>
          <p:cNvGraphicFramePr>
            <a:graphicFrameLocks noGrp="1"/>
          </p:cNvGraphicFramePr>
          <p:nvPr/>
        </p:nvGraphicFramePr>
        <p:xfrm>
          <a:off x="6210300" y="1574749"/>
          <a:ext cx="5829301" cy="2271327"/>
        </p:xfrm>
        <a:graphic>
          <a:graphicData uri="http://schemas.openxmlformats.org/drawingml/2006/table">
            <a:tbl>
              <a:tblPr>
                <a:tableStyleId>{5C22544A-7EE6-4342-B048-85BDC9FD1C3A}</a:tableStyleId>
              </a:tblPr>
              <a:tblGrid>
                <a:gridCol w="2305733"/>
                <a:gridCol w="880892"/>
                <a:gridCol w="880892"/>
                <a:gridCol w="880892"/>
                <a:gridCol w="880892"/>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34267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321.46</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348.93</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370.34</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346.62</a:t>
                      </a:r>
                      <a:endParaRPr sz="1100"/>
                    </a:p>
                  </a:txBody>
                  <a:tcPr marL="47625" marR="38100" marT="19050" marB="19050" anchor="ctr">
                    <a:solidFill>
                      <a:srgbClr val="F5F8FA"/>
                    </a:solidFill>
                  </a:tcPr>
                </a:tc>
              </a:tr>
              <a:tr h="34267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355.68</a:t>
                      </a:r>
                      <a:endParaRPr sz="1100"/>
                    </a:p>
                  </a:txBody>
                  <a:tcPr marL="47625" marR="38100" marT="19050" marB="19050" anchor="ctr">
                    <a:solidFill>
                      <a:srgbClr val="FFFFFF"/>
                    </a:solidFill>
                  </a:tcPr>
                </a:tc>
              </a:tr>
              <a:tr h="34267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360.35</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Global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(US$/Units).</a:t>
            </a:r>
          </a:p>
        </p:txBody>
      </p:sp>
      <p:sp>
        <p:nvSpPr>
          <p:cNvPr id="11" name="Rounded Rectangle 10"/>
          <p:cNvSpPr/>
          <p:nvPr/>
        </p:nvSpPr>
        <p:spPr>
          <a:xfrm>
            <a:off x="142875" y="1314450"/>
            <a:ext cx="11906250" cy="2771775"/>
          </a:xfrm>
          <a:prstGeom prst="roundRect">
            <a:avLst>
              <a:gd name="adj" fmla="val 27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(US$/Units)</a:t>
            </a:r>
          </a:p>
        </p:txBody>
      </p:sp>
      <p:graphicFrame>
        <p:nvGraphicFramePr>
          <p:cNvPr id="13" name="Table 12"/>
          <p:cNvGraphicFramePr>
            <a:graphicFrameLocks noGrp="1"/>
          </p:cNvGraphicFramePr>
          <p:nvPr/>
        </p:nvGraphicFramePr>
        <p:xfrm>
          <a:off x="152400" y="1571625"/>
          <a:ext cx="11887201" cy="2305047"/>
        </p:xfrm>
        <a:graphic>
          <a:graphicData uri="http://schemas.openxmlformats.org/drawingml/2006/table">
            <a:tbl>
              <a:tblPr>
                <a:tableStyleId>{5C22544A-7EE6-4342-B048-85BDC9FD1C3A}</a:tableStyleId>
              </a:tblPr>
              <a:tblGrid>
                <a:gridCol w="1630747"/>
                <a:gridCol w="2143680"/>
                <a:gridCol w="1846745"/>
                <a:gridCol w="1921729"/>
                <a:gridCol w="3184449"/>
                <a:gridCol w="1159851"/>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Cast Metal Partial Dentures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Acrylic Partial Dentures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Flexible Partial Dentures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Combination Framework Partial Dentures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Weighted Avg</a:t>
                      </a:r>
                      <a:endParaRPr sz="1100"/>
                    </a:p>
                  </a:txBody>
                  <a:tcPr marL="47625" marR="38100" marT="19050" marB="19050" anchor="ctr">
                    <a:solidFill>
                      <a:srgbClr val="E0E8EF"/>
                    </a:solidFill>
                  </a:tcPr>
                </a:tc>
              </a:tr>
              <a:tr h="34829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289.11–294.95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306.16–312.35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374.19–381.75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228.07–232.68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299.04</a:t>
                      </a:r>
                      <a:endParaRPr sz="1100"/>
                    </a:p>
                  </a:txBody>
                  <a:tcPr marL="47625" marR="38100" marT="19050" marB="19050" anchor="ctr">
                    <a:solidFill>
                      <a:srgbClr val="FFFFFF"/>
                    </a:solidFill>
                  </a:tcPr>
                </a:tc>
              </a:tr>
              <a:tr h="34829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310.11–316.37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328.46–335.09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404.05–412.21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246.07–251.04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324.06</a:t>
                      </a:r>
                      <a:endParaRPr sz="1100"/>
                    </a:p>
                  </a:txBody>
                  <a:tcPr marL="47625" marR="38100" marT="19050" marB="19050" anchor="ctr">
                    <a:solidFill>
                      <a:srgbClr val="F5F8FA"/>
                    </a:solidFill>
                  </a:tcPr>
                </a:tc>
              </a:tr>
              <a:tr h="34829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331.97–338.67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350.44–357.52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432.02–440.75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265.32–270.68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344.74</a:t>
                      </a:r>
                      <a:endParaRPr sz="1100"/>
                    </a:p>
                  </a:txBody>
                  <a:tcPr marL="47625" marR="38100" marT="19050" marB="19050" anchor="ctr">
                    <a:solidFill>
                      <a:srgbClr val="FFFFFF"/>
                    </a:solidFill>
                  </a:tcPr>
                </a:tc>
              </a:tr>
              <a:tr h="34829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310.36–316.63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328.66–335.30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405.42–413.61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247.08–252.07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323.49</a:t>
                      </a:r>
                      <a:endParaRPr sz="1100"/>
                    </a:p>
                  </a:txBody>
                  <a:tcPr marL="47625" marR="38100" marT="19050" marB="19050" anchor="ctr">
                    <a:solidFill>
                      <a:srgbClr val="F5F8FA"/>
                    </a:solidFill>
                  </a:tcPr>
                </a:tc>
              </a:tr>
              <a:tr h="34829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316.64–323.04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337.90–344.72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418.85–427.31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253.43–258.55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329.33</a:t>
                      </a:r>
                      <a:endParaRPr sz="1100"/>
                    </a:p>
                  </a:txBody>
                  <a:tcPr marL="47625" marR="38100" marT="19050" marB="19050" anchor="ctr">
                    <a:solidFill>
                      <a:srgbClr val="FFFFFF"/>
                    </a:solidFill>
                  </a:tcPr>
                </a:tc>
              </a:tr>
              <a:tr h="34829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320.61–327.09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341.19–348.09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419.05–427.51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255.73–260.90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335.59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86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29100"/>
            <a:ext cx="11906250" cy="2314575"/>
          </a:xfrm>
          <a:prstGeom prst="roundRect">
            <a:avLst>
              <a:gd name="adj" fmla="val 3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14825"/>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5529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38675"/>
            <a:ext cx="11639550" cy="1828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On a weighted-average basis 'Europe' is the highest-priced region (~344.74 US$/Units) and 'North America' the most competitive (~299.04 US$/Units).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Price ranges are benchmarked per product type type at 2026, derived as Value ÷ Volume with a ±1% observed trading band.</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Cross-region price dispersion of ~1.15× reflects differences in mix, logistics and channel structure.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Benchmarks support price-corridor setting and margin-defence decisions across geographies.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(US$/Units).</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(US$/Units)</a:t>
            </a:r>
          </a:p>
        </p:txBody>
      </p:sp>
      <p:graphicFrame>
        <p:nvGraphicFramePr>
          <p:cNvPr id="13" name="Table 12"/>
          <p:cNvGraphicFramePr>
            <a:graphicFrameLocks noGrp="1"/>
          </p:cNvGraphicFramePr>
          <p:nvPr/>
        </p:nvGraphicFramePr>
        <p:xfrm>
          <a:off x="152400" y="1574749"/>
          <a:ext cx="11887200" cy="1504673"/>
        </p:xfrm>
        <a:graphic>
          <a:graphicData uri="http://schemas.openxmlformats.org/drawingml/2006/table">
            <a:tbl>
              <a:tblPr>
                <a:tableStyleId>{5C22544A-7EE6-4342-B048-85BDC9FD1C3A}</a:tableStyleId>
              </a:tblPr>
              <a:tblGrid>
                <a:gridCol w="4869228"/>
                <a:gridCol w="1169662"/>
                <a:gridCol w="1169662"/>
                <a:gridCol w="1169662"/>
                <a:gridCol w="1169662"/>
                <a:gridCol w="1169662"/>
                <a:gridCol w="1169662"/>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322352">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343.83</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363.68</a:t>
                      </a:r>
                      <a:endParaRPr sz="1100"/>
                    </a:p>
                  </a:txBody>
                  <a:tcPr marL="47625" marR="38100" marT="19050" marB="19050" anchor="ctr">
                    <a:solidFill>
                      <a:srgbClr val="F5F8FA"/>
                    </a:solidFill>
                  </a:tcPr>
                </a:tc>
              </a:tr>
              <a:tr h="322352">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446.37</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Combination Framework Partial…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272.51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691165"/>
        </p:xfrm>
        <a:graphic>
          <a:graphicData uri="http://schemas.openxmlformats.org/drawingml/2006/table">
            <a:tbl>
              <a:tblPr>
                <a:tableStyleId>{5C22544A-7EE6-4342-B048-85BDC9FD1C3A}</a:tableStyleId>
              </a:tblPr>
              <a:tblGrid>
                <a:gridCol w="2867491"/>
                <a:gridCol w="1509479"/>
                <a:gridCol w="1509479"/>
              </a:tblGrid>
              <a:tr h="215265">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759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5636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Average product type price is projected to rise from ~325.15 to ~356.60 US$/Units by 2036 a +0.9%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'Combination Framework Partial…' shows the strongest forecast price appreciation (+9.7%) over the horizon.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Upward pressure is led by input cost and demand &amp; market conditions; efficiency and competitive intensity work the other way.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 outlook: modest, structural price appreciation mix and geography will determine realised pricing.</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49" cy="3619743"/>
        </p:xfrm>
        <a:graphic>
          <a:graphicData uri="http://schemas.openxmlformats.org/drawingml/2006/table">
            <a:tbl>
              <a:tblPr>
                <a:tableStyleId>{5C22544A-7EE6-4342-B048-85BDC9FD1C3A}</a:tableStyleId>
              </a:tblPr>
              <a:tblGrid>
                <a:gridCol w="1192443"/>
                <a:gridCol w="656296"/>
                <a:gridCol w="1379727"/>
                <a:gridCol w="1291593"/>
                <a:gridCol w="3157090"/>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Tier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Position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ASP vs Peers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47625" marR="38100" marT="19050" marB="19050" anchor="ctr">
                    <a:solidFill>
                      <a:srgbClr val="E0E8EF"/>
                    </a:solidFill>
                  </a:tcPr>
                </a:tc>
              </a:tr>
              <a:tr h="567413">
                <a:tc>
                  <a:txBody>
                    <a:bodyPr wrap="none"/>
                    <a:lstStyle/>
                    <a:p>
                      <a:pPr algn="l"/>
                      <a:r>
                        <a:rPr sz="1100" b="1">
                          <a:solidFill>
                            <a:srgbClr val="2E2E2E"/>
                          </a:solidFill>
                          <a:latin typeface="Calibri"/>
                        </a:rPr>
                        <a:t>Company 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47625" marR="38100" marT="19050" marB="19050" anchor="ctr">
                    <a:solidFill>
                      <a:srgbClr val="FFFFFF"/>
                    </a:solidFill>
                  </a:tcPr>
                </a:tc>
              </a:tr>
              <a:tr h="567413">
                <a:tc>
                  <a:txBody>
                    <a:bodyPr wrap="none"/>
                    <a:lstStyle/>
                    <a:p>
                      <a:pPr algn="l"/>
                      <a:r>
                        <a:rPr sz="1100" b="1">
                          <a:solidFill>
                            <a:srgbClr val="2E2E2E"/>
                          </a:solidFill>
                          <a:latin typeface="Calibri"/>
                        </a:rPr>
                        <a:t>Company B</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47625" marR="38100" marT="19050" marB="19050" anchor="ctr">
                    <a:solidFill>
                      <a:srgbClr val="F5F8FA"/>
                    </a:solidFill>
                  </a:tcPr>
                </a:tc>
              </a:tr>
              <a:tr h="567413">
                <a:tc>
                  <a:txBody>
                    <a:bodyPr wrap="none"/>
                    <a:lstStyle/>
                    <a:p>
                      <a:pPr algn="l"/>
                      <a:r>
                        <a:rPr sz="1100" b="1">
                          <a:solidFill>
                            <a:srgbClr val="2E2E2E"/>
                          </a:solidFill>
                          <a:latin typeface="Calibri"/>
                        </a:rPr>
                        <a:t>Company 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Innovation-led price leadership</a:t>
                      </a:r>
                      <a:endParaRPr sz="1100"/>
                    </a:p>
                  </a:txBody>
                  <a:tcPr marL="47625" marR="38100" marT="19050" marB="19050" anchor="ctr">
                    <a:solidFill>
                      <a:srgbClr val="FFFFFF"/>
                    </a:solidFill>
                  </a:tcPr>
                </a:tc>
              </a:tr>
              <a:tr h="567413">
                <a:tc>
                  <a:txBody>
                    <a:bodyPr wrap="none"/>
                    <a:lstStyle/>
                    <a:p>
                      <a:pPr algn="l"/>
                      <a:r>
                        <a:rPr sz="1100" b="1">
                          <a:solidFill>
                            <a:srgbClr val="2E2E2E"/>
                          </a:solidFill>
                          <a:latin typeface="Calibri"/>
                        </a:rPr>
                        <a:t>Company 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47625" marR="38100" marT="19050" marB="19050" anchor="ctr">
                    <a:solidFill>
                      <a:srgbClr val="F5F8FA"/>
                    </a:solidFill>
                  </a:tcPr>
                </a:tc>
              </a:tr>
              <a:tr h="567413">
                <a:tc>
                  <a:txBody>
                    <a:bodyPr wrap="none"/>
                    <a:lstStyle/>
                    <a:p>
                      <a:pPr algn="l"/>
                      <a:r>
                        <a:rPr sz="1100" b="1">
                          <a:solidFill>
                            <a:srgbClr val="2E2E2E"/>
                          </a:solidFill>
                          <a:latin typeface="Calibri"/>
                        </a:rPr>
                        <a:t>Company 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Penetration &amp; share-led pricing</a:t>
                      </a:r>
                      <a:endParaRPr sz="1100"/>
                    </a:p>
                  </a:txBody>
                  <a:tcPr marL="47625" marR="38100" marT="19050" marB="19050" anchor="ctr">
                    <a:solidFill>
                      <a:srgbClr val="FFFFFF"/>
                    </a:solidFill>
                  </a:tcPr>
                </a:tc>
              </a:tr>
              <a:tr h="567413">
                <a:tc>
                  <a:txBody>
                    <a:bodyPr wrap="none"/>
                    <a:lstStyle/>
                    <a:p>
                      <a:pPr algn="l"/>
                      <a:r>
                        <a:rPr sz="1100" b="1">
                          <a:solidFill>
                            <a:srgbClr val="2E2E2E"/>
                          </a:solidFill>
                          <a:latin typeface="Calibri"/>
                        </a:rPr>
                        <a:t>Company F</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Competitive / discount-led pricing</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5–10%</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20–40%</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5–25%</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10–35%</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10–20%</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Removable Partial Dentures Market value chain runs from raw-material suppliers through manufacturers, distributors and retailers to end users.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'Manufacturers / Processors' captures the largest value addition (20–40%), reflecting processing and scale advantages.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Forward and backward integration is common some suppliers process, and some large end users produce their own input.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Percentages show each stage's indicative share of value added along the chain.</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Removable Partial Dentures Market Operating Margin by Region &amp; Node</a:t>
            </a:r>
          </a:p>
        </p:txBody>
      </p:sp>
      <p:graphicFrame>
        <p:nvGraphicFramePr>
          <p:cNvPr id="12" name="Table 11"/>
          <p:cNvGraphicFramePr>
            <a:graphicFrameLocks noGrp="1"/>
          </p:cNvGraphicFramePr>
          <p:nvPr/>
        </p:nvGraphicFramePr>
        <p:xfrm>
          <a:off x="152400" y="1238250"/>
          <a:ext cx="11887202" cy="2800353"/>
        </p:xfrm>
        <a:graphic>
          <a:graphicData uri="http://schemas.openxmlformats.org/drawingml/2006/table">
            <a:tbl>
              <a:tblPr>
                <a:tableStyleId>{5C22544A-7EE6-4342-B048-85BDC9FD1C3A}</a:tableStyleId>
              </a:tblPr>
              <a:tblGrid>
                <a:gridCol w="1208402"/>
                <a:gridCol w="2669700"/>
                <a:gridCol w="2669700"/>
                <a:gridCol w="2669700"/>
                <a:gridCol w="266970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Removable Partial Dentures Market Buyers / End-User Assessment</a:t>
            </a:r>
          </a:p>
        </p:txBody>
      </p:sp>
      <p:graphicFrame>
        <p:nvGraphicFramePr>
          <p:cNvPr id="12" name="Table 11"/>
          <p:cNvGraphicFramePr>
            <a:graphicFrameLocks noGrp="1"/>
          </p:cNvGraphicFramePr>
          <p:nvPr/>
        </p:nvGraphicFramePr>
        <p:xfrm>
          <a:off x="152400" y="1238250"/>
          <a:ext cx="11887200" cy="2371725"/>
        </p:xfrm>
        <a:graphic>
          <a:graphicData uri="http://schemas.openxmlformats.org/drawingml/2006/table">
            <a:tbl>
              <a:tblPr>
                <a:tableStyleId>{5C22544A-7EE6-4342-B048-85BDC9FD1C3A}</a:tableStyleId>
              </a:tblPr>
              <a:tblGrid>
                <a:gridCol w="937608"/>
                <a:gridCol w="1484989"/>
                <a:gridCol w="1064342"/>
                <a:gridCol w="1129057"/>
                <a:gridCol w="1603633"/>
                <a:gridCol w="1280058"/>
                <a:gridCol w="1533483"/>
                <a:gridCol w="1350166"/>
                <a:gridCol w="1503864"/>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Avg Price (US$/Units)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203,497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57,610,240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183,147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53,813,201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162,798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49,579,722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142,448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44,909,801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122,098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39,803,439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101,748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34,260,635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81,399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28,281,391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61,049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21,865,705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40,699 Units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15,013,578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20,350 Units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7,725,009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Dynamics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Region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North America</a:t>
            </a:r>
          </a:p>
        </p:txBody>
      </p:sp>
      <p:sp>
        <p:nvSpPr>
          <p:cNvPr id="19" name="TextBox 18"/>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(30.3% share), Installed demand (3.5% CAGR), Flexible Partial Dentures demand, Accelerating vs history.</a:t>
            </a:r>
          </a:p>
        </p:txBody>
      </p:sp>
      <p:sp>
        <p:nvSpPr>
          <p:cNvPr id="20" name="TextBox 19"/>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90 BPS, Rising realisation (0.7%).</a:t>
            </a:r>
          </a:p>
        </p:txBody>
      </p:sp>
      <p:sp>
        <p:nvSpPr>
          <p:cNvPr id="21" name="TextBox 20"/>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Cast Metal Partial Dentures (5.5%), 152.6 US$ Mn headroom.</a:t>
            </a:r>
          </a:p>
        </p:txBody>
      </p:sp>
      <p:sp>
        <p:nvSpPr>
          <p:cNvPr id="22" name="Rectangle 21"/>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Europe</a:t>
            </a:r>
          </a:p>
        </p:txBody>
      </p:sp>
      <p:sp>
        <p:nvSpPr>
          <p:cNvPr id="24" name="TextBox 23"/>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(28.6% share), Above-market pace (5.0%), Flexible Partial Dentures demand, Accelerating vs history.</a:t>
            </a:r>
          </a:p>
        </p:txBody>
      </p:sp>
      <p:sp>
        <p:nvSpPr>
          <p:cNvPr id="25" name="TextBox 24"/>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(0.7%).</a:t>
            </a:r>
          </a:p>
        </p:txBody>
      </p:sp>
      <p:sp>
        <p:nvSpPr>
          <p:cNvPr id="26" name="TextBox 25"/>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Cast Metal Partial Dentures (6.9%), 191.7 US$ Mn headroom.</a:t>
            </a:r>
          </a:p>
        </p:txBody>
      </p:sp>
      <p:sp>
        <p:nvSpPr>
          <p:cNvPr id="27" name="Rectangle 26"/>
          <p:cNvSpPr/>
          <p:nvPr/>
        </p:nvSpPr>
        <p:spPr>
          <a:xfrm>
            <a:off x="142875" y="2540572"/>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54057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South Asia &amp; Pacific</a:t>
            </a:r>
          </a:p>
        </p:txBody>
      </p:sp>
      <p:sp>
        <p:nvSpPr>
          <p:cNvPr id="29" name="TextBox 28"/>
          <p:cNvSpPr txBox="1"/>
          <p:nvPr/>
        </p:nvSpPr>
        <p:spPr>
          <a:xfrm>
            <a:off x="1724025" y="2567952"/>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(13.1% share), Above-market pace (5.3%), Flexible Partial Dentures demand, Accelerating vs history.</a:t>
            </a:r>
          </a:p>
        </p:txBody>
      </p:sp>
      <p:sp>
        <p:nvSpPr>
          <p:cNvPr id="30" name="TextBox 29"/>
          <p:cNvSpPr txBox="1"/>
          <p:nvPr/>
        </p:nvSpPr>
        <p:spPr>
          <a:xfrm>
            <a:off x="5534025" y="2567952"/>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(0.8%).</a:t>
            </a:r>
          </a:p>
        </p:txBody>
      </p:sp>
      <p:sp>
        <p:nvSpPr>
          <p:cNvPr id="31" name="TextBox 30"/>
          <p:cNvSpPr txBox="1"/>
          <p:nvPr/>
        </p:nvSpPr>
        <p:spPr>
          <a:xfrm>
            <a:off x="8391525" y="2567952"/>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Cast Metal Partial Dentures (7.2%), 91.0 US$ Mn headroom.</a:t>
            </a:r>
          </a:p>
        </p:txBody>
      </p:sp>
      <p:sp>
        <p:nvSpPr>
          <p:cNvPr id="32" name="Rectangle 31"/>
          <p:cNvSpPr/>
          <p:nvPr/>
        </p:nvSpPr>
        <p:spPr>
          <a:xfrm>
            <a:off x="142875" y="3051675"/>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305167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East Asia</a:t>
            </a:r>
          </a:p>
        </p:txBody>
      </p:sp>
      <p:sp>
        <p:nvSpPr>
          <p:cNvPr id="34" name="TextBox 33"/>
          <p:cNvSpPr txBox="1"/>
          <p:nvPr/>
        </p:nvSpPr>
        <p:spPr>
          <a:xfrm>
            <a:off x="1724025" y="3079056"/>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Installed demand (4.2% CAGR), Flexible Partial Dentures demand, Accelerating vs history.</a:t>
            </a:r>
          </a:p>
        </p:txBody>
      </p:sp>
      <p:sp>
        <p:nvSpPr>
          <p:cNvPr id="35" name="TextBox 34"/>
          <p:cNvSpPr txBox="1"/>
          <p:nvPr/>
        </p:nvSpPr>
        <p:spPr>
          <a:xfrm>
            <a:off x="5534025" y="3079056"/>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16 BPS, Rising realisation (0.7%).</a:t>
            </a:r>
          </a:p>
        </p:txBody>
      </p:sp>
      <p:sp>
        <p:nvSpPr>
          <p:cNvPr id="36" name="TextBox 35"/>
          <p:cNvSpPr txBox="1"/>
          <p:nvPr/>
        </p:nvSpPr>
        <p:spPr>
          <a:xfrm>
            <a:off x="8391525" y="3079056"/>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Cast Metal Partial Dentures (6.3%), 75.2 US$ Mn headroom.</a:t>
            </a:r>
          </a:p>
        </p:txBody>
      </p:sp>
      <p:sp>
        <p:nvSpPr>
          <p:cNvPr id="37" name="Rectangle 36"/>
          <p:cNvSpPr/>
          <p:nvPr/>
        </p:nvSpPr>
        <p:spPr>
          <a:xfrm>
            <a:off x="142875" y="3562779"/>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00025" y="3562779"/>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Latin America</a:t>
            </a:r>
          </a:p>
        </p:txBody>
      </p:sp>
      <p:sp>
        <p:nvSpPr>
          <p:cNvPr id="39" name="TextBox 38"/>
          <p:cNvSpPr txBox="1"/>
          <p:nvPr/>
        </p:nvSpPr>
        <p:spPr>
          <a:xfrm>
            <a:off x="1724025" y="359015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Above-market pace (4.8%), Flexible Partial Dentures demand, Accelerating vs history.</a:t>
            </a:r>
          </a:p>
        </p:txBody>
      </p:sp>
      <p:sp>
        <p:nvSpPr>
          <p:cNvPr id="40" name="TextBox 39"/>
          <p:cNvSpPr txBox="1"/>
          <p:nvPr/>
        </p:nvSpPr>
        <p:spPr>
          <a:xfrm>
            <a:off x="5534025" y="359015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(0.7%).</a:t>
            </a:r>
          </a:p>
        </p:txBody>
      </p:sp>
      <p:sp>
        <p:nvSpPr>
          <p:cNvPr id="41" name="TextBox 40"/>
          <p:cNvSpPr txBox="1"/>
          <p:nvPr/>
        </p:nvSpPr>
        <p:spPr>
          <a:xfrm>
            <a:off x="8391525" y="359015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Cast Metal Partial Dentures (6.8%), 53.9 US$ Mn headroom.</a:t>
            </a:r>
          </a:p>
        </p:txBody>
      </p:sp>
      <p:sp>
        <p:nvSpPr>
          <p:cNvPr id="42" name="Rectangle 41"/>
          <p:cNvSpPr/>
          <p:nvPr/>
        </p:nvSpPr>
        <p:spPr>
          <a:xfrm>
            <a:off x="142875" y="4073882"/>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00025" y="407388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Middle East &amp; Africa</a:t>
            </a:r>
          </a:p>
        </p:txBody>
      </p:sp>
      <p:sp>
        <p:nvSpPr>
          <p:cNvPr id="44" name="TextBox 43"/>
          <p:cNvSpPr txBox="1"/>
          <p:nvPr/>
        </p:nvSpPr>
        <p:spPr>
          <a:xfrm>
            <a:off x="1724025" y="4101263"/>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Installed demand (4.3% CAGR), Flexible Partial Dentures demand, Accelerating vs history.</a:t>
            </a:r>
          </a:p>
        </p:txBody>
      </p:sp>
      <p:sp>
        <p:nvSpPr>
          <p:cNvPr id="45" name="TextBox 44"/>
          <p:cNvSpPr txBox="1"/>
          <p:nvPr/>
        </p:nvSpPr>
        <p:spPr>
          <a:xfrm>
            <a:off x="5534025" y="4101263"/>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11 BPS, Rising realisation (0.7%).</a:t>
            </a:r>
          </a:p>
        </p:txBody>
      </p:sp>
      <p:sp>
        <p:nvSpPr>
          <p:cNvPr id="46" name="TextBox 45"/>
          <p:cNvSpPr txBox="1"/>
          <p:nvPr/>
        </p:nvSpPr>
        <p:spPr>
          <a:xfrm>
            <a:off x="8391525" y="4101263"/>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Cast Metal Partial Dentures (6.3%), 41.1 US$ Mn headroom.</a:t>
            </a:r>
          </a:p>
        </p:txBody>
      </p:sp>
      <p:cxnSp>
        <p:nvCxnSpPr>
          <p:cNvPr id="47" name="Connector 46"/>
          <p:cNvCxnSpPr/>
          <p:nvPr/>
        </p:nvCxnSpPr>
        <p:spPr>
          <a:xfrm>
            <a:off x="142875" y="4584986"/>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00025" y="4603240"/>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49" name="Rounded Rectangle 48"/>
          <p:cNvSpPr/>
          <p:nvPr/>
        </p:nvSpPr>
        <p:spPr>
          <a:xfrm>
            <a:off x="142875" y="4858791"/>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76225" y="4895299"/>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51" name="Connector 50"/>
          <p:cNvCxnSpPr/>
          <p:nvPr/>
        </p:nvCxnSpPr>
        <p:spPr>
          <a:xfrm>
            <a:off x="276225" y="5132597"/>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276225" y="5187358"/>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North America, Europe, South Asia &amp; Pacific anchor scale with a combined 72.0% of Global value in 2036, while 'South Asia &amp; Pacific' offers the steepest upside at 5.3% CAGR against a market pace of 4.4%. 3 of 6 regions grow at or above that pace, so entry logic has to differ by region scale defence in the leaders, mix and premiumisation in the mid-tier, and availability-led expansion in the fastest movers.</a:t>
            </a:r>
          </a:p>
        </p:txBody>
      </p:sp>
      <p:sp>
        <p:nvSpPr>
          <p:cNvPr id="53" name="TextBox 5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Global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604460"/>
            <a:ext cx="2324100" cy="2427742"/>
          </a:xfrm>
          <a:custGeom>
            <a:avLst/>
            <a:gdLst/>
            <a:ahLst/>
            <a:cxnLst/>
            <a:rect l="l" t="t" r="r" b="b"/>
            <a:pathLst>
              <a:path w="244" h="266">
                <a:moveTo>
                  <a:pt x="244" y="28"/>
                </a:moveTo>
                <a:lnTo>
                  <a:pt x="176" y="0"/>
                </a:lnTo>
                <a:lnTo>
                  <a:pt x="140" y="58"/>
                </a:lnTo>
                <a:lnTo>
                  <a:pt x="96" y="107"/>
                </a:lnTo>
                <a:lnTo>
                  <a:pt x="0" y="197"/>
                </a:lnTo>
                <a:lnTo>
                  <a:pt x="87" y="266"/>
                </a:lnTo>
                <a:lnTo>
                  <a:pt x="203" y="225"/>
                </a:lnTo>
                <a:lnTo>
                  <a:pt x="244" y="25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Production Scale-up  9.3%</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Input Cost Pressure  13.0%</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Capacity Add  11.0%</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Supply Concentration  12.5%</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Geographic Spread  20.7%</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Portfolio Breadth  16.6%</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Route Depth  7.7%</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Value Realisation  9.2%</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Supply-side conditions are led by Geographic Spread (10.0/10), Portfolio Breadth (8.0/10), Input Cost Pressure (6.3/10) on a 0-10 scale scored from the global dataset itself.</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Volume expands at 3.6% CAGR (2026–2036) while average realisation moves 0.8% a year the balance of those two sets the cost-pass-through picture.</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 is dispersed: 'North America' holds 30.3% of 2036 value across 6 regions.</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4 product type lines and 4 end user routes, giving producers wide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Capacity added between 2026 and 2036 is worth 605.6 US$ Mn, a 1.5× expansion on the 2026 base.</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Global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595333"/>
            <a:ext cx="1352550" cy="2920592"/>
          </a:xfrm>
          <a:custGeom>
            <a:avLst/>
            <a:gdLst/>
            <a:ahLst/>
            <a:cxnLst/>
            <a:rect l="l" t="t" r="r" b="b"/>
            <a:pathLst>
              <a:path w="142" h="320">
                <a:moveTo>
                  <a:pt x="0" y="32"/>
                </a:moveTo>
                <a:lnTo>
                  <a:pt x="68" y="0"/>
                </a:lnTo>
                <a:lnTo>
                  <a:pt x="73" y="84"/>
                </a:lnTo>
                <a:lnTo>
                  <a:pt x="97" y="120"/>
                </a:lnTo>
                <a:lnTo>
                  <a:pt x="142" y="174"/>
                </a:lnTo>
                <a:lnTo>
                  <a:pt x="95" y="218"/>
                </a:lnTo>
                <a:lnTo>
                  <a:pt x="46" y="238"/>
                </a:lnTo>
                <a:lnTo>
                  <a:pt x="0" y="320"/>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Demand Growth  10.9%</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Premiumisation  15.6%</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App. Breadth  9.3%</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Emerging Pull  9.8%</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Volume Momentum  14.4%</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Category Maturity  12.0%</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Adoption Depth  10.5%</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Consumer Reach  17.6%</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Demand-side conditions are led by Consumer Reach (7.1/10), Premiumisation (6.3/10), Volume Momentum (5.8/10) on a 0-10 scale scored from the global dataset itself.</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Value grows at 4.4% against volume at 3.6% a premiumising market through 2036.</a:t>
            </a:r>
          </a:p>
        </p:txBody>
      </p:sp>
      <p:sp>
        <p:nvSpPr>
          <p:cNvPr id="63" name="TextBox 62"/>
          <p:cNvSpPr txBox="1"/>
          <p:nvPr/>
        </p:nvSpPr>
        <p:spPr>
          <a:xfrm>
            <a:off x="180975" y="215724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'Flexible Partial Dentures' carries 30.6% of product type demand while 'Cast Metal Partial Dentures' compounds fastest at 6.4%.</a:t>
            </a:r>
          </a:p>
        </p:txBody>
      </p:sp>
      <p:sp>
        <p:nvSpPr>
          <p:cNvPr id="64" name="TextBox 63"/>
          <p:cNvSpPr txBox="1"/>
          <p:nvPr/>
        </p:nvSpPr>
        <p:spPr>
          <a:xfrm>
            <a:off x="180975" y="261358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Pull is strongest in 'South Asia &amp; Pacific' (5.3% CAGR, +89 BPS versus the market), with 3 of 6 regions at or above pace.</a:t>
            </a:r>
          </a:p>
        </p:txBody>
      </p:sp>
      <p:sp>
        <p:nvSpPr>
          <p:cNvPr id="65" name="TextBox 64"/>
          <p:cNvSpPr txBox="1"/>
          <p:nvPr/>
        </p:nvSpPr>
        <p:spPr>
          <a:xfrm>
            <a:off x="180975" y="3069929"/>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Reach runs through 4 end user routes, led by 'Academic &amp; Teaching Dental Institutions' at 39.6% and with 'Dental Hospitals' growing fastest at 6.5%.</a:t>
            </a:r>
          </a:p>
        </p:txBody>
      </p:sp>
      <p:sp>
        <p:nvSpPr>
          <p:cNvPr id="66" name="TextBox 65"/>
          <p:cNvSpPr txBox="1"/>
          <p:nvPr/>
        </p:nvSpPr>
        <p:spPr>
          <a:xfrm>
            <a:off x="180975" y="3526271"/>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Flexible Partial Dentures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'Flexible Partial Dentures' grows at only 3.0% CAGR against the market's 4.4%, a -136 BPS gap, and 'Flexible Partial Dentures' surrenders 429 BPS of product type share between 2026 and 2036. Because these lines still carry meaningful volume, the drag is absorbed by the whole category: blended growth sits below what the leading lines achieve on their own. Rationalising or repositioning the lagging end of a 4-line portfolio is therefore a precondition for realising the headline forecast.</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Region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'North America' grows at just 3.5% CAGR -90 BPS against the market and 3 of 6 regions sit below the market pace altogether. Demand is therefore not uniformly available: suppliers carrying a broad geographic footprint fund presence in slow regions out of returns earned in the fast ones. With 'North America' at 30.3% of value, a shortfall in a single leading region is difficult to offset elsewhere in the forecast window.</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is concentrated: 'North America' accounts for 30.3% of 2036 value and the leading product type line for 30.6% of its segment. Average realisation moves 0.8% a year, so cost movements cannot be passed on evenly across 6 regions. The practical constraint is the same in either case commercial terms set for the market as a whole underserve part of it, and margin is lost in the mismatch rather than in the headline growth rate.</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U.S.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'U.S.' adds 97.3 US$ Mn between 2026 and 2036 the single largest absolute increment of any geography in the dataset. Capturing it is a question of scale execution rather than market creation: demand already exists and grows at 4.4% at the market level. Prioritising supply, channel coverage and service levels there converts the largest share of the 605.6 US$ Mn the whole market adds over the forecast period.</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Saudi Arabia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'Saudi Arabia' compounds at 6.0% CAGR from a below-median base one of 9 geographies in the dataset combining above-median growth with below-median size. That profile is where share is cheapest to buy: competitive intensity is lower than in the 30.3%-share leaders, while growth runs +160 BPS ahead of the market. Early distribution and reference accounts established here compound through 2036.</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Dental Hospitals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'Dental Hospitals' grows at 6.5% CAGR, the fastest of 4 end user routes, and adds 68.0 US$ Mn over the forecast period while 'Academic &amp; Teaching Dental Institutions' still carries 39.6% of demand today. Pairing the incumbent route for volume with the fastest route for growth and leading with 'Cast Metal Partial Dentures' at 6.4% is the highest-yield combination the dataset supports.</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global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597199"/>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597199"/>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597199"/>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819551"/>
            <a:ext cx="102108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Strongest historical expansion on record: Global value rose +4.2% year on year to 1,078 US$ Mn, the steepest single-year move of the 2021–2025 period. Demand for 'Flexible Partial Dentures' 30.6% of product type value by 2036 set the pace, and the 4 end user routes tracked here all carried volume through the year.</a:t>
            </a:r>
          </a:p>
        </p:txBody>
      </p:sp>
      <p:sp>
        <p:nvSpPr>
          <p:cNvPr id="18" name="Rectangle 17"/>
          <p:cNvSpPr/>
          <p:nvPr/>
        </p:nvSpPr>
        <p:spPr>
          <a:xfrm>
            <a:off x="142875" y="2914773"/>
            <a:ext cx="11906250" cy="1213871"/>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914773"/>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914773"/>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332091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Base year for the forecast: the global market is estimated at 1,125 US$ Mn, having compounded at 3.9% across 2021–2025. 'North America' holds 30.3% of value across 6 regions, and the forecast is built from 8 segment breakdowns covering 4 product type lines.</a:t>
            </a:r>
          </a:p>
        </p:txBody>
      </p:sp>
      <p:sp>
        <p:nvSpPr>
          <p:cNvPr id="22" name="Rectangle 21"/>
          <p:cNvSpPr/>
          <p:nvPr/>
        </p:nvSpPr>
        <p:spPr>
          <a:xfrm>
            <a:off x="142875" y="4128643"/>
            <a:ext cx="11906250" cy="1213871"/>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4128643"/>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4" name="Connector 23"/>
          <p:cNvCxnSpPr/>
          <p:nvPr/>
        </p:nvCxnSpPr>
        <p:spPr>
          <a:xfrm>
            <a:off x="1571625" y="4128643"/>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453478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Mid-horizon checkpoint: value reaches 1,396 US$ Mn, 1.24× the 2026 base. Average realisation stands at 334.12 US$/Units, and mix has moved +424 BPS toward 'Cast Metal Partial Dentures' while 'Flexible Partial Dentures' gives up 429 BPS.</a:t>
            </a:r>
          </a:p>
        </p:txBody>
      </p:sp>
      <p:sp>
        <p:nvSpPr>
          <p:cNvPr id="26" name="Rectangle 25"/>
          <p:cNvSpPr/>
          <p:nvPr/>
        </p:nvSpPr>
        <p:spPr>
          <a:xfrm>
            <a:off x="142875" y="5342514"/>
            <a:ext cx="11906250" cy="1213871"/>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5342514"/>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28" name="Connector 27"/>
          <p:cNvCxnSpPr/>
          <p:nvPr/>
        </p:nvCxnSpPr>
        <p:spPr>
          <a:xfrm>
            <a:off x="1571625" y="5342514"/>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5748660"/>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Forecast outcome: the global market reaches 1,731 US$ Mn, a 1.5× expansion on 2026 and 605.6 US$ Mn of incremental value at 4.4% CAGR. Volume compounds at 3.6% over the same window, leaving realisation 0.8% a year the gap between the two is the premiumisation the forecast assumes.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Global Removable Partial Dentures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Supplier power, buyer power, competitive intensity, substitution and entry barriers scored from the global dataset 4 product type lines, 4 end user routes and 6 regions at 4.4% CAGR.</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to high. 'North America' supplies 30.3% of 2036 value across 6 regions, concentrating upstream leverage.</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Average realisation moves 0.8% a year (2026–2036), indicating input costs are being passed through.</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4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to high. Demand routes through 4 end user channels led by 'Academic &amp; Teaching Dental Institutions' at 39.6%, giving large buyers scale.</a:t>
            </a:r>
          </a:p>
        </p:txBody>
      </p:sp>
      <p:sp>
        <p:nvSpPr>
          <p:cNvPr id="25" name="TextBox 24"/>
          <p:cNvSpPr txBox="1"/>
          <p:nvPr/>
        </p:nvSpPr>
        <p:spPr>
          <a:xfrm>
            <a:off x="2628900" y="385483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Price sensitivity tracks realisation moving 0.8% a year against volume growth of 3.6%.</a:t>
            </a:r>
          </a:p>
        </p:txBody>
      </p:sp>
      <p:sp>
        <p:nvSpPr>
          <p:cNvPr id="26" name="TextBox 25"/>
          <p:cNvSpPr txBox="1"/>
          <p:nvPr/>
        </p:nvSpPr>
        <p:spPr>
          <a:xfrm>
            <a:off x="2628900" y="4539352"/>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4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to high. 4 product type lines compete inside the segment; the leader holds 30.6%.</a:t>
            </a:r>
          </a:p>
        </p:txBody>
      </p:sp>
      <p:sp>
        <p:nvSpPr>
          <p:cNvPr id="36" name="TextBox 35"/>
          <p:cNvSpPr txBox="1"/>
          <p:nvPr/>
        </p:nvSpPr>
        <p:spPr>
          <a:xfrm>
            <a:off x="50101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Growth is unevenly distributed 'Cast Metal Partial Dentures' at 6.4% against 'Flexible Partial Dentures' at 3.0%.</a:t>
            </a:r>
          </a:p>
        </p:txBody>
      </p:sp>
      <p:sp>
        <p:nvSpPr>
          <p:cNvPr id="37" name="TextBox 36"/>
          <p:cNvSpPr txBox="1"/>
          <p:nvPr/>
        </p:nvSpPr>
        <p:spPr>
          <a:xfrm>
            <a:off x="5010150" y="4530225"/>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3 of 6 regions grow at or above the 4.4% market pace, keeping share contested.</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high. 'Flexible Partial Dentures' loses 429 BPS of share to 'Cast Metal Partial Dentures' (+424 BPS) by 2036 substitution is visible inside the mix.</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The slowest line grows at 3.0%, -136 BPS against the market.</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Realisation moving 0.8% a year widens the price gap substitutes must close.</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to high. The market grows at 4.4% CAGR and adds 605.6 US$ Mn by 2036, attracting entry.</a:t>
            </a:r>
          </a:p>
        </p:txBody>
      </p:sp>
      <p:sp>
        <p:nvSpPr>
          <p:cNvPr id="55" name="TextBox 54"/>
          <p:cNvSpPr txBox="1"/>
          <p:nvPr/>
        </p:nvSpPr>
        <p:spPr>
          <a:xfrm>
            <a:off x="977265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 spreads over 6 regions with no single one above 30.3%, so regional entry is feasible.</a:t>
            </a:r>
          </a:p>
        </p:txBody>
      </p:sp>
      <p:sp>
        <p:nvSpPr>
          <p:cNvPr id="56" name="TextBox 55"/>
          <p:cNvSpPr txBox="1"/>
          <p:nvPr/>
        </p:nvSpPr>
        <p:spPr>
          <a:xfrm>
            <a:off x="9772650" y="4347688"/>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Incumbent scale in 'North America' and 'Flexible Partial Dentures' (30.6% of segment) remains the principal barrier.</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41%</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55%</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35 / 25 / 21%</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Dental Laboratories, 44%</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8</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40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Company A</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4.4%</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The top three hold 41% of 2026 value, but 3 companies lead the 8 sub-segments tracked; no one leads more than 5.</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Tier 1 (4 players) holds 52.0%; Tier 2 and Tier 3 together hold 32.0%.</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'Flexible Partial Dentures' is the largest line; 'Cast Metal Partial Dentures' compounds fastest at 6.4% CAGR.</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2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4 of 8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Company B, Company A, Company C.</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804315"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728115" cy="266700"/>
          </a:xfrm>
          <a:prstGeom prst="rect">
            <a:avLst/>
          </a:prstGeom>
          <a:noFill/>
        </p:spPr>
        <p:txBody>
          <a:bodyPr wrap="square" lIns="28575" rIns="28575" tIns="9525" bIns="9525" anchor="ctr">
            <a:spAutoFit/>
          </a:bodyPr>
          <a:lstStyle/>
          <a:p>
            <a:pPr algn="l"/>
            <a:r>
              <a:rPr sz="1100" b="1">
                <a:solidFill>
                  <a:srgbClr val="FFFFFF"/>
                </a:solidFill>
                <a:latin typeface="Calibri"/>
              </a:rPr>
              <a:t>Top 3  41%</a:t>
            </a:r>
          </a:p>
        </p:txBody>
      </p:sp>
      <p:sp>
        <p:nvSpPr>
          <p:cNvPr id="13" name="Rectangle 12"/>
          <p:cNvSpPr/>
          <p:nvPr/>
        </p:nvSpPr>
        <p:spPr>
          <a:xfrm>
            <a:off x="4994815" y="1257300"/>
            <a:ext cx="1636451"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5051965" y="1257300"/>
            <a:ext cx="1560251" cy="266700"/>
          </a:xfrm>
          <a:prstGeom prst="rect">
            <a:avLst/>
          </a:prstGeom>
          <a:noFill/>
        </p:spPr>
        <p:txBody>
          <a:bodyPr wrap="square" lIns="28575" rIns="28575" tIns="9525" bIns="9525" anchor="ctr">
            <a:spAutoFit/>
          </a:bodyPr>
          <a:lstStyle/>
          <a:p>
            <a:pPr algn="l"/>
            <a:r>
              <a:rPr sz="1100" b="1">
                <a:solidFill>
                  <a:srgbClr val="FFFFFF"/>
                </a:solidFill>
                <a:latin typeface="Calibri"/>
              </a:rPr>
              <a:t>Rest of top 5  14%</a:t>
            </a:r>
          </a:p>
        </p:txBody>
      </p:sp>
      <p:sp>
        <p:nvSpPr>
          <p:cNvPr id="15" name="Rectangle 14"/>
          <p:cNvSpPr/>
          <p:nvPr/>
        </p:nvSpPr>
        <p:spPr>
          <a:xfrm>
            <a:off x="6631266" y="1257300"/>
            <a:ext cx="184769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688416" y="1257300"/>
            <a:ext cx="1771496" cy="266700"/>
          </a:xfrm>
          <a:prstGeom prst="rect">
            <a:avLst/>
          </a:prstGeom>
          <a:noFill/>
        </p:spPr>
        <p:txBody>
          <a:bodyPr wrap="square" lIns="28575" rIns="28575" tIns="9525" bIns="9525" anchor="ctr">
            <a:spAutoFit/>
          </a:bodyPr>
          <a:lstStyle/>
          <a:p>
            <a:pPr algn="l"/>
            <a:r>
              <a:rPr sz="1100" b="1">
                <a:solidFill>
                  <a:srgbClr val="FFFFFF"/>
                </a:solidFill>
                <a:latin typeface="Calibri"/>
              </a:rPr>
              <a:t>Emerging  16%</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Others  30%</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A, Company B, Company C</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D, Company E</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Company F, Company G, Company H</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Flexible Partial Dentures</a:t>
            </a:r>
          </a:p>
        </p:txBody>
      </p:sp>
      <p:sp>
        <p:nvSpPr>
          <p:cNvPr id="30" name="TextBox 29"/>
          <p:cNvSpPr txBox="1"/>
          <p:nvPr/>
        </p:nvSpPr>
        <p:spPr>
          <a:xfrm>
            <a:off x="3352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Combination Framework Partial Dentures</a:t>
            </a:r>
          </a:p>
        </p:txBody>
      </p:sp>
      <p:sp>
        <p:nvSpPr>
          <p:cNvPr id="31" name="TextBox 30"/>
          <p:cNvSpPr txBox="1"/>
          <p:nvPr/>
        </p:nvSpPr>
        <p:spPr>
          <a:xfrm>
            <a:off x="4591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Cast Metal Partial Dentures</a:t>
            </a:r>
          </a:p>
        </p:txBody>
      </p:sp>
      <p:sp>
        <p:nvSpPr>
          <p:cNvPr id="32" name="TextBox 31"/>
          <p:cNvSpPr txBox="1"/>
          <p:nvPr/>
        </p:nvSpPr>
        <p:spPr>
          <a:xfrm>
            <a:off x="5829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Acrylic Partial Dentures</a:t>
            </a:r>
          </a:p>
        </p:txBody>
      </p:sp>
      <p:sp>
        <p:nvSpPr>
          <p:cNvPr id="33" name="TextBox 32"/>
          <p:cNvSpPr txBox="1"/>
          <p:nvPr/>
        </p:nvSpPr>
        <p:spPr>
          <a:xfrm>
            <a:off x="7067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Laboratories</a:t>
            </a:r>
          </a:p>
        </p:txBody>
      </p:sp>
      <p:sp>
        <p:nvSpPr>
          <p:cNvPr id="34" name="TextBox 33"/>
          <p:cNvSpPr txBox="1"/>
          <p:nvPr/>
        </p:nvSpPr>
        <p:spPr>
          <a:xfrm>
            <a:off x="8305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Academic &amp; Teaching Dental Institutions</a:t>
            </a:r>
          </a:p>
        </p:txBody>
      </p:sp>
      <p:sp>
        <p:nvSpPr>
          <p:cNvPr id="35" name="TextBox 34"/>
          <p:cNvSpPr txBox="1"/>
          <p:nvPr/>
        </p:nvSpPr>
        <p:spPr>
          <a:xfrm>
            <a:off x="9544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Clinics</a:t>
            </a:r>
          </a:p>
        </p:txBody>
      </p:sp>
      <p:sp>
        <p:nvSpPr>
          <p:cNvPr id="36" name="TextBox 35"/>
          <p:cNvSpPr txBox="1"/>
          <p:nvPr/>
        </p:nvSpPr>
        <p:spPr>
          <a:xfrm>
            <a:off x="10782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Hospitals</a:t>
            </a:r>
          </a:p>
        </p:txBody>
      </p:sp>
      <p:cxnSp>
        <p:nvCxnSpPr>
          <p:cNvPr id="37" name="Connector 36"/>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6289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40" name="TextBox 39"/>
          <p:cNvSpPr txBox="1"/>
          <p:nvPr/>
        </p:nvSpPr>
        <p:spPr>
          <a:xfrm>
            <a:off x="285750" y="27908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1" name="Oval 40"/>
          <p:cNvSpPr/>
          <p:nvPr/>
        </p:nvSpPr>
        <p:spPr>
          <a:xfrm>
            <a:off x="2638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714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38766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5114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6353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7591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7667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82967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890587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10067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1306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2" name="Connector 51"/>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718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55" name="TextBox 54"/>
          <p:cNvSpPr txBox="1"/>
          <p:nvPr/>
        </p:nvSpPr>
        <p:spPr>
          <a:xfrm>
            <a:off x="285750" y="31337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Oval 55"/>
          <p:cNvSpPr/>
          <p:nvPr/>
        </p:nvSpPr>
        <p:spPr>
          <a:xfrm>
            <a:off x="2638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Freeform 56"/>
          <p:cNvSpPr/>
          <p:nvPr/>
        </p:nvSpPr>
        <p:spPr>
          <a:xfrm>
            <a:off x="2714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38766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39528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5114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6353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64293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7591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7667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8829675" y="3048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10067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Freeform 66"/>
          <p:cNvSpPr/>
          <p:nvPr/>
        </p:nvSpPr>
        <p:spPr>
          <a:xfrm>
            <a:off x="101441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1306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13823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0" name="Connector 69"/>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3147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73" name="TextBox 72"/>
          <p:cNvSpPr txBox="1"/>
          <p:nvPr/>
        </p:nvSpPr>
        <p:spPr>
          <a:xfrm>
            <a:off x="285750" y="34766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4" name="Oval 73"/>
          <p:cNvSpPr/>
          <p:nvPr/>
        </p:nvSpPr>
        <p:spPr>
          <a:xfrm>
            <a:off x="2638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3876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5114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5191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6353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7591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8829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reeform 80"/>
          <p:cNvSpPr/>
          <p:nvPr/>
        </p:nvSpPr>
        <p:spPr>
          <a:xfrm>
            <a:off x="89058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Oval 81"/>
          <p:cNvSpPr/>
          <p:nvPr/>
        </p:nvSpPr>
        <p:spPr>
          <a:xfrm>
            <a:off x="10067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reeform 82"/>
          <p:cNvSpPr/>
          <p:nvPr/>
        </p:nvSpPr>
        <p:spPr>
          <a:xfrm>
            <a:off x="10144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Oval 83"/>
          <p:cNvSpPr/>
          <p:nvPr/>
        </p:nvSpPr>
        <p:spPr>
          <a:xfrm>
            <a:off x="11306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3823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36576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89" name="TextBox 88"/>
          <p:cNvSpPr txBox="1"/>
          <p:nvPr/>
        </p:nvSpPr>
        <p:spPr>
          <a:xfrm>
            <a:off x="285750" y="38195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90" name="Oval 89"/>
          <p:cNvSpPr/>
          <p:nvPr/>
        </p:nvSpPr>
        <p:spPr>
          <a:xfrm>
            <a:off x="2638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3876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3952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Oval 92"/>
          <p:cNvSpPr/>
          <p:nvPr/>
        </p:nvSpPr>
        <p:spPr>
          <a:xfrm>
            <a:off x="5114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Freeform 93"/>
          <p:cNvSpPr/>
          <p:nvPr/>
        </p:nvSpPr>
        <p:spPr>
          <a:xfrm>
            <a:off x="519112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Oval 94"/>
          <p:cNvSpPr/>
          <p:nvPr/>
        </p:nvSpPr>
        <p:spPr>
          <a:xfrm>
            <a:off x="6353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64293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7591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766762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Oval 98"/>
          <p:cNvSpPr/>
          <p:nvPr/>
        </p:nvSpPr>
        <p:spPr>
          <a:xfrm>
            <a:off x="8829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Freeform 99"/>
          <p:cNvSpPr/>
          <p:nvPr/>
        </p:nvSpPr>
        <p:spPr>
          <a:xfrm>
            <a:off x="8905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Oval 100"/>
          <p:cNvSpPr/>
          <p:nvPr/>
        </p:nvSpPr>
        <p:spPr>
          <a:xfrm>
            <a:off x="10067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11306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3" name="Connector 102"/>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0005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106" name="TextBox 105"/>
          <p:cNvSpPr txBox="1"/>
          <p:nvPr/>
        </p:nvSpPr>
        <p:spPr>
          <a:xfrm>
            <a:off x="285750" y="41624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7" name="Oval 106"/>
          <p:cNvSpPr/>
          <p:nvPr/>
        </p:nvSpPr>
        <p:spPr>
          <a:xfrm>
            <a:off x="2638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14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3876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395287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Oval 110"/>
          <p:cNvSpPr/>
          <p:nvPr/>
        </p:nvSpPr>
        <p:spPr>
          <a:xfrm>
            <a:off x="5114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Freeform 111"/>
          <p:cNvSpPr/>
          <p:nvPr/>
        </p:nvSpPr>
        <p:spPr>
          <a:xfrm>
            <a:off x="51911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Oval 112"/>
          <p:cNvSpPr/>
          <p:nvPr/>
        </p:nvSpPr>
        <p:spPr>
          <a:xfrm>
            <a:off x="6353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Oval 113"/>
          <p:cNvSpPr/>
          <p:nvPr/>
        </p:nvSpPr>
        <p:spPr>
          <a:xfrm>
            <a:off x="7591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7667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Oval 115"/>
          <p:cNvSpPr/>
          <p:nvPr/>
        </p:nvSpPr>
        <p:spPr>
          <a:xfrm>
            <a:off x="8829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10067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01441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11306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0" name="Connector 119"/>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1" name="Rectangle 120"/>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285750" y="43434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123" name="TextBox 122"/>
          <p:cNvSpPr txBox="1"/>
          <p:nvPr/>
        </p:nvSpPr>
        <p:spPr>
          <a:xfrm>
            <a:off x="285750" y="45053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24" name="Oval 123"/>
          <p:cNvSpPr/>
          <p:nvPr/>
        </p:nvSpPr>
        <p:spPr>
          <a:xfrm>
            <a:off x="2638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27146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3876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3952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Oval 127"/>
          <p:cNvSpPr/>
          <p:nvPr/>
        </p:nvSpPr>
        <p:spPr>
          <a:xfrm>
            <a:off x="5114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Oval 128"/>
          <p:cNvSpPr/>
          <p:nvPr/>
        </p:nvSpPr>
        <p:spPr>
          <a:xfrm>
            <a:off x="6353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7591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8829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Freeform 131"/>
          <p:cNvSpPr/>
          <p:nvPr/>
        </p:nvSpPr>
        <p:spPr>
          <a:xfrm>
            <a:off x="8905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Oval 132"/>
          <p:cNvSpPr/>
          <p:nvPr/>
        </p:nvSpPr>
        <p:spPr>
          <a:xfrm>
            <a:off x="10067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101441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11306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6" name="Connector 135"/>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Rectangle 136"/>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285750" y="46863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139" name="TextBox 138"/>
          <p:cNvSpPr txBox="1"/>
          <p:nvPr/>
        </p:nvSpPr>
        <p:spPr>
          <a:xfrm>
            <a:off x="285750" y="48482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0" name="Oval 139"/>
          <p:cNvSpPr/>
          <p:nvPr/>
        </p:nvSpPr>
        <p:spPr>
          <a:xfrm>
            <a:off x="2638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2714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3876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Oval 142"/>
          <p:cNvSpPr/>
          <p:nvPr/>
        </p:nvSpPr>
        <p:spPr>
          <a:xfrm>
            <a:off x="5114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Freeform 143"/>
          <p:cNvSpPr/>
          <p:nvPr/>
        </p:nvSpPr>
        <p:spPr>
          <a:xfrm>
            <a:off x="51911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Oval 144"/>
          <p:cNvSpPr/>
          <p:nvPr/>
        </p:nvSpPr>
        <p:spPr>
          <a:xfrm>
            <a:off x="6353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7591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7667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8829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890587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10067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11306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2" name="Connector 151"/>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3" name="Rectangle 152"/>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285750" y="50292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55" name="TextBox 154"/>
          <p:cNvSpPr txBox="1"/>
          <p:nvPr/>
        </p:nvSpPr>
        <p:spPr>
          <a:xfrm>
            <a:off x="285750" y="51911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6" name="Oval 155"/>
          <p:cNvSpPr/>
          <p:nvPr/>
        </p:nvSpPr>
        <p:spPr>
          <a:xfrm>
            <a:off x="2638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Oval 156"/>
          <p:cNvSpPr/>
          <p:nvPr/>
        </p:nvSpPr>
        <p:spPr>
          <a:xfrm>
            <a:off x="3876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395287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Oval 158"/>
          <p:cNvSpPr/>
          <p:nvPr/>
        </p:nvSpPr>
        <p:spPr>
          <a:xfrm>
            <a:off x="5114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Freeform 159"/>
          <p:cNvSpPr/>
          <p:nvPr/>
        </p:nvSpPr>
        <p:spPr>
          <a:xfrm>
            <a:off x="51911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Oval 160"/>
          <p:cNvSpPr/>
          <p:nvPr/>
        </p:nvSpPr>
        <p:spPr>
          <a:xfrm>
            <a:off x="6353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Oval 161"/>
          <p:cNvSpPr/>
          <p:nvPr/>
        </p:nvSpPr>
        <p:spPr>
          <a:xfrm>
            <a:off x="7591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Freeform 162"/>
          <p:cNvSpPr/>
          <p:nvPr/>
        </p:nvSpPr>
        <p:spPr>
          <a:xfrm>
            <a:off x="76676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Oval 163"/>
          <p:cNvSpPr/>
          <p:nvPr/>
        </p:nvSpPr>
        <p:spPr>
          <a:xfrm>
            <a:off x="8829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Oval 164"/>
          <p:cNvSpPr/>
          <p:nvPr/>
        </p:nvSpPr>
        <p:spPr>
          <a:xfrm>
            <a:off x="10067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Freeform 165"/>
          <p:cNvSpPr/>
          <p:nvPr/>
        </p:nvSpPr>
        <p:spPr>
          <a:xfrm>
            <a:off x="101441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Oval 166"/>
          <p:cNvSpPr/>
          <p:nvPr/>
        </p:nvSpPr>
        <p:spPr>
          <a:xfrm>
            <a:off x="11306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68" name="Connector 167"/>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9" name="Rectangle 168"/>
          <p:cNvSpPr/>
          <p:nvPr/>
        </p:nvSpPr>
        <p:spPr>
          <a:xfrm>
            <a:off x="190500" y="54387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314325"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171" name="Rectangle 170"/>
          <p:cNvSpPr/>
          <p:nvPr/>
        </p:nvSpPr>
        <p:spPr>
          <a:xfrm>
            <a:off x="847725" y="54387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1550"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173" name="Rectangle 172"/>
          <p:cNvSpPr/>
          <p:nvPr/>
        </p:nvSpPr>
        <p:spPr>
          <a:xfrm>
            <a:off x="1504950" y="54387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1628775" y="53911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175" name="TextBox 174"/>
          <p:cNvSpPr txBox="1"/>
          <p:nvPr/>
        </p:nvSpPr>
        <p:spPr>
          <a:xfrm>
            <a:off x="190500" y="56007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76" name="TextBox 175"/>
          <p:cNvSpPr txBox="1"/>
          <p:nvPr/>
        </p:nvSpPr>
        <p:spPr>
          <a:xfrm>
            <a:off x="190500" y="57531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'Dental Laboratories' is the most contested column (7 players active); 'Acrylic Partial Dentures' is the most open (3).</a:t>
            </a:r>
          </a:p>
        </p:txBody>
      </p:sp>
      <p:sp>
        <p:nvSpPr>
          <p:cNvPr id="177" name="TextBox 1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266950" cy="228600"/>
          </a:xfrm>
          <a:prstGeom prst="rect">
            <a:avLst/>
          </a:prstGeom>
          <a:noFill/>
        </p:spPr>
        <p:txBody>
          <a:bodyPr wrap="square" lIns="28575" rIns="28575" tIns="9525" bIns="9525" anchor="t">
            <a:spAutoFit/>
          </a:bodyPr>
          <a:lstStyle/>
          <a:p>
            <a:pPr algn="l"/>
            <a:r>
              <a:rPr sz="1100" b="1">
                <a:solidFill>
                  <a:srgbClr val="E87722"/>
                </a:solidFill>
                <a:latin typeface="Calibri"/>
              </a:rPr>
              <a:t>41%</a:t>
            </a:r>
          </a:p>
        </p:txBody>
      </p:sp>
      <p:cxnSp>
        <p:nvCxnSpPr>
          <p:cNvPr id="12" name="Connector 11"/>
          <p:cNvCxnSpPr/>
          <p:nvPr/>
        </p:nvCxnSpPr>
        <p:spPr>
          <a:xfrm>
            <a:off x="25527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26098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26098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55%</a:t>
            </a:r>
          </a:p>
        </p:txBody>
      </p:sp>
      <p:cxnSp>
        <p:nvCxnSpPr>
          <p:cNvPr id="15" name="Connector 14"/>
          <p:cNvCxnSpPr/>
          <p:nvPr/>
        </p:nvCxnSpPr>
        <p:spPr>
          <a:xfrm>
            <a:off x="49149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49720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Flexible Partial Dentures, share</a:t>
            </a:r>
          </a:p>
        </p:txBody>
      </p:sp>
      <p:sp>
        <p:nvSpPr>
          <p:cNvPr id="17" name="TextBox 16"/>
          <p:cNvSpPr txBox="1"/>
          <p:nvPr/>
        </p:nvSpPr>
        <p:spPr>
          <a:xfrm>
            <a:off x="49720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35%</a:t>
            </a:r>
          </a:p>
        </p:txBody>
      </p:sp>
      <p:cxnSp>
        <p:nvCxnSpPr>
          <p:cNvPr id="18" name="Connector 17"/>
          <p:cNvCxnSpPr/>
          <p:nvPr/>
        </p:nvCxnSpPr>
        <p:spPr>
          <a:xfrm>
            <a:off x="72771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73342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Combination Framework Partial Dentures, share</a:t>
            </a:r>
          </a:p>
        </p:txBody>
      </p:sp>
      <p:sp>
        <p:nvSpPr>
          <p:cNvPr id="20" name="TextBox 19"/>
          <p:cNvSpPr txBox="1"/>
          <p:nvPr/>
        </p:nvSpPr>
        <p:spPr>
          <a:xfrm>
            <a:off x="73342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25%</a:t>
            </a:r>
          </a:p>
        </p:txBody>
      </p:sp>
      <p:cxnSp>
        <p:nvCxnSpPr>
          <p:cNvPr id="21" name="Connector 20"/>
          <p:cNvCxnSpPr/>
          <p:nvPr/>
        </p:nvCxnSpPr>
        <p:spPr>
          <a:xfrm>
            <a:off x="96393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96964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Cast Metal Partial Dentures, share</a:t>
            </a:r>
          </a:p>
        </p:txBody>
      </p:sp>
      <p:sp>
        <p:nvSpPr>
          <p:cNvPr id="23" name="TextBox 22"/>
          <p:cNvSpPr txBox="1"/>
          <p:nvPr/>
        </p:nvSpPr>
        <p:spPr>
          <a:xfrm>
            <a:off x="96964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21%</a:t>
            </a:r>
          </a:p>
        </p:txBody>
      </p:sp>
      <p:cxnSp>
        <p:nvCxnSpPr>
          <p:cNvPr id="24" name="Connector 23"/>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Rectangle 25"/>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1. Flexible Partial Dentures</a:t>
            </a:r>
          </a:p>
        </p:txBody>
      </p:sp>
      <p:sp>
        <p:nvSpPr>
          <p:cNvPr id="28" name="TextBox 27"/>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35%</a:t>
            </a:r>
          </a:p>
        </p:txBody>
      </p:sp>
      <p:sp>
        <p:nvSpPr>
          <p:cNvPr id="29" name="TextBox 28"/>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30" name="TextBox 29"/>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3.0%</a:t>
            </a:r>
          </a:p>
        </p:txBody>
      </p:sp>
      <p:sp>
        <p:nvSpPr>
          <p:cNvPr id="31" name="TextBox 30"/>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32" name="Connector 31"/>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4" name="TextBox 33"/>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C</a:t>
            </a:r>
          </a:p>
        </p:txBody>
      </p:sp>
      <p:sp>
        <p:nvSpPr>
          <p:cNvPr id="35" name="TextBox 34"/>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6" name="TextBox 35"/>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A</a:t>
            </a:r>
          </a:p>
        </p:txBody>
      </p:sp>
      <p:sp>
        <p:nvSpPr>
          <p:cNvPr id="37" name="TextBox 36"/>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B</a:t>
            </a:r>
          </a:p>
        </p:txBody>
      </p:sp>
      <p:sp>
        <p:nvSpPr>
          <p:cNvPr id="38" name="TextBox 37"/>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E</a:t>
            </a:r>
          </a:p>
        </p:txBody>
      </p:sp>
      <p:sp>
        <p:nvSpPr>
          <p:cNvPr id="39" name="TextBox 38"/>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F</a:t>
            </a:r>
          </a:p>
        </p:txBody>
      </p:sp>
      <p:cxnSp>
        <p:nvCxnSpPr>
          <p:cNvPr id="40" name="Connector 39"/>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42" name="TextBox 41"/>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named players compete here; 'Flexible Partial Dentures' adds 137.1 US$ Mn by 2036.</a:t>
            </a:r>
          </a:p>
        </p:txBody>
      </p:sp>
      <p:cxnSp>
        <p:nvCxnSpPr>
          <p:cNvPr id="43" name="Connector 42"/>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4" name="Freeform 43"/>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Combination Framework Partial Dentures</a:t>
            </a:r>
          </a:p>
        </p:txBody>
      </p:sp>
      <p:sp>
        <p:nvSpPr>
          <p:cNvPr id="48" name="TextBox 47"/>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25%</a:t>
            </a:r>
          </a:p>
        </p:txBody>
      </p:sp>
      <p:sp>
        <p:nvSpPr>
          <p:cNvPr id="49" name="TextBox 48"/>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50" name="TextBox 49"/>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5.2%</a:t>
            </a:r>
          </a:p>
        </p:txBody>
      </p:sp>
      <p:sp>
        <p:nvSpPr>
          <p:cNvPr id="51" name="TextBox 50"/>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52" name="Connector 51"/>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4" name="TextBox 53"/>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A</a:t>
            </a:r>
          </a:p>
        </p:txBody>
      </p:sp>
      <p:sp>
        <p:nvSpPr>
          <p:cNvPr id="55" name="TextBox 54"/>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6" name="TextBox 55"/>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B</a:t>
            </a:r>
          </a:p>
        </p:txBody>
      </p:sp>
      <p:sp>
        <p:nvSpPr>
          <p:cNvPr id="57" name="TextBox 56"/>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D</a:t>
            </a:r>
          </a:p>
        </p:txBody>
      </p:sp>
      <p:sp>
        <p:nvSpPr>
          <p:cNvPr id="58" name="TextBox 57"/>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E</a:t>
            </a:r>
          </a:p>
        </p:txBody>
      </p:sp>
      <p:sp>
        <p:nvSpPr>
          <p:cNvPr id="59" name="TextBox 58"/>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F</a:t>
            </a:r>
          </a:p>
        </p:txBody>
      </p:sp>
      <p:cxnSp>
        <p:nvCxnSpPr>
          <p:cNvPr id="60" name="Connector 59"/>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62" name="TextBox 61"/>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named players compete here; 'Combination Framework Partial Dentures' adds 186.6 US$ Mn by 2036.</a:t>
            </a:r>
          </a:p>
        </p:txBody>
      </p:sp>
      <p:cxnSp>
        <p:nvCxnSpPr>
          <p:cNvPr id="63" name="Connector 62"/>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4" name="Freeform 63"/>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6219825"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219825"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315075"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3. Cast Metal Partial Dentures</a:t>
            </a:r>
          </a:p>
        </p:txBody>
      </p:sp>
      <p:sp>
        <p:nvSpPr>
          <p:cNvPr id="68" name="TextBox 67"/>
          <p:cNvSpPr txBox="1"/>
          <p:nvPr/>
        </p:nvSpPr>
        <p:spPr>
          <a:xfrm>
            <a:off x="6315075" y="1924050"/>
            <a:ext cx="666750" cy="190500"/>
          </a:xfrm>
          <a:prstGeom prst="rect">
            <a:avLst/>
          </a:prstGeom>
          <a:noFill/>
        </p:spPr>
        <p:txBody>
          <a:bodyPr wrap="none" lIns="0" rIns="0" tIns="0" bIns="0" anchor="t">
            <a:spAutoFit/>
          </a:bodyPr>
          <a:lstStyle/>
          <a:p>
            <a:pPr algn="l"/>
            <a:r>
              <a:rPr sz="1100" b="1">
                <a:solidFill>
                  <a:srgbClr val="1F2933"/>
                </a:solidFill>
                <a:latin typeface="Calibri"/>
              </a:rPr>
              <a:t>21%</a:t>
            </a:r>
          </a:p>
        </p:txBody>
      </p:sp>
      <p:sp>
        <p:nvSpPr>
          <p:cNvPr id="69" name="TextBox 68"/>
          <p:cNvSpPr txBox="1"/>
          <p:nvPr/>
        </p:nvSpPr>
        <p:spPr>
          <a:xfrm>
            <a:off x="7000875"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70" name="TextBox 69"/>
          <p:cNvSpPr txBox="1"/>
          <p:nvPr/>
        </p:nvSpPr>
        <p:spPr>
          <a:xfrm>
            <a:off x="6315075" y="2133600"/>
            <a:ext cx="666750" cy="190500"/>
          </a:xfrm>
          <a:prstGeom prst="rect">
            <a:avLst/>
          </a:prstGeom>
          <a:noFill/>
        </p:spPr>
        <p:txBody>
          <a:bodyPr wrap="none" lIns="0" rIns="0" tIns="0" bIns="0" anchor="t">
            <a:spAutoFit/>
          </a:bodyPr>
          <a:lstStyle/>
          <a:p>
            <a:pPr algn="l"/>
            <a:r>
              <a:rPr sz="1100" b="0">
                <a:solidFill>
                  <a:srgbClr val="5F6B7A"/>
                </a:solidFill>
                <a:latin typeface="Calibri"/>
              </a:rPr>
              <a:t>6.4%</a:t>
            </a:r>
          </a:p>
        </p:txBody>
      </p:sp>
      <p:sp>
        <p:nvSpPr>
          <p:cNvPr id="71" name="TextBox 70"/>
          <p:cNvSpPr txBox="1"/>
          <p:nvPr/>
        </p:nvSpPr>
        <p:spPr>
          <a:xfrm>
            <a:off x="7000875"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72" name="Connector 71"/>
          <p:cNvCxnSpPr/>
          <p:nvPr/>
        </p:nvCxnSpPr>
        <p:spPr>
          <a:xfrm>
            <a:off x="6315075"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6315075"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74" name="TextBox 73"/>
          <p:cNvSpPr txBox="1"/>
          <p:nvPr/>
        </p:nvSpPr>
        <p:spPr>
          <a:xfrm>
            <a:off x="6315075"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Company A</a:t>
            </a:r>
          </a:p>
        </p:txBody>
      </p:sp>
      <p:sp>
        <p:nvSpPr>
          <p:cNvPr id="75" name="TextBox 74"/>
          <p:cNvSpPr txBox="1"/>
          <p:nvPr/>
        </p:nvSpPr>
        <p:spPr>
          <a:xfrm>
            <a:off x="6315075"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76" name="TextBox 75"/>
          <p:cNvSpPr txBox="1"/>
          <p:nvPr/>
        </p:nvSpPr>
        <p:spPr>
          <a:xfrm>
            <a:off x="6315075"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C</a:t>
            </a:r>
          </a:p>
        </p:txBody>
      </p:sp>
      <p:sp>
        <p:nvSpPr>
          <p:cNvPr id="77" name="TextBox 76"/>
          <p:cNvSpPr txBox="1"/>
          <p:nvPr/>
        </p:nvSpPr>
        <p:spPr>
          <a:xfrm>
            <a:off x="6315075"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D</a:t>
            </a:r>
          </a:p>
        </p:txBody>
      </p:sp>
      <p:sp>
        <p:nvSpPr>
          <p:cNvPr id="78" name="TextBox 77"/>
          <p:cNvSpPr txBox="1"/>
          <p:nvPr/>
        </p:nvSpPr>
        <p:spPr>
          <a:xfrm>
            <a:off x="6315075"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E</a:t>
            </a:r>
          </a:p>
        </p:txBody>
      </p:sp>
      <p:sp>
        <p:nvSpPr>
          <p:cNvPr id="79" name="TextBox 78"/>
          <p:cNvSpPr txBox="1"/>
          <p:nvPr/>
        </p:nvSpPr>
        <p:spPr>
          <a:xfrm>
            <a:off x="6315075"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Company G</a:t>
            </a:r>
          </a:p>
        </p:txBody>
      </p:sp>
      <p:cxnSp>
        <p:nvCxnSpPr>
          <p:cNvPr id="80" name="Connector 79"/>
          <p:cNvCxnSpPr/>
          <p:nvPr/>
        </p:nvCxnSpPr>
        <p:spPr>
          <a:xfrm>
            <a:off x="6315075"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6315075"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82" name="TextBox 81"/>
          <p:cNvSpPr txBox="1"/>
          <p:nvPr/>
        </p:nvSpPr>
        <p:spPr>
          <a:xfrm>
            <a:off x="6315075"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named players compete here; 'Cast Metal Partial Dentures' adds 198.6 US$ Mn by 2036.</a:t>
            </a:r>
          </a:p>
        </p:txBody>
      </p:sp>
      <p:cxnSp>
        <p:nvCxnSpPr>
          <p:cNvPr id="83" name="Connector 82"/>
          <p:cNvCxnSpPr/>
          <p:nvPr/>
        </p:nvCxnSpPr>
        <p:spPr>
          <a:xfrm>
            <a:off x="9024938"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84" name="Freeform 83"/>
          <p:cNvSpPr/>
          <p:nvPr/>
        </p:nvSpPr>
        <p:spPr>
          <a:xfrm>
            <a:off x="9124950" y="3448050"/>
            <a:ext cx="76200" cy="95250"/>
          </a:xfrm>
          <a:custGeom>
            <a:avLst/>
            <a:gdLst/>
            <a:ahLst/>
            <a:cxnLst/>
            <a:rect l="l" t="t" r="r" b="b"/>
            <a:pathLst>
              <a:path w="8" h="10">
                <a:moveTo>
                  <a:pt x="8"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4. End User</a:t>
            </a:r>
          </a:p>
        </p:txBody>
      </p:sp>
      <p:sp>
        <p:nvSpPr>
          <p:cNvPr id="88" name="TextBox 87"/>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89" name="TextBox 88"/>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90" name="Connector 89"/>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a:t>
            </a:r>
          </a:p>
        </p:txBody>
      </p:sp>
      <p:sp>
        <p:nvSpPr>
          <p:cNvPr id="92" name="Rectangle 91"/>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44%</a:t>
            </a:r>
          </a:p>
        </p:txBody>
      </p:sp>
      <p:sp>
        <p:nvSpPr>
          <p:cNvPr id="94" name="TextBox 93"/>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a:t>
            </a:r>
          </a:p>
        </p:txBody>
      </p:sp>
      <p:sp>
        <p:nvSpPr>
          <p:cNvPr id="95" name="Rectangle 94"/>
          <p:cNvSpPr/>
          <p:nvPr/>
        </p:nvSpPr>
        <p:spPr>
          <a:xfrm>
            <a:off x="10682288" y="2847975"/>
            <a:ext cx="646713"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367100"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37%</a:t>
            </a:r>
          </a:p>
        </p:txBody>
      </p:sp>
      <p:sp>
        <p:nvSpPr>
          <p:cNvPr id="97" name="TextBox 96"/>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Clinics</a:t>
            </a:r>
          </a:p>
        </p:txBody>
      </p:sp>
      <p:sp>
        <p:nvSpPr>
          <p:cNvPr id="98" name="Rectangle 97"/>
          <p:cNvSpPr/>
          <p:nvPr/>
        </p:nvSpPr>
        <p:spPr>
          <a:xfrm>
            <a:off x="10682288" y="3171825"/>
            <a:ext cx="225179"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0945566"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13%</a:t>
            </a:r>
          </a:p>
        </p:txBody>
      </p:sp>
      <p:sp>
        <p:nvSpPr>
          <p:cNvPr id="100" name="TextBox 99"/>
          <p:cNvSpPr txBox="1"/>
          <p:nvPr/>
        </p:nvSpPr>
        <p:spPr>
          <a:xfrm>
            <a:off x="9329738" y="33909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Hospitals</a:t>
            </a:r>
          </a:p>
        </p:txBody>
      </p:sp>
      <p:sp>
        <p:nvSpPr>
          <p:cNvPr id="101" name="Rectangle 100"/>
          <p:cNvSpPr/>
          <p:nvPr/>
        </p:nvSpPr>
        <p:spPr>
          <a:xfrm>
            <a:off x="10682288" y="3495675"/>
            <a:ext cx="121918"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10842305" y="3457575"/>
            <a:ext cx="476250" cy="190500"/>
          </a:xfrm>
          <a:prstGeom prst="rect">
            <a:avLst/>
          </a:prstGeom>
          <a:noFill/>
        </p:spPr>
        <p:txBody>
          <a:bodyPr wrap="none" lIns="0" rIns="0" tIns="0" bIns="0" anchor="ctr">
            <a:spAutoFit/>
          </a:bodyPr>
          <a:lstStyle/>
          <a:p>
            <a:pPr algn="l"/>
            <a:r>
              <a:rPr sz="1100" b="1">
                <a:solidFill>
                  <a:srgbClr val="1F2933"/>
                </a:solidFill>
                <a:latin typeface="Calibri"/>
              </a:rPr>
              <a:t>7%</a:t>
            </a:r>
          </a:p>
        </p:txBody>
      </p:sp>
      <p:cxnSp>
        <p:nvCxnSpPr>
          <p:cNvPr id="103" name="Connector 102"/>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105" name="TextBox 104"/>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The top two end uses pay for 80% of the market; vendors package for one vertical at a time.</a:t>
            </a:r>
          </a:p>
        </p:txBody>
      </p:sp>
      <p:sp>
        <p:nvSpPr>
          <p:cNvPr id="106" name="Rectangle 105"/>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109" name="TextBox 108"/>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Cast Metal Partial Dentures Compounds Fastest Across the Product Type Mix  |  South Asia &amp; Pacific Emerges as the Growth Engine Among Regions  |  Premiumisation Lifts Average Realisation</a:t>
            </a:r>
          </a:p>
        </p:txBody>
      </p:sp>
      <p:sp>
        <p:nvSpPr>
          <p:cNvPr id="110" name="Rectangle 109"/>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113" name="TextBox 112"/>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Flexible Partial Dentures Lags the Category and Dilutes Blended Growth  |  Uneven Region Performance Caps the Blended Rate  |  Concentration Risk Limits Pricing and Sourcing Flexibility</a:t>
            </a:r>
          </a:p>
        </p:txBody>
      </p:sp>
      <p:sp>
        <p:nvSpPr>
          <p:cNvPr id="114" name="TextBox 1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(2)</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E</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F</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(2)</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G</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Company H</a:t>
            </a:r>
          </a:p>
        </p:txBody>
      </p:sp>
      <p:sp>
        <p:nvSpPr>
          <p:cNvPr id="57" name="Rectangle 56"/>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59" name="TextBox 58"/>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52.0%</a:t>
            </a:r>
          </a:p>
        </p:txBody>
      </p:sp>
      <p:sp>
        <p:nvSpPr>
          <p:cNvPr id="60" name="TextBox 59"/>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1" name="Rectangle 60"/>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3" name="TextBox 62"/>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22.0%</a:t>
            </a:r>
          </a:p>
        </p:txBody>
      </p:sp>
      <p:sp>
        <p:nvSpPr>
          <p:cNvPr id="64" name="TextBox 63"/>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5" name="Rectangle 64"/>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67" name="TextBox 66"/>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10.0%</a:t>
            </a:r>
          </a:p>
        </p:txBody>
      </p:sp>
      <p:sp>
        <p:nvSpPr>
          <p:cNvPr id="68" name="TextBox 67"/>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9" name="TextBox 68"/>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2      BY REACH   Global 4   |   Regional 2   |   Local or niche 2</a:t>
            </a:r>
          </a:p>
        </p:txBody>
      </p:sp>
      <p:sp>
        <p:nvSpPr>
          <p:cNvPr id="70" name="Rectangle 69"/>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2" name="TextBox 71"/>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3" name="TextBox 72"/>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74" name="TextBox 73"/>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75" name="TextBox 74"/>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Buy to scale; 47.6% combined share.</a:t>
            </a:r>
          </a:p>
        </p:txBody>
      </p:sp>
      <p:sp>
        <p:nvSpPr>
          <p:cNvPr id="76" name="Rectangle 75"/>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78" name="TextBox 77"/>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0" name="TextBox 79"/>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Buy to scale; 13.7% combined share.</a:t>
            </a:r>
          </a:p>
        </p:txBody>
      </p:sp>
      <p:sp>
        <p:nvSpPr>
          <p:cNvPr id="82" name="Rectangle 81"/>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84" name="TextBox 83"/>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86" name="TextBox 85"/>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Buy to scale; 8.8% combined share.</a:t>
            </a:r>
          </a:p>
        </p:txBody>
      </p:sp>
      <p:sp>
        <p:nvSpPr>
          <p:cNvPr id="88" name="TextBox 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Share 10%+ = 3, 5-10% = 2, else 1</a:t>
            </a:r>
          </a:p>
        </p:txBody>
      </p:sp>
      <p:sp>
        <p:nvSpPr>
          <p:cNvPr id="24" name="TextBox 23"/>
          <p:cNvSpPr txBox="1"/>
          <p:nvPr/>
        </p:nvSpPr>
        <p:spPr>
          <a:xfrm>
            <a:off x="9922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31" name="TextBox 30"/>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3" name="TextBox 32"/>
          <p:cNvSpPr txBox="1"/>
          <p:nvPr/>
        </p:nvSpPr>
        <p:spPr>
          <a:xfrm>
            <a:off x="4419600" y="22288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9884833"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9" name="TextBox 38"/>
          <p:cNvSpPr txBox="1"/>
          <p:nvPr/>
        </p:nvSpPr>
        <p:spPr>
          <a:xfrm>
            <a:off x="10943167"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40" name="Connector 39"/>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43" name="TextBox 42"/>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4" name="TextBox 43"/>
          <p:cNvSpPr txBox="1"/>
          <p:nvPr/>
        </p:nvSpPr>
        <p:spPr>
          <a:xfrm>
            <a:off x="2000250" y="25717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5" name="TextBox 44"/>
          <p:cNvSpPr txBox="1"/>
          <p:nvPr/>
        </p:nvSpPr>
        <p:spPr>
          <a:xfrm>
            <a:off x="4419600" y="25717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6" name="Oval 45"/>
          <p:cNvSpPr/>
          <p:nvPr/>
        </p:nvSpPr>
        <p:spPr>
          <a:xfrm>
            <a:off x="6104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884833"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1" name="TextBox 50"/>
          <p:cNvSpPr txBox="1"/>
          <p:nvPr/>
        </p:nvSpPr>
        <p:spPr>
          <a:xfrm>
            <a:off x="10943167"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52" name="Connector 51"/>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55" name="TextBox 54"/>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TextBox 55"/>
          <p:cNvSpPr txBox="1"/>
          <p:nvPr/>
        </p:nvSpPr>
        <p:spPr>
          <a:xfrm>
            <a:off x="2000250" y="29146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7" name="TextBox 56"/>
          <p:cNvSpPr txBox="1"/>
          <p:nvPr/>
        </p:nvSpPr>
        <p:spPr>
          <a:xfrm>
            <a:off x="4419600" y="29146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58" name="Oval 57"/>
          <p:cNvSpPr/>
          <p:nvPr/>
        </p:nvSpPr>
        <p:spPr>
          <a:xfrm>
            <a:off x="6104467"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Oval 58"/>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9884833"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4" name="TextBox 63"/>
          <p:cNvSpPr txBox="1"/>
          <p:nvPr/>
        </p:nvSpPr>
        <p:spPr>
          <a:xfrm>
            <a:off x="10943167"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65" name="Connector 64"/>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68" name="TextBox 67"/>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9" name="TextBox 68"/>
          <p:cNvSpPr txBox="1"/>
          <p:nvPr/>
        </p:nvSpPr>
        <p:spPr>
          <a:xfrm>
            <a:off x="2000250" y="32575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0" name="TextBox 69"/>
          <p:cNvSpPr txBox="1"/>
          <p:nvPr/>
        </p:nvSpPr>
        <p:spPr>
          <a:xfrm>
            <a:off x="4419600" y="32575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1" name="Oval 70"/>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reeform 71"/>
          <p:cNvSpPr/>
          <p:nvPr/>
        </p:nvSpPr>
        <p:spPr>
          <a:xfrm>
            <a:off x="6181725" y="3352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Oval 72"/>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9884833"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8" name="TextBox 77"/>
          <p:cNvSpPr txBox="1"/>
          <p:nvPr/>
        </p:nvSpPr>
        <p:spPr>
          <a:xfrm>
            <a:off x="10943167"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79" name="Connector 7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0" name="Rectangle 7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82" name="TextBox 8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3" name="TextBox 82"/>
          <p:cNvSpPr txBox="1"/>
          <p:nvPr/>
        </p:nvSpPr>
        <p:spPr>
          <a:xfrm>
            <a:off x="2000250" y="36004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84" name="TextBox 83"/>
          <p:cNvSpPr txBox="1"/>
          <p:nvPr/>
        </p:nvSpPr>
        <p:spPr>
          <a:xfrm>
            <a:off x="4419600" y="36004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5" name="Oval 84"/>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Oval 86"/>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9884833"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4" name="TextBox 93"/>
          <p:cNvSpPr txBox="1"/>
          <p:nvPr/>
        </p:nvSpPr>
        <p:spPr>
          <a:xfrm>
            <a:off x="10943167"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95" name="Connector 9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98" name="TextBox 9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9" name="TextBox 98"/>
          <p:cNvSpPr txBox="1"/>
          <p:nvPr/>
        </p:nvSpPr>
        <p:spPr>
          <a:xfrm>
            <a:off x="2000250" y="39433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0" name="TextBox 99"/>
          <p:cNvSpPr txBox="1"/>
          <p:nvPr/>
        </p:nvSpPr>
        <p:spPr>
          <a:xfrm>
            <a:off x="4419600" y="39433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1" name="Oval 100"/>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Freeform 101"/>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Oval 102"/>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9884833"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10" name="TextBox 109"/>
          <p:cNvSpPr txBox="1"/>
          <p:nvPr/>
        </p:nvSpPr>
        <p:spPr>
          <a:xfrm>
            <a:off x="10943167"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11" name="Connector 11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2" name="Rectangle 11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114" name="TextBox 11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5" name="TextBox 114"/>
          <p:cNvSpPr txBox="1"/>
          <p:nvPr/>
        </p:nvSpPr>
        <p:spPr>
          <a:xfrm>
            <a:off x="2000250" y="42862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16" name="TextBox 115"/>
          <p:cNvSpPr txBox="1"/>
          <p:nvPr/>
        </p:nvSpPr>
        <p:spPr>
          <a:xfrm>
            <a:off x="4419600" y="42862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17" name="Oval 116"/>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18172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Freeform 121"/>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Oval 122"/>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Freeform 123"/>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9884833"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26" name="TextBox 125"/>
          <p:cNvSpPr txBox="1"/>
          <p:nvPr/>
        </p:nvSpPr>
        <p:spPr>
          <a:xfrm>
            <a:off x="10943167"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27" name="Connector 12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8" name="Rectangle 12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30" name="TextBox 12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1" name="TextBox 130"/>
          <p:cNvSpPr txBox="1"/>
          <p:nvPr/>
        </p:nvSpPr>
        <p:spPr>
          <a:xfrm>
            <a:off x="2000250" y="46291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32" name="TextBox 131"/>
          <p:cNvSpPr txBox="1"/>
          <p:nvPr/>
        </p:nvSpPr>
        <p:spPr>
          <a:xfrm>
            <a:off x="4419600" y="46291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3" name="Oval 132"/>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618172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9884833"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42" name="TextBox 141"/>
          <p:cNvSpPr txBox="1"/>
          <p:nvPr/>
        </p:nvSpPr>
        <p:spPr>
          <a:xfrm>
            <a:off x="10943167"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43" name="Connector 142"/>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4" name="Oval 143"/>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46" name="Oval 145"/>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9" name="Oval 148"/>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Freeform 149"/>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52" name="Oval 151"/>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54" name="TextBox 153"/>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55" name="TextBox 154"/>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8 named players compete globally; scale and share follow the tier structure.</a:t>
            </a:r>
          </a:p>
        </p:txBody>
      </p:sp>
      <p:sp>
        <p:nvSpPr>
          <p:cNvPr id="156" name="TextBox 1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79894"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33" name="TextBox 32"/>
          <p:cNvSpPr txBox="1"/>
          <p:nvPr/>
        </p:nvSpPr>
        <p:spPr>
          <a:xfrm>
            <a:off x="8471647"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4" name="TextBox 33"/>
          <p:cNvSpPr txBox="1"/>
          <p:nvPr/>
        </p:nvSpPr>
        <p:spPr>
          <a:xfrm>
            <a:off x="10236574"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38" name="TextBox 37"/>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979894"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44" name="TextBox 43"/>
          <p:cNvSpPr txBox="1"/>
          <p:nvPr/>
        </p:nvSpPr>
        <p:spPr>
          <a:xfrm>
            <a:off x="8471647"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5" name="TextBox 44"/>
          <p:cNvSpPr txBox="1"/>
          <p:nvPr/>
        </p:nvSpPr>
        <p:spPr>
          <a:xfrm>
            <a:off x="10236574"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49" name="TextBox 48"/>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4979894"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 Dental Clinics</a:t>
            </a:r>
          </a:p>
        </p:txBody>
      </p:sp>
      <p:sp>
        <p:nvSpPr>
          <p:cNvPr id="56" name="TextBox 55"/>
          <p:cNvSpPr txBox="1"/>
          <p:nvPr/>
        </p:nvSpPr>
        <p:spPr>
          <a:xfrm>
            <a:off x="8471647"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7" name="TextBox 56"/>
          <p:cNvSpPr txBox="1"/>
          <p:nvPr/>
        </p:nvSpPr>
        <p:spPr>
          <a:xfrm>
            <a:off x="10236574"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61" name="TextBox 6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979894"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67" name="TextBox 66"/>
          <p:cNvSpPr txBox="1"/>
          <p:nvPr/>
        </p:nvSpPr>
        <p:spPr>
          <a:xfrm>
            <a:off x="8471647"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8" name="TextBox 67"/>
          <p:cNvSpPr txBox="1"/>
          <p:nvPr/>
        </p:nvSpPr>
        <p:spPr>
          <a:xfrm>
            <a:off x="10236574"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72" name="TextBox 7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979894"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78" name="TextBox 77"/>
          <p:cNvSpPr txBox="1"/>
          <p:nvPr/>
        </p:nvSpPr>
        <p:spPr>
          <a:xfrm>
            <a:off x="8471647"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9" name="TextBox 78"/>
          <p:cNvSpPr txBox="1"/>
          <p:nvPr/>
        </p:nvSpPr>
        <p:spPr>
          <a:xfrm>
            <a:off x="10236574"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83" name="TextBox 82"/>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979894"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 Dental Clinics</a:t>
            </a:r>
          </a:p>
        </p:txBody>
      </p:sp>
      <p:sp>
        <p:nvSpPr>
          <p:cNvPr id="89" name="TextBox 88"/>
          <p:cNvSpPr txBox="1"/>
          <p:nvPr/>
        </p:nvSpPr>
        <p:spPr>
          <a:xfrm>
            <a:off x="8471647"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0" name="TextBox 89"/>
          <p:cNvSpPr txBox="1"/>
          <p:nvPr/>
        </p:nvSpPr>
        <p:spPr>
          <a:xfrm>
            <a:off x="10236574"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94" name="TextBox 9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979894"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101" name="TextBox 100"/>
          <p:cNvSpPr txBox="1"/>
          <p:nvPr/>
        </p:nvSpPr>
        <p:spPr>
          <a:xfrm>
            <a:off x="8471647"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2" name="TextBox 101"/>
          <p:cNvSpPr txBox="1"/>
          <p:nvPr/>
        </p:nvSpPr>
        <p:spPr>
          <a:xfrm>
            <a:off x="10236574"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06" name="TextBox 105"/>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979894"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112" name="TextBox 111"/>
          <p:cNvSpPr txBox="1"/>
          <p:nvPr/>
        </p:nvSpPr>
        <p:spPr>
          <a:xfrm>
            <a:off x="8471647"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13" name="TextBox 112"/>
          <p:cNvSpPr txBox="1"/>
          <p:nvPr/>
        </p:nvSpPr>
        <p:spPr>
          <a:xfrm>
            <a:off x="10236574"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Oval 114"/>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17" name="Oval 116"/>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20" name="Oval 119"/>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23" name="Oval 122"/>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25" name="TextBox 124"/>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26" name="TextBox 125"/>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27" name="TextBox 1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A</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000875"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2" name="TextBox 31"/>
          <p:cNvSpPr txBox="1"/>
          <p:nvPr/>
        </p:nvSpPr>
        <p:spPr>
          <a:xfrm>
            <a:off x="8765801"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B</a:t>
            </a:r>
          </a:p>
        </p:txBody>
      </p:sp>
      <p:sp>
        <p:nvSpPr>
          <p:cNvPr id="37" name="TextBox 36"/>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038975"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C</a:t>
            </a:r>
          </a:p>
        </p:txBody>
      </p:sp>
      <p:sp>
        <p:nvSpPr>
          <p:cNvPr id="47" name="TextBox 4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000875"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2" name="TextBox 51"/>
          <p:cNvSpPr txBox="1"/>
          <p:nvPr/>
        </p:nvSpPr>
        <p:spPr>
          <a:xfrm>
            <a:off x="8765801"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D</a:t>
            </a:r>
          </a:p>
        </p:txBody>
      </p:sp>
      <p:sp>
        <p:nvSpPr>
          <p:cNvPr id="57" name="TextBox 56"/>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038975"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E</a:t>
            </a:r>
          </a:p>
        </p:txBody>
      </p:sp>
      <p:sp>
        <p:nvSpPr>
          <p:cNvPr id="67" name="TextBox 66"/>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000875"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2" name="TextBox 71"/>
          <p:cNvSpPr txBox="1"/>
          <p:nvPr/>
        </p:nvSpPr>
        <p:spPr>
          <a:xfrm>
            <a:off x="8765801"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F</a:t>
            </a:r>
          </a:p>
        </p:txBody>
      </p:sp>
      <p:sp>
        <p:nvSpPr>
          <p:cNvPr id="78" name="TextBox 7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038975"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G</a:t>
            </a:r>
          </a:p>
        </p:txBody>
      </p:sp>
      <p:sp>
        <p:nvSpPr>
          <p:cNvPr id="89" name="TextBox 88"/>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000875"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4" name="TextBox 93"/>
          <p:cNvSpPr txBox="1"/>
          <p:nvPr/>
        </p:nvSpPr>
        <p:spPr>
          <a:xfrm>
            <a:off x="8765801"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26807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Company H</a:t>
            </a:r>
          </a:p>
        </p:txBody>
      </p:sp>
      <p:sp>
        <p:nvSpPr>
          <p:cNvPr id="100" name="TextBox 9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038975"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n/a</a:t>
            </a: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26807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Oval 108"/>
          <p:cNvSpPr/>
          <p:nvPr/>
        </p:nvSpPr>
        <p:spPr>
          <a:xfrm>
            <a:off x="200025" y="50482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38100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11" name="Oval 110"/>
          <p:cNvSpPr/>
          <p:nvPr/>
        </p:nvSpPr>
        <p:spPr>
          <a:xfrm>
            <a:off x="2065020"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Freeform 111"/>
          <p:cNvSpPr/>
          <p:nvPr/>
        </p:nvSpPr>
        <p:spPr>
          <a:xfrm>
            <a:off x="2133600" y="50482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45995"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14" name="Oval 113"/>
          <p:cNvSpPr/>
          <p:nvPr/>
        </p:nvSpPr>
        <p:spPr>
          <a:xfrm>
            <a:off x="367855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3743325" y="50482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85953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17" name="Oval 116"/>
          <p:cNvSpPr/>
          <p:nvPr/>
        </p:nvSpPr>
        <p:spPr>
          <a:xfrm>
            <a:off x="5103495" y="50482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5284470" y="50292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19" name="TextBox 118"/>
          <p:cNvSpPr txBox="1"/>
          <p:nvPr/>
        </p:nvSpPr>
        <p:spPr>
          <a:xfrm>
            <a:off x="190500" y="52578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20" name="TextBox 119"/>
          <p:cNvSpPr txBox="1"/>
          <p:nvPr/>
        </p:nvSpPr>
        <p:spPr>
          <a:xfrm>
            <a:off x="190500" y="54102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21" name="TextBox 1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30%</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25%</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15%</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15%</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Weight 15%</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B</a:t>
            </a:r>
          </a:p>
        </p:txBody>
      </p:sp>
      <p:sp>
        <p:nvSpPr>
          <p:cNvPr id="30" name="Oval 29"/>
          <p:cNvSpPr/>
          <p:nvPr/>
        </p:nvSpPr>
        <p:spPr>
          <a:xfrm>
            <a:off x="28479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78200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10420350" y="1895475"/>
            <a:ext cx="11430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160145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3.0</a:t>
            </a:r>
          </a:p>
        </p:txBody>
      </p:sp>
      <p:cxnSp>
        <p:nvCxnSpPr>
          <p:cNvPr id="37" name="Connector 36"/>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A</a:t>
            </a:r>
          </a:p>
        </p:txBody>
      </p:sp>
      <p:sp>
        <p:nvSpPr>
          <p:cNvPr id="40" name="Oval 39"/>
          <p:cNvSpPr/>
          <p:nvPr/>
        </p:nvSpPr>
        <p:spPr>
          <a:xfrm>
            <a:off x="28479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782002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reeform 43"/>
          <p:cNvSpPr/>
          <p:nvPr/>
        </p:nvSpPr>
        <p:spPr>
          <a:xfrm>
            <a:off x="789622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420350" y="22002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1154430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2.9</a:t>
            </a:r>
          </a:p>
        </p:txBody>
      </p:sp>
      <p:cxnSp>
        <p:nvCxnSpPr>
          <p:cNvPr id="48" name="Connector 47"/>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9" name="Rectangle 48"/>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C</a:t>
            </a:r>
          </a:p>
        </p:txBody>
      </p:sp>
      <p:sp>
        <p:nvSpPr>
          <p:cNvPr id="51" name="Oval 50"/>
          <p:cNvSpPr/>
          <p:nvPr/>
        </p:nvSpPr>
        <p:spPr>
          <a:xfrm>
            <a:off x="28479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Oval 52"/>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782002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reeform 54"/>
          <p:cNvSpPr/>
          <p:nvPr/>
        </p:nvSpPr>
        <p:spPr>
          <a:xfrm>
            <a:off x="7896225" y="2495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420350" y="25050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154430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2.9</a:t>
            </a:r>
          </a:p>
        </p:txBody>
      </p:sp>
      <p:cxnSp>
        <p:nvCxnSpPr>
          <p:cNvPr id="59" name="Connector 58"/>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190500" y="27622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D</a:t>
            </a:r>
          </a:p>
        </p:txBody>
      </p:sp>
      <p:sp>
        <p:nvSpPr>
          <p:cNvPr id="62" name="Oval 61"/>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5053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61626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78200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0420350" y="28098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1148715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2.7</a:t>
            </a:r>
          </a:p>
        </p:txBody>
      </p:sp>
      <p:cxnSp>
        <p:nvCxnSpPr>
          <p:cNvPr id="70" name="Connector 69"/>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0670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F</a:t>
            </a:r>
          </a:p>
        </p:txBody>
      </p:sp>
      <p:sp>
        <p:nvSpPr>
          <p:cNvPr id="73" name="Oval 72"/>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29241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45053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45815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61626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62388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78200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0420350" y="31146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1133475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2.3</a:t>
            </a:r>
          </a:p>
        </p:txBody>
      </p:sp>
      <p:cxnSp>
        <p:nvCxnSpPr>
          <p:cNvPr id="83" name="Connector 82"/>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4" name="Rectangle 83"/>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E</a:t>
            </a:r>
          </a:p>
        </p:txBody>
      </p:sp>
      <p:sp>
        <p:nvSpPr>
          <p:cNvPr id="86" name="Oval 85"/>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Freeform 86"/>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Oval 87"/>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2.1</a:t>
            </a:r>
          </a:p>
        </p:txBody>
      </p:sp>
      <p:cxnSp>
        <p:nvCxnSpPr>
          <p:cNvPr id="97" name="Connector 96"/>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H</a:t>
            </a:r>
          </a:p>
        </p:txBody>
      </p:sp>
      <p:sp>
        <p:nvSpPr>
          <p:cNvPr id="100" name="Oval 99"/>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Freeform 100"/>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reeform 102"/>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Oval 103"/>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1.9</a:t>
            </a:r>
          </a:p>
        </p:txBody>
      </p:sp>
      <p:cxnSp>
        <p:nvCxnSpPr>
          <p:cNvPr id="110" name="Connector 10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1" name="Rectangle 110"/>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Company G</a:t>
            </a:r>
          </a:p>
        </p:txBody>
      </p:sp>
      <p:sp>
        <p:nvSpPr>
          <p:cNvPr id="113" name="Oval 112"/>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Freeform 113"/>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Oval 114"/>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Freeform 115"/>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8200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789622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420350" y="40290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1112520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1.8</a:t>
            </a:r>
          </a:p>
        </p:txBody>
      </p:sp>
      <p:cxnSp>
        <p:nvCxnSpPr>
          <p:cNvPr id="124" name="Connector 123"/>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5" name="Oval 124"/>
          <p:cNvSpPr/>
          <p:nvPr/>
        </p:nvSpPr>
        <p:spPr>
          <a:xfrm>
            <a:off x="200025" y="43243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100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27" name="Oval 126"/>
          <p:cNvSpPr/>
          <p:nvPr/>
        </p:nvSpPr>
        <p:spPr>
          <a:xfrm>
            <a:off x="2065020"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Freeform 127"/>
          <p:cNvSpPr/>
          <p:nvPr/>
        </p:nvSpPr>
        <p:spPr>
          <a:xfrm>
            <a:off x="2133600" y="43243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245995"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0" name="Oval 129"/>
          <p:cNvSpPr/>
          <p:nvPr/>
        </p:nvSpPr>
        <p:spPr>
          <a:xfrm>
            <a:off x="3678555"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3743325" y="43243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5953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3" name="Oval 132"/>
          <p:cNvSpPr/>
          <p:nvPr/>
        </p:nvSpPr>
        <p:spPr>
          <a:xfrm>
            <a:off x="5103495" y="43243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5284470" y="43053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35" name="TextBox 134"/>
          <p:cNvSpPr txBox="1"/>
          <p:nvPr/>
        </p:nvSpPr>
        <p:spPr>
          <a:xfrm>
            <a:off x="190500" y="45339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36" name="Rectangle 135"/>
          <p:cNvSpPr/>
          <p:nvPr/>
        </p:nvSpPr>
        <p:spPr>
          <a:xfrm>
            <a:off x="1905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905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38" name="TextBox 137"/>
          <p:cNvSpPr txBox="1"/>
          <p:nvPr/>
        </p:nvSpPr>
        <p:spPr>
          <a:xfrm>
            <a:off x="1905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B, Company A, Company C, Company D</a:t>
            </a:r>
          </a:p>
        </p:txBody>
      </p:sp>
      <p:sp>
        <p:nvSpPr>
          <p:cNvPr id="139" name="TextBox 138"/>
          <p:cNvSpPr txBox="1"/>
          <p:nvPr/>
        </p:nvSpPr>
        <p:spPr>
          <a:xfrm>
            <a:off x="1905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innovation pipeline.</a:t>
            </a:r>
          </a:p>
        </p:txBody>
      </p:sp>
      <p:sp>
        <p:nvSpPr>
          <p:cNvPr id="140" name="Rectangle 139"/>
          <p:cNvSpPr/>
          <p:nvPr/>
        </p:nvSpPr>
        <p:spPr>
          <a:xfrm>
            <a:off x="41910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1910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42" name="TextBox 141"/>
          <p:cNvSpPr txBox="1"/>
          <p:nvPr/>
        </p:nvSpPr>
        <p:spPr>
          <a:xfrm>
            <a:off x="41910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F, Company E</a:t>
            </a:r>
          </a:p>
        </p:txBody>
      </p:sp>
      <p:sp>
        <p:nvSpPr>
          <p:cNvPr id="143" name="TextBox 142"/>
          <p:cNvSpPr txBox="1"/>
          <p:nvPr/>
        </p:nvSpPr>
        <p:spPr>
          <a:xfrm>
            <a:off x="41910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44" name="Rectangle 143"/>
          <p:cNvSpPr/>
          <p:nvPr/>
        </p:nvSpPr>
        <p:spPr>
          <a:xfrm>
            <a:off x="8191500" y="47244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8191500" y="47815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46" name="TextBox 145"/>
          <p:cNvSpPr txBox="1"/>
          <p:nvPr/>
        </p:nvSpPr>
        <p:spPr>
          <a:xfrm>
            <a:off x="8191500" y="49530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Company H, Company G</a:t>
            </a:r>
          </a:p>
        </p:txBody>
      </p:sp>
      <p:sp>
        <p:nvSpPr>
          <p:cNvPr id="147" name="TextBox 146"/>
          <p:cNvSpPr txBox="1"/>
          <p:nvPr/>
        </p:nvSpPr>
        <p:spPr>
          <a:xfrm>
            <a:off x="8191500" y="53149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A</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B</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Flexible Partial Dentures</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C</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D</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Combination Framework Partial Dentures</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E</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F</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Flexible Partial Dentures</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G</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Company H</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Combination Framework Partial Dentures</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n/a</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863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19050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09" name="TextBox 108"/>
          <p:cNvSpPr txBox="1"/>
          <p:nvPr/>
        </p:nvSpPr>
        <p:spPr>
          <a:xfrm>
            <a:off x="51435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10" name="Rectangle 109"/>
          <p:cNvSpPr/>
          <p:nvPr/>
        </p:nvSpPr>
        <p:spPr>
          <a:xfrm>
            <a:off x="923925" y="52863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239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12" name="TextBox 111"/>
          <p:cNvSpPr txBox="1"/>
          <p:nvPr/>
        </p:nvSpPr>
        <p:spPr>
          <a:xfrm>
            <a:off x="12477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13" name="Rectangle 112"/>
          <p:cNvSpPr/>
          <p:nvPr/>
        </p:nvSpPr>
        <p:spPr>
          <a:xfrm>
            <a:off x="2724150" y="52863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272415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15" name="TextBox 114"/>
          <p:cNvSpPr txBox="1"/>
          <p:nvPr/>
        </p:nvSpPr>
        <p:spPr>
          <a:xfrm>
            <a:off x="304800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16" name="Rectangle 115"/>
          <p:cNvSpPr/>
          <p:nvPr/>
        </p:nvSpPr>
        <p:spPr>
          <a:xfrm>
            <a:off x="3857625" y="52863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8576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18" name="TextBox 117"/>
          <p:cNvSpPr txBox="1"/>
          <p:nvPr/>
        </p:nvSpPr>
        <p:spPr>
          <a:xfrm>
            <a:off x="41814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19" name="Rectangle 118"/>
          <p:cNvSpPr/>
          <p:nvPr/>
        </p:nvSpPr>
        <p:spPr>
          <a:xfrm>
            <a:off x="5457825" y="52863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5457825"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21" name="TextBox 120"/>
          <p:cNvSpPr txBox="1"/>
          <p:nvPr/>
        </p:nvSpPr>
        <p:spPr>
          <a:xfrm>
            <a:off x="5781675"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22" name="Rectangle 121"/>
          <p:cNvSpPr/>
          <p:nvPr/>
        </p:nvSpPr>
        <p:spPr>
          <a:xfrm>
            <a:off x="7524750" y="52863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7524750" y="52863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24" name="TextBox 123"/>
          <p:cNvSpPr txBox="1"/>
          <p:nvPr/>
        </p:nvSpPr>
        <p:spPr>
          <a:xfrm>
            <a:off x="7848600" y="52673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25" name="TextBox 124"/>
          <p:cNvSpPr txBox="1"/>
          <p:nvPr/>
        </p:nvSpPr>
        <p:spPr>
          <a:xfrm>
            <a:off x="190500" y="55054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26" name="TextBox 1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A</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B</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C</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D</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E</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F</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G</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Company H</a:t>
            </a:r>
          </a:p>
        </p:txBody>
      </p:sp>
      <p:sp>
        <p:nvSpPr>
          <p:cNvPr id="26" name="TextBox 25"/>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27" name="TextBox 26"/>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28" name="TextBox 27"/>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29" name="TextBox 28"/>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0" name="TextBox 29"/>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1" name="TextBox 30"/>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2" name="TextBox 31"/>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3" name="Rectangle 32"/>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5" name="Rectangle 34"/>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8" name="Rectangle 37"/>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0" name="Rectangle 39"/>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47" name="Rectangle 46"/>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9" name="Rectangle 48"/>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1" name="Rectangle 50"/>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4" name="Rectangle 53"/>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6" name="Rectangle 55"/>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9" name="Rectangle 58"/>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1" name="Rectangle 60"/>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68" name="Rectangle 67"/>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0" name="Rectangle 69"/>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2" name="Rectangle 71"/>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5" name="Rectangle 74"/>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7" name="Rectangle 76"/>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0" name="Rectangle 79"/>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2" name="Rectangle 81"/>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89" name="Rectangle 88"/>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1" name="Rectangle 90"/>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3" name="Rectangle 92"/>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6" name="Rectangle 95"/>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8" name="Rectangle 97"/>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TextBox 99"/>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1" name="Rectangle 100"/>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3" name="Rectangle 102"/>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0" name="Rectangle 109"/>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2" name="Rectangle 111"/>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4" name="Rectangle 113"/>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7" name="TextBox 116"/>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18" name="TextBox 117"/>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19" name="TextBox 118"/>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20" name="TextBox 119"/>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21" name="TextBox 120"/>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22" name="Rectangle 121"/>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4" name="Rectangle 123"/>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6" name="Rectangle 125"/>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28" name="Rectangle 127"/>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0" name="Rectangle 129"/>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32" name="Rectangle 131"/>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5" name="Rectangle 134"/>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38" name="Rectangle 137"/>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0" name="Rectangle 139"/>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2" name="Rectangle 141"/>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4" name="Rectangle 143"/>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46" name="Rectangle 145"/>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2" name="Rectangle 151"/>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4" name="Rectangle 153"/>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6" name="Rectangle 155"/>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8" name="Rectangle 157"/>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60" name="Rectangle 159"/>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TextBox 164"/>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6" name="Rectangle 165"/>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TextBox 166"/>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8" name="Rectangle 167"/>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0" name="Rectangle 169"/>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2" name="Rectangle 171"/>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4" name="Rectangle 173"/>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179" name="TextBox 178"/>
          <p:cNvSpPr txBox="1"/>
          <p:nvPr/>
        </p:nvSpPr>
        <p:spPr>
          <a:xfrm>
            <a:off x="8699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N. America</a:t>
            </a:r>
          </a:p>
        </p:txBody>
      </p:sp>
      <p:sp>
        <p:nvSpPr>
          <p:cNvPr id="180" name="TextBox 179"/>
          <p:cNvSpPr txBox="1"/>
          <p:nvPr/>
        </p:nvSpPr>
        <p:spPr>
          <a:xfrm>
            <a:off x="9249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Europe</a:t>
            </a:r>
          </a:p>
        </p:txBody>
      </p:sp>
      <p:sp>
        <p:nvSpPr>
          <p:cNvPr id="181" name="TextBox 180"/>
          <p:cNvSpPr txBox="1"/>
          <p:nvPr/>
        </p:nvSpPr>
        <p:spPr>
          <a:xfrm>
            <a:off x="9800167"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S. Asia &amp; Pac.</a:t>
            </a:r>
          </a:p>
        </p:txBody>
      </p:sp>
      <p:sp>
        <p:nvSpPr>
          <p:cNvPr id="182" name="TextBox 181"/>
          <p:cNvSpPr txBox="1"/>
          <p:nvPr/>
        </p:nvSpPr>
        <p:spPr>
          <a:xfrm>
            <a:off x="10350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 Asia</a:t>
            </a:r>
          </a:p>
        </p:txBody>
      </p:sp>
      <p:sp>
        <p:nvSpPr>
          <p:cNvPr id="183" name="TextBox 182"/>
          <p:cNvSpPr txBox="1"/>
          <p:nvPr/>
        </p:nvSpPr>
        <p:spPr>
          <a:xfrm>
            <a:off x="10900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LATAM</a:t>
            </a:r>
          </a:p>
        </p:txBody>
      </p:sp>
      <p:sp>
        <p:nvSpPr>
          <p:cNvPr id="184" name="TextBox 183"/>
          <p:cNvSpPr txBox="1"/>
          <p:nvPr/>
        </p:nvSpPr>
        <p:spPr>
          <a:xfrm>
            <a:off x="11451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MEA</a:t>
            </a:r>
          </a:p>
        </p:txBody>
      </p:sp>
      <p:sp>
        <p:nvSpPr>
          <p:cNvPr id="185" name="Rectangle 184"/>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8699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87" name="Rectangle 186"/>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9249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89" name="Rectangle 188"/>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9800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91" name="Rectangle 190"/>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9249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97" name="Rectangle 196"/>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800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99" name="Rectangle 198"/>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50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01" name="Rectangle 200"/>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9800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07" name="Rectangle 206"/>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10350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09" name="Rectangle 208"/>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10900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11" name="Rectangle 210"/>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10350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17" name="Rectangle 216"/>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10900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19" name="Rectangle 218"/>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11451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1" name="Rectangle 220"/>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8699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3" name="Rectangle 222"/>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10900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28" name="Rectangle 227"/>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11451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0" name="Rectangle 229"/>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TextBox 230"/>
          <p:cNvSpPr txBox="1"/>
          <p:nvPr/>
        </p:nvSpPr>
        <p:spPr>
          <a:xfrm>
            <a:off x="8699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2" name="Rectangle 231"/>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TextBox 232"/>
          <p:cNvSpPr txBox="1"/>
          <p:nvPr/>
        </p:nvSpPr>
        <p:spPr>
          <a:xfrm>
            <a:off x="9249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4" name="Rectangle 233"/>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11451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39" name="Rectangle 238"/>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8699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41" name="Rectangle 240"/>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9249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3" name="Rectangle 242"/>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9800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5" name="Rectangle 244"/>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TextBox 249"/>
          <p:cNvSpPr txBox="1"/>
          <p:nvPr/>
        </p:nvSpPr>
        <p:spPr>
          <a:xfrm>
            <a:off x="9249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51" name="Rectangle 250"/>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TextBox 251"/>
          <p:cNvSpPr txBox="1"/>
          <p:nvPr/>
        </p:nvSpPr>
        <p:spPr>
          <a:xfrm>
            <a:off x="9800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3" name="Rectangle 252"/>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TextBox 253"/>
          <p:cNvSpPr txBox="1"/>
          <p:nvPr/>
        </p:nvSpPr>
        <p:spPr>
          <a:xfrm>
            <a:off x="10350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5" name="Rectangle 254"/>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90500" y="36766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43815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259" name="Rectangle 258"/>
          <p:cNvSpPr/>
          <p:nvPr/>
        </p:nvSpPr>
        <p:spPr>
          <a:xfrm>
            <a:off x="1238250" y="36766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48590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261" name="Rectangle 260"/>
          <p:cNvSpPr/>
          <p:nvPr/>
        </p:nvSpPr>
        <p:spPr>
          <a:xfrm>
            <a:off x="2286000" y="36766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TextBox 261"/>
          <p:cNvSpPr txBox="1"/>
          <p:nvPr/>
        </p:nvSpPr>
        <p:spPr>
          <a:xfrm>
            <a:off x="2533650" y="36385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263" name="TextBox 262"/>
          <p:cNvSpPr txBox="1"/>
          <p:nvPr/>
        </p:nvSpPr>
        <p:spPr>
          <a:xfrm>
            <a:off x="3524250" y="36385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264" name="Connector 263"/>
          <p:cNvCxnSpPr/>
          <p:nvPr/>
        </p:nvCxnSpPr>
        <p:spPr>
          <a:xfrm>
            <a:off x="190500" y="3905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65" name="TextBox 264"/>
          <p:cNvSpPr txBox="1"/>
          <p:nvPr/>
        </p:nvSpPr>
        <p:spPr>
          <a:xfrm>
            <a:off x="190500" y="39624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266" name="Rectangle 265"/>
          <p:cNvSpPr/>
          <p:nvPr/>
        </p:nvSpPr>
        <p:spPr>
          <a:xfrm>
            <a:off x="1905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667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268" name="TextBox 267"/>
          <p:cNvSpPr txBox="1"/>
          <p:nvPr/>
        </p:nvSpPr>
        <p:spPr>
          <a:xfrm>
            <a:off x="1905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8 expansion moves target new regions and volume tiers: defend key accounts where rivals expand.</a:t>
            </a:r>
          </a:p>
        </p:txBody>
      </p:sp>
      <p:sp>
        <p:nvSpPr>
          <p:cNvPr id="269" name="Rectangle 268"/>
          <p:cNvSpPr/>
          <p:nvPr/>
        </p:nvSpPr>
        <p:spPr>
          <a:xfrm>
            <a:off x="21780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22542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271" name="TextBox 270"/>
          <p:cNvSpPr txBox="1"/>
          <p:nvPr/>
        </p:nvSpPr>
        <p:spPr>
          <a:xfrm>
            <a:off x="21780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272" name="Rectangle 271"/>
          <p:cNvSpPr/>
          <p:nvPr/>
        </p:nvSpPr>
        <p:spPr>
          <a:xfrm>
            <a:off x="41656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42418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274" name="TextBox 273"/>
          <p:cNvSpPr txBox="1"/>
          <p:nvPr/>
        </p:nvSpPr>
        <p:spPr>
          <a:xfrm>
            <a:off x="41656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16 product and R&amp;D moves: benchmark launches and the technology roadmap.</a:t>
            </a:r>
          </a:p>
        </p:txBody>
      </p:sp>
      <p:sp>
        <p:nvSpPr>
          <p:cNvPr id="275" name="Rectangle 274"/>
          <p:cNvSpPr/>
          <p:nvPr/>
        </p:nvSpPr>
        <p:spPr>
          <a:xfrm>
            <a:off x="61531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TextBox 275"/>
          <p:cNvSpPr txBox="1"/>
          <p:nvPr/>
        </p:nvSpPr>
        <p:spPr>
          <a:xfrm>
            <a:off x="62293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277" name="TextBox 276"/>
          <p:cNvSpPr txBox="1"/>
          <p:nvPr/>
        </p:nvSpPr>
        <p:spPr>
          <a:xfrm>
            <a:off x="61531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are acquiring; the independent target list is shrinking.</a:t>
            </a:r>
          </a:p>
        </p:txBody>
      </p:sp>
      <p:sp>
        <p:nvSpPr>
          <p:cNvPr id="278" name="Rectangle 277"/>
          <p:cNvSpPr/>
          <p:nvPr/>
        </p:nvSpPr>
        <p:spPr>
          <a:xfrm>
            <a:off x="814070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821690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280" name="TextBox 279"/>
          <p:cNvSpPr txBox="1"/>
          <p:nvPr/>
        </p:nvSpPr>
        <p:spPr>
          <a:xfrm>
            <a:off x="814070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281" name="Rectangle 280"/>
          <p:cNvSpPr/>
          <p:nvPr/>
        </p:nvSpPr>
        <p:spPr>
          <a:xfrm>
            <a:off x="10128250" y="41910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10204450" y="41910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283" name="TextBox 282"/>
          <p:cNvSpPr txBox="1"/>
          <p:nvPr/>
        </p:nvSpPr>
        <p:spPr>
          <a:xfrm>
            <a:off x="10128250" y="44577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lean on certification; audit your own compliance position.</a:t>
            </a:r>
          </a:p>
        </p:txBody>
      </p:sp>
      <p:sp>
        <p:nvSpPr>
          <p:cNvPr id="284" name="TextBox 2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Removable Partial Dentures Market, Global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Market 1,125 US$ Mn  ·  Tier 1 share 52.0% → 52.8% by 2036</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52.0%</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585.1 US$ Mn  ·  4 players  ·  avg 146.3 US$ Mn / player</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A · Company B · Company C · Company D</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22.0%</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247.5 US$ Mn  ·  2 players  ·  avg 123.8 US$ Mn / player</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E · Company F</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10.0%</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112.5 US$ Mn  ·  2 players  ·  avg 56.3 US$ Mn / player</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Company G · Company H</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16.0%</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180.0 US$ Mn  ·  –  ·  long tail</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818906"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HHI = 758</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CR4 = 47.6%  ·  Tier 1 : Others = 3.2 : 1  ·  Top-player share = 16.4%  ·  Class: Fragmented</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8+</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585.1</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247.5</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112.5</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180.0</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1,125</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52.0</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22.0</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10.0</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16.0</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52.8</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23.4</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10.1</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13.7</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0.8</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1.4</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0.1</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2.3</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4.6</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5.1</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4.5</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2.8</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4.4</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146.3</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123.8</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56.3</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41.4</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22.8</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12.2</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23.7</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1 (52.0%) holds the largest single block of value on a 1,125 US$ Mn base; CR4 of 47.6% and HHI of 758 classify the market as fragmented.</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2 grows fastest at 5.1% CAGR, moving +1.4 pp of share by 2036.</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3 and the long tail together hold 26.0% of value; the average Tier 3 player is 2.6x smaller than a Tier 1 supplier.</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Removable Partial Dentures Market, Global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4 → 5 players  ·  52.0% → 52.8% share</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2 → 2 players  ·  22.0% → 23.4% share</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2 → 2 players  ·  10.0% → 10.1% share</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 tail  ·  16.0% → 13.7% share</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3</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2</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+1</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2.3 pp</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 / 5</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 / 5</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4 / 5</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2.8 / 5</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Structure broadly stable</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The market is fragmented (HHI 758); Tier 1 sets pricing and innovation benchmarks and is expected to hold 52.8% of value in 2036.</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Tier 3 and the long tail face the highest structural pressure (2.8 / 5); 2 players are expected to exit or be acquired.</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Technology substitution (4 / 5) and buyer power (3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640806"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986212"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331619"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8022431"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9367838"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10713244"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4" name="TextBox 33"/>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5" name="TextBox 34"/>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6" name="TextBox 35"/>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7" name="TextBox 36"/>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38" name="TextBox 37"/>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39" name="TextBox 38"/>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0" name="TextBox 39"/>
          <p:cNvSpPr txBox="1"/>
          <p:nvPr/>
        </p:nvSpPr>
        <p:spPr>
          <a:xfrm>
            <a:off x="1323975"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A</a:t>
            </a:r>
          </a:p>
        </p:txBody>
      </p:sp>
      <p:cxnSp>
        <p:nvCxnSpPr>
          <p:cNvPr id="41" name="Connector 40"/>
          <p:cNvCxnSpPr/>
          <p:nvPr/>
        </p:nvCxnSpPr>
        <p:spPr>
          <a:xfrm>
            <a:off x="1739503"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1323975"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3" name="TextBox 42"/>
          <p:cNvSpPr txBox="1"/>
          <p:nvPr/>
        </p:nvSpPr>
        <p:spPr>
          <a:xfrm>
            <a:off x="1314450"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4" name="TextBox 43"/>
          <p:cNvSpPr txBox="1"/>
          <p:nvPr/>
        </p:nvSpPr>
        <p:spPr>
          <a:xfrm>
            <a:off x="1314450"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5" name="Rectangle 44"/>
          <p:cNvSpPr/>
          <p:nvPr/>
        </p:nvSpPr>
        <p:spPr>
          <a:xfrm>
            <a:off x="1739503"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910953"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2082403"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1323975"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553.8</a:t>
            </a:r>
          </a:p>
        </p:txBody>
      </p:sp>
      <p:sp>
        <p:nvSpPr>
          <p:cNvPr id="49" name="TextBox 48"/>
          <p:cNvSpPr txBox="1"/>
          <p:nvPr/>
        </p:nvSpPr>
        <p:spPr>
          <a:xfrm>
            <a:off x="1323975"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184.6</a:t>
            </a:r>
          </a:p>
        </p:txBody>
      </p:sp>
      <p:sp>
        <p:nvSpPr>
          <p:cNvPr id="50" name="Oval 49"/>
          <p:cNvSpPr/>
          <p:nvPr/>
        </p:nvSpPr>
        <p:spPr>
          <a:xfrm>
            <a:off x="1720453"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1971675" y="3416749"/>
            <a:ext cx="209550" cy="237298"/>
          </a:xfrm>
          <a:custGeom>
            <a:avLst/>
            <a:gdLst/>
            <a:ahLst/>
            <a:cxnLst/>
            <a:rect l="l" t="t" r="r" b="b"/>
            <a:pathLst>
              <a:path w="22" h="26">
                <a:moveTo>
                  <a:pt x="0" y="26"/>
                </a:moveTo>
                <a:lnTo>
                  <a:pt x="0" y="0"/>
                </a:lnTo>
                <a:lnTo>
                  <a:pt x="3" y="0"/>
                </a:lnTo>
                <a:lnTo>
                  <a:pt x="7" y="1"/>
                </a:lnTo>
                <a:lnTo>
                  <a:pt x="11" y="2"/>
                </a:lnTo>
                <a:lnTo>
                  <a:pt x="14" y="4"/>
                </a:lnTo>
                <a:lnTo>
                  <a:pt x="17" y="7"/>
                </a:lnTo>
                <a:lnTo>
                  <a:pt x="20" y="10"/>
                </a:lnTo>
                <a:lnTo>
                  <a:pt x="22" y="13"/>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182941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1720453"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16.4%</a:t>
            </a:r>
          </a:p>
        </p:txBody>
      </p:sp>
      <p:sp>
        <p:nvSpPr>
          <p:cNvPr id="54" name="TextBox 53"/>
          <p:cNvSpPr txBox="1"/>
          <p:nvPr/>
        </p:nvSpPr>
        <p:spPr>
          <a:xfrm>
            <a:off x="1343025"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55" name="Oval 54"/>
          <p:cNvSpPr/>
          <p:nvPr/>
        </p:nvSpPr>
        <p:spPr>
          <a:xfrm>
            <a:off x="156329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56329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7" name="Oval 56"/>
          <p:cNvSpPr/>
          <p:nvPr/>
        </p:nvSpPr>
        <p:spPr>
          <a:xfrm>
            <a:off x="177284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77284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59" name="Oval 58"/>
          <p:cNvSpPr/>
          <p:nvPr/>
        </p:nvSpPr>
        <p:spPr>
          <a:xfrm>
            <a:off x="1982391"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98239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1" name="Oval 60"/>
          <p:cNvSpPr/>
          <p:nvPr/>
        </p:nvSpPr>
        <p:spPr>
          <a:xfrm>
            <a:off x="2191941"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191941"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3" name="Oval 62"/>
          <p:cNvSpPr/>
          <p:nvPr/>
        </p:nvSpPr>
        <p:spPr>
          <a:xfrm>
            <a:off x="1668066"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166806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5" name="Oval 64"/>
          <p:cNvSpPr/>
          <p:nvPr/>
        </p:nvSpPr>
        <p:spPr>
          <a:xfrm>
            <a:off x="1877616"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87761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7" name="Oval 66"/>
          <p:cNvSpPr/>
          <p:nvPr/>
        </p:nvSpPr>
        <p:spPr>
          <a:xfrm>
            <a:off x="2087166"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2087166"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69" name="TextBox 68"/>
          <p:cNvSpPr txBox="1"/>
          <p:nvPr/>
        </p:nvSpPr>
        <p:spPr>
          <a:xfrm>
            <a:off x="2669381"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B</a:t>
            </a:r>
          </a:p>
        </p:txBody>
      </p:sp>
      <p:cxnSp>
        <p:nvCxnSpPr>
          <p:cNvPr id="70" name="Connector 69"/>
          <p:cNvCxnSpPr/>
          <p:nvPr/>
        </p:nvCxnSpPr>
        <p:spPr>
          <a:xfrm>
            <a:off x="3084909"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2669381"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2" name="TextBox 71"/>
          <p:cNvSpPr txBox="1"/>
          <p:nvPr/>
        </p:nvSpPr>
        <p:spPr>
          <a:xfrm>
            <a:off x="2659856"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3" name="TextBox 72"/>
          <p:cNvSpPr txBox="1"/>
          <p:nvPr/>
        </p:nvSpPr>
        <p:spPr>
          <a:xfrm>
            <a:off x="2659856"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4" name="Rectangle 73"/>
          <p:cNvSpPr/>
          <p:nvPr/>
        </p:nvSpPr>
        <p:spPr>
          <a:xfrm>
            <a:off x="3084909"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3256359"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3427809"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669381"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557.6</a:t>
            </a:r>
          </a:p>
        </p:txBody>
      </p:sp>
      <p:sp>
        <p:nvSpPr>
          <p:cNvPr id="78" name="TextBox 77"/>
          <p:cNvSpPr txBox="1"/>
          <p:nvPr/>
        </p:nvSpPr>
        <p:spPr>
          <a:xfrm>
            <a:off x="2669381"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161.6</a:t>
            </a:r>
          </a:p>
        </p:txBody>
      </p:sp>
      <p:sp>
        <p:nvSpPr>
          <p:cNvPr id="79" name="Oval 78"/>
          <p:cNvSpPr/>
          <p:nvPr/>
        </p:nvSpPr>
        <p:spPr>
          <a:xfrm>
            <a:off x="3065859"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Freeform 79"/>
          <p:cNvSpPr/>
          <p:nvPr/>
        </p:nvSpPr>
        <p:spPr>
          <a:xfrm>
            <a:off x="3314700" y="3416749"/>
            <a:ext cx="190500" cy="237298"/>
          </a:xfrm>
          <a:custGeom>
            <a:avLst/>
            <a:gdLst/>
            <a:ahLst/>
            <a:cxnLst/>
            <a:rect l="l" t="t" r="r" b="b"/>
            <a:pathLst>
              <a:path w="20" h="26">
                <a:moveTo>
                  <a:pt x="0" y="26"/>
                </a:moveTo>
                <a:lnTo>
                  <a:pt x="0" y="0"/>
                </a:lnTo>
                <a:lnTo>
                  <a:pt x="4" y="0"/>
                </a:lnTo>
                <a:lnTo>
                  <a:pt x="8" y="1"/>
                </a:lnTo>
                <a:lnTo>
                  <a:pt x="11" y="3"/>
                </a:lnTo>
                <a:lnTo>
                  <a:pt x="15" y="5"/>
                </a:lnTo>
                <a:lnTo>
                  <a:pt x="18" y="7"/>
                </a:lnTo>
                <a:lnTo>
                  <a:pt x="20" y="1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Oval 80"/>
          <p:cNvSpPr/>
          <p:nvPr/>
        </p:nvSpPr>
        <p:spPr>
          <a:xfrm>
            <a:off x="3174825"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3065859"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14.4%</a:t>
            </a:r>
          </a:p>
        </p:txBody>
      </p:sp>
      <p:sp>
        <p:nvSpPr>
          <p:cNvPr id="83" name="TextBox 82"/>
          <p:cNvSpPr txBox="1"/>
          <p:nvPr/>
        </p:nvSpPr>
        <p:spPr>
          <a:xfrm>
            <a:off x="2688431"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84" name="Oval 83"/>
          <p:cNvSpPr/>
          <p:nvPr/>
        </p:nvSpPr>
        <p:spPr>
          <a:xfrm>
            <a:off x="290869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290869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6" name="Oval 85"/>
          <p:cNvSpPr/>
          <p:nvPr/>
        </p:nvSpPr>
        <p:spPr>
          <a:xfrm>
            <a:off x="311824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11824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88" name="Oval 87"/>
          <p:cNvSpPr/>
          <p:nvPr/>
        </p:nvSpPr>
        <p:spPr>
          <a:xfrm>
            <a:off x="332779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332779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0" name="Oval 89"/>
          <p:cNvSpPr/>
          <p:nvPr/>
        </p:nvSpPr>
        <p:spPr>
          <a:xfrm>
            <a:off x="3537347"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3537347"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2" name="Oval 91"/>
          <p:cNvSpPr/>
          <p:nvPr/>
        </p:nvSpPr>
        <p:spPr>
          <a:xfrm>
            <a:off x="3013472"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01347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4" name="Oval 93"/>
          <p:cNvSpPr/>
          <p:nvPr/>
        </p:nvSpPr>
        <p:spPr>
          <a:xfrm>
            <a:off x="3223022"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322302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6" name="Oval 95"/>
          <p:cNvSpPr/>
          <p:nvPr/>
        </p:nvSpPr>
        <p:spPr>
          <a:xfrm>
            <a:off x="3432572"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3432572"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98" name="TextBox 97"/>
          <p:cNvSpPr txBox="1"/>
          <p:nvPr/>
        </p:nvSpPr>
        <p:spPr>
          <a:xfrm>
            <a:off x="4014788"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C</a:t>
            </a:r>
          </a:p>
        </p:txBody>
      </p:sp>
      <p:cxnSp>
        <p:nvCxnSpPr>
          <p:cNvPr id="99" name="Connector 98"/>
          <p:cNvCxnSpPr/>
          <p:nvPr/>
        </p:nvCxnSpPr>
        <p:spPr>
          <a:xfrm>
            <a:off x="4430316"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4014788"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1" name="TextBox 100"/>
          <p:cNvSpPr txBox="1"/>
          <p:nvPr/>
        </p:nvSpPr>
        <p:spPr>
          <a:xfrm>
            <a:off x="4005262"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2" name="TextBox 101"/>
          <p:cNvSpPr txBox="1"/>
          <p:nvPr/>
        </p:nvSpPr>
        <p:spPr>
          <a:xfrm>
            <a:off x="4005262" y="2047722"/>
            <a:ext cx="1307306"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3" name="Rectangle 102"/>
          <p:cNvSpPr/>
          <p:nvPr/>
        </p:nvSpPr>
        <p:spPr>
          <a:xfrm>
            <a:off x="4430316"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4601766"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4773216"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4014788"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434.7</a:t>
            </a:r>
          </a:p>
        </p:txBody>
      </p:sp>
      <p:sp>
        <p:nvSpPr>
          <p:cNvPr id="107" name="TextBox 106"/>
          <p:cNvSpPr txBox="1"/>
          <p:nvPr/>
        </p:nvSpPr>
        <p:spPr>
          <a:xfrm>
            <a:off x="4014788"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111.5</a:t>
            </a:r>
          </a:p>
        </p:txBody>
      </p:sp>
      <p:sp>
        <p:nvSpPr>
          <p:cNvPr id="108" name="Oval 107"/>
          <p:cNvSpPr/>
          <p:nvPr/>
        </p:nvSpPr>
        <p:spPr>
          <a:xfrm>
            <a:off x="4411266"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reeform 108"/>
          <p:cNvSpPr/>
          <p:nvPr/>
        </p:nvSpPr>
        <p:spPr>
          <a:xfrm>
            <a:off x="4657725" y="3416749"/>
            <a:ext cx="142875" cy="237298"/>
          </a:xfrm>
          <a:custGeom>
            <a:avLst/>
            <a:gdLst/>
            <a:ahLst/>
            <a:cxnLst/>
            <a:rect l="l" t="t" r="r" b="b"/>
            <a:pathLst>
              <a:path w="15" h="26">
                <a:moveTo>
                  <a:pt x="0" y="26"/>
                </a:moveTo>
                <a:lnTo>
                  <a:pt x="0" y="0"/>
                </a:lnTo>
                <a:lnTo>
                  <a:pt x="4" y="0"/>
                </a:lnTo>
                <a:lnTo>
                  <a:pt x="8" y="1"/>
                </a:lnTo>
                <a:lnTo>
                  <a:pt x="12" y="3"/>
                </a:lnTo>
                <a:lnTo>
                  <a:pt x="15" y="5"/>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4520232"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411266"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9.9%</a:t>
            </a:r>
          </a:p>
        </p:txBody>
      </p:sp>
      <p:sp>
        <p:nvSpPr>
          <p:cNvPr id="112" name="TextBox 111"/>
          <p:cNvSpPr txBox="1"/>
          <p:nvPr/>
        </p:nvSpPr>
        <p:spPr>
          <a:xfrm>
            <a:off x="4033838"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3" name="Oval 112"/>
          <p:cNvSpPr/>
          <p:nvPr/>
        </p:nvSpPr>
        <p:spPr>
          <a:xfrm>
            <a:off x="425410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425410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5" name="Oval 114"/>
          <p:cNvSpPr/>
          <p:nvPr/>
        </p:nvSpPr>
        <p:spPr>
          <a:xfrm>
            <a:off x="446365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446365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7" name="Oval 116"/>
          <p:cNvSpPr/>
          <p:nvPr/>
        </p:nvSpPr>
        <p:spPr>
          <a:xfrm>
            <a:off x="4673203"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467320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19" name="Oval 118"/>
          <p:cNvSpPr/>
          <p:nvPr/>
        </p:nvSpPr>
        <p:spPr>
          <a:xfrm>
            <a:off x="4882753"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882753"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1" name="Oval 120"/>
          <p:cNvSpPr/>
          <p:nvPr/>
        </p:nvSpPr>
        <p:spPr>
          <a:xfrm>
            <a:off x="4358878"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35887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3" name="Oval 122"/>
          <p:cNvSpPr/>
          <p:nvPr/>
        </p:nvSpPr>
        <p:spPr>
          <a:xfrm>
            <a:off x="4568428"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456842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5" name="Oval 124"/>
          <p:cNvSpPr/>
          <p:nvPr/>
        </p:nvSpPr>
        <p:spPr>
          <a:xfrm>
            <a:off x="4777978"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4777978"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7" name="TextBox 126"/>
          <p:cNvSpPr txBox="1"/>
          <p:nvPr/>
        </p:nvSpPr>
        <p:spPr>
          <a:xfrm>
            <a:off x="5360194"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D</a:t>
            </a:r>
          </a:p>
        </p:txBody>
      </p:sp>
      <p:cxnSp>
        <p:nvCxnSpPr>
          <p:cNvPr id="128" name="Connector 127"/>
          <p:cNvCxnSpPr/>
          <p:nvPr/>
        </p:nvCxnSpPr>
        <p:spPr>
          <a:xfrm>
            <a:off x="577572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5360194"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0" name="TextBox 129"/>
          <p:cNvSpPr txBox="1"/>
          <p:nvPr/>
        </p:nvSpPr>
        <p:spPr>
          <a:xfrm>
            <a:off x="5350669"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1" name="TextBox 130"/>
          <p:cNvSpPr txBox="1"/>
          <p:nvPr/>
        </p:nvSpPr>
        <p:spPr>
          <a:xfrm>
            <a:off x="5350669"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2" name="Rectangle 131"/>
          <p:cNvSpPr/>
          <p:nvPr/>
        </p:nvSpPr>
        <p:spPr>
          <a:xfrm>
            <a:off x="5775722"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594717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611862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5360194"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340.6</a:t>
            </a:r>
          </a:p>
        </p:txBody>
      </p:sp>
      <p:sp>
        <p:nvSpPr>
          <p:cNvPr id="136" name="TextBox 135"/>
          <p:cNvSpPr txBox="1"/>
          <p:nvPr/>
        </p:nvSpPr>
        <p:spPr>
          <a:xfrm>
            <a:off x="5360194"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78.3</a:t>
            </a:r>
          </a:p>
        </p:txBody>
      </p:sp>
      <p:sp>
        <p:nvSpPr>
          <p:cNvPr id="137" name="Oval 136"/>
          <p:cNvSpPr/>
          <p:nvPr/>
        </p:nvSpPr>
        <p:spPr>
          <a:xfrm>
            <a:off x="575667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6000750" y="3416749"/>
            <a:ext cx="104775" cy="237298"/>
          </a:xfrm>
          <a:custGeom>
            <a:avLst/>
            <a:gdLst/>
            <a:ahLst/>
            <a:cxnLst/>
            <a:rect l="l" t="t" r="r" b="b"/>
            <a:pathLst>
              <a:path w="11" h="26">
                <a:moveTo>
                  <a:pt x="0" y="26"/>
                </a:moveTo>
                <a:lnTo>
                  <a:pt x="0" y="0"/>
                </a:lnTo>
                <a:lnTo>
                  <a:pt x="4" y="0"/>
                </a:lnTo>
                <a:lnTo>
                  <a:pt x="8"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586563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75667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7.0%</a:t>
            </a:r>
          </a:p>
        </p:txBody>
      </p:sp>
      <p:sp>
        <p:nvSpPr>
          <p:cNvPr id="141" name="TextBox 140"/>
          <p:cNvSpPr txBox="1"/>
          <p:nvPr/>
        </p:nvSpPr>
        <p:spPr>
          <a:xfrm>
            <a:off x="5379244"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2" name="Oval 141"/>
          <p:cNvSpPr/>
          <p:nvPr/>
        </p:nvSpPr>
        <p:spPr>
          <a:xfrm>
            <a:off x="559950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559950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4" name="Oval 143"/>
          <p:cNvSpPr/>
          <p:nvPr/>
        </p:nvSpPr>
        <p:spPr>
          <a:xfrm>
            <a:off x="580905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580905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6" name="Oval 145"/>
          <p:cNvSpPr/>
          <p:nvPr/>
        </p:nvSpPr>
        <p:spPr>
          <a:xfrm>
            <a:off x="601860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601860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48" name="Oval 147"/>
          <p:cNvSpPr/>
          <p:nvPr/>
        </p:nvSpPr>
        <p:spPr>
          <a:xfrm>
            <a:off x="6228159"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6228159"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0" name="Oval 149"/>
          <p:cNvSpPr/>
          <p:nvPr/>
        </p:nvSpPr>
        <p:spPr>
          <a:xfrm>
            <a:off x="5704284"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70428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2" name="Oval 151"/>
          <p:cNvSpPr/>
          <p:nvPr/>
        </p:nvSpPr>
        <p:spPr>
          <a:xfrm>
            <a:off x="5913834"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591383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4" name="Oval 153"/>
          <p:cNvSpPr/>
          <p:nvPr/>
        </p:nvSpPr>
        <p:spPr>
          <a:xfrm>
            <a:off x="6123384"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6123384"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6" name="TextBox 155"/>
          <p:cNvSpPr txBox="1"/>
          <p:nvPr/>
        </p:nvSpPr>
        <p:spPr>
          <a:xfrm>
            <a:off x="6705600"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E</a:t>
            </a:r>
          </a:p>
        </p:txBody>
      </p:sp>
      <p:cxnSp>
        <p:nvCxnSpPr>
          <p:cNvPr id="157" name="Connector 156"/>
          <p:cNvCxnSpPr/>
          <p:nvPr/>
        </p:nvCxnSpPr>
        <p:spPr>
          <a:xfrm>
            <a:off x="712112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6705600"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59" name="TextBox 158"/>
          <p:cNvSpPr txBox="1"/>
          <p:nvPr/>
        </p:nvSpPr>
        <p:spPr>
          <a:xfrm>
            <a:off x="6696075"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0" name="TextBox 159"/>
          <p:cNvSpPr txBox="1"/>
          <p:nvPr/>
        </p:nvSpPr>
        <p:spPr>
          <a:xfrm>
            <a:off x="6696075"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1" name="Rectangle 160"/>
          <p:cNvSpPr/>
          <p:nvPr/>
        </p:nvSpPr>
        <p:spPr>
          <a:xfrm>
            <a:off x="712112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729257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746402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705600"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372.4</a:t>
            </a:r>
          </a:p>
        </p:txBody>
      </p:sp>
      <p:sp>
        <p:nvSpPr>
          <p:cNvPr id="165" name="TextBox 164"/>
          <p:cNvSpPr txBox="1"/>
          <p:nvPr/>
        </p:nvSpPr>
        <p:spPr>
          <a:xfrm>
            <a:off x="6705600"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77.6</a:t>
            </a:r>
          </a:p>
        </p:txBody>
      </p:sp>
      <p:sp>
        <p:nvSpPr>
          <p:cNvPr id="166" name="Oval 165"/>
          <p:cNvSpPr/>
          <p:nvPr/>
        </p:nvSpPr>
        <p:spPr>
          <a:xfrm>
            <a:off x="710207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Freeform 166"/>
          <p:cNvSpPr/>
          <p:nvPr/>
        </p:nvSpPr>
        <p:spPr>
          <a:xfrm>
            <a:off x="7353300" y="3416749"/>
            <a:ext cx="104775" cy="237298"/>
          </a:xfrm>
          <a:custGeom>
            <a:avLst/>
            <a:gdLst/>
            <a:ahLst/>
            <a:cxnLst/>
            <a:rect l="l" t="t" r="r" b="b"/>
            <a:pathLst>
              <a:path w="11" h="26">
                <a:moveTo>
                  <a:pt x="0" y="26"/>
                </a:moveTo>
                <a:lnTo>
                  <a:pt x="0" y="0"/>
                </a:lnTo>
                <a:lnTo>
                  <a:pt x="3"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Oval 167"/>
          <p:cNvSpPr/>
          <p:nvPr/>
        </p:nvSpPr>
        <p:spPr>
          <a:xfrm>
            <a:off x="721104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710207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6.9%</a:t>
            </a:r>
          </a:p>
        </p:txBody>
      </p:sp>
      <p:sp>
        <p:nvSpPr>
          <p:cNvPr id="170" name="TextBox 169"/>
          <p:cNvSpPr txBox="1"/>
          <p:nvPr/>
        </p:nvSpPr>
        <p:spPr>
          <a:xfrm>
            <a:off x="6724650"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1" name="Oval 170"/>
          <p:cNvSpPr/>
          <p:nvPr/>
        </p:nvSpPr>
        <p:spPr>
          <a:xfrm>
            <a:off x="694491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694491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3" name="Oval 172"/>
          <p:cNvSpPr/>
          <p:nvPr/>
        </p:nvSpPr>
        <p:spPr>
          <a:xfrm>
            <a:off x="715446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715446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5" name="Oval 174"/>
          <p:cNvSpPr/>
          <p:nvPr/>
        </p:nvSpPr>
        <p:spPr>
          <a:xfrm>
            <a:off x="7364016"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736401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7" name="Oval 176"/>
          <p:cNvSpPr/>
          <p:nvPr/>
        </p:nvSpPr>
        <p:spPr>
          <a:xfrm>
            <a:off x="7573566"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7573566"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79" name="Oval 178"/>
          <p:cNvSpPr/>
          <p:nvPr/>
        </p:nvSpPr>
        <p:spPr>
          <a:xfrm>
            <a:off x="7049691"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704969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1" name="Oval 180"/>
          <p:cNvSpPr/>
          <p:nvPr/>
        </p:nvSpPr>
        <p:spPr>
          <a:xfrm>
            <a:off x="7259241"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25924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3" name="Oval 182"/>
          <p:cNvSpPr/>
          <p:nvPr/>
        </p:nvSpPr>
        <p:spPr>
          <a:xfrm>
            <a:off x="7468791"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7468791"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5" name="TextBox 184"/>
          <p:cNvSpPr txBox="1"/>
          <p:nvPr/>
        </p:nvSpPr>
        <p:spPr>
          <a:xfrm>
            <a:off x="8051006"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F</a:t>
            </a:r>
          </a:p>
        </p:txBody>
      </p:sp>
      <p:cxnSp>
        <p:nvCxnSpPr>
          <p:cNvPr id="186" name="Connector 185"/>
          <p:cNvCxnSpPr/>
          <p:nvPr/>
        </p:nvCxnSpPr>
        <p:spPr>
          <a:xfrm>
            <a:off x="8466534"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8051006"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88" name="TextBox 187"/>
          <p:cNvSpPr txBox="1"/>
          <p:nvPr/>
        </p:nvSpPr>
        <p:spPr>
          <a:xfrm>
            <a:off x="8041481"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89" name="TextBox 188"/>
          <p:cNvSpPr txBox="1"/>
          <p:nvPr/>
        </p:nvSpPr>
        <p:spPr>
          <a:xfrm>
            <a:off x="8041481" y="2047722"/>
            <a:ext cx="1307306"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0" name="Rectangle 189"/>
          <p:cNvSpPr/>
          <p:nvPr/>
        </p:nvSpPr>
        <p:spPr>
          <a:xfrm>
            <a:off x="8466534"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8637984"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8809434"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TextBox 192"/>
          <p:cNvSpPr txBox="1"/>
          <p:nvPr/>
        </p:nvSpPr>
        <p:spPr>
          <a:xfrm>
            <a:off x="8051006"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404.8</a:t>
            </a:r>
          </a:p>
        </p:txBody>
      </p:sp>
      <p:sp>
        <p:nvSpPr>
          <p:cNvPr id="194" name="TextBox 193"/>
          <p:cNvSpPr txBox="1"/>
          <p:nvPr/>
        </p:nvSpPr>
        <p:spPr>
          <a:xfrm>
            <a:off x="8051006"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77.1</a:t>
            </a:r>
          </a:p>
        </p:txBody>
      </p:sp>
      <p:sp>
        <p:nvSpPr>
          <p:cNvPr id="195" name="Oval 194"/>
          <p:cNvSpPr/>
          <p:nvPr/>
        </p:nvSpPr>
        <p:spPr>
          <a:xfrm>
            <a:off x="8447484"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Freeform 195"/>
          <p:cNvSpPr/>
          <p:nvPr/>
        </p:nvSpPr>
        <p:spPr>
          <a:xfrm>
            <a:off x="8696325"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Oval 196"/>
          <p:cNvSpPr/>
          <p:nvPr/>
        </p:nvSpPr>
        <p:spPr>
          <a:xfrm>
            <a:off x="8556450"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8447484"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6.9%</a:t>
            </a:r>
          </a:p>
        </p:txBody>
      </p:sp>
      <p:sp>
        <p:nvSpPr>
          <p:cNvPr id="199" name="TextBox 198"/>
          <p:cNvSpPr txBox="1"/>
          <p:nvPr/>
        </p:nvSpPr>
        <p:spPr>
          <a:xfrm>
            <a:off x="8070056"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00" name="Oval 199"/>
          <p:cNvSpPr/>
          <p:nvPr/>
        </p:nvSpPr>
        <p:spPr>
          <a:xfrm>
            <a:off x="829032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829032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2" name="Oval 201"/>
          <p:cNvSpPr/>
          <p:nvPr/>
        </p:nvSpPr>
        <p:spPr>
          <a:xfrm>
            <a:off x="849987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849987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4" name="Oval 203"/>
          <p:cNvSpPr/>
          <p:nvPr/>
        </p:nvSpPr>
        <p:spPr>
          <a:xfrm>
            <a:off x="870942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870942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6" name="Oval 205"/>
          <p:cNvSpPr/>
          <p:nvPr/>
        </p:nvSpPr>
        <p:spPr>
          <a:xfrm>
            <a:off x="8918972"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8918972"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08" name="Oval 207"/>
          <p:cNvSpPr/>
          <p:nvPr/>
        </p:nvSpPr>
        <p:spPr>
          <a:xfrm>
            <a:off x="8395097"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839509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0" name="Oval 209"/>
          <p:cNvSpPr/>
          <p:nvPr/>
        </p:nvSpPr>
        <p:spPr>
          <a:xfrm>
            <a:off x="8604647"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860464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2" name="Oval 211"/>
          <p:cNvSpPr/>
          <p:nvPr/>
        </p:nvSpPr>
        <p:spPr>
          <a:xfrm>
            <a:off x="8814197"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8814197"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4" name="TextBox 213"/>
          <p:cNvSpPr txBox="1"/>
          <p:nvPr/>
        </p:nvSpPr>
        <p:spPr>
          <a:xfrm>
            <a:off x="9396412"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G</a:t>
            </a:r>
          </a:p>
        </p:txBody>
      </p:sp>
      <p:cxnSp>
        <p:nvCxnSpPr>
          <p:cNvPr id="215" name="Connector 214"/>
          <p:cNvCxnSpPr/>
          <p:nvPr/>
        </p:nvCxnSpPr>
        <p:spPr>
          <a:xfrm>
            <a:off x="9811941"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6" name="TextBox 215"/>
          <p:cNvSpPr txBox="1"/>
          <p:nvPr/>
        </p:nvSpPr>
        <p:spPr>
          <a:xfrm>
            <a:off x="9396412"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7" name="TextBox 216"/>
          <p:cNvSpPr txBox="1"/>
          <p:nvPr/>
        </p:nvSpPr>
        <p:spPr>
          <a:xfrm>
            <a:off x="9386888"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18" name="TextBox 217"/>
          <p:cNvSpPr txBox="1"/>
          <p:nvPr/>
        </p:nvSpPr>
        <p:spPr>
          <a:xfrm>
            <a:off x="9386888"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19" name="Rectangle 218"/>
          <p:cNvSpPr/>
          <p:nvPr/>
        </p:nvSpPr>
        <p:spPr>
          <a:xfrm>
            <a:off x="9811941"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9983391"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0154841"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396412"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351.9</a:t>
            </a:r>
          </a:p>
        </p:txBody>
      </p:sp>
      <p:sp>
        <p:nvSpPr>
          <p:cNvPr id="223" name="TextBox 222"/>
          <p:cNvSpPr txBox="1"/>
          <p:nvPr/>
        </p:nvSpPr>
        <p:spPr>
          <a:xfrm>
            <a:off x="9396412"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61.7</a:t>
            </a:r>
          </a:p>
        </p:txBody>
      </p:sp>
      <p:sp>
        <p:nvSpPr>
          <p:cNvPr id="224" name="Oval 223"/>
          <p:cNvSpPr/>
          <p:nvPr/>
        </p:nvSpPr>
        <p:spPr>
          <a:xfrm>
            <a:off x="9792891"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Freeform 224"/>
          <p:cNvSpPr/>
          <p:nvPr/>
        </p:nvSpPr>
        <p:spPr>
          <a:xfrm>
            <a:off x="10039350" y="3416749"/>
            <a:ext cx="85725" cy="237298"/>
          </a:xfrm>
          <a:custGeom>
            <a:avLst/>
            <a:gdLst/>
            <a:ahLst/>
            <a:cxnLst/>
            <a:rect l="l" t="t" r="r" b="b"/>
            <a:pathLst>
              <a:path w="9" h="26">
                <a:moveTo>
                  <a:pt x="0" y="26"/>
                </a:moveTo>
                <a:lnTo>
                  <a:pt x="0" y="0"/>
                </a:lnTo>
                <a:lnTo>
                  <a:pt x="5" y="0"/>
                </a:lnTo>
                <a:lnTo>
                  <a:pt x="9"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Oval 225"/>
          <p:cNvSpPr/>
          <p:nvPr/>
        </p:nvSpPr>
        <p:spPr>
          <a:xfrm>
            <a:off x="9901857"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9792891"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5.5%</a:t>
            </a:r>
          </a:p>
        </p:txBody>
      </p:sp>
      <p:sp>
        <p:nvSpPr>
          <p:cNvPr id="228" name="TextBox 227"/>
          <p:cNvSpPr txBox="1"/>
          <p:nvPr/>
        </p:nvSpPr>
        <p:spPr>
          <a:xfrm>
            <a:off x="9415462"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29" name="Oval 228"/>
          <p:cNvSpPr/>
          <p:nvPr/>
        </p:nvSpPr>
        <p:spPr>
          <a:xfrm>
            <a:off x="963572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TextBox 229"/>
          <p:cNvSpPr txBox="1"/>
          <p:nvPr/>
        </p:nvSpPr>
        <p:spPr>
          <a:xfrm>
            <a:off x="963572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1" name="Oval 230"/>
          <p:cNvSpPr/>
          <p:nvPr/>
        </p:nvSpPr>
        <p:spPr>
          <a:xfrm>
            <a:off x="984527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984527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3" name="Oval 232"/>
          <p:cNvSpPr/>
          <p:nvPr/>
        </p:nvSpPr>
        <p:spPr>
          <a:xfrm>
            <a:off x="10054828"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1005482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5" name="Oval 234"/>
          <p:cNvSpPr/>
          <p:nvPr/>
        </p:nvSpPr>
        <p:spPr>
          <a:xfrm>
            <a:off x="10264378"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10264378"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7" name="Oval 236"/>
          <p:cNvSpPr/>
          <p:nvPr/>
        </p:nvSpPr>
        <p:spPr>
          <a:xfrm>
            <a:off x="9740503"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974050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39" name="Oval 238"/>
          <p:cNvSpPr/>
          <p:nvPr/>
        </p:nvSpPr>
        <p:spPr>
          <a:xfrm>
            <a:off x="9950053"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995005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1" name="Oval 240"/>
          <p:cNvSpPr/>
          <p:nvPr/>
        </p:nvSpPr>
        <p:spPr>
          <a:xfrm>
            <a:off x="10159603"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10159603"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3" name="TextBox 242"/>
          <p:cNvSpPr txBox="1"/>
          <p:nvPr/>
        </p:nvSpPr>
        <p:spPr>
          <a:xfrm>
            <a:off x="10741819" y="1189798"/>
            <a:ext cx="1288256"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Company H</a:t>
            </a:r>
          </a:p>
        </p:txBody>
      </p:sp>
      <p:cxnSp>
        <p:nvCxnSpPr>
          <p:cNvPr id="244" name="Connector 243"/>
          <p:cNvCxnSpPr/>
          <p:nvPr/>
        </p:nvCxnSpPr>
        <p:spPr>
          <a:xfrm>
            <a:off x="11157347"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5" name="TextBox 244"/>
          <p:cNvSpPr txBox="1"/>
          <p:nvPr/>
        </p:nvSpPr>
        <p:spPr>
          <a:xfrm>
            <a:off x="10741819" y="1536618"/>
            <a:ext cx="1288256"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6" name="TextBox 245"/>
          <p:cNvSpPr txBox="1"/>
          <p:nvPr/>
        </p:nvSpPr>
        <p:spPr>
          <a:xfrm>
            <a:off x="10732294" y="1828677"/>
            <a:ext cx="1307306"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7" name="TextBox 246"/>
          <p:cNvSpPr txBox="1"/>
          <p:nvPr/>
        </p:nvSpPr>
        <p:spPr>
          <a:xfrm>
            <a:off x="10732294" y="2047722"/>
            <a:ext cx="1307306"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48" name="Rectangle 247"/>
          <p:cNvSpPr/>
          <p:nvPr/>
        </p:nvSpPr>
        <p:spPr>
          <a:xfrm>
            <a:off x="11157347"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328797"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00247"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10741819" y="2631840"/>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228.6</a:t>
            </a:r>
          </a:p>
        </p:txBody>
      </p:sp>
      <p:sp>
        <p:nvSpPr>
          <p:cNvPr id="252" name="TextBox 251"/>
          <p:cNvSpPr txBox="1"/>
          <p:nvPr/>
        </p:nvSpPr>
        <p:spPr>
          <a:xfrm>
            <a:off x="10741819" y="2960407"/>
            <a:ext cx="1288256" cy="328567"/>
          </a:xfrm>
          <a:prstGeom prst="rect">
            <a:avLst/>
          </a:prstGeom>
          <a:noFill/>
        </p:spPr>
        <p:txBody>
          <a:bodyPr wrap="square" lIns="28575" rIns="28575" tIns="9525" bIns="9525" anchor="ctr">
            <a:spAutoFit/>
          </a:bodyPr>
          <a:lstStyle/>
          <a:p>
            <a:pPr algn="ctr"/>
            <a:r>
              <a:rPr sz="1100" b="0">
                <a:solidFill>
                  <a:srgbClr val="2E2E2E"/>
                </a:solidFill>
                <a:latin typeface="Calibri"/>
              </a:rPr>
              <a:t>37.2</a:t>
            </a:r>
          </a:p>
        </p:txBody>
      </p:sp>
      <p:sp>
        <p:nvSpPr>
          <p:cNvPr id="253" name="Oval 252"/>
          <p:cNvSpPr/>
          <p:nvPr/>
        </p:nvSpPr>
        <p:spPr>
          <a:xfrm>
            <a:off x="11138297"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Freeform 253"/>
          <p:cNvSpPr/>
          <p:nvPr/>
        </p:nvSpPr>
        <p:spPr>
          <a:xfrm>
            <a:off x="11382375" y="3416749"/>
            <a:ext cx="57150" cy="237298"/>
          </a:xfrm>
          <a:custGeom>
            <a:avLst/>
            <a:gdLst/>
            <a:ahLst/>
            <a:cxnLst/>
            <a:rect l="l" t="t" r="r" b="b"/>
            <a:pathLst>
              <a:path w="6" h="26">
                <a:moveTo>
                  <a:pt x="0" y="26"/>
                </a:moveTo>
                <a:lnTo>
                  <a:pt x="0" y="0"/>
                </a:lnTo>
                <a:lnTo>
                  <a:pt x="3" y="0"/>
                </a:lnTo>
                <a:lnTo>
                  <a:pt x="6"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Oval 254"/>
          <p:cNvSpPr/>
          <p:nvPr/>
        </p:nvSpPr>
        <p:spPr>
          <a:xfrm>
            <a:off x="11247263"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TextBox 255"/>
          <p:cNvSpPr txBox="1"/>
          <p:nvPr/>
        </p:nvSpPr>
        <p:spPr>
          <a:xfrm>
            <a:off x="11138297"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3.3%</a:t>
            </a:r>
          </a:p>
        </p:txBody>
      </p:sp>
      <p:sp>
        <p:nvSpPr>
          <p:cNvPr id="257" name="TextBox 256"/>
          <p:cNvSpPr txBox="1"/>
          <p:nvPr/>
        </p:nvSpPr>
        <p:spPr>
          <a:xfrm>
            <a:off x="10760869" y="4092136"/>
            <a:ext cx="1259681"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58" name="Oval 257"/>
          <p:cNvSpPr/>
          <p:nvPr/>
        </p:nvSpPr>
        <p:spPr>
          <a:xfrm>
            <a:off x="1098113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098113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0" name="Oval 259"/>
          <p:cNvSpPr/>
          <p:nvPr/>
        </p:nvSpPr>
        <p:spPr>
          <a:xfrm>
            <a:off x="1119068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1119068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2" name="Oval 261"/>
          <p:cNvSpPr/>
          <p:nvPr/>
        </p:nvSpPr>
        <p:spPr>
          <a:xfrm>
            <a:off x="1140023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1140023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4" name="Oval 263"/>
          <p:cNvSpPr/>
          <p:nvPr/>
        </p:nvSpPr>
        <p:spPr>
          <a:xfrm>
            <a:off x="11609784"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11609784"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6" name="Oval 265"/>
          <p:cNvSpPr/>
          <p:nvPr/>
        </p:nvSpPr>
        <p:spPr>
          <a:xfrm>
            <a:off x="11085909"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1108590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68" name="Oval 267"/>
          <p:cNvSpPr/>
          <p:nvPr/>
        </p:nvSpPr>
        <p:spPr>
          <a:xfrm>
            <a:off x="11295459"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1129545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0" name="Oval 269"/>
          <p:cNvSpPr/>
          <p:nvPr/>
        </p:nvSpPr>
        <p:spPr>
          <a:xfrm>
            <a:off x="11505009"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11505009"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2" name="TextBox 27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273" name="Rectangle 27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TextBox 273"/>
          <p:cNvSpPr txBox="1"/>
          <p:nvPr/>
        </p:nvSpPr>
        <p:spPr>
          <a:xfrm>
            <a:off x="1535906" y="5716715"/>
            <a:ext cx="1469231" cy="164283"/>
          </a:xfrm>
          <a:prstGeom prst="rect">
            <a:avLst/>
          </a:prstGeom>
          <a:noFill/>
        </p:spPr>
        <p:txBody>
          <a:bodyPr wrap="square" lIns="0" rIns="0" tIns="0" bIns="0" anchor="ctr">
            <a:spAutoFit/>
          </a:bodyPr>
          <a:lstStyle/>
          <a:p>
            <a:pPr algn="l"/>
            <a:r>
              <a:rPr sz="1100" b="0">
                <a:solidFill>
                  <a:srgbClr val="2E2E2E"/>
                </a:solidFill>
                <a:latin typeface="Calibri"/>
              </a:rPr>
              <a:t>Flexible Partial Dentures</a:t>
            </a:r>
          </a:p>
        </p:txBody>
      </p:sp>
      <p:sp>
        <p:nvSpPr>
          <p:cNvPr id="275" name="Rectangle 274"/>
          <p:cNvSpPr/>
          <p:nvPr/>
        </p:nvSpPr>
        <p:spPr>
          <a:xfrm>
            <a:off x="3062288"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TextBox 275"/>
          <p:cNvSpPr txBox="1"/>
          <p:nvPr/>
        </p:nvSpPr>
        <p:spPr>
          <a:xfrm>
            <a:off x="3214688" y="5716715"/>
            <a:ext cx="2447925" cy="164283"/>
          </a:xfrm>
          <a:prstGeom prst="rect">
            <a:avLst/>
          </a:prstGeom>
          <a:noFill/>
        </p:spPr>
        <p:txBody>
          <a:bodyPr wrap="square" lIns="0" rIns="0" tIns="0" bIns="0" anchor="ctr">
            <a:spAutoFit/>
          </a:bodyPr>
          <a:lstStyle/>
          <a:p>
            <a:pPr algn="l"/>
            <a:r>
              <a:rPr sz="1100" b="0">
                <a:solidFill>
                  <a:srgbClr val="2E2E2E"/>
                </a:solidFill>
                <a:latin typeface="Calibri"/>
              </a:rPr>
              <a:t>Combination Framework Partial Dentures</a:t>
            </a:r>
          </a:p>
        </p:txBody>
      </p:sp>
      <p:sp>
        <p:nvSpPr>
          <p:cNvPr id="277" name="Rectangle 276"/>
          <p:cNvSpPr/>
          <p:nvPr/>
        </p:nvSpPr>
        <p:spPr>
          <a:xfrm>
            <a:off x="5719762" y="5744096"/>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TextBox 277"/>
          <p:cNvSpPr txBox="1"/>
          <p:nvPr/>
        </p:nvSpPr>
        <p:spPr>
          <a:xfrm>
            <a:off x="5872162" y="5716715"/>
            <a:ext cx="1640681" cy="164283"/>
          </a:xfrm>
          <a:prstGeom prst="rect">
            <a:avLst/>
          </a:prstGeom>
          <a:noFill/>
        </p:spPr>
        <p:txBody>
          <a:bodyPr wrap="square" lIns="0" rIns="0" tIns="0" bIns="0" anchor="ctr">
            <a:spAutoFit/>
          </a:bodyPr>
          <a:lstStyle/>
          <a:p>
            <a:pPr algn="l"/>
            <a:r>
              <a:rPr sz="1100" b="0">
                <a:solidFill>
                  <a:srgbClr val="2E2E2E"/>
                </a:solidFill>
                <a:latin typeface="Calibri"/>
              </a:rPr>
              <a:t>Cast Metal Partial Dentures</a:t>
            </a:r>
          </a:p>
        </p:txBody>
      </p:sp>
      <p:sp>
        <p:nvSpPr>
          <p:cNvPr id="279" name="Rectangle 278"/>
          <p:cNvSpPr/>
          <p:nvPr/>
        </p:nvSpPr>
        <p:spPr>
          <a:xfrm>
            <a:off x="7569994"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TextBox 279"/>
          <p:cNvSpPr txBox="1"/>
          <p:nvPr/>
        </p:nvSpPr>
        <p:spPr>
          <a:xfrm>
            <a:off x="7722394"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281" name="TextBox 280"/>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282" name="TextBox 281"/>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283" name="TextBox 282"/>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284" name="TextBox 283"/>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285" name="TextBox 284"/>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286" name="TextBox 285"/>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287" name="TextBox 286"/>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288" name="TextBox 287"/>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289" name="TextBox 288"/>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290" name="TextBox 289"/>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291" name="TextBox 290"/>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292" name="Oval 291"/>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TextBox 292"/>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4" name="TextBox 293"/>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295" name="Oval 294"/>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7" name="TextBox 296"/>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298" name="Oval 297"/>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00" name="TextBox 299"/>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01" name="Oval 300"/>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03" name="TextBox 302"/>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04" name="Oval 303"/>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TextBox 304"/>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06" name="TextBox 305"/>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07" name="Oval 306"/>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TextBox 307"/>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9" name="TextBox 308"/>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10" name="Oval 309"/>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12" name="TextBox 311"/>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13" name="TextBox 312"/>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14" name="TextBox 313"/>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15" name="TextBox 3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Removable Partial Dentures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Hold price discipline: with the top three players at ~41% share, avoid value-destructive discounting compete on mix and service, not headline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toward higher-value formulations (e.g. 'Flexible Partial Dentures') to lift blended ASP and defend margin as input costs move.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Set transparent, corridor-based regional pricing to limit grey-market arbitrage.</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R&amp;D in the fastest-growing formulations a differentiated portfolio is the clearest route to out-growing the ~4.4% market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Pursue certification and clinical validation to build switching costs and support premium positioning.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Localise formats and pack sizes to each channel and geography.</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 relentlessly against 'Company A' (~16.4% share) match on service and lead on innovation to take share.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to cut dependence on a few large accounts and single-region exposure.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Stress-test for regulatory, currency and supply shocks; keep flexible capacity and dual sourcing.</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Value Share (Global)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5" name="TextBox 14"/>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100% =</a:t>
            </a:r>
          </a:p>
          <a:p>
            <a:pPr algn="ctr"/>
            <a:r>
              <a:rPr sz="1300" b="1">
                <a:solidFill>
                  <a:srgbClr val="2E2E2E"/>
                </a:solidFill>
                <a:latin typeface="Calibri"/>
              </a:rPr>
              <a:t>1,125 US$ Mn</a:t>
            </a: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Company A accounted for the largest share of the global removable partial dentures market in 2026. The global removable partial dentures market is moderately consolidated, with the top three players accounting for an estimated 41% share of the market in 2026.</a:t>
            </a:r>
          </a:p>
          <a:p>
            <a:pPr algn="l">
              <a:lnSpc>
                <a:spcPct val="110000"/>
              </a:lnSpc>
              <a:spcBef>
                <a:spcPts val="0"/>
              </a:spcBef>
              <a:spcAft>
                <a:spcPts val="500"/>
              </a:spcAft>
            </a:pPr>
            <a:r>
              <a:rPr sz="1150" b="0">
                <a:solidFill>
                  <a:srgbClr val="2E2E2E"/>
                </a:solidFill>
                <a:latin typeface="Calibri"/>
              </a:rPr>
              <a:t>Company A accounted for an estimated 16.4% share of the market, followed by Company B with 14.4%. Key players are focusing on product innovation, geographic expansion and strategic partnerships to strengthen their market position.</a:t>
            </a:r>
          </a:p>
          <a:p>
            <a:pPr algn="l">
              <a:lnSpc>
                <a:spcPct val="110000"/>
              </a:lnSpc>
              <a:spcBef>
                <a:spcPts val="0"/>
              </a:spcBef>
              <a:spcAft>
                <a:spcPts val="500"/>
              </a:spcAft>
            </a:pPr>
            <a:r>
              <a:rPr sz="1150" b="0">
                <a:solidFill>
                  <a:srgbClr val="2E2E2E"/>
                </a:solidFill>
                <a:latin typeface="Calibri"/>
              </a:rPr>
              <a:t>Regional share differs from the global picture use the region selector to see how leadership shifts across geographies.</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Share by Product Type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product type,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Partial Dentures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Combination Framework Partial Dentures</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Cast Metal Partial Dentures</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Flexible Partial Dentures: 'Company A' leads at ~12.8%, ahead of 'Company D' (~12.7%); the top three hold ~38% and a long tail ('Others') ~27%.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Combination Framework Partial Dentures: 'Company C' leads at ~14.9%, ahead of 'Company B' (~14.8%); the top three hold ~43% and a long tail ('Others') ~23%.</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Cast Metal Partial Dentures: 'Company A' leads at ~17.8%, ahead of 'Company B' (~16.9%); the top three hold ~48% and a long tail ('Others') ~20%.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Leadership shifts across formulations a strong position in one product type does not carry over to the others, so product-level targeting is essential.</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Note: competitor figures are indicative derived from market modelling and expert validation, not company disclosures.</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Share by Region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North America: 'Company A' leads at ~18.4%, ahead of 'Company B' (~13.5%); the top three hold ~41% and a long tail ('Others') ~27%.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Europe: 'Company A' leads at ~17.1%, ahead of 'Company D' (~12.6%); the top three hold ~41% and a long tail ('Others') ~21%.</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'Company C' leads at ~14.6%, ahead of 'Company B' (~13.5%); the top three hold ~41% and a long tail ('Others') ~24%.</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Leadership is not uniform across geographies a strong position in one region does not carry over to the others, so region-level go-to-market planning is essential.</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Note: competitor figures are indicative derived from market modelling and expert validation, not company disclosures.</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Removable Partial Dentures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A</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16.4%</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B</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14.4%</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C</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9.9%</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D</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7.0%</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Company E</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Value share:  6.9%</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0–5 POINTS</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0–5 POINTS</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0–5 POINTS</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0–5 POINTS</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0–5 POINTS</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A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A: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900.0</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SOM (US$ MN)</a:t>
            </a:r>
          </a:p>
          <a:p>
            <a:pPr algn="ctr">
              <a:lnSpc>
                <a:spcPct val="95000"/>
              </a:lnSpc>
            </a:pPr>
            <a:r>
              <a:rPr sz="1500" b="1">
                <a:solidFill>
                  <a:srgbClr val="0E72AE"/>
                </a:solidFill>
                <a:latin typeface="Calibri"/>
              </a:rPr>
              <a:t>284.0</a:t>
            </a:r>
          </a:p>
          <a:p>
            <a:pPr algn="ctr">
              <a:lnSpc>
                <a:spcPct val="95000"/>
              </a:lnSpc>
            </a:pPr>
            <a:r>
              <a:rPr sz="1100" b="0">
                <a:solidFill>
                  <a:srgbClr val="6C7A89"/>
                </a:solidFill>
                <a:latin typeface="Calibri"/>
              </a:rPr>
              <a:t>32% of SAM</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1.00</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12%</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Market Position: Company A captures ~32% of a US$ Mn SAM, with its strongest end-market in 'Academic &amp; Teaching Dental Institutions'.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Geographic Balance: 'North America' is the largest SOM region; 'Rest of the World' shows the highest SAM penetration (~74%).</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Growth Trajectory: a 1.00 book-to-bill and ~12% EBITDA margin point to a path to capture more of the addressable market.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Competitive Edge: ~18% win rate with a +6% ASP premium and 2.9x pipeline coverage.</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A: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A</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TAM  ·  100%  ·  1,731 US$ Mn</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SAM  ·  52% of TAM  ·  900.0 US$ Mn</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SOM  ·  32% of SAM  ·  284.0 US$ Mn</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Regional Opportunity: 'Rest of the World' shows the highest SAM penetration; lower-penetration regions are the growth headroom.</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Competitive Edge: ~18% win rate with a +6% ASP premium signals value recognition; 2.9x pipeline coverage underpins growth.</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Sales Efficiency: a ~95-day sales cycle and ~30% conversion support faster share capture.</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A: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A: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~18% win rate with a +6% ASP premium clear value recognition.</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1.00 book-to-bill and ~12% EBITDA signal healthy momentum.</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~16.4% share leaves a scale gap versus the market leader.</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Intense competition ~2.9x pipeline needed to convert.</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A's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A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Financial Performance</a:t>
            </a:r>
          </a:p>
        </p:txBody>
      </p:sp>
      <p:graphicFrame>
        <p:nvGraphicFramePr>
          <p:cNvPr id="13" name="Table 12"/>
          <p:cNvGraphicFramePr>
            <a:graphicFrameLocks noGrp="1"/>
          </p:cNvGraphicFramePr>
          <p:nvPr/>
        </p:nvGraphicFramePr>
        <p:xfrm>
          <a:off x="152400" y="1611256"/>
          <a:ext cx="5886449" cy="1449913"/>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15265">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308662">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868.9</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5F8FA"/>
                    </a:solidFill>
                  </a:tcPr>
                </a:tc>
              </a:tr>
              <a:tr h="308662">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Key Ratios</a:t>
            </a:r>
          </a:p>
        </p:txBody>
      </p:sp>
      <p:graphicFrame>
        <p:nvGraphicFramePr>
          <p:cNvPr id="17" name="Table 16"/>
          <p:cNvGraphicFramePr>
            <a:graphicFrameLocks noGrp="1"/>
          </p:cNvGraphicFramePr>
          <p:nvPr/>
        </p:nvGraphicFramePr>
        <p:xfrm>
          <a:off x="152400" y="3655670"/>
          <a:ext cx="5886450" cy="2727670"/>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15265">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502481">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A Pricing Analysis (US$/Units)</a:t>
            </a:r>
          </a:p>
        </p:txBody>
      </p:sp>
      <p:graphicFrame>
        <p:nvGraphicFramePr>
          <p:cNvPr id="21" name="Table 20"/>
          <p:cNvGraphicFramePr>
            <a:graphicFrameLocks noGrp="1"/>
          </p:cNvGraphicFramePr>
          <p:nvPr/>
        </p:nvGraphicFramePr>
        <p:xfrm>
          <a:off x="6210300" y="1611256"/>
          <a:ext cx="5829301" cy="4772085"/>
        </p:xfrm>
        <a:graphic>
          <a:graphicData uri="http://schemas.openxmlformats.org/drawingml/2006/table">
            <a:tbl>
              <a:tblPr>
                <a:tableStyleId>{5C22544A-7EE6-4342-B048-85BDC9FD1C3A}</a:tableStyleId>
              </a:tblPr>
              <a:tblGrid>
                <a:gridCol w="4241547"/>
                <a:gridCol w="793877"/>
                <a:gridCol w="79387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113920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r>
              <a:tr h="113920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A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A's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A: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16.4%</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18%</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+6%</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1.00</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12%</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and extend leadership in 'Academic &amp; Teaching Dental Institutions' Company A's strongest end-market while scaling the next-best applications.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Convert its ~18% win rate and +6% ASP premium into share gains through value-based selling.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Raise SAM penetration beyond 'Rest of the World' (~74%) into lower-penetration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Sustain a 1.00 book-to-bill with disciplined capacity and channel investment.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Protect margin through corridor-based pricing and cost discipline as input prices move.</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the portfolio around 'Flexible Partial Dentures' and adjacent high-value lines to lift blended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Deepen presence in 'North America' (largest SOM region) and build out under-served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 in R&amp;D, certification and selective M&amp;A to move up the price ladder and widen the moat.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and secure supply to de-risk concentration and input-cost shocks.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Sharpen go-to-market a ~95-day sales cycle and ~30% conversion speed share capture.</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B: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951.9</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SOM (US$ MN)</a:t>
            </a:r>
          </a:p>
          <a:p>
            <a:pPr algn="ctr">
              <a:lnSpc>
                <a:spcPct val="95000"/>
              </a:lnSpc>
            </a:pPr>
            <a:r>
              <a:rPr sz="1500" b="1">
                <a:solidFill>
                  <a:srgbClr val="0E72AE"/>
                </a:solidFill>
                <a:latin typeface="Calibri"/>
              </a:rPr>
              <a:t>248.6</a:t>
            </a:r>
          </a:p>
          <a:p>
            <a:pPr algn="ctr">
              <a:lnSpc>
                <a:spcPct val="95000"/>
              </a:lnSpc>
            </a:pPr>
            <a:r>
              <a:rPr sz="1100" b="0">
                <a:solidFill>
                  <a:srgbClr val="6C7A89"/>
                </a:solidFill>
                <a:latin typeface="Calibri"/>
              </a:rPr>
              <a:t>26% of SAM</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1.04</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14%</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Market Position: Company B captures ~26% of a US$ Mn SAM, with its strongest end-market in 'Academic &amp; Teaching Dental Institutions'.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Geographic Balance: 'Rest of the World' is the largest SOM region; 'Rest of the World' shows the highest SAM penetration (~92%).</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Growth Trajectory: a 1.04 book-to-bill and ~14% EBITDA margin point to a path to capture more of the addressable market.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Competitive Edge: ~21% win rate with a +5% ASP premium and 2.7x pipeline coverage.</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B: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915438"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B</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TAM  ·  100%  ·  1,731 US$ Mn</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SAM  ·  55% of TAM  ·  951.9 US$ Mn</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SOM  ·  26% of SAM  ·  248.6 US$ Mn</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Regional Opportunity: 'Rest of the World' shows the highest SAM penetration; lower-penetration regions are the growth headroom.</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Competitive Edge: ~21% win rate with a +5% ASP premium signals value recognition; 2.7x pipeline coverage underpins growth.</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Sales Efficiency: a ~90-day sales cycle and ~34% conversion support faster share capture.</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B: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B: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~21% win rate with a +5% ASP premium clear value recognition.</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1.04 book-to-bill and ~14% EBITDA signal healthy momentum.</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~14.4% share leaves a scale gap versus the market leader.</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Intense competition ~2.7x pipeline needed to convert.</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B's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B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Financial Performance</a:t>
            </a:r>
          </a:p>
        </p:txBody>
      </p:sp>
      <p:graphicFrame>
        <p:nvGraphicFramePr>
          <p:cNvPr id="13" name="Table 12"/>
          <p:cNvGraphicFramePr>
            <a:graphicFrameLocks noGrp="1"/>
          </p:cNvGraphicFramePr>
          <p:nvPr/>
        </p:nvGraphicFramePr>
        <p:xfrm>
          <a:off x="152400" y="1611256"/>
          <a:ext cx="5886449" cy="1449913"/>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15265">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308662">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874.8</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5F8FA"/>
                    </a:solidFill>
                  </a:tcPr>
                </a:tc>
              </a:tr>
              <a:tr h="308662">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Key Ratios</a:t>
            </a:r>
          </a:p>
        </p:txBody>
      </p:sp>
      <p:graphicFrame>
        <p:nvGraphicFramePr>
          <p:cNvPr id="17" name="Table 16"/>
          <p:cNvGraphicFramePr>
            <a:graphicFrameLocks noGrp="1"/>
          </p:cNvGraphicFramePr>
          <p:nvPr/>
        </p:nvGraphicFramePr>
        <p:xfrm>
          <a:off x="152400" y="3655670"/>
          <a:ext cx="5886450" cy="2727670"/>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15265">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502481">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B Pricing Analysis (US$/Units)</a:t>
            </a:r>
          </a:p>
        </p:txBody>
      </p:sp>
      <p:graphicFrame>
        <p:nvGraphicFramePr>
          <p:cNvPr id="21" name="Table 20"/>
          <p:cNvGraphicFramePr>
            <a:graphicFrameLocks noGrp="1"/>
          </p:cNvGraphicFramePr>
          <p:nvPr/>
        </p:nvGraphicFramePr>
        <p:xfrm>
          <a:off x="6210300" y="1611256"/>
          <a:ext cx="5829301" cy="4772085"/>
        </p:xfrm>
        <a:graphic>
          <a:graphicData uri="http://schemas.openxmlformats.org/drawingml/2006/table">
            <a:tbl>
              <a:tblPr>
                <a:tableStyleId>{5C22544A-7EE6-4342-B048-85BDC9FD1C3A}</a:tableStyleId>
              </a:tblPr>
              <a:tblGrid>
                <a:gridCol w="4241547"/>
                <a:gridCol w="793877"/>
                <a:gridCol w="79387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113920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r>
              <a:tr h="113920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B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B's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B: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14.4%</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21%</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+5%</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1.04</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14%</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and extend leadership in 'Academic &amp; Teaching Dental Institutions' Company B's strongest end-market while scaling the next-best applications.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Convert its ~21% win rate and +5% ASP premium into share gains through value-based selling.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Raise SAM penetration beyond 'Rest of the World' (~92%) into lower-penetration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Sustain a 1.04 book-to-bill with disciplined capacity and channel investment.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Protect margin through corridor-based pricing and cost discipline as input prices move.</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the portfolio around 'Flexible Partial Dentures' and adjacent high-value lines to lift blended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Deepen presence in 'Rest of the World' (largest SOM region) and build out under-served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 in R&amp;D, certification and selective M&amp;A to move up the price ladder and widen the moat.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and secure supply to de-risk concentration and input-cost shocks.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Sharpen go-to-market a ~90-day sales cycle and ~34% conversion speed share capture.</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Company C: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1,004</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SOM (US$ MN)</a:t>
            </a:r>
          </a:p>
          <a:p>
            <a:pPr algn="ctr">
              <a:lnSpc>
                <a:spcPct val="95000"/>
              </a:lnSpc>
            </a:pPr>
            <a:r>
              <a:rPr sz="1500" b="1">
                <a:solidFill>
                  <a:srgbClr val="0E72AE"/>
                </a:solidFill>
                <a:latin typeface="Calibri"/>
              </a:rPr>
              <a:t>171.5</a:t>
            </a:r>
          </a:p>
          <a:p>
            <a:pPr algn="ctr">
              <a:lnSpc>
                <a:spcPct val="95000"/>
              </a:lnSpc>
            </a:pPr>
            <a:r>
              <a:rPr sz="1100" b="0">
                <a:solidFill>
                  <a:srgbClr val="6C7A89"/>
                </a:solidFill>
                <a:latin typeface="Calibri"/>
              </a:rPr>
              <a:t>17% of SAM</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1.08</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15%</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Market Position: Company C captures ~17% of a US$ Mn SAM, with its strongest end-market in 'Academic &amp; Teaching Dental Institutions'.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Geographic Balance: 'Rest of the World' is the largest SOM region; 'Rest of the World' shows the highest SAM penetration (~53%).</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Growth Trajectory: a 1.08 book-to-bill and ~15% EBITDA margin point to a path to capture more of the addressable market.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Competitive Edge: ~24% win rate with a +4% ASP premium and 2.5x pipeline coverage.</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Company C: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85839"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Company C</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TAM  ·  100%  ·  1,731 US$ Mn</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SAM  ·  58% of TAM  ·  1,004 US$ Mn</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SOM  ·  17% of SAM  ·  171.5 US$ Mn</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Regional Opportunity: 'Rest of the World' shows the highest SAM penetration; lower-penetration regions are the growth headroom.</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Competitive Edge: ~24% win rate with a +4% ASP premium signals value recognition; 2.5x pipeline coverage underpins growth.</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Sales Efficiency: a ~85-day sales cycle and ~38% conversion support faster share capture.</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Company C: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Company C: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~24% win rate with a +4% ASP premium clear value recognition.</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1.08 book-to-bill and ~15% EBITDA signal healthy momentum.</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~9.9% share leaves a scale gap versus the market leader.</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Intense competition ~2.5x pipeline needed to convert.</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C's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Company C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Financial Performance</a:t>
            </a:r>
          </a:p>
        </p:txBody>
      </p:sp>
      <p:graphicFrame>
        <p:nvGraphicFramePr>
          <p:cNvPr id="13" name="Table 12"/>
          <p:cNvGraphicFramePr>
            <a:graphicFrameLocks noGrp="1"/>
          </p:cNvGraphicFramePr>
          <p:nvPr/>
        </p:nvGraphicFramePr>
        <p:xfrm>
          <a:off x="152400" y="1611256"/>
          <a:ext cx="5886449" cy="1449913"/>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15265">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308662">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682.1</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5F8FA"/>
                    </a:solidFill>
                  </a:tcPr>
                </a:tc>
              </a:tr>
              <a:tr h="308662">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r>
              <a:tr h="308662">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Key Ratios</a:t>
            </a:r>
          </a:p>
        </p:txBody>
      </p:sp>
      <p:graphicFrame>
        <p:nvGraphicFramePr>
          <p:cNvPr id="17" name="Table 16"/>
          <p:cNvGraphicFramePr>
            <a:graphicFrameLocks noGrp="1"/>
          </p:cNvGraphicFramePr>
          <p:nvPr/>
        </p:nvGraphicFramePr>
        <p:xfrm>
          <a:off x="152400" y="3655670"/>
          <a:ext cx="5886450" cy="2727670"/>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15265">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502481">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r>
              <a:tr h="502481">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r>
              <a:tr h="502481">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Company C Pricing Analysis (US$/Units)</a:t>
            </a:r>
          </a:p>
        </p:txBody>
      </p:sp>
      <p:graphicFrame>
        <p:nvGraphicFramePr>
          <p:cNvPr id="21" name="Table 20"/>
          <p:cNvGraphicFramePr>
            <a:graphicFrameLocks noGrp="1"/>
          </p:cNvGraphicFramePr>
          <p:nvPr/>
        </p:nvGraphicFramePr>
        <p:xfrm>
          <a:off x="6210300" y="1611256"/>
          <a:ext cx="5829301" cy="4772085"/>
        </p:xfrm>
        <a:graphic>
          <a:graphicData uri="http://schemas.openxmlformats.org/drawingml/2006/table">
            <a:tbl>
              <a:tblPr>
                <a:tableStyleId>{5C22544A-7EE6-4342-B048-85BDC9FD1C3A}</a:tableStyleId>
              </a:tblPr>
              <a:tblGrid>
                <a:gridCol w="4241547"/>
                <a:gridCol w="793877"/>
                <a:gridCol w="79387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r>
              <a:tr h="1139205">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r>
              <a:tr h="1139205">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r>
              <a:tr h="1139205">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Company C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C's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Company C: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9.9%</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24%</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+4%</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1.08</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15%</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and extend leadership in 'Academic &amp; Teaching Dental Institutions' Company C's strongest end-market while scaling the next-best applications.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Convert its ~24% win rate and +4% ASP premium into share gains through value-based selling.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Raise SAM penetration beyond 'Rest of the World' (~53%) into lower-penetration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Sustain a 1.08 book-to-bill with disciplined capacity and channel investment.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Protect margin through corridor-based pricing and cost discipline as input prices move.</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Premiumise the portfolio around 'Flexible Partial Dentures' and adjacent high-value lines to lift blended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Deepen presence in 'Rest of the World' (largest SOM region) and build out under-served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Invest in R&amp;D, certification and selective M&amp;A to move up the price ladder and widen the moat.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Diversify the customer base and secure supply to de-risk concentration and input-cost shocks.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Sharpen go-to-market a ~85-day sales cycle and ~38% conversion speed share capture.</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1">
                          <a:solidFill>
                            <a:srgbClr val="000000"/>
                          </a:solidFill>
                          <a:latin typeface="Calibri"/>
                        </a:rPr>
                        <a:t>1.1.1.1.</a:t>
                      </a:r>
                      <a:r>
                        <a:rPr sz="700" b="0" i="1">
                          <a:solidFill>
                            <a:srgbClr val="000000"/>
                          </a:solidFill>
                          <a:latin typeface="Times New Roman"/>
                        </a:rPr>
                        <a:t>    </a:t>
                      </a:r>
                      <a:r>
                        <a:rPr sz="1100" b="0" i="1">
                          <a:solidFill>
                            <a:srgbClr val="000000"/>
                          </a:solidFill>
                          <a:latin typeface="Calibri"/>
                        </a:rPr>
                        <a:t>Key Supply Trends</a:t>
                      </a:r>
                      <a:endParaRPr sz="1100"/>
                    </a:p>
                  </a:txBody>
                  <a:tcPr marL="10287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0" i="1">
                          <a:solidFill>
                            <a:srgbClr val="000000"/>
                          </a:solidFill>
                          <a:latin typeface="Calibri"/>
                        </a:rPr>
                        <a:t>2.2.1.1.</a:t>
                      </a:r>
                      <a:r>
                        <a:rPr sz="700" b="0" i="1">
                          <a:solidFill>
                            <a:srgbClr val="000000"/>
                          </a:solidFill>
                          <a:latin typeface="Times New Roman"/>
                        </a:rPr>
                        <a:t>    </a:t>
                      </a:r>
                      <a:r>
                        <a:rPr sz="1100" b="0" i="1">
                          <a:solidFill>
                            <a:srgbClr val="000000"/>
                          </a:solidFill>
                          <a:latin typeface="Calibri"/>
                        </a:rPr>
                        <a:t>Global Market Size (Value &amp; Volume) 2021–2036</a:t>
                      </a:r>
                      <a:endParaRPr sz="1100"/>
                    </a:p>
                  </a:txBody>
                  <a:tcPr marL="1028700"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Flat Polybags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Standard Flat Bags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Lay Flat Tubing</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Flat Poly Sleeves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Gusseted Polybags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Side Gusset Bags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Bottom Gusset Bags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Quad Seal Bags</a:t>
                      </a:r>
                      <a:endParaRPr sz="1100"/>
                    </a:p>
                  </a:txBody>
                  <a:tcPr marL="1028700"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Resealable Polybags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3.5.3.1.</a:t>
                      </a:r>
                      <a:r>
                        <a:rPr sz="700" b="0" i="1">
                          <a:solidFill>
                            <a:srgbClr val="000000"/>
                          </a:solidFill>
                          <a:latin typeface="Times New Roman"/>
                        </a:rPr>
                        <a:t>    </a:t>
                      </a:r>
                      <a:r>
                        <a:rPr sz="1100" b="0" i="1">
                          <a:solidFill>
                            <a:srgbClr val="000000"/>
                          </a:solidFill>
                          <a:latin typeface="Calibri"/>
                        </a:rPr>
                        <a:t>Zip Lock Bags</a:t>
                      </a:r>
                      <a:endParaRPr sz="1100"/>
                    </a:p>
                  </a:txBody>
                  <a:tcPr marL="1028700" marR="9525" marT="9525" marB="0" anchor="ctr"/>
                </a:tc>
              </a:tr>
              <a:tr h="175260">
                <a:tc>
                  <a:txBody>
                    <a:bodyPr wrap="square"/>
                    <a:lstStyle/>
                    <a:p>
                      <a:pPr algn="l"/>
                      <a:r>
                        <a:rPr sz="1100" b="0" i="1">
                          <a:solidFill>
                            <a:srgbClr val="000000"/>
                          </a:solidFill>
                          <a:latin typeface="Calibri"/>
                        </a:rPr>
                        <a:t>3.5.3.2.</a:t>
                      </a:r>
                      <a:r>
                        <a:rPr sz="700" b="0" i="1">
                          <a:solidFill>
                            <a:srgbClr val="000000"/>
                          </a:solidFill>
                          <a:latin typeface="Times New Roman"/>
                        </a:rPr>
                        <a:t>    </a:t>
                      </a:r>
                      <a:r>
                        <a:rPr sz="1100" b="0" i="1">
                          <a:solidFill>
                            <a:srgbClr val="000000"/>
                          </a:solidFill>
                          <a:latin typeface="Calibri"/>
                        </a:rPr>
                        <a:t>Slider Zip Bags</a:t>
                      </a:r>
                      <a:endParaRPr sz="1100"/>
                    </a:p>
                  </a:txBody>
                  <a:tcPr marL="1028700" marR="9525" marT="9525" marB="0" anchor="ctr"/>
                </a:tc>
              </a:tr>
              <a:tr h="175260">
                <a:tc>
                  <a:txBody>
                    <a:bodyPr wrap="square"/>
                    <a:lstStyle/>
                    <a:p>
                      <a:pPr algn="l"/>
                      <a:r>
                        <a:rPr sz="1100" b="0" i="1">
                          <a:solidFill>
                            <a:srgbClr val="000000"/>
                          </a:solidFill>
                          <a:latin typeface="Calibri"/>
                        </a:rPr>
                        <a:t>3.5.3.3.</a:t>
                      </a:r>
                      <a:r>
                        <a:rPr sz="700" b="0" i="1">
                          <a:solidFill>
                            <a:srgbClr val="000000"/>
                          </a:solidFill>
                          <a:latin typeface="Times New Roman"/>
                        </a:rPr>
                        <a:t>    </a:t>
                      </a:r>
                      <a:r>
                        <a:rPr sz="1100" b="0" i="1">
                          <a:solidFill>
                            <a:srgbClr val="000000"/>
                          </a:solidFill>
                          <a:latin typeface="Calibri"/>
                        </a:rPr>
                        <a:t>Press-to-Close Bags</a:t>
                      </a:r>
                      <a:endParaRPr sz="1100"/>
                    </a:p>
                  </a:txBody>
                  <a:tcPr marL="1028700" marR="9525" marT="9525" marB="0" anchor="ctr"/>
                </a:tc>
              </a:tr>
              <a:tr h="175260">
                <a:tc>
                  <a:txBody>
                    <a:bodyPr wrap="square"/>
                    <a:lstStyle/>
                    <a:p>
                      <a:pPr algn="l"/>
                      <a:r>
                        <a:rPr sz="1100" b="0" i="1">
                          <a:solidFill>
                            <a:srgbClr val="000000"/>
                          </a:solidFill>
                          <a:latin typeface="Calibri"/>
                        </a:rPr>
                        <a:t>3.5.3.4.</a:t>
                      </a:r>
                      <a:r>
                        <a:rPr sz="700" b="0" i="1">
                          <a:solidFill>
                            <a:srgbClr val="000000"/>
                          </a:solidFill>
                          <a:latin typeface="Times New Roman"/>
                        </a:rPr>
                        <a:t>    </a:t>
                      </a:r>
                      <a:r>
                        <a:rPr sz="1100" b="0" i="1">
                          <a:solidFill>
                            <a:srgbClr val="000000"/>
                          </a:solidFill>
                          <a:latin typeface="Calibri"/>
                        </a:rPr>
                        <a:t>Double Zip Bags</a:t>
                      </a:r>
                      <a:endParaRPr sz="1100"/>
                    </a:p>
                  </a:txBody>
                  <a:tcPr marL="1028700" marR="9525" marT="9525" marB="0" anchor="ctr"/>
                </a:tc>
              </a:tr>
              <a:tr h="175260">
                <a:tc>
                  <a:txBody>
                    <a:bodyPr wrap="square"/>
                    <a:lstStyle/>
                    <a:p>
                      <a:pPr algn="l"/>
                      <a:r>
                        <a:rPr sz="1100" b="0" i="0">
                          <a:solidFill>
                            <a:srgbClr val="000000"/>
                          </a:solidFill>
                          <a:latin typeface="Calibri"/>
                        </a:rPr>
                        <a:t>3.5.4.</a:t>
                      </a:r>
                      <a:r>
                        <a:rPr sz="700" b="0" i="0">
                          <a:solidFill>
                            <a:srgbClr val="000000"/>
                          </a:solidFill>
                          <a:latin typeface="Times New Roman"/>
                        </a:rPr>
                        <a:t>   </a:t>
                      </a:r>
                      <a:r>
                        <a:rPr sz="1100" b="0" i="0">
                          <a:solidFill>
                            <a:srgbClr val="000000"/>
                          </a:solidFill>
                          <a:latin typeface="Calibri"/>
                        </a:rPr>
                        <a:t>Industrial Polybags</a:t>
                      </a:r>
                      <a:endParaRPr sz="1100"/>
                    </a:p>
                  </a:txBody>
                  <a:tcPr marL="771525" marR="9525" marT="9525" marB="0" anchor="ctr"/>
                </a:tc>
              </a:tr>
              <a:tr h="175260">
                <a:tc>
                  <a:txBody>
                    <a:bodyPr wrap="square"/>
                    <a:lstStyle/>
                    <a:p>
                      <a:pPr algn="l"/>
                      <a:r>
                        <a:rPr sz="1100" b="0" i="1">
                          <a:solidFill>
                            <a:srgbClr val="000000"/>
                          </a:solidFill>
                          <a:latin typeface="Calibri"/>
                        </a:rPr>
                        <a:t>3.5.4.1.</a:t>
                      </a:r>
                      <a:r>
                        <a:rPr sz="700" b="0" i="1">
                          <a:solidFill>
                            <a:srgbClr val="000000"/>
                          </a:solidFill>
                          <a:latin typeface="Times New Roman"/>
                        </a:rPr>
                        <a:t>    </a:t>
                      </a:r>
                      <a:r>
                        <a:rPr sz="1100" b="0" i="1">
                          <a:solidFill>
                            <a:srgbClr val="000000"/>
                          </a:solidFill>
                          <a:latin typeface="Calibri"/>
                        </a:rPr>
                        <a:t>Heavy-Duty Bags</a:t>
                      </a:r>
                      <a:endParaRPr sz="1100"/>
                    </a:p>
                  </a:txBody>
                  <a:tcPr marL="1028700" marR="9525" marT="9525" marB="0" anchor="ctr"/>
                </a:tc>
              </a:tr>
              <a:tr h="175260">
                <a:tc>
                  <a:txBody>
                    <a:bodyPr wrap="square"/>
                    <a:lstStyle/>
                    <a:p>
                      <a:pPr algn="l"/>
                      <a:r>
                        <a:rPr sz="1100" b="0" i="1">
                          <a:solidFill>
                            <a:srgbClr val="000000"/>
                          </a:solidFill>
                          <a:latin typeface="Calibri"/>
                        </a:rPr>
                        <a:t>3.5.4.2.</a:t>
                      </a:r>
                      <a:r>
                        <a:rPr sz="700" b="0" i="1">
                          <a:solidFill>
                            <a:srgbClr val="000000"/>
                          </a:solidFill>
                          <a:latin typeface="Times New Roman"/>
                        </a:rPr>
                        <a:t>    </a:t>
                      </a:r>
                      <a:r>
                        <a:rPr sz="1100" b="0" i="1">
                          <a:solidFill>
                            <a:srgbClr val="000000"/>
                          </a:solidFill>
                          <a:latin typeface="Calibri"/>
                        </a:rPr>
                        <a:t>FIBC Liners</a:t>
                      </a:r>
                      <a:endParaRPr sz="1100"/>
                    </a:p>
                  </a:txBody>
                  <a:tcPr marL="1028700" marR="9525" marT="9525" marB="0" anchor="ctr"/>
                </a:tc>
              </a:tr>
              <a:tr h="175260">
                <a:tc>
                  <a:txBody>
                    <a:bodyPr wrap="square"/>
                    <a:lstStyle/>
                    <a:p>
                      <a:pPr algn="l"/>
                      <a:r>
                        <a:rPr sz="1100" b="0" i="1">
                          <a:solidFill>
                            <a:srgbClr val="000000"/>
                          </a:solidFill>
                          <a:latin typeface="Calibri"/>
                        </a:rPr>
                        <a:t>3.5.4.3.</a:t>
                      </a:r>
                      <a:r>
                        <a:rPr sz="700" b="0" i="1">
                          <a:solidFill>
                            <a:srgbClr val="000000"/>
                          </a:solidFill>
                          <a:latin typeface="Times New Roman"/>
                        </a:rPr>
                        <a:t>    </a:t>
                      </a:r>
                      <a:r>
                        <a:rPr sz="1100" b="0" i="1">
                          <a:solidFill>
                            <a:srgbClr val="000000"/>
                          </a:solidFill>
                          <a:latin typeface="Calibri"/>
                        </a:rPr>
                        <a:t>Machinery Parts Bags</a:t>
                      </a:r>
                      <a:endParaRPr sz="1100"/>
                    </a:p>
                  </a:txBody>
                  <a:tcPr marL="1028700" marR="9525" marT="9525" marB="0" anchor="ctr"/>
                </a:tc>
              </a:tr>
              <a:tr h="175260">
                <a:tc>
                  <a:txBody>
                    <a:bodyPr wrap="square"/>
                    <a:lstStyle/>
                    <a:p>
                      <a:pPr algn="l"/>
                      <a:r>
                        <a:rPr sz="1100" b="0" i="1">
                          <a:solidFill>
                            <a:srgbClr val="000000"/>
                          </a:solidFill>
                          <a:latin typeface="Calibri"/>
                        </a:rPr>
                        <a:t>3.5.4.4.</a:t>
                      </a:r>
                      <a:r>
                        <a:rPr sz="700" b="0" i="1">
                          <a:solidFill>
                            <a:srgbClr val="000000"/>
                          </a:solidFill>
                          <a:latin typeface="Times New Roman"/>
                        </a:rPr>
                        <a:t>    </a:t>
                      </a:r>
                      <a:r>
                        <a:rPr sz="1100" b="0" i="1">
                          <a:solidFill>
                            <a:srgbClr val="000000"/>
                          </a:solidFill>
                          <a:latin typeface="Calibri"/>
                        </a:rPr>
                        <a:t>Chemical Packaging Bags</a:t>
                      </a:r>
                      <a:endParaRPr sz="1100"/>
                    </a:p>
                  </a:txBody>
                  <a:tcPr marL="1028700" marR="9525" marT="9525" marB="0" anchor="ctr"/>
                </a:tc>
              </a:tr>
              <a:tr h="175260">
                <a:tc>
                  <a:txBody>
                    <a:bodyPr wrap="square"/>
                    <a:lstStyle/>
                    <a:p>
                      <a:pPr algn="l"/>
                      <a:r>
                        <a:rPr sz="1100" b="0" i="0">
                          <a:solidFill>
                            <a:srgbClr val="000000"/>
                          </a:solidFill>
                          <a:latin typeface="Calibri"/>
                        </a:rPr>
                        <a:t>3.5.5.</a:t>
                      </a:r>
                      <a:r>
                        <a:rPr sz="700" b="0" i="0">
                          <a:solidFill>
                            <a:srgbClr val="000000"/>
                          </a:solidFill>
                          <a:latin typeface="Times New Roman"/>
                        </a:rPr>
                        <a:t>   </a:t>
                      </a:r>
                      <a:r>
                        <a:rPr sz="1100" b="0" i="0">
                          <a:solidFill>
                            <a:srgbClr val="000000"/>
                          </a:solidFill>
                          <a:latin typeface="Calibri"/>
                        </a:rPr>
                        <a:t>Protective Polybags</a:t>
                      </a:r>
                      <a:endParaRPr sz="1100"/>
                    </a:p>
                  </a:txBody>
                  <a:tcPr marL="771525" marR="9525" marT="9525" marB="0" anchor="ctr"/>
                </a:tc>
              </a:tr>
              <a:tr h="175260">
                <a:tc>
                  <a:txBody>
                    <a:bodyPr wrap="square"/>
                    <a:lstStyle/>
                    <a:p>
                      <a:pPr algn="l"/>
                      <a:r>
                        <a:rPr sz="1100" b="0" i="1">
                          <a:solidFill>
                            <a:srgbClr val="000000"/>
                          </a:solidFill>
                          <a:latin typeface="Calibri"/>
                        </a:rPr>
                        <a:t>3.5.5.1.</a:t>
                      </a:r>
                      <a:r>
                        <a:rPr sz="700" b="0" i="1">
                          <a:solidFill>
                            <a:srgbClr val="000000"/>
                          </a:solidFill>
                          <a:latin typeface="Times New Roman"/>
                        </a:rPr>
                        <a:t>    </a:t>
                      </a:r>
                      <a:r>
                        <a:rPr sz="1100" b="0" i="1">
                          <a:solidFill>
                            <a:srgbClr val="000000"/>
                          </a:solidFill>
                          <a:latin typeface="Calibri"/>
                        </a:rPr>
                        <a:t>Bubble Poly Mailers</a:t>
                      </a:r>
                      <a:endParaRPr sz="1100"/>
                    </a:p>
                  </a:txBody>
                  <a:tcPr marL="1028700" marR="9525" marT="9525" marB="0" anchor="ctr"/>
                </a:tc>
              </a:tr>
              <a:tr h="175260">
                <a:tc>
                  <a:txBody>
                    <a:bodyPr wrap="square"/>
                    <a:lstStyle/>
                    <a:p>
                      <a:pPr algn="l"/>
                      <a:r>
                        <a:rPr sz="1100" b="0" i="1">
                          <a:solidFill>
                            <a:srgbClr val="000000"/>
                          </a:solidFill>
                          <a:latin typeface="Calibri"/>
                        </a:rPr>
                        <a:t>3.5.5.2.</a:t>
                      </a:r>
                      <a:r>
                        <a:rPr sz="700" b="0" i="1">
                          <a:solidFill>
                            <a:srgbClr val="000000"/>
                          </a:solidFill>
                          <a:latin typeface="Times New Roman"/>
                        </a:rPr>
                        <a:t>    </a:t>
                      </a:r>
                      <a:r>
                        <a:rPr sz="1100" b="0" i="1">
                          <a:solidFill>
                            <a:srgbClr val="000000"/>
                          </a:solidFill>
                          <a:latin typeface="Calibri"/>
                        </a:rPr>
                        <a:t>Anti-Static (ESD) Bags</a:t>
                      </a:r>
                      <a:endParaRPr sz="1100"/>
                    </a:p>
                  </a:txBody>
                  <a:tcPr marL="1028700" marR="9525" marT="9525" marB="0" anchor="ctr"/>
                </a:tc>
              </a:tr>
              <a:tr h="175260">
                <a:tc>
                  <a:txBody>
                    <a:bodyPr wrap="square"/>
                    <a:lstStyle/>
                    <a:p>
                      <a:pPr algn="l"/>
                      <a:r>
                        <a:rPr sz="1100" b="0" i="1">
                          <a:solidFill>
                            <a:srgbClr val="000000"/>
                          </a:solidFill>
                          <a:latin typeface="Calibri"/>
                        </a:rPr>
                        <a:t>3.5.5.3.</a:t>
                      </a:r>
                      <a:r>
                        <a:rPr sz="700" b="0" i="1">
                          <a:solidFill>
                            <a:srgbClr val="000000"/>
                          </a:solidFill>
                          <a:latin typeface="Times New Roman"/>
                        </a:rPr>
                        <a:t>    </a:t>
                      </a:r>
                      <a:r>
                        <a:rPr sz="1100" b="0" i="1">
                          <a:solidFill>
                            <a:srgbClr val="000000"/>
                          </a:solidFill>
                          <a:latin typeface="Calibri"/>
                        </a:rPr>
                        <a:t>Vacuum Bags</a:t>
                      </a:r>
                      <a:endParaRPr sz="1100"/>
                    </a:p>
                  </a:txBody>
                  <a:tcPr marL="1028700" marR="9525" marT="9525" marB="0" anchor="ctr"/>
                </a:tc>
              </a:tr>
              <a:tr h="175260">
                <a:tc>
                  <a:txBody>
                    <a:bodyPr wrap="square"/>
                    <a:lstStyle/>
                    <a:p>
                      <a:pPr algn="l"/>
                      <a:r>
                        <a:rPr sz="1100" b="0" i="1">
                          <a:solidFill>
                            <a:srgbClr val="000000"/>
                          </a:solidFill>
                          <a:latin typeface="Calibri"/>
                        </a:rPr>
                        <a:t>3.5.5.4.</a:t>
                      </a:r>
                      <a:r>
                        <a:rPr sz="700" b="0" i="1">
                          <a:solidFill>
                            <a:srgbClr val="000000"/>
                          </a:solidFill>
                          <a:latin typeface="Times New Roman"/>
                        </a:rPr>
                        <a:t>    </a:t>
                      </a:r>
                      <a:r>
                        <a:rPr sz="1100" b="0" i="1">
                          <a:solidFill>
                            <a:srgbClr val="000000"/>
                          </a:solidFill>
                          <a:latin typeface="Calibri"/>
                        </a:rPr>
                        <a:t>Cushion Packaging Bags</a:t>
                      </a:r>
                      <a:endParaRPr sz="1100"/>
                    </a:p>
                  </a:txBody>
                  <a:tcPr marL="1028700" marR="9525" marT="9525" marB="0" anchor="ctr"/>
                </a:tc>
              </a:tr>
              <a:tr h="175260">
                <a:tc>
                  <a:txBody>
                    <a:bodyPr wrap="square"/>
                    <a:lstStyle/>
                    <a:p>
                      <a:pPr algn="l"/>
                      <a:r>
                        <a:rPr sz="1100" b="0" i="0">
                          <a:solidFill>
                            <a:srgbClr val="000000"/>
                          </a:solidFill>
                          <a:latin typeface="Calibri"/>
                        </a:rPr>
                        <a:t>3.5.6.</a:t>
                      </a:r>
                      <a:r>
                        <a:rPr sz="700" b="0" i="0">
                          <a:solidFill>
                            <a:srgbClr val="000000"/>
                          </a:solidFill>
                          <a:latin typeface="Times New Roman"/>
                        </a:rPr>
                        <a:t>   </a:t>
                      </a:r>
                      <a:r>
                        <a:rPr sz="1100" b="0" i="0">
                          <a:solidFill>
                            <a:srgbClr val="000000"/>
                          </a:solidFill>
                          <a:latin typeface="Calibri"/>
                        </a:rPr>
                        <a:t>Retail &amp; Merchandise Bags</a:t>
                      </a:r>
                      <a:endParaRPr sz="1100"/>
                    </a:p>
                  </a:txBody>
                  <a:tcPr marL="771525" marR="9525" marT="9525" marB="0" anchor="ctr"/>
                </a:tc>
              </a:tr>
              <a:tr h="175260">
                <a:tc>
                  <a:txBody>
                    <a:bodyPr wrap="square"/>
                    <a:lstStyle/>
                    <a:p>
                      <a:pPr algn="l"/>
                      <a:r>
                        <a:rPr sz="1100" b="0" i="1">
                          <a:solidFill>
                            <a:srgbClr val="000000"/>
                          </a:solidFill>
                          <a:latin typeface="Calibri"/>
                        </a:rPr>
                        <a:t>3.5.6.1.</a:t>
                      </a:r>
                      <a:r>
                        <a:rPr sz="700" b="0" i="1">
                          <a:solidFill>
                            <a:srgbClr val="000000"/>
                          </a:solidFill>
                          <a:latin typeface="Times New Roman"/>
                        </a:rPr>
                        <a:t>    </a:t>
                      </a:r>
                      <a:r>
                        <a:rPr sz="1100" b="0" i="1">
                          <a:solidFill>
                            <a:srgbClr val="000000"/>
                          </a:solidFill>
                          <a:latin typeface="Calibri"/>
                        </a:rPr>
                        <a:t>T-Shirt Bags</a:t>
                      </a:r>
                      <a:endParaRPr sz="1100"/>
                    </a:p>
                  </a:txBody>
                  <a:tcPr marL="1028700" marR="9525" marT="9525" marB="0" anchor="ctr"/>
                </a:tc>
              </a:tr>
              <a:tr h="175260">
                <a:tc>
                  <a:txBody>
                    <a:bodyPr wrap="square"/>
                    <a:lstStyle/>
                    <a:p>
                      <a:pPr algn="l"/>
                      <a:r>
                        <a:rPr sz="1100" b="0" i="1">
                          <a:solidFill>
                            <a:srgbClr val="000000"/>
                          </a:solidFill>
                          <a:latin typeface="Calibri"/>
                        </a:rPr>
                        <a:t>3.5.6.2.</a:t>
                      </a:r>
                      <a:r>
                        <a:rPr sz="700" b="0" i="1">
                          <a:solidFill>
                            <a:srgbClr val="000000"/>
                          </a:solidFill>
                          <a:latin typeface="Times New Roman"/>
                        </a:rPr>
                        <a:t>    </a:t>
                      </a:r>
                      <a:r>
                        <a:rPr sz="1100" b="0" i="1">
                          <a:solidFill>
                            <a:srgbClr val="000000"/>
                          </a:solidFill>
                          <a:latin typeface="Calibri"/>
                        </a:rPr>
                        <a:t>Merchandise Bags</a:t>
                      </a:r>
                      <a:endParaRPr sz="1100"/>
                    </a:p>
                  </a:txBody>
                  <a:tcPr marL="1028700" marR="9525" marT="9525" marB="0" anchor="ctr"/>
                </a:tc>
              </a:tr>
              <a:tr h="175260">
                <a:tc>
                  <a:txBody>
                    <a:bodyPr wrap="square"/>
                    <a:lstStyle/>
                    <a:p>
                      <a:pPr algn="l"/>
                      <a:r>
                        <a:rPr sz="1100" b="0" i="1">
                          <a:solidFill>
                            <a:srgbClr val="000000"/>
                          </a:solidFill>
                          <a:latin typeface="Calibri"/>
                        </a:rPr>
                        <a:t>3.5.6.3.</a:t>
                      </a:r>
                      <a:r>
                        <a:rPr sz="700" b="0" i="1">
                          <a:solidFill>
                            <a:srgbClr val="000000"/>
                          </a:solidFill>
                          <a:latin typeface="Times New Roman"/>
                        </a:rPr>
                        <a:t>    </a:t>
                      </a:r>
                      <a:r>
                        <a:rPr sz="1100" b="0" i="1">
                          <a:solidFill>
                            <a:srgbClr val="000000"/>
                          </a:solidFill>
                          <a:latin typeface="Calibri"/>
                        </a:rPr>
                        <a:t>Die-Cut Handle Bags</a:t>
                      </a:r>
                      <a:endParaRPr sz="1100"/>
                    </a:p>
                  </a:txBody>
                  <a:tcPr marL="1028700" marR="9525" marT="9525" marB="0" anchor="ctr"/>
                </a:tc>
              </a:tr>
              <a:tr h="175260">
                <a:tc>
                  <a:txBody>
                    <a:bodyPr wrap="square"/>
                    <a:lstStyle/>
                    <a:p>
                      <a:pPr algn="l"/>
                      <a:r>
                        <a:rPr sz="1100" b="0" i="1">
                          <a:solidFill>
                            <a:srgbClr val="000000"/>
                          </a:solidFill>
                          <a:latin typeface="Calibri"/>
                        </a:rPr>
                        <a:t>3.5.6.4.</a:t>
                      </a:r>
                      <a:r>
                        <a:rPr sz="700" b="0" i="1">
                          <a:solidFill>
                            <a:srgbClr val="000000"/>
                          </a:solidFill>
                          <a:latin typeface="Times New Roman"/>
                        </a:rPr>
                        <a:t>    </a:t>
                      </a:r>
                      <a:r>
                        <a:rPr sz="1100" b="0" i="1">
                          <a:solidFill>
                            <a:srgbClr val="000000"/>
                          </a:solidFill>
                          <a:latin typeface="Calibri"/>
                        </a:rPr>
                        <a:t>Patch Handle Bags</a:t>
                      </a:r>
                      <a:endParaRPr sz="1100"/>
                    </a:p>
                  </a:txBody>
                  <a:tcPr marL="1028700" marR="9525" marT="9525" marB="0" anchor="ctr"/>
                </a:tc>
              </a:tr>
              <a:tr h="175260">
                <a:tc>
                  <a:txBody>
                    <a:bodyPr wrap="square"/>
                    <a:lstStyle/>
                    <a:p>
                      <a:pPr algn="l"/>
                      <a:r>
                        <a:rPr sz="1100" b="0" i="1">
                          <a:solidFill>
                            <a:srgbClr val="000000"/>
                          </a:solidFill>
                          <a:latin typeface="Calibri"/>
                        </a:rPr>
                        <a:t>3.5.6.5.</a:t>
                      </a:r>
                      <a:r>
                        <a:rPr sz="700" b="0" i="1">
                          <a:solidFill>
                            <a:srgbClr val="000000"/>
                          </a:solidFill>
                          <a:latin typeface="Times New Roman"/>
                        </a:rPr>
                        <a:t>    </a:t>
                      </a:r>
                      <a:r>
                        <a:rPr sz="1100" b="0" i="1">
                          <a:solidFill>
                            <a:srgbClr val="000000"/>
                          </a:solidFill>
                          <a:latin typeface="Calibri"/>
                        </a:rPr>
                        <a:t>D-Cut Bags</a:t>
                      </a:r>
                      <a:endParaRPr sz="1100"/>
                    </a:p>
                  </a:txBody>
                  <a:tcPr marL="1028700" marR="9525" marT="9525" marB="0" anchor="ctr"/>
                </a:tc>
              </a:tr>
              <a:tr h="175260">
                <a:tc>
                  <a:txBody>
                    <a:bodyPr wrap="square"/>
                    <a:lstStyle/>
                    <a:p>
                      <a:pPr algn="l"/>
                      <a:r>
                        <a:rPr sz="1100" b="0" i="0">
                          <a:solidFill>
                            <a:srgbClr val="000000"/>
                          </a:solidFill>
                          <a:latin typeface="Calibri"/>
                        </a:rPr>
                        <a:t>3.5.7.</a:t>
                      </a:r>
                      <a:r>
                        <a:rPr sz="700" b="0" i="0">
                          <a:solidFill>
                            <a:srgbClr val="000000"/>
                          </a:solidFill>
                          <a:latin typeface="Times New Roman"/>
                        </a:rPr>
                        <a:t>   </a:t>
                      </a:r>
                      <a:r>
                        <a:rPr sz="1100" b="0" i="0">
                          <a:solidFill>
                            <a:srgbClr val="000000"/>
                          </a:solidFill>
                          <a:latin typeface="Calibri"/>
                        </a:rPr>
                        <a:t>E-commerce Polybags</a:t>
                      </a:r>
                      <a:endParaRPr sz="1100"/>
                    </a:p>
                  </a:txBody>
                  <a:tcPr marL="771525" marR="9525" marT="9525" marB="0" anchor="ctr"/>
                </a:tc>
              </a:tr>
              <a:tr h="175260">
                <a:tc>
                  <a:txBody>
                    <a:bodyPr wrap="square"/>
                    <a:lstStyle/>
                    <a:p>
                      <a:pPr algn="l"/>
                      <a:r>
                        <a:rPr sz="1100" b="0" i="1">
                          <a:solidFill>
                            <a:srgbClr val="000000"/>
                          </a:solidFill>
                          <a:latin typeface="Calibri"/>
                        </a:rPr>
                        <a:t>3.5.7.1.</a:t>
                      </a:r>
                      <a:r>
                        <a:rPr sz="700" b="0" i="1">
                          <a:solidFill>
                            <a:srgbClr val="000000"/>
                          </a:solidFill>
                          <a:latin typeface="Times New Roman"/>
                        </a:rPr>
                        <a:t>    </a:t>
                      </a:r>
                      <a:r>
                        <a:rPr sz="1100" b="0" i="1">
                          <a:solidFill>
                            <a:srgbClr val="000000"/>
                          </a:solidFill>
                          <a:latin typeface="Calibri"/>
                        </a:rPr>
                        <a:t>Courier Mailers</a:t>
                      </a:r>
                      <a:endParaRPr sz="1100"/>
                    </a:p>
                  </a:txBody>
                  <a:tcPr marL="1028700" marR="9525" marT="9525" marB="0" anchor="ctr"/>
                </a:tc>
              </a:tr>
              <a:tr h="175260">
                <a:tc>
                  <a:txBody>
                    <a:bodyPr wrap="square"/>
                    <a:lstStyle/>
                    <a:p>
                      <a:pPr algn="l"/>
                      <a:r>
                        <a:rPr sz="1100" b="0" i="1">
                          <a:solidFill>
                            <a:srgbClr val="000000"/>
                          </a:solidFill>
                          <a:latin typeface="Calibri"/>
                        </a:rPr>
                        <a:t>3.5.7.2.</a:t>
                      </a:r>
                      <a:r>
                        <a:rPr sz="700" b="0" i="1">
                          <a:solidFill>
                            <a:srgbClr val="000000"/>
                          </a:solidFill>
                          <a:latin typeface="Times New Roman"/>
                        </a:rPr>
                        <a:t>    </a:t>
                      </a:r>
                      <a:r>
                        <a:rPr sz="1100" b="0" i="1">
                          <a:solidFill>
                            <a:srgbClr val="000000"/>
                          </a:solidFill>
                          <a:latin typeface="Calibri"/>
                        </a:rPr>
                        <a:t>Tamper-Evident Mailers</a:t>
                      </a:r>
                      <a:endParaRPr sz="1100"/>
                    </a:p>
                  </a:txBody>
                  <a:tcPr marL="1028700" marR="9525" marT="9525" marB="0" anchor="ctr"/>
                </a:tc>
              </a:tr>
              <a:tr h="175260">
                <a:tc>
                  <a:txBody>
                    <a:bodyPr wrap="square"/>
                    <a:lstStyle/>
                    <a:p>
                      <a:pPr algn="l"/>
                      <a:r>
                        <a:rPr sz="1100" b="0" i="1">
                          <a:solidFill>
                            <a:srgbClr val="000000"/>
                          </a:solidFill>
                          <a:latin typeface="Calibri"/>
                        </a:rPr>
                        <a:t>3.5.7.3.</a:t>
                      </a:r>
                      <a:r>
                        <a:rPr sz="700" b="0" i="1">
                          <a:solidFill>
                            <a:srgbClr val="000000"/>
                          </a:solidFill>
                          <a:latin typeface="Times New Roman"/>
                        </a:rPr>
                        <a:t>    </a:t>
                      </a:r>
                      <a:r>
                        <a:rPr sz="1100" b="0" i="1">
                          <a:solidFill>
                            <a:srgbClr val="000000"/>
                          </a:solidFill>
                          <a:latin typeface="Calibri"/>
                        </a:rPr>
                        <a:t>Return Mailers</a:t>
                      </a:r>
                      <a:endParaRPr sz="1100"/>
                    </a:p>
                  </a:txBody>
                  <a:tcPr marL="1028700" marR="9525" marT="9525" marB="0" anchor="ctr"/>
                </a:tc>
              </a:tr>
              <a:tr h="175260">
                <a:tc>
                  <a:txBody>
                    <a:bodyPr wrap="square"/>
                    <a:lstStyle/>
                    <a:p>
                      <a:pPr algn="l"/>
                      <a:r>
                        <a:rPr sz="1100" b="0" i="1">
                          <a:solidFill>
                            <a:srgbClr val="000000"/>
                          </a:solidFill>
                          <a:latin typeface="Calibri"/>
                        </a:rPr>
                        <a:t>3.5.7.4.</a:t>
                      </a:r>
                      <a:r>
                        <a:rPr sz="700" b="0" i="1">
                          <a:solidFill>
                            <a:srgbClr val="000000"/>
                          </a:solidFill>
                          <a:latin typeface="Times New Roman"/>
                        </a:rPr>
                        <a:t>    </a:t>
                      </a:r>
                      <a:r>
                        <a:rPr sz="1100" b="0" i="1">
                          <a:solidFill>
                            <a:srgbClr val="000000"/>
                          </a:solidFill>
                          <a:latin typeface="Calibri"/>
                        </a:rPr>
                        <a:t>Security Mailers</a:t>
                      </a:r>
                      <a:endParaRPr sz="1100"/>
                    </a:p>
                  </a:txBody>
                  <a:tcPr marL="1028700" marR="9525" marT="9525" marB="0" anchor="ctr"/>
                </a:tc>
              </a:tr>
              <a:tr h="175260">
                <a:tc>
                  <a:txBody>
                    <a:bodyPr wrap="square"/>
                    <a:lstStyle/>
                    <a:p>
                      <a:pPr algn="l"/>
                      <a:r>
                        <a:rPr sz="1100" b="0" i="0">
                          <a:solidFill>
                            <a:srgbClr val="000000"/>
                          </a:solidFill>
                          <a:latin typeface="Calibri"/>
                        </a:rPr>
                        <a:t>3.5.8.</a:t>
                      </a:r>
                      <a:r>
                        <a:rPr sz="700" b="0" i="0">
                          <a:solidFill>
                            <a:srgbClr val="000000"/>
                          </a:solidFill>
                          <a:latin typeface="Times New Roman"/>
                        </a:rPr>
                        <a:t>   </a:t>
                      </a:r>
                      <a:r>
                        <a:rPr sz="1100" b="0" i="0">
                          <a:solidFill>
                            <a:srgbClr val="000000"/>
                          </a:solidFill>
                          <a:latin typeface="Calibri"/>
                        </a:rPr>
                        <a:t>Specialty Polybags</a:t>
                      </a:r>
                      <a:endParaRPr sz="1100"/>
                    </a:p>
                  </a:txBody>
                  <a:tcPr marL="771525" marR="9525" marT="9525" marB="0" anchor="ctr"/>
                </a:tc>
              </a:tr>
              <a:tr h="175260">
                <a:tc>
                  <a:txBody>
                    <a:bodyPr wrap="square"/>
                    <a:lstStyle/>
                    <a:p>
                      <a:pPr algn="l"/>
                      <a:r>
                        <a:rPr sz="1100" b="0" i="1">
                          <a:solidFill>
                            <a:srgbClr val="000000"/>
                          </a:solidFill>
                          <a:latin typeface="Calibri"/>
                        </a:rPr>
                        <a:t>3.5.8.1.</a:t>
                      </a:r>
                      <a:r>
                        <a:rPr sz="700" b="0" i="1">
                          <a:solidFill>
                            <a:srgbClr val="000000"/>
                          </a:solidFill>
                          <a:latin typeface="Times New Roman"/>
                        </a:rPr>
                        <a:t>    </a:t>
                      </a:r>
                      <a:r>
                        <a:rPr sz="1100" b="0" i="1">
                          <a:solidFill>
                            <a:srgbClr val="000000"/>
                          </a:solidFill>
                          <a:latin typeface="Calibri"/>
                        </a:rPr>
                        <a:t>Wicketed Bags</a:t>
                      </a:r>
                      <a:endParaRPr sz="1100"/>
                    </a:p>
                  </a:txBody>
                  <a:tcPr marL="1028700" marR="9525" marT="9525" marB="0" anchor="ctr"/>
                </a:tc>
              </a:tr>
              <a:tr h="175260">
                <a:tc>
                  <a:txBody>
                    <a:bodyPr wrap="square"/>
                    <a:lstStyle/>
                    <a:p>
                      <a:pPr algn="l"/>
                      <a:r>
                        <a:rPr sz="1100" b="0" i="1">
                          <a:solidFill>
                            <a:srgbClr val="000000"/>
                          </a:solidFill>
                          <a:latin typeface="Calibri"/>
                        </a:rPr>
                        <a:t>3.5.8.2.</a:t>
                      </a:r>
                      <a:r>
                        <a:rPr sz="700" b="0" i="1">
                          <a:solidFill>
                            <a:srgbClr val="000000"/>
                          </a:solidFill>
                          <a:latin typeface="Times New Roman"/>
                        </a:rPr>
                        <a:t>    </a:t>
                      </a:r>
                      <a:r>
                        <a:rPr sz="1100" b="0" i="1">
                          <a:solidFill>
                            <a:srgbClr val="000000"/>
                          </a:solidFill>
                          <a:latin typeface="Calibri"/>
                        </a:rPr>
                        <a:t>Header Bags</a:t>
                      </a:r>
                      <a:endParaRPr sz="1100"/>
                    </a:p>
                  </a:txBody>
                  <a:tcPr marL="1028700" marR="9525" marT="9525" marB="0" anchor="ctr"/>
                </a:tc>
              </a:tr>
              <a:tr h="175260">
                <a:tc>
                  <a:txBody>
                    <a:bodyPr wrap="square"/>
                    <a:lstStyle/>
                    <a:p>
                      <a:pPr algn="l"/>
                      <a:r>
                        <a:rPr sz="1100" b="0" i="1">
                          <a:solidFill>
                            <a:srgbClr val="000000"/>
                          </a:solidFill>
                          <a:latin typeface="Calibri"/>
                        </a:rPr>
                        <a:t>3.5.8.3.</a:t>
                      </a:r>
                      <a:r>
                        <a:rPr sz="700" b="0" i="1">
                          <a:solidFill>
                            <a:srgbClr val="000000"/>
                          </a:solidFill>
                          <a:latin typeface="Times New Roman"/>
                        </a:rPr>
                        <a:t>    </a:t>
                      </a:r>
                      <a:r>
                        <a:rPr sz="1100" b="0" i="1">
                          <a:solidFill>
                            <a:srgbClr val="000000"/>
                          </a:solidFill>
                          <a:latin typeface="Calibri"/>
                        </a:rPr>
                        <a:t>Perforated Bags</a:t>
                      </a:r>
                      <a:endParaRPr sz="1100"/>
                    </a:p>
                  </a:txBody>
                  <a:tcPr marL="1028700" marR="9525" marT="9525" marB="0" anchor="ctr"/>
                </a:tc>
              </a:tr>
              <a:tr h="175260">
                <a:tc>
                  <a:txBody>
                    <a:bodyPr wrap="square"/>
                    <a:lstStyle/>
                    <a:p>
                      <a:pPr algn="l"/>
                      <a:r>
                        <a:rPr sz="1100" b="0" i="1">
                          <a:solidFill>
                            <a:srgbClr val="000000"/>
                          </a:solidFill>
                          <a:latin typeface="Calibri"/>
                        </a:rPr>
                        <a:t>3.5.8.4.</a:t>
                      </a:r>
                      <a:r>
                        <a:rPr sz="700" b="0" i="1">
                          <a:solidFill>
                            <a:srgbClr val="000000"/>
                          </a:solidFill>
                          <a:latin typeface="Times New Roman"/>
                        </a:rPr>
                        <a:t>    </a:t>
                      </a:r>
                      <a:r>
                        <a:rPr sz="1100" b="0" i="1">
                          <a:solidFill>
                            <a:srgbClr val="000000"/>
                          </a:solidFill>
                          <a:latin typeface="Calibri"/>
                        </a:rPr>
                        <a:t>Drawstring Bags</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3.5.8.5.</a:t>
                      </a:r>
                      <a:r>
                        <a:rPr sz="700" b="0" i="1">
                          <a:solidFill>
                            <a:srgbClr val="000000"/>
                          </a:solidFill>
                          <a:latin typeface="Times New Roman"/>
                        </a:rPr>
                        <a:t>    </a:t>
                      </a:r>
                      <a:r>
                        <a:rPr sz="1100" b="0" i="1">
                          <a:solidFill>
                            <a:srgbClr val="000000"/>
                          </a:solidFill>
                          <a:latin typeface="Calibri"/>
                        </a:rPr>
                        <a:t>Custom Printed Bags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Material</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Polyethylene (PE)</a:t>
                      </a:r>
                      <a:endParaRPr sz="1100"/>
                    </a:p>
                  </a:txBody>
                  <a:tcPr marL="771525"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Low-Density Polyethylene (LDPE)</a:t>
                      </a:r>
                      <a:endParaRPr sz="1100"/>
                    </a:p>
                  </a:txBody>
                  <a:tcPr marL="771525"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Linear Low-Density Polyethylene (LLDPE)</a:t>
                      </a:r>
                      <a:endParaRPr sz="1100"/>
                    </a:p>
                  </a:txBody>
                  <a:tcPr marL="771525" marR="9525" marT="9525" marB="0" anchor="ctr"/>
                </a:tc>
              </a:tr>
              <a:tr h="175260">
                <a:tc>
                  <a:txBody>
                    <a:bodyPr wrap="square"/>
                    <a:lstStyle/>
                    <a:p>
                      <a:pPr algn="l"/>
                      <a:r>
                        <a:rPr sz="1100" b="0" i="0">
                          <a:solidFill>
                            <a:srgbClr val="000000"/>
                          </a:solidFill>
                          <a:latin typeface="Calibri"/>
                        </a:rPr>
                        <a:t>4.5.4.</a:t>
                      </a:r>
                      <a:r>
                        <a:rPr sz="700" b="0" i="0">
                          <a:solidFill>
                            <a:srgbClr val="000000"/>
                          </a:solidFill>
                          <a:latin typeface="Times New Roman"/>
                        </a:rPr>
                        <a:t>   </a:t>
                      </a:r>
                      <a:r>
                        <a:rPr sz="1100" b="0" i="0">
                          <a:solidFill>
                            <a:srgbClr val="000000"/>
                          </a:solidFill>
                          <a:latin typeface="Calibri"/>
                        </a:rPr>
                        <a:t>High-Density Polyethylene (HDPE)</a:t>
                      </a:r>
                      <a:endParaRPr sz="1100"/>
                    </a:p>
                  </a:txBody>
                  <a:tcPr marL="771525" marR="9525" marT="9525" marB="0" anchor="ctr"/>
                </a:tc>
              </a:tr>
              <a:tr h="175260">
                <a:tc>
                  <a:txBody>
                    <a:bodyPr wrap="square"/>
                    <a:lstStyle/>
                    <a:p>
                      <a:pPr algn="l"/>
                      <a:r>
                        <a:rPr sz="1100" b="0" i="0">
                          <a:solidFill>
                            <a:srgbClr val="000000"/>
                          </a:solidFill>
                          <a:latin typeface="Calibri"/>
                        </a:rPr>
                        <a:t>4.5.5.</a:t>
                      </a:r>
                      <a:r>
                        <a:rPr sz="700" b="0" i="0">
                          <a:solidFill>
                            <a:srgbClr val="000000"/>
                          </a:solidFill>
                          <a:latin typeface="Times New Roman"/>
                        </a:rPr>
                        <a:t>   </a:t>
                      </a:r>
                      <a:r>
                        <a:rPr sz="1100" b="0" i="0">
                          <a:solidFill>
                            <a:srgbClr val="000000"/>
                          </a:solidFill>
                          <a:latin typeface="Calibri"/>
                        </a:rPr>
                        <a:t>Medium-Density Polyethylene (MDPE)</a:t>
                      </a:r>
                      <a:endParaRPr sz="1100"/>
                    </a:p>
                  </a:txBody>
                  <a:tcPr marL="771525" marR="9525" marT="9525" marB="0" anchor="ctr"/>
                </a:tc>
              </a:tr>
              <a:tr h="175260">
                <a:tc>
                  <a:txBody>
                    <a:bodyPr wrap="square"/>
                    <a:lstStyle/>
                    <a:p>
                      <a:pPr algn="l"/>
                      <a:r>
                        <a:rPr sz="1100" b="0" i="0">
                          <a:solidFill>
                            <a:srgbClr val="000000"/>
                          </a:solidFill>
                          <a:latin typeface="Calibri"/>
                        </a:rPr>
                        <a:t>4.5.6.</a:t>
                      </a:r>
                      <a:r>
                        <a:rPr sz="700" b="0" i="0">
                          <a:solidFill>
                            <a:srgbClr val="000000"/>
                          </a:solidFill>
                          <a:latin typeface="Times New Roman"/>
                        </a:rPr>
                        <a:t>   </a:t>
                      </a:r>
                      <a:r>
                        <a:rPr sz="1100" b="0" i="0">
                          <a:solidFill>
                            <a:srgbClr val="000000"/>
                          </a:solidFill>
                          <a:latin typeface="Calibri"/>
                        </a:rPr>
                        <a:t>Polypropylene (PP)</a:t>
                      </a:r>
                      <a:endParaRPr sz="1100"/>
                    </a:p>
                  </a:txBody>
                  <a:tcPr marL="771525" marR="9525" marT="9525" marB="0" anchor="ctr"/>
                </a:tc>
              </a:tr>
              <a:tr h="175260">
                <a:tc>
                  <a:txBody>
                    <a:bodyPr wrap="square"/>
                    <a:lstStyle/>
                    <a:p>
                      <a:pPr algn="l"/>
                      <a:r>
                        <a:rPr sz="1100" b="0" i="1">
                          <a:solidFill>
                            <a:srgbClr val="000000"/>
                          </a:solidFill>
                          <a:latin typeface="Calibri"/>
                        </a:rPr>
                        <a:t>4.5.6.1.</a:t>
                      </a:r>
                      <a:r>
                        <a:rPr sz="700" b="0" i="1">
                          <a:solidFill>
                            <a:srgbClr val="000000"/>
                          </a:solidFill>
                          <a:latin typeface="Times New Roman"/>
                        </a:rPr>
                        <a:t>    </a:t>
                      </a:r>
                      <a:r>
                        <a:rPr sz="1100" b="0" i="1">
                          <a:solidFill>
                            <a:srgbClr val="000000"/>
                          </a:solidFill>
                          <a:latin typeface="Calibri"/>
                        </a:rPr>
                        <a:t>Cast Polypropylene (CPP)</a:t>
                      </a:r>
                      <a:endParaRPr sz="1100"/>
                    </a:p>
                  </a:txBody>
                  <a:tcPr marL="1028700" marR="9525" marT="9525" marB="0" anchor="ctr"/>
                </a:tc>
              </a:tr>
              <a:tr h="175260">
                <a:tc>
                  <a:txBody>
                    <a:bodyPr wrap="square"/>
                    <a:lstStyle/>
                    <a:p>
                      <a:pPr algn="l"/>
                      <a:r>
                        <a:rPr sz="1100" b="0" i="1">
                          <a:solidFill>
                            <a:srgbClr val="000000"/>
                          </a:solidFill>
                          <a:latin typeface="Calibri"/>
                        </a:rPr>
                        <a:t>4.5.6.2.</a:t>
                      </a:r>
                      <a:r>
                        <a:rPr sz="700" b="0" i="1">
                          <a:solidFill>
                            <a:srgbClr val="000000"/>
                          </a:solidFill>
                          <a:latin typeface="Times New Roman"/>
                        </a:rPr>
                        <a:t>    </a:t>
                      </a:r>
                      <a:r>
                        <a:rPr sz="1100" b="0" i="1">
                          <a:solidFill>
                            <a:srgbClr val="000000"/>
                          </a:solidFill>
                          <a:latin typeface="Calibri"/>
                        </a:rPr>
                        <a:t>Biaxially Oriented Polypropylene (BOPP)</a:t>
                      </a:r>
                      <a:endParaRPr sz="1100"/>
                    </a:p>
                  </a:txBody>
                  <a:tcPr marL="1028700" marR="9525" marT="9525" marB="0" anchor="ctr"/>
                </a:tc>
              </a:tr>
              <a:tr h="175260">
                <a:tc>
                  <a:txBody>
                    <a:bodyPr wrap="square"/>
                    <a:lstStyle/>
                    <a:p>
                      <a:pPr algn="l"/>
                      <a:r>
                        <a:rPr sz="1100" b="0" i="1">
                          <a:solidFill>
                            <a:srgbClr val="000000"/>
                          </a:solidFill>
                          <a:latin typeface="Calibri"/>
                        </a:rPr>
                        <a:t>4.5.6.3.</a:t>
                      </a:r>
                      <a:r>
                        <a:rPr sz="700" b="0" i="1">
                          <a:solidFill>
                            <a:srgbClr val="000000"/>
                          </a:solidFill>
                          <a:latin typeface="Times New Roman"/>
                        </a:rPr>
                        <a:t>    </a:t>
                      </a:r>
                      <a:r>
                        <a:rPr sz="1100" b="0" i="1">
                          <a:solidFill>
                            <a:srgbClr val="000000"/>
                          </a:solidFill>
                          <a:latin typeface="Calibri"/>
                        </a:rPr>
                        <a:t>Oriented Polypropylene (OPP)</a:t>
                      </a:r>
                      <a:endParaRPr sz="1100"/>
                    </a:p>
                  </a:txBody>
                  <a:tcPr marL="1028700" marR="9525" marT="9525" marB="0" anchor="ctr"/>
                </a:tc>
              </a:tr>
              <a:tr h="175260">
                <a:tc>
                  <a:txBody>
                    <a:bodyPr wrap="square"/>
                    <a:lstStyle/>
                    <a:p>
                      <a:pPr algn="l"/>
                      <a:r>
                        <a:rPr sz="1100" b="0" i="0">
                          <a:solidFill>
                            <a:srgbClr val="000000"/>
                          </a:solidFill>
                          <a:latin typeface="Calibri"/>
                        </a:rPr>
                        <a:t>4.5.7.</a:t>
                      </a:r>
                      <a:r>
                        <a:rPr sz="700" b="0" i="0">
                          <a:solidFill>
                            <a:srgbClr val="000000"/>
                          </a:solidFill>
                          <a:latin typeface="Times New Roman"/>
                        </a:rPr>
                        <a:t>   </a:t>
                      </a:r>
                      <a:r>
                        <a:rPr sz="1100" b="0" i="0">
                          <a:solidFill>
                            <a:srgbClr val="000000"/>
                          </a:solidFill>
                          <a:latin typeface="Calibri"/>
                        </a:rPr>
                        <a:t>Recycled Plastics</a:t>
                      </a:r>
                      <a:endParaRPr sz="1100"/>
                    </a:p>
                  </a:txBody>
                  <a:tcPr marL="771525" marR="9525" marT="9525" marB="0" anchor="ctr"/>
                </a:tc>
              </a:tr>
              <a:tr h="175260">
                <a:tc>
                  <a:txBody>
                    <a:bodyPr wrap="square"/>
                    <a:lstStyle/>
                    <a:p>
                      <a:pPr algn="l"/>
                      <a:r>
                        <a:rPr sz="1100" b="0" i="1">
                          <a:solidFill>
                            <a:srgbClr val="000000"/>
                          </a:solidFill>
                          <a:latin typeface="Calibri"/>
                        </a:rPr>
                        <a:t>4.5.7.1.</a:t>
                      </a:r>
                      <a:r>
                        <a:rPr sz="700" b="0" i="1">
                          <a:solidFill>
                            <a:srgbClr val="000000"/>
                          </a:solidFill>
                          <a:latin typeface="Times New Roman"/>
                        </a:rPr>
                        <a:t>    </a:t>
                      </a:r>
                      <a:r>
                        <a:rPr sz="1100" b="0" i="1">
                          <a:solidFill>
                            <a:srgbClr val="000000"/>
                          </a:solidFill>
                          <a:latin typeface="Calibri"/>
                        </a:rPr>
                        <a:t>Post-Consumer Recycled (PCR)</a:t>
                      </a:r>
                      <a:endParaRPr sz="1100"/>
                    </a:p>
                  </a:txBody>
                  <a:tcPr marL="1028700" marR="9525" marT="9525" marB="0" anchor="ctr"/>
                </a:tc>
              </a:tr>
              <a:tr h="175260">
                <a:tc>
                  <a:txBody>
                    <a:bodyPr wrap="square"/>
                    <a:lstStyle/>
                    <a:p>
                      <a:pPr algn="l"/>
                      <a:r>
                        <a:rPr sz="1100" b="0" i="1">
                          <a:solidFill>
                            <a:srgbClr val="000000"/>
                          </a:solidFill>
                          <a:latin typeface="Calibri"/>
                        </a:rPr>
                        <a:t>4.5.7.2.</a:t>
                      </a:r>
                      <a:r>
                        <a:rPr sz="700" b="0" i="1">
                          <a:solidFill>
                            <a:srgbClr val="000000"/>
                          </a:solidFill>
                          <a:latin typeface="Times New Roman"/>
                        </a:rPr>
                        <a:t>    </a:t>
                      </a:r>
                      <a:r>
                        <a:rPr sz="1100" b="0" i="1">
                          <a:solidFill>
                            <a:srgbClr val="000000"/>
                          </a:solidFill>
                          <a:latin typeface="Calibri"/>
                        </a:rPr>
                        <a:t>Post-Industrial Recycled (PIR)</a:t>
                      </a:r>
                      <a:endParaRPr sz="1100"/>
                    </a:p>
                  </a:txBody>
                  <a:tcPr marL="1028700" marR="9525" marT="9525" marB="0" anchor="ctr"/>
                </a:tc>
              </a:tr>
              <a:tr h="175260">
                <a:tc>
                  <a:txBody>
                    <a:bodyPr wrap="square"/>
                    <a:lstStyle/>
                    <a:p>
                      <a:pPr algn="l"/>
                      <a:r>
                        <a:rPr sz="1100" b="0" i="1">
                          <a:solidFill>
                            <a:srgbClr val="000000"/>
                          </a:solidFill>
                          <a:latin typeface="Calibri"/>
                        </a:rPr>
                        <a:t>4.5.7.3.</a:t>
                      </a:r>
                      <a:r>
                        <a:rPr sz="700" b="0" i="1">
                          <a:solidFill>
                            <a:srgbClr val="000000"/>
                          </a:solidFill>
                          <a:latin typeface="Times New Roman"/>
                        </a:rPr>
                        <a:t>    </a:t>
                      </a:r>
                      <a:r>
                        <a:rPr sz="1100" b="0" i="1">
                          <a:solidFill>
                            <a:srgbClr val="000000"/>
                          </a:solidFill>
                          <a:latin typeface="Calibri"/>
                        </a:rPr>
                        <a:t>Mixed Recycled Resin</a:t>
                      </a:r>
                      <a:endParaRPr sz="1100"/>
                    </a:p>
                  </a:txBody>
                  <a:tcPr marL="1028700" marR="9525" marT="9525" marB="0" anchor="ctr"/>
                </a:tc>
              </a:tr>
              <a:tr h="175260">
                <a:tc>
                  <a:txBody>
                    <a:bodyPr wrap="square"/>
                    <a:lstStyle/>
                    <a:p>
                      <a:pPr algn="l"/>
                      <a:r>
                        <a:rPr sz="1100" b="0" i="0">
                          <a:solidFill>
                            <a:srgbClr val="000000"/>
                          </a:solidFill>
                          <a:latin typeface="Calibri"/>
                        </a:rPr>
                        <a:t>4.5.8.</a:t>
                      </a:r>
                      <a:r>
                        <a:rPr sz="700" b="0" i="0">
                          <a:solidFill>
                            <a:srgbClr val="000000"/>
                          </a:solidFill>
                          <a:latin typeface="Times New Roman"/>
                        </a:rPr>
                        <a:t>   </a:t>
                      </a:r>
                      <a:r>
                        <a:rPr sz="1100" b="0" i="0">
                          <a:solidFill>
                            <a:srgbClr val="000000"/>
                          </a:solidFill>
                          <a:latin typeface="Calibri"/>
                        </a:rPr>
                        <a:t>Bio-Based Materials</a:t>
                      </a:r>
                      <a:endParaRPr sz="1100"/>
                    </a:p>
                  </a:txBody>
                  <a:tcPr marL="771525" marR="9525" marT="9525" marB="0" anchor="ctr"/>
                </a:tc>
              </a:tr>
              <a:tr h="175260">
                <a:tc>
                  <a:txBody>
                    <a:bodyPr wrap="square"/>
                    <a:lstStyle/>
                    <a:p>
                      <a:pPr algn="l"/>
                      <a:r>
                        <a:rPr sz="1100" b="0" i="1">
                          <a:solidFill>
                            <a:srgbClr val="000000"/>
                          </a:solidFill>
                          <a:latin typeface="Calibri"/>
                        </a:rPr>
                        <a:t>4.5.8.1.</a:t>
                      </a:r>
                      <a:r>
                        <a:rPr sz="700" b="0" i="1">
                          <a:solidFill>
                            <a:srgbClr val="000000"/>
                          </a:solidFill>
                          <a:latin typeface="Times New Roman"/>
                        </a:rPr>
                        <a:t>    </a:t>
                      </a:r>
                      <a:r>
                        <a:rPr sz="1100" b="0" i="1">
                          <a:solidFill>
                            <a:srgbClr val="000000"/>
                          </a:solidFill>
                          <a:latin typeface="Calibri"/>
                        </a:rPr>
                        <a:t>PLA</a:t>
                      </a:r>
                      <a:endParaRPr sz="1100"/>
                    </a:p>
                  </a:txBody>
                  <a:tcPr marL="1028700" marR="9525" marT="9525" marB="0" anchor="ctr"/>
                </a:tc>
              </a:tr>
              <a:tr h="175260">
                <a:tc>
                  <a:txBody>
                    <a:bodyPr wrap="square"/>
                    <a:lstStyle/>
                    <a:p>
                      <a:pPr algn="l"/>
                      <a:r>
                        <a:rPr sz="1100" b="0" i="1">
                          <a:solidFill>
                            <a:srgbClr val="000000"/>
                          </a:solidFill>
                          <a:latin typeface="Calibri"/>
                        </a:rPr>
                        <a:t>4.5.8.2.</a:t>
                      </a:r>
                      <a:r>
                        <a:rPr sz="700" b="0" i="1">
                          <a:solidFill>
                            <a:srgbClr val="000000"/>
                          </a:solidFill>
                          <a:latin typeface="Times New Roman"/>
                        </a:rPr>
                        <a:t>    </a:t>
                      </a:r>
                      <a:r>
                        <a:rPr sz="1100" b="0" i="1">
                          <a:solidFill>
                            <a:srgbClr val="000000"/>
                          </a:solidFill>
                          <a:latin typeface="Calibri"/>
                        </a:rPr>
                        <a:t>PHA</a:t>
                      </a:r>
                      <a:endParaRPr sz="1100"/>
                    </a:p>
                  </a:txBody>
                  <a:tcPr marL="1028700" marR="9525" marT="9525" marB="0" anchor="ctr"/>
                </a:tc>
              </a:tr>
              <a:tr h="175260">
                <a:tc>
                  <a:txBody>
                    <a:bodyPr wrap="square"/>
                    <a:lstStyle/>
                    <a:p>
                      <a:pPr algn="l"/>
                      <a:r>
                        <a:rPr sz="1100" b="0" i="1">
                          <a:solidFill>
                            <a:srgbClr val="000000"/>
                          </a:solidFill>
                          <a:latin typeface="Calibri"/>
                        </a:rPr>
                        <a:t>4.5.8.3.</a:t>
                      </a:r>
                      <a:r>
                        <a:rPr sz="700" b="0" i="1">
                          <a:solidFill>
                            <a:srgbClr val="000000"/>
                          </a:solidFill>
                          <a:latin typeface="Times New Roman"/>
                        </a:rPr>
                        <a:t>    </a:t>
                      </a:r>
                      <a:r>
                        <a:rPr sz="1100" b="0" i="1">
                          <a:solidFill>
                            <a:srgbClr val="000000"/>
                          </a:solidFill>
                          <a:latin typeface="Calibri"/>
                        </a:rPr>
                        <a:t>Starch Blend</a:t>
                      </a:r>
                      <a:endParaRPr sz="1100"/>
                    </a:p>
                  </a:txBody>
                  <a:tcPr marL="1028700" marR="9525" marT="9525" marB="0" anchor="ctr"/>
                </a:tc>
              </a:tr>
              <a:tr h="175260">
                <a:tc>
                  <a:txBody>
                    <a:bodyPr wrap="square"/>
                    <a:lstStyle/>
                    <a:p>
                      <a:pPr algn="l"/>
                      <a:r>
                        <a:rPr sz="1100" b="0" i="1">
                          <a:solidFill>
                            <a:srgbClr val="000000"/>
                          </a:solidFill>
                          <a:latin typeface="Calibri"/>
                        </a:rPr>
                        <a:t>4.5.8.4.</a:t>
                      </a:r>
                      <a:r>
                        <a:rPr sz="700" b="0" i="1">
                          <a:solidFill>
                            <a:srgbClr val="000000"/>
                          </a:solidFill>
                          <a:latin typeface="Times New Roman"/>
                        </a:rPr>
                        <a:t>    </a:t>
                      </a:r>
                      <a:r>
                        <a:rPr sz="1100" b="0" i="1">
                          <a:solidFill>
                            <a:srgbClr val="000000"/>
                          </a:solidFill>
                          <a:latin typeface="Calibri"/>
                        </a:rPr>
                        <a:t>PBAT Blend</a:t>
                      </a:r>
                      <a:endParaRPr sz="1100"/>
                    </a:p>
                  </a:txBody>
                  <a:tcPr marL="1028700" marR="9525" marT="9525" marB="0" anchor="ctr"/>
                </a:tc>
              </a:tr>
              <a:tr h="175260">
                <a:tc>
                  <a:txBody>
                    <a:bodyPr wrap="square"/>
                    <a:lstStyle/>
                    <a:p>
                      <a:pPr algn="l"/>
                      <a:r>
                        <a:rPr sz="1100" b="0" i="1">
                          <a:solidFill>
                            <a:srgbClr val="000000"/>
                          </a:solidFill>
                          <a:latin typeface="Calibri"/>
                        </a:rPr>
                        <a:t>4.5.8.5.</a:t>
                      </a:r>
                      <a:r>
                        <a:rPr sz="700" b="0" i="1">
                          <a:solidFill>
                            <a:srgbClr val="000000"/>
                          </a:solidFill>
                          <a:latin typeface="Times New Roman"/>
                        </a:rPr>
                        <a:t>    </a:t>
                      </a:r>
                      <a:r>
                        <a:rPr sz="1100" b="0" i="1">
                          <a:solidFill>
                            <a:srgbClr val="000000"/>
                          </a:solidFill>
                          <a:latin typeface="Calibri"/>
                        </a:rPr>
                        <a:t>Cellulose-Based Films</a:t>
                      </a:r>
                      <a:endParaRPr sz="1100"/>
                    </a:p>
                  </a:txBody>
                  <a:tcPr marL="1028700" marR="9525" marT="9525" marB="0" anchor="ctr"/>
                </a:tc>
              </a:tr>
              <a:tr h="175260">
                <a:tc>
                  <a:txBody>
                    <a:bodyPr wrap="square"/>
                    <a:lstStyle/>
                    <a:p>
                      <a:pPr algn="l"/>
                      <a:r>
                        <a:rPr sz="1100" b="0" i="0">
                          <a:solidFill>
                            <a:srgbClr val="000000"/>
                          </a:solidFill>
                          <a:latin typeface="Calibri"/>
                        </a:rPr>
                        <a:t>4.5.9.</a:t>
                      </a:r>
                      <a:r>
                        <a:rPr sz="700" b="0" i="0">
                          <a:solidFill>
                            <a:srgbClr val="000000"/>
                          </a:solidFill>
                          <a:latin typeface="Times New Roman"/>
                        </a:rPr>
                        <a:t>   </a:t>
                      </a:r>
                      <a:r>
                        <a:rPr sz="1100" b="0" i="0">
                          <a:solidFill>
                            <a:srgbClr val="000000"/>
                          </a:solidFill>
                          <a:latin typeface="Calibri"/>
                        </a:rPr>
                        <a:t>Specialty Materials</a:t>
                      </a:r>
                      <a:endParaRPr sz="1100"/>
                    </a:p>
                  </a:txBody>
                  <a:tcPr marL="771525" marR="9525" marT="9525" marB="0" anchor="ctr"/>
                </a:tc>
              </a:tr>
              <a:tr h="175260">
                <a:tc>
                  <a:txBody>
                    <a:bodyPr wrap="square"/>
                    <a:lstStyle/>
                    <a:p>
                      <a:pPr algn="l"/>
                      <a:r>
                        <a:rPr sz="1100" b="0" i="1">
                          <a:solidFill>
                            <a:srgbClr val="000000"/>
                          </a:solidFill>
                          <a:latin typeface="Calibri"/>
                        </a:rPr>
                        <a:t>4.5.9.1.</a:t>
                      </a:r>
                      <a:r>
                        <a:rPr sz="700" b="0" i="1">
                          <a:solidFill>
                            <a:srgbClr val="000000"/>
                          </a:solidFill>
                          <a:latin typeface="Times New Roman"/>
                        </a:rPr>
                        <a:t>    </a:t>
                      </a:r>
                      <a:r>
                        <a:rPr sz="1100" b="0" i="1">
                          <a:solidFill>
                            <a:srgbClr val="000000"/>
                          </a:solidFill>
                          <a:latin typeface="Calibri"/>
                        </a:rPr>
                        <a:t>EVA</a:t>
                      </a:r>
                      <a:endParaRPr sz="1100"/>
                    </a:p>
                  </a:txBody>
                  <a:tcPr marL="1028700" marR="9525" marT="9525" marB="0" anchor="ctr"/>
                </a:tc>
              </a:tr>
              <a:tr h="175260">
                <a:tc>
                  <a:txBody>
                    <a:bodyPr wrap="square"/>
                    <a:lstStyle/>
                    <a:p>
                      <a:pPr algn="l"/>
                      <a:r>
                        <a:rPr sz="1100" b="0" i="1">
                          <a:solidFill>
                            <a:srgbClr val="000000"/>
                          </a:solidFill>
                          <a:latin typeface="Calibri"/>
                        </a:rPr>
                        <a:t>4.5.9.2.</a:t>
                      </a:r>
                      <a:r>
                        <a:rPr sz="700" b="0" i="1">
                          <a:solidFill>
                            <a:srgbClr val="000000"/>
                          </a:solidFill>
                          <a:latin typeface="Times New Roman"/>
                        </a:rPr>
                        <a:t>    </a:t>
                      </a:r>
                      <a:r>
                        <a:rPr sz="1100" b="0" i="1">
                          <a:solidFill>
                            <a:srgbClr val="000000"/>
                          </a:solidFill>
                          <a:latin typeface="Calibri"/>
                        </a:rPr>
                        <a:t>Coextruded Multilayer Films</a:t>
                      </a:r>
                      <a:endParaRPr sz="1100"/>
                    </a:p>
                  </a:txBody>
                  <a:tcPr marL="1028700" marR="9525" marT="9525" marB="0" anchor="ctr"/>
                </a:tc>
              </a:tr>
              <a:tr h="175260">
                <a:tc>
                  <a:txBody>
                    <a:bodyPr wrap="square"/>
                    <a:lstStyle/>
                    <a:p>
                      <a:pPr algn="l"/>
                      <a:r>
                        <a:rPr sz="1100" b="0" i="1">
                          <a:solidFill>
                            <a:srgbClr val="000000"/>
                          </a:solidFill>
                          <a:latin typeface="Calibri"/>
                        </a:rPr>
                        <a:t>4.5.9.3.</a:t>
                      </a:r>
                      <a:r>
                        <a:rPr sz="700" b="0" i="1">
                          <a:solidFill>
                            <a:srgbClr val="000000"/>
                          </a:solidFill>
                          <a:latin typeface="Times New Roman"/>
                        </a:rPr>
                        <a:t>    </a:t>
                      </a:r>
                      <a:r>
                        <a:rPr sz="1100" b="0" i="1">
                          <a:solidFill>
                            <a:srgbClr val="000000"/>
                          </a:solidFill>
                          <a:latin typeface="Calibri"/>
                        </a:rPr>
                        <a:t>Barrier Films</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4.5.9.4.</a:t>
                      </a:r>
                      <a:r>
                        <a:rPr sz="700" b="0" i="1">
                          <a:solidFill>
                            <a:srgbClr val="000000"/>
                          </a:solidFill>
                          <a:latin typeface="Times New Roman"/>
                        </a:rPr>
                        <a:t>    </a:t>
                      </a:r>
                      <a:r>
                        <a:rPr sz="1100" b="0" i="1">
                          <a:solidFill>
                            <a:srgbClr val="000000"/>
                          </a:solidFill>
                          <a:latin typeface="Calibri"/>
                        </a:rPr>
                        <a:t>Conductive Polymers</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End-Use Industry</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Food &amp; Beverage</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Fresh Produce</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Frozen Food</a:t>
                      </a:r>
                      <a:endParaRPr sz="1100"/>
                    </a:p>
                  </a:txBody>
                  <a:tcPr marL="1028700" marR="9525" marT="9525" marB="0" anchor="ctr"/>
                </a:tc>
              </a:tr>
              <a:tr h="175260">
                <a:tc>
                  <a:txBody>
                    <a:bodyPr wrap="square"/>
                    <a:lstStyle/>
                    <a:p>
                      <a:pPr algn="l"/>
                      <a:r>
                        <a:rPr sz="1100" b="0" i="1">
                          <a:solidFill>
                            <a:srgbClr val="000000"/>
                          </a:solidFill>
                          <a:latin typeface="Calibri"/>
                        </a:rPr>
                        <a:t>5.5.1.3.</a:t>
                      </a:r>
                      <a:r>
                        <a:rPr sz="700" b="0" i="1">
                          <a:solidFill>
                            <a:srgbClr val="000000"/>
                          </a:solidFill>
                          <a:latin typeface="Times New Roman"/>
                        </a:rPr>
                        <a:t>    </a:t>
                      </a:r>
                      <a:r>
                        <a:rPr sz="1100" b="0" i="1">
                          <a:solidFill>
                            <a:srgbClr val="000000"/>
                          </a:solidFill>
                          <a:latin typeface="Calibri"/>
                        </a:rPr>
                        <a:t>Dairy Products</a:t>
                      </a:r>
                      <a:endParaRPr sz="1100"/>
                    </a:p>
                  </a:txBody>
                  <a:tcPr marL="1028700" marR="9525" marT="9525" marB="0" anchor="ctr"/>
                </a:tc>
              </a:tr>
              <a:tr h="175260">
                <a:tc>
                  <a:txBody>
                    <a:bodyPr wrap="square"/>
                    <a:lstStyle/>
                    <a:p>
                      <a:pPr algn="l"/>
                      <a:r>
                        <a:rPr sz="1100" b="0" i="1">
                          <a:solidFill>
                            <a:srgbClr val="000000"/>
                          </a:solidFill>
                          <a:latin typeface="Calibri"/>
                        </a:rPr>
                        <a:t>5.5.1.4.</a:t>
                      </a:r>
                      <a:r>
                        <a:rPr sz="700" b="0" i="1">
                          <a:solidFill>
                            <a:srgbClr val="000000"/>
                          </a:solidFill>
                          <a:latin typeface="Times New Roman"/>
                        </a:rPr>
                        <a:t>    </a:t>
                      </a:r>
                      <a:r>
                        <a:rPr sz="1100" b="0" i="1">
                          <a:solidFill>
                            <a:srgbClr val="000000"/>
                          </a:solidFill>
                          <a:latin typeface="Calibri"/>
                        </a:rPr>
                        <a:t>Bakery</a:t>
                      </a:r>
                      <a:endParaRPr sz="1100"/>
                    </a:p>
                  </a:txBody>
                  <a:tcPr marL="1028700" marR="9525" marT="9525" marB="0" anchor="ctr"/>
                </a:tc>
              </a:tr>
              <a:tr h="175260">
                <a:tc>
                  <a:txBody>
                    <a:bodyPr wrap="square"/>
                    <a:lstStyle/>
                    <a:p>
                      <a:pPr algn="l"/>
                      <a:r>
                        <a:rPr sz="1100" b="0" i="1">
                          <a:solidFill>
                            <a:srgbClr val="000000"/>
                          </a:solidFill>
                          <a:latin typeface="Calibri"/>
                        </a:rPr>
                        <a:t>5.5.1.5.</a:t>
                      </a:r>
                      <a:r>
                        <a:rPr sz="700" b="0" i="1">
                          <a:solidFill>
                            <a:srgbClr val="000000"/>
                          </a:solidFill>
                          <a:latin typeface="Times New Roman"/>
                        </a:rPr>
                        <a:t>    </a:t>
                      </a:r>
                      <a:r>
                        <a:rPr sz="1100" b="0" i="1">
                          <a:solidFill>
                            <a:srgbClr val="000000"/>
                          </a:solidFill>
                          <a:latin typeface="Calibri"/>
                        </a:rPr>
                        <a:t>Meat &amp; Poultry</a:t>
                      </a:r>
                      <a:endParaRPr sz="1100"/>
                    </a:p>
                  </a:txBody>
                  <a:tcPr marL="1028700" marR="9525" marT="9525" marB="0" anchor="ctr"/>
                </a:tc>
              </a:tr>
              <a:tr h="175260">
                <a:tc>
                  <a:txBody>
                    <a:bodyPr wrap="square"/>
                    <a:lstStyle/>
                    <a:p>
                      <a:pPr algn="l"/>
                      <a:r>
                        <a:rPr sz="1100" b="0" i="1">
                          <a:solidFill>
                            <a:srgbClr val="000000"/>
                          </a:solidFill>
                          <a:latin typeface="Calibri"/>
                        </a:rPr>
                        <a:t>5.5.1.6.</a:t>
                      </a:r>
                      <a:r>
                        <a:rPr sz="700" b="0" i="1">
                          <a:solidFill>
                            <a:srgbClr val="000000"/>
                          </a:solidFill>
                          <a:latin typeface="Times New Roman"/>
                        </a:rPr>
                        <a:t>    </a:t>
                      </a:r>
                      <a:r>
                        <a:rPr sz="1100" b="0" i="1">
                          <a:solidFill>
                            <a:srgbClr val="000000"/>
                          </a:solidFill>
                          <a:latin typeface="Calibri"/>
                        </a:rPr>
                        <a:t>Seafood</a:t>
                      </a:r>
                      <a:endParaRPr sz="1100"/>
                    </a:p>
                  </a:txBody>
                  <a:tcPr marL="1028700" marR="9525" marT="9525" marB="0" anchor="ctr"/>
                </a:tc>
              </a:tr>
              <a:tr h="175260">
                <a:tc>
                  <a:txBody>
                    <a:bodyPr wrap="square"/>
                    <a:lstStyle/>
                    <a:p>
                      <a:pPr algn="l"/>
                      <a:r>
                        <a:rPr sz="1100" b="0" i="1">
                          <a:solidFill>
                            <a:srgbClr val="000000"/>
                          </a:solidFill>
                          <a:latin typeface="Calibri"/>
                        </a:rPr>
                        <a:t>5.5.1.7.</a:t>
                      </a:r>
                      <a:r>
                        <a:rPr sz="700" b="0" i="1">
                          <a:solidFill>
                            <a:srgbClr val="000000"/>
                          </a:solidFill>
                          <a:latin typeface="Times New Roman"/>
                        </a:rPr>
                        <a:t>    </a:t>
                      </a:r>
                      <a:r>
                        <a:rPr sz="1100" b="0" i="1">
                          <a:solidFill>
                            <a:srgbClr val="000000"/>
                          </a:solidFill>
                          <a:latin typeface="Calibri"/>
                        </a:rPr>
                        <a:t>Snacks &amp; Confectionery</a:t>
                      </a:r>
                      <a:endParaRPr sz="1100"/>
                    </a:p>
                  </a:txBody>
                  <a:tcPr marL="1028700" marR="9525" marT="9525" marB="0" anchor="ctr"/>
                </a:tc>
              </a:tr>
              <a:tr h="175260">
                <a:tc>
                  <a:txBody>
                    <a:bodyPr wrap="square"/>
                    <a:lstStyle/>
                    <a:p>
                      <a:pPr algn="l"/>
                      <a:r>
                        <a:rPr sz="1100" b="0" i="1">
                          <a:solidFill>
                            <a:srgbClr val="000000"/>
                          </a:solidFill>
                          <a:latin typeface="Calibri"/>
                        </a:rPr>
                        <a:t>5.5.1.8.</a:t>
                      </a:r>
                      <a:r>
                        <a:rPr sz="700" b="0" i="1">
                          <a:solidFill>
                            <a:srgbClr val="000000"/>
                          </a:solidFill>
                          <a:latin typeface="Times New Roman"/>
                        </a:rPr>
                        <a:t>    </a:t>
                      </a:r>
                      <a:r>
                        <a:rPr sz="1100" b="0" i="1">
                          <a:solidFill>
                            <a:srgbClr val="000000"/>
                          </a:solidFill>
                          <a:latin typeface="Calibri"/>
                        </a:rPr>
                        <a:t>Beverage Packaging</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Retail &amp; Consumer Goods</a:t>
                      </a:r>
                      <a:endParaRPr sz="1100"/>
                    </a:p>
                  </a:txBody>
                  <a:tcPr marL="771525" marR="9525" marT="9525" marB="0" anchor="ctr"/>
                </a:tc>
              </a:tr>
              <a:tr h="175260">
                <a:tc>
                  <a:txBody>
                    <a:bodyPr wrap="square"/>
                    <a:lstStyle/>
                    <a:p>
                      <a:pPr algn="l"/>
                      <a:r>
                        <a:rPr sz="1100" b="0" i="1">
                          <a:solidFill>
                            <a:srgbClr val="000000"/>
                          </a:solidFill>
                          <a:latin typeface="Calibri"/>
                        </a:rPr>
                        <a:t>5.5.2.1.</a:t>
                      </a:r>
                      <a:r>
                        <a:rPr sz="700" b="0" i="1">
                          <a:solidFill>
                            <a:srgbClr val="000000"/>
                          </a:solidFill>
                          <a:latin typeface="Times New Roman"/>
                        </a:rPr>
                        <a:t>    </a:t>
                      </a:r>
                      <a:r>
                        <a:rPr sz="1100" b="0" i="1">
                          <a:solidFill>
                            <a:srgbClr val="000000"/>
                          </a:solidFill>
                          <a:latin typeface="Calibri"/>
                        </a:rPr>
                        <a:t>Apparel</a:t>
                      </a:r>
                      <a:endParaRPr sz="1100"/>
                    </a:p>
                  </a:txBody>
                  <a:tcPr marL="1028700" marR="9525" marT="9525" marB="0" anchor="ctr"/>
                </a:tc>
              </a:tr>
              <a:tr h="175260">
                <a:tc>
                  <a:txBody>
                    <a:bodyPr wrap="square"/>
                    <a:lstStyle/>
                    <a:p>
                      <a:pPr algn="l"/>
                      <a:r>
                        <a:rPr sz="1100" b="0" i="1">
                          <a:solidFill>
                            <a:srgbClr val="000000"/>
                          </a:solidFill>
                          <a:latin typeface="Calibri"/>
                        </a:rPr>
                        <a:t>5.5.2.2.</a:t>
                      </a:r>
                      <a:r>
                        <a:rPr sz="700" b="0" i="1">
                          <a:solidFill>
                            <a:srgbClr val="000000"/>
                          </a:solidFill>
                          <a:latin typeface="Times New Roman"/>
                        </a:rPr>
                        <a:t>    </a:t>
                      </a:r>
                      <a:r>
                        <a:rPr sz="1100" b="0" i="1">
                          <a:solidFill>
                            <a:srgbClr val="000000"/>
                          </a:solidFill>
                          <a:latin typeface="Calibri"/>
                        </a:rPr>
                        <a:t>Footwear</a:t>
                      </a:r>
                      <a:endParaRPr sz="1100"/>
                    </a:p>
                  </a:txBody>
                  <a:tcPr marL="1028700" marR="9525" marT="9525" marB="0" anchor="ctr"/>
                </a:tc>
              </a:tr>
              <a:tr h="175260">
                <a:tc>
                  <a:txBody>
                    <a:bodyPr wrap="square"/>
                    <a:lstStyle/>
                    <a:p>
                      <a:pPr algn="l"/>
                      <a:r>
                        <a:rPr sz="1100" b="0" i="1">
                          <a:solidFill>
                            <a:srgbClr val="000000"/>
                          </a:solidFill>
                          <a:latin typeface="Calibri"/>
                        </a:rPr>
                        <a:t>5.5.2.3.</a:t>
                      </a:r>
                      <a:r>
                        <a:rPr sz="700" b="0" i="1">
                          <a:solidFill>
                            <a:srgbClr val="000000"/>
                          </a:solidFill>
                          <a:latin typeface="Times New Roman"/>
                        </a:rPr>
                        <a:t>    </a:t>
                      </a:r>
                      <a:r>
                        <a:rPr sz="1100" b="0" i="1">
                          <a:solidFill>
                            <a:srgbClr val="000000"/>
                          </a:solidFill>
                          <a:latin typeface="Calibri"/>
                        </a:rPr>
                        <a:t>Toys</a:t>
                      </a:r>
                      <a:endParaRPr sz="1100"/>
                    </a:p>
                  </a:txBody>
                  <a:tcPr marL="1028700" marR="9525" marT="9525" marB="0" anchor="ctr"/>
                </a:tc>
              </a:tr>
              <a:tr h="175260">
                <a:tc>
                  <a:txBody>
                    <a:bodyPr wrap="square"/>
                    <a:lstStyle/>
                    <a:p>
                      <a:pPr algn="l"/>
                      <a:r>
                        <a:rPr sz="1100" b="0" i="1">
                          <a:solidFill>
                            <a:srgbClr val="000000"/>
                          </a:solidFill>
                          <a:latin typeface="Calibri"/>
                        </a:rPr>
                        <a:t>5.5.2.4.</a:t>
                      </a:r>
                      <a:r>
                        <a:rPr sz="700" b="0" i="1">
                          <a:solidFill>
                            <a:srgbClr val="000000"/>
                          </a:solidFill>
                          <a:latin typeface="Times New Roman"/>
                        </a:rPr>
                        <a:t>    </a:t>
                      </a:r>
                      <a:r>
                        <a:rPr sz="1100" b="0" i="1">
                          <a:solidFill>
                            <a:srgbClr val="000000"/>
                          </a:solidFill>
                          <a:latin typeface="Calibri"/>
                        </a:rPr>
                        <a:t>Home Care</a:t>
                      </a:r>
                      <a:endParaRPr sz="1100"/>
                    </a:p>
                  </a:txBody>
                  <a:tcPr marL="1028700" marR="9525" marT="9525" marB="0" anchor="ctr"/>
                </a:tc>
              </a:tr>
              <a:tr h="175260">
                <a:tc>
                  <a:txBody>
                    <a:bodyPr wrap="square"/>
                    <a:lstStyle/>
                    <a:p>
                      <a:pPr algn="l"/>
                      <a:r>
                        <a:rPr sz="1100" b="0" i="1">
                          <a:solidFill>
                            <a:srgbClr val="000000"/>
                          </a:solidFill>
                          <a:latin typeface="Calibri"/>
                        </a:rPr>
                        <a:t>5.5.2.5.</a:t>
                      </a:r>
                      <a:r>
                        <a:rPr sz="700" b="0" i="1">
                          <a:solidFill>
                            <a:srgbClr val="000000"/>
                          </a:solidFill>
                          <a:latin typeface="Times New Roman"/>
                        </a:rPr>
                        <a:t>    </a:t>
                      </a:r>
                      <a:r>
                        <a:rPr sz="1100" b="0" i="1">
                          <a:solidFill>
                            <a:srgbClr val="000000"/>
                          </a:solidFill>
                          <a:latin typeface="Calibri"/>
                        </a:rPr>
                        <a:t>Household Goods</a:t>
                      </a:r>
                      <a:endParaRPr sz="1100"/>
                    </a:p>
                  </a:txBody>
                  <a:tcPr marL="1028700" marR="9525" marT="9525" marB="0" anchor="ctr"/>
                </a:tc>
              </a:tr>
              <a:tr h="175260">
                <a:tc>
                  <a:txBody>
                    <a:bodyPr wrap="square"/>
                    <a:lstStyle/>
                    <a:p>
                      <a:pPr algn="l"/>
                      <a:r>
                        <a:rPr sz="1100" b="0" i="1">
                          <a:solidFill>
                            <a:srgbClr val="000000"/>
                          </a:solidFill>
                          <a:latin typeface="Calibri"/>
                        </a:rPr>
                        <a:t>5.5.2.6.</a:t>
                      </a:r>
                      <a:r>
                        <a:rPr sz="700" b="0" i="1">
                          <a:solidFill>
                            <a:srgbClr val="000000"/>
                          </a:solidFill>
                          <a:latin typeface="Times New Roman"/>
                        </a:rPr>
                        <a:t>    </a:t>
                      </a:r>
                      <a:r>
                        <a:rPr sz="1100" b="0" i="1">
                          <a:solidFill>
                            <a:srgbClr val="000000"/>
                          </a:solidFill>
                          <a:latin typeface="Calibri"/>
                        </a:rPr>
                        <a:t>Stationery</a:t>
                      </a:r>
                      <a:endParaRPr sz="1100"/>
                    </a:p>
                  </a:txBody>
                  <a:tcPr marL="1028700"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Healthcare</a:t>
                      </a:r>
                      <a:endParaRPr sz="1100"/>
                    </a:p>
                  </a:txBody>
                  <a:tcPr marL="771525" marR="9525" marT="9525" marB="0" anchor="ctr"/>
                </a:tc>
              </a:tr>
              <a:tr h="175260">
                <a:tc>
                  <a:txBody>
                    <a:bodyPr wrap="square"/>
                    <a:lstStyle/>
                    <a:p>
                      <a:pPr algn="l"/>
                      <a:r>
                        <a:rPr sz="1100" b="0" i="1">
                          <a:solidFill>
                            <a:srgbClr val="000000"/>
                          </a:solidFill>
                          <a:latin typeface="Calibri"/>
                        </a:rPr>
                        <a:t>5.5.3.1.</a:t>
                      </a:r>
                      <a:r>
                        <a:rPr sz="700" b="0" i="1">
                          <a:solidFill>
                            <a:srgbClr val="000000"/>
                          </a:solidFill>
                          <a:latin typeface="Times New Roman"/>
                        </a:rPr>
                        <a:t>    </a:t>
                      </a:r>
                      <a:r>
                        <a:rPr sz="1100" b="0" i="1">
                          <a:solidFill>
                            <a:srgbClr val="000000"/>
                          </a:solidFill>
                          <a:latin typeface="Calibri"/>
                        </a:rPr>
                        <a:t>Pharmaceuticals</a:t>
                      </a:r>
                      <a:endParaRPr sz="1100"/>
                    </a:p>
                  </a:txBody>
                  <a:tcPr marL="1028700" marR="9525" marT="9525" marB="0" anchor="ctr"/>
                </a:tc>
              </a:tr>
              <a:tr h="175260">
                <a:tc>
                  <a:txBody>
                    <a:bodyPr wrap="square"/>
                    <a:lstStyle/>
                    <a:p>
                      <a:pPr algn="l"/>
                      <a:r>
                        <a:rPr sz="1100" b="0" i="1">
                          <a:solidFill>
                            <a:srgbClr val="000000"/>
                          </a:solidFill>
                          <a:latin typeface="Calibri"/>
                        </a:rPr>
                        <a:t>5.5.3.2.</a:t>
                      </a:r>
                      <a:r>
                        <a:rPr sz="700" b="0" i="1">
                          <a:solidFill>
                            <a:srgbClr val="000000"/>
                          </a:solidFill>
                          <a:latin typeface="Times New Roman"/>
                        </a:rPr>
                        <a:t>    </a:t>
                      </a:r>
                      <a:r>
                        <a:rPr sz="1100" b="0" i="1">
                          <a:solidFill>
                            <a:srgbClr val="000000"/>
                          </a:solidFill>
                          <a:latin typeface="Calibri"/>
                        </a:rPr>
                        <a:t>Medical Devices</a:t>
                      </a:r>
                      <a:endParaRPr sz="1100"/>
                    </a:p>
                  </a:txBody>
                  <a:tcPr marL="1028700" marR="9525" marT="9525" marB="0" anchor="ctr"/>
                </a:tc>
              </a:tr>
              <a:tr h="175260">
                <a:tc>
                  <a:txBody>
                    <a:bodyPr wrap="square"/>
                    <a:lstStyle/>
                    <a:p>
                      <a:pPr algn="l"/>
                      <a:r>
                        <a:rPr sz="1100" b="0" i="1">
                          <a:solidFill>
                            <a:srgbClr val="000000"/>
                          </a:solidFill>
                          <a:latin typeface="Calibri"/>
                        </a:rPr>
                        <a:t>5.5.3.3.</a:t>
                      </a:r>
                      <a:r>
                        <a:rPr sz="700" b="0" i="1">
                          <a:solidFill>
                            <a:srgbClr val="000000"/>
                          </a:solidFill>
                          <a:latin typeface="Times New Roman"/>
                        </a:rPr>
                        <a:t>    </a:t>
                      </a:r>
                      <a:r>
                        <a:rPr sz="1100" b="0" i="1">
                          <a:solidFill>
                            <a:srgbClr val="000000"/>
                          </a:solidFill>
                          <a:latin typeface="Calibri"/>
                        </a:rPr>
                        <a:t>Surgical Products</a:t>
                      </a:r>
                      <a:endParaRPr sz="1100"/>
                    </a:p>
                  </a:txBody>
                  <a:tcPr marL="1028700" marR="9525" marT="9525" marB="0" anchor="ctr"/>
                </a:tc>
              </a:tr>
              <a:tr h="175260">
                <a:tc>
                  <a:txBody>
                    <a:bodyPr wrap="square"/>
                    <a:lstStyle/>
                    <a:p>
                      <a:pPr algn="l"/>
                      <a:r>
                        <a:rPr sz="1100" b="0" i="1">
                          <a:solidFill>
                            <a:srgbClr val="000000"/>
                          </a:solidFill>
                          <a:latin typeface="Calibri"/>
                        </a:rPr>
                        <a:t>5.5.3.4.</a:t>
                      </a:r>
                      <a:r>
                        <a:rPr sz="700" b="0" i="1">
                          <a:solidFill>
                            <a:srgbClr val="000000"/>
                          </a:solidFill>
                          <a:latin typeface="Times New Roman"/>
                        </a:rPr>
                        <a:t>    </a:t>
                      </a:r>
                      <a:r>
                        <a:rPr sz="1100" b="0" i="1">
                          <a:solidFill>
                            <a:srgbClr val="000000"/>
                          </a:solidFill>
                          <a:latin typeface="Calibri"/>
                        </a:rPr>
                        <a:t>Diagnostic Kits</a:t>
                      </a:r>
                      <a:endParaRPr sz="1100"/>
                    </a:p>
                  </a:txBody>
                  <a:tcPr marL="1028700" marR="9525" marT="9525" marB="0" anchor="ctr"/>
                </a:tc>
              </a:tr>
              <a:tr h="175260">
                <a:tc>
                  <a:txBody>
                    <a:bodyPr wrap="square"/>
                    <a:lstStyle/>
                    <a:p>
                      <a:pPr algn="l"/>
                      <a:r>
                        <a:rPr sz="1100" b="0" i="1">
                          <a:solidFill>
                            <a:srgbClr val="000000"/>
                          </a:solidFill>
                          <a:latin typeface="Calibri"/>
                        </a:rPr>
                        <a:t>5.5.3.5.</a:t>
                      </a:r>
                      <a:r>
                        <a:rPr sz="700" b="0" i="1">
                          <a:solidFill>
                            <a:srgbClr val="000000"/>
                          </a:solidFill>
                          <a:latin typeface="Times New Roman"/>
                        </a:rPr>
                        <a:t>    </a:t>
                      </a:r>
                      <a:r>
                        <a:rPr sz="1100" b="0" i="1">
                          <a:solidFill>
                            <a:srgbClr val="000000"/>
                          </a:solidFill>
                          <a:latin typeface="Calibri"/>
                        </a:rPr>
                        <a:t>Laboratory Supplies</a:t>
                      </a:r>
                      <a:endParaRPr sz="1100"/>
                    </a:p>
                  </a:txBody>
                  <a:tcPr marL="1028700"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E-commerce &amp; Logistics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5.5.4.1.</a:t>
                      </a:r>
                      <a:r>
                        <a:rPr sz="700" b="0" i="1">
                          <a:solidFill>
                            <a:srgbClr val="000000"/>
                          </a:solidFill>
                          <a:latin typeface="Times New Roman"/>
                        </a:rPr>
                        <a:t>    </a:t>
                      </a:r>
                      <a:r>
                        <a:rPr sz="1100" b="0" i="1">
                          <a:solidFill>
                            <a:srgbClr val="000000"/>
                          </a:solidFill>
                          <a:latin typeface="Calibri"/>
                        </a:rPr>
                        <a:t>Courier Packaging</a:t>
                      </a:r>
                      <a:endParaRPr sz="1100"/>
                    </a:p>
                  </a:txBody>
                  <a:tcPr marL="1028700" marR="9525" marT="9525" marB="0" anchor="ctr"/>
                </a:tc>
              </a:tr>
              <a:tr h="175260">
                <a:tc>
                  <a:txBody>
                    <a:bodyPr wrap="square"/>
                    <a:lstStyle/>
                    <a:p>
                      <a:pPr algn="l"/>
                      <a:r>
                        <a:rPr sz="1100" b="0" i="1">
                          <a:solidFill>
                            <a:srgbClr val="000000"/>
                          </a:solidFill>
                          <a:latin typeface="Calibri"/>
                        </a:rPr>
                        <a:t>5.5.4.2.</a:t>
                      </a:r>
                      <a:r>
                        <a:rPr sz="700" b="0" i="1">
                          <a:solidFill>
                            <a:srgbClr val="000000"/>
                          </a:solidFill>
                          <a:latin typeface="Times New Roman"/>
                        </a:rPr>
                        <a:t>    </a:t>
                      </a:r>
                      <a:r>
                        <a:rPr sz="1100" b="0" i="1">
                          <a:solidFill>
                            <a:srgbClr val="000000"/>
                          </a:solidFill>
                          <a:latin typeface="Calibri"/>
                        </a:rPr>
                        <a:t>Fulfillment Centers</a:t>
                      </a:r>
                      <a:endParaRPr sz="1100"/>
                    </a:p>
                  </a:txBody>
                  <a:tcPr marL="1028700" marR="9525" marT="9525" marB="0" anchor="ctr"/>
                </a:tc>
              </a:tr>
              <a:tr h="175260">
                <a:tc>
                  <a:txBody>
                    <a:bodyPr wrap="square"/>
                    <a:lstStyle/>
                    <a:p>
                      <a:pPr algn="l"/>
                      <a:r>
                        <a:rPr sz="1100" b="0" i="1">
                          <a:solidFill>
                            <a:srgbClr val="000000"/>
                          </a:solidFill>
                          <a:latin typeface="Calibri"/>
                        </a:rPr>
                        <a:t>5.5.4.3.</a:t>
                      </a:r>
                      <a:r>
                        <a:rPr sz="700" b="0" i="1">
                          <a:solidFill>
                            <a:srgbClr val="000000"/>
                          </a:solidFill>
                          <a:latin typeface="Times New Roman"/>
                        </a:rPr>
                        <a:t>    </a:t>
                      </a:r>
                      <a:r>
                        <a:rPr sz="1100" b="0" i="1">
                          <a:solidFill>
                            <a:srgbClr val="000000"/>
                          </a:solidFill>
                          <a:latin typeface="Calibri"/>
                        </a:rPr>
                        <a:t>Return Packaging</a:t>
                      </a:r>
                      <a:endParaRPr sz="1100"/>
                    </a:p>
                  </a:txBody>
                  <a:tcPr marL="1028700" marR="9525" marT="9525" marB="0" anchor="ctr"/>
                </a:tc>
              </a:tr>
              <a:tr h="175260">
                <a:tc>
                  <a:txBody>
                    <a:bodyPr wrap="square"/>
                    <a:lstStyle/>
                    <a:p>
                      <a:pPr algn="l"/>
                      <a:r>
                        <a:rPr sz="1100" b="0" i="1">
                          <a:solidFill>
                            <a:srgbClr val="000000"/>
                          </a:solidFill>
                          <a:latin typeface="Calibri"/>
                        </a:rPr>
                        <a:t>5.5.4.4.</a:t>
                      </a:r>
                      <a:r>
                        <a:rPr sz="700" b="0" i="1">
                          <a:solidFill>
                            <a:srgbClr val="000000"/>
                          </a:solidFill>
                          <a:latin typeface="Times New Roman"/>
                        </a:rPr>
                        <a:t>    </a:t>
                      </a:r>
                      <a:r>
                        <a:rPr sz="1100" b="0" i="1">
                          <a:solidFill>
                            <a:srgbClr val="000000"/>
                          </a:solidFill>
                          <a:latin typeface="Calibri"/>
                        </a:rPr>
                        <a:t>Warehouse Packaging</a:t>
                      </a:r>
                      <a:endParaRPr sz="1100"/>
                    </a:p>
                  </a:txBody>
                  <a:tcPr marL="1028700"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Industrial</a:t>
                      </a:r>
                      <a:endParaRPr sz="1100"/>
                    </a:p>
                  </a:txBody>
                  <a:tcPr marL="771525" marR="9525" marT="9525" marB="0" anchor="ctr"/>
                </a:tc>
              </a:tr>
              <a:tr h="175260">
                <a:tc>
                  <a:txBody>
                    <a:bodyPr wrap="square"/>
                    <a:lstStyle/>
                    <a:p>
                      <a:pPr algn="l"/>
                      <a:r>
                        <a:rPr sz="1100" b="0" i="1">
                          <a:solidFill>
                            <a:srgbClr val="000000"/>
                          </a:solidFill>
                          <a:latin typeface="Calibri"/>
                        </a:rPr>
                        <a:t>5.5.5.1.</a:t>
                      </a:r>
                      <a:r>
                        <a:rPr sz="700" b="0" i="1">
                          <a:solidFill>
                            <a:srgbClr val="000000"/>
                          </a:solidFill>
                          <a:latin typeface="Times New Roman"/>
                        </a:rPr>
                        <a:t>    </a:t>
                      </a:r>
                      <a:r>
                        <a:rPr sz="1100" b="0" i="1">
                          <a:solidFill>
                            <a:srgbClr val="000000"/>
                          </a:solidFill>
                          <a:latin typeface="Calibri"/>
                        </a:rPr>
                        <a:t>Automotive Components</a:t>
                      </a:r>
                      <a:endParaRPr sz="1100"/>
                    </a:p>
                  </a:txBody>
                  <a:tcPr marL="1028700" marR="9525" marT="9525" marB="0" anchor="ctr"/>
                </a:tc>
              </a:tr>
              <a:tr h="175260">
                <a:tc>
                  <a:txBody>
                    <a:bodyPr wrap="square"/>
                    <a:lstStyle/>
                    <a:p>
                      <a:pPr algn="l"/>
                      <a:r>
                        <a:rPr sz="1100" b="0" i="1">
                          <a:solidFill>
                            <a:srgbClr val="000000"/>
                          </a:solidFill>
                          <a:latin typeface="Calibri"/>
                        </a:rPr>
                        <a:t>5.5.5.2.</a:t>
                      </a:r>
                      <a:r>
                        <a:rPr sz="700" b="0" i="1">
                          <a:solidFill>
                            <a:srgbClr val="000000"/>
                          </a:solidFill>
                          <a:latin typeface="Times New Roman"/>
                        </a:rPr>
                        <a:t>    </a:t>
                      </a:r>
                      <a:r>
                        <a:rPr sz="1100" b="0" i="1">
                          <a:solidFill>
                            <a:srgbClr val="000000"/>
                          </a:solidFill>
                          <a:latin typeface="Calibri"/>
                        </a:rPr>
                        <a:t>Chemicals</a:t>
                      </a:r>
                      <a:endParaRPr sz="1100"/>
                    </a:p>
                  </a:txBody>
                  <a:tcPr marL="1028700" marR="9525" marT="9525" marB="0" anchor="ctr"/>
                </a:tc>
              </a:tr>
              <a:tr h="175260">
                <a:tc>
                  <a:txBody>
                    <a:bodyPr wrap="square"/>
                    <a:lstStyle/>
                    <a:p>
                      <a:pPr algn="l"/>
                      <a:r>
                        <a:rPr sz="1100" b="0" i="1">
                          <a:solidFill>
                            <a:srgbClr val="000000"/>
                          </a:solidFill>
                          <a:latin typeface="Calibri"/>
                        </a:rPr>
                        <a:t>5.5.5.3.</a:t>
                      </a:r>
                      <a:r>
                        <a:rPr sz="700" b="0" i="1">
                          <a:solidFill>
                            <a:srgbClr val="000000"/>
                          </a:solidFill>
                          <a:latin typeface="Times New Roman"/>
                        </a:rPr>
                        <a:t>    </a:t>
                      </a:r>
                      <a:r>
                        <a:rPr sz="1100" b="0" i="1">
                          <a:solidFill>
                            <a:srgbClr val="000000"/>
                          </a:solidFill>
                          <a:latin typeface="Calibri"/>
                        </a:rPr>
                        <a:t>Machinery Parts</a:t>
                      </a:r>
                      <a:endParaRPr sz="1100"/>
                    </a:p>
                  </a:txBody>
                  <a:tcPr marL="1028700" marR="9525" marT="9525" marB="0" anchor="ctr"/>
                </a:tc>
              </a:tr>
              <a:tr h="175260">
                <a:tc>
                  <a:txBody>
                    <a:bodyPr wrap="square"/>
                    <a:lstStyle/>
                    <a:p>
                      <a:pPr algn="l"/>
                      <a:r>
                        <a:rPr sz="1100" b="0" i="1">
                          <a:solidFill>
                            <a:srgbClr val="000000"/>
                          </a:solidFill>
                          <a:latin typeface="Calibri"/>
                        </a:rPr>
                        <a:t>5.5.5.4.</a:t>
                      </a:r>
                      <a:r>
                        <a:rPr sz="700" b="0" i="1">
                          <a:solidFill>
                            <a:srgbClr val="000000"/>
                          </a:solidFill>
                          <a:latin typeface="Times New Roman"/>
                        </a:rPr>
                        <a:t>    </a:t>
                      </a:r>
                      <a:r>
                        <a:rPr sz="1100" b="0" i="1">
                          <a:solidFill>
                            <a:srgbClr val="000000"/>
                          </a:solidFill>
                          <a:latin typeface="Calibri"/>
                        </a:rPr>
                        <a:t>Hardware</a:t>
                      </a:r>
                      <a:endParaRPr sz="1100"/>
                    </a:p>
                  </a:txBody>
                  <a:tcPr marL="1028700" marR="9525" marT="9525" marB="0" anchor="ctr"/>
                </a:tc>
              </a:tr>
              <a:tr h="175260">
                <a:tc>
                  <a:txBody>
                    <a:bodyPr wrap="square"/>
                    <a:lstStyle/>
                    <a:p>
                      <a:pPr algn="l"/>
                      <a:r>
                        <a:rPr sz="1100" b="0" i="1">
                          <a:solidFill>
                            <a:srgbClr val="000000"/>
                          </a:solidFill>
                          <a:latin typeface="Calibri"/>
                        </a:rPr>
                        <a:t>5.5.5.5.</a:t>
                      </a:r>
                      <a:r>
                        <a:rPr sz="700" b="0" i="1">
                          <a:solidFill>
                            <a:srgbClr val="000000"/>
                          </a:solidFill>
                          <a:latin typeface="Times New Roman"/>
                        </a:rPr>
                        <a:t>    </a:t>
                      </a:r>
                      <a:r>
                        <a:rPr sz="1100" b="0" i="1">
                          <a:solidFill>
                            <a:srgbClr val="000000"/>
                          </a:solidFill>
                          <a:latin typeface="Calibri"/>
                        </a:rPr>
                        <a:t>Electrical Components</a:t>
                      </a:r>
                      <a:endParaRPr sz="1100"/>
                    </a:p>
                  </a:txBody>
                  <a:tcPr marL="1028700"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Agriculture</a:t>
                      </a:r>
                      <a:endParaRPr sz="1100"/>
                    </a:p>
                  </a:txBody>
                  <a:tcPr marL="771525" marR="9525" marT="9525" marB="0" anchor="ctr"/>
                </a:tc>
              </a:tr>
              <a:tr h="175260">
                <a:tc>
                  <a:txBody>
                    <a:bodyPr wrap="square"/>
                    <a:lstStyle/>
                    <a:p>
                      <a:pPr algn="l"/>
                      <a:r>
                        <a:rPr sz="1100" b="0" i="1">
                          <a:solidFill>
                            <a:srgbClr val="000000"/>
                          </a:solidFill>
                          <a:latin typeface="Calibri"/>
                        </a:rPr>
                        <a:t>5.5.6.1.</a:t>
                      </a:r>
                      <a:r>
                        <a:rPr sz="700" b="0" i="1">
                          <a:solidFill>
                            <a:srgbClr val="000000"/>
                          </a:solidFill>
                          <a:latin typeface="Times New Roman"/>
                        </a:rPr>
                        <a:t>    </a:t>
                      </a:r>
                      <a:r>
                        <a:rPr sz="1100" b="0" i="1">
                          <a:solidFill>
                            <a:srgbClr val="000000"/>
                          </a:solidFill>
                          <a:latin typeface="Calibri"/>
                        </a:rPr>
                        <a:t>Seeds</a:t>
                      </a:r>
                      <a:endParaRPr sz="1100"/>
                    </a:p>
                  </a:txBody>
                  <a:tcPr marL="1028700" marR="9525" marT="9525" marB="0" anchor="ctr"/>
                </a:tc>
              </a:tr>
              <a:tr h="175260">
                <a:tc>
                  <a:txBody>
                    <a:bodyPr wrap="square"/>
                    <a:lstStyle/>
                    <a:p>
                      <a:pPr algn="l"/>
                      <a:r>
                        <a:rPr sz="1100" b="0" i="1">
                          <a:solidFill>
                            <a:srgbClr val="000000"/>
                          </a:solidFill>
                          <a:latin typeface="Calibri"/>
                        </a:rPr>
                        <a:t>5.5.6.2.</a:t>
                      </a:r>
                      <a:r>
                        <a:rPr sz="700" b="0" i="1">
                          <a:solidFill>
                            <a:srgbClr val="000000"/>
                          </a:solidFill>
                          <a:latin typeface="Times New Roman"/>
                        </a:rPr>
                        <a:t>    </a:t>
                      </a:r>
                      <a:r>
                        <a:rPr sz="1100" b="0" i="1">
                          <a:solidFill>
                            <a:srgbClr val="000000"/>
                          </a:solidFill>
                          <a:latin typeface="Calibri"/>
                        </a:rPr>
                        <a:t>Fertilizers</a:t>
                      </a:r>
                      <a:endParaRPr sz="1100"/>
                    </a:p>
                  </a:txBody>
                  <a:tcPr marL="1028700" marR="9525" marT="9525" marB="0" anchor="ctr"/>
                </a:tc>
              </a:tr>
              <a:tr h="175260">
                <a:tc>
                  <a:txBody>
                    <a:bodyPr wrap="square"/>
                    <a:lstStyle/>
                    <a:p>
                      <a:pPr algn="l"/>
                      <a:r>
                        <a:rPr sz="1100" b="0" i="1">
                          <a:solidFill>
                            <a:srgbClr val="000000"/>
                          </a:solidFill>
                          <a:latin typeface="Calibri"/>
                        </a:rPr>
                        <a:t>5.5.6.3.</a:t>
                      </a:r>
                      <a:r>
                        <a:rPr sz="700" b="0" i="1">
                          <a:solidFill>
                            <a:srgbClr val="000000"/>
                          </a:solidFill>
                          <a:latin typeface="Times New Roman"/>
                        </a:rPr>
                        <a:t>    </a:t>
                      </a:r>
                      <a:r>
                        <a:rPr sz="1100" b="0" i="1">
                          <a:solidFill>
                            <a:srgbClr val="000000"/>
                          </a:solidFill>
                          <a:latin typeface="Calibri"/>
                        </a:rPr>
                        <a:t>Animal Feed</a:t>
                      </a:r>
                      <a:endParaRPr sz="1100"/>
                    </a:p>
                  </a:txBody>
                  <a:tcPr marL="1028700" marR="9525" marT="9525" marB="0" anchor="ctr"/>
                </a:tc>
              </a:tr>
              <a:tr h="175260">
                <a:tc>
                  <a:txBody>
                    <a:bodyPr wrap="square"/>
                    <a:lstStyle/>
                    <a:p>
                      <a:pPr algn="l"/>
                      <a:r>
                        <a:rPr sz="1100" b="0" i="1">
                          <a:solidFill>
                            <a:srgbClr val="000000"/>
                          </a:solidFill>
                          <a:latin typeface="Calibri"/>
                        </a:rPr>
                        <a:t>5.5.6.4.</a:t>
                      </a:r>
                      <a:r>
                        <a:rPr sz="700" b="0" i="1">
                          <a:solidFill>
                            <a:srgbClr val="000000"/>
                          </a:solidFill>
                          <a:latin typeface="Times New Roman"/>
                        </a:rPr>
                        <a:t>    </a:t>
                      </a:r>
                      <a:r>
                        <a:rPr sz="1100" b="0" i="1">
                          <a:solidFill>
                            <a:srgbClr val="000000"/>
                          </a:solidFill>
                          <a:latin typeface="Calibri"/>
                        </a:rPr>
                        <a:t>Produce Packaging</a:t>
                      </a:r>
                      <a:endParaRPr sz="1100"/>
                    </a:p>
                  </a:txBody>
                  <a:tcPr marL="1028700" marR="9525" marT="9525" marB="0" anchor="ctr"/>
                </a:tc>
              </a:tr>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Electronics</a:t>
                      </a:r>
                      <a:endParaRPr sz="1100"/>
                    </a:p>
                  </a:txBody>
                  <a:tcPr marL="771525" marR="9525" marT="9525" marB="0" anchor="ctr"/>
                </a:tc>
              </a:tr>
              <a:tr h="175260">
                <a:tc>
                  <a:txBody>
                    <a:bodyPr wrap="square"/>
                    <a:lstStyle/>
                    <a:p>
                      <a:pPr algn="l"/>
                      <a:r>
                        <a:rPr sz="1100" b="0" i="1">
                          <a:solidFill>
                            <a:srgbClr val="000000"/>
                          </a:solidFill>
                          <a:latin typeface="Calibri"/>
                        </a:rPr>
                        <a:t>5.5.7.1.</a:t>
                      </a:r>
                      <a:r>
                        <a:rPr sz="700" b="0" i="1">
                          <a:solidFill>
                            <a:srgbClr val="000000"/>
                          </a:solidFill>
                          <a:latin typeface="Times New Roman"/>
                        </a:rPr>
                        <a:t>    </a:t>
                      </a:r>
                      <a:r>
                        <a:rPr sz="1100" b="0" i="1">
                          <a:solidFill>
                            <a:srgbClr val="000000"/>
                          </a:solidFill>
                          <a:latin typeface="Calibri"/>
                        </a:rPr>
                        <a:t>Semiconductors</a:t>
                      </a:r>
                      <a:endParaRPr sz="1100"/>
                    </a:p>
                  </a:txBody>
                  <a:tcPr marL="1028700" marR="9525" marT="9525" marB="0" anchor="ctr"/>
                </a:tc>
              </a:tr>
              <a:tr h="175260">
                <a:tc>
                  <a:txBody>
                    <a:bodyPr wrap="square"/>
                    <a:lstStyle/>
                    <a:p>
                      <a:pPr algn="l"/>
                      <a:r>
                        <a:rPr sz="1100" b="0" i="1">
                          <a:solidFill>
                            <a:srgbClr val="000000"/>
                          </a:solidFill>
                          <a:latin typeface="Calibri"/>
                        </a:rPr>
                        <a:t>5.5.7.2.</a:t>
                      </a:r>
                      <a:r>
                        <a:rPr sz="700" b="0" i="1">
                          <a:solidFill>
                            <a:srgbClr val="000000"/>
                          </a:solidFill>
                          <a:latin typeface="Times New Roman"/>
                        </a:rPr>
                        <a:t>    </a:t>
                      </a:r>
                      <a:r>
                        <a:rPr sz="1100" b="0" i="1">
                          <a:solidFill>
                            <a:srgbClr val="000000"/>
                          </a:solidFill>
                          <a:latin typeface="Calibri"/>
                        </a:rPr>
                        <a:t>Consumer Electronics</a:t>
                      </a:r>
                      <a:endParaRPr sz="1100"/>
                    </a:p>
                  </a:txBody>
                  <a:tcPr marL="1028700" marR="9525" marT="9525" marB="0" anchor="ctr"/>
                </a:tc>
              </a:tr>
              <a:tr h="175260">
                <a:tc>
                  <a:txBody>
                    <a:bodyPr wrap="square"/>
                    <a:lstStyle/>
                    <a:p>
                      <a:pPr algn="l"/>
                      <a:r>
                        <a:rPr sz="1100" b="0" i="1">
                          <a:solidFill>
                            <a:srgbClr val="000000"/>
                          </a:solidFill>
                          <a:latin typeface="Calibri"/>
                        </a:rPr>
                        <a:t>5.5.7.3.</a:t>
                      </a:r>
                      <a:r>
                        <a:rPr sz="700" b="0" i="1">
                          <a:solidFill>
                            <a:srgbClr val="000000"/>
                          </a:solidFill>
                          <a:latin typeface="Times New Roman"/>
                        </a:rPr>
                        <a:t>    </a:t>
                      </a:r>
                      <a:r>
                        <a:rPr sz="1100" b="0" i="1">
                          <a:solidFill>
                            <a:srgbClr val="000000"/>
                          </a:solidFill>
                          <a:latin typeface="Calibri"/>
                        </a:rPr>
                        <a:t>Electronic Components</a:t>
                      </a:r>
                      <a:endParaRPr sz="1100"/>
                    </a:p>
                  </a:txBody>
                  <a:tcPr marL="1028700" marR="9525" marT="9525" marB="0" anchor="ctr"/>
                </a:tc>
              </a:tr>
              <a:tr h="175260">
                <a:tc>
                  <a:txBody>
                    <a:bodyPr wrap="square"/>
                    <a:lstStyle/>
                    <a:p>
                      <a:pPr algn="l"/>
                      <a:r>
                        <a:rPr sz="1100" b="0" i="1">
                          <a:solidFill>
                            <a:srgbClr val="000000"/>
                          </a:solidFill>
                          <a:latin typeface="Calibri"/>
                        </a:rPr>
                        <a:t>5.5.7.4.</a:t>
                      </a:r>
                      <a:r>
                        <a:rPr sz="700" b="0" i="1">
                          <a:solidFill>
                            <a:srgbClr val="000000"/>
                          </a:solidFill>
                          <a:latin typeface="Times New Roman"/>
                        </a:rPr>
                        <a:t>    </a:t>
                      </a:r>
                      <a:r>
                        <a:rPr sz="1100" b="0" i="1">
                          <a:solidFill>
                            <a:srgbClr val="000000"/>
                          </a:solidFill>
                          <a:latin typeface="Calibri"/>
                        </a:rPr>
                        <a:t>PCB Packaging</a:t>
                      </a:r>
                      <a:endParaRPr sz="1100"/>
                    </a:p>
                  </a:txBody>
                  <a:tcPr marL="1028700"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Personal Care &amp; Cosmetics</a:t>
                      </a:r>
                      <a:endParaRPr sz="1100"/>
                    </a:p>
                  </a:txBody>
                  <a:tcPr marL="771525" marR="9525" marT="9525" marB="0" anchor="ctr"/>
                </a:tc>
              </a:tr>
              <a:tr h="175260">
                <a:tc>
                  <a:txBody>
                    <a:bodyPr wrap="square"/>
                    <a:lstStyle/>
                    <a:p>
                      <a:pPr algn="l"/>
                      <a:r>
                        <a:rPr sz="1100" b="0" i="1">
                          <a:solidFill>
                            <a:srgbClr val="000000"/>
                          </a:solidFill>
                          <a:latin typeface="Calibri"/>
                        </a:rPr>
                        <a:t>5.5.8.1.</a:t>
                      </a:r>
                      <a:r>
                        <a:rPr sz="700" b="0" i="1">
                          <a:solidFill>
                            <a:srgbClr val="000000"/>
                          </a:solidFill>
                          <a:latin typeface="Times New Roman"/>
                        </a:rPr>
                        <a:t>    </a:t>
                      </a:r>
                      <a:r>
                        <a:rPr sz="1100" b="0" i="1">
                          <a:solidFill>
                            <a:srgbClr val="000000"/>
                          </a:solidFill>
                          <a:latin typeface="Calibri"/>
                        </a:rPr>
                        <a:t>Cosmetic Products</a:t>
                      </a:r>
                      <a:endParaRPr sz="1100"/>
                    </a:p>
                  </a:txBody>
                  <a:tcPr marL="1028700" marR="9525" marT="9525" marB="0" anchor="ctr"/>
                </a:tc>
              </a:tr>
              <a:tr h="175260">
                <a:tc>
                  <a:txBody>
                    <a:bodyPr wrap="square"/>
                    <a:lstStyle/>
                    <a:p>
                      <a:pPr algn="l"/>
                      <a:r>
                        <a:rPr sz="1100" b="0" i="1">
                          <a:solidFill>
                            <a:srgbClr val="000000"/>
                          </a:solidFill>
                          <a:latin typeface="Calibri"/>
                        </a:rPr>
                        <a:t>5.5.8.2.</a:t>
                      </a:r>
                      <a:r>
                        <a:rPr sz="700" b="0" i="1">
                          <a:solidFill>
                            <a:srgbClr val="000000"/>
                          </a:solidFill>
                          <a:latin typeface="Times New Roman"/>
                        </a:rPr>
                        <a:t>    </a:t>
                      </a:r>
                      <a:r>
                        <a:rPr sz="1100" b="0" i="1">
                          <a:solidFill>
                            <a:srgbClr val="000000"/>
                          </a:solidFill>
                          <a:latin typeface="Calibri"/>
                        </a:rPr>
                        <a:t>Toiletries</a:t>
                      </a:r>
                      <a:endParaRPr sz="1100"/>
                    </a:p>
                  </a:txBody>
                  <a:tcPr marL="1028700" marR="9525" marT="9525" marB="0" anchor="ctr"/>
                </a:tc>
              </a:tr>
              <a:tr h="175260">
                <a:tc>
                  <a:txBody>
                    <a:bodyPr wrap="square"/>
                    <a:lstStyle/>
                    <a:p>
                      <a:pPr algn="l"/>
                      <a:r>
                        <a:rPr sz="1100" b="0" i="1">
                          <a:solidFill>
                            <a:srgbClr val="000000"/>
                          </a:solidFill>
                          <a:latin typeface="Calibri"/>
                        </a:rPr>
                        <a:t>5.5.8.3.</a:t>
                      </a:r>
                      <a:r>
                        <a:rPr sz="700" b="0" i="1">
                          <a:solidFill>
                            <a:srgbClr val="000000"/>
                          </a:solidFill>
                          <a:latin typeface="Times New Roman"/>
                        </a:rPr>
                        <a:t>    </a:t>
                      </a:r>
                      <a:r>
                        <a:rPr sz="1100" b="0" i="1">
                          <a:solidFill>
                            <a:srgbClr val="000000"/>
                          </a:solidFill>
                          <a:latin typeface="Calibri"/>
                        </a:rPr>
                        <a:t>Beauty Products</a:t>
                      </a:r>
                      <a:endParaRPr sz="1100"/>
                    </a:p>
                  </a:txBody>
                  <a:tcPr marL="1028700"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6.5.1.1.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6.5.1.2.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6.5.2.1.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6.5.2.2.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6.5.2.3.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6.5.3.1.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6.5.3.2.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6.5.3.3.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6.5.4.1.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6.5.4.2.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6.5.4.3.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6.5.4.4.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6.5.4.5.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6.5.4.6.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6.5.4.7.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6.5.4.8.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6.5.4.9.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6.5.5.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6.5.5.1.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6.5.5.2.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6.5.5.3.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6.5.5.4.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6.5.5.5.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6.5.5.6.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6.5.5.7.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6.5.5.8.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6.5.5.9.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6.5.5.10.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6.5.5.11.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6.5.5.12.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6.5.6.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6.5.6.1.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6.5.6.2.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6.5.6.3.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6.5.6.4.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6.5.6.5.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6.5.6.6.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6.5.6.7.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tr>
              <a:tr h="350520">
                <a:tc>
                  <a:txBody>
                    <a:bodyPr wrap="square"/>
                    <a:lstStyle/>
                    <a:p>
                      <a:pPr algn="l"/>
                      <a:r>
                        <a:rPr sz="1100" b="0" i="1">
                          <a:solidFill>
                            <a:srgbClr val="EE0000"/>
                          </a:solidFill>
                          <a:latin typeface="Calibri"/>
                        </a:rPr>
                        <a:t>Note: Value &amp; Volume (US$ Mn /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Product Type × End-Use Industry</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End-Use Industry × Material</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8.4.1.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8.4.2.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8.4.3.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9.4.1.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9.4.2.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9.4.3.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10.4.1.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10.4.2.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10.4.3.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14.1.1.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14.1.2.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14.1.3.</a:t>
                      </a:r>
                      <a:r>
                        <a:rPr sz="700" b="0" i="0">
                          <a:solidFill>
                            <a:srgbClr val="000000"/>
                          </a:solidFill>
                          <a:latin typeface="Times New Roman"/>
                        </a:rPr>
                        <a:t> </a:t>
                      </a:r>
                      <a:r>
                        <a:rPr sz="1100" b="0" i="0">
                          <a:solidFill>
                            <a:srgbClr val="000000"/>
                          </a:solidFill>
                          <a:latin typeface="Calibri"/>
                        </a:rPr>
                        <a:t>Retail Pricing (where applicable)</a:t>
                      </a:r>
                      <a:endParaRPr sz="1100"/>
                    </a:p>
                  </a:txBody>
                  <a:tcPr marL="7715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Segment-wise Price Comparison (Product Type vs Material)</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14.6.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15.1.1.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15.1.2.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15.1.3.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16.1.1.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tr>
              <a:tr h="175260">
                <a:tc>
                  <a:txBody>
                    <a:bodyPr wrap="square"/>
                    <a:lstStyle/>
                    <a:p>
                      <a:pPr algn="l"/>
                      <a:r>
                        <a:rPr sz="1100" b="0" i="0">
                          <a:solidFill>
                            <a:srgbClr val="000000"/>
                          </a:solidFill>
                          <a:latin typeface="Calibri"/>
                        </a:rPr>
                        <a:t>16.1.2.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tr>
              <a:tr h="175260">
                <a:tc>
                  <a:txBody>
                    <a:bodyPr wrap="square"/>
                    <a:lstStyle/>
                    <a:p>
                      <a:pPr algn="l"/>
                      <a:r>
                        <a:rPr sz="1100" b="0" i="0">
                          <a:solidFill>
                            <a:srgbClr val="000000"/>
                          </a:solidFill>
                          <a:latin typeface="Calibri"/>
                        </a:rPr>
                        <a:t>16.1.3.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16.2.1.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16.2.2.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16.2.3.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16.6.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16.7.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16.8.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16.9.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Formula Requirements</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FDA</a:t>
                      </a:r>
                      <a:endParaRPr sz="1100"/>
                    </a:p>
                  </a:txBody>
                  <a:tcPr marL="771525" marR="9525" marT="9525" marB="0" anchor="ctr"/>
                </a:tc>
              </a:tr>
              <a:tr h="175260">
                <a:tc>
                  <a:txBody>
                    <a:bodyPr wrap="square"/>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USDA</a:t>
                      </a:r>
                      <a:endParaRPr sz="1100"/>
                    </a:p>
                  </a:txBody>
                  <a:tcPr marL="771525" marR="9525" marT="9525" marB="0" anchor="ctr"/>
                </a:tc>
              </a:tr>
              <a:tr h="175260">
                <a:tc>
                  <a:txBody>
                    <a:bodyPr wrap="square"/>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FASSAI</a:t>
                      </a:r>
                      <a:endParaRPr sz="1100"/>
                    </a:p>
                  </a:txBody>
                  <a:tcPr marL="771525" marR="9525" marT="9525" marB="0" anchor="ctr"/>
                </a:tc>
              </a:tr>
              <a:tr h="175260">
                <a:tc>
                  <a:txBody>
                    <a:bodyPr wrap="square"/>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EU Commissions</a:t>
                      </a:r>
                      <a:endParaRPr sz="1100"/>
                    </a:p>
                  </a:txBody>
                  <a:tcPr marL="7715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19.3.1.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19.3.2.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19.3.3.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7: Competition Assessment</a:t>
                      </a:r>
                      <a:endParaRPr sz="1100"/>
                    </a:p>
                  </a:txBody>
                  <a:tcPr marL="9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Amcor plc</a:t>
                      </a:r>
                      <a:endParaRPr sz="1100"/>
                    </a:p>
                  </a:txBody>
                  <a:tcPr marL="428625" marR="9525" marT="9525" marB="0" anchor="ctr"/>
                </a:tc>
              </a:tr>
              <a:tr h="175260">
                <a:tc>
                  <a:txBody>
                    <a:bodyPr wrap="square"/>
                    <a:lstStyle/>
                    <a:p>
                      <a:pPr algn="l"/>
                      <a:r>
                        <a:rPr sz="1100" b="0" i="0">
                          <a:solidFill>
                            <a:srgbClr val="000000"/>
                          </a:solidFill>
                          <a:latin typeface="Calibri"/>
                        </a:rPr>
                        <a:t>23.1.1.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23.1.2.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23.1.3.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23.1.4.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23.1.4.1.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23.1.4.2.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23.1.4.3.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23.1.5.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23.1.6.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23.1.6.1.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23.1.6.2.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403098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23.1.6.3.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23.1.6.4.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23.1.7.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23.1.8.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Sealed Air Corporation</a:t>
                      </a:r>
                      <a:endParaRPr sz="1100"/>
                    </a:p>
                  </a:txBody>
                  <a:tcPr marL="428625" marR="9525" marT="9525" marB="0" anchor="ctr"/>
                </a:tc>
              </a:tr>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Inteplast Group</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Novolex</a:t>
                      </a:r>
                      <a:endParaRPr sz="1100"/>
                    </a:p>
                  </a:txBody>
                  <a:tcPr marL="428625" marR="9525" marT="9525" marB="0" anchor="ctr"/>
                </a:tc>
              </a:tr>
              <a:tr h="175260">
                <a:tc>
                  <a:txBody>
                    <a:bodyPr wrap="square"/>
                    <a:lstStyle/>
                    <a:p>
                      <a:pPr algn="l"/>
                      <a:r>
                        <a:rPr sz="1100" b="0" i="0">
                          <a:solidFill>
                            <a:srgbClr val="0070C0"/>
                          </a:solidFill>
                          <a:latin typeface="Calibri"/>
                        </a:rPr>
                        <a:t>23.5.</a:t>
                      </a:r>
                      <a:r>
                        <a:rPr sz="700" b="0" i="0">
                          <a:solidFill>
                            <a:srgbClr val="0070C0"/>
                          </a:solidFill>
                          <a:latin typeface="Times New Roman"/>
                        </a:rPr>
                        <a:t>  </a:t>
                      </a:r>
                      <a:r>
                        <a:rPr sz="1100" b="0" i="0">
                          <a:solidFill>
                            <a:srgbClr val="0070C0"/>
                          </a:solidFill>
                          <a:latin typeface="Calibri"/>
                        </a:rPr>
                        <a:t>Coveris</a:t>
                      </a:r>
                      <a:endParaRPr sz="1100"/>
                    </a:p>
                  </a:txBody>
                  <a:tcPr marL="428625" marR="9525" marT="9525" marB="0" anchor="ctr"/>
                </a:tc>
              </a:tr>
              <a:tr h="175260">
                <a:tc>
                  <a:txBody>
                    <a:bodyPr wrap="square"/>
                    <a:lstStyle/>
                    <a:p>
                      <a:pPr algn="l"/>
                      <a:r>
                        <a:rPr sz="1100" b="0" i="0">
                          <a:solidFill>
                            <a:srgbClr val="0070C0"/>
                          </a:solidFill>
                          <a:latin typeface="Calibri"/>
                        </a:rPr>
                        <a:t>23.6.</a:t>
                      </a:r>
                      <a:r>
                        <a:rPr sz="700" b="0" i="0">
                          <a:solidFill>
                            <a:srgbClr val="0070C0"/>
                          </a:solidFill>
                          <a:latin typeface="Times New Roman"/>
                        </a:rPr>
                        <a:t>  </a:t>
                      </a:r>
                      <a:r>
                        <a:rPr sz="1100" b="0" i="0">
                          <a:solidFill>
                            <a:srgbClr val="0070C0"/>
                          </a:solidFill>
                          <a:latin typeface="Calibri"/>
                        </a:rPr>
                        <a:t>Printpack</a:t>
                      </a:r>
                      <a:endParaRPr sz="1100"/>
                    </a:p>
                  </a:txBody>
                  <a:tcPr marL="428625" marR="9525" marT="9525" marB="0" anchor="ctr"/>
                </a:tc>
              </a:tr>
              <a:tr h="175260">
                <a:tc>
                  <a:txBody>
                    <a:bodyPr wrap="square"/>
                    <a:lstStyle/>
                    <a:p>
                      <a:pPr algn="l"/>
                      <a:r>
                        <a:rPr sz="1100" b="0" i="0">
                          <a:solidFill>
                            <a:srgbClr val="0070C0"/>
                          </a:solidFill>
                          <a:latin typeface="Calibri"/>
                        </a:rPr>
                        <a:t>23.7.</a:t>
                      </a:r>
                      <a:r>
                        <a:rPr sz="700" b="0" i="0">
                          <a:solidFill>
                            <a:srgbClr val="0070C0"/>
                          </a:solidFill>
                          <a:latin typeface="Times New Roman"/>
                        </a:rPr>
                        <a:t>  </a:t>
                      </a:r>
                      <a:r>
                        <a:rPr sz="1100" b="0" i="0">
                          <a:solidFill>
                            <a:srgbClr val="0070C0"/>
                          </a:solidFill>
                          <a:latin typeface="Calibri"/>
                        </a:rPr>
                        <a:t>Winpak Ltd.</a:t>
                      </a:r>
                      <a:endParaRPr sz="1100"/>
                    </a:p>
                  </a:txBody>
                  <a:tcPr marL="428625" marR="9525" marT="9525" marB="0" anchor="ctr"/>
                </a:tc>
              </a:tr>
              <a:tr h="175260">
                <a:tc>
                  <a:txBody>
                    <a:bodyPr wrap="square"/>
                    <a:lstStyle/>
                    <a:p>
                      <a:pPr algn="l"/>
                      <a:r>
                        <a:rPr sz="1100" b="0" i="0">
                          <a:solidFill>
                            <a:srgbClr val="0070C0"/>
                          </a:solidFill>
                          <a:latin typeface="Calibri"/>
                        </a:rPr>
                        <a:t>23.8.</a:t>
                      </a:r>
                      <a:r>
                        <a:rPr sz="700" b="0" i="0">
                          <a:solidFill>
                            <a:srgbClr val="0070C0"/>
                          </a:solidFill>
                          <a:latin typeface="Times New Roman"/>
                        </a:rPr>
                        <a:t>  </a:t>
                      </a:r>
                      <a:r>
                        <a:rPr sz="1100" b="0" i="0">
                          <a:solidFill>
                            <a:srgbClr val="0070C0"/>
                          </a:solidFill>
                          <a:latin typeface="Calibri"/>
                        </a:rPr>
                        <a:t>Huhtamaki</a:t>
                      </a:r>
                      <a:endParaRPr sz="1100"/>
                    </a:p>
                  </a:txBody>
                  <a:tcPr marL="428625" marR="9525" marT="9525" marB="0" anchor="ctr"/>
                </a:tc>
              </a:tr>
              <a:tr h="175260">
                <a:tc>
                  <a:txBody>
                    <a:bodyPr wrap="square"/>
                    <a:lstStyle/>
                    <a:p>
                      <a:pPr algn="l"/>
                      <a:r>
                        <a:rPr sz="1100" b="0" i="0">
                          <a:solidFill>
                            <a:srgbClr val="0070C0"/>
                          </a:solidFill>
                          <a:latin typeface="Calibri"/>
                        </a:rPr>
                        <a:t>23.9.</a:t>
                      </a:r>
                      <a:r>
                        <a:rPr sz="700" b="0" i="0">
                          <a:solidFill>
                            <a:srgbClr val="0070C0"/>
                          </a:solidFill>
                          <a:latin typeface="Times New Roman"/>
                        </a:rPr>
                        <a:t>  </a:t>
                      </a:r>
                      <a:r>
                        <a:rPr sz="1100" b="0" i="0">
                          <a:solidFill>
                            <a:srgbClr val="0070C0"/>
                          </a:solidFill>
                          <a:latin typeface="Calibri"/>
                        </a:rPr>
                        <a:t>Berry Global Group</a:t>
                      </a:r>
                      <a:endParaRPr sz="1100"/>
                    </a:p>
                  </a:txBody>
                  <a:tcPr marL="428625" marR="9525" marT="9525" marB="0" anchor="ctr"/>
                </a:tc>
              </a:tr>
              <a:tr h="175260">
                <a:tc>
                  <a:txBody>
                    <a:bodyPr wrap="square"/>
                    <a:lstStyle/>
                    <a:p>
                      <a:pPr algn="l"/>
                      <a:r>
                        <a:rPr sz="1100" b="0" i="0">
                          <a:solidFill>
                            <a:srgbClr val="0070C0"/>
                          </a:solidFill>
                          <a:latin typeface="Calibri"/>
                        </a:rPr>
                        <a:t>23.10.</a:t>
                      </a:r>
                      <a:r>
                        <a:rPr sz="700" b="0" i="0">
                          <a:solidFill>
                            <a:srgbClr val="0070C0"/>
                          </a:solidFill>
                          <a:latin typeface="Times New Roman"/>
                        </a:rPr>
                        <a:t> </a:t>
                      </a:r>
                      <a:r>
                        <a:rPr sz="1100" b="0" i="0">
                          <a:solidFill>
                            <a:srgbClr val="0070C0"/>
                          </a:solidFill>
                          <a:latin typeface="Calibri"/>
                        </a:rPr>
                        <a:t>Mondi Group</a:t>
                      </a:r>
                      <a:endParaRPr sz="1100"/>
                    </a:p>
                  </a:txBody>
                  <a:tcPr marL="428625" marR="9525" marT="9525" marB="0" anchor="ctr"/>
                </a:tc>
              </a:tr>
              <a:tr h="175260">
                <a:tc>
                  <a:txBody>
                    <a:bodyPr wrap="square"/>
                    <a:lstStyle/>
                    <a:p>
                      <a:pPr algn="l"/>
                      <a:r>
                        <a:rPr sz="1100" b="0" i="0">
                          <a:solidFill>
                            <a:srgbClr val="0070C0"/>
                          </a:solidFill>
                          <a:latin typeface="Calibri"/>
                        </a:rPr>
                        <a:t>23.11.</a:t>
                      </a:r>
                      <a:r>
                        <a:rPr sz="700" b="0" i="0">
                          <a:solidFill>
                            <a:srgbClr val="0070C0"/>
                          </a:solidFill>
                          <a:latin typeface="Times New Roman"/>
                        </a:rPr>
                        <a:t> </a:t>
                      </a:r>
                      <a:r>
                        <a:rPr sz="1100" b="0" i="0">
                          <a:solidFill>
                            <a:srgbClr val="0070C0"/>
                          </a:solidFill>
                          <a:latin typeface="Calibri"/>
                        </a:rPr>
                        <a:t>Pactiv Evergreen</a:t>
                      </a:r>
                      <a:endParaRPr sz="1100"/>
                    </a:p>
                  </a:txBody>
                  <a:tcPr marL="428625" marR="9525" marT="9525" marB="0" anchor="ctr"/>
                </a:tc>
              </a:tr>
              <a:tr h="175260">
                <a:tc>
                  <a:txBody>
                    <a:bodyPr wrap="square"/>
                    <a:lstStyle/>
                    <a:p>
                      <a:pPr algn="l"/>
                      <a:r>
                        <a:rPr sz="1100" b="0" i="0">
                          <a:solidFill>
                            <a:srgbClr val="0070C0"/>
                          </a:solidFill>
                          <a:latin typeface="Calibri"/>
                        </a:rPr>
                        <a:t>23.12.</a:t>
                      </a:r>
                      <a:r>
                        <a:rPr sz="700" b="0" i="0">
                          <a:solidFill>
                            <a:srgbClr val="0070C0"/>
                          </a:solidFill>
                          <a:latin typeface="Times New Roman"/>
                        </a:rPr>
                        <a:t> </a:t>
                      </a:r>
                      <a:r>
                        <a:rPr sz="1100" b="0" i="0">
                          <a:solidFill>
                            <a:srgbClr val="0070C0"/>
                          </a:solidFill>
                          <a:latin typeface="Calibri"/>
                        </a:rPr>
                        <a:t>Sonoco Products Company</a:t>
                      </a:r>
                      <a:endParaRPr sz="1100"/>
                    </a:p>
                  </a:txBody>
                  <a:tcPr marL="428625" marR="9525" marT="9525" marB="0" anchor="ctr"/>
                </a:tc>
              </a:tr>
              <a:tr h="175260">
                <a:tc>
                  <a:txBody>
                    <a:bodyPr wrap="square"/>
                    <a:lstStyle/>
                    <a:p>
                      <a:pPr algn="l"/>
                      <a:r>
                        <a:rPr sz="1100" b="0" i="0">
                          <a:solidFill>
                            <a:srgbClr val="0070C0"/>
                          </a:solidFill>
                          <a:latin typeface="Calibri"/>
                        </a:rPr>
                        <a:t>23.13.</a:t>
                      </a:r>
                      <a:r>
                        <a:rPr sz="700" b="0" i="0">
                          <a:solidFill>
                            <a:srgbClr val="0070C0"/>
                          </a:solidFill>
                          <a:latin typeface="Times New Roman"/>
                        </a:rPr>
                        <a:t> </a:t>
                      </a:r>
                      <a:r>
                        <a:rPr sz="1100" b="0" i="0">
                          <a:solidFill>
                            <a:srgbClr val="0070C0"/>
                          </a:solidFill>
                          <a:latin typeface="Calibri"/>
                        </a:rPr>
                        <a:t>A-Pac Manufacturing Co., Inc.</a:t>
                      </a:r>
                      <a:endParaRPr sz="1100"/>
                    </a:p>
                  </a:txBody>
                  <a:tcPr marL="428625" marR="9525" marT="9525" marB="0" anchor="ctr"/>
                </a:tc>
              </a:tr>
              <a:tr h="175260">
                <a:tc>
                  <a:txBody>
                    <a:bodyPr wrap="square"/>
                    <a:lstStyle/>
                    <a:p>
                      <a:pPr algn="l"/>
                      <a:r>
                        <a:rPr sz="1100" b="0" i="0">
                          <a:solidFill>
                            <a:srgbClr val="0070C0"/>
                          </a:solidFill>
                          <a:latin typeface="Calibri"/>
                        </a:rPr>
                        <a:t>23.14.</a:t>
                      </a:r>
                      <a:r>
                        <a:rPr sz="700" b="0" i="0">
                          <a:solidFill>
                            <a:srgbClr val="0070C0"/>
                          </a:solidFill>
                          <a:latin typeface="Times New Roman"/>
                        </a:rPr>
                        <a:t> </a:t>
                      </a:r>
                      <a:r>
                        <a:rPr sz="1100" b="0" i="0">
                          <a:solidFill>
                            <a:srgbClr val="0070C0"/>
                          </a:solidFill>
                          <a:latin typeface="Calibri"/>
                        </a:rPr>
                        <a:t>PPC Flex</a:t>
                      </a:r>
                      <a:endParaRPr sz="1100"/>
                    </a:p>
                  </a:txBody>
                  <a:tcPr marL="428625" marR="9525" marT="9525" marB="0" anchor="ctr"/>
                </a:tc>
              </a:tr>
              <a:tr h="175260">
                <a:tc>
                  <a:txBody>
                    <a:bodyPr wrap="square"/>
                    <a:lstStyle/>
                    <a:p>
                      <a:pPr algn="l"/>
                      <a:r>
                        <a:rPr sz="1100" b="0" i="0">
                          <a:solidFill>
                            <a:srgbClr val="0070C0"/>
                          </a:solidFill>
                          <a:latin typeface="Calibri"/>
                        </a:rPr>
                        <a:t>23.15.</a:t>
                      </a:r>
                      <a:r>
                        <a:rPr sz="700" b="0" i="0">
                          <a:solidFill>
                            <a:srgbClr val="0070C0"/>
                          </a:solidFill>
                          <a:latin typeface="Times New Roman"/>
                        </a:rPr>
                        <a:t> </a:t>
                      </a:r>
                      <a:r>
                        <a:rPr sz="1100" b="0" i="0">
                          <a:solidFill>
                            <a:srgbClr val="0070C0"/>
                          </a:solidFill>
                          <a:latin typeface="Calibri"/>
                        </a:rPr>
                        <a:t>Arihant Packers</a:t>
                      </a:r>
                      <a:endParaRPr sz="1100"/>
                    </a:p>
                  </a:txBody>
                  <a:tcPr marL="428625" marR="9525" marT="9525" marB="0" anchor="ctr"/>
                </a:tc>
              </a:tr>
              <a:tr h="175260">
                <a:tc>
                  <a:txBody>
                    <a:bodyPr wrap="square"/>
                    <a:lstStyle/>
                    <a:p>
                      <a:pPr algn="l"/>
                      <a:r>
                        <a:rPr sz="1100" b="0" i="0">
                          <a:solidFill>
                            <a:srgbClr val="0070C0"/>
                          </a:solidFill>
                          <a:latin typeface="Calibri"/>
                        </a:rPr>
                        <a:t>23.16.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EE0000"/>
                          </a:solidFill>
                          <a:latin typeface="Calibri"/>
                        </a:rPr>
                        <a:t>ADD SECTIONS AS PER STORY LINE</a:t>
                      </a:r>
                      <a:endParaRPr sz="1100"/>
                    </a:p>
                  </a:txBody>
                  <a:tcPr marL="9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Global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Global Market Share by Product Type, %, 2026</a:t>
                      </a:r>
                      <a:endParaRPr sz="1050"/>
                    </a:p>
                  </a:txBody>
                  <a:tcPr marL="9525" marR="9525" marT="9525" marB="0" anchor="ctr"/>
                </a:tc>
              </a:tr>
              <a:tr h="169606">
                <a:tc>
                  <a:txBody>
                    <a:bodyPr wrap="square"/>
                    <a:lstStyle/>
                    <a:p>
                      <a:pPr algn="l"/>
                      <a:r>
                        <a:rPr sz="1050" b="0" i="0">
                          <a:solidFill>
                            <a:srgbClr val="000000"/>
                          </a:solidFill>
                          <a:latin typeface="Calibri"/>
                        </a:rPr>
                        <a:t>Figure 5: Global Market Share by Material Type, %, 2026</a:t>
                      </a:r>
                      <a:endParaRPr sz="1050"/>
                    </a:p>
                  </a:txBody>
                  <a:tcPr marL="9525" marR="9525" marT="9525" marB="0" anchor="ctr"/>
                </a:tc>
              </a:tr>
              <a:tr h="169606">
                <a:tc>
                  <a:txBody>
                    <a:bodyPr wrap="square"/>
                    <a:lstStyle/>
                    <a:p>
                      <a:pPr algn="l"/>
                      <a:r>
                        <a:rPr sz="1050" b="0" i="0">
                          <a:solidFill>
                            <a:srgbClr val="000000"/>
                          </a:solidFill>
                          <a:latin typeface="Calibri"/>
                        </a:rPr>
                        <a:t>Figure 6: Global Market Share by Technology, %, 2026</a:t>
                      </a:r>
                      <a:endParaRPr sz="1050"/>
                    </a:p>
                  </a:txBody>
                  <a:tcPr marL="9525" marR="9525" marT="9525" marB="0" anchor="ctr"/>
                </a:tc>
              </a:tr>
              <a:tr h="169606">
                <a:tc>
                  <a:txBody>
                    <a:bodyPr wrap="square"/>
                    <a:lstStyle/>
                    <a:p>
                      <a:pPr algn="l"/>
                      <a:r>
                        <a:rPr sz="1050" b="0" i="0">
                          <a:solidFill>
                            <a:srgbClr val="000000"/>
                          </a:solidFill>
                          <a:latin typeface="Calibri"/>
                        </a:rPr>
                        <a:t>Figure 7: Global Market Share by End User, %, 2026</a:t>
                      </a:r>
                      <a:endParaRPr sz="1050"/>
                    </a:p>
                  </a:txBody>
                  <a:tcPr marL="9525" marR="9525" marT="9525" marB="0" anchor="ctr"/>
                </a:tc>
              </a:tr>
              <a:tr h="169606">
                <a:tc>
                  <a:txBody>
                    <a:bodyPr wrap="square"/>
                    <a:lstStyle/>
                    <a:p>
                      <a:pPr algn="l"/>
                      <a:r>
                        <a:rPr sz="1050" b="0" i="0">
                          <a:solidFill>
                            <a:srgbClr val="000000"/>
                          </a:solidFill>
                          <a:latin typeface="Calibri"/>
                        </a:rPr>
                        <a:t>Figure 8: Global Market Share by Distribution Channel, %, 2026</a:t>
                      </a:r>
                      <a:endParaRPr sz="1050"/>
                    </a:p>
                  </a:txBody>
                  <a:tcPr marL="9525" marR="9525" marT="9525" marB="0" anchor="ctr"/>
                </a:tc>
              </a:tr>
              <a:tr h="169606">
                <a:tc>
                  <a:txBody>
                    <a:bodyPr wrap="square"/>
                    <a:lstStyle/>
                    <a:p>
                      <a:pPr algn="l"/>
                      <a:r>
                        <a:rPr sz="1050" b="0" i="0">
                          <a:solidFill>
                            <a:srgbClr val="000000"/>
                          </a:solidFill>
                          <a:latin typeface="Calibri"/>
                        </a:rPr>
                        <a:t>Figure 9: Global Market Share by Patient Age Group, %, 2026</a:t>
                      </a:r>
                      <a:endParaRPr sz="1050"/>
                    </a:p>
                  </a:txBody>
                  <a:tcPr marL="9525" marR="9525" marT="9525" marB="0" anchor="ctr"/>
                </a:tc>
              </a:tr>
              <a:tr h="169606">
                <a:tc>
                  <a:txBody>
                    <a:bodyPr wrap="square"/>
                    <a:lstStyle/>
                    <a:p>
                      <a:pPr algn="l"/>
                      <a:r>
                        <a:rPr sz="1050" b="0" i="0">
                          <a:solidFill>
                            <a:srgbClr val="000000"/>
                          </a:solidFill>
                          <a:latin typeface="Calibri"/>
                        </a:rPr>
                        <a:t>Figure 10: Global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11: Global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12: Global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13: Global Market Volume and YoY Growth, Units and %, 2021–2036</a:t>
                      </a:r>
                      <a:endParaRPr sz="1050"/>
                    </a:p>
                  </a:txBody>
                  <a:tcPr marL="9525" marR="9525" marT="9525" marB="0" anchor="ctr"/>
                </a:tc>
              </a:tr>
              <a:tr h="169606">
                <a:tc>
                  <a:txBody>
                    <a:bodyPr wrap="square"/>
                    <a:lstStyle/>
                    <a:p>
                      <a:pPr algn="l"/>
                      <a:r>
                        <a:rPr sz="1050" b="0" i="0">
                          <a:solidFill>
                            <a:srgbClr val="000000"/>
                          </a:solidFill>
                          <a:latin typeface="Calibri"/>
                        </a:rPr>
                        <a:t>Figure 14: Global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15: Global Market Average Selling Price, US$/Units, 2021–2036</a:t>
                      </a:r>
                      <a:endParaRPr sz="1050"/>
                    </a:p>
                  </a:txBody>
                  <a:tcPr marL="9525" marR="9525" marT="9525" marB="0" anchor="ctr"/>
                </a:tc>
              </a:tr>
              <a:tr h="169606">
                <a:tc>
                  <a:txBody>
                    <a:bodyPr wrap="square"/>
                    <a:lstStyle/>
                    <a:p>
                      <a:pPr algn="l"/>
                      <a:r>
                        <a:rPr sz="1050" b="0" i="0">
                          <a:solidFill>
                            <a:srgbClr val="000000"/>
                          </a:solidFill>
                          <a:latin typeface="Calibri"/>
                        </a:rPr>
                        <a:t>Figure 16: Global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17: Global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18: Global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19: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20: Global Market Size Evolution Index, 2025=100, 2021–2036</a:t>
                      </a:r>
                      <a:endParaRPr sz="1050"/>
                    </a:p>
                  </a:txBody>
                  <a:tcPr marL="9525" marR="9525" marT="9525" marB="0" anchor="ctr"/>
                </a:tc>
              </a:tr>
              <a:tr h="169606">
                <a:tc>
                  <a:txBody>
                    <a:bodyPr wrap="square"/>
                    <a:lstStyle/>
                    <a:p>
                      <a:pPr algn="l"/>
                      <a:r>
                        <a:rPr sz="1050" b="0" i="0">
                          <a:solidFill>
                            <a:srgbClr val="000000"/>
                          </a:solidFill>
                          <a:latin typeface="Calibri"/>
                        </a:rPr>
                        <a:t>Figure 21: Global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22: Global Market Value by Material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23: Global Market Value by Technology, US$ Mn, 2021–2036</a:t>
                      </a:r>
                      <a:endParaRPr sz="1050"/>
                    </a:p>
                  </a:txBody>
                  <a:tcPr marL="9525" marR="9525" marT="9525" marB="0" anchor="ctr"/>
                </a:tc>
              </a:tr>
              <a:tr h="169606">
                <a:tc>
                  <a:txBody>
                    <a:bodyPr wrap="square"/>
                    <a:lstStyle/>
                    <a:p>
                      <a:pPr algn="l"/>
                      <a:r>
                        <a:rPr sz="1050" b="0" i="0">
                          <a:solidFill>
                            <a:srgbClr val="000000"/>
                          </a:solidFill>
                          <a:latin typeface="Calibri"/>
                        </a:rPr>
                        <a:t>Figure 24: Global Market Value by End User, US$ Mn, 2021–2036</a:t>
                      </a:r>
                      <a:endParaRPr sz="1050"/>
                    </a:p>
                  </a:txBody>
                  <a:tcPr marL="9525" marR="9525" marT="9525" marB="0" anchor="ctr"/>
                </a:tc>
              </a:tr>
              <a:tr h="169606">
                <a:tc>
                  <a:txBody>
                    <a:bodyPr wrap="square"/>
                    <a:lstStyle/>
                    <a:p>
                      <a:pPr algn="l"/>
                      <a:r>
                        <a:rPr sz="1050" b="0" i="0">
                          <a:solidFill>
                            <a:srgbClr val="000000"/>
                          </a:solidFill>
                          <a:latin typeface="Calibri"/>
                        </a:rPr>
                        <a:t>Figure 25: Global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Figure 26: Global Market Value by Patient Age Group, US$ Mn, 2021–2036</a:t>
                      </a:r>
                      <a:endParaRPr sz="1050"/>
                    </a:p>
                  </a:txBody>
                  <a:tcPr marL="9525" marR="9525" marT="9525" marB="0" anchor="ctr"/>
                </a:tc>
              </a:tr>
              <a:tr h="169606">
                <a:tc>
                  <a:txBody>
                    <a:bodyPr wrap="square"/>
                    <a:lstStyle/>
                    <a:p>
                      <a:pPr algn="l"/>
                      <a:r>
                        <a:rPr sz="1050" b="0" i="0">
                          <a:solidFill>
                            <a:srgbClr val="000000"/>
                          </a:solidFill>
                          <a:latin typeface="Calibri"/>
                        </a:rPr>
                        <a:t>Figure 27: Global Market Share by Product Type, %, 2026 and 2036</a:t>
                      </a:r>
                      <a:endParaRPr sz="1050"/>
                    </a:p>
                  </a:txBody>
                  <a:tcPr marL="9525" marR="9525" marT="9525" marB="0" anchor="ctr"/>
                </a:tc>
              </a:tr>
              <a:tr h="169606">
                <a:tc>
                  <a:txBody>
                    <a:bodyPr wrap="square"/>
                    <a:lstStyle/>
                    <a:p>
                      <a:pPr algn="l"/>
                      <a:r>
                        <a:rPr sz="1050" b="0" i="0">
                          <a:solidFill>
                            <a:srgbClr val="000000"/>
                          </a:solidFill>
                          <a:latin typeface="Calibri"/>
                        </a:rPr>
                        <a:t>Figure 28: Global Market Share by Material Type, %, 2026 and 2036</a:t>
                      </a:r>
                      <a:endParaRPr sz="1050"/>
                    </a:p>
                  </a:txBody>
                  <a:tcPr marL="9525" marR="9525" marT="9525" marB="0" anchor="ctr"/>
                </a:tc>
              </a:tr>
              <a:tr h="169606">
                <a:tc>
                  <a:txBody>
                    <a:bodyPr wrap="square"/>
                    <a:lstStyle/>
                    <a:p>
                      <a:pPr algn="l"/>
                      <a:r>
                        <a:rPr sz="1050" b="0" i="0">
                          <a:solidFill>
                            <a:srgbClr val="000000"/>
                          </a:solidFill>
                          <a:latin typeface="Calibri"/>
                        </a:rPr>
                        <a:t>Figure 29: Global Market Share by Technology, %, 2026 and 2036</a:t>
                      </a:r>
                      <a:endParaRPr sz="1050"/>
                    </a:p>
                  </a:txBody>
                  <a:tcPr marL="9525" marR="9525" marT="9525" marB="0" anchor="ctr"/>
                </a:tc>
              </a:tr>
              <a:tr h="169606">
                <a:tc>
                  <a:txBody>
                    <a:bodyPr wrap="square"/>
                    <a:lstStyle/>
                    <a:p>
                      <a:pPr algn="l"/>
                      <a:r>
                        <a:rPr sz="1050" b="0" i="0">
                          <a:solidFill>
                            <a:srgbClr val="000000"/>
                          </a:solidFill>
                          <a:latin typeface="Calibri"/>
                        </a:rPr>
                        <a:t>Figure 30: Global Market Share by End User, %, 2026 and 2036</a:t>
                      </a:r>
                      <a:endParaRPr sz="1050"/>
                    </a:p>
                  </a:txBody>
                  <a:tcPr marL="9525" marR="9525" marT="9525" marB="0" anchor="ctr"/>
                </a:tc>
              </a:tr>
              <a:tr h="169606">
                <a:tc>
                  <a:txBody>
                    <a:bodyPr wrap="square"/>
                    <a:lstStyle/>
                    <a:p>
                      <a:pPr algn="l"/>
                      <a:r>
                        <a:rPr sz="1050" b="0" i="0">
                          <a:solidFill>
                            <a:srgbClr val="000000"/>
                          </a:solidFill>
                          <a:latin typeface="Calibri"/>
                        </a:rPr>
                        <a:t>Figure 31: Global Market Share by Distribution Channel,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32: Global Market Share by Patient Age Group, %, 2026 and 2036</a:t>
                      </a:r>
                      <a:endParaRPr sz="1050"/>
                    </a:p>
                  </a:txBody>
                  <a:tcPr marL="9525" marR="9525" marT="9525" marB="0" anchor="ctr"/>
                </a:tc>
              </a:tr>
              <a:tr h="169606">
                <a:tc>
                  <a:txBody>
                    <a:bodyPr wrap="square"/>
                    <a:lstStyle/>
                    <a:p>
                      <a:pPr algn="l"/>
                      <a:r>
                        <a:rPr sz="1050" b="0" i="0">
                          <a:solidFill>
                            <a:srgbClr val="000000"/>
                          </a:solidFill>
                          <a:latin typeface="Calibri"/>
                        </a:rPr>
                        <a:t>Figure 33: Global Market Absolute $ Opportunity by Product Type, US$ Mn, 2026–2036</a:t>
                      </a:r>
                      <a:endParaRPr sz="1050"/>
                    </a:p>
                  </a:txBody>
                  <a:tcPr marL="9525" marR="9525" marT="9525" marB="0" anchor="ctr"/>
                </a:tc>
              </a:tr>
              <a:tr h="169606">
                <a:tc>
                  <a:txBody>
                    <a:bodyPr wrap="square"/>
                    <a:lstStyle/>
                    <a:p>
                      <a:pPr algn="l"/>
                      <a:r>
                        <a:rPr sz="1050" b="0" i="0">
                          <a:solidFill>
                            <a:srgbClr val="000000"/>
                          </a:solidFill>
                          <a:latin typeface="Calibri"/>
                        </a:rPr>
                        <a:t>Figure 34: Global Market Absolute $ Opportunity by Material Type, US$ Mn, 2026–2036</a:t>
                      </a:r>
                      <a:endParaRPr sz="1050"/>
                    </a:p>
                  </a:txBody>
                  <a:tcPr marL="9525" marR="9525" marT="9525" marB="0" anchor="ctr"/>
                </a:tc>
              </a:tr>
              <a:tr h="169606">
                <a:tc>
                  <a:txBody>
                    <a:bodyPr wrap="square"/>
                    <a:lstStyle/>
                    <a:p>
                      <a:pPr algn="l"/>
                      <a:r>
                        <a:rPr sz="1050" b="0" i="0">
                          <a:solidFill>
                            <a:srgbClr val="000000"/>
                          </a:solidFill>
                          <a:latin typeface="Calibri"/>
                        </a:rPr>
                        <a:t>Figure 35: Global Market Absolute $ Opportunity by Technology, US$ Mn, 2026–2036</a:t>
                      </a:r>
                      <a:endParaRPr sz="1050"/>
                    </a:p>
                  </a:txBody>
                  <a:tcPr marL="9525" marR="9525" marT="9525" marB="0" anchor="ctr"/>
                </a:tc>
              </a:tr>
              <a:tr h="169606">
                <a:tc>
                  <a:txBody>
                    <a:bodyPr wrap="square"/>
                    <a:lstStyle/>
                    <a:p>
                      <a:pPr algn="l"/>
                      <a:r>
                        <a:rPr sz="1050" b="0" i="0">
                          <a:solidFill>
                            <a:srgbClr val="000000"/>
                          </a:solidFill>
                          <a:latin typeface="Calibri"/>
                        </a:rPr>
                        <a:t>Figure 36: Global Market Absolute $ Opportunity by End User, US$ Mn, 2026–2036</a:t>
                      </a:r>
                      <a:endParaRPr sz="1050"/>
                    </a:p>
                  </a:txBody>
                  <a:tcPr marL="9525" marR="9525" marT="9525" marB="0" anchor="ctr"/>
                </a:tc>
              </a:tr>
              <a:tr h="169606">
                <a:tc>
                  <a:txBody>
                    <a:bodyPr wrap="square"/>
                    <a:lstStyle/>
                    <a:p>
                      <a:pPr algn="l"/>
                      <a:r>
                        <a:rPr sz="1050" b="0" i="0">
                          <a:solidFill>
                            <a:srgbClr val="000000"/>
                          </a:solidFill>
                          <a:latin typeface="Calibri"/>
                        </a:rPr>
                        <a:t>Figure 37: Global Market Absolute $ Opportunity by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Figure 38: Global Market Absolute $ Opportunity by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Figure 39: Global Market BPS Share Change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40: Global Market BPS Share Change by Material Type, 2026–2036</a:t>
                      </a:r>
                      <a:endParaRPr sz="1050"/>
                    </a:p>
                  </a:txBody>
                  <a:tcPr marL="9525" marR="9525" marT="9525" marB="0" anchor="ctr"/>
                </a:tc>
              </a:tr>
              <a:tr h="169606">
                <a:tc>
                  <a:txBody>
                    <a:bodyPr wrap="square"/>
                    <a:lstStyle/>
                    <a:p>
                      <a:pPr algn="l"/>
                      <a:r>
                        <a:rPr sz="1050" b="0" i="0">
                          <a:solidFill>
                            <a:srgbClr val="000000"/>
                          </a:solidFill>
                          <a:latin typeface="Calibri"/>
                        </a:rPr>
                        <a:t>Figure 41: Global Market BPS Share Change by Technology, 2026–2036</a:t>
                      </a:r>
                      <a:endParaRPr sz="1050"/>
                    </a:p>
                  </a:txBody>
                  <a:tcPr marL="9525" marR="9525" marT="9525" marB="0" anchor="ctr"/>
                </a:tc>
              </a:tr>
              <a:tr h="169606">
                <a:tc>
                  <a:txBody>
                    <a:bodyPr wrap="square"/>
                    <a:lstStyle/>
                    <a:p>
                      <a:pPr algn="l"/>
                      <a:r>
                        <a:rPr sz="1050" b="0" i="0">
                          <a:solidFill>
                            <a:srgbClr val="000000"/>
                          </a:solidFill>
                          <a:latin typeface="Calibri"/>
                        </a:rPr>
                        <a:t>Figure 42: Global Market BPS Share Change by End User, 2026–2036</a:t>
                      </a:r>
                      <a:endParaRPr sz="1050"/>
                    </a:p>
                  </a:txBody>
                  <a:tcPr marL="9525" marR="9525" marT="9525" marB="0" anchor="ctr"/>
                </a:tc>
              </a:tr>
              <a:tr h="169606">
                <a:tc>
                  <a:txBody>
                    <a:bodyPr wrap="square"/>
                    <a:lstStyle/>
                    <a:p>
                      <a:pPr algn="l"/>
                      <a:r>
                        <a:rPr sz="1050" b="0" i="0">
                          <a:solidFill>
                            <a:srgbClr val="000000"/>
                          </a:solidFill>
                          <a:latin typeface="Calibri"/>
                        </a:rPr>
                        <a:t>Figure 43: Global Market BPS Share Change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44: Global Market BPS Share Change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Figure 45: Global Market YoY Growth by Product Type, %, 2026–2036</a:t>
                      </a:r>
                      <a:endParaRPr sz="1050"/>
                    </a:p>
                  </a:txBody>
                  <a:tcPr marL="9525" marR="9525" marT="9525" marB="0" anchor="ctr"/>
                </a:tc>
              </a:tr>
              <a:tr h="169606">
                <a:tc>
                  <a:txBody>
                    <a:bodyPr wrap="square"/>
                    <a:lstStyle/>
                    <a:p>
                      <a:pPr algn="l"/>
                      <a:r>
                        <a:rPr sz="1050" b="0" i="0">
                          <a:solidFill>
                            <a:srgbClr val="000000"/>
                          </a:solidFill>
                          <a:latin typeface="Calibri"/>
                        </a:rPr>
                        <a:t>Figure 46: Global Market YoY Growth by Material Type, %, 2026–2036</a:t>
                      </a:r>
                      <a:endParaRPr sz="1050"/>
                    </a:p>
                  </a:txBody>
                  <a:tcPr marL="9525" marR="9525" marT="9525" marB="0" anchor="ctr"/>
                </a:tc>
              </a:tr>
              <a:tr h="169606">
                <a:tc>
                  <a:txBody>
                    <a:bodyPr wrap="square"/>
                    <a:lstStyle/>
                    <a:p>
                      <a:pPr algn="l"/>
                      <a:r>
                        <a:rPr sz="1050" b="0" i="0">
                          <a:solidFill>
                            <a:srgbClr val="000000"/>
                          </a:solidFill>
                          <a:latin typeface="Calibri"/>
                        </a:rPr>
                        <a:t>Figure 47: Global Market YoY Growth by Technology, %, 2026–2036</a:t>
                      </a:r>
                      <a:endParaRPr sz="1050"/>
                    </a:p>
                  </a:txBody>
                  <a:tcPr marL="9525" marR="9525" marT="9525" marB="0" anchor="ctr"/>
                </a:tc>
              </a:tr>
              <a:tr h="169606">
                <a:tc>
                  <a:txBody>
                    <a:bodyPr wrap="square"/>
                    <a:lstStyle/>
                    <a:p>
                      <a:pPr algn="l"/>
                      <a:r>
                        <a:rPr sz="1050" b="0" i="0">
                          <a:solidFill>
                            <a:srgbClr val="000000"/>
                          </a:solidFill>
                          <a:latin typeface="Calibri"/>
                        </a:rPr>
                        <a:t>Figure 48: Global Market YoY Growth by End User, %, 2026–2036</a:t>
                      </a:r>
                      <a:endParaRPr sz="1050"/>
                    </a:p>
                  </a:txBody>
                  <a:tcPr marL="9525" marR="9525" marT="9525" marB="0" anchor="ctr"/>
                </a:tc>
              </a:tr>
              <a:tr h="169606">
                <a:tc>
                  <a:txBody>
                    <a:bodyPr wrap="square"/>
                    <a:lstStyle/>
                    <a:p>
                      <a:pPr algn="l"/>
                      <a:r>
                        <a:rPr sz="1050" b="0" i="0">
                          <a:solidFill>
                            <a:srgbClr val="000000"/>
                          </a:solidFill>
                          <a:latin typeface="Calibri"/>
                        </a:rPr>
                        <a:t>Figure 49: Global Market YoY Growth by Distribution Channel, %, 2026–2036</a:t>
                      </a:r>
                      <a:endParaRPr sz="1050"/>
                    </a:p>
                  </a:txBody>
                  <a:tcPr marL="9525" marR="9525" marT="9525" marB="0" anchor="ctr"/>
                </a:tc>
              </a:tr>
              <a:tr h="169606">
                <a:tc>
                  <a:txBody>
                    <a:bodyPr wrap="square"/>
                    <a:lstStyle/>
                    <a:p>
                      <a:pPr algn="l"/>
                      <a:r>
                        <a:rPr sz="1050" b="0" i="0">
                          <a:solidFill>
                            <a:srgbClr val="000000"/>
                          </a:solidFill>
                          <a:latin typeface="Calibri"/>
                        </a:rPr>
                        <a:t>Figure 50: Global Market YoY Growth by Patient Age Group, %, 2026–2036</a:t>
                      </a:r>
                      <a:endParaRPr sz="1050"/>
                    </a:p>
                  </a:txBody>
                  <a:tcPr marL="9525" marR="9525" marT="9525" marB="0" anchor="ctr"/>
                </a:tc>
              </a:tr>
              <a:tr h="169606">
                <a:tc>
                  <a:txBody>
                    <a:bodyPr wrap="square"/>
                    <a:lstStyle/>
                    <a:p>
                      <a:pPr algn="l"/>
                      <a:r>
                        <a:rPr sz="1050" b="0" i="0">
                          <a:solidFill>
                            <a:srgbClr val="000000"/>
                          </a:solidFill>
                          <a:latin typeface="Calibri"/>
                        </a:rPr>
                        <a:t>Figure 51: Global Market Attractiveness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52: Global Market Attractiveness by Material Type, 2026–2036</a:t>
                      </a:r>
                      <a:endParaRPr sz="1050"/>
                    </a:p>
                  </a:txBody>
                  <a:tcPr marL="9525" marR="9525" marT="9525" marB="0" anchor="ctr"/>
                </a:tc>
              </a:tr>
              <a:tr h="169606">
                <a:tc>
                  <a:txBody>
                    <a:bodyPr wrap="square"/>
                    <a:lstStyle/>
                    <a:p>
                      <a:pPr algn="l"/>
                      <a:r>
                        <a:rPr sz="1050" b="0" i="0">
                          <a:solidFill>
                            <a:srgbClr val="000000"/>
                          </a:solidFill>
                          <a:latin typeface="Calibri"/>
                        </a:rPr>
                        <a:t>Figure 53: Global Market Attractiveness by Technology, 2026–2036</a:t>
                      </a:r>
                      <a:endParaRPr sz="1050"/>
                    </a:p>
                  </a:txBody>
                  <a:tcPr marL="9525" marR="9525" marT="9525" marB="0" anchor="ctr"/>
                </a:tc>
              </a:tr>
              <a:tr h="169606">
                <a:tc>
                  <a:txBody>
                    <a:bodyPr wrap="square"/>
                    <a:lstStyle/>
                    <a:p>
                      <a:pPr algn="l"/>
                      <a:r>
                        <a:rPr sz="1050" b="0" i="0">
                          <a:solidFill>
                            <a:srgbClr val="000000"/>
                          </a:solidFill>
                          <a:latin typeface="Calibri"/>
                        </a:rPr>
                        <a:t>Figure 54: Global Market Attractiveness by End User, 2026–2036</a:t>
                      </a:r>
                      <a:endParaRPr sz="1050"/>
                    </a:p>
                  </a:txBody>
                  <a:tcPr marL="9525" marR="9525" marT="9525" marB="0" anchor="ctr"/>
                </a:tc>
              </a:tr>
              <a:tr h="169606">
                <a:tc>
                  <a:txBody>
                    <a:bodyPr wrap="square"/>
                    <a:lstStyle/>
                    <a:p>
                      <a:pPr algn="l"/>
                      <a:r>
                        <a:rPr sz="1050" b="0" i="0">
                          <a:solidFill>
                            <a:srgbClr val="000000"/>
                          </a:solidFill>
                          <a:latin typeface="Calibri"/>
                        </a:rPr>
                        <a:t>Figure 55: Global Market Attractiveness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56: Global Market Attractiveness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Figure 57: Global Market Volume by Product Type, Units, 2021–2036</a:t>
                      </a:r>
                      <a:endParaRPr sz="1050"/>
                    </a:p>
                  </a:txBody>
                  <a:tcPr marL="9525" marR="9525" marT="9525" marB="0" anchor="ctr"/>
                </a:tc>
              </a:tr>
              <a:tr h="169606">
                <a:tc>
                  <a:txBody>
                    <a:bodyPr wrap="square"/>
                    <a:lstStyle/>
                    <a:p>
                      <a:pPr algn="l"/>
                      <a:r>
                        <a:rPr sz="1050" b="0" i="0">
                          <a:solidFill>
                            <a:srgbClr val="000000"/>
                          </a:solidFill>
                          <a:latin typeface="Calibri"/>
                        </a:rPr>
                        <a:t>Figure 58: Global Market Volume by Material Type, Units, 2021–2036</a:t>
                      </a:r>
                      <a:endParaRPr sz="1050"/>
                    </a:p>
                  </a:txBody>
                  <a:tcPr marL="9525" marR="9525" marT="9525" marB="0" anchor="ctr"/>
                </a:tc>
              </a:tr>
              <a:tr h="169606">
                <a:tc>
                  <a:txBody>
                    <a:bodyPr wrap="square"/>
                    <a:lstStyle/>
                    <a:p>
                      <a:pPr algn="l"/>
                      <a:r>
                        <a:rPr sz="1050" b="0" i="0">
                          <a:solidFill>
                            <a:srgbClr val="000000"/>
                          </a:solidFill>
                          <a:latin typeface="Calibri"/>
                        </a:rPr>
                        <a:t>Figure 59: Global Market Volume by Technology, Units, 2021–2036</a:t>
                      </a:r>
                      <a:endParaRPr sz="1050"/>
                    </a:p>
                  </a:txBody>
                  <a:tcPr marL="9525" marR="9525" marT="9525" marB="0" anchor="ctr"/>
                </a:tc>
              </a:tr>
              <a:tr h="169606">
                <a:tc>
                  <a:txBody>
                    <a:bodyPr wrap="square"/>
                    <a:lstStyle/>
                    <a:p>
                      <a:pPr algn="l"/>
                      <a:r>
                        <a:rPr sz="1050" b="0" i="0">
                          <a:solidFill>
                            <a:srgbClr val="000000"/>
                          </a:solidFill>
                          <a:latin typeface="Calibri"/>
                        </a:rPr>
                        <a:t>Figure 60: Global Market Volume by End User, Units, 2021–2036</a:t>
                      </a:r>
                      <a:endParaRPr sz="1050"/>
                    </a:p>
                  </a:txBody>
                  <a:tcPr marL="9525" marR="9525" marT="9525" marB="0" anchor="ctr"/>
                </a:tc>
              </a:tr>
              <a:tr h="169606">
                <a:tc>
                  <a:txBody>
                    <a:bodyPr wrap="square"/>
                    <a:lstStyle/>
                    <a:p>
                      <a:pPr algn="l"/>
                      <a:r>
                        <a:rPr sz="1050" b="0" i="0">
                          <a:solidFill>
                            <a:srgbClr val="000000"/>
                          </a:solidFill>
                          <a:latin typeface="Calibri"/>
                        </a:rPr>
                        <a:t>Figure 61: Global Market Volume by Distribution Channel, Units, 2021–2036</a:t>
                      </a:r>
                      <a:endParaRPr sz="1050"/>
                    </a:p>
                  </a:txBody>
                  <a:tcPr marL="9525" marR="9525" marT="9525" marB="0" anchor="ctr"/>
                </a:tc>
              </a:tr>
              <a:tr h="169606">
                <a:tc>
                  <a:txBody>
                    <a:bodyPr wrap="square"/>
                    <a:lstStyle/>
                    <a:p>
                      <a:pPr algn="l"/>
                      <a:r>
                        <a:rPr sz="1050" b="0" i="0">
                          <a:solidFill>
                            <a:srgbClr val="000000"/>
                          </a:solidFill>
                          <a:latin typeface="Calibri"/>
                        </a:rPr>
                        <a:t>Figure 62: Global Market Volume by Patient Age Group, Units,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63: Global Market Average Selling Price by Product Type, US$/Units, 2021–2036</a:t>
                      </a:r>
                      <a:endParaRPr sz="1050"/>
                    </a:p>
                  </a:txBody>
                  <a:tcPr marL="9525" marR="9525" marT="9525" marB="0" anchor="ctr"/>
                </a:tc>
              </a:tr>
              <a:tr h="169606">
                <a:tc>
                  <a:txBody>
                    <a:bodyPr wrap="square"/>
                    <a:lstStyle/>
                    <a:p>
                      <a:pPr algn="l"/>
                      <a:r>
                        <a:rPr sz="1050" b="0" i="0">
                          <a:solidFill>
                            <a:srgbClr val="000000"/>
                          </a:solidFill>
                          <a:latin typeface="Calibri"/>
                        </a:rPr>
                        <a:t>Figure 64: Global Market Average Selling Price by Material Type, US$/Units, 2021–2036</a:t>
                      </a:r>
                      <a:endParaRPr sz="1050"/>
                    </a:p>
                  </a:txBody>
                  <a:tcPr marL="9525" marR="9525" marT="9525" marB="0" anchor="ctr"/>
                </a:tc>
              </a:tr>
              <a:tr h="169606">
                <a:tc>
                  <a:txBody>
                    <a:bodyPr wrap="square"/>
                    <a:lstStyle/>
                    <a:p>
                      <a:pPr algn="l"/>
                      <a:r>
                        <a:rPr sz="1050" b="0" i="0">
                          <a:solidFill>
                            <a:srgbClr val="000000"/>
                          </a:solidFill>
                          <a:latin typeface="Calibri"/>
                        </a:rPr>
                        <a:t>Figure 65: Product Type × Material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66: Product Type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67: Product Type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68: Product Type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69: Product Type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70: Material Type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71: Material Type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72: Material Type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73: Material Type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74: Technology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75: Technology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76: Technology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77: End User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78: End User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79: Distribution Channel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80: Region × Product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81: Region × Material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82: Region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83: Region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84: Region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85: Region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86: Global Market Value by Region, US$ Mn, 2021–2036</a:t>
                      </a:r>
                      <a:endParaRPr sz="1050"/>
                    </a:p>
                  </a:txBody>
                  <a:tcPr marL="9525" marR="9525" marT="9525" marB="0" anchor="ctr"/>
                </a:tc>
              </a:tr>
              <a:tr h="169606">
                <a:tc>
                  <a:txBody>
                    <a:bodyPr wrap="square"/>
                    <a:lstStyle/>
                    <a:p>
                      <a:pPr algn="l"/>
                      <a:r>
                        <a:rPr sz="1050" b="0" i="0">
                          <a:solidFill>
                            <a:srgbClr val="000000"/>
                          </a:solidFill>
                          <a:latin typeface="Calibri"/>
                        </a:rPr>
                        <a:t>Figure 87: Global Market Share by Region, %, 2026 and 2036</a:t>
                      </a:r>
                      <a:endParaRPr sz="1050"/>
                    </a:p>
                  </a:txBody>
                  <a:tcPr marL="9525" marR="9525" marT="9525" marB="0" anchor="ctr"/>
                </a:tc>
              </a:tr>
              <a:tr h="169606">
                <a:tc>
                  <a:txBody>
                    <a:bodyPr wrap="square"/>
                    <a:lstStyle/>
                    <a:p>
                      <a:pPr algn="l"/>
                      <a:r>
                        <a:rPr sz="1050" b="0" i="0">
                          <a:solidFill>
                            <a:srgbClr val="000000"/>
                          </a:solidFill>
                          <a:latin typeface="Calibri"/>
                        </a:rPr>
                        <a:t>Figure 88: Global Market CAGR by Region, %, 2026–2036</a:t>
                      </a:r>
                      <a:endParaRPr sz="1050"/>
                    </a:p>
                  </a:txBody>
                  <a:tcPr marL="9525" marR="9525" marT="9525" marB="0" anchor="ctr"/>
                </a:tc>
              </a:tr>
              <a:tr h="169606">
                <a:tc>
                  <a:txBody>
                    <a:bodyPr wrap="square"/>
                    <a:lstStyle/>
                    <a:p>
                      <a:pPr algn="l"/>
                      <a:r>
                        <a:rPr sz="1050" b="0" i="0">
                          <a:solidFill>
                            <a:srgbClr val="000000"/>
                          </a:solidFill>
                          <a:latin typeface="Calibri"/>
                        </a:rPr>
                        <a:t>Figure 89: Global Market Absolute $ Opportunity by Region, US$ Mn, 2026–2036</a:t>
                      </a:r>
                      <a:endParaRPr sz="1050"/>
                    </a:p>
                  </a:txBody>
                  <a:tcPr marL="9525" marR="9525" marT="9525" marB="0" anchor="ctr"/>
                </a:tc>
              </a:tr>
              <a:tr h="169606">
                <a:tc>
                  <a:txBody>
                    <a:bodyPr wrap="square"/>
                    <a:lstStyle/>
                    <a:p>
                      <a:pPr algn="l"/>
                      <a:r>
                        <a:rPr sz="1050" b="0" i="0">
                          <a:solidFill>
                            <a:srgbClr val="000000"/>
                          </a:solidFill>
                          <a:latin typeface="Calibri"/>
                        </a:rPr>
                        <a:t>Figure 90: Global Market Attractiveness by Region, 2026–2036</a:t>
                      </a:r>
                      <a:endParaRPr sz="1050"/>
                    </a:p>
                  </a:txBody>
                  <a:tcPr marL="9525" marR="9525" marT="9525" marB="0" anchor="ctr"/>
                </a:tc>
              </a:tr>
              <a:tr h="169606">
                <a:tc>
                  <a:txBody>
                    <a:bodyPr wrap="square"/>
                    <a:lstStyle/>
                    <a:p>
                      <a:pPr algn="l"/>
                      <a:r>
                        <a:rPr sz="1050" b="0" i="0">
                          <a:solidFill>
                            <a:srgbClr val="000000"/>
                          </a:solidFill>
                          <a:latin typeface="Calibri"/>
                        </a:rPr>
                        <a:t>Figure 91: Global Market BPS Share Change by Region, 2026–2036</a:t>
                      </a:r>
                      <a:endParaRPr sz="1050"/>
                    </a:p>
                  </a:txBody>
                  <a:tcPr marL="9525" marR="9525" marT="9525" marB="0" anchor="ctr"/>
                </a:tc>
              </a:tr>
              <a:tr h="169606">
                <a:tc>
                  <a:txBody>
                    <a:bodyPr wrap="square"/>
                    <a:lstStyle/>
                    <a:p>
                      <a:pPr algn="l"/>
                      <a:r>
                        <a:rPr sz="1050" b="0" i="0">
                          <a:solidFill>
                            <a:srgbClr val="000000"/>
                          </a:solidFill>
                          <a:latin typeface="Calibri"/>
                        </a:rPr>
                        <a:t>Figure 92: North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93: Latin America Market Value and YoY Growth,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94: Europe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95: East Asia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96: South Asia &amp; Pacific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97: Middle East &amp; Africa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98: North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99: Latin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100: Europe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101: East Asia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102: South Asia &amp; Pacific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103: Middle East &amp; Africa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104: North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105: Latin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106: Europe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107: East Asia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108: South Asia &amp; Pacific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109: Middle East &amp; Africa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110: North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111: Latin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112: Europe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113: East Asia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114: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115: U.S.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116: U.S. Market Value by End User,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117: U.S.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118: U.S. Market Value by Material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119: U.S.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120: U.S.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121: U.S.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122: Germany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123: Germany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124: Germany Market Value by End User, US$ Mn,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125: Germany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126: Germany Market Value by Material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127: Germany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128: Germany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129: Germany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130: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131: Canada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132: Canada Market Value by End User,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133: Canada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134: Canada Market Value by Material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135: Canada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136: Canada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137: Canada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138: China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139: China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140: India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141: India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Brazil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143: Brazil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144: U.K.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145: U.K.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146: Japan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147: Japan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148: France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149: France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150: Global Market Average Selling Price Trend, US$/Units, 2021–2036</a:t>
                      </a:r>
                      <a:endParaRPr sz="1050"/>
                    </a:p>
                  </a:txBody>
                  <a:tcPr marL="9525" marR="9525" marT="9525" marB="0" anchor="ctr"/>
                </a:tc>
              </a:tr>
              <a:tr h="169606">
                <a:tc>
                  <a:txBody>
                    <a:bodyPr wrap="square"/>
                    <a:lstStyle/>
                    <a:p>
                      <a:pPr algn="l"/>
                      <a:r>
                        <a:rPr sz="1050" b="0" i="0">
                          <a:solidFill>
                            <a:srgbClr val="000000"/>
                          </a:solidFill>
                          <a:latin typeface="Calibri"/>
                        </a:rPr>
                        <a:t>Figure 151: Global Market Average Selling Price by Region,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152: Global Market Average Selling Price by Product Type,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153: Global Market Average Selling Price by Material Type,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154: Global Market Average Selling Price by Technology,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155: Global Market Average Selling Price by End User, US$/Units,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156: Global Market Average Selling Price by Distribution Channel,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157: Global Market Average Selling Price by Patient Age Group,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158: Global Market Value Chain Structure, 2026</a:t>
                      </a:r>
                      <a:endParaRPr sz="1050"/>
                    </a:p>
                  </a:txBody>
                  <a:tcPr marL="9525" marR="9525" marT="9525" marB="0" anchor="ctr"/>
                </a:tc>
              </a:tr>
              <a:tr h="169606">
                <a:tc>
                  <a:txBody>
                    <a:bodyPr wrap="square"/>
                    <a:lstStyle/>
                    <a:p>
                      <a:pPr algn="l"/>
                      <a:r>
                        <a:rPr sz="1050" b="0" i="0">
                          <a:solidFill>
                            <a:srgbClr val="000000"/>
                          </a:solidFill>
                          <a:latin typeface="Calibri"/>
                        </a:rPr>
                        <a:t>Figure 159: Global Market Margin Distribution across the Value Chain, %, 2026</a:t>
                      </a:r>
                      <a:endParaRPr sz="1050"/>
                    </a:p>
                  </a:txBody>
                  <a:tcPr marL="9525" marR="9525" marT="9525" marB="0" anchor="ctr"/>
                </a:tc>
              </a:tr>
              <a:tr h="169606">
                <a:tc>
                  <a:txBody>
                    <a:bodyPr wrap="square"/>
                    <a:lstStyle/>
                    <a:p>
                      <a:pPr algn="l"/>
                      <a:r>
                        <a:rPr sz="1050" b="0" i="0">
                          <a:solidFill>
                            <a:srgbClr val="000000"/>
                          </a:solidFill>
                          <a:latin typeface="Calibri"/>
                        </a:rPr>
                        <a:t>Figure 160: Global Market Cost Structure Breakdown, %, 2026</a:t>
                      </a:r>
                      <a:endParaRPr sz="1050"/>
                    </a:p>
                  </a:txBody>
                  <a:tcPr marL="9525" marR="9525" marT="9525" marB="0" anchor="ctr"/>
                </a:tc>
              </a:tr>
              <a:tr h="169606">
                <a:tc>
                  <a:txBody>
                    <a:bodyPr wrap="square"/>
                    <a:lstStyle/>
                    <a:p>
                      <a:pPr algn="l"/>
                      <a:r>
                        <a:rPr sz="1050" b="0" i="0">
                          <a:solidFill>
                            <a:srgbClr val="000000"/>
                          </a:solidFill>
                          <a:latin typeface="Calibri"/>
                        </a:rPr>
                        <a:t>Figure 161: Global Market Pricing Pressure Assessment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162: Global Market Import and Export Share by Region, %, 2025</a:t>
                      </a:r>
                      <a:endParaRPr sz="1050"/>
                    </a:p>
                  </a:txBody>
                  <a:tcPr marL="9525" marR="9525" marT="9525" marB="0" anchor="ctr"/>
                </a:tc>
              </a:tr>
              <a:tr h="169606">
                <a:tc>
                  <a:txBody>
                    <a:bodyPr wrap="square"/>
                    <a:lstStyle/>
                    <a:p>
                      <a:pPr algn="l"/>
                      <a:r>
                        <a:rPr sz="1050" b="0" i="0">
                          <a:solidFill>
                            <a:srgbClr val="000000"/>
                          </a:solidFill>
                          <a:latin typeface="Calibri"/>
                        </a:rPr>
                        <a:t>Figure 163: Global Market Trade Balance by Leading Country, US$ Mn, 2025</a:t>
                      </a:r>
                      <a:endParaRPr sz="1050"/>
                    </a:p>
                  </a:txBody>
                  <a:tcPr marL="9525" marR="9525" marT="9525" marB="0" anchor="ctr"/>
                </a:tc>
              </a:tr>
              <a:tr h="169606">
                <a:tc>
                  <a:txBody>
                    <a:bodyPr wrap="square"/>
                    <a:lstStyle/>
                    <a:p>
                      <a:pPr algn="l"/>
                      <a:r>
                        <a:rPr sz="1050" b="0" i="0">
                          <a:solidFill>
                            <a:srgbClr val="000000"/>
                          </a:solidFill>
                          <a:latin typeface="Calibri"/>
                        </a:rPr>
                        <a:t>Figure 164: Company Market Share in the Global Market, %, 2026</a:t>
                      </a:r>
                      <a:endParaRPr sz="1050"/>
                    </a:p>
                  </a:txBody>
                  <a:tcPr marL="9525" marR="9525" marT="9525" marB="0" anchor="ctr"/>
                </a:tc>
              </a:tr>
              <a:tr h="169606">
                <a:tc>
                  <a:txBody>
                    <a:bodyPr wrap="square"/>
                    <a:lstStyle/>
                    <a:p>
                      <a:pPr algn="l"/>
                      <a:r>
                        <a:rPr sz="1050" b="0" i="0">
                          <a:solidFill>
                            <a:srgbClr val="000000"/>
                          </a:solidFill>
                          <a:latin typeface="Calibri"/>
                        </a:rPr>
                        <a:t>Figure 165: Competitive Positioning of Leading Removable Partial Dentures Manufacturers, 2026</a:t>
                      </a:r>
                      <a:endParaRPr sz="1050"/>
                    </a:p>
                  </a:txBody>
                  <a:tcPr marL="9525" marR="9525" marT="9525" marB="0" anchor="ctr"/>
                </a:tc>
              </a:tr>
              <a:tr h="169606">
                <a:tc>
                  <a:txBody>
                    <a:bodyPr wrap="square"/>
                    <a:lstStyle/>
                    <a:p>
                      <a:pPr algn="l"/>
                      <a:r>
                        <a:rPr sz="1050" b="0" i="0">
                          <a:solidFill>
                            <a:srgbClr val="000000"/>
                          </a:solidFill>
                          <a:latin typeface="Calibri"/>
                        </a:rPr>
                        <a:t>Figure 166: Company Revenue from the Global Market, US$ Mn, 2026</a:t>
                      </a:r>
                      <a:endParaRPr sz="1050"/>
                    </a:p>
                  </a:txBody>
                  <a:tcPr marL="9525" marR="9525" marT="9525" marB="0" anchor="ctr"/>
                </a:tc>
              </a:tr>
              <a:tr h="169606">
                <a:tc>
                  <a:txBody>
                    <a:bodyPr wrap="square"/>
                    <a:lstStyle/>
                    <a:p>
                      <a:pPr algn="l"/>
                      <a:r>
                        <a:rPr sz="1050" b="0" i="0">
                          <a:solidFill>
                            <a:srgbClr val="000000"/>
                          </a:solidFill>
                          <a:latin typeface="Calibri"/>
                        </a:rPr>
                        <a:t>Figure 167: Global Market Concentration by Company Tier, %, 2026</a:t>
                      </a:r>
                      <a:endParaRPr sz="1050"/>
                    </a:p>
                  </a:txBody>
                  <a:tcPr marL="9525" marR="9525" marT="9525" marB="0" anchor="ctr"/>
                </a:tc>
              </a:tr>
              <a:tr h="169606">
                <a:tc>
                  <a:txBody>
                    <a:bodyPr wrap="square"/>
                    <a:lstStyle/>
                    <a:p>
                      <a:pPr algn="l"/>
                      <a:r>
                        <a:rPr sz="1050" b="0" i="0">
                          <a:solidFill>
                            <a:srgbClr val="000000"/>
                          </a:solidFill>
                          <a:latin typeface="Calibri"/>
                        </a:rPr>
                        <a:t>Figure 168: Global Market Competitive Intensity Assessment, 2026</a:t>
                      </a:r>
                      <a:endParaRPr sz="1050"/>
                    </a:p>
                  </a:txBody>
                  <a:tcPr marL="9525" marR="9525" marT="9525" marB="0" anchor="ctr"/>
                </a:tc>
              </a:tr>
              <a:tr h="169606">
                <a:tc>
                  <a:txBody>
                    <a:bodyPr wrap="square"/>
                    <a:lstStyle/>
                    <a:p>
                      <a:pPr algn="l"/>
                      <a:r>
                        <a:rPr sz="1050" b="0" i="0">
                          <a:solidFill>
                            <a:srgbClr val="000000"/>
                          </a:solidFill>
                          <a:latin typeface="Calibri"/>
                        </a:rPr>
                        <a:t>Figure 169: Company Market Share in the North America Market, %, 2026</a:t>
                      </a:r>
                      <a:endParaRPr sz="1050"/>
                    </a:p>
                  </a:txBody>
                  <a:tcPr marL="9525" marR="9525" marT="9525" marB="0" anchor="ctr"/>
                </a:tc>
              </a:tr>
              <a:tr h="169606">
                <a:tc>
                  <a:txBody>
                    <a:bodyPr wrap="square"/>
                    <a:lstStyle/>
                    <a:p>
                      <a:pPr algn="l"/>
                      <a:r>
                        <a:rPr sz="1050" b="0" i="0">
                          <a:solidFill>
                            <a:srgbClr val="000000"/>
                          </a:solidFill>
                          <a:latin typeface="Calibri"/>
                        </a:rPr>
                        <a:t>Figure 170: Company Market Share in the Latin America Market, %, 2026</a:t>
                      </a:r>
                      <a:endParaRPr sz="1050"/>
                    </a:p>
                  </a:txBody>
                  <a:tcPr marL="9525" marR="9525" marT="9525" marB="0" anchor="ctr"/>
                </a:tc>
              </a:tr>
              <a:tr h="169606">
                <a:tc>
                  <a:txBody>
                    <a:bodyPr wrap="square"/>
                    <a:lstStyle/>
                    <a:p>
                      <a:pPr algn="l"/>
                      <a:r>
                        <a:rPr sz="1050" b="0" i="0">
                          <a:solidFill>
                            <a:srgbClr val="000000"/>
                          </a:solidFill>
                          <a:latin typeface="Calibri"/>
                        </a:rPr>
                        <a:t>Figure 171: Company Market Share in the Europe Market, %, 2026</a:t>
                      </a:r>
                      <a:endParaRPr sz="1050"/>
                    </a:p>
                  </a:txBody>
                  <a:tcPr marL="9525" marR="9525" marT="9525" marB="0" anchor="ctr"/>
                </a:tc>
              </a:tr>
              <a:tr h="169606">
                <a:tc>
                  <a:txBody>
                    <a:bodyPr wrap="square"/>
                    <a:lstStyle/>
                    <a:p>
                      <a:pPr algn="l"/>
                      <a:r>
                        <a:rPr sz="1050" b="0" i="0">
                          <a:solidFill>
                            <a:srgbClr val="000000"/>
                          </a:solidFill>
                          <a:latin typeface="Calibri"/>
                        </a:rPr>
                        <a:t>Figure 172: Company Market Share in the East Asia Market, %, 2026</a:t>
                      </a:r>
                      <a:endParaRPr sz="1050"/>
                    </a:p>
                  </a:txBody>
                  <a:tcPr marL="9525" marR="9525" marT="9525" marB="0" anchor="ctr"/>
                </a:tc>
              </a:tr>
              <a:tr h="169606">
                <a:tc>
                  <a:txBody>
                    <a:bodyPr wrap="square"/>
                    <a:lstStyle/>
                    <a:p>
                      <a:pPr algn="l"/>
                      <a:r>
                        <a:rPr sz="1050" b="0" i="0">
                          <a:solidFill>
                            <a:srgbClr val="000000"/>
                          </a:solidFill>
                          <a:latin typeface="Calibri"/>
                        </a:rPr>
                        <a:t>Figure 173: Company Market Share in the South Asia &amp; Pacific Market, %, 2026</a:t>
                      </a:r>
                      <a:endParaRPr sz="1050"/>
                    </a:p>
                  </a:txBody>
                  <a:tcPr marL="9525" marR="9525" marT="9525" marB="0" anchor="ctr"/>
                </a:tc>
              </a:tr>
              <a:tr h="169606">
                <a:tc>
                  <a:txBody>
                    <a:bodyPr wrap="square"/>
                    <a:lstStyle/>
                    <a:p>
                      <a:pPr algn="l"/>
                      <a:r>
                        <a:rPr sz="1050" b="0" i="0">
                          <a:solidFill>
                            <a:srgbClr val="000000"/>
                          </a:solidFill>
                          <a:latin typeface="Calibri"/>
                        </a:rPr>
                        <a:t>Figure 174: Company Market Share in the Middle East &amp; Africa Market, %, 2026</a:t>
                      </a:r>
                      <a:endParaRPr sz="1050"/>
                    </a:p>
                  </a:txBody>
                  <a:tcPr marL="9525" marR="9525" marT="9525" marB="0" anchor="ctr"/>
                </a:tc>
              </a:tr>
              <a:tr h="169606">
                <a:tc>
                  <a:txBody>
                    <a:bodyPr wrap="square"/>
                    <a:lstStyle/>
                    <a:p>
                      <a:pPr algn="l"/>
                      <a:r>
                        <a:rPr sz="1050" b="0" i="0">
                          <a:solidFill>
                            <a:srgbClr val="000000"/>
                          </a:solidFill>
                          <a:latin typeface="Calibri"/>
                        </a:rPr>
                        <a:t>Figure 175: Company A: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176: Company B: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177: Company C: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178: Company D: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179: Company E: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180: Company F: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181: Company G: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182: Company H: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183: Global Market Strategic Developments by Type, %, 2025–2026</a:t>
                      </a:r>
                      <a:endParaRPr sz="1050"/>
                    </a:p>
                  </a:txBody>
                  <a:tcPr marL="9525" marR="9525" marT="9525" marB="0" anchor="ctr"/>
                </a:tc>
              </a:tr>
              <a:tr h="169606">
                <a:tc>
                  <a:txBody>
                    <a:bodyPr wrap="square"/>
                    <a:lstStyle/>
                    <a:p>
                      <a:pPr algn="l"/>
                      <a:r>
                        <a:rPr sz="1050" b="0" i="0">
                          <a:solidFill>
                            <a:srgbClr val="000000"/>
                          </a:solidFill>
                          <a:latin typeface="Calibri"/>
                        </a:rPr>
                        <a:t>Figure 184: Global Market Company Footprint by Region, 2026</a:t>
                      </a:r>
                      <a:endParaRPr sz="1050"/>
                    </a:p>
                  </a:txBody>
                  <a:tcPr marL="9525" marR="9525" marT="9525" marB="0" anchor="ctr"/>
                </a:tc>
              </a:tr>
              <a:tr h="169606">
                <a:tc>
                  <a:txBody>
                    <a:bodyPr wrap="square"/>
                    <a:lstStyle/>
                    <a:p>
                      <a:pPr algn="l"/>
                      <a:r>
                        <a:rPr sz="1050" b="0" i="0">
                          <a:solidFill>
                            <a:srgbClr val="000000"/>
                          </a:solidFill>
                          <a:latin typeface="Calibri"/>
                        </a:rPr>
                        <a:t>Figure 185: Global Market Value Forecast by Scenario, US$ Mn, 2026–2036</a:t>
                      </a:r>
                      <a:endParaRPr sz="1050"/>
                    </a:p>
                  </a:txBody>
                  <a:tcPr marL="9525" marR="9525" marT="9525" marB="0" anchor="ctr"/>
                </a:tc>
              </a:tr>
              <a:tr h="169606">
                <a:tc>
                  <a:txBody>
                    <a:bodyPr wrap="square"/>
                    <a:lstStyle/>
                    <a:p>
                      <a:pPr algn="l"/>
                      <a:r>
                        <a:rPr sz="1050" b="0" i="0">
                          <a:solidFill>
                            <a:srgbClr val="000000"/>
                          </a:solidFill>
                          <a:latin typeface="Calibri"/>
                        </a:rPr>
                        <a:t>Figure 186: Global Market YoY Growth by Scenario, %,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233363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187: Global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188: Global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189: Global Market Opportunity Map by Region and Product Type, 2026–2036</a:t>
                      </a:r>
                      <a:endParaRPr sz="1050"/>
                    </a:p>
                  </a:txBody>
                  <a:tcPr marL="9525" marR="9525" marT="9525" marB="0" anchor="ctr"/>
                </a:tc>
              </a:tr>
              <a:tr h="166688">
                <a:tc>
                  <a:txBody>
                    <a:bodyPr wrap="square"/>
                    <a:lstStyle/>
                    <a:p>
                      <a:pPr algn="l"/>
                      <a:r>
                        <a:rPr sz="1050" b="0" i="0">
                          <a:solidFill>
                            <a:srgbClr val="000000"/>
                          </a:solidFill>
                          <a:latin typeface="Calibri"/>
                        </a:rPr>
                        <a:t>Figure 190: Global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191: Global Market Emerging Opportunity Pockets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192: Global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193: Global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194: Global Market Investment Hotspots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195: Global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196: Global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Global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Global Market Go-to-Market Priority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199: Global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200: Global Market Right-to-Win Assessment,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050" b="0" i="0">
                          <a:solidFill>
                            <a:srgbClr val="000000"/>
                          </a:solidFill>
                          <a:latin typeface="Calibri"/>
                        </a:rPr>
                        <a:t>Table 1: Global Market Snapshot: Value, Volume and CAGR, US$ Mn, 2025–2036</a:t>
                      </a:r>
                      <a:endParaRPr sz="1050"/>
                    </a:p>
                  </a:txBody>
                  <a:tcPr marL="9525" marR="9525" marT="9525" marB="0" anchor="ctr"/>
                </a:tc>
              </a:tr>
              <a:tr h="175260">
                <a:tc>
                  <a:txBody>
                    <a:bodyPr wrap="square"/>
                    <a:lstStyle/>
                    <a:p>
                      <a:pPr algn="l"/>
                      <a:r>
                        <a:rPr sz="1050" b="0" i="0">
                          <a:solidFill>
                            <a:srgbClr val="000000"/>
                          </a:solidFill>
                          <a:latin typeface="Calibri"/>
                        </a:rPr>
                        <a:t>Table 2: Global Market Taxonomy by Segment, 2026</a:t>
                      </a:r>
                      <a:endParaRPr sz="1050"/>
                    </a:p>
                  </a:txBody>
                  <a:tcPr marL="9525" marR="9525" marT="9525" marB="0" anchor="ctr"/>
                </a:tc>
              </a:tr>
              <a:tr h="175260">
                <a:tc>
                  <a:txBody>
                    <a:bodyPr wrap="square"/>
                    <a:lstStyle/>
                    <a:p>
                      <a:pPr algn="l"/>
                      <a:r>
                        <a:rPr sz="1050" b="0" i="0">
                          <a:solidFill>
                            <a:srgbClr val="000000"/>
                          </a:solidFill>
                          <a:latin typeface="Calibri"/>
                        </a:rPr>
                        <a:t>Table 3: Global Market Scope: Inclusions and Exclusions by Segment, 2026</a:t>
                      </a:r>
                      <a:endParaRPr sz="1050"/>
                    </a:p>
                  </a:txBody>
                  <a:tcPr marL="9525" marR="9525" marT="9525" marB="0" anchor="ctr"/>
                </a:tc>
              </a:tr>
              <a:tr h="175260">
                <a:tc>
                  <a:txBody>
                    <a:bodyPr wrap="square"/>
                    <a:lstStyle/>
                    <a:p>
                      <a:pPr algn="l"/>
                      <a:r>
                        <a:rPr sz="1050" b="0" i="0">
                          <a:solidFill>
                            <a:srgbClr val="000000"/>
                          </a:solidFill>
                          <a:latin typeface="Calibri"/>
                        </a:rPr>
                        <a:t>Table 4: Global Market Key Demand Drivers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5: Global Market Key Restraints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6: Global Market Analyst Recommendations by Segment, 2026–2036</a:t>
                      </a:r>
                      <a:endParaRPr sz="1050"/>
                    </a:p>
                  </a:txBody>
                  <a:tcPr marL="9525" marR="9525" marT="9525" marB="0" anchor="ctr"/>
                </a:tc>
              </a:tr>
              <a:tr h="175260">
                <a:tc>
                  <a:txBody>
                    <a:bodyPr wrap="square"/>
                    <a:lstStyle/>
                    <a:p>
                      <a:pPr algn="l"/>
                      <a:r>
                        <a:rPr sz="1050" b="0" i="0">
                          <a:solidFill>
                            <a:srgbClr val="000000"/>
                          </a:solidFill>
                          <a:latin typeface="Calibri"/>
                        </a:rPr>
                        <a:t>Table 7: Global Market Key Market Signals and Data Points, 2026</a:t>
                      </a:r>
                      <a:endParaRPr sz="1050"/>
                    </a:p>
                  </a:txBody>
                  <a:tcPr marL="9525" marR="9525" marT="9525" marB="0" anchor="ctr"/>
                </a:tc>
              </a:tr>
              <a:tr h="175260">
                <a:tc>
                  <a:txBody>
                    <a:bodyPr wrap="square"/>
                    <a:lstStyle/>
                    <a:p>
                      <a:pPr algn="l"/>
                      <a:r>
                        <a:rPr sz="1050" b="0" i="0">
                          <a:solidFill>
                            <a:srgbClr val="000000"/>
                          </a:solidFill>
                          <a:latin typeface="Calibri"/>
                        </a:rPr>
                        <a:t>Table 8: Global Market Value and YoY Growth, US$ Mn and %, 2021–2036</a:t>
                      </a:r>
                      <a:endParaRPr sz="1050"/>
                    </a:p>
                  </a:txBody>
                  <a:tcPr marL="9525" marR="9525" marT="9525" marB="0" anchor="ctr"/>
                </a:tc>
              </a:tr>
              <a:tr h="175260">
                <a:tc>
                  <a:txBody>
                    <a:bodyPr wrap="square"/>
                    <a:lstStyle/>
                    <a:p>
                      <a:pPr algn="l"/>
                      <a:r>
                        <a:rPr sz="1050" b="0" i="0">
                          <a:solidFill>
                            <a:srgbClr val="000000"/>
                          </a:solidFill>
                          <a:latin typeface="Calibri"/>
                        </a:rPr>
                        <a:t>Table 9: Global Market Historical Value Analysis, US$ Mn, 2021–2025</a:t>
                      </a:r>
                      <a:endParaRPr sz="1050"/>
                    </a:p>
                  </a:txBody>
                  <a:tcPr marL="9525" marR="9525" marT="9525" marB="0" anchor="ctr"/>
                </a:tc>
              </a:tr>
              <a:tr h="175260">
                <a:tc>
                  <a:txBody>
                    <a:bodyPr wrap="square"/>
                    <a:lstStyle/>
                    <a:p>
                      <a:pPr algn="l"/>
                      <a:r>
                        <a:rPr sz="1050" b="0" i="0">
                          <a:solidFill>
                            <a:srgbClr val="000000"/>
                          </a:solidFill>
                          <a:latin typeface="Calibri"/>
                        </a:rPr>
                        <a:t>Table 10: Global Market Forecast Value Analysis, US$ Mn, 2026–2036</a:t>
                      </a:r>
                      <a:endParaRPr sz="1050"/>
                    </a:p>
                  </a:txBody>
                  <a:tcPr marL="9525" marR="9525" marT="9525" marB="0" anchor="ctr"/>
                </a:tc>
              </a:tr>
              <a:tr h="175260">
                <a:tc>
                  <a:txBody>
                    <a:bodyPr wrap="square"/>
                    <a:lstStyle/>
                    <a:p>
                      <a:pPr algn="l"/>
                      <a:r>
                        <a:rPr sz="1050" b="0" i="0">
                          <a:solidFill>
                            <a:srgbClr val="000000"/>
                          </a:solidFill>
                          <a:latin typeface="Calibri"/>
                        </a:rPr>
                        <a:t>Table 11: Global Market Volume and YoY Growth, Units and %, 2021–2036</a:t>
                      </a:r>
                      <a:endParaRPr sz="1050"/>
                    </a:p>
                  </a:txBody>
                  <a:tcPr marL="9525" marR="9525" marT="9525" marB="0" anchor="ctr"/>
                </a:tc>
              </a:tr>
              <a:tr h="175260">
                <a:tc>
                  <a:txBody>
                    <a:bodyPr wrap="square"/>
                    <a:lstStyle/>
                    <a:p>
                      <a:pPr algn="l"/>
                      <a:r>
                        <a:rPr sz="1050" b="0" i="0">
                          <a:solidFill>
                            <a:srgbClr val="000000"/>
                          </a:solidFill>
                          <a:latin typeface="Calibri"/>
                        </a:rPr>
                        <a:t>Table 12: Global Market Volume Forecast, Units, 2026–2036</a:t>
                      </a:r>
                      <a:endParaRPr sz="1050"/>
                    </a:p>
                  </a:txBody>
                  <a:tcPr marL="9525" marR="9525" marT="9525" marB="0" anchor="ctr"/>
                </a:tc>
              </a:tr>
              <a:tr h="175260">
                <a:tc>
                  <a:txBody>
                    <a:bodyPr wrap="square"/>
                    <a:lstStyle/>
                    <a:p>
                      <a:pPr algn="l"/>
                      <a:r>
                        <a:rPr sz="1050" b="0" i="0">
                          <a:solidFill>
                            <a:srgbClr val="000000"/>
                          </a:solidFill>
                          <a:latin typeface="Calibri"/>
                        </a:rPr>
                        <a:t>Table 13: Global Market Average Selling Price, US$/Units, 2021–2036</a:t>
                      </a:r>
                      <a:endParaRPr sz="1050"/>
                    </a:p>
                  </a:txBody>
                  <a:tcPr marL="9525" marR="9525" marT="9525" marB="0" anchor="ctr"/>
                </a:tc>
              </a:tr>
              <a:tr h="175260">
                <a:tc>
                  <a:txBody>
                    <a:bodyPr wrap="square"/>
                    <a:lstStyle/>
                    <a:p>
                      <a:pPr algn="l"/>
                      <a:r>
                        <a:rPr sz="1050" b="0" i="0">
                          <a:solidFill>
                            <a:srgbClr val="000000"/>
                          </a:solidFill>
                          <a:latin typeface="Calibri"/>
                        </a:rPr>
                        <a:t>Table 14: Global Market Average Selling Price YoY Change, %, 2026–2036</a:t>
                      </a:r>
                      <a:endParaRPr sz="1050"/>
                    </a:p>
                  </a:txBody>
                  <a:tcPr marL="9525" marR="9525" marT="9525" marB="0" anchor="ctr"/>
                </a:tc>
              </a:tr>
              <a:tr h="175260">
                <a:tc>
                  <a:txBody>
                    <a:bodyPr wrap="square"/>
                    <a:lstStyle/>
                    <a:p>
                      <a:pPr algn="l"/>
                      <a:r>
                        <a:rPr sz="1050" b="0" i="0">
                          <a:solidFill>
                            <a:srgbClr val="000000"/>
                          </a:solidFill>
                          <a:latin typeface="Calibri"/>
                        </a:rPr>
                        <a:t>Table 15: Global Market CAGR and Absolute $ Opportunity, %, US$ Mn, 2026–2036</a:t>
                      </a:r>
                      <a:endParaRPr sz="1050"/>
                    </a:p>
                  </a:txBody>
                  <a:tcPr marL="9525" marR="9525" marT="9525" marB="0" anchor="ctr"/>
                </a:tc>
              </a:tr>
              <a:tr h="175260">
                <a:tc>
                  <a:txBody>
                    <a:bodyPr wrap="square"/>
                    <a:lstStyle/>
                    <a:p>
                      <a:pPr algn="l"/>
                      <a:r>
                        <a:rPr sz="1050" b="0" i="0">
                          <a:solidFill>
                            <a:srgbClr val="000000"/>
                          </a:solidFill>
                          <a:latin typeface="Calibri"/>
                        </a:rPr>
                        <a:t>Table 16: Global Market Absolute $ Opportunity by Year, US$ Mn, 2026–2036</a:t>
                      </a:r>
                      <a:endParaRPr sz="1050"/>
                    </a:p>
                  </a:txBody>
                  <a:tcPr marL="9525" marR="9525" marT="9525" marB="0" anchor="ctr"/>
                </a:tc>
              </a:tr>
              <a:tr h="175260">
                <a:tc>
                  <a:txBody>
                    <a:bodyPr wrap="square"/>
                    <a:lstStyle/>
                    <a:p>
                      <a:pPr algn="l"/>
                      <a:r>
                        <a:rPr sz="1050" b="0" i="0">
                          <a:solidFill>
                            <a:srgbClr val="000000"/>
                          </a:solidFill>
                          <a:latin typeface="Calibri"/>
                        </a:rPr>
                        <a:t>Table 17: Global Market Value by Scenario (Optimistic, Likely, Pessimistic), US$ Mn, 2026–2036</a:t>
                      </a:r>
                      <a:endParaRPr sz="1050"/>
                    </a:p>
                  </a:txBody>
                  <a:tcPr marL="9525" marR="9525" marT="9525" marB="0" anchor="ctr"/>
                </a:tc>
              </a:tr>
              <a:tr h="175260">
                <a:tc>
                  <a:txBody>
                    <a:bodyPr wrap="square"/>
                    <a:lstStyle/>
                    <a:p>
                      <a:pPr algn="l"/>
                      <a:r>
                        <a:rPr sz="1050" b="0" i="0">
                          <a:solidFill>
                            <a:srgbClr val="000000"/>
                          </a:solidFill>
                          <a:latin typeface="Calibri"/>
                        </a:rPr>
                        <a:t>Table 18: Global Market Scenario CAGR Comparison, %, 2026–2036</a:t>
                      </a:r>
                      <a:endParaRPr sz="1050"/>
                    </a:p>
                  </a:txBody>
                  <a:tcPr marL="9525" marR="9525" marT="9525" marB="0" anchor="ctr"/>
                </a:tc>
              </a:tr>
              <a:tr h="175260">
                <a:tc>
                  <a:txBody>
                    <a:bodyPr wrap="square"/>
                    <a:lstStyle/>
                    <a:p>
                      <a:pPr algn="l"/>
                      <a:r>
                        <a:rPr sz="1050" b="0" i="0">
                          <a:solidFill>
                            <a:srgbClr val="000000"/>
                          </a:solidFill>
                          <a:latin typeface="Calibri"/>
                        </a:rPr>
                        <a:t>Table 19: Global Market Historical vs Forecast Growth Comparison, %, 2021–2036</a:t>
                      </a:r>
                      <a:endParaRPr sz="1050"/>
                    </a:p>
                  </a:txBody>
                  <a:tcPr marL="9525" marR="9525" marT="9525" marB="0" anchor="ctr"/>
                </a:tc>
              </a:tr>
              <a:tr h="175260">
                <a:tc>
                  <a:txBody>
                    <a:bodyPr wrap="square"/>
                    <a:lstStyle/>
                    <a:p>
                      <a:pPr algn="l"/>
                      <a:r>
                        <a:rPr sz="1050" b="0" i="0">
                          <a:solidFill>
                            <a:srgbClr val="000000"/>
                          </a:solidFill>
                          <a:latin typeface="Calibri"/>
                        </a:rPr>
                        <a:t>Table 20: Global Market Five-Year Block Value Summary, US$ Mn, 2021–2036</a:t>
                      </a:r>
                      <a:endParaRPr sz="1050"/>
                    </a:p>
                  </a:txBody>
                  <a:tcPr marL="9525" marR="9525" marT="9525" marB="0" anchor="ctr"/>
                </a:tc>
              </a:tr>
              <a:tr h="175260">
                <a:tc>
                  <a:txBody>
                    <a:bodyPr wrap="square"/>
                    <a:lstStyle/>
                    <a:p>
                      <a:pPr algn="l"/>
                      <a:r>
                        <a:rPr sz="1050" b="0" i="0">
                          <a:solidFill>
                            <a:srgbClr val="000000"/>
                          </a:solidFill>
                          <a:latin typeface="Calibri"/>
                        </a:rPr>
                        <a:t>Table 21: Global Market Value by Product Type, US$ Mn, 2021–2036</a:t>
                      </a:r>
                      <a:endParaRPr sz="1050"/>
                    </a:p>
                  </a:txBody>
                  <a:tcPr marL="9525" marR="9525" marT="9525" marB="0" anchor="ctr"/>
                </a:tc>
              </a:tr>
              <a:tr h="175260">
                <a:tc>
                  <a:txBody>
                    <a:bodyPr wrap="square"/>
                    <a:lstStyle/>
                    <a:p>
                      <a:pPr algn="l"/>
                      <a:r>
                        <a:rPr sz="1050" b="0" i="0">
                          <a:solidFill>
                            <a:srgbClr val="000000"/>
                          </a:solidFill>
                          <a:latin typeface="Calibri"/>
                        </a:rPr>
                        <a:t>Table 22: Global Market Value by Material Type, US$ Mn, 2021–2036</a:t>
                      </a:r>
                      <a:endParaRPr sz="1050"/>
                    </a:p>
                  </a:txBody>
                  <a:tcPr marL="9525" marR="9525" marT="9525" marB="0" anchor="ctr"/>
                </a:tc>
              </a:tr>
              <a:tr h="175260">
                <a:tc>
                  <a:txBody>
                    <a:bodyPr wrap="square"/>
                    <a:lstStyle/>
                    <a:p>
                      <a:pPr algn="l"/>
                      <a:r>
                        <a:rPr sz="1050" b="0" i="0">
                          <a:solidFill>
                            <a:srgbClr val="000000"/>
                          </a:solidFill>
                          <a:latin typeface="Calibri"/>
                        </a:rPr>
                        <a:t>Table 23: Global Market Value by Technology, US$ Mn, 2021–2036</a:t>
                      </a:r>
                      <a:endParaRPr sz="1050"/>
                    </a:p>
                  </a:txBody>
                  <a:tcPr marL="9525" marR="9525" marT="9525" marB="0" anchor="ctr"/>
                </a:tc>
              </a:tr>
              <a:tr h="175260">
                <a:tc>
                  <a:txBody>
                    <a:bodyPr wrap="square"/>
                    <a:lstStyle/>
                    <a:p>
                      <a:pPr algn="l"/>
                      <a:r>
                        <a:rPr sz="1050" b="0" i="0">
                          <a:solidFill>
                            <a:srgbClr val="000000"/>
                          </a:solidFill>
                          <a:latin typeface="Calibri"/>
                        </a:rPr>
                        <a:t>Table 24: Global Market Value by End User, US$ Mn, 2021–2036</a:t>
                      </a:r>
                      <a:endParaRPr sz="1050"/>
                    </a:p>
                  </a:txBody>
                  <a:tcPr marL="9525" marR="9525" marT="9525" marB="0" anchor="ctr"/>
                </a:tc>
              </a:tr>
              <a:tr h="175260">
                <a:tc>
                  <a:txBody>
                    <a:bodyPr wrap="square"/>
                    <a:lstStyle/>
                    <a:p>
                      <a:pPr algn="l"/>
                      <a:r>
                        <a:rPr sz="1050" b="0" i="0">
                          <a:solidFill>
                            <a:srgbClr val="000000"/>
                          </a:solidFill>
                          <a:latin typeface="Calibri"/>
                        </a:rPr>
                        <a:t>Table 25: Global Market Value by Distribution Channel, US$ Mn, 2021–2036</a:t>
                      </a:r>
                      <a:endParaRPr sz="1050"/>
                    </a:p>
                  </a:txBody>
                  <a:tcPr marL="9525" marR="9525" marT="9525" marB="0" anchor="ctr"/>
                </a:tc>
              </a:tr>
              <a:tr h="175260">
                <a:tc>
                  <a:txBody>
                    <a:bodyPr wrap="square"/>
                    <a:lstStyle/>
                    <a:p>
                      <a:pPr algn="l"/>
                      <a:r>
                        <a:rPr sz="1050" b="0" i="0">
                          <a:solidFill>
                            <a:srgbClr val="000000"/>
                          </a:solidFill>
                          <a:latin typeface="Calibri"/>
                        </a:rPr>
                        <a:t>Table 26: Global Market Value by Patient Age Group, US$ Mn, 2021–2036</a:t>
                      </a:r>
                      <a:endParaRPr sz="1050"/>
                    </a:p>
                  </a:txBody>
                  <a:tcPr marL="9525" marR="9525" marT="9525" marB="0" anchor="ctr"/>
                </a:tc>
              </a:tr>
              <a:tr h="175260">
                <a:tc>
                  <a:txBody>
                    <a:bodyPr wrap="square"/>
                    <a:lstStyle/>
                    <a:p>
                      <a:pPr algn="l"/>
                      <a:r>
                        <a:rPr sz="1050" b="0" i="0">
                          <a:solidFill>
                            <a:srgbClr val="000000"/>
                          </a:solidFill>
                          <a:latin typeface="Calibri"/>
                        </a:rPr>
                        <a:t>Table 27: Global Market CAGR and Absolute $ Opportunity by Product Type, %, US$ Mn, 2026–2036</a:t>
                      </a:r>
                      <a:endParaRPr sz="1050"/>
                    </a:p>
                  </a:txBody>
                  <a:tcPr marL="9525" marR="9525" marT="9525" marB="0" anchor="ctr"/>
                </a:tc>
              </a:tr>
              <a:tr h="175260">
                <a:tc>
                  <a:txBody>
                    <a:bodyPr wrap="square"/>
                    <a:lstStyle/>
                    <a:p>
                      <a:pPr algn="l"/>
                      <a:r>
                        <a:rPr sz="1050" b="0" i="0">
                          <a:solidFill>
                            <a:srgbClr val="000000"/>
                          </a:solidFill>
                          <a:latin typeface="Calibri"/>
                        </a:rPr>
                        <a:t>Table 28: Global Market CAGR and Absolute $ Opportunity by Material Type, %, US$ Mn, 2026–2036</a:t>
                      </a:r>
                      <a:endParaRPr sz="1050"/>
                    </a:p>
                  </a:txBody>
                  <a:tcPr marL="9525" marR="9525" marT="9525" marB="0" anchor="ctr"/>
                </a:tc>
              </a:tr>
              <a:tr h="175260">
                <a:tc>
                  <a:txBody>
                    <a:bodyPr wrap="square"/>
                    <a:lstStyle/>
                    <a:p>
                      <a:pPr algn="l"/>
                      <a:r>
                        <a:rPr sz="1050" b="0" i="0">
                          <a:solidFill>
                            <a:srgbClr val="000000"/>
                          </a:solidFill>
                          <a:latin typeface="Calibri"/>
                        </a:rPr>
                        <a:t>Table 29: Global Market CAGR and Absolute $ Opportunity by Technology, %, US$ Mn, 2026–2036</a:t>
                      </a:r>
                      <a:endParaRPr sz="1050"/>
                    </a:p>
                  </a:txBody>
                  <a:tcPr marL="9525" marR="9525" marT="9525" marB="0" anchor="ctr"/>
                </a:tc>
              </a:tr>
              <a:tr h="175260">
                <a:tc>
                  <a:txBody>
                    <a:bodyPr wrap="square"/>
                    <a:lstStyle/>
                    <a:p>
                      <a:pPr algn="l"/>
                      <a:r>
                        <a:rPr sz="1050" b="0" i="0">
                          <a:solidFill>
                            <a:srgbClr val="000000"/>
                          </a:solidFill>
                          <a:latin typeface="Calibri"/>
                        </a:rPr>
                        <a:t>Table 30: Global Market CAGR and Absolute $ Opportunity by End User,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333289">
                <a:tc>
                  <a:txBody>
                    <a:bodyPr wrap="square"/>
                    <a:lstStyle/>
                    <a:p>
                      <a:pPr algn="l"/>
                      <a:r>
                        <a:rPr sz="1050" b="0" i="0">
                          <a:solidFill>
                            <a:srgbClr val="000000"/>
                          </a:solidFill>
                          <a:latin typeface="Calibri"/>
                        </a:rPr>
                        <a:t>Table 31: Global Market CAGR and Absolute $ Opportunity by Distribution Channel, %, US$ Mn, 2026–2036</a:t>
                      </a:r>
                      <a:endParaRPr sz="1050"/>
                    </a:p>
                  </a:txBody>
                  <a:tcPr marL="9525" marR="9525" marT="9525" marB="0" anchor="ctr"/>
                </a:tc>
              </a:tr>
              <a:tr h="333289">
                <a:tc>
                  <a:txBody>
                    <a:bodyPr wrap="square"/>
                    <a:lstStyle/>
                    <a:p>
                      <a:pPr algn="l"/>
                      <a:r>
                        <a:rPr sz="1050" b="0" i="0">
                          <a:solidFill>
                            <a:srgbClr val="000000"/>
                          </a:solidFill>
                          <a:latin typeface="Calibri"/>
                        </a:rPr>
                        <a:t>Table 32: Global Market CAGR and Absolute $ Opportunity by Patient Age Group, %, US$ Mn, 2026–2036</a:t>
                      </a:r>
                      <a:endParaRPr sz="1050"/>
                    </a:p>
                  </a:txBody>
                  <a:tcPr marL="9525" marR="9525" marT="9525" marB="0" anchor="ctr"/>
                </a:tc>
              </a:tr>
              <a:tr h="170045">
                <a:tc>
                  <a:txBody>
                    <a:bodyPr wrap="square"/>
                    <a:lstStyle/>
                    <a:p>
                      <a:pPr algn="l"/>
                      <a:r>
                        <a:rPr sz="1050" b="0" i="0">
                          <a:solidFill>
                            <a:srgbClr val="000000"/>
                          </a:solidFill>
                          <a:latin typeface="Calibri"/>
                        </a:rPr>
                        <a:t>Table 33: Global Market Share and BPS Change by Product Type,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34: Global Market Share and BPS Change by Material Type,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35: Global Market Share and BPS Change by Technology, %, 2025, 2026 and 2036</a:t>
                      </a:r>
                      <a:endParaRPr sz="1050"/>
                    </a:p>
                  </a:txBody>
                  <a:tcPr marL="9525" marR="9525" marT="9525" marB="0" anchor="ctr"/>
                </a:tc>
              </a:tr>
              <a:tr h="170045">
                <a:tc>
                  <a:txBody>
                    <a:bodyPr wrap="square"/>
                    <a:lstStyle/>
                    <a:p>
                      <a:pPr algn="l"/>
                      <a:r>
                        <a:rPr sz="1050" b="0" i="0">
                          <a:solidFill>
                            <a:srgbClr val="000000"/>
                          </a:solidFill>
                          <a:latin typeface="Calibri"/>
                        </a:rPr>
                        <a:t>Table 36: Global Market Share and BPS Change by End User, %, 2025, 2026 and 2036</a:t>
                      </a:r>
                      <a:endParaRPr sz="1050"/>
                    </a:p>
                  </a:txBody>
                  <a:tcPr marL="9525" marR="9525" marT="9525" marB="0" anchor="ctr"/>
                </a:tc>
              </a:tr>
              <a:tr h="170045">
                <a:tc>
                  <a:txBody>
                    <a:bodyPr wrap="square"/>
                    <a:lstStyle/>
                    <a:p>
                      <a:pPr algn="l"/>
                      <a:r>
                        <a:rPr sz="1050" b="0" i="0">
                          <a:solidFill>
                            <a:srgbClr val="000000"/>
                          </a:solidFill>
                          <a:latin typeface="Calibri"/>
                        </a:rPr>
                        <a:t>Table 37: Global Market Share and BPS Change by Distribution Channel, %, 2025, 2026 and 2036</a:t>
                      </a:r>
                      <a:endParaRPr sz="1050"/>
                    </a:p>
                  </a:txBody>
                  <a:tcPr marL="9525" marR="9525" marT="9525" marB="0" anchor="ctr"/>
                </a:tc>
              </a:tr>
              <a:tr h="170045">
                <a:tc>
                  <a:txBody>
                    <a:bodyPr wrap="square"/>
                    <a:lstStyle/>
                    <a:p>
                      <a:pPr algn="l"/>
                      <a:r>
                        <a:rPr sz="1050" b="0" i="0">
                          <a:solidFill>
                            <a:srgbClr val="000000"/>
                          </a:solidFill>
                          <a:latin typeface="Calibri"/>
                        </a:rPr>
                        <a:t>Table 38: Global Market Share and BPS Change by Patient Age Group, %, 2025, 2026 and 2036</a:t>
                      </a:r>
                      <a:endParaRPr sz="1050"/>
                    </a:p>
                  </a:txBody>
                  <a:tcPr marL="9525" marR="9525" marT="9525" marB="0" anchor="ctr"/>
                </a:tc>
              </a:tr>
              <a:tr h="170045">
                <a:tc>
                  <a:txBody>
                    <a:bodyPr wrap="square"/>
                    <a:lstStyle/>
                    <a:p>
                      <a:pPr algn="l"/>
                      <a:r>
                        <a:rPr sz="1050" b="0" i="0">
                          <a:solidFill>
                            <a:srgbClr val="000000"/>
                          </a:solidFill>
                          <a:latin typeface="Calibri"/>
                        </a:rPr>
                        <a:t>Table 39: Global Market YoY Growth by Product Type, %, 2026–2036</a:t>
                      </a:r>
                      <a:endParaRPr sz="1050"/>
                    </a:p>
                  </a:txBody>
                  <a:tcPr marL="9525" marR="9525" marT="9525" marB="0" anchor="ctr"/>
                </a:tc>
              </a:tr>
              <a:tr h="170045">
                <a:tc>
                  <a:txBody>
                    <a:bodyPr wrap="square"/>
                    <a:lstStyle/>
                    <a:p>
                      <a:pPr algn="l"/>
                      <a:r>
                        <a:rPr sz="1050" b="0" i="0">
                          <a:solidFill>
                            <a:srgbClr val="000000"/>
                          </a:solidFill>
                          <a:latin typeface="Calibri"/>
                        </a:rPr>
                        <a:t>Table 40: Global Market YoY Growth by Material Type, %, 2026–2036</a:t>
                      </a:r>
                      <a:endParaRPr sz="1050"/>
                    </a:p>
                  </a:txBody>
                  <a:tcPr marL="9525" marR="9525" marT="9525" marB="0" anchor="ctr"/>
                </a:tc>
              </a:tr>
              <a:tr h="170045">
                <a:tc>
                  <a:txBody>
                    <a:bodyPr wrap="square"/>
                    <a:lstStyle/>
                    <a:p>
                      <a:pPr algn="l"/>
                      <a:r>
                        <a:rPr sz="1050" b="0" i="0">
                          <a:solidFill>
                            <a:srgbClr val="000000"/>
                          </a:solidFill>
                          <a:latin typeface="Calibri"/>
                        </a:rPr>
                        <a:t>Table 41: Global Market YoY Growth by Technology, %, 2026–2036</a:t>
                      </a:r>
                      <a:endParaRPr sz="1050"/>
                    </a:p>
                  </a:txBody>
                  <a:tcPr marL="9525" marR="9525" marT="9525" marB="0" anchor="ctr"/>
                </a:tc>
              </a:tr>
              <a:tr h="170045">
                <a:tc>
                  <a:txBody>
                    <a:bodyPr wrap="square"/>
                    <a:lstStyle/>
                    <a:p>
                      <a:pPr algn="l"/>
                      <a:r>
                        <a:rPr sz="1050" b="0" i="0">
                          <a:solidFill>
                            <a:srgbClr val="000000"/>
                          </a:solidFill>
                          <a:latin typeface="Calibri"/>
                        </a:rPr>
                        <a:t>Table 42: Global Market YoY Growth by End User, %, 2026–2036</a:t>
                      </a:r>
                      <a:endParaRPr sz="1050"/>
                    </a:p>
                  </a:txBody>
                  <a:tcPr marL="9525" marR="9525" marT="9525" marB="0" anchor="ctr"/>
                </a:tc>
              </a:tr>
              <a:tr h="170045">
                <a:tc>
                  <a:txBody>
                    <a:bodyPr wrap="square"/>
                    <a:lstStyle/>
                    <a:p>
                      <a:pPr algn="l"/>
                      <a:r>
                        <a:rPr sz="1050" b="0" i="0">
                          <a:solidFill>
                            <a:srgbClr val="000000"/>
                          </a:solidFill>
                          <a:latin typeface="Calibri"/>
                        </a:rPr>
                        <a:t>Table 43: Global Market YoY Growth by Distribution Channel, %, 2026–2036</a:t>
                      </a:r>
                      <a:endParaRPr sz="1050"/>
                    </a:p>
                  </a:txBody>
                  <a:tcPr marL="9525" marR="9525" marT="9525" marB="0" anchor="ctr"/>
                </a:tc>
              </a:tr>
              <a:tr h="170045">
                <a:tc>
                  <a:txBody>
                    <a:bodyPr wrap="square"/>
                    <a:lstStyle/>
                    <a:p>
                      <a:pPr algn="l"/>
                      <a:r>
                        <a:rPr sz="1050" b="0" i="0">
                          <a:solidFill>
                            <a:srgbClr val="000000"/>
                          </a:solidFill>
                          <a:latin typeface="Calibri"/>
                        </a:rPr>
                        <a:t>Table 44: Global Market YoY Growth by Patient Age Group, %, 2026–2036</a:t>
                      </a:r>
                      <a:endParaRPr sz="1050"/>
                    </a:p>
                  </a:txBody>
                  <a:tcPr marL="9525" marR="9525" marT="9525" marB="0" anchor="ctr"/>
                </a:tc>
              </a:tr>
              <a:tr h="170045">
                <a:tc>
                  <a:txBody>
                    <a:bodyPr wrap="square"/>
                    <a:lstStyle/>
                    <a:p>
                      <a:pPr algn="l"/>
                      <a:r>
                        <a:rPr sz="1050" b="0" i="0">
                          <a:solidFill>
                            <a:srgbClr val="000000"/>
                          </a:solidFill>
                          <a:latin typeface="Calibri"/>
                        </a:rPr>
                        <a:t>Table 45: Global Market Volume by Product Type, Units, 2021–2036</a:t>
                      </a:r>
                      <a:endParaRPr sz="1050"/>
                    </a:p>
                  </a:txBody>
                  <a:tcPr marL="9525" marR="9525" marT="9525" marB="0" anchor="ctr"/>
                </a:tc>
              </a:tr>
              <a:tr h="170045">
                <a:tc>
                  <a:txBody>
                    <a:bodyPr wrap="square"/>
                    <a:lstStyle/>
                    <a:p>
                      <a:pPr algn="l"/>
                      <a:r>
                        <a:rPr sz="1050" b="0" i="0">
                          <a:solidFill>
                            <a:srgbClr val="000000"/>
                          </a:solidFill>
                          <a:latin typeface="Calibri"/>
                        </a:rPr>
                        <a:t>Table 46: Global Market Volume by Material Type, Units, 2021–2036</a:t>
                      </a:r>
                      <a:endParaRPr sz="1050"/>
                    </a:p>
                  </a:txBody>
                  <a:tcPr marL="9525" marR="9525" marT="9525" marB="0" anchor="ctr"/>
                </a:tc>
              </a:tr>
              <a:tr h="170045">
                <a:tc>
                  <a:txBody>
                    <a:bodyPr wrap="square"/>
                    <a:lstStyle/>
                    <a:p>
                      <a:pPr algn="l"/>
                      <a:r>
                        <a:rPr sz="1050" b="0" i="0">
                          <a:solidFill>
                            <a:srgbClr val="000000"/>
                          </a:solidFill>
                          <a:latin typeface="Calibri"/>
                        </a:rPr>
                        <a:t>Table 47: Global Market Volume by Technology, Units, 2021–2036</a:t>
                      </a:r>
                      <a:endParaRPr sz="1050"/>
                    </a:p>
                  </a:txBody>
                  <a:tcPr marL="9525" marR="9525" marT="9525" marB="0" anchor="ctr"/>
                </a:tc>
              </a:tr>
              <a:tr h="170045">
                <a:tc>
                  <a:txBody>
                    <a:bodyPr wrap="square"/>
                    <a:lstStyle/>
                    <a:p>
                      <a:pPr algn="l"/>
                      <a:r>
                        <a:rPr sz="1050" b="0" i="0">
                          <a:solidFill>
                            <a:srgbClr val="000000"/>
                          </a:solidFill>
                          <a:latin typeface="Calibri"/>
                        </a:rPr>
                        <a:t>Table 48: Global Market Volume by End User, Units, 2021–2036</a:t>
                      </a:r>
                      <a:endParaRPr sz="1050"/>
                    </a:p>
                  </a:txBody>
                  <a:tcPr marL="9525" marR="9525" marT="9525" marB="0" anchor="ctr"/>
                </a:tc>
              </a:tr>
              <a:tr h="170045">
                <a:tc>
                  <a:txBody>
                    <a:bodyPr wrap="square"/>
                    <a:lstStyle/>
                    <a:p>
                      <a:pPr algn="l"/>
                      <a:r>
                        <a:rPr sz="1050" b="0" i="0">
                          <a:solidFill>
                            <a:srgbClr val="000000"/>
                          </a:solidFill>
                          <a:latin typeface="Calibri"/>
                        </a:rPr>
                        <a:t>Table 49: Global Market Volume by Distribution Channel, Units, 2021–2036</a:t>
                      </a:r>
                      <a:endParaRPr sz="1050"/>
                    </a:p>
                  </a:txBody>
                  <a:tcPr marL="9525" marR="9525" marT="9525" marB="0" anchor="ctr"/>
                </a:tc>
              </a:tr>
              <a:tr h="170045">
                <a:tc>
                  <a:txBody>
                    <a:bodyPr wrap="square"/>
                    <a:lstStyle/>
                    <a:p>
                      <a:pPr algn="l"/>
                      <a:r>
                        <a:rPr sz="1050" b="0" i="0">
                          <a:solidFill>
                            <a:srgbClr val="000000"/>
                          </a:solidFill>
                          <a:latin typeface="Calibri"/>
                        </a:rPr>
                        <a:t>Table 50: Global Market Volume by Patient Age Group, Units, 2021–2036</a:t>
                      </a:r>
                      <a:endParaRPr sz="1050"/>
                    </a:p>
                  </a:txBody>
                  <a:tcPr marL="9525" marR="9525" marT="9525" marB="0" anchor="ctr"/>
                </a:tc>
              </a:tr>
              <a:tr h="170045">
                <a:tc>
                  <a:txBody>
                    <a:bodyPr wrap="square"/>
                    <a:lstStyle/>
                    <a:p>
                      <a:pPr algn="l"/>
                      <a:r>
                        <a:rPr sz="1050" b="0" i="0">
                          <a:solidFill>
                            <a:srgbClr val="000000"/>
                          </a:solidFill>
                          <a:latin typeface="Calibri"/>
                        </a:rPr>
                        <a:t>Table 51: Global Market Average Selling Price by Product Type, US$/Units, 2021–2036</a:t>
                      </a:r>
                      <a:endParaRPr sz="1050"/>
                    </a:p>
                  </a:txBody>
                  <a:tcPr marL="9525" marR="9525" marT="9525" marB="0" anchor="ctr"/>
                </a:tc>
              </a:tr>
              <a:tr h="170045">
                <a:tc>
                  <a:txBody>
                    <a:bodyPr wrap="square"/>
                    <a:lstStyle/>
                    <a:p>
                      <a:pPr algn="l"/>
                      <a:r>
                        <a:rPr sz="1050" b="0" i="0">
                          <a:solidFill>
                            <a:srgbClr val="000000"/>
                          </a:solidFill>
                          <a:latin typeface="Calibri"/>
                        </a:rPr>
                        <a:t>Table 52: Global Market Average Selling Price by Material Type, US$/Units, 2021–2036</a:t>
                      </a:r>
                      <a:endParaRPr sz="1050"/>
                    </a:p>
                  </a:txBody>
                  <a:tcPr marL="9525" marR="9525" marT="9525" marB="0" anchor="ctr"/>
                </a:tc>
              </a:tr>
              <a:tr h="170045">
                <a:tc>
                  <a:txBody>
                    <a:bodyPr wrap="square"/>
                    <a:lstStyle/>
                    <a:p>
                      <a:pPr algn="l"/>
                      <a:r>
                        <a:rPr sz="1050" b="0" i="0">
                          <a:solidFill>
                            <a:srgbClr val="000000"/>
                          </a:solidFill>
                          <a:latin typeface="Calibri"/>
                        </a:rPr>
                        <a:t>Table 53: Global Market Average Selling Price by Technology, US$/Units, 2021–2036</a:t>
                      </a:r>
                      <a:endParaRPr sz="1050"/>
                    </a:p>
                  </a:txBody>
                  <a:tcPr marL="9525" marR="9525" marT="9525" marB="0" anchor="ctr"/>
                </a:tc>
              </a:tr>
              <a:tr h="170045">
                <a:tc>
                  <a:txBody>
                    <a:bodyPr wrap="square"/>
                    <a:lstStyle/>
                    <a:p>
                      <a:pPr algn="l"/>
                      <a:r>
                        <a:rPr sz="1050" b="0" i="0">
                          <a:solidFill>
                            <a:srgbClr val="000000"/>
                          </a:solidFill>
                          <a:latin typeface="Calibri"/>
                        </a:rPr>
                        <a:t>Table 54: Global Market Average Selling Price by End User, US$/Units, 2021–2036</a:t>
                      </a:r>
                      <a:endParaRPr sz="1050"/>
                    </a:p>
                  </a:txBody>
                  <a:tcPr marL="9525" marR="9525" marT="9525" marB="0" anchor="ctr"/>
                </a:tc>
              </a:tr>
              <a:tr h="170045">
                <a:tc>
                  <a:txBody>
                    <a:bodyPr wrap="square"/>
                    <a:lstStyle/>
                    <a:p>
                      <a:pPr algn="l"/>
                      <a:r>
                        <a:rPr sz="1050" b="0" i="0">
                          <a:solidFill>
                            <a:srgbClr val="000000"/>
                          </a:solidFill>
                          <a:latin typeface="Calibri"/>
                        </a:rPr>
                        <a:t>Table 55: Global Market Average Selling Price by Distribution Channel, US$/Units, 2021–2036</a:t>
                      </a:r>
                      <a:endParaRPr sz="1050"/>
                    </a:p>
                  </a:txBody>
                  <a:tcPr marL="9525" marR="9525" marT="9525" marB="0" anchor="ctr"/>
                </a:tc>
              </a:tr>
              <a:tr h="170045">
                <a:tc>
                  <a:txBody>
                    <a:bodyPr wrap="square"/>
                    <a:lstStyle/>
                    <a:p>
                      <a:pPr algn="l"/>
                      <a:r>
                        <a:rPr sz="1050" b="0" i="0">
                          <a:solidFill>
                            <a:srgbClr val="000000"/>
                          </a:solidFill>
                          <a:latin typeface="Calibri"/>
                        </a:rPr>
                        <a:t>Table 56: Global Market Average Selling Price by Patient Age Group, US$/Units, 2021–2036</a:t>
                      </a:r>
                      <a:endParaRPr sz="1050"/>
                    </a:p>
                  </a:txBody>
                  <a:tcPr marL="9525" marR="9525" marT="9525" marB="0" anchor="ctr"/>
                </a:tc>
              </a:tr>
              <a:tr h="170045">
                <a:tc>
                  <a:txBody>
                    <a:bodyPr wrap="square"/>
                    <a:lstStyle/>
                    <a:p>
                      <a:pPr algn="l"/>
                      <a:r>
                        <a:rPr sz="1050" b="0" i="0">
                          <a:solidFill>
                            <a:srgbClr val="000000"/>
                          </a:solidFill>
                          <a:latin typeface="Calibri"/>
                        </a:rPr>
                        <a:t>Table 57: Global Market Attractiveness Index by Product Type, 2026–2036</a:t>
                      </a:r>
                      <a:endParaRPr sz="1050"/>
                    </a:p>
                  </a:txBody>
                  <a:tcPr marL="9525" marR="9525" marT="9525" marB="0" anchor="ctr"/>
                </a:tc>
              </a:tr>
              <a:tr h="170045">
                <a:tc>
                  <a:txBody>
                    <a:bodyPr wrap="square"/>
                    <a:lstStyle/>
                    <a:p>
                      <a:pPr algn="l"/>
                      <a:r>
                        <a:rPr sz="1050" b="0" i="0">
                          <a:solidFill>
                            <a:srgbClr val="000000"/>
                          </a:solidFill>
                          <a:latin typeface="Calibri"/>
                        </a:rPr>
                        <a:t>Table 58: Global Market Attractiveness Index by Material Type, 2026–2036</a:t>
                      </a:r>
                      <a:endParaRPr sz="1050"/>
                    </a:p>
                  </a:txBody>
                  <a:tcPr marL="9525" marR="9525" marT="9525" marB="0" anchor="ctr"/>
                </a:tc>
              </a:tr>
              <a:tr h="170045">
                <a:tc>
                  <a:txBody>
                    <a:bodyPr wrap="square"/>
                    <a:lstStyle/>
                    <a:p>
                      <a:pPr algn="l"/>
                      <a:r>
                        <a:rPr sz="1050" b="0" i="0">
                          <a:solidFill>
                            <a:srgbClr val="000000"/>
                          </a:solidFill>
                          <a:latin typeface="Calibri"/>
                        </a:rPr>
                        <a:t>Table 59: Global Market Attractiveness Index by Technology,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60: Global Market Attractiveness Index by End User, 2026–2036</a:t>
                      </a:r>
                      <a:endParaRPr sz="1050"/>
                    </a:p>
                  </a:txBody>
                  <a:tcPr marL="9525" marR="9525" marT="9525" marB="0" anchor="ctr"/>
                </a:tc>
              </a:tr>
              <a:tr h="169606">
                <a:tc>
                  <a:txBody>
                    <a:bodyPr wrap="square"/>
                    <a:lstStyle/>
                    <a:p>
                      <a:pPr algn="l"/>
                      <a:r>
                        <a:rPr sz="1050" b="0" i="0">
                          <a:solidFill>
                            <a:srgbClr val="000000"/>
                          </a:solidFill>
                          <a:latin typeface="Calibri"/>
                        </a:rPr>
                        <a:t>Table 61: Global Market Attractiveness Index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Table 62: Global Market Attractiveness Index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Table 63: Global Market Value of Cast Metal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64: Global Market Value of Metal Alloys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65: Global Market Value of Conventional Fabrication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66: Global Market Value of Dental Clinics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67: Global Market Value of Direct Sales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68: Global Market Value of Adults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69: Global Market Value of Acrylic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70: Global Market Value of Acrylic / Resin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71: Global Market Value of Digital Fabrication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72: Global Market Value of Dental Hospitals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73: Global Market Value of Dental Dealers &amp; Distributors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74: Global Market Value of Geriatric Patients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75: Global Market Value of Flexible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76: Global Market Value of Flexible Thermoplastics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77: Global Market Value by Product Type and Material Type, US$ Mn, 2026–2036</a:t>
                      </a:r>
                      <a:endParaRPr sz="1050"/>
                    </a:p>
                  </a:txBody>
                  <a:tcPr marL="9525" marR="9525" marT="9525" marB="0" anchor="ctr"/>
                </a:tc>
              </a:tr>
              <a:tr h="169606">
                <a:tc>
                  <a:txBody>
                    <a:bodyPr wrap="square"/>
                    <a:lstStyle/>
                    <a:p>
                      <a:pPr algn="l"/>
                      <a:r>
                        <a:rPr sz="1050" b="0" i="0">
                          <a:solidFill>
                            <a:srgbClr val="000000"/>
                          </a:solidFill>
                          <a:latin typeface="Calibri"/>
                        </a:rPr>
                        <a:t>Table 78: Global Market Value by Product Type and Technology, US$ Mn, 2026–2036</a:t>
                      </a:r>
                      <a:endParaRPr sz="1050"/>
                    </a:p>
                  </a:txBody>
                  <a:tcPr marL="9525" marR="9525" marT="9525" marB="0" anchor="ctr"/>
                </a:tc>
              </a:tr>
              <a:tr h="169606">
                <a:tc>
                  <a:txBody>
                    <a:bodyPr wrap="square"/>
                    <a:lstStyle/>
                    <a:p>
                      <a:pPr algn="l"/>
                      <a:r>
                        <a:rPr sz="1050" b="0" i="0">
                          <a:solidFill>
                            <a:srgbClr val="000000"/>
                          </a:solidFill>
                          <a:latin typeface="Calibri"/>
                        </a:rPr>
                        <a:t>Table 79: Global Market Value by Product Type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80: Global Market Value by Product Type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81: Global Market Value by Product Type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82: Global Market Value by Material Type and Technology, US$ Mn, 2026–2036</a:t>
                      </a:r>
                      <a:endParaRPr sz="1050"/>
                    </a:p>
                  </a:txBody>
                  <a:tcPr marL="9525" marR="9525" marT="9525" marB="0" anchor="ctr"/>
                </a:tc>
              </a:tr>
              <a:tr h="169606">
                <a:tc>
                  <a:txBody>
                    <a:bodyPr wrap="square"/>
                    <a:lstStyle/>
                    <a:p>
                      <a:pPr algn="l"/>
                      <a:r>
                        <a:rPr sz="1050" b="0" i="0">
                          <a:solidFill>
                            <a:srgbClr val="000000"/>
                          </a:solidFill>
                          <a:latin typeface="Calibri"/>
                        </a:rPr>
                        <a:t>Table 83: Global Market Value by Material Type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84: Global Market Value by Material Type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85: Global Market Value by Material Type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86: Global Market Value by Technology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87: Global Market Value by Technology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88: Global Market Value by Technology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89: Global Market Value by End User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90: Global Market Value by End User and Patient Age Group,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494">
                <a:tc>
                  <a:txBody>
                    <a:bodyPr wrap="square"/>
                    <a:lstStyle/>
                    <a:p>
                      <a:pPr algn="l"/>
                      <a:r>
                        <a:rPr sz="1050" b="0" i="0">
                          <a:solidFill>
                            <a:srgbClr val="000000"/>
                          </a:solidFill>
                          <a:latin typeface="Calibri"/>
                        </a:rPr>
                        <a:t>Table 91: Global Market Value by Distribution Channel and Patient Age Group, US$ Mn, 2026–2036</a:t>
                      </a:r>
                      <a:endParaRPr sz="1050"/>
                    </a:p>
                  </a:txBody>
                  <a:tcPr marL="9525" marR="9525" marT="9525" marB="0" anchor="ctr"/>
                </a:tc>
              </a:tr>
              <a:tr h="175494">
                <a:tc>
                  <a:txBody>
                    <a:bodyPr wrap="square"/>
                    <a:lstStyle/>
                    <a:p>
                      <a:pPr algn="l"/>
                      <a:r>
                        <a:rPr sz="1050" b="0" i="0">
                          <a:solidFill>
                            <a:srgbClr val="000000"/>
                          </a:solidFill>
                          <a:latin typeface="Calibri"/>
                        </a:rPr>
                        <a:t>Table 92: Global Market Value by Region and Product Type, US$ Mn, 2026–2036</a:t>
                      </a:r>
                      <a:endParaRPr sz="1050"/>
                    </a:p>
                  </a:txBody>
                  <a:tcPr marL="9525" marR="9525" marT="9525" marB="0" anchor="ctr"/>
                </a:tc>
              </a:tr>
              <a:tr h="175494">
                <a:tc>
                  <a:txBody>
                    <a:bodyPr wrap="square"/>
                    <a:lstStyle/>
                    <a:p>
                      <a:pPr algn="l"/>
                      <a:r>
                        <a:rPr sz="1050" b="0" i="0">
                          <a:solidFill>
                            <a:srgbClr val="000000"/>
                          </a:solidFill>
                          <a:latin typeface="Calibri"/>
                        </a:rPr>
                        <a:t>Table 93: Global Market Value by Region and Material Type, US$ Mn, 2026–2036</a:t>
                      </a:r>
                      <a:endParaRPr sz="1050"/>
                    </a:p>
                  </a:txBody>
                  <a:tcPr marL="9525" marR="9525" marT="9525" marB="0" anchor="ctr"/>
                </a:tc>
              </a:tr>
              <a:tr h="175494">
                <a:tc>
                  <a:txBody>
                    <a:bodyPr wrap="square"/>
                    <a:lstStyle/>
                    <a:p>
                      <a:pPr algn="l"/>
                      <a:r>
                        <a:rPr sz="1050" b="0" i="0">
                          <a:solidFill>
                            <a:srgbClr val="000000"/>
                          </a:solidFill>
                          <a:latin typeface="Calibri"/>
                        </a:rPr>
                        <a:t>Table 94: Global Market Value by Region and Technology, US$ Mn, 2026–2036</a:t>
                      </a:r>
                      <a:endParaRPr sz="1050"/>
                    </a:p>
                  </a:txBody>
                  <a:tcPr marL="9525" marR="9525" marT="9525" marB="0" anchor="ctr"/>
                </a:tc>
              </a:tr>
              <a:tr h="175494">
                <a:tc>
                  <a:txBody>
                    <a:bodyPr wrap="square"/>
                    <a:lstStyle/>
                    <a:p>
                      <a:pPr algn="l"/>
                      <a:r>
                        <a:rPr sz="1050" b="0" i="0">
                          <a:solidFill>
                            <a:srgbClr val="000000"/>
                          </a:solidFill>
                          <a:latin typeface="Calibri"/>
                        </a:rPr>
                        <a:t>Table 95: Global Market Value by Region and End User, US$ Mn, 2026–2036</a:t>
                      </a:r>
                      <a:endParaRPr sz="1050"/>
                    </a:p>
                  </a:txBody>
                  <a:tcPr marL="9525" marR="9525" marT="9525" marB="0" anchor="ctr"/>
                </a:tc>
              </a:tr>
              <a:tr h="175494">
                <a:tc>
                  <a:txBody>
                    <a:bodyPr wrap="square"/>
                    <a:lstStyle/>
                    <a:p>
                      <a:pPr algn="l"/>
                      <a:r>
                        <a:rPr sz="1050" b="0" i="0">
                          <a:solidFill>
                            <a:srgbClr val="000000"/>
                          </a:solidFill>
                          <a:latin typeface="Calibri"/>
                        </a:rPr>
                        <a:t>Table 96: Global Market Value by Region and Distribution Channel, US$ Mn, 2026–2036</a:t>
                      </a:r>
                      <a:endParaRPr sz="1050"/>
                    </a:p>
                  </a:txBody>
                  <a:tcPr marL="9525" marR="9525" marT="9525" marB="0" anchor="ctr"/>
                </a:tc>
              </a:tr>
              <a:tr h="175494">
                <a:tc>
                  <a:txBody>
                    <a:bodyPr wrap="square"/>
                    <a:lstStyle/>
                    <a:p>
                      <a:pPr algn="l"/>
                      <a:r>
                        <a:rPr sz="1050" b="0" i="0">
                          <a:solidFill>
                            <a:srgbClr val="000000"/>
                          </a:solidFill>
                          <a:latin typeface="Calibri"/>
                        </a:rPr>
                        <a:t>Table 97: Global Market Value by Region and Patient Age Group, US$ Mn, 2026–2036</a:t>
                      </a:r>
                      <a:endParaRPr sz="1050"/>
                    </a:p>
                  </a:txBody>
                  <a:tcPr marL="9525" marR="9525" marT="9525" marB="0" anchor="ctr"/>
                </a:tc>
              </a:tr>
              <a:tr h="175494">
                <a:tc>
                  <a:txBody>
                    <a:bodyPr wrap="square"/>
                    <a:lstStyle/>
                    <a:p>
                      <a:pPr algn="l"/>
                      <a:r>
                        <a:rPr sz="1050" b="0" i="0">
                          <a:solidFill>
                            <a:srgbClr val="000000"/>
                          </a:solidFill>
                          <a:latin typeface="Calibri"/>
                        </a:rPr>
                        <a:t>Table 98: Global Market CAGR by Product Type and Material Type, %, 2026–2036</a:t>
                      </a:r>
                      <a:endParaRPr sz="1050"/>
                    </a:p>
                  </a:txBody>
                  <a:tcPr marL="9525" marR="9525" marT="9525" marB="0" anchor="ctr"/>
                </a:tc>
              </a:tr>
              <a:tr h="175494">
                <a:tc>
                  <a:txBody>
                    <a:bodyPr wrap="square"/>
                    <a:lstStyle/>
                    <a:p>
                      <a:pPr algn="l"/>
                      <a:r>
                        <a:rPr sz="1050" b="0" i="0">
                          <a:solidFill>
                            <a:srgbClr val="000000"/>
                          </a:solidFill>
                          <a:latin typeface="Calibri"/>
                        </a:rPr>
                        <a:t>Table 99: Global Market CAGR by Product Type and Technology, %, 2026–2036</a:t>
                      </a:r>
                      <a:endParaRPr sz="1050"/>
                    </a:p>
                  </a:txBody>
                  <a:tcPr marL="9525" marR="9525" marT="9525" marB="0" anchor="ctr"/>
                </a:tc>
              </a:tr>
              <a:tr h="175494">
                <a:tc>
                  <a:txBody>
                    <a:bodyPr wrap="square"/>
                    <a:lstStyle/>
                    <a:p>
                      <a:pPr algn="l"/>
                      <a:r>
                        <a:rPr sz="1050" b="0" i="0">
                          <a:solidFill>
                            <a:srgbClr val="000000"/>
                          </a:solidFill>
                          <a:latin typeface="Calibri"/>
                        </a:rPr>
                        <a:t>Table 100: Global Market CAGR by Product Type and End User, %, 2026–2036</a:t>
                      </a:r>
                      <a:endParaRPr sz="1050"/>
                    </a:p>
                  </a:txBody>
                  <a:tcPr marL="9525" marR="9525" marT="9525" marB="0" anchor="ctr"/>
                </a:tc>
              </a:tr>
              <a:tr h="175494">
                <a:tc>
                  <a:txBody>
                    <a:bodyPr wrap="square"/>
                    <a:lstStyle/>
                    <a:p>
                      <a:pPr algn="l"/>
                      <a:r>
                        <a:rPr sz="1050" b="0" i="0">
                          <a:solidFill>
                            <a:srgbClr val="000000"/>
                          </a:solidFill>
                          <a:latin typeface="Calibri"/>
                        </a:rPr>
                        <a:t>Table 101: Global Market CAGR by Product Type and Distribution Channel, %, 2026–2036</a:t>
                      </a:r>
                      <a:endParaRPr sz="1050"/>
                    </a:p>
                  </a:txBody>
                  <a:tcPr marL="9525" marR="9525" marT="9525" marB="0" anchor="ctr"/>
                </a:tc>
              </a:tr>
              <a:tr h="175494">
                <a:tc>
                  <a:txBody>
                    <a:bodyPr wrap="square"/>
                    <a:lstStyle/>
                    <a:p>
                      <a:pPr algn="l"/>
                      <a:r>
                        <a:rPr sz="1050" b="0" i="0">
                          <a:solidFill>
                            <a:srgbClr val="000000"/>
                          </a:solidFill>
                          <a:latin typeface="Calibri"/>
                        </a:rPr>
                        <a:t>Table 102: Global Market CAGR by Product Type and Patient Age Group, %, 2026–2036</a:t>
                      </a:r>
                      <a:endParaRPr sz="1050"/>
                    </a:p>
                  </a:txBody>
                  <a:tcPr marL="9525" marR="9525" marT="9525" marB="0" anchor="ctr"/>
                </a:tc>
              </a:tr>
              <a:tr h="175494">
                <a:tc>
                  <a:txBody>
                    <a:bodyPr wrap="square"/>
                    <a:lstStyle/>
                    <a:p>
                      <a:pPr algn="l"/>
                      <a:r>
                        <a:rPr sz="1050" b="0" i="0">
                          <a:solidFill>
                            <a:srgbClr val="000000"/>
                          </a:solidFill>
                          <a:latin typeface="Calibri"/>
                        </a:rPr>
                        <a:t>Table 103: Global Market CAGR by Material Type and Technology, %, 2026–2036</a:t>
                      </a:r>
                      <a:endParaRPr sz="1050"/>
                    </a:p>
                  </a:txBody>
                  <a:tcPr marL="9525" marR="9525" marT="9525" marB="0" anchor="ctr"/>
                </a:tc>
              </a:tr>
              <a:tr h="175494">
                <a:tc>
                  <a:txBody>
                    <a:bodyPr wrap="square"/>
                    <a:lstStyle/>
                    <a:p>
                      <a:pPr algn="l"/>
                      <a:r>
                        <a:rPr sz="1050" b="0" i="0">
                          <a:solidFill>
                            <a:srgbClr val="000000"/>
                          </a:solidFill>
                          <a:latin typeface="Calibri"/>
                        </a:rPr>
                        <a:t>Table 104: Global Market CAGR by Material Type and End User, %, 2026–2036</a:t>
                      </a:r>
                      <a:endParaRPr sz="1050"/>
                    </a:p>
                  </a:txBody>
                  <a:tcPr marL="9525" marR="9525" marT="9525" marB="0" anchor="ctr"/>
                </a:tc>
              </a:tr>
              <a:tr h="175494">
                <a:tc>
                  <a:txBody>
                    <a:bodyPr wrap="square"/>
                    <a:lstStyle/>
                    <a:p>
                      <a:pPr algn="l"/>
                      <a:r>
                        <a:rPr sz="1050" b="0" i="0">
                          <a:solidFill>
                            <a:srgbClr val="000000"/>
                          </a:solidFill>
                          <a:latin typeface="Calibri"/>
                        </a:rPr>
                        <a:t>Table 105: Global Market CAGR by Material Type and Distribution Channel, %, 2026–2036</a:t>
                      </a:r>
                      <a:endParaRPr sz="1050"/>
                    </a:p>
                  </a:txBody>
                  <a:tcPr marL="9525" marR="9525" marT="9525" marB="0" anchor="ctr"/>
                </a:tc>
              </a:tr>
              <a:tr h="175494">
                <a:tc>
                  <a:txBody>
                    <a:bodyPr wrap="square"/>
                    <a:lstStyle/>
                    <a:p>
                      <a:pPr algn="l"/>
                      <a:r>
                        <a:rPr sz="1050" b="0" i="0">
                          <a:solidFill>
                            <a:srgbClr val="000000"/>
                          </a:solidFill>
                          <a:latin typeface="Calibri"/>
                        </a:rPr>
                        <a:t>Table 106: Global Market Value by Region, US$ Mn, 2021–2036</a:t>
                      </a:r>
                      <a:endParaRPr sz="1050"/>
                    </a:p>
                  </a:txBody>
                  <a:tcPr marL="9525" marR="9525" marT="9525" marB="0" anchor="ctr"/>
                </a:tc>
              </a:tr>
              <a:tr h="175494">
                <a:tc>
                  <a:txBody>
                    <a:bodyPr wrap="square"/>
                    <a:lstStyle/>
                    <a:p>
                      <a:pPr algn="l"/>
                      <a:r>
                        <a:rPr sz="1050" b="0" i="0">
                          <a:solidFill>
                            <a:srgbClr val="000000"/>
                          </a:solidFill>
                          <a:latin typeface="Calibri"/>
                        </a:rPr>
                        <a:t>Table 107: Global Market CAGR and Absolute $ Opportunity by Region, %, US$ Mn, 2026–2036</a:t>
                      </a:r>
                      <a:endParaRPr sz="1050"/>
                    </a:p>
                  </a:txBody>
                  <a:tcPr marL="9525" marR="9525" marT="9525" marB="0" anchor="ctr"/>
                </a:tc>
              </a:tr>
              <a:tr h="175494">
                <a:tc>
                  <a:txBody>
                    <a:bodyPr wrap="square"/>
                    <a:lstStyle/>
                    <a:p>
                      <a:pPr algn="l"/>
                      <a:r>
                        <a:rPr sz="1050" b="0" i="0">
                          <a:solidFill>
                            <a:srgbClr val="000000"/>
                          </a:solidFill>
                          <a:latin typeface="Calibri"/>
                        </a:rPr>
                        <a:t>Table 108: Global Market Share and BPS Change by Region, %, 2026 and 2036</a:t>
                      </a:r>
                      <a:endParaRPr sz="1050"/>
                    </a:p>
                  </a:txBody>
                  <a:tcPr marL="9525" marR="9525" marT="9525" marB="0" anchor="ctr"/>
                </a:tc>
              </a:tr>
              <a:tr h="175494">
                <a:tc>
                  <a:txBody>
                    <a:bodyPr wrap="square"/>
                    <a:lstStyle/>
                    <a:p>
                      <a:pPr algn="l"/>
                      <a:r>
                        <a:rPr sz="1050" b="0" i="0">
                          <a:solidFill>
                            <a:srgbClr val="000000"/>
                          </a:solidFill>
                          <a:latin typeface="Calibri"/>
                        </a:rPr>
                        <a:t>Table 109: Global Market Volume by Region, Units, 2021–2036</a:t>
                      </a:r>
                      <a:endParaRPr sz="1050"/>
                    </a:p>
                  </a:txBody>
                  <a:tcPr marL="9525" marR="9525" marT="9525" marB="0" anchor="ctr"/>
                </a:tc>
              </a:tr>
              <a:tr h="175494">
                <a:tc>
                  <a:txBody>
                    <a:bodyPr wrap="square"/>
                    <a:lstStyle/>
                    <a:p>
                      <a:pPr algn="l"/>
                      <a:r>
                        <a:rPr sz="1050" b="0" i="0">
                          <a:solidFill>
                            <a:srgbClr val="000000"/>
                          </a:solidFill>
                          <a:latin typeface="Calibri"/>
                        </a:rPr>
                        <a:t>Table 110: North America Market Value by Country, US$ Mn, 2021–2036</a:t>
                      </a:r>
                      <a:endParaRPr sz="1050"/>
                    </a:p>
                  </a:txBody>
                  <a:tcPr marL="9525" marR="9525" marT="9525" marB="0" anchor="ctr"/>
                </a:tc>
              </a:tr>
              <a:tr h="175494">
                <a:tc>
                  <a:txBody>
                    <a:bodyPr wrap="square"/>
                    <a:lstStyle/>
                    <a:p>
                      <a:pPr algn="l"/>
                      <a:r>
                        <a:rPr sz="1050" b="0" i="0">
                          <a:solidFill>
                            <a:srgbClr val="000000"/>
                          </a:solidFill>
                          <a:latin typeface="Calibri"/>
                        </a:rPr>
                        <a:t>Table 111: Latin America Market Value by Country, US$ Mn, 2021–2036</a:t>
                      </a:r>
                      <a:endParaRPr sz="1050"/>
                    </a:p>
                  </a:txBody>
                  <a:tcPr marL="9525" marR="9525" marT="9525" marB="0" anchor="ctr"/>
                </a:tc>
              </a:tr>
              <a:tr h="175494">
                <a:tc>
                  <a:txBody>
                    <a:bodyPr wrap="square"/>
                    <a:lstStyle/>
                    <a:p>
                      <a:pPr algn="l"/>
                      <a:r>
                        <a:rPr sz="1050" b="0" i="0">
                          <a:solidFill>
                            <a:srgbClr val="000000"/>
                          </a:solidFill>
                          <a:latin typeface="Calibri"/>
                        </a:rPr>
                        <a:t>Table 112: Europe Market Value by Country, US$ Mn, 2021–2036</a:t>
                      </a:r>
                      <a:endParaRPr sz="1050"/>
                    </a:p>
                  </a:txBody>
                  <a:tcPr marL="9525" marR="9525" marT="9525" marB="0" anchor="ctr"/>
                </a:tc>
              </a:tr>
              <a:tr h="175494">
                <a:tc>
                  <a:txBody>
                    <a:bodyPr wrap="square"/>
                    <a:lstStyle/>
                    <a:p>
                      <a:pPr algn="l"/>
                      <a:r>
                        <a:rPr sz="1050" b="0" i="0">
                          <a:solidFill>
                            <a:srgbClr val="000000"/>
                          </a:solidFill>
                          <a:latin typeface="Calibri"/>
                        </a:rPr>
                        <a:t>Table 113: East Asia Market Value by Country, US$ Mn, 2021–2036</a:t>
                      </a:r>
                      <a:endParaRPr sz="1050"/>
                    </a:p>
                  </a:txBody>
                  <a:tcPr marL="9525" marR="9525" marT="9525" marB="0" anchor="ctr"/>
                </a:tc>
              </a:tr>
              <a:tr h="175494">
                <a:tc>
                  <a:txBody>
                    <a:bodyPr wrap="square"/>
                    <a:lstStyle/>
                    <a:p>
                      <a:pPr algn="l"/>
                      <a:r>
                        <a:rPr sz="1050" b="0" i="0">
                          <a:solidFill>
                            <a:srgbClr val="000000"/>
                          </a:solidFill>
                          <a:latin typeface="Calibri"/>
                        </a:rPr>
                        <a:t>Table 114: South Asia &amp; Pacific Market Value by Country, US$ Mn, 2021–2036</a:t>
                      </a:r>
                      <a:endParaRPr sz="1050"/>
                    </a:p>
                  </a:txBody>
                  <a:tcPr marL="9525" marR="9525" marT="9525" marB="0" anchor="ctr"/>
                </a:tc>
              </a:tr>
              <a:tr h="175494">
                <a:tc>
                  <a:txBody>
                    <a:bodyPr wrap="square"/>
                    <a:lstStyle/>
                    <a:p>
                      <a:pPr algn="l"/>
                      <a:r>
                        <a:rPr sz="1050" b="0" i="0">
                          <a:solidFill>
                            <a:srgbClr val="000000"/>
                          </a:solidFill>
                          <a:latin typeface="Calibri"/>
                        </a:rPr>
                        <a:t>Table 115: Middle East &amp; Africa Market Value by Country, US$ Mn, 2021–2036</a:t>
                      </a:r>
                      <a:endParaRPr sz="1050"/>
                    </a:p>
                  </a:txBody>
                  <a:tcPr marL="9525" marR="9525" marT="9525" marB="0" anchor="ctr"/>
                </a:tc>
              </a:tr>
              <a:tr h="343968">
                <a:tc>
                  <a:txBody>
                    <a:bodyPr wrap="square"/>
                    <a:lstStyle/>
                    <a:p>
                      <a:pPr algn="l"/>
                      <a:r>
                        <a:rPr sz="1050" b="0" i="0">
                          <a:solidFill>
                            <a:srgbClr val="000000"/>
                          </a:solidFill>
                          <a:latin typeface="Calibri"/>
                        </a:rPr>
                        <a:t>Table 116: North America Market CAGR and Absolute $ Opportunity by Country, %, US$ Mn, 2026–2036</a:t>
                      </a:r>
                      <a:endParaRPr sz="1050"/>
                    </a:p>
                  </a:txBody>
                  <a:tcPr marL="9525" marR="9525" marT="9525" marB="0" anchor="ctr"/>
                </a:tc>
              </a:tr>
              <a:tr h="175494">
                <a:tc>
                  <a:txBody>
                    <a:bodyPr wrap="square"/>
                    <a:lstStyle/>
                    <a:p>
                      <a:pPr algn="l"/>
                      <a:r>
                        <a:rPr sz="1050" b="0" i="0">
                          <a:solidFill>
                            <a:srgbClr val="000000"/>
                          </a:solidFill>
                          <a:latin typeface="Calibri"/>
                        </a:rPr>
                        <a:t>Table 117: Latin America Market CAGR and Absolute $ Opportunity by Country, %, US$ Mn, 2026–2036</a:t>
                      </a:r>
                      <a:endParaRPr sz="1050"/>
                    </a:p>
                  </a:txBody>
                  <a:tcPr marL="9525" marR="9525" marT="9525" marB="0" anchor="ctr"/>
                </a:tc>
              </a:tr>
              <a:tr h="175494">
                <a:tc>
                  <a:txBody>
                    <a:bodyPr wrap="square"/>
                    <a:lstStyle/>
                    <a:p>
                      <a:pPr algn="l"/>
                      <a:r>
                        <a:rPr sz="1050" b="0" i="0">
                          <a:solidFill>
                            <a:srgbClr val="000000"/>
                          </a:solidFill>
                          <a:latin typeface="Calibri"/>
                        </a:rPr>
                        <a:t>Table 118: Europe Market CAGR and Absolute $ Opportunity by Country, %, US$ Mn, 2026–2036</a:t>
                      </a:r>
                      <a:endParaRPr sz="1050"/>
                    </a:p>
                  </a:txBody>
                  <a:tcPr marL="9525" marR="9525" marT="9525" marB="0" anchor="ctr"/>
                </a:tc>
              </a:tr>
              <a:tr h="175494">
                <a:tc>
                  <a:txBody>
                    <a:bodyPr wrap="square"/>
                    <a:lstStyle/>
                    <a:p>
                      <a:pPr algn="l"/>
                      <a:r>
                        <a:rPr sz="1050" b="0" i="0">
                          <a:solidFill>
                            <a:srgbClr val="000000"/>
                          </a:solidFill>
                          <a:latin typeface="Calibri"/>
                        </a:rPr>
                        <a:t>Table 119: East Asia Market CAGR and Absolute $ Opportunity by Country, %,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333289">
                <a:tc>
                  <a:txBody>
                    <a:bodyPr wrap="square"/>
                    <a:lstStyle/>
                    <a:p>
                      <a:pPr algn="l"/>
                      <a:r>
                        <a:rPr sz="1050" b="0" i="0">
                          <a:solidFill>
                            <a:srgbClr val="000000"/>
                          </a:solidFill>
                          <a:latin typeface="Calibri"/>
                        </a:rPr>
                        <a:t>Table 120: South Asia &amp; Pacific Market CAGR and Absolute $ Opportunity by Country, %, US$ Mn, 2026–2036</a:t>
                      </a:r>
                      <a:endParaRPr sz="1050"/>
                    </a:p>
                  </a:txBody>
                  <a:tcPr marL="9525" marR="9525" marT="9525" marB="0" anchor="ctr"/>
                </a:tc>
              </a:tr>
              <a:tr h="333289">
                <a:tc>
                  <a:txBody>
                    <a:bodyPr wrap="square"/>
                    <a:lstStyle/>
                    <a:p>
                      <a:pPr algn="l"/>
                      <a:r>
                        <a:rPr sz="1050" b="0" i="0">
                          <a:solidFill>
                            <a:srgbClr val="000000"/>
                          </a:solidFill>
                          <a:latin typeface="Calibri"/>
                        </a:rPr>
                        <a:t>Table 121: Middle East &amp; Africa Market CAGR and Absolute $ Opportunity by Country, %, US$ Mn, 2026–2036</a:t>
                      </a:r>
                      <a:endParaRPr sz="1050"/>
                    </a:p>
                  </a:txBody>
                  <a:tcPr marL="9525" marR="9525" marT="9525" marB="0" anchor="ctr"/>
                </a:tc>
              </a:tr>
              <a:tr h="170045">
                <a:tc>
                  <a:txBody>
                    <a:bodyPr wrap="square"/>
                    <a:lstStyle/>
                    <a:p>
                      <a:pPr algn="l"/>
                      <a:r>
                        <a:rPr sz="1050" b="0" i="0">
                          <a:solidFill>
                            <a:srgbClr val="000000"/>
                          </a:solidFill>
                          <a:latin typeface="Calibri"/>
                        </a:rPr>
                        <a:t>Table 122: North America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123: Latin America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124: Europe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125: East Asia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126: South Asia &amp; Pacific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127: Middle East &amp; Africa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128: North America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129: Latin America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130: Europe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131: East Asia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132: U.S.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133: U.S. Market Historical and Forecast Growth, %, 2021–2036</a:t>
                      </a:r>
                      <a:endParaRPr sz="1050"/>
                    </a:p>
                  </a:txBody>
                  <a:tcPr marL="9525" marR="9525" marT="9525" marB="0" anchor="ctr"/>
                </a:tc>
              </a:tr>
              <a:tr h="170045">
                <a:tc>
                  <a:txBody>
                    <a:bodyPr wrap="square"/>
                    <a:lstStyle/>
                    <a:p>
                      <a:pPr algn="l"/>
                      <a:r>
                        <a:rPr sz="1050" b="0" i="0">
                          <a:solidFill>
                            <a:srgbClr val="000000"/>
                          </a:solidFill>
                          <a:latin typeface="Calibri"/>
                        </a:rPr>
                        <a:t>Table 134: U.S. Market Value by End User, US$ Mn, 2021–2036</a:t>
                      </a:r>
                      <a:endParaRPr sz="1050"/>
                    </a:p>
                  </a:txBody>
                  <a:tcPr marL="9525" marR="9525" marT="9525" marB="0" anchor="ctr"/>
                </a:tc>
              </a:tr>
              <a:tr h="170045">
                <a:tc>
                  <a:txBody>
                    <a:bodyPr wrap="square"/>
                    <a:lstStyle/>
                    <a:p>
                      <a:pPr algn="l"/>
                      <a:r>
                        <a:rPr sz="1050" b="0" i="0">
                          <a:solidFill>
                            <a:srgbClr val="000000"/>
                          </a:solidFill>
                          <a:latin typeface="Calibri"/>
                        </a:rPr>
                        <a:t>Table 135: U.S. Market Share within North America, %, 2025, 2026 and 2036</a:t>
                      </a:r>
                      <a:endParaRPr sz="1050"/>
                    </a:p>
                  </a:txBody>
                  <a:tcPr marL="9525" marR="9525" marT="9525" marB="0" anchor="ctr"/>
                </a:tc>
              </a:tr>
              <a:tr h="170045">
                <a:tc>
                  <a:txBody>
                    <a:bodyPr wrap="square"/>
                    <a:lstStyle/>
                    <a:p>
                      <a:pPr algn="l"/>
                      <a:r>
                        <a:rPr sz="1050" b="0" i="0">
                          <a:solidFill>
                            <a:srgbClr val="000000"/>
                          </a:solidFill>
                          <a:latin typeface="Calibri"/>
                        </a:rPr>
                        <a:t>Table 136: U.S.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137: U.S. Market Value by Technology, US$ Mn, 2021–2036</a:t>
                      </a:r>
                      <a:endParaRPr sz="1050"/>
                    </a:p>
                  </a:txBody>
                  <a:tcPr marL="9525" marR="9525" marT="9525" marB="0" anchor="ctr"/>
                </a:tc>
              </a:tr>
              <a:tr h="170045">
                <a:tc>
                  <a:txBody>
                    <a:bodyPr wrap="square"/>
                    <a:lstStyle/>
                    <a:p>
                      <a:pPr algn="l"/>
                      <a:r>
                        <a:rPr sz="1050" b="0" i="0">
                          <a:solidFill>
                            <a:srgbClr val="000000"/>
                          </a:solidFill>
                          <a:latin typeface="Calibri"/>
                        </a:rPr>
                        <a:t>Table 138: U.S. Market Value by Distribution Channel, US$ Mn, 2021–2036</a:t>
                      </a:r>
                      <a:endParaRPr sz="1050"/>
                    </a:p>
                  </a:txBody>
                  <a:tcPr marL="9525" marR="9525" marT="9525" marB="0" anchor="ctr"/>
                </a:tc>
              </a:tr>
              <a:tr h="170045">
                <a:tc>
                  <a:txBody>
                    <a:bodyPr wrap="square"/>
                    <a:lstStyle/>
                    <a:p>
                      <a:pPr algn="l"/>
                      <a:r>
                        <a:rPr sz="1050" b="0" i="0">
                          <a:solidFill>
                            <a:srgbClr val="000000"/>
                          </a:solidFill>
                          <a:latin typeface="Calibri"/>
                        </a:rPr>
                        <a:t>Table 139: U.S. Market Value by Patient Age Group, US$ Mn, 2021–2036</a:t>
                      </a:r>
                      <a:endParaRPr sz="1050"/>
                    </a:p>
                  </a:txBody>
                  <a:tcPr marL="9525" marR="9525" marT="9525" marB="0" anchor="ctr"/>
                </a:tc>
              </a:tr>
              <a:tr h="170045">
                <a:tc>
                  <a:txBody>
                    <a:bodyPr wrap="square"/>
                    <a:lstStyle/>
                    <a:p>
                      <a:pPr algn="l"/>
                      <a:r>
                        <a:rPr sz="1050" b="0" i="0">
                          <a:solidFill>
                            <a:srgbClr val="000000"/>
                          </a:solidFill>
                          <a:latin typeface="Calibri"/>
                        </a:rPr>
                        <a:t>Table 140: Germany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141: Germany Market Historical and Forecast Growth, %, 2021–2036</a:t>
                      </a:r>
                      <a:endParaRPr sz="1050"/>
                    </a:p>
                  </a:txBody>
                  <a:tcPr marL="9525" marR="9525" marT="9525" marB="0" anchor="ctr"/>
                </a:tc>
              </a:tr>
              <a:tr h="170045">
                <a:tc>
                  <a:txBody>
                    <a:bodyPr wrap="square"/>
                    <a:lstStyle/>
                    <a:p>
                      <a:pPr algn="l"/>
                      <a:r>
                        <a:rPr sz="1050" b="0" i="0">
                          <a:solidFill>
                            <a:srgbClr val="000000"/>
                          </a:solidFill>
                          <a:latin typeface="Calibri"/>
                        </a:rPr>
                        <a:t>Table 142: Germany Market Value by End User, US$ Mn, 2021–2036</a:t>
                      </a:r>
                      <a:endParaRPr sz="1050"/>
                    </a:p>
                  </a:txBody>
                  <a:tcPr marL="9525" marR="9525" marT="9525" marB="0" anchor="ctr"/>
                </a:tc>
              </a:tr>
              <a:tr h="170045">
                <a:tc>
                  <a:txBody>
                    <a:bodyPr wrap="square"/>
                    <a:lstStyle/>
                    <a:p>
                      <a:pPr algn="l"/>
                      <a:r>
                        <a:rPr sz="1050" b="0" i="0">
                          <a:solidFill>
                            <a:srgbClr val="000000"/>
                          </a:solidFill>
                          <a:latin typeface="Calibri"/>
                        </a:rPr>
                        <a:t>Table 143: Germany Market Share within Europe,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144: Germany Market Value by Material Type, US$ Mn, 2021–2036</a:t>
                      </a:r>
                      <a:endParaRPr sz="1050"/>
                    </a:p>
                  </a:txBody>
                  <a:tcPr marL="9525" marR="9525" marT="9525" marB="0" anchor="ctr"/>
                </a:tc>
              </a:tr>
              <a:tr h="170045">
                <a:tc>
                  <a:txBody>
                    <a:bodyPr wrap="square"/>
                    <a:lstStyle/>
                    <a:p>
                      <a:pPr algn="l"/>
                      <a:r>
                        <a:rPr sz="1050" b="0" i="0">
                          <a:solidFill>
                            <a:srgbClr val="000000"/>
                          </a:solidFill>
                          <a:latin typeface="Calibri"/>
                        </a:rPr>
                        <a:t>Table 145: Germany Market Value by Technology, US$ Mn, 2021–2036</a:t>
                      </a:r>
                      <a:endParaRPr sz="1050"/>
                    </a:p>
                  </a:txBody>
                  <a:tcPr marL="9525" marR="9525" marT="9525" marB="0" anchor="ctr"/>
                </a:tc>
              </a:tr>
              <a:tr h="170045">
                <a:tc>
                  <a:txBody>
                    <a:bodyPr wrap="square"/>
                    <a:lstStyle/>
                    <a:p>
                      <a:pPr algn="l"/>
                      <a:r>
                        <a:rPr sz="1050" b="0" i="0">
                          <a:solidFill>
                            <a:srgbClr val="000000"/>
                          </a:solidFill>
                          <a:latin typeface="Calibri"/>
                        </a:rPr>
                        <a:t>Table 146: Germany Market Value by Distribution Channel, US$ Mn, 2021–2036</a:t>
                      </a:r>
                      <a:endParaRPr sz="1050"/>
                    </a:p>
                  </a:txBody>
                  <a:tcPr marL="9525" marR="9525" marT="9525" marB="0" anchor="ctr"/>
                </a:tc>
              </a:tr>
              <a:tr h="170045">
                <a:tc>
                  <a:txBody>
                    <a:bodyPr wrap="square"/>
                    <a:lstStyle/>
                    <a:p>
                      <a:pPr algn="l"/>
                      <a:r>
                        <a:rPr sz="1050" b="0" i="0">
                          <a:solidFill>
                            <a:srgbClr val="000000"/>
                          </a:solidFill>
                          <a:latin typeface="Calibri"/>
                        </a:rPr>
                        <a:t>Table 147: Germany Market Value by Patient Age Group, US$ Mn, 2021–2036</a:t>
                      </a:r>
                      <a:endParaRPr sz="1050"/>
                    </a:p>
                  </a:txBody>
                  <a:tcPr marL="9525" marR="9525" marT="9525" marB="0" anchor="ctr"/>
                </a:tc>
              </a:tr>
              <a:tr h="170045">
                <a:tc>
                  <a:txBody>
                    <a:bodyPr wrap="square"/>
                    <a:lstStyle/>
                    <a:p>
                      <a:pPr algn="l"/>
                      <a:r>
                        <a:rPr sz="1050" b="0" i="0">
                          <a:solidFill>
                            <a:srgbClr val="000000"/>
                          </a:solidFill>
                          <a:latin typeface="Calibri"/>
                        </a:rPr>
                        <a:t>Table 148: Canada Market Value by Product Type,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149: Canada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150: Canada Market Value by End User, US$ Mn, 2021–2036</a:t>
                      </a:r>
                      <a:endParaRPr sz="1050"/>
                    </a:p>
                  </a:txBody>
                  <a:tcPr marL="9525" marR="9525" marT="9525" marB="0" anchor="ctr"/>
                </a:tc>
              </a:tr>
              <a:tr h="169606">
                <a:tc>
                  <a:txBody>
                    <a:bodyPr wrap="square"/>
                    <a:lstStyle/>
                    <a:p>
                      <a:pPr algn="l"/>
                      <a:r>
                        <a:rPr sz="1050" b="0" i="0">
                          <a:solidFill>
                            <a:srgbClr val="000000"/>
                          </a:solidFill>
                          <a:latin typeface="Calibri"/>
                        </a:rPr>
                        <a:t>Table 151: Canada Market Share within North America,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152: Canada Market Value by Material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153: Canada Market Value by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154: Canada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Table 155: Canada Market Value by Patient Age Group, US$ Mn, 2021–2036</a:t>
                      </a:r>
                      <a:endParaRPr sz="1050"/>
                    </a:p>
                  </a:txBody>
                  <a:tcPr marL="9525" marR="9525" marT="9525" marB="0" anchor="ctr"/>
                </a:tc>
              </a:tr>
              <a:tr h="169606">
                <a:tc>
                  <a:txBody>
                    <a:bodyPr wrap="square"/>
                    <a:lstStyle/>
                    <a:p>
                      <a:pPr algn="l"/>
                      <a:r>
                        <a:rPr sz="1050" b="0" i="0">
                          <a:solidFill>
                            <a:srgbClr val="000000"/>
                          </a:solidFill>
                          <a:latin typeface="Calibri"/>
                        </a:rPr>
                        <a:t>Table 156: China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157: China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158: China Market Value by End User, US$ Mn, 2021–2036</a:t>
                      </a:r>
                      <a:endParaRPr sz="1050"/>
                    </a:p>
                  </a:txBody>
                  <a:tcPr marL="9525" marR="9525" marT="9525" marB="0" anchor="ctr"/>
                </a:tc>
              </a:tr>
              <a:tr h="169606">
                <a:tc>
                  <a:txBody>
                    <a:bodyPr wrap="square"/>
                    <a:lstStyle/>
                    <a:p>
                      <a:pPr algn="l"/>
                      <a:r>
                        <a:rPr sz="1050" b="0" i="0">
                          <a:solidFill>
                            <a:srgbClr val="000000"/>
                          </a:solidFill>
                          <a:latin typeface="Calibri"/>
                        </a:rPr>
                        <a:t>Table 159: India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160: India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161: Brazil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162: Brazil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163: U.K.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164: U.K.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165: Market Product Price Comparison by Company and Product Type, US$/Units, 2026</a:t>
                      </a:r>
                      <a:endParaRPr sz="1050"/>
                    </a:p>
                  </a:txBody>
                  <a:tcPr marL="9525" marR="9525" marT="9525" marB="0" anchor="ctr"/>
                </a:tc>
              </a:tr>
              <a:tr h="169606">
                <a:tc>
                  <a:txBody>
                    <a:bodyPr wrap="square"/>
                    <a:lstStyle/>
                    <a:p>
                      <a:pPr algn="l"/>
                      <a:r>
                        <a:rPr sz="1050" b="0" i="0">
                          <a:solidFill>
                            <a:srgbClr val="000000"/>
                          </a:solidFill>
                          <a:latin typeface="Calibri"/>
                        </a:rPr>
                        <a:t>Table 166: Global Market Average Selling Price by Region, US$/Units, 2021–2036</a:t>
                      </a:r>
                      <a:endParaRPr sz="1050"/>
                    </a:p>
                  </a:txBody>
                  <a:tcPr marL="9525" marR="9525" marT="9525" marB="0" anchor="ctr"/>
                </a:tc>
              </a:tr>
              <a:tr h="169606">
                <a:tc>
                  <a:txBody>
                    <a:bodyPr wrap="square"/>
                    <a:lstStyle/>
                    <a:p>
                      <a:pPr algn="l"/>
                      <a:r>
                        <a:rPr sz="1050" b="0" i="0">
                          <a:solidFill>
                            <a:srgbClr val="000000"/>
                          </a:solidFill>
                          <a:latin typeface="Calibri"/>
                        </a:rPr>
                        <a:t>Table 167: Global Market Average Selling Price by Product Type, US$/Units, 2021–2036</a:t>
                      </a:r>
                      <a:endParaRPr sz="1050"/>
                    </a:p>
                  </a:txBody>
                  <a:tcPr marL="9525" marR="9525" marT="9525" marB="0" anchor="ctr"/>
                </a:tc>
              </a:tr>
              <a:tr h="169606">
                <a:tc>
                  <a:txBody>
                    <a:bodyPr wrap="square"/>
                    <a:lstStyle/>
                    <a:p>
                      <a:pPr algn="l"/>
                      <a:r>
                        <a:rPr sz="1050" b="0" i="0">
                          <a:solidFill>
                            <a:srgbClr val="000000"/>
                          </a:solidFill>
                          <a:latin typeface="Calibri"/>
                        </a:rPr>
                        <a:t>Table 168: Global Market Average Selling Price by Material Type, US$/Units, 2021–2036</a:t>
                      </a:r>
                      <a:endParaRPr sz="1050"/>
                    </a:p>
                  </a:txBody>
                  <a:tcPr marL="9525" marR="9525" marT="9525" marB="0" anchor="ctr"/>
                </a:tc>
              </a:tr>
              <a:tr h="169606">
                <a:tc>
                  <a:txBody>
                    <a:bodyPr wrap="square"/>
                    <a:lstStyle/>
                    <a:p>
                      <a:pPr algn="l"/>
                      <a:r>
                        <a:rPr sz="1050" b="0" i="0">
                          <a:solidFill>
                            <a:srgbClr val="000000"/>
                          </a:solidFill>
                          <a:latin typeface="Calibri"/>
                        </a:rPr>
                        <a:t>Table 169: Global Market Average Selling Price by Technology, US$/Units, 2021–2036</a:t>
                      </a:r>
                      <a:endParaRPr sz="1050"/>
                    </a:p>
                  </a:txBody>
                  <a:tcPr marL="9525" marR="9525" marT="9525" marB="0" anchor="ctr"/>
                </a:tc>
              </a:tr>
              <a:tr h="169606">
                <a:tc>
                  <a:txBody>
                    <a:bodyPr wrap="square"/>
                    <a:lstStyle/>
                    <a:p>
                      <a:pPr algn="l"/>
                      <a:r>
                        <a:rPr sz="1050" b="0" i="0">
                          <a:solidFill>
                            <a:srgbClr val="000000"/>
                          </a:solidFill>
                          <a:latin typeface="Calibri"/>
                        </a:rPr>
                        <a:t>Table 170: Global Market Average Selling Price by End User, US$/Units, 2021–2036</a:t>
                      </a:r>
                      <a:endParaRPr sz="1050"/>
                    </a:p>
                  </a:txBody>
                  <a:tcPr marL="9525" marR="9525" marT="9525" marB="0" anchor="ctr"/>
                </a:tc>
              </a:tr>
              <a:tr h="169606">
                <a:tc>
                  <a:txBody>
                    <a:bodyPr wrap="square"/>
                    <a:lstStyle/>
                    <a:p>
                      <a:pPr algn="l"/>
                      <a:r>
                        <a:rPr sz="1050" b="0" i="0">
                          <a:solidFill>
                            <a:srgbClr val="000000"/>
                          </a:solidFill>
                          <a:latin typeface="Calibri"/>
                        </a:rPr>
                        <a:t>Table 171: Global Market Average Selling Price by Distribution Channel, US$/Units, 2021–2036</a:t>
                      </a:r>
                      <a:endParaRPr sz="1050"/>
                    </a:p>
                  </a:txBody>
                  <a:tcPr marL="9525" marR="9525" marT="9525" marB="0" anchor="ctr"/>
                </a:tc>
              </a:tr>
              <a:tr h="169606">
                <a:tc>
                  <a:txBody>
                    <a:bodyPr wrap="square"/>
                    <a:lstStyle/>
                    <a:p>
                      <a:pPr algn="l"/>
                      <a:r>
                        <a:rPr sz="1050" b="0" i="0">
                          <a:solidFill>
                            <a:srgbClr val="000000"/>
                          </a:solidFill>
                          <a:latin typeface="Calibri"/>
                        </a:rPr>
                        <a:t>Table 172: Global Market Average Selling Price by Patient Age Group, US$/Units, 2021–2036</a:t>
                      </a:r>
                      <a:endParaRPr sz="1050"/>
                    </a:p>
                  </a:txBody>
                  <a:tcPr marL="9525" marR="9525" marT="9525" marB="0" anchor="ctr"/>
                </a:tc>
              </a:tr>
              <a:tr h="169606">
                <a:tc>
                  <a:txBody>
                    <a:bodyPr wrap="square"/>
                    <a:lstStyle/>
                    <a:p>
                      <a:pPr algn="l"/>
                      <a:r>
                        <a:rPr sz="1050" b="0" i="0">
                          <a:solidFill>
                            <a:srgbClr val="000000"/>
                          </a:solidFill>
                          <a:latin typeface="Calibri"/>
                        </a:rPr>
                        <a:t>Table 173: Supplier-to-Customer Relationship Mapping in U.S., 2026</a:t>
                      </a:r>
                      <a:endParaRPr sz="1050"/>
                    </a:p>
                  </a:txBody>
                  <a:tcPr marL="9525" marR="9525" marT="9525" marB="0" anchor="ctr"/>
                </a:tc>
              </a:tr>
              <a:tr h="169606">
                <a:tc>
                  <a:txBody>
                    <a:bodyPr wrap="square"/>
                    <a:lstStyle/>
                    <a:p>
                      <a:pPr algn="l"/>
                      <a:r>
                        <a:rPr sz="1050" b="0" i="0">
                          <a:solidFill>
                            <a:srgbClr val="000000"/>
                          </a:solidFill>
                          <a:latin typeface="Calibri"/>
                        </a:rPr>
                        <a:t>Table 174: Global Market Value Chain Participants by Stage, 2026</a:t>
                      </a:r>
                      <a:endParaRPr sz="1050"/>
                    </a:p>
                  </a:txBody>
                  <a:tcPr marL="9525" marR="9525" marT="9525" marB="0" anchor="ctr"/>
                </a:tc>
              </a:tr>
              <a:tr h="169606">
                <a:tc>
                  <a:txBody>
                    <a:bodyPr wrap="square"/>
                    <a:lstStyle/>
                    <a:p>
                      <a:pPr algn="l"/>
                      <a:r>
                        <a:rPr sz="1050" b="0" i="0">
                          <a:solidFill>
                            <a:srgbClr val="000000"/>
                          </a:solidFill>
                          <a:latin typeface="Calibri"/>
                        </a:rPr>
                        <a:t>Table 175: Global Market Margin Analysis by Value Chain Stage, %, 2026</a:t>
                      </a:r>
                      <a:endParaRPr sz="1050"/>
                    </a:p>
                  </a:txBody>
                  <a:tcPr marL="9525" marR="9525" marT="9525" marB="0" anchor="ctr"/>
                </a:tc>
              </a:tr>
              <a:tr h="169606">
                <a:tc>
                  <a:txBody>
                    <a:bodyPr wrap="square"/>
                    <a:lstStyle/>
                    <a:p>
                      <a:pPr algn="l"/>
                      <a:r>
                        <a:rPr sz="1050" b="0" i="0">
                          <a:solidFill>
                            <a:srgbClr val="000000"/>
                          </a:solidFill>
                          <a:latin typeface="Calibri"/>
                        </a:rPr>
                        <a:t>Table 176: Global Market Cost Structure by Component, %, 2026</a:t>
                      </a:r>
                      <a:endParaRPr sz="1050"/>
                    </a:p>
                  </a:txBody>
                  <a:tcPr marL="9525" marR="9525" marT="9525" marB="0" anchor="ctr"/>
                </a:tc>
              </a:tr>
              <a:tr h="169606">
                <a:tc>
                  <a:txBody>
                    <a:bodyPr wrap="square"/>
                    <a:lstStyle/>
                    <a:p>
                      <a:pPr algn="l"/>
                      <a:r>
                        <a:rPr sz="1050" b="0" i="0">
                          <a:solidFill>
                            <a:srgbClr val="000000"/>
                          </a:solidFill>
                          <a:latin typeface="Calibri"/>
                        </a:rPr>
                        <a:t>Table 177: Global Market Import Value by Leading Country, US$ Mn, 2021–2025</a:t>
                      </a:r>
                      <a:endParaRPr sz="1050"/>
                    </a:p>
                  </a:txBody>
                  <a:tcPr marL="9525" marR="9525" marT="9525" marB="0" anchor="ctr"/>
                </a:tc>
              </a:tr>
              <a:tr h="169606">
                <a:tc>
                  <a:txBody>
                    <a:bodyPr wrap="square"/>
                    <a:lstStyle/>
                    <a:p>
                      <a:pPr algn="l"/>
                      <a:r>
                        <a:rPr sz="1050" b="0" i="0">
                          <a:solidFill>
                            <a:srgbClr val="000000"/>
                          </a:solidFill>
                          <a:latin typeface="Calibri"/>
                        </a:rPr>
                        <a:t>Table 178: Global Market Export Value by Leading Country, US$ Mn, 2021–2025</a:t>
                      </a:r>
                      <a:endParaRPr sz="1050"/>
                    </a:p>
                  </a:txBody>
                  <a:tcPr marL="9525" marR="9525" marT="9525" marB="0" anchor="ctr"/>
                </a:tc>
              </a:tr>
              <a:tr h="169606">
                <a:tc>
                  <a:txBody>
                    <a:bodyPr wrap="square"/>
                    <a:lstStyle/>
                    <a:p>
                      <a:pPr algn="l"/>
                      <a:r>
                        <a:rPr sz="1050" b="0" i="0">
                          <a:solidFill>
                            <a:srgbClr val="000000"/>
                          </a:solidFill>
                          <a:latin typeface="Calibri"/>
                        </a:rPr>
                        <a:t>Table 179: Global Market Trade Flow Matrix by Region, US$ Mn, 2025</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3660468"/>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180: Global Market Pricing Factors and Impact Rating, 2026–2036</a:t>
                      </a:r>
                      <a:endParaRPr sz="1050"/>
                    </a:p>
                  </a:txBody>
                  <a:tcPr marL="9525" marR="9525" marT="9525" marB="0" anchor="ctr"/>
                </a:tc>
              </a:tr>
              <a:tr h="326708">
                <a:tc>
                  <a:txBody>
                    <a:bodyPr wrap="square"/>
                    <a:lstStyle/>
                    <a:p>
                      <a:pPr algn="l"/>
                      <a:r>
                        <a:rPr sz="1050" b="0" i="0">
                          <a:solidFill>
                            <a:srgbClr val="000000"/>
                          </a:solidFill>
                          <a:latin typeface="Calibri"/>
                        </a:rPr>
                        <a:t>Table 181: Leading Removable Partial Dentures Manufacturers: Product Portfolio and Geographic Presence, 2026</a:t>
                      </a:r>
                      <a:endParaRPr sz="1050"/>
                    </a:p>
                  </a:txBody>
                  <a:tcPr marL="9525" marR="9525" marT="9525" marB="0" anchor="ctr"/>
                </a:tc>
              </a:tr>
              <a:tr h="166688">
                <a:tc>
                  <a:txBody>
                    <a:bodyPr wrap="square"/>
                    <a:lstStyle/>
                    <a:p>
                      <a:pPr algn="l"/>
                      <a:r>
                        <a:rPr sz="1050" b="0" i="0">
                          <a:solidFill>
                            <a:srgbClr val="000000"/>
                          </a:solidFill>
                          <a:latin typeface="Calibri"/>
                        </a:rPr>
                        <a:t>Table 182: Company Revenue from the Global Market, US$ Mn, 2025–2026</a:t>
                      </a:r>
                      <a:endParaRPr sz="1050"/>
                    </a:p>
                  </a:txBody>
                  <a:tcPr marL="9525" marR="9525" marT="9525" marB="0" anchor="ctr"/>
                </a:tc>
              </a:tr>
              <a:tr h="166688">
                <a:tc>
                  <a:txBody>
                    <a:bodyPr wrap="square"/>
                    <a:lstStyle/>
                    <a:p>
                      <a:pPr algn="l"/>
                      <a:r>
                        <a:rPr sz="1050" b="0" i="0">
                          <a:solidFill>
                            <a:srgbClr val="000000"/>
                          </a:solidFill>
                          <a:latin typeface="Calibri"/>
                        </a:rPr>
                        <a:t>Table 183: Company Market Share in the Global Market by Region, %, 2026</a:t>
                      </a:r>
                      <a:endParaRPr sz="1050"/>
                    </a:p>
                  </a:txBody>
                  <a:tcPr marL="9525" marR="9525" marT="9525" marB="0" anchor="ctr"/>
                </a:tc>
              </a:tr>
              <a:tr h="166688">
                <a:tc>
                  <a:txBody>
                    <a:bodyPr wrap="square"/>
                    <a:lstStyle/>
                    <a:p>
                      <a:pPr algn="l"/>
                      <a:r>
                        <a:rPr sz="1050" b="0" i="0">
                          <a:solidFill>
                            <a:srgbClr val="000000"/>
                          </a:solidFill>
                          <a:latin typeface="Calibri"/>
                        </a:rPr>
                        <a:t>Table 184: Global Market Competitive Benchmarking Matrix, 2026</a:t>
                      </a:r>
                      <a:endParaRPr sz="1050"/>
                    </a:p>
                  </a:txBody>
                  <a:tcPr marL="9525" marR="9525" marT="9525" marB="0" anchor="ctr"/>
                </a:tc>
              </a:tr>
              <a:tr h="166688">
                <a:tc>
                  <a:txBody>
                    <a:bodyPr wrap="square"/>
                    <a:lstStyle/>
                    <a:p>
                      <a:pPr algn="l"/>
                      <a:r>
                        <a:rPr sz="1050" b="0" i="0">
                          <a:solidFill>
                            <a:srgbClr val="000000"/>
                          </a:solidFill>
                          <a:latin typeface="Calibri"/>
                        </a:rPr>
                        <a:t>Table 185: Global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186: Company 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Company B: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Company 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189: Company D: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Company E: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Company F: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Company 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Company 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Global Market Value by Scenario and Region, US$ Mn, 2026–2036</a:t>
                      </a:r>
                      <a:endParaRPr sz="1050"/>
                    </a:p>
                  </a:txBody>
                  <a:tcPr marL="9525" marR="9525" marT="9525" marB="0" anchor="ctr"/>
                </a:tc>
              </a:tr>
              <a:tr h="166688">
                <a:tc>
                  <a:txBody>
                    <a:bodyPr wrap="square"/>
                    <a:lstStyle/>
                    <a:p>
                      <a:pPr algn="l"/>
                      <a:r>
                        <a:rPr sz="1050" b="0" i="0">
                          <a:solidFill>
                            <a:srgbClr val="000000"/>
                          </a:solidFill>
                          <a:latin typeface="Calibri"/>
                        </a:rPr>
                        <a:t>Table 195: Global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Global Market Opportunity Assessment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197: Global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Global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199: Global Market Customer Purchase Criteria by Product Type, 2026</a:t>
                      </a:r>
                      <a:endParaRPr sz="1050"/>
                    </a:p>
                  </a:txBody>
                  <a:tcPr marL="9525" marR="9525" marT="9525" marB="0" anchor="ctr"/>
                </a:tc>
              </a:tr>
              <a:tr h="166688">
                <a:tc>
                  <a:txBody>
                    <a:bodyPr wrap="square"/>
                    <a:lstStyle/>
                    <a:p>
                      <a:pPr algn="l"/>
                      <a:r>
                        <a:rPr sz="1050" b="0" i="0">
                          <a:solidFill>
                            <a:srgbClr val="000000"/>
                          </a:solidFill>
                          <a:latin typeface="Calibri"/>
                        </a:rPr>
                        <a:t>Table 200: Global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