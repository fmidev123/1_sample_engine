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550" r:id="rId302"/>
    <p:sldId id="544" r:id="rId296"/>
    <p:sldId id="545" r:id="rId297"/>
    <p:sldId id="546" r:id="rId298"/>
    <p:sldId id="547" r:id="rId299"/>
    <p:sldId id="548" r:id="rId300"/>
    <p:sldId id="549" r:id="rId301"/>
    <p:sldId id="559" r:id="rId311"/>
    <p:sldId id="551" r:id="rId303"/>
    <p:sldId id="552" r:id="rId304"/>
    <p:sldId id="553" r:id="rId305"/>
    <p:sldId id="554" r:id="rId306"/>
    <p:sldId id="555" r:id="rId307"/>
    <p:sldId id="556" r:id="rId308"/>
    <p:sldId id="557" r:id="rId309"/>
    <p:sldId id="558" r:id="rId310"/>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26.xml"/><Relationship Id="rId18" Type="http://schemas.openxmlformats.org/officeDocument/2006/relationships/slide" Target="slides/slide27.xml"/><Relationship Id="rId19" Type="http://schemas.openxmlformats.org/officeDocument/2006/relationships/slide" Target="slides/slide28.xml"/><Relationship Id="rId20" Type="http://schemas.openxmlformats.org/officeDocument/2006/relationships/slide" Target="slides/slide29.xml"/><Relationship Id="rId21" Type="http://schemas.openxmlformats.org/officeDocument/2006/relationships/slide" Target="slides/slide30.xml"/><Relationship Id="rId22" Type="http://schemas.openxmlformats.org/officeDocument/2006/relationships/slide" Target="slides/slide31.xml"/><Relationship Id="rId23" Type="http://schemas.openxmlformats.org/officeDocument/2006/relationships/slide" Target="slides/slide32.xml"/><Relationship Id="rId24" Type="http://schemas.openxmlformats.org/officeDocument/2006/relationships/slide" Target="slides/slide33.xml"/><Relationship Id="rId25" Type="http://schemas.openxmlformats.org/officeDocument/2006/relationships/slide" Target="slides/slide34.xml"/><Relationship Id="rId26" Type="http://schemas.openxmlformats.org/officeDocument/2006/relationships/slide" Target="slides/slide35.xml"/><Relationship Id="rId27" Type="http://schemas.openxmlformats.org/officeDocument/2006/relationships/slide" Target="slides/slide36.xml"/><Relationship Id="rId28" Type="http://schemas.openxmlformats.org/officeDocument/2006/relationships/slide" Target="slides/slide37.xml"/><Relationship Id="rId29" Type="http://schemas.openxmlformats.org/officeDocument/2006/relationships/slide" Target="slides/slide38.xml"/><Relationship Id="rId30" Type="http://schemas.openxmlformats.org/officeDocument/2006/relationships/slide" Target="slides/slide39.xml"/><Relationship Id="rId31" Type="http://schemas.openxmlformats.org/officeDocument/2006/relationships/slide" Target="slides/slide40.xml"/><Relationship Id="rId32" Type="http://schemas.openxmlformats.org/officeDocument/2006/relationships/slide" Target="slides/slide41.xml"/><Relationship Id="rId33" Type="http://schemas.openxmlformats.org/officeDocument/2006/relationships/slide" Target="slides/slide42.xml"/><Relationship Id="rId34" Type="http://schemas.openxmlformats.org/officeDocument/2006/relationships/slide" Target="slides/slide43.xml"/><Relationship Id="rId35" Type="http://schemas.openxmlformats.org/officeDocument/2006/relationships/slide" Target="slides/slide44.xml"/><Relationship Id="rId36" Type="http://schemas.openxmlformats.org/officeDocument/2006/relationships/slide" Target="slides/slide45.xml"/><Relationship Id="rId37" Type="http://schemas.openxmlformats.org/officeDocument/2006/relationships/slide" Target="slides/slide46.xml"/><Relationship Id="rId38" Type="http://schemas.openxmlformats.org/officeDocument/2006/relationships/slide" Target="slides/slide47.xml"/><Relationship Id="rId39" Type="http://schemas.openxmlformats.org/officeDocument/2006/relationships/slide" Target="slides/slide48.xml"/><Relationship Id="rId40" Type="http://schemas.openxmlformats.org/officeDocument/2006/relationships/slide" Target="slides/slide49.xml"/><Relationship Id="rId41" Type="http://schemas.openxmlformats.org/officeDocument/2006/relationships/slide" Target="slides/slide50.xml"/><Relationship Id="rId42" Type="http://schemas.openxmlformats.org/officeDocument/2006/relationships/slide" Target="slides/slide51.xml"/><Relationship Id="rId43" Type="http://schemas.openxmlformats.org/officeDocument/2006/relationships/slide" Target="slides/slide52.xml"/><Relationship Id="rId44" Type="http://schemas.openxmlformats.org/officeDocument/2006/relationships/slide" Target="slides/slide53.xml"/><Relationship Id="rId45" Type="http://schemas.openxmlformats.org/officeDocument/2006/relationships/slide" Target="slides/slide54.xml"/><Relationship Id="rId46" Type="http://schemas.openxmlformats.org/officeDocument/2006/relationships/slide" Target="slides/slide55.xml"/><Relationship Id="rId47" Type="http://schemas.openxmlformats.org/officeDocument/2006/relationships/slide" Target="slides/slide56.xml"/><Relationship Id="rId48" Type="http://schemas.openxmlformats.org/officeDocument/2006/relationships/slide" Target="slides/slide57.xml"/><Relationship Id="rId49" Type="http://schemas.openxmlformats.org/officeDocument/2006/relationships/slide" Target="slides/slide58.xml"/><Relationship Id="rId50" Type="http://schemas.openxmlformats.org/officeDocument/2006/relationships/slide" Target="slides/slide59.xml"/><Relationship Id="rId51" Type="http://schemas.openxmlformats.org/officeDocument/2006/relationships/slide" Target="slides/slide60.xml"/><Relationship Id="rId52" Type="http://schemas.openxmlformats.org/officeDocument/2006/relationships/slide" Target="slides/slide61.xml"/><Relationship Id="rId53" Type="http://schemas.openxmlformats.org/officeDocument/2006/relationships/slide" Target="slides/slide62.xml"/><Relationship Id="rId54" Type="http://schemas.openxmlformats.org/officeDocument/2006/relationships/slide" Target="slides/slide63.xml"/><Relationship Id="rId55" Type="http://schemas.openxmlformats.org/officeDocument/2006/relationships/slide" Target="slides/slide64.xml"/><Relationship Id="rId56" Type="http://schemas.openxmlformats.org/officeDocument/2006/relationships/slide" Target="slides/slide65.xml"/><Relationship Id="rId57" Type="http://schemas.openxmlformats.org/officeDocument/2006/relationships/slide" Target="slides/slide66.xml"/><Relationship Id="rId58" Type="http://schemas.openxmlformats.org/officeDocument/2006/relationships/slide" Target="slides/slide67.xml"/><Relationship Id="rId59" Type="http://schemas.openxmlformats.org/officeDocument/2006/relationships/slide" Target="slides/slide68.xml"/><Relationship Id="rId60" Type="http://schemas.openxmlformats.org/officeDocument/2006/relationships/slide" Target="slides/slide69.xml"/><Relationship Id="rId61" Type="http://schemas.openxmlformats.org/officeDocument/2006/relationships/slide" Target="slides/slide70.xml"/><Relationship Id="rId62" Type="http://schemas.openxmlformats.org/officeDocument/2006/relationships/slide" Target="slides/slide71.xml"/><Relationship Id="rId63" Type="http://schemas.openxmlformats.org/officeDocument/2006/relationships/slide" Target="slides/slide72.xml"/><Relationship Id="rId64" Type="http://schemas.openxmlformats.org/officeDocument/2006/relationships/slide" Target="slides/slide73.xml"/><Relationship Id="rId65" Type="http://schemas.openxmlformats.org/officeDocument/2006/relationships/slide" Target="slides/slide74.xml"/><Relationship Id="rId66" Type="http://schemas.openxmlformats.org/officeDocument/2006/relationships/slide" Target="slides/slide75.xml"/><Relationship Id="rId67" Type="http://schemas.openxmlformats.org/officeDocument/2006/relationships/slide" Target="slides/slide76.xml"/><Relationship Id="rId68" Type="http://schemas.openxmlformats.org/officeDocument/2006/relationships/slide" Target="slides/slide77.xml"/><Relationship Id="rId69" Type="http://schemas.openxmlformats.org/officeDocument/2006/relationships/slide" Target="slides/slide78.xml"/><Relationship Id="rId70" Type="http://schemas.openxmlformats.org/officeDocument/2006/relationships/slide" Target="slides/slide79.xml"/><Relationship Id="rId71" Type="http://schemas.openxmlformats.org/officeDocument/2006/relationships/slide" Target="slides/slide80.xml"/><Relationship Id="rId72" Type="http://schemas.openxmlformats.org/officeDocument/2006/relationships/slide" Target="slides/slide81.xml"/><Relationship Id="rId73" Type="http://schemas.openxmlformats.org/officeDocument/2006/relationships/slide" Target="slides/slide82.xml"/><Relationship Id="rId74" Type="http://schemas.openxmlformats.org/officeDocument/2006/relationships/slide" Target="slides/slide83.xml"/><Relationship Id="rId75" Type="http://schemas.openxmlformats.org/officeDocument/2006/relationships/slide" Target="slides/slide84.xml"/><Relationship Id="rId76" Type="http://schemas.openxmlformats.org/officeDocument/2006/relationships/slide" Target="slides/slide85.xml"/><Relationship Id="rId77" Type="http://schemas.openxmlformats.org/officeDocument/2006/relationships/slide" Target="slides/slide86.xml"/><Relationship Id="rId78" Type="http://schemas.openxmlformats.org/officeDocument/2006/relationships/slide" Target="slides/slide87.xml"/><Relationship Id="rId79" Type="http://schemas.openxmlformats.org/officeDocument/2006/relationships/slide" Target="slides/slide88.xml"/><Relationship Id="rId80" Type="http://schemas.openxmlformats.org/officeDocument/2006/relationships/slide" Target="slides/slide89.xml"/><Relationship Id="rId81" Type="http://schemas.openxmlformats.org/officeDocument/2006/relationships/slide" Target="slides/slide90.xml"/><Relationship Id="rId82" Type="http://schemas.openxmlformats.org/officeDocument/2006/relationships/slide" Target="slides/slide91.xml"/><Relationship Id="rId83" Type="http://schemas.openxmlformats.org/officeDocument/2006/relationships/slide" Target="slides/slide92.xml"/><Relationship Id="rId84" Type="http://schemas.openxmlformats.org/officeDocument/2006/relationships/slide" Target="slides/slide93.xml"/><Relationship Id="rId85" Type="http://schemas.openxmlformats.org/officeDocument/2006/relationships/slide" Target="slides/slide94.xml"/><Relationship Id="rId86" Type="http://schemas.openxmlformats.org/officeDocument/2006/relationships/slide" Target="slides/slide95.xml"/><Relationship Id="rId87" Type="http://schemas.openxmlformats.org/officeDocument/2006/relationships/slide" Target="slides/slide96.xml"/><Relationship Id="rId88" Type="http://schemas.openxmlformats.org/officeDocument/2006/relationships/slide" Target="slides/slide97.xml"/><Relationship Id="rId89" Type="http://schemas.openxmlformats.org/officeDocument/2006/relationships/slide" Target="slides/slide98.xml"/><Relationship Id="rId90" Type="http://schemas.openxmlformats.org/officeDocument/2006/relationships/slide" Target="slides/slide99.xml"/><Relationship Id="rId91" Type="http://schemas.openxmlformats.org/officeDocument/2006/relationships/slide" Target="slides/slide100.xml"/><Relationship Id="rId92" Type="http://schemas.openxmlformats.org/officeDocument/2006/relationships/slide" Target="slides/slide101.xml"/><Relationship Id="rId93" Type="http://schemas.openxmlformats.org/officeDocument/2006/relationships/slide" Target="slides/slide102.xml"/><Relationship Id="rId94" Type="http://schemas.openxmlformats.org/officeDocument/2006/relationships/slide" Target="slides/slide103.xml"/><Relationship Id="rId95" Type="http://schemas.openxmlformats.org/officeDocument/2006/relationships/slide" Target="slides/slide104.xml"/><Relationship Id="rId96" Type="http://schemas.openxmlformats.org/officeDocument/2006/relationships/slide" Target="slides/slide105.xml"/><Relationship Id="rId97" Type="http://schemas.openxmlformats.org/officeDocument/2006/relationships/slide" Target="slides/slide106.xml"/><Relationship Id="rId98" Type="http://schemas.openxmlformats.org/officeDocument/2006/relationships/slide" Target="slides/slide107.xml"/><Relationship Id="rId99" Type="http://schemas.openxmlformats.org/officeDocument/2006/relationships/slide" Target="slides/slide108.xml"/><Relationship Id="rId100" Type="http://schemas.openxmlformats.org/officeDocument/2006/relationships/slide" Target="slides/slide109.xml"/><Relationship Id="rId101" Type="http://schemas.openxmlformats.org/officeDocument/2006/relationships/slide" Target="slides/slide110.xml"/><Relationship Id="rId102" Type="http://schemas.openxmlformats.org/officeDocument/2006/relationships/slide" Target="slides/slide111.xml"/><Relationship Id="rId103" Type="http://schemas.openxmlformats.org/officeDocument/2006/relationships/slide" Target="slides/slide112.xml"/><Relationship Id="rId104" Type="http://schemas.openxmlformats.org/officeDocument/2006/relationships/slide" Target="slides/slide113.xml"/><Relationship Id="rId105" Type="http://schemas.openxmlformats.org/officeDocument/2006/relationships/slide" Target="slides/slide114.xml"/><Relationship Id="rId106" Type="http://schemas.openxmlformats.org/officeDocument/2006/relationships/slide" Target="slides/slide115.xml"/><Relationship Id="rId107" Type="http://schemas.openxmlformats.org/officeDocument/2006/relationships/slide" Target="slides/slide116.xml"/><Relationship Id="rId108" Type="http://schemas.openxmlformats.org/officeDocument/2006/relationships/slide" Target="slides/slide117.xml"/><Relationship Id="rId109" Type="http://schemas.openxmlformats.org/officeDocument/2006/relationships/slide" Target="slides/slide118.xml"/><Relationship Id="rId110" Type="http://schemas.openxmlformats.org/officeDocument/2006/relationships/slide" Target="slides/slide119.xml"/><Relationship Id="rId111" Type="http://schemas.openxmlformats.org/officeDocument/2006/relationships/slide" Target="slides/slide120.xml"/><Relationship Id="rId112" Type="http://schemas.openxmlformats.org/officeDocument/2006/relationships/slide" Target="slides/slide121.xml"/><Relationship Id="rId113" Type="http://schemas.openxmlformats.org/officeDocument/2006/relationships/slide" Target="slides/slide122.xml"/><Relationship Id="rId114" Type="http://schemas.openxmlformats.org/officeDocument/2006/relationships/slide" Target="slides/slide123.xml"/><Relationship Id="rId115" Type="http://schemas.openxmlformats.org/officeDocument/2006/relationships/slide" Target="slides/slide124.xml"/><Relationship Id="rId116" Type="http://schemas.openxmlformats.org/officeDocument/2006/relationships/slide" Target="slides/slide125.xml"/><Relationship Id="rId117" Type="http://schemas.openxmlformats.org/officeDocument/2006/relationships/slide" Target="slides/slide126.xml"/><Relationship Id="rId118" Type="http://schemas.openxmlformats.org/officeDocument/2006/relationships/slide" Target="slides/slide127.xml"/><Relationship Id="rId119" Type="http://schemas.openxmlformats.org/officeDocument/2006/relationships/slide" Target="slides/slide128.xml"/><Relationship Id="rId120" Type="http://schemas.openxmlformats.org/officeDocument/2006/relationships/slide" Target="slides/slide129.xml"/><Relationship Id="rId121" Type="http://schemas.openxmlformats.org/officeDocument/2006/relationships/slide" Target="slides/slide130.xml"/><Relationship Id="rId122" Type="http://schemas.openxmlformats.org/officeDocument/2006/relationships/slide" Target="slides/slide131.xml"/><Relationship Id="rId123" Type="http://schemas.openxmlformats.org/officeDocument/2006/relationships/slide" Target="slides/slide132.xml"/><Relationship Id="rId124" Type="http://schemas.openxmlformats.org/officeDocument/2006/relationships/slide" Target="slides/slide133.xml"/><Relationship Id="rId125" Type="http://schemas.openxmlformats.org/officeDocument/2006/relationships/slide" Target="slides/slide134.xml"/><Relationship Id="rId126" Type="http://schemas.openxmlformats.org/officeDocument/2006/relationships/slide" Target="slides/slide135.xml"/><Relationship Id="rId127" Type="http://schemas.openxmlformats.org/officeDocument/2006/relationships/slide" Target="slides/slide136.xml"/><Relationship Id="rId128" Type="http://schemas.openxmlformats.org/officeDocument/2006/relationships/slide" Target="slides/slide137.xml"/><Relationship Id="rId129" Type="http://schemas.openxmlformats.org/officeDocument/2006/relationships/slide" Target="slides/slide138.xml"/><Relationship Id="rId130" Type="http://schemas.openxmlformats.org/officeDocument/2006/relationships/slide" Target="slides/slide139.xml"/><Relationship Id="rId131" Type="http://schemas.openxmlformats.org/officeDocument/2006/relationships/slide" Target="slides/slide140.xml"/><Relationship Id="rId132" Type="http://schemas.openxmlformats.org/officeDocument/2006/relationships/slide" Target="slides/slide141.xml"/><Relationship Id="rId133" Type="http://schemas.openxmlformats.org/officeDocument/2006/relationships/slide" Target="slides/slide142.xml"/><Relationship Id="rId134" Type="http://schemas.openxmlformats.org/officeDocument/2006/relationships/slide" Target="slides/slide143.xml"/><Relationship Id="rId135" Type="http://schemas.openxmlformats.org/officeDocument/2006/relationships/slide" Target="slides/slide144.xml"/><Relationship Id="rId136" Type="http://schemas.openxmlformats.org/officeDocument/2006/relationships/slide" Target="slides/slide145.xml"/><Relationship Id="rId137" Type="http://schemas.openxmlformats.org/officeDocument/2006/relationships/slide" Target="slides/slide146.xml"/><Relationship Id="rId138" Type="http://schemas.openxmlformats.org/officeDocument/2006/relationships/slide" Target="slides/slide147.xml"/><Relationship Id="rId139" Type="http://schemas.openxmlformats.org/officeDocument/2006/relationships/slide" Target="slides/slide148.xml"/><Relationship Id="rId140" Type="http://schemas.openxmlformats.org/officeDocument/2006/relationships/slide" Target="slides/slide149.xml"/><Relationship Id="rId141" Type="http://schemas.openxmlformats.org/officeDocument/2006/relationships/slide" Target="slides/slide150.xml"/><Relationship Id="rId142" Type="http://schemas.openxmlformats.org/officeDocument/2006/relationships/slide" Target="slides/slide151.xml"/><Relationship Id="rId143" Type="http://schemas.openxmlformats.org/officeDocument/2006/relationships/slide" Target="slides/slide152.xml"/><Relationship Id="rId144" Type="http://schemas.openxmlformats.org/officeDocument/2006/relationships/slide" Target="slides/slide153.xml"/><Relationship Id="rId145" Type="http://schemas.openxmlformats.org/officeDocument/2006/relationships/slide" Target="slides/slide154.xml"/><Relationship Id="rId146" Type="http://schemas.openxmlformats.org/officeDocument/2006/relationships/slide" Target="slides/slide155.xml"/><Relationship Id="rId147" Type="http://schemas.openxmlformats.org/officeDocument/2006/relationships/slide" Target="slides/slide156.xml"/><Relationship Id="rId148" Type="http://schemas.openxmlformats.org/officeDocument/2006/relationships/slide" Target="slides/slide157.xml"/><Relationship Id="rId149" Type="http://schemas.openxmlformats.org/officeDocument/2006/relationships/slide" Target="slides/slide158.xml"/><Relationship Id="rId150" Type="http://schemas.openxmlformats.org/officeDocument/2006/relationships/slide" Target="slides/slide159.xml"/><Relationship Id="rId151" Type="http://schemas.openxmlformats.org/officeDocument/2006/relationships/slide" Target="slides/slide160.xml"/><Relationship Id="rId152" Type="http://schemas.openxmlformats.org/officeDocument/2006/relationships/slide" Target="slides/slide161.xml"/><Relationship Id="rId153" Type="http://schemas.openxmlformats.org/officeDocument/2006/relationships/slide" Target="slides/slide162.xml"/><Relationship Id="rId154" Type="http://schemas.openxmlformats.org/officeDocument/2006/relationships/slide" Target="slides/slide163.xml"/><Relationship Id="rId155" Type="http://schemas.openxmlformats.org/officeDocument/2006/relationships/slide" Target="slides/slide164.xml"/><Relationship Id="rId156" Type="http://schemas.openxmlformats.org/officeDocument/2006/relationships/slide" Target="slides/slide165.xml"/><Relationship Id="rId157" Type="http://schemas.openxmlformats.org/officeDocument/2006/relationships/slide" Target="slides/slide166.xml"/><Relationship Id="rId158" Type="http://schemas.openxmlformats.org/officeDocument/2006/relationships/slide" Target="slides/slide167.xml"/><Relationship Id="rId159" Type="http://schemas.openxmlformats.org/officeDocument/2006/relationships/slide" Target="slides/slide168.xml"/><Relationship Id="rId160" Type="http://schemas.openxmlformats.org/officeDocument/2006/relationships/slide" Target="slides/slide169.xml"/><Relationship Id="rId161" Type="http://schemas.openxmlformats.org/officeDocument/2006/relationships/slide" Target="slides/slide170.xml"/><Relationship Id="rId162" Type="http://schemas.openxmlformats.org/officeDocument/2006/relationships/slide" Target="slides/slide171.xml"/><Relationship Id="rId163" Type="http://schemas.openxmlformats.org/officeDocument/2006/relationships/slide" Target="slides/slide172.xml"/><Relationship Id="rId164" Type="http://schemas.openxmlformats.org/officeDocument/2006/relationships/slide" Target="slides/slide173.xml"/><Relationship Id="rId165" Type="http://schemas.openxmlformats.org/officeDocument/2006/relationships/slide" Target="slides/slide174.xml"/><Relationship Id="rId166" Type="http://schemas.openxmlformats.org/officeDocument/2006/relationships/slide" Target="slides/slide175.xml"/><Relationship Id="rId167" Type="http://schemas.openxmlformats.org/officeDocument/2006/relationships/slide" Target="slides/slide176.xml"/><Relationship Id="rId168" Type="http://schemas.openxmlformats.org/officeDocument/2006/relationships/slide" Target="slides/slide177.xml"/><Relationship Id="rId169" Type="http://schemas.openxmlformats.org/officeDocument/2006/relationships/slide" Target="slides/slide178.xml"/><Relationship Id="rId170" Type="http://schemas.openxmlformats.org/officeDocument/2006/relationships/slide" Target="slides/slide179.xml"/><Relationship Id="rId171" Type="http://schemas.openxmlformats.org/officeDocument/2006/relationships/slide" Target="slides/slide180.xml"/><Relationship Id="rId172" Type="http://schemas.openxmlformats.org/officeDocument/2006/relationships/slide" Target="slides/slide181.xml"/><Relationship Id="rId173" Type="http://schemas.openxmlformats.org/officeDocument/2006/relationships/slide" Target="slides/slide182.xml"/><Relationship Id="rId174" Type="http://schemas.openxmlformats.org/officeDocument/2006/relationships/slide" Target="slides/slide183.xml"/><Relationship Id="rId175" Type="http://schemas.openxmlformats.org/officeDocument/2006/relationships/slide" Target="slides/slide184.xml"/><Relationship Id="rId176" Type="http://schemas.openxmlformats.org/officeDocument/2006/relationships/slide" Target="slides/slide185.xml"/><Relationship Id="rId177" Type="http://schemas.openxmlformats.org/officeDocument/2006/relationships/slide" Target="slides/slide186.xml"/><Relationship Id="rId178" Type="http://schemas.openxmlformats.org/officeDocument/2006/relationships/slide" Target="slides/slide187.xml"/><Relationship Id="rId179" Type="http://schemas.openxmlformats.org/officeDocument/2006/relationships/slide" Target="slides/slide188.xml"/><Relationship Id="rId180" Type="http://schemas.openxmlformats.org/officeDocument/2006/relationships/slide" Target="slides/slide189.xml"/><Relationship Id="rId181" Type="http://schemas.openxmlformats.org/officeDocument/2006/relationships/slide" Target="slides/slide190.xml"/><Relationship Id="rId182" Type="http://schemas.openxmlformats.org/officeDocument/2006/relationships/slide" Target="slides/slide191.xml"/><Relationship Id="rId183" Type="http://schemas.openxmlformats.org/officeDocument/2006/relationships/slide" Target="slides/slide192.xml"/><Relationship Id="rId184" Type="http://schemas.openxmlformats.org/officeDocument/2006/relationships/slide" Target="slides/slide193.xml"/><Relationship Id="rId185" Type="http://schemas.openxmlformats.org/officeDocument/2006/relationships/slide" Target="slides/slide194.xml"/><Relationship Id="rId186" Type="http://schemas.openxmlformats.org/officeDocument/2006/relationships/slide" Target="slides/slide195.xml"/><Relationship Id="rId187" Type="http://schemas.openxmlformats.org/officeDocument/2006/relationships/slide" Target="slides/slide196.xml"/><Relationship Id="rId188" Type="http://schemas.openxmlformats.org/officeDocument/2006/relationships/slide" Target="slides/slide197.xml"/><Relationship Id="rId189" Type="http://schemas.openxmlformats.org/officeDocument/2006/relationships/slide" Target="slides/slide198.xml"/><Relationship Id="rId190" Type="http://schemas.openxmlformats.org/officeDocument/2006/relationships/slide" Target="slides/slide199.xml"/><Relationship Id="rId191" Type="http://schemas.openxmlformats.org/officeDocument/2006/relationships/slide" Target="slides/slide200.xml"/><Relationship Id="rId192" Type="http://schemas.openxmlformats.org/officeDocument/2006/relationships/slide" Target="slides/slide201.xml"/><Relationship Id="rId193" Type="http://schemas.openxmlformats.org/officeDocument/2006/relationships/slide" Target="slides/slide202.xml"/><Relationship Id="rId194" Type="http://schemas.openxmlformats.org/officeDocument/2006/relationships/slide" Target="slides/slide203.xml"/><Relationship Id="rId195" Type="http://schemas.openxmlformats.org/officeDocument/2006/relationships/slide" Target="slides/slide204.xml"/><Relationship Id="rId196" Type="http://schemas.openxmlformats.org/officeDocument/2006/relationships/slide" Target="slides/slide205.xml"/><Relationship Id="rId197" Type="http://schemas.openxmlformats.org/officeDocument/2006/relationships/slide" Target="slides/slide206.xml"/><Relationship Id="rId198" Type="http://schemas.openxmlformats.org/officeDocument/2006/relationships/slide" Target="slides/slide207.xml"/><Relationship Id="rId199" Type="http://schemas.openxmlformats.org/officeDocument/2006/relationships/slide" Target="slides/slide208.xml"/><Relationship Id="rId200" Type="http://schemas.openxmlformats.org/officeDocument/2006/relationships/slide" Target="slides/slide209.xml"/><Relationship Id="rId201" Type="http://schemas.openxmlformats.org/officeDocument/2006/relationships/slide" Target="slides/slide210.xml"/><Relationship Id="rId202" Type="http://schemas.openxmlformats.org/officeDocument/2006/relationships/slide" Target="slides/slide211.xml"/><Relationship Id="rId203" Type="http://schemas.openxmlformats.org/officeDocument/2006/relationships/slide" Target="slides/slide212.xml"/><Relationship Id="rId204" Type="http://schemas.openxmlformats.org/officeDocument/2006/relationships/slide" Target="slides/slide213.xml"/><Relationship Id="rId205" Type="http://schemas.openxmlformats.org/officeDocument/2006/relationships/slide" Target="slides/slide214.xml"/><Relationship Id="rId206" Type="http://schemas.openxmlformats.org/officeDocument/2006/relationships/slide" Target="slides/slide215.xml"/><Relationship Id="rId207" Type="http://schemas.openxmlformats.org/officeDocument/2006/relationships/slide" Target="slides/slide216.xml"/><Relationship Id="rId208" Type="http://schemas.openxmlformats.org/officeDocument/2006/relationships/slide" Target="slides/slide217.xml"/><Relationship Id="rId209" Type="http://schemas.openxmlformats.org/officeDocument/2006/relationships/slide" Target="slides/slide218.xml"/><Relationship Id="rId210" Type="http://schemas.openxmlformats.org/officeDocument/2006/relationships/slide" Target="slides/slide219.xml"/><Relationship Id="rId211" Type="http://schemas.openxmlformats.org/officeDocument/2006/relationships/slide" Target="slides/slide220.xml"/><Relationship Id="rId212" Type="http://schemas.openxmlformats.org/officeDocument/2006/relationships/slide" Target="slides/slide221.xml"/><Relationship Id="rId213" Type="http://schemas.openxmlformats.org/officeDocument/2006/relationships/slide" Target="slides/slide222.xml"/><Relationship Id="rId214" Type="http://schemas.openxmlformats.org/officeDocument/2006/relationships/slide" Target="slides/slide223.xml"/><Relationship Id="rId215" Type="http://schemas.openxmlformats.org/officeDocument/2006/relationships/slide" Target="slides/slide224.xml"/><Relationship Id="rId216" Type="http://schemas.openxmlformats.org/officeDocument/2006/relationships/slide" Target="slides/slide225.xml"/><Relationship Id="rId217" Type="http://schemas.openxmlformats.org/officeDocument/2006/relationships/slide" Target="slides/slide226.xml"/><Relationship Id="rId218" Type="http://schemas.openxmlformats.org/officeDocument/2006/relationships/slide" Target="slides/slide227.xml"/><Relationship Id="rId219" Type="http://schemas.openxmlformats.org/officeDocument/2006/relationships/slide" Target="slides/slide228.xml"/><Relationship Id="rId220" Type="http://schemas.openxmlformats.org/officeDocument/2006/relationships/slide" Target="slides/slide229.xml"/><Relationship Id="rId221" Type="http://schemas.openxmlformats.org/officeDocument/2006/relationships/slide" Target="slides/slide230.xml"/><Relationship Id="rId222" Type="http://schemas.openxmlformats.org/officeDocument/2006/relationships/slide" Target="slides/slide231.xml"/><Relationship Id="rId223" Type="http://schemas.openxmlformats.org/officeDocument/2006/relationships/slide" Target="slides/slide232.xml"/><Relationship Id="rId224" Type="http://schemas.openxmlformats.org/officeDocument/2006/relationships/slide" Target="slides/slide233.xml"/><Relationship Id="rId225" Type="http://schemas.openxmlformats.org/officeDocument/2006/relationships/slide" Target="slides/slide234.xml"/><Relationship Id="rId226" Type="http://schemas.openxmlformats.org/officeDocument/2006/relationships/slide" Target="slides/slide235.xml"/><Relationship Id="rId227" Type="http://schemas.openxmlformats.org/officeDocument/2006/relationships/slide" Target="slides/slide236.xml"/><Relationship Id="rId228" Type="http://schemas.openxmlformats.org/officeDocument/2006/relationships/slide" Target="slides/slide237.xml"/><Relationship Id="rId229" Type="http://schemas.openxmlformats.org/officeDocument/2006/relationships/slide" Target="slides/slide238.xml"/><Relationship Id="rId230" Type="http://schemas.openxmlformats.org/officeDocument/2006/relationships/slide" Target="slides/slide239.xml"/><Relationship Id="rId231" Type="http://schemas.openxmlformats.org/officeDocument/2006/relationships/slide" Target="slides/slide240.xml"/><Relationship Id="rId232" Type="http://schemas.openxmlformats.org/officeDocument/2006/relationships/slide" Target="slides/slide241.xml"/><Relationship Id="rId233" Type="http://schemas.openxmlformats.org/officeDocument/2006/relationships/slide" Target="slides/slide242.xml"/><Relationship Id="rId234" Type="http://schemas.openxmlformats.org/officeDocument/2006/relationships/slide" Target="slides/slide243.xml"/><Relationship Id="rId235" Type="http://schemas.openxmlformats.org/officeDocument/2006/relationships/slide" Target="slides/slide244.xml"/><Relationship Id="rId236" Type="http://schemas.openxmlformats.org/officeDocument/2006/relationships/slide" Target="slides/slide245.xml"/><Relationship Id="rId237" Type="http://schemas.openxmlformats.org/officeDocument/2006/relationships/slide" Target="slides/slide246.xml"/><Relationship Id="rId238" Type="http://schemas.openxmlformats.org/officeDocument/2006/relationships/slide" Target="slides/slide247.xml"/><Relationship Id="rId239" Type="http://schemas.openxmlformats.org/officeDocument/2006/relationships/slide" Target="slides/slide248.xml"/><Relationship Id="rId240" Type="http://schemas.openxmlformats.org/officeDocument/2006/relationships/slide" Target="slides/slide249.xml"/><Relationship Id="rId241" Type="http://schemas.openxmlformats.org/officeDocument/2006/relationships/slide" Target="slides/slide250.xml"/><Relationship Id="rId242" Type="http://schemas.openxmlformats.org/officeDocument/2006/relationships/slide" Target="slides/slide251.xml"/><Relationship Id="rId243" Type="http://schemas.openxmlformats.org/officeDocument/2006/relationships/slide" Target="slides/slide252.xml"/><Relationship Id="rId244" Type="http://schemas.openxmlformats.org/officeDocument/2006/relationships/slide" Target="slides/slide253.xml"/><Relationship Id="rId245" Type="http://schemas.openxmlformats.org/officeDocument/2006/relationships/slide" Target="slides/slide254.xml"/><Relationship Id="rId246" Type="http://schemas.openxmlformats.org/officeDocument/2006/relationships/slide" Target="slides/slide255.xml"/><Relationship Id="rId247" Type="http://schemas.openxmlformats.org/officeDocument/2006/relationships/slide" Target="slides/slide256.xml"/><Relationship Id="rId248" Type="http://schemas.openxmlformats.org/officeDocument/2006/relationships/slide" Target="slides/slide257.xml"/><Relationship Id="rId249" Type="http://schemas.openxmlformats.org/officeDocument/2006/relationships/slide" Target="slides/slide258.xml"/><Relationship Id="rId250" Type="http://schemas.openxmlformats.org/officeDocument/2006/relationships/slide" Target="slides/slide259.xml"/><Relationship Id="rId251" Type="http://schemas.openxmlformats.org/officeDocument/2006/relationships/slide" Target="slides/slide260.xml"/><Relationship Id="rId252" Type="http://schemas.openxmlformats.org/officeDocument/2006/relationships/slide" Target="slides/slide261.xml"/><Relationship Id="rId253" Type="http://schemas.openxmlformats.org/officeDocument/2006/relationships/slide" Target="slides/slide262.xml"/><Relationship Id="rId254" Type="http://schemas.openxmlformats.org/officeDocument/2006/relationships/slide" Target="slides/slide263.xml"/><Relationship Id="rId255" Type="http://schemas.openxmlformats.org/officeDocument/2006/relationships/slide" Target="slides/slide264.xml"/><Relationship Id="rId256" Type="http://schemas.openxmlformats.org/officeDocument/2006/relationships/slide" Target="slides/slide265.xml"/><Relationship Id="rId257" Type="http://schemas.openxmlformats.org/officeDocument/2006/relationships/slide" Target="slides/slide266.xml"/><Relationship Id="rId258" Type="http://schemas.openxmlformats.org/officeDocument/2006/relationships/slide" Target="slides/slide267.xml"/><Relationship Id="rId259" Type="http://schemas.openxmlformats.org/officeDocument/2006/relationships/slide" Target="slides/slide268.xml"/><Relationship Id="rId260" Type="http://schemas.openxmlformats.org/officeDocument/2006/relationships/slide" Target="slides/slide269.xml"/><Relationship Id="rId261" Type="http://schemas.openxmlformats.org/officeDocument/2006/relationships/slide" Target="slides/slide270.xml"/><Relationship Id="rId262" Type="http://schemas.openxmlformats.org/officeDocument/2006/relationships/slide" Target="slides/slide271.xml"/><Relationship Id="rId263" Type="http://schemas.openxmlformats.org/officeDocument/2006/relationships/slide" Target="slides/slide272.xml"/><Relationship Id="rId264" Type="http://schemas.openxmlformats.org/officeDocument/2006/relationships/slide" Target="slides/slide273.xml"/><Relationship Id="rId265" Type="http://schemas.openxmlformats.org/officeDocument/2006/relationships/slide" Target="slides/slide274.xml"/><Relationship Id="rId266" Type="http://schemas.openxmlformats.org/officeDocument/2006/relationships/slide" Target="slides/slide275.xml"/><Relationship Id="rId267" Type="http://schemas.openxmlformats.org/officeDocument/2006/relationships/slide" Target="slides/slide276.xml"/><Relationship Id="rId268" Type="http://schemas.openxmlformats.org/officeDocument/2006/relationships/slide" Target="slides/slide277.xml"/><Relationship Id="rId269" Type="http://schemas.openxmlformats.org/officeDocument/2006/relationships/slide" Target="slides/slide278.xml"/><Relationship Id="rId270" Type="http://schemas.openxmlformats.org/officeDocument/2006/relationships/slide" Target="slides/slide279.xml"/><Relationship Id="rId271" Type="http://schemas.openxmlformats.org/officeDocument/2006/relationships/slide" Target="slides/slide280.xml"/><Relationship Id="rId272" Type="http://schemas.openxmlformats.org/officeDocument/2006/relationships/slide" Target="slides/slide281.xml"/><Relationship Id="rId273" Type="http://schemas.openxmlformats.org/officeDocument/2006/relationships/slide" Target="slides/slide282.xml"/><Relationship Id="rId274" Type="http://schemas.openxmlformats.org/officeDocument/2006/relationships/slide" Target="slides/slide283.xml"/><Relationship Id="rId275" Type="http://schemas.openxmlformats.org/officeDocument/2006/relationships/slide" Target="slides/slide284.xml"/><Relationship Id="rId276" Type="http://schemas.openxmlformats.org/officeDocument/2006/relationships/slide" Target="slides/slide285.xml"/><Relationship Id="rId277" Type="http://schemas.openxmlformats.org/officeDocument/2006/relationships/slide" Target="slides/slide286.xml"/><Relationship Id="rId278" Type="http://schemas.openxmlformats.org/officeDocument/2006/relationships/slide" Target="slides/slide287.xml"/><Relationship Id="rId279" Type="http://schemas.openxmlformats.org/officeDocument/2006/relationships/slide" Target="slides/slide288.xml"/><Relationship Id="rId280" Type="http://schemas.openxmlformats.org/officeDocument/2006/relationships/slide" Target="slides/slide289.xml"/><Relationship Id="rId281" Type="http://schemas.openxmlformats.org/officeDocument/2006/relationships/slide" Target="slides/slide290.xml"/><Relationship Id="rId282" Type="http://schemas.openxmlformats.org/officeDocument/2006/relationships/slide" Target="slides/slide291.xml"/><Relationship Id="rId283" Type="http://schemas.openxmlformats.org/officeDocument/2006/relationships/slide" Target="slides/slide292.xml"/><Relationship Id="rId284" Type="http://schemas.openxmlformats.org/officeDocument/2006/relationships/slide" Target="slides/slide293.xml"/><Relationship Id="rId285" Type="http://schemas.openxmlformats.org/officeDocument/2006/relationships/slide" Target="slides/slide294.xml"/><Relationship Id="rId286" Type="http://schemas.openxmlformats.org/officeDocument/2006/relationships/slide" Target="slides/slide295.xml"/><Relationship Id="rId287" Type="http://schemas.openxmlformats.org/officeDocument/2006/relationships/slide" Target="slides/slide296.xml"/><Relationship Id="rId288" Type="http://schemas.openxmlformats.org/officeDocument/2006/relationships/slide" Target="slides/slide297.xml"/><Relationship Id="rId289" Type="http://schemas.openxmlformats.org/officeDocument/2006/relationships/slide" Target="slides/slide298.xml"/><Relationship Id="rId290" Type="http://schemas.openxmlformats.org/officeDocument/2006/relationships/slide" Target="slides/slide299.xml"/><Relationship Id="rId291" Type="http://schemas.openxmlformats.org/officeDocument/2006/relationships/slide" Target="slides/slide300.xml"/><Relationship Id="rId292" Type="http://schemas.openxmlformats.org/officeDocument/2006/relationships/slide" Target="slides/slide301.xml"/><Relationship Id="rId293" Type="http://schemas.openxmlformats.org/officeDocument/2006/relationships/slide" Target="slides/slide302.xml"/><Relationship Id="rId294" Type="http://schemas.openxmlformats.org/officeDocument/2006/relationships/slide" Target="slides/slide303.xml"/><Relationship Id="rId295" Type="http://schemas.openxmlformats.org/officeDocument/2006/relationships/slide" Target="slides/slide304.xml"/><Relationship Id="rId296" Type="http://schemas.openxmlformats.org/officeDocument/2006/relationships/slide" Target="slides/slide11.xml"/><Relationship Id="rId297" Type="http://schemas.openxmlformats.org/officeDocument/2006/relationships/slide" Target="slides/slide12.xml"/><Relationship Id="rId298" Type="http://schemas.openxmlformats.org/officeDocument/2006/relationships/slide" Target="slides/slide13.xml"/><Relationship Id="rId299" Type="http://schemas.openxmlformats.org/officeDocument/2006/relationships/slide" Target="slides/slide14.xml"/><Relationship Id="rId300" Type="http://schemas.openxmlformats.org/officeDocument/2006/relationships/slide" Target="slides/slide15.xml"/><Relationship Id="rId301" Type="http://schemas.openxmlformats.org/officeDocument/2006/relationships/slide" Target="slides/slide16.xml"/><Relationship Id="rId302" Type="http://schemas.openxmlformats.org/officeDocument/2006/relationships/slide" Target="slides/slide10.xml"/><Relationship Id="rId303" Type="http://schemas.openxmlformats.org/officeDocument/2006/relationships/slide" Target="slides/slide18.xml"/><Relationship Id="rId304" Type="http://schemas.openxmlformats.org/officeDocument/2006/relationships/slide" Target="slides/slide19.xml"/><Relationship Id="rId305" Type="http://schemas.openxmlformats.org/officeDocument/2006/relationships/slide" Target="slides/slide20.xml"/><Relationship Id="rId306" Type="http://schemas.openxmlformats.org/officeDocument/2006/relationships/slide" Target="slides/slide21.xml"/><Relationship Id="rId307" Type="http://schemas.openxmlformats.org/officeDocument/2006/relationships/slide" Target="slides/slide22.xml"/><Relationship Id="rId308" Type="http://schemas.openxmlformats.org/officeDocument/2006/relationships/slide" Target="slides/slide23.xml"/><Relationship Id="rId309" Type="http://schemas.openxmlformats.org/officeDocument/2006/relationships/slide" Target="slides/slide24.xml"/><Relationship Id="rId310" Type="http://schemas.openxmlformats.org/officeDocument/2006/relationships/slide" Target="slides/slide25.xml"/><Relationship Id="rId311" Type="http://schemas.openxmlformats.org/officeDocument/2006/relationships/slide" Target="slides/slide17.xml"/></Relationships>
</file>

<file path=ppt/charts/_rels/chart1.xml.rels><?xml version='1.0' encoding='UTF-8' standalone='yes'?>
<Relationships xmlns="http://schemas.openxmlformats.org/package/2006/relationships"><Relationship Id="rId2" Type="http://schemas.openxmlformats.org/officeDocument/2006/relationships/image" Target="../media/image3.png"/></Relationships>
</file>

<file path=ppt/charts/_rels/chart3.xml.rels><?xml version='1.0' encoding='UTF-8' standalone='yes'?>
<Relationships xmlns="http://schemas.openxmlformats.org/package/2006/relationships"><Relationship Id="rId2" Type="http://schemas.openxmlformats.org/officeDocument/2006/relationships/image" Target="../media/image4.png"/></Relationships>
</file>

<file path=ppt/charts/_rels/chart5.xml.rels><?xml version='1.0' encoding='UTF-8' standalone='yes'?>
<Relationships xmlns="http://schemas.openxmlformats.org/package/2006/relationships"><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11.png"/><Relationship Id="rId9" Type="http://schemas.openxmlformats.org/officeDocument/2006/relationships/image" Target="../media/image12.png"/><Relationship Id="rId10" Type="http://schemas.openxmlformats.org/officeDocument/2006/relationships/image" Target="../media/image13.png"/><Relationship Id="rId11" Type="http://schemas.openxmlformats.org/officeDocument/2006/relationships/image" Target="../media/image14.png"/></Relationships>
</file>

<file path=ppt/charts/_rels/chart6.xml.rels><?xml version='1.0' encoding='UTF-8' standalone='yes'?>
<Relationships xmlns="http://schemas.openxmlformats.org/package/2006/relationships"><Relationship Id="rId2" Type="http://schemas.openxmlformats.org/officeDocument/2006/relationships/image" Target="../media/image15.png"/><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18.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23.png"/><Relationship Id="rId11" Type="http://schemas.openxmlformats.org/officeDocument/2006/relationships/image" Target="../media/image24.png"/><Relationship Id="rId12" Type="http://schemas.openxmlformats.org/officeDocument/2006/relationships/image" Target="../media/image25.png"/><Relationship Id="rId13" Type="http://schemas.openxmlformats.org/officeDocument/2006/relationships/image" Target="../media/image26.png"/><Relationship Id="rId14" Type="http://schemas.openxmlformats.org/officeDocument/2006/relationships/image" Target="../media/image27.png"/><Relationship Id="rId15" Type="http://schemas.openxmlformats.org/officeDocument/2006/relationships/image" Target="../media/image28.png"/><Relationship Id="rId16" Type="http://schemas.openxmlformats.org/officeDocument/2006/relationships/image" Target="../media/image29.png"/><Relationship Id="rId17" Type="http://schemas.openxmlformats.org/officeDocument/2006/relationships/image" Target="../media/image30.png"/><Relationship Id="rId18" Type="http://schemas.openxmlformats.org/officeDocument/2006/relationships/image" Target="../media/image31.png"/><Relationship Id="rId19" Type="http://schemas.openxmlformats.org/officeDocument/2006/relationships/image" Target="../media/image32.png"/><Relationship Id="rId20" Type="http://schemas.openxmlformats.org/officeDocument/2006/relationships/image" Target="../media/image33.png"/><Relationship Id="rId21" Type="http://schemas.openxmlformats.org/officeDocument/2006/relationships/image" Target="../media/image34.png"/><Relationship Id="rId22" Type="http://schemas.openxmlformats.org/officeDocument/2006/relationships/image" Target="../media/image35.png"/><Relationship Id="rId23" Type="http://schemas.openxmlformats.org/officeDocument/2006/relationships/image" Target="../media/image36.png"/></Relationships>
</file>

<file path=ppt/charts/_rels/chart7.xml.rels><?xml version='1.0' encoding='UTF-8' standalone='yes'?>
<Relationships xmlns="http://schemas.openxmlformats.org/package/2006/relationships"><Relationship Id="rId2" Type="http://schemas.openxmlformats.org/officeDocument/2006/relationships/image" Target="../media/image37.png"/><Relationship Id="rId3" Type="http://schemas.openxmlformats.org/officeDocument/2006/relationships/image" Target="../media/image38.png"/><Relationship Id="rId4" Type="http://schemas.openxmlformats.org/officeDocument/2006/relationships/image" Target="../media/image39.png"/><Relationship Id="rId5" Type="http://schemas.openxmlformats.org/officeDocument/2006/relationships/image" Target="../media/image40.png"/><Relationship Id="rId6" Type="http://schemas.openxmlformats.org/officeDocument/2006/relationships/image" Target="../media/image41.png"/><Relationship Id="rId7" Type="http://schemas.openxmlformats.org/officeDocument/2006/relationships/image" Target="../media/image42.png"/><Relationship Id="rId8" Type="http://schemas.openxmlformats.org/officeDocument/2006/relationships/image" Target="../media/image43.png"/><Relationship Id="rId9" Type="http://schemas.openxmlformats.org/officeDocument/2006/relationships/image" Target="../media/image44.png"/><Relationship Id="rId10" Type="http://schemas.openxmlformats.org/officeDocument/2006/relationships/image" Target="../media/image45.png"/><Relationship Id="rId11" Type="http://schemas.openxmlformats.org/officeDocument/2006/relationships/image" Target="../media/image46.png"/></Relationships>
</file>

<file path=ppt/charts/_rels/chart8.xml.rels><?xml version='1.0' encoding='UTF-8' standalone='yes'?>
<Relationships xmlns="http://schemas.openxmlformats.org/package/2006/relationships"><Relationship Id="rId2" Type="http://schemas.openxmlformats.org/officeDocument/2006/relationships/image" Target="../media/image47.png"/><Relationship Id="rId3" Type="http://schemas.openxmlformats.org/officeDocument/2006/relationships/image" Target="../media/image48.png"/><Relationship Id="rId4" Type="http://schemas.openxmlformats.org/officeDocument/2006/relationships/image" Target="../media/image49.png"/><Relationship Id="rId5" Type="http://schemas.openxmlformats.org/officeDocument/2006/relationships/image" Target="../media/image50.png"/><Relationship Id="rId6" Type="http://schemas.openxmlformats.org/officeDocument/2006/relationships/image" Target="../media/image51.png"/><Relationship Id="rId7" Type="http://schemas.openxmlformats.org/officeDocument/2006/relationships/image" Target="../media/image52.png"/><Relationship Id="rId8" Type="http://schemas.openxmlformats.org/officeDocument/2006/relationships/image" Target="../media/image53.png"/><Relationship Id="rId9" Type="http://schemas.openxmlformats.org/officeDocument/2006/relationships/image" Target="../media/image54.png"/><Relationship Id="rId10" Type="http://schemas.openxmlformats.org/officeDocument/2006/relationships/image" Target="../media/image55.png"/><Relationship Id="rId11" Type="http://schemas.openxmlformats.org/officeDocument/2006/relationships/image" Target="../media/image56.png"/></Relationships>
</file>

<file path=ppt/charts/_rels/chart9.xml.rels><?xml version='1.0' encoding='UTF-8' standalone='yes'?>
<Relationships xmlns="http://schemas.openxmlformats.org/package/2006/relationships"><Relationship Id="rId2" Type="http://schemas.openxmlformats.org/officeDocument/2006/relationships/image" Target="../media/image57.png"/><Relationship Id="rId3" Type="http://schemas.openxmlformats.org/officeDocument/2006/relationships/image" Target="../media/image58.png"/><Relationship Id="rId4" Type="http://schemas.openxmlformats.org/officeDocument/2006/relationships/image" Target="../media/image59.png"/><Relationship Id="rId5" Type="http://schemas.openxmlformats.org/officeDocument/2006/relationships/image" Target="../media/image60.png"/></Relationships>
</file>

<file path=ppt/charts/_rels/chart11.xml.rels><?xml version='1.0' encoding='UTF-8' standalone='yes'?>
<Relationships xmlns="http://schemas.openxmlformats.org/package/2006/relationships"><Relationship Id="rId2" Type="http://schemas.openxmlformats.org/officeDocument/2006/relationships/image" Target="../media/image79.png"/><Relationship Id="rId3" Type="http://schemas.openxmlformats.org/officeDocument/2006/relationships/image" Target="../media/image80.png"/><Relationship Id="rId4" Type="http://schemas.openxmlformats.org/officeDocument/2006/relationships/image" Target="../media/image81.png"/><Relationship Id="rId5" Type="http://schemas.openxmlformats.org/officeDocument/2006/relationships/image" Target="../media/image82.png"/><Relationship Id="rId6" Type="http://schemas.openxmlformats.org/officeDocument/2006/relationships/image" Target="../media/image83.png"/><Relationship Id="rId7" Type="http://schemas.openxmlformats.org/officeDocument/2006/relationships/image" Target="../media/image84.png"/><Relationship Id="rId8" Type="http://schemas.openxmlformats.org/officeDocument/2006/relationships/image" Target="../media/image85.png"/><Relationship Id="rId9" Type="http://schemas.openxmlformats.org/officeDocument/2006/relationships/image" Target="../media/image86.png"/><Relationship Id="rId10" Type="http://schemas.openxmlformats.org/officeDocument/2006/relationships/image" Target="../media/image87.png"/><Relationship Id="rId11" Type="http://schemas.openxmlformats.org/officeDocument/2006/relationships/image" Target="../media/image88.png"/><Relationship Id="rId12" Type="http://schemas.openxmlformats.org/officeDocument/2006/relationships/image" Target="../media/image89.png"/></Relationships>
</file>

<file path=ppt/charts/_rels/chart12.xml.rels><?xml version='1.0' encoding='UTF-8' standalone='yes'?>
<Relationships xmlns="http://schemas.openxmlformats.org/package/2006/relationships"><Relationship Id="rId2" Type="http://schemas.openxmlformats.org/officeDocument/2006/relationships/image" Target="../media/image93.png"/><Relationship Id="rId3" Type="http://schemas.openxmlformats.org/officeDocument/2006/relationships/image" Target="../media/image94.png"/><Relationship Id="rId4" Type="http://schemas.openxmlformats.org/officeDocument/2006/relationships/image" Target="../media/image95.png"/><Relationship Id="rId5" Type="http://schemas.openxmlformats.org/officeDocument/2006/relationships/image" Target="../media/image96.png"/><Relationship Id="rId6" Type="http://schemas.openxmlformats.org/officeDocument/2006/relationships/image" Target="../media/image97.png"/><Relationship Id="rId7" Type="http://schemas.openxmlformats.org/officeDocument/2006/relationships/image" Target="../media/image98.png"/><Relationship Id="rId8" Type="http://schemas.openxmlformats.org/officeDocument/2006/relationships/image" Target="../media/image99.png"/><Relationship Id="rId9" Type="http://schemas.openxmlformats.org/officeDocument/2006/relationships/image" Target="../media/image100.png"/><Relationship Id="rId10" Type="http://schemas.openxmlformats.org/officeDocument/2006/relationships/image" Target="../media/image101.png"/><Relationship Id="rId11" Type="http://schemas.openxmlformats.org/officeDocument/2006/relationships/image" Target="../media/image102.png"/><Relationship Id="rId12" Type="http://schemas.openxmlformats.org/officeDocument/2006/relationships/image" Target="../media/image103.png"/><Relationship Id="rId13" Type="http://schemas.openxmlformats.org/officeDocument/2006/relationships/image" Target="../media/image104.png"/></Relationships>
</file>

<file path=ppt/charts/_rels/chart13.xml.rels><?xml version='1.0' encoding='UTF-8' standalone='yes'?>
<Relationships xmlns="http://schemas.openxmlformats.org/package/2006/relationships"><Relationship Id="rId2" Type="http://schemas.openxmlformats.org/officeDocument/2006/relationships/image" Target="../media/image105.png"/></Relationships>
</file>

<file path=ppt/charts/_rels/chart14.xml.rels><?xml version='1.0' encoding='UTF-8' standalone='yes'?>
<Relationships xmlns="http://schemas.openxmlformats.org/package/2006/relationships"><Relationship Id="rId2" Type="http://schemas.openxmlformats.org/officeDocument/2006/relationships/image" Target="../media/image106.png"/></Relationships>
</file>

<file path=ppt/charts/_rels/chart15.xml.rels><?xml version='1.0' encoding='UTF-8' standalone='yes'?>
<Relationships xmlns="http://schemas.openxmlformats.org/package/2006/relationships"><Relationship Id="rId2" Type="http://schemas.openxmlformats.org/officeDocument/2006/relationships/image" Target="../media/image115.png"/><Relationship Id="rId3" Type="http://schemas.openxmlformats.org/officeDocument/2006/relationships/image" Target="../media/image116.png"/><Relationship Id="rId4" Type="http://schemas.openxmlformats.org/officeDocument/2006/relationships/image" Target="../media/image117.png"/><Relationship Id="rId5" Type="http://schemas.openxmlformats.org/officeDocument/2006/relationships/image" Target="../media/image118.png"/><Relationship Id="rId6" Type="http://schemas.openxmlformats.org/officeDocument/2006/relationships/image" Target="../media/image119.png"/><Relationship Id="rId7" Type="http://schemas.openxmlformats.org/officeDocument/2006/relationships/image" Target="../media/image120.png"/><Relationship Id="rId8" Type="http://schemas.openxmlformats.org/officeDocument/2006/relationships/image" Target="../media/image121.png"/><Relationship Id="rId9" Type="http://schemas.openxmlformats.org/officeDocument/2006/relationships/image" Target="../media/image122.png"/><Relationship Id="rId10" Type="http://schemas.openxmlformats.org/officeDocument/2006/relationships/image" Target="../media/image123.png"/><Relationship Id="rId11" Type="http://schemas.openxmlformats.org/officeDocument/2006/relationships/image" Target="../media/image124.png"/><Relationship Id="rId12" Type="http://schemas.openxmlformats.org/officeDocument/2006/relationships/image" Target="../media/image125.png"/><Relationship Id="rId13" Type="http://schemas.openxmlformats.org/officeDocument/2006/relationships/image" Target="../media/image126.png"/><Relationship Id="rId14" Type="http://schemas.openxmlformats.org/officeDocument/2006/relationships/image" Target="../media/image127.png"/><Relationship Id="rId15" Type="http://schemas.openxmlformats.org/officeDocument/2006/relationships/image" Target="../media/image128.png"/><Relationship Id="rId16" Type="http://schemas.openxmlformats.org/officeDocument/2006/relationships/image" Target="../media/image129.png"/><Relationship Id="rId17" Type="http://schemas.openxmlformats.org/officeDocument/2006/relationships/image" Target="../media/image130.png"/><Relationship Id="rId18" Type="http://schemas.openxmlformats.org/officeDocument/2006/relationships/image" Target="../media/image131.png"/><Relationship Id="rId19" Type="http://schemas.openxmlformats.org/officeDocument/2006/relationships/image" Target="../media/image132.png"/><Relationship Id="rId20" Type="http://schemas.openxmlformats.org/officeDocument/2006/relationships/image" Target="../media/image133.png"/><Relationship Id="rId21" Type="http://schemas.openxmlformats.org/officeDocument/2006/relationships/image" Target="../media/image134.png"/><Relationship Id="rId22" Type="http://schemas.openxmlformats.org/officeDocument/2006/relationships/image" Target="../media/image135.png"/><Relationship Id="rId23" Type="http://schemas.openxmlformats.org/officeDocument/2006/relationships/image" Target="../media/image136.png"/><Relationship Id="rId24" Type="http://schemas.openxmlformats.org/officeDocument/2006/relationships/image" Target="../media/image137.png"/></Relationships>
</file>

<file path=ppt/charts/_rels/chart21.xml.rels><?xml version='1.0' encoding='UTF-8' standalone='yes'?>
<Relationships xmlns="http://schemas.openxmlformats.org/package/2006/relationships"><Relationship Id="rId2" Type="http://schemas.openxmlformats.org/officeDocument/2006/relationships/image" Target="../media/image138.png"/><Relationship Id="rId3" Type="http://schemas.openxmlformats.org/officeDocument/2006/relationships/image" Target="../media/image139.png"/><Relationship Id="rId4" Type="http://schemas.openxmlformats.org/officeDocument/2006/relationships/image" Target="../media/image140.png"/><Relationship Id="rId5" Type="http://schemas.openxmlformats.org/officeDocument/2006/relationships/image" Target="../media/image141.png"/><Relationship Id="rId6" Type="http://schemas.openxmlformats.org/officeDocument/2006/relationships/image" Target="../media/image142.png"/><Relationship Id="rId7" Type="http://schemas.openxmlformats.org/officeDocument/2006/relationships/image" Target="../media/image143.png"/><Relationship Id="rId8" Type="http://schemas.openxmlformats.org/officeDocument/2006/relationships/image" Target="../media/image144.png"/><Relationship Id="rId9" Type="http://schemas.openxmlformats.org/officeDocument/2006/relationships/image" Target="../media/image145.png"/><Relationship Id="rId10" Type="http://schemas.openxmlformats.org/officeDocument/2006/relationships/image" Target="../media/image146.png"/><Relationship Id="rId11" Type="http://schemas.openxmlformats.org/officeDocument/2006/relationships/image" Target="../media/image147.png"/><Relationship Id="rId12" Type="http://schemas.openxmlformats.org/officeDocument/2006/relationships/image" Target="../media/image148.png"/></Relationships>
</file>

<file path=ppt/charts/_rels/chart22.xml.rels><?xml version='1.0' encoding='UTF-8' standalone='yes'?>
<Relationships xmlns="http://schemas.openxmlformats.org/package/2006/relationships"><Relationship Id="rId2" Type="http://schemas.openxmlformats.org/officeDocument/2006/relationships/image" Target="../media/image160.png"/><Relationship Id="rId3" Type="http://schemas.openxmlformats.org/officeDocument/2006/relationships/image" Target="../media/image161.png"/><Relationship Id="rId4" Type="http://schemas.openxmlformats.org/officeDocument/2006/relationships/image" Target="../media/image162.png"/><Relationship Id="rId5" Type="http://schemas.openxmlformats.org/officeDocument/2006/relationships/image" Target="../media/image163.png"/><Relationship Id="rId6" Type="http://schemas.openxmlformats.org/officeDocument/2006/relationships/image" Target="../media/image164.png"/><Relationship Id="rId7" Type="http://schemas.openxmlformats.org/officeDocument/2006/relationships/image" Target="../media/image165.png"/><Relationship Id="rId8" Type="http://schemas.openxmlformats.org/officeDocument/2006/relationships/image" Target="../media/image166.png"/><Relationship Id="rId9" Type="http://schemas.openxmlformats.org/officeDocument/2006/relationships/image" Target="../media/image167.png"/><Relationship Id="rId10" Type="http://schemas.openxmlformats.org/officeDocument/2006/relationships/image" Target="../media/image168.png"/><Relationship Id="rId11" Type="http://schemas.openxmlformats.org/officeDocument/2006/relationships/image" Target="../media/image169.png"/><Relationship Id="rId12" Type="http://schemas.openxmlformats.org/officeDocument/2006/relationships/image" Target="../media/image170.png"/><Relationship Id="rId13" Type="http://schemas.openxmlformats.org/officeDocument/2006/relationships/image" Target="../media/image171.png"/><Relationship Id="rId14" Type="http://schemas.openxmlformats.org/officeDocument/2006/relationships/image" Target="../media/image172.png"/><Relationship Id="rId15" Type="http://schemas.openxmlformats.org/officeDocument/2006/relationships/image" Target="../media/image173.png"/><Relationship Id="rId16" Type="http://schemas.openxmlformats.org/officeDocument/2006/relationships/image" Target="../media/image174.png"/><Relationship Id="rId17" Type="http://schemas.openxmlformats.org/officeDocument/2006/relationships/image" Target="../media/image175.png"/><Relationship Id="rId18" Type="http://schemas.openxmlformats.org/officeDocument/2006/relationships/image" Target="../media/image176.png"/><Relationship Id="rId19" Type="http://schemas.openxmlformats.org/officeDocument/2006/relationships/image" Target="../media/image177.png"/><Relationship Id="rId20" Type="http://schemas.openxmlformats.org/officeDocument/2006/relationships/image" Target="../media/image178.png"/><Relationship Id="rId21" Type="http://schemas.openxmlformats.org/officeDocument/2006/relationships/image" Target="../media/image179.png"/><Relationship Id="rId22" Type="http://schemas.openxmlformats.org/officeDocument/2006/relationships/image" Target="../media/image180.png"/></Relationships>
</file>

<file path=ppt/charts/_rels/chart28.xml.rels><?xml version='1.0' encoding='UTF-8' standalone='yes'?>
<Relationships xmlns="http://schemas.openxmlformats.org/package/2006/relationships"><Relationship Id="rId2" Type="http://schemas.openxmlformats.org/officeDocument/2006/relationships/image" Target="../media/image181.png"/><Relationship Id="rId3" Type="http://schemas.openxmlformats.org/officeDocument/2006/relationships/image" Target="../media/image182.png"/><Relationship Id="rId4" Type="http://schemas.openxmlformats.org/officeDocument/2006/relationships/image" Target="../media/image183.png"/><Relationship Id="rId5" Type="http://schemas.openxmlformats.org/officeDocument/2006/relationships/image" Target="../media/image184.png"/><Relationship Id="rId6" Type="http://schemas.openxmlformats.org/officeDocument/2006/relationships/image" Target="../media/image185.png"/><Relationship Id="rId7" Type="http://schemas.openxmlformats.org/officeDocument/2006/relationships/image" Target="../media/image186.png"/><Relationship Id="rId8" Type="http://schemas.openxmlformats.org/officeDocument/2006/relationships/image" Target="../media/image187.png"/><Relationship Id="rId9" Type="http://schemas.openxmlformats.org/officeDocument/2006/relationships/image" Target="../media/image188.png"/><Relationship Id="rId10" Type="http://schemas.openxmlformats.org/officeDocument/2006/relationships/image" Target="../media/image189.png"/><Relationship Id="rId11" Type="http://schemas.openxmlformats.org/officeDocument/2006/relationships/image" Target="../media/image190.png"/><Relationship Id="rId12" Type="http://schemas.openxmlformats.org/officeDocument/2006/relationships/image" Target="../media/image191.png"/><Relationship Id="rId13" Type="http://schemas.openxmlformats.org/officeDocument/2006/relationships/image" Target="../media/image192.png"/></Relationships>
</file>

<file path=ppt/charts/_rels/chart29.xml.rels><?xml version='1.0' encoding='UTF-8' standalone='yes'?>
<Relationships xmlns="http://schemas.openxmlformats.org/package/2006/relationships"><Relationship Id="rId2" Type="http://schemas.openxmlformats.org/officeDocument/2006/relationships/image" Target="../media/image199.png"/><Relationship Id="rId3" Type="http://schemas.openxmlformats.org/officeDocument/2006/relationships/image" Target="../media/image200.png"/><Relationship Id="rId4" Type="http://schemas.openxmlformats.org/officeDocument/2006/relationships/image" Target="../media/image201.png"/><Relationship Id="rId5" Type="http://schemas.openxmlformats.org/officeDocument/2006/relationships/image" Target="../media/image202.png"/><Relationship Id="rId6" Type="http://schemas.openxmlformats.org/officeDocument/2006/relationships/image" Target="../media/image203.png"/><Relationship Id="rId7" Type="http://schemas.openxmlformats.org/officeDocument/2006/relationships/image" Target="../media/image204.png"/><Relationship Id="rId8" Type="http://schemas.openxmlformats.org/officeDocument/2006/relationships/image" Target="../media/image205.png"/><Relationship Id="rId9" Type="http://schemas.openxmlformats.org/officeDocument/2006/relationships/image" Target="../media/image206.png"/><Relationship Id="rId10" Type="http://schemas.openxmlformats.org/officeDocument/2006/relationships/image" Target="../media/image207.png"/><Relationship Id="rId11" Type="http://schemas.openxmlformats.org/officeDocument/2006/relationships/image" Target="../media/image208.png"/><Relationship Id="rId12" Type="http://schemas.openxmlformats.org/officeDocument/2006/relationships/image" Target="../media/image209.png"/><Relationship Id="rId13" Type="http://schemas.openxmlformats.org/officeDocument/2006/relationships/image" Target="../media/image210.png"/></Relationships>
</file>

<file path=ppt/charts/_rels/chart33.xml.rels><?xml version='1.0' encoding='UTF-8' standalone='yes'?>
<Relationships xmlns="http://schemas.openxmlformats.org/package/2006/relationships"><Relationship Id="rId2" Type="http://schemas.openxmlformats.org/officeDocument/2006/relationships/image" Target="../media/image211.png"/><Relationship Id="rId3" Type="http://schemas.openxmlformats.org/officeDocument/2006/relationships/image" Target="../media/image212.png"/><Relationship Id="rId4" Type="http://schemas.openxmlformats.org/officeDocument/2006/relationships/image" Target="../media/image213.png"/><Relationship Id="rId5" Type="http://schemas.openxmlformats.org/officeDocument/2006/relationships/image" Target="../media/image214.png"/><Relationship Id="rId6" Type="http://schemas.openxmlformats.org/officeDocument/2006/relationships/image" Target="../media/image215.png"/><Relationship Id="rId7" Type="http://schemas.openxmlformats.org/officeDocument/2006/relationships/image" Target="../media/image216.png"/></Relationships>
</file>

<file path=ppt/charts/_rels/chart34.xml.rels><?xml version='1.0' encoding='UTF-8' standalone='yes'?>
<Relationships xmlns="http://schemas.openxmlformats.org/package/2006/relationships"><Relationship Id="rId2" Type="http://schemas.openxmlformats.org/officeDocument/2006/relationships/image" Target="../media/image227.png"/><Relationship Id="rId3" Type="http://schemas.openxmlformats.org/officeDocument/2006/relationships/image" Target="../media/image228.png"/><Relationship Id="rId4" Type="http://schemas.openxmlformats.org/officeDocument/2006/relationships/image" Target="../media/image229.png"/><Relationship Id="rId5" Type="http://schemas.openxmlformats.org/officeDocument/2006/relationships/image" Target="../media/image230.png"/><Relationship Id="rId6" Type="http://schemas.openxmlformats.org/officeDocument/2006/relationships/image" Target="../media/image231.png"/><Relationship Id="rId7" Type="http://schemas.openxmlformats.org/officeDocument/2006/relationships/image" Target="../media/image232.png"/><Relationship Id="rId8" Type="http://schemas.openxmlformats.org/officeDocument/2006/relationships/image" Target="../media/image233.png"/><Relationship Id="rId9" Type="http://schemas.openxmlformats.org/officeDocument/2006/relationships/image" Target="../media/image234.png"/><Relationship Id="rId10" Type="http://schemas.openxmlformats.org/officeDocument/2006/relationships/image" Target="../media/image235.png"/><Relationship Id="rId11" Type="http://schemas.openxmlformats.org/officeDocument/2006/relationships/image" Target="../media/image236.png"/><Relationship Id="rId12" Type="http://schemas.openxmlformats.org/officeDocument/2006/relationships/image" Target="../media/image237.png"/><Relationship Id="rId13" Type="http://schemas.openxmlformats.org/officeDocument/2006/relationships/image" Target="../media/image238.png"/><Relationship Id="rId14" Type="http://schemas.openxmlformats.org/officeDocument/2006/relationships/image" Target="../media/image239.png"/><Relationship Id="rId15" Type="http://schemas.openxmlformats.org/officeDocument/2006/relationships/image" Target="../media/image240.png"/><Relationship Id="rId16" Type="http://schemas.openxmlformats.org/officeDocument/2006/relationships/image" Target="../media/image241.png"/><Relationship Id="rId17" Type="http://schemas.openxmlformats.org/officeDocument/2006/relationships/image" Target="../media/image242.png"/><Relationship Id="rId18" Type="http://schemas.openxmlformats.org/officeDocument/2006/relationships/image" Target="../media/image243.png"/><Relationship Id="rId19" Type="http://schemas.openxmlformats.org/officeDocument/2006/relationships/image" Target="../media/image244.png"/><Relationship Id="rId20" Type="http://schemas.openxmlformats.org/officeDocument/2006/relationships/image" Target="../media/image245.png"/><Relationship Id="rId21" Type="http://schemas.openxmlformats.org/officeDocument/2006/relationships/image" Target="../media/image246.png"/><Relationship Id="rId22" Type="http://schemas.openxmlformats.org/officeDocument/2006/relationships/image" Target="../media/image247.png"/></Relationships>
</file>

<file path=ppt/charts/_rels/chart40.xml.rels><?xml version='1.0' encoding='UTF-8' standalone='yes'?>
<Relationships xmlns="http://schemas.openxmlformats.org/package/2006/relationships"><Relationship Id="rId2" Type="http://schemas.openxmlformats.org/officeDocument/2006/relationships/image" Target="../media/image248.png"/><Relationship Id="rId3" Type="http://schemas.openxmlformats.org/officeDocument/2006/relationships/image" Target="../media/image249.png"/><Relationship Id="rId4" Type="http://schemas.openxmlformats.org/officeDocument/2006/relationships/image" Target="../media/image250.png"/><Relationship Id="rId5" Type="http://schemas.openxmlformats.org/officeDocument/2006/relationships/image" Target="../media/image251.png"/><Relationship Id="rId6" Type="http://schemas.openxmlformats.org/officeDocument/2006/relationships/image" Target="../media/image252.png"/><Relationship Id="rId7" Type="http://schemas.openxmlformats.org/officeDocument/2006/relationships/image" Target="../media/image253.png"/><Relationship Id="rId8" Type="http://schemas.openxmlformats.org/officeDocument/2006/relationships/image" Target="../media/image254.png"/><Relationship Id="rId9" Type="http://schemas.openxmlformats.org/officeDocument/2006/relationships/image" Target="../media/image255.png"/><Relationship Id="rId10" Type="http://schemas.openxmlformats.org/officeDocument/2006/relationships/image" Target="../media/image256.png"/><Relationship Id="rId11" Type="http://schemas.openxmlformats.org/officeDocument/2006/relationships/image" Target="../media/image257.png"/><Relationship Id="rId12" Type="http://schemas.openxmlformats.org/officeDocument/2006/relationships/image" Target="../media/image258.png"/><Relationship Id="rId13" Type="http://schemas.openxmlformats.org/officeDocument/2006/relationships/image" Target="../media/image259.png"/></Relationships>
</file>

<file path=ppt/charts/_rels/chart41.xml.rels><?xml version='1.0' encoding='UTF-8' standalone='yes'?>
<Relationships xmlns="http://schemas.openxmlformats.org/package/2006/relationships"><Relationship Id="rId2" Type="http://schemas.openxmlformats.org/officeDocument/2006/relationships/image" Target="../media/image269.png"/><Relationship Id="rId3" Type="http://schemas.openxmlformats.org/officeDocument/2006/relationships/image" Target="../media/image270.png"/><Relationship Id="rId4" Type="http://schemas.openxmlformats.org/officeDocument/2006/relationships/image" Target="../media/image271.png"/><Relationship Id="rId5" Type="http://schemas.openxmlformats.org/officeDocument/2006/relationships/image" Target="../media/image272.png"/><Relationship Id="rId6" Type="http://schemas.openxmlformats.org/officeDocument/2006/relationships/image" Target="../media/image273.png"/><Relationship Id="rId7" Type="http://schemas.openxmlformats.org/officeDocument/2006/relationships/image" Target="../media/image274.png"/><Relationship Id="rId8" Type="http://schemas.openxmlformats.org/officeDocument/2006/relationships/image" Target="../media/image275.png"/><Relationship Id="rId9" Type="http://schemas.openxmlformats.org/officeDocument/2006/relationships/image" Target="../media/image276.png"/><Relationship Id="rId10" Type="http://schemas.openxmlformats.org/officeDocument/2006/relationships/image" Target="../media/image277.png"/><Relationship Id="rId11" Type="http://schemas.openxmlformats.org/officeDocument/2006/relationships/image" Target="../media/image278.png"/><Relationship Id="rId12" Type="http://schemas.openxmlformats.org/officeDocument/2006/relationships/image" Target="../media/image279.png"/><Relationship Id="rId13" Type="http://schemas.openxmlformats.org/officeDocument/2006/relationships/image" Target="../media/image280.png"/><Relationship Id="rId14" Type="http://schemas.openxmlformats.org/officeDocument/2006/relationships/image" Target="../media/image281.png"/><Relationship Id="rId15" Type="http://schemas.openxmlformats.org/officeDocument/2006/relationships/image" Target="../media/image282.png"/><Relationship Id="rId16" Type="http://schemas.openxmlformats.org/officeDocument/2006/relationships/image" Target="../media/image283.png"/><Relationship Id="rId17" Type="http://schemas.openxmlformats.org/officeDocument/2006/relationships/image" Target="../media/image284.png"/><Relationship Id="rId18" Type="http://schemas.openxmlformats.org/officeDocument/2006/relationships/image" Target="../media/image285.png"/><Relationship Id="rId19" Type="http://schemas.openxmlformats.org/officeDocument/2006/relationships/image" Target="../media/image286.png"/></Relationships>
</file>

<file path=ppt/charts/_rels/chart46.xml.rels><?xml version='1.0' encoding='UTF-8' standalone='yes'?>
<Relationships xmlns="http://schemas.openxmlformats.org/package/2006/relationships"><Relationship Id="rId2" Type="http://schemas.openxmlformats.org/officeDocument/2006/relationships/image" Target="../media/image287.png"/><Relationship Id="rId3" Type="http://schemas.openxmlformats.org/officeDocument/2006/relationships/image" Target="../media/image288.png"/><Relationship Id="rId4" Type="http://schemas.openxmlformats.org/officeDocument/2006/relationships/image" Target="../media/image289.png"/><Relationship Id="rId5" Type="http://schemas.openxmlformats.org/officeDocument/2006/relationships/image" Target="../media/image290.png"/><Relationship Id="rId6" Type="http://schemas.openxmlformats.org/officeDocument/2006/relationships/image" Target="../media/image291.png"/><Relationship Id="rId7" Type="http://schemas.openxmlformats.org/officeDocument/2006/relationships/image" Target="../media/image292.png"/><Relationship Id="rId8" Type="http://schemas.openxmlformats.org/officeDocument/2006/relationships/image" Target="../media/image293.png"/><Relationship Id="rId9" Type="http://schemas.openxmlformats.org/officeDocument/2006/relationships/image" Target="../media/image294.png"/><Relationship Id="rId10" Type="http://schemas.openxmlformats.org/officeDocument/2006/relationships/image" Target="../media/image295.png"/></Relationships>
</file>

<file path=ppt/charts/_rels/chart47.xml.rels><?xml version='1.0' encoding='UTF-8' standalone='yes'?>
<Relationships xmlns="http://schemas.openxmlformats.org/package/2006/relationships"><Relationship Id="rId2" Type="http://schemas.openxmlformats.org/officeDocument/2006/relationships/image" Target="../media/image300.png"/><Relationship Id="rId3" Type="http://schemas.openxmlformats.org/officeDocument/2006/relationships/image" Target="../media/image301.png"/><Relationship Id="rId4" Type="http://schemas.openxmlformats.org/officeDocument/2006/relationships/image" Target="../media/image302.png"/><Relationship Id="rId5" Type="http://schemas.openxmlformats.org/officeDocument/2006/relationships/image" Target="../media/image303.png"/><Relationship Id="rId6" Type="http://schemas.openxmlformats.org/officeDocument/2006/relationships/image" Target="../media/image304.png"/><Relationship Id="rId7" Type="http://schemas.openxmlformats.org/officeDocument/2006/relationships/image" Target="../media/image305.png"/><Relationship Id="rId8" Type="http://schemas.openxmlformats.org/officeDocument/2006/relationships/image" Target="../media/image306.png"/><Relationship Id="rId9" Type="http://schemas.openxmlformats.org/officeDocument/2006/relationships/image" Target="../media/image307.png"/><Relationship Id="rId10" Type="http://schemas.openxmlformats.org/officeDocument/2006/relationships/image" Target="../media/image308.png"/><Relationship Id="rId11" Type="http://schemas.openxmlformats.org/officeDocument/2006/relationships/image" Target="../media/image309.png"/><Relationship Id="rId12" Type="http://schemas.openxmlformats.org/officeDocument/2006/relationships/image" Target="../media/image310.png"/><Relationship Id="rId13" Type="http://schemas.openxmlformats.org/officeDocument/2006/relationships/image" Target="../media/image311.png"/></Relationships>
</file>

<file path=ppt/charts/_rels/chart51.xml.rels><?xml version='1.0' encoding='UTF-8' standalone='yes'?>
<Relationships xmlns="http://schemas.openxmlformats.org/package/2006/relationships"><Relationship Id="rId2" Type="http://schemas.openxmlformats.org/officeDocument/2006/relationships/image" Target="../media/image312.png"/><Relationship Id="rId3" Type="http://schemas.openxmlformats.org/officeDocument/2006/relationships/image" Target="../media/image313.png"/><Relationship Id="rId4" Type="http://schemas.openxmlformats.org/officeDocument/2006/relationships/image" Target="../media/image314.png"/><Relationship Id="rId5" Type="http://schemas.openxmlformats.org/officeDocument/2006/relationships/image" Target="../media/image315.png"/><Relationship Id="rId6" Type="http://schemas.openxmlformats.org/officeDocument/2006/relationships/image" Target="../media/image316.png"/><Relationship Id="rId7" Type="http://schemas.openxmlformats.org/officeDocument/2006/relationships/image" Target="../media/image317.png"/></Relationships>
</file>

<file path=ppt/charts/_rels/chart54.xml.rels><?xml version='1.0' encoding='UTF-8' standalone='yes'?>
<Relationships xmlns="http://schemas.openxmlformats.org/package/2006/relationships"><Relationship Id="rId2" Type="http://schemas.openxmlformats.org/officeDocument/2006/relationships/image" Target="../media/image318.png"/></Relationships>
</file>

<file path=ppt/charts/_rels/chart56.xml.rels><?xml version='1.0' encoding='UTF-8' standalone='yes'?>
<Relationships xmlns="http://schemas.openxmlformats.org/package/2006/relationships"><Relationship Id="rId2" Type="http://schemas.openxmlformats.org/officeDocument/2006/relationships/image" Target="../media/image319.png"/></Relationships>
</file>

<file path=ppt/charts/_rels/chart58.xml.rels><?xml version='1.0' encoding='UTF-8' standalone='yes'?>
<Relationships xmlns="http://schemas.openxmlformats.org/package/2006/relationships"><Relationship Id="rId2" Type="http://schemas.openxmlformats.org/officeDocument/2006/relationships/image" Target="../media/image320.png"/><Relationship Id="rId3" Type="http://schemas.openxmlformats.org/officeDocument/2006/relationships/image" Target="../media/image321.png"/><Relationship Id="rId4" Type="http://schemas.openxmlformats.org/officeDocument/2006/relationships/image" Target="../media/image322.png"/><Relationship Id="rId5" Type="http://schemas.openxmlformats.org/officeDocument/2006/relationships/image" Target="../media/image323.png"/><Relationship Id="rId6" Type="http://schemas.openxmlformats.org/officeDocument/2006/relationships/image" Target="../media/image324.png"/><Relationship Id="rId7" Type="http://schemas.openxmlformats.org/officeDocument/2006/relationships/image" Target="../media/image325.png"/><Relationship Id="rId8" Type="http://schemas.openxmlformats.org/officeDocument/2006/relationships/image" Target="../media/image326.png"/><Relationship Id="rId9" Type="http://schemas.openxmlformats.org/officeDocument/2006/relationships/image" Target="../media/image327.png"/><Relationship Id="rId10" Type="http://schemas.openxmlformats.org/officeDocument/2006/relationships/image" Target="../media/image328.png"/><Relationship Id="rId11" Type="http://schemas.openxmlformats.org/officeDocument/2006/relationships/image" Target="../media/image329.png"/></Relationships>
</file>

<file path=ppt/charts/_rels/chart59.xml.rels><?xml version='1.0' encoding='UTF-8' standalone='yes'?>
<Relationships xmlns="http://schemas.openxmlformats.org/package/2006/relationships"><Relationship Id="rId2" Type="http://schemas.openxmlformats.org/officeDocument/2006/relationships/image" Target="../media/image330.png"/><Relationship Id="rId3" Type="http://schemas.openxmlformats.org/officeDocument/2006/relationships/image" Target="../media/image331.png"/><Relationship Id="rId4" Type="http://schemas.openxmlformats.org/officeDocument/2006/relationships/image" Target="../media/image332.png"/><Relationship Id="rId5" Type="http://schemas.openxmlformats.org/officeDocument/2006/relationships/image" Target="../media/image333.png"/><Relationship Id="rId6" Type="http://schemas.openxmlformats.org/officeDocument/2006/relationships/image" Target="../media/image334.png"/><Relationship Id="rId7" Type="http://schemas.openxmlformats.org/officeDocument/2006/relationships/image" Target="../media/image335.png"/><Relationship Id="rId8" Type="http://schemas.openxmlformats.org/officeDocument/2006/relationships/image" Target="../media/image336.png"/><Relationship Id="rId9" Type="http://schemas.openxmlformats.org/officeDocument/2006/relationships/image" Target="../media/image337.png"/><Relationship Id="rId10" Type="http://schemas.openxmlformats.org/officeDocument/2006/relationships/image" Target="../media/image338.png"/><Relationship Id="rId11" Type="http://schemas.openxmlformats.org/officeDocument/2006/relationships/image" Target="../media/image339.png"/><Relationship Id="rId12" Type="http://schemas.openxmlformats.org/officeDocument/2006/relationships/image" Target="../media/image340.png"/><Relationship Id="rId13" Type="http://schemas.openxmlformats.org/officeDocument/2006/relationships/image" Target="../media/image341.png"/><Relationship Id="rId14" Type="http://schemas.openxmlformats.org/officeDocument/2006/relationships/image" Target="../media/image342.png"/><Relationship Id="rId15" Type="http://schemas.openxmlformats.org/officeDocument/2006/relationships/image" Target="../media/image343.png"/><Relationship Id="rId16" Type="http://schemas.openxmlformats.org/officeDocument/2006/relationships/image" Target="../media/image344.png"/><Relationship Id="rId17" Type="http://schemas.openxmlformats.org/officeDocument/2006/relationships/image" Target="../media/image345.png"/><Relationship Id="rId18" Type="http://schemas.openxmlformats.org/officeDocument/2006/relationships/image" Target="../media/image346.png"/><Relationship Id="rId19" Type="http://schemas.openxmlformats.org/officeDocument/2006/relationships/image" Target="../media/image347.png"/><Relationship Id="rId20" Type="http://schemas.openxmlformats.org/officeDocument/2006/relationships/image" Target="../media/image348.png"/><Relationship Id="rId21" Type="http://schemas.openxmlformats.org/officeDocument/2006/relationships/image" Target="../media/image349.png"/><Relationship Id="rId22" Type="http://schemas.openxmlformats.org/officeDocument/2006/relationships/image" Target="../media/image350.png"/><Relationship Id="rId23" Type="http://schemas.openxmlformats.org/officeDocument/2006/relationships/image" Target="../media/image351.png"/></Relationships>
</file>

<file path=ppt/charts/_rels/chart60.xml.rels><?xml version='1.0' encoding='UTF-8' standalone='yes'?>
<Relationships xmlns="http://schemas.openxmlformats.org/package/2006/relationships"><Relationship Id="rId2" Type="http://schemas.openxmlformats.org/officeDocument/2006/relationships/image" Target="../media/image352.png"/><Relationship Id="rId3" Type="http://schemas.openxmlformats.org/officeDocument/2006/relationships/image" Target="../media/image353.png"/></Relationships>
</file>

<file path=ppt/charts/_rels/chart61.xml.rels><?xml version='1.0' encoding='UTF-8' standalone='yes'?>
<Relationships xmlns="http://schemas.openxmlformats.org/package/2006/relationships"><Relationship Id="rId2" Type="http://schemas.openxmlformats.org/officeDocument/2006/relationships/image" Target="../media/image354.png"/><Relationship Id="rId3" Type="http://schemas.openxmlformats.org/officeDocument/2006/relationships/image" Target="../media/image355.png"/></Relationships>
</file>

<file path=ppt/charts/_rels/chart62.xml.rels><?xml version='1.0' encoding='UTF-8' standalone='yes'?>
<Relationships xmlns="http://schemas.openxmlformats.org/package/2006/relationships"><Relationship Id="rId2" Type="http://schemas.openxmlformats.org/officeDocument/2006/relationships/image" Target="../media/image356.png"/><Relationship Id="rId3" Type="http://schemas.openxmlformats.org/officeDocument/2006/relationships/image" Target="../media/image357.png"/><Relationship Id="rId4" Type="http://schemas.openxmlformats.org/officeDocument/2006/relationships/image" Target="../media/image358.png"/><Relationship Id="rId5" Type="http://schemas.openxmlformats.org/officeDocument/2006/relationships/image" Target="../media/image359.png"/></Relationships>
</file>

<file path=ppt/charts/_rels/chart64.xml.rels><?xml version='1.0' encoding='UTF-8' standalone='yes'?>
<Relationships xmlns="http://schemas.openxmlformats.org/package/2006/relationships"><Relationship Id="rId2" Type="http://schemas.openxmlformats.org/officeDocument/2006/relationships/image" Target="../media/image360.png"/><Relationship Id="rId3" Type="http://schemas.openxmlformats.org/officeDocument/2006/relationships/image" Target="../media/image361.png"/><Relationship Id="rId4" Type="http://schemas.openxmlformats.org/officeDocument/2006/relationships/image" Target="../media/image362.png"/><Relationship Id="rId5" Type="http://schemas.openxmlformats.org/officeDocument/2006/relationships/image" Target="../media/image363.png"/></Relationships>
</file>

<file path=ppt/charts/_rels/chart65.xml.rels><?xml version='1.0' encoding='UTF-8' standalone='yes'?>
<Relationships xmlns="http://schemas.openxmlformats.org/package/2006/relationships"><Relationship Id="rId2" Type="http://schemas.openxmlformats.org/officeDocument/2006/relationships/image" Target="../media/image364.png"/><Relationship Id="rId3" Type="http://schemas.openxmlformats.org/officeDocument/2006/relationships/image" Target="../media/image365.png"/><Relationship Id="rId4" Type="http://schemas.openxmlformats.org/officeDocument/2006/relationships/image" Target="../media/image366.png"/><Relationship Id="rId5" Type="http://schemas.openxmlformats.org/officeDocument/2006/relationships/image" Target="../media/image367.png"/></Relationships>
</file>

<file path=ppt/charts/_rels/chart66.xml.rels><?xml version='1.0' encoding='UTF-8' standalone='yes'?>
<Relationships xmlns="http://schemas.openxmlformats.org/package/2006/relationships"><Relationship Id="rId2" Type="http://schemas.openxmlformats.org/officeDocument/2006/relationships/image" Target="../media/image368.png"/><Relationship Id="rId3" Type="http://schemas.openxmlformats.org/officeDocument/2006/relationships/image" Target="../media/image369.png"/><Relationship Id="rId4" Type="http://schemas.openxmlformats.org/officeDocument/2006/relationships/image" Target="../media/image370.png"/><Relationship Id="rId5" Type="http://schemas.openxmlformats.org/officeDocument/2006/relationships/image" Target="../media/image371.png"/><Relationship Id="rId6" Type="http://schemas.openxmlformats.org/officeDocument/2006/relationships/image" Target="../media/image372.png"/><Relationship Id="rId7" Type="http://schemas.openxmlformats.org/officeDocument/2006/relationships/image" Target="../media/image373.png"/><Relationship Id="rId8" Type="http://schemas.openxmlformats.org/officeDocument/2006/relationships/image" Target="../media/image374.png"/><Relationship Id="rId9" Type="http://schemas.openxmlformats.org/officeDocument/2006/relationships/image" Target="../media/image375.png"/><Relationship Id="rId10" Type="http://schemas.openxmlformats.org/officeDocument/2006/relationships/image" Target="../media/image376.png"/><Relationship Id="rId11" Type="http://schemas.openxmlformats.org/officeDocument/2006/relationships/image" Target="../media/image377.png"/><Relationship Id="rId12" Type="http://schemas.openxmlformats.org/officeDocument/2006/relationships/image" Target="../media/image378.png"/><Relationship Id="rId13" Type="http://schemas.openxmlformats.org/officeDocument/2006/relationships/image" Target="../media/image379.png"/><Relationship Id="rId14" Type="http://schemas.openxmlformats.org/officeDocument/2006/relationships/image" Target="../media/image380.png"/><Relationship Id="rId15" Type="http://schemas.openxmlformats.org/officeDocument/2006/relationships/image" Target="../media/image381.png"/><Relationship Id="rId16" Type="http://schemas.openxmlformats.org/officeDocument/2006/relationships/image" Target="../media/image382.png"/><Relationship Id="rId17" Type="http://schemas.openxmlformats.org/officeDocument/2006/relationships/image" Target="../media/image383.png"/><Relationship Id="rId18" Type="http://schemas.openxmlformats.org/officeDocument/2006/relationships/image" Target="../media/image384.png"/><Relationship Id="rId19" Type="http://schemas.openxmlformats.org/officeDocument/2006/relationships/image" Target="../media/image385.png"/><Relationship Id="rId20" Type="http://schemas.openxmlformats.org/officeDocument/2006/relationships/image" Target="../media/image386.png"/><Relationship Id="rId21" Type="http://schemas.openxmlformats.org/officeDocument/2006/relationships/image" Target="../media/image387.png"/><Relationship Id="rId22" Type="http://schemas.openxmlformats.org/officeDocument/2006/relationships/image" Target="../media/image388.png"/><Relationship Id="rId23" Type="http://schemas.openxmlformats.org/officeDocument/2006/relationships/image" Target="../media/image389.png"/><Relationship Id="rId24" Type="http://schemas.openxmlformats.org/officeDocument/2006/relationships/image" Target="../media/image390.png"/><Relationship Id="rId25" Type="http://schemas.openxmlformats.org/officeDocument/2006/relationships/image" Target="../media/image391.png"/><Relationship Id="rId26" Type="http://schemas.openxmlformats.org/officeDocument/2006/relationships/image" Target="../media/image392.png"/><Relationship Id="rId27" Type="http://schemas.openxmlformats.org/officeDocument/2006/relationships/image" Target="../media/image393.png"/><Relationship Id="rId28" Type="http://schemas.openxmlformats.org/officeDocument/2006/relationships/image" Target="../media/image394.png"/><Relationship Id="rId29" Type="http://schemas.openxmlformats.org/officeDocument/2006/relationships/image" Target="../media/image395.png"/><Relationship Id="rId30" Type="http://schemas.openxmlformats.org/officeDocument/2006/relationships/image" Target="../media/image396.png"/><Relationship Id="rId31" Type="http://schemas.openxmlformats.org/officeDocument/2006/relationships/image" Target="../media/image397.png"/><Relationship Id="rId32" Type="http://schemas.openxmlformats.org/officeDocument/2006/relationships/image" Target="../media/image398.png"/><Relationship Id="rId33" Type="http://schemas.openxmlformats.org/officeDocument/2006/relationships/image" Target="../media/image399.png"/></Relationships>
</file>

<file path=ppt/charts/_rels/chart67.xml.rels><?xml version='1.0' encoding='UTF-8' standalone='yes'?>
<Relationships xmlns="http://schemas.openxmlformats.org/package/2006/relationships"><Relationship Id="rId2" Type="http://schemas.openxmlformats.org/officeDocument/2006/relationships/image" Target="../media/image400.png"/><Relationship Id="rId3" Type="http://schemas.openxmlformats.org/officeDocument/2006/relationships/image" Target="../media/image401.png"/><Relationship Id="rId4" Type="http://schemas.openxmlformats.org/officeDocument/2006/relationships/image" Target="../media/image402.png"/><Relationship Id="rId5" Type="http://schemas.openxmlformats.org/officeDocument/2006/relationships/image" Target="../media/image403.png"/><Relationship Id="rId6" Type="http://schemas.openxmlformats.org/officeDocument/2006/relationships/image" Target="../media/image404.png"/><Relationship Id="rId7" Type="http://schemas.openxmlformats.org/officeDocument/2006/relationships/image" Target="../media/image405.png"/><Relationship Id="rId8" Type="http://schemas.openxmlformats.org/officeDocument/2006/relationships/image" Target="../media/image406.png"/><Relationship Id="rId9" Type="http://schemas.openxmlformats.org/officeDocument/2006/relationships/image" Target="../media/image407.png"/><Relationship Id="rId10" Type="http://schemas.openxmlformats.org/officeDocument/2006/relationships/image" Target="../media/image408.png"/><Relationship Id="rId11" Type="http://schemas.openxmlformats.org/officeDocument/2006/relationships/image" Target="../media/image409.png"/><Relationship Id="rId12" Type="http://schemas.openxmlformats.org/officeDocument/2006/relationships/image" Target="../media/image410.png"/><Relationship Id="rId13" Type="http://schemas.openxmlformats.org/officeDocument/2006/relationships/image" Target="../media/image411.png"/><Relationship Id="rId14" Type="http://schemas.openxmlformats.org/officeDocument/2006/relationships/image" Target="../media/image412.png"/><Relationship Id="rId15" Type="http://schemas.openxmlformats.org/officeDocument/2006/relationships/image" Target="../media/image413.png"/><Relationship Id="rId16" Type="http://schemas.openxmlformats.org/officeDocument/2006/relationships/image" Target="../media/image414.png"/><Relationship Id="rId17" Type="http://schemas.openxmlformats.org/officeDocument/2006/relationships/image" Target="../media/image415.png"/><Relationship Id="rId18" Type="http://schemas.openxmlformats.org/officeDocument/2006/relationships/image" Target="../media/image416.png"/><Relationship Id="rId19" Type="http://schemas.openxmlformats.org/officeDocument/2006/relationships/image" Target="../media/image417.png"/><Relationship Id="rId20" Type="http://schemas.openxmlformats.org/officeDocument/2006/relationships/image" Target="../media/image418.png"/><Relationship Id="rId21" Type="http://schemas.openxmlformats.org/officeDocument/2006/relationships/image" Target="../media/image419.png"/><Relationship Id="rId22" Type="http://schemas.openxmlformats.org/officeDocument/2006/relationships/image" Target="../media/image420.png"/><Relationship Id="rId23" Type="http://schemas.openxmlformats.org/officeDocument/2006/relationships/image" Target="../media/image421.png"/><Relationship Id="rId24" Type="http://schemas.openxmlformats.org/officeDocument/2006/relationships/image" Target="../media/image422.png"/><Relationship Id="rId25" Type="http://schemas.openxmlformats.org/officeDocument/2006/relationships/image" Target="../media/image423.png"/><Relationship Id="rId26" Type="http://schemas.openxmlformats.org/officeDocument/2006/relationships/image" Target="../media/image424.png"/><Relationship Id="rId27" Type="http://schemas.openxmlformats.org/officeDocument/2006/relationships/image" Target="../media/image425.png"/><Relationship Id="rId28" Type="http://schemas.openxmlformats.org/officeDocument/2006/relationships/image" Target="../media/image426.png"/><Relationship Id="rId29" Type="http://schemas.openxmlformats.org/officeDocument/2006/relationships/image" Target="../media/image427.png"/><Relationship Id="rId30" Type="http://schemas.openxmlformats.org/officeDocument/2006/relationships/image" Target="../media/image428.png"/><Relationship Id="rId31" Type="http://schemas.openxmlformats.org/officeDocument/2006/relationships/image" Target="../media/image429.png"/><Relationship Id="rId32" Type="http://schemas.openxmlformats.org/officeDocument/2006/relationships/image" Target="../media/image430.png"/><Relationship Id="rId33" Type="http://schemas.openxmlformats.org/officeDocument/2006/relationships/image" Target="../media/image431.png"/></Relationships>
</file>

<file path=ppt/charts/_rels/chart68.xml.rels><?xml version='1.0' encoding='UTF-8' standalone='yes'?>
<Relationships xmlns="http://schemas.openxmlformats.org/package/2006/relationships"><Relationship Id="rId2" Type="http://schemas.openxmlformats.org/officeDocument/2006/relationships/image" Target="../media/image437.png"/><Relationship Id="rId3" Type="http://schemas.openxmlformats.org/officeDocument/2006/relationships/image" Target="../media/image438.png"/><Relationship Id="rId4" Type="http://schemas.openxmlformats.org/officeDocument/2006/relationships/image" Target="../media/image439.png"/><Relationship Id="rId5" Type="http://schemas.openxmlformats.org/officeDocument/2006/relationships/image" Target="../media/image440.png"/><Relationship Id="rId6" Type="http://schemas.openxmlformats.org/officeDocument/2006/relationships/image" Target="../media/image441.png"/><Relationship Id="rId7" Type="http://schemas.openxmlformats.org/officeDocument/2006/relationships/image" Target="../media/image442.png"/><Relationship Id="rId8" Type="http://schemas.openxmlformats.org/officeDocument/2006/relationships/image" Target="../media/image443.png"/><Relationship Id="rId9" Type="http://schemas.openxmlformats.org/officeDocument/2006/relationships/image" Target="../media/image444.png"/></Relationships>
</file>

<file path=ppt/charts/_rels/chart74.xml.rels><?xml version='1.0' encoding='UTF-8' standalone='yes'?>
<Relationships xmlns="http://schemas.openxmlformats.org/package/2006/relationships"><Relationship Id="rId2" Type="http://schemas.openxmlformats.org/officeDocument/2006/relationships/image" Target="../media/image445.png"/><Relationship Id="rId3" Type="http://schemas.openxmlformats.org/officeDocument/2006/relationships/image" Target="../media/image446.png"/><Relationship Id="rId4" Type="http://schemas.openxmlformats.org/officeDocument/2006/relationships/image" Target="../media/image447.png"/><Relationship Id="rId5" Type="http://schemas.openxmlformats.org/officeDocument/2006/relationships/image" Target="../media/image448.png"/><Relationship Id="rId6" Type="http://schemas.openxmlformats.org/officeDocument/2006/relationships/image" Target="../media/image449.png"/><Relationship Id="rId7" Type="http://schemas.openxmlformats.org/officeDocument/2006/relationships/image" Target="../media/image450.png"/><Relationship Id="rId8" Type="http://schemas.openxmlformats.org/officeDocument/2006/relationships/image" Target="../media/image451.png"/><Relationship Id="rId9" Type="http://schemas.openxmlformats.org/officeDocument/2006/relationships/image" Target="../media/image452.png"/><Relationship Id="rId10" Type="http://schemas.openxmlformats.org/officeDocument/2006/relationships/image" Target="../media/image453.png"/><Relationship Id="rId11" Type="http://schemas.openxmlformats.org/officeDocument/2006/relationships/image" Target="../media/image454.png"/><Relationship Id="rId12" Type="http://schemas.openxmlformats.org/officeDocument/2006/relationships/image" Target="../media/image455.png"/><Relationship Id="rId13" Type="http://schemas.openxmlformats.org/officeDocument/2006/relationships/image" Target="../media/image456.png"/></Relationships>
</file>

<file path=ppt/charts/_rels/chart75.xml.rels><?xml version='1.0' encoding='UTF-8' standalone='yes'?>
<Relationships xmlns="http://schemas.openxmlformats.org/package/2006/relationships"><Relationship Id="rId2" Type="http://schemas.openxmlformats.org/officeDocument/2006/relationships/image" Target="../media/image468.png"/><Relationship Id="rId3" Type="http://schemas.openxmlformats.org/officeDocument/2006/relationships/image" Target="../media/image469.png"/><Relationship Id="rId4" Type="http://schemas.openxmlformats.org/officeDocument/2006/relationships/image" Target="../media/image470.png"/><Relationship Id="rId5" Type="http://schemas.openxmlformats.org/officeDocument/2006/relationships/image" Target="../media/image471.png"/><Relationship Id="rId6" Type="http://schemas.openxmlformats.org/officeDocument/2006/relationships/image" Target="../media/image472.png"/><Relationship Id="rId7" Type="http://schemas.openxmlformats.org/officeDocument/2006/relationships/image" Target="../media/image473.png"/><Relationship Id="rId8" Type="http://schemas.openxmlformats.org/officeDocument/2006/relationships/image" Target="../media/image474.png"/><Relationship Id="rId9" Type="http://schemas.openxmlformats.org/officeDocument/2006/relationships/image" Target="../media/image475.png"/></Relationships>
</file>

<file path=ppt/charts/_rels/chart81.xml.rels><?xml version='1.0' encoding='UTF-8' standalone='yes'?>
<Relationships xmlns="http://schemas.openxmlformats.org/package/2006/relationships"><Relationship Id="rId2" Type="http://schemas.openxmlformats.org/officeDocument/2006/relationships/image" Target="../media/image476.png"/><Relationship Id="rId3" Type="http://schemas.openxmlformats.org/officeDocument/2006/relationships/image" Target="../media/image477.png"/><Relationship Id="rId4" Type="http://schemas.openxmlformats.org/officeDocument/2006/relationships/image" Target="../media/image478.png"/><Relationship Id="rId5" Type="http://schemas.openxmlformats.org/officeDocument/2006/relationships/image" Target="../media/image479.png"/><Relationship Id="rId6" Type="http://schemas.openxmlformats.org/officeDocument/2006/relationships/image" Target="../media/image480.png"/><Relationship Id="rId7" Type="http://schemas.openxmlformats.org/officeDocument/2006/relationships/image" Target="../media/image481.png"/><Relationship Id="rId8" Type="http://schemas.openxmlformats.org/officeDocument/2006/relationships/image" Target="../media/image482.png"/><Relationship Id="rId9" Type="http://schemas.openxmlformats.org/officeDocument/2006/relationships/image" Target="../media/image483.png"/><Relationship Id="rId10" Type="http://schemas.openxmlformats.org/officeDocument/2006/relationships/image" Target="../media/image484.png"/><Relationship Id="rId11" Type="http://schemas.openxmlformats.org/officeDocument/2006/relationships/image" Target="../media/image485.png"/><Relationship Id="rId12" Type="http://schemas.openxmlformats.org/officeDocument/2006/relationships/image" Target="../media/image486.png"/><Relationship Id="rId13" Type="http://schemas.openxmlformats.org/officeDocument/2006/relationships/image" Target="../media/image487.png"/></Relationships>
</file>

<file path=ppt/charts/_rels/chart82.xml.rels><?xml version='1.0' encoding='UTF-8' standalone='yes'?>
<Relationships xmlns="http://schemas.openxmlformats.org/package/2006/relationships"><Relationship Id="rId2" Type="http://schemas.openxmlformats.org/officeDocument/2006/relationships/image" Target="../media/image491.png"/><Relationship Id="rId3" Type="http://schemas.openxmlformats.org/officeDocument/2006/relationships/image" Target="../media/image492.png"/><Relationship Id="rId4" Type="http://schemas.openxmlformats.org/officeDocument/2006/relationships/image" Target="../media/image493.png"/><Relationship Id="rId5" Type="http://schemas.openxmlformats.org/officeDocument/2006/relationships/image" Target="../media/image494.png"/></Relationships>
</file>

<file path=ppt/charts/_rels/chart86.xml.rels><?xml version='1.0' encoding='UTF-8' standalone='yes'?>
<Relationships xmlns="http://schemas.openxmlformats.org/package/2006/relationships"><Relationship Id="rId2" Type="http://schemas.openxmlformats.org/officeDocument/2006/relationships/image" Target="../media/image495.png"/><Relationship Id="rId3" Type="http://schemas.openxmlformats.org/officeDocument/2006/relationships/image" Target="../media/image496.png"/><Relationship Id="rId4" Type="http://schemas.openxmlformats.org/officeDocument/2006/relationships/image" Target="../media/image497.png"/><Relationship Id="rId5" Type="http://schemas.openxmlformats.org/officeDocument/2006/relationships/image" Target="../media/image498.png"/><Relationship Id="rId6" Type="http://schemas.openxmlformats.org/officeDocument/2006/relationships/image" Target="../media/image499.png"/><Relationship Id="rId7" Type="http://schemas.openxmlformats.org/officeDocument/2006/relationships/image" Target="../media/image500.png"/></Relationships>
</file>

<file path=ppt/charts/_rels/chart87.xml.rels><?xml version='1.0' encoding='UTF-8' standalone='yes'?>
<Relationships xmlns="http://schemas.openxmlformats.org/package/2006/relationships"><Relationship Id="rId2" Type="http://schemas.openxmlformats.org/officeDocument/2006/relationships/image" Target="../media/image508.png"/><Relationship Id="rId3" Type="http://schemas.openxmlformats.org/officeDocument/2006/relationships/image" Target="../media/image509.png"/><Relationship Id="rId4" Type="http://schemas.openxmlformats.org/officeDocument/2006/relationships/image" Target="../media/image510.png"/><Relationship Id="rId5" Type="http://schemas.openxmlformats.org/officeDocument/2006/relationships/image" Target="../media/image511.png"/><Relationship Id="rId6" Type="http://schemas.openxmlformats.org/officeDocument/2006/relationships/image" Target="../media/image512.png"/><Relationship Id="rId7" Type="http://schemas.openxmlformats.org/officeDocument/2006/relationships/image" Target="../media/image513.png"/><Relationship Id="rId8" Type="http://schemas.openxmlformats.org/officeDocument/2006/relationships/image" Target="../media/image514.png"/><Relationship Id="rId9" Type="http://schemas.openxmlformats.org/officeDocument/2006/relationships/image" Target="../media/image515.png"/></Relationships>
</file>

<file path=ppt/charts/_rels/chart93.xml.rels><?xml version='1.0' encoding='UTF-8' standalone='yes'?>
<Relationships xmlns="http://schemas.openxmlformats.org/package/2006/relationships"><Relationship Id="rId2" Type="http://schemas.openxmlformats.org/officeDocument/2006/relationships/image" Target="../media/image516.png"/><Relationship Id="rId3" Type="http://schemas.openxmlformats.org/officeDocument/2006/relationships/image" Target="../media/image517.png"/><Relationship Id="rId4" Type="http://schemas.openxmlformats.org/officeDocument/2006/relationships/image" Target="../media/image518.png"/><Relationship Id="rId5" Type="http://schemas.openxmlformats.org/officeDocument/2006/relationships/image" Target="../media/image519.png"/><Relationship Id="rId6" Type="http://schemas.openxmlformats.org/officeDocument/2006/relationships/image" Target="../media/image520.png"/><Relationship Id="rId7" Type="http://schemas.openxmlformats.org/officeDocument/2006/relationships/image" Target="../media/image521.png"/><Relationship Id="rId8" Type="http://schemas.openxmlformats.org/officeDocument/2006/relationships/image" Target="../media/image522.png"/><Relationship Id="rId9" Type="http://schemas.openxmlformats.org/officeDocument/2006/relationships/image" Target="../media/image523.png"/><Relationship Id="rId10" Type="http://schemas.openxmlformats.org/officeDocument/2006/relationships/image" Target="../media/image524.png"/><Relationship Id="rId11" Type="http://schemas.openxmlformats.org/officeDocument/2006/relationships/image" Target="../media/image525.png"/><Relationship Id="rId12" Type="http://schemas.openxmlformats.org/officeDocument/2006/relationships/image" Target="../media/image526.png"/><Relationship Id="rId13" Type="http://schemas.openxmlformats.org/officeDocument/2006/relationships/image" Target="../media/image527.png"/></Relationships>
</file>

<file path=ppt/charts/_rels/chart94.xml.rels><?xml version='1.0' encoding='UTF-8' standalone='yes'?>
<Relationships xmlns="http://schemas.openxmlformats.org/package/2006/relationships"><Relationship Id="rId2" Type="http://schemas.openxmlformats.org/officeDocument/2006/relationships/image" Target="../media/image535.png"/><Relationship Id="rId3" Type="http://schemas.openxmlformats.org/officeDocument/2006/relationships/image" Target="../media/image536.png"/><Relationship Id="rId4" Type="http://schemas.openxmlformats.org/officeDocument/2006/relationships/image" Target="../media/image537.png"/><Relationship Id="rId5" Type="http://schemas.openxmlformats.org/officeDocument/2006/relationships/image" Target="../media/image538.png"/><Relationship Id="rId6" Type="http://schemas.openxmlformats.org/officeDocument/2006/relationships/image" Target="../media/image539.png"/><Relationship Id="rId7" Type="http://schemas.openxmlformats.org/officeDocument/2006/relationships/image" Target="../media/image540.png"/></Relationships>
</file>

<file path=ppt/charts/_rels/chart99.xml.rels><?xml version='1.0' encoding='UTF-8' standalone='yes'?>
<Relationships xmlns="http://schemas.openxmlformats.org/package/2006/relationships"><Relationship Id="rId2" Type="http://schemas.openxmlformats.org/officeDocument/2006/relationships/image" Target="../media/image541.png"/><Relationship Id="rId3" Type="http://schemas.openxmlformats.org/officeDocument/2006/relationships/image" Target="../media/image542.png"/><Relationship Id="rId4" Type="http://schemas.openxmlformats.org/officeDocument/2006/relationships/image" Target="../media/image543.png"/><Relationship Id="rId5" Type="http://schemas.openxmlformats.org/officeDocument/2006/relationships/image" Target="../media/image544.png"/><Relationship Id="rId6" Type="http://schemas.openxmlformats.org/officeDocument/2006/relationships/image" Target="../media/image545.png"/><Relationship Id="rId7" Type="http://schemas.openxmlformats.org/officeDocument/2006/relationships/image" Target="../media/image546.png"/><Relationship Id="rId8" Type="http://schemas.openxmlformats.org/officeDocument/2006/relationships/image" Target="../media/image547.png"/><Relationship Id="rId9" Type="http://schemas.openxmlformats.org/officeDocument/2006/relationships/image" Target="../media/image548.png"/><Relationship Id="rId10" Type="http://schemas.openxmlformats.org/officeDocument/2006/relationships/image" Target="../media/image549.png"/></Relationships>
</file>

<file path=ppt/charts/_rels/chart100.xml.rels><?xml version='1.0' encoding='UTF-8' standalone='yes'?>
<Relationships xmlns="http://schemas.openxmlformats.org/package/2006/relationships"><Relationship Id="rId2" Type="http://schemas.openxmlformats.org/officeDocument/2006/relationships/image" Target="../media/image554.png"/><Relationship Id="rId3" Type="http://schemas.openxmlformats.org/officeDocument/2006/relationships/image" Target="../media/image555.png"/><Relationship Id="rId4" Type="http://schemas.openxmlformats.org/officeDocument/2006/relationships/image" Target="../media/image556.png"/><Relationship Id="rId5" Type="http://schemas.openxmlformats.org/officeDocument/2006/relationships/image" Target="../media/image557.png"/></Relationships>
</file>

<file path=ppt/charts/_rels/chart104.xml.rels><?xml version='1.0' encoding='UTF-8' standalone='yes'?>
<Relationships xmlns="http://schemas.openxmlformats.org/package/2006/relationships"><Relationship Id="rId2" Type="http://schemas.openxmlformats.org/officeDocument/2006/relationships/image" Target="../media/image558.png"/><Relationship Id="rId3" Type="http://schemas.openxmlformats.org/officeDocument/2006/relationships/image" Target="../media/image559.png"/><Relationship Id="rId4" Type="http://schemas.openxmlformats.org/officeDocument/2006/relationships/image" Target="../media/image560.png"/><Relationship Id="rId5" Type="http://schemas.openxmlformats.org/officeDocument/2006/relationships/image" Target="../media/image561.png"/><Relationship Id="rId6" Type="http://schemas.openxmlformats.org/officeDocument/2006/relationships/image" Target="../media/image562.png"/><Relationship Id="rId7" Type="http://schemas.openxmlformats.org/officeDocument/2006/relationships/image" Target="../media/image563.png"/></Relationships>
</file>

<file path=ppt/charts/_rels/chart139.xml.rels><?xml version='1.0' encoding='UTF-8' standalone='yes'?>
<Relationships xmlns="http://schemas.openxmlformats.org/package/2006/relationships"><Relationship Id="rId2" Type="http://schemas.openxmlformats.org/officeDocument/2006/relationships/image" Target="../media/image564.png"/><Relationship Id="rId3" Type="http://schemas.openxmlformats.org/officeDocument/2006/relationships/image" Target="../media/image565.png"/><Relationship Id="rId4" Type="http://schemas.openxmlformats.org/officeDocument/2006/relationships/image" Target="../media/image566.png"/><Relationship Id="rId5" Type="http://schemas.openxmlformats.org/officeDocument/2006/relationships/image" Target="../media/image567.png"/><Relationship Id="rId6" Type="http://schemas.openxmlformats.org/officeDocument/2006/relationships/image" Target="../media/image568.png"/><Relationship Id="rId7" Type="http://schemas.openxmlformats.org/officeDocument/2006/relationships/image" Target="../media/image569.png"/><Relationship Id="rId8" Type="http://schemas.openxmlformats.org/officeDocument/2006/relationships/image" Target="../media/image570.png"/><Relationship Id="rId9" Type="http://schemas.openxmlformats.org/officeDocument/2006/relationships/image" Target="../media/image571.png"/></Relationships>
</file>

<file path=ppt/charts/_rels/chart140.xml.rels><?xml version='1.0' encoding='UTF-8' standalone='yes'?>
<Relationships xmlns="http://schemas.openxmlformats.org/package/2006/relationships"><Relationship Id="rId2" Type="http://schemas.openxmlformats.org/officeDocument/2006/relationships/image" Target="../media/image572.png"/><Relationship Id="rId3" Type="http://schemas.openxmlformats.org/officeDocument/2006/relationships/image" Target="../media/image573.png"/><Relationship Id="rId4" Type="http://schemas.openxmlformats.org/officeDocument/2006/relationships/image" Target="../media/image574.png"/><Relationship Id="rId5" Type="http://schemas.openxmlformats.org/officeDocument/2006/relationships/image" Target="../media/image575.png"/><Relationship Id="rId6" Type="http://schemas.openxmlformats.org/officeDocument/2006/relationships/image" Target="../media/image576.png"/><Relationship Id="rId7" Type="http://schemas.openxmlformats.org/officeDocument/2006/relationships/image" Target="../media/image577.png"/><Relationship Id="rId8" Type="http://schemas.openxmlformats.org/officeDocument/2006/relationships/image" Target="../media/image578.png"/><Relationship Id="rId9" Type="http://schemas.openxmlformats.org/officeDocument/2006/relationships/image" Target="../media/image579.png"/><Relationship Id="rId10" Type="http://schemas.openxmlformats.org/officeDocument/2006/relationships/image" Target="../media/image580.png"/></Relationships>
</file>

<file path=ppt/charts/_rels/chart141.xml.rels><?xml version='1.0' encoding='UTF-8' standalone='yes'?>
<Relationships xmlns="http://schemas.openxmlformats.org/package/2006/relationships"><Relationship Id="rId2" Type="http://schemas.openxmlformats.org/officeDocument/2006/relationships/image" Target="../media/image581.png"/><Relationship Id="rId3" Type="http://schemas.openxmlformats.org/officeDocument/2006/relationships/image" Target="../media/image582.png"/><Relationship Id="rId4" Type="http://schemas.openxmlformats.org/officeDocument/2006/relationships/image" Target="../media/image583.png"/><Relationship Id="rId5" Type="http://schemas.openxmlformats.org/officeDocument/2006/relationships/image" Target="../media/image584.png"/><Relationship Id="rId6" Type="http://schemas.openxmlformats.org/officeDocument/2006/relationships/image" Target="../media/image585.png"/><Relationship Id="rId7" Type="http://schemas.openxmlformats.org/officeDocument/2006/relationships/image" Target="../media/image586.png"/><Relationship Id="rId8" Type="http://schemas.openxmlformats.org/officeDocument/2006/relationships/image" Target="../media/image587.png"/><Relationship Id="rId9" Type="http://schemas.openxmlformats.org/officeDocument/2006/relationships/image" Target="../media/image588.png"/></Relationships>
</file>

<file path=ppt/charts/_rels/chart142.xml.rels><?xml version='1.0' encoding='UTF-8' standalone='yes'?>
<Relationships xmlns="http://schemas.openxmlformats.org/package/2006/relationships"><Relationship Id="rId2" Type="http://schemas.openxmlformats.org/officeDocument/2006/relationships/image" Target="../media/image589.png"/><Relationship Id="rId3" Type="http://schemas.openxmlformats.org/officeDocument/2006/relationships/image" Target="../media/image590.png"/><Relationship Id="rId4" Type="http://schemas.openxmlformats.org/officeDocument/2006/relationships/image" Target="../media/image591.png"/><Relationship Id="rId5" Type="http://schemas.openxmlformats.org/officeDocument/2006/relationships/image" Target="../media/image592.png"/><Relationship Id="rId6" Type="http://schemas.openxmlformats.org/officeDocument/2006/relationships/image" Target="../media/image593.png"/><Relationship Id="rId7" Type="http://schemas.openxmlformats.org/officeDocument/2006/relationships/image" Target="../media/image594.png"/><Relationship Id="rId8" Type="http://schemas.openxmlformats.org/officeDocument/2006/relationships/image" Target="../media/image595.png"/><Relationship Id="rId9" Type="http://schemas.openxmlformats.org/officeDocument/2006/relationships/image" Target="../media/image596.png"/><Relationship Id="rId10" Type="http://schemas.openxmlformats.org/officeDocument/2006/relationships/image" Target="../media/image597.png"/></Relationships>
</file>

<file path=ppt/charts/_rels/chart143.xml.rels><?xml version='1.0' encoding='UTF-8' standalone='yes'?>
<Relationships xmlns="http://schemas.openxmlformats.org/package/2006/relationships"><Relationship Id="rId2" Type="http://schemas.openxmlformats.org/officeDocument/2006/relationships/image" Target="../media/image598.png"/><Relationship Id="rId3" Type="http://schemas.openxmlformats.org/officeDocument/2006/relationships/image" Target="../media/image599.png"/><Relationship Id="rId4" Type="http://schemas.openxmlformats.org/officeDocument/2006/relationships/image" Target="../media/image600.png"/><Relationship Id="rId5" Type="http://schemas.openxmlformats.org/officeDocument/2006/relationships/image" Target="../media/image601.png"/><Relationship Id="rId6" Type="http://schemas.openxmlformats.org/officeDocument/2006/relationships/image" Target="../media/image602.png"/><Relationship Id="rId7" Type="http://schemas.openxmlformats.org/officeDocument/2006/relationships/image" Target="../media/image603.png"/><Relationship Id="rId8" Type="http://schemas.openxmlformats.org/officeDocument/2006/relationships/image" Target="../media/image604.png"/><Relationship Id="rId9" Type="http://schemas.openxmlformats.org/officeDocument/2006/relationships/image" Target="../media/image605.png"/><Relationship Id="rId10" Type="http://schemas.openxmlformats.org/officeDocument/2006/relationships/image" Target="../media/image606.png"/></Relationships>
</file>

<file path=ppt/charts/_rels/chart144.xml.rels><?xml version='1.0' encoding='UTF-8' standalone='yes'?>
<Relationships xmlns="http://schemas.openxmlformats.org/package/2006/relationships"><Relationship Id="rId2" Type="http://schemas.openxmlformats.org/officeDocument/2006/relationships/image" Target="../media/image607.png"/><Relationship Id="rId3" Type="http://schemas.openxmlformats.org/officeDocument/2006/relationships/image" Target="../media/image608.png"/><Relationship Id="rId4" Type="http://schemas.openxmlformats.org/officeDocument/2006/relationships/image" Target="../media/image609.png"/><Relationship Id="rId5" Type="http://schemas.openxmlformats.org/officeDocument/2006/relationships/image" Target="../media/image610.png"/><Relationship Id="rId6" Type="http://schemas.openxmlformats.org/officeDocument/2006/relationships/image" Target="../media/image611.png"/><Relationship Id="rId7" Type="http://schemas.openxmlformats.org/officeDocument/2006/relationships/image" Target="../media/image612.png"/><Relationship Id="rId8" Type="http://schemas.openxmlformats.org/officeDocument/2006/relationships/image" Target="../media/image613.png"/><Relationship Id="rId9" Type="http://schemas.openxmlformats.org/officeDocument/2006/relationships/image" Target="../media/image614.png"/><Relationship Id="rId10" Type="http://schemas.openxmlformats.org/officeDocument/2006/relationships/image" Target="../media/image615.png"/></Relationships>
</file>

<file path=ppt/charts/_rels/chart145.xml.rels><?xml version='1.0' encoding='UTF-8' standalone='yes'?>
<Relationships xmlns="http://schemas.openxmlformats.org/package/2006/relationships"><Relationship Id="rId2" Type="http://schemas.openxmlformats.org/officeDocument/2006/relationships/image" Target="../media/image616.png"/><Relationship Id="rId3" Type="http://schemas.openxmlformats.org/officeDocument/2006/relationships/image" Target="../media/image617.png"/><Relationship Id="rId4" Type="http://schemas.openxmlformats.org/officeDocument/2006/relationships/image" Target="../media/image618.png"/><Relationship Id="rId5" Type="http://schemas.openxmlformats.org/officeDocument/2006/relationships/image" Target="../media/image619.png"/><Relationship Id="rId6" Type="http://schemas.openxmlformats.org/officeDocument/2006/relationships/image" Target="../media/image620.png"/><Relationship Id="rId7" Type="http://schemas.openxmlformats.org/officeDocument/2006/relationships/image" Target="../media/image621.png"/><Relationship Id="rId8" Type="http://schemas.openxmlformats.org/officeDocument/2006/relationships/image" Target="../media/image622.png"/><Relationship Id="rId9" Type="http://schemas.openxmlformats.org/officeDocument/2006/relationships/image" Target="../media/image623.png"/><Relationship Id="rId10" Type="http://schemas.openxmlformats.org/officeDocument/2006/relationships/image" Target="../media/image624.png"/></Relationships>
</file>

<file path=ppt/charts/_rels/chart146.xml.rels><?xml version='1.0' encoding='UTF-8' standalone='yes'?>
<Relationships xmlns="http://schemas.openxmlformats.org/package/2006/relationships"><Relationship Id="rId2" Type="http://schemas.openxmlformats.org/officeDocument/2006/relationships/image" Target="../media/image625.png"/><Relationship Id="rId3" Type="http://schemas.openxmlformats.org/officeDocument/2006/relationships/image" Target="../media/image626.png"/><Relationship Id="rId4" Type="http://schemas.openxmlformats.org/officeDocument/2006/relationships/image" Target="../media/image627.png"/><Relationship Id="rId5" Type="http://schemas.openxmlformats.org/officeDocument/2006/relationships/image" Target="../media/image628.png"/></Relationships>
</file>

<file path=ppt/charts/_rels/chart147.xml.rels><?xml version='1.0' encoding='UTF-8' standalone='yes'?>
<Relationships xmlns="http://schemas.openxmlformats.org/package/2006/relationships"><Relationship Id="rId2" Type="http://schemas.openxmlformats.org/officeDocument/2006/relationships/image" Target="../media/image629.png"/><Relationship Id="rId3" Type="http://schemas.openxmlformats.org/officeDocument/2006/relationships/image" Target="../media/image630.png"/><Relationship Id="rId4" Type="http://schemas.openxmlformats.org/officeDocument/2006/relationships/image" Target="../media/image631.png"/><Relationship Id="rId5" Type="http://schemas.openxmlformats.org/officeDocument/2006/relationships/image" Target="../media/image632.png"/><Relationship Id="rId6" Type="http://schemas.openxmlformats.org/officeDocument/2006/relationships/image" Target="../media/image633.png"/></Relationships>
</file>

<file path=ppt/charts/_rels/chart148.xml.rels><?xml version='1.0' encoding='UTF-8' standalone='yes'?>
<Relationships xmlns="http://schemas.openxmlformats.org/package/2006/relationships"><Relationship Id="rId2" Type="http://schemas.openxmlformats.org/officeDocument/2006/relationships/image" Target="../media/image634.png"/><Relationship Id="rId3" Type="http://schemas.openxmlformats.org/officeDocument/2006/relationships/image" Target="../media/image635.png"/><Relationship Id="rId4" Type="http://schemas.openxmlformats.org/officeDocument/2006/relationships/image" Target="../media/image636.png"/><Relationship Id="rId5" Type="http://schemas.openxmlformats.org/officeDocument/2006/relationships/image" Target="../media/image637.png"/></Relationships>
</file>

<file path=ppt/charts/_rels/chart149.xml.rels><?xml version='1.0' encoding='UTF-8' standalone='yes'?>
<Relationships xmlns="http://schemas.openxmlformats.org/package/2006/relationships"><Relationship Id="rId2" Type="http://schemas.openxmlformats.org/officeDocument/2006/relationships/image" Target="../media/image638.png"/><Relationship Id="rId3" Type="http://schemas.openxmlformats.org/officeDocument/2006/relationships/image" Target="../media/image639.png"/><Relationship Id="rId4" Type="http://schemas.openxmlformats.org/officeDocument/2006/relationships/image" Target="../media/image640.png"/><Relationship Id="rId5" Type="http://schemas.openxmlformats.org/officeDocument/2006/relationships/image" Target="../media/image641.png"/><Relationship Id="rId6" Type="http://schemas.openxmlformats.org/officeDocument/2006/relationships/image" Target="../media/image642.png"/><Relationship Id="rId7" Type="http://schemas.openxmlformats.org/officeDocument/2006/relationships/image" Target="../media/image643.png"/><Relationship Id="rId8" Type="http://schemas.openxmlformats.org/officeDocument/2006/relationships/image" Target="../media/image644.png"/><Relationship Id="rId9" Type="http://schemas.openxmlformats.org/officeDocument/2006/relationships/image" Target="../media/image645.png"/><Relationship Id="rId10" Type="http://schemas.openxmlformats.org/officeDocument/2006/relationships/image" Target="../media/image646.png"/><Relationship Id="rId11" Type="http://schemas.openxmlformats.org/officeDocument/2006/relationships/image" Target="../media/image647.png"/></Relationships>
</file>

<file path=ppt/charts/_rels/chart150.xml.rels><?xml version='1.0' encoding='UTF-8' standalone='yes'?>
<Relationships xmlns="http://schemas.openxmlformats.org/package/2006/relationships"><Relationship Id="rId2" Type="http://schemas.openxmlformats.org/officeDocument/2006/relationships/image" Target="../media/image648.png"/><Relationship Id="rId3" Type="http://schemas.openxmlformats.org/officeDocument/2006/relationships/image" Target="../media/image649.png"/><Relationship Id="rId4" Type="http://schemas.openxmlformats.org/officeDocument/2006/relationships/image" Target="../media/image650.png"/><Relationship Id="rId5" Type="http://schemas.openxmlformats.org/officeDocument/2006/relationships/image" Target="../media/image651.png"/></Relationships>
</file>

<file path=ppt/charts/_rels/chart151.xml.rels><?xml version='1.0' encoding='UTF-8' standalone='yes'?>
<Relationships xmlns="http://schemas.openxmlformats.org/package/2006/relationships"><Relationship Id="rId2" Type="http://schemas.openxmlformats.org/officeDocument/2006/relationships/image" Target="../media/image652.png"/><Relationship Id="rId3" Type="http://schemas.openxmlformats.org/officeDocument/2006/relationships/image" Target="../media/image653.png"/><Relationship Id="rId4" Type="http://schemas.openxmlformats.org/officeDocument/2006/relationships/image" Target="../media/image654.png"/><Relationship Id="rId5" Type="http://schemas.openxmlformats.org/officeDocument/2006/relationships/image" Target="../media/image655.png"/><Relationship Id="rId6" Type="http://schemas.openxmlformats.org/officeDocument/2006/relationships/image" Target="../media/image656.png"/></Relationships>
</file>

<file path=ppt/charts/_rels/chart152.xml.rels><?xml version='1.0' encoding='UTF-8' standalone='yes'?>
<Relationships xmlns="http://schemas.openxmlformats.org/package/2006/relationships"><Relationship Id="rId2" Type="http://schemas.openxmlformats.org/officeDocument/2006/relationships/image" Target="../media/image657.png"/><Relationship Id="rId3" Type="http://schemas.openxmlformats.org/officeDocument/2006/relationships/image" Target="../media/image658.png"/><Relationship Id="rId4" Type="http://schemas.openxmlformats.org/officeDocument/2006/relationships/image" Target="../media/image659.png"/><Relationship Id="rId5" Type="http://schemas.openxmlformats.org/officeDocument/2006/relationships/image" Target="../media/image660.png"/></Relationships>
</file>

<file path=ppt/charts/_rels/chart153.xml.rels><?xml version='1.0' encoding='UTF-8' standalone='yes'?>
<Relationships xmlns="http://schemas.openxmlformats.org/package/2006/relationships"><Relationship Id="rId2" Type="http://schemas.openxmlformats.org/officeDocument/2006/relationships/image" Target="../media/image661.png"/><Relationship Id="rId3" Type="http://schemas.openxmlformats.org/officeDocument/2006/relationships/image" Target="../media/image662.png"/><Relationship Id="rId4" Type="http://schemas.openxmlformats.org/officeDocument/2006/relationships/image" Target="../media/image663.png"/><Relationship Id="rId5" Type="http://schemas.openxmlformats.org/officeDocument/2006/relationships/image" Target="../media/image664.png"/><Relationship Id="rId6" Type="http://schemas.openxmlformats.org/officeDocument/2006/relationships/image" Target="../media/image665.png"/><Relationship Id="rId7" Type="http://schemas.openxmlformats.org/officeDocument/2006/relationships/image" Target="../media/image666.png"/><Relationship Id="rId8" Type="http://schemas.openxmlformats.org/officeDocument/2006/relationships/image" Target="../media/image667.png"/><Relationship Id="rId9" Type="http://schemas.openxmlformats.org/officeDocument/2006/relationships/image" Target="../media/image668.png"/><Relationship Id="rId10" Type="http://schemas.openxmlformats.org/officeDocument/2006/relationships/image" Target="../media/image669.png"/><Relationship Id="rId11" Type="http://schemas.openxmlformats.org/officeDocument/2006/relationships/image" Target="../media/image670.png"/></Relationships>
</file>

<file path=ppt/charts/_rels/chart154.xml.rels><?xml version='1.0' encoding='UTF-8' standalone='yes'?>
<Relationships xmlns="http://schemas.openxmlformats.org/package/2006/relationships"><Relationship Id="rId2" Type="http://schemas.openxmlformats.org/officeDocument/2006/relationships/image" Target="../media/image671.png"/><Relationship Id="rId3" Type="http://schemas.openxmlformats.org/officeDocument/2006/relationships/image" Target="../media/image672.png"/><Relationship Id="rId4" Type="http://schemas.openxmlformats.org/officeDocument/2006/relationships/image" Target="../media/image673.png"/><Relationship Id="rId5" Type="http://schemas.openxmlformats.org/officeDocument/2006/relationships/image" Target="../media/image674.png"/></Relationships>
</file>

<file path=ppt/charts/_rels/chart155.xml.rels><?xml version='1.0' encoding='UTF-8' standalone='yes'?>
<Relationships xmlns="http://schemas.openxmlformats.org/package/2006/relationships"><Relationship Id="rId2" Type="http://schemas.openxmlformats.org/officeDocument/2006/relationships/image" Target="../media/image675.png"/><Relationship Id="rId3" Type="http://schemas.openxmlformats.org/officeDocument/2006/relationships/image" Target="../media/image676.png"/><Relationship Id="rId4" Type="http://schemas.openxmlformats.org/officeDocument/2006/relationships/image" Target="../media/image677.png"/><Relationship Id="rId5" Type="http://schemas.openxmlformats.org/officeDocument/2006/relationships/image" Target="../media/image678.png"/><Relationship Id="rId6" Type="http://schemas.openxmlformats.org/officeDocument/2006/relationships/image" Target="../media/image679.png"/></Relationships>
</file>

<file path=ppt/charts/_rels/chart156.xml.rels><?xml version='1.0' encoding='UTF-8' standalone='yes'?>
<Relationships xmlns="http://schemas.openxmlformats.org/package/2006/relationships"><Relationship Id="rId2" Type="http://schemas.openxmlformats.org/officeDocument/2006/relationships/image" Target="../media/image680.png"/><Relationship Id="rId3" Type="http://schemas.openxmlformats.org/officeDocument/2006/relationships/image" Target="../media/image681.png"/><Relationship Id="rId4" Type="http://schemas.openxmlformats.org/officeDocument/2006/relationships/image" Target="../media/image682.png"/><Relationship Id="rId5" Type="http://schemas.openxmlformats.org/officeDocument/2006/relationships/image" Target="../media/image683.png"/></Relationships>
</file>

<file path=ppt/charts/_rels/chart157.xml.rels><?xml version='1.0' encoding='UTF-8' standalone='yes'?>
<Relationships xmlns="http://schemas.openxmlformats.org/package/2006/relationships"><Relationship Id="rId2" Type="http://schemas.openxmlformats.org/officeDocument/2006/relationships/image" Target="../media/image684.png"/><Relationship Id="rId3" Type="http://schemas.openxmlformats.org/officeDocument/2006/relationships/image" Target="../media/image685.png"/><Relationship Id="rId4" Type="http://schemas.openxmlformats.org/officeDocument/2006/relationships/image" Target="../media/image686.png"/><Relationship Id="rId5" Type="http://schemas.openxmlformats.org/officeDocument/2006/relationships/image" Target="../media/image687.png"/><Relationship Id="rId6" Type="http://schemas.openxmlformats.org/officeDocument/2006/relationships/image" Target="../media/image688.png"/><Relationship Id="rId7" Type="http://schemas.openxmlformats.org/officeDocument/2006/relationships/image" Target="../media/image689.png"/><Relationship Id="rId8" Type="http://schemas.openxmlformats.org/officeDocument/2006/relationships/image" Target="../media/image690.png"/><Relationship Id="rId9" Type="http://schemas.openxmlformats.org/officeDocument/2006/relationships/image" Target="../media/image691.png"/><Relationship Id="rId10" Type="http://schemas.openxmlformats.org/officeDocument/2006/relationships/image" Target="../media/image692.png"/><Relationship Id="rId11" Type="http://schemas.openxmlformats.org/officeDocument/2006/relationships/image" Target="../media/image693.png"/></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3.215474479243574</c:v>
                </c:pt>
                <c:pt idx="1">
                  <c:v>3.61238926182077</c:v>
                </c:pt>
                <c:pt idx="2">
                  <c:v>3.4799150307714743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768353825603416"/>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2985701.5930000003</c:v>
                </c:pt>
                <c:pt idx="2">
                  <c:v>0.0</c:v>
                </c:pt>
                <c:pt idx="3">
                  <c:v>3497602.628</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2985701.5930000003</c:v>
                </c:pt>
                <c:pt idx="1">
                  <c:v>511901.0349999997</c:v>
                </c:pt>
                <c:pt idx="2">
                  <c:v>3497602.628</c:v>
                </c:pt>
                <c:pt idx="3">
                  <c:v>1489948.3929999997</c:v>
                </c:pt>
                <c:pt idx="4">
                  <c:v>4987551.021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3.9991764270067787</c:v>
                </c:pt>
                <c:pt idx="1">
                  <c:v>4.400292708053355</c:v>
                </c:pt>
                <c:pt idx="2">
                  <c:v>4.26641567809003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808386374630428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924.8689999999999</c:v>
                </c:pt>
                <c:pt idx="2">
                  <c:v>0.0</c:v>
                </c:pt>
                <c:pt idx="3">
                  <c:v>1125.2</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924.8689999999999</c:v>
                </c:pt>
                <c:pt idx="1">
                  <c:v>200.33100000000013</c:v>
                </c:pt>
                <c:pt idx="2">
                  <c:v>1125.2</c:v>
                </c:pt>
                <c:pt idx="3">
                  <c:v>605.6000000000001</c:v>
                </c:pt>
                <c:pt idx="4">
                  <c:v>1730.8000000000002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924.8689999999999</c:v>
                </c:pt>
                <c:pt idx="1">
                  <c:v>958.164</c:v>
                </c:pt>
                <c:pt idx="2">
                  <c:v>994.5740000000001</c:v>
                </c:pt>
                <c:pt idx="3">
                  <c:v>1034.357</c:v>
                </c:pt>
                <c:pt idx="4">
                  <c:v>1077.8</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MM&quot;;&quot;MMMMMMMMMMM&quot;;&quot;MM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2985701.5930000003</c:v>
                </c:pt>
                <c:pt idx="1">
                  <c:v>3069885.951</c:v>
                </c:pt>
                <c:pt idx="2">
                  <c:v>3162546.981</c:v>
                </c:pt>
                <c:pt idx="3">
                  <c:v>3264250.4609999997</c:v>
                </c:pt>
                <c:pt idx="4">
                  <c:v>3375722.052</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27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4665559"/>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1125.2</c:v>
                </c:pt>
                <c:pt idx="1">
                  <c:v>1174.712</c:v>
                </c:pt>
                <c:pt idx="2">
                  <c:v>1226.403</c:v>
                </c:pt>
                <c:pt idx="3">
                  <c:v>1280.368</c:v>
                </c:pt>
                <c:pt idx="4">
                  <c:v>1336.708</c:v>
                </c:pt>
                <c:pt idx="5">
                  <c:v>1395.527</c:v>
                </c:pt>
                <c:pt idx="6">
                  <c:v>1456.9340000000002</c:v>
                </c:pt>
                <c:pt idx="7">
                  <c:v>1521.0439999999999</c:v>
                </c:pt>
                <c:pt idx="8">
                  <c:v>1587.974</c:v>
                </c:pt>
                <c:pt idx="9">
                  <c:v>1657.85</c:v>
                </c:pt>
                <c:pt idx="10">
                  <c:v>1730.8000000000002</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3497602.628</c:v>
                </c:pt>
                <c:pt idx="1">
                  <c:v>3623984.807</c:v>
                </c:pt>
                <c:pt idx="2">
                  <c:v>3754922.3150000004</c:v>
                </c:pt>
                <c:pt idx="3">
                  <c:v>3890585.863</c:v>
                </c:pt>
                <c:pt idx="4">
                  <c:v>4031140.731</c:v>
                </c:pt>
                <c:pt idx="5">
                  <c:v>4176754.3109999998</c:v>
                </c:pt>
                <c:pt idx="6">
                  <c:v>4327640.784</c:v>
                </c:pt>
                <c:pt idx="7">
                  <c:v>4483940.468</c:v>
                </c:pt>
                <c:pt idx="8">
                  <c:v>4645896.989</c:v>
                </c:pt>
                <c:pt idx="9">
                  <c:v>4813703.564</c:v>
                </c:pt>
                <c:pt idx="10">
                  <c:v>4987551.021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04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214180"/>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Mexico</c:v>
                </c:pt>
                <c:pt idx="1">
                  <c:v>China</c:v>
                </c:pt>
                <c:pt idx="2">
                  <c:v>Malaysia</c:v>
                </c:pt>
                <c:pt idx="3">
                  <c:v>Spain</c:v>
                </c:pt>
                <c:pt idx="4">
                  <c:v>Thailand</c:v>
                </c:pt>
                <c:pt idx="5">
                  <c:v>Brazil</c:v>
                </c:pt>
                <c:pt idx="6">
                  <c:v>France</c:v>
                </c:pt>
                <c:pt idx="7">
                  <c:v>Netherlands</c:v>
                </c:pt>
                <c:pt idx="8">
                  <c:v>Germany</c:v>
                </c:pt>
                <c:pt idx="9">
                  <c:v>India</c:v>
                </c:pt>
              </c:strCache>
            </c:strRef>
          </c:cat>
          <c:val>
            <c:numRef>
              <c:numCache>
                <c:formatCode>General</c:formatCode>
                <c:ptCount val="10"/>
                <c:pt idx="0">
                  <c:v>102.1157429214519</c:v>
                </c:pt>
                <c:pt idx="1">
                  <c:v>102.61245026470091</c:v>
                </c:pt>
                <c:pt idx="2">
                  <c:v>107.52830750822118</c:v>
                </c:pt>
                <c:pt idx="3">
                  <c:v>117.05697538804678</c:v>
                </c:pt>
                <c:pt idx="4">
                  <c:v>121.1689882252827</c:v>
                </c:pt>
                <c:pt idx="5">
                  <c:v>121.76545665264453</c:v>
                </c:pt>
                <c:pt idx="6">
                  <c:v>126.74195903623655</c:v>
                </c:pt>
                <c:pt idx="7">
                  <c:v>132.07554966301777</c:v>
                </c:pt>
                <c:pt idx="8">
                  <c:v>135.85362756734023</c:v>
                </c:pt>
                <c:pt idx="9">
                  <c:v>140.790540599514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Thailand</c:v>
                </c:pt>
                <c:pt idx="1">
                  <c:v>Japan</c:v>
                </c:pt>
                <c:pt idx="2">
                  <c:v>U.K.</c:v>
                </c:pt>
                <c:pt idx="3">
                  <c:v>France</c:v>
                </c:pt>
                <c:pt idx="4">
                  <c:v>Brazil</c:v>
                </c:pt>
                <c:pt idx="5">
                  <c:v>India</c:v>
                </c:pt>
                <c:pt idx="6">
                  <c:v>China</c:v>
                </c:pt>
                <c:pt idx="7">
                  <c:v>Canada</c:v>
                </c:pt>
                <c:pt idx="8">
                  <c:v>Germany</c:v>
                </c:pt>
                <c:pt idx="9">
                  <c:v>U.S.</c:v>
                </c:pt>
              </c:strCache>
            </c:strRef>
          </c:cat>
          <c:val>
            <c:numRef>
              <c:numCache>
                <c:formatCode>General</c:formatCode>
                <c:ptCount val="10"/>
                <c:pt idx="0">
                  <c:v>2.778401585204755</c:v>
                </c:pt>
                <c:pt idx="1">
                  <c:v>3.039960369881108</c:v>
                </c:pt>
                <c:pt idx="2">
                  <c:v>3.2810435931307795</c:v>
                </c:pt>
                <c:pt idx="3">
                  <c:v>3.8352047556142668</c:v>
                </c:pt>
                <c:pt idx="4">
                  <c:v>5.5209709379128125</c:v>
                </c:pt>
                <c:pt idx="5">
                  <c:v>7.460039630118888</c:v>
                </c:pt>
                <c:pt idx="6">
                  <c:v>7.737285336856006</c:v>
                </c:pt>
                <c:pt idx="7">
                  <c:v>9.13375165125495</c:v>
                </c:pt>
                <c:pt idx="8">
                  <c:v>14.818031704095109</c:v>
                </c:pt>
                <c:pt idx="9">
                  <c:v>16.062582562747682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431.107</c:v>
                </c:pt>
                <c:pt idx="1">
                  <c:v>302.657</c:v>
                </c:pt>
                <c:pt idx="2">
                  <c:v>529.801</c:v>
                </c:pt>
                <c:pt idx="3">
                  <c:v>467.235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0.05581631449339353</c:v>
                </c:pt>
                <c:pt idx="1">
                  <c:v>0.05630855974502243</c:v>
                </c:pt>
                <c:pt idx="2">
                  <c:v>0.057970896168556066</c:v>
                </c:pt>
                <c:pt idx="3">
                  <c:v>0.05916519612332781</c:v>
                </c:pt>
                <c:pt idx="4">
                  <c:v>0.05822105359151502</c:v>
                </c:pt>
                <c:pt idx="5">
                  <c:v>0.05672010905376134</c:v>
                </c:pt>
                <c:pt idx="6">
                  <c:v>0.054581666567176806</c:v>
                </c:pt>
                <c:pt idx="7">
                  <c:v>0.053113000406579125</c:v>
                </c:pt>
                <c:pt idx="8">
                  <c:v>0.05211237071474334</c:v>
                </c:pt>
                <c:pt idx="9">
                  <c:v>0.05099069710857258</c:v>
                </c:pt>
                <c:pt idx="10">
                  <c:v>0.050054624171048785</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0.039053877112995024</c:v>
                </c:pt>
                <c:pt idx="1">
                  <c:v>0.039851732384235464</c:v>
                </c:pt>
                <c:pt idx="2">
                  <c:v>0.04144744292671636</c:v>
                </c:pt>
                <c:pt idx="3">
                  <c:v>0.04264422583357702</c:v>
                </c:pt>
                <c:pt idx="4">
                  <c:v>0.0440404725582478</c:v>
                </c:pt>
                <c:pt idx="5">
                  <c:v>0.04543671928291857</c:v>
                </c:pt>
                <c:pt idx="6">
                  <c:v>0.046633502189779234</c:v>
                </c:pt>
                <c:pt idx="7">
                  <c:v>0.04703242982539946</c:v>
                </c:pt>
                <c:pt idx="8">
                  <c:v>0.046434038371969126</c:v>
                </c:pt>
                <c:pt idx="9">
                  <c:v>0.0460351107363489</c:v>
                </c:pt>
                <c:pt idx="10">
                  <c:v>0.04543671928291857</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0.02845725513198149</c:v>
                </c:pt>
                <c:pt idx="1">
                  <c:v>0.029618376656434332</c:v>
                </c:pt>
                <c:pt idx="2">
                  <c:v>0.030734839660715912</c:v>
                </c:pt>
                <c:pt idx="3">
                  <c:v>0.03149403450362739</c:v>
                </c:pt>
                <c:pt idx="4">
                  <c:v>0.03227803963552289</c:v>
                </c:pt>
                <c:pt idx="5">
                  <c:v>0.03283875216656209</c:v>
                </c:pt>
                <c:pt idx="6">
                  <c:v>0.03351855408472465</c:v>
                </c:pt>
                <c:pt idx="7">
                  <c:v>0.03409911484695107</c:v>
                </c:pt>
                <c:pt idx="8">
                  <c:v>0.03516595727326458</c:v>
                </c:pt>
                <c:pt idx="9">
                  <c:v>0.036887791328756615</c:v>
                </c:pt>
                <c:pt idx="10">
                  <c:v>0.037954633755070126</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35.5010122665084</c:v>
                </c:pt>
                <c:pt idx="1">
                  <c:v>32.676611650445516</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25.19632393185633</c:v>
                </c:pt>
                <c:pt idx="1">
                  <c:v>26.82632894112704</c:v>
                </c:pt>
              </c:numCache>
            </c:numRef>
          </c:val>
        </c:ser>
        <c:ser>
          <c:idx val="2"/>
          <c:order val="2"/>
          <c:tx>
            <c:strRef>
              <c:strCache>
                <c:ptCount val="1"/>
                <c:pt idx="0">
                  <c:v>East Asia</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12.92819454045767</c:v>
                </c:pt>
                <c:pt idx="1">
                  <c:v>12.813901658531023</c:v>
                </c:pt>
              </c:numCache>
            </c:numRef>
          </c:val>
        </c:ser>
        <c:ser>
          <c:idx val="3"/>
          <c:order val="3"/>
          <c:tx>
            <c:strRef>
              <c:strCache>
                <c:ptCount val="1"/>
                <c:pt idx="0">
                  <c:v>South Asia &amp; Pacific</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11.722180865195758</c:v>
                </c:pt>
                <c:pt idx="1">
                  <c:v>12.742296396049237</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7.941805389105511</c:v>
                </c:pt>
                <c:pt idx="1">
                  <c:v>8.269025705471575</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6.7104830068763315</c:v>
                </c:pt>
                <c:pt idx="1">
                  <c:v>6.671835648375617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32.99999999999999</c:v>
                </c:pt>
                <c:pt idx="1">
                  <c:v>30.269528541714813</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27.00008887308923</c:v>
                </c:pt>
                <c:pt idx="1">
                  <c:v>28.628553270164087</c:v>
                </c:pt>
              </c:numCache>
            </c:numRef>
          </c:val>
        </c:ser>
        <c:ser>
          <c:idx val="2"/>
          <c:order val="2"/>
          <c:tx>
            <c:strRef>
              <c:strCache>
                <c:ptCount val="1"/>
                <c:pt idx="0">
                  <c:v>South Asia &amp; Pacific</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11.99991112691077</c:v>
                </c:pt>
                <c:pt idx="1">
                  <c:v>13.060261150912872</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13.0</c:v>
                </c:pt>
                <c:pt idx="1">
                  <c:v>12.798994684538942</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8.0</c:v>
                </c:pt>
                <c:pt idx="1">
                  <c:v>8.314536630459903</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6.999999999999999</c:v>
                </c:pt>
                <c:pt idx="1">
                  <c:v>6.928125722209383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1101518.448</c:v>
                </c:pt>
                <c:pt idx="1">
                  <c:v>1124091.437</c:v>
                </c:pt>
                <c:pt idx="2">
                  <c:v>1149246.427</c:v>
                </c:pt>
                <c:pt idx="3">
                  <c:v>1177115.154</c:v>
                </c:pt>
                <c:pt idx="4">
                  <c:v>1207879.891</c:v>
                </c:pt>
                <c:pt idx="5">
                  <c:v>1241684.338</c:v>
                </c:pt>
                <c:pt idx="6">
                  <c:v>1276436.119</c:v>
                </c:pt>
                <c:pt idx="7">
                  <c:v>1312042.414</c:v>
                </c:pt>
                <c:pt idx="8">
                  <c:v>1348522.328</c:v>
                </c:pt>
                <c:pt idx="9">
                  <c:v>1385891.187</c:v>
                </c:pt>
                <c:pt idx="10">
                  <c:v>1424163.206</c:v>
                </c:pt>
                <c:pt idx="11">
                  <c:v>1463366.568</c:v>
                </c:pt>
                <c:pt idx="12">
                  <c:v>1503502.321</c:v>
                </c:pt>
                <c:pt idx="13">
                  <c:v>1544604.342</c:v>
                </c:pt>
                <c:pt idx="14">
                  <c:v>1586687.222</c:v>
                </c:pt>
                <c:pt idx="15">
                  <c:v>1629762.678</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729489.258</c:v>
                </c:pt>
                <c:pt idx="1">
                  <c:v>754646.284</c:v>
                </c:pt>
                <c:pt idx="2">
                  <c:v>782203.159</c:v>
                </c:pt>
                <c:pt idx="3">
                  <c:v>812343.222</c:v>
                </c:pt>
                <c:pt idx="4">
                  <c:v>845294.08</c:v>
                </c:pt>
                <c:pt idx="5">
                  <c:v>881267.288</c:v>
                </c:pt>
                <c:pt idx="6">
                  <c:v>918775.489</c:v>
                </c:pt>
                <c:pt idx="7">
                  <c:v>957898.531</c:v>
                </c:pt>
                <c:pt idx="8">
                  <c:v>998707.172</c:v>
                </c:pt>
                <c:pt idx="9">
                  <c:v>1041272.155</c:v>
                </c:pt>
                <c:pt idx="10">
                  <c:v>1085666.133</c:v>
                </c:pt>
                <c:pt idx="11">
                  <c:v>1131975.386</c:v>
                </c:pt>
                <c:pt idx="12">
                  <c:v>1180268.461</c:v>
                </c:pt>
                <c:pt idx="13">
                  <c:v>1230642.49</c:v>
                </c:pt>
                <c:pt idx="14">
                  <c:v>1283183.092</c:v>
                </c:pt>
                <c:pt idx="15">
                  <c:v>1337976.843</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386476.418</c:v>
                </c:pt>
                <c:pt idx="1">
                  <c:v>397341.639</c:v>
                </c:pt>
                <c:pt idx="2">
                  <c:v>409268.037</c:v>
                </c:pt>
                <c:pt idx="3">
                  <c:v>422325.037</c:v>
                </c:pt>
                <c:pt idx="4">
                  <c:v>436602.076</c:v>
                </c:pt>
                <c:pt idx="5">
                  <c:v>452176.872</c:v>
                </c:pt>
                <c:pt idx="6">
                  <c:v>468281.96</c:v>
                </c:pt>
                <c:pt idx="7">
                  <c:v>484917.967</c:v>
                </c:pt>
                <c:pt idx="8">
                  <c:v>502101.397</c:v>
                </c:pt>
                <c:pt idx="9">
                  <c:v>519847.68</c:v>
                </c:pt>
                <c:pt idx="10">
                  <c:v>538172.126</c:v>
                </c:pt>
                <c:pt idx="11">
                  <c:v>557095.661</c:v>
                </c:pt>
                <c:pt idx="12">
                  <c:v>576629.258</c:v>
                </c:pt>
                <c:pt idx="13">
                  <c:v>596796.734</c:v>
                </c:pt>
                <c:pt idx="14">
                  <c:v>617614.93</c:v>
                </c:pt>
                <c:pt idx="15">
                  <c:v>639099.883</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335663.106</c:v>
                </c:pt>
                <c:pt idx="1">
                  <c:v>348015.348</c:v>
                </c:pt>
                <c:pt idx="2">
                  <c:v>361524.999</c:v>
                </c:pt>
                <c:pt idx="3">
                  <c:v>376283.924</c:v>
                </c:pt>
                <c:pt idx="4">
                  <c:v>392405.21</c:v>
                </c:pt>
                <c:pt idx="5">
                  <c:v>409995.306</c:v>
                </c:pt>
                <c:pt idx="6">
                  <c:v>428362.328</c:v>
                </c:pt>
                <c:pt idx="7">
                  <c:v>447554.103</c:v>
                </c:pt>
                <c:pt idx="8">
                  <c:v>467607.952</c:v>
                </c:pt>
                <c:pt idx="9">
                  <c:v>488561.429</c:v>
                </c:pt>
                <c:pt idx="10">
                  <c:v>510453.201</c:v>
                </c:pt>
                <c:pt idx="11">
                  <c:v>533328.597</c:v>
                </c:pt>
                <c:pt idx="12">
                  <c:v>557224.844</c:v>
                </c:pt>
                <c:pt idx="13">
                  <c:v>582192.914</c:v>
                </c:pt>
                <c:pt idx="14">
                  <c:v>608278.626</c:v>
                </c:pt>
                <c:pt idx="15">
                  <c:v>635528.534</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231877.942</c:v>
                </c:pt>
                <c:pt idx="1">
                  <c:v>239508.227</c:v>
                </c:pt>
                <c:pt idx="2">
                  <c:v>247855.575</c:v>
                </c:pt>
                <c:pt idx="3">
                  <c:v>256972.547</c:v>
                </c:pt>
                <c:pt idx="4">
                  <c:v>266924.977</c:v>
                </c:pt>
                <c:pt idx="5">
                  <c:v>277772.794</c:v>
                </c:pt>
                <c:pt idx="6">
                  <c:v>289044.81</c:v>
                </c:pt>
                <c:pt idx="7">
                  <c:v>300757.531</c:v>
                </c:pt>
                <c:pt idx="8">
                  <c:v>312927.838</c:v>
                </c:pt>
                <c:pt idx="9">
                  <c:v>325572.266</c:v>
                </c:pt>
                <c:pt idx="10">
                  <c:v>338707.605</c:v>
                </c:pt>
                <c:pt idx="11">
                  <c:v>352354.528</c:v>
                </c:pt>
                <c:pt idx="12">
                  <c:v>366527.784</c:v>
                </c:pt>
                <c:pt idx="13">
                  <c:v>381250.627</c:v>
                </c:pt>
                <c:pt idx="14">
                  <c:v>396542.292</c:v>
                </c:pt>
                <c:pt idx="15">
                  <c:v>412421.876</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200676.421</c:v>
                </c:pt>
                <c:pt idx="1">
                  <c:v>206283.016</c:v>
                </c:pt>
                <c:pt idx="2">
                  <c:v>212448.784</c:v>
                </c:pt>
                <c:pt idx="3">
                  <c:v>219210.577</c:v>
                </c:pt>
                <c:pt idx="4">
                  <c:v>226615.818</c:v>
                </c:pt>
                <c:pt idx="5">
                  <c:v>234706.03</c:v>
                </c:pt>
                <c:pt idx="6">
                  <c:v>243084.101</c:v>
                </c:pt>
                <c:pt idx="7">
                  <c:v>251751.769</c:v>
                </c:pt>
                <c:pt idx="8">
                  <c:v>260719.176</c:v>
                </c:pt>
                <c:pt idx="9">
                  <c:v>269996.014</c:v>
                </c:pt>
                <c:pt idx="10">
                  <c:v>279592.04</c:v>
                </c:pt>
                <c:pt idx="11">
                  <c:v>289520.044</c:v>
                </c:pt>
                <c:pt idx="12">
                  <c:v>299787.8</c:v>
                </c:pt>
                <c:pt idx="13">
                  <c:v>310409.882</c:v>
                </c:pt>
                <c:pt idx="14">
                  <c:v>321397.402</c:v>
                </c:pt>
                <c:pt idx="15">
                  <c:v>332761.207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317.71</c:v>
                </c:pt>
                <c:pt idx="1">
                  <c:v>326.573</c:v>
                </c:pt>
                <c:pt idx="2">
                  <c:v>336.3</c:v>
                </c:pt>
                <c:pt idx="3">
                  <c:v>346.954</c:v>
                </c:pt>
                <c:pt idx="4">
                  <c:v>358.609</c:v>
                </c:pt>
                <c:pt idx="5">
                  <c:v>371.316</c:v>
                </c:pt>
                <c:pt idx="6">
                  <c:v>384.476</c:v>
                </c:pt>
                <c:pt idx="7">
                  <c:v>398.068</c:v>
                </c:pt>
                <c:pt idx="8">
                  <c:v>412.101</c:v>
                </c:pt>
                <c:pt idx="9">
                  <c:v>426.594</c:v>
                </c:pt>
                <c:pt idx="10">
                  <c:v>441.556</c:v>
                </c:pt>
                <c:pt idx="11">
                  <c:v>457.002</c:v>
                </c:pt>
                <c:pt idx="12">
                  <c:v>472.944</c:v>
                </c:pt>
                <c:pt idx="13">
                  <c:v>489.4</c:v>
                </c:pt>
                <c:pt idx="14">
                  <c:v>506.381</c:v>
                </c:pt>
                <c:pt idx="15">
                  <c:v>523.905</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242.63</c:v>
                </c:pt>
                <c:pt idx="1">
                  <c:v>252.8</c:v>
                </c:pt>
                <c:pt idx="2">
                  <c:v>263.919</c:v>
                </c:pt>
                <c:pt idx="3">
                  <c:v>276.06</c:v>
                </c:pt>
                <c:pt idx="4">
                  <c:v>289.32</c:v>
                </c:pt>
                <c:pt idx="5">
                  <c:v>303.805</c:v>
                </c:pt>
                <c:pt idx="6">
                  <c:v>319.011</c:v>
                </c:pt>
                <c:pt idx="7">
                  <c:v>334.986</c:v>
                </c:pt>
                <c:pt idx="8">
                  <c:v>351.77</c:v>
                </c:pt>
                <c:pt idx="9">
                  <c:v>369.4</c:v>
                </c:pt>
                <c:pt idx="10">
                  <c:v>387.92</c:v>
                </c:pt>
                <c:pt idx="11">
                  <c:v>407.372</c:v>
                </c:pt>
                <c:pt idx="12">
                  <c:v>427.808</c:v>
                </c:pt>
                <c:pt idx="13">
                  <c:v>449.271</c:v>
                </c:pt>
                <c:pt idx="14">
                  <c:v>471.822</c:v>
                </c:pt>
                <c:pt idx="15">
                  <c:v>495.503</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120.782</c:v>
                </c:pt>
                <c:pt idx="1">
                  <c:v>125.038</c:v>
                </c:pt>
                <c:pt idx="2">
                  <c:v>129.682</c:v>
                </c:pt>
                <c:pt idx="3">
                  <c:v>134.747</c:v>
                </c:pt>
                <c:pt idx="4">
                  <c:v>140.266</c:v>
                </c:pt>
                <c:pt idx="5">
                  <c:v>146.276</c:v>
                </c:pt>
                <c:pt idx="6">
                  <c:v>152.535</c:v>
                </c:pt>
                <c:pt idx="7">
                  <c:v>159.049</c:v>
                </c:pt>
                <c:pt idx="8">
                  <c:v>165.825</c:v>
                </c:pt>
                <c:pt idx="9">
                  <c:v>172.875</c:v>
                </c:pt>
                <c:pt idx="10">
                  <c:v>180.209</c:v>
                </c:pt>
                <c:pt idx="11">
                  <c:v>187.84</c:v>
                </c:pt>
                <c:pt idx="12">
                  <c:v>195.773</c:v>
                </c:pt>
                <c:pt idx="13">
                  <c:v>204.023</c:v>
                </c:pt>
                <c:pt idx="14">
                  <c:v>212.604</c:v>
                </c:pt>
                <c:pt idx="15">
                  <c:v>221.525</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106.342</c:v>
                </c:pt>
                <c:pt idx="1">
                  <c:v>111.116</c:v>
                </c:pt>
                <c:pt idx="2">
                  <c:v>116.326</c:v>
                </c:pt>
                <c:pt idx="3">
                  <c:v>122.018</c:v>
                </c:pt>
                <c:pt idx="4">
                  <c:v>128.233</c:v>
                </c:pt>
                <c:pt idx="5">
                  <c:v>135.023</c:v>
                </c:pt>
                <c:pt idx="6">
                  <c:v>142.169</c:v>
                </c:pt>
                <c:pt idx="7">
                  <c:v>149.687</c:v>
                </c:pt>
                <c:pt idx="8">
                  <c:v>157.606</c:v>
                </c:pt>
                <c:pt idx="9">
                  <c:v>165.942</c:v>
                </c:pt>
                <c:pt idx="10">
                  <c:v>174.718</c:v>
                </c:pt>
                <c:pt idx="11">
                  <c:v>183.958</c:v>
                </c:pt>
                <c:pt idx="12">
                  <c:v>193.685</c:v>
                </c:pt>
                <c:pt idx="13">
                  <c:v>203.922</c:v>
                </c:pt>
                <c:pt idx="14">
                  <c:v>214.699</c:v>
                </c:pt>
                <c:pt idx="15">
                  <c:v>226.047</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72.412</c:v>
                </c:pt>
                <c:pt idx="1">
                  <c:v>75.35</c:v>
                </c:pt>
                <c:pt idx="2">
                  <c:v>78.556</c:v>
                </c:pt>
                <c:pt idx="3">
                  <c:v>82.051</c:v>
                </c:pt>
                <c:pt idx="4">
                  <c:v>85.862</c:v>
                </c:pt>
                <c:pt idx="5">
                  <c:v>90.016</c:v>
                </c:pt>
                <c:pt idx="6">
                  <c:v>94.363</c:v>
                </c:pt>
                <c:pt idx="7">
                  <c:v>98.918</c:v>
                </c:pt>
                <c:pt idx="8">
                  <c:v>103.685</c:v>
                </c:pt>
                <c:pt idx="9">
                  <c:v>108.675</c:v>
                </c:pt>
                <c:pt idx="10">
                  <c:v>113.899</c:v>
                </c:pt>
                <c:pt idx="11">
                  <c:v>119.366</c:v>
                </c:pt>
                <c:pt idx="12">
                  <c:v>125.09</c:v>
                </c:pt>
                <c:pt idx="13">
                  <c:v>131.08</c:v>
                </c:pt>
                <c:pt idx="14">
                  <c:v>137.349</c:v>
                </c:pt>
                <c:pt idx="15">
                  <c:v>143.908</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64.993</c:v>
                </c:pt>
                <c:pt idx="1">
                  <c:v>67.287</c:v>
                </c:pt>
                <c:pt idx="2">
                  <c:v>69.791</c:v>
                </c:pt>
                <c:pt idx="3">
                  <c:v>72.527</c:v>
                </c:pt>
                <c:pt idx="4">
                  <c:v>75.51</c:v>
                </c:pt>
                <c:pt idx="5">
                  <c:v>78.764</c:v>
                </c:pt>
                <c:pt idx="6">
                  <c:v>82.158</c:v>
                </c:pt>
                <c:pt idx="7">
                  <c:v>85.695</c:v>
                </c:pt>
                <c:pt idx="8">
                  <c:v>89.381</c:v>
                </c:pt>
                <c:pt idx="9">
                  <c:v>93.222</c:v>
                </c:pt>
                <c:pt idx="10">
                  <c:v>97.225</c:v>
                </c:pt>
                <c:pt idx="11">
                  <c:v>101.396</c:v>
                </c:pt>
                <c:pt idx="12">
                  <c:v>105.744</c:v>
                </c:pt>
                <c:pt idx="13">
                  <c:v>110.278</c:v>
                </c:pt>
                <c:pt idx="14">
                  <c:v>114.995</c:v>
                </c:pt>
                <c:pt idx="15">
                  <c:v>119.912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Cast Metal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25.71635866301955</c:v>
                </c:pt>
                <c:pt idx="1">
                  <c:v>26.452316757928674</c:v>
                </c:pt>
                <c:pt idx="2">
                  <c:v>21.1524658616409</c:v>
                </c:pt>
                <c:pt idx="3">
                  <c:v>21.376085504342022</c:v>
                </c:pt>
                <c:pt idx="4">
                  <c:v>27.784695551792826</c:v>
                </c:pt>
                <c:pt idx="5">
                  <c:v>24.68978154436396</c:v>
                </c:pt>
              </c:numCache>
            </c:numRef>
          </c:val>
        </c:ser>
        <c:ser>
          <c:idx val="1"/>
          <c:order val="1"/>
          <c:tx>
            <c:strRef>
              <c:strCache>
                <c:ptCount val="1"/>
                <c:pt idx="0">
                  <c:v>Acrylic Partial Dentures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17.459470278204016</c:v>
                </c:pt>
                <c:pt idx="1">
                  <c:v>18.36659532479084</c:v>
                </c:pt>
                <c:pt idx="2">
                  <c:v>19.971109355603208</c:v>
                </c:pt>
                <c:pt idx="3">
                  <c:v>18.07632925895942</c:v>
                </c:pt>
                <c:pt idx="4">
                  <c:v>16.881633410897614</c:v>
                </c:pt>
                <c:pt idx="5">
                  <c:v>16.51807102432693</c:v>
                </c:pt>
              </c:numCache>
            </c:numRef>
          </c:val>
        </c:ser>
        <c:ser>
          <c:idx val="2"/>
          <c:order val="2"/>
          <c:tx>
            <c:strRef>
              <c:strCache>
                <c:ptCount val="1"/>
                <c:pt idx="0">
                  <c:v>Flexible Partial Dentures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31.076956434718795</c:v>
                </c:pt>
                <c:pt idx="1">
                  <c:v>30.666120021124605</c:v>
                </c:pt>
                <c:pt idx="2">
                  <c:v>31.476808486626794</c:v>
                </c:pt>
                <c:pt idx="3">
                  <c:v>30.806425212455824</c:v>
                </c:pt>
                <c:pt idx="4">
                  <c:v>29.230700924111456</c:v>
                </c:pt>
                <c:pt idx="5">
                  <c:v>31.341560015651694</c:v>
                </c:pt>
              </c:numCache>
            </c:numRef>
          </c:val>
        </c:ser>
        <c:ser>
          <c:idx val="3"/>
          <c:order val="3"/>
          <c:tx>
            <c:strRef>
              <c:strCache>
                <c:ptCount val="1"/>
                <c:pt idx="0">
                  <c:v>Combination Framework Partial Dentures</c:v>
                </c:pt>
              </c:strCache>
            </c:strRef>
          </c:tx>
          <c:spPr>
            <a:solidFill>
              <a:srgbClr val="40315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25.74721462405764</c:v>
                </c:pt>
                <c:pt idx="1">
                  <c:v>24.514967896155877</c:v>
                </c:pt>
                <c:pt idx="2">
                  <c:v>27.39961629612911</c:v>
                </c:pt>
                <c:pt idx="3">
                  <c:v>29.741160024242753</c:v>
                </c:pt>
                <c:pt idx="4">
                  <c:v>26.102970113198104</c:v>
                </c:pt>
                <c:pt idx="5">
                  <c:v>27.450587415657417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Cast Metal Partial Dentures</c:v>
                </c:pt>
              </c:strCache>
            </c:strRef>
          </c:tx>
          <c:spPr>
            <a:solidFill>
              <a:srgbClr val="3D85C6"/>
            </a:solidFill>
          </c:spPr>
          <c:invertIfNegative val="0"/>
          <c:xVal>
            <c:numRef>
              <c:numCache>
                <c:formatCode>General</c:formatCode>
                <c:ptCount val="1"/>
                <c:pt idx="0">
                  <c:v>144.72589768703983</c:v>
                </c:pt>
              </c:numCache>
            </c:numRef>
          </c:xVal>
          <c:yVal>
            <c:numRef>
              <c:numCache>
                <c:formatCode>General</c:formatCode>
                <c:ptCount val="1"/>
                <c:pt idx="0">
                  <c:v>82.65908282971917</c:v>
                </c:pt>
              </c:numCache>
            </c:numRef>
          </c:yVal>
          <c:bubbleSize>
            <c:numRef>
              <c:numCache>
                <c:formatCode>General</c:formatCode>
                <c:ptCount val="1"/>
                <c:pt idx="0">
                  <c:v>431.107</c:v>
                </c:pt>
              </c:numCache>
            </c:numRef>
          </c:bubbleSize>
          <c:bubble3D val="0"/>
        </c:ser>
        <c:ser>
          <c:idx val="1"/>
          <c:order val="1"/>
          <c:tx>
            <c:strRef>
              <c:strCache>
                <c:ptCount val="1"/>
                <c:pt idx="0">
                  <c:v>Acrylic Partial Dentures</c:v>
                </c:pt>
              </c:strCache>
            </c:strRef>
          </c:tx>
          <c:spPr>
            <a:solidFill>
              <a:srgbClr val="9E7E0A"/>
            </a:solidFill>
          </c:spPr>
          <c:invertIfNegative val="0"/>
          <c:xVal>
            <c:numRef>
              <c:numCache>
                <c:formatCode>General</c:formatCode>
                <c:ptCount val="1"/>
                <c:pt idx="0">
                  <c:v>74.36782573788618</c:v>
                </c:pt>
              </c:numCache>
            </c:numRef>
          </c:xVal>
          <c:yVal>
            <c:numRef>
              <c:numCache>
                <c:formatCode>General</c:formatCode>
                <c:ptCount val="1"/>
                <c:pt idx="0">
                  <c:v>77.97191610380378</c:v>
                </c:pt>
              </c:numCache>
            </c:numRef>
          </c:yVal>
          <c:bubbleSize>
            <c:numRef>
              <c:numCache>
                <c:formatCode>General</c:formatCode>
                <c:ptCount val="1"/>
                <c:pt idx="0">
                  <c:v>302.657</c:v>
                </c:pt>
              </c:numCache>
            </c:numRef>
          </c:bubbleSize>
          <c:bubble3D val="0"/>
        </c:ser>
        <c:ser>
          <c:idx val="2"/>
          <c:order val="2"/>
          <c:tx>
            <c:strRef>
              <c:strCache>
                <c:ptCount val="1"/>
                <c:pt idx="0">
                  <c:v>Flexible Partial Dentures</c:v>
                </c:pt>
              </c:strCache>
            </c:strRef>
          </c:tx>
          <c:spPr>
            <a:solidFill>
              <a:srgbClr val="008189"/>
            </a:solidFill>
          </c:spPr>
          <c:invertIfNegative val="0"/>
          <c:xVal>
            <c:numRef>
              <c:numCache>
                <c:formatCode>General</c:formatCode>
                <c:ptCount val="1"/>
                <c:pt idx="0">
                  <c:v>69.05650410735002</c:v>
                </c:pt>
              </c:numCache>
            </c:numRef>
          </c:xVal>
          <c:yVal>
            <c:numRef>
              <c:numCache>
                <c:formatCode>General</c:formatCode>
                <c:ptCount val="1"/>
                <c:pt idx="0">
                  <c:v>139.6174902239602</c:v>
                </c:pt>
              </c:numCache>
            </c:numRef>
          </c:yVal>
          <c:bubbleSize>
            <c:numRef>
              <c:numCache>
                <c:formatCode>General</c:formatCode>
                <c:ptCount val="1"/>
                <c:pt idx="0">
                  <c:v>529.801</c:v>
                </c:pt>
              </c:numCache>
            </c:numRef>
          </c:bubbleSize>
          <c:bubble3D val="0"/>
        </c:ser>
        <c:ser>
          <c:idx val="3"/>
          <c:order val="3"/>
          <c:tx>
            <c:strRef>
              <c:strCache>
                <c:ptCount val="1"/>
                <c:pt idx="0">
                  <c:v>Combination Framework Partial Dentures</c:v>
                </c:pt>
              </c:strCache>
            </c:strRef>
          </c:tx>
          <c:spPr>
            <a:solidFill>
              <a:srgbClr val="40315E"/>
            </a:solidFill>
          </c:spPr>
          <c:invertIfNegative val="0"/>
          <c:xVal>
            <c:numRef>
              <c:numCache>
                <c:formatCode>General</c:formatCode>
                <c:ptCount val="1"/>
                <c:pt idx="0">
                  <c:v>118.88350952671698</c:v>
                </c:pt>
              </c:numCache>
            </c:numRef>
          </c:xVal>
          <c:yVal>
            <c:numRef>
              <c:numCache>
                <c:formatCode>General</c:formatCode>
                <c:ptCount val="1"/>
                <c:pt idx="0">
                  <c:v>99.75151084251688</c:v>
                </c:pt>
              </c:numCache>
            </c:numRef>
          </c:yVal>
          <c:bubbleSize>
            <c:numRef>
              <c:numCache>
                <c:formatCode>General</c:formatCode>
                <c:ptCount val="1"/>
                <c:pt idx="0">
                  <c:v>467.235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232.52</c:v>
                </c:pt>
                <c:pt idx="2">
                  <c:v>263.314</c:v>
                </c:pt>
                <c:pt idx="3">
                  <c:v>298.042</c:v>
                </c:pt>
                <c:pt idx="4">
                  <c:v>337.197</c:v>
                </c:pt>
                <c:pt idx="5">
                  <c:v>381.349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232.52</c:v>
                </c:pt>
                <c:pt idx="1">
                  <c:v>30.79400000000001</c:v>
                </c:pt>
                <c:pt idx="2">
                  <c:v>34.72799999999995</c:v>
                </c:pt>
                <c:pt idx="3">
                  <c:v>39.15500000000003</c:v>
                </c:pt>
                <c:pt idx="4">
                  <c:v>44.15199999999999</c:v>
                </c:pt>
                <c:pt idx="5">
                  <c:v>49.75800000000004</c:v>
                </c:pt>
                <c:pt idx="6">
                  <c:v>431.107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219.335</c:v>
                </c:pt>
                <c:pt idx="2">
                  <c:v>234.415</c:v>
                </c:pt>
                <c:pt idx="3">
                  <c:v>250.291</c:v>
                </c:pt>
                <c:pt idx="4">
                  <c:v>266.963</c:v>
                </c:pt>
                <c:pt idx="5">
                  <c:v>284.421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219.335</c:v>
                </c:pt>
                <c:pt idx="1">
                  <c:v>15.079999999999984</c:v>
                </c:pt>
                <c:pt idx="2">
                  <c:v>15.876000000000005</c:v>
                </c:pt>
                <c:pt idx="3">
                  <c:v>16.672000000000025</c:v>
                </c:pt>
                <c:pt idx="4">
                  <c:v>17.45799999999997</c:v>
                </c:pt>
                <c:pt idx="5">
                  <c:v>18.23599999999999</c:v>
                </c:pt>
                <c:pt idx="6">
                  <c:v>302.657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392.744</c:v>
                </c:pt>
                <c:pt idx="2">
                  <c:v>418.052</c:v>
                </c:pt>
                <c:pt idx="3">
                  <c:v>444.461</c:v>
                </c:pt>
                <c:pt idx="4">
                  <c:v>471.941</c:v>
                </c:pt>
                <c:pt idx="5">
                  <c:v>500.413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392.744</c:v>
                </c:pt>
                <c:pt idx="1">
                  <c:v>25.307999999999993</c:v>
                </c:pt>
                <c:pt idx="2">
                  <c:v>26.408999999999992</c:v>
                </c:pt>
                <c:pt idx="3">
                  <c:v>27.47999999999996</c:v>
                </c:pt>
                <c:pt idx="4">
                  <c:v>28.472000000000037</c:v>
                </c:pt>
                <c:pt idx="5">
                  <c:v>29.388000000000034</c:v>
                </c:pt>
                <c:pt idx="6">
                  <c:v>529.801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280.601</c:v>
                </c:pt>
                <c:pt idx="2">
                  <c:v>310.622</c:v>
                </c:pt>
                <c:pt idx="3">
                  <c:v>343.914</c:v>
                </c:pt>
                <c:pt idx="4">
                  <c:v>380.833</c:v>
                </c:pt>
                <c:pt idx="5">
                  <c:v>421.791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280.601</c:v>
                </c:pt>
                <c:pt idx="1">
                  <c:v>30.021000000000015</c:v>
                </c:pt>
                <c:pt idx="2">
                  <c:v>33.29199999999997</c:v>
                </c:pt>
                <c:pt idx="3">
                  <c:v>36.91900000000004</c:v>
                </c:pt>
                <c:pt idx="4">
                  <c:v>40.95799999999997</c:v>
                </c:pt>
                <c:pt idx="5">
                  <c:v>45.44400000000002</c:v>
                </c:pt>
                <c:pt idx="6">
                  <c:v>467.235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Flexible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36.86186908632466</c:v>
                </c:pt>
                <c:pt idx="1">
                  <c:v>34.90437255599005</c:v>
                </c:pt>
                <c:pt idx="2">
                  <c:v>30.610180263461984</c:v>
                </c:pt>
              </c:numCache>
            </c:numRef>
          </c:val>
        </c:ser>
        <c:ser>
          <c:idx val="1"/>
          <c:order val="1"/>
          <c:tx>
            <c:strRef>
              <c:strCache>
                <c:ptCount val="1"/>
                <c:pt idx="0">
                  <c:v>Combination Framework Partial Dentures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24.00512937507907</c:v>
                </c:pt>
                <c:pt idx="1">
                  <c:v>24.93787771062922</c:v>
                </c:pt>
                <c:pt idx="2">
                  <c:v>26.99532008319852</c:v>
                </c:pt>
              </c:numCache>
            </c:numRef>
          </c:val>
        </c:ser>
        <c:ser>
          <c:idx val="2"/>
          <c:order val="2"/>
          <c:tx>
            <c:strRef>
              <c:strCache>
                <c:ptCount val="1"/>
                <c:pt idx="0">
                  <c:v>Cast Metal Partial Dentures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18.73735631748929</c:v>
                </c:pt>
                <c:pt idx="1">
                  <c:v>20.664770707429792</c:v>
                </c:pt>
                <c:pt idx="2">
                  <c:v>24.907961636237577</c:v>
                </c:pt>
              </c:numCache>
            </c:numRef>
          </c:val>
        </c:ser>
        <c:ser>
          <c:idx val="3"/>
          <c:order val="3"/>
          <c:tx>
            <c:strRef>
              <c:strCache>
                <c:ptCount val="1"/>
                <c:pt idx="0">
                  <c:v>Acrylic Partial Dentures</c:v>
                </c:pt>
              </c:strCache>
            </c:strRef>
          </c:tx>
          <c:spPr>
            <a:solidFill>
              <a:srgbClr val="40315E"/>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20.395645221106992</c:v>
                </c:pt>
                <c:pt idx="1">
                  <c:v>19.492979025950945</c:v>
                </c:pt>
                <c:pt idx="2">
                  <c:v>17.486538017101914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Metal Alloys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28.208186003068924</c:v>
                </c:pt>
                <c:pt idx="1">
                  <c:v>30.099091085971597</c:v>
                </c:pt>
                <c:pt idx="2">
                  <c:v>28.07312944362939</c:v>
                </c:pt>
                <c:pt idx="3">
                  <c:v>29.232858653288922</c:v>
                </c:pt>
                <c:pt idx="4">
                  <c:v>28.546345834434906</c:v>
                </c:pt>
                <c:pt idx="5">
                  <c:v>28.548114639104412</c:v>
                </c:pt>
              </c:numCache>
            </c:numRef>
          </c:val>
        </c:ser>
        <c:ser>
          <c:idx val="1"/>
          <c:order val="1"/>
          <c:tx>
            <c:strRef>
              <c:strCache>
                <c:ptCount val="1"/>
                <c:pt idx="0">
                  <c:v>Acrylic / Resin</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42.6954766829008</c:v>
                </c:pt>
                <c:pt idx="1">
                  <c:v>43.10601217444479</c:v>
                </c:pt>
                <c:pt idx="2">
                  <c:v>44.39679494413723</c:v>
                </c:pt>
                <c:pt idx="3">
                  <c:v>43.05166624640009</c:v>
                </c:pt>
                <c:pt idx="4">
                  <c:v>43.73031041184413</c:v>
                </c:pt>
                <c:pt idx="5">
                  <c:v>44.97876523415504</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19.24411234905598</c:v>
                </c:pt>
                <c:pt idx="1">
                  <c:v>17.402090224309976</c:v>
                </c:pt>
                <c:pt idx="2">
                  <c:v>19.026746416882972</c:v>
                </c:pt>
                <c:pt idx="3">
                  <c:v>17.618017491937522</c:v>
                </c:pt>
                <c:pt idx="4">
                  <c:v>18.50846513542804</c:v>
                </c:pt>
                <c:pt idx="5">
                  <c:v>17.04316622288392</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9.852224964974317</c:v>
                </c:pt>
                <c:pt idx="1">
                  <c:v>9.392806515273648</c:v>
                </c:pt>
                <c:pt idx="2">
                  <c:v>8.503329195350412</c:v>
                </c:pt>
                <c:pt idx="3">
                  <c:v>10.097457608373482</c:v>
                </c:pt>
                <c:pt idx="4">
                  <c:v>9.214878618292927</c:v>
                </c:pt>
                <c:pt idx="5">
                  <c:v>9.429953903856614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Metal Alloys</c:v>
                </c:pt>
              </c:strCache>
            </c:strRef>
          </c:tx>
          <c:spPr>
            <a:solidFill>
              <a:srgbClr val="3D85C6"/>
            </a:solidFill>
          </c:spPr>
          <c:invertIfNegative val="0"/>
          <c:xVal>
            <c:numRef>
              <c:numCache>
                <c:formatCode>General</c:formatCode>
                <c:ptCount val="1"/>
                <c:pt idx="0">
                  <c:v>98.58426015904568</c:v>
                </c:pt>
              </c:numCache>
            </c:numRef>
          </c:xVal>
          <c:yVal>
            <c:numRef>
              <c:numCache>
                <c:formatCode>General</c:formatCode>
                <c:ptCount val="1"/>
                <c:pt idx="0">
                  <c:v>115.41343761109135</c:v>
                </c:pt>
              </c:numCache>
            </c:numRef>
          </c:yVal>
          <c:bubbleSize>
            <c:numRef>
              <c:numCache>
                <c:formatCode>General</c:formatCode>
                <c:ptCount val="1"/>
                <c:pt idx="0">
                  <c:v>496.422</c:v>
                </c:pt>
              </c:numCache>
            </c:numRef>
          </c:bubbleSize>
          <c:bubble3D val="0"/>
        </c:ser>
        <c:ser>
          <c:idx val="1"/>
          <c:order val="1"/>
          <c:tx>
            <c:strRef>
              <c:strCache>
                <c:ptCount val="1"/>
                <c:pt idx="0">
                  <c:v>Acrylic / Resin</c:v>
                </c:pt>
              </c:strCache>
            </c:strRef>
          </c:tx>
          <c:spPr>
            <a:solidFill>
              <a:srgbClr val="9E7E0A"/>
            </a:solidFill>
          </c:spPr>
          <c:invertIfNegative val="0"/>
          <c:xVal>
            <c:numRef>
              <c:numCache>
                <c:formatCode>General</c:formatCode>
                <c:ptCount val="1"/>
                <c:pt idx="0">
                  <c:v>102.76104758452247</c:v>
                </c:pt>
              </c:numCache>
            </c:numRef>
          </c:xVal>
          <c:yVal>
            <c:numRef>
              <c:numCache>
                <c:formatCode>General</c:formatCode>
                <c:ptCount val="1"/>
                <c:pt idx="0">
                  <c:v>173.8908638464273</c:v>
                </c:pt>
              </c:numCache>
            </c:numRef>
          </c:yVal>
          <c:bubbleSize>
            <c:numRef>
              <c:numCache>
                <c:formatCode>General</c:formatCode>
                <c:ptCount val="1"/>
                <c:pt idx="0">
                  <c:v>761.228</c:v>
                </c:pt>
              </c:numCache>
            </c:numRef>
          </c:bubbleSize>
          <c:bubble3D val="0"/>
        </c:ser>
        <c:ser>
          <c:idx val="2"/>
          <c:order val="2"/>
          <c:tx>
            <c:strRef>
              <c:strCache>
                <c:ptCount val="1"/>
                <c:pt idx="0">
                  <c:v>Flexible Thermoplastics</c:v>
                </c:pt>
              </c:strCache>
            </c:strRef>
          </c:tx>
          <c:spPr>
            <a:solidFill>
              <a:srgbClr val="008189"/>
            </a:solidFill>
          </c:spPr>
          <c:invertIfNegative val="0"/>
          <c:xVal>
            <c:numRef>
              <c:numCache>
                <c:formatCode>General</c:formatCode>
                <c:ptCount val="1"/>
                <c:pt idx="0">
                  <c:v>92.27410639855349</c:v>
                </c:pt>
              </c:numCache>
            </c:numRef>
          </c:xVal>
          <c:yVal>
            <c:numRef>
              <c:numCache>
                <c:formatCode>General</c:formatCode>
                <c:ptCount val="1"/>
                <c:pt idx="0">
                  <c:v>74.27941699253465</c:v>
                </c:pt>
              </c:numCache>
            </c:numRef>
          </c:yVal>
          <c:bubbleSize>
            <c:numRef>
              <c:numCache>
                <c:formatCode>General</c:formatCode>
                <c:ptCount val="1"/>
                <c:pt idx="0">
                  <c:v>311.09299999999996</c:v>
                </c:pt>
              </c:numCache>
            </c:numRef>
          </c:bubbleSize>
          <c:bubble3D val="0"/>
        </c:ser>
        <c:ser>
          <c:idx val="3"/>
          <c:order val="3"/>
          <c:tx>
            <c:strRef>
              <c:strCache>
                <c:ptCount val="1"/>
                <c:pt idx="0">
                  <c:v>High-performance Polymers</c:v>
                </c:pt>
              </c:strCache>
            </c:strRef>
          </c:tx>
          <c:spPr>
            <a:solidFill>
              <a:srgbClr val="40315E"/>
            </a:solidFill>
          </c:spPr>
          <c:invertIfNegative val="0"/>
          <c:xVal>
            <c:numRef>
              <c:numCache>
                <c:formatCode>General</c:formatCode>
                <c:ptCount val="1"/>
                <c:pt idx="0">
                  <c:v>106.66624899777055</c:v>
                </c:pt>
              </c:numCache>
            </c:numRef>
          </c:xVal>
          <c:yVal>
            <c:numRef>
              <c:numCache>
                <c:formatCode>General</c:formatCode>
                <c:ptCount val="1"/>
                <c:pt idx="0">
                  <c:v>36.416281549946675</c:v>
                </c:pt>
              </c:numCache>
            </c:numRef>
          </c:yVal>
          <c:bubbleSize>
            <c:numRef>
              <c:numCache>
                <c:formatCode>General</c:formatCode>
                <c:ptCount val="1"/>
                <c:pt idx="0">
                  <c:v>162.057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324.658</c:v>
                </c:pt>
                <c:pt idx="2">
                  <c:v>353.39300000000003</c:v>
                </c:pt>
                <c:pt idx="3">
                  <c:v>384.693</c:v>
                </c:pt>
                <c:pt idx="4">
                  <c:v>418.794</c:v>
                </c:pt>
                <c:pt idx="5">
                  <c:v>455.944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324.658</c:v>
                </c:pt>
                <c:pt idx="1">
                  <c:v>28.735000000000014</c:v>
                </c:pt>
                <c:pt idx="2">
                  <c:v>31.299999999999955</c:v>
                </c:pt>
                <c:pt idx="3">
                  <c:v>34.101</c:v>
                </c:pt>
                <c:pt idx="4">
                  <c:v>37.150000000000034</c:v>
                </c:pt>
                <c:pt idx="5">
                  <c:v>40.47800000000001</c:v>
                </c:pt>
                <c:pt idx="6">
                  <c:v>496.422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489.155</c:v>
                </c:pt>
                <c:pt idx="2">
                  <c:v>534.396</c:v>
                </c:pt>
                <c:pt idx="3">
                  <c:v>583.825</c:v>
                </c:pt>
                <c:pt idx="4">
                  <c:v>637.813</c:v>
                </c:pt>
                <c:pt idx="5">
                  <c:v>696.801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489.155</c:v>
                </c:pt>
                <c:pt idx="1">
                  <c:v>45.240999999999985</c:v>
                </c:pt>
                <c:pt idx="2">
                  <c:v>49.42900000000009</c:v>
                </c:pt>
                <c:pt idx="3">
                  <c:v>53.98799999999994</c:v>
                </c:pt>
                <c:pt idx="4">
                  <c:v>58.988000000000056</c:v>
                </c:pt>
                <c:pt idx="5">
                  <c:v>64.42699999999991</c:v>
                </c:pt>
                <c:pt idx="6">
                  <c:v>761.228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208.94799999999998</c:v>
                </c:pt>
                <c:pt idx="2">
                  <c:v>226.33499999999998</c:v>
                </c:pt>
                <c:pt idx="3">
                  <c:v>245.12600000000003</c:v>
                </c:pt>
                <c:pt idx="4">
                  <c:v>265.444</c:v>
                </c:pt>
                <c:pt idx="5">
                  <c:v>287.383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208.94799999999998</c:v>
                </c:pt>
                <c:pt idx="1">
                  <c:v>17.387</c:v>
                </c:pt>
                <c:pt idx="2">
                  <c:v>18.791000000000054</c:v>
                </c:pt>
                <c:pt idx="3">
                  <c:v>20.317999999999984</c:v>
                </c:pt>
                <c:pt idx="4">
                  <c:v>21.938999999999965</c:v>
                </c:pt>
                <c:pt idx="5">
                  <c:v>23.70999999999998</c:v>
                </c:pt>
                <c:pt idx="6">
                  <c:v>311.09299999999996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102.439</c:v>
                </c:pt>
                <c:pt idx="2">
                  <c:v>112.279</c:v>
                </c:pt>
                <c:pt idx="3">
                  <c:v>123.06400000000001</c:v>
                </c:pt>
                <c:pt idx="4">
                  <c:v>134.883</c:v>
                </c:pt>
                <c:pt idx="5">
                  <c:v>147.846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102.439</c:v>
                </c:pt>
                <c:pt idx="1">
                  <c:v>9.840000000000003</c:v>
                </c:pt>
                <c:pt idx="2">
                  <c:v>10.78500000000001</c:v>
                </c:pt>
                <c:pt idx="3">
                  <c:v>11.819000000000003</c:v>
                </c:pt>
                <c:pt idx="4">
                  <c:v>12.962999999999994</c:v>
                </c:pt>
                <c:pt idx="5">
                  <c:v>14.210999999999984</c:v>
                </c:pt>
                <c:pt idx="6">
                  <c:v>162.057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Acrylic / Resin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43.22049933558158</c:v>
                </c:pt>
                <c:pt idx="1">
                  <c:v>43.47271596160682</c:v>
                </c:pt>
                <c:pt idx="2">
                  <c:v>43.98128033279408</c:v>
                </c:pt>
              </c:numCache>
            </c:numRef>
          </c:val>
        </c:ser>
        <c:ser>
          <c:idx val="1"/>
          <c:order val="1"/>
          <c:tx>
            <c:strRef>
              <c:strCache>
                <c:ptCount val="1"/>
                <c:pt idx="0">
                  <c:v>Metal Alloys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28.95383021811737</c:v>
                </c:pt>
                <c:pt idx="1">
                  <c:v>28.85335940277284</c:v>
                </c:pt>
                <c:pt idx="2">
                  <c:v>28.68165010399815</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18.847425959784577</c:v>
                </c:pt>
                <c:pt idx="1">
                  <c:v>18.569854248133662</c:v>
                </c:pt>
                <c:pt idx="2">
                  <c:v>17.973942685463367</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8.97824448651647</c:v>
                </c:pt>
                <c:pt idx="1">
                  <c:v>9.104070387486669</c:v>
                </c:pt>
                <c:pt idx="2">
                  <c:v>9.363126877744394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Conventional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45.34658749749817</c:v>
                </c:pt>
                <c:pt idx="1">
                  <c:v>46.57558996025238</c:v>
                </c:pt>
                <c:pt idx="2">
                  <c:v>45.170071098070196</c:v>
                </c:pt>
                <c:pt idx="3">
                  <c:v>48.16476219547262</c:v>
                </c:pt>
                <c:pt idx="4">
                  <c:v>50.408171090790574</c:v>
                </c:pt>
                <c:pt idx="5">
                  <c:v>40.66366994016091</c:v>
                </c:pt>
              </c:numCache>
            </c:numRef>
          </c:val>
        </c:ser>
        <c:ser>
          <c:idx val="1"/>
          <c:order val="1"/>
          <c:tx>
            <c:strRef>
              <c:strCache>
                <c:ptCount val="1"/>
                <c:pt idx="0">
                  <c:v>Digital Fabrication</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54.65341250250183</c:v>
                </c:pt>
                <c:pt idx="1">
                  <c:v>53.42441003974761</c:v>
                </c:pt>
                <c:pt idx="2">
                  <c:v>54.829928901929804</c:v>
                </c:pt>
                <c:pt idx="3">
                  <c:v>51.83523780452738</c:v>
                </c:pt>
                <c:pt idx="4">
                  <c:v>49.591828909209426</c:v>
                </c:pt>
                <c:pt idx="5">
                  <c:v>59.33633005983909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Conventional Fabrication</c:v>
                </c:pt>
              </c:strCache>
            </c:strRef>
          </c:tx>
          <c:spPr>
            <a:solidFill>
              <a:srgbClr val="3D85C6"/>
            </a:solidFill>
          </c:spPr>
          <c:invertIfNegative val="0"/>
          <c:xVal>
            <c:numRef>
              <c:numCache>
                <c:formatCode>General</c:formatCode>
                <c:ptCount val="1"/>
                <c:pt idx="0">
                  <c:v>130.8978683401889</c:v>
                </c:pt>
              </c:numCache>
            </c:numRef>
          </c:xVal>
          <c:yVal>
            <c:numRef>
              <c:numCache>
                <c:formatCode>General</c:formatCode>
                <c:ptCount val="1"/>
                <c:pt idx="0">
                  <c:v>80.52808389619624</c:v>
                </c:pt>
              </c:numCache>
            </c:numRef>
          </c:yVal>
          <c:bubbleSize>
            <c:numRef>
              <c:numCache>
                <c:formatCode>General</c:formatCode>
                <c:ptCount val="1"/>
                <c:pt idx="0">
                  <c:v>793.153</c:v>
                </c:pt>
              </c:numCache>
            </c:numRef>
          </c:bubbleSize>
          <c:bubble3D val="0"/>
        </c:ser>
        <c:ser>
          <c:idx val="1"/>
          <c:order val="1"/>
          <c:tx>
            <c:strRef>
              <c:strCache>
                <c:ptCount val="1"/>
                <c:pt idx="0">
                  <c:v>Digital Fabrication</c:v>
                </c:pt>
              </c:strCache>
            </c:strRef>
          </c:tx>
          <c:spPr>
            <a:solidFill>
              <a:srgbClr val="9E7E0A"/>
            </a:solidFill>
          </c:spPr>
          <c:invertIfNegative val="0"/>
          <c:xVal>
            <c:numRef>
              <c:numCache>
                <c:formatCode>General</c:formatCode>
                <c:ptCount val="1"/>
                <c:pt idx="0">
                  <c:v>76.92588416104496</c:v>
                </c:pt>
              </c:numCache>
            </c:numRef>
          </c:xVal>
          <c:yVal>
            <c:numRef>
              <c:numCache>
                <c:formatCode>General</c:formatCode>
                <c:ptCount val="1"/>
                <c:pt idx="0">
                  <c:v>119.47191610380376</c:v>
                </c:pt>
              </c:numCache>
            </c:numRef>
          </c:yVal>
          <c:bubbleSize>
            <c:numRef>
              <c:numCache>
                <c:formatCode>General</c:formatCode>
                <c:ptCount val="1"/>
                <c:pt idx="0">
                  <c:v>937.6469999999999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453.05100000000004</c:v>
                </c:pt>
                <c:pt idx="2">
                  <c:v>506.82000000000005</c:v>
                </c:pt>
                <c:pt idx="3">
                  <c:v>566.924</c:v>
                </c:pt>
                <c:pt idx="4">
                  <c:v>634.115</c:v>
                </c:pt>
                <c:pt idx="5">
                  <c:v>709.207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453.05100000000004</c:v>
                </c:pt>
                <c:pt idx="1">
                  <c:v>53.769000000000005</c:v>
                </c:pt>
                <c:pt idx="2">
                  <c:v>60.10399999999993</c:v>
                </c:pt>
                <c:pt idx="3">
                  <c:v>67.19100000000003</c:v>
                </c:pt>
                <c:pt idx="4">
                  <c:v>75.09199999999998</c:v>
                </c:pt>
                <c:pt idx="5">
                  <c:v>83.94600000000003</c:v>
                </c:pt>
                <c:pt idx="6">
                  <c:v>793.153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672.149</c:v>
                </c:pt>
                <c:pt idx="2">
                  <c:v>719.583</c:v>
                </c:pt>
                <c:pt idx="3">
                  <c:v>769.784</c:v>
                </c:pt>
                <c:pt idx="4">
                  <c:v>822.8190000000001</c:v>
                </c:pt>
                <c:pt idx="5">
                  <c:v>878.767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672.149</c:v>
                </c:pt>
                <c:pt idx="1">
                  <c:v>47.43399999999997</c:v>
                </c:pt>
                <c:pt idx="2">
                  <c:v>50.20100000000002</c:v>
                </c:pt>
                <c:pt idx="3">
                  <c:v>53.03500000000008</c:v>
                </c:pt>
                <c:pt idx="4">
                  <c:v>55.94799999999998</c:v>
                </c:pt>
                <c:pt idx="5">
                  <c:v>58.87999999999988</c:v>
                </c:pt>
                <c:pt idx="6">
                  <c:v>937.6469999999999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Digital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62.28828082679817</c:v>
                </c:pt>
                <c:pt idx="1">
                  <c:v>59.73595805190188</c:v>
                </c:pt>
                <c:pt idx="2">
                  <c:v>54.17419690316616</c:v>
                </c:pt>
              </c:numCache>
            </c:numRef>
          </c:val>
        </c:ser>
        <c:ser>
          <c:idx val="1"/>
          <c:order val="1"/>
          <c:tx>
            <c:strRef>
              <c:strCache>
                <c:ptCount val="1"/>
                <c:pt idx="0">
                  <c:v>Conventional Fabrication</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37.71171917320182</c:v>
                </c:pt>
                <c:pt idx="1">
                  <c:v>40.26404194809812</c:v>
                </c:pt>
                <c:pt idx="2">
                  <c:v>45.82580309683383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Dental Clinics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15.321235572753352</c:v>
                </c:pt>
                <c:pt idx="1">
                  <c:v>11.971537371098204</c:v>
                </c:pt>
                <c:pt idx="2">
                  <c:v>14.58029567768875</c:v>
                </c:pt>
                <c:pt idx="3">
                  <c:v>14.546532358314861</c:v>
                </c:pt>
                <c:pt idx="4">
                  <c:v>14.951473553136912</c:v>
                </c:pt>
                <c:pt idx="5">
                  <c:v>10.88689743369504</c:v>
                </c:pt>
              </c:numCache>
            </c:numRef>
          </c:val>
        </c:ser>
        <c:ser>
          <c:idx val="1"/>
          <c:order val="1"/>
          <c:tx>
            <c:strRef>
              <c:strCache>
                <c:ptCount val="1"/>
                <c:pt idx="0">
                  <c:v>Dental Hospitals</c:v>
                </c:pt>
              </c:strCache>
            </c:strRef>
          </c:tx>
          <c:spPr>
            <a:solidFill>
              <a:srgbClr val="9E7E0A"/>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9.19424244445927</c:v>
                </c:pt>
                <c:pt idx="1">
                  <c:v>8.421352530783558</c:v>
                </c:pt>
                <c:pt idx="2">
                  <c:v>8.248730391603656</c:v>
                </c:pt>
                <c:pt idx="3">
                  <c:v>8.963180223581821</c:v>
                </c:pt>
                <c:pt idx="4">
                  <c:v>8.181786992207918</c:v>
                </c:pt>
                <c:pt idx="5">
                  <c:v>8.335671543505025</c:v>
                </c:pt>
              </c:numCache>
            </c:numRef>
          </c:val>
        </c:ser>
        <c:ser>
          <c:idx val="2"/>
          <c:order val="2"/>
          <c:tx>
            <c:strRef>
              <c:strCache>
                <c:ptCount val="1"/>
                <c:pt idx="0">
                  <c:v>Dental Laboratories</c:v>
                </c:pt>
              </c:strCache>
            </c:strRef>
          </c:tx>
          <c:spPr>
            <a:solidFill>
              <a:srgbClr val="008189"/>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41.97828407498832</c:v>
                </c:pt>
                <c:pt idx="1">
                  <c:v>43.730716846874394</c:v>
                </c:pt>
                <c:pt idx="2">
                  <c:v>43.71199638866945</c:v>
                </c:pt>
                <c:pt idx="3">
                  <c:v>37.63420881498096</c:v>
                </c:pt>
                <c:pt idx="4">
                  <c:v>37.75779359559882</c:v>
                </c:pt>
                <c:pt idx="5">
                  <c:v>35.48983117168189</c:v>
                </c:pt>
              </c:numCache>
            </c:numRef>
          </c:val>
        </c:ser>
        <c:ser>
          <c:idx val="3"/>
          <c:order val="3"/>
          <c:tx>
            <c:strRef>
              <c:strCache>
                <c:ptCount val="1"/>
                <c:pt idx="0">
                  <c:v>Academic &amp; Teaching Dental Institutions</c:v>
                </c:pt>
              </c:strCache>
            </c:strRef>
          </c:tx>
          <c:spPr>
            <a:solidFill>
              <a:srgbClr val="40315E"/>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33.50623790779905</c:v>
                </c:pt>
                <c:pt idx="1">
                  <c:v>35.876393251243854</c:v>
                </c:pt>
                <c:pt idx="2">
                  <c:v>33.45897754203815</c:v>
                </c:pt>
                <c:pt idx="3">
                  <c:v>38.856078603122356</c:v>
                </c:pt>
                <c:pt idx="4">
                  <c:v>39.108945859056355</c:v>
                </c:pt>
                <c:pt idx="5">
                  <c:v>45.287599851118046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Dental Clinics</c:v>
                </c:pt>
              </c:strCache>
            </c:strRef>
          </c:tx>
          <c:spPr>
            <a:solidFill>
              <a:srgbClr val="3D85C6"/>
            </a:solidFill>
          </c:spPr>
          <c:invertIfNegative val="0"/>
          <c:xVal>
            <c:numRef>
              <c:numCache>
                <c:formatCode>General</c:formatCode>
                <c:ptCount val="1"/>
                <c:pt idx="0">
                  <c:v>111.05348532813184</c:v>
                </c:pt>
              </c:numCache>
            </c:numRef>
          </c:xVal>
          <c:yVal>
            <c:numRef>
              <c:numCache>
                <c:formatCode>General</c:formatCode>
                <c:ptCount val="1"/>
                <c:pt idx="0">
                  <c:v>51.16032705296837</c:v>
                </c:pt>
              </c:numCache>
            </c:numRef>
          </c:yVal>
          <c:bubbleSize>
            <c:numRef>
              <c:numCache>
                <c:formatCode>General</c:formatCode>
                <c:ptCount val="1"/>
                <c:pt idx="0">
                  <c:v>231.903</c:v>
                </c:pt>
              </c:numCache>
            </c:numRef>
          </c:bubbleSize>
          <c:bubble3D val="0"/>
        </c:ser>
        <c:ser>
          <c:idx val="1"/>
          <c:order val="1"/>
          <c:tx>
            <c:strRef>
              <c:strCache>
                <c:ptCount val="1"/>
                <c:pt idx="0">
                  <c:v>Dental Hospitals</c:v>
                </c:pt>
              </c:strCache>
            </c:strRef>
          </c:tx>
          <c:spPr>
            <a:solidFill>
              <a:srgbClr val="9E7E0A"/>
            </a:solidFill>
          </c:spPr>
          <c:invertIfNegative val="0"/>
          <c:xVal>
            <c:numRef>
              <c:numCache>
                <c:formatCode>General</c:formatCode>
                <c:ptCount val="1"/>
                <c:pt idx="0">
                  <c:v>147.09674341200142</c:v>
                </c:pt>
              </c:numCache>
            </c:numRef>
          </c:xVal>
          <c:yVal>
            <c:numRef>
              <c:numCache>
                <c:formatCode>General</c:formatCode>
                <c:ptCount val="1"/>
                <c:pt idx="0">
                  <c:v>27.699608958407396</c:v>
                </c:pt>
              </c:numCache>
            </c:numRef>
          </c:yVal>
          <c:bubbleSize>
            <c:numRef>
              <c:numCache>
                <c:formatCode>General</c:formatCode>
                <c:ptCount val="1"/>
                <c:pt idx="0">
                  <c:v>145.89</c:v>
                </c:pt>
              </c:numCache>
            </c:numRef>
          </c:bubbleSize>
          <c:bubble3D val="0"/>
        </c:ser>
        <c:ser>
          <c:idx val="2"/>
          <c:order val="2"/>
          <c:tx>
            <c:strRef>
              <c:strCache>
                <c:ptCount val="1"/>
                <c:pt idx="0">
                  <c:v>Dental Laboratories</c:v>
                </c:pt>
              </c:strCache>
            </c:strRef>
          </c:tx>
          <c:spPr>
            <a:solidFill>
              <a:srgbClr val="008189"/>
            </a:solidFill>
          </c:spPr>
          <c:invertIfNegative val="0"/>
          <c:xVal>
            <c:numRef>
              <c:numCache>
                <c:formatCode>General</c:formatCode>
                <c:ptCount val="1"/>
                <c:pt idx="0">
                  <c:v>71.57284159060377</c:v>
                </c:pt>
              </c:numCache>
            </c:numRef>
          </c:xVal>
          <c:yVal>
            <c:numRef>
              <c:numCache>
                <c:formatCode>General</c:formatCode>
                <c:ptCount val="1"/>
                <c:pt idx="0">
                  <c:v>174.207607536438</c:v>
                </c:pt>
              </c:numCache>
            </c:numRef>
          </c:yVal>
          <c:bubbleSize>
            <c:numRef>
              <c:numCache>
                <c:formatCode>General</c:formatCode>
                <c:ptCount val="1"/>
                <c:pt idx="0">
                  <c:v>668.197</c:v>
                </c:pt>
              </c:numCache>
            </c:numRef>
          </c:bubbleSize>
          <c:bubble3D val="0"/>
        </c:ser>
        <c:ser>
          <c:idx val="3"/>
          <c:order val="3"/>
          <c:tx>
            <c:strRef>
              <c:strCache>
                <c:ptCount val="1"/>
                <c:pt idx="0">
                  <c:v>Academic &amp; Teaching Dental Institutions</c:v>
                </c:pt>
              </c:strCache>
            </c:strRef>
          </c:tx>
          <c:spPr>
            <a:solidFill>
              <a:srgbClr val="40315E"/>
            </a:solidFill>
          </c:spPr>
          <c:invertIfNegative val="0"/>
          <c:xVal>
            <c:numRef>
              <c:numCache>
                <c:formatCode>General</c:formatCode>
                <c:ptCount val="1"/>
                <c:pt idx="0">
                  <c:v>117.69244923779387</c:v>
                </c:pt>
              </c:numCache>
            </c:numRef>
          </c:xVal>
          <c:yVal>
            <c:numRef>
              <c:numCache>
                <c:formatCode>General</c:formatCode>
                <c:ptCount val="1"/>
                <c:pt idx="0">
                  <c:v>146.9324564521863</c:v>
                </c:pt>
              </c:numCache>
            </c:numRef>
          </c:yVal>
          <c:bubbleSize>
            <c:numRef>
              <c:numCache>
                <c:formatCode>General</c:formatCode>
                <c:ptCount val="1"/>
                <c:pt idx="0">
                  <c:v>684.81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143.914</c:v>
                </c:pt>
                <c:pt idx="2">
                  <c:v>158.152</c:v>
                </c:pt>
                <c:pt idx="3">
                  <c:v>173.88</c:v>
                </c:pt>
                <c:pt idx="4">
                  <c:v>191.276</c:v>
                </c:pt>
                <c:pt idx="5">
                  <c:v>210.539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143.914</c:v>
                </c:pt>
                <c:pt idx="1">
                  <c:v>14.238</c:v>
                </c:pt>
                <c:pt idx="2">
                  <c:v>15.728000000000009</c:v>
                </c:pt>
                <c:pt idx="3">
                  <c:v>17.396000000000015</c:v>
                </c:pt>
                <c:pt idx="4">
                  <c:v>19.262999999999977</c:v>
                </c:pt>
                <c:pt idx="5">
                  <c:v>21.364000000000004</c:v>
                </c:pt>
                <c:pt idx="6">
                  <c:v>231.903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77.919</c:v>
                </c:pt>
                <c:pt idx="2">
                  <c:v>88.054</c:v>
                </c:pt>
                <c:pt idx="3">
                  <c:v>99.651</c:v>
                </c:pt>
                <c:pt idx="4">
                  <c:v>112.952</c:v>
                </c:pt>
                <c:pt idx="5">
                  <c:v>128.249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77.919</c:v>
                </c:pt>
                <c:pt idx="1">
                  <c:v>10.135000000000005</c:v>
                </c:pt>
                <c:pt idx="2">
                  <c:v>11.596999999999994</c:v>
                </c:pt>
                <c:pt idx="3">
                  <c:v>13.301000000000002</c:v>
                </c:pt>
                <c:pt idx="4">
                  <c:v>15.296999999999997</c:v>
                </c:pt>
                <c:pt idx="5">
                  <c:v>17.64099999999999</c:v>
                </c:pt>
                <c:pt idx="6">
                  <c:v>145.89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490.046</c:v>
                </c:pt>
                <c:pt idx="2">
                  <c:v>523.856</c:v>
                </c:pt>
                <c:pt idx="3">
                  <c:v>558.885</c:v>
                </c:pt>
                <c:pt idx="4">
                  <c:v>594.888</c:v>
                </c:pt>
                <c:pt idx="5">
                  <c:v>631.486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490.046</c:v>
                </c:pt>
                <c:pt idx="1">
                  <c:v>33.81</c:v>
                </c:pt>
                <c:pt idx="2">
                  <c:v>35.028999999999996</c:v>
                </c:pt>
                <c:pt idx="3">
                  <c:v>36.00300000000004</c:v>
                </c:pt>
                <c:pt idx="4">
                  <c:v>36.597999999999956</c:v>
                </c:pt>
                <c:pt idx="5">
                  <c:v>36.71100000000001</c:v>
                </c:pt>
                <c:pt idx="6">
                  <c:v>668.197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413.321</c:v>
                </c:pt>
                <c:pt idx="2">
                  <c:v>456.341</c:v>
                </c:pt>
                <c:pt idx="3">
                  <c:v>504.292</c:v>
                </c:pt>
                <c:pt idx="4">
                  <c:v>557.818</c:v>
                </c:pt>
                <c:pt idx="5">
                  <c:v>617.7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413.321</c:v>
                </c:pt>
                <c:pt idx="1">
                  <c:v>43.01999999999998</c:v>
                </c:pt>
                <c:pt idx="2">
                  <c:v>47.950999999999965</c:v>
                </c:pt>
                <c:pt idx="3">
                  <c:v>53.52600000000001</c:v>
                </c:pt>
                <c:pt idx="4">
                  <c:v>59.88200000000006</c:v>
                </c:pt>
                <c:pt idx="5">
                  <c:v>67.1099999999999</c:v>
                </c:pt>
                <c:pt idx="6">
                  <c:v>684.81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Academic &amp; Teaching Dental Institutions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35.687432490439186</c:v>
                </c:pt>
                <c:pt idx="1">
                  <c:v>36.733114113046575</c:v>
                </c:pt>
                <c:pt idx="2">
                  <c:v>39.56609660272706</c:v>
                </c:pt>
              </c:numCache>
            </c:numRef>
          </c:val>
        </c:ser>
        <c:ser>
          <c:idx val="1"/>
          <c:order val="1"/>
          <c:tx>
            <c:strRef>
              <c:strCache>
                <c:ptCount val="1"/>
                <c:pt idx="0">
                  <c:v>Laboratories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45.396050683934696</c:v>
                </c:pt>
                <c:pt idx="1">
                  <c:v>43.55190188410949</c:v>
                </c:pt>
                <c:pt idx="2">
                  <c:v>38.60625144441877</c:v>
                </c:pt>
              </c:numCache>
            </c:numRef>
          </c:val>
        </c:ser>
        <c:ser>
          <c:idx val="2"/>
          <c:order val="2"/>
          <c:tx>
            <c:strRef>
              <c:strCache>
                <c:ptCount val="1"/>
                <c:pt idx="0">
                  <c:v>Clinics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12.553129145857412</c:v>
                </c:pt>
                <c:pt idx="1">
                  <c:v>12.790081763242089</c:v>
                </c:pt>
                <c:pt idx="2">
                  <c:v>13.39860180263462</c:v>
                </c:pt>
              </c:numCache>
            </c:numRef>
          </c:val>
        </c:ser>
        <c:ser>
          <c:idx val="3"/>
          <c:order val="3"/>
          <c:tx>
            <c:strRef>
              <c:strCache>
                <c:ptCount val="1"/>
                <c:pt idx="0">
                  <c:v>Hospitals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6.363387679768702</c:v>
                </c:pt>
                <c:pt idx="1">
                  <c:v>6.924902239601847</c:v>
                </c:pt>
                <c:pt idx="2">
                  <c:v>8.42905015021955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Direct Sales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39.35135766228567</c:v>
                </c:pt>
                <c:pt idx="1">
                  <c:v>39.559996664535674</c:v>
                </c:pt>
                <c:pt idx="2">
                  <c:v>38.19343189256293</c:v>
                </c:pt>
                <c:pt idx="3">
                  <c:v>40.93617698974107</c:v>
                </c:pt>
                <c:pt idx="4">
                  <c:v>40.74929919697762</c:v>
                </c:pt>
                <c:pt idx="5">
                  <c:v>35.94086714194367</c:v>
                </c:pt>
              </c:numCache>
            </c:numRef>
          </c:val>
        </c:ser>
        <c:ser>
          <c:idx val="1"/>
          <c:order val="1"/>
          <c:tx>
            <c:strRef>
              <c:strCache>
                <c:ptCount val="1"/>
                <c:pt idx="0">
                  <c:v>Dental Dealers &amp; Distributors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52.01731269597706</c:v>
                </c:pt>
                <c:pt idx="1">
                  <c:v>50.544792506323475</c:v>
                </c:pt>
                <c:pt idx="2">
                  <c:v>54.16589549712223</c:v>
                </c:pt>
                <c:pt idx="3">
                  <c:v>49.750273173278124</c:v>
                </c:pt>
                <c:pt idx="4">
                  <c:v>50.188192604282925</c:v>
                </c:pt>
                <c:pt idx="5">
                  <c:v>56.04603888109485</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8.631329641737274</c:v>
                </c:pt>
                <c:pt idx="1">
                  <c:v>9.89521082914084</c:v>
                </c:pt>
                <c:pt idx="2">
                  <c:v>7.640672610314862</c:v>
                </c:pt>
                <c:pt idx="3">
                  <c:v>9.313549836980805</c:v>
                </c:pt>
                <c:pt idx="4">
                  <c:v>9.062508198739465</c:v>
                </c:pt>
                <c:pt idx="5">
                  <c:v>8.013093976961473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Direct Sales</c:v>
                </c:pt>
              </c:strCache>
            </c:strRef>
          </c:tx>
          <c:spPr>
            <a:solidFill>
              <a:srgbClr val="3D85C6"/>
            </a:solidFill>
          </c:spPr>
          <c:invertIfNegative val="0"/>
          <c:xVal>
            <c:numRef>
              <c:numCache>
                <c:formatCode>General</c:formatCode>
                <c:ptCount val="1"/>
                <c:pt idx="0">
                  <c:v>194.67212285775867</c:v>
                </c:pt>
              </c:numCache>
            </c:numRef>
          </c:xVal>
          <c:yVal>
            <c:numRef>
              <c:numCache>
                <c:formatCode>General</c:formatCode>
                <c:ptCount val="1"/>
                <c:pt idx="0">
                  <c:v>78.69987557767509</c:v>
                </c:pt>
              </c:numCache>
            </c:numRef>
          </c:yVal>
          <c:bubbleSize>
            <c:numRef>
              <c:numCache>
                <c:formatCode>General</c:formatCode>
                <c:ptCount val="1"/>
                <c:pt idx="0">
                  <c:v>671.47</c:v>
                </c:pt>
              </c:numCache>
            </c:numRef>
          </c:bubbleSize>
          <c:bubble3D val="0"/>
        </c:ser>
        <c:ser>
          <c:idx val="1"/>
          <c:order val="1"/>
          <c:tx>
            <c:strRef>
              <c:strCache>
                <c:ptCount val="1"/>
                <c:pt idx="0">
                  <c:v>Dental Dealers &amp; Distributors</c:v>
                </c:pt>
              </c:strCache>
            </c:strRef>
          </c:tx>
          <c:spPr>
            <a:solidFill>
              <a:srgbClr val="9E7E0A"/>
            </a:solidFill>
          </c:spPr>
          <c:invertIfNegative val="0"/>
          <c:xVal>
            <c:numRef>
              <c:numCache>
                <c:formatCode>General</c:formatCode>
                <c:ptCount val="1"/>
                <c:pt idx="0">
                  <c:v>56.19359954308071</c:v>
                </c:pt>
              </c:numCache>
            </c:numRef>
          </c:xVal>
          <c:yVal>
            <c:numRef>
              <c:numCache>
                <c:formatCode>General</c:formatCode>
                <c:ptCount val="1"/>
                <c:pt idx="0">
                  <c:v>190.01688588695342</c:v>
                </c:pt>
              </c:numCache>
            </c:numRef>
          </c:yVal>
          <c:bubbleSize>
            <c:numRef>
              <c:numCache>
                <c:formatCode>General</c:formatCode>
                <c:ptCount val="1"/>
                <c:pt idx="0">
                  <c:v>909.875</c:v>
                </c:pt>
              </c:numCache>
            </c:numRef>
          </c:bubbleSize>
          <c:bubble3D val="0"/>
        </c:ser>
        <c:ser>
          <c:idx val="2"/>
          <c:order val="2"/>
          <c:tx>
            <c:strRef>
              <c:strCache>
                <c:ptCount val="1"/>
                <c:pt idx="0">
                  <c:v>Online Dental Supply Channels</c:v>
                </c:pt>
              </c:strCache>
            </c:strRef>
          </c:tx>
          <c:spPr>
            <a:solidFill>
              <a:srgbClr val="008189"/>
            </a:solidFill>
          </c:spPr>
          <c:invertIfNegative val="0"/>
          <c:xVal>
            <c:numRef>
              <c:numCache>
                <c:formatCode>General</c:formatCode>
                <c:ptCount val="1"/>
                <c:pt idx="0">
                  <c:v>55.662377880120474</c:v>
                </c:pt>
              </c:numCache>
            </c:numRef>
          </c:xVal>
          <c:yVal>
            <c:numRef>
              <c:numCache>
                <c:formatCode>General</c:formatCode>
                <c:ptCount val="1"/>
                <c:pt idx="0">
                  <c:v>31.283238535371495</c:v>
                </c:pt>
              </c:numCache>
            </c:numRef>
          </c:yVal>
          <c:bubbleSize>
            <c:numRef>
              <c:numCache>
                <c:formatCode>General</c:formatCode>
                <c:ptCount val="1"/>
                <c:pt idx="0">
                  <c:v>149.455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3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295.177</c:v>
                </c:pt>
                <c:pt idx="2">
                  <c:v>348.923</c:v>
                </c:pt>
                <c:pt idx="3">
                  <c:v>411.744</c:v>
                </c:pt>
                <c:pt idx="4">
                  <c:v>485.187</c:v>
                </c:pt>
                <c:pt idx="5">
                  <c:v>571.048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295.177</c:v>
                </c:pt>
                <c:pt idx="1">
                  <c:v>53.74599999999998</c:v>
                </c:pt>
                <c:pt idx="2">
                  <c:v>62.821000000000026</c:v>
                </c:pt>
                <c:pt idx="3">
                  <c:v>73.44299999999998</c:v>
                </c:pt>
                <c:pt idx="4">
                  <c:v>85.86099999999999</c:v>
                </c:pt>
                <c:pt idx="5">
                  <c:v>100.42200000000003</c:v>
                </c:pt>
                <c:pt idx="6">
                  <c:v>671.47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712.69</c:v>
                </c:pt>
                <c:pt idx="2">
                  <c:v>753.423</c:v>
                </c:pt>
                <c:pt idx="3">
                  <c:v>794.209</c:v>
                </c:pt>
                <c:pt idx="4">
                  <c:v>834.423</c:v>
                </c:pt>
                <c:pt idx="5">
                  <c:v>873.311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712.69</c:v>
                </c:pt>
                <c:pt idx="1">
                  <c:v>40.73299999999995</c:v>
                </c:pt>
                <c:pt idx="2">
                  <c:v>40.785999999999945</c:v>
                </c:pt>
                <c:pt idx="3">
                  <c:v>40.214000000000055</c:v>
                </c:pt>
                <c:pt idx="4">
                  <c:v>38.888000000000034</c:v>
                </c:pt>
                <c:pt idx="5">
                  <c:v>36.563999999999965</c:v>
                </c:pt>
                <c:pt idx="6">
                  <c:v>909.875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117.333</c:v>
                </c:pt>
                <c:pt idx="2">
                  <c:v>124.057</c:v>
                </c:pt>
                <c:pt idx="3">
                  <c:v>130.755</c:v>
                </c:pt>
                <c:pt idx="4">
                  <c:v>137.324</c:v>
                </c:pt>
                <c:pt idx="5">
                  <c:v>143.615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117.333</c:v>
                </c:pt>
                <c:pt idx="1">
                  <c:v>6.724000000000004</c:v>
                </c:pt>
                <c:pt idx="2">
                  <c:v>6.697999999999993</c:v>
                </c:pt>
                <c:pt idx="3">
                  <c:v>6.569000000000017</c:v>
                </c:pt>
                <c:pt idx="4">
                  <c:v>6.290999999999997</c:v>
                </c:pt>
                <c:pt idx="5">
                  <c:v>5.840000000000003</c:v>
                </c:pt>
                <c:pt idx="6">
                  <c:v>149.455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Dental Dealers &amp; Distributors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67.6625554537994</c:v>
                </c:pt>
                <c:pt idx="1">
                  <c:v>63.33896196231781</c:v>
                </c:pt>
                <c:pt idx="2">
                  <c:v>52.56962098451583</c:v>
                </c:pt>
              </c:numCache>
            </c:numRef>
          </c:val>
        </c:ser>
        <c:ser>
          <c:idx val="1"/>
          <c:order val="1"/>
          <c:tx>
            <c:strRef>
              <c:strCache>
                <c:ptCount val="1"/>
                <c:pt idx="0">
                  <c:v>Direct Sales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21.210355196249417</c:v>
                </c:pt>
                <c:pt idx="1">
                  <c:v>26.233291859225027</c:v>
                </c:pt>
                <c:pt idx="2">
                  <c:v>38.79535474924891</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11.127089349951182</c:v>
                </c:pt>
                <c:pt idx="1">
                  <c:v>10.427746178457163</c:v>
                </c:pt>
                <c:pt idx="2">
                  <c:v>8.635024266235268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Adults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33.99576355994396</c:v>
                </c:pt>
                <c:pt idx="1">
                  <c:v>31.481919003807988</c:v>
                </c:pt>
                <c:pt idx="2">
                  <c:v>29.814242184854983</c:v>
                </c:pt>
                <c:pt idx="3">
                  <c:v>32.92899264312289</c:v>
                </c:pt>
                <c:pt idx="4">
                  <c:v>35.04398560654527</c:v>
                </c:pt>
                <c:pt idx="5">
                  <c:v>31.131980034548253</c:v>
                </c:pt>
              </c:numCache>
            </c:numRef>
          </c:val>
        </c:ser>
        <c:ser>
          <c:idx val="1"/>
          <c:order val="1"/>
          <c:tx>
            <c:strRef>
              <c:strCache>
                <c:ptCount val="1"/>
                <c:pt idx="0">
                  <c:v>Geriatric Patients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66.00423644005605</c:v>
                </c:pt>
                <c:pt idx="1">
                  <c:v>68.51808099619201</c:v>
                </c:pt>
                <c:pt idx="2">
                  <c:v>70.18575781514501</c:v>
                </c:pt>
                <c:pt idx="3">
                  <c:v>67.0710073568771</c:v>
                </c:pt>
                <c:pt idx="4">
                  <c:v>64.95601439345474</c:v>
                </c:pt>
                <c:pt idx="5">
                  <c:v>68.86801996545175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Adults</c:v>
                </c:pt>
              </c:strCache>
            </c:strRef>
          </c:tx>
          <c:spPr>
            <a:solidFill>
              <a:srgbClr val="3D85C6"/>
            </a:solidFill>
          </c:spPr>
          <c:invertIfNegative val="0"/>
          <c:xVal>
            <c:numRef>
              <c:numCache>
                <c:formatCode>General</c:formatCode>
                <c:ptCount val="1"/>
                <c:pt idx="0">
                  <c:v>96.1986271163346</c:v>
                </c:pt>
              </c:numCache>
            </c:numRef>
          </c:xVal>
          <c:yVal>
            <c:numRef>
              <c:numCache>
                <c:formatCode>General</c:formatCode>
                <c:ptCount val="1"/>
                <c:pt idx="0">
                  <c:v>66.14308567365802</c:v>
                </c:pt>
              </c:numCache>
            </c:numRef>
          </c:yVal>
          <c:bubbleSize>
            <c:numRef>
              <c:numCache>
                <c:formatCode>General</c:formatCode>
                <c:ptCount val="1"/>
                <c:pt idx="0">
                  <c:v>563.297</c:v>
                </c:pt>
              </c:numCache>
            </c:numRef>
          </c:bubbleSize>
          <c:bubble3D val="0"/>
        </c:ser>
        <c:ser>
          <c:idx val="1"/>
          <c:order val="1"/>
          <c:tx>
            <c:strRef>
              <c:strCache>
                <c:ptCount val="1"/>
                <c:pt idx="0">
                  <c:v>Geriatric Patients</c:v>
                </c:pt>
              </c:strCache>
            </c:strRef>
          </c:tx>
          <c:spPr>
            <a:solidFill>
              <a:srgbClr val="9E7E0A"/>
            </a:solidFill>
          </c:spPr>
          <c:invertIfNegative val="0"/>
          <c:xVal>
            <c:numRef>
              <c:numCache>
                <c:formatCode>General</c:formatCode>
                <c:ptCount val="1"/>
                <c:pt idx="0">
                  <c:v>101.85833381054444</c:v>
                </c:pt>
              </c:numCache>
            </c:numRef>
          </c:xVal>
          <c:yVal>
            <c:numRef>
              <c:numCache>
                <c:formatCode>General</c:formatCode>
                <c:ptCount val="1"/>
                <c:pt idx="0">
                  <c:v>133.85691432634198</c:v>
                </c:pt>
              </c:numCache>
            </c:numRef>
          </c:yVal>
          <c:bubbleSize>
            <c:numRef>
              <c:numCache>
                <c:formatCode>General</c:formatCode>
                <c:ptCount val="1"/>
                <c:pt idx="0">
                  <c:v>1167.503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372.121</c:v>
                </c:pt>
                <c:pt idx="2">
                  <c:v>404.572</c:v>
                </c:pt>
                <c:pt idx="3">
                  <c:v>439.72</c:v>
                </c:pt>
                <c:pt idx="4">
                  <c:v>477.761</c:v>
                </c:pt>
                <c:pt idx="5">
                  <c:v>518.888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372.121</c:v>
                </c:pt>
                <c:pt idx="1">
                  <c:v>32.45100000000002</c:v>
                </c:pt>
                <c:pt idx="2">
                  <c:v>35.148000000000025</c:v>
                </c:pt>
                <c:pt idx="3">
                  <c:v>38.041</c:v>
                </c:pt>
                <c:pt idx="4">
                  <c:v>41.12700000000001</c:v>
                </c:pt>
                <c:pt idx="5">
                  <c:v>44.40899999999999</c:v>
                </c:pt>
                <c:pt idx="6">
                  <c:v>563.297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753.079</c:v>
                </c:pt>
                <c:pt idx="2">
                  <c:v>821.831</c:v>
                </c:pt>
                <c:pt idx="3">
                  <c:v>896.988</c:v>
                </c:pt>
                <c:pt idx="4">
                  <c:v>979.173</c:v>
                </c:pt>
                <c:pt idx="5">
                  <c:v>1069.086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753.079</c:v>
                </c:pt>
                <c:pt idx="1">
                  <c:v>68.75200000000007</c:v>
                </c:pt>
                <c:pt idx="2">
                  <c:v>75.15700000000004</c:v>
                </c:pt>
                <c:pt idx="3">
                  <c:v>82.18499999999995</c:v>
                </c:pt>
                <c:pt idx="4">
                  <c:v>89.91300000000001</c:v>
                </c:pt>
                <c:pt idx="5">
                  <c:v>98.41699999999992</c:v>
                </c:pt>
                <c:pt idx="6">
                  <c:v>1167.503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Geriatric Patients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66.7562649413052</c:v>
                </c:pt>
                <c:pt idx="1">
                  <c:v>66.92845716317099</c:v>
                </c:pt>
                <c:pt idx="2">
                  <c:v>67.45452969724982</c:v>
                </c:pt>
              </c:numCache>
            </c:numRef>
          </c:val>
        </c:ser>
        <c:ser>
          <c:idx val="1"/>
          <c:order val="1"/>
          <c:tx>
            <c:strRef>
              <c:strCache>
                <c:ptCount val="1"/>
                <c:pt idx="0">
                  <c:v>Adults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33.2437350586948</c:v>
                </c:pt>
                <c:pt idx="1">
                  <c:v>33.07154283682901</c:v>
                </c:pt>
                <c:pt idx="2">
                  <c:v>32.545470302750175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Acrylic / Resin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30.064915673615655</c:v>
                </c:pt>
                <c:pt idx="1">
                  <c:v>30.06533856610642</c:v>
                </c:pt>
                <c:pt idx="2">
                  <c:v>30.06533856610642</c:v>
                </c:pt>
                <c:pt idx="3">
                  <c:v>30.06533856610642</c:v>
                </c:pt>
              </c:numCache>
            </c:numRef>
          </c:val>
        </c:ser>
        <c:ser>
          <c:idx val="1"/>
          <c:order val="1"/>
          <c:tx>
            <c:strRef>
              <c:strCache>
                <c:ptCount val="1"/>
                <c:pt idx="0">
                  <c:v>High-performance Polymers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29.68843320724666</c:v>
                </c:pt>
                <c:pt idx="1">
                  <c:v>29.6902994625032</c:v>
                </c:pt>
                <c:pt idx="2">
                  <c:v>29.6902994625032</c:v>
                </c:pt>
                <c:pt idx="3">
                  <c:v>29.6902994625032</c:v>
                </c:pt>
              </c:numCache>
            </c:numRef>
          </c:val>
        </c:ser>
        <c:ser>
          <c:idx val="2"/>
          <c:order val="2"/>
          <c:tx>
            <c:strRef>
              <c:strCache>
                <c:ptCount val="1"/>
                <c:pt idx="0">
                  <c:v>Flexible Thermoplastics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23.268322857711667</c:v>
                </c:pt>
                <c:pt idx="1">
                  <c:v>23.266999402781334</c:v>
                </c:pt>
                <c:pt idx="2">
                  <c:v>23.266999402781334</c:v>
                </c:pt>
                <c:pt idx="3">
                  <c:v>23.266999402781334</c:v>
                </c:pt>
              </c:numCache>
            </c:numRef>
          </c:val>
        </c:ser>
        <c:ser>
          <c:idx val="3"/>
          <c:order val="3"/>
          <c:tx>
            <c:strRef>
              <c:strCache>
                <c:ptCount val="1"/>
                <c:pt idx="0">
                  <c:v>Metal Alloys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16.97832826142601</c:v>
                </c:pt>
                <c:pt idx="1">
                  <c:v>16.97736256860905</c:v>
                </c:pt>
                <c:pt idx="2">
                  <c:v>16.97736256860905</c:v>
                </c:pt>
                <c:pt idx="3">
                  <c:v>16.97736256860905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Conventional Fabrication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51.094324867141815</c:v>
                </c:pt>
                <c:pt idx="1">
                  <c:v>51.09546916937735</c:v>
                </c:pt>
                <c:pt idx="2">
                  <c:v>51.09546916937735</c:v>
                </c:pt>
                <c:pt idx="3">
                  <c:v>51.09546916937735</c:v>
                </c:pt>
              </c:numCache>
            </c:numRef>
          </c:val>
        </c:ser>
        <c:ser>
          <c:idx val="1"/>
          <c:order val="1"/>
          <c:tx>
            <c:strRef>
              <c:strCache>
                <c:ptCount val="1"/>
                <c:pt idx="0">
                  <c:v>Digital Fabrication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48.90567513285819</c:v>
                </c:pt>
                <c:pt idx="1">
                  <c:v>48.904530830622654</c:v>
                </c:pt>
                <c:pt idx="2">
                  <c:v>48.904530830622654</c:v>
                </c:pt>
                <c:pt idx="3">
                  <c:v>48.904530830622654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2.424507799758535</c:v>
                </c:pt>
                <c:pt idx="1">
                  <c:v>2.7569763351350085</c:v>
                </c:pt>
                <c:pt idx="2">
                  <c:v>2.6460337528644295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6392087623782112"/>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1101518.448</c:v>
                </c:pt>
                <c:pt idx="2">
                  <c:v>0.0</c:v>
                </c:pt>
                <c:pt idx="3">
                  <c:v>1241684.338</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1101518.448</c:v>
                </c:pt>
                <c:pt idx="1">
                  <c:v>140165.8899999999</c:v>
                </c:pt>
                <c:pt idx="2">
                  <c:v>1241684.338</c:v>
                </c:pt>
                <c:pt idx="3">
                  <c:v>388078.3400000001</c:v>
                </c:pt>
                <c:pt idx="4">
                  <c:v>1629762.678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3.1674166443515617</c:v>
                </c:pt>
                <c:pt idx="1">
                  <c:v>3.5025114673608027</c:v>
                </c:pt>
                <c:pt idx="2">
                  <c:v>3.390692432729714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623315136916259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317.71</c:v>
                </c:pt>
                <c:pt idx="2">
                  <c:v>0.0</c:v>
                </c:pt>
                <c:pt idx="3">
                  <c:v>371.31600000000003</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317.71</c:v>
                </c:pt>
                <c:pt idx="1">
                  <c:v>53.60600000000005</c:v>
                </c:pt>
                <c:pt idx="2">
                  <c:v>371.31600000000003</c:v>
                </c:pt>
                <c:pt idx="3">
                  <c:v>152.58899999999994</c:v>
                </c:pt>
                <c:pt idx="4">
                  <c:v>523.905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317.71</c:v>
                </c:pt>
                <c:pt idx="1">
                  <c:v>326.573</c:v>
                </c:pt>
                <c:pt idx="2">
                  <c:v>336.29999999999995</c:v>
                </c:pt>
                <c:pt idx="3">
                  <c:v>346.95399999999995</c:v>
                </c:pt>
                <c:pt idx="4">
                  <c:v>358.6089999999999</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MM&quot;;&quot;MMMMMMMMMMM&quot;;&quot;MM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1101518.448</c:v>
                </c:pt>
                <c:pt idx="1">
                  <c:v>1124091.437</c:v>
                </c:pt>
                <c:pt idx="2">
                  <c:v>1149246.4270000001</c:v>
                </c:pt>
                <c:pt idx="3">
                  <c:v>1177115.1539999999</c:v>
                </c:pt>
                <c:pt idx="4">
                  <c:v>1207879.891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23"/>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667176"/>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371.31600000000003</c:v>
                </c:pt>
                <c:pt idx="1">
                  <c:v>384.476</c:v>
                </c:pt>
                <c:pt idx="2">
                  <c:v>398.068</c:v>
                </c:pt>
                <c:pt idx="3">
                  <c:v>412.101</c:v>
                </c:pt>
                <c:pt idx="4">
                  <c:v>426.59400000000005</c:v>
                </c:pt>
                <c:pt idx="5">
                  <c:v>441.55600000000004</c:v>
                </c:pt>
                <c:pt idx="6">
                  <c:v>457.002</c:v>
                </c:pt>
                <c:pt idx="7">
                  <c:v>472.94399999999996</c:v>
                </c:pt>
                <c:pt idx="8">
                  <c:v>489.4</c:v>
                </c:pt>
                <c:pt idx="9">
                  <c:v>506.381</c:v>
                </c:pt>
                <c:pt idx="10">
                  <c:v>523.905</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1241684.338</c:v>
                </c:pt>
                <c:pt idx="1">
                  <c:v>1276436.119</c:v>
                </c:pt>
                <c:pt idx="2">
                  <c:v>1312042.414</c:v>
                </c:pt>
                <c:pt idx="3">
                  <c:v>1348522.328</c:v>
                </c:pt>
                <c:pt idx="4">
                  <c:v>1385891.187</c:v>
                </c:pt>
                <c:pt idx="5">
                  <c:v>1424163.2059999998</c:v>
                </c:pt>
                <c:pt idx="6">
                  <c:v>1463366.568</c:v>
                </c:pt>
                <c:pt idx="7">
                  <c:v>1503502.321</c:v>
                </c:pt>
                <c:pt idx="8">
                  <c:v>1544604.342</c:v>
                </c:pt>
                <c:pt idx="9">
                  <c:v>1586687.222</c:v>
                </c:pt>
                <c:pt idx="10">
                  <c:v>1629762.678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618"/>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349197"/>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93.46014725517603</c:v>
                </c:pt>
                <c:pt idx="1">
                  <c:v>114.06416316681829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36.25031948567722</c:v>
                </c:pt>
                <c:pt idx="1">
                  <c:v>63.74968051432279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129.351</c:v>
                </c:pt>
                <c:pt idx="1">
                  <c:v>86.539</c:v>
                </c:pt>
                <c:pt idx="2">
                  <c:v>164.2</c:v>
                </c:pt>
                <c:pt idx="3">
                  <c:v>143.815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0.04021327315999948</c:v>
                </c:pt>
                <c:pt idx="1">
                  <c:v>0.04071271972369234</c:v>
                </c:pt>
                <c:pt idx="2">
                  <c:v>0.041460143252575354</c:v>
                </c:pt>
                <c:pt idx="3">
                  <c:v>0.041956097182955676</c:v>
                </c:pt>
                <c:pt idx="4">
                  <c:v>0.04248697744646137</c:v>
                </c:pt>
                <c:pt idx="5">
                  <c:v>0.0436360538062862</c:v>
                </c:pt>
                <c:pt idx="6">
                  <c:v>0.044421896301607124</c:v>
                </c:pt>
                <c:pt idx="7">
                  <c:v>0.04554303159493166</c:v>
                </c:pt>
                <c:pt idx="8">
                  <c:v>0.046723541654569316</c:v>
                </c:pt>
                <c:pt idx="9">
                  <c:v>0.047216002951637095</c:v>
                </c:pt>
                <c:pt idx="10">
                  <c:v>0.047771331648330556</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0.03694746601946209</c:v>
                </c:pt>
                <c:pt idx="1">
                  <c:v>0.03806505981192823</c:v>
                </c:pt>
                <c:pt idx="2">
                  <c:v>0.03875814123361266</c:v>
                </c:pt>
                <c:pt idx="3">
                  <c:v>0.03833362886283095</c:v>
                </c:pt>
                <c:pt idx="4">
                  <c:v>0.03692147546614892</c:v>
                </c:pt>
                <c:pt idx="5">
                  <c:v>0.03511946376976941</c:v>
                </c:pt>
                <c:pt idx="6">
                  <c:v>0.03381127258634005</c:v>
                </c:pt>
                <c:pt idx="7">
                  <c:v>0.03272833286495813</c:v>
                </c:pt>
                <c:pt idx="8">
                  <c:v>0.032225848834236924</c:v>
                </c:pt>
                <c:pt idx="9">
                  <c:v>0.031688710732431485</c:v>
                </c:pt>
                <c:pt idx="10">
                  <c:v>0.03112558207731289</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0.023189472728295357</c:v>
                </c:pt>
                <c:pt idx="1">
                  <c:v>0.023632404715748623</c:v>
                </c:pt>
                <c:pt idx="2">
                  <c:v>0.024340424786601957</c:v>
                </c:pt>
                <c:pt idx="3">
                  <c:v>0.02482697886372865</c:v>
                </c:pt>
                <c:pt idx="4">
                  <c:v>0.025326955122293326</c:v>
                </c:pt>
                <c:pt idx="5">
                  <c:v>0.025823575835498505</c:v>
                </c:pt>
                <c:pt idx="6">
                  <c:v>0.0266154845403392</c:v>
                </c:pt>
                <c:pt idx="7">
                  <c:v>0.02769261460073692</c:v>
                </c:pt>
                <c:pt idx="8">
                  <c:v>0.028222790767537045</c:v>
                </c:pt>
                <c:pt idx="9">
                  <c:v>0.029380453916562632</c:v>
                </c:pt>
                <c:pt idx="10">
                  <c:v>0.030239473528593214</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72.52736210320147</c:v>
                </c:pt>
                <c:pt idx="1">
                  <c:v>71.11839537412699</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27.472637896798535</c:v>
                </c:pt>
                <c:pt idx="1">
                  <c:v>28.881604625873024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68.93589287830311</c:v>
                </c:pt>
                <c:pt idx="1">
                  <c:v>67.42539200809307</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31.064107121696882</c:v>
                </c:pt>
                <c:pt idx="1">
                  <c:v>32.57460799190693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MMMM&quot;;&quot;MMMMMMMMM&quot;;&quot;M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806541.661</c:v>
                </c:pt>
                <c:pt idx="1">
                  <c:v>821520.643</c:v>
                </c:pt>
                <c:pt idx="2">
                  <c:v>838315.715</c:v>
                </c:pt>
                <c:pt idx="3">
                  <c:v>857011.757</c:v>
                </c:pt>
                <c:pt idx="4">
                  <c:v>877729.572</c:v>
                </c:pt>
                <c:pt idx="5">
                  <c:v>900560.896</c:v>
                </c:pt>
                <c:pt idx="6">
                  <c:v>923991.699</c:v>
                </c:pt>
                <c:pt idx="7">
                  <c:v>947937.608</c:v>
                </c:pt>
                <c:pt idx="8">
                  <c:v>972408.38</c:v>
                </c:pt>
                <c:pt idx="9">
                  <c:v>997410.926</c:v>
                </c:pt>
                <c:pt idx="10">
                  <c:v>1022951.252</c:v>
                </c:pt>
                <c:pt idx="11">
                  <c:v>1049045.28</c:v>
                </c:pt>
                <c:pt idx="12">
                  <c:v>1075689.333</c:v>
                </c:pt>
                <c:pt idx="13">
                  <c:v>1102903.152</c:v>
                </c:pt>
                <c:pt idx="14">
                  <c:v>1130692.518</c:v>
                </c:pt>
                <c:pt idx="15">
                  <c:v>1159061.065</c:v>
                </c:pt>
              </c:numCache>
            </c:numRef>
          </c:val>
        </c:ser>
        <c:ser>
          <c:idx val="1"/>
          <c:order val="1"/>
          <c:tx>
            <c:strRef>
              <c:strCache>
                <c:ptCount val="1"/>
                <c:pt idx="0">
                  <c:v>Canada</c:v>
                </c:pt>
              </c:strCache>
            </c:strRef>
          </c:tx>
          <c:spPr>
            <a:solidFill>
              <a:srgbClr val="9E7E0A"/>
            </a:solidFill>
            <a:ln>
              <a:noFill/>
            </a:ln>
          </c:spPr>
          <c:dLbls>
            <c:dLbl>
              <c:idx val="0"/>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294976.787</c:v>
                </c:pt>
                <c:pt idx="1">
                  <c:v>302570.794</c:v>
                </c:pt>
                <c:pt idx="2">
                  <c:v>310930.712</c:v>
                </c:pt>
                <c:pt idx="3">
                  <c:v>320103.397</c:v>
                </c:pt>
                <c:pt idx="4">
                  <c:v>330150.319</c:v>
                </c:pt>
                <c:pt idx="5">
                  <c:v>341123.442</c:v>
                </c:pt>
                <c:pt idx="6">
                  <c:v>352444.42</c:v>
                </c:pt>
                <c:pt idx="7">
                  <c:v>364104.806</c:v>
                </c:pt>
                <c:pt idx="8">
                  <c:v>376113.948</c:v>
                </c:pt>
                <c:pt idx="9">
                  <c:v>388480.261</c:v>
                </c:pt>
                <c:pt idx="10">
                  <c:v>401211.954</c:v>
                </c:pt>
                <c:pt idx="11">
                  <c:v>414321.288</c:v>
                </c:pt>
                <c:pt idx="12">
                  <c:v>427812.988</c:v>
                </c:pt>
                <c:pt idx="13">
                  <c:v>441701.19</c:v>
                </c:pt>
                <c:pt idx="14">
                  <c:v>455994.704</c:v>
                </c:pt>
                <c:pt idx="15">
                  <c:v>470701.613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quot;;&quot;MMMMM&quot;;&quot;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quot;;&quot;MMMMM&quot;;&quot;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221.386</c:v>
                </c:pt>
                <c:pt idx="1">
                  <c:v>227.078</c:v>
                </c:pt>
                <c:pt idx="2">
                  <c:v>233.34</c:v>
                </c:pt>
                <c:pt idx="3">
                  <c:v>240.215</c:v>
                </c:pt>
                <c:pt idx="4">
                  <c:v>247.749</c:v>
                </c:pt>
                <c:pt idx="5">
                  <c:v>255.97</c:v>
                </c:pt>
                <c:pt idx="6">
                  <c:v>264.468</c:v>
                </c:pt>
                <c:pt idx="7">
                  <c:v>273.221</c:v>
                </c:pt>
                <c:pt idx="8">
                  <c:v>282.234</c:v>
                </c:pt>
                <c:pt idx="9">
                  <c:v>291.518</c:v>
                </c:pt>
                <c:pt idx="10">
                  <c:v>301.076</c:v>
                </c:pt>
                <c:pt idx="11">
                  <c:v>310.917</c:v>
                </c:pt>
                <c:pt idx="12">
                  <c:v>321.046</c:v>
                </c:pt>
                <c:pt idx="13">
                  <c:v>331.473</c:v>
                </c:pt>
                <c:pt idx="14">
                  <c:v>342.202</c:v>
                </c:pt>
                <c:pt idx="15">
                  <c:v>353.245</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quot;;&quot;MMMMM&quot;;&quot;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quot;;&quot;MMMMM&quot;;&quot;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96.324</c:v>
                </c:pt>
                <c:pt idx="1">
                  <c:v>99.495</c:v>
                </c:pt>
                <c:pt idx="2">
                  <c:v>102.96</c:v>
                </c:pt>
                <c:pt idx="3">
                  <c:v>106.739</c:v>
                </c:pt>
                <c:pt idx="4">
                  <c:v>110.86</c:v>
                </c:pt>
                <c:pt idx="5">
                  <c:v>115.346</c:v>
                </c:pt>
                <c:pt idx="6">
                  <c:v>120.008</c:v>
                </c:pt>
                <c:pt idx="7">
                  <c:v>124.847</c:v>
                </c:pt>
                <c:pt idx="8">
                  <c:v>129.867</c:v>
                </c:pt>
                <c:pt idx="9">
                  <c:v>135.076</c:v>
                </c:pt>
                <c:pt idx="10">
                  <c:v>140.48</c:v>
                </c:pt>
                <c:pt idx="11">
                  <c:v>146.085</c:v>
                </c:pt>
                <c:pt idx="12">
                  <c:v>151.898</c:v>
                </c:pt>
                <c:pt idx="13">
                  <c:v>157.927</c:v>
                </c:pt>
                <c:pt idx="14">
                  <c:v>164.179</c:v>
                </c:pt>
                <c:pt idx="15">
                  <c:v>170.66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Cast Metal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27.844251728583146</c:v>
                </c:pt>
                <c:pt idx="1">
                  <c:v>23.165791447861963</c:v>
                </c:pt>
              </c:numCache>
            </c:numRef>
          </c:val>
        </c:ser>
        <c:ser>
          <c:idx val="1"/>
          <c:order val="1"/>
          <c:tx>
            <c:strRef>
              <c:strCache>
                <c:ptCount val="1"/>
                <c:pt idx="0">
                  <c:v>Acrylic Partial Dentures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17.463377475682645</c:v>
                </c:pt>
                <c:pt idx="1">
                  <c:v>16.061373834024543</c:v>
                </c:pt>
              </c:numCache>
            </c:numRef>
          </c:val>
        </c:ser>
        <c:ser>
          <c:idx val="2"/>
          <c:order val="2"/>
          <c:tx>
            <c:strRef>
              <c:strCache>
                <c:ptCount val="1"/>
                <c:pt idx="0">
                  <c:v>Flexible Partial Dentures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29.257588187038557</c:v>
                </c:pt>
                <c:pt idx="1">
                  <c:v>32.348370111395774</c:v>
                </c:pt>
              </c:numCache>
            </c:numRef>
          </c:val>
        </c:ser>
        <c:ser>
          <c:idx val="3"/>
          <c:order val="3"/>
          <c:tx>
            <c:strRef>
              <c:strCache>
                <c:ptCount val="1"/>
                <c:pt idx="0">
                  <c:v>Combination Framework Partial Dentures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25.43478260869565</c:v>
                </c:pt>
                <c:pt idx="1">
                  <c:v>28.42446460671772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Cast Metal Partial Dentures</c:v>
                </c:pt>
              </c:strCache>
            </c:strRef>
          </c:tx>
          <c:spPr>
            <a:solidFill>
              <a:srgbClr val="3D85C6"/>
            </a:solidFill>
          </c:spPr>
          <c:invertIfNegative val="0"/>
          <c:xVal>
            <c:numRef>
              <c:numCache>
                <c:formatCode>General</c:formatCode>
                <c:ptCount val="1"/>
                <c:pt idx="0">
                  <c:v>156.61296474095542</c:v>
                </c:pt>
              </c:numCache>
            </c:numRef>
          </c:xVal>
          <c:yVal>
            <c:numRef>
              <c:numCache>
                <c:formatCode>General</c:formatCode>
                <c:ptCount val="1"/>
                <c:pt idx="0">
                  <c:v>81.68891187021296</c:v>
                </c:pt>
              </c:numCache>
            </c:numRef>
          </c:yVal>
          <c:bubbleSize>
            <c:numRef>
              <c:numCache>
                <c:formatCode>General</c:formatCode>
                <c:ptCount val="1"/>
                <c:pt idx="0">
                  <c:v>129.351</c:v>
                </c:pt>
              </c:numCache>
            </c:numRef>
          </c:bubbleSize>
          <c:bubble3D val="0"/>
        </c:ser>
        <c:ser>
          <c:idx val="1"/>
          <c:order val="1"/>
          <c:tx>
            <c:strRef>
              <c:strCache>
                <c:ptCount val="1"/>
                <c:pt idx="0">
                  <c:v>Acrylic Partial Dentures</c:v>
                </c:pt>
              </c:strCache>
            </c:strRef>
          </c:tx>
          <c:spPr>
            <a:solidFill>
              <a:srgbClr val="9E7E0A"/>
            </a:solidFill>
          </c:spPr>
          <c:invertIfNegative val="0"/>
          <c:xVal>
            <c:numRef>
              <c:numCache>
                <c:formatCode>General</c:formatCode>
                <c:ptCount val="1"/>
                <c:pt idx="0">
                  <c:v>67.70226725115347</c:v>
                </c:pt>
              </c:numCache>
            </c:numRef>
          </c:xVal>
          <c:yVal>
            <c:numRef>
              <c:numCache>
                <c:formatCode>General</c:formatCode>
                <c:ptCount val="1"/>
                <c:pt idx="0">
                  <c:v>73.7474280666602</c:v>
                </c:pt>
              </c:numCache>
            </c:numRef>
          </c:yVal>
          <c:bubbleSize>
            <c:numRef>
              <c:numCache>
                <c:formatCode>General</c:formatCode>
                <c:ptCount val="1"/>
                <c:pt idx="0">
                  <c:v>86.539</c:v>
                </c:pt>
              </c:numCache>
            </c:numRef>
          </c:bubbleSize>
          <c:bubble3D val="0"/>
        </c:ser>
        <c:ser>
          <c:idx val="2"/>
          <c:order val="2"/>
          <c:tx>
            <c:strRef>
              <c:strCache>
                <c:ptCount val="1"/>
                <c:pt idx="0">
                  <c:v>Flexible Partial Dentures</c:v>
                </c:pt>
              </c:strCache>
            </c:strRef>
          </c:tx>
          <c:spPr>
            <a:solidFill>
              <a:srgbClr val="008189"/>
            </a:solidFill>
          </c:spPr>
          <c:invertIfNegative val="0"/>
          <c:xVal>
            <c:numRef>
              <c:numCache>
                <c:formatCode>General</c:formatCode>
                <c:ptCount val="1"/>
                <c:pt idx="0">
                  <c:v>61.61581248658897</c:v>
                </c:pt>
              </c:numCache>
            </c:numRef>
          </c:xVal>
          <c:yVal>
            <c:numRef>
              <c:numCache>
                <c:formatCode>General</c:formatCode>
                <c:ptCount val="1"/>
                <c:pt idx="0">
                  <c:v>142.87668724213339</c:v>
                </c:pt>
              </c:numCache>
            </c:numRef>
          </c:yVal>
          <c:bubbleSize>
            <c:numRef>
              <c:numCache>
                <c:formatCode>General</c:formatCode>
                <c:ptCount val="1"/>
                <c:pt idx="0">
                  <c:v>164.2</c:v>
                </c:pt>
              </c:numCache>
            </c:numRef>
          </c:bubbleSize>
          <c:bubble3D val="0"/>
        </c:ser>
        <c:ser>
          <c:idx val="3"/>
          <c:order val="3"/>
          <c:tx>
            <c:strRef>
              <c:strCache>
                <c:ptCount val="1"/>
                <c:pt idx="0">
                  <c:v>Combination Framework Partial Dentures</c:v>
                </c:pt>
              </c:strCache>
            </c:strRef>
          </c:tx>
          <c:spPr>
            <a:solidFill>
              <a:srgbClr val="40315E"/>
            </a:solidFill>
          </c:spPr>
          <c:invertIfNegative val="0"/>
          <c:xVal>
            <c:numRef>
              <c:numCache>
                <c:formatCode>General</c:formatCode>
                <c:ptCount val="1"/>
                <c:pt idx="0">
                  <c:v>122.77735238962049</c:v>
                </c:pt>
              </c:numCache>
            </c:numRef>
          </c:xVal>
          <c:yVal>
            <c:numRef>
              <c:numCache>
                <c:formatCode>General</c:formatCode>
                <c:ptCount val="1"/>
                <c:pt idx="0">
                  <c:v>101.68697282099343</c:v>
                </c:pt>
              </c:numCache>
            </c:numRef>
          </c:yVal>
          <c:bubbleSize>
            <c:numRef>
              <c:numCache>
                <c:formatCode>General</c:formatCode>
                <c:ptCount val="1"/>
                <c:pt idx="0">
                  <c:v>143.815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75.831</c:v>
                </c:pt>
                <c:pt idx="2">
                  <c:v>84.514</c:v>
                </c:pt>
                <c:pt idx="3">
                  <c:v>94.113</c:v>
                </c:pt>
                <c:pt idx="4">
                  <c:v>104.718</c:v>
                </c:pt>
                <c:pt idx="5">
                  <c:v>116.428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75.831</c:v>
                </c:pt>
                <c:pt idx="1">
                  <c:v>8.682999999999993</c:v>
                </c:pt>
                <c:pt idx="2">
                  <c:v>9.599000000000004</c:v>
                </c:pt>
                <c:pt idx="3">
                  <c:v>10.605000000000004</c:v>
                </c:pt>
                <c:pt idx="4">
                  <c:v>11.709999999999994</c:v>
                </c:pt>
                <c:pt idx="5">
                  <c:v>12.923000000000002</c:v>
                </c:pt>
                <c:pt idx="6">
                  <c:v>129.351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68.459</c:v>
                </c:pt>
                <c:pt idx="2">
                  <c:v>71.946</c:v>
                </c:pt>
                <c:pt idx="3">
                  <c:v>75.51</c:v>
                </c:pt>
                <c:pt idx="4">
                  <c:v>79.14</c:v>
                </c:pt>
                <c:pt idx="5">
                  <c:v>82.822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68.459</c:v>
                </c:pt>
                <c:pt idx="1">
                  <c:v>3.4869999999999948</c:v>
                </c:pt>
                <c:pt idx="2">
                  <c:v>3.564000000000007</c:v>
                </c:pt>
                <c:pt idx="3">
                  <c:v>3.6299999999999955</c:v>
                </c:pt>
                <c:pt idx="4">
                  <c:v>3.682000000000002</c:v>
                </c:pt>
                <c:pt idx="5">
                  <c:v>3.7169999999999987</c:v>
                </c:pt>
                <c:pt idx="6">
                  <c:v>86.539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132.631</c:v>
                </c:pt>
                <c:pt idx="2">
                  <c:v>138.877</c:v>
                </c:pt>
                <c:pt idx="3">
                  <c:v>145.193</c:v>
                </c:pt>
                <c:pt idx="4">
                  <c:v>151.546</c:v>
                </c:pt>
                <c:pt idx="5">
                  <c:v>157.895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132.631</c:v>
                </c:pt>
                <c:pt idx="1">
                  <c:v>6.246000000000009</c:v>
                </c:pt>
                <c:pt idx="2">
                  <c:v>6.3160000000000025</c:v>
                </c:pt>
                <c:pt idx="3">
                  <c:v>6.35299999999998</c:v>
                </c:pt>
                <c:pt idx="4">
                  <c:v>6.349000000000018</c:v>
                </c:pt>
                <c:pt idx="5">
                  <c:v>6.304999999999978</c:v>
                </c:pt>
                <c:pt idx="6">
                  <c:v>164.2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94.395</c:v>
                </c:pt>
                <c:pt idx="2">
                  <c:v>102.731</c:v>
                </c:pt>
                <c:pt idx="3">
                  <c:v>111.778</c:v>
                </c:pt>
                <c:pt idx="4">
                  <c:v>121.598</c:v>
                </c:pt>
                <c:pt idx="5">
                  <c:v>132.255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94.395</c:v>
                </c:pt>
                <c:pt idx="1">
                  <c:v>8.335999999999999</c:v>
                </c:pt>
                <c:pt idx="2">
                  <c:v>9.047000000000011</c:v>
                </c:pt>
                <c:pt idx="3">
                  <c:v>9.819999999999993</c:v>
                </c:pt>
                <c:pt idx="4">
                  <c:v>10.656999999999996</c:v>
                </c:pt>
                <c:pt idx="5">
                  <c:v>11.560000000000002</c:v>
                </c:pt>
                <c:pt idx="6">
                  <c:v>143.815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Flexible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37.708287431934785</c:v>
                </c:pt>
                <c:pt idx="1">
                  <c:v>35.719171810533346</c:v>
                </c:pt>
                <c:pt idx="2">
                  <c:v>31.341560015651694</c:v>
                </c:pt>
              </c:numCache>
            </c:numRef>
          </c:val>
        </c:ser>
        <c:ser>
          <c:idx val="1"/>
          <c:order val="1"/>
          <c:tx>
            <c:strRef>
              <c:strCache>
                <c:ptCount val="1"/>
                <c:pt idx="0">
                  <c:v>Combination Framework Partial Dentures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24.499071480280758</c:v>
                </c:pt>
                <c:pt idx="1">
                  <c:v>25.421743205248358</c:v>
                </c:pt>
                <c:pt idx="2">
                  <c:v>27.450587415657417</c:v>
                </c:pt>
              </c:numCache>
            </c:numRef>
          </c:val>
        </c:ser>
        <c:ser>
          <c:idx val="2"/>
          <c:order val="2"/>
          <c:tx>
            <c:strRef>
              <c:strCache>
                <c:ptCount val="1"/>
                <c:pt idx="0">
                  <c:v>Cast Metal Partial Dentures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18.48887350099147</c:v>
                </c:pt>
                <c:pt idx="1">
                  <c:v>20.42222796755324</c:v>
                </c:pt>
                <c:pt idx="2">
                  <c:v>24.68978154436396</c:v>
                </c:pt>
              </c:numCache>
            </c:numRef>
          </c:val>
        </c:ser>
        <c:ser>
          <c:idx val="3"/>
          <c:order val="3"/>
          <c:tx>
            <c:strRef>
              <c:strCache>
                <c:ptCount val="1"/>
                <c:pt idx="0">
                  <c:v>Acrylic Partial Dentures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19.30376758679299</c:v>
                </c:pt>
                <c:pt idx="1">
                  <c:v>18.43685701666505</c:v>
                </c:pt>
                <c:pt idx="2">
                  <c:v>16.51807102432693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Metal Alloys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30.620532052033283</c:v>
                </c:pt>
                <c:pt idx="1">
                  <c:v>27.54688672168042</c:v>
                </c:pt>
              </c:numCache>
            </c:numRef>
          </c:val>
        </c:ser>
        <c:ser>
          <c:idx val="1"/>
          <c:order val="1"/>
          <c:tx>
            <c:strRef>
              <c:strCache>
                <c:ptCount val="1"/>
                <c:pt idx="0">
                  <c:v>Acrylic / Resin</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47.200281260986756</c:v>
                </c:pt>
                <c:pt idx="1">
                  <c:v>43.9055046780563</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14.332005156451427</c:v>
                </c:pt>
                <c:pt idx="1">
                  <c:v>18.35298447253323</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7.847181530528537</c:v>
                </c:pt>
                <c:pt idx="1">
                  <c:v>10.194624127730044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Metal Alloys</c:v>
                </c:pt>
              </c:strCache>
            </c:strRef>
          </c:tx>
          <c:spPr>
            <a:solidFill>
              <a:srgbClr val="3D85C6"/>
            </a:solidFill>
          </c:spPr>
          <c:invertIfNegative val="0"/>
          <c:xVal>
            <c:numRef>
              <c:numCache>
                <c:formatCode>General</c:formatCode>
                <c:ptCount val="1"/>
                <c:pt idx="0">
                  <c:v>94.35528164917186</c:v>
                </c:pt>
              </c:numCache>
            </c:numRef>
          </c:xVal>
          <c:yVal>
            <c:numRef>
              <c:numCache>
                <c:formatCode>General</c:formatCode>
                <c:ptCount val="1"/>
                <c:pt idx="0">
                  <c:v>116.39681565028171</c:v>
                </c:pt>
              </c:numCache>
            </c:numRef>
          </c:yVal>
          <c:bubbleSize>
            <c:numRef>
              <c:numCache>
                <c:formatCode>General</c:formatCode>
                <c:ptCount val="1"/>
                <c:pt idx="0">
                  <c:v>149.565</c:v>
                </c:pt>
              </c:numCache>
            </c:numRef>
          </c:bubbleSize>
          <c:bubble3D val="0"/>
        </c:ser>
        <c:ser>
          <c:idx val="1"/>
          <c:order val="1"/>
          <c:tx>
            <c:strRef>
              <c:strCache>
                <c:ptCount val="1"/>
                <c:pt idx="0">
                  <c:v>Acrylic / Resin</c:v>
                </c:pt>
              </c:strCache>
            </c:strRef>
          </c:tx>
          <c:spPr>
            <a:solidFill>
              <a:srgbClr val="9E7E0A"/>
            </a:solidFill>
          </c:spPr>
          <c:invertIfNegative val="0"/>
          <c:xVal>
            <c:numRef>
              <c:numCache>
                <c:formatCode>General</c:formatCode>
                <c:ptCount val="1"/>
                <c:pt idx="0">
                  <c:v>105.60566041208584</c:v>
                </c:pt>
              </c:numCache>
            </c:numRef>
          </c:xVal>
          <c:yVal>
            <c:numRef>
              <c:numCache>
                <c:formatCode>General</c:formatCode>
                <c:ptCount val="1"/>
                <c:pt idx="0">
                  <c:v>176.53750444365446</c:v>
                </c:pt>
              </c:numCache>
            </c:numRef>
          </c:yVal>
          <c:bubbleSize>
            <c:numRef>
              <c:numCache>
                <c:formatCode>General</c:formatCode>
                <c:ptCount val="1"/>
                <c:pt idx="0">
                  <c:v>235.646</c:v>
                </c:pt>
              </c:numCache>
            </c:numRef>
          </c:bubbleSize>
          <c:bubble3D val="0"/>
        </c:ser>
        <c:ser>
          <c:idx val="2"/>
          <c:order val="2"/>
          <c:tx>
            <c:strRef>
              <c:strCache>
                <c:ptCount val="1"/>
                <c:pt idx="0">
                  <c:v>Flexible Thermoplastics</c:v>
                </c:pt>
              </c:strCache>
            </c:strRef>
          </c:tx>
          <c:spPr>
            <a:solidFill>
              <a:srgbClr val="008189"/>
            </a:solidFill>
          </c:spPr>
          <c:invertIfNegative val="0"/>
          <c:xVal>
            <c:numRef>
              <c:numCache>
                <c:formatCode>General</c:formatCode>
                <c:ptCount val="1"/>
                <c:pt idx="0">
                  <c:v>89.96369306847451</c:v>
                </c:pt>
              </c:numCache>
            </c:numRef>
          </c:xVal>
          <c:yVal>
            <c:numRef>
              <c:numCache>
                <c:formatCode>General</c:formatCode>
                <c:ptCount val="1"/>
                <c:pt idx="0">
                  <c:v>70.53183811093515</c:v>
                </c:pt>
              </c:numCache>
            </c:numRef>
          </c:yVal>
          <c:bubbleSize>
            <c:numRef>
              <c:numCache>
                <c:formatCode>General</c:formatCode>
                <c:ptCount val="1"/>
                <c:pt idx="0">
                  <c:v>89.29</c:v>
                </c:pt>
              </c:numCache>
            </c:numRef>
          </c:bubbleSize>
          <c:bubble3D val="0"/>
        </c:ser>
        <c:ser>
          <c:idx val="3"/>
          <c:order val="3"/>
          <c:tx>
            <c:strRef>
              <c:strCache>
                <c:ptCount val="1"/>
                <c:pt idx="0">
                  <c:v>High-performance Polymers</c:v>
                </c:pt>
              </c:strCache>
            </c:strRef>
          </c:tx>
          <c:spPr>
            <a:solidFill>
              <a:srgbClr val="40315E"/>
            </a:solidFill>
          </c:spPr>
          <c:invertIfNegative val="0"/>
          <c:xVal>
            <c:numRef>
              <c:numCache>
                <c:formatCode>General</c:formatCode>
                <c:ptCount val="1"/>
                <c:pt idx="0">
                  <c:v>109.45560669855612</c:v>
                </c:pt>
              </c:numCache>
            </c:numRef>
          </c:xVal>
          <c:yVal>
            <c:numRef>
              <c:numCache>
                <c:formatCode>General</c:formatCode>
                <c:ptCount val="1"/>
                <c:pt idx="0">
                  <c:v>36.53384179512868</c:v>
                </c:pt>
              </c:numCache>
            </c:numRef>
          </c:yVal>
          <c:bubbleSize>
            <c:numRef>
              <c:numCache>
                <c:formatCode>General</c:formatCode>
                <c:ptCount val="1"/>
                <c:pt idx="0">
                  <c:v>49.404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108.05</c:v>
                </c:pt>
                <c:pt idx="2">
                  <c:v>115.405</c:v>
                </c:pt>
                <c:pt idx="3">
                  <c:v>123.209</c:v>
                </c:pt>
                <c:pt idx="4">
                  <c:v>131.489</c:v>
                </c:pt>
                <c:pt idx="5">
                  <c:v>140.265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108.05</c:v>
                </c:pt>
                <c:pt idx="1">
                  <c:v>7.355000000000004</c:v>
                </c:pt>
                <c:pt idx="2">
                  <c:v>7.804000000000002</c:v>
                </c:pt>
                <c:pt idx="3">
                  <c:v>8.280000000000001</c:v>
                </c:pt>
                <c:pt idx="4">
                  <c:v>8.775999999999982</c:v>
                </c:pt>
                <c:pt idx="5">
                  <c:v>9.300000000000011</c:v>
                </c:pt>
                <c:pt idx="6">
                  <c:v>149.565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163.878</c:v>
                </c:pt>
                <c:pt idx="2">
                  <c:v>176.341</c:v>
                </c:pt>
                <c:pt idx="3">
                  <c:v>189.691</c:v>
                </c:pt>
                <c:pt idx="4">
                  <c:v>203.983</c:v>
                </c:pt>
                <c:pt idx="5">
                  <c:v>219.281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163.878</c:v>
                </c:pt>
                <c:pt idx="1">
                  <c:v>12.463000000000022</c:v>
                </c:pt>
                <c:pt idx="2">
                  <c:v>13.349999999999994</c:v>
                </c:pt>
                <c:pt idx="3">
                  <c:v>14.292000000000002</c:v>
                </c:pt>
                <c:pt idx="4">
                  <c:v>15.298000000000002</c:v>
                </c:pt>
                <c:pt idx="5">
                  <c:v>16.36499999999998</c:v>
                </c:pt>
                <c:pt idx="6">
                  <c:v>235.646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65.47399999999999</c:v>
                </c:pt>
                <c:pt idx="2">
                  <c:v>69.73400000000001</c:v>
                </c:pt>
                <c:pt idx="3">
                  <c:v>74.23400000000001</c:v>
                </c:pt>
                <c:pt idx="4">
                  <c:v>78.987</c:v>
                </c:pt>
                <c:pt idx="5">
                  <c:v>84.00200000000001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65.47399999999999</c:v>
                </c:pt>
                <c:pt idx="1">
                  <c:v>4.260000000000019</c:v>
                </c:pt>
                <c:pt idx="2">
                  <c:v>4.5</c:v>
                </c:pt>
                <c:pt idx="3">
                  <c:v>4.752999999999986</c:v>
                </c:pt>
                <c:pt idx="4">
                  <c:v>5.015000000000015</c:v>
                </c:pt>
                <c:pt idx="5">
                  <c:v>5.287999999999997</c:v>
                </c:pt>
                <c:pt idx="6">
                  <c:v>89.29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33.914</c:v>
                </c:pt>
                <c:pt idx="2">
                  <c:v>36.588</c:v>
                </c:pt>
                <c:pt idx="3">
                  <c:v>39.46</c:v>
                </c:pt>
                <c:pt idx="4">
                  <c:v>42.543</c:v>
                </c:pt>
                <c:pt idx="5">
                  <c:v>45.852000000000004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33.914</c:v>
                </c:pt>
                <c:pt idx="1">
                  <c:v>2.6739999999999995</c:v>
                </c:pt>
                <c:pt idx="2">
                  <c:v>2.872</c:v>
                </c:pt>
                <c:pt idx="3">
                  <c:v>3.0829999999999984</c:v>
                </c:pt>
                <c:pt idx="4">
                  <c:v>3.3090000000000046</c:v>
                </c:pt>
                <c:pt idx="5">
                  <c:v>3.5519999999999996</c:v>
                </c:pt>
                <c:pt idx="6">
                  <c:v>49.404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Acrylic / Resin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43.72887224198168</c:v>
                </c:pt>
                <c:pt idx="1">
                  <c:v>44.134376110913614</c:v>
                </c:pt>
                <c:pt idx="2">
                  <c:v>44.97876523415505</c:v>
                </c:pt>
              </c:numCache>
            </c:numRef>
          </c:val>
        </c:ser>
        <c:ser>
          <c:idx val="1"/>
          <c:order val="1"/>
          <c:tx>
            <c:strRef>
              <c:strCache>
                <c:ptCount val="1"/>
                <c:pt idx="0">
                  <c:v>Metal Alloys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29.36420005665544</c:v>
                </c:pt>
                <c:pt idx="1">
                  <c:v>29.099203912570427</c:v>
                </c:pt>
                <c:pt idx="2">
                  <c:v>28.548114639104423</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17.915079789745366</c:v>
                </c:pt>
                <c:pt idx="1">
                  <c:v>17.63295952773379</c:v>
                </c:pt>
                <c:pt idx="2">
                  <c:v>17.043166222883922</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8.991847911617512</c:v>
                </c:pt>
                <c:pt idx="1">
                  <c:v>9.13346044878217</c:v>
                </c:pt>
                <c:pt idx="2">
                  <c:v>9.429953903856617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Conventional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41.52759873432556</c:v>
                </c:pt>
                <c:pt idx="1">
                  <c:v>40.24628798709111</c:v>
                </c:pt>
              </c:numCache>
            </c:numRef>
          </c:val>
        </c:ser>
        <c:ser>
          <c:idx val="1"/>
          <c:order val="1"/>
          <c:tx>
            <c:strRef>
              <c:strCache>
                <c:ptCount val="1"/>
                <c:pt idx="0">
                  <c:v>Digital Fabrication</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58.47240126567444</c:v>
                </c:pt>
                <c:pt idx="1">
                  <c:v>59.75371201290889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Conventional Fabrication</c:v>
                </c:pt>
              </c:strCache>
            </c:strRef>
          </c:tx>
          <c:spPr>
            <a:solidFill>
              <a:srgbClr val="3D85C6"/>
            </a:solidFill>
          </c:spPr>
          <c:invertIfNegative val="0"/>
          <c:xVal>
            <c:numRef>
              <c:numCache>
                <c:formatCode>General</c:formatCode>
                <c:ptCount val="1"/>
                <c:pt idx="0">
                  <c:v>139.70826266001893</c:v>
                </c:pt>
              </c:numCache>
            </c:numRef>
          </c:xVal>
          <c:yVal>
            <c:numRef>
              <c:numCache>
                <c:formatCode>General</c:formatCode>
                <c:ptCount val="1"/>
                <c:pt idx="0">
                  <c:v>71.1652608559825</c:v>
                </c:pt>
              </c:numCache>
            </c:numRef>
          </c:yVal>
          <c:bubbleSize>
            <c:numRef>
              <c:numCache>
                <c:formatCode>General</c:formatCode>
                <c:ptCount val="1"/>
                <c:pt idx="0">
                  <c:v>213.039</c:v>
                </c:pt>
              </c:numCache>
            </c:numRef>
          </c:bubbleSize>
          <c:bubble3D val="0"/>
        </c:ser>
        <c:ser>
          <c:idx val="1"/>
          <c:order val="1"/>
          <c:tx>
            <c:strRef>
              <c:strCache>
                <c:ptCount val="1"/>
                <c:pt idx="0">
                  <c:v>Digital Fabrication</c:v>
                </c:pt>
              </c:strCache>
            </c:strRef>
          </c:tx>
          <c:spPr>
            <a:solidFill>
              <a:srgbClr val="9E7E0A"/>
            </a:solidFill>
          </c:spPr>
          <c:invertIfNegative val="0"/>
          <c:xVal>
            <c:numRef>
              <c:numCache>
                <c:formatCode>General</c:formatCode>
                <c:ptCount val="1"/>
                <c:pt idx="0">
                  <c:v>75.81995980553519</c:v>
                </c:pt>
              </c:numCache>
            </c:numRef>
          </c:xVal>
          <c:yVal>
            <c:numRef>
              <c:numCache>
                <c:formatCode>General</c:formatCode>
                <c:ptCount val="1"/>
                <c:pt idx="0">
                  <c:v>128.83473914401748</c:v>
                </c:pt>
              </c:numCache>
            </c:numRef>
          </c:yVal>
          <c:bubbleSize>
            <c:numRef>
              <c:numCache>
                <c:formatCode>General</c:formatCode>
                <c:ptCount val="1"/>
                <c:pt idx="0">
                  <c:v>310.866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132.124</c:v>
                </c:pt>
                <c:pt idx="2">
                  <c:v>145.483</c:v>
                </c:pt>
                <c:pt idx="3">
                  <c:v>160.13</c:v>
                </c:pt>
                <c:pt idx="4">
                  <c:v>176.185</c:v>
                </c:pt>
                <c:pt idx="5">
                  <c:v>193.77200000000002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132.124</c:v>
                </c:pt>
                <c:pt idx="1">
                  <c:v>13.359000000000009</c:v>
                </c:pt>
                <c:pt idx="2">
                  <c:v>14.646999999999991</c:v>
                </c:pt>
                <c:pt idx="3">
                  <c:v>16.055000000000007</c:v>
                </c:pt>
                <c:pt idx="4">
                  <c:v>17.587000000000018</c:v>
                </c:pt>
                <c:pt idx="5">
                  <c:v>19.266999999999967</c:v>
                </c:pt>
                <c:pt idx="6">
                  <c:v>213.039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239.192</c:v>
                </c:pt>
                <c:pt idx="2">
                  <c:v>252.585</c:v>
                </c:pt>
                <c:pt idx="3">
                  <c:v>266.464</c:v>
                </c:pt>
                <c:pt idx="4">
                  <c:v>280.817</c:v>
                </c:pt>
                <c:pt idx="5">
                  <c:v>295.628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239.192</c:v>
                </c:pt>
                <c:pt idx="1">
                  <c:v>13.393</c:v>
                </c:pt>
                <c:pt idx="2">
                  <c:v>13.87899999999999</c:v>
                </c:pt>
                <c:pt idx="3">
                  <c:v>14.353000000000009</c:v>
                </c:pt>
                <c:pt idx="4">
                  <c:v>14.810999999999979</c:v>
                </c:pt>
                <c:pt idx="5">
                  <c:v>15.238</c:v>
                </c:pt>
                <c:pt idx="6">
                  <c:v>310.866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Digital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66.72720405401152</c:v>
                </c:pt>
                <c:pt idx="1">
                  <c:v>64.41736957200874</c:v>
                </c:pt>
                <c:pt idx="2">
                  <c:v>59.33633005983909</c:v>
                </c:pt>
              </c:numCache>
            </c:numRef>
          </c:val>
        </c:ser>
        <c:ser>
          <c:idx val="1"/>
          <c:order val="1"/>
          <c:tx>
            <c:strRef>
              <c:strCache>
                <c:ptCount val="1"/>
                <c:pt idx="0">
                  <c:v>Conventional Fabrication</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33.272795945988484</c:v>
                </c:pt>
                <c:pt idx="1">
                  <c:v>35.58263042799125</c:v>
                </c:pt>
                <c:pt idx="2">
                  <c:v>40.66366994016091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Dental Clinics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11.310793390366811</c:v>
                </c:pt>
                <c:pt idx="1">
                  <c:v>10.682104488386248</c:v>
                </c:pt>
              </c:numCache>
            </c:numRef>
          </c:val>
        </c:ser>
        <c:ser>
          <c:idx val="1"/>
          <c:order val="1"/>
          <c:tx>
            <c:strRef>
              <c:strCache>
                <c:ptCount val="1"/>
                <c:pt idx="0">
                  <c:v>Dental Hospitals</c:v>
                </c:pt>
              </c:strCache>
            </c:strRef>
          </c:tx>
          <c:spPr>
            <a:solidFill>
              <a:srgbClr val="9E7E0A"/>
            </a:solidFill>
            <a:ln>
              <a:noFill/>
            </a:ln>
          </c:spPr>
          <c:dLbls>
            <c:dLbl>
              <c:idx val="0"/>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8.708543302472751</c:v>
                </c:pt>
                <c:pt idx="1">
                  <c:v>8.155529448399836</c:v>
                </c:pt>
              </c:numCache>
            </c:numRef>
          </c:val>
        </c:ser>
        <c:ser>
          <c:idx val="2"/>
          <c:order val="2"/>
          <c:tx>
            <c:strRef>
              <c:strCache>
                <c:ptCount val="1"/>
                <c:pt idx="0">
                  <c:v>Dental Laboratories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33.04230634009141</c:v>
                </c:pt>
                <c:pt idx="1">
                  <c:v>36.67228127786664</c:v>
                </c:pt>
              </c:numCache>
            </c:numRef>
          </c:val>
        </c:ser>
        <c:ser>
          <c:idx val="3"/>
          <c:order val="3"/>
          <c:tx>
            <c:strRef>
              <c:strCache>
                <c:ptCount val="1"/>
                <c:pt idx="0">
                  <c:v>Academic &amp; Teaching Dental Institutions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46.93835696706902</c:v>
                </c:pt>
                <c:pt idx="1">
                  <c:v>44.49008478534728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Dental Clinics</c:v>
                </c:pt>
              </c:strCache>
            </c:strRef>
          </c:tx>
          <c:spPr>
            <a:solidFill>
              <a:srgbClr val="3D85C6"/>
            </a:solidFill>
          </c:spPr>
          <c:invertIfNegative val="0"/>
          <c:xVal>
            <c:numRef>
              <c:numCache>
                <c:formatCode>General</c:formatCode>
                <c:ptCount val="1"/>
                <c:pt idx="0">
                  <c:v>109.16629606476609</c:v>
                </c:pt>
              </c:numCache>
            </c:numRef>
          </c:xVal>
          <c:yVal>
            <c:numRef>
              <c:numCache>
                <c:formatCode>General</c:formatCode>
                <c:ptCount val="1"/>
                <c:pt idx="0">
                  <c:v>42.21956500662509</c:v>
                </c:pt>
              </c:numCache>
            </c:numRef>
          </c:yVal>
          <c:bubbleSize>
            <c:numRef>
              <c:numCache>
                <c:formatCode>General</c:formatCode>
                <c:ptCount val="1"/>
                <c:pt idx="0">
                  <c:v>57.037</c:v>
                </c:pt>
              </c:numCache>
            </c:numRef>
          </c:bubbleSize>
          <c:bubble3D val="0"/>
        </c:ser>
        <c:ser>
          <c:idx val="1"/>
          <c:order val="1"/>
          <c:tx>
            <c:strRef>
              <c:strCache>
                <c:ptCount val="1"/>
                <c:pt idx="0">
                  <c:v>Dental Hospitals</c:v>
                </c:pt>
              </c:strCache>
            </c:strRef>
          </c:tx>
          <c:spPr>
            <a:solidFill>
              <a:srgbClr val="9E7E0A"/>
            </a:solidFill>
          </c:spPr>
          <c:invertIfNegative val="0"/>
          <c:xVal>
            <c:numRef>
              <c:numCache>
                <c:formatCode>General</c:formatCode>
                <c:ptCount val="1"/>
                <c:pt idx="0">
                  <c:v>157.41144681330866</c:v>
                </c:pt>
              </c:numCache>
            </c:numRef>
          </c:xVal>
          <c:yVal>
            <c:numRef>
              <c:numCache>
                <c:formatCode>General</c:formatCode>
                <c:ptCount val="1"/>
                <c:pt idx="0">
                  <c:v>27.506490428637605</c:v>
                </c:pt>
              </c:numCache>
            </c:numRef>
          </c:yVal>
          <c:bubbleSize>
            <c:numRef>
              <c:numCache>
                <c:formatCode>General</c:formatCode>
                <c:ptCount val="1"/>
                <c:pt idx="0">
                  <c:v>43.671</c:v>
                </c:pt>
              </c:numCache>
            </c:numRef>
          </c:bubbleSize>
          <c:bubble3D val="0"/>
        </c:ser>
        <c:ser>
          <c:idx val="2"/>
          <c:order val="2"/>
          <c:tx>
            <c:strRef>
              <c:strCache>
                <c:ptCount val="1"/>
                <c:pt idx="0">
                  <c:v>Dental Laboratories</c:v>
                </c:pt>
              </c:strCache>
            </c:strRef>
          </c:tx>
          <c:spPr>
            <a:solidFill>
              <a:srgbClr val="008189"/>
            </a:solidFill>
          </c:spPr>
          <c:invertIfNegative val="0"/>
          <c:xVal>
            <c:numRef>
              <c:numCache>
                <c:formatCode>General</c:formatCode>
                <c:ptCount val="1"/>
                <c:pt idx="0">
                  <c:v>61.81908060920194</c:v>
                </c:pt>
              </c:numCache>
            </c:numRef>
          </c:xVal>
          <c:yVal>
            <c:numRef>
              <c:numCache>
                <c:formatCode>General</c:formatCode>
                <c:ptCount val="1"/>
                <c:pt idx="0">
                  <c:v>161.6746921759364</c:v>
                </c:pt>
              </c:numCache>
            </c:numRef>
          </c:yVal>
          <c:bubbleSize>
            <c:numRef>
              <c:numCache>
                <c:formatCode>General</c:formatCode>
                <c:ptCount val="1"/>
                <c:pt idx="0">
                  <c:v>185.933</c:v>
                </c:pt>
              </c:numCache>
            </c:numRef>
          </c:bubbleSize>
          <c:bubble3D val="0"/>
        </c:ser>
        <c:ser>
          <c:idx val="3"/>
          <c:order val="3"/>
          <c:tx>
            <c:strRef>
              <c:strCache>
                <c:ptCount val="1"/>
                <c:pt idx="0">
                  <c:v>Academic &amp; Teaching Dental Institutions</c:v>
                </c:pt>
              </c:strCache>
            </c:strRef>
          </c:tx>
          <c:spPr>
            <a:solidFill>
              <a:srgbClr val="40315E"/>
            </a:solidFill>
          </c:spPr>
          <c:invertIfNegative val="0"/>
          <c:xVal>
            <c:numRef>
              <c:numCache>
                <c:formatCode>General</c:formatCode>
                <c:ptCount val="1"/>
                <c:pt idx="0">
                  <c:v>121.29482586620274</c:v>
                </c:pt>
              </c:numCache>
            </c:numRef>
          </c:xVal>
          <c:yVal>
            <c:numRef>
              <c:numCache>
                <c:formatCode>General</c:formatCode>
                <c:ptCount val="1"/>
                <c:pt idx="0">
                  <c:v>168.59925238880092</c:v>
                </c:pt>
              </c:numCache>
            </c:numRef>
          </c:yVal>
          <c:bubbleSize>
            <c:numRef>
              <c:numCache>
                <c:formatCode>General</c:formatCode>
                <c:ptCount val="1"/>
                <c:pt idx="0">
                  <c:v>237.264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39.192</c:v>
                </c:pt>
                <c:pt idx="2">
                  <c:v>42.243</c:v>
                </c:pt>
                <c:pt idx="3">
                  <c:v>45.531</c:v>
                </c:pt>
                <c:pt idx="4">
                  <c:v>49.077</c:v>
                </c:pt>
                <c:pt idx="5">
                  <c:v>52.903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39.192</c:v>
                </c:pt>
                <c:pt idx="1">
                  <c:v>3.051000000000002</c:v>
                </c:pt>
                <c:pt idx="2">
                  <c:v>3.2879999999999967</c:v>
                </c:pt>
                <c:pt idx="3">
                  <c:v>3.5459999999999994</c:v>
                </c:pt>
                <c:pt idx="4">
                  <c:v>3.8260000000000005</c:v>
                </c:pt>
                <c:pt idx="5">
                  <c:v>4.134</c:v>
                </c:pt>
                <c:pt idx="6">
                  <c:v>57.037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25.534</c:v>
                </c:pt>
                <c:pt idx="2">
                  <c:v>28.364</c:v>
                </c:pt>
                <c:pt idx="3">
                  <c:v>31.539</c:v>
                </c:pt>
                <c:pt idx="4">
                  <c:v>35.109</c:v>
                </c:pt>
                <c:pt idx="5">
                  <c:v>39.13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25.534</c:v>
                </c:pt>
                <c:pt idx="1">
                  <c:v>2.830000000000002</c:v>
                </c:pt>
                <c:pt idx="2">
                  <c:v>3.1750000000000007</c:v>
                </c:pt>
                <c:pt idx="3">
                  <c:v>3.5700000000000003</c:v>
                </c:pt>
                <c:pt idx="4">
                  <c:v>4.021000000000001</c:v>
                </c:pt>
                <c:pt idx="5">
                  <c:v>4.540999999999997</c:v>
                </c:pt>
                <c:pt idx="6">
                  <c:v>43.671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150.081</c:v>
                </c:pt>
                <c:pt idx="2">
                  <c:v>157.542</c:v>
                </c:pt>
                <c:pt idx="3">
                  <c:v>164.969</c:v>
                </c:pt>
                <c:pt idx="4">
                  <c:v>172.264</c:v>
                </c:pt>
                <c:pt idx="5">
                  <c:v>179.303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150.081</c:v>
                </c:pt>
                <c:pt idx="1">
                  <c:v>7.461000000000013</c:v>
                </c:pt>
                <c:pt idx="2">
                  <c:v>7.4269999999999925</c:v>
                </c:pt>
                <c:pt idx="3">
                  <c:v>7.295000000000016</c:v>
                </c:pt>
                <c:pt idx="4">
                  <c:v>7.038999999999987</c:v>
                </c:pt>
                <c:pt idx="5">
                  <c:v>6.6299999999999955</c:v>
                </c:pt>
                <c:pt idx="6">
                  <c:v>185.933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156.509</c:v>
                </c:pt>
                <c:pt idx="2">
                  <c:v>169.919</c:v>
                </c:pt>
                <c:pt idx="3">
                  <c:v>184.555</c:v>
                </c:pt>
                <c:pt idx="4">
                  <c:v>200.552</c:v>
                </c:pt>
                <c:pt idx="5">
                  <c:v>218.064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156.509</c:v>
                </c:pt>
                <c:pt idx="1">
                  <c:v>13.410000000000025</c:v>
                </c:pt>
                <c:pt idx="2">
                  <c:v>14.635999999999996</c:v>
                </c:pt>
                <c:pt idx="3">
                  <c:v>15.996999999999986</c:v>
                </c:pt>
                <c:pt idx="4">
                  <c:v>17.512</c:v>
                </c:pt>
                <c:pt idx="5">
                  <c:v>19.200000000000017</c:v>
                </c:pt>
                <c:pt idx="6">
                  <c:v>237.264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Academic &amp; Teaching Dental Institutions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40.960624468855244</c:v>
                </c:pt>
                <c:pt idx="1">
                  <c:v>42.14981309720023</c:v>
                </c:pt>
                <c:pt idx="2">
                  <c:v>45.287599851118046</c:v>
                </c:pt>
              </c:numCache>
            </c:numRef>
          </c:val>
        </c:ser>
        <c:ser>
          <c:idx val="1"/>
          <c:order val="1"/>
          <c:tx>
            <c:strRef>
              <c:strCache>
                <c:ptCount val="1"/>
                <c:pt idx="0">
                  <c:v>Laboratories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42.28510276667401</c:v>
                </c:pt>
                <c:pt idx="1">
                  <c:v>40.4186730439841</c:v>
                </c:pt>
                <c:pt idx="2">
                  <c:v>35.48983117168189</c:v>
                </c:pt>
              </c:numCache>
            </c:numRef>
          </c:val>
        </c:ser>
        <c:ser>
          <c:idx val="2"/>
          <c:order val="2"/>
          <c:tx>
            <c:strRef>
              <c:strCache>
                <c:ptCount val="1"/>
                <c:pt idx="0">
                  <c:v>Clinics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10.428063328192378</c:v>
                </c:pt>
                <c:pt idx="1">
                  <c:v>10.554891251656272</c:v>
                </c:pt>
                <c:pt idx="2">
                  <c:v>10.88689743369504</c:v>
                </c:pt>
              </c:numCache>
            </c:numRef>
          </c:val>
        </c:ser>
        <c:ser>
          <c:idx val="3"/>
          <c:order val="3"/>
          <c:tx>
            <c:strRef>
              <c:strCache>
                <c:ptCount val="1"/>
                <c:pt idx="0">
                  <c:v>Hospitals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6.326209436278367</c:v>
                </c:pt>
                <c:pt idx="1">
                  <c:v>6.876622607159401</c:v>
                </c:pt>
                <c:pt idx="2">
                  <c:v>8.335671543505025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Direct Sales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41.36294386499472</c:v>
                </c:pt>
                <c:pt idx="1">
                  <c:v>33.321349205225836</c:v>
                </c:pt>
              </c:numCache>
            </c:numRef>
          </c:val>
        </c:ser>
        <c:ser>
          <c:idx val="1"/>
          <c:order val="1"/>
          <c:tx>
            <c:strRef>
              <c:strCache>
                <c:ptCount val="1"/>
                <c:pt idx="0">
                  <c:v>Dental Dealers &amp; Distributors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48.782960271885614</c:v>
                </c:pt>
                <c:pt idx="1">
                  <c:v>59.554983085393985</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9.854095863119653</c:v>
                </c:pt>
                <c:pt idx="1">
                  <c:v>7.123667709380175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Direct Sales</c:v>
                </c:pt>
              </c:strCache>
            </c:strRef>
          </c:tx>
          <c:spPr>
            <a:solidFill>
              <a:srgbClr val="3D85C6"/>
            </a:solidFill>
          </c:spPr>
          <c:invertIfNegative val="0"/>
          <c:xVal>
            <c:numRef>
              <c:numCache>
                <c:formatCode>General</c:formatCode>
                <c:ptCount val="1"/>
                <c:pt idx="0">
                  <c:v>221.45371680970212</c:v>
                </c:pt>
              </c:numCache>
            </c:numRef>
          </c:xVal>
          <c:yVal>
            <c:numRef>
              <c:numCache>
                <c:formatCode>General</c:formatCode>
                <c:ptCount val="1"/>
                <c:pt idx="0">
                  <c:v>72.07526742720486</c:v>
                </c:pt>
              </c:numCache>
            </c:numRef>
          </c:yVal>
          <c:bubbleSize>
            <c:numRef>
              <c:numCache>
                <c:formatCode>General</c:formatCode>
                <c:ptCount val="1"/>
                <c:pt idx="0">
                  <c:v>188.296</c:v>
                </c:pt>
              </c:numCache>
            </c:numRef>
          </c:bubbleSize>
          <c:bubble3D val="0"/>
        </c:ser>
        <c:ser>
          <c:idx val="1"/>
          <c:order val="1"/>
          <c:tx>
            <c:strRef>
              <c:strCache>
                <c:ptCount val="1"/>
                <c:pt idx="0">
                  <c:v>Dental Dealers &amp; Distributors</c:v>
                </c:pt>
              </c:strCache>
            </c:strRef>
          </c:tx>
          <c:spPr>
            <a:solidFill>
              <a:srgbClr val="9E7E0A"/>
            </a:solidFill>
          </c:spPr>
          <c:invertIfNegative val="0"/>
          <c:xVal>
            <c:numRef>
              <c:numCache>
                <c:formatCode>General</c:formatCode>
                <c:ptCount val="1"/>
                <c:pt idx="0">
                  <c:v>50.284969066194016</c:v>
                </c:pt>
              </c:numCache>
            </c:numRef>
          </c:xVal>
          <c:yVal>
            <c:numRef>
              <c:numCache>
                <c:formatCode>General</c:formatCode>
                <c:ptCount val="1"/>
                <c:pt idx="0">
                  <c:v>199.22841999806093</c:v>
                </c:pt>
              </c:numCache>
            </c:numRef>
          </c:yVal>
          <c:bubbleSize>
            <c:numRef>
              <c:numCache>
                <c:formatCode>General</c:formatCode>
                <c:ptCount val="1"/>
                <c:pt idx="0">
                  <c:v>293.628</c:v>
                </c:pt>
              </c:numCache>
            </c:numRef>
          </c:bubbleSize>
          <c:bubble3D val="0"/>
        </c:ser>
        <c:ser>
          <c:idx val="2"/>
          <c:order val="2"/>
          <c:tx>
            <c:strRef>
              <c:strCache>
                <c:ptCount val="1"/>
                <c:pt idx="0">
                  <c:v>Online Dental Supply Channels</c:v>
                </c:pt>
              </c:strCache>
            </c:strRef>
          </c:tx>
          <c:spPr>
            <a:solidFill>
              <a:srgbClr val="008189"/>
            </a:solidFill>
          </c:spPr>
          <c:invertIfNegative val="0"/>
          <c:xVal>
            <c:numRef>
              <c:numCache>
                <c:formatCode>General</c:formatCode>
                <c:ptCount val="1"/>
                <c:pt idx="0">
                  <c:v>48.131965427759376</c:v>
                </c:pt>
              </c:numCache>
            </c:numRef>
          </c:xVal>
          <c:yVal>
            <c:numRef>
              <c:numCache>
                <c:formatCode>General</c:formatCode>
                <c:ptCount val="1"/>
                <c:pt idx="0">
                  <c:v>28.69631257473419</c:v>
                </c:pt>
              </c:numCache>
            </c:numRef>
          </c:yVal>
          <c:bubbleSize>
            <c:numRef>
              <c:numCache>
                <c:formatCode>General</c:formatCode>
                <c:ptCount val="1"/>
                <c:pt idx="0">
                  <c:v>41.981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7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89.209</c:v>
                </c:pt>
                <c:pt idx="2">
                  <c:v>103.915</c:v>
                </c:pt>
                <c:pt idx="3">
                  <c:v>120.818</c:v>
                </c:pt>
                <c:pt idx="4">
                  <c:v>140.248</c:v>
                </c:pt>
                <c:pt idx="5">
                  <c:v>162.591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89.209</c:v>
                </c:pt>
                <c:pt idx="1">
                  <c:v>14.706000000000003</c:v>
                </c:pt>
                <c:pt idx="2">
                  <c:v>16.90299999999999</c:v>
                </c:pt>
                <c:pt idx="3">
                  <c:v>19.429999999999993</c:v>
                </c:pt>
                <c:pt idx="4">
                  <c:v>22.343000000000018</c:v>
                </c:pt>
                <c:pt idx="5">
                  <c:v>25.704999999999984</c:v>
                </c:pt>
                <c:pt idx="6">
                  <c:v>188.296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246.589</c:v>
                </c:pt>
                <c:pt idx="2">
                  <c:v>257.145</c:v>
                </c:pt>
                <c:pt idx="3">
                  <c:v>267.343</c:v>
                </c:pt>
                <c:pt idx="4">
                  <c:v>276.991</c:v>
                </c:pt>
                <c:pt idx="5">
                  <c:v>285.848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246.589</c:v>
                </c:pt>
                <c:pt idx="1">
                  <c:v>10.555999999999983</c:v>
                </c:pt>
                <c:pt idx="2">
                  <c:v>10.198000000000036</c:v>
                </c:pt>
                <c:pt idx="3">
                  <c:v>9.647999999999968</c:v>
                </c:pt>
                <c:pt idx="4">
                  <c:v>8.857000000000028</c:v>
                </c:pt>
                <c:pt idx="5">
                  <c:v>7.779999999999973</c:v>
                </c:pt>
                <c:pt idx="6">
                  <c:v>293.628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35.518</c:v>
                </c:pt>
                <c:pt idx="2">
                  <c:v>37.008</c:v>
                </c:pt>
                <c:pt idx="3">
                  <c:v>38.433</c:v>
                </c:pt>
                <c:pt idx="4">
                  <c:v>39.763</c:v>
                </c:pt>
                <c:pt idx="5">
                  <c:v>40.961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35.518</c:v>
                </c:pt>
                <c:pt idx="1">
                  <c:v>1.490000000000002</c:v>
                </c:pt>
                <c:pt idx="2">
                  <c:v>1.4249999999999972</c:v>
                </c:pt>
                <c:pt idx="3">
                  <c:v>1.3299999999999983</c:v>
                </c:pt>
                <c:pt idx="4">
                  <c:v>1.1980000000000004</c:v>
                </c:pt>
                <c:pt idx="5">
                  <c:v>1.0200000000000031</c:v>
                </c:pt>
                <c:pt idx="6">
                  <c:v>41.981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Dental Dealers &amp; Distributors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70.48629253092442</c:v>
                </c:pt>
                <c:pt idx="1">
                  <c:v>66.40947333268697</c:v>
                </c:pt>
                <c:pt idx="2">
                  <c:v>56.04603888109485</c:v>
                </c:pt>
              </c:numCache>
            </c:numRef>
          </c:val>
        </c:ser>
        <c:ser>
          <c:idx val="1"/>
          <c:order val="1"/>
          <c:tx>
            <c:strRef>
              <c:strCache>
                <c:ptCount val="1"/>
                <c:pt idx="0">
                  <c:v>Direct Sales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19.348777186742623</c:v>
                </c:pt>
                <c:pt idx="1">
                  <c:v>24.02508914240162</c:v>
                </c:pt>
                <c:pt idx="2">
                  <c:v>35.94086714194367</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10.164930282332945</c:v>
                </c:pt>
                <c:pt idx="1">
                  <c:v>9.565437524911395</c:v>
                </c:pt>
                <c:pt idx="2">
                  <c:v>8.013093976961473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Adults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34.743349349583966</c:v>
                </c:pt>
                <c:pt idx="1">
                  <c:v>29.387252473495735</c:v>
                </c:pt>
              </c:numCache>
            </c:numRef>
          </c:val>
        </c:ser>
        <c:ser>
          <c:idx val="1"/>
          <c:order val="1"/>
          <c:tx>
            <c:strRef>
              <c:strCache>
                <c:ptCount val="1"/>
                <c:pt idx="0">
                  <c:v>Geriatric Patients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65.25665065041603</c:v>
                </c:pt>
                <c:pt idx="1">
                  <c:v>70.61274752650426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Adults</c:v>
                </c:pt>
              </c:strCache>
            </c:strRef>
          </c:tx>
          <c:spPr>
            <a:solidFill>
              <a:srgbClr val="3D85C6"/>
            </a:solidFill>
          </c:spPr>
          <c:invertIfNegative val="0"/>
          <c:xVal>
            <c:numRef>
              <c:numCache>
                <c:formatCode>General</c:formatCode>
                <c:ptCount val="1"/>
                <c:pt idx="0">
                  <c:v>94.34655310901744</c:v>
                </c:pt>
              </c:numCache>
            </c:numRef>
          </c:xVal>
          <c:yVal>
            <c:numRef>
              <c:numCache>
                <c:formatCode>General</c:formatCode>
                <c:ptCount val="1"/>
                <c:pt idx="0">
                  <c:v>63.46777407922093</c:v>
                </c:pt>
              </c:numCache>
            </c:numRef>
          </c:yVal>
          <c:bubbleSize>
            <c:numRef>
              <c:numCache>
                <c:formatCode>General</c:formatCode>
                <c:ptCount val="1"/>
                <c:pt idx="0">
                  <c:v>163.102</c:v>
                </c:pt>
              </c:numCache>
            </c:numRef>
          </c:bubbleSize>
          <c:bubble3D val="0"/>
        </c:ser>
        <c:ser>
          <c:idx val="1"/>
          <c:order val="1"/>
          <c:tx>
            <c:strRef>
              <c:strCache>
                <c:ptCount val="1"/>
                <c:pt idx="0">
                  <c:v>Geriatric Patients</c:v>
                </c:pt>
              </c:strCache>
            </c:strRef>
          </c:tx>
          <c:spPr>
            <a:solidFill>
              <a:srgbClr val="9E7E0A"/>
            </a:solidFill>
          </c:spPr>
          <c:invertIfNegative val="0"/>
          <c:xVal>
            <c:numRef>
              <c:numCache>
                <c:formatCode>General</c:formatCode>
                <c:ptCount val="1"/>
                <c:pt idx="0">
                  <c:v>102.59524626416881</c:v>
                </c:pt>
              </c:numCache>
            </c:numRef>
          </c:xVal>
          <c:yVal>
            <c:numRef>
              <c:numCache>
                <c:formatCode>General</c:formatCode>
                <c:ptCount val="1"/>
                <c:pt idx="0">
                  <c:v>136.53222592077904</c:v>
                </c:pt>
              </c:numCache>
            </c:numRef>
          </c:yVal>
          <c:bubbleSize>
            <c:numRef>
              <c:numCache>
                <c:formatCode>General</c:formatCode>
                <c:ptCount val="1"/>
                <c:pt idx="0">
                  <c:v>360.803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117.833</c:v>
                </c:pt>
                <c:pt idx="2">
                  <c:v>125.931</c:v>
                </c:pt>
                <c:pt idx="3">
                  <c:v>134.496</c:v>
                </c:pt>
                <c:pt idx="4">
                  <c:v>143.54</c:v>
                </c:pt>
                <c:pt idx="5">
                  <c:v>153.073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117.833</c:v>
                </c:pt>
                <c:pt idx="1">
                  <c:v>8.097999999999999</c:v>
                </c:pt>
                <c:pt idx="2">
                  <c:v>8.565000000000012</c:v>
                </c:pt>
                <c:pt idx="3">
                  <c:v>9.043999999999983</c:v>
                </c:pt>
                <c:pt idx="4">
                  <c:v>9.533000000000015</c:v>
                </c:pt>
                <c:pt idx="5">
                  <c:v>10.028999999999996</c:v>
                </c:pt>
                <c:pt idx="6">
                  <c:v>163.102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253.483</c:v>
                </c:pt>
                <c:pt idx="2">
                  <c:v>272.137</c:v>
                </c:pt>
                <c:pt idx="3">
                  <c:v>292.098</c:v>
                </c:pt>
                <c:pt idx="4">
                  <c:v>313.462</c:v>
                </c:pt>
                <c:pt idx="5">
                  <c:v>336.327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253.483</c:v>
                </c:pt>
                <c:pt idx="1">
                  <c:v>18.653999999999996</c:v>
                </c:pt>
                <c:pt idx="2">
                  <c:v>19.961000000000013</c:v>
                </c:pt>
                <c:pt idx="3">
                  <c:v>21.363999999999976</c:v>
                </c:pt>
                <c:pt idx="4">
                  <c:v>22.86500000000001</c:v>
                </c:pt>
                <c:pt idx="5">
                  <c:v>24.476</c:v>
                </c:pt>
                <c:pt idx="6">
                  <c:v>360.803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Geriatric Patients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68.05608888609108</c:v>
                </c:pt>
                <c:pt idx="1">
                  <c:v>68.26611296038952</c:v>
                </c:pt>
                <c:pt idx="2">
                  <c:v>68.86801996545175</c:v>
                </c:pt>
              </c:numCache>
            </c:numRef>
          </c:val>
        </c:ser>
        <c:ser>
          <c:idx val="1"/>
          <c:order val="1"/>
          <c:tx>
            <c:strRef>
              <c:strCache>
                <c:ptCount val="1"/>
                <c:pt idx="0">
                  <c:v>Adults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31.943911113908907</c:v>
                </c:pt>
                <c:pt idx="1">
                  <c:v>31.733887039610465</c:v>
                </c:pt>
                <c:pt idx="2">
                  <c:v>31.131980034548253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High-performance Polymers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32.58354340378773</c:v>
                </c:pt>
                <c:pt idx="1">
                  <c:v>32.58860282236347</c:v>
                </c:pt>
                <c:pt idx="2">
                  <c:v>32.58860282236347</c:v>
                </c:pt>
                <c:pt idx="3">
                  <c:v>32.58860282236347</c:v>
                </c:pt>
              </c:numCache>
            </c:numRef>
          </c:val>
        </c:ser>
        <c:ser>
          <c:idx val="1"/>
          <c:order val="1"/>
          <c:tx>
            <c:strRef>
              <c:strCache>
                <c:ptCount val="1"/>
                <c:pt idx="0">
                  <c:v>Acrylic / Resin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26.77374873419085</c:v>
                </c:pt>
                <c:pt idx="1">
                  <c:v>26.770440590326405</c:v>
                </c:pt>
                <c:pt idx="2">
                  <c:v>26.770440590326405</c:v>
                </c:pt>
                <c:pt idx="3">
                  <c:v>26.770440590326405</c:v>
                </c:pt>
              </c:numCache>
            </c:numRef>
          </c:val>
        </c:ser>
        <c:ser>
          <c:idx val="2"/>
          <c:order val="2"/>
          <c:tx>
            <c:strRef>
              <c:strCache>
                <c:ptCount val="1"/>
                <c:pt idx="0">
                  <c:v>Flexible Thermoplastics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22.76086441298774</c:v>
                </c:pt>
                <c:pt idx="1">
                  <c:v>22.75988365830012</c:v>
                </c:pt>
                <c:pt idx="2">
                  <c:v>22.75988365830012</c:v>
                </c:pt>
                <c:pt idx="3">
                  <c:v>22.75988365830012</c:v>
                </c:pt>
              </c:numCache>
            </c:numRef>
          </c:val>
        </c:ser>
        <c:ser>
          <c:idx val="3"/>
          <c:order val="3"/>
          <c:tx>
            <c:strRef>
              <c:strCache>
                <c:ptCount val="1"/>
                <c:pt idx="0">
                  <c:v>Metal Alloys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17.881843449033674</c:v>
                </c:pt>
                <c:pt idx="1">
                  <c:v>17.88107292901002</c:v>
                </c:pt>
                <c:pt idx="2">
                  <c:v>17.88107292901002</c:v>
                </c:pt>
                <c:pt idx="3">
                  <c:v>17.88107292901002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Conventional Fabrication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53.87797311271976</c:v>
                </c:pt>
                <c:pt idx="1">
                  <c:v>53.87598569397164</c:v>
                </c:pt>
                <c:pt idx="2">
                  <c:v>53.87598569397164</c:v>
                </c:pt>
                <c:pt idx="3">
                  <c:v>53.87598569397164</c:v>
                </c:pt>
              </c:numCache>
            </c:numRef>
          </c:val>
        </c:ser>
        <c:ser>
          <c:idx val="1"/>
          <c:order val="1"/>
          <c:tx>
            <c:strRef>
              <c:strCache>
                <c:ptCount val="1"/>
                <c:pt idx="0">
                  <c:v>Digital Fabrication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46.12202688728025</c:v>
                </c:pt>
                <c:pt idx="1">
                  <c:v>46.12401430602836</c:v>
                </c:pt>
                <c:pt idx="2">
                  <c:v>46.12401430602836</c:v>
                </c:pt>
                <c:pt idx="3">
                  <c:v>46.12401430602836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Volume (Units)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0,,&quot;M&quot;"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806541.6610000001</c:v>
                </c:pt>
                <c:pt idx="1">
                  <c:v>821520.6429999999</c:v>
                </c:pt>
                <c:pt idx="2">
                  <c:v>838315.7150000001</c:v>
                </c:pt>
                <c:pt idx="3">
                  <c:v>857011.757</c:v>
                </c:pt>
                <c:pt idx="4">
                  <c:v>877729.5719999999</c:v>
                </c:pt>
                <c:pt idx="5">
                  <c:v>900560.8960000001</c:v>
                </c:pt>
                <c:pt idx="6">
                  <c:v>923991.699</c:v>
                </c:pt>
                <c:pt idx="7">
                  <c:v>947937.608</c:v>
                </c:pt>
                <c:pt idx="8">
                  <c:v>972408.3800000001</c:v>
                </c:pt>
                <c:pt idx="9">
                  <c:v>997410.926</c:v>
                </c:pt>
                <c:pt idx="10">
                  <c:v>1022951.2519999999</c:v>
                </c:pt>
                <c:pt idx="11">
                  <c:v>1049045.28</c:v>
                </c:pt>
                <c:pt idx="12">
                  <c:v>1075689.3329999999</c:v>
                </c:pt>
                <c:pt idx="13">
                  <c:v>1102903.152</c:v>
                </c:pt>
                <c:pt idx="14">
                  <c:v>1130692.5180000002</c:v>
                </c:pt>
                <c:pt idx="15">
                  <c:v>1159061.065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0.0361238926182077</c:v>
                </c:pt>
                <c:pt idx="1">
                  <c:v>0.027569763351350085</c:v>
                </c:pt>
                <c:pt idx="2">
                  <c:v>0.025555866385660098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48767255034580397"/>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900560.8960000001</c:v>
                </c:pt>
                <c:pt idx="2">
                  <c:v>923991.699</c:v>
                </c:pt>
                <c:pt idx="3">
                  <c:v>947937.608</c:v>
                </c:pt>
                <c:pt idx="4">
                  <c:v>972408.3800000001</c:v>
                </c:pt>
                <c:pt idx="5">
                  <c:v>997410.926</c:v>
                </c:pt>
                <c:pt idx="6">
                  <c:v>1022951.2519999999</c:v>
                </c:pt>
                <c:pt idx="7">
                  <c:v>1049045.28</c:v>
                </c:pt>
                <c:pt idx="8">
                  <c:v>1075689.3329999999</c:v>
                </c:pt>
                <c:pt idx="9">
                  <c:v>1102903.152</c:v>
                </c:pt>
                <c:pt idx="10">
                  <c:v>1130692.5180000002</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900560.8960000001</c:v>
                </c:pt>
                <c:pt idx="1">
                  <c:v>23430.802999999956</c:v>
                </c:pt>
                <c:pt idx="2">
                  <c:v>23945.908999999985</c:v>
                </c:pt>
                <c:pt idx="3">
                  <c:v>24470.772000000114</c:v>
                </c:pt>
                <c:pt idx="4">
                  <c:v>25002.545999999857</c:v>
                </c:pt>
                <c:pt idx="5">
                  <c:v>25540.325999999885</c:v>
                </c:pt>
                <c:pt idx="6">
                  <c:v>26094.028000000166</c:v>
                </c:pt>
                <c:pt idx="7">
                  <c:v>26644.05299999984</c:v>
                </c:pt>
                <c:pt idx="8">
                  <c:v>27213.819000000134</c:v>
                </c:pt>
                <c:pt idx="9">
                  <c:v>27789.366000000155</c:v>
                </c:pt>
                <c:pt idx="10">
                  <c:v>28368.546999999788</c:v>
                </c:pt>
                <c:pt idx="11">
                  <c:v>1159061.065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72.52736210320148</c:v>
                </c:pt>
                <c:pt idx="1">
                  <c:v>25.74794771683252</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27.472637896798517</c:v>
                </c:pt>
                <c:pt idx="1">
                  <c:v>74.25205228316747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221.38599999999997</c:v>
                </c:pt>
                <c:pt idx="1">
                  <c:v>227.078</c:v>
                </c:pt>
                <c:pt idx="2">
                  <c:v>233.33999999999997</c:v>
                </c:pt>
                <c:pt idx="3">
                  <c:v>240.215</c:v>
                </c:pt>
                <c:pt idx="4">
                  <c:v>247.74899999999997</c:v>
                </c:pt>
                <c:pt idx="5">
                  <c:v>255.97000000000003</c:v>
                </c:pt>
                <c:pt idx="6">
                  <c:v>264.468</c:v>
                </c:pt>
                <c:pt idx="7">
                  <c:v>273.221</c:v>
                </c:pt>
                <c:pt idx="8">
                  <c:v>282.23400000000004</c:v>
                </c:pt>
                <c:pt idx="9">
                  <c:v>291.518</c:v>
                </c:pt>
                <c:pt idx="10">
                  <c:v>301.076</c:v>
                </c:pt>
                <c:pt idx="11">
                  <c:v>310.91700000000003</c:v>
                </c:pt>
                <c:pt idx="12">
                  <c:v>321.046</c:v>
                </c:pt>
                <c:pt idx="13">
                  <c:v>331.473</c:v>
                </c:pt>
                <c:pt idx="14">
                  <c:v>342.202</c:v>
                </c:pt>
                <c:pt idx="15">
                  <c:v>353.245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0.04400292708053355</c:v>
                </c:pt>
                <c:pt idx="1">
                  <c:v>0.03502511467360803</c:v>
                </c:pt>
                <c:pt idx="2">
                  <c:v>0.03273452375024832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59403951558720296"/>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255.97000000000003</c:v>
                </c:pt>
                <c:pt idx="2">
                  <c:v>264.468</c:v>
                </c:pt>
                <c:pt idx="3">
                  <c:v>273.221</c:v>
                </c:pt>
                <c:pt idx="4">
                  <c:v>282.23400000000004</c:v>
                </c:pt>
                <c:pt idx="5">
                  <c:v>291.518</c:v>
                </c:pt>
                <c:pt idx="6">
                  <c:v>301.076</c:v>
                </c:pt>
                <c:pt idx="7">
                  <c:v>310.91700000000003</c:v>
                </c:pt>
                <c:pt idx="8">
                  <c:v>321.046</c:v>
                </c:pt>
                <c:pt idx="9">
                  <c:v>331.473</c:v>
                </c:pt>
                <c:pt idx="10">
                  <c:v>342.202</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255.97000000000003</c:v>
                </c:pt>
                <c:pt idx="1">
                  <c:v>8.49799999999999</c:v>
                </c:pt>
                <c:pt idx="2">
                  <c:v>8.752999999999986</c:v>
                </c:pt>
                <c:pt idx="3">
                  <c:v>9.013000000000034</c:v>
                </c:pt>
                <c:pt idx="4">
                  <c:v>9.283999999999935</c:v>
                </c:pt>
                <c:pt idx="5">
                  <c:v>9.55800000000005</c:v>
                </c:pt>
                <c:pt idx="6">
                  <c:v>9.841000000000008</c:v>
                </c:pt>
                <c:pt idx="7">
                  <c:v>10.128999999999962</c:v>
                </c:pt>
                <c:pt idx="8">
                  <c:v>10.427000000000021</c:v>
                </c:pt>
                <c:pt idx="9">
                  <c:v>10.728999999999985</c:v>
                </c:pt>
                <c:pt idx="10">
                  <c:v>11.043000000000006</c:v>
                </c:pt>
                <c:pt idx="11">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68.93589287830312</c:v>
                </c:pt>
                <c:pt idx="1">
                  <c:v>22.748844649840034</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31.06410712169688</c:v>
                </c:pt>
                <c:pt idx="1">
                  <c:v>77.25115535015996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9EC6DE"/>
              </a:solidFill>
            </c:spPr>
          </c:dPt>
          <c:dPt>
            <c:idx val="1"/>
            <c:spPr>
              <a:solidFill>
                <a:srgbClr val="6EAACE"/>
              </a:solidFill>
            </c:spPr>
          </c:dPt>
          <c:dPt>
            <c:idx val="2"/>
            <c:spPr>
              <a:solidFill>
                <a:srgbClr val="3E8EBE"/>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Acrylic Partial Dentu…</c:v>
                </c:pt>
                <c:pt idx="1">
                  <c:v>Cast Metal Partial De…</c:v>
                </c:pt>
                <c:pt idx="2">
                  <c:v>Combination Framework…</c:v>
                </c:pt>
                <c:pt idx="3">
                  <c:v>Flexible Partial Dent…</c:v>
                </c:pt>
              </c:strCache>
            </c:strRef>
          </c:cat>
          <c:val>
            <c:numRef>
              <c:numCache>
                <c:formatCode>General</c:formatCode>
                <c:ptCount val="4"/>
                <c:pt idx="0">
                  <c:v>45.82</c:v>
                </c:pt>
                <c:pt idx="1">
                  <c:v>49.044</c:v>
                </c:pt>
                <c:pt idx="2">
                  <c:v>67.108</c:v>
                </c:pt>
                <c:pt idx="3">
                  <c:v>93.998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5.9573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9DABB6"/>
              </a:solidFill>
            </c:spPr>
          </c:dPt>
          <c:dPt>
            <c:idx val="1"/>
            <c:spPr>
              <a:solidFill>
                <a:srgbClr val="6C8192"/>
              </a:solidFill>
            </c:spPr>
          </c:dPt>
          <c:dPt>
            <c:idx val="2"/>
            <c:spPr>
              <a:solidFill>
                <a:srgbClr val="3B576E"/>
              </a:solidFill>
            </c:spPr>
          </c:dPt>
          <c:dPt>
            <c:idx val="3"/>
            <c:spPr>
              <a:solidFill>
                <a:srgbClr val="0B2E4A"/>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High-performance Poly…</c:v>
                </c:pt>
                <c:pt idx="1">
                  <c:v>Flexible Thermoplasti…</c:v>
                </c:pt>
                <c:pt idx="2">
                  <c:v>Metal Alloys</c:v>
                </c:pt>
                <c:pt idx="3">
                  <c:v>Acrylic / Resin</c:v>
                </c:pt>
              </c:strCache>
            </c:strRef>
          </c:cat>
          <c:val>
            <c:numRef>
              <c:numCache>
                <c:formatCode>General</c:formatCode>
                <c:ptCount val="4"/>
                <c:pt idx="0">
                  <c:v>25.088</c:v>
                </c:pt>
                <c:pt idx="1">
                  <c:v>48.462</c:v>
                </c:pt>
                <c:pt idx="2">
                  <c:v>72.461</c:v>
                </c:pt>
                <c:pt idx="3">
                  <c:v>109.959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7.34506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C5B1E6"/>
              </a:solidFill>
            </c:spPr>
          </c:dPt>
          <c:dPt>
            <c:idx val="3"/>
            <c:spPr>
              <a:solidFill>
                <a:srgbClr val="6F3CC2"/>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 </c:v>
                </c:pt>
                <c:pt idx="1">
                  <c:v>  </c:v>
                </c:pt>
                <c:pt idx="2">
                  <c:v>Conventional Fabricat…</c:v>
                </c:pt>
                <c:pt idx="3">
                  <c:v>Digital Fabrication</c:v>
                </c:pt>
              </c:strCache>
            </c:strRef>
          </c:cat>
          <c:val>
            <c:numRef>
              <c:numCache>
                <c:formatCode>General</c:formatCode>
                <c:ptCount val="4"/>
                <c:pt idx="2">
                  <c:v>90.68100000000001</c:v>
                </c:pt>
                <c:pt idx="3">
                  <c:v>165.289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1.487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DABAA0"/>
              </a:solidFill>
            </c:spPr>
          </c:dPt>
          <c:dPt>
            <c:idx val="1"/>
            <c:spPr>
              <a:solidFill>
                <a:srgbClr val="C79771"/>
              </a:solidFill>
            </c:spPr>
          </c:dPt>
          <c:dPt>
            <c:idx val="2"/>
            <c:spPr>
              <a:solidFill>
                <a:srgbClr val="B57542"/>
              </a:solidFill>
            </c:spPr>
          </c:dPt>
          <c:dPt>
            <c:idx val="3"/>
            <c:spPr>
              <a:solidFill>
                <a:srgbClr val="A35313"/>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Hospitals</c:v>
                </c:pt>
                <c:pt idx="1">
                  <c:v>Clinics</c:v>
                </c:pt>
                <c:pt idx="2">
                  <c:v>Academic &amp; Teaching D…</c:v>
                </c:pt>
                <c:pt idx="3">
                  <c:v>Laboratories</c:v>
                </c:pt>
              </c:strCache>
            </c:strRef>
          </c:cat>
          <c:val>
            <c:numRef>
              <c:numCache>
                <c:formatCode>General</c:formatCode>
                <c:ptCount val="4"/>
                <c:pt idx="0">
                  <c:v>17.195</c:v>
                </c:pt>
                <c:pt idx="1">
                  <c:v>26.465</c:v>
                </c:pt>
                <c:pt idx="2">
                  <c:v>105.81</c:v>
                </c:pt>
                <c:pt idx="3">
                  <c:v>106.5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2.7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C29A4C"/>
              </a:solidFill>
            </c:spPr>
          </c:dPt>
          <c:dPt>
            <c:idx val="3"/>
            <c:spPr>
              <a:solidFill>
                <a:srgbClr val="A86F00"/>
              </a:solidFill>
            </c:spPr>
          </c:dPt>
          <c:dLbls>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 </c:v>
                </c:pt>
                <c:pt idx="1">
                  <c:v>Online Dental Supply…</c:v>
                </c:pt>
                <c:pt idx="2">
                  <c:v>Direct Sales</c:v>
                </c:pt>
                <c:pt idx="3">
                  <c:v>Dental Dealers &amp; Dist…</c:v>
                </c:pt>
              </c:strCache>
            </c:strRef>
          </c:cat>
          <c:val>
            <c:numRef>
              <c:numCache>
                <c:formatCode>General</c:formatCode>
                <c:ptCount val="4"/>
                <c:pt idx="1">
                  <c:v>21.531</c:v>
                </c:pt>
                <c:pt idx="2">
                  <c:v>56.356</c:v>
                </c:pt>
                <c:pt idx="3">
                  <c:v>178.083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8.631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E59999"/>
              </a:solidFill>
            </c:spPr>
          </c:dPt>
          <c:dPt>
            <c:idx val="3"/>
            <c:spPr>
              <a:solidFill>
                <a:srgbClr val="C00000"/>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 </c:v>
                </c:pt>
                <c:pt idx="1">
                  <c:v>  </c:v>
                </c:pt>
                <c:pt idx="2">
                  <c:v>Adults</c:v>
                </c:pt>
                <c:pt idx="3">
                  <c:v>Geriatric Patients</c:v>
                </c:pt>
              </c:strCache>
            </c:strRef>
          </c:cat>
          <c:val>
            <c:numRef>
              <c:numCache>
                <c:formatCode>General</c:formatCode>
                <c:ptCount val="4"/>
                <c:pt idx="2">
                  <c:v>76.922</c:v>
                </c:pt>
                <c:pt idx="3">
                  <c:v>179.048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9.92432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Cast Metal Partial Dentures</c:v>
                </c:pt>
                <c:pt idx="2">
                  <c:v>Acrylic Partial Dentures</c:v>
                </c:pt>
                <c:pt idx="3">
                  <c:v>Flexible Partial Dentures</c:v>
                </c:pt>
                <c:pt idx="4">
                  <c:v>Combination Framework Partial Dentures</c:v>
                </c:pt>
                <c:pt idx="5">
                  <c:v>2036 Total</c:v>
                </c:pt>
              </c:strCache>
            </c:strRef>
          </c:cat>
          <c:val>
            <c:numRef>
              <c:numCache>
                <c:formatCode>General</c:formatCode>
                <c:ptCount val="6"/>
                <c:pt idx="0">
                  <c:v>0.0</c:v>
                </c:pt>
                <c:pt idx="1">
                  <c:v>255.97000000000003</c:v>
                </c:pt>
                <c:pt idx="2">
                  <c:v>288.75800000000004</c:v>
                </c:pt>
                <c:pt idx="3">
                  <c:v>299.67400000000004</c:v>
                </c:pt>
                <c:pt idx="4">
                  <c:v>319.94500000000005</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Cast Metal Partial Dentures</c:v>
                </c:pt>
                <c:pt idx="2">
                  <c:v>Acrylic Partial Dentures</c:v>
                </c:pt>
                <c:pt idx="3">
                  <c:v>Flexible Partial Dentures</c:v>
                </c:pt>
                <c:pt idx="4">
                  <c:v>Combination Framework Partial Dentures</c:v>
                </c:pt>
                <c:pt idx="5">
                  <c:v>2036 Total</c:v>
                </c:pt>
              </c:strCache>
            </c:strRef>
          </c:cat>
          <c:val>
            <c:numRef>
              <c:numCache>
                <c:formatCode>General</c:formatCode>
                <c:ptCount val="6"/>
                <c:pt idx="0">
                  <c:v>255.97000000000003</c:v>
                </c:pt>
                <c:pt idx="1">
                  <c:v>32.788</c:v>
                </c:pt>
                <c:pt idx="2">
                  <c:v>10.915999999999997</c:v>
                </c:pt>
                <c:pt idx="3">
                  <c:v>20.271</c:v>
                </c:pt>
                <c:pt idx="4">
                  <c:v>33.3</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Cast Metal Partial Dentures</c:v>
                </c:pt>
                <c:pt idx="1">
                  <c:v>Acrylic Partial Dentures</c:v>
                </c:pt>
                <c:pt idx="2">
                  <c:v>Flexible Partial Dentures</c:v>
                </c:pt>
                <c:pt idx="3">
                  <c:v>Combination Framework Partial Dentures</c:v>
                </c:pt>
                <c:pt idx="4">
                  <c:v>Total Absolute $ Opportunity</c:v>
                </c:pt>
              </c:strCache>
            </c:strRef>
          </c:cat>
          <c:val>
            <c:numRef>
              <c:numCache>
                <c:formatCode>General</c:formatCode>
                <c:ptCount val="5"/>
                <c:pt idx="0">
                  <c:v>0.0</c:v>
                </c:pt>
                <c:pt idx="1">
                  <c:v>32.788</c:v>
                </c:pt>
                <c:pt idx="2">
                  <c:v>43.70399999999999</c:v>
                </c:pt>
                <c:pt idx="3">
                  <c:v>63.974999999999994</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Cast Metal Partial Dentures</c:v>
                </c:pt>
                <c:pt idx="1">
                  <c:v>Acrylic Partial Dentures</c:v>
                </c:pt>
                <c:pt idx="2">
                  <c:v>Flexible Partial Dentures</c:v>
                </c:pt>
                <c:pt idx="3">
                  <c:v>Combination Framework Partial Dentures</c:v>
                </c:pt>
                <c:pt idx="4">
                  <c:v>Total Absolute $ Opportunity</c:v>
                </c:pt>
              </c:strCache>
            </c:strRef>
          </c:cat>
          <c:val>
            <c:numRef>
              <c:numCache>
                <c:formatCode>General</c:formatCode>
                <c:ptCount val="5"/>
                <c:pt idx="0">
                  <c:v>32.788</c:v>
                </c:pt>
                <c:pt idx="1">
                  <c:v>10.915999999999997</c:v>
                </c:pt>
                <c:pt idx="2">
                  <c:v>20.271</c:v>
                </c:pt>
                <c:pt idx="3">
                  <c:v>33.3</c:v>
                </c:pt>
                <c:pt idx="4">
                  <c:v>97.27499999999999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Metal Alloys</c:v>
                </c:pt>
                <c:pt idx="2">
                  <c:v>Acrylic / Resin</c:v>
                </c:pt>
                <c:pt idx="3">
                  <c:v>Flexible Thermoplastics</c:v>
                </c:pt>
                <c:pt idx="4">
                  <c:v>High-performance Polymers</c:v>
                </c:pt>
                <c:pt idx="5">
                  <c:v>2036 Total</c:v>
                </c:pt>
              </c:strCache>
            </c:strRef>
          </c:cat>
          <c:val>
            <c:numRef>
              <c:numCache>
                <c:formatCode>General</c:formatCode>
                <c:ptCount val="6"/>
                <c:pt idx="0">
                  <c:v>0.0</c:v>
                </c:pt>
                <c:pt idx="1">
                  <c:v>255.97</c:v>
                </c:pt>
                <c:pt idx="2">
                  <c:v>280.817</c:v>
                </c:pt>
                <c:pt idx="3">
                  <c:v>325.952</c:v>
                </c:pt>
                <c:pt idx="4">
                  <c:v>342.321</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Metal Alloys</c:v>
                </c:pt>
                <c:pt idx="2">
                  <c:v>Acrylic / Resin</c:v>
                </c:pt>
                <c:pt idx="3">
                  <c:v>Flexible Thermoplastics</c:v>
                </c:pt>
                <c:pt idx="4">
                  <c:v>High-performance Polymers</c:v>
                </c:pt>
                <c:pt idx="5">
                  <c:v>2036 Total</c:v>
                </c:pt>
              </c:strCache>
            </c:strRef>
          </c:cat>
          <c:val>
            <c:numRef>
              <c:numCache>
                <c:formatCode>General</c:formatCode>
                <c:ptCount val="6"/>
                <c:pt idx="0">
                  <c:v>255.97</c:v>
                </c:pt>
                <c:pt idx="1">
                  <c:v>24.846999999999994</c:v>
                </c:pt>
                <c:pt idx="2">
                  <c:v>45.13499999999999</c:v>
                </c:pt>
                <c:pt idx="3">
                  <c:v>16.369</c:v>
                </c:pt>
                <c:pt idx="4">
                  <c:v>10.924</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Metal Alloys</c:v>
                </c:pt>
                <c:pt idx="1">
                  <c:v>Acrylic / Resin</c:v>
                </c:pt>
                <c:pt idx="2">
                  <c:v>Flexible Thermoplastics</c:v>
                </c:pt>
                <c:pt idx="3">
                  <c:v>High-performance Polymers</c:v>
                </c:pt>
                <c:pt idx="4">
                  <c:v>Total Absolute $ Opportunity</c:v>
                </c:pt>
              </c:strCache>
            </c:strRef>
          </c:cat>
          <c:val>
            <c:numRef>
              <c:numCache>
                <c:formatCode>General</c:formatCode>
                <c:ptCount val="5"/>
                <c:pt idx="0">
                  <c:v>0.0</c:v>
                </c:pt>
                <c:pt idx="1">
                  <c:v>24.846999999999994</c:v>
                </c:pt>
                <c:pt idx="2">
                  <c:v>69.98199999999999</c:v>
                </c:pt>
                <c:pt idx="3">
                  <c:v>86.35099999999998</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Metal Alloys</c:v>
                </c:pt>
                <c:pt idx="1">
                  <c:v>Acrylic / Resin</c:v>
                </c:pt>
                <c:pt idx="2">
                  <c:v>Flexible Thermoplastics</c:v>
                </c:pt>
                <c:pt idx="3">
                  <c:v>High-performance Polymers</c:v>
                </c:pt>
                <c:pt idx="4">
                  <c:v>Total Absolute $ Opportunity</c:v>
                </c:pt>
              </c:strCache>
            </c:strRef>
          </c:cat>
          <c:val>
            <c:numRef>
              <c:numCache>
                <c:formatCode>General</c:formatCode>
                <c:ptCount val="5"/>
                <c:pt idx="0">
                  <c:v>24.846999999999994</c:v>
                </c:pt>
                <c:pt idx="1">
                  <c:v>45.13499999999999</c:v>
                </c:pt>
                <c:pt idx="2">
                  <c:v>16.369</c:v>
                </c:pt>
                <c:pt idx="3">
                  <c:v>10.924</c:v>
                </c:pt>
                <c:pt idx="4">
                  <c:v>97.27499999999998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Conventional Fabrication</c:v>
                </c:pt>
                <c:pt idx="2">
                  <c:v>Digital Fabrication</c:v>
                </c:pt>
                <c:pt idx="3">
                  <c:v>2036 Total</c:v>
                </c:pt>
              </c:strCache>
            </c:strRef>
          </c:cat>
          <c:val>
            <c:numRef>
              <c:numCache>
                <c:formatCode>General</c:formatCode>
                <c:ptCount val="4"/>
                <c:pt idx="0">
                  <c:v>0.0</c:v>
                </c:pt>
                <c:pt idx="1">
                  <c:v>255.97</c:v>
                </c:pt>
                <c:pt idx="2">
                  <c:v>307.457</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Conventional Fabrication</c:v>
                </c:pt>
                <c:pt idx="2">
                  <c:v>Digital Fabrication</c:v>
                </c:pt>
                <c:pt idx="3">
                  <c:v>2036 Total</c:v>
                </c:pt>
              </c:strCache>
            </c:strRef>
          </c:cat>
          <c:val>
            <c:numRef>
              <c:numCache>
                <c:formatCode>General</c:formatCode>
                <c:ptCount val="4"/>
                <c:pt idx="0">
                  <c:v>255.97</c:v>
                </c:pt>
                <c:pt idx="1">
                  <c:v>51.486999999999995</c:v>
                </c:pt>
                <c:pt idx="2">
                  <c:v>45.78800000000001</c:v>
                </c:pt>
                <c:pt idx="3">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Conventional Fabrication</c:v>
                </c:pt>
                <c:pt idx="1">
                  <c:v>Digital Fabrication</c:v>
                </c:pt>
                <c:pt idx="2">
                  <c:v>Total Absolute $ Opportunity</c:v>
                </c:pt>
              </c:strCache>
            </c:strRef>
          </c:cat>
          <c:val>
            <c:numRef>
              <c:numCache>
                <c:formatCode>General</c:formatCode>
                <c:ptCount val="3"/>
                <c:pt idx="0">
                  <c:v>0.0</c:v>
                </c:pt>
                <c:pt idx="1">
                  <c:v>51.486999999999995</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Conventional Fabrication</c:v>
                </c:pt>
                <c:pt idx="1">
                  <c:v>Digital Fabrication</c:v>
                </c:pt>
                <c:pt idx="2">
                  <c:v>Total Absolute $ Opportunity</c:v>
                </c:pt>
              </c:strCache>
            </c:strRef>
          </c:cat>
          <c:val>
            <c:numRef>
              <c:numCache>
                <c:formatCode>General</c:formatCode>
                <c:ptCount val="3"/>
                <c:pt idx="0">
                  <c:v>51.486999999999995</c:v>
                </c:pt>
                <c:pt idx="1">
                  <c:v>45.78800000000001</c:v>
                </c:pt>
                <c:pt idx="2">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Dental Clinics</c:v>
                </c:pt>
                <c:pt idx="2">
                  <c:v>Dental Hospitals</c:v>
                </c:pt>
                <c:pt idx="3">
                  <c:v>Dental Laboratories</c:v>
                </c:pt>
                <c:pt idx="4">
                  <c:v>Academic &amp; Teaching Dental Institutions</c:v>
                </c:pt>
                <c:pt idx="5">
                  <c:v>2036 Total</c:v>
                </c:pt>
              </c:strCache>
            </c:strRef>
          </c:cat>
          <c:val>
            <c:numRef>
              <c:numCache>
                <c:formatCode>General</c:formatCode>
                <c:ptCount val="6"/>
                <c:pt idx="0">
                  <c:v>0.0</c:v>
                </c:pt>
                <c:pt idx="1">
                  <c:v>255.97</c:v>
                </c:pt>
                <c:pt idx="2">
                  <c:v>267.239</c:v>
                </c:pt>
                <c:pt idx="3">
                  <c:v>278.85299999999995</c:v>
                </c:pt>
                <c:pt idx="4">
                  <c:v>301.89599999999996</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Dental Clinics</c:v>
                </c:pt>
                <c:pt idx="2">
                  <c:v>Dental Hospitals</c:v>
                </c:pt>
                <c:pt idx="3">
                  <c:v>Dental Laboratories</c:v>
                </c:pt>
                <c:pt idx="4">
                  <c:v>Academic &amp; Teaching Dental Institutions</c:v>
                </c:pt>
                <c:pt idx="5">
                  <c:v>2036 Total</c:v>
                </c:pt>
              </c:strCache>
            </c:strRef>
          </c:cat>
          <c:val>
            <c:numRef>
              <c:numCache>
                <c:formatCode>General</c:formatCode>
                <c:ptCount val="6"/>
                <c:pt idx="0">
                  <c:v>255.97</c:v>
                </c:pt>
                <c:pt idx="1">
                  <c:v>11.269000000000002</c:v>
                </c:pt>
                <c:pt idx="2">
                  <c:v>11.614</c:v>
                </c:pt>
                <c:pt idx="3">
                  <c:v>23.043000000000006</c:v>
                </c:pt>
                <c:pt idx="4">
                  <c:v>51.34899999999999</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Dental Clinics</c:v>
                </c:pt>
                <c:pt idx="1">
                  <c:v>Dental Hospitals</c:v>
                </c:pt>
                <c:pt idx="2">
                  <c:v>Dental Laboratories</c:v>
                </c:pt>
                <c:pt idx="3">
                  <c:v>Academic &amp; Teaching Dental Institutions</c:v>
                </c:pt>
                <c:pt idx="4">
                  <c:v>Total Absolute $ Opportunity</c:v>
                </c:pt>
              </c:strCache>
            </c:strRef>
          </c:cat>
          <c:val>
            <c:numRef>
              <c:numCache>
                <c:formatCode>General</c:formatCode>
                <c:ptCount val="5"/>
                <c:pt idx="0">
                  <c:v>0.0</c:v>
                </c:pt>
                <c:pt idx="1">
                  <c:v>11.269000000000002</c:v>
                </c:pt>
                <c:pt idx="2">
                  <c:v>22.883000000000003</c:v>
                </c:pt>
                <c:pt idx="3">
                  <c:v>45.92600000000001</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Dental Clinics</c:v>
                </c:pt>
                <c:pt idx="1">
                  <c:v>Dental Hospitals</c:v>
                </c:pt>
                <c:pt idx="2">
                  <c:v>Dental Laboratories</c:v>
                </c:pt>
                <c:pt idx="3">
                  <c:v>Academic &amp; Teaching Dental Institutions</c:v>
                </c:pt>
                <c:pt idx="4">
                  <c:v>Total Absolute $ Opportunity</c:v>
                </c:pt>
              </c:strCache>
            </c:strRef>
          </c:cat>
          <c:val>
            <c:numRef>
              <c:numCache>
                <c:formatCode>General</c:formatCode>
                <c:ptCount val="5"/>
                <c:pt idx="0">
                  <c:v>11.269000000000002</c:v>
                </c:pt>
                <c:pt idx="1">
                  <c:v>11.614</c:v>
                </c:pt>
                <c:pt idx="2">
                  <c:v>23.043000000000006</c:v>
                </c:pt>
                <c:pt idx="3">
                  <c:v>51.34899999999999</c:v>
                </c:pt>
                <c:pt idx="4">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Direct Sales</c:v>
                </c:pt>
                <c:pt idx="2">
                  <c:v>Dental Dealers &amp; Distributors</c:v>
                </c:pt>
                <c:pt idx="3">
                  <c:v>Online Dental Supply Channels</c:v>
                </c:pt>
                <c:pt idx="4">
                  <c:v>2036 Total</c:v>
                </c:pt>
              </c:strCache>
            </c:strRef>
          </c:cat>
          <c:val>
            <c:numRef>
              <c:numCache>
                <c:formatCode>General</c:formatCode>
                <c:ptCount val="5"/>
                <c:pt idx="0">
                  <c:v>0.0</c:v>
                </c:pt>
                <c:pt idx="1">
                  <c:v>255.97</c:v>
                </c:pt>
                <c:pt idx="2">
                  <c:v>317.32</c:v>
                </c:pt>
                <c:pt idx="3">
                  <c:v>349.61199999999997</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Direct Sales</c:v>
                </c:pt>
                <c:pt idx="2">
                  <c:v>Dental Dealers &amp; Distributors</c:v>
                </c:pt>
                <c:pt idx="3">
                  <c:v>Online Dental Supply Channels</c:v>
                </c:pt>
                <c:pt idx="4">
                  <c:v>2036 Total</c:v>
                </c:pt>
              </c:strCache>
            </c:strRef>
          </c:cat>
          <c:val>
            <c:numRef>
              <c:numCache>
                <c:formatCode>General</c:formatCode>
                <c:ptCount val="5"/>
                <c:pt idx="0">
                  <c:v>255.97</c:v>
                </c:pt>
                <c:pt idx="1">
                  <c:v>61.35</c:v>
                </c:pt>
                <c:pt idx="2">
                  <c:v>32.292</c:v>
                </c:pt>
                <c:pt idx="3">
                  <c:v>3.6330000000000027</c:v>
                </c:pt>
                <c:pt idx="4">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Direct Sales</c:v>
                </c:pt>
                <c:pt idx="1">
                  <c:v>Dental Dealers &amp; Distributors</c:v>
                </c:pt>
                <c:pt idx="2">
                  <c:v>Online Dental Supply Channels</c:v>
                </c:pt>
                <c:pt idx="3">
                  <c:v>Total Absolute $ Opportunity</c:v>
                </c:pt>
              </c:strCache>
            </c:strRef>
          </c:cat>
          <c:val>
            <c:numRef>
              <c:numCache>
                <c:formatCode>General</c:formatCode>
                <c:ptCount val="4"/>
                <c:pt idx="0">
                  <c:v>0.0</c:v>
                </c:pt>
                <c:pt idx="1">
                  <c:v>61.35</c:v>
                </c:pt>
                <c:pt idx="2">
                  <c:v>93.642</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Direct Sales</c:v>
                </c:pt>
                <c:pt idx="1">
                  <c:v>Dental Dealers &amp; Distributors</c:v>
                </c:pt>
                <c:pt idx="2">
                  <c:v>Online Dental Supply Channels</c:v>
                </c:pt>
                <c:pt idx="3">
                  <c:v>Total Absolute $ Opportunity</c:v>
                </c:pt>
              </c:strCache>
            </c:strRef>
          </c:cat>
          <c:val>
            <c:numRef>
              <c:numCache>
                <c:formatCode>General</c:formatCode>
                <c:ptCount val="4"/>
                <c:pt idx="0">
                  <c:v>61.35</c:v>
                </c:pt>
                <c:pt idx="1">
                  <c:v>32.292</c:v>
                </c:pt>
                <c:pt idx="2">
                  <c:v>3.6330000000000027</c:v>
                </c:pt>
                <c:pt idx="3">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Adults</c:v>
                </c:pt>
                <c:pt idx="2">
                  <c:v>Geriatric Patients</c:v>
                </c:pt>
                <c:pt idx="3">
                  <c:v>2036 Total</c:v>
                </c:pt>
              </c:strCache>
            </c:strRef>
          </c:cat>
          <c:val>
            <c:numRef>
              <c:numCache>
                <c:formatCode>General</c:formatCode>
                <c:ptCount val="4"/>
                <c:pt idx="0">
                  <c:v>0.0</c:v>
                </c:pt>
                <c:pt idx="1">
                  <c:v>255.97</c:v>
                </c:pt>
                <c:pt idx="2">
                  <c:v>282.85699999999997</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Adults</c:v>
                </c:pt>
                <c:pt idx="2">
                  <c:v>Geriatric Patients</c:v>
                </c:pt>
                <c:pt idx="3">
                  <c:v>2036 Total</c:v>
                </c:pt>
              </c:strCache>
            </c:strRef>
          </c:cat>
          <c:val>
            <c:numRef>
              <c:numCache>
                <c:formatCode>General</c:formatCode>
                <c:ptCount val="4"/>
                <c:pt idx="0">
                  <c:v>255.97</c:v>
                </c:pt>
                <c:pt idx="1">
                  <c:v>26.887</c:v>
                </c:pt>
                <c:pt idx="2">
                  <c:v>70.388</c:v>
                </c:pt>
                <c:pt idx="3">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Adults</c:v>
                </c:pt>
                <c:pt idx="1">
                  <c:v>Geriatric Patients</c:v>
                </c:pt>
                <c:pt idx="2">
                  <c:v>Total Absolute $ Opportunity</c:v>
                </c:pt>
              </c:strCache>
            </c:strRef>
          </c:cat>
          <c:val>
            <c:numRef>
              <c:numCache>
                <c:formatCode>General</c:formatCode>
                <c:ptCount val="3"/>
                <c:pt idx="0">
                  <c:v>0.0</c:v>
                </c:pt>
                <c:pt idx="1">
                  <c:v>26.887</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Adults</c:v>
                </c:pt>
                <c:pt idx="1">
                  <c:v>Geriatric Patients</c:v>
                </c:pt>
                <c:pt idx="2">
                  <c:v>Total Absolute $ Opportunity</c:v>
                </c:pt>
              </c:strCache>
            </c:strRef>
          </c:cat>
          <c:val>
            <c:numRef>
              <c:numCache>
                <c:formatCode>General</c:formatCode>
                <c:ptCount val="3"/>
                <c:pt idx="0">
                  <c:v>26.887</c:v>
                </c:pt>
                <c:pt idx="1">
                  <c:v>70.388</c:v>
                </c:pt>
                <c:pt idx="2">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High-performance Polymers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34.35800462586735</c:v>
                </c:pt>
                <c:pt idx="1">
                  <c:v>34.364159139919366</c:v>
                </c:pt>
                <c:pt idx="2">
                  <c:v>34.364159139919366</c:v>
                </c:pt>
                <c:pt idx="3">
                  <c:v>34.364159139919366</c:v>
                </c:pt>
              </c:numCache>
            </c:numRef>
          </c:val>
        </c:ser>
        <c:ser>
          <c:idx val="1"/>
          <c:order val="1"/>
          <c:tx>
            <c:strRef>
              <c:strCache>
                <c:ptCount val="1"/>
                <c:pt idx="0">
                  <c:v>Acrylic / Resin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26.26586234919047</c:v>
                </c:pt>
                <c:pt idx="1">
                  <c:v>26.263399693721283</c:v>
                </c:pt>
                <c:pt idx="2">
                  <c:v>26.263399693721283</c:v>
                </c:pt>
                <c:pt idx="3">
                  <c:v>26.263399693721283</c:v>
                </c:pt>
              </c:numCache>
            </c:numRef>
          </c:val>
        </c:ser>
        <c:ser>
          <c:idx val="2"/>
          <c:order val="2"/>
          <c:tx>
            <c:strRef>
              <c:strCache>
                <c:ptCount val="1"/>
                <c:pt idx="0">
                  <c:v>Flexible Thermoplastics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20.54291429643058</c:v>
                </c:pt>
                <c:pt idx="1">
                  <c:v>20.540988217645403</c:v>
                </c:pt>
                <c:pt idx="2">
                  <c:v>20.540988217645403</c:v>
                </c:pt>
                <c:pt idx="3">
                  <c:v>20.540988217645403</c:v>
                </c:pt>
              </c:numCache>
            </c:numRef>
          </c:val>
        </c:ser>
        <c:ser>
          <c:idx val="3"/>
          <c:order val="3"/>
          <c:tx>
            <c:strRef>
              <c:strCache>
                <c:ptCount val="1"/>
                <c:pt idx="0">
                  <c:v>Metal Alloys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18.833218728511596</c:v>
                </c:pt>
                <c:pt idx="1">
                  <c:v>18.83145294871394</c:v>
                </c:pt>
                <c:pt idx="2">
                  <c:v>18.83145294871394</c:v>
                </c:pt>
                <c:pt idx="3">
                  <c:v>18.83145294871394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Conventional Fabrication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53.30812263649718</c:v>
                </c:pt>
                <c:pt idx="1">
                  <c:v>53.306663332916614</c:v>
                </c:pt>
                <c:pt idx="2">
                  <c:v>53.306663332916614</c:v>
                </c:pt>
                <c:pt idx="3">
                  <c:v>53.306663332916614</c:v>
                </c:pt>
              </c:numCache>
            </c:numRef>
          </c:val>
        </c:ser>
        <c:ser>
          <c:idx val="1"/>
          <c:order val="1"/>
          <c:tx>
            <c:strRef>
              <c:strCache>
                <c:ptCount val="1"/>
                <c:pt idx="0">
                  <c:v>Digital Fabrication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46.691877363502826</c:v>
                </c:pt>
                <c:pt idx="1">
                  <c:v>46.69333666708339</c:v>
                </c:pt>
                <c:pt idx="2">
                  <c:v>46.69333666708339</c:v>
                </c:pt>
                <c:pt idx="3">
                  <c:v>46.69333666708339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strCache>
                <c:ptCount val="1"/>
                <c:pt idx="0">
                  <c:v>Flexible Partial Dentures</c:v>
                </c:pt>
              </c:strCache>
            </c:strRef>
          </c:tx>
          <c:spPr>
            <a:ln w="25400">
              <a:solidFill>
                <a:srgbClr val="C55A11"/>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389.0</c:v>
                </c:pt>
                <c:pt idx="1">
                  <c:v>390.0</c:v>
                </c:pt>
                <c:pt idx="2">
                  <c:v>393.0</c:v>
                </c:pt>
                <c:pt idx="3">
                  <c:v>396.0</c:v>
                </c:pt>
                <c:pt idx="4">
                  <c:v>400.0</c:v>
                </c:pt>
                <c:pt idx="5">
                  <c:v>407.0</c:v>
                </c:pt>
                <c:pt idx="6">
                  <c:v>413.0</c:v>
                </c:pt>
                <c:pt idx="7">
                  <c:v>419.0</c:v>
                </c:pt>
                <c:pt idx="8">
                  <c:v>425.0</c:v>
                </c:pt>
                <c:pt idx="9">
                  <c:v>430.0</c:v>
                </c:pt>
                <c:pt idx="10">
                  <c:v>434.0</c:v>
                </c:pt>
                <c:pt idx="11">
                  <c:v>437.0</c:v>
                </c:pt>
                <c:pt idx="12">
                  <c:v>440.0</c:v>
                </c:pt>
                <c:pt idx="13">
                  <c:v>442.0</c:v>
                </c:pt>
                <c:pt idx="14">
                  <c:v>445.0</c:v>
                </c:pt>
                <c:pt idx="15">
                  <c:v>446.0</c:v>
                </c:pt>
              </c:numCache>
            </c:numRef>
          </c:val>
          <c:smooth val="0"/>
        </c:ser>
        <c:ser>
          <c:idx val="1"/>
          <c:order val="1"/>
          <c:tx>
            <c:strRef>
              <c:strCache>
                <c:ptCount val="1"/>
                <c:pt idx="0">
                  <c:v>Acrylic Partial Dentures</c:v>
                </c:pt>
              </c:strCache>
            </c:strRef>
          </c:tx>
          <c:spPr>
            <a:ln w="25400">
              <a:solidFill>
                <a:srgbClr val="0B2E4A"/>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317.0</c:v>
                </c:pt>
                <c:pt idx="1">
                  <c:v>320.0</c:v>
                </c:pt>
                <c:pt idx="2">
                  <c:v>323.0</c:v>
                </c:pt>
                <c:pt idx="3">
                  <c:v>326.0</c:v>
                </c:pt>
                <c:pt idx="4">
                  <c:v>329.0</c:v>
                </c:pt>
                <c:pt idx="5">
                  <c:v>332.0</c:v>
                </c:pt>
                <c:pt idx="6">
                  <c:v>336.0</c:v>
                </c:pt>
                <c:pt idx="7">
                  <c:v>340.0</c:v>
                </c:pt>
                <c:pt idx="8">
                  <c:v>344.0</c:v>
                </c:pt>
                <c:pt idx="9">
                  <c:v>348.0</c:v>
                </c:pt>
                <c:pt idx="10">
                  <c:v>351.0</c:v>
                </c:pt>
                <c:pt idx="11">
                  <c:v>354.0</c:v>
                </c:pt>
                <c:pt idx="12">
                  <c:v>357.0</c:v>
                </c:pt>
                <c:pt idx="13">
                  <c:v>360.0</c:v>
                </c:pt>
                <c:pt idx="14">
                  <c:v>362.0</c:v>
                </c:pt>
                <c:pt idx="15">
                  <c:v>364.0</c:v>
                </c:pt>
              </c:numCache>
            </c:numRef>
          </c:val>
          <c:smooth val="0"/>
        </c:ser>
        <c:ser>
          <c:idx val="2"/>
          <c:order val="2"/>
          <c:tx>
            <c:strRef>
              <c:strCache>
                <c:ptCount val="1"/>
                <c:pt idx="0">
                  <c:v>Cast Metal Partial Dentures</c:v>
                </c:pt>
              </c:strCache>
            </c:strRef>
          </c:tx>
          <c:spPr>
            <a:ln w="25400">
              <a:solidFill>
                <a:srgbClr val="7030A0"/>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300.0</c:v>
                </c:pt>
                <c:pt idx="1">
                  <c:v>303.0</c:v>
                </c:pt>
                <c:pt idx="2">
                  <c:v>306.0</c:v>
                </c:pt>
                <c:pt idx="3">
                  <c:v>309.0</c:v>
                </c:pt>
                <c:pt idx="4">
                  <c:v>311.0</c:v>
                </c:pt>
                <c:pt idx="5">
                  <c:v>314.0</c:v>
                </c:pt>
                <c:pt idx="6">
                  <c:v>316.0</c:v>
                </c:pt>
                <c:pt idx="7">
                  <c:v>319.0</c:v>
                </c:pt>
                <c:pt idx="8">
                  <c:v>322.0</c:v>
                </c:pt>
                <c:pt idx="9">
                  <c:v>325.0</c:v>
                </c:pt>
                <c:pt idx="10">
                  <c:v>328.0</c:v>
                </c:pt>
                <c:pt idx="11">
                  <c:v>332.0</c:v>
                </c:pt>
                <c:pt idx="12">
                  <c:v>335.0</c:v>
                </c:pt>
                <c:pt idx="13">
                  <c:v>338.0</c:v>
                </c:pt>
                <c:pt idx="14">
                  <c:v>341.0</c:v>
                </c:pt>
                <c:pt idx="15">
                  <c:v>344.0</c:v>
                </c:pt>
              </c:numCache>
            </c:numRef>
          </c:val>
          <c:smooth val="0"/>
        </c:ser>
        <c:ser>
          <c:idx val="3"/>
          <c:order val="3"/>
          <c:tx>
            <c:strRef>
              <c:strCache>
                <c:ptCount val="1"/>
                <c:pt idx="0">
                  <c:v>Combination Framework Partial Dentures</c:v>
                </c:pt>
              </c:strCache>
            </c:strRef>
          </c:tx>
          <c:spPr>
            <a:ln w="25400">
              <a:solidFill>
                <a:srgbClr val="008189"/>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237.0</c:v>
                </c:pt>
                <c:pt idx="1">
                  <c:v>239.0</c:v>
                </c:pt>
                <c:pt idx="2">
                  <c:v>242.0</c:v>
                </c:pt>
                <c:pt idx="3">
                  <c:v>244.0</c:v>
                </c:pt>
                <c:pt idx="4">
                  <c:v>246.0</c:v>
                </c:pt>
                <c:pt idx="5">
                  <c:v>248.0</c:v>
                </c:pt>
                <c:pt idx="6">
                  <c:v>250.0</c:v>
                </c:pt>
                <c:pt idx="7">
                  <c:v>252.0</c:v>
                </c:pt>
                <c:pt idx="8">
                  <c:v>254.0</c:v>
                </c:pt>
                <c:pt idx="9">
                  <c:v>256.0</c:v>
                </c:pt>
                <c:pt idx="10">
                  <c:v>259.0</c:v>
                </c:pt>
                <c:pt idx="11">
                  <c:v>262.0</c:v>
                </c:pt>
                <c:pt idx="12">
                  <c:v>264.0</c:v>
                </c:pt>
                <c:pt idx="13">
                  <c:v>267.0</c:v>
                </c:pt>
                <c:pt idx="14">
                  <c:v>270.0</c:v>
                </c:pt>
                <c:pt idx="15">
                  <c:v>273.0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
          <c:min val="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dPt>
            <c:idx val="3"/>
            <c:spPr>
              <a:solidFill>
                <a:srgbClr val="C55A11"/>
              </a:solidFill>
            </c:spPr>
          </c:dPt>
          <c:cat>
            <c:strRef>
              <c:strCache>
                <c:ptCount val="4"/>
                <c:pt idx="0">
                  <c:v>Combination Framework Partial Dentures</c:v>
                </c:pt>
                <c:pt idx="1">
                  <c:v>Cast Metal Partial Dentures</c:v>
                </c:pt>
                <c:pt idx="2">
                  <c:v>Acrylic Partial Dentures</c:v>
                </c:pt>
                <c:pt idx="3">
                  <c:v>Flexible Partial Dentures</c:v>
                </c:pt>
              </c:strCache>
            </c:strRef>
          </c:cat>
          <c:val>
            <c:numRef>
              <c:numCache>
                <c:formatCode>General</c:formatCode>
                <c:ptCount val="4"/>
                <c:pt idx="0">
                  <c:v>77.2</c:v>
                </c:pt>
                <c:pt idx="1">
                  <c:v>97.5</c:v>
                </c:pt>
                <c:pt idx="2">
                  <c:v>103.1</c:v>
                </c:pt>
                <c:pt idx="3">
                  <c:v>126.5</c:v>
                </c:pt>
              </c:numCache>
            </c:numRef>
          </c:val>
        </c:ser>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28.0"/>
          <c:min val="74.0"/>
        </c:scaling>
        <c:delete/>
        <c:axPos val="b"/>
        <c:majorTickMark val="out"/>
        <c:minorTickMark val="none"/>
        <c:tickLblPos val="none"/>
        <c:crossAx val="-2068027336"/>
        <c:crosses val="autoZero"/>
      </c:valAx>
    </c:plotArea>
    <c:dispBlanksAs val="gap"/>
  </c:chart>
  <c:txPr>
    <a:bodyPr/>
    <a:lstStyle/>
    <a:p>
      <a:pPr>
        <a:defRPr sz="1800"/>
      </a:pPr>
      <a:endParaRPr lang="en-US"/>
    </a:p>
  </c:txPr>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bar"/>
        <c:grouping val="stacked"/>
        <c:ser>
          <c:idx val="0"/>
          <c:order val="0"/>
          <c:tx>
            <c:strRef>
              <c:strCache>
                <c:ptCount val="1"/>
                <c:pt idx="0">
                  <c:v>Base</c:v>
                </c:pt>
              </c:strCache>
            </c:strRef>
          </c:tx>
          <c:spPr>
            <a:noFill/>
          </c:spPr>
          <c:cat>
            <c:strRef>
              <c:strCache>
                <c:ptCount val="4"/>
                <c:pt idx="0">
                  <c:v>Cast Metal Partial Dentures</c:v>
                </c:pt>
                <c:pt idx="1">
                  <c:v>Combination Framework Partial Dentures</c:v>
                </c:pt>
                <c:pt idx="2">
                  <c:v>Flexible Partial Dentures</c:v>
                </c:pt>
                <c:pt idx="3">
                  <c:v>Acrylic Partial Dentures</c:v>
                </c:pt>
              </c:strCache>
            </c:strRef>
          </c:cat>
          <c:val>
            <c:numRef>
              <c:numCache>
                <c:formatCode>General</c:formatCode>
                <c:ptCount val="4"/>
                <c:pt idx="0">
                  <c:v>272</c:v>
                </c:pt>
                <c:pt idx="1">
                  <c:v>272</c:v>
                </c:pt>
                <c:pt idx="2">
                  <c:v>272</c:v>
                </c:pt>
                <c:pt idx="3">
                  <c:v>272</c:v>
                </c:pt>
              </c:numCache>
            </c:numRef>
          </c:val>
        </c:ser>
        <c:ser>
          <c:idx val="1"/>
          <c:order val="1"/>
          <c:tx>
            <c:strRef>
              <c:strCache>
                <c:ptCount val="1"/>
                <c:pt idx="0">
                  <c:v>Range</c:v>
                </c:pt>
              </c:strCache>
            </c:strRef>
          </c:tx>
          <c:spPr>
            <a:solidFill>
              <a:srgbClr val="008189"/>
            </a:solidFill>
          </c:spPr>
          <c:cat>
            <c:strRef>
              <c:strCache>
                <c:ptCount val="4"/>
                <c:pt idx="0">
                  <c:v>Cast Metal Partial Dentures</c:v>
                </c:pt>
                <c:pt idx="1">
                  <c:v>Combination Framework Partial Dentures</c:v>
                </c:pt>
                <c:pt idx="2">
                  <c:v>Flexible Partial Dentures</c:v>
                </c:pt>
                <c:pt idx="3">
                  <c:v>Acrylic Partial Dentures</c:v>
                </c:pt>
              </c:strCache>
            </c:strRef>
          </c:cat>
          <c:val>
            <c:numRef>
              <c:numCache>
                <c:formatCode>General</c:formatCode>
                <c:ptCount val="4"/>
                <c:pt idx="0">
                  <c:v>102</c:v>
                </c:pt>
                <c:pt idx="1">
                  <c:v>102</c:v>
                </c:pt>
                <c:pt idx="2">
                  <c:v>102</c:v>
                </c:pt>
                <c:pt idx="3">
                  <c:v>102</c:v>
                </c:pt>
              </c:numCache>
            </c:numRef>
          </c:val>
        </c:ser>
        <c:gapWidth val="55"/>
        <c:overlap val="100"/>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2000.0"/>
          <c:min val="0.0"/>
        </c:scaling>
        <c:delete val="0"/>
        <c:axPos val="b"/>
        <c:majorGridlines>
          <c:spPr>
            <a:ln>
              <a:solidFill>
                <a:srgbClr val="D9DEE4"/>
              </a:solidFill>
            </a:ln>
          </c:spPr>
        </c:majorGridlines>
        <c:numFmt formatCode="#,##0" sourceLinked="0"/>
        <c:majorTickMark val="out"/>
        <c:minorTickMark val="none"/>
        <c:tickLblPos val="none"/>
        <c:spPr>
          <a:ln>
            <a:noFill/>
          </a:ln>
        </c:spPr>
        <c:txPr>
          <a:bodyPr/>
          <a:lstStyle/>
          <a:p>
            <a:pPr>
              <a:defRPr sz="800">
                <a:solidFill>
                  <a:srgbClr val="59636E"/>
                </a:solidFill>
                <a:latin typeface="Calibri"/>
              </a:defRPr>
            </a:pPr>
          </a:p>
        </c:txPr>
        <c:crossAx val="-2068027336"/>
        <c:crosses val="autoZero"/>
        <c:majorUnit val="2000.0"/>
      </c:valAx>
    </c:plotArea>
    <c:dispBlanksAs val="gap"/>
  </c:chart>
  <c:txPr>
    <a:bodyPr/>
    <a:lstStyle/>
    <a:p>
      <a:pPr>
        <a:defRPr sz="1800"/>
      </a:pPr>
      <a:endParaRPr lang="en-US"/>
    </a:p>
  </c:txPr>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strCache>
                <c:ptCount val="1"/>
                <c:pt idx="0">
                  <c:v>Base</c:v>
                </c:pt>
              </c:strCache>
            </c:strRef>
          </c:tx>
          <c:spPr>
            <a:noFill/>
          </c:spPr>
          <c:cat>
            <c:strRef>
              <c:strCache>
                <c:ptCount val="6"/>
                <c:pt idx="0">
                  <c:v>Europe</c:v>
                </c:pt>
                <c:pt idx="1">
                  <c:v>Middle East &amp; Africa</c:v>
                </c:pt>
                <c:pt idx="2">
                  <c:v>South Asia &amp; Pacific</c:v>
                </c:pt>
                <c:pt idx="3">
                  <c:v>Latin America</c:v>
                </c:pt>
                <c:pt idx="4">
                  <c:v>East Asia</c:v>
                </c:pt>
                <c:pt idx="5">
                  <c:v>North America</c:v>
                </c:pt>
              </c:strCache>
            </c:strRef>
          </c:cat>
          <c:val>
            <c:numRef>
              <c:numCache>
                <c:formatCode>General</c:formatCode>
                <c:ptCount val="6"/>
                <c:pt idx="0">
                  <c:v>83.3</c:v>
                </c:pt>
                <c:pt idx="1">
                  <c:v>80.3</c:v>
                </c:pt>
                <c:pt idx="2">
                  <c:v>79.6</c:v>
                </c:pt>
                <c:pt idx="3">
                  <c:v>77.3</c:v>
                </c:pt>
                <c:pt idx="4">
                  <c:v>77.6</c:v>
                </c:pt>
                <c:pt idx="5">
                  <c:v>71.6</c:v>
                </c:pt>
              </c:numCache>
            </c:numRef>
          </c:val>
        </c:ser>
        <c:ser>
          <c:idx val="1"/>
          <c:order val="1"/>
          <c:tx>
            <c:strRef>
              <c:strCache>
                <c:ptCount val="1"/>
                <c:pt idx="0">
                  <c:v>Range</c:v>
                </c:pt>
              </c:strCache>
            </c:strRef>
          </c:tx>
          <c:spPr>
            <a:solidFill>
              <a:srgbClr val="008189"/>
            </a:solidFill>
          </c:spPr>
          <c:dPt>
            <c:idx val="5"/>
            <c:spPr>
              <a:solidFill>
                <a:srgbClr val="5B7DB1"/>
              </a:solidFill>
            </c:spPr>
          </c:dPt>
          <c:cat>
            <c:strRef>
              <c:strCache>
                <c:ptCount val="6"/>
                <c:pt idx="0">
                  <c:v>Europe</c:v>
                </c:pt>
                <c:pt idx="1">
                  <c:v>Middle East &amp; Africa</c:v>
                </c:pt>
                <c:pt idx="2">
                  <c:v>South Asia &amp; Pacific</c:v>
                </c:pt>
                <c:pt idx="3">
                  <c:v>Latin America</c:v>
                </c:pt>
                <c:pt idx="4">
                  <c:v>East Asia</c:v>
                </c:pt>
                <c:pt idx="5">
                  <c:v>North America</c:v>
                </c:pt>
              </c:strCache>
            </c:strRef>
          </c:cat>
          <c:val>
            <c:numRef>
              <c:numCache>
                <c:formatCode>General</c:formatCode>
                <c:ptCount val="6"/>
                <c:pt idx="0">
                  <c:v>52.3</c:v>
                </c:pt>
                <c:pt idx="1">
                  <c:v>51.3</c:v>
                </c:pt>
                <c:pt idx="2">
                  <c:v>51.9</c:v>
                </c:pt>
                <c:pt idx="3">
                  <c:v>49.6</c:v>
                </c:pt>
                <c:pt idx="4">
                  <c:v>49.7</c:v>
                </c:pt>
                <c:pt idx="5">
                  <c:v>45.9</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40.0"/>
          <c:min val="7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chartSpace>
</file>

<file path=ppt/charts/chart13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numCache>
                <c:formatCode>General</c:formatCode>
                <c:ptCount val="9"/>
                <c:pt idx="0">
                  <c:v>16.40671985632649</c:v>
                </c:pt>
                <c:pt idx="1">
                  <c:v>14.36342749497713</c:v>
                </c:pt>
                <c:pt idx="2">
                  <c:v>9.906466607900706</c:v>
                </c:pt>
                <c:pt idx="3">
                  <c:v>6.95937915947461</c:v>
                </c:pt>
                <c:pt idx="4">
                  <c:v>6.895934323353047</c:v>
                </c:pt>
                <c:pt idx="5">
                  <c:v>6.853242844843239</c:v>
                </c:pt>
                <c:pt idx="6">
                  <c:v>5.486614965564599</c:v>
                </c:pt>
                <c:pt idx="7">
                  <c:v>3.3040038111377297</c:v>
                </c:pt>
                <c:pt idx="8">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numCache>
                <c:formatCode>General</c:formatCode>
                <c:ptCount val="9"/>
                <c:pt idx="0">
                  <c:v>12.825191395384453</c:v>
                </c:pt>
                <c:pt idx="1">
                  <c:v>10.95571182148254</c:v>
                </c:pt>
                <c:pt idx="2">
                  <c:v>12.354580159020578</c:v>
                </c:pt>
                <c:pt idx="3">
                  <c:v>12.659425329755038</c:v>
                </c:pt>
                <c:pt idx="4">
                  <c:v>10.058161896840053</c:v>
                </c:pt>
                <c:pt idx="5">
                  <c:v>6.24469615282758</c:v>
                </c:pt>
                <c:pt idx="6">
                  <c:v>4.114628946933352</c:v>
                </c:pt>
                <c:pt idx="7">
                  <c:v>3.5536186824780462</c:v>
                </c:pt>
                <c:pt idx="8">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numCache>
                <c:formatCode>General</c:formatCode>
                <c:ptCount val="9"/>
                <c:pt idx="0">
                  <c:v>13.241300171729673</c:v>
                </c:pt>
                <c:pt idx="1">
                  <c:v>14.757821817091273</c:v>
                </c:pt>
                <c:pt idx="2">
                  <c:v>14.928751533095168</c:v>
                </c:pt>
                <c:pt idx="3">
                  <c:v>11.734746524584317</c:v>
                </c:pt>
                <c:pt idx="4">
                  <c:v>7.483554686717547</c:v>
                </c:pt>
                <c:pt idx="5">
                  <c:v>4.943534691833558</c:v>
                </c:pt>
                <c:pt idx="6">
                  <c:v>4.751324429490797</c:v>
                </c:pt>
                <c:pt idx="7">
                  <c:v>4.789948922030665</c:v>
                </c:pt>
                <c:pt idx="8">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numCache>
                <c:formatCode>General</c:formatCode>
                <c:ptCount val="9"/>
                <c:pt idx="0">
                  <c:v>17.755466218387074</c:v>
                </c:pt>
                <c:pt idx="1">
                  <c:v>16.923512057220726</c:v>
                </c:pt>
                <c:pt idx="2">
                  <c:v>13.06398834839756</c:v>
                </c:pt>
                <c:pt idx="3">
                  <c:v>8.501111419992805</c:v>
                </c:pt>
                <c:pt idx="4">
                  <c:v>6.212483469935218</c:v>
                </c:pt>
                <c:pt idx="5">
                  <c:v>6.00372205577132</c:v>
                </c:pt>
                <c:pt idx="6">
                  <c:v>6.25214775447386</c:v>
                </c:pt>
                <c:pt idx="7">
                  <c:v>5.093976971379507</c:v>
                </c:pt>
                <c:pt idx="8">
                  <c:v>20.193591704441936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numCache>
                <c:formatCode>General</c:formatCode>
                <c:ptCount val="9"/>
                <c:pt idx="0">
                  <c:v>18.375494481479823</c:v>
                </c:pt>
                <c:pt idx="1">
                  <c:v>13.506860544917371</c:v>
                </c:pt>
                <c:pt idx="2">
                  <c:v>9.018334357772936</c:v>
                </c:pt>
                <c:pt idx="3">
                  <c:v>8.01201879742635</c:v>
                </c:pt>
                <c:pt idx="4">
                  <c:v>8.65950070279257</c:v>
                </c:pt>
                <c:pt idx="5">
                  <c:v>7.44623663894267</c:v>
                </c:pt>
                <c:pt idx="6">
                  <c:v>5.048380480706811</c:v>
                </c:pt>
                <c:pt idx="7">
                  <c:v>3.0833382814602577</c:v>
                </c:pt>
                <c:pt idx="8">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numCache>
                <c:formatCode>General</c:formatCode>
                <c:ptCount val="9"/>
                <c:pt idx="0">
                  <c:v>17.059182852443715</c:v>
                </c:pt>
                <c:pt idx="1">
                  <c:v>11.555110199289217</c:v>
                </c:pt>
                <c:pt idx="2">
                  <c:v>11.49241996011639</c:v>
                </c:pt>
                <c:pt idx="3">
                  <c:v>12.62567293240893</c:v>
                </c:pt>
                <c:pt idx="4">
                  <c:v>10.645270539100778</c:v>
                </c:pt>
                <c:pt idx="5">
                  <c:v>6.6195232003608835</c:v>
                </c:pt>
                <c:pt idx="6">
                  <c:v>4.493101603948456</c:v>
                </c:pt>
                <c:pt idx="7">
                  <c:v>4.22083041567492</c:v>
                </c:pt>
                <c:pt idx="8">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numCache>
                <c:formatCode>General</c:formatCode>
                <c:ptCount val="9"/>
                <c:pt idx="0">
                  <c:v>12.876523990364655</c:v>
                </c:pt>
                <c:pt idx="1">
                  <c:v>13.484520794788184</c:v>
                </c:pt>
                <c:pt idx="2">
                  <c:v>14.6303422624123</c:v>
                </c:pt>
                <c:pt idx="3">
                  <c:v>11.897306046712039</c:v>
                </c:pt>
                <c:pt idx="4">
                  <c:v>7.5272619834945145</c:v>
                </c:pt>
                <c:pt idx="5">
                  <c:v>5.3082837668973415</c:v>
                </c:pt>
                <c:pt idx="6">
                  <c:v>5.537502197974981</c:v>
                </c:pt>
                <c:pt idx="7">
                  <c:v>5.189563064059484</c:v>
                </c:pt>
                <c:pt idx="8">
                  <c:v>23.5486958932965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Dental Clinics</c:v>
                </c:pt>
                <c:pt idx="1">
                  <c:v>Dental Hospitals</c:v>
                </c:pt>
                <c:pt idx="2">
                  <c:v>Dental Laboratories</c:v>
                </c:pt>
                <c:pt idx="3">
                  <c:v>Academic &amp; Teaching Dental Institutions</c:v>
                </c:pt>
              </c:strCache>
            </c:strRef>
          </c:cat>
          <c:val>
            <c:numRef>
              <c:numCache>
                <c:formatCode>General</c:formatCode>
                <c:ptCount val="4"/>
                <c:pt idx="0">
                  <c:v>79.33215212012503</c:v>
                </c:pt>
                <c:pt idx="1">
                  <c:v>44.135287857323846</c:v>
                </c:pt>
                <c:pt idx="2">
                  <c:v>55.553763336323854</c:v>
                </c:pt>
                <c:pt idx="3">
                  <c:v>104.94630395952619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38.5291212265745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94.27190471188969</c:v>
                </c:pt>
                <c:pt idx="1">
                  <c:v>57.383098503339404</c:v>
                </c:pt>
                <c:pt idx="2">
                  <c:v>30.9450415114417</c:v>
                </c:pt>
                <c:pt idx="3">
                  <c:v>34.96552818424891</c:v>
                </c:pt>
                <c:pt idx="4">
                  <c:v>66.40193436237921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24.4389142196944"/>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Flexible Partial Dentures</c:v>
                </c:pt>
                <c:pt idx="1">
                  <c:v>Combination Framework Partial Dentures</c:v>
                </c:pt>
                <c:pt idx="2">
                  <c:v>Cast Metal Partial Dentures</c:v>
                </c:pt>
                <c:pt idx="3">
                  <c:v>Acrylic Partial Dentures</c:v>
                </c:pt>
              </c:strCache>
            </c:strRef>
          </c:cat>
          <c:val>
            <c:numRef>
              <c:numCache>
                <c:formatCode>General</c:formatCode>
                <c:ptCount val="4"/>
                <c:pt idx="0">
                  <c:v>32.718371245564526</c:v>
                </c:pt>
                <c:pt idx="1">
                  <c:v>45.48614011914645</c:v>
                </c:pt>
                <c:pt idx="2">
                  <c:v>84.81695549391542</c:v>
                </c:pt>
                <c:pt idx="3">
                  <c:v>120.94604041467251</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270.00480000000005</c:v>
                </c:pt>
                <c:pt idx="1">
                  <c:v>242.70791857197986</c:v>
                </c:pt>
                <c:pt idx="2">
                  <c:v>177.37519627364833</c:v>
                </c:pt>
                <c:pt idx="3">
                  <c:v>113.63658577134302</c:v>
                </c:pt>
                <c:pt idx="4">
                  <c:v>90.15507290683095</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94.27190471188969</c:v>
                </c:pt>
                <c:pt idx="1">
                  <c:v>57.383098503339404</c:v>
                </c:pt>
                <c:pt idx="2">
                  <c:v>30.9450415114417</c:v>
                </c:pt>
                <c:pt idx="3">
                  <c:v>34.96552818424891</c:v>
                </c:pt>
                <c:pt idx="4">
                  <c:v>66.40193436237921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45.606144000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Dental Clinics</c:v>
                </c:pt>
                <c:pt idx="1">
                  <c:v>Dental Hospitals</c:v>
                </c:pt>
                <c:pt idx="2">
                  <c:v>Dental Laboratories</c:v>
                </c:pt>
                <c:pt idx="3">
                  <c:v>Academic &amp; Teaching Dental Institutions</c:v>
                </c:pt>
              </c:strCache>
            </c:strRef>
          </c:cat>
          <c:val>
            <c:numRef>
              <c:numCache>
                <c:formatCode>General</c:formatCode>
                <c:ptCount val="4"/>
                <c:pt idx="0">
                  <c:v>28.643626346688485</c:v>
                </c:pt>
                <c:pt idx="1">
                  <c:v>39.82129769685811</c:v>
                </c:pt>
                <c:pt idx="2">
                  <c:v>74.25385459432891</c:v>
                </c:pt>
                <c:pt idx="3">
                  <c:v>105.88342444518865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39.76612026764903"/>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44.93528628737452</c:v>
                </c:pt>
                <c:pt idx="1">
                  <c:v>24.9990923256628</c:v>
                </c:pt>
                <c:pt idx="2">
                  <c:v>31.466740699014686</c:v>
                </c:pt>
                <c:pt idx="3">
                  <c:v>59.44364406101659</c:v>
                </c:pt>
                <c:pt idx="4">
                  <c:v>87.75743970999558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5.83982041719418"/>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Flexible Partial Dentures</c:v>
                </c:pt>
                <c:pt idx="1">
                  <c:v>Combination Framework Partial Dentures</c:v>
                </c:pt>
                <c:pt idx="2">
                  <c:v>Cast Metal Partial Dentures</c:v>
                </c:pt>
                <c:pt idx="3">
                  <c:v>Acrylic Partial Dentures</c:v>
                </c:pt>
              </c:strCache>
            </c:strRef>
          </c:cat>
          <c:val>
            <c:numRef>
              <c:numCache>
                <c:formatCode>General</c:formatCode>
                <c:ptCount val="4"/>
                <c:pt idx="0">
                  <c:v>31.48218142690979</c:v>
                </c:pt>
                <c:pt idx="1">
                  <c:v>57.59209415068907</c:v>
                </c:pt>
                <c:pt idx="2">
                  <c:v>79.31545960428221</c:v>
                </c:pt>
                <c:pt idx="3">
                  <c:v>80.2124679011831</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285.58200000000005</c:v>
                </c:pt>
                <c:pt idx="1">
                  <c:v>256.7102984895941</c:v>
                </c:pt>
                <c:pt idx="2">
                  <c:v>187.60838067405115</c:v>
                </c:pt>
                <c:pt idx="3">
                  <c:v>120.19254264276667</c:v>
                </c:pt>
                <c:pt idx="4">
                  <c:v>95.3563271129943</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44.93528628737452</c:v>
                </c:pt>
                <c:pt idx="1">
                  <c:v>24.9990923256628</c:v>
                </c:pt>
                <c:pt idx="2">
                  <c:v>31.466740699014686</c:v>
                </c:pt>
                <c:pt idx="3">
                  <c:v>59.44364406101659</c:v>
                </c:pt>
                <c:pt idx="4">
                  <c:v>87.75743970999558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65.54496000000006"/>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Dental Clinics</c:v>
                </c:pt>
                <c:pt idx="1">
                  <c:v>Dental Hospitals</c:v>
                </c:pt>
                <c:pt idx="2">
                  <c:v>Dental Laboratories</c:v>
                </c:pt>
                <c:pt idx="3">
                  <c:v>Academic &amp; Teaching Dental Institutions</c:v>
                </c:pt>
              </c:strCache>
            </c:strRef>
          </c:cat>
          <c:val>
            <c:numRef>
              <c:numCache>
                <c:formatCode>General</c:formatCode>
                <c:ptCount val="4"/>
                <c:pt idx="0">
                  <c:v>21.713283905155414</c:v>
                </c:pt>
                <c:pt idx="1">
                  <c:v>39.721310096938204</c:v>
                </c:pt>
                <c:pt idx="2">
                  <c:v>54.70393137953249</c:v>
                </c:pt>
                <c:pt idx="3">
                  <c:v>55.32259866791933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3.02583024165352"/>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13.666115924535655</c:v>
                </c:pt>
                <c:pt idx="1">
                  <c:v>18.99907728176406</c:v>
                </c:pt>
                <c:pt idx="2">
                  <c:v>35.427140839205606</c:v>
                </c:pt>
                <c:pt idx="3">
                  <c:v>50.517875615356616</c:v>
                </c:pt>
                <c:pt idx="4">
                  <c:v>52.85091438868352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9.76320699306225"/>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6.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Flexible Partial Dentures</c:v>
                </c:pt>
                <c:pt idx="1">
                  <c:v>Combination Framework Partial Dentures</c:v>
                </c:pt>
                <c:pt idx="2">
                  <c:v>Cast Metal Partial Dentures</c:v>
                </c:pt>
                <c:pt idx="3">
                  <c:v>Acrylic Partial Dentures</c:v>
                </c:pt>
              </c:strCache>
            </c:strRef>
          </c:cat>
          <c:val>
            <c:numRef>
              <c:numCache>
                <c:formatCode>General</c:formatCode>
                <c:ptCount val="4"/>
                <c:pt idx="0">
                  <c:v>37.571217665290796</c:v>
                </c:pt>
                <c:pt idx="1">
                  <c:v>49.97372110027794</c:v>
                </c:pt>
                <c:pt idx="2">
                  <c:v>48.854847402966534</c:v>
                </c:pt>
                <c:pt idx="3">
                  <c:v>35.061337881010154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301.15920000000006</c:v>
                </c:pt>
                <c:pt idx="1">
                  <c:v>270.71267840720833</c:v>
                </c:pt>
                <c:pt idx="2">
                  <c:v>197.84156507445397</c:v>
                </c:pt>
                <c:pt idx="3">
                  <c:v>126.74849951419033</c:v>
                </c:pt>
                <c:pt idx="4">
                  <c:v>100.55758131915762</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13.666115924535655</c:v>
                </c:pt>
                <c:pt idx="1">
                  <c:v>18.99907728176406</c:v>
                </c:pt>
                <c:pt idx="2">
                  <c:v>35.427140839205606</c:v>
                </c:pt>
                <c:pt idx="3">
                  <c:v>50.517875615356616</c:v>
                </c:pt>
                <c:pt idx="4">
                  <c:v>52.85091438868352</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85.483776000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Global Removable Partial Dentures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By Material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By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By End User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By Distribution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By Patient Age Group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North America Removable Partial Dentures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By Material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By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By End User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By Distribution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By Patient Age Group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YoY</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YoY</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YoY</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YoY</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A Snapshot</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A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A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A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A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B Snapshot</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B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B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B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B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C Snapshot</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C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C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C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C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0.xml"/><Relationship Id="rId7" Type="http://schemas.openxmlformats.org/officeDocument/2006/relationships/slide" Target="slide17.xml"/><Relationship Id="rId8" Type="http://schemas.openxmlformats.org/officeDocument/2006/relationships/slide" Target="slide26.xml"/><Relationship Id="rId9" Type="http://schemas.openxmlformats.org/officeDocument/2006/relationships/slide" Target="slide27.xml"/><Relationship Id="rId10" Type="http://schemas.openxmlformats.org/officeDocument/2006/relationships/slide" Target="slide38.xml"/><Relationship Id="rId11" Type="http://schemas.openxmlformats.org/officeDocument/2006/relationships/slide" Target="slide46.xml"/><Relationship Id="rId12" Type="http://schemas.openxmlformats.org/officeDocument/2006/relationships/slide" Target="slide104.xml"/><Relationship Id="rId13" Type="http://schemas.openxmlformats.org/officeDocument/2006/relationships/slide" Target="slide113.xml"/><Relationship Id="rId14" Type="http://schemas.openxmlformats.org/officeDocument/2006/relationships/slide" Target="slide114.xml"/><Relationship Id="rId15" Type="http://schemas.openxmlformats.org/officeDocument/2006/relationships/slide" Target="slide124.xml"/><Relationship Id="rId16" Type="http://schemas.openxmlformats.org/officeDocument/2006/relationships/slide" Target="slide132.xml"/><Relationship Id="rId17" Type="http://schemas.openxmlformats.org/officeDocument/2006/relationships/slide" Target="slide190.xml"/><Relationship Id="rId18" Type="http://schemas.openxmlformats.org/officeDocument/2006/relationships/slide" Target="slide199.xml"/><Relationship Id="rId19" Type="http://schemas.openxmlformats.org/officeDocument/2006/relationships/slide" Target="slide200.xml"/><Relationship Id="rId20" Type="http://schemas.openxmlformats.org/officeDocument/2006/relationships/slide" Target="slide204.xml"/><Relationship Id="rId21" Type="http://schemas.openxmlformats.org/officeDocument/2006/relationships/slide" Target="slide232.xml"/><Relationship Id="rId22" Type="http://schemas.openxmlformats.org/officeDocument/2006/relationships/slide" Target="slide241.xml"/><Relationship Id="rId23" Type="http://schemas.openxmlformats.org/officeDocument/2006/relationships/slide" Target="slide242.xml"/><Relationship Id="rId24" Type="http://schemas.openxmlformats.org/officeDocument/2006/relationships/slide" Target="slide255.xml"/><Relationship Id="rId25" Type="http://schemas.openxmlformats.org/officeDocument/2006/relationships/slide" Target="slide259.xml"/><Relationship Id="rId26" Type="http://schemas.openxmlformats.org/officeDocument/2006/relationships/slide" Target="slide260.xml"/><Relationship Id="rId27" Type="http://schemas.openxmlformats.org/officeDocument/2006/relationships/slide" Target="slide268.xml"/><Relationship Id="rId28" Type="http://schemas.openxmlformats.org/officeDocument/2006/relationships/slide" Target="slide269.xml"/><Relationship Id="rId29" Type="http://schemas.openxmlformats.org/officeDocument/2006/relationships/slide" Target="slide283.xml"/><Relationship Id="rId30" Type="http://schemas.openxmlformats.org/officeDocument/2006/relationships/slide" Target="slide28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6.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 Id="rId6" Type="http://schemas.openxmlformats.org/officeDocument/2006/relationships/image" Target="../media/image2.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 Id="rId4" Type="http://schemas.openxmlformats.org/officeDocument/2006/relationships/image" Target="../media/image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 Id="rId6"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 Id="rId6" Type="http://schemas.openxmlformats.org/officeDocument/2006/relationships/image" Target="../media/image2.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 Id="rId6" Type="http://schemas.openxmlformats.org/officeDocument/2006/relationships/image" Target="../media/image2.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 Id="rId4" Type="http://schemas.openxmlformats.org/officeDocument/2006/relationships/image" Target="../media/image2.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 Id="rId4" Type="http://schemas.openxmlformats.org/officeDocument/2006/relationships/image" Target="../media/image2.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4.xml"/><Relationship Id="rId5" Type="http://schemas.openxmlformats.org/officeDocument/2006/relationships/image" Target="../media/image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xml"/><Relationship Id="rId4" Type="http://schemas.openxmlformats.org/officeDocument/2006/relationships/image" Target="../media/image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6.xml"/><Relationship Id="rId5"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xml"/><Relationship Id="rId4" Type="http://schemas.openxmlformats.org/officeDocument/2006/relationships/image" Target="../media/image61.png"/><Relationship Id="rId5" Type="http://schemas.openxmlformats.org/officeDocument/2006/relationships/image" Target="../media/image62.png"/><Relationship Id="rId6" Type="http://schemas.openxmlformats.org/officeDocument/2006/relationships/image" Target="../media/image63.png"/><Relationship Id="rId7" Type="http://schemas.openxmlformats.org/officeDocument/2006/relationships/image" Target="../media/image64.png"/><Relationship Id="rId8" Type="http://schemas.openxmlformats.org/officeDocument/2006/relationships/image" Target="../media/image65.png"/><Relationship Id="rId9" Type="http://schemas.openxmlformats.org/officeDocument/2006/relationships/image" Target="../media/image66.png"/><Relationship Id="rId10" Type="http://schemas.openxmlformats.org/officeDocument/2006/relationships/image" Target="../media/image67.png"/><Relationship Id="rId11" Type="http://schemas.openxmlformats.org/officeDocument/2006/relationships/image" Target="../media/image68.png"/><Relationship Id="rId12" Type="http://schemas.openxmlformats.org/officeDocument/2006/relationships/image" Target="../media/image69.png"/><Relationship Id="rId13" Type="http://schemas.openxmlformats.org/officeDocument/2006/relationships/image" Target="../media/image70.png"/><Relationship Id="rId14" Type="http://schemas.openxmlformats.org/officeDocument/2006/relationships/image" Target="../media/image71.png"/><Relationship Id="rId15" Type="http://schemas.openxmlformats.org/officeDocument/2006/relationships/image" Target="../media/image72.png"/><Relationship Id="rId16" Type="http://schemas.openxmlformats.org/officeDocument/2006/relationships/image" Target="../media/image73.png"/><Relationship Id="rId17" Type="http://schemas.openxmlformats.org/officeDocument/2006/relationships/image" Target="../media/image74.png"/><Relationship Id="rId18" Type="http://schemas.openxmlformats.org/officeDocument/2006/relationships/image" Target="../media/image75.png"/><Relationship Id="rId19" Type="http://schemas.openxmlformats.org/officeDocument/2006/relationships/image" Target="../media/image76.png"/><Relationship Id="rId20" Type="http://schemas.openxmlformats.org/officeDocument/2006/relationships/image" Target="../media/image77.png"/><Relationship Id="rId21" Type="http://schemas.openxmlformats.org/officeDocument/2006/relationships/image" Target="../media/image78.png"/><Relationship Id="rId22" Type="http://schemas.openxmlformats.org/officeDocument/2006/relationships/image" Target="../media/image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8.xml"/><Relationship Id="rId5" Type="http://schemas.openxmlformats.org/officeDocument/2006/relationships/image" Target="../media/image2.png"/><Relationship Id="rId6" Type="http://schemas.openxmlformats.org/officeDocument/2006/relationships/image" Target="../media/image90.png"/><Relationship Id="rId7" Type="http://schemas.openxmlformats.org/officeDocument/2006/relationships/image" Target="../media/image91.png"/><Relationship Id="rId8" Type="http://schemas.openxmlformats.org/officeDocument/2006/relationships/image" Target="../media/image92.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9.xml"/><Relationship Id="rId5" Type="http://schemas.openxmlformats.org/officeDocument/2006/relationships/image" Target="../media/image2.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 Id="rId4" Type="http://schemas.openxmlformats.org/officeDocument/2006/relationships/image" Target="../media/image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 Id="rId4" Type="http://schemas.openxmlformats.org/officeDocument/2006/relationships/image" Target="../media/image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 Id="rId4" Type="http://schemas.openxmlformats.org/officeDocument/2006/relationships/image" Target="../media/image2.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 Id="rId4" Type="http://schemas.openxmlformats.org/officeDocument/2006/relationships/image" Target="../media/image107.png"/><Relationship Id="rId5" Type="http://schemas.openxmlformats.org/officeDocument/2006/relationships/image" Target="../media/image59.png"/><Relationship Id="rId6" Type="http://schemas.openxmlformats.org/officeDocument/2006/relationships/image" Target="../media/image108.png"/><Relationship Id="rId7" Type="http://schemas.openxmlformats.org/officeDocument/2006/relationships/image" Target="../media/image109.png"/><Relationship Id="rId8" Type="http://schemas.openxmlformats.org/officeDocument/2006/relationships/image" Target="../media/image60.png"/><Relationship Id="rId9" Type="http://schemas.openxmlformats.org/officeDocument/2006/relationships/image" Target="../media/image110.png"/><Relationship Id="rId10" Type="http://schemas.openxmlformats.org/officeDocument/2006/relationships/image" Target="../media/image111.png"/><Relationship Id="rId11" Type="http://schemas.openxmlformats.org/officeDocument/2006/relationships/image" Target="../media/image57.png"/><Relationship Id="rId12" Type="http://schemas.openxmlformats.org/officeDocument/2006/relationships/image" Target="../media/image112.png"/><Relationship Id="rId13" Type="http://schemas.openxmlformats.org/officeDocument/2006/relationships/image" Target="../media/image113.png"/><Relationship Id="rId14" Type="http://schemas.openxmlformats.org/officeDocument/2006/relationships/image" Target="../media/image58.png"/><Relationship Id="rId15" Type="http://schemas.openxmlformats.org/officeDocument/2006/relationships/image" Target="../media/image114.png"/><Relationship Id="rId16" Type="http://schemas.openxmlformats.org/officeDocument/2006/relationships/image" Target="../media/image2.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5.xml"/><Relationship Id="rId6" Type="http://schemas.openxmlformats.org/officeDocument/2006/relationships/image" Target="../media/image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6.xml"/><Relationship Id="rId8" Type="http://schemas.openxmlformats.org/officeDocument/2006/relationships/image" Target="../media/image2.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 Id="rId4" Type="http://schemas.openxmlformats.org/officeDocument/2006/relationships/image" Target="../media/image2.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 Id="rId4" Type="http://schemas.openxmlformats.org/officeDocument/2006/relationships/image" Target="../media/image2.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notesSlide" Target="../notesSlides/notesSlide29.xml"/><Relationship Id="rId5" Type="http://schemas.openxmlformats.org/officeDocument/2006/relationships/image" Target="../media/image2.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xml"/><Relationship Id="rId4" Type="http://schemas.openxmlformats.org/officeDocument/2006/relationships/image" Target="../media/image2.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 Id="rId4" Type="http://schemas.openxmlformats.org/officeDocument/2006/relationships/image" Target="../media/image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 Id="rId4" Type="http://schemas.openxmlformats.org/officeDocument/2006/relationships/image" Target="../media/image149.png"/><Relationship Id="rId5" Type="http://schemas.openxmlformats.org/officeDocument/2006/relationships/image" Target="../media/image150.png"/><Relationship Id="rId6" Type="http://schemas.openxmlformats.org/officeDocument/2006/relationships/image" Target="../media/image151.png"/><Relationship Id="rId7" Type="http://schemas.openxmlformats.org/officeDocument/2006/relationships/image" Target="../media/image152.png"/><Relationship Id="rId8" Type="http://schemas.openxmlformats.org/officeDocument/2006/relationships/image" Target="../media/image153.png"/><Relationship Id="rId9" Type="http://schemas.openxmlformats.org/officeDocument/2006/relationships/image" Target="../media/image78.png"/><Relationship Id="rId10" Type="http://schemas.openxmlformats.org/officeDocument/2006/relationships/image" Target="../media/image154.png"/><Relationship Id="rId11" Type="http://schemas.openxmlformats.org/officeDocument/2006/relationships/image" Target="../media/image155.png"/><Relationship Id="rId12" Type="http://schemas.openxmlformats.org/officeDocument/2006/relationships/image" Target="../media/image156.png"/><Relationship Id="rId13" Type="http://schemas.openxmlformats.org/officeDocument/2006/relationships/image" Target="../media/image157.png"/><Relationship Id="rId14" Type="http://schemas.openxmlformats.org/officeDocument/2006/relationships/image" Target="../media/image158.png"/><Relationship Id="rId15" Type="http://schemas.openxmlformats.org/officeDocument/2006/relationships/image" Target="../media/image159.png"/><Relationship Id="rId16" Type="http://schemas.openxmlformats.org/officeDocument/2006/relationships/image" Target="../media/image2.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3.xml"/><Relationship Id="rId6" Type="http://schemas.openxmlformats.org/officeDocument/2006/relationships/image" Target="../media/image2.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notesSlide" Target="../notesSlides/notesSlide34.xml"/><Relationship Id="rId8" Type="http://schemas.openxmlformats.org/officeDocument/2006/relationships/image" Target="../media/image2.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 Id="rId4" Type="http://schemas.openxmlformats.org/officeDocument/2006/relationships/image" Target="../media/image2.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 Id="rId4" Type="http://schemas.openxmlformats.org/officeDocument/2006/relationships/image" Target="../media/image2.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xml"/><Relationship Id="rId4" Type="http://schemas.openxmlformats.org/officeDocument/2006/relationships/image" Target="../media/image2.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notesSlide" Target="../notesSlides/notesSlide38.xml"/><Relationship Id="rId5" Type="http://schemas.openxmlformats.org/officeDocument/2006/relationships/image" Target="../media/image2.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xml"/><Relationship Id="rId4" Type="http://schemas.openxmlformats.org/officeDocument/2006/relationships/image" Target="../media/image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 Id="rId4" Type="http://schemas.openxmlformats.org/officeDocument/2006/relationships/image" Target="../media/image2.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xml"/><Relationship Id="rId4" Type="http://schemas.openxmlformats.org/officeDocument/2006/relationships/image" Target="../media/image193.png"/><Relationship Id="rId5" Type="http://schemas.openxmlformats.org/officeDocument/2006/relationships/image" Target="../media/image194.png"/><Relationship Id="rId6" Type="http://schemas.openxmlformats.org/officeDocument/2006/relationships/image" Target="../media/image195.png"/><Relationship Id="rId7" Type="http://schemas.openxmlformats.org/officeDocument/2006/relationships/image" Target="../media/image196.png"/><Relationship Id="rId8" Type="http://schemas.openxmlformats.org/officeDocument/2006/relationships/image" Target="../media/image197.png"/><Relationship Id="rId9" Type="http://schemas.openxmlformats.org/officeDocument/2006/relationships/image" Target="../media/image198.png"/><Relationship Id="rId10" Type="http://schemas.openxmlformats.org/officeDocument/2006/relationships/image" Target="../media/image2.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xml"/><Relationship Id="rId4" Type="http://schemas.openxmlformats.org/officeDocument/2006/relationships/chart" Target="../charts/chart30.xml"/><Relationship Id="rId5" Type="http://schemas.openxmlformats.org/officeDocument/2006/relationships/notesSlide" Target="../notesSlides/notesSlide44.xml"/><Relationship Id="rId6" Type="http://schemas.openxmlformats.org/officeDocument/2006/relationships/image" Target="../media/image2.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xml"/><Relationship Id="rId4" Type="http://schemas.openxmlformats.org/officeDocument/2006/relationships/chart" Target="../charts/chart32.xml"/><Relationship Id="rId5" Type="http://schemas.openxmlformats.org/officeDocument/2006/relationships/notesSlide" Target="../notesSlides/notesSlide45.xml"/><Relationship Id="rId6" Type="http://schemas.openxmlformats.org/officeDocument/2006/relationships/image" Target="../media/image2.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 Id="rId4" Type="http://schemas.openxmlformats.org/officeDocument/2006/relationships/image" Target="../media/image2.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 Id="rId4" Type="http://schemas.openxmlformats.org/officeDocument/2006/relationships/image" Target="../media/image2.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xml"/><Relationship Id="rId4" Type="http://schemas.openxmlformats.org/officeDocument/2006/relationships/notesSlide" Target="../notesSlides/notesSlide48.xml"/><Relationship Id="rId5" Type="http://schemas.openxmlformats.org/officeDocument/2006/relationships/image" Target="../media/image2.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xml"/><Relationship Id="rId4" Type="http://schemas.openxmlformats.org/officeDocument/2006/relationships/image" Target="../media/image2.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xml"/><Relationship Id="rId4" Type="http://schemas.openxmlformats.org/officeDocument/2006/relationships/image" Target="../media/image2.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 Id="rId4" Type="http://schemas.openxmlformats.org/officeDocument/2006/relationships/image" Target="../media/image217.png"/><Relationship Id="rId5" Type="http://schemas.openxmlformats.org/officeDocument/2006/relationships/image" Target="../media/image218.png"/><Relationship Id="rId6" Type="http://schemas.openxmlformats.org/officeDocument/2006/relationships/image" Target="../media/image219.png"/><Relationship Id="rId7" Type="http://schemas.openxmlformats.org/officeDocument/2006/relationships/image" Target="../media/image220.png"/><Relationship Id="rId8" Type="http://schemas.openxmlformats.org/officeDocument/2006/relationships/image" Target="../media/image221.png"/><Relationship Id="rId9" Type="http://schemas.openxmlformats.org/officeDocument/2006/relationships/image" Target="../media/image110.png"/><Relationship Id="rId10" Type="http://schemas.openxmlformats.org/officeDocument/2006/relationships/image" Target="../media/image74.png"/><Relationship Id="rId11" Type="http://schemas.openxmlformats.org/officeDocument/2006/relationships/image" Target="../media/image222.png"/><Relationship Id="rId12" Type="http://schemas.openxmlformats.org/officeDocument/2006/relationships/image" Target="../media/image223.png"/><Relationship Id="rId13" Type="http://schemas.openxmlformats.org/officeDocument/2006/relationships/image" Target="../media/image224.png"/><Relationship Id="rId14" Type="http://schemas.openxmlformats.org/officeDocument/2006/relationships/image" Target="../media/image225.png"/><Relationship Id="rId15" Type="http://schemas.openxmlformats.org/officeDocument/2006/relationships/image" Target="../media/image226.png"/><Relationship Id="rId16" Type="http://schemas.openxmlformats.org/officeDocument/2006/relationships/image" Target="../media/image2.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xml"/><Relationship Id="rId4" Type="http://schemas.openxmlformats.org/officeDocument/2006/relationships/chart" Target="../charts/chart35.xml"/><Relationship Id="rId5" Type="http://schemas.openxmlformats.org/officeDocument/2006/relationships/notesSlide" Target="../notesSlides/notesSlide52.xml"/><Relationship Id="rId6" Type="http://schemas.openxmlformats.org/officeDocument/2006/relationships/image" Target="../media/image2.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chart" Target="../charts/chart38.xml"/><Relationship Id="rId6" Type="http://schemas.openxmlformats.org/officeDocument/2006/relationships/chart" Target="../charts/chart39.xml"/><Relationship Id="rId7" Type="http://schemas.openxmlformats.org/officeDocument/2006/relationships/notesSlide" Target="../notesSlides/notesSlide53.xml"/><Relationship Id="rId8" Type="http://schemas.openxmlformats.org/officeDocument/2006/relationships/image" Target="../media/image2.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 Id="rId4" Type="http://schemas.openxmlformats.org/officeDocument/2006/relationships/image" Target="../media/image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xml"/><Relationship Id="rId4" Type="http://schemas.openxmlformats.org/officeDocument/2006/relationships/image" Target="../media/image2.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xml"/><Relationship Id="rId4" Type="http://schemas.openxmlformats.org/officeDocument/2006/relationships/notesSlide" Target="../notesSlides/notesSlide56.xml"/><Relationship Id="rId5" Type="http://schemas.openxmlformats.org/officeDocument/2006/relationships/image" Target="../media/image2.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 Id="rId4" Type="http://schemas.openxmlformats.org/officeDocument/2006/relationships/image" Target="../media/image2.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 Id="rId4" Type="http://schemas.openxmlformats.org/officeDocument/2006/relationships/image" Target="../media/image2.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 Id="rId4" Type="http://schemas.openxmlformats.org/officeDocument/2006/relationships/image" Target="../media/image260.png"/><Relationship Id="rId5" Type="http://schemas.openxmlformats.org/officeDocument/2006/relationships/image" Target="../media/image261.png"/><Relationship Id="rId6" Type="http://schemas.openxmlformats.org/officeDocument/2006/relationships/image" Target="../media/image262.png"/><Relationship Id="rId7" Type="http://schemas.openxmlformats.org/officeDocument/2006/relationships/image" Target="../media/image263.png"/><Relationship Id="rId8" Type="http://schemas.openxmlformats.org/officeDocument/2006/relationships/image" Target="../media/image264.png"/><Relationship Id="rId9" Type="http://schemas.openxmlformats.org/officeDocument/2006/relationships/image" Target="../media/image265.png"/><Relationship Id="rId10" Type="http://schemas.openxmlformats.org/officeDocument/2006/relationships/image" Target="../media/image266.png"/><Relationship Id="rId11" Type="http://schemas.openxmlformats.org/officeDocument/2006/relationships/image" Target="../media/image267.png"/><Relationship Id="rId12" Type="http://schemas.openxmlformats.org/officeDocument/2006/relationships/image" Target="../media/image268.png"/><Relationship Id="rId13" Type="http://schemas.openxmlformats.org/officeDocument/2006/relationships/image" Target="../media/image2.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xml"/><Relationship Id="rId4" Type="http://schemas.openxmlformats.org/officeDocument/2006/relationships/chart" Target="../charts/chart42.xml"/><Relationship Id="rId5" Type="http://schemas.openxmlformats.org/officeDocument/2006/relationships/notesSlide" Target="../notesSlides/notesSlide60.xml"/><Relationship Id="rId6" Type="http://schemas.openxmlformats.org/officeDocument/2006/relationships/image" Target="../media/image2.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xml"/><Relationship Id="rId4" Type="http://schemas.openxmlformats.org/officeDocument/2006/relationships/chart" Target="../charts/chart44.xml"/><Relationship Id="rId5" Type="http://schemas.openxmlformats.org/officeDocument/2006/relationships/chart" Target="../charts/chart45.xml"/><Relationship Id="rId6" Type="http://schemas.openxmlformats.org/officeDocument/2006/relationships/notesSlide" Target="../notesSlides/notesSlide61.xml"/><Relationship Id="rId7" Type="http://schemas.openxmlformats.org/officeDocument/2006/relationships/image" Target="../media/image2.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xml"/><Relationship Id="rId4" Type="http://schemas.openxmlformats.org/officeDocument/2006/relationships/image" Target="../media/image2.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 Id="rId4" Type="http://schemas.openxmlformats.org/officeDocument/2006/relationships/image" Target="../media/image2.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notesSlide" Target="../notesSlides/notesSlide64.xml"/><Relationship Id="rId5" Type="http://schemas.openxmlformats.org/officeDocument/2006/relationships/image" Target="../media/image2.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xml"/><Relationship Id="rId4" Type="http://schemas.openxmlformats.org/officeDocument/2006/relationships/image" Target="../media/image2.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 Id="rId4" Type="http://schemas.openxmlformats.org/officeDocument/2006/relationships/image" Target="../media/image2.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 Id="rId4" Type="http://schemas.openxmlformats.org/officeDocument/2006/relationships/image" Target="../media/image296.png"/><Relationship Id="rId5" Type="http://schemas.openxmlformats.org/officeDocument/2006/relationships/image" Target="../media/image297.png"/><Relationship Id="rId6" Type="http://schemas.openxmlformats.org/officeDocument/2006/relationships/image" Target="../media/image151.png"/><Relationship Id="rId7" Type="http://schemas.openxmlformats.org/officeDocument/2006/relationships/image" Target="../media/image298.png"/><Relationship Id="rId8" Type="http://schemas.openxmlformats.org/officeDocument/2006/relationships/image" Target="../media/image299.png"/><Relationship Id="rId9" Type="http://schemas.openxmlformats.org/officeDocument/2006/relationships/image" Target="../media/image69.png"/><Relationship Id="rId10" Type="http://schemas.openxmlformats.org/officeDocument/2006/relationships/image" Target="../media/image2.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xml"/><Relationship Id="rId4" Type="http://schemas.openxmlformats.org/officeDocument/2006/relationships/chart" Target="../charts/chart48.xml"/><Relationship Id="rId5" Type="http://schemas.openxmlformats.org/officeDocument/2006/relationships/notesSlide" Target="../notesSlides/notesSlide68.xml"/><Relationship Id="rId6" Type="http://schemas.openxmlformats.org/officeDocument/2006/relationships/image" Target="../media/image2.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xml"/><Relationship Id="rId4" Type="http://schemas.openxmlformats.org/officeDocument/2006/relationships/chart" Target="../charts/chart50.xml"/><Relationship Id="rId5" Type="http://schemas.openxmlformats.org/officeDocument/2006/relationships/notesSlide" Target="../notesSlides/notesSlide69.xml"/><Relationship Id="rId6" Type="http://schemas.openxmlformats.org/officeDocument/2006/relationships/image" Target="../media/image2.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xml"/><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 Id="rId4" Type="http://schemas.openxmlformats.org/officeDocument/2006/relationships/image" Target="../media/image2.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xml"/><Relationship Id="rId4" Type="http://schemas.openxmlformats.org/officeDocument/2006/relationships/notesSlide" Target="../notesSlides/notesSlide72.xml"/><Relationship Id="rId5" Type="http://schemas.openxmlformats.org/officeDocument/2006/relationships/image" Target="../media/image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 Id="rId4" Type="http://schemas.openxmlformats.org/officeDocument/2006/relationships/image" Target="../media/image2.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 Id="rId4" Type="http://schemas.openxmlformats.org/officeDocument/2006/relationships/image" Target="../media/image2.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xml"/><Relationship Id="rId4" Type="http://schemas.openxmlformats.org/officeDocument/2006/relationships/image" Target="../media/image2.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76.xml"/><Relationship Id="rId5" Type="http://schemas.openxmlformats.org/officeDocument/2006/relationships/image" Target="../media/image2.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 Id="rId4" Type="http://schemas.openxmlformats.org/officeDocument/2006/relationships/image" Target="../media/image2.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 Id="rId4" Type="http://schemas.openxmlformats.org/officeDocument/2006/relationships/image" Target="../media/image2.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notesSlide" Target="../notesSlides/notesSlide79.xml"/><Relationship Id="rId5" Type="http://schemas.openxmlformats.org/officeDocument/2006/relationships/image" Target="../media/image2.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 Id="rId4" Type="http://schemas.openxmlformats.org/officeDocument/2006/relationships/image" Target="../media/image2.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xml"/><Relationship Id="rId4" Type="http://schemas.openxmlformats.org/officeDocument/2006/relationships/chart" Target="../charts/chart55.xml"/><Relationship Id="rId5" Type="http://schemas.openxmlformats.org/officeDocument/2006/relationships/notesSlide" Target="../notesSlides/notesSlide82.xml"/><Relationship Id="rId6" Type="http://schemas.openxmlformats.org/officeDocument/2006/relationships/image" Target="../media/image2.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 Id="rId4" Type="http://schemas.openxmlformats.org/officeDocument/2006/relationships/image" Target="../media/image2.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xml"/><Relationship Id="rId4" Type="http://schemas.openxmlformats.org/officeDocument/2006/relationships/chart" Target="../charts/chart57.xml"/><Relationship Id="rId5" Type="http://schemas.openxmlformats.org/officeDocument/2006/relationships/notesSlide" Target="../notesSlides/notesSlide84.xml"/><Relationship Id="rId6" Type="http://schemas.openxmlformats.org/officeDocument/2006/relationships/image" Target="../media/image2.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85.xml"/><Relationship Id="rId6" Type="http://schemas.openxmlformats.org/officeDocument/2006/relationships/image" Target="../media/image2.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notesSlide" Target="../notesSlides/notesSlide86.xml"/><Relationship Id="rId6" Type="http://schemas.openxmlformats.org/officeDocument/2006/relationships/image" Target="../media/image2.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 Id="rId4" Type="http://schemas.openxmlformats.org/officeDocument/2006/relationships/image" Target="../media/image2.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xml"/><Relationship Id="rId4" Type="http://schemas.openxmlformats.org/officeDocument/2006/relationships/notesSlide" Target="../notesSlides/notesSlide88.xml"/><Relationship Id="rId5" Type="http://schemas.openxmlformats.org/officeDocument/2006/relationships/image" Target="../media/image2.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 Id="rId4" Type="http://schemas.openxmlformats.org/officeDocument/2006/relationships/image" Target="../media/image2.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xml"/><Relationship Id="rId4" Type="http://schemas.openxmlformats.org/officeDocument/2006/relationships/notesSlide" Target="../notesSlides/notesSlide90.xml"/><Relationship Id="rId5" Type="http://schemas.openxmlformats.org/officeDocument/2006/relationships/image" Target="../media/image2.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xml"/><Relationship Id="rId4" Type="http://schemas.openxmlformats.org/officeDocument/2006/relationships/image" Target="../media/image2.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92.xml"/><Relationship Id="rId5" Type="http://schemas.openxmlformats.org/officeDocument/2006/relationships/image" Target="../media/image2.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notesSlide" Target="../notesSlides/notesSlide93.xml"/><Relationship Id="rId5" Type="http://schemas.openxmlformats.org/officeDocument/2006/relationships/image" Target="../media/image2.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xml"/><Relationship Id="rId4" Type="http://schemas.openxmlformats.org/officeDocument/2006/relationships/image" Target="../media/image2.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chart" Target="../charts/chart67.xml"/><Relationship Id="rId5" Type="http://schemas.openxmlformats.org/officeDocument/2006/relationships/notesSlide" Target="../notesSlides/notesSlide96.xml"/><Relationship Id="rId6" Type="http://schemas.openxmlformats.org/officeDocument/2006/relationships/image" Target="../media/image2.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 Id="rId4" Type="http://schemas.openxmlformats.org/officeDocument/2006/relationships/image" Target="../media/image2.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 Id="rId4" Type="http://schemas.openxmlformats.org/officeDocument/2006/relationships/image" Target="../media/image432.png"/><Relationship Id="rId5" Type="http://schemas.openxmlformats.org/officeDocument/2006/relationships/image" Target="../media/image358.png"/><Relationship Id="rId6" Type="http://schemas.openxmlformats.org/officeDocument/2006/relationships/image" Target="../media/image433.png"/><Relationship Id="rId7" Type="http://schemas.openxmlformats.org/officeDocument/2006/relationships/image" Target="../media/image434.png"/><Relationship Id="rId8" Type="http://schemas.openxmlformats.org/officeDocument/2006/relationships/image" Target="../media/image359.png"/><Relationship Id="rId9" Type="http://schemas.openxmlformats.org/officeDocument/2006/relationships/image" Target="../media/image78.png"/><Relationship Id="rId10" Type="http://schemas.openxmlformats.org/officeDocument/2006/relationships/image" Target="../media/image435.png"/><Relationship Id="rId11" Type="http://schemas.openxmlformats.org/officeDocument/2006/relationships/image" Target="../media/image356.png"/><Relationship Id="rId12" Type="http://schemas.openxmlformats.org/officeDocument/2006/relationships/image" Target="../media/image436.png"/><Relationship Id="rId13" Type="http://schemas.openxmlformats.org/officeDocument/2006/relationships/image" Target="../media/image307.png"/><Relationship Id="rId14" Type="http://schemas.openxmlformats.org/officeDocument/2006/relationships/image" Target="../media/image357.png"/><Relationship Id="rId15" Type="http://schemas.openxmlformats.org/officeDocument/2006/relationships/image" Target="../media/image268.png"/><Relationship Id="rId16" Type="http://schemas.openxmlformats.org/officeDocument/2006/relationships/image" Target="../media/image2.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xml"/><Relationship Id="rId4" Type="http://schemas.openxmlformats.org/officeDocument/2006/relationships/chart" Target="../charts/chart69.xml"/><Relationship Id="rId5" Type="http://schemas.openxmlformats.org/officeDocument/2006/relationships/notesSlide" Target="../notesSlides/notesSlide99.xml"/><Relationship Id="rId6" Type="http://schemas.openxmlformats.org/officeDocument/2006/relationships/image" Target="../media/image2.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xml"/><Relationship Id="rId4" Type="http://schemas.openxmlformats.org/officeDocument/2006/relationships/chart" Target="../charts/chart71.xml"/><Relationship Id="rId5" Type="http://schemas.openxmlformats.org/officeDocument/2006/relationships/chart" Target="../charts/chart72.xml"/><Relationship Id="rId6" Type="http://schemas.openxmlformats.org/officeDocument/2006/relationships/chart" Target="../charts/chart73.xml"/><Relationship Id="rId7" Type="http://schemas.openxmlformats.org/officeDocument/2006/relationships/notesSlide" Target="../notesSlides/notesSlide100.xml"/><Relationship Id="rId8" Type="http://schemas.openxmlformats.org/officeDocument/2006/relationships/image" Target="../media/image2.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 Id="rId4" Type="http://schemas.openxmlformats.org/officeDocument/2006/relationships/image" Target="../media/image2.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 Id="rId4" Type="http://schemas.openxmlformats.org/officeDocument/2006/relationships/image" Target="../media/image2.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xml"/><Relationship Id="rId4" Type="http://schemas.openxmlformats.org/officeDocument/2006/relationships/notesSlide" Target="../notesSlides/notesSlide103.xml"/><Relationship Id="rId5" Type="http://schemas.openxmlformats.org/officeDocument/2006/relationships/image" Target="../media/image2.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 Id="rId4" Type="http://schemas.openxmlformats.org/officeDocument/2006/relationships/image" Target="../media/image2.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 Id="rId4" Type="http://schemas.openxmlformats.org/officeDocument/2006/relationships/image" Target="../media/image2.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 Id="rId4" Type="http://schemas.openxmlformats.org/officeDocument/2006/relationships/image" Target="../media/image457.png"/><Relationship Id="rId5" Type="http://schemas.openxmlformats.org/officeDocument/2006/relationships/image" Target="../media/image458.png"/><Relationship Id="rId6" Type="http://schemas.openxmlformats.org/officeDocument/2006/relationships/image" Target="../media/image459.png"/><Relationship Id="rId7" Type="http://schemas.openxmlformats.org/officeDocument/2006/relationships/image" Target="../media/image460.png"/><Relationship Id="rId8" Type="http://schemas.openxmlformats.org/officeDocument/2006/relationships/image" Target="../media/image461.png"/><Relationship Id="rId9" Type="http://schemas.openxmlformats.org/officeDocument/2006/relationships/image" Target="../media/image114.png"/><Relationship Id="rId10" Type="http://schemas.openxmlformats.org/officeDocument/2006/relationships/image" Target="../media/image462.png"/><Relationship Id="rId11" Type="http://schemas.openxmlformats.org/officeDocument/2006/relationships/image" Target="../media/image463.png"/><Relationship Id="rId12" Type="http://schemas.openxmlformats.org/officeDocument/2006/relationships/image" Target="../media/image464.png"/><Relationship Id="rId13" Type="http://schemas.openxmlformats.org/officeDocument/2006/relationships/image" Target="../media/image465.png"/><Relationship Id="rId14" Type="http://schemas.openxmlformats.org/officeDocument/2006/relationships/image" Target="../media/image466.png"/><Relationship Id="rId15" Type="http://schemas.openxmlformats.org/officeDocument/2006/relationships/image" Target="../media/image467.png"/><Relationship Id="rId16" Type="http://schemas.openxmlformats.org/officeDocument/2006/relationships/image" Target="../media/image2.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xml"/><Relationship Id="rId4" Type="http://schemas.openxmlformats.org/officeDocument/2006/relationships/chart" Target="../charts/chart76.xml"/><Relationship Id="rId5" Type="http://schemas.openxmlformats.org/officeDocument/2006/relationships/notesSlide" Target="../notesSlides/notesSlide107.xml"/><Relationship Id="rId6" Type="http://schemas.openxmlformats.org/officeDocument/2006/relationships/image" Target="../media/image2.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7.xml"/><Relationship Id="rId4" Type="http://schemas.openxmlformats.org/officeDocument/2006/relationships/chart" Target="../charts/chart78.xml"/><Relationship Id="rId5" Type="http://schemas.openxmlformats.org/officeDocument/2006/relationships/chart" Target="../charts/chart79.xml"/><Relationship Id="rId6" Type="http://schemas.openxmlformats.org/officeDocument/2006/relationships/chart" Target="../charts/chart80.xml"/><Relationship Id="rId7" Type="http://schemas.openxmlformats.org/officeDocument/2006/relationships/notesSlide" Target="../notesSlides/notesSlide108.xml"/><Relationship Id="rId8" Type="http://schemas.openxmlformats.org/officeDocument/2006/relationships/image" Target="../media/image2.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 Id="rId4" Type="http://schemas.openxmlformats.org/officeDocument/2006/relationships/image" Target="../media/image2.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xml"/><Relationship Id="rId4" Type="http://schemas.openxmlformats.org/officeDocument/2006/relationships/image" Target="../media/image2.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 Id="rId4" Type="http://schemas.openxmlformats.org/officeDocument/2006/relationships/image" Target="../media/image2.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112.xml"/><Relationship Id="rId5" Type="http://schemas.openxmlformats.org/officeDocument/2006/relationships/image" Target="../media/image2.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xml"/><Relationship Id="rId4" Type="http://schemas.openxmlformats.org/officeDocument/2006/relationships/image" Target="../media/image2.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 Id="rId4" Type="http://schemas.openxmlformats.org/officeDocument/2006/relationships/image" Target="../media/image2.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 Id="rId4" Type="http://schemas.openxmlformats.org/officeDocument/2006/relationships/image" Target="../media/image2.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 Id="rId4" Type="http://schemas.openxmlformats.org/officeDocument/2006/relationships/image" Target="../media/image488.png"/><Relationship Id="rId5" Type="http://schemas.openxmlformats.org/officeDocument/2006/relationships/image" Target="../media/image411.png"/><Relationship Id="rId6" Type="http://schemas.openxmlformats.org/officeDocument/2006/relationships/image" Target="../media/image489.png"/><Relationship Id="rId7" Type="http://schemas.openxmlformats.org/officeDocument/2006/relationships/image" Target="../media/image44.png"/><Relationship Id="rId8" Type="http://schemas.openxmlformats.org/officeDocument/2006/relationships/image" Target="../media/image490.png"/><Relationship Id="rId9" Type="http://schemas.openxmlformats.org/officeDocument/2006/relationships/image" Target="../media/image223.png"/><Relationship Id="rId10" Type="http://schemas.openxmlformats.org/officeDocument/2006/relationships/image" Target="../media/image2.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chart" Target="../charts/chart83.xml"/><Relationship Id="rId5" Type="http://schemas.openxmlformats.org/officeDocument/2006/relationships/notesSlide" Target="../notesSlides/notesSlide118.xml"/><Relationship Id="rId6" Type="http://schemas.openxmlformats.org/officeDocument/2006/relationships/image" Target="../media/image2.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xml"/><Relationship Id="rId4" Type="http://schemas.openxmlformats.org/officeDocument/2006/relationships/chart" Target="../charts/chart85.xml"/><Relationship Id="rId5" Type="http://schemas.openxmlformats.org/officeDocument/2006/relationships/notesSlide" Target="../notesSlides/notesSlide119.xml"/><Relationship Id="rId6" Type="http://schemas.openxmlformats.org/officeDocument/2006/relationships/image" Target="../media/image2.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 Id="rId4" Type="http://schemas.openxmlformats.org/officeDocument/2006/relationships/image" Target="../media/image2.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 Id="rId4" Type="http://schemas.openxmlformats.org/officeDocument/2006/relationships/image" Target="../media/image2.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xml"/><Relationship Id="rId4" Type="http://schemas.openxmlformats.org/officeDocument/2006/relationships/notesSlide" Target="../notesSlides/notesSlide122.xml"/><Relationship Id="rId5" Type="http://schemas.openxmlformats.org/officeDocument/2006/relationships/image" Target="../media/image2.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xml"/><Relationship Id="rId4" Type="http://schemas.openxmlformats.org/officeDocument/2006/relationships/image" Target="../media/image2.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xml"/><Relationship Id="rId4" Type="http://schemas.openxmlformats.org/officeDocument/2006/relationships/image" Target="../media/image2.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xml"/><Relationship Id="rId4" Type="http://schemas.openxmlformats.org/officeDocument/2006/relationships/image" Target="../media/image501.png"/><Relationship Id="rId5" Type="http://schemas.openxmlformats.org/officeDocument/2006/relationships/image" Target="../media/image502.png"/><Relationship Id="rId6" Type="http://schemas.openxmlformats.org/officeDocument/2006/relationships/image" Target="../media/image69.png"/><Relationship Id="rId7" Type="http://schemas.openxmlformats.org/officeDocument/2006/relationships/image" Target="../media/image503.png"/><Relationship Id="rId8" Type="http://schemas.openxmlformats.org/officeDocument/2006/relationships/image" Target="../media/image504.png"/><Relationship Id="rId9" Type="http://schemas.openxmlformats.org/officeDocument/2006/relationships/image" Target="../media/image433.png"/><Relationship Id="rId10" Type="http://schemas.openxmlformats.org/officeDocument/2006/relationships/image" Target="../media/image505.png"/><Relationship Id="rId11" Type="http://schemas.openxmlformats.org/officeDocument/2006/relationships/image" Target="../media/image506.png"/><Relationship Id="rId12" Type="http://schemas.openxmlformats.org/officeDocument/2006/relationships/image" Target="../media/image467.png"/><Relationship Id="rId13" Type="http://schemas.openxmlformats.org/officeDocument/2006/relationships/image" Target="../media/image507.png"/><Relationship Id="rId14" Type="http://schemas.openxmlformats.org/officeDocument/2006/relationships/image" Target="../media/image168.png"/><Relationship Id="rId15" Type="http://schemas.openxmlformats.org/officeDocument/2006/relationships/image" Target="../media/image436.png"/><Relationship Id="rId16" Type="http://schemas.openxmlformats.org/officeDocument/2006/relationships/image" Target="../media/image2.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26.xml"/><Relationship Id="rId6" Type="http://schemas.openxmlformats.org/officeDocument/2006/relationships/image" Target="../media/image2.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chart" Target="../charts/chart91.xml"/><Relationship Id="rId6" Type="http://schemas.openxmlformats.org/officeDocument/2006/relationships/chart" Target="../charts/chart92.xml"/><Relationship Id="rId7" Type="http://schemas.openxmlformats.org/officeDocument/2006/relationships/notesSlide" Target="../notesSlides/notesSlide127.xml"/><Relationship Id="rId8" Type="http://schemas.openxmlformats.org/officeDocument/2006/relationships/image" Target="../media/image2.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 Id="rId4" Type="http://schemas.openxmlformats.org/officeDocument/2006/relationships/image" Target="../media/image2.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 Id="rId4" Type="http://schemas.openxmlformats.org/officeDocument/2006/relationships/image" Target="../media/image2.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xml"/><Relationship Id="rId4" Type="http://schemas.openxmlformats.org/officeDocument/2006/relationships/notesSlide" Target="../notesSlides/notesSlide130.xml"/><Relationship Id="rId5" Type="http://schemas.openxmlformats.org/officeDocument/2006/relationships/image" Target="../media/image2.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xml"/><Relationship Id="rId4" Type="http://schemas.openxmlformats.org/officeDocument/2006/relationships/image" Target="../media/image2.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xml"/><Relationship Id="rId4" Type="http://schemas.openxmlformats.org/officeDocument/2006/relationships/image" Target="../media/image2.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 Id="rId4" Type="http://schemas.openxmlformats.org/officeDocument/2006/relationships/image" Target="../media/image528.png"/><Relationship Id="rId5" Type="http://schemas.openxmlformats.org/officeDocument/2006/relationships/image" Target="../media/image529.png"/><Relationship Id="rId6" Type="http://schemas.openxmlformats.org/officeDocument/2006/relationships/image" Target="../media/image530.png"/><Relationship Id="rId7" Type="http://schemas.openxmlformats.org/officeDocument/2006/relationships/image" Target="../media/image531.png"/><Relationship Id="rId8" Type="http://schemas.openxmlformats.org/officeDocument/2006/relationships/image" Target="../media/image532.png"/><Relationship Id="rId9" Type="http://schemas.openxmlformats.org/officeDocument/2006/relationships/image" Target="../media/image533.png"/><Relationship Id="rId10" Type="http://schemas.openxmlformats.org/officeDocument/2006/relationships/image" Target="../media/image79.png"/><Relationship Id="rId11" Type="http://schemas.openxmlformats.org/officeDocument/2006/relationships/image" Target="../media/image238.png"/><Relationship Id="rId12" Type="http://schemas.openxmlformats.org/officeDocument/2006/relationships/image" Target="../media/image534.png"/><Relationship Id="rId13" Type="http://schemas.openxmlformats.org/officeDocument/2006/relationships/image" Target="../media/image2.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xml"/><Relationship Id="rId4" Type="http://schemas.openxmlformats.org/officeDocument/2006/relationships/chart" Target="../charts/chart95.xml"/><Relationship Id="rId5" Type="http://schemas.openxmlformats.org/officeDocument/2006/relationships/notesSlide" Target="../notesSlides/notesSlide134.xml"/><Relationship Id="rId6" Type="http://schemas.openxmlformats.org/officeDocument/2006/relationships/image" Target="../media/image2.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xml"/><Relationship Id="rId4" Type="http://schemas.openxmlformats.org/officeDocument/2006/relationships/chart" Target="../charts/chart97.xml"/><Relationship Id="rId5" Type="http://schemas.openxmlformats.org/officeDocument/2006/relationships/chart" Target="../charts/chart98.xml"/><Relationship Id="rId6" Type="http://schemas.openxmlformats.org/officeDocument/2006/relationships/notesSlide" Target="../notesSlides/notesSlide135.xml"/><Relationship Id="rId7" Type="http://schemas.openxmlformats.org/officeDocument/2006/relationships/image" Target="../media/image2.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 Id="rId4" Type="http://schemas.openxmlformats.org/officeDocument/2006/relationships/image" Target="../media/image2.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xml"/><Relationship Id="rId4" Type="http://schemas.openxmlformats.org/officeDocument/2006/relationships/image" Target="../media/image2.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notesSlide" Target="../notesSlides/notesSlide138.xml"/><Relationship Id="rId5" Type="http://schemas.openxmlformats.org/officeDocument/2006/relationships/image" Target="../media/image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 Id="rId4" Type="http://schemas.openxmlformats.org/officeDocument/2006/relationships/image" Target="../media/image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 Id="rId4" Type="http://schemas.openxmlformats.org/officeDocument/2006/relationships/image" Target="../media/image2.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 Id="rId4" Type="http://schemas.openxmlformats.org/officeDocument/2006/relationships/image" Target="../media/image550.png"/><Relationship Id="rId5" Type="http://schemas.openxmlformats.org/officeDocument/2006/relationships/image" Target="../media/image551.png"/><Relationship Id="rId6" Type="http://schemas.openxmlformats.org/officeDocument/2006/relationships/image" Target="../media/image92.png"/><Relationship Id="rId7" Type="http://schemas.openxmlformats.org/officeDocument/2006/relationships/image" Target="../media/image552.png"/><Relationship Id="rId8" Type="http://schemas.openxmlformats.org/officeDocument/2006/relationships/image" Target="../media/image553.png"/><Relationship Id="rId9" Type="http://schemas.openxmlformats.org/officeDocument/2006/relationships/image" Target="../media/image114.png"/><Relationship Id="rId10" Type="http://schemas.openxmlformats.org/officeDocument/2006/relationships/image" Target="../media/image2.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xml"/><Relationship Id="rId4" Type="http://schemas.openxmlformats.org/officeDocument/2006/relationships/chart" Target="../charts/chart101.xml"/><Relationship Id="rId5" Type="http://schemas.openxmlformats.org/officeDocument/2006/relationships/notesSlide" Target="../notesSlides/notesSlide142.xml"/><Relationship Id="rId6" Type="http://schemas.openxmlformats.org/officeDocument/2006/relationships/image" Target="../media/image2.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xml"/><Relationship Id="rId4" Type="http://schemas.openxmlformats.org/officeDocument/2006/relationships/chart" Target="../charts/chart103.xml"/><Relationship Id="rId5" Type="http://schemas.openxmlformats.org/officeDocument/2006/relationships/notesSlide" Target="../notesSlides/notesSlide143.xml"/><Relationship Id="rId6" Type="http://schemas.openxmlformats.org/officeDocument/2006/relationships/image" Target="../media/image2.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 Id="rId4" Type="http://schemas.openxmlformats.org/officeDocument/2006/relationships/image" Target="../media/image2.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xml"/><Relationship Id="rId4" Type="http://schemas.openxmlformats.org/officeDocument/2006/relationships/image" Target="../media/image2.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4.xml"/><Relationship Id="rId4" Type="http://schemas.openxmlformats.org/officeDocument/2006/relationships/notesSlide" Target="../notesSlides/notesSlide146.xml"/><Relationship Id="rId5" Type="http://schemas.openxmlformats.org/officeDocument/2006/relationships/image" Target="../media/image2.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 Id="rId4" Type="http://schemas.openxmlformats.org/officeDocument/2006/relationships/image" Target="../media/image2.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 Id="rId4" Type="http://schemas.openxmlformats.org/officeDocument/2006/relationships/image" Target="../media/image2.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 Id="rId4" Type="http://schemas.openxmlformats.org/officeDocument/2006/relationships/image" Target="../media/image2.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notesSlide" Target="../notesSlides/notesSlide150.xml"/><Relationship Id="rId5" Type="http://schemas.openxmlformats.org/officeDocument/2006/relationships/image" Target="../media/image2.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xml"/><Relationship Id="rId4" Type="http://schemas.openxmlformats.org/officeDocument/2006/relationships/image" Target="../media/image2.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 Id="rId4" Type="http://schemas.openxmlformats.org/officeDocument/2006/relationships/image" Target="../media/image2.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notesSlide" Target="../notesSlides/notesSlide153.xml"/><Relationship Id="rId5" Type="http://schemas.openxmlformats.org/officeDocument/2006/relationships/image" Target="../media/image2.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 Id="rId4" Type="http://schemas.openxmlformats.org/officeDocument/2006/relationships/image" Target="../media/image2.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chart" Target="../charts/chart108.xml"/><Relationship Id="rId5" Type="http://schemas.openxmlformats.org/officeDocument/2006/relationships/chart" Target="../charts/chart109.xml"/><Relationship Id="rId6" Type="http://schemas.openxmlformats.org/officeDocument/2006/relationships/chart" Target="../charts/chart110.xml"/><Relationship Id="rId7" Type="http://schemas.openxmlformats.org/officeDocument/2006/relationships/notesSlide" Target="../notesSlides/notesSlide156.xml"/><Relationship Id="rId8" Type="http://schemas.openxmlformats.org/officeDocument/2006/relationships/image" Target="../media/image2.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chart" Target="../charts/chart113.xml"/><Relationship Id="rId6" Type="http://schemas.openxmlformats.org/officeDocument/2006/relationships/chart" Target="../charts/chart114.xml"/><Relationship Id="rId7" Type="http://schemas.openxmlformats.org/officeDocument/2006/relationships/notesSlide" Target="../notesSlides/notesSlide157.xml"/><Relationship Id="rId8" Type="http://schemas.openxmlformats.org/officeDocument/2006/relationships/image" Target="../media/image2.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chart" Target="../charts/chart117.xml"/><Relationship Id="rId6" Type="http://schemas.openxmlformats.org/officeDocument/2006/relationships/chart" Target="../charts/chart118.xml"/><Relationship Id="rId7" Type="http://schemas.openxmlformats.org/officeDocument/2006/relationships/chart" Target="../charts/chart119.xml"/><Relationship Id="rId8" Type="http://schemas.openxmlformats.org/officeDocument/2006/relationships/chart" Target="../charts/chart120.xml"/><Relationship Id="rId9" Type="http://schemas.openxmlformats.org/officeDocument/2006/relationships/notesSlide" Target="../notesSlides/notesSlide158.xml"/><Relationship Id="rId10" Type="http://schemas.openxmlformats.org/officeDocument/2006/relationships/image" Target="../media/image2.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chart" Target="../charts/chart122.xml"/><Relationship Id="rId5" Type="http://schemas.openxmlformats.org/officeDocument/2006/relationships/notesSlide" Target="../notesSlides/notesSlide159.xml"/><Relationship Id="rId6" Type="http://schemas.openxmlformats.org/officeDocument/2006/relationships/image" Target="../media/image2.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 Id="rId4" Type="http://schemas.openxmlformats.org/officeDocument/2006/relationships/image" Target="../media/image2.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 Id="rId4" Type="http://schemas.openxmlformats.org/officeDocument/2006/relationships/image" Target="../media/image2.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xml"/><Relationship Id="rId4" Type="http://schemas.openxmlformats.org/officeDocument/2006/relationships/chart" Target="../charts/chart124.xml"/><Relationship Id="rId5" Type="http://schemas.openxmlformats.org/officeDocument/2006/relationships/notesSlide" Target="../notesSlides/notesSlide162.xml"/><Relationship Id="rId6" Type="http://schemas.openxmlformats.org/officeDocument/2006/relationships/image" Target="../media/image2.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xml"/><Relationship Id="rId4" Type="http://schemas.openxmlformats.org/officeDocument/2006/relationships/image" Target="../media/image2.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 Id="rId4" Type="http://schemas.openxmlformats.org/officeDocument/2006/relationships/image" Target="../media/image2.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 Id="rId4" Type="http://schemas.openxmlformats.org/officeDocument/2006/relationships/image" Target="../media/image2.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 Id="rId4" Type="http://schemas.openxmlformats.org/officeDocument/2006/relationships/image" Target="../media/image2.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xml"/><Relationship Id="rId4" Type="http://schemas.openxmlformats.org/officeDocument/2006/relationships/chart" Target="../charts/chart126.xml"/><Relationship Id="rId5" Type="http://schemas.openxmlformats.org/officeDocument/2006/relationships/notesSlide" Target="../notesSlides/notesSlide167.xml"/><Relationship Id="rId6" Type="http://schemas.openxmlformats.org/officeDocument/2006/relationships/image" Target="../media/image2.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 Id="rId4" Type="http://schemas.openxmlformats.org/officeDocument/2006/relationships/image" Target="../media/image2.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 Id="rId4" Type="http://schemas.openxmlformats.org/officeDocument/2006/relationships/image" Target="../media/image2.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 Id="rId4" Type="http://schemas.openxmlformats.org/officeDocument/2006/relationships/image" Target="../media/image2.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7.xml"/><Relationship Id="rId4" Type="http://schemas.openxmlformats.org/officeDocument/2006/relationships/chart" Target="../charts/chart128.xml"/><Relationship Id="rId5" Type="http://schemas.openxmlformats.org/officeDocument/2006/relationships/notesSlide" Target="../notesSlides/notesSlide171.xml"/><Relationship Id="rId6" Type="http://schemas.openxmlformats.org/officeDocument/2006/relationships/image" Target="../media/image2.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 Id="rId4" Type="http://schemas.openxmlformats.org/officeDocument/2006/relationships/image" Target="../media/image2.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 Id="rId4" Type="http://schemas.openxmlformats.org/officeDocument/2006/relationships/image" Target="../media/image2.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xml"/><Relationship Id="rId4" Type="http://schemas.openxmlformats.org/officeDocument/2006/relationships/chart" Target="../charts/chart130.xml"/><Relationship Id="rId5" Type="http://schemas.openxmlformats.org/officeDocument/2006/relationships/notesSlide" Target="../notesSlides/notesSlide174.xml"/><Relationship Id="rId6" Type="http://schemas.openxmlformats.org/officeDocument/2006/relationships/image" Target="../media/image2.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 Id="rId4" Type="http://schemas.openxmlformats.org/officeDocument/2006/relationships/image" Target="../media/image2.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 Id="rId4" Type="http://schemas.openxmlformats.org/officeDocument/2006/relationships/image" Target="../media/image2.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177.xml"/><Relationship Id="rId6" Type="http://schemas.openxmlformats.org/officeDocument/2006/relationships/image" Target="../media/image2.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 Id="rId4" Type="http://schemas.openxmlformats.org/officeDocument/2006/relationships/image" Target="../media/image2.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 Id="rId4" Type="http://schemas.openxmlformats.org/officeDocument/2006/relationships/image" Target="../media/image2.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 Id="rId4" Type="http://schemas.openxmlformats.org/officeDocument/2006/relationships/image" Target="../media/image2.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81.xml"/><Relationship Id="rId5" Type="http://schemas.openxmlformats.org/officeDocument/2006/relationships/image" Target="../media/image2.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2.xml"/><Relationship Id="rId4" Type="http://schemas.openxmlformats.org/officeDocument/2006/relationships/image" Target="../media/image2.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 Id="rId4" Type="http://schemas.openxmlformats.org/officeDocument/2006/relationships/image" Target="../media/image2.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notesSlide" Target="../notesSlides/notesSlide184.xml"/><Relationship Id="rId5" Type="http://schemas.openxmlformats.org/officeDocument/2006/relationships/image" Target="../media/image2.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 Id="rId4" Type="http://schemas.openxmlformats.org/officeDocument/2006/relationships/image" Target="../media/image2.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 Id="rId4" Type="http://schemas.openxmlformats.org/officeDocument/2006/relationships/image" Target="../media/image2.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188.xml"/><Relationship Id="rId6" Type="http://schemas.openxmlformats.org/officeDocument/2006/relationships/image" Target="../media/image2.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notesSlide" Target="../notesSlides/notesSlide189.xml"/><Relationship Id="rId5" Type="http://schemas.openxmlformats.org/officeDocument/2006/relationships/image" Target="../media/image2.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xml"/><Relationship Id="rId4" Type="http://schemas.openxmlformats.org/officeDocument/2006/relationships/notesSlide" Target="../notesSlides/notesSlide190.xml"/><Relationship Id="rId5" Type="http://schemas.openxmlformats.org/officeDocument/2006/relationships/image" Target="../media/image2.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 Id="rId4" Type="http://schemas.openxmlformats.org/officeDocument/2006/relationships/image" Target="../media/image2.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 Id="rId4" Type="http://schemas.openxmlformats.org/officeDocument/2006/relationships/image" Target="../media/image2.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 Id="rId4" Type="http://schemas.openxmlformats.org/officeDocument/2006/relationships/image" Target="../media/image2.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 Id="rId4" Type="http://schemas.openxmlformats.org/officeDocument/2006/relationships/image" Target="../media/image2.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5.xml"/><Relationship Id="rId4" Type="http://schemas.openxmlformats.org/officeDocument/2006/relationships/image" Target="../media/image2.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6.xml"/><Relationship Id="rId4" Type="http://schemas.openxmlformats.org/officeDocument/2006/relationships/image" Target="../media/image2.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 Id="rId4" Type="http://schemas.openxmlformats.org/officeDocument/2006/relationships/image" Target="../media/image2.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 Id="rId4" Type="http://schemas.openxmlformats.org/officeDocument/2006/relationships/image" Target="../media/image2.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 Id="rId4" Type="http://schemas.openxmlformats.org/officeDocument/2006/relationships/image" Target="../media/image2.pn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1.xml"/><Relationship Id="rId4" Type="http://schemas.openxmlformats.org/officeDocument/2006/relationships/image" Target="../media/image2.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 Id="rId4" Type="http://schemas.openxmlformats.org/officeDocument/2006/relationships/image" Target="../media/image2.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 Id="rId4" Type="http://schemas.openxmlformats.org/officeDocument/2006/relationships/image" Target="../media/image2.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 Id="rId4" Type="http://schemas.openxmlformats.org/officeDocument/2006/relationships/image" Target="../media/image2.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6.xml"/><Relationship Id="rId4" Type="http://schemas.openxmlformats.org/officeDocument/2006/relationships/image" Target="../media/image2.pn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 Id="rId4" Type="http://schemas.openxmlformats.org/officeDocument/2006/relationships/image" Target="../media/image2.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 Id="rId4" Type="http://schemas.openxmlformats.org/officeDocument/2006/relationships/image" Target="../media/image2.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 Id="rId4" Type="http://schemas.openxmlformats.org/officeDocument/2006/relationships/image" Target="../media/image2.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 Id="rId4" Type="http://schemas.openxmlformats.org/officeDocument/2006/relationships/image" Target="../media/image2.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 Id="rId4" Type="http://schemas.openxmlformats.org/officeDocument/2006/relationships/image" Target="../media/image2.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 Id="rId4" Type="http://schemas.openxmlformats.org/officeDocument/2006/relationships/image" Target="../media/image2.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4.xml"/><Relationship Id="rId4" Type="http://schemas.openxmlformats.org/officeDocument/2006/relationships/image" Target="../media/image2.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 Id="rId4" Type="http://schemas.openxmlformats.org/officeDocument/2006/relationships/image" Target="../media/image2.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 Id="rId4" Type="http://schemas.openxmlformats.org/officeDocument/2006/relationships/image" Target="../media/image2.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 Id="rId4" Type="http://schemas.openxmlformats.org/officeDocument/2006/relationships/image" Target="../media/image2.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 Id="rId4" Type="http://schemas.openxmlformats.org/officeDocument/2006/relationships/image" Target="../media/image2.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 Id="rId4" Type="http://schemas.openxmlformats.org/officeDocument/2006/relationships/image" Target="../media/image2.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 Id="rId4" Type="http://schemas.openxmlformats.org/officeDocument/2006/relationships/image" Target="../media/image2.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 Id="rId4" Type="http://schemas.openxmlformats.org/officeDocument/2006/relationships/image" Target="../media/image2.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 Id="rId4" Type="http://schemas.openxmlformats.org/officeDocument/2006/relationships/image" Target="../media/image2.png"/></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 Id="rId4" Type="http://schemas.openxmlformats.org/officeDocument/2006/relationships/image" Target="../media/image2.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notesSlide" Target="../notesSlides/notesSlide225.xml"/><Relationship Id="rId5" Type="http://schemas.openxmlformats.org/officeDocument/2006/relationships/image" Target="../media/image2.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xml"/><Relationship Id="rId4" Type="http://schemas.openxmlformats.org/officeDocument/2006/relationships/chart" Target="../charts/chart141.xml"/><Relationship Id="rId5" Type="http://schemas.openxmlformats.org/officeDocument/2006/relationships/chart" Target="../charts/chart142.xml"/><Relationship Id="rId6" Type="http://schemas.openxmlformats.org/officeDocument/2006/relationships/notesSlide" Target="../notesSlides/notesSlide226.xml"/><Relationship Id="rId7" Type="http://schemas.openxmlformats.org/officeDocument/2006/relationships/image" Target="../media/image2.pn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chart" Target="../charts/chart144.xml"/><Relationship Id="rId5" Type="http://schemas.openxmlformats.org/officeDocument/2006/relationships/chart" Target="../charts/chart145.xml"/><Relationship Id="rId6" Type="http://schemas.openxmlformats.org/officeDocument/2006/relationships/notesSlide" Target="../notesSlides/notesSlide227.xml"/><Relationship Id="rId7" Type="http://schemas.openxmlformats.org/officeDocument/2006/relationships/image" Target="../media/image2.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8.xml"/><Relationship Id="rId4" Type="http://schemas.openxmlformats.org/officeDocument/2006/relationships/image" Target="../media/image2.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xml"/><Relationship Id="rId4" Type="http://schemas.openxmlformats.org/officeDocument/2006/relationships/chart" Target="../charts/chart147.xml"/><Relationship Id="rId5" Type="http://schemas.openxmlformats.org/officeDocument/2006/relationships/chart" Target="../charts/chart148.xml"/><Relationship Id="rId6" Type="http://schemas.openxmlformats.org/officeDocument/2006/relationships/notesSlide" Target="../notesSlides/notesSlide229.xml"/><Relationship Id="rId7" Type="http://schemas.openxmlformats.org/officeDocument/2006/relationships/image" Target="../media/image2.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xml"/><Relationship Id="rId4" Type="http://schemas.openxmlformats.org/officeDocument/2006/relationships/notesSlide" Target="../notesSlides/notesSlide230.xml"/><Relationship Id="rId5" Type="http://schemas.openxmlformats.org/officeDocument/2006/relationships/image" Target="../media/image2.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 Id="rId4" Type="http://schemas.openxmlformats.org/officeDocument/2006/relationships/image" Target="../media/image2.png"/></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2.xml"/><Relationship Id="rId4" Type="http://schemas.openxmlformats.org/officeDocument/2006/relationships/image" Target="../media/image2.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3.xml"/><Relationship Id="rId4" Type="http://schemas.openxmlformats.org/officeDocument/2006/relationships/image" Target="../media/image2.pn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xml"/><Relationship Id="rId4" Type="http://schemas.openxmlformats.org/officeDocument/2006/relationships/chart" Target="../charts/chart151.xml"/><Relationship Id="rId5" Type="http://schemas.openxmlformats.org/officeDocument/2006/relationships/chart" Target="../charts/chart152.xml"/><Relationship Id="rId6" Type="http://schemas.openxmlformats.org/officeDocument/2006/relationships/notesSlide" Target="../notesSlides/notesSlide234.xml"/><Relationship Id="rId7" Type="http://schemas.openxmlformats.org/officeDocument/2006/relationships/image" Target="../media/image2.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xml"/><Relationship Id="rId4" Type="http://schemas.openxmlformats.org/officeDocument/2006/relationships/notesSlide" Target="../notesSlides/notesSlide235.xml"/><Relationship Id="rId5" Type="http://schemas.openxmlformats.org/officeDocument/2006/relationships/image" Target="../media/image2.pn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 Id="rId4" Type="http://schemas.openxmlformats.org/officeDocument/2006/relationships/image" Target="../media/image2.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 Id="rId4" Type="http://schemas.openxmlformats.org/officeDocument/2006/relationships/image" Target="../media/image2.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 Id="rId4" Type="http://schemas.openxmlformats.org/officeDocument/2006/relationships/image" Target="../media/image2.png"/></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xml"/><Relationship Id="rId4" Type="http://schemas.openxmlformats.org/officeDocument/2006/relationships/chart" Target="../charts/chart155.xml"/><Relationship Id="rId5" Type="http://schemas.openxmlformats.org/officeDocument/2006/relationships/chart" Target="../charts/chart156.xml"/><Relationship Id="rId6" Type="http://schemas.openxmlformats.org/officeDocument/2006/relationships/notesSlide" Target="../notesSlides/notesSlide239.xml"/><Relationship Id="rId7" Type="http://schemas.openxmlformats.org/officeDocument/2006/relationships/image" Target="../media/image2.png"/></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notesSlide" Target="../notesSlides/notesSlide240.xml"/><Relationship Id="rId5" Type="http://schemas.openxmlformats.org/officeDocument/2006/relationships/image" Target="../media/image2.png"/></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1.xml"/><Relationship Id="rId4" Type="http://schemas.openxmlformats.org/officeDocument/2006/relationships/image" Target="../media/image2.png"/></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2.xml"/><Relationship Id="rId4" Type="http://schemas.openxmlformats.org/officeDocument/2006/relationships/image" Target="../media/image2.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 Id="rId4" Type="http://schemas.openxmlformats.org/officeDocument/2006/relationships/image" Target="../media/image2.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Global Removable Partial Dentures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(Units) Analysis and Forecast, 2021–2036</a:t>
            </a:r>
          </a:p>
          <a:p>
            <a:pPr algn="l"/>
            <a:r>
              <a:rPr sz="1100" b="0">
                <a:solidFill>
                  <a:srgbClr val="8FCBE6"/>
                </a:solidFill>
                <a:latin typeface="Calibri"/>
              </a:rPr>
              <a:t>Region focus: Global   ·   Country focus: U.S.   ·   Generated 12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49402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1868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22721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258620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294519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6" name="Rounded Rectangle 15">
            <a:hlinkClick action="ppaction://hlinksldjump" r:id="rId9"/>
          </p:cNvPr>
          <p:cNvSpPr/>
          <p:nvPr/>
        </p:nvSpPr>
        <p:spPr>
          <a:xfrm>
            <a:off x="314325" y="331939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Removable Partial Dentures Market Global Overview</a:t>
            </a:r>
          </a:p>
        </p:txBody>
      </p:sp>
      <p:sp>
        <p:nvSpPr>
          <p:cNvPr id="17" name="Rounded Rectangle 16">
            <a:hlinkClick action="ppaction://hlinksldjump" r:id="rId10"/>
          </p:cNvPr>
          <p:cNvSpPr/>
          <p:nvPr/>
        </p:nvSpPr>
        <p:spPr>
          <a:xfrm>
            <a:off x="314325" y="367838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Region</a:t>
            </a:r>
          </a:p>
        </p:txBody>
      </p:sp>
      <p:sp>
        <p:nvSpPr>
          <p:cNvPr id="18" name="Rounded Rectangle 17">
            <a:hlinkClick action="ppaction://hlinksldjump" r:id="rId11"/>
          </p:cNvPr>
          <p:cNvSpPr/>
          <p:nvPr/>
        </p:nvSpPr>
        <p:spPr>
          <a:xfrm>
            <a:off x="314325" y="403737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Global Market Analysis By Segments</a:t>
            </a:r>
          </a:p>
        </p:txBody>
      </p:sp>
      <p:sp>
        <p:nvSpPr>
          <p:cNvPr id="19" name="Rounded Rectangle 18">
            <a:hlinkClick action="ppaction://hlinksldjump" r:id="rId12"/>
          </p:cNvPr>
          <p:cNvSpPr/>
          <p:nvPr/>
        </p:nvSpPr>
        <p:spPr>
          <a:xfrm>
            <a:off x="314325" y="439636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Cross-sectional Assessment</a:t>
            </a:r>
          </a:p>
        </p:txBody>
      </p:sp>
      <p:sp>
        <p:nvSpPr>
          <p:cNvPr id="20" name="Rounded Rectangle 19">
            <a:hlinkClick action="ppaction://hlinksldjump" r:id="rId13"/>
          </p:cNvPr>
          <p:cNvSpPr/>
          <p:nvPr/>
        </p:nvSpPr>
        <p:spPr>
          <a:xfrm>
            <a:off x="142875" y="4755354"/>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21" name="Rounded Rectangle 20">
            <a:hlinkClick action="ppaction://hlinksldjump" r:id="rId14"/>
          </p:cNvPr>
          <p:cNvSpPr/>
          <p:nvPr/>
        </p:nvSpPr>
        <p:spPr>
          <a:xfrm>
            <a:off x="314325" y="51295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North America Overview</a:t>
            </a:r>
          </a:p>
        </p:txBody>
      </p:sp>
      <p:sp>
        <p:nvSpPr>
          <p:cNvPr id="22" name="Rounded Rectangle 21">
            <a:hlinkClick action="ppaction://hlinksldjump" r:id="rId15"/>
          </p:cNvPr>
          <p:cNvSpPr/>
          <p:nvPr/>
        </p:nvSpPr>
        <p:spPr>
          <a:xfrm>
            <a:off x="314325" y="548854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North America Market Analysis By Country</a:t>
            </a:r>
          </a:p>
        </p:txBody>
      </p:sp>
      <p:sp>
        <p:nvSpPr>
          <p:cNvPr id="23" name="Rounded Rectangle 22">
            <a:hlinkClick action="ppaction://hlinksldjump" r:id="rId16"/>
          </p:cNvPr>
          <p:cNvSpPr/>
          <p:nvPr/>
        </p:nvSpPr>
        <p:spPr>
          <a:xfrm>
            <a:off x="314325" y="584753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North America Market Analysis By Segments</a:t>
            </a:r>
          </a:p>
        </p:txBody>
      </p:sp>
      <p:sp>
        <p:nvSpPr>
          <p:cNvPr id="24" name="Rounded Rectangle 23">
            <a:hlinkClick action="ppaction://hlinksldjump" r:id="rId17"/>
          </p:cNvPr>
          <p:cNvSpPr/>
          <p:nvPr/>
        </p:nvSpPr>
        <p:spPr>
          <a:xfrm>
            <a:off x="31432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Cross-sectional Assessment</a:t>
            </a:r>
          </a:p>
        </p:txBody>
      </p:sp>
      <p:sp>
        <p:nvSpPr>
          <p:cNvPr id="25" name="Rounded Rectangle 24">
            <a:hlinkClick action="ppaction://hlinksldjump" r:id="rId18"/>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6" name="Rounded Rectangle 25">
            <a:hlinkClick action="ppaction://hlinksldjump" r:id="rId19"/>
          </p:cNvPr>
          <p:cNvSpPr/>
          <p:nvPr/>
        </p:nvSpPr>
        <p:spPr>
          <a:xfrm>
            <a:off x="6391275" y="1567802"/>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Removable Partial Dentures Market Overview (Volume &amp; Value)</a:t>
            </a:r>
          </a:p>
        </p:txBody>
      </p:sp>
      <p:sp>
        <p:nvSpPr>
          <p:cNvPr id="27" name="Rounded Rectangle 26">
            <a:hlinkClick action="ppaction://hlinksldjump" r:id="rId20"/>
          </p:cNvPr>
          <p:cNvSpPr/>
          <p:nvPr/>
        </p:nvSpPr>
        <p:spPr>
          <a:xfrm>
            <a:off x="6391275" y="19853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Segment Overview (Volume &amp; Value)</a:t>
            </a:r>
          </a:p>
        </p:txBody>
      </p:sp>
      <p:sp>
        <p:nvSpPr>
          <p:cNvPr id="28" name="Rounded Rectangle 27">
            <a:hlinkClick action="ppaction://hlinksldjump" r:id="rId21"/>
          </p:cNvPr>
          <p:cNvSpPr/>
          <p:nvPr/>
        </p:nvSpPr>
        <p:spPr>
          <a:xfrm>
            <a:off x="6391275" y="240290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15. Cross-sectional Assessment</a:t>
            </a:r>
          </a:p>
        </p:txBody>
      </p:sp>
      <p:sp>
        <p:nvSpPr>
          <p:cNvPr id="29" name="Rounded Rectangle 28">
            <a:hlinkClick action="ppaction://hlinksldjump" r:id="rId22"/>
          </p:cNvPr>
          <p:cNvSpPr/>
          <p:nvPr/>
        </p:nvSpPr>
        <p:spPr>
          <a:xfrm>
            <a:off x="6219825" y="2820462"/>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30" name="Rounded Rectangle 29">
            <a:hlinkClick action="ppaction://hlinksldjump" r:id="rId23"/>
          </p:cNvPr>
          <p:cNvSpPr/>
          <p:nvPr/>
        </p:nvSpPr>
        <p:spPr>
          <a:xfrm>
            <a:off x="6391275" y="3253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16. Removable Partial Dentures Market Pricing Analysis</a:t>
            </a:r>
          </a:p>
        </p:txBody>
      </p:sp>
      <p:sp>
        <p:nvSpPr>
          <p:cNvPr id="31" name="Rounded Rectangle 30">
            <a:hlinkClick action="ppaction://hlinksldjump" r:id="rId24"/>
          </p:cNvPr>
          <p:cNvSpPr/>
          <p:nvPr/>
        </p:nvSpPr>
        <p:spPr>
          <a:xfrm>
            <a:off x="6391275" y="367077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17. Supply Chain Analysis</a:t>
            </a:r>
          </a:p>
        </p:txBody>
      </p:sp>
      <p:sp>
        <p:nvSpPr>
          <p:cNvPr id="32" name="Rounded Rectangle 31">
            <a:hlinkClick action="ppaction://hlinksldjump" r:id="rId25"/>
          </p:cNvPr>
          <p:cNvSpPr/>
          <p:nvPr/>
        </p:nvSpPr>
        <p:spPr>
          <a:xfrm>
            <a:off x="6219825" y="4088333"/>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33" name="Rounded Rectangle 32">
            <a:hlinkClick action="ppaction://hlinksldjump" r:id="rId26"/>
          </p:cNvPr>
          <p:cNvSpPr/>
          <p:nvPr/>
        </p:nvSpPr>
        <p:spPr>
          <a:xfrm>
            <a:off x="6391275" y="452109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18. Market Dynamics &amp; Forces</a:t>
            </a:r>
          </a:p>
        </p:txBody>
      </p:sp>
      <p:sp>
        <p:nvSpPr>
          <p:cNvPr id="34" name="Rounded Rectangle 33">
            <a:hlinkClick action="ppaction://hlinksldjump" r:id="rId27"/>
          </p:cNvPr>
          <p:cNvSpPr/>
          <p:nvPr/>
        </p:nvSpPr>
        <p:spPr>
          <a:xfrm>
            <a:off x="6219825" y="493865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35" name="Rounded Rectangle 34">
            <a:hlinkClick action="ppaction://hlinksldjump" r:id="rId28"/>
          </p:cNvPr>
          <p:cNvSpPr/>
          <p:nvPr/>
        </p:nvSpPr>
        <p:spPr>
          <a:xfrm>
            <a:off x="6391275" y="537141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19. Competitive Landscape</a:t>
            </a:r>
          </a:p>
        </p:txBody>
      </p:sp>
      <p:sp>
        <p:nvSpPr>
          <p:cNvPr id="36" name="Rounded Rectangle 35">
            <a:hlinkClick action="ppaction://hlinksldjump" r:id="rId29"/>
          </p:cNvPr>
          <p:cNvSpPr/>
          <p:nvPr/>
        </p:nvSpPr>
        <p:spPr>
          <a:xfrm>
            <a:off x="6391275" y="578896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20. Market Share by Leading Players</a:t>
            </a:r>
          </a:p>
        </p:txBody>
      </p:sp>
      <p:sp>
        <p:nvSpPr>
          <p:cNvPr id="37" name="Rounded Rectangle 36">
            <a:hlinkClick action="ppaction://hlinksldjump" r:id="rId30"/>
          </p:cNvPr>
          <p:cNvSpPr/>
          <p:nvPr/>
        </p:nvSpPr>
        <p:spPr>
          <a:xfrm>
            <a:off x="639127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21. Company Profiles &amp; Strategic Benchmarking</a:t>
            </a:r>
          </a:p>
        </p:txBody>
      </p:sp>
      <p:sp>
        <p:nvSpPr>
          <p:cNvPr id="38" name="TextBox 3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Removable Partial Dentures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Removable Partial Dentures demand, the evidence behind each and what it implies for the global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Removable Partial Dentures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a:t>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Removable Partial Dentures demand?</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2" name="TextBox 11"/>
          <p:cNvSpPr txBox="1"/>
          <p:nvPr/>
        </p:nvSpPr>
        <p:spPr>
          <a:xfrm>
            <a:off x="3784750" y="1761432"/>
            <a:ext cx="1689844" cy="186689"/>
          </a:xfrm>
          <a:prstGeom prst="rect">
            <a:avLst/>
          </a:prstGeom>
          <a:noFill/>
        </p:spPr>
        <p:txBody>
          <a:bodyPr wrap="none" lIns="0" rIns="0" tIns="0" bIns="0">
            <a:spAutoFit/>
          </a:bodyPr>
          <a:lstStyle/>
          <a:p>
            <a:r>
              <a:rPr sz="1100" b="0">
                <a:solidFill>
                  <a:srgbClr val="2E2E2E"/>
                </a:solidFill>
                <a:latin typeface="Calibri"/>
              </a:rPr>
              <a:t>Global demand expands at a</a:t>
            </a:r>
          </a:p>
        </p:txBody>
      </p:sp>
      <p:pic>
        <p:nvPicPr>
          <p:cNvPr id="13" name="Picture 12" descr="lock.png"/>
          <p:cNvPicPr>
            <a:picLocks noChangeAspect="1"/>
          </p:cNvPicPr>
          <p:nvPr/>
        </p:nvPicPr>
        <p:blipFill>
          <a:blip r:embed="rId4"/>
          <a:stretch>
            <a:fillRect/>
          </a:stretch>
        </p:blipFill>
        <p:spPr>
          <a:xfrm>
            <a:off x="5422645" y="1751653"/>
            <a:ext cx="128699" cy="187198"/>
          </a:xfrm>
          <a:prstGeom prst="rect">
            <a:avLst/>
          </a:prstGeom>
        </p:spPr>
      </p:pic>
      <p:sp>
        <p:nvSpPr>
          <p:cNvPr id="14" name="TextBox 13"/>
          <p:cNvSpPr txBox="1"/>
          <p:nvPr/>
        </p:nvSpPr>
        <p:spPr>
          <a:xfrm>
            <a:off x="5590141" y="1761432"/>
            <a:ext cx="2708109" cy="186689"/>
          </a:xfrm>
          <a:prstGeom prst="rect">
            <a:avLst/>
          </a:prstGeom>
          <a:noFill/>
        </p:spPr>
        <p:txBody>
          <a:bodyPr wrap="none" lIns="0" rIns="0" tIns="0" bIns="0">
            <a:spAutoFit/>
          </a:bodyPr>
          <a:lstStyle/>
          <a:p>
            <a:r>
              <a:rPr sz="1100" b="0">
                <a:solidFill>
                  <a:srgbClr val="2E2E2E"/>
                </a:solidFill>
                <a:latin typeface="Calibri"/>
              </a:rPr>
              <a:t>forecast CAGR (2026–2036), accelerating from</a:t>
            </a:r>
          </a:p>
        </p:txBody>
      </p:sp>
      <p:pic>
        <p:nvPicPr>
          <p:cNvPr id="15" name="Picture 14" descr="lock.png"/>
          <p:cNvPicPr>
            <a:picLocks noChangeAspect="1"/>
          </p:cNvPicPr>
          <p:nvPr/>
        </p:nvPicPr>
        <p:blipFill>
          <a:blip r:embed="rId4"/>
          <a:stretch>
            <a:fillRect/>
          </a:stretch>
        </p:blipFill>
        <p:spPr>
          <a:xfrm>
            <a:off x="8246302" y="1751653"/>
            <a:ext cx="128699" cy="187198"/>
          </a:xfrm>
          <a:prstGeom prst="rect">
            <a:avLst/>
          </a:prstGeom>
        </p:spPr>
      </p:pic>
      <p:sp>
        <p:nvSpPr>
          <p:cNvPr id="16" name="TextBox 15"/>
          <p:cNvSpPr txBox="1"/>
          <p:nvPr/>
        </p:nvSpPr>
        <p:spPr>
          <a:xfrm>
            <a:off x="3784750" y="1929072"/>
            <a:ext cx="1137865" cy="186689"/>
          </a:xfrm>
          <a:prstGeom prst="rect">
            <a:avLst/>
          </a:prstGeom>
          <a:noFill/>
        </p:spPr>
        <p:txBody>
          <a:bodyPr wrap="none" lIns="0" rIns="0" tIns="0" bIns="0">
            <a:spAutoFit/>
          </a:bodyPr>
          <a:lstStyle/>
          <a:p>
            <a:r>
              <a:rPr sz="1100" b="0">
                <a:solidFill>
                  <a:srgbClr val="2E2E2E"/>
                </a:solidFill>
                <a:latin typeface="Calibri"/>
              </a:rPr>
              <a:t>across 2021–2025.</a:t>
            </a:r>
          </a:p>
        </p:txBody>
      </p:sp>
      <p:pic>
        <p:nvPicPr>
          <p:cNvPr id="17" name="Picture 16" descr="lock.png"/>
          <p:cNvPicPr>
            <a:picLocks noChangeAspect="1"/>
          </p:cNvPicPr>
          <p:nvPr/>
        </p:nvPicPr>
        <p:blipFill>
          <a:blip r:embed="rId4"/>
          <a:stretch>
            <a:fillRect/>
          </a:stretch>
        </p:blipFill>
        <p:spPr>
          <a:xfrm>
            <a:off x="10214228" y="1689042"/>
            <a:ext cx="330041" cy="480060"/>
          </a:xfrm>
          <a:prstGeom prst="rect">
            <a:avLst/>
          </a:prstGeom>
        </p:spPr>
      </p:pic>
      <p:sp>
        <p:nvSpPr>
          <p:cNvPr id="18" name="TextBox 17"/>
          <p:cNvSpPr txBox="1"/>
          <p:nvPr/>
        </p:nvSpPr>
        <p:spPr>
          <a:xfrm>
            <a:off x="3784750" y="2801893"/>
            <a:ext cx="2755875" cy="186689"/>
          </a:xfrm>
          <a:prstGeom prst="rect">
            <a:avLst/>
          </a:prstGeom>
          <a:noFill/>
        </p:spPr>
        <p:txBody>
          <a:bodyPr wrap="none" lIns="0" rIns="0" tIns="0" bIns="0">
            <a:spAutoFit/>
          </a:bodyPr>
          <a:lstStyle/>
          <a:p>
            <a:r>
              <a:rPr sz="1100" b="0">
                <a:solidFill>
                  <a:srgbClr val="2E2E2E"/>
                </a:solidFill>
                <a:latin typeface="Calibri"/>
              </a:rPr>
              <a:t>Flexible Partial Dentures leads Product Type, at</a:t>
            </a:r>
          </a:p>
        </p:txBody>
      </p:sp>
      <p:pic>
        <p:nvPicPr>
          <p:cNvPr id="19" name="Picture 18" descr="lock.png"/>
          <p:cNvPicPr>
            <a:picLocks noChangeAspect="1"/>
          </p:cNvPicPr>
          <p:nvPr/>
        </p:nvPicPr>
        <p:blipFill>
          <a:blip r:embed="rId4"/>
          <a:stretch>
            <a:fillRect/>
          </a:stretch>
        </p:blipFill>
        <p:spPr>
          <a:xfrm>
            <a:off x="6488676" y="2792114"/>
            <a:ext cx="128699" cy="187198"/>
          </a:xfrm>
          <a:prstGeom prst="rect">
            <a:avLst/>
          </a:prstGeom>
        </p:spPr>
      </p:pic>
      <p:sp>
        <p:nvSpPr>
          <p:cNvPr id="20" name="TextBox 19"/>
          <p:cNvSpPr txBox="1"/>
          <p:nvPr/>
        </p:nvSpPr>
        <p:spPr>
          <a:xfrm>
            <a:off x="6656172" y="2801893"/>
            <a:ext cx="1854100" cy="186689"/>
          </a:xfrm>
          <a:prstGeom prst="rect">
            <a:avLst/>
          </a:prstGeom>
          <a:noFill/>
        </p:spPr>
        <p:txBody>
          <a:bodyPr wrap="none" lIns="0" rIns="0" tIns="0" bIns="0">
            <a:spAutoFit/>
          </a:bodyPr>
          <a:lstStyle/>
          <a:p>
            <a:r>
              <a:rPr sz="1100" b="0">
                <a:solidFill>
                  <a:srgbClr val="2E2E2E"/>
                </a:solidFill>
                <a:latin typeface="Calibri"/>
              </a:rPr>
              <a:t>of 2036 value, within a mix of 4</a:t>
            </a:r>
          </a:p>
        </p:txBody>
      </p:sp>
      <p:sp>
        <p:nvSpPr>
          <p:cNvPr id="21" name="TextBox 20"/>
          <p:cNvSpPr txBox="1"/>
          <p:nvPr/>
        </p:nvSpPr>
        <p:spPr>
          <a:xfrm>
            <a:off x="3784750" y="2969533"/>
            <a:ext cx="1158602" cy="186689"/>
          </a:xfrm>
          <a:prstGeom prst="rect">
            <a:avLst/>
          </a:prstGeom>
          <a:noFill/>
        </p:spPr>
        <p:txBody>
          <a:bodyPr wrap="none" lIns="0" rIns="0" tIns="0" bIns="0">
            <a:spAutoFit/>
          </a:bodyPr>
          <a:lstStyle/>
          <a:p>
            <a:r>
              <a:rPr sz="1100" b="0">
                <a:solidFill>
                  <a:srgbClr val="2E2E2E"/>
                </a:solidFill>
                <a:latin typeface="Calibri"/>
              </a:rPr>
              <a:t>tracked categories.</a:t>
            </a:r>
          </a:p>
        </p:txBody>
      </p:sp>
      <p:sp>
        <p:nvSpPr>
          <p:cNvPr id="22" name="TextBox 21"/>
          <p:cNvSpPr txBox="1"/>
          <p:nvPr/>
        </p:nvSpPr>
        <p:spPr>
          <a:xfrm>
            <a:off x="8785375" y="2885713"/>
            <a:ext cx="1866106" cy="186689"/>
          </a:xfrm>
          <a:prstGeom prst="rect">
            <a:avLst/>
          </a:prstGeom>
          <a:noFill/>
        </p:spPr>
        <p:txBody>
          <a:bodyPr wrap="none" lIns="0" rIns="0" tIns="0" bIns="0">
            <a:spAutoFit/>
          </a:bodyPr>
          <a:lstStyle/>
          <a:p>
            <a:r>
              <a:rPr sz="1100" b="0">
                <a:solidFill>
                  <a:srgbClr val="2E2E2E"/>
                </a:solidFill>
                <a:latin typeface="Calibri"/>
              </a:rPr>
              <a:t>Lead: Flexible Partial Dentures ·</a:t>
            </a:r>
          </a:p>
        </p:txBody>
      </p:sp>
      <p:pic>
        <p:nvPicPr>
          <p:cNvPr id="23" name="Picture 22" descr="lock.png"/>
          <p:cNvPicPr>
            <a:picLocks noChangeAspect="1"/>
          </p:cNvPicPr>
          <p:nvPr/>
        </p:nvPicPr>
        <p:blipFill>
          <a:blip r:embed="rId4"/>
          <a:stretch>
            <a:fillRect/>
          </a:stretch>
        </p:blipFill>
        <p:spPr>
          <a:xfrm>
            <a:off x="10599532" y="2875934"/>
            <a:ext cx="128699" cy="187198"/>
          </a:xfrm>
          <a:prstGeom prst="rect">
            <a:avLst/>
          </a:prstGeom>
        </p:spPr>
      </p:pic>
      <p:sp>
        <p:nvSpPr>
          <p:cNvPr id="24" name="TextBox 23"/>
          <p:cNvSpPr txBox="1"/>
          <p:nvPr/>
        </p:nvSpPr>
        <p:spPr>
          <a:xfrm>
            <a:off x="10767028" y="2885713"/>
            <a:ext cx="789433" cy="186689"/>
          </a:xfrm>
          <a:prstGeom prst="rect">
            <a:avLst/>
          </a:prstGeom>
          <a:noFill/>
        </p:spPr>
        <p:txBody>
          <a:bodyPr wrap="none" lIns="0" rIns="0" tIns="0" bIns="0">
            <a:spAutoFit/>
          </a:bodyPr>
          <a:lstStyle/>
          <a:p>
            <a:r>
              <a:rPr sz="1100" b="0">
                <a:solidFill>
                  <a:srgbClr val="2E2E2E"/>
                </a:solidFill>
                <a:latin typeface="Calibri"/>
              </a:rPr>
              <a:t>share (2036)</a:t>
            </a:r>
          </a:p>
        </p:txBody>
      </p:sp>
      <p:sp>
        <p:nvSpPr>
          <p:cNvPr id="25" name="TextBox 24"/>
          <p:cNvSpPr txBox="1"/>
          <p:nvPr/>
        </p:nvSpPr>
        <p:spPr>
          <a:xfrm>
            <a:off x="3784750" y="3842354"/>
            <a:ext cx="3495575" cy="186689"/>
          </a:xfrm>
          <a:prstGeom prst="rect">
            <a:avLst/>
          </a:prstGeom>
          <a:noFill/>
        </p:spPr>
        <p:txBody>
          <a:bodyPr wrap="none" lIns="0" rIns="0" tIns="0" bIns="0">
            <a:spAutoFit/>
          </a:bodyPr>
          <a:lstStyle/>
          <a:p>
            <a:r>
              <a:rPr sz="1100" b="0">
                <a:solidFill>
                  <a:srgbClr val="2E2E2E"/>
                </a:solidFill>
                <a:latin typeface="Calibri"/>
              </a:rPr>
              <a:t>Dental Hospitals is the fastest-growing part of End User, at a</a:t>
            </a:r>
          </a:p>
        </p:txBody>
      </p:sp>
      <p:pic>
        <p:nvPicPr>
          <p:cNvPr id="26" name="Picture 25" descr="lock.png"/>
          <p:cNvPicPr>
            <a:picLocks noChangeAspect="1"/>
          </p:cNvPicPr>
          <p:nvPr/>
        </p:nvPicPr>
        <p:blipFill>
          <a:blip r:embed="rId4"/>
          <a:stretch>
            <a:fillRect/>
          </a:stretch>
        </p:blipFill>
        <p:spPr>
          <a:xfrm>
            <a:off x="7228377" y="3832575"/>
            <a:ext cx="128699" cy="187198"/>
          </a:xfrm>
          <a:prstGeom prst="rect">
            <a:avLst/>
          </a:prstGeom>
        </p:spPr>
      </p:pic>
      <p:sp>
        <p:nvSpPr>
          <p:cNvPr id="27" name="TextBox 26"/>
          <p:cNvSpPr txBox="1"/>
          <p:nvPr/>
        </p:nvSpPr>
        <p:spPr>
          <a:xfrm>
            <a:off x="7395873" y="3842354"/>
            <a:ext cx="889280"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28" name="TextBox 27"/>
          <p:cNvSpPr txBox="1"/>
          <p:nvPr/>
        </p:nvSpPr>
        <p:spPr>
          <a:xfrm>
            <a:off x="3784750" y="4009994"/>
            <a:ext cx="1692299" cy="186689"/>
          </a:xfrm>
          <a:prstGeom prst="rect">
            <a:avLst/>
          </a:prstGeom>
          <a:noFill/>
        </p:spPr>
        <p:txBody>
          <a:bodyPr wrap="none" lIns="0" rIns="0" tIns="0" bIns="0">
            <a:spAutoFit/>
          </a:bodyPr>
          <a:lstStyle/>
          <a:p>
            <a:r>
              <a:rPr sz="1100" b="0">
                <a:solidFill>
                  <a:srgbClr val="2E2E2E"/>
                </a:solidFill>
                <a:latin typeface="Calibri"/>
              </a:rPr>
              <a:t>outpacing the wider market.</a:t>
            </a:r>
          </a:p>
        </p:txBody>
      </p:sp>
      <p:sp>
        <p:nvSpPr>
          <p:cNvPr id="29" name="TextBox 28"/>
          <p:cNvSpPr txBox="1"/>
          <p:nvPr/>
        </p:nvSpPr>
        <p:spPr>
          <a:xfrm>
            <a:off x="8785375" y="3926174"/>
            <a:ext cx="1543536" cy="186689"/>
          </a:xfrm>
          <a:prstGeom prst="rect">
            <a:avLst/>
          </a:prstGeom>
          <a:noFill/>
        </p:spPr>
        <p:txBody>
          <a:bodyPr wrap="none" lIns="0" rIns="0" tIns="0" bIns="0">
            <a:spAutoFit/>
          </a:bodyPr>
          <a:lstStyle/>
          <a:p>
            <a:r>
              <a:rPr sz="1100" b="0">
                <a:solidFill>
                  <a:srgbClr val="2E2E2E"/>
                </a:solidFill>
                <a:latin typeface="Calibri"/>
              </a:rPr>
              <a:t>Fastest: Dental Hospitals ·</a:t>
            </a:r>
          </a:p>
        </p:txBody>
      </p:sp>
      <p:pic>
        <p:nvPicPr>
          <p:cNvPr id="30" name="Picture 29" descr="lock.png"/>
          <p:cNvPicPr>
            <a:picLocks noChangeAspect="1"/>
          </p:cNvPicPr>
          <p:nvPr/>
        </p:nvPicPr>
        <p:blipFill>
          <a:blip r:embed="rId4"/>
          <a:stretch>
            <a:fillRect/>
          </a:stretch>
        </p:blipFill>
        <p:spPr>
          <a:xfrm>
            <a:off x="10276962" y="3916395"/>
            <a:ext cx="128699" cy="187198"/>
          </a:xfrm>
          <a:prstGeom prst="rect">
            <a:avLst/>
          </a:prstGeom>
        </p:spPr>
      </p:pic>
      <p:sp>
        <p:nvSpPr>
          <p:cNvPr id="31" name="TextBox 30"/>
          <p:cNvSpPr txBox="1"/>
          <p:nvPr/>
        </p:nvSpPr>
        <p:spPr>
          <a:xfrm>
            <a:off x="10444458" y="3926174"/>
            <a:ext cx="502377" cy="186689"/>
          </a:xfrm>
          <a:prstGeom prst="rect">
            <a:avLst/>
          </a:prstGeom>
          <a:noFill/>
        </p:spPr>
        <p:txBody>
          <a:bodyPr wrap="none" lIns="0" rIns="0" tIns="0" bIns="0">
            <a:spAutoFit/>
          </a:bodyPr>
          <a:lstStyle/>
          <a:p>
            <a:r>
              <a:rPr sz="1100" b="0">
                <a:solidFill>
                  <a:srgbClr val="2E2E2E"/>
                </a:solidFill>
                <a:latin typeface="Calibri"/>
              </a:rPr>
              <a:t>F-CAGR</a:t>
            </a:r>
          </a:p>
        </p:txBody>
      </p:sp>
      <p:sp>
        <p:nvSpPr>
          <p:cNvPr id="32" name="TextBox 31"/>
          <p:cNvSpPr txBox="1"/>
          <p:nvPr/>
        </p:nvSpPr>
        <p:spPr>
          <a:xfrm>
            <a:off x="3784750" y="4882815"/>
            <a:ext cx="2673474" cy="186689"/>
          </a:xfrm>
          <a:prstGeom prst="rect">
            <a:avLst/>
          </a:prstGeom>
          <a:noFill/>
        </p:spPr>
        <p:txBody>
          <a:bodyPr wrap="none" lIns="0" rIns="0" tIns="0" bIns="0">
            <a:spAutoFit/>
          </a:bodyPr>
          <a:lstStyle/>
          <a:p>
            <a:r>
              <a:rPr sz="1100" b="0">
                <a:solidFill>
                  <a:srgbClr val="2E2E2E"/>
                </a:solidFill>
                <a:latin typeface="Calibri"/>
              </a:rPr>
              <a:t>North America is the largest regional market (</a:t>
            </a:r>
          </a:p>
        </p:txBody>
      </p:sp>
      <p:pic>
        <p:nvPicPr>
          <p:cNvPr id="33" name="Picture 32" descr="lock.png"/>
          <p:cNvPicPr>
            <a:picLocks noChangeAspect="1"/>
          </p:cNvPicPr>
          <p:nvPr/>
        </p:nvPicPr>
        <p:blipFill>
          <a:blip r:embed="rId4"/>
          <a:stretch>
            <a:fillRect/>
          </a:stretch>
        </p:blipFill>
        <p:spPr>
          <a:xfrm>
            <a:off x="6406275" y="4873036"/>
            <a:ext cx="128699" cy="187198"/>
          </a:xfrm>
          <a:prstGeom prst="rect">
            <a:avLst/>
          </a:prstGeom>
        </p:spPr>
      </p:pic>
      <p:sp>
        <p:nvSpPr>
          <p:cNvPr id="34" name="TextBox 33"/>
          <p:cNvSpPr txBox="1"/>
          <p:nvPr/>
        </p:nvSpPr>
        <p:spPr>
          <a:xfrm>
            <a:off x="6573771" y="4882815"/>
            <a:ext cx="2016720" cy="186689"/>
          </a:xfrm>
          <a:prstGeom prst="rect">
            <a:avLst/>
          </a:prstGeom>
          <a:noFill/>
        </p:spPr>
        <p:txBody>
          <a:bodyPr wrap="none" lIns="0" rIns="0" tIns="0" bIns="0">
            <a:spAutoFit/>
          </a:bodyPr>
          <a:lstStyle/>
          <a:p>
            <a:r>
              <a:rPr sz="1100" b="0">
                <a:solidFill>
                  <a:srgbClr val="2E2E2E"/>
                </a:solidFill>
                <a:latin typeface="Calibri"/>
              </a:rPr>
              <a:t>of 2036 value), while South Asia &amp;</a:t>
            </a:r>
          </a:p>
        </p:txBody>
      </p:sp>
      <p:sp>
        <p:nvSpPr>
          <p:cNvPr id="35" name="TextBox 34"/>
          <p:cNvSpPr txBox="1"/>
          <p:nvPr/>
        </p:nvSpPr>
        <p:spPr>
          <a:xfrm>
            <a:off x="3784750" y="5050455"/>
            <a:ext cx="1374154" cy="186689"/>
          </a:xfrm>
          <a:prstGeom prst="rect">
            <a:avLst/>
          </a:prstGeom>
          <a:noFill/>
        </p:spPr>
        <p:txBody>
          <a:bodyPr wrap="none" lIns="0" rIns="0" tIns="0" bIns="0">
            <a:spAutoFit/>
          </a:bodyPr>
          <a:lstStyle/>
          <a:p>
            <a:r>
              <a:rPr sz="1100" b="0">
                <a:solidFill>
                  <a:srgbClr val="2E2E2E"/>
                </a:solidFill>
                <a:latin typeface="Calibri"/>
              </a:rPr>
              <a:t>Pacific grows fastest at</a:t>
            </a:r>
          </a:p>
        </p:txBody>
      </p:sp>
      <p:pic>
        <p:nvPicPr>
          <p:cNvPr id="36" name="Picture 35" descr="lock.png"/>
          <p:cNvPicPr>
            <a:picLocks noChangeAspect="1"/>
          </p:cNvPicPr>
          <p:nvPr/>
        </p:nvPicPr>
        <p:blipFill>
          <a:blip r:embed="rId4"/>
          <a:stretch>
            <a:fillRect/>
          </a:stretch>
        </p:blipFill>
        <p:spPr>
          <a:xfrm>
            <a:off x="5106956" y="5040676"/>
            <a:ext cx="128699" cy="187198"/>
          </a:xfrm>
          <a:prstGeom prst="rect">
            <a:avLst/>
          </a:prstGeom>
        </p:spPr>
      </p:pic>
      <p:sp>
        <p:nvSpPr>
          <p:cNvPr id="37" name="TextBox 36"/>
          <p:cNvSpPr txBox="1"/>
          <p:nvPr/>
        </p:nvSpPr>
        <p:spPr>
          <a:xfrm>
            <a:off x="5274452" y="505045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8" name="TextBox 37"/>
          <p:cNvSpPr txBox="1"/>
          <p:nvPr/>
        </p:nvSpPr>
        <p:spPr>
          <a:xfrm>
            <a:off x="8785375" y="4882815"/>
            <a:ext cx="1464195" cy="186689"/>
          </a:xfrm>
          <a:prstGeom prst="rect">
            <a:avLst/>
          </a:prstGeom>
          <a:noFill/>
        </p:spPr>
        <p:txBody>
          <a:bodyPr wrap="none" lIns="0" rIns="0" tIns="0" bIns="0">
            <a:spAutoFit/>
          </a:bodyPr>
          <a:lstStyle/>
          <a:p>
            <a:r>
              <a:rPr sz="1100" b="0">
                <a:solidFill>
                  <a:srgbClr val="2E2E2E"/>
                </a:solidFill>
                <a:latin typeface="Calibri"/>
              </a:rPr>
              <a:t>Largest: North America (</a:t>
            </a:r>
          </a:p>
        </p:txBody>
      </p:sp>
      <p:pic>
        <p:nvPicPr>
          <p:cNvPr id="39" name="Picture 38" descr="lock.png"/>
          <p:cNvPicPr>
            <a:picLocks noChangeAspect="1"/>
          </p:cNvPicPr>
          <p:nvPr/>
        </p:nvPicPr>
        <p:blipFill>
          <a:blip r:embed="rId4"/>
          <a:stretch>
            <a:fillRect/>
          </a:stretch>
        </p:blipFill>
        <p:spPr>
          <a:xfrm>
            <a:off x="10197622" y="4873036"/>
            <a:ext cx="128699" cy="187198"/>
          </a:xfrm>
          <a:prstGeom prst="rect">
            <a:avLst/>
          </a:prstGeom>
        </p:spPr>
      </p:pic>
      <p:sp>
        <p:nvSpPr>
          <p:cNvPr id="40" name="TextBox 39"/>
          <p:cNvSpPr txBox="1"/>
          <p:nvPr/>
        </p:nvSpPr>
        <p:spPr>
          <a:xfrm>
            <a:off x="10365118" y="4882815"/>
            <a:ext cx="1413931" cy="186689"/>
          </a:xfrm>
          <a:prstGeom prst="rect">
            <a:avLst/>
          </a:prstGeom>
          <a:noFill/>
        </p:spPr>
        <p:txBody>
          <a:bodyPr wrap="none" lIns="0" rIns="0" tIns="0" bIns="0">
            <a:spAutoFit/>
          </a:bodyPr>
          <a:lstStyle/>
          <a:p>
            <a:r>
              <a:rPr sz="1100" b="0">
                <a:solidFill>
                  <a:srgbClr val="2E2E2E"/>
                </a:solidFill>
                <a:latin typeface="Calibri"/>
              </a:rPr>
              <a:t>) · Fastest: South Asia &amp;</a:t>
            </a:r>
          </a:p>
        </p:txBody>
      </p:sp>
      <p:sp>
        <p:nvSpPr>
          <p:cNvPr id="41" name="TextBox 40"/>
          <p:cNvSpPr txBox="1"/>
          <p:nvPr/>
        </p:nvSpPr>
        <p:spPr>
          <a:xfrm>
            <a:off x="8785375" y="5050455"/>
            <a:ext cx="514672" cy="186689"/>
          </a:xfrm>
          <a:prstGeom prst="rect">
            <a:avLst/>
          </a:prstGeom>
          <a:noFill/>
        </p:spPr>
        <p:txBody>
          <a:bodyPr wrap="none" lIns="0" rIns="0" tIns="0" bIns="0">
            <a:spAutoFit/>
          </a:bodyPr>
          <a:lstStyle/>
          <a:p>
            <a:r>
              <a:rPr sz="1100" b="0">
                <a:solidFill>
                  <a:srgbClr val="2E2E2E"/>
                </a:solidFill>
                <a:latin typeface="Calibri"/>
              </a:rPr>
              <a:t>Pacific (</a:t>
            </a:r>
          </a:p>
        </p:txBody>
      </p:sp>
      <p:pic>
        <p:nvPicPr>
          <p:cNvPr id="42" name="Picture 41" descr="lock.png"/>
          <p:cNvPicPr>
            <a:picLocks noChangeAspect="1"/>
          </p:cNvPicPr>
          <p:nvPr/>
        </p:nvPicPr>
        <p:blipFill>
          <a:blip r:embed="rId4"/>
          <a:stretch>
            <a:fillRect/>
          </a:stretch>
        </p:blipFill>
        <p:spPr>
          <a:xfrm>
            <a:off x="9248099" y="5040676"/>
            <a:ext cx="128699" cy="187198"/>
          </a:xfrm>
          <a:prstGeom prst="rect">
            <a:avLst/>
          </a:prstGeom>
        </p:spPr>
      </p:pic>
      <p:sp>
        <p:nvSpPr>
          <p:cNvPr id="43" name="TextBox 42"/>
          <p:cNvSpPr txBox="1"/>
          <p:nvPr/>
        </p:nvSpPr>
        <p:spPr>
          <a:xfrm>
            <a:off x="9415594" y="5050455"/>
            <a:ext cx="118491" cy="186689"/>
          </a:xfrm>
          <a:prstGeom prst="rect">
            <a:avLst/>
          </a:prstGeom>
          <a:noFill/>
        </p:spPr>
        <p:txBody>
          <a:bodyPr wrap="none" lIns="0" rIns="0" tIns="0" bIns="0">
            <a:spAutoFit/>
          </a:bodyPr>
          <a:lstStyle/>
          <a:p>
            <a:r>
              <a:rPr sz="1100" b="0">
                <a:solidFill>
                  <a:srgbClr val="2E2E2E"/>
                </a:solidFill>
                <a:latin typeface="Calibri"/>
              </a:rPr>
              <a:t>)</a:t>
            </a:r>
          </a:p>
        </p:txBody>
      </p:sp>
      <p:sp>
        <p:nvSpPr>
          <p:cNvPr id="44" name="TextBox 43"/>
          <p:cNvSpPr txBox="1"/>
          <p:nvPr/>
        </p:nvSpPr>
        <p:spPr>
          <a:xfrm>
            <a:off x="3784750" y="5923276"/>
            <a:ext cx="945777" cy="186689"/>
          </a:xfrm>
          <a:prstGeom prst="rect">
            <a:avLst/>
          </a:prstGeom>
          <a:noFill/>
        </p:spPr>
        <p:txBody>
          <a:bodyPr wrap="none" lIns="0" rIns="0" tIns="0" bIns="0">
            <a:spAutoFit/>
          </a:bodyPr>
          <a:lstStyle/>
          <a:p>
            <a:r>
              <a:rPr sz="1100" b="0">
                <a:solidFill>
                  <a:srgbClr val="2E2E2E"/>
                </a:solidFill>
                <a:latin typeface="Calibri"/>
              </a:rPr>
              <a:t>An incremental</a:t>
            </a:r>
          </a:p>
        </p:txBody>
      </p:sp>
      <p:pic>
        <p:nvPicPr>
          <p:cNvPr id="45" name="Picture 44" descr="lock.png"/>
          <p:cNvPicPr>
            <a:picLocks noChangeAspect="1"/>
          </p:cNvPicPr>
          <p:nvPr/>
        </p:nvPicPr>
        <p:blipFill>
          <a:blip r:embed="rId4"/>
          <a:stretch>
            <a:fillRect/>
          </a:stretch>
        </p:blipFill>
        <p:spPr>
          <a:xfrm>
            <a:off x="4678579" y="5913497"/>
            <a:ext cx="128699" cy="187198"/>
          </a:xfrm>
          <a:prstGeom prst="rect">
            <a:avLst/>
          </a:prstGeom>
        </p:spPr>
      </p:pic>
      <p:sp>
        <p:nvSpPr>
          <p:cNvPr id="46" name="TextBox 45"/>
          <p:cNvSpPr txBox="1"/>
          <p:nvPr/>
        </p:nvSpPr>
        <p:spPr>
          <a:xfrm>
            <a:off x="4846075" y="5923276"/>
            <a:ext cx="3125043" cy="186689"/>
          </a:xfrm>
          <a:prstGeom prst="rect">
            <a:avLst/>
          </a:prstGeom>
          <a:noFill/>
        </p:spPr>
        <p:txBody>
          <a:bodyPr wrap="none" lIns="0" rIns="0" tIns="0" bIns="0">
            <a:spAutoFit/>
          </a:bodyPr>
          <a:lstStyle/>
          <a:p>
            <a:r>
              <a:rPr sz="1100" b="0">
                <a:solidFill>
                  <a:srgbClr val="2E2E2E"/>
                </a:solidFill>
                <a:latin typeface="Calibri"/>
              </a:rPr>
              <a:t>US$ Mn of demand is added between 2026 and 2036,</a:t>
            </a:r>
          </a:p>
        </p:txBody>
      </p:sp>
      <p:sp>
        <p:nvSpPr>
          <p:cNvPr id="47" name="TextBox 46"/>
          <p:cNvSpPr txBox="1"/>
          <p:nvPr/>
        </p:nvSpPr>
        <p:spPr>
          <a:xfrm>
            <a:off x="3784750" y="6090916"/>
            <a:ext cx="3324497" cy="186689"/>
          </a:xfrm>
          <a:prstGeom prst="rect">
            <a:avLst/>
          </a:prstGeom>
          <a:noFill/>
        </p:spPr>
        <p:txBody>
          <a:bodyPr wrap="none" lIns="0" rIns="0" tIns="0" bIns="0">
            <a:spAutoFit/>
          </a:bodyPr>
          <a:lstStyle/>
          <a:p>
            <a:r>
              <a:rPr sz="1100" b="0">
                <a:solidFill>
                  <a:srgbClr val="2E2E2E"/>
                </a:solidFill>
                <a:latin typeface="Calibri"/>
              </a:rPr>
              <a:t>front-loaded in the leading categories and regions above.</a:t>
            </a:r>
          </a:p>
        </p:txBody>
      </p:sp>
      <p:sp>
        <p:nvSpPr>
          <p:cNvPr id="48" name="TextBox 47"/>
          <p:cNvSpPr txBox="1"/>
          <p:nvPr/>
        </p:nvSpPr>
        <p:spPr>
          <a:xfrm>
            <a:off x="8785375" y="6007096"/>
            <a:ext cx="857919" cy="186689"/>
          </a:xfrm>
          <a:prstGeom prst="rect">
            <a:avLst/>
          </a:prstGeom>
          <a:noFill/>
        </p:spPr>
        <p:txBody>
          <a:bodyPr wrap="none" lIns="0" rIns="0" tIns="0" bIns="0">
            <a:spAutoFit/>
          </a:bodyPr>
          <a:lstStyle/>
          <a:p>
            <a:r>
              <a:rPr sz="1100" b="0">
                <a:solidFill>
                  <a:srgbClr val="2E2E2E"/>
                </a:solidFill>
                <a:latin typeface="Calibri"/>
              </a:rPr>
              <a:t>$ opportunity</a:t>
            </a:r>
          </a:p>
        </p:txBody>
      </p:sp>
      <p:pic>
        <p:nvPicPr>
          <p:cNvPr id="49" name="Picture 48" descr="lock.png"/>
          <p:cNvPicPr>
            <a:picLocks noChangeAspect="1"/>
          </p:cNvPicPr>
          <p:nvPr/>
        </p:nvPicPr>
        <p:blipFill>
          <a:blip r:embed="rId4"/>
          <a:stretch>
            <a:fillRect/>
          </a:stretch>
        </p:blipFill>
        <p:spPr>
          <a:xfrm>
            <a:off x="9591346" y="5997317"/>
            <a:ext cx="128699" cy="187198"/>
          </a:xfrm>
          <a:prstGeom prst="rect">
            <a:avLst/>
          </a:prstGeom>
        </p:spPr>
      </p:pic>
      <p:sp>
        <p:nvSpPr>
          <p:cNvPr id="50" name="TextBox 49"/>
          <p:cNvSpPr txBox="1"/>
          <p:nvPr/>
        </p:nvSpPr>
        <p:spPr>
          <a:xfrm>
            <a:off x="9758842" y="6007096"/>
            <a:ext cx="1345778" cy="186689"/>
          </a:xfrm>
          <a:prstGeom prst="rect">
            <a:avLst/>
          </a:prstGeom>
          <a:noFill/>
        </p:spPr>
        <p:txBody>
          <a:bodyPr wrap="none" lIns="0" rIns="0" tIns="0" bIns="0">
            <a:spAutoFit/>
          </a:bodyPr>
          <a:lstStyle/>
          <a:p>
            <a:r>
              <a:rPr sz="1100" b="0">
                <a:solidFill>
                  <a:srgbClr val="2E2E2E"/>
                </a:solidFill>
                <a:latin typeface="Calibri"/>
              </a:rPr>
              <a:t>US$ Mn (2026–2036) ·</a:t>
            </a:r>
          </a:p>
        </p:txBody>
      </p:sp>
      <p:pic>
        <p:nvPicPr>
          <p:cNvPr id="51" name="Picture 50" descr="lock.png"/>
          <p:cNvPicPr>
            <a:picLocks noChangeAspect="1"/>
          </p:cNvPicPr>
          <p:nvPr/>
        </p:nvPicPr>
        <p:blipFill>
          <a:blip r:embed="rId4"/>
          <a:stretch>
            <a:fillRect/>
          </a:stretch>
        </p:blipFill>
        <p:spPr>
          <a:xfrm>
            <a:off x="11052672" y="5997317"/>
            <a:ext cx="128699" cy="187198"/>
          </a:xfrm>
          <a:prstGeom prst="rect">
            <a:avLst/>
          </a:prstGeom>
        </p:spPr>
      </p:pic>
      <p:sp>
        <p:nvSpPr>
          <p:cNvPr id="52" name="TextBox 51"/>
          <p:cNvSpPr txBox="1"/>
          <p:nvPr/>
        </p:nvSpPr>
        <p:spPr>
          <a:xfrm>
            <a:off x="11220167" y="6007096"/>
            <a:ext cx="528315" cy="186689"/>
          </a:xfrm>
          <a:prstGeom prst="rect">
            <a:avLst/>
          </a:prstGeom>
          <a:noFill/>
        </p:spPr>
        <p:txBody>
          <a:bodyPr wrap="none" lIns="0" rIns="0" tIns="0" bIns="0">
            <a:spAutoFit/>
          </a:bodyPr>
          <a:lstStyle/>
          <a:p>
            <a:r>
              <a:rPr sz="1100" b="0">
                <a:solidFill>
                  <a:srgbClr val="2E2E2E"/>
                </a:solidFill>
                <a:latin typeface="Calibri"/>
              </a:rPr>
              <a:t>by 2031</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682648"/>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846931"/>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1116330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6" name="Rounded Rectangle 55"/>
          <p:cNvSpPr/>
          <p:nvPr/>
        </p:nvSpPr>
        <p:spPr>
          <a:xfrm>
            <a:off x="4667250" y="1080276"/>
            <a:ext cx="2857500" cy="602372"/>
          </a:xfrm>
          <a:prstGeom prst="roundRect">
            <a:avLst>
              <a:gd name="adj" fmla="val 10606"/>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Removable Partial Dentures Market</a:t>
            </a:r>
          </a:p>
        </p:txBody>
      </p:sp>
      <p:sp>
        <p:nvSpPr>
          <p:cNvPr id="57" name="Rounded Rectangle 56"/>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8" name="Rounded Rectangle 57"/>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9" name="Rounded Rectangle 58"/>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60" name="Rounded Rectangle 59"/>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1" name="Rounded Rectangle 60"/>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2" name="Rounded Rectangle 61"/>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3" name="Rounded Rectangle 62"/>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4" name="Rounded Rectangle 63"/>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5" name="Rounded Rectangle 64"/>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6" name="Rounded Rectangle 65"/>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7" name="Rounded Rectangle 66"/>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8" name="Rounded Rectangle 67"/>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9" name="Rounded Rectangle 68"/>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70" name="Rounded Rectangle 69"/>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1" name="Rounded Rectangle 70"/>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2" name="Rounded Rectangle 71"/>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3" name="Rounded Rectangle 72"/>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 Countries</a:t>
            </a:r>
          </a:p>
        </p:txBody>
      </p:sp>
      <p:sp>
        <p:nvSpPr>
          <p:cNvPr id="74" name="Rounded Rectangle 73"/>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5" name="Rounded Rectangle 74"/>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6" name="Rounded Rectangle 75"/>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7" name="Rounded Rectangle 76"/>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8" name="Rounded Rectangle 77"/>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9" name="Rounded Rectangle 78"/>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80" name="Rounded Rectangle 79"/>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1" name="Rounded Rectangle 80"/>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2" name="Rounded Rectangle 81"/>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3" name="Rounded Rectangle 82"/>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4" name="Rounded Rectangle 83"/>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5" name="Rounded Rectangle 84"/>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6" name="Rounded Rectangle 85"/>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7" name="Rounded Rectangle 86"/>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8" name="Rounded Rectangle 87"/>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9" name="Rounded Rectangle 88"/>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90" name="Rounded Rectangle 89"/>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1" name="Rounded Rectangle 90"/>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 &amp; Pacific</a:t>
            </a:r>
          </a:p>
        </p:txBody>
      </p:sp>
      <p:sp>
        <p:nvSpPr>
          <p:cNvPr id="92" name="Rounded Rectangle 91"/>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3" name="Rounded Rectangle 92"/>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4" name="Rounded Rectangle 93"/>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5" name="Rounded Rectangle 94"/>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6" name="Rounded Rectangle 95"/>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7" name="Rounded Rectangle 96"/>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Other GCC Countries</a:t>
            </a:r>
          </a:p>
        </p:txBody>
      </p:sp>
      <p:sp>
        <p:nvSpPr>
          <p:cNvPr id="98" name="Rounded Rectangle 97"/>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North Africa</a:t>
            </a:r>
          </a:p>
        </p:txBody>
      </p:sp>
      <p:sp>
        <p:nvSpPr>
          <p:cNvPr id="99" name="Rounded Rectangle 98"/>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100" name="Rounded Rectangle 99"/>
          <p:cNvSpPr/>
          <p:nvPr/>
        </p:nvSpPr>
        <p:spPr>
          <a:xfrm>
            <a:off x="1028700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Middle East &amp; Africa</a:t>
            </a:r>
          </a:p>
        </p:txBody>
      </p:sp>
      <p:sp>
        <p:nvSpPr>
          <p:cNvPr id="101" name="TextBox 10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6 axes and the sub-segments sized under each</a:t>
            </a:r>
          </a:p>
        </p:txBody>
      </p:sp>
      <p:sp>
        <p:nvSpPr>
          <p:cNvPr id="10" name="Rectangle 9"/>
          <p:cNvSpPr/>
          <p:nvPr/>
        </p:nvSpPr>
        <p:spPr>
          <a:xfrm>
            <a:off x="1428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000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3905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2000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3905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2000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3905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24" name="Rectangle 23"/>
          <p:cNvSpPr/>
          <p:nvPr/>
        </p:nvSpPr>
        <p:spPr>
          <a:xfrm>
            <a:off x="142875" y="208026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Rectangle 24"/>
          <p:cNvSpPr/>
          <p:nvPr/>
        </p:nvSpPr>
        <p:spPr>
          <a:xfrm>
            <a:off x="1428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190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Distribution Channel</a:t>
            </a:r>
          </a:p>
        </p:txBody>
      </p:sp>
      <p:sp>
        <p:nvSpPr>
          <p:cNvPr id="27" name="TextBox 26"/>
          <p:cNvSpPr txBox="1"/>
          <p:nvPr/>
        </p:nvSpPr>
        <p:spPr>
          <a:xfrm>
            <a:off x="2000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8" name="TextBox 27"/>
          <p:cNvSpPr txBox="1"/>
          <p:nvPr/>
        </p:nvSpPr>
        <p:spPr>
          <a:xfrm>
            <a:off x="3905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cxnSp>
        <p:nvCxnSpPr>
          <p:cNvPr id="29" name="Connector 28"/>
          <p:cNvCxnSpPr/>
          <p:nvPr/>
        </p:nvCxnSpPr>
        <p:spPr>
          <a:xfrm>
            <a:off x="1524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2000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1" name="TextBox 30"/>
          <p:cNvSpPr txBox="1"/>
          <p:nvPr/>
        </p:nvSpPr>
        <p:spPr>
          <a:xfrm>
            <a:off x="3905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cxnSp>
        <p:nvCxnSpPr>
          <p:cNvPr id="32" name="Connector 31"/>
          <p:cNvCxnSpPr/>
          <p:nvPr/>
        </p:nvCxnSpPr>
        <p:spPr>
          <a:xfrm>
            <a:off x="1524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000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4" name="TextBox 33"/>
          <p:cNvSpPr txBox="1"/>
          <p:nvPr/>
        </p:nvSpPr>
        <p:spPr>
          <a:xfrm>
            <a:off x="3905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35" name="Rectangle 34"/>
          <p:cNvSpPr/>
          <p:nvPr/>
        </p:nvSpPr>
        <p:spPr>
          <a:xfrm>
            <a:off x="3152775" y="1028700"/>
            <a:ext cx="2876550" cy="253174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Type</a:t>
            </a:r>
          </a:p>
        </p:txBody>
      </p:sp>
      <p:sp>
        <p:nvSpPr>
          <p:cNvPr id="38" name="TextBox 37"/>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9" name="TextBox 38"/>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Metal Alloys</a:t>
            </a:r>
          </a:p>
        </p:txBody>
      </p:sp>
      <p:cxnSp>
        <p:nvCxnSpPr>
          <p:cNvPr id="40" name="Connector 39"/>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33813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2" name="TextBox 41"/>
          <p:cNvSpPr txBox="1"/>
          <p:nvPr/>
        </p:nvSpPr>
        <p:spPr>
          <a:xfrm>
            <a:off x="35718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Cobalt-Chromium Alloys</a:t>
            </a:r>
          </a:p>
        </p:txBody>
      </p:sp>
      <p:cxnSp>
        <p:nvCxnSpPr>
          <p:cNvPr id="43" name="Connector 42"/>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5" name="TextBox 44"/>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Titanium Alloys</a:t>
            </a:r>
          </a:p>
        </p:txBody>
      </p:sp>
      <p:cxnSp>
        <p:nvCxnSpPr>
          <p:cNvPr id="46" name="Connector 45"/>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TextBox 46"/>
          <p:cNvSpPr txBox="1"/>
          <p:nvPr/>
        </p:nvSpPr>
        <p:spPr>
          <a:xfrm>
            <a:off x="32099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8" name="TextBox 47"/>
          <p:cNvSpPr txBox="1"/>
          <p:nvPr/>
        </p:nvSpPr>
        <p:spPr>
          <a:xfrm>
            <a:off x="34004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Acrylic / Resin</a:t>
            </a:r>
          </a:p>
        </p:txBody>
      </p:sp>
      <p:cxnSp>
        <p:nvCxnSpPr>
          <p:cNvPr id="49" name="Connector 48"/>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1" name="TextBox 50"/>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PMMA</a:t>
            </a:r>
          </a:p>
        </p:txBody>
      </p:sp>
      <p:cxnSp>
        <p:nvCxnSpPr>
          <p:cNvPr id="52" name="Connector 51"/>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Printable Denture Resins</a:t>
            </a:r>
          </a:p>
        </p:txBody>
      </p:sp>
      <p:cxnSp>
        <p:nvCxnSpPr>
          <p:cNvPr id="55" name="Connector 54"/>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2099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7" name="TextBox 56"/>
          <p:cNvSpPr txBox="1"/>
          <p:nvPr/>
        </p:nvSpPr>
        <p:spPr>
          <a:xfrm>
            <a:off x="34004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Flexible Thermoplastics</a:t>
            </a:r>
          </a:p>
        </p:txBody>
      </p:sp>
      <p:cxnSp>
        <p:nvCxnSpPr>
          <p:cNvPr id="58" name="Connector 57"/>
          <p:cNvCxnSpPr/>
          <p:nvPr/>
        </p:nvCxnSpPr>
        <p:spPr>
          <a:xfrm>
            <a:off x="31623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33813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0" name="TextBox 59"/>
          <p:cNvSpPr txBox="1"/>
          <p:nvPr/>
        </p:nvSpPr>
        <p:spPr>
          <a:xfrm>
            <a:off x="35718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Polyamide / Nylon</a:t>
            </a:r>
          </a:p>
        </p:txBody>
      </p:sp>
      <p:cxnSp>
        <p:nvCxnSpPr>
          <p:cNvPr id="61" name="Connector 60"/>
          <p:cNvCxnSpPr/>
          <p:nvPr/>
        </p:nvCxnSpPr>
        <p:spPr>
          <a:xfrm>
            <a:off x="31623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33813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3" name="TextBox 62"/>
          <p:cNvSpPr txBox="1"/>
          <p:nvPr/>
        </p:nvSpPr>
        <p:spPr>
          <a:xfrm>
            <a:off x="35718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Thermoplastic Resins</a:t>
            </a:r>
          </a:p>
        </p:txBody>
      </p:sp>
      <p:cxnSp>
        <p:nvCxnSpPr>
          <p:cNvPr id="64" name="Connector 63"/>
          <p:cNvCxnSpPr/>
          <p:nvPr/>
        </p:nvCxnSpPr>
        <p:spPr>
          <a:xfrm>
            <a:off x="31623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32099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6" name="TextBox 65"/>
          <p:cNvSpPr txBox="1"/>
          <p:nvPr/>
        </p:nvSpPr>
        <p:spPr>
          <a:xfrm>
            <a:off x="34004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High-performance Polymers</a:t>
            </a:r>
          </a:p>
        </p:txBody>
      </p:sp>
      <p:cxnSp>
        <p:nvCxnSpPr>
          <p:cNvPr id="67" name="Connector 66"/>
          <p:cNvCxnSpPr/>
          <p:nvPr/>
        </p:nvCxnSpPr>
        <p:spPr>
          <a:xfrm>
            <a:off x="31623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33813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9" name="TextBox 68"/>
          <p:cNvSpPr txBox="1"/>
          <p:nvPr/>
        </p:nvSpPr>
        <p:spPr>
          <a:xfrm>
            <a:off x="35718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PEEK-based Materials</a:t>
            </a:r>
          </a:p>
        </p:txBody>
      </p:sp>
      <p:cxnSp>
        <p:nvCxnSpPr>
          <p:cNvPr id="70" name="Connector 69"/>
          <p:cNvCxnSpPr/>
          <p:nvPr/>
        </p:nvCxnSpPr>
        <p:spPr>
          <a:xfrm>
            <a:off x="31623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33813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3571875" y="3206115"/>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High-performance Dental Polymers</a:t>
            </a:r>
          </a:p>
        </p:txBody>
      </p:sp>
      <p:sp>
        <p:nvSpPr>
          <p:cNvPr id="73" name="Rectangle 72"/>
          <p:cNvSpPr/>
          <p:nvPr/>
        </p:nvSpPr>
        <p:spPr>
          <a:xfrm>
            <a:off x="6162675" y="1028700"/>
            <a:ext cx="2876550" cy="164592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Technology</a:t>
            </a:r>
          </a:p>
        </p:txBody>
      </p:sp>
      <p:sp>
        <p:nvSpPr>
          <p:cNvPr id="76" name="TextBox 75"/>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7" name="TextBox 76"/>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Conventional Fabrication</a:t>
            </a:r>
          </a:p>
        </p:txBody>
      </p:sp>
      <p:cxnSp>
        <p:nvCxnSpPr>
          <p:cNvPr id="78" name="Connector 77"/>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65817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Metal Casting</a:t>
            </a:r>
          </a:p>
        </p:txBody>
      </p:sp>
      <p:cxnSp>
        <p:nvCxnSpPr>
          <p:cNvPr id="81" name="Connector 80"/>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Heat-cured / Compression Processing</a:t>
            </a:r>
          </a:p>
        </p:txBody>
      </p:sp>
      <p:cxnSp>
        <p:nvCxnSpPr>
          <p:cNvPr id="84" name="Connector 83"/>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Injection Molding</a:t>
            </a:r>
          </a:p>
        </p:txBody>
      </p:sp>
      <p:cxnSp>
        <p:nvCxnSpPr>
          <p:cNvPr id="87" name="Connector 86"/>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62198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6410325" y="19659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Digital Fabrication</a:t>
            </a:r>
          </a:p>
        </p:txBody>
      </p:sp>
      <p:cxnSp>
        <p:nvCxnSpPr>
          <p:cNvPr id="90" name="Connector 89"/>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63912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65817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CAD/CAM Milling</a:t>
            </a:r>
          </a:p>
        </p:txBody>
      </p:sp>
      <p:cxnSp>
        <p:nvCxnSpPr>
          <p:cNvPr id="93" name="Connector 92"/>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3D Printing / Additive Manufacturing</a:t>
            </a:r>
          </a:p>
        </p:txBody>
      </p:sp>
      <p:cxnSp>
        <p:nvCxnSpPr>
          <p:cNvPr id="96" name="Connector 95"/>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Hybrid Digital Fabrication</a:t>
            </a:r>
          </a:p>
        </p:txBody>
      </p:sp>
      <p:sp>
        <p:nvSpPr>
          <p:cNvPr id="99" name="Rectangle 98"/>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End User</a:t>
            </a:r>
          </a:p>
        </p:txBody>
      </p:sp>
      <p:sp>
        <p:nvSpPr>
          <p:cNvPr id="102" name="TextBox 101"/>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cxnSp>
        <p:nvCxnSpPr>
          <p:cNvPr id="104" name="Connector 103"/>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cxnSp>
        <p:nvCxnSpPr>
          <p:cNvPr id="107" name="Connector 106"/>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cxnSp>
        <p:nvCxnSpPr>
          <p:cNvPr id="110" name="Connector 109"/>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113" name="Rectangle 112"/>
          <p:cNvSpPr/>
          <p:nvPr/>
        </p:nvSpPr>
        <p:spPr>
          <a:xfrm>
            <a:off x="9172575" y="2080260"/>
            <a:ext cx="2876550" cy="58293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Patient Age Group</a:t>
            </a:r>
          </a:p>
        </p:txBody>
      </p:sp>
      <p:sp>
        <p:nvSpPr>
          <p:cNvPr id="116" name="TextBox 115"/>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cxnSp>
        <p:nvCxnSpPr>
          <p:cNvPr id="118" name="Connector 117"/>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92297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94202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121" name="TextBox 1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Removable Partial Dentures Market profiled and benchmarked in the Competition Assessment section.</a:t>
            </a:r>
          </a:p>
        </p:txBody>
      </p:sp>
      <p:sp>
        <p:nvSpPr>
          <p:cNvPr id="11" name="Rectangle 10"/>
          <p:cNvSpPr/>
          <p:nvPr/>
        </p:nvSpPr>
        <p:spPr>
          <a:xfrm>
            <a:off x="142875"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A</a:t>
            </a:r>
          </a:p>
        </p:txBody>
      </p:sp>
      <p:sp>
        <p:nvSpPr>
          <p:cNvPr id="16" name="Rectangle 15"/>
          <p:cNvSpPr/>
          <p:nvPr/>
        </p:nvSpPr>
        <p:spPr>
          <a:xfrm>
            <a:off x="152400"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B</a:t>
            </a:r>
          </a:p>
        </p:txBody>
      </p:sp>
      <p:cxnSp>
        <p:nvCxnSpPr>
          <p:cNvPr id="20" name="Connector 19"/>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C</a:t>
            </a:r>
          </a:p>
        </p:txBody>
      </p:sp>
      <p:sp>
        <p:nvSpPr>
          <p:cNvPr id="23" name="Rectangle 22"/>
          <p:cNvSpPr/>
          <p:nvPr/>
        </p:nvSpPr>
        <p:spPr>
          <a:xfrm>
            <a:off x="152400"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D</a:t>
            </a:r>
          </a:p>
        </p:txBody>
      </p:sp>
      <p:sp>
        <p:nvSpPr>
          <p:cNvPr id="27" name="Rectangle 26"/>
          <p:cNvSpPr/>
          <p:nvPr/>
        </p:nvSpPr>
        <p:spPr>
          <a:xfrm>
            <a:off x="6191250"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191250"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191250"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0" name="TextBox 29"/>
          <p:cNvSpPr txBox="1"/>
          <p:nvPr/>
        </p:nvSpPr>
        <p:spPr>
          <a:xfrm>
            <a:off x="6381750"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1" name="TextBox 30"/>
          <p:cNvSpPr txBox="1"/>
          <p:nvPr/>
        </p:nvSpPr>
        <p:spPr>
          <a:xfrm>
            <a:off x="6629400"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E</a:t>
            </a:r>
          </a:p>
        </p:txBody>
      </p:sp>
      <p:sp>
        <p:nvSpPr>
          <p:cNvPr id="32" name="Rectangle 31"/>
          <p:cNvSpPr/>
          <p:nvPr/>
        </p:nvSpPr>
        <p:spPr>
          <a:xfrm>
            <a:off x="6200775"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3" name="Connector 32"/>
          <p:cNvCxnSpPr/>
          <p:nvPr/>
        </p:nvCxnSpPr>
        <p:spPr>
          <a:xfrm>
            <a:off x="6200775"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6381750"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5" name="TextBox 34"/>
          <p:cNvSpPr txBox="1"/>
          <p:nvPr/>
        </p:nvSpPr>
        <p:spPr>
          <a:xfrm>
            <a:off x="6629400"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F</a:t>
            </a:r>
          </a:p>
        </p:txBody>
      </p:sp>
      <p:cxnSp>
        <p:nvCxnSpPr>
          <p:cNvPr id="36" name="Connector 35"/>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G</a:t>
            </a:r>
          </a:p>
        </p:txBody>
      </p:sp>
      <p:sp>
        <p:nvSpPr>
          <p:cNvPr id="39" name="Rectangle 38"/>
          <p:cNvSpPr/>
          <p:nvPr/>
        </p:nvSpPr>
        <p:spPr>
          <a:xfrm>
            <a:off x="6200775"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0" name="Connector 39"/>
          <p:cNvCxnSpPr/>
          <p:nvPr/>
        </p:nvCxnSpPr>
        <p:spPr>
          <a:xfrm>
            <a:off x="6200775"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6381750"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2" name="TextBox 41"/>
          <p:cNvSpPr txBox="1"/>
          <p:nvPr/>
        </p:nvSpPr>
        <p:spPr>
          <a:xfrm>
            <a:off x="6629400"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H</a:t>
            </a:r>
          </a:p>
        </p:txBody>
      </p:sp>
      <p:sp>
        <p:nvSpPr>
          <p:cNvPr id="43" name="TextBox 42"/>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1">
                          <a:solidFill>
                            <a:srgbClr val="000000"/>
                          </a:solidFill>
                          <a:latin typeface="Calibri"/>
                        </a:rPr>
                        <a:t>1.1.1.1.</a:t>
                      </a:r>
                      <a:r>
                        <a:rPr sz="700" b="0" i="1">
                          <a:solidFill>
                            <a:srgbClr val="000000"/>
                          </a:solidFill>
                          <a:latin typeface="Times New Roman"/>
                        </a:rPr>
                        <a:t>    </a:t>
                      </a:r>
                      <a:r>
                        <a:rPr sz="1100" b="0" i="1">
                          <a:solidFill>
                            <a:srgbClr val="000000"/>
                          </a:solidFill>
                          <a:latin typeface="Calibri"/>
                        </a:rPr>
                        <a:t>Key Supply Trends</a:t>
                      </a:r>
                      <a:endParaRPr sz="1100"/>
                    </a:p>
                  </a:txBody>
                  <a:tcPr marL="10287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0" i="1">
                          <a:solidFill>
                            <a:srgbClr val="000000"/>
                          </a:solidFill>
                          <a:latin typeface="Calibri"/>
                        </a:rPr>
                        <a:t>2.2.1.1.</a:t>
                      </a:r>
                      <a:r>
                        <a:rPr sz="700" b="0" i="1">
                          <a:solidFill>
                            <a:srgbClr val="000000"/>
                          </a:solidFill>
                          <a:latin typeface="Times New Roman"/>
                        </a:rPr>
                        <a:t>    </a:t>
                      </a:r>
                      <a:r>
                        <a:rPr sz="1100" b="0" i="1">
                          <a:solidFill>
                            <a:srgbClr val="000000"/>
                          </a:solidFill>
                          <a:latin typeface="Calibri"/>
                        </a:rPr>
                        <a:t>Global Market Size (Value &amp; Volume) 2021–2036</a:t>
                      </a:r>
                      <a:endParaRPr sz="1100"/>
                    </a:p>
                  </a:txBody>
                  <a:tcPr marL="1028700"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Flat Polybags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Standard Flat Bags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Lay Flat Tubing</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Flat Poly Sleeves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Gusseted Polybags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Side Gusset Bags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Bottom Gusset Bags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Quad Seal Bags</a:t>
                      </a:r>
                      <a:endParaRPr sz="1100"/>
                    </a:p>
                  </a:txBody>
                  <a:tcPr marL="1028700"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Resealable Polybags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3.5.3.1.</a:t>
                      </a:r>
                      <a:r>
                        <a:rPr sz="700" b="0" i="1">
                          <a:solidFill>
                            <a:srgbClr val="000000"/>
                          </a:solidFill>
                          <a:latin typeface="Times New Roman"/>
                        </a:rPr>
                        <a:t>    </a:t>
                      </a:r>
                      <a:r>
                        <a:rPr sz="1100" b="0" i="1">
                          <a:solidFill>
                            <a:srgbClr val="000000"/>
                          </a:solidFill>
                          <a:latin typeface="Calibri"/>
                        </a:rPr>
                        <a:t>Zip Lock Bags</a:t>
                      </a:r>
                      <a:endParaRPr sz="1100"/>
                    </a:p>
                  </a:txBody>
                  <a:tcPr marL="1028700" marR="9525" marT="9525" marB="0" anchor="ctr"/>
                </a:tc>
              </a:tr>
              <a:tr h="175260">
                <a:tc>
                  <a:txBody>
                    <a:bodyPr wrap="square"/>
                    <a:lstStyle/>
                    <a:p>
                      <a:pPr algn="l"/>
                      <a:r>
                        <a:rPr sz="1100" b="0" i="1">
                          <a:solidFill>
                            <a:srgbClr val="000000"/>
                          </a:solidFill>
                          <a:latin typeface="Calibri"/>
                        </a:rPr>
                        <a:t>3.5.3.2.</a:t>
                      </a:r>
                      <a:r>
                        <a:rPr sz="700" b="0" i="1">
                          <a:solidFill>
                            <a:srgbClr val="000000"/>
                          </a:solidFill>
                          <a:latin typeface="Times New Roman"/>
                        </a:rPr>
                        <a:t>    </a:t>
                      </a:r>
                      <a:r>
                        <a:rPr sz="1100" b="0" i="1">
                          <a:solidFill>
                            <a:srgbClr val="000000"/>
                          </a:solidFill>
                          <a:latin typeface="Calibri"/>
                        </a:rPr>
                        <a:t>Slider Zip Bags</a:t>
                      </a:r>
                      <a:endParaRPr sz="1100"/>
                    </a:p>
                  </a:txBody>
                  <a:tcPr marL="1028700" marR="9525" marT="9525" marB="0" anchor="ctr"/>
                </a:tc>
              </a:tr>
              <a:tr h="175260">
                <a:tc>
                  <a:txBody>
                    <a:bodyPr wrap="square"/>
                    <a:lstStyle/>
                    <a:p>
                      <a:pPr algn="l"/>
                      <a:r>
                        <a:rPr sz="1100" b="0" i="1">
                          <a:solidFill>
                            <a:srgbClr val="000000"/>
                          </a:solidFill>
                          <a:latin typeface="Calibri"/>
                        </a:rPr>
                        <a:t>3.5.3.3.</a:t>
                      </a:r>
                      <a:r>
                        <a:rPr sz="700" b="0" i="1">
                          <a:solidFill>
                            <a:srgbClr val="000000"/>
                          </a:solidFill>
                          <a:latin typeface="Times New Roman"/>
                        </a:rPr>
                        <a:t>    </a:t>
                      </a:r>
                      <a:r>
                        <a:rPr sz="1100" b="0" i="1">
                          <a:solidFill>
                            <a:srgbClr val="000000"/>
                          </a:solidFill>
                          <a:latin typeface="Calibri"/>
                        </a:rPr>
                        <a:t>Press-to-Close Bags</a:t>
                      </a:r>
                      <a:endParaRPr sz="1100"/>
                    </a:p>
                  </a:txBody>
                  <a:tcPr marL="1028700" marR="9525" marT="9525" marB="0" anchor="ctr"/>
                </a:tc>
              </a:tr>
              <a:tr h="175260">
                <a:tc>
                  <a:txBody>
                    <a:bodyPr wrap="square"/>
                    <a:lstStyle/>
                    <a:p>
                      <a:pPr algn="l"/>
                      <a:r>
                        <a:rPr sz="1100" b="0" i="1">
                          <a:solidFill>
                            <a:srgbClr val="000000"/>
                          </a:solidFill>
                          <a:latin typeface="Calibri"/>
                        </a:rPr>
                        <a:t>3.5.3.4.</a:t>
                      </a:r>
                      <a:r>
                        <a:rPr sz="700" b="0" i="1">
                          <a:solidFill>
                            <a:srgbClr val="000000"/>
                          </a:solidFill>
                          <a:latin typeface="Times New Roman"/>
                        </a:rPr>
                        <a:t>    </a:t>
                      </a:r>
                      <a:r>
                        <a:rPr sz="1100" b="0" i="1">
                          <a:solidFill>
                            <a:srgbClr val="000000"/>
                          </a:solidFill>
                          <a:latin typeface="Calibri"/>
                        </a:rPr>
                        <a:t>Double Zip Bags</a:t>
                      </a:r>
                      <a:endParaRPr sz="1100"/>
                    </a:p>
                  </a:txBody>
                  <a:tcPr marL="1028700"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Industrial Polybags</a:t>
                      </a:r>
                      <a:endParaRPr sz="1100"/>
                    </a:p>
                  </a:txBody>
                  <a:tcPr marL="771525" marR="9525" marT="9525" marB="0" anchor="ctr"/>
                </a:tc>
              </a:tr>
              <a:tr h="175260">
                <a:tc>
                  <a:txBody>
                    <a:bodyPr wrap="square"/>
                    <a:lstStyle/>
                    <a:p>
                      <a:pPr algn="l"/>
                      <a:r>
                        <a:rPr sz="1100" b="0" i="1">
                          <a:solidFill>
                            <a:srgbClr val="000000"/>
                          </a:solidFill>
                          <a:latin typeface="Calibri"/>
                        </a:rPr>
                        <a:t>3.5.4.1.</a:t>
                      </a:r>
                      <a:r>
                        <a:rPr sz="700" b="0" i="1">
                          <a:solidFill>
                            <a:srgbClr val="000000"/>
                          </a:solidFill>
                          <a:latin typeface="Times New Roman"/>
                        </a:rPr>
                        <a:t>    </a:t>
                      </a:r>
                      <a:r>
                        <a:rPr sz="1100" b="0" i="1">
                          <a:solidFill>
                            <a:srgbClr val="000000"/>
                          </a:solidFill>
                          <a:latin typeface="Calibri"/>
                        </a:rPr>
                        <a:t>Heavy-Duty Bags</a:t>
                      </a:r>
                      <a:endParaRPr sz="1100"/>
                    </a:p>
                  </a:txBody>
                  <a:tcPr marL="1028700" marR="9525" marT="9525" marB="0" anchor="ctr"/>
                </a:tc>
              </a:tr>
              <a:tr h="175260">
                <a:tc>
                  <a:txBody>
                    <a:bodyPr wrap="square"/>
                    <a:lstStyle/>
                    <a:p>
                      <a:pPr algn="l"/>
                      <a:r>
                        <a:rPr sz="1100" b="0" i="1">
                          <a:solidFill>
                            <a:srgbClr val="000000"/>
                          </a:solidFill>
                          <a:latin typeface="Calibri"/>
                        </a:rPr>
                        <a:t>3.5.4.2.</a:t>
                      </a:r>
                      <a:r>
                        <a:rPr sz="700" b="0" i="1">
                          <a:solidFill>
                            <a:srgbClr val="000000"/>
                          </a:solidFill>
                          <a:latin typeface="Times New Roman"/>
                        </a:rPr>
                        <a:t>    </a:t>
                      </a:r>
                      <a:r>
                        <a:rPr sz="1100" b="0" i="1">
                          <a:solidFill>
                            <a:srgbClr val="000000"/>
                          </a:solidFill>
                          <a:latin typeface="Calibri"/>
                        </a:rPr>
                        <a:t>FIBC Liners</a:t>
                      </a:r>
                      <a:endParaRPr sz="1100"/>
                    </a:p>
                  </a:txBody>
                  <a:tcPr marL="1028700" marR="9525" marT="9525" marB="0" anchor="ctr"/>
                </a:tc>
              </a:tr>
              <a:tr h="175260">
                <a:tc>
                  <a:txBody>
                    <a:bodyPr wrap="square"/>
                    <a:lstStyle/>
                    <a:p>
                      <a:pPr algn="l"/>
                      <a:r>
                        <a:rPr sz="1100" b="0" i="1">
                          <a:solidFill>
                            <a:srgbClr val="000000"/>
                          </a:solidFill>
                          <a:latin typeface="Calibri"/>
                        </a:rPr>
                        <a:t>3.5.4.3.</a:t>
                      </a:r>
                      <a:r>
                        <a:rPr sz="700" b="0" i="1">
                          <a:solidFill>
                            <a:srgbClr val="000000"/>
                          </a:solidFill>
                          <a:latin typeface="Times New Roman"/>
                        </a:rPr>
                        <a:t>    </a:t>
                      </a:r>
                      <a:r>
                        <a:rPr sz="1100" b="0" i="1">
                          <a:solidFill>
                            <a:srgbClr val="000000"/>
                          </a:solidFill>
                          <a:latin typeface="Calibri"/>
                        </a:rPr>
                        <a:t>Machinery Parts Bags</a:t>
                      </a:r>
                      <a:endParaRPr sz="1100"/>
                    </a:p>
                  </a:txBody>
                  <a:tcPr marL="1028700" marR="9525" marT="9525" marB="0" anchor="ctr"/>
                </a:tc>
              </a:tr>
              <a:tr h="175260">
                <a:tc>
                  <a:txBody>
                    <a:bodyPr wrap="square"/>
                    <a:lstStyle/>
                    <a:p>
                      <a:pPr algn="l"/>
                      <a:r>
                        <a:rPr sz="1100" b="0" i="1">
                          <a:solidFill>
                            <a:srgbClr val="000000"/>
                          </a:solidFill>
                          <a:latin typeface="Calibri"/>
                        </a:rPr>
                        <a:t>3.5.4.4.</a:t>
                      </a:r>
                      <a:r>
                        <a:rPr sz="700" b="0" i="1">
                          <a:solidFill>
                            <a:srgbClr val="000000"/>
                          </a:solidFill>
                          <a:latin typeface="Times New Roman"/>
                        </a:rPr>
                        <a:t>    </a:t>
                      </a:r>
                      <a:r>
                        <a:rPr sz="1100" b="0" i="1">
                          <a:solidFill>
                            <a:srgbClr val="000000"/>
                          </a:solidFill>
                          <a:latin typeface="Calibri"/>
                        </a:rPr>
                        <a:t>Chemical Packaging Bags</a:t>
                      </a:r>
                      <a:endParaRPr sz="1100"/>
                    </a:p>
                  </a:txBody>
                  <a:tcPr marL="1028700" marR="9525" marT="9525" marB="0" anchor="ctr"/>
                </a:tc>
              </a:tr>
              <a:tr h="175260">
                <a:tc>
                  <a:txBody>
                    <a:bodyPr wrap="square"/>
                    <a:lstStyle/>
                    <a:p>
                      <a:pPr algn="l"/>
                      <a:r>
                        <a:rPr sz="1100" b="0" i="0">
                          <a:solidFill>
                            <a:srgbClr val="000000"/>
                          </a:solidFill>
                          <a:latin typeface="Calibri"/>
                        </a:rPr>
                        <a:t>3.5.5.</a:t>
                      </a:r>
                      <a:r>
                        <a:rPr sz="700" b="0" i="0">
                          <a:solidFill>
                            <a:srgbClr val="000000"/>
                          </a:solidFill>
                          <a:latin typeface="Times New Roman"/>
                        </a:rPr>
                        <a:t>   </a:t>
                      </a:r>
                      <a:r>
                        <a:rPr sz="1100" b="0" i="0">
                          <a:solidFill>
                            <a:srgbClr val="000000"/>
                          </a:solidFill>
                          <a:latin typeface="Calibri"/>
                        </a:rPr>
                        <a:t>Protective Polybags</a:t>
                      </a:r>
                      <a:endParaRPr sz="1100"/>
                    </a:p>
                  </a:txBody>
                  <a:tcPr marL="771525" marR="9525" marT="9525" marB="0" anchor="ctr"/>
                </a:tc>
              </a:tr>
              <a:tr h="175260">
                <a:tc>
                  <a:txBody>
                    <a:bodyPr wrap="square"/>
                    <a:lstStyle/>
                    <a:p>
                      <a:pPr algn="l"/>
                      <a:r>
                        <a:rPr sz="1100" b="0" i="1">
                          <a:solidFill>
                            <a:srgbClr val="000000"/>
                          </a:solidFill>
                          <a:latin typeface="Calibri"/>
                        </a:rPr>
                        <a:t>3.5.5.1.</a:t>
                      </a:r>
                      <a:r>
                        <a:rPr sz="700" b="0" i="1">
                          <a:solidFill>
                            <a:srgbClr val="000000"/>
                          </a:solidFill>
                          <a:latin typeface="Times New Roman"/>
                        </a:rPr>
                        <a:t>    </a:t>
                      </a:r>
                      <a:r>
                        <a:rPr sz="1100" b="0" i="1">
                          <a:solidFill>
                            <a:srgbClr val="000000"/>
                          </a:solidFill>
                          <a:latin typeface="Calibri"/>
                        </a:rPr>
                        <a:t>Bubble Poly Mailers</a:t>
                      </a:r>
                      <a:endParaRPr sz="1100"/>
                    </a:p>
                  </a:txBody>
                  <a:tcPr marL="1028700" marR="9525" marT="9525" marB="0" anchor="ctr"/>
                </a:tc>
              </a:tr>
              <a:tr h="175260">
                <a:tc>
                  <a:txBody>
                    <a:bodyPr wrap="square"/>
                    <a:lstStyle/>
                    <a:p>
                      <a:pPr algn="l"/>
                      <a:r>
                        <a:rPr sz="1100" b="0" i="1">
                          <a:solidFill>
                            <a:srgbClr val="000000"/>
                          </a:solidFill>
                          <a:latin typeface="Calibri"/>
                        </a:rPr>
                        <a:t>3.5.5.2.</a:t>
                      </a:r>
                      <a:r>
                        <a:rPr sz="700" b="0" i="1">
                          <a:solidFill>
                            <a:srgbClr val="000000"/>
                          </a:solidFill>
                          <a:latin typeface="Times New Roman"/>
                        </a:rPr>
                        <a:t>    </a:t>
                      </a:r>
                      <a:r>
                        <a:rPr sz="1100" b="0" i="1">
                          <a:solidFill>
                            <a:srgbClr val="000000"/>
                          </a:solidFill>
                          <a:latin typeface="Calibri"/>
                        </a:rPr>
                        <a:t>Anti-Static (ESD) Bags</a:t>
                      </a:r>
                      <a:endParaRPr sz="1100"/>
                    </a:p>
                  </a:txBody>
                  <a:tcPr marL="1028700" marR="9525" marT="9525" marB="0" anchor="ctr"/>
                </a:tc>
              </a:tr>
              <a:tr h="175260">
                <a:tc>
                  <a:txBody>
                    <a:bodyPr wrap="square"/>
                    <a:lstStyle/>
                    <a:p>
                      <a:pPr algn="l"/>
                      <a:r>
                        <a:rPr sz="1100" b="0" i="1">
                          <a:solidFill>
                            <a:srgbClr val="000000"/>
                          </a:solidFill>
                          <a:latin typeface="Calibri"/>
                        </a:rPr>
                        <a:t>3.5.5.3.</a:t>
                      </a:r>
                      <a:r>
                        <a:rPr sz="700" b="0" i="1">
                          <a:solidFill>
                            <a:srgbClr val="000000"/>
                          </a:solidFill>
                          <a:latin typeface="Times New Roman"/>
                        </a:rPr>
                        <a:t>    </a:t>
                      </a:r>
                      <a:r>
                        <a:rPr sz="1100" b="0" i="1">
                          <a:solidFill>
                            <a:srgbClr val="000000"/>
                          </a:solidFill>
                          <a:latin typeface="Calibri"/>
                        </a:rPr>
                        <a:t>Vacuum Bags</a:t>
                      </a:r>
                      <a:endParaRPr sz="1100"/>
                    </a:p>
                  </a:txBody>
                  <a:tcPr marL="1028700" marR="9525" marT="9525" marB="0" anchor="ctr"/>
                </a:tc>
              </a:tr>
              <a:tr h="175260">
                <a:tc>
                  <a:txBody>
                    <a:bodyPr wrap="square"/>
                    <a:lstStyle/>
                    <a:p>
                      <a:pPr algn="l"/>
                      <a:r>
                        <a:rPr sz="1100" b="0" i="1">
                          <a:solidFill>
                            <a:srgbClr val="000000"/>
                          </a:solidFill>
                          <a:latin typeface="Calibri"/>
                        </a:rPr>
                        <a:t>3.5.5.4.</a:t>
                      </a:r>
                      <a:r>
                        <a:rPr sz="700" b="0" i="1">
                          <a:solidFill>
                            <a:srgbClr val="000000"/>
                          </a:solidFill>
                          <a:latin typeface="Times New Roman"/>
                        </a:rPr>
                        <a:t>    </a:t>
                      </a:r>
                      <a:r>
                        <a:rPr sz="1100" b="0" i="1">
                          <a:solidFill>
                            <a:srgbClr val="000000"/>
                          </a:solidFill>
                          <a:latin typeface="Calibri"/>
                        </a:rPr>
                        <a:t>Cushion Packaging Bags</a:t>
                      </a:r>
                      <a:endParaRPr sz="1100"/>
                    </a:p>
                  </a:txBody>
                  <a:tcPr marL="1028700" marR="9525" marT="9525" marB="0" anchor="ctr"/>
                </a:tc>
              </a:tr>
              <a:tr h="175260">
                <a:tc>
                  <a:txBody>
                    <a:bodyPr wrap="square"/>
                    <a:lstStyle/>
                    <a:p>
                      <a:pPr algn="l"/>
                      <a:r>
                        <a:rPr sz="1100" b="0" i="0">
                          <a:solidFill>
                            <a:srgbClr val="000000"/>
                          </a:solidFill>
                          <a:latin typeface="Calibri"/>
                        </a:rPr>
                        <a:t>3.5.6.</a:t>
                      </a:r>
                      <a:r>
                        <a:rPr sz="700" b="0" i="0">
                          <a:solidFill>
                            <a:srgbClr val="000000"/>
                          </a:solidFill>
                          <a:latin typeface="Times New Roman"/>
                        </a:rPr>
                        <a:t>   </a:t>
                      </a:r>
                      <a:r>
                        <a:rPr sz="1100" b="0" i="0">
                          <a:solidFill>
                            <a:srgbClr val="000000"/>
                          </a:solidFill>
                          <a:latin typeface="Calibri"/>
                        </a:rPr>
                        <a:t>Retail &amp; Merchandise Bags</a:t>
                      </a:r>
                      <a:endParaRPr sz="1100"/>
                    </a:p>
                  </a:txBody>
                  <a:tcPr marL="771525" marR="9525" marT="9525" marB="0" anchor="ctr"/>
                </a:tc>
              </a:tr>
              <a:tr h="175260">
                <a:tc>
                  <a:txBody>
                    <a:bodyPr wrap="square"/>
                    <a:lstStyle/>
                    <a:p>
                      <a:pPr algn="l"/>
                      <a:r>
                        <a:rPr sz="1100" b="0" i="1">
                          <a:solidFill>
                            <a:srgbClr val="000000"/>
                          </a:solidFill>
                          <a:latin typeface="Calibri"/>
                        </a:rPr>
                        <a:t>3.5.6.1.</a:t>
                      </a:r>
                      <a:r>
                        <a:rPr sz="700" b="0" i="1">
                          <a:solidFill>
                            <a:srgbClr val="000000"/>
                          </a:solidFill>
                          <a:latin typeface="Times New Roman"/>
                        </a:rPr>
                        <a:t>    </a:t>
                      </a:r>
                      <a:r>
                        <a:rPr sz="1100" b="0" i="1">
                          <a:solidFill>
                            <a:srgbClr val="000000"/>
                          </a:solidFill>
                          <a:latin typeface="Calibri"/>
                        </a:rPr>
                        <a:t>T-Shirt Bags</a:t>
                      </a:r>
                      <a:endParaRPr sz="1100"/>
                    </a:p>
                  </a:txBody>
                  <a:tcPr marL="1028700" marR="9525" marT="9525" marB="0" anchor="ctr"/>
                </a:tc>
              </a:tr>
              <a:tr h="175260">
                <a:tc>
                  <a:txBody>
                    <a:bodyPr wrap="square"/>
                    <a:lstStyle/>
                    <a:p>
                      <a:pPr algn="l"/>
                      <a:r>
                        <a:rPr sz="1100" b="0" i="1">
                          <a:solidFill>
                            <a:srgbClr val="000000"/>
                          </a:solidFill>
                          <a:latin typeface="Calibri"/>
                        </a:rPr>
                        <a:t>3.5.6.2.</a:t>
                      </a:r>
                      <a:r>
                        <a:rPr sz="700" b="0" i="1">
                          <a:solidFill>
                            <a:srgbClr val="000000"/>
                          </a:solidFill>
                          <a:latin typeface="Times New Roman"/>
                        </a:rPr>
                        <a:t>    </a:t>
                      </a:r>
                      <a:r>
                        <a:rPr sz="1100" b="0" i="1">
                          <a:solidFill>
                            <a:srgbClr val="000000"/>
                          </a:solidFill>
                          <a:latin typeface="Calibri"/>
                        </a:rPr>
                        <a:t>Merchandise Bags</a:t>
                      </a:r>
                      <a:endParaRPr sz="1100"/>
                    </a:p>
                  </a:txBody>
                  <a:tcPr marL="1028700" marR="9525" marT="9525" marB="0" anchor="ctr"/>
                </a:tc>
              </a:tr>
              <a:tr h="175260">
                <a:tc>
                  <a:txBody>
                    <a:bodyPr wrap="square"/>
                    <a:lstStyle/>
                    <a:p>
                      <a:pPr algn="l"/>
                      <a:r>
                        <a:rPr sz="1100" b="0" i="1">
                          <a:solidFill>
                            <a:srgbClr val="000000"/>
                          </a:solidFill>
                          <a:latin typeface="Calibri"/>
                        </a:rPr>
                        <a:t>3.5.6.3.</a:t>
                      </a:r>
                      <a:r>
                        <a:rPr sz="700" b="0" i="1">
                          <a:solidFill>
                            <a:srgbClr val="000000"/>
                          </a:solidFill>
                          <a:latin typeface="Times New Roman"/>
                        </a:rPr>
                        <a:t>    </a:t>
                      </a:r>
                      <a:r>
                        <a:rPr sz="1100" b="0" i="1">
                          <a:solidFill>
                            <a:srgbClr val="000000"/>
                          </a:solidFill>
                          <a:latin typeface="Calibri"/>
                        </a:rPr>
                        <a:t>Die-Cut Handle Bags</a:t>
                      </a:r>
                      <a:endParaRPr sz="1100"/>
                    </a:p>
                  </a:txBody>
                  <a:tcPr marL="1028700" marR="9525" marT="9525" marB="0" anchor="ctr"/>
                </a:tc>
              </a:tr>
              <a:tr h="175260">
                <a:tc>
                  <a:txBody>
                    <a:bodyPr wrap="square"/>
                    <a:lstStyle/>
                    <a:p>
                      <a:pPr algn="l"/>
                      <a:r>
                        <a:rPr sz="1100" b="0" i="1">
                          <a:solidFill>
                            <a:srgbClr val="000000"/>
                          </a:solidFill>
                          <a:latin typeface="Calibri"/>
                        </a:rPr>
                        <a:t>3.5.6.4.</a:t>
                      </a:r>
                      <a:r>
                        <a:rPr sz="700" b="0" i="1">
                          <a:solidFill>
                            <a:srgbClr val="000000"/>
                          </a:solidFill>
                          <a:latin typeface="Times New Roman"/>
                        </a:rPr>
                        <a:t>    </a:t>
                      </a:r>
                      <a:r>
                        <a:rPr sz="1100" b="0" i="1">
                          <a:solidFill>
                            <a:srgbClr val="000000"/>
                          </a:solidFill>
                          <a:latin typeface="Calibri"/>
                        </a:rPr>
                        <a:t>Patch Handle Bags</a:t>
                      </a:r>
                      <a:endParaRPr sz="1100"/>
                    </a:p>
                  </a:txBody>
                  <a:tcPr marL="1028700" marR="9525" marT="9525" marB="0" anchor="ctr"/>
                </a:tc>
              </a:tr>
              <a:tr h="175260">
                <a:tc>
                  <a:txBody>
                    <a:bodyPr wrap="square"/>
                    <a:lstStyle/>
                    <a:p>
                      <a:pPr algn="l"/>
                      <a:r>
                        <a:rPr sz="1100" b="0" i="1">
                          <a:solidFill>
                            <a:srgbClr val="000000"/>
                          </a:solidFill>
                          <a:latin typeface="Calibri"/>
                        </a:rPr>
                        <a:t>3.5.6.5.</a:t>
                      </a:r>
                      <a:r>
                        <a:rPr sz="700" b="0" i="1">
                          <a:solidFill>
                            <a:srgbClr val="000000"/>
                          </a:solidFill>
                          <a:latin typeface="Times New Roman"/>
                        </a:rPr>
                        <a:t>    </a:t>
                      </a:r>
                      <a:r>
                        <a:rPr sz="1100" b="0" i="1">
                          <a:solidFill>
                            <a:srgbClr val="000000"/>
                          </a:solidFill>
                          <a:latin typeface="Calibri"/>
                        </a:rPr>
                        <a:t>D-Cut Bags</a:t>
                      </a:r>
                      <a:endParaRPr sz="1100"/>
                    </a:p>
                  </a:txBody>
                  <a:tcPr marL="1028700" marR="9525" marT="9525" marB="0" anchor="ctr"/>
                </a:tc>
              </a:tr>
              <a:tr h="175260">
                <a:tc>
                  <a:txBody>
                    <a:bodyPr wrap="square"/>
                    <a:lstStyle/>
                    <a:p>
                      <a:pPr algn="l"/>
                      <a:r>
                        <a:rPr sz="1100" b="0" i="0">
                          <a:solidFill>
                            <a:srgbClr val="000000"/>
                          </a:solidFill>
                          <a:latin typeface="Calibri"/>
                        </a:rPr>
                        <a:t>3.5.7.</a:t>
                      </a:r>
                      <a:r>
                        <a:rPr sz="700" b="0" i="0">
                          <a:solidFill>
                            <a:srgbClr val="000000"/>
                          </a:solidFill>
                          <a:latin typeface="Times New Roman"/>
                        </a:rPr>
                        <a:t>   </a:t>
                      </a:r>
                      <a:r>
                        <a:rPr sz="1100" b="0" i="0">
                          <a:solidFill>
                            <a:srgbClr val="000000"/>
                          </a:solidFill>
                          <a:latin typeface="Calibri"/>
                        </a:rPr>
                        <a:t>E-commerce Polybags</a:t>
                      </a:r>
                      <a:endParaRPr sz="1100"/>
                    </a:p>
                  </a:txBody>
                  <a:tcPr marL="771525" marR="9525" marT="9525" marB="0" anchor="ctr"/>
                </a:tc>
              </a:tr>
              <a:tr h="175260">
                <a:tc>
                  <a:txBody>
                    <a:bodyPr wrap="square"/>
                    <a:lstStyle/>
                    <a:p>
                      <a:pPr algn="l"/>
                      <a:r>
                        <a:rPr sz="1100" b="0" i="1">
                          <a:solidFill>
                            <a:srgbClr val="000000"/>
                          </a:solidFill>
                          <a:latin typeface="Calibri"/>
                        </a:rPr>
                        <a:t>3.5.7.1.</a:t>
                      </a:r>
                      <a:r>
                        <a:rPr sz="700" b="0" i="1">
                          <a:solidFill>
                            <a:srgbClr val="000000"/>
                          </a:solidFill>
                          <a:latin typeface="Times New Roman"/>
                        </a:rPr>
                        <a:t>    </a:t>
                      </a:r>
                      <a:r>
                        <a:rPr sz="1100" b="0" i="1">
                          <a:solidFill>
                            <a:srgbClr val="000000"/>
                          </a:solidFill>
                          <a:latin typeface="Calibri"/>
                        </a:rPr>
                        <a:t>Courier Mailers</a:t>
                      </a:r>
                      <a:endParaRPr sz="1100"/>
                    </a:p>
                  </a:txBody>
                  <a:tcPr marL="1028700" marR="9525" marT="9525" marB="0" anchor="ctr"/>
                </a:tc>
              </a:tr>
              <a:tr h="175260">
                <a:tc>
                  <a:txBody>
                    <a:bodyPr wrap="square"/>
                    <a:lstStyle/>
                    <a:p>
                      <a:pPr algn="l"/>
                      <a:r>
                        <a:rPr sz="1100" b="0" i="1">
                          <a:solidFill>
                            <a:srgbClr val="000000"/>
                          </a:solidFill>
                          <a:latin typeface="Calibri"/>
                        </a:rPr>
                        <a:t>3.5.7.2.</a:t>
                      </a:r>
                      <a:r>
                        <a:rPr sz="700" b="0" i="1">
                          <a:solidFill>
                            <a:srgbClr val="000000"/>
                          </a:solidFill>
                          <a:latin typeface="Times New Roman"/>
                        </a:rPr>
                        <a:t>    </a:t>
                      </a:r>
                      <a:r>
                        <a:rPr sz="1100" b="0" i="1">
                          <a:solidFill>
                            <a:srgbClr val="000000"/>
                          </a:solidFill>
                          <a:latin typeface="Calibri"/>
                        </a:rPr>
                        <a:t>Tamper-Evident Mailers</a:t>
                      </a:r>
                      <a:endParaRPr sz="1100"/>
                    </a:p>
                  </a:txBody>
                  <a:tcPr marL="1028700" marR="9525" marT="9525" marB="0" anchor="ctr"/>
                </a:tc>
              </a:tr>
              <a:tr h="175260">
                <a:tc>
                  <a:txBody>
                    <a:bodyPr wrap="square"/>
                    <a:lstStyle/>
                    <a:p>
                      <a:pPr algn="l"/>
                      <a:r>
                        <a:rPr sz="1100" b="0" i="1">
                          <a:solidFill>
                            <a:srgbClr val="000000"/>
                          </a:solidFill>
                          <a:latin typeface="Calibri"/>
                        </a:rPr>
                        <a:t>3.5.7.3.</a:t>
                      </a:r>
                      <a:r>
                        <a:rPr sz="700" b="0" i="1">
                          <a:solidFill>
                            <a:srgbClr val="000000"/>
                          </a:solidFill>
                          <a:latin typeface="Times New Roman"/>
                        </a:rPr>
                        <a:t>    </a:t>
                      </a:r>
                      <a:r>
                        <a:rPr sz="1100" b="0" i="1">
                          <a:solidFill>
                            <a:srgbClr val="000000"/>
                          </a:solidFill>
                          <a:latin typeface="Calibri"/>
                        </a:rPr>
                        <a:t>Return Mailers</a:t>
                      </a:r>
                      <a:endParaRPr sz="1100"/>
                    </a:p>
                  </a:txBody>
                  <a:tcPr marL="1028700" marR="9525" marT="9525" marB="0" anchor="ctr"/>
                </a:tc>
              </a:tr>
              <a:tr h="175260">
                <a:tc>
                  <a:txBody>
                    <a:bodyPr wrap="square"/>
                    <a:lstStyle/>
                    <a:p>
                      <a:pPr algn="l"/>
                      <a:r>
                        <a:rPr sz="1100" b="0" i="1">
                          <a:solidFill>
                            <a:srgbClr val="000000"/>
                          </a:solidFill>
                          <a:latin typeface="Calibri"/>
                        </a:rPr>
                        <a:t>3.5.7.4.</a:t>
                      </a:r>
                      <a:r>
                        <a:rPr sz="700" b="0" i="1">
                          <a:solidFill>
                            <a:srgbClr val="000000"/>
                          </a:solidFill>
                          <a:latin typeface="Times New Roman"/>
                        </a:rPr>
                        <a:t>    </a:t>
                      </a:r>
                      <a:r>
                        <a:rPr sz="1100" b="0" i="1">
                          <a:solidFill>
                            <a:srgbClr val="000000"/>
                          </a:solidFill>
                          <a:latin typeface="Calibri"/>
                        </a:rPr>
                        <a:t>Security Mailers</a:t>
                      </a:r>
                      <a:endParaRPr sz="1100"/>
                    </a:p>
                  </a:txBody>
                  <a:tcPr marL="1028700" marR="9525" marT="9525" marB="0" anchor="ctr"/>
                </a:tc>
              </a:tr>
              <a:tr h="175260">
                <a:tc>
                  <a:txBody>
                    <a:bodyPr wrap="square"/>
                    <a:lstStyle/>
                    <a:p>
                      <a:pPr algn="l"/>
                      <a:r>
                        <a:rPr sz="1100" b="0" i="0">
                          <a:solidFill>
                            <a:srgbClr val="000000"/>
                          </a:solidFill>
                          <a:latin typeface="Calibri"/>
                        </a:rPr>
                        <a:t>3.5.8.</a:t>
                      </a:r>
                      <a:r>
                        <a:rPr sz="700" b="0" i="0">
                          <a:solidFill>
                            <a:srgbClr val="000000"/>
                          </a:solidFill>
                          <a:latin typeface="Times New Roman"/>
                        </a:rPr>
                        <a:t>   </a:t>
                      </a:r>
                      <a:r>
                        <a:rPr sz="1100" b="0" i="0">
                          <a:solidFill>
                            <a:srgbClr val="000000"/>
                          </a:solidFill>
                          <a:latin typeface="Calibri"/>
                        </a:rPr>
                        <a:t>Specialty Polybags</a:t>
                      </a:r>
                      <a:endParaRPr sz="1100"/>
                    </a:p>
                  </a:txBody>
                  <a:tcPr marL="771525" marR="9525" marT="9525" marB="0" anchor="ctr"/>
                </a:tc>
              </a:tr>
              <a:tr h="175260">
                <a:tc>
                  <a:txBody>
                    <a:bodyPr wrap="square"/>
                    <a:lstStyle/>
                    <a:p>
                      <a:pPr algn="l"/>
                      <a:r>
                        <a:rPr sz="1100" b="0" i="1">
                          <a:solidFill>
                            <a:srgbClr val="000000"/>
                          </a:solidFill>
                          <a:latin typeface="Calibri"/>
                        </a:rPr>
                        <a:t>3.5.8.1.</a:t>
                      </a:r>
                      <a:r>
                        <a:rPr sz="700" b="0" i="1">
                          <a:solidFill>
                            <a:srgbClr val="000000"/>
                          </a:solidFill>
                          <a:latin typeface="Times New Roman"/>
                        </a:rPr>
                        <a:t>    </a:t>
                      </a:r>
                      <a:r>
                        <a:rPr sz="1100" b="0" i="1">
                          <a:solidFill>
                            <a:srgbClr val="000000"/>
                          </a:solidFill>
                          <a:latin typeface="Calibri"/>
                        </a:rPr>
                        <a:t>Wicketed Bags</a:t>
                      </a:r>
                      <a:endParaRPr sz="1100"/>
                    </a:p>
                  </a:txBody>
                  <a:tcPr marL="1028700" marR="9525" marT="9525" marB="0" anchor="ctr"/>
                </a:tc>
              </a:tr>
              <a:tr h="175260">
                <a:tc>
                  <a:txBody>
                    <a:bodyPr wrap="square"/>
                    <a:lstStyle/>
                    <a:p>
                      <a:pPr algn="l"/>
                      <a:r>
                        <a:rPr sz="1100" b="0" i="1">
                          <a:solidFill>
                            <a:srgbClr val="000000"/>
                          </a:solidFill>
                          <a:latin typeface="Calibri"/>
                        </a:rPr>
                        <a:t>3.5.8.2.</a:t>
                      </a:r>
                      <a:r>
                        <a:rPr sz="700" b="0" i="1">
                          <a:solidFill>
                            <a:srgbClr val="000000"/>
                          </a:solidFill>
                          <a:latin typeface="Times New Roman"/>
                        </a:rPr>
                        <a:t>    </a:t>
                      </a:r>
                      <a:r>
                        <a:rPr sz="1100" b="0" i="1">
                          <a:solidFill>
                            <a:srgbClr val="000000"/>
                          </a:solidFill>
                          <a:latin typeface="Calibri"/>
                        </a:rPr>
                        <a:t>Header Bags</a:t>
                      </a:r>
                      <a:endParaRPr sz="1100"/>
                    </a:p>
                  </a:txBody>
                  <a:tcPr marL="1028700" marR="9525" marT="9525" marB="0" anchor="ctr"/>
                </a:tc>
              </a:tr>
              <a:tr h="175260">
                <a:tc>
                  <a:txBody>
                    <a:bodyPr wrap="square"/>
                    <a:lstStyle/>
                    <a:p>
                      <a:pPr algn="l"/>
                      <a:r>
                        <a:rPr sz="1100" b="0" i="1">
                          <a:solidFill>
                            <a:srgbClr val="000000"/>
                          </a:solidFill>
                          <a:latin typeface="Calibri"/>
                        </a:rPr>
                        <a:t>3.5.8.3.</a:t>
                      </a:r>
                      <a:r>
                        <a:rPr sz="700" b="0" i="1">
                          <a:solidFill>
                            <a:srgbClr val="000000"/>
                          </a:solidFill>
                          <a:latin typeface="Times New Roman"/>
                        </a:rPr>
                        <a:t>    </a:t>
                      </a:r>
                      <a:r>
                        <a:rPr sz="1100" b="0" i="1">
                          <a:solidFill>
                            <a:srgbClr val="000000"/>
                          </a:solidFill>
                          <a:latin typeface="Calibri"/>
                        </a:rPr>
                        <a:t>Perforated Bags</a:t>
                      </a:r>
                      <a:endParaRPr sz="1100"/>
                    </a:p>
                  </a:txBody>
                  <a:tcPr marL="1028700" marR="9525" marT="9525" marB="0" anchor="ctr"/>
                </a:tc>
              </a:tr>
              <a:tr h="175260">
                <a:tc>
                  <a:txBody>
                    <a:bodyPr wrap="square"/>
                    <a:lstStyle/>
                    <a:p>
                      <a:pPr algn="l"/>
                      <a:r>
                        <a:rPr sz="1100" b="0" i="1">
                          <a:solidFill>
                            <a:srgbClr val="000000"/>
                          </a:solidFill>
                          <a:latin typeface="Calibri"/>
                        </a:rPr>
                        <a:t>3.5.8.4.</a:t>
                      </a:r>
                      <a:r>
                        <a:rPr sz="700" b="0" i="1">
                          <a:solidFill>
                            <a:srgbClr val="000000"/>
                          </a:solidFill>
                          <a:latin typeface="Times New Roman"/>
                        </a:rPr>
                        <a:t>    </a:t>
                      </a:r>
                      <a:r>
                        <a:rPr sz="1100" b="0" i="1">
                          <a:solidFill>
                            <a:srgbClr val="000000"/>
                          </a:solidFill>
                          <a:latin typeface="Calibri"/>
                        </a:rPr>
                        <a:t>Drawstring Bags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3.5.8.5.</a:t>
                      </a:r>
                      <a:r>
                        <a:rPr sz="700" b="0" i="1">
                          <a:solidFill>
                            <a:srgbClr val="000000"/>
                          </a:solidFill>
                          <a:latin typeface="Times New Roman"/>
                        </a:rPr>
                        <a:t>    </a:t>
                      </a:r>
                      <a:r>
                        <a:rPr sz="1100" b="0" i="1">
                          <a:solidFill>
                            <a:srgbClr val="000000"/>
                          </a:solidFill>
                          <a:latin typeface="Calibri"/>
                        </a:rPr>
                        <a:t>Custom Printed Bags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Polyethylene (PE)</a:t>
                      </a:r>
                      <a:endParaRPr sz="1100"/>
                    </a:p>
                  </a:txBody>
                  <a:tcPr marL="771525"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Low-Density Polyethylene (LDPE)</a:t>
                      </a:r>
                      <a:endParaRPr sz="1100"/>
                    </a:p>
                  </a:txBody>
                  <a:tcPr marL="771525"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Linear Low-Density Polyethylene (LLDPE)</a:t>
                      </a:r>
                      <a:endParaRPr sz="1100"/>
                    </a:p>
                  </a:txBody>
                  <a:tcPr marL="771525"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High-Density Polyethylene (HDPE)</a:t>
                      </a:r>
                      <a:endParaRPr sz="1100"/>
                    </a:p>
                  </a:txBody>
                  <a:tcPr marL="771525" marR="9525" marT="9525" marB="0" anchor="ctr"/>
                </a:tc>
              </a:tr>
              <a:tr h="175260">
                <a:tc>
                  <a:txBody>
                    <a:bodyPr wrap="square"/>
                    <a:lstStyle/>
                    <a:p>
                      <a:pPr algn="l"/>
                      <a:r>
                        <a:rPr sz="1100" b="0" i="0">
                          <a:solidFill>
                            <a:srgbClr val="000000"/>
                          </a:solidFill>
                          <a:latin typeface="Calibri"/>
                        </a:rPr>
                        <a:t>4.5.5.</a:t>
                      </a:r>
                      <a:r>
                        <a:rPr sz="700" b="0" i="0">
                          <a:solidFill>
                            <a:srgbClr val="000000"/>
                          </a:solidFill>
                          <a:latin typeface="Times New Roman"/>
                        </a:rPr>
                        <a:t>   </a:t>
                      </a:r>
                      <a:r>
                        <a:rPr sz="1100" b="0" i="0">
                          <a:solidFill>
                            <a:srgbClr val="000000"/>
                          </a:solidFill>
                          <a:latin typeface="Calibri"/>
                        </a:rPr>
                        <a:t>Medium-Density Polyethylene (MDPE)</a:t>
                      </a:r>
                      <a:endParaRPr sz="1100"/>
                    </a:p>
                  </a:txBody>
                  <a:tcPr marL="771525" marR="9525" marT="9525" marB="0" anchor="ctr"/>
                </a:tc>
              </a:tr>
              <a:tr h="175260">
                <a:tc>
                  <a:txBody>
                    <a:bodyPr wrap="square"/>
                    <a:lstStyle/>
                    <a:p>
                      <a:pPr algn="l"/>
                      <a:r>
                        <a:rPr sz="1100" b="0" i="0">
                          <a:solidFill>
                            <a:srgbClr val="000000"/>
                          </a:solidFill>
                          <a:latin typeface="Calibri"/>
                        </a:rPr>
                        <a:t>4.5.6.</a:t>
                      </a:r>
                      <a:r>
                        <a:rPr sz="700" b="0" i="0">
                          <a:solidFill>
                            <a:srgbClr val="000000"/>
                          </a:solidFill>
                          <a:latin typeface="Times New Roman"/>
                        </a:rPr>
                        <a:t>   </a:t>
                      </a:r>
                      <a:r>
                        <a:rPr sz="1100" b="0" i="0">
                          <a:solidFill>
                            <a:srgbClr val="000000"/>
                          </a:solidFill>
                          <a:latin typeface="Calibri"/>
                        </a:rPr>
                        <a:t>Polypropylene (PP)</a:t>
                      </a:r>
                      <a:endParaRPr sz="1100"/>
                    </a:p>
                  </a:txBody>
                  <a:tcPr marL="771525" marR="9525" marT="9525" marB="0" anchor="ctr"/>
                </a:tc>
              </a:tr>
              <a:tr h="175260">
                <a:tc>
                  <a:txBody>
                    <a:bodyPr wrap="square"/>
                    <a:lstStyle/>
                    <a:p>
                      <a:pPr algn="l"/>
                      <a:r>
                        <a:rPr sz="1100" b="0" i="1">
                          <a:solidFill>
                            <a:srgbClr val="000000"/>
                          </a:solidFill>
                          <a:latin typeface="Calibri"/>
                        </a:rPr>
                        <a:t>4.5.6.1.</a:t>
                      </a:r>
                      <a:r>
                        <a:rPr sz="700" b="0" i="1">
                          <a:solidFill>
                            <a:srgbClr val="000000"/>
                          </a:solidFill>
                          <a:latin typeface="Times New Roman"/>
                        </a:rPr>
                        <a:t>    </a:t>
                      </a:r>
                      <a:r>
                        <a:rPr sz="1100" b="0" i="1">
                          <a:solidFill>
                            <a:srgbClr val="000000"/>
                          </a:solidFill>
                          <a:latin typeface="Calibri"/>
                        </a:rPr>
                        <a:t>Cast Polypropylene (CPP)</a:t>
                      </a:r>
                      <a:endParaRPr sz="1100"/>
                    </a:p>
                  </a:txBody>
                  <a:tcPr marL="1028700" marR="9525" marT="9525" marB="0" anchor="ctr"/>
                </a:tc>
              </a:tr>
              <a:tr h="175260">
                <a:tc>
                  <a:txBody>
                    <a:bodyPr wrap="square"/>
                    <a:lstStyle/>
                    <a:p>
                      <a:pPr algn="l"/>
                      <a:r>
                        <a:rPr sz="1100" b="0" i="1">
                          <a:solidFill>
                            <a:srgbClr val="000000"/>
                          </a:solidFill>
                          <a:latin typeface="Calibri"/>
                        </a:rPr>
                        <a:t>4.5.6.2.</a:t>
                      </a:r>
                      <a:r>
                        <a:rPr sz="700" b="0" i="1">
                          <a:solidFill>
                            <a:srgbClr val="000000"/>
                          </a:solidFill>
                          <a:latin typeface="Times New Roman"/>
                        </a:rPr>
                        <a:t>    </a:t>
                      </a:r>
                      <a:r>
                        <a:rPr sz="1100" b="0" i="1">
                          <a:solidFill>
                            <a:srgbClr val="000000"/>
                          </a:solidFill>
                          <a:latin typeface="Calibri"/>
                        </a:rPr>
                        <a:t>Biaxially Oriented Polypropylene (BOPP)</a:t>
                      </a:r>
                      <a:endParaRPr sz="1100"/>
                    </a:p>
                  </a:txBody>
                  <a:tcPr marL="1028700" marR="9525" marT="9525" marB="0" anchor="ctr"/>
                </a:tc>
              </a:tr>
              <a:tr h="175260">
                <a:tc>
                  <a:txBody>
                    <a:bodyPr wrap="square"/>
                    <a:lstStyle/>
                    <a:p>
                      <a:pPr algn="l"/>
                      <a:r>
                        <a:rPr sz="1100" b="0" i="1">
                          <a:solidFill>
                            <a:srgbClr val="000000"/>
                          </a:solidFill>
                          <a:latin typeface="Calibri"/>
                        </a:rPr>
                        <a:t>4.5.6.3.</a:t>
                      </a:r>
                      <a:r>
                        <a:rPr sz="700" b="0" i="1">
                          <a:solidFill>
                            <a:srgbClr val="000000"/>
                          </a:solidFill>
                          <a:latin typeface="Times New Roman"/>
                        </a:rPr>
                        <a:t>    </a:t>
                      </a:r>
                      <a:r>
                        <a:rPr sz="1100" b="0" i="1">
                          <a:solidFill>
                            <a:srgbClr val="000000"/>
                          </a:solidFill>
                          <a:latin typeface="Calibri"/>
                        </a:rPr>
                        <a:t>Oriented Polypropylene (OPP)</a:t>
                      </a:r>
                      <a:endParaRPr sz="1100"/>
                    </a:p>
                  </a:txBody>
                  <a:tcPr marL="1028700" marR="9525" marT="9525" marB="0" anchor="ctr"/>
                </a:tc>
              </a:tr>
              <a:tr h="175260">
                <a:tc>
                  <a:txBody>
                    <a:bodyPr wrap="square"/>
                    <a:lstStyle/>
                    <a:p>
                      <a:pPr algn="l"/>
                      <a:r>
                        <a:rPr sz="1100" b="0" i="0">
                          <a:solidFill>
                            <a:srgbClr val="000000"/>
                          </a:solidFill>
                          <a:latin typeface="Calibri"/>
                        </a:rPr>
                        <a:t>4.5.7.</a:t>
                      </a:r>
                      <a:r>
                        <a:rPr sz="700" b="0" i="0">
                          <a:solidFill>
                            <a:srgbClr val="000000"/>
                          </a:solidFill>
                          <a:latin typeface="Times New Roman"/>
                        </a:rPr>
                        <a:t>   </a:t>
                      </a:r>
                      <a:r>
                        <a:rPr sz="1100" b="0" i="0">
                          <a:solidFill>
                            <a:srgbClr val="000000"/>
                          </a:solidFill>
                          <a:latin typeface="Calibri"/>
                        </a:rPr>
                        <a:t>Recycled Plastics</a:t>
                      </a:r>
                      <a:endParaRPr sz="1100"/>
                    </a:p>
                  </a:txBody>
                  <a:tcPr marL="771525" marR="9525" marT="9525" marB="0" anchor="ctr"/>
                </a:tc>
              </a:tr>
              <a:tr h="175260">
                <a:tc>
                  <a:txBody>
                    <a:bodyPr wrap="square"/>
                    <a:lstStyle/>
                    <a:p>
                      <a:pPr algn="l"/>
                      <a:r>
                        <a:rPr sz="1100" b="0" i="1">
                          <a:solidFill>
                            <a:srgbClr val="000000"/>
                          </a:solidFill>
                          <a:latin typeface="Calibri"/>
                        </a:rPr>
                        <a:t>4.5.7.1.</a:t>
                      </a:r>
                      <a:r>
                        <a:rPr sz="700" b="0" i="1">
                          <a:solidFill>
                            <a:srgbClr val="000000"/>
                          </a:solidFill>
                          <a:latin typeface="Times New Roman"/>
                        </a:rPr>
                        <a:t>    </a:t>
                      </a:r>
                      <a:r>
                        <a:rPr sz="1100" b="0" i="1">
                          <a:solidFill>
                            <a:srgbClr val="000000"/>
                          </a:solidFill>
                          <a:latin typeface="Calibri"/>
                        </a:rPr>
                        <a:t>Post-Consumer Recycled (PCR)</a:t>
                      </a:r>
                      <a:endParaRPr sz="1100"/>
                    </a:p>
                  </a:txBody>
                  <a:tcPr marL="1028700" marR="9525" marT="9525" marB="0" anchor="ctr"/>
                </a:tc>
              </a:tr>
              <a:tr h="175260">
                <a:tc>
                  <a:txBody>
                    <a:bodyPr wrap="square"/>
                    <a:lstStyle/>
                    <a:p>
                      <a:pPr algn="l"/>
                      <a:r>
                        <a:rPr sz="1100" b="0" i="1">
                          <a:solidFill>
                            <a:srgbClr val="000000"/>
                          </a:solidFill>
                          <a:latin typeface="Calibri"/>
                        </a:rPr>
                        <a:t>4.5.7.2.</a:t>
                      </a:r>
                      <a:r>
                        <a:rPr sz="700" b="0" i="1">
                          <a:solidFill>
                            <a:srgbClr val="000000"/>
                          </a:solidFill>
                          <a:latin typeface="Times New Roman"/>
                        </a:rPr>
                        <a:t>    </a:t>
                      </a:r>
                      <a:r>
                        <a:rPr sz="1100" b="0" i="1">
                          <a:solidFill>
                            <a:srgbClr val="000000"/>
                          </a:solidFill>
                          <a:latin typeface="Calibri"/>
                        </a:rPr>
                        <a:t>Post-Industrial Recycled (PIR)</a:t>
                      </a:r>
                      <a:endParaRPr sz="1100"/>
                    </a:p>
                  </a:txBody>
                  <a:tcPr marL="1028700" marR="9525" marT="9525" marB="0" anchor="ctr"/>
                </a:tc>
              </a:tr>
              <a:tr h="175260">
                <a:tc>
                  <a:txBody>
                    <a:bodyPr wrap="square"/>
                    <a:lstStyle/>
                    <a:p>
                      <a:pPr algn="l"/>
                      <a:r>
                        <a:rPr sz="1100" b="0" i="1">
                          <a:solidFill>
                            <a:srgbClr val="000000"/>
                          </a:solidFill>
                          <a:latin typeface="Calibri"/>
                        </a:rPr>
                        <a:t>4.5.7.3.</a:t>
                      </a:r>
                      <a:r>
                        <a:rPr sz="700" b="0" i="1">
                          <a:solidFill>
                            <a:srgbClr val="000000"/>
                          </a:solidFill>
                          <a:latin typeface="Times New Roman"/>
                        </a:rPr>
                        <a:t>    </a:t>
                      </a:r>
                      <a:r>
                        <a:rPr sz="1100" b="0" i="1">
                          <a:solidFill>
                            <a:srgbClr val="000000"/>
                          </a:solidFill>
                          <a:latin typeface="Calibri"/>
                        </a:rPr>
                        <a:t>Mixed Recycled Resin</a:t>
                      </a:r>
                      <a:endParaRPr sz="1100"/>
                    </a:p>
                  </a:txBody>
                  <a:tcPr marL="1028700" marR="9525" marT="9525" marB="0" anchor="ctr"/>
                </a:tc>
              </a:tr>
              <a:tr h="175260">
                <a:tc>
                  <a:txBody>
                    <a:bodyPr wrap="square"/>
                    <a:lstStyle/>
                    <a:p>
                      <a:pPr algn="l"/>
                      <a:r>
                        <a:rPr sz="1100" b="0" i="0">
                          <a:solidFill>
                            <a:srgbClr val="000000"/>
                          </a:solidFill>
                          <a:latin typeface="Calibri"/>
                        </a:rPr>
                        <a:t>4.5.8.</a:t>
                      </a:r>
                      <a:r>
                        <a:rPr sz="700" b="0" i="0">
                          <a:solidFill>
                            <a:srgbClr val="000000"/>
                          </a:solidFill>
                          <a:latin typeface="Times New Roman"/>
                        </a:rPr>
                        <a:t>   </a:t>
                      </a:r>
                      <a:r>
                        <a:rPr sz="1100" b="0" i="0">
                          <a:solidFill>
                            <a:srgbClr val="000000"/>
                          </a:solidFill>
                          <a:latin typeface="Calibri"/>
                        </a:rPr>
                        <a:t>Bio-Based Materials</a:t>
                      </a:r>
                      <a:endParaRPr sz="1100"/>
                    </a:p>
                  </a:txBody>
                  <a:tcPr marL="771525" marR="9525" marT="9525" marB="0" anchor="ctr"/>
                </a:tc>
              </a:tr>
              <a:tr h="175260">
                <a:tc>
                  <a:txBody>
                    <a:bodyPr wrap="square"/>
                    <a:lstStyle/>
                    <a:p>
                      <a:pPr algn="l"/>
                      <a:r>
                        <a:rPr sz="1100" b="0" i="1">
                          <a:solidFill>
                            <a:srgbClr val="000000"/>
                          </a:solidFill>
                          <a:latin typeface="Calibri"/>
                        </a:rPr>
                        <a:t>4.5.8.1.</a:t>
                      </a:r>
                      <a:r>
                        <a:rPr sz="700" b="0" i="1">
                          <a:solidFill>
                            <a:srgbClr val="000000"/>
                          </a:solidFill>
                          <a:latin typeface="Times New Roman"/>
                        </a:rPr>
                        <a:t>    </a:t>
                      </a:r>
                      <a:r>
                        <a:rPr sz="1100" b="0" i="1">
                          <a:solidFill>
                            <a:srgbClr val="000000"/>
                          </a:solidFill>
                          <a:latin typeface="Calibri"/>
                        </a:rPr>
                        <a:t>PLA</a:t>
                      </a:r>
                      <a:endParaRPr sz="1100"/>
                    </a:p>
                  </a:txBody>
                  <a:tcPr marL="1028700" marR="9525" marT="9525" marB="0" anchor="ctr"/>
                </a:tc>
              </a:tr>
              <a:tr h="175260">
                <a:tc>
                  <a:txBody>
                    <a:bodyPr wrap="square"/>
                    <a:lstStyle/>
                    <a:p>
                      <a:pPr algn="l"/>
                      <a:r>
                        <a:rPr sz="1100" b="0" i="1">
                          <a:solidFill>
                            <a:srgbClr val="000000"/>
                          </a:solidFill>
                          <a:latin typeface="Calibri"/>
                        </a:rPr>
                        <a:t>4.5.8.2.</a:t>
                      </a:r>
                      <a:r>
                        <a:rPr sz="700" b="0" i="1">
                          <a:solidFill>
                            <a:srgbClr val="000000"/>
                          </a:solidFill>
                          <a:latin typeface="Times New Roman"/>
                        </a:rPr>
                        <a:t>    </a:t>
                      </a:r>
                      <a:r>
                        <a:rPr sz="1100" b="0" i="1">
                          <a:solidFill>
                            <a:srgbClr val="000000"/>
                          </a:solidFill>
                          <a:latin typeface="Calibri"/>
                        </a:rPr>
                        <a:t>PHA</a:t>
                      </a:r>
                      <a:endParaRPr sz="1100"/>
                    </a:p>
                  </a:txBody>
                  <a:tcPr marL="1028700" marR="9525" marT="9525" marB="0" anchor="ctr"/>
                </a:tc>
              </a:tr>
              <a:tr h="175260">
                <a:tc>
                  <a:txBody>
                    <a:bodyPr wrap="square"/>
                    <a:lstStyle/>
                    <a:p>
                      <a:pPr algn="l"/>
                      <a:r>
                        <a:rPr sz="1100" b="0" i="1">
                          <a:solidFill>
                            <a:srgbClr val="000000"/>
                          </a:solidFill>
                          <a:latin typeface="Calibri"/>
                        </a:rPr>
                        <a:t>4.5.8.3.</a:t>
                      </a:r>
                      <a:r>
                        <a:rPr sz="700" b="0" i="1">
                          <a:solidFill>
                            <a:srgbClr val="000000"/>
                          </a:solidFill>
                          <a:latin typeface="Times New Roman"/>
                        </a:rPr>
                        <a:t>    </a:t>
                      </a:r>
                      <a:r>
                        <a:rPr sz="1100" b="0" i="1">
                          <a:solidFill>
                            <a:srgbClr val="000000"/>
                          </a:solidFill>
                          <a:latin typeface="Calibri"/>
                        </a:rPr>
                        <a:t>Starch Blend</a:t>
                      </a:r>
                      <a:endParaRPr sz="1100"/>
                    </a:p>
                  </a:txBody>
                  <a:tcPr marL="1028700" marR="9525" marT="9525" marB="0" anchor="ctr"/>
                </a:tc>
              </a:tr>
              <a:tr h="175260">
                <a:tc>
                  <a:txBody>
                    <a:bodyPr wrap="square"/>
                    <a:lstStyle/>
                    <a:p>
                      <a:pPr algn="l"/>
                      <a:r>
                        <a:rPr sz="1100" b="0" i="1">
                          <a:solidFill>
                            <a:srgbClr val="000000"/>
                          </a:solidFill>
                          <a:latin typeface="Calibri"/>
                        </a:rPr>
                        <a:t>4.5.8.4.</a:t>
                      </a:r>
                      <a:r>
                        <a:rPr sz="700" b="0" i="1">
                          <a:solidFill>
                            <a:srgbClr val="000000"/>
                          </a:solidFill>
                          <a:latin typeface="Times New Roman"/>
                        </a:rPr>
                        <a:t>    </a:t>
                      </a:r>
                      <a:r>
                        <a:rPr sz="1100" b="0" i="1">
                          <a:solidFill>
                            <a:srgbClr val="000000"/>
                          </a:solidFill>
                          <a:latin typeface="Calibri"/>
                        </a:rPr>
                        <a:t>PBAT Blend</a:t>
                      </a:r>
                      <a:endParaRPr sz="1100"/>
                    </a:p>
                  </a:txBody>
                  <a:tcPr marL="1028700" marR="9525" marT="9525" marB="0" anchor="ctr"/>
                </a:tc>
              </a:tr>
              <a:tr h="175260">
                <a:tc>
                  <a:txBody>
                    <a:bodyPr wrap="square"/>
                    <a:lstStyle/>
                    <a:p>
                      <a:pPr algn="l"/>
                      <a:r>
                        <a:rPr sz="1100" b="0" i="1">
                          <a:solidFill>
                            <a:srgbClr val="000000"/>
                          </a:solidFill>
                          <a:latin typeface="Calibri"/>
                        </a:rPr>
                        <a:t>4.5.8.5.</a:t>
                      </a:r>
                      <a:r>
                        <a:rPr sz="700" b="0" i="1">
                          <a:solidFill>
                            <a:srgbClr val="000000"/>
                          </a:solidFill>
                          <a:latin typeface="Times New Roman"/>
                        </a:rPr>
                        <a:t>    </a:t>
                      </a:r>
                      <a:r>
                        <a:rPr sz="1100" b="0" i="1">
                          <a:solidFill>
                            <a:srgbClr val="000000"/>
                          </a:solidFill>
                          <a:latin typeface="Calibri"/>
                        </a:rPr>
                        <a:t>Cellulose-Based Films</a:t>
                      </a:r>
                      <a:endParaRPr sz="1100"/>
                    </a:p>
                  </a:txBody>
                  <a:tcPr marL="1028700" marR="9525" marT="9525" marB="0" anchor="ctr"/>
                </a:tc>
              </a:tr>
              <a:tr h="175260">
                <a:tc>
                  <a:txBody>
                    <a:bodyPr wrap="square"/>
                    <a:lstStyle/>
                    <a:p>
                      <a:pPr algn="l"/>
                      <a:r>
                        <a:rPr sz="1100" b="0" i="0">
                          <a:solidFill>
                            <a:srgbClr val="000000"/>
                          </a:solidFill>
                          <a:latin typeface="Calibri"/>
                        </a:rPr>
                        <a:t>4.5.9.</a:t>
                      </a:r>
                      <a:r>
                        <a:rPr sz="700" b="0" i="0">
                          <a:solidFill>
                            <a:srgbClr val="000000"/>
                          </a:solidFill>
                          <a:latin typeface="Times New Roman"/>
                        </a:rPr>
                        <a:t>   </a:t>
                      </a:r>
                      <a:r>
                        <a:rPr sz="1100" b="0" i="0">
                          <a:solidFill>
                            <a:srgbClr val="000000"/>
                          </a:solidFill>
                          <a:latin typeface="Calibri"/>
                        </a:rPr>
                        <a:t>Specialty Materials</a:t>
                      </a:r>
                      <a:endParaRPr sz="1100"/>
                    </a:p>
                  </a:txBody>
                  <a:tcPr marL="771525" marR="9525" marT="9525" marB="0" anchor="ctr"/>
                </a:tc>
              </a:tr>
              <a:tr h="175260">
                <a:tc>
                  <a:txBody>
                    <a:bodyPr wrap="square"/>
                    <a:lstStyle/>
                    <a:p>
                      <a:pPr algn="l"/>
                      <a:r>
                        <a:rPr sz="1100" b="0" i="1">
                          <a:solidFill>
                            <a:srgbClr val="000000"/>
                          </a:solidFill>
                          <a:latin typeface="Calibri"/>
                        </a:rPr>
                        <a:t>4.5.9.1.</a:t>
                      </a:r>
                      <a:r>
                        <a:rPr sz="700" b="0" i="1">
                          <a:solidFill>
                            <a:srgbClr val="000000"/>
                          </a:solidFill>
                          <a:latin typeface="Times New Roman"/>
                        </a:rPr>
                        <a:t>    </a:t>
                      </a:r>
                      <a:r>
                        <a:rPr sz="1100" b="0" i="1">
                          <a:solidFill>
                            <a:srgbClr val="000000"/>
                          </a:solidFill>
                          <a:latin typeface="Calibri"/>
                        </a:rPr>
                        <a:t>EVA</a:t>
                      </a:r>
                      <a:endParaRPr sz="1100"/>
                    </a:p>
                  </a:txBody>
                  <a:tcPr marL="1028700" marR="9525" marT="9525" marB="0" anchor="ctr"/>
                </a:tc>
              </a:tr>
              <a:tr h="175260">
                <a:tc>
                  <a:txBody>
                    <a:bodyPr wrap="square"/>
                    <a:lstStyle/>
                    <a:p>
                      <a:pPr algn="l"/>
                      <a:r>
                        <a:rPr sz="1100" b="0" i="1">
                          <a:solidFill>
                            <a:srgbClr val="000000"/>
                          </a:solidFill>
                          <a:latin typeface="Calibri"/>
                        </a:rPr>
                        <a:t>4.5.9.2.</a:t>
                      </a:r>
                      <a:r>
                        <a:rPr sz="700" b="0" i="1">
                          <a:solidFill>
                            <a:srgbClr val="000000"/>
                          </a:solidFill>
                          <a:latin typeface="Times New Roman"/>
                        </a:rPr>
                        <a:t>    </a:t>
                      </a:r>
                      <a:r>
                        <a:rPr sz="1100" b="0" i="1">
                          <a:solidFill>
                            <a:srgbClr val="000000"/>
                          </a:solidFill>
                          <a:latin typeface="Calibri"/>
                        </a:rPr>
                        <a:t>Coextruded Multilayer Films</a:t>
                      </a:r>
                      <a:endParaRPr sz="1100"/>
                    </a:p>
                  </a:txBody>
                  <a:tcPr marL="1028700" marR="9525" marT="9525" marB="0" anchor="ctr"/>
                </a:tc>
              </a:tr>
              <a:tr h="175260">
                <a:tc>
                  <a:txBody>
                    <a:bodyPr wrap="square"/>
                    <a:lstStyle/>
                    <a:p>
                      <a:pPr algn="l"/>
                      <a:r>
                        <a:rPr sz="1100" b="0" i="1">
                          <a:solidFill>
                            <a:srgbClr val="000000"/>
                          </a:solidFill>
                          <a:latin typeface="Calibri"/>
                        </a:rPr>
                        <a:t>4.5.9.3.</a:t>
                      </a:r>
                      <a:r>
                        <a:rPr sz="700" b="0" i="1">
                          <a:solidFill>
                            <a:srgbClr val="000000"/>
                          </a:solidFill>
                          <a:latin typeface="Times New Roman"/>
                        </a:rPr>
                        <a:t>    </a:t>
                      </a:r>
                      <a:r>
                        <a:rPr sz="1100" b="0" i="1">
                          <a:solidFill>
                            <a:srgbClr val="000000"/>
                          </a:solidFill>
                          <a:latin typeface="Calibri"/>
                        </a:rPr>
                        <a:t>Barrier Films</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4.5.9.4.</a:t>
                      </a:r>
                      <a:r>
                        <a:rPr sz="700" b="0" i="1">
                          <a:solidFill>
                            <a:srgbClr val="000000"/>
                          </a:solidFill>
                          <a:latin typeface="Times New Roman"/>
                        </a:rPr>
                        <a:t>    </a:t>
                      </a:r>
                      <a:r>
                        <a:rPr sz="1100" b="0" i="1">
                          <a:solidFill>
                            <a:srgbClr val="000000"/>
                          </a:solidFill>
                          <a:latin typeface="Calibri"/>
                        </a:rPr>
                        <a:t>Conductive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End-Use Industry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Fresh Produce</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Frozen Food</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Dairy Products</a:t>
                      </a:r>
                      <a:endParaRPr sz="1100"/>
                    </a:p>
                  </a:txBody>
                  <a:tcPr marL="1028700" marR="9525" marT="9525" marB="0" anchor="ctr"/>
                </a:tc>
              </a:tr>
              <a:tr h="175260">
                <a:tc>
                  <a:txBody>
                    <a:bodyPr wrap="square"/>
                    <a:lstStyle/>
                    <a:p>
                      <a:pPr algn="l"/>
                      <a:r>
                        <a:rPr sz="1100" b="0" i="1">
                          <a:solidFill>
                            <a:srgbClr val="000000"/>
                          </a:solidFill>
                          <a:latin typeface="Calibri"/>
                        </a:rPr>
                        <a:t>5.5.1.4.</a:t>
                      </a:r>
                      <a:r>
                        <a:rPr sz="700" b="0" i="1">
                          <a:solidFill>
                            <a:srgbClr val="000000"/>
                          </a:solidFill>
                          <a:latin typeface="Times New Roman"/>
                        </a:rPr>
                        <a:t>    </a:t>
                      </a:r>
                      <a:r>
                        <a:rPr sz="1100" b="0" i="1">
                          <a:solidFill>
                            <a:srgbClr val="000000"/>
                          </a:solidFill>
                          <a:latin typeface="Calibri"/>
                        </a:rPr>
                        <a:t>Bakery</a:t>
                      </a:r>
                      <a:endParaRPr sz="1100"/>
                    </a:p>
                  </a:txBody>
                  <a:tcPr marL="1028700" marR="9525" marT="9525" marB="0" anchor="ctr"/>
                </a:tc>
              </a:tr>
              <a:tr h="175260">
                <a:tc>
                  <a:txBody>
                    <a:bodyPr wrap="square"/>
                    <a:lstStyle/>
                    <a:p>
                      <a:pPr algn="l"/>
                      <a:r>
                        <a:rPr sz="1100" b="0" i="1">
                          <a:solidFill>
                            <a:srgbClr val="000000"/>
                          </a:solidFill>
                          <a:latin typeface="Calibri"/>
                        </a:rPr>
                        <a:t>5.5.1.5.</a:t>
                      </a:r>
                      <a:r>
                        <a:rPr sz="700" b="0" i="1">
                          <a:solidFill>
                            <a:srgbClr val="000000"/>
                          </a:solidFill>
                          <a:latin typeface="Times New Roman"/>
                        </a:rPr>
                        <a:t>    </a:t>
                      </a:r>
                      <a:r>
                        <a:rPr sz="1100" b="0" i="1">
                          <a:solidFill>
                            <a:srgbClr val="000000"/>
                          </a:solidFill>
                          <a:latin typeface="Calibri"/>
                        </a:rPr>
                        <a:t>Meat &amp; Poultry</a:t>
                      </a:r>
                      <a:endParaRPr sz="1100"/>
                    </a:p>
                  </a:txBody>
                  <a:tcPr marL="1028700" marR="9525" marT="9525" marB="0" anchor="ctr"/>
                </a:tc>
              </a:tr>
              <a:tr h="175260">
                <a:tc>
                  <a:txBody>
                    <a:bodyPr wrap="square"/>
                    <a:lstStyle/>
                    <a:p>
                      <a:pPr algn="l"/>
                      <a:r>
                        <a:rPr sz="1100" b="0" i="1">
                          <a:solidFill>
                            <a:srgbClr val="000000"/>
                          </a:solidFill>
                          <a:latin typeface="Calibri"/>
                        </a:rPr>
                        <a:t>5.5.1.6.</a:t>
                      </a:r>
                      <a:r>
                        <a:rPr sz="700" b="0" i="1">
                          <a:solidFill>
                            <a:srgbClr val="000000"/>
                          </a:solidFill>
                          <a:latin typeface="Times New Roman"/>
                        </a:rPr>
                        <a:t>    </a:t>
                      </a:r>
                      <a:r>
                        <a:rPr sz="1100" b="0" i="1">
                          <a:solidFill>
                            <a:srgbClr val="000000"/>
                          </a:solidFill>
                          <a:latin typeface="Calibri"/>
                        </a:rPr>
                        <a:t>Seafood</a:t>
                      </a:r>
                      <a:endParaRPr sz="1100"/>
                    </a:p>
                  </a:txBody>
                  <a:tcPr marL="1028700" marR="9525" marT="9525" marB="0" anchor="ctr"/>
                </a:tc>
              </a:tr>
              <a:tr h="175260">
                <a:tc>
                  <a:txBody>
                    <a:bodyPr wrap="square"/>
                    <a:lstStyle/>
                    <a:p>
                      <a:pPr algn="l"/>
                      <a:r>
                        <a:rPr sz="1100" b="0" i="1">
                          <a:solidFill>
                            <a:srgbClr val="000000"/>
                          </a:solidFill>
                          <a:latin typeface="Calibri"/>
                        </a:rPr>
                        <a:t>5.5.1.7.</a:t>
                      </a:r>
                      <a:r>
                        <a:rPr sz="700" b="0" i="1">
                          <a:solidFill>
                            <a:srgbClr val="000000"/>
                          </a:solidFill>
                          <a:latin typeface="Times New Roman"/>
                        </a:rPr>
                        <a:t>    </a:t>
                      </a:r>
                      <a:r>
                        <a:rPr sz="1100" b="0" i="1">
                          <a:solidFill>
                            <a:srgbClr val="000000"/>
                          </a:solidFill>
                          <a:latin typeface="Calibri"/>
                        </a:rPr>
                        <a:t>Snacks &amp; Confectionery</a:t>
                      </a:r>
                      <a:endParaRPr sz="1100"/>
                    </a:p>
                  </a:txBody>
                  <a:tcPr marL="1028700" marR="9525" marT="9525" marB="0" anchor="ctr"/>
                </a:tc>
              </a:tr>
              <a:tr h="175260">
                <a:tc>
                  <a:txBody>
                    <a:bodyPr wrap="square"/>
                    <a:lstStyle/>
                    <a:p>
                      <a:pPr algn="l"/>
                      <a:r>
                        <a:rPr sz="1100" b="0" i="1">
                          <a:solidFill>
                            <a:srgbClr val="000000"/>
                          </a:solidFill>
                          <a:latin typeface="Calibri"/>
                        </a:rPr>
                        <a:t>5.5.1.8.</a:t>
                      </a:r>
                      <a:r>
                        <a:rPr sz="700" b="0" i="1">
                          <a:solidFill>
                            <a:srgbClr val="000000"/>
                          </a:solidFill>
                          <a:latin typeface="Times New Roman"/>
                        </a:rPr>
                        <a:t>    </a:t>
                      </a:r>
                      <a:r>
                        <a:rPr sz="1100" b="0" i="1">
                          <a:solidFill>
                            <a:srgbClr val="000000"/>
                          </a:solidFill>
                          <a:latin typeface="Calibri"/>
                        </a:rPr>
                        <a:t>Beverage Packaging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Retail &amp; Consumer Goods</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Apparel</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Footwear</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Toys</a:t>
                      </a:r>
                      <a:endParaRPr sz="1100"/>
                    </a:p>
                  </a:txBody>
                  <a:tcPr marL="1028700" marR="9525" marT="9525" marB="0" anchor="ctr"/>
                </a:tc>
              </a:tr>
              <a:tr h="175260">
                <a:tc>
                  <a:txBody>
                    <a:bodyPr wrap="square"/>
                    <a:lstStyle/>
                    <a:p>
                      <a:pPr algn="l"/>
                      <a:r>
                        <a:rPr sz="1100" b="0" i="1">
                          <a:solidFill>
                            <a:srgbClr val="000000"/>
                          </a:solidFill>
                          <a:latin typeface="Calibri"/>
                        </a:rPr>
                        <a:t>5.5.2.4.</a:t>
                      </a:r>
                      <a:r>
                        <a:rPr sz="700" b="0" i="1">
                          <a:solidFill>
                            <a:srgbClr val="000000"/>
                          </a:solidFill>
                          <a:latin typeface="Times New Roman"/>
                        </a:rPr>
                        <a:t>    </a:t>
                      </a:r>
                      <a:r>
                        <a:rPr sz="1100" b="0" i="1">
                          <a:solidFill>
                            <a:srgbClr val="000000"/>
                          </a:solidFill>
                          <a:latin typeface="Calibri"/>
                        </a:rPr>
                        <a:t>Home Care</a:t>
                      </a:r>
                      <a:endParaRPr sz="1100"/>
                    </a:p>
                  </a:txBody>
                  <a:tcPr marL="1028700" marR="9525" marT="9525" marB="0" anchor="ctr"/>
                </a:tc>
              </a:tr>
              <a:tr h="175260">
                <a:tc>
                  <a:txBody>
                    <a:bodyPr wrap="square"/>
                    <a:lstStyle/>
                    <a:p>
                      <a:pPr algn="l"/>
                      <a:r>
                        <a:rPr sz="1100" b="0" i="1">
                          <a:solidFill>
                            <a:srgbClr val="000000"/>
                          </a:solidFill>
                          <a:latin typeface="Calibri"/>
                        </a:rPr>
                        <a:t>5.5.2.5.</a:t>
                      </a:r>
                      <a:r>
                        <a:rPr sz="700" b="0" i="1">
                          <a:solidFill>
                            <a:srgbClr val="000000"/>
                          </a:solidFill>
                          <a:latin typeface="Times New Roman"/>
                        </a:rPr>
                        <a:t>    </a:t>
                      </a:r>
                      <a:r>
                        <a:rPr sz="1100" b="0" i="1">
                          <a:solidFill>
                            <a:srgbClr val="000000"/>
                          </a:solidFill>
                          <a:latin typeface="Calibri"/>
                        </a:rPr>
                        <a:t>Household Goods</a:t>
                      </a:r>
                      <a:endParaRPr sz="1100"/>
                    </a:p>
                  </a:txBody>
                  <a:tcPr marL="1028700" marR="9525" marT="9525" marB="0" anchor="ctr"/>
                </a:tc>
              </a:tr>
              <a:tr h="175260">
                <a:tc>
                  <a:txBody>
                    <a:bodyPr wrap="square"/>
                    <a:lstStyle/>
                    <a:p>
                      <a:pPr algn="l"/>
                      <a:r>
                        <a:rPr sz="1100" b="0" i="1">
                          <a:solidFill>
                            <a:srgbClr val="000000"/>
                          </a:solidFill>
                          <a:latin typeface="Calibri"/>
                        </a:rPr>
                        <a:t>5.5.2.6.</a:t>
                      </a:r>
                      <a:r>
                        <a:rPr sz="700" b="0" i="1">
                          <a:solidFill>
                            <a:srgbClr val="000000"/>
                          </a:solidFill>
                          <a:latin typeface="Times New Roman"/>
                        </a:rPr>
                        <a:t>    </a:t>
                      </a:r>
                      <a:r>
                        <a:rPr sz="1100" b="0" i="1">
                          <a:solidFill>
                            <a:srgbClr val="000000"/>
                          </a:solidFill>
                          <a:latin typeface="Calibri"/>
                        </a:rPr>
                        <a:t>Stationery</a:t>
                      </a:r>
                      <a:endParaRPr sz="1100"/>
                    </a:p>
                  </a:txBody>
                  <a:tcPr marL="1028700"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Healthcare</a:t>
                      </a:r>
                      <a:endParaRPr sz="1100"/>
                    </a:p>
                  </a:txBody>
                  <a:tcPr marL="771525" marR="9525" marT="9525" marB="0" anchor="ctr"/>
                </a:tc>
              </a:tr>
              <a:tr h="175260">
                <a:tc>
                  <a:txBody>
                    <a:bodyPr wrap="square"/>
                    <a:lstStyle/>
                    <a:p>
                      <a:pPr algn="l"/>
                      <a:r>
                        <a:rPr sz="1100" b="0" i="1">
                          <a:solidFill>
                            <a:srgbClr val="000000"/>
                          </a:solidFill>
                          <a:latin typeface="Calibri"/>
                        </a:rPr>
                        <a:t>5.5.3.1.</a:t>
                      </a:r>
                      <a:r>
                        <a:rPr sz="700" b="0" i="1">
                          <a:solidFill>
                            <a:srgbClr val="000000"/>
                          </a:solidFill>
                          <a:latin typeface="Times New Roman"/>
                        </a:rPr>
                        <a:t>    </a:t>
                      </a:r>
                      <a:r>
                        <a:rPr sz="1100" b="0" i="1">
                          <a:solidFill>
                            <a:srgbClr val="000000"/>
                          </a:solidFill>
                          <a:latin typeface="Calibri"/>
                        </a:rPr>
                        <a:t>Pharmaceuticals</a:t>
                      </a:r>
                      <a:endParaRPr sz="1100"/>
                    </a:p>
                  </a:txBody>
                  <a:tcPr marL="1028700" marR="9525" marT="9525" marB="0" anchor="ctr"/>
                </a:tc>
              </a:tr>
              <a:tr h="175260">
                <a:tc>
                  <a:txBody>
                    <a:bodyPr wrap="square"/>
                    <a:lstStyle/>
                    <a:p>
                      <a:pPr algn="l"/>
                      <a:r>
                        <a:rPr sz="1100" b="0" i="1">
                          <a:solidFill>
                            <a:srgbClr val="000000"/>
                          </a:solidFill>
                          <a:latin typeface="Calibri"/>
                        </a:rPr>
                        <a:t>5.5.3.2.</a:t>
                      </a:r>
                      <a:r>
                        <a:rPr sz="700" b="0" i="1">
                          <a:solidFill>
                            <a:srgbClr val="000000"/>
                          </a:solidFill>
                          <a:latin typeface="Times New Roman"/>
                        </a:rPr>
                        <a:t>    </a:t>
                      </a:r>
                      <a:r>
                        <a:rPr sz="1100" b="0" i="1">
                          <a:solidFill>
                            <a:srgbClr val="000000"/>
                          </a:solidFill>
                          <a:latin typeface="Calibri"/>
                        </a:rPr>
                        <a:t>Medical Devices</a:t>
                      </a:r>
                      <a:endParaRPr sz="1100"/>
                    </a:p>
                  </a:txBody>
                  <a:tcPr marL="1028700" marR="9525" marT="9525" marB="0" anchor="ctr"/>
                </a:tc>
              </a:tr>
              <a:tr h="175260">
                <a:tc>
                  <a:txBody>
                    <a:bodyPr wrap="square"/>
                    <a:lstStyle/>
                    <a:p>
                      <a:pPr algn="l"/>
                      <a:r>
                        <a:rPr sz="1100" b="0" i="1">
                          <a:solidFill>
                            <a:srgbClr val="000000"/>
                          </a:solidFill>
                          <a:latin typeface="Calibri"/>
                        </a:rPr>
                        <a:t>5.5.3.3.</a:t>
                      </a:r>
                      <a:r>
                        <a:rPr sz="700" b="0" i="1">
                          <a:solidFill>
                            <a:srgbClr val="000000"/>
                          </a:solidFill>
                          <a:latin typeface="Times New Roman"/>
                        </a:rPr>
                        <a:t>    </a:t>
                      </a:r>
                      <a:r>
                        <a:rPr sz="1100" b="0" i="1">
                          <a:solidFill>
                            <a:srgbClr val="000000"/>
                          </a:solidFill>
                          <a:latin typeface="Calibri"/>
                        </a:rPr>
                        <a:t>Surgical Products</a:t>
                      </a:r>
                      <a:endParaRPr sz="1100"/>
                    </a:p>
                  </a:txBody>
                  <a:tcPr marL="1028700" marR="9525" marT="9525" marB="0" anchor="ctr"/>
                </a:tc>
              </a:tr>
              <a:tr h="175260">
                <a:tc>
                  <a:txBody>
                    <a:bodyPr wrap="square"/>
                    <a:lstStyle/>
                    <a:p>
                      <a:pPr algn="l"/>
                      <a:r>
                        <a:rPr sz="1100" b="0" i="1">
                          <a:solidFill>
                            <a:srgbClr val="000000"/>
                          </a:solidFill>
                          <a:latin typeface="Calibri"/>
                        </a:rPr>
                        <a:t>5.5.3.4.</a:t>
                      </a:r>
                      <a:r>
                        <a:rPr sz="700" b="0" i="1">
                          <a:solidFill>
                            <a:srgbClr val="000000"/>
                          </a:solidFill>
                          <a:latin typeface="Times New Roman"/>
                        </a:rPr>
                        <a:t>    </a:t>
                      </a:r>
                      <a:r>
                        <a:rPr sz="1100" b="0" i="1">
                          <a:solidFill>
                            <a:srgbClr val="000000"/>
                          </a:solidFill>
                          <a:latin typeface="Calibri"/>
                        </a:rPr>
                        <a:t>Diagnostic Kits</a:t>
                      </a:r>
                      <a:endParaRPr sz="1100"/>
                    </a:p>
                  </a:txBody>
                  <a:tcPr marL="1028700" marR="9525" marT="9525" marB="0" anchor="ctr"/>
                </a:tc>
              </a:tr>
              <a:tr h="175260">
                <a:tc>
                  <a:txBody>
                    <a:bodyPr wrap="square"/>
                    <a:lstStyle/>
                    <a:p>
                      <a:pPr algn="l"/>
                      <a:r>
                        <a:rPr sz="1100" b="0" i="1">
                          <a:solidFill>
                            <a:srgbClr val="000000"/>
                          </a:solidFill>
                          <a:latin typeface="Calibri"/>
                        </a:rPr>
                        <a:t>5.5.3.5.</a:t>
                      </a:r>
                      <a:r>
                        <a:rPr sz="700" b="0" i="1">
                          <a:solidFill>
                            <a:srgbClr val="000000"/>
                          </a:solidFill>
                          <a:latin typeface="Times New Roman"/>
                        </a:rPr>
                        <a:t>    </a:t>
                      </a:r>
                      <a:r>
                        <a:rPr sz="1100" b="0" i="1">
                          <a:solidFill>
                            <a:srgbClr val="000000"/>
                          </a:solidFill>
                          <a:latin typeface="Calibri"/>
                        </a:rPr>
                        <a:t>Laboratory Supplies</a:t>
                      </a:r>
                      <a:endParaRPr sz="1100"/>
                    </a:p>
                  </a:txBody>
                  <a:tcPr marL="1028700"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E-commerce &amp; Logistics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5.5.4.1.</a:t>
                      </a:r>
                      <a:r>
                        <a:rPr sz="700" b="0" i="1">
                          <a:solidFill>
                            <a:srgbClr val="000000"/>
                          </a:solidFill>
                          <a:latin typeface="Times New Roman"/>
                        </a:rPr>
                        <a:t>    </a:t>
                      </a:r>
                      <a:r>
                        <a:rPr sz="1100" b="0" i="1">
                          <a:solidFill>
                            <a:srgbClr val="000000"/>
                          </a:solidFill>
                          <a:latin typeface="Calibri"/>
                        </a:rPr>
                        <a:t>Courier Packaging</a:t>
                      </a:r>
                      <a:endParaRPr sz="1100"/>
                    </a:p>
                  </a:txBody>
                  <a:tcPr marL="1028700" marR="9525" marT="9525" marB="0" anchor="ctr"/>
                </a:tc>
              </a:tr>
              <a:tr h="175260">
                <a:tc>
                  <a:txBody>
                    <a:bodyPr wrap="square"/>
                    <a:lstStyle/>
                    <a:p>
                      <a:pPr algn="l"/>
                      <a:r>
                        <a:rPr sz="1100" b="0" i="1">
                          <a:solidFill>
                            <a:srgbClr val="000000"/>
                          </a:solidFill>
                          <a:latin typeface="Calibri"/>
                        </a:rPr>
                        <a:t>5.5.4.2.</a:t>
                      </a:r>
                      <a:r>
                        <a:rPr sz="700" b="0" i="1">
                          <a:solidFill>
                            <a:srgbClr val="000000"/>
                          </a:solidFill>
                          <a:latin typeface="Times New Roman"/>
                        </a:rPr>
                        <a:t>    </a:t>
                      </a:r>
                      <a:r>
                        <a:rPr sz="1100" b="0" i="1">
                          <a:solidFill>
                            <a:srgbClr val="000000"/>
                          </a:solidFill>
                          <a:latin typeface="Calibri"/>
                        </a:rPr>
                        <a:t>Fulfillment Centers</a:t>
                      </a:r>
                      <a:endParaRPr sz="1100"/>
                    </a:p>
                  </a:txBody>
                  <a:tcPr marL="1028700" marR="9525" marT="9525" marB="0" anchor="ctr"/>
                </a:tc>
              </a:tr>
              <a:tr h="175260">
                <a:tc>
                  <a:txBody>
                    <a:bodyPr wrap="square"/>
                    <a:lstStyle/>
                    <a:p>
                      <a:pPr algn="l"/>
                      <a:r>
                        <a:rPr sz="1100" b="0" i="1">
                          <a:solidFill>
                            <a:srgbClr val="000000"/>
                          </a:solidFill>
                          <a:latin typeface="Calibri"/>
                        </a:rPr>
                        <a:t>5.5.4.3.</a:t>
                      </a:r>
                      <a:r>
                        <a:rPr sz="700" b="0" i="1">
                          <a:solidFill>
                            <a:srgbClr val="000000"/>
                          </a:solidFill>
                          <a:latin typeface="Times New Roman"/>
                        </a:rPr>
                        <a:t>    </a:t>
                      </a:r>
                      <a:r>
                        <a:rPr sz="1100" b="0" i="1">
                          <a:solidFill>
                            <a:srgbClr val="000000"/>
                          </a:solidFill>
                          <a:latin typeface="Calibri"/>
                        </a:rPr>
                        <a:t>Return Packaging</a:t>
                      </a:r>
                      <a:endParaRPr sz="1100"/>
                    </a:p>
                  </a:txBody>
                  <a:tcPr marL="1028700" marR="9525" marT="9525" marB="0" anchor="ctr"/>
                </a:tc>
              </a:tr>
              <a:tr h="175260">
                <a:tc>
                  <a:txBody>
                    <a:bodyPr wrap="square"/>
                    <a:lstStyle/>
                    <a:p>
                      <a:pPr algn="l"/>
                      <a:r>
                        <a:rPr sz="1100" b="0" i="1">
                          <a:solidFill>
                            <a:srgbClr val="000000"/>
                          </a:solidFill>
                          <a:latin typeface="Calibri"/>
                        </a:rPr>
                        <a:t>5.5.4.4.</a:t>
                      </a:r>
                      <a:r>
                        <a:rPr sz="700" b="0" i="1">
                          <a:solidFill>
                            <a:srgbClr val="000000"/>
                          </a:solidFill>
                          <a:latin typeface="Times New Roman"/>
                        </a:rPr>
                        <a:t>    </a:t>
                      </a:r>
                      <a:r>
                        <a:rPr sz="1100" b="0" i="1">
                          <a:solidFill>
                            <a:srgbClr val="000000"/>
                          </a:solidFill>
                          <a:latin typeface="Calibri"/>
                        </a:rPr>
                        <a:t>Warehouse Packaging</a:t>
                      </a:r>
                      <a:endParaRPr sz="1100"/>
                    </a:p>
                  </a:txBody>
                  <a:tcPr marL="1028700"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Industrial</a:t>
                      </a:r>
                      <a:endParaRPr sz="1100"/>
                    </a:p>
                  </a:txBody>
                  <a:tcPr marL="771525" marR="9525" marT="9525" marB="0" anchor="ctr"/>
                </a:tc>
              </a:tr>
              <a:tr h="175260">
                <a:tc>
                  <a:txBody>
                    <a:bodyPr wrap="square"/>
                    <a:lstStyle/>
                    <a:p>
                      <a:pPr algn="l"/>
                      <a:r>
                        <a:rPr sz="1100" b="0" i="1">
                          <a:solidFill>
                            <a:srgbClr val="000000"/>
                          </a:solidFill>
                          <a:latin typeface="Calibri"/>
                        </a:rPr>
                        <a:t>5.5.5.1.</a:t>
                      </a:r>
                      <a:r>
                        <a:rPr sz="700" b="0" i="1">
                          <a:solidFill>
                            <a:srgbClr val="000000"/>
                          </a:solidFill>
                          <a:latin typeface="Times New Roman"/>
                        </a:rPr>
                        <a:t>    </a:t>
                      </a:r>
                      <a:r>
                        <a:rPr sz="1100" b="0" i="1">
                          <a:solidFill>
                            <a:srgbClr val="000000"/>
                          </a:solidFill>
                          <a:latin typeface="Calibri"/>
                        </a:rPr>
                        <a:t>Automotive Components</a:t>
                      </a:r>
                      <a:endParaRPr sz="1100"/>
                    </a:p>
                  </a:txBody>
                  <a:tcPr marL="1028700" marR="9525" marT="9525" marB="0" anchor="ctr"/>
                </a:tc>
              </a:tr>
              <a:tr h="175260">
                <a:tc>
                  <a:txBody>
                    <a:bodyPr wrap="square"/>
                    <a:lstStyle/>
                    <a:p>
                      <a:pPr algn="l"/>
                      <a:r>
                        <a:rPr sz="1100" b="0" i="1">
                          <a:solidFill>
                            <a:srgbClr val="000000"/>
                          </a:solidFill>
                          <a:latin typeface="Calibri"/>
                        </a:rPr>
                        <a:t>5.5.5.2.</a:t>
                      </a:r>
                      <a:r>
                        <a:rPr sz="700" b="0" i="1">
                          <a:solidFill>
                            <a:srgbClr val="000000"/>
                          </a:solidFill>
                          <a:latin typeface="Times New Roman"/>
                        </a:rPr>
                        <a:t>    </a:t>
                      </a:r>
                      <a:r>
                        <a:rPr sz="1100" b="0" i="1">
                          <a:solidFill>
                            <a:srgbClr val="000000"/>
                          </a:solidFill>
                          <a:latin typeface="Calibri"/>
                        </a:rPr>
                        <a:t>Chemicals</a:t>
                      </a:r>
                      <a:endParaRPr sz="1100"/>
                    </a:p>
                  </a:txBody>
                  <a:tcPr marL="1028700" marR="9525" marT="9525" marB="0" anchor="ctr"/>
                </a:tc>
              </a:tr>
              <a:tr h="175260">
                <a:tc>
                  <a:txBody>
                    <a:bodyPr wrap="square"/>
                    <a:lstStyle/>
                    <a:p>
                      <a:pPr algn="l"/>
                      <a:r>
                        <a:rPr sz="1100" b="0" i="1">
                          <a:solidFill>
                            <a:srgbClr val="000000"/>
                          </a:solidFill>
                          <a:latin typeface="Calibri"/>
                        </a:rPr>
                        <a:t>5.5.5.3.</a:t>
                      </a:r>
                      <a:r>
                        <a:rPr sz="700" b="0" i="1">
                          <a:solidFill>
                            <a:srgbClr val="000000"/>
                          </a:solidFill>
                          <a:latin typeface="Times New Roman"/>
                        </a:rPr>
                        <a:t>    </a:t>
                      </a:r>
                      <a:r>
                        <a:rPr sz="1100" b="0" i="1">
                          <a:solidFill>
                            <a:srgbClr val="000000"/>
                          </a:solidFill>
                          <a:latin typeface="Calibri"/>
                        </a:rPr>
                        <a:t>Machinery Parts</a:t>
                      </a:r>
                      <a:endParaRPr sz="1100"/>
                    </a:p>
                  </a:txBody>
                  <a:tcPr marL="1028700" marR="9525" marT="9525" marB="0" anchor="ctr"/>
                </a:tc>
              </a:tr>
              <a:tr h="175260">
                <a:tc>
                  <a:txBody>
                    <a:bodyPr wrap="square"/>
                    <a:lstStyle/>
                    <a:p>
                      <a:pPr algn="l"/>
                      <a:r>
                        <a:rPr sz="1100" b="0" i="1">
                          <a:solidFill>
                            <a:srgbClr val="000000"/>
                          </a:solidFill>
                          <a:latin typeface="Calibri"/>
                        </a:rPr>
                        <a:t>5.5.5.4.</a:t>
                      </a:r>
                      <a:r>
                        <a:rPr sz="700" b="0" i="1">
                          <a:solidFill>
                            <a:srgbClr val="000000"/>
                          </a:solidFill>
                          <a:latin typeface="Times New Roman"/>
                        </a:rPr>
                        <a:t>    </a:t>
                      </a:r>
                      <a:r>
                        <a:rPr sz="1100" b="0" i="1">
                          <a:solidFill>
                            <a:srgbClr val="000000"/>
                          </a:solidFill>
                          <a:latin typeface="Calibri"/>
                        </a:rPr>
                        <a:t>Hardware</a:t>
                      </a:r>
                      <a:endParaRPr sz="1100"/>
                    </a:p>
                  </a:txBody>
                  <a:tcPr marL="1028700" marR="9525" marT="9525" marB="0" anchor="ctr"/>
                </a:tc>
              </a:tr>
              <a:tr h="175260">
                <a:tc>
                  <a:txBody>
                    <a:bodyPr wrap="square"/>
                    <a:lstStyle/>
                    <a:p>
                      <a:pPr algn="l"/>
                      <a:r>
                        <a:rPr sz="1100" b="0" i="1">
                          <a:solidFill>
                            <a:srgbClr val="000000"/>
                          </a:solidFill>
                          <a:latin typeface="Calibri"/>
                        </a:rPr>
                        <a:t>5.5.5.5.</a:t>
                      </a:r>
                      <a:r>
                        <a:rPr sz="700" b="0" i="1">
                          <a:solidFill>
                            <a:srgbClr val="000000"/>
                          </a:solidFill>
                          <a:latin typeface="Times New Roman"/>
                        </a:rPr>
                        <a:t>    </a:t>
                      </a:r>
                      <a:r>
                        <a:rPr sz="1100" b="0" i="1">
                          <a:solidFill>
                            <a:srgbClr val="000000"/>
                          </a:solidFill>
                          <a:latin typeface="Calibri"/>
                        </a:rPr>
                        <a:t>Electrical Components</a:t>
                      </a:r>
                      <a:endParaRPr sz="1100"/>
                    </a:p>
                  </a:txBody>
                  <a:tcPr marL="1028700"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Agriculture</a:t>
                      </a:r>
                      <a:endParaRPr sz="1100"/>
                    </a:p>
                  </a:txBody>
                  <a:tcPr marL="771525" marR="9525" marT="9525" marB="0" anchor="ctr"/>
                </a:tc>
              </a:tr>
              <a:tr h="175260">
                <a:tc>
                  <a:txBody>
                    <a:bodyPr wrap="square"/>
                    <a:lstStyle/>
                    <a:p>
                      <a:pPr algn="l"/>
                      <a:r>
                        <a:rPr sz="1100" b="0" i="1">
                          <a:solidFill>
                            <a:srgbClr val="000000"/>
                          </a:solidFill>
                          <a:latin typeface="Calibri"/>
                        </a:rPr>
                        <a:t>5.5.6.1.</a:t>
                      </a:r>
                      <a:r>
                        <a:rPr sz="700" b="0" i="1">
                          <a:solidFill>
                            <a:srgbClr val="000000"/>
                          </a:solidFill>
                          <a:latin typeface="Times New Roman"/>
                        </a:rPr>
                        <a:t>    </a:t>
                      </a:r>
                      <a:r>
                        <a:rPr sz="1100" b="0" i="1">
                          <a:solidFill>
                            <a:srgbClr val="000000"/>
                          </a:solidFill>
                          <a:latin typeface="Calibri"/>
                        </a:rPr>
                        <a:t>Seeds</a:t>
                      </a:r>
                      <a:endParaRPr sz="1100"/>
                    </a:p>
                  </a:txBody>
                  <a:tcPr marL="1028700" marR="9525" marT="9525" marB="0" anchor="ctr"/>
                </a:tc>
              </a:tr>
              <a:tr h="175260">
                <a:tc>
                  <a:txBody>
                    <a:bodyPr wrap="square"/>
                    <a:lstStyle/>
                    <a:p>
                      <a:pPr algn="l"/>
                      <a:r>
                        <a:rPr sz="1100" b="0" i="1">
                          <a:solidFill>
                            <a:srgbClr val="000000"/>
                          </a:solidFill>
                          <a:latin typeface="Calibri"/>
                        </a:rPr>
                        <a:t>5.5.6.2.</a:t>
                      </a:r>
                      <a:r>
                        <a:rPr sz="700" b="0" i="1">
                          <a:solidFill>
                            <a:srgbClr val="000000"/>
                          </a:solidFill>
                          <a:latin typeface="Times New Roman"/>
                        </a:rPr>
                        <a:t>    </a:t>
                      </a:r>
                      <a:r>
                        <a:rPr sz="1100" b="0" i="1">
                          <a:solidFill>
                            <a:srgbClr val="000000"/>
                          </a:solidFill>
                          <a:latin typeface="Calibri"/>
                        </a:rPr>
                        <a:t>Fertilizers</a:t>
                      </a:r>
                      <a:endParaRPr sz="1100"/>
                    </a:p>
                  </a:txBody>
                  <a:tcPr marL="1028700" marR="9525" marT="9525" marB="0" anchor="ctr"/>
                </a:tc>
              </a:tr>
              <a:tr h="175260">
                <a:tc>
                  <a:txBody>
                    <a:bodyPr wrap="square"/>
                    <a:lstStyle/>
                    <a:p>
                      <a:pPr algn="l"/>
                      <a:r>
                        <a:rPr sz="1100" b="0" i="1">
                          <a:solidFill>
                            <a:srgbClr val="000000"/>
                          </a:solidFill>
                          <a:latin typeface="Calibri"/>
                        </a:rPr>
                        <a:t>5.5.6.3.</a:t>
                      </a:r>
                      <a:r>
                        <a:rPr sz="700" b="0" i="1">
                          <a:solidFill>
                            <a:srgbClr val="000000"/>
                          </a:solidFill>
                          <a:latin typeface="Times New Roman"/>
                        </a:rPr>
                        <a:t>    </a:t>
                      </a:r>
                      <a:r>
                        <a:rPr sz="1100" b="0" i="1">
                          <a:solidFill>
                            <a:srgbClr val="000000"/>
                          </a:solidFill>
                          <a:latin typeface="Calibri"/>
                        </a:rPr>
                        <a:t>Animal Feed</a:t>
                      </a:r>
                      <a:endParaRPr sz="1100"/>
                    </a:p>
                  </a:txBody>
                  <a:tcPr marL="1028700" marR="9525" marT="9525" marB="0" anchor="ctr"/>
                </a:tc>
              </a:tr>
              <a:tr h="175260">
                <a:tc>
                  <a:txBody>
                    <a:bodyPr wrap="square"/>
                    <a:lstStyle/>
                    <a:p>
                      <a:pPr algn="l"/>
                      <a:r>
                        <a:rPr sz="1100" b="0" i="1">
                          <a:solidFill>
                            <a:srgbClr val="000000"/>
                          </a:solidFill>
                          <a:latin typeface="Calibri"/>
                        </a:rPr>
                        <a:t>5.5.6.4.</a:t>
                      </a:r>
                      <a:r>
                        <a:rPr sz="700" b="0" i="1">
                          <a:solidFill>
                            <a:srgbClr val="000000"/>
                          </a:solidFill>
                          <a:latin typeface="Times New Roman"/>
                        </a:rPr>
                        <a:t>    </a:t>
                      </a:r>
                      <a:r>
                        <a:rPr sz="1100" b="0" i="1">
                          <a:solidFill>
                            <a:srgbClr val="000000"/>
                          </a:solidFill>
                          <a:latin typeface="Calibri"/>
                        </a:rPr>
                        <a:t>Produce Packaging</a:t>
                      </a:r>
                      <a:endParaRPr sz="1100"/>
                    </a:p>
                  </a:txBody>
                  <a:tcPr marL="1028700" marR="9525" marT="9525" marB="0" anchor="ctr"/>
                </a:tc>
              </a:tr>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Electronics</a:t>
                      </a:r>
                      <a:endParaRPr sz="1100"/>
                    </a:p>
                  </a:txBody>
                  <a:tcPr marL="771525" marR="9525" marT="9525" marB="0" anchor="ctr"/>
                </a:tc>
              </a:tr>
              <a:tr h="175260">
                <a:tc>
                  <a:txBody>
                    <a:bodyPr wrap="square"/>
                    <a:lstStyle/>
                    <a:p>
                      <a:pPr algn="l"/>
                      <a:r>
                        <a:rPr sz="1100" b="0" i="1">
                          <a:solidFill>
                            <a:srgbClr val="000000"/>
                          </a:solidFill>
                          <a:latin typeface="Calibri"/>
                        </a:rPr>
                        <a:t>5.5.7.1.</a:t>
                      </a:r>
                      <a:r>
                        <a:rPr sz="700" b="0" i="1">
                          <a:solidFill>
                            <a:srgbClr val="000000"/>
                          </a:solidFill>
                          <a:latin typeface="Times New Roman"/>
                        </a:rPr>
                        <a:t>    </a:t>
                      </a:r>
                      <a:r>
                        <a:rPr sz="1100" b="0" i="1">
                          <a:solidFill>
                            <a:srgbClr val="000000"/>
                          </a:solidFill>
                          <a:latin typeface="Calibri"/>
                        </a:rPr>
                        <a:t>Semiconductors</a:t>
                      </a:r>
                      <a:endParaRPr sz="1100"/>
                    </a:p>
                  </a:txBody>
                  <a:tcPr marL="1028700" marR="9525" marT="9525" marB="0" anchor="ctr"/>
                </a:tc>
              </a:tr>
              <a:tr h="175260">
                <a:tc>
                  <a:txBody>
                    <a:bodyPr wrap="square"/>
                    <a:lstStyle/>
                    <a:p>
                      <a:pPr algn="l"/>
                      <a:r>
                        <a:rPr sz="1100" b="0" i="1">
                          <a:solidFill>
                            <a:srgbClr val="000000"/>
                          </a:solidFill>
                          <a:latin typeface="Calibri"/>
                        </a:rPr>
                        <a:t>5.5.7.2.</a:t>
                      </a:r>
                      <a:r>
                        <a:rPr sz="700" b="0" i="1">
                          <a:solidFill>
                            <a:srgbClr val="000000"/>
                          </a:solidFill>
                          <a:latin typeface="Times New Roman"/>
                        </a:rPr>
                        <a:t>    </a:t>
                      </a:r>
                      <a:r>
                        <a:rPr sz="1100" b="0" i="1">
                          <a:solidFill>
                            <a:srgbClr val="000000"/>
                          </a:solidFill>
                          <a:latin typeface="Calibri"/>
                        </a:rPr>
                        <a:t>Consumer Electronics</a:t>
                      </a:r>
                      <a:endParaRPr sz="1100"/>
                    </a:p>
                  </a:txBody>
                  <a:tcPr marL="1028700" marR="9525" marT="9525" marB="0" anchor="ctr"/>
                </a:tc>
              </a:tr>
              <a:tr h="175260">
                <a:tc>
                  <a:txBody>
                    <a:bodyPr wrap="square"/>
                    <a:lstStyle/>
                    <a:p>
                      <a:pPr algn="l"/>
                      <a:r>
                        <a:rPr sz="1100" b="0" i="1">
                          <a:solidFill>
                            <a:srgbClr val="000000"/>
                          </a:solidFill>
                          <a:latin typeface="Calibri"/>
                        </a:rPr>
                        <a:t>5.5.7.3.</a:t>
                      </a:r>
                      <a:r>
                        <a:rPr sz="700" b="0" i="1">
                          <a:solidFill>
                            <a:srgbClr val="000000"/>
                          </a:solidFill>
                          <a:latin typeface="Times New Roman"/>
                        </a:rPr>
                        <a:t>    </a:t>
                      </a:r>
                      <a:r>
                        <a:rPr sz="1100" b="0" i="1">
                          <a:solidFill>
                            <a:srgbClr val="000000"/>
                          </a:solidFill>
                          <a:latin typeface="Calibri"/>
                        </a:rPr>
                        <a:t>Electronic Components</a:t>
                      </a:r>
                      <a:endParaRPr sz="1100"/>
                    </a:p>
                  </a:txBody>
                  <a:tcPr marL="1028700" marR="9525" marT="9525" marB="0" anchor="ctr"/>
                </a:tc>
              </a:tr>
              <a:tr h="175260">
                <a:tc>
                  <a:txBody>
                    <a:bodyPr wrap="square"/>
                    <a:lstStyle/>
                    <a:p>
                      <a:pPr algn="l"/>
                      <a:r>
                        <a:rPr sz="1100" b="0" i="1">
                          <a:solidFill>
                            <a:srgbClr val="000000"/>
                          </a:solidFill>
                          <a:latin typeface="Calibri"/>
                        </a:rPr>
                        <a:t>5.5.7.4.</a:t>
                      </a:r>
                      <a:r>
                        <a:rPr sz="700" b="0" i="1">
                          <a:solidFill>
                            <a:srgbClr val="000000"/>
                          </a:solidFill>
                          <a:latin typeface="Times New Roman"/>
                        </a:rPr>
                        <a:t>    </a:t>
                      </a:r>
                      <a:r>
                        <a:rPr sz="1100" b="0" i="1">
                          <a:solidFill>
                            <a:srgbClr val="000000"/>
                          </a:solidFill>
                          <a:latin typeface="Calibri"/>
                        </a:rPr>
                        <a:t>PCB Packaging</a:t>
                      </a:r>
                      <a:endParaRPr sz="1100"/>
                    </a:p>
                  </a:txBody>
                  <a:tcPr marL="1028700"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tr>
              <a:tr h="175260">
                <a:tc>
                  <a:txBody>
                    <a:bodyPr wrap="square"/>
                    <a:lstStyle/>
                    <a:p>
                      <a:pPr algn="l"/>
                      <a:r>
                        <a:rPr sz="1100" b="0" i="1">
                          <a:solidFill>
                            <a:srgbClr val="000000"/>
                          </a:solidFill>
                          <a:latin typeface="Calibri"/>
                        </a:rPr>
                        <a:t>5.5.8.1.</a:t>
                      </a:r>
                      <a:r>
                        <a:rPr sz="700" b="0" i="1">
                          <a:solidFill>
                            <a:srgbClr val="000000"/>
                          </a:solidFill>
                          <a:latin typeface="Times New Roman"/>
                        </a:rPr>
                        <a:t>    </a:t>
                      </a:r>
                      <a:r>
                        <a:rPr sz="1100" b="0" i="1">
                          <a:solidFill>
                            <a:srgbClr val="000000"/>
                          </a:solidFill>
                          <a:latin typeface="Calibri"/>
                        </a:rPr>
                        <a:t>Cosmetic Products</a:t>
                      </a:r>
                      <a:endParaRPr sz="1100"/>
                    </a:p>
                  </a:txBody>
                  <a:tcPr marL="1028700" marR="9525" marT="9525" marB="0" anchor="ctr"/>
                </a:tc>
              </a:tr>
              <a:tr h="175260">
                <a:tc>
                  <a:txBody>
                    <a:bodyPr wrap="square"/>
                    <a:lstStyle/>
                    <a:p>
                      <a:pPr algn="l"/>
                      <a:r>
                        <a:rPr sz="1100" b="0" i="1">
                          <a:solidFill>
                            <a:srgbClr val="000000"/>
                          </a:solidFill>
                          <a:latin typeface="Calibri"/>
                        </a:rPr>
                        <a:t>5.5.8.2.</a:t>
                      </a:r>
                      <a:r>
                        <a:rPr sz="700" b="0" i="1">
                          <a:solidFill>
                            <a:srgbClr val="000000"/>
                          </a:solidFill>
                          <a:latin typeface="Times New Roman"/>
                        </a:rPr>
                        <a:t>    </a:t>
                      </a:r>
                      <a:r>
                        <a:rPr sz="1100" b="0" i="1">
                          <a:solidFill>
                            <a:srgbClr val="000000"/>
                          </a:solidFill>
                          <a:latin typeface="Calibri"/>
                        </a:rPr>
                        <a:t>Toiletries</a:t>
                      </a:r>
                      <a:endParaRPr sz="1100"/>
                    </a:p>
                  </a:txBody>
                  <a:tcPr marL="1028700" marR="9525" marT="9525" marB="0" anchor="ctr"/>
                </a:tc>
              </a:tr>
              <a:tr h="175260">
                <a:tc>
                  <a:txBody>
                    <a:bodyPr wrap="square"/>
                    <a:lstStyle/>
                    <a:p>
                      <a:pPr algn="l"/>
                      <a:r>
                        <a:rPr sz="1100" b="0" i="1">
                          <a:solidFill>
                            <a:srgbClr val="000000"/>
                          </a:solidFill>
                          <a:latin typeface="Calibri"/>
                        </a:rPr>
                        <a:t>5.5.8.3.</a:t>
                      </a:r>
                      <a:r>
                        <a:rPr sz="700" b="0" i="1">
                          <a:solidFill>
                            <a:srgbClr val="000000"/>
                          </a:solidFill>
                          <a:latin typeface="Times New Roman"/>
                        </a:rPr>
                        <a:t>    </a:t>
                      </a:r>
                      <a:r>
                        <a:rPr sz="1100" b="0" i="1">
                          <a:solidFill>
                            <a:srgbClr val="000000"/>
                          </a:solidFill>
                          <a:latin typeface="Calibri"/>
                        </a:rPr>
                        <a:t>Beauty Products</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6.5.1.1.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6.5.1.2.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6.5.2.1.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6.5.2.2.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6.5.2.3.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6.5.3.1.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6.5.3.2.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6.5.3.3.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6.5.4.1.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6.5.4.2.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6.5.4.3.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6.5.4.4.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6.5.4.5.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6.5.4.6.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6.5.4.7.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6.5.4.8.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6.5.4.9.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6.5.5.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6.5.5.1.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6.5.5.2.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6.5.5.3.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6.5.5.4.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6.5.5.5.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6.5.5.6.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6.5.5.7.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6.5.5.8.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6.5.5.9.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6.5.5.10.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6.5.5.11.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6.5.5.12.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6.5.6.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6.5.6.1.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6.5.6.2.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6.5.6.3.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6.5.6.4.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6.5.6.5.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6.5.6.6.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6.5.6.7.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35052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Product Type × End-Use Industry</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End-Use Industry × Material</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8.4.1.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8.4.2.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8.4.3.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9.4.1.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9.4.2.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9.4.3.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10.4.1.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10.4.2.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10.4.3.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14.1.1.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14.1.2.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14.1.3.</a:t>
                      </a:r>
                      <a:r>
                        <a:rPr sz="700" b="0" i="0">
                          <a:solidFill>
                            <a:srgbClr val="000000"/>
                          </a:solidFill>
                          <a:latin typeface="Times New Roman"/>
                        </a:rPr>
                        <a:t> </a:t>
                      </a:r>
                      <a:r>
                        <a:rPr sz="1100" b="0" i="0">
                          <a:solidFill>
                            <a:srgbClr val="000000"/>
                          </a:solidFill>
                          <a:latin typeface="Calibri"/>
                        </a:rPr>
                        <a:t>Retail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Segment-wise Price Comparison (Product Type vs Material)</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14.6.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15.1.1.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15.1.2.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15.1.3.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16.1.1.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16.1.2.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16.1.3.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16.2.1.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16.2.2.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16.2.3.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16.6.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16.7.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16.8.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16.9.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Formula Requirements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USDA</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FASSAI</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EU Commissions</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19.3.1.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19.3.2.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19.3.3.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7: Competition Assessment</a:t>
                      </a:r>
                      <a:endParaRPr sz="1100"/>
                    </a:p>
                  </a:txBody>
                  <a:tcPr marL="9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Amcor plc</a:t>
                      </a:r>
                      <a:endParaRPr sz="1100"/>
                    </a:p>
                  </a:txBody>
                  <a:tcPr marL="428625" marR="9525" marT="9525" marB="0" anchor="ctr"/>
                </a:tc>
              </a:tr>
              <a:tr h="175260">
                <a:tc>
                  <a:txBody>
                    <a:bodyPr wrap="square"/>
                    <a:lstStyle/>
                    <a:p>
                      <a:pPr algn="l"/>
                      <a:r>
                        <a:rPr sz="1100" b="0" i="0">
                          <a:solidFill>
                            <a:srgbClr val="000000"/>
                          </a:solidFill>
                          <a:latin typeface="Calibri"/>
                        </a:rPr>
                        <a:t>23.1.1.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23.1.2.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23.1.3.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23.1.4.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23.1.4.1.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23.1.4.2.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23.1.4.3.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23.1.5.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23.1.6.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23.1.6.1.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23.1.6.2.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03098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23.1.6.3.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23.1.6.4.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23.1.7.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23.1.8.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Sealed Air Corporation</a:t>
                      </a:r>
                      <a:endParaRPr sz="1100"/>
                    </a:p>
                  </a:txBody>
                  <a:tcPr marL="428625" marR="9525" marT="9525" marB="0" anchor="ctr"/>
                </a:tc>
              </a:tr>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Inteplast Group</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Novolex</a:t>
                      </a:r>
                      <a:endParaRPr sz="1100"/>
                    </a:p>
                  </a:txBody>
                  <a:tcPr marL="428625" marR="9525" marT="9525" marB="0" anchor="ctr"/>
                </a:tc>
              </a:tr>
              <a:tr h="175260">
                <a:tc>
                  <a:txBody>
                    <a:bodyPr wrap="square"/>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Coveris</a:t>
                      </a:r>
                      <a:endParaRPr sz="1100"/>
                    </a:p>
                  </a:txBody>
                  <a:tcPr marL="428625" marR="9525" marT="9525" marB="0" anchor="ctr"/>
                </a:tc>
              </a:tr>
              <a:tr h="175260">
                <a:tc>
                  <a:txBody>
                    <a:bodyPr wrap="square"/>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Printpack</a:t>
                      </a:r>
                      <a:endParaRPr sz="1100"/>
                    </a:p>
                  </a:txBody>
                  <a:tcPr marL="428625" marR="9525" marT="9525" marB="0" anchor="ctr"/>
                </a:tc>
              </a:tr>
              <a:tr h="175260">
                <a:tc>
                  <a:txBody>
                    <a:bodyPr wrap="square"/>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Winpak Ltd.</a:t>
                      </a:r>
                      <a:endParaRPr sz="1100"/>
                    </a:p>
                  </a:txBody>
                  <a:tcPr marL="428625" marR="9525" marT="9525" marB="0" anchor="ctr"/>
                </a:tc>
              </a:tr>
              <a:tr h="175260">
                <a:tc>
                  <a:txBody>
                    <a:bodyPr wrap="square"/>
                    <a:lstStyle/>
                    <a:p>
                      <a:pPr algn="l"/>
                      <a:r>
                        <a:rPr sz="1100" b="0" i="0">
                          <a:solidFill>
                            <a:srgbClr val="0070C0"/>
                          </a:solidFill>
                          <a:latin typeface="Calibri"/>
                        </a:rPr>
                        <a:t>23.8.</a:t>
                      </a:r>
                      <a:r>
                        <a:rPr sz="700" b="0" i="0">
                          <a:solidFill>
                            <a:srgbClr val="0070C0"/>
                          </a:solidFill>
                          <a:latin typeface="Times New Roman"/>
                        </a:rPr>
                        <a:t>  </a:t>
                      </a:r>
                      <a:r>
                        <a:rPr sz="1100" b="0" i="0">
                          <a:solidFill>
                            <a:srgbClr val="0070C0"/>
                          </a:solidFill>
                          <a:latin typeface="Calibri"/>
                        </a:rPr>
                        <a:t>Huhtamaki</a:t>
                      </a:r>
                      <a:endParaRPr sz="1100"/>
                    </a:p>
                  </a:txBody>
                  <a:tcPr marL="428625" marR="9525" marT="9525" marB="0" anchor="ctr"/>
                </a:tc>
              </a:tr>
              <a:tr h="175260">
                <a:tc>
                  <a:txBody>
                    <a:bodyPr wrap="square"/>
                    <a:lstStyle/>
                    <a:p>
                      <a:pPr algn="l"/>
                      <a:r>
                        <a:rPr sz="1100" b="0" i="0">
                          <a:solidFill>
                            <a:srgbClr val="0070C0"/>
                          </a:solidFill>
                          <a:latin typeface="Calibri"/>
                        </a:rPr>
                        <a:t>23.9.</a:t>
                      </a:r>
                      <a:r>
                        <a:rPr sz="700" b="0" i="0">
                          <a:solidFill>
                            <a:srgbClr val="0070C0"/>
                          </a:solidFill>
                          <a:latin typeface="Times New Roman"/>
                        </a:rPr>
                        <a:t>  </a:t>
                      </a:r>
                      <a:r>
                        <a:rPr sz="1100" b="0" i="0">
                          <a:solidFill>
                            <a:srgbClr val="0070C0"/>
                          </a:solidFill>
                          <a:latin typeface="Calibri"/>
                        </a:rPr>
                        <a:t>Berry Global Group</a:t>
                      </a:r>
                      <a:endParaRPr sz="1100"/>
                    </a:p>
                  </a:txBody>
                  <a:tcPr marL="428625" marR="9525" marT="9525" marB="0" anchor="ctr"/>
                </a:tc>
              </a:tr>
              <a:tr h="175260">
                <a:tc>
                  <a:txBody>
                    <a:bodyPr wrap="square"/>
                    <a:lstStyle/>
                    <a:p>
                      <a:pPr algn="l"/>
                      <a:r>
                        <a:rPr sz="1100" b="0" i="0">
                          <a:solidFill>
                            <a:srgbClr val="0070C0"/>
                          </a:solidFill>
                          <a:latin typeface="Calibri"/>
                        </a:rPr>
                        <a:t>23.10.</a:t>
                      </a:r>
                      <a:r>
                        <a:rPr sz="700" b="0" i="0">
                          <a:solidFill>
                            <a:srgbClr val="0070C0"/>
                          </a:solidFill>
                          <a:latin typeface="Times New Roman"/>
                        </a:rPr>
                        <a:t> </a:t>
                      </a:r>
                      <a:r>
                        <a:rPr sz="1100" b="0" i="0">
                          <a:solidFill>
                            <a:srgbClr val="0070C0"/>
                          </a:solidFill>
                          <a:latin typeface="Calibri"/>
                        </a:rPr>
                        <a:t>Mondi Group</a:t>
                      </a:r>
                      <a:endParaRPr sz="1100"/>
                    </a:p>
                  </a:txBody>
                  <a:tcPr marL="428625" marR="9525" marT="9525" marB="0" anchor="ctr"/>
                </a:tc>
              </a:tr>
              <a:tr h="175260">
                <a:tc>
                  <a:txBody>
                    <a:bodyPr wrap="square"/>
                    <a:lstStyle/>
                    <a:p>
                      <a:pPr algn="l"/>
                      <a:r>
                        <a:rPr sz="1100" b="0" i="0">
                          <a:solidFill>
                            <a:srgbClr val="0070C0"/>
                          </a:solidFill>
                          <a:latin typeface="Calibri"/>
                        </a:rPr>
                        <a:t>23.11.</a:t>
                      </a:r>
                      <a:r>
                        <a:rPr sz="700" b="0" i="0">
                          <a:solidFill>
                            <a:srgbClr val="0070C0"/>
                          </a:solidFill>
                          <a:latin typeface="Times New Roman"/>
                        </a:rPr>
                        <a:t> </a:t>
                      </a:r>
                      <a:r>
                        <a:rPr sz="1100" b="0" i="0">
                          <a:solidFill>
                            <a:srgbClr val="0070C0"/>
                          </a:solidFill>
                          <a:latin typeface="Calibri"/>
                        </a:rPr>
                        <a:t>Pactiv Evergreen</a:t>
                      </a:r>
                      <a:endParaRPr sz="1100"/>
                    </a:p>
                  </a:txBody>
                  <a:tcPr marL="428625" marR="9525" marT="9525" marB="0" anchor="ctr"/>
                </a:tc>
              </a:tr>
              <a:tr h="175260">
                <a:tc>
                  <a:txBody>
                    <a:bodyPr wrap="square"/>
                    <a:lstStyle/>
                    <a:p>
                      <a:pPr algn="l"/>
                      <a:r>
                        <a:rPr sz="1100" b="0" i="0">
                          <a:solidFill>
                            <a:srgbClr val="0070C0"/>
                          </a:solidFill>
                          <a:latin typeface="Calibri"/>
                        </a:rPr>
                        <a:t>23.12.</a:t>
                      </a:r>
                      <a:r>
                        <a:rPr sz="700" b="0" i="0">
                          <a:solidFill>
                            <a:srgbClr val="0070C0"/>
                          </a:solidFill>
                          <a:latin typeface="Times New Roman"/>
                        </a:rPr>
                        <a:t> </a:t>
                      </a:r>
                      <a:r>
                        <a:rPr sz="1100" b="0" i="0">
                          <a:solidFill>
                            <a:srgbClr val="0070C0"/>
                          </a:solidFill>
                          <a:latin typeface="Calibri"/>
                        </a:rPr>
                        <a:t>Sonoco Products Company</a:t>
                      </a:r>
                      <a:endParaRPr sz="1100"/>
                    </a:p>
                  </a:txBody>
                  <a:tcPr marL="428625" marR="9525" marT="9525" marB="0" anchor="ctr"/>
                </a:tc>
              </a:tr>
              <a:tr h="175260">
                <a:tc>
                  <a:txBody>
                    <a:bodyPr wrap="square"/>
                    <a:lstStyle/>
                    <a:p>
                      <a:pPr algn="l"/>
                      <a:r>
                        <a:rPr sz="1100" b="0" i="0">
                          <a:solidFill>
                            <a:srgbClr val="0070C0"/>
                          </a:solidFill>
                          <a:latin typeface="Calibri"/>
                        </a:rPr>
                        <a:t>23.13.</a:t>
                      </a:r>
                      <a:r>
                        <a:rPr sz="700" b="0" i="0">
                          <a:solidFill>
                            <a:srgbClr val="0070C0"/>
                          </a:solidFill>
                          <a:latin typeface="Times New Roman"/>
                        </a:rPr>
                        <a:t> </a:t>
                      </a:r>
                      <a:r>
                        <a:rPr sz="1100" b="0" i="0">
                          <a:solidFill>
                            <a:srgbClr val="0070C0"/>
                          </a:solidFill>
                          <a:latin typeface="Calibri"/>
                        </a:rPr>
                        <a:t>A-Pac Manufacturing Co., Inc.</a:t>
                      </a:r>
                      <a:endParaRPr sz="1100"/>
                    </a:p>
                  </a:txBody>
                  <a:tcPr marL="428625" marR="9525" marT="9525" marB="0" anchor="ctr"/>
                </a:tc>
              </a:tr>
              <a:tr h="175260">
                <a:tc>
                  <a:txBody>
                    <a:bodyPr wrap="square"/>
                    <a:lstStyle/>
                    <a:p>
                      <a:pPr algn="l"/>
                      <a:r>
                        <a:rPr sz="1100" b="0" i="0">
                          <a:solidFill>
                            <a:srgbClr val="0070C0"/>
                          </a:solidFill>
                          <a:latin typeface="Calibri"/>
                        </a:rPr>
                        <a:t>23.14.</a:t>
                      </a:r>
                      <a:r>
                        <a:rPr sz="700" b="0" i="0">
                          <a:solidFill>
                            <a:srgbClr val="0070C0"/>
                          </a:solidFill>
                          <a:latin typeface="Times New Roman"/>
                        </a:rPr>
                        <a:t> </a:t>
                      </a:r>
                      <a:r>
                        <a:rPr sz="1100" b="0" i="0">
                          <a:solidFill>
                            <a:srgbClr val="0070C0"/>
                          </a:solidFill>
                          <a:latin typeface="Calibri"/>
                        </a:rPr>
                        <a:t>PPC Flex</a:t>
                      </a:r>
                      <a:endParaRPr sz="1100"/>
                    </a:p>
                  </a:txBody>
                  <a:tcPr marL="428625" marR="9525" marT="9525" marB="0" anchor="ctr"/>
                </a:tc>
              </a:tr>
              <a:tr h="175260">
                <a:tc>
                  <a:txBody>
                    <a:bodyPr wrap="square"/>
                    <a:lstStyle/>
                    <a:p>
                      <a:pPr algn="l"/>
                      <a:r>
                        <a:rPr sz="1100" b="0" i="0">
                          <a:solidFill>
                            <a:srgbClr val="0070C0"/>
                          </a:solidFill>
                          <a:latin typeface="Calibri"/>
                        </a:rPr>
                        <a:t>23.15.</a:t>
                      </a:r>
                      <a:r>
                        <a:rPr sz="700" b="0" i="0">
                          <a:solidFill>
                            <a:srgbClr val="0070C0"/>
                          </a:solidFill>
                          <a:latin typeface="Times New Roman"/>
                        </a:rPr>
                        <a:t> </a:t>
                      </a:r>
                      <a:r>
                        <a:rPr sz="1100" b="0" i="0">
                          <a:solidFill>
                            <a:srgbClr val="0070C0"/>
                          </a:solidFill>
                          <a:latin typeface="Calibri"/>
                        </a:rPr>
                        <a:t>Arihant Packers</a:t>
                      </a:r>
                      <a:endParaRPr sz="1100"/>
                    </a:p>
                  </a:txBody>
                  <a:tcPr marL="428625" marR="9525" marT="9525" marB="0" anchor="ctr"/>
                </a:tc>
              </a:tr>
              <a:tr h="175260">
                <a:tc>
                  <a:txBody>
                    <a:bodyPr wrap="square"/>
                    <a:lstStyle/>
                    <a:p>
                      <a:pPr algn="l"/>
                      <a:r>
                        <a:rPr sz="1100" b="0" i="0">
                          <a:solidFill>
                            <a:srgbClr val="0070C0"/>
                          </a:solidFill>
                          <a:latin typeface="Calibri"/>
                        </a:rPr>
                        <a:t>23.16.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EE0000"/>
                          </a:solidFill>
                          <a:latin typeface="Calibri"/>
                        </a:rPr>
                        <a:t>ADD SECTIONS AS PER STORY LINE</a:t>
                      </a:r>
                      <a:endParaRPr sz="1100"/>
                    </a:p>
                  </a:txBody>
                  <a:tcPr marL="9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Product Type,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Material Type,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Technology,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End User,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Distribution Channel,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Share by Patient Age Group, %, 2026</a:t>
                      </a:r>
                      <a:endParaRPr sz="1050"/>
                    </a:p>
                  </a:txBody>
                  <a:tcPr marL="9525" marR="9525" marT="9525" marB="0" anchor="ctr"/>
                </a:tc>
              </a:tr>
              <a:tr h="169606">
                <a:tc>
                  <a:txBody>
                    <a:bodyPr wrap="square"/>
                    <a:lstStyle/>
                    <a:p>
                      <a:pPr algn="l"/>
                      <a:r>
                        <a:rPr sz="1050" b="0" i="0">
                          <a:solidFill>
                            <a:srgbClr val="000000"/>
                          </a:solidFill>
                          <a:latin typeface="Calibri"/>
                        </a:rPr>
                        <a:t>Figure 10: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11: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and YoY Growth, Units and %, 2021–2036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Average Selling Price, US$/Units, 2021–2036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Size Evolution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Material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End User,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Patient Age Group,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Share by Product Type, %, 2026 and 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Share by Material Type, %, 2026 and 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Share by Technology, %, 2026 and 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Share by End User, %, 2026 and 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Share by Distribution Channel,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32: Global Market Share by Patient Age Group, %, 2026 and 2036</a:t>
                      </a:r>
                      <a:endParaRPr sz="1050"/>
                    </a:p>
                  </a:txBody>
                  <a:tcPr marL="9525" marR="9525" marT="9525" marB="0" anchor="ctr"/>
                </a:tc>
              </a:tr>
              <a:tr h="169606">
                <a:tc>
                  <a:txBody>
                    <a:bodyPr wrap="square"/>
                    <a:lstStyle/>
                    <a:p>
                      <a:pPr algn="l"/>
                      <a:r>
                        <a:rPr sz="1050" b="0" i="0">
                          <a:solidFill>
                            <a:srgbClr val="000000"/>
                          </a:solidFill>
                          <a:latin typeface="Calibri"/>
                        </a:rPr>
                        <a:t>Figure 33: Global Market Absolute $ Opportunity by Product Type, US$ Mn, 2026–2036</a:t>
                      </a:r>
                      <a:endParaRPr sz="1050"/>
                    </a:p>
                  </a:txBody>
                  <a:tcPr marL="9525" marR="9525" marT="9525" marB="0" anchor="ctr"/>
                </a:tc>
              </a:tr>
              <a:tr h="169606">
                <a:tc>
                  <a:txBody>
                    <a:bodyPr wrap="square"/>
                    <a:lstStyle/>
                    <a:p>
                      <a:pPr algn="l"/>
                      <a:r>
                        <a:rPr sz="1050" b="0" i="0">
                          <a:solidFill>
                            <a:srgbClr val="000000"/>
                          </a:solidFill>
                          <a:latin typeface="Calibri"/>
                        </a:rPr>
                        <a:t>Figure 34: Global Market Absolute $ Opportunity by Material Type, US$ Mn, 2026–2036</a:t>
                      </a:r>
                      <a:endParaRPr sz="1050"/>
                    </a:p>
                  </a:txBody>
                  <a:tcPr marL="9525" marR="9525" marT="9525" marB="0" anchor="ctr"/>
                </a:tc>
              </a:tr>
              <a:tr h="169606">
                <a:tc>
                  <a:txBody>
                    <a:bodyPr wrap="square"/>
                    <a:lstStyle/>
                    <a:p>
                      <a:pPr algn="l"/>
                      <a:r>
                        <a:rPr sz="1050" b="0" i="0">
                          <a:solidFill>
                            <a:srgbClr val="000000"/>
                          </a:solidFill>
                          <a:latin typeface="Calibri"/>
                        </a:rPr>
                        <a:t>Figure 35: Global Market Absolute $ Opportunity by Technology, US$ Mn, 2026–2036</a:t>
                      </a:r>
                      <a:endParaRPr sz="1050"/>
                    </a:p>
                  </a:txBody>
                  <a:tcPr marL="9525" marR="9525" marT="9525" marB="0" anchor="ctr"/>
                </a:tc>
              </a:tr>
              <a:tr h="169606">
                <a:tc>
                  <a:txBody>
                    <a:bodyPr wrap="square"/>
                    <a:lstStyle/>
                    <a:p>
                      <a:pPr algn="l"/>
                      <a:r>
                        <a:rPr sz="1050" b="0" i="0">
                          <a:solidFill>
                            <a:srgbClr val="000000"/>
                          </a:solidFill>
                          <a:latin typeface="Calibri"/>
                        </a:rPr>
                        <a:t>Figure 36: Global Market Absolute $ Opportunity by End User, US$ Mn, 2026–2036</a:t>
                      </a:r>
                      <a:endParaRPr sz="1050"/>
                    </a:p>
                  </a:txBody>
                  <a:tcPr marL="9525" marR="9525" marT="9525" marB="0" anchor="ctr"/>
                </a:tc>
              </a:tr>
              <a:tr h="169606">
                <a:tc>
                  <a:txBody>
                    <a:bodyPr wrap="square"/>
                    <a:lstStyle/>
                    <a:p>
                      <a:pPr algn="l"/>
                      <a:r>
                        <a:rPr sz="1050" b="0" i="0">
                          <a:solidFill>
                            <a:srgbClr val="000000"/>
                          </a:solidFill>
                          <a:latin typeface="Calibri"/>
                        </a:rPr>
                        <a:t>Figure 37: Global Market Absolute $ Opportunity by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Figure 38: Global Market Absolute $ Opportunity by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Figure 39: Global Market BPS Share Change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40: Global Market BPS Share Change by Material Type, 2026–2036</a:t>
                      </a:r>
                      <a:endParaRPr sz="1050"/>
                    </a:p>
                  </a:txBody>
                  <a:tcPr marL="9525" marR="9525" marT="9525" marB="0" anchor="ctr"/>
                </a:tc>
              </a:tr>
              <a:tr h="169606">
                <a:tc>
                  <a:txBody>
                    <a:bodyPr wrap="square"/>
                    <a:lstStyle/>
                    <a:p>
                      <a:pPr algn="l"/>
                      <a:r>
                        <a:rPr sz="1050" b="0" i="0">
                          <a:solidFill>
                            <a:srgbClr val="000000"/>
                          </a:solidFill>
                          <a:latin typeface="Calibri"/>
                        </a:rPr>
                        <a:t>Figure 41: Global Market BPS Share Change by Technology, 2026–2036</a:t>
                      </a:r>
                      <a:endParaRPr sz="1050"/>
                    </a:p>
                  </a:txBody>
                  <a:tcPr marL="9525" marR="9525" marT="9525" marB="0" anchor="ctr"/>
                </a:tc>
              </a:tr>
              <a:tr h="169606">
                <a:tc>
                  <a:txBody>
                    <a:bodyPr wrap="square"/>
                    <a:lstStyle/>
                    <a:p>
                      <a:pPr algn="l"/>
                      <a:r>
                        <a:rPr sz="1050" b="0" i="0">
                          <a:solidFill>
                            <a:srgbClr val="000000"/>
                          </a:solidFill>
                          <a:latin typeface="Calibri"/>
                        </a:rPr>
                        <a:t>Figure 42: Global Market BPS Share Change by End User, 2026–2036</a:t>
                      </a:r>
                      <a:endParaRPr sz="1050"/>
                    </a:p>
                  </a:txBody>
                  <a:tcPr marL="9525" marR="9525" marT="9525" marB="0" anchor="ctr"/>
                </a:tc>
              </a:tr>
              <a:tr h="169606">
                <a:tc>
                  <a:txBody>
                    <a:bodyPr wrap="square"/>
                    <a:lstStyle/>
                    <a:p>
                      <a:pPr algn="l"/>
                      <a:r>
                        <a:rPr sz="1050" b="0" i="0">
                          <a:solidFill>
                            <a:srgbClr val="000000"/>
                          </a:solidFill>
                          <a:latin typeface="Calibri"/>
                        </a:rPr>
                        <a:t>Figure 43: Global Market BPS Share Change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44: Global Market BPS Share Change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Figure 45: Global Market YoY Growth by Product Type, %, 2026–2036</a:t>
                      </a:r>
                      <a:endParaRPr sz="1050"/>
                    </a:p>
                  </a:txBody>
                  <a:tcPr marL="9525" marR="9525" marT="9525" marB="0" anchor="ctr"/>
                </a:tc>
              </a:tr>
              <a:tr h="169606">
                <a:tc>
                  <a:txBody>
                    <a:bodyPr wrap="square"/>
                    <a:lstStyle/>
                    <a:p>
                      <a:pPr algn="l"/>
                      <a:r>
                        <a:rPr sz="1050" b="0" i="0">
                          <a:solidFill>
                            <a:srgbClr val="000000"/>
                          </a:solidFill>
                          <a:latin typeface="Calibri"/>
                        </a:rPr>
                        <a:t>Figure 46: Global Market YoY Growth by Material Type, %, 2026–2036</a:t>
                      </a:r>
                      <a:endParaRPr sz="1050"/>
                    </a:p>
                  </a:txBody>
                  <a:tcPr marL="9525" marR="9525" marT="9525" marB="0" anchor="ctr"/>
                </a:tc>
              </a:tr>
              <a:tr h="169606">
                <a:tc>
                  <a:txBody>
                    <a:bodyPr wrap="square"/>
                    <a:lstStyle/>
                    <a:p>
                      <a:pPr algn="l"/>
                      <a:r>
                        <a:rPr sz="1050" b="0" i="0">
                          <a:solidFill>
                            <a:srgbClr val="000000"/>
                          </a:solidFill>
                          <a:latin typeface="Calibri"/>
                        </a:rPr>
                        <a:t>Figure 47: Global Market YoY Growth by Technology, %, 2026–2036</a:t>
                      </a:r>
                      <a:endParaRPr sz="1050"/>
                    </a:p>
                  </a:txBody>
                  <a:tcPr marL="9525" marR="9525" marT="9525" marB="0" anchor="ctr"/>
                </a:tc>
              </a:tr>
              <a:tr h="169606">
                <a:tc>
                  <a:txBody>
                    <a:bodyPr wrap="square"/>
                    <a:lstStyle/>
                    <a:p>
                      <a:pPr algn="l"/>
                      <a:r>
                        <a:rPr sz="1050" b="0" i="0">
                          <a:solidFill>
                            <a:srgbClr val="000000"/>
                          </a:solidFill>
                          <a:latin typeface="Calibri"/>
                        </a:rPr>
                        <a:t>Figure 48: Global Market YoY Growth by End User, %, 2026–2036</a:t>
                      </a:r>
                      <a:endParaRPr sz="1050"/>
                    </a:p>
                  </a:txBody>
                  <a:tcPr marL="9525" marR="9525" marT="9525" marB="0" anchor="ctr"/>
                </a:tc>
              </a:tr>
              <a:tr h="169606">
                <a:tc>
                  <a:txBody>
                    <a:bodyPr wrap="square"/>
                    <a:lstStyle/>
                    <a:p>
                      <a:pPr algn="l"/>
                      <a:r>
                        <a:rPr sz="1050" b="0" i="0">
                          <a:solidFill>
                            <a:srgbClr val="000000"/>
                          </a:solidFill>
                          <a:latin typeface="Calibri"/>
                        </a:rPr>
                        <a:t>Figure 49: Global Market YoY Growth by Distribution Channel, %, 2026–2036</a:t>
                      </a:r>
                      <a:endParaRPr sz="1050"/>
                    </a:p>
                  </a:txBody>
                  <a:tcPr marL="9525" marR="9525" marT="9525" marB="0" anchor="ctr"/>
                </a:tc>
              </a:tr>
              <a:tr h="169606">
                <a:tc>
                  <a:txBody>
                    <a:bodyPr wrap="square"/>
                    <a:lstStyle/>
                    <a:p>
                      <a:pPr algn="l"/>
                      <a:r>
                        <a:rPr sz="1050" b="0" i="0">
                          <a:solidFill>
                            <a:srgbClr val="000000"/>
                          </a:solidFill>
                          <a:latin typeface="Calibri"/>
                        </a:rPr>
                        <a:t>Figure 50: Global Market YoY Growth by Patient Age Group, %, 2026–2036</a:t>
                      </a:r>
                      <a:endParaRPr sz="1050"/>
                    </a:p>
                  </a:txBody>
                  <a:tcPr marL="9525" marR="9525" marT="9525" marB="0" anchor="ctr"/>
                </a:tc>
              </a:tr>
              <a:tr h="169606">
                <a:tc>
                  <a:txBody>
                    <a:bodyPr wrap="square"/>
                    <a:lstStyle/>
                    <a:p>
                      <a:pPr algn="l"/>
                      <a:r>
                        <a:rPr sz="1050" b="0" i="0">
                          <a:solidFill>
                            <a:srgbClr val="000000"/>
                          </a:solidFill>
                          <a:latin typeface="Calibri"/>
                        </a:rPr>
                        <a:t>Figure 51: Global Market Attractiveness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52: Global Market Attractiveness by Material Type, 2026–2036</a:t>
                      </a:r>
                      <a:endParaRPr sz="1050"/>
                    </a:p>
                  </a:txBody>
                  <a:tcPr marL="9525" marR="9525" marT="9525" marB="0" anchor="ctr"/>
                </a:tc>
              </a:tr>
              <a:tr h="169606">
                <a:tc>
                  <a:txBody>
                    <a:bodyPr wrap="square"/>
                    <a:lstStyle/>
                    <a:p>
                      <a:pPr algn="l"/>
                      <a:r>
                        <a:rPr sz="1050" b="0" i="0">
                          <a:solidFill>
                            <a:srgbClr val="000000"/>
                          </a:solidFill>
                          <a:latin typeface="Calibri"/>
                        </a:rPr>
                        <a:t>Figure 53: Global Market Attractiveness by Technology, 2026–2036</a:t>
                      </a:r>
                      <a:endParaRPr sz="1050"/>
                    </a:p>
                  </a:txBody>
                  <a:tcPr marL="9525" marR="9525" marT="9525" marB="0" anchor="ctr"/>
                </a:tc>
              </a:tr>
              <a:tr h="169606">
                <a:tc>
                  <a:txBody>
                    <a:bodyPr wrap="square"/>
                    <a:lstStyle/>
                    <a:p>
                      <a:pPr algn="l"/>
                      <a:r>
                        <a:rPr sz="1050" b="0" i="0">
                          <a:solidFill>
                            <a:srgbClr val="000000"/>
                          </a:solidFill>
                          <a:latin typeface="Calibri"/>
                        </a:rPr>
                        <a:t>Figure 54: Global Market Attractiveness by End User, 2026–2036</a:t>
                      </a:r>
                      <a:endParaRPr sz="1050"/>
                    </a:p>
                  </a:txBody>
                  <a:tcPr marL="9525" marR="9525" marT="9525" marB="0" anchor="ctr"/>
                </a:tc>
              </a:tr>
              <a:tr h="169606">
                <a:tc>
                  <a:txBody>
                    <a:bodyPr wrap="square"/>
                    <a:lstStyle/>
                    <a:p>
                      <a:pPr algn="l"/>
                      <a:r>
                        <a:rPr sz="1050" b="0" i="0">
                          <a:solidFill>
                            <a:srgbClr val="000000"/>
                          </a:solidFill>
                          <a:latin typeface="Calibri"/>
                        </a:rPr>
                        <a:t>Figure 55: Global Market Attractiveness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56: Global Market Attractiveness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Figure 57: Global Market Volume by Product Type, Units, 2021–2036</a:t>
                      </a:r>
                      <a:endParaRPr sz="1050"/>
                    </a:p>
                  </a:txBody>
                  <a:tcPr marL="9525" marR="9525" marT="9525" marB="0" anchor="ctr"/>
                </a:tc>
              </a:tr>
              <a:tr h="169606">
                <a:tc>
                  <a:txBody>
                    <a:bodyPr wrap="square"/>
                    <a:lstStyle/>
                    <a:p>
                      <a:pPr algn="l"/>
                      <a:r>
                        <a:rPr sz="1050" b="0" i="0">
                          <a:solidFill>
                            <a:srgbClr val="000000"/>
                          </a:solidFill>
                          <a:latin typeface="Calibri"/>
                        </a:rPr>
                        <a:t>Figure 58: Global Market Volume by Material Type, Units, 2021–2036</a:t>
                      </a:r>
                      <a:endParaRPr sz="1050"/>
                    </a:p>
                  </a:txBody>
                  <a:tcPr marL="9525" marR="9525" marT="9525" marB="0" anchor="ctr"/>
                </a:tc>
              </a:tr>
              <a:tr h="169606">
                <a:tc>
                  <a:txBody>
                    <a:bodyPr wrap="square"/>
                    <a:lstStyle/>
                    <a:p>
                      <a:pPr algn="l"/>
                      <a:r>
                        <a:rPr sz="1050" b="0" i="0">
                          <a:solidFill>
                            <a:srgbClr val="000000"/>
                          </a:solidFill>
                          <a:latin typeface="Calibri"/>
                        </a:rPr>
                        <a:t>Figure 59: Global Market Volume by Technology, Units, 2021–2036</a:t>
                      </a:r>
                      <a:endParaRPr sz="1050"/>
                    </a:p>
                  </a:txBody>
                  <a:tcPr marL="9525" marR="9525" marT="9525" marB="0" anchor="ctr"/>
                </a:tc>
              </a:tr>
              <a:tr h="169606">
                <a:tc>
                  <a:txBody>
                    <a:bodyPr wrap="square"/>
                    <a:lstStyle/>
                    <a:p>
                      <a:pPr algn="l"/>
                      <a:r>
                        <a:rPr sz="1050" b="0" i="0">
                          <a:solidFill>
                            <a:srgbClr val="000000"/>
                          </a:solidFill>
                          <a:latin typeface="Calibri"/>
                        </a:rPr>
                        <a:t>Figure 60: Global Market Volume by End User, Units, 2021–2036</a:t>
                      </a:r>
                      <a:endParaRPr sz="1050"/>
                    </a:p>
                  </a:txBody>
                  <a:tcPr marL="9525" marR="9525" marT="9525" marB="0" anchor="ctr"/>
                </a:tc>
              </a:tr>
              <a:tr h="169606">
                <a:tc>
                  <a:txBody>
                    <a:bodyPr wrap="square"/>
                    <a:lstStyle/>
                    <a:p>
                      <a:pPr algn="l"/>
                      <a:r>
                        <a:rPr sz="1050" b="0" i="0">
                          <a:solidFill>
                            <a:srgbClr val="000000"/>
                          </a:solidFill>
                          <a:latin typeface="Calibri"/>
                        </a:rPr>
                        <a:t>Figure 61: Global Market Volume by Distribution Channel, Units, 2021–2036</a:t>
                      </a:r>
                      <a:endParaRPr sz="1050"/>
                    </a:p>
                  </a:txBody>
                  <a:tcPr marL="9525" marR="9525" marT="9525" marB="0" anchor="ctr"/>
                </a:tc>
              </a:tr>
              <a:tr h="169606">
                <a:tc>
                  <a:txBody>
                    <a:bodyPr wrap="square"/>
                    <a:lstStyle/>
                    <a:p>
                      <a:pPr algn="l"/>
                      <a:r>
                        <a:rPr sz="1050" b="0" i="0">
                          <a:solidFill>
                            <a:srgbClr val="000000"/>
                          </a:solidFill>
                          <a:latin typeface="Calibri"/>
                        </a:rPr>
                        <a:t>Figure 62: Global Market Volume by Patient Age Group, Units,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63: Global Market Average Selling Price by Product Type, US$/Units, 2021–2036</a:t>
                      </a:r>
                      <a:endParaRPr sz="1050"/>
                    </a:p>
                  </a:txBody>
                  <a:tcPr marL="9525" marR="9525" marT="9525" marB="0" anchor="ctr"/>
                </a:tc>
              </a:tr>
              <a:tr h="169606">
                <a:tc>
                  <a:txBody>
                    <a:bodyPr wrap="square"/>
                    <a:lstStyle/>
                    <a:p>
                      <a:pPr algn="l"/>
                      <a:r>
                        <a:rPr sz="1050" b="0" i="0">
                          <a:solidFill>
                            <a:srgbClr val="000000"/>
                          </a:solidFill>
                          <a:latin typeface="Calibri"/>
                        </a:rPr>
                        <a:t>Figure 64: Global Market Average Selling Price by Material Type, US$/Units, 2021–2036</a:t>
                      </a:r>
                      <a:endParaRPr sz="1050"/>
                    </a:p>
                  </a:txBody>
                  <a:tcPr marL="9525" marR="9525" marT="9525" marB="0" anchor="ctr"/>
                </a:tc>
              </a:tr>
              <a:tr h="169606">
                <a:tc>
                  <a:txBody>
                    <a:bodyPr wrap="square"/>
                    <a:lstStyle/>
                    <a:p>
                      <a:pPr algn="l"/>
                      <a:r>
                        <a:rPr sz="1050" b="0" i="0">
                          <a:solidFill>
                            <a:srgbClr val="000000"/>
                          </a:solidFill>
                          <a:latin typeface="Calibri"/>
                        </a:rPr>
                        <a:t>Figure 65: Product Type × Material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66: Product Type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67: Product Type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68: Product Type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69: Product Type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70: Material Type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71: Material Type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72: Material Type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73: Material Type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74: Technology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75: Technology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76: Technology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77: End User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78: End User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79: Distribution Channel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80: Region × Product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81: Region × Material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82: Region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83: Region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84: Region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85: Region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86: Global Market Value by Region, US$ Mn, 2021–2036</a:t>
                      </a:r>
                      <a:endParaRPr sz="1050"/>
                    </a:p>
                  </a:txBody>
                  <a:tcPr marL="9525" marR="9525" marT="9525" marB="0" anchor="ctr"/>
                </a:tc>
              </a:tr>
              <a:tr h="169606">
                <a:tc>
                  <a:txBody>
                    <a:bodyPr wrap="square"/>
                    <a:lstStyle/>
                    <a:p>
                      <a:pPr algn="l"/>
                      <a:r>
                        <a:rPr sz="1050" b="0" i="0">
                          <a:solidFill>
                            <a:srgbClr val="000000"/>
                          </a:solidFill>
                          <a:latin typeface="Calibri"/>
                        </a:rPr>
                        <a:t>Figure 87: Global Market Share by Region, %, 2026 and 2036</a:t>
                      </a:r>
                      <a:endParaRPr sz="1050"/>
                    </a:p>
                  </a:txBody>
                  <a:tcPr marL="9525" marR="9525" marT="9525" marB="0" anchor="ctr"/>
                </a:tc>
              </a:tr>
              <a:tr h="169606">
                <a:tc>
                  <a:txBody>
                    <a:bodyPr wrap="square"/>
                    <a:lstStyle/>
                    <a:p>
                      <a:pPr algn="l"/>
                      <a:r>
                        <a:rPr sz="1050" b="0" i="0">
                          <a:solidFill>
                            <a:srgbClr val="000000"/>
                          </a:solidFill>
                          <a:latin typeface="Calibri"/>
                        </a:rPr>
                        <a:t>Figure 88: Global Market CAGR by Region, %, 2026–2036</a:t>
                      </a:r>
                      <a:endParaRPr sz="1050"/>
                    </a:p>
                  </a:txBody>
                  <a:tcPr marL="9525" marR="9525" marT="9525" marB="0" anchor="ctr"/>
                </a:tc>
              </a:tr>
              <a:tr h="169606">
                <a:tc>
                  <a:txBody>
                    <a:bodyPr wrap="square"/>
                    <a:lstStyle/>
                    <a:p>
                      <a:pPr algn="l"/>
                      <a:r>
                        <a:rPr sz="1050" b="0" i="0">
                          <a:solidFill>
                            <a:srgbClr val="000000"/>
                          </a:solidFill>
                          <a:latin typeface="Calibri"/>
                        </a:rPr>
                        <a:t>Figure 89: Global Market Absolute $ Opportunity by Region, US$ Mn, 2026–2036</a:t>
                      </a:r>
                      <a:endParaRPr sz="1050"/>
                    </a:p>
                  </a:txBody>
                  <a:tcPr marL="9525" marR="9525" marT="9525" marB="0" anchor="ctr"/>
                </a:tc>
              </a:tr>
              <a:tr h="169606">
                <a:tc>
                  <a:txBody>
                    <a:bodyPr wrap="square"/>
                    <a:lstStyle/>
                    <a:p>
                      <a:pPr algn="l"/>
                      <a:r>
                        <a:rPr sz="1050" b="0" i="0">
                          <a:solidFill>
                            <a:srgbClr val="000000"/>
                          </a:solidFill>
                          <a:latin typeface="Calibri"/>
                        </a:rPr>
                        <a:t>Figure 90: Global Market Attractiveness by Region, 2026–2036</a:t>
                      </a:r>
                      <a:endParaRPr sz="1050"/>
                    </a:p>
                  </a:txBody>
                  <a:tcPr marL="9525" marR="9525" marT="9525" marB="0" anchor="ctr"/>
                </a:tc>
              </a:tr>
              <a:tr h="169606">
                <a:tc>
                  <a:txBody>
                    <a:bodyPr wrap="square"/>
                    <a:lstStyle/>
                    <a:p>
                      <a:pPr algn="l"/>
                      <a:r>
                        <a:rPr sz="1050" b="0" i="0">
                          <a:solidFill>
                            <a:srgbClr val="000000"/>
                          </a:solidFill>
                          <a:latin typeface="Calibri"/>
                        </a:rPr>
                        <a:t>Figure 91: Global Market BPS Share Change by Region, 2026–2036</a:t>
                      </a:r>
                      <a:endParaRPr sz="1050"/>
                    </a:p>
                  </a:txBody>
                  <a:tcPr marL="9525" marR="9525" marT="9525" marB="0" anchor="ctr"/>
                </a:tc>
              </a:tr>
              <a:tr h="169606">
                <a:tc>
                  <a:txBody>
                    <a:bodyPr wrap="square"/>
                    <a:lstStyle/>
                    <a:p>
                      <a:pPr algn="l"/>
                      <a:r>
                        <a:rPr sz="1050" b="0" i="0">
                          <a:solidFill>
                            <a:srgbClr val="000000"/>
                          </a:solidFill>
                          <a:latin typeface="Calibri"/>
                        </a:rPr>
                        <a:t>Figure 92: North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93: Latin America Market Value and YoY Growth,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94: Europe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95: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96: South Asia &amp; Pacific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97: Middle East &amp; Africa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98: North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99: Latin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100: Europe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101: East Asia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102: South Asia &amp; Pacific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103: Middle East &amp; Africa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104: North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105: Latin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106: Europe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107: East Asia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108: South Asia &amp; Pacific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109: Middle East &amp; Africa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110: North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111: Latin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112: Europe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113: East Asia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114: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115: U.S.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116: U.S. Market Value by End User,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117: U.S.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118: U.S. Market Value by Material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119: U.S.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120: U.S.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121: U.S.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122: Germany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123: Germany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124: Germany Market Value by End User, US$ Mn,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125: Germany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126: Germany Market Value by Material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127: Germany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128: Germany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129: Germany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130: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131: Canada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132: Canada Market Value by End User,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133: Canada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134: Canada Market Value by Material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135: Canada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Canada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137: Canada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138: China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139: China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141: India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143: Brazil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144: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145: U.K.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146: Japan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147: Japan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148: France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149: France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150: Global Market Average Selling Price Trend, US$/Units, 2021–2036</a:t>
                      </a:r>
                      <a:endParaRPr sz="1050"/>
                    </a:p>
                  </a:txBody>
                  <a:tcPr marL="9525" marR="9525" marT="9525" marB="0" anchor="ctr"/>
                </a:tc>
              </a:tr>
              <a:tr h="169606">
                <a:tc>
                  <a:txBody>
                    <a:bodyPr wrap="square"/>
                    <a:lstStyle/>
                    <a:p>
                      <a:pPr algn="l"/>
                      <a:r>
                        <a:rPr sz="1050" b="0" i="0">
                          <a:solidFill>
                            <a:srgbClr val="000000"/>
                          </a:solidFill>
                          <a:latin typeface="Calibri"/>
                        </a:rPr>
                        <a:t>Figure 151: Global Market Average Selling Price by Region,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152: Global Market Average Selling Price by Product Type,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153: Global Market Average Selling Price by Material Type,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154: Global Market Average Selling Price by Technology,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155: Global Market Average Selling Price by End User, US$/Units,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156: Global Market Average Selling Price by Distribution Channel,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157: Global Market Average Selling Price by Patient Age Group,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158: Global Market Value Chain Structure, 2026</a:t>
                      </a:r>
                      <a:endParaRPr sz="1050"/>
                    </a:p>
                  </a:txBody>
                  <a:tcPr marL="9525" marR="9525" marT="9525" marB="0" anchor="ctr"/>
                </a:tc>
              </a:tr>
              <a:tr h="169606">
                <a:tc>
                  <a:txBody>
                    <a:bodyPr wrap="square"/>
                    <a:lstStyle/>
                    <a:p>
                      <a:pPr algn="l"/>
                      <a:r>
                        <a:rPr sz="1050" b="0" i="0">
                          <a:solidFill>
                            <a:srgbClr val="000000"/>
                          </a:solidFill>
                          <a:latin typeface="Calibri"/>
                        </a:rPr>
                        <a:t>Figure 159: Global Market Margin Distribution across the Value Chain, %, 2026</a:t>
                      </a:r>
                      <a:endParaRPr sz="1050"/>
                    </a:p>
                  </a:txBody>
                  <a:tcPr marL="9525" marR="9525" marT="9525" marB="0" anchor="ctr"/>
                </a:tc>
              </a:tr>
              <a:tr h="169606">
                <a:tc>
                  <a:txBody>
                    <a:bodyPr wrap="square"/>
                    <a:lstStyle/>
                    <a:p>
                      <a:pPr algn="l"/>
                      <a:r>
                        <a:rPr sz="1050" b="0" i="0">
                          <a:solidFill>
                            <a:srgbClr val="000000"/>
                          </a:solidFill>
                          <a:latin typeface="Calibri"/>
                        </a:rPr>
                        <a:t>Figure 160: Global Market Cost Structure Breakdown, %, 2026</a:t>
                      </a:r>
                      <a:endParaRPr sz="1050"/>
                    </a:p>
                  </a:txBody>
                  <a:tcPr marL="9525" marR="9525" marT="9525" marB="0" anchor="ctr"/>
                </a:tc>
              </a:tr>
              <a:tr h="169606">
                <a:tc>
                  <a:txBody>
                    <a:bodyPr wrap="square"/>
                    <a:lstStyle/>
                    <a:p>
                      <a:pPr algn="l"/>
                      <a:r>
                        <a:rPr sz="1050" b="0" i="0">
                          <a:solidFill>
                            <a:srgbClr val="000000"/>
                          </a:solidFill>
                          <a:latin typeface="Calibri"/>
                        </a:rPr>
                        <a:t>Figure 161: Global Market Pricing Pressure Assessment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162: Global Market Import and Export Share by Region, %, 2025</a:t>
                      </a:r>
                      <a:endParaRPr sz="1050"/>
                    </a:p>
                  </a:txBody>
                  <a:tcPr marL="9525" marR="9525" marT="9525" marB="0" anchor="ctr"/>
                </a:tc>
              </a:tr>
              <a:tr h="169606">
                <a:tc>
                  <a:txBody>
                    <a:bodyPr wrap="square"/>
                    <a:lstStyle/>
                    <a:p>
                      <a:pPr algn="l"/>
                      <a:r>
                        <a:rPr sz="1050" b="0" i="0">
                          <a:solidFill>
                            <a:srgbClr val="000000"/>
                          </a:solidFill>
                          <a:latin typeface="Calibri"/>
                        </a:rPr>
                        <a:t>Figure 163: Global Market Trade Balance by Leading Country, US$ Mn, 2025</a:t>
                      </a:r>
                      <a:endParaRPr sz="1050"/>
                    </a:p>
                  </a:txBody>
                  <a:tcPr marL="9525" marR="9525" marT="9525" marB="0" anchor="ctr"/>
                </a:tc>
              </a:tr>
              <a:tr h="169606">
                <a:tc>
                  <a:txBody>
                    <a:bodyPr wrap="square"/>
                    <a:lstStyle/>
                    <a:p>
                      <a:pPr algn="l"/>
                      <a:r>
                        <a:rPr sz="1050" b="0" i="0">
                          <a:solidFill>
                            <a:srgbClr val="000000"/>
                          </a:solidFill>
                          <a:latin typeface="Calibri"/>
                        </a:rPr>
                        <a:t>Figure 164: Company Market Share in the Global Market, %, 2026</a:t>
                      </a:r>
                      <a:endParaRPr sz="1050"/>
                    </a:p>
                  </a:txBody>
                  <a:tcPr marL="9525" marR="9525" marT="9525" marB="0" anchor="ctr"/>
                </a:tc>
              </a:tr>
              <a:tr h="169606">
                <a:tc>
                  <a:txBody>
                    <a:bodyPr wrap="square"/>
                    <a:lstStyle/>
                    <a:p>
                      <a:pPr algn="l"/>
                      <a:r>
                        <a:rPr sz="1050" b="0" i="0">
                          <a:solidFill>
                            <a:srgbClr val="000000"/>
                          </a:solidFill>
                          <a:latin typeface="Calibri"/>
                        </a:rPr>
                        <a:t>Figure 165: Competitive Positioning of Leading Removable Partial Dentures Manufacturers, 2026</a:t>
                      </a:r>
                      <a:endParaRPr sz="1050"/>
                    </a:p>
                  </a:txBody>
                  <a:tcPr marL="9525" marR="9525" marT="9525" marB="0" anchor="ctr"/>
                </a:tc>
              </a:tr>
              <a:tr h="169606">
                <a:tc>
                  <a:txBody>
                    <a:bodyPr wrap="square"/>
                    <a:lstStyle/>
                    <a:p>
                      <a:pPr algn="l"/>
                      <a:r>
                        <a:rPr sz="1050" b="0" i="0">
                          <a:solidFill>
                            <a:srgbClr val="000000"/>
                          </a:solidFill>
                          <a:latin typeface="Calibri"/>
                        </a:rPr>
                        <a:t>Figure 166: Company Revenue from the Global Market, US$ Mn, 2026</a:t>
                      </a:r>
                      <a:endParaRPr sz="1050"/>
                    </a:p>
                  </a:txBody>
                  <a:tcPr marL="9525" marR="9525" marT="9525" marB="0" anchor="ctr"/>
                </a:tc>
              </a:tr>
              <a:tr h="169606">
                <a:tc>
                  <a:txBody>
                    <a:bodyPr wrap="square"/>
                    <a:lstStyle/>
                    <a:p>
                      <a:pPr algn="l"/>
                      <a:r>
                        <a:rPr sz="1050" b="0" i="0">
                          <a:solidFill>
                            <a:srgbClr val="000000"/>
                          </a:solidFill>
                          <a:latin typeface="Calibri"/>
                        </a:rPr>
                        <a:t>Figure 167: Global Market Concentration by Company Tier, %, 2026</a:t>
                      </a:r>
                      <a:endParaRPr sz="1050"/>
                    </a:p>
                  </a:txBody>
                  <a:tcPr marL="9525" marR="9525" marT="9525" marB="0" anchor="ctr"/>
                </a:tc>
              </a:tr>
              <a:tr h="169606">
                <a:tc>
                  <a:txBody>
                    <a:bodyPr wrap="square"/>
                    <a:lstStyle/>
                    <a:p>
                      <a:pPr algn="l"/>
                      <a:r>
                        <a:rPr sz="1050" b="0" i="0">
                          <a:solidFill>
                            <a:srgbClr val="000000"/>
                          </a:solidFill>
                          <a:latin typeface="Calibri"/>
                        </a:rPr>
                        <a:t>Figure 168: Global Market Competitive Intensity Assessment, 2026</a:t>
                      </a:r>
                      <a:endParaRPr sz="1050"/>
                    </a:p>
                  </a:txBody>
                  <a:tcPr marL="9525" marR="9525" marT="9525" marB="0" anchor="ctr"/>
                </a:tc>
              </a:tr>
              <a:tr h="169606">
                <a:tc>
                  <a:txBody>
                    <a:bodyPr wrap="square"/>
                    <a:lstStyle/>
                    <a:p>
                      <a:pPr algn="l"/>
                      <a:r>
                        <a:rPr sz="1050" b="0" i="0">
                          <a:solidFill>
                            <a:srgbClr val="000000"/>
                          </a:solidFill>
                          <a:latin typeface="Calibri"/>
                        </a:rPr>
                        <a:t>Figure 169: Company Market Share in the North America Market, %, 2026</a:t>
                      </a:r>
                      <a:endParaRPr sz="1050"/>
                    </a:p>
                  </a:txBody>
                  <a:tcPr marL="9525" marR="9525" marT="9525" marB="0" anchor="ctr"/>
                </a:tc>
              </a:tr>
              <a:tr h="169606">
                <a:tc>
                  <a:txBody>
                    <a:bodyPr wrap="square"/>
                    <a:lstStyle/>
                    <a:p>
                      <a:pPr algn="l"/>
                      <a:r>
                        <a:rPr sz="1050" b="0" i="0">
                          <a:solidFill>
                            <a:srgbClr val="000000"/>
                          </a:solidFill>
                          <a:latin typeface="Calibri"/>
                        </a:rPr>
                        <a:t>Figure 170: Company Market Share in the Latin America Market, %, 2026</a:t>
                      </a:r>
                      <a:endParaRPr sz="1050"/>
                    </a:p>
                  </a:txBody>
                  <a:tcPr marL="9525" marR="9525" marT="9525" marB="0" anchor="ctr"/>
                </a:tc>
              </a:tr>
              <a:tr h="169606">
                <a:tc>
                  <a:txBody>
                    <a:bodyPr wrap="square"/>
                    <a:lstStyle/>
                    <a:p>
                      <a:pPr algn="l"/>
                      <a:r>
                        <a:rPr sz="1050" b="0" i="0">
                          <a:solidFill>
                            <a:srgbClr val="000000"/>
                          </a:solidFill>
                          <a:latin typeface="Calibri"/>
                        </a:rPr>
                        <a:t>Figure 171: Company Market Share in the Europe Market, %, 2026</a:t>
                      </a:r>
                      <a:endParaRPr sz="1050"/>
                    </a:p>
                  </a:txBody>
                  <a:tcPr marL="9525" marR="9525" marT="9525" marB="0" anchor="ctr"/>
                </a:tc>
              </a:tr>
              <a:tr h="169606">
                <a:tc>
                  <a:txBody>
                    <a:bodyPr wrap="square"/>
                    <a:lstStyle/>
                    <a:p>
                      <a:pPr algn="l"/>
                      <a:r>
                        <a:rPr sz="1050" b="0" i="0">
                          <a:solidFill>
                            <a:srgbClr val="000000"/>
                          </a:solidFill>
                          <a:latin typeface="Calibri"/>
                        </a:rPr>
                        <a:t>Figure 172: Company Market Share in the East Asia Market, %, 2026</a:t>
                      </a:r>
                      <a:endParaRPr sz="1050"/>
                    </a:p>
                  </a:txBody>
                  <a:tcPr marL="9525" marR="9525" marT="9525" marB="0" anchor="ctr"/>
                </a:tc>
              </a:tr>
              <a:tr h="169606">
                <a:tc>
                  <a:txBody>
                    <a:bodyPr wrap="square"/>
                    <a:lstStyle/>
                    <a:p>
                      <a:pPr algn="l"/>
                      <a:r>
                        <a:rPr sz="1050" b="0" i="0">
                          <a:solidFill>
                            <a:srgbClr val="000000"/>
                          </a:solidFill>
                          <a:latin typeface="Calibri"/>
                        </a:rPr>
                        <a:t>Figure 173: Company Market Share in the South Asia &amp; Pacific Market, %, 2026</a:t>
                      </a:r>
                      <a:endParaRPr sz="1050"/>
                    </a:p>
                  </a:txBody>
                  <a:tcPr marL="9525" marR="9525" marT="9525" marB="0" anchor="ctr"/>
                </a:tc>
              </a:tr>
              <a:tr h="169606">
                <a:tc>
                  <a:txBody>
                    <a:bodyPr wrap="square"/>
                    <a:lstStyle/>
                    <a:p>
                      <a:pPr algn="l"/>
                      <a:r>
                        <a:rPr sz="1050" b="0" i="0">
                          <a:solidFill>
                            <a:srgbClr val="000000"/>
                          </a:solidFill>
                          <a:latin typeface="Calibri"/>
                        </a:rPr>
                        <a:t>Figure 174: Company Market Share in the Middle East &amp; Africa Market, %, 2026</a:t>
                      </a:r>
                      <a:endParaRPr sz="1050"/>
                    </a:p>
                  </a:txBody>
                  <a:tcPr marL="9525" marR="9525" marT="9525" marB="0" anchor="ctr"/>
                </a:tc>
              </a:tr>
              <a:tr h="169606">
                <a:tc>
                  <a:txBody>
                    <a:bodyPr wrap="square"/>
                    <a:lstStyle/>
                    <a:p>
                      <a:pPr algn="l"/>
                      <a:r>
                        <a:rPr sz="1050" b="0" i="0">
                          <a:solidFill>
                            <a:srgbClr val="000000"/>
                          </a:solidFill>
                          <a:latin typeface="Calibri"/>
                        </a:rPr>
                        <a:t>Figure 175: Company A: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176: Company B: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177: Company C: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178: Company D: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179: Company E: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180: Company F: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181: Company G: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182: Company H: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183: Global Market Strategic Developments by Type, %, 2025–2026</a:t>
                      </a:r>
                      <a:endParaRPr sz="1050"/>
                    </a:p>
                  </a:txBody>
                  <a:tcPr marL="9525" marR="9525" marT="9525" marB="0" anchor="ctr"/>
                </a:tc>
              </a:tr>
              <a:tr h="169606">
                <a:tc>
                  <a:txBody>
                    <a:bodyPr wrap="square"/>
                    <a:lstStyle/>
                    <a:p>
                      <a:pPr algn="l"/>
                      <a:r>
                        <a:rPr sz="1050" b="0" i="0">
                          <a:solidFill>
                            <a:srgbClr val="000000"/>
                          </a:solidFill>
                          <a:latin typeface="Calibri"/>
                        </a:rPr>
                        <a:t>Figure 184: Global Market Company Footprint by Region, 2026</a:t>
                      </a:r>
                      <a:endParaRPr sz="1050"/>
                    </a:p>
                  </a:txBody>
                  <a:tcPr marL="9525" marR="9525" marT="9525" marB="0" anchor="ctr"/>
                </a:tc>
              </a:tr>
              <a:tr h="169606">
                <a:tc>
                  <a:txBody>
                    <a:bodyPr wrap="square"/>
                    <a:lstStyle/>
                    <a:p>
                      <a:pPr algn="l"/>
                      <a:r>
                        <a:rPr sz="1050" b="0" i="0">
                          <a:solidFill>
                            <a:srgbClr val="000000"/>
                          </a:solidFill>
                          <a:latin typeface="Calibri"/>
                        </a:rPr>
                        <a:t>Figure 185: Global Market Value Forecast by Scenario, US$ Mn, 2026–2036</a:t>
                      </a:r>
                      <a:endParaRPr sz="1050"/>
                    </a:p>
                  </a:txBody>
                  <a:tcPr marL="9525" marR="9525" marT="9525" marB="0" anchor="ctr"/>
                </a:tc>
              </a:tr>
              <a:tr h="169606">
                <a:tc>
                  <a:txBody>
                    <a:bodyPr wrap="square"/>
                    <a:lstStyle/>
                    <a:p>
                      <a:pPr algn="l"/>
                      <a:r>
                        <a:rPr sz="1050" b="0" i="0">
                          <a:solidFill>
                            <a:srgbClr val="000000"/>
                          </a:solidFill>
                          <a:latin typeface="Calibri"/>
                        </a:rPr>
                        <a:t>Figure 186: Global Market YoY Growth by Scenario, %,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233363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187: Global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188: Global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189: Global Market Opportunity Map by Region and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190: Global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191: Global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192: Global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193: Global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194: Global Market Investment Hotspots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195: Global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75260">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75260">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75260">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75260">
                <a:tc>
                  <a:txBody>
                    <a:bodyPr wrap="square"/>
                    <a:lstStyle/>
                    <a:p>
                      <a:pPr algn="l"/>
                      <a:r>
                        <a:rPr sz="1050" b="0" i="0">
                          <a:solidFill>
                            <a:srgbClr val="000000"/>
                          </a:solidFill>
                          <a:latin typeface="Calibri"/>
                        </a:rPr>
                        <a:t>Table 7: Global Market Key Market Signals and Data Points, 2026</a:t>
                      </a:r>
                      <a:endParaRPr sz="1050"/>
                    </a:p>
                  </a:txBody>
                  <a:tcPr marL="9525" marR="9525" marT="9525" marB="0" anchor="ctr"/>
                </a:tc>
              </a:tr>
              <a:tr h="175260">
                <a:tc>
                  <a:txBody>
                    <a:bodyPr wrap="square"/>
                    <a:lstStyle/>
                    <a:p>
                      <a:pPr algn="l"/>
                      <a:r>
                        <a:rPr sz="1050" b="0" i="0">
                          <a:solidFill>
                            <a:srgbClr val="000000"/>
                          </a:solidFill>
                          <a:latin typeface="Calibri"/>
                        </a:rPr>
                        <a:t>Table 8: Global Market Value and YoY Growth, US$ Mn and %, 2021–2036</a:t>
                      </a:r>
                      <a:endParaRPr sz="1050"/>
                    </a:p>
                  </a:txBody>
                  <a:tcPr marL="9525" marR="9525" marT="9525" marB="0" anchor="ctr"/>
                </a:tc>
              </a:tr>
              <a:tr h="175260">
                <a:tc>
                  <a:txBody>
                    <a:bodyPr wrap="square"/>
                    <a:lstStyle/>
                    <a:p>
                      <a:pPr algn="l"/>
                      <a:r>
                        <a:rPr sz="1050" b="0" i="0">
                          <a:solidFill>
                            <a:srgbClr val="000000"/>
                          </a:solidFill>
                          <a:latin typeface="Calibri"/>
                        </a:rPr>
                        <a:t>Table 9: Global Market Historical Value Analysis, US$ Mn, 2021–2025</a:t>
                      </a:r>
                      <a:endParaRPr sz="1050"/>
                    </a:p>
                  </a:txBody>
                  <a:tcPr marL="9525" marR="9525" marT="9525" marB="0" anchor="ctr"/>
                </a:tc>
              </a:tr>
              <a:tr h="175260">
                <a:tc>
                  <a:txBody>
                    <a:bodyPr wrap="square"/>
                    <a:lstStyle/>
                    <a:p>
                      <a:pPr algn="l"/>
                      <a:r>
                        <a:rPr sz="1050" b="0" i="0">
                          <a:solidFill>
                            <a:srgbClr val="000000"/>
                          </a:solidFill>
                          <a:latin typeface="Calibri"/>
                        </a:rPr>
                        <a:t>Table 10: Global Market Forecast Value Analysis, US$ Mn, 2026–2036</a:t>
                      </a:r>
                      <a:endParaRPr sz="1050"/>
                    </a:p>
                  </a:txBody>
                  <a:tcPr marL="9525" marR="9525" marT="9525" marB="0" anchor="ctr"/>
                </a:tc>
              </a:tr>
              <a:tr h="175260">
                <a:tc>
                  <a:txBody>
                    <a:bodyPr wrap="square"/>
                    <a:lstStyle/>
                    <a:p>
                      <a:pPr algn="l"/>
                      <a:r>
                        <a:rPr sz="1050" b="0" i="0">
                          <a:solidFill>
                            <a:srgbClr val="000000"/>
                          </a:solidFill>
                          <a:latin typeface="Calibri"/>
                        </a:rPr>
                        <a:t>Table 11: Global Market Volume and YoY Growth, Units and %, 2021–2036</a:t>
                      </a:r>
                      <a:endParaRPr sz="1050"/>
                    </a:p>
                  </a:txBody>
                  <a:tcPr marL="9525" marR="9525" marT="9525" marB="0" anchor="ctr"/>
                </a:tc>
              </a:tr>
              <a:tr h="175260">
                <a:tc>
                  <a:txBody>
                    <a:bodyPr wrap="square"/>
                    <a:lstStyle/>
                    <a:p>
                      <a:pPr algn="l"/>
                      <a:r>
                        <a:rPr sz="1050" b="0" i="0">
                          <a:solidFill>
                            <a:srgbClr val="000000"/>
                          </a:solidFill>
                          <a:latin typeface="Calibri"/>
                        </a:rPr>
                        <a:t>Table 12: Global Market Volume Forecast, Units, 2026–2036</a:t>
                      </a:r>
                      <a:endParaRPr sz="1050"/>
                    </a:p>
                  </a:txBody>
                  <a:tcPr marL="9525" marR="9525" marT="9525" marB="0" anchor="ctr"/>
                </a:tc>
              </a:tr>
              <a:tr h="175260">
                <a:tc>
                  <a:txBody>
                    <a:bodyPr wrap="square"/>
                    <a:lstStyle/>
                    <a:p>
                      <a:pPr algn="l"/>
                      <a:r>
                        <a:rPr sz="1050" b="0" i="0">
                          <a:solidFill>
                            <a:srgbClr val="000000"/>
                          </a:solidFill>
                          <a:latin typeface="Calibri"/>
                        </a:rPr>
                        <a:t>Table 13: Global Market Average Selling Price, US$/Units, 2021–2036</a:t>
                      </a:r>
                      <a:endParaRPr sz="1050"/>
                    </a:p>
                  </a:txBody>
                  <a:tcPr marL="9525" marR="9525" marT="9525" marB="0" anchor="ctr"/>
                </a:tc>
              </a:tr>
              <a:tr h="175260">
                <a:tc>
                  <a:txBody>
                    <a:bodyPr wrap="square"/>
                    <a:lstStyle/>
                    <a:p>
                      <a:pPr algn="l"/>
                      <a:r>
                        <a:rPr sz="1050" b="0" i="0">
                          <a:solidFill>
                            <a:srgbClr val="000000"/>
                          </a:solidFill>
                          <a:latin typeface="Calibri"/>
                        </a:rPr>
                        <a:t>Table 14: Global Market Average Selling Price YoY Change, %, 2026–2036</a:t>
                      </a:r>
                      <a:endParaRPr sz="1050"/>
                    </a:p>
                  </a:txBody>
                  <a:tcPr marL="9525" marR="9525" marT="9525" marB="0" anchor="ctr"/>
                </a:tc>
              </a:tr>
              <a:tr h="175260">
                <a:tc>
                  <a:txBody>
                    <a:bodyPr wrap="square"/>
                    <a:lstStyle/>
                    <a:p>
                      <a:pPr algn="l"/>
                      <a:r>
                        <a:rPr sz="1050" b="0" i="0">
                          <a:solidFill>
                            <a:srgbClr val="000000"/>
                          </a:solidFill>
                          <a:latin typeface="Calibri"/>
                        </a:rPr>
                        <a:t>Table 15: Global Market CAGR and Absolute $ Opportunity, %, US$ Mn, 2026–2036</a:t>
                      </a:r>
                      <a:endParaRPr sz="1050"/>
                    </a:p>
                  </a:txBody>
                  <a:tcPr marL="9525" marR="9525" marT="9525" marB="0" anchor="ctr"/>
                </a:tc>
              </a:tr>
              <a:tr h="175260">
                <a:tc>
                  <a:txBody>
                    <a:bodyPr wrap="square"/>
                    <a:lstStyle/>
                    <a:p>
                      <a:pPr algn="l"/>
                      <a:r>
                        <a:rPr sz="1050" b="0" i="0">
                          <a:solidFill>
                            <a:srgbClr val="000000"/>
                          </a:solidFill>
                          <a:latin typeface="Calibri"/>
                        </a:rPr>
                        <a:t>Table 16: Global Market Absolute $ Opportunity by Year, US$ Mn, 2026–2036</a:t>
                      </a:r>
                      <a:endParaRPr sz="1050"/>
                    </a:p>
                  </a:txBody>
                  <a:tcPr marL="9525" marR="9525" marT="9525" marB="0" anchor="ctr"/>
                </a:tc>
              </a:tr>
              <a:tr h="175260">
                <a:tc>
                  <a:txBody>
                    <a:bodyPr wrap="square"/>
                    <a:lstStyle/>
                    <a:p>
                      <a:pPr algn="l"/>
                      <a:r>
                        <a:rPr sz="1050" b="0" i="0">
                          <a:solidFill>
                            <a:srgbClr val="000000"/>
                          </a:solidFill>
                          <a:latin typeface="Calibri"/>
                        </a:rPr>
                        <a:t>Table 17: Global Market Value by Scenario (Optimistic, Likely, Pessimistic), US$ Mn, 2026–2036</a:t>
                      </a:r>
                      <a:endParaRPr sz="1050"/>
                    </a:p>
                  </a:txBody>
                  <a:tcPr marL="9525" marR="9525" marT="9525" marB="0" anchor="ctr"/>
                </a:tc>
              </a:tr>
              <a:tr h="175260">
                <a:tc>
                  <a:txBody>
                    <a:bodyPr wrap="square"/>
                    <a:lstStyle/>
                    <a:p>
                      <a:pPr algn="l"/>
                      <a:r>
                        <a:rPr sz="1050" b="0" i="0">
                          <a:solidFill>
                            <a:srgbClr val="000000"/>
                          </a:solidFill>
                          <a:latin typeface="Calibri"/>
                        </a:rPr>
                        <a:t>Table 18: Global Market Scenario CAGR Comparison, %, 2026–2036</a:t>
                      </a:r>
                      <a:endParaRPr sz="1050"/>
                    </a:p>
                  </a:txBody>
                  <a:tcPr marL="9525" marR="9525" marT="9525" marB="0" anchor="ctr"/>
                </a:tc>
              </a:tr>
              <a:tr h="175260">
                <a:tc>
                  <a:txBody>
                    <a:bodyPr wrap="square"/>
                    <a:lstStyle/>
                    <a:p>
                      <a:pPr algn="l"/>
                      <a:r>
                        <a:rPr sz="1050" b="0" i="0">
                          <a:solidFill>
                            <a:srgbClr val="000000"/>
                          </a:solidFill>
                          <a:latin typeface="Calibri"/>
                        </a:rPr>
                        <a:t>Table 19: Global Market Historical vs Forecast Growth Comparison, %, 2021–2036</a:t>
                      </a:r>
                      <a:endParaRPr sz="1050"/>
                    </a:p>
                  </a:txBody>
                  <a:tcPr marL="9525" marR="9525" marT="9525" marB="0" anchor="ctr"/>
                </a:tc>
              </a:tr>
              <a:tr h="175260">
                <a:tc>
                  <a:txBody>
                    <a:bodyPr wrap="square"/>
                    <a:lstStyle/>
                    <a:p>
                      <a:pPr algn="l"/>
                      <a:r>
                        <a:rPr sz="1050" b="0" i="0">
                          <a:solidFill>
                            <a:srgbClr val="000000"/>
                          </a:solidFill>
                          <a:latin typeface="Calibri"/>
                        </a:rPr>
                        <a:t>Table 20: Global Market Five-Year Block Value Summary, US$ Mn, 2021–2036</a:t>
                      </a:r>
                      <a:endParaRPr sz="1050"/>
                    </a:p>
                  </a:txBody>
                  <a:tcPr marL="9525" marR="9525" marT="9525" marB="0" anchor="ctr"/>
                </a:tc>
              </a:tr>
              <a:tr h="175260">
                <a:tc>
                  <a:txBody>
                    <a:bodyPr wrap="square"/>
                    <a:lstStyle/>
                    <a:p>
                      <a:pPr algn="l"/>
                      <a:r>
                        <a:rPr sz="1050" b="0" i="0">
                          <a:solidFill>
                            <a:srgbClr val="000000"/>
                          </a:solidFill>
                          <a:latin typeface="Calibri"/>
                        </a:rPr>
                        <a:t>Table 21: Global Market Value by Product Type, US$ Mn, 2021–2036</a:t>
                      </a:r>
                      <a:endParaRPr sz="1050"/>
                    </a:p>
                  </a:txBody>
                  <a:tcPr marL="9525" marR="9525" marT="9525" marB="0" anchor="ctr"/>
                </a:tc>
              </a:tr>
              <a:tr h="175260">
                <a:tc>
                  <a:txBody>
                    <a:bodyPr wrap="square"/>
                    <a:lstStyle/>
                    <a:p>
                      <a:pPr algn="l"/>
                      <a:r>
                        <a:rPr sz="1050" b="0" i="0">
                          <a:solidFill>
                            <a:srgbClr val="000000"/>
                          </a:solidFill>
                          <a:latin typeface="Calibri"/>
                        </a:rPr>
                        <a:t>Table 22: Global Market Value by Material Type, US$ Mn, 2021–2036</a:t>
                      </a:r>
                      <a:endParaRPr sz="1050"/>
                    </a:p>
                  </a:txBody>
                  <a:tcPr marL="9525" marR="9525" marT="9525" marB="0" anchor="ctr"/>
                </a:tc>
              </a:tr>
              <a:tr h="175260">
                <a:tc>
                  <a:txBody>
                    <a:bodyPr wrap="square"/>
                    <a:lstStyle/>
                    <a:p>
                      <a:pPr algn="l"/>
                      <a:r>
                        <a:rPr sz="1050" b="0" i="0">
                          <a:solidFill>
                            <a:srgbClr val="000000"/>
                          </a:solidFill>
                          <a:latin typeface="Calibri"/>
                        </a:rPr>
                        <a:t>Table 23: Global Market Value by Technology, US$ Mn, 2021–2036</a:t>
                      </a:r>
                      <a:endParaRPr sz="1050"/>
                    </a:p>
                  </a:txBody>
                  <a:tcPr marL="9525" marR="9525" marT="9525" marB="0" anchor="ctr"/>
                </a:tc>
              </a:tr>
              <a:tr h="175260">
                <a:tc>
                  <a:txBody>
                    <a:bodyPr wrap="square"/>
                    <a:lstStyle/>
                    <a:p>
                      <a:pPr algn="l"/>
                      <a:r>
                        <a:rPr sz="1050" b="0" i="0">
                          <a:solidFill>
                            <a:srgbClr val="000000"/>
                          </a:solidFill>
                          <a:latin typeface="Calibri"/>
                        </a:rPr>
                        <a:t>Table 24: Global Market Value by End User, US$ Mn, 2021–2036</a:t>
                      </a:r>
                      <a:endParaRPr sz="1050"/>
                    </a:p>
                  </a:txBody>
                  <a:tcPr marL="9525" marR="9525" marT="9525" marB="0" anchor="ctr"/>
                </a:tc>
              </a:tr>
              <a:tr h="175260">
                <a:tc>
                  <a:txBody>
                    <a:bodyPr wrap="square"/>
                    <a:lstStyle/>
                    <a:p>
                      <a:pPr algn="l"/>
                      <a:r>
                        <a:rPr sz="1050" b="0" i="0">
                          <a:solidFill>
                            <a:srgbClr val="000000"/>
                          </a:solidFill>
                          <a:latin typeface="Calibri"/>
                        </a:rPr>
                        <a:t>Table 25: Global Market Value by Distribution Channel, US$ Mn, 2021–2036</a:t>
                      </a:r>
                      <a:endParaRPr sz="1050"/>
                    </a:p>
                  </a:txBody>
                  <a:tcPr marL="9525" marR="9525" marT="9525" marB="0" anchor="ctr"/>
                </a:tc>
              </a:tr>
              <a:tr h="175260">
                <a:tc>
                  <a:txBody>
                    <a:bodyPr wrap="square"/>
                    <a:lstStyle/>
                    <a:p>
                      <a:pPr algn="l"/>
                      <a:r>
                        <a:rPr sz="1050" b="0" i="0">
                          <a:solidFill>
                            <a:srgbClr val="000000"/>
                          </a:solidFill>
                          <a:latin typeface="Calibri"/>
                        </a:rPr>
                        <a:t>Table 26: Global Market Value by Patient Age Group, US$ Mn, 2021–2036</a:t>
                      </a:r>
                      <a:endParaRPr sz="1050"/>
                    </a:p>
                  </a:txBody>
                  <a:tcPr marL="9525" marR="9525" marT="9525" marB="0" anchor="ctr"/>
                </a:tc>
              </a:tr>
              <a:tr h="175260">
                <a:tc>
                  <a:txBody>
                    <a:bodyPr wrap="square"/>
                    <a:lstStyle/>
                    <a:p>
                      <a:pPr algn="l"/>
                      <a:r>
                        <a:rPr sz="1050" b="0" i="0">
                          <a:solidFill>
                            <a:srgbClr val="000000"/>
                          </a:solidFill>
                          <a:latin typeface="Calibri"/>
                        </a:rPr>
                        <a:t>Table 27: Global Market CAGR and Absolute $ Opportunity by Product Type, %, US$ Mn, 2026–2036</a:t>
                      </a:r>
                      <a:endParaRPr sz="1050"/>
                    </a:p>
                  </a:txBody>
                  <a:tcPr marL="9525" marR="9525" marT="9525" marB="0" anchor="ctr"/>
                </a:tc>
              </a:tr>
              <a:tr h="175260">
                <a:tc>
                  <a:txBody>
                    <a:bodyPr wrap="square"/>
                    <a:lstStyle/>
                    <a:p>
                      <a:pPr algn="l"/>
                      <a:r>
                        <a:rPr sz="1050" b="0" i="0">
                          <a:solidFill>
                            <a:srgbClr val="000000"/>
                          </a:solidFill>
                          <a:latin typeface="Calibri"/>
                        </a:rPr>
                        <a:t>Table 28: Global Market CAGR and Absolute $ Opportunity by Material Type, %, US$ Mn, 2026–2036</a:t>
                      </a:r>
                      <a:endParaRPr sz="1050"/>
                    </a:p>
                  </a:txBody>
                  <a:tcPr marL="9525" marR="9525" marT="9525" marB="0" anchor="ctr"/>
                </a:tc>
              </a:tr>
              <a:tr h="175260">
                <a:tc>
                  <a:txBody>
                    <a:bodyPr wrap="square"/>
                    <a:lstStyle/>
                    <a:p>
                      <a:pPr algn="l"/>
                      <a:r>
                        <a:rPr sz="1050" b="0" i="0">
                          <a:solidFill>
                            <a:srgbClr val="000000"/>
                          </a:solidFill>
                          <a:latin typeface="Calibri"/>
                        </a:rPr>
                        <a:t>Table 29: Global Market CAGR and Absolute $ Opportunity by Technology, %, US$ Mn, 2026–2036</a:t>
                      </a:r>
                      <a:endParaRPr sz="1050"/>
                    </a:p>
                  </a:txBody>
                  <a:tcPr marL="9525" marR="9525" marT="9525" marB="0" anchor="ctr"/>
                </a:tc>
              </a:tr>
              <a:tr h="175260">
                <a:tc>
                  <a:txBody>
                    <a:bodyPr wrap="square"/>
                    <a:lstStyle/>
                    <a:p>
                      <a:pPr algn="l"/>
                      <a:r>
                        <a:rPr sz="1050" b="0" i="0">
                          <a:solidFill>
                            <a:srgbClr val="000000"/>
                          </a:solidFill>
                          <a:latin typeface="Calibri"/>
                        </a:rPr>
                        <a:t>Table 30: Global Market CAGR and Absolute $ Opportunity by End User,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3289">
                <a:tc>
                  <a:txBody>
                    <a:bodyPr wrap="square"/>
                    <a:lstStyle/>
                    <a:p>
                      <a:pPr algn="l"/>
                      <a:r>
                        <a:rPr sz="1050" b="0" i="0">
                          <a:solidFill>
                            <a:srgbClr val="000000"/>
                          </a:solidFill>
                          <a:latin typeface="Calibri"/>
                        </a:rPr>
                        <a:t>Table 31: Global Market CAGR and Absolute $ Opportunity by Distribution Channel, %, US$ Mn, 2026–2036</a:t>
                      </a:r>
                      <a:endParaRPr sz="1050"/>
                    </a:p>
                  </a:txBody>
                  <a:tcPr marL="9525" marR="9525" marT="9525" marB="0" anchor="ctr"/>
                </a:tc>
              </a:tr>
              <a:tr h="333289">
                <a:tc>
                  <a:txBody>
                    <a:bodyPr wrap="square"/>
                    <a:lstStyle/>
                    <a:p>
                      <a:pPr algn="l"/>
                      <a:r>
                        <a:rPr sz="1050" b="0" i="0">
                          <a:solidFill>
                            <a:srgbClr val="000000"/>
                          </a:solidFill>
                          <a:latin typeface="Calibri"/>
                        </a:rPr>
                        <a:t>Table 32: Global Market CAGR and Absolute $ Opportunity by Patient Age Group, %, US$ Mn, 2026–2036</a:t>
                      </a:r>
                      <a:endParaRPr sz="1050"/>
                    </a:p>
                  </a:txBody>
                  <a:tcPr marL="9525" marR="9525" marT="9525" marB="0" anchor="ctr"/>
                </a:tc>
              </a:tr>
              <a:tr h="170045">
                <a:tc>
                  <a:txBody>
                    <a:bodyPr wrap="square"/>
                    <a:lstStyle/>
                    <a:p>
                      <a:pPr algn="l"/>
                      <a:r>
                        <a:rPr sz="1050" b="0" i="0">
                          <a:solidFill>
                            <a:srgbClr val="000000"/>
                          </a:solidFill>
                          <a:latin typeface="Calibri"/>
                        </a:rPr>
                        <a:t>Table 33: Global Market Share and BPS Change by Product Type,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34: Global Market Share and BPS Change by Material Type,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35: Global Market Share and BPS Change by Technology, %, 2025, 2026 and 2036</a:t>
                      </a:r>
                      <a:endParaRPr sz="1050"/>
                    </a:p>
                  </a:txBody>
                  <a:tcPr marL="9525" marR="9525" marT="9525" marB="0" anchor="ctr"/>
                </a:tc>
              </a:tr>
              <a:tr h="170045">
                <a:tc>
                  <a:txBody>
                    <a:bodyPr wrap="square"/>
                    <a:lstStyle/>
                    <a:p>
                      <a:pPr algn="l"/>
                      <a:r>
                        <a:rPr sz="1050" b="0" i="0">
                          <a:solidFill>
                            <a:srgbClr val="000000"/>
                          </a:solidFill>
                          <a:latin typeface="Calibri"/>
                        </a:rPr>
                        <a:t>Table 36: Global Market Share and BPS Change by End User, %, 2025, 2026 and 2036</a:t>
                      </a:r>
                      <a:endParaRPr sz="1050"/>
                    </a:p>
                  </a:txBody>
                  <a:tcPr marL="9525" marR="9525" marT="9525" marB="0" anchor="ctr"/>
                </a:tc>
              </a:tr>
              <a:tr h="170045">
                <a:tc>
                  <a:txBody>
                    <a:bodyPr wrap="square"/>
                    <a:lstStyle/>
                    <a:p>
                      <a:pPr algn="l"/>
                      <a:r>
                        <a:rPr sz="1050" b="0" i="0">
                          <a:solidFill>
                            <a:srgbClr val="000000"/>
                          </a:solidFill>
                          <a:latin typeface="Calibri"/>
                        </a:rPr>
                        <a:t>Table 37: Global Market Share and BPS Change by Distribution Channel, %, 2025, 2026 and 2036</a:t>
                      </a:r>
                      <a:endParaRPr sz="1050"/>
                    </a:p>
                  </a:txBody>
                  <a:tcPr marL="9525" marR="9525" marT="9525" marB="0" anchor="ctr"/>
                </a:tc>
              </a:tr>
              <a:tr h="170045">
                <a:tc>
                  <a:txBody>
                    <a:bodyPr wrap="square"/>
                    <a:lstStyle/>
                    <a:p>
                      <a:pPr algn="l"/>
                      <a:r>
                        <a:rPr sz="1050" b="0" i="0">
                          <a:solidFill>
                            <a:srgbClr val="000000"/>
                          </a:solidFill>
                          <a:latin typeface="Calibri"/>
                        </a:rPr>
                        <a:t>Table 38: Global Market Share and BPS Change by Patient Age Group, %, 2025, 2026 and 2036</a:t>
                      </a:r>
                      <a:endParaRPr sz="1050"/>
                    </a:p>
                  </a:txBody>
                  <a:tcPr marL="9525" marR="9525" marT="9525" marB="0" anchor="ctr"/>
                </a:tc>
              </a:tr>
              <a:tr h="170045">
                <a:tc>
                  <a:txBody>
                    <a:bodyPr wrap="square"/>
                    <a:lstStyle/>
                    <a:p>
                      <a:pPr algn="l"/>
                      <a:r>
                        <a:rPr sz="1050" b="0" i="0">
                          <a:solidFill>
                            <a:srgbClr val="000000"/>
                          </a:solidFill>
                          <a:latin typeface="Calibri"/>
                        </a:rPr>
                        <a:t>Table 39: Global Market YoY Growth by Product Type, %, 2026–2036</a:t>
                      </a:r>
                      <a:endParaRPr sz="1050"/>
                    </a:p>
                  </a:txBody>
                  <a:tcPr marL="9525" marR="9525" marT="9525" marB="0" anchor="ctr"/>
                </a:tc>
              </a:tr>
              <a:tr h="170045">
                <a:tc>
                  <a:txBody>
                    <a:bodyPr wrap="square"/>
                    <a:lstStyle/>
                    <a:p>
                      <a:pPr algn="l"/>
                      <a:r>
                        <a:rPr sz="1050" b="0" i="0">
                          <a:solidFill>
                            <a:srgbClr val="000000"/>
                          </a:solidFill>
                          <a:latin typeface="Calibri"/>
                        </a:rPr>
                        <a:t>Table 40: Global Market YoY Growth by Material Type, %, 2026–2036</a:t>
                      </a:r>
                      <a:endParaRPr sz="1050"/>
                    </a:p>
                  </a:txBody>
                  <a:tcPr marL="9525" marR="9525" marT="9525" marB="0" anchor="ctr"/>
                </a:tc>
              </a:tr>
              <a:tr h="170045">
                <a:tc>
                  <a:txBody>
                    <a:bodyPr wrap="square"/>
                    <a:lstStyle/>
                    <a:p>
                      <a:pPr algn="l"/>
                      <a:r>
                        <a:rPr sz="1050" b="0" i="0">
                          <a:solidFill>
                            <a:srgbClr val="000000"/>
                          </a:solidFill>
                          <a:latin typeface="Calibri"/>
                        </a:rPr>
                        <a:t>Table 41: Global Market YoY Growth by Technology, %, 2026–2036</a:t>
                      </a:r>
                      <a:endParaRPr sz="1050"/>
                    </a:p>
                  </a:txBody>
                  <a:tcPr marL="9525" marR="9525" marT="9525" marB="0" anchor="ctr"/>
                </a:tc>
              </a:tr>
              <a:tr h="170045">
                <a:tc>
                  <a:txBody>
                    <a:bodyPr wrap="square"/>
                    <a:lstStyle/>
                    <a:p>
                      <a:pPr algn="l"/>
                      <a:r>
                        <a:rPr sz="1050" b="0" i="0">
                          <a:solidFill>
                            <a:srgbClr val="000000"/>
                          </a:solidFill>
                          <a:latin typeface="Calibri"/>
                        </a:rPr>
                        <a:t>Table 42: Global Market YoY Growth by End User, %, 2026–2036</a:t>
                      </a:r>
                      <a:endParaRPr sz="1050"/>
                    </a:p>
                  </a:txBody>
                  <a:tcPr marL="9525" marR="9525" marT="9525" marB="0" anchor="ctr"/>
                </a:tc>
              </a:tr>
              <a:tr h="170045">
                <a:tc>
                  <a:txBody>
                    <a:bodyPr wrap="square"/>
                    <a:lstStyle/>
                    <a:p>
                      <a:pPr algn="l"/>
                      <a:r>
                        <a:rPr sz="1050" b="0" i="0">
                          <a:solidFill>
                            <a:srgbClr val="000000"/>
                          </a:solidFill>
                          <a:latin typeface="Calibri"/>
                        </a:rPr>
                        <a:t>Table 43: Global Market YoY Growth by Distribution Channel, %, 2026–2036</a:t>
                      </a:r>
                      <a:endParaRPr sz="1050"/>
                    </a:p>
                  </a:txBody>
                  <a:tcPr marL="9525" marR="9525" marT="9525" marB="0" anchor="ctr"/>
                </a:tc>
              </a:tr>
              <a:tr h="170045">
                <a:tc>
                  <a:txBody>
                    <a:bodyPr wrap="square"/>
                    <a:lstStyle/>
                    <a:p>
                      <a:pPr algn="l"/>
                      <a:r>
                        <a:rPr sz="1050" b="0" i="0">
                          <a:solidFill>
                            <a:srgbClr val="000000"/>
                          </a:solidFill>
                          <a:latin typeface="Calibri"/>
                        </a:rPr>
                        <a:t>Table 44: Global Market YoY Growth by Patient Age Group, %, 2026–2036</a:t>
                      </a:r>
                      <a:endParaRPr sz="1050"/>
                    </a:p>
                  </a:txBody>
                  <a:tcPr marL="9525" marR="9525" marT="9525" marB="0" anchor="ctr"/>
                </a:tc>
              </a:tr>
              <a:tr h="170045">
                <a:tc>
                  <a:txBody>
                    <a:bodyPr wrap="square"/>
                    <a:lstStyle/>
                    <a:p>
                      <a:pPr algn="l"/>
                      <a:r>
                        <a:rPr sz="1050" b="0" i="0">
                          <a:solidFill>
                            <a:srgbClr val="000000"/>
                          </a:solidFill>
                          <a:latin typeface="Calibri"/>
                        </a:rPr>
                        <a:t>Table 45: Global Market Volume by Product Type, Units, 2021–2036</a:t>
                      </a:r>
                      <a:endParaRPr sz="1050"/>
                    </a:p>
                  </a:txBody>
                  <a:tcPr marL="9525" marR="9525" marT="9525" marB="0" anchor="ctr"/>
                </a:tc>
              </a:tr>
              <a:tr h="170045">
                <a:tc>
                  <a:txBody>
                    <a:bodyPr wrap="square"/>
                    <a:lstStyle/>
                    <a:p>
                      <a:pPr algn="l"/>
                      <a:r>
                        <a:rPr sz="1050" b="0" i="0">
                          <a:solidFill>
                            <a:srgbClr val="000000"/>
                          </a:solidFill>
                          <a:latin typeface="Calibri"/>
                        </a:rPr>
                        <a:t>Table 46: Global Market Volume by Material Type, Units, 2021–2036</a:t>
                      </a:r>
                      <a:endParaRPr sz="1050"/>
                    </a:p>
                  </a:txBody>
                  <a:tcPr marL="9525" marR="9525" marT="9525" marB="0" anchor="ctr"/>
                </a:tc>
              </a:tr>
              <a:tr h="170045">
                <a:tc>
                  <a:txBody>
                    <a:bodyPr wrap="square"/>
                    <a:lstStyle/>
                    <a:p>
                      <a:pPr algn="l"/>
                      <a:r>
                        <a:rPr sz="1050" b="0" i="0">
                          <a:solidFill>
                            <a:srgbClr val="000000"/>
                          </a:solidFill>
                          <a:latin typeface="Calibri"/>
                        </a:rPr>
                        <a:t>Table 47: Global Market Volume by Technology, Units, 2021–2036</a:t>
                      </a:r>
                      <a:endParaRPr sz="1050"/>
                    </a:p>
                  </a:txBody>
                  <a:tcPr marL="9525" marR="9525" marT="9525" marB="0" anchor="ctr"/>
                </a:tc>
              </a:tr>
              <a:tr h="170045">
                <a:tc>
                  <a:txBody>
                    <a:bodyPr wrap="square"/>
                    <a:lstStyle/>
                    <a:p>
                      <a:pPr algn="l"/>
                      <a:r>
                        <a:rPr sz="1050" b="0" i="0">
                          <a:solidFill>
                            <a:srgbClr val="000000"/>
                          </a:solidFill>
                          <a:latin typeface="Calibri"/>
                        </a:rPr>
                        <a:t>Table 48: Global Market Volume by End User, Units, 2021–2036</a:t>
                      </a:r>
                      <a:endParaRPr sz="1050"/>
                    </a:p>
                  </a:txBody>
                  <a:tcPr marL="9525" marR="9525" marT="9525" marB="0" anchor="ctr"/>
                </a:tc>
              </a:tr>
              <a:tr h="170045">
                <a:tc>
                  <a:txBody>
                    <a:bodyPr wrap="square"/>
                    <a:lstStyle/>
                    <a:p>
                      <a:pPr algn="l"/>
                      <a:r>
                        <a:rPr sz="1050" b="0" i="0">
                          <a:solidFill>
                            <a:srgbClr val="000000"/>
                          </a:solidFill>
                          <a:latin typeface="Calibri"/>
                        </a:rPr>
                        <a:t>Table 49: Global Market Volume by Distribution Channel, Units, 2021–2036</a:t>
                      </a:r>
                      <a:endParaRPr sz="1050"/>
                    </a:p>
                  </a:txBody>
                  <a:tcPr marL="9525" marR="9525" marT="9525" marB="0" anchor="ctr"/>
                </a:tc>
              </a:tr>
              <a:tr h="170045">
                <a:tc>
                  <a:txBody>
                    <a:bodyPr wrap="square"/>
                    <a:lstStyle/>
                    <a:p>
                      <a:pPr algn="l"/>
                      <a:r>
                        <a:rPr sz="1050" b="0" i="0">
                          <a:solidFill>
                            <a:srgbClr val="000000"/>
                          </a:solidFill>
                          <a:latin typeface="Calibri"/>
                        </a:rPr>
                        <a:t>Table 50: Global Market Volume by Patient Age Group, Units, 2021–2036</a:t>
                      </a:r>
                      <a:endParaRPr sz="1050"/>
                    </a:p>
                  </a:txBody>
                  <a:tcPr marL="9525" marR="9525" marT="9525" marB="0" anchor="ctr"/>
                </a:tc>
              </a:tr>
              <a:tr h="170045">
                <a:tc>
                  <a:txBody>
                    <a:bodyPr wrap="square"/>
                    <a:lstStyle/>
                    <a:p>
                      <a:pPr algn="l"/>
                      <a:r>
                        <a:rPr sz="1050" b="0" i="0">
                          <a:solidFill>
                            <a:srgbClr val="000000"/>
                          </a:solidFill>
                          <a:latin typeface="Calibri"/>
                        </a:rPr>
                        <a:t>Table 51: Global Market Average Selling Price by Product Type, US$/Units, 2021–2036</a:t>
                      </a:r>
                      <a:endParaRPr sz="1050"/>
                    </a:p>
                  </a:txBody>
                  <a:tcPr marL="9525" marR="9525" marT="9525" marB="0" anchor="ctr"/>
                </a:tc>
              </a:tr>
              <a:tr h="170045">
                <a:tc>
                  <a:txBody>
                    <a:bodyPr wrap="square"/>
                    <a:lstStyle/>
                    <a:p>
                      <a:pPr algn="l"/>
                      <a:r>
                        <a:rPr sz="1050" b="0" i="0">
                          <a:solidFill>
                            <a:srgbClr val="000000"/>
                          </a:solidFill>
                          <a:latin typeface="Calibri"/>
                        </a:rPr>
                        <a:t>Table 52: Global Market Average Selling Price by Material Type, US$/Units, 2021–2036</a:t>
                      </a:r>
                      <a:endParaRPr sz="1050"/>
                    </a:p>
                  </a:txBody>
                  <a:tcPr marL="9525" marR="9525" marT="9525" marB="0" anchor="ctr"/>
                </a:tc>
              </a:tr>
              <a:tr h="170045">
                <a:tc>
                  <a:txBody>
                    <a:bodyPr wrap="square"/>
                    <a:lstStyle/>
                    <a:p>
                      <a:pPr algn="l"/>
                      <a:r>
                        <a:rPr sz="1050" b="0" i="0">
                          <a:solidFill>
                            <a:srgbClr val="000000"/>
                          </a:solidFill>
                          <a:latin typeface="Calibri"/>
                        </a:rPr>
                        <a:t>Table 53: Global Market Average Selling Price by Technology, US$/Units, 2021–2036</a:t>
                      </a:r>
                      <a:endParaRPr sz="1050"/>
                    </a:p>
                  </a:txBody>
                  <a:tcPr marL="9525" marR="9525" marT="9525" marB="0" anchor="ctr"/>
                </a:tc>
              </a:tr>
              <a:tr h="170045">
                <a:tc>
                  <a:txBody>
                    <a:bodyPr wrap="square"/>
                    <a:lstStyle/>
                    <a:p>
                      <a:pPr algn="l"/>
                      <a:r>
                        <a:rPr sz="1050" b="0" i="0">
                          <a:solidFill>
                            <a:srgbClr val="000000"/>
                          </a:solidFill>
                          <a:latin typeface="Calibri"/>
                        </a:rPr>
                        <a:t>Table 54: Global Market Average Selling Price by End User, US$/Units, 2021–2036</a:t>
                      </a:r>
                      <a:endParaRPr sz="1050"/>
                    </a:p>
                  </a:txBody>
                  <a:tcPr marL="9525" marR="9525" marT="9525" marB="0" anchor="ctr"/>
                </a:tc>
              </a:tr>
              <a:tr h="170045">
                <a:tc>
                  <a:txBody>
                    <a:bodyPr wrap="square"/>
                    <a:lstStyle/>
                    <a:p>
                      <a:pPr algn="l"/>
                      <a:r>
                        <a:rPr sz="1050" b="0" i="0">
                          <a:solidFill>
                            <a:srgbClr val="000000"/>
                          </a:solidFill>
                          <a:latin typeface="Calibri"/>
                        </a:rPr>
                        <a:t>Table 55: Global Market Average Selling Price by Distribution Channel, US$/Units, 2021–2036</a:t>
                      </a:r>
                      <a:endParaRPr sz="1050"/>
                    </a:p>
                  </a:txBody>
                  <a:tcPr marL="9525" marR="9525" marT="9525" marB="0" anchor="ctr"/>
                </a:tc>
              </a:tr>
              <a:tr h="170045">
                <a:tc>
                  <a:txBody>
                    <a:bodyPr wrap="square"/>
                    <a:lstStyle/>
                    <a:p>
                      <a:pPr algn="l"/>
                      <a:r>
                        <a:rPr sz="1050" b="0" i="0">
                          <a:solidFill>
                            <a:srgbClr val="000000"/>
                          </a:solidFill>
                          <a:latin typeface="Calibri"/>
                        </a:rPr>
                        <a:t>Table 56: Global Market Average Selling Price by Patient Age Group, US$/Units, 2021–2036</a:t>
                      </a:r>
                      <a:endParaRPr sz="1050"/>
                    </a:p>
                  </a:txBody>
                  <a:tcPr marL="9525" marR="9525" marT="9525" marB="0" anchor="ctr"/>
                </a:tc>
              </a:tr>
              <a:tr h="170045">
                <a:tc>
                  <a:txBody>
                    <a:bodyPr wrap="square"/>
                    <a:lstStyle/>
                    <a:p>
                      <a:pPr algn="l"/>
                      <a:r>
                        <a:rPr sz="1050" b="0" i="0">
                          <a:solidFill>
                            <a:srgbClr val="000000"/>
                          </a:solidFill>
                          <a:latin typeface="Calibri"/>
                        </a:rPr>
                        <a:t>Table 57: Global Market Attractiveness Index by Product Type, 2026–2036</a:t>
                      </a:r>
                      <a:endParaRPr sz="1050"/>
                    </a:p>
                  </a:txBody>
                  <a:tcPr marL="9525" marR="9525" marT="9525" marB="0" anchor="ctr"/>
                </a:tc>
              </a:tr>
              <a:tr h="170045">
                <a:tc>
                  <a:txBody>
                    <a:bodyPr wrap="square"/>
                    <a:lstStyle/>
                    <a:p>
                      <a:pPr algn="l"/>
                      <a:r>
                        <a:rPr sz="1050" b="0" i="0">
                          <a:solidFill>
                            <a:srgbClr val="000000"/>
                          </a:solidFill>
                          <a:latin typeface="Calibri"/>
                        </a:rPr>
                        <a:t>Table 58: Global Market Attractiveness Index by Material Type, 2026–2036</a:t>
                      </a:r>
                      <a:endParaRPr sz="1050"/>
                    </a:p>
                  </a:txBody>
                  <a:tcPr marL="9525" marR="9525" marT="9525" marB="0" anchor="ctr"/>
                </a:tc>
              </a:tr>
              <a:tr h="170045">
                <a:tc>
                  <a:txBody>
                    <a:bodyPr wrap="square"/>
                    <a:lstStyle/>
                    <a:p>
                      <a:pPr algn="l"/>
                      <a:r>
                        <a:rPr sz="1050" b="0" i="0">
                          <a:solidFill>
                            <a:srgbClr val="000000"/>
                          </a:solidFill>
                          <a:latin typeface="Calibri"/>
                        </a:rPr>
                        <a:t>Table 59: Global Market Attractiveness Index by Technology,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60: Global Market Attractiveness Index by End User, 2026–2036</a:t>
                      </a:r>
                      <a:endParaRPr sz="1050"/>
                    </a:p>
                  </a:txBody>
                  <a:tcPr marL="9525" marR="9525" marT="9525" marB="0" anchor="ctr"/>
                </a:tc>
              </a:tr>
              <a:tr h="169606">
                <a:tc>
                  <a:txBody>
                    <a:bodyPr wrap="square"/>
                    <a:lstStyle/>
                    <a:p>
                      <a:pPr algn="l"/>
                      <a:r>
                        <a:rPr sz="1050" b="0" i="0">
                          <a:solidFill>
                            <a:srgbClr val="000000"/>
                          </a:solidFill>
                          <a:latin typeface="Calibri"/>
                        </a:rPr>
                        <a:t>Table 61: Global Market Attractiveness Index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Table 62: Global Market Attractiveness Index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Table 63: Global Market Value of Cast Metal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64: Global Market Value of Metal Alloys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65: Global Market Value of Conventional Fabrication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66: Global Market Value of Dental Clinics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67: Global Market Value of Direct Sales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68: Global Market Value of Adults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69: Global Market Value of Acrylic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70: Global Market Value of Acrylic / Resin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71: Global Market Value of Digital Fabrication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72: Global Market Value of Dental Hospitals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73: Global Market Value of Dental Dealers &amp; Distributors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74: Global Market Value of Geriatric Patients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75: Global Market Value of Flexible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76: Global Market Value of Flexible Thermoplastics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77: Global Market Value by Product Type and Material Type, US$ Mn, 2026–2036</a:t>
                      </a:r>
                      <a:endParaRPr sz="1050"/>
                    </a:p>
                  </a:txBody>
                  <a:tcPr marL="9525" marR="9525" marT="9525" marB="0" anchor="ctr"/>
                </a:tc>
              </a:tr>
              <a:tr h="169606">
                <a:tc>
                  <a:txBody>
                    <a:bodyPr wrap="square"/>
                    <a:lstStyle/>
                    <a:p>
                      <a:pPr algn="l"/>
                      <a:r>
                        <a:rPr sz="1050" b="0" i="0">
                          <a:solidFill>
                            <a:srgbClr val="000000"/>
                          </a:solidFill>
                          <a:latin typeface="Calibri"/>
                        </a:rPr>
                        <a:t>Table 78: Global Market Value by Product Type and Technology, US$ Mn, 2026–2036</a:t>
                      </a:r>
                      <a:endParaRPr sz="1050"/>
                    </a:p>
                  </a:txBody>
                  <a:tcPr marL="9525" marR="9525" marT="9525" marB="0" anchor="ctr"/>
                </a:tc>
              </a:tr>
              <a:tr h="169606">
                <a:tc>
                  <a:txBody>
                    <a:bodyPr wrap="square"/>
                    <a:lstStyle/>
                    <a:p>
                      <a:pPr algn="l"/>
                      <a:r>
                        <a:rPr sz="1050" b="0" i="0">
                          <a:solidFill>
                            <a:srgbClr val="000000"/>
                          </a:solidFill>
                          <a:latin typeface="Calibri"/>
                        </a:rPr>
                        <a:t>Table 79: Global Market Value by Product Type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80: Global Market Value by Product Type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81: Global Market Value by Product Type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82: Global Market Value by Material Type and Technology, US$ Mn, 2026–2036</a:t>
                      </a:r>
                      <a:endParaRPr sz="1050"/>
                    </a:p>
                  </a:txBody>
                  <a:tcPr marL="9525" marR="9525" marT="9525" marB="0" anchor="ctr"/>
                </a:tc>
              </a:tr>
              <a:tr h="169606">
                <a:tc>
                  <a:txBody>
                    <a:bodyPr wrap="square"/>
                    <a:lstStyle/>
                    <a:p>
                      <a:pPr algn="l"/>
                      <a:r>
                        <a:rPr sz="1050" b="0" i="0">
                          <a:solidFill>
                            <a:srgbClr val="000000"/>
                          </a:solidFill>
                          <a:latin typeface="Calibri"/>
                        </a:rPr>
                        <a:t>Table 83: Global Market Value by Material Type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84: Global Market Value by Material Type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85: Global Market Value by Material Type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86: Global Market Value by Technology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87: Global Market Value by Technology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88: Global Market Value by Technology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89: Global Market Value by End User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90: Global Market Value by End User and Patient Age Group,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494">
                <a:tc>
                  <a:txBody>
                    <a:bodyPr wrap="square"/>
                    <a:lstStyle/>
                    <a:p>
                      <a:pPr algn="l"/>
                      <a:r>
                        <a:rPr sz="1050" b="0" i="0">
                          <a:solidFill>
                            <a:srgbClr val="000000"/>
                          </a:solidFill>
                          <a:latin typeface="Calibri"/>
                        </a:rPr>
                        <a:t>Table 91: Global Market Value by Distribution Channel and Patient Age Group, US$ Mn, 2026–2036</a:t>
                      </a:r>
                      <a:endParaRPr sz="1050"/>
                    </a:p>
                  </a:txBody>
                  <a:tcPr marL="9525" marR="9525" marT="9525" marB="0" anchor="ctr"/>
                </a:tc>
              </a:tr>
              <a:tr h="175494">
                <a:tc>
                  <a:txBody>
                    <a:bodyPr wrap="square"/>
                    <a:lstStyle/>
                    <a:p>
                      <a:pPr algn="l"/>
                      <a:r>
                        <a:rPr sz="1050" b="0" i="0">
                          <a:solidFill>
                            <a:srgbClr val="000000"/>
                          </a:solidFill>
                          <a:latin typeface="Calibri"/>
                        </a:rPr>
                        <a:t>Table 92: Global Market Value by Region and Product Type, US$ Mn, 2026–2036</a:t>
                      </a:r>
                      <a:endParaRPr sz="1050"/>
                    </a:p>
                  </a:txBody>
                  <a:tcPr marL="9525" marR="9525" marT="9525" marB="0" anchor="ctr"/>
                </a:tc>
              </a:tr>
              <a:tr h="175494">
                <a:tc>
                  <a:txBody>
                    <a:bodyPr wrap="square"/>
                    <a:lstStyle/>
                    <a:p>
                      <a:pPr algn="l"/>
                      <a:r>
                        <a:rPr sz="1050" b="0" i="0">
                          <a:solidFill>
                            <a:srgbClr val="000000"/>
                          </a:solidFill>
                          <a:latin typeface="Calibri"/>
                        </a:rPr>
                        <a:t>Table 93: Global Market Value by Region and Material Type, US$ Mn, 2026–2036</a:t>
                      </a:r>
                      <a:endParaRPr sz="1050"/>
                    </a:p>
                  </a:txBody>
                  <a:tcPr marL="9525" marR="9525" marT="9525" marB="0" anchor="ctr"/>
                </a:tc>
              </a:tr>
              <a:tr h="175494">
                <a:tc>
                  <a:txBody>
                    <a:bodyPr wrap="square"/>
                    <a:lstStyle/>
                    <a:p>
                      <a:pPr algn="l"/>
                      <a:r>
                        <a:rPr sz="1050" b="0" i="0">
                          <a:solidFill>
                            <a:srgbClr val="000000"/>
                          </a:solidFill>
                          <a:latin typeface="Calibri"/>
                        </a:rPr>
                        <a:t>Table 94: Global Market Value by Region and Technology, US$ Mn, 2026–2036</a:t>
                      </a:r>
                      <a:endParaRPr sz="1050"/>
                    </a:p>
                  </a:txBody>
                  <a:tcPr marL="9525" marR="9525" marT="9525" marB="0" anchor="ctr"/>
                </a:tc>
              </a:tr>
              <a:tr h="175494">
                <a:tc>
                  <a:txBody>
                    <a:bodyPr wrap="square"/>
                    <a:lstStyle/>
                    <a:p>
                      <a:pPr algn="l"/>
                      <a:r>
                        <a:rPr sz="1050" b="0" i="0">
                          <a:solidFill>
                            <a:srgbClr val="000000"/>
                          </a:solidFill>
                          <a:latin typeface="Calibri"/>
                        </a:rPr>
                        <a:t>Table 95: Global Market Value by Region and End User, US$ Mn, 2026–2036</a:t>
                      </a:r>
                      <a:endParaRPr sz="1050"/>
                    </a:p>
                  </a:txBody>
                  <a:tcPr marL="9525" marR="9525" marT="9525" marB="0" anchor="ctr"/>
                </a:tc>
              </a:tr>
              <a:tr h="175494">
                <a:tc>
                  <a:txBody>
                    <a:bodyPr wrap="square"/>
                    <a:lstStyle/>
                    <a:p>
                      <a:pPr algn="l"/>
                      <a:r>
                        <a:rPr sz="1050" b="0" i="0">
                          <a:solidFill>
                            <a:srgbClr val="000000"/>
                          </a:solidFill>
                          <a:latin typeface="Calibri"/>
                        </a:rPr>
                        <a:t>Table 96: Global Market Value by Region and Distribution Channel, US$ Mn, 2026–2036</a:t>
                      </a:r>
                      <a:endParaRPr sz="1050"/>
                    </a:p>
                  </a:txBody>
                  <a:tcPr marL="9525" marR="9525" marT="9525" marB="0" anchor="ctr"/>
                </a:tc>
              </a:tr>
              <a:tr h="175494">
                <a:tc>
                  <a:txBody>
                    <a:bodyPr wrap="square"/>
                    <a:lstStyle/>
                    <a:p>
                      <a:pPr algn="l"/>
                      <a:r>
                        <a:rPr sz="1050" b="0" i="0">
                          <a:solidFill>
                            <a:srgbClr val="000000"/>
                          </a:solidFill>
                          <a:latin typeface="Calibri"/>
                        </a:rPr>
                        <a:t>Table 97: Global Market Value by Region and Patient Age Group, US$ Mn, 2026–2036</a:t>
                      </a:r>
                      <a:endParaRPr sz="1050"/>
                    </a:p>
                  </a:txBody>
                  <a:tcPr marL="9525" marR="9525" marT="9525" marB="0" anchor="ctr"/>
                </a:tc>
              </a:tr>
              <a:tr h="175494">
                <a:tc>
                  <a:txBody>
                    <a:bodyPr wrap="square"/>
                    <a:lstStyle/>
                    <a:p>
                      <a:pPr algn="l"/>
                      <a:r>
                        <a:rPr sz="1050" b="0" i="0">
                          <a:solidFill>
                            <a:srgbClr val="000000"/>
                          </a:solidFill>
                          <a:latin typeface="Calibri"/>
                        </a:rPr>
                        <a:t>Table 98: Global Market CAGR by Product Type and Material Type, %, 2026–2036</a:t>
                      </a:r>
                      <a:endParaRPr sz="1050"/>
                    </a:p>
                  </a:txBody>
                  <a:tcPr marL="9525" marR="9525" marT="9525" marB="0" anchor="ctr"/>
                </a:tc>
              </a:tr>
              <a:tr h="175494">
                <a:tc>
                  <a:txBody>
                    <a:bodyPr wrap="square"/>
                    <a:lstStyle/>
                    <a:p>
                      <a:pPr algn="l"/>
                      <a:r>
                        <a:rPr sz="1050" b="0" i="0">
                          <a:solidFill>
                            <a:srgbClr val="000000"/>
                          </a:solidFill>
                          <a:latin typeface="Calibri"/>
                        </a:rPr>
                        <a:t>Table 99: Global Market CAGR by Product Type and Technology, %, 2026–2036</a:t>
                      </a:r>
                      <a:endParaRPr sz="1050"/>
                    </a:p>
                  </a:txBody>
                  <a:tcPr marL="9525" marR="9525" marT="9525" marB="0" anchor="ctr"/>
                </a:tc>
              </a:tr>
              <a:tr h="175494">
                <a:tc>
                  <a:txBody>
                    <a:bodyPr wrap="square"/>
                    <a:lstStyle/>
                    <a:p>
                      <a:pPr algn="l"/>
                      <a:r>
                        <a:rPr sz="1050" b="0" i="0">
                          <a:solidFill>
                            <a:srgbClr val="000000"/>
                          </a:solidFill>
                          <a:latin typeface="Calibri"/>
                        </a:rPr>
                        <a:t>Table 100: Global Market CAGR by Product Type and End User, %, 2026–2036</a:t>
                      </a:r>
                      <a:endParaRPr sz="1050"/>
                    </a:p>
                  </a:txBody>
                  <a:tcPr marL="9525" marR="9525" marT="9525" marB="0" anchor="ctr"/>
                </a:tc>
              </a:tr>
              <a:tr h="175494">
                <a:tc>
                  <a:txBody>
                    <a:bodyPr wrap="square"/>
                    <a:lstStyle/>
                    <a:p>
                      <a:pPr algn="l"/>
                      <a:r>
                        <a:rPr sz="1050" b="0" i="0">
                          <a:solidFill>
                            <a:srgbClr val="000000"/>
                          </a:solidFill>
                          <a:latin typeface="Calibri"/>
                        </a:rPr>
                        <a:t>Table 101: Global Market CAGR by Product Type and Distribution Channel, %, 2026–2036</a:t>
                      </a:r>
                      <a:endParaRPr sz="1050"/>
                    </a:p>
                  </a:txBody>
                  <a:tcPr marL="9525" marR="9525" marT="9525" marB="0" anchor="ctr"/>
                </a:tc>
              </a:tr>
              <a:tr h="175494">
                <a:tc>
                  <a:txBody>
                    <a:bodyPr wrap="square"/>
                    <a:lstStyle/>
                    <a:p>
                      <a:pPr algn="l"/>
                      <a:r>
                        <a:rPr sz="1050" b="0" i="0">
                          <a:solidFill>
                            <a:srgbClr val="000000"/>
                          </a:solidFill>
                          <a:latin typeface="Calibri"/>
                        </a:rPr>
                        <a:t>Table 102: Global Market CAGR by Product Type and Patient Age Group, %, 2026–2036</a:t>
                      </a:r>
                      <a:endParaRPr sz="1050"/>
                    </a:p>
                  </a:txBody>
                  <a:tcPr marL="9525" marR="9525" marT="9525" marB="0" anchor="ctr"/>
                </a:tc>
              </a:tr>
              <a:tr h="175494">
                <a:tc>
                  <a:txBody>
                    <a:bodyPr wrap="square"/>
                    <a:lstStyle/>
                    <a:p>
                      <a:pPr algn="l"/>
                      <a:r>
                        <a:rPr sz="1050" b="0" i="0">
                          <a:solidFill>
                            <a:srgbClr val="000000"/>
                          </a:solidFill>
                          <a:latin typeface="Calibri"/>
                        </a:rPr>
                        <a:t>Table 103: Global Market CAGR by Material Type and Technology, %, 2026–2036</a:t>
                      </a:r>
                      <a:endParaRPr sz="1050"/>
                    </a:p>
                  </a:txBody>
                  <a:tcPr marL="9525" marR="9525" marT="9525" marB="0" anchor="ctr"/>
                </a:tc>
              </a:tr>
              <a:tr h="175494">
                <a:tc>
                  <a:txBody>
                    <a:bodyPr wrap="square"/>
                    <a:lstStyle/>
                    <a:p>
                      <a:pPr algn="l"/>
                      <a:r>
                        <a:rPr sz="1050" b="0" i="0">
                          <a:solidFill>
                            <a:srgbClr val="000000"/>
                          </a:solidFill>
                          <a:latin typeface="Calibri"/>
                        </a:rPr>
                        <a:t>Table 104: Global Market CAGR by Material Type and End User, %, 2026–2036</a:t>
                      </a:r>
                      <a:endParaRPr sz="1050"/>
                    </a:p>
                  </a:txBody>
                  <a:tcPr marL="9525" marR="9525" marT="9525" marB="0" anchor="ctr"/>
                </a:tc>
              </a:tr>
              <a:tr h="175494">
                <a:tc>
                  <a:txBody>
                    <a:bodyPr wrap="square"/>
                    <a:lstStyle/>
                    <a:p>
                      <a:pPr algn="l"/>
                      <a:r>
                        <a:rPr sz="1050" b="0" i="0">
                          <a:solidFill>
                            <a:srgbClr val="000000"/>
                          </a:solidFill>
                          <a:latin typeface="Calibri"/>
                        </a:rPr>
                        <a:t>Table 105: Global Market CAGR by Material Type and Distribution Channel, %, 2026–2036</a:t>
                      </a:r>
                      <a:endParaRPr sz="1050"/>
                    </a:p>
                  </a:txBody>
                  <a:tcPr marL="9525" marR="9525" marT="9525" marB="0" anchor="ctr"/>
                </a:tc>
              </a:tr>
              <a:tr h="175494">
                <a:tc>
                  <a:txBody>
                    <a:bodyPr wrap="square"/>
                    <a:lstStyle/>
                    <a:p>
                      <a:pPr algn="l"/>
                      <a:r>
                        <a:rPr sz="1050" b="0" i="0">
                          <a:solidFill>
                            <a:srgbClr val="000000"/>
                          </a:solidFill>
                          <a:latin typeface="Calibri"/>
                        </a:rPr>
                        <a:t>Table 106: Global Market Value by Region, US$ Mn, 2021–2036</a:t>
                      </a:r>
                      <a:endParaRPr sz="1050"/>
                    </a:p>
                  </a:txBody>
                  <a:tcPr marL="9525" marR="9525" marT="9525" marB="0" anchor="ctr"/>
                </a:tc>
              </a:tr>
              <a:tr h="175494">
                <a:tc>
                  <a:txBody>
                    <a:bodyPr wrap="square"/>
                    <a:lstStyle/>
                    <a:p>
                      <a:pPr algn="l"/>
                      <a:r>
                        <a:rPr sz="1050" b="0" i="0">
                          <a:solidFill>
                            <a:srgbClr val="000000"/>
                          </a:solidFill>
                          <a:latin typeface="Calibri"/>
                        </a:rPr>
                        <a:t>Table 107: Global Market CAGR and Absolute $ Opportunity by Region, %, US$ Mn, 2026–2036</a:t>
                      </a:r>
                      <a:endParaRPr sz="1050"/>
                    </a:p>
                  </a:txBody>
                  <a:tcPr marL="9525" marR="9525" marT="9525" marB="0" anchor="ctr"/>
                </a:tc>
              </a:tr>
              <a:tr h="175494">
                <a:tc>
                  <a:txBody>
                    <a:bodyPr wrap="square"/>
                    <a:lstStyle/>
                    <a:p>
                      <a:pPr algn="l"/>
                      <a:r>
                        <a:rPr sz="1050" b="0" i="0">
                          <a:solidFill>
                            <a:srgbClr val="000000"/>
                          </a:solidFill>
                          <a:latin typeface="Calibri"/>
                        </a:rPr>
                        <a:t>Table 108: Global Market Share and BPS Change by Region, %, 2026 and 2036</a:t>
                      </a:r>
                      <a:endParaRPr sz="1050"/>
                    </a:p>
                  </a:txBody>
                  <a:tcPr marL="9525" marR="9525" marT="9525" marB="0" anchor="ctr"/>
                </a:tc>
              </a:tr>
              <a:tr h="175494">
                <a:tc>
                  <a:txBody>
                    <a:bodyPr wrap="square"/>
                    <a:lstStyle/>
                    <a:p>
                      <a:pPr algn="l"/>
                      <a:r>
                        <a:rPr sz="1050" b="0" i="0">
                          <a:solidFill>
                            <a:srgbClr val="000000"/>
                          </a:solidFill>
                          <a:latin typeface="Calibri"/>
                        </a:rPr>
                        <a:t>Table 109: Global Market Volume by Region, Units, 2021–2036</a:t>
                      </a:r>
                      <a:endParaRPr sz="1050"/>
                    </a:p>
                  </a:txBody>
                  <a:tcPr marL="9525" marR="9525" marT="9525" marB="0" anchor="ctr"/>
                </a:tc>
              </a:tr>
              <a:tr h="175494">
                <a:tc>
                  <a:txBody>
                    <a:bodyPr wrap="square"/>
                    <a:lstStyle/>
                    <a:p>
                      <a:pPr algn="l"/>
                      <a:r>
                        <a:rPr sz="1050" b="0" i="0">
                          <a:solidFill>
                            <a:srgbClr val="000000"/>
                          </a:solidFill>
                          <a:latin typeface="Calibri"/>
                        </a:rPr>
                        <a:t>Table 110: North America Market Value by Country, US$ Mn, 2021–2036</a:t>
                      </a:r>
                      <a:endParaRPr sz="1050"/>
                    </a:p>
                  </a:txBody>
                  <a:tcPr marL="9525" marR="9525" marT="9525" marB="0" anchor="ctr"/>
                </a:tc>
              </a:tr>
              <a:tr h="175494">
                <a:tc>
                  <a:txBody>
                    <a:bodyPr wrap="square"/>
                    <a:lstStyle/>
                    <a:p>
                      <a:pPr algn="l"/>
                      <a:r>
                        <a:rPr sz="1050" b="0" i="0">
                          <a:solidFill>
                            <a:srgbClr val="000000"/>
                          </a:solidFill>
                          <a:latin typeface="Calibri"/>
                        </a:rPr>
                        <a:t>Table 111: Latin America Market Value by Country, US$ Mn, 2021–2036</a:t>
                      </a:r>
                      <a:endParaRPr sz="1050"/>
                    </a:p>
                  </a:txBody>
                  <a:tcPr marL="9525" marR="9525" marT="9525" marB="0" anchor="ctr"/>
                </a:tc>
              </a:tr>
              <a:tr h="175494">
                <a:tc>
                  <a:txBody>
                    <a:bodyPr wrap="square"/>
                    <a:lstStyle/>
                    <a:p>
                      <a:pPr algn="l"/>
                      <a:r>
                        <a:rPr sz="1050" b="0" i="0">
                          <a:solidFill>
                            <a:srgbClr val="000000"/>
                          </a:solidFill>
                          <a:latin typeface="Calibri"/>
                        </a:rPr>
                        <a:t>Table 112: Europe Market Value by Country, US$ Mn, 2021–2036</a:t>
                      </a:r>
                      <a:endParaRPr sz="1050"/>
                    </a:p>
                  </a:txBody>
                  <a:tcPr marL="9525" marR="9525" marT="9525" marB="0" anchor="ctr"/>
                </a:tc>
              </a:tr>
              <a:tr h="175494">
                <a:tc>
                  <a:txBody>
                    <a:bodyPr wrap="square"/>
                    <a:lstStyle/>
                    <a:p>
                      <a:pPr algn="l"/>
                      <a:r>
                        <a:rPr sz="1050" b="0" i="0">
                          <a:solidFill>
                            <a:srgbClr val="000000"/>
                          </a:solidFill>
                          <a:latin typeface="Calibri"/>
                        </a:rPr>
                        <a:t>Table 113: East Asia Market Value by Country, US$ Mn, 2021–2036</a:t>
                      </a:r>
                      <a:endParaRPr sz="1050"/>
                    </a:p>
                  </a:txBody>
                  <a:tcPr marL="9525" marR="9525" marT="9525" marB="0" anchor="ctr"/>
                </a:tc>
              </a:tr>
              <a:tr h="175494">
                <a:tc>
                  <a:txBody>
                    <a:bodyPr wrap="square"/>
                    <a:lstStyle/>
                    <a:p>
                      <a:pPr algn="l"/>
                      <a:r>
                        <a:rPr sz="1050" b="0" i="0">
                          <a:solidFill>
                            <a:srgbClr val="000000"/>
                          </a:solidFill>
                          <a:latin typeface="Calibri"/>
                        </a:rPr>
                        <a:t>Table 114: South Asia &amp; Pacific Market Value by Country, US$ Mn, 2021–2036</a:t>
                      </a:r>
                      <a:endParaRPr sz="1050"/>
                    </a:p>
                  </a:txBody>
                  <a:tcPr marL="9525" marR="9525" marT="9525" marB="0" anchor="ctr"/>
                </a:tc>
              </a:tr>
              <a:tr h="175494">
                <a:tc>
                  <a:txBody>
                    <a:bodyPr wrap="square"/>
                    <a:lstStyle/>
                    <a:p>
                      <a:pPr algn="l"/>
                      <a:r>
                        <a:rPr sz="1050" b="0" i="0">
                          <a:solidFill>
                            <a:srgbClr val="000000"/>
                          </a:solidFill>
                          <a:latin typeface="Calibri"/>
                        </a:rPr>
                        <a:t>Table 115: Middle East &amp; Africa Market Value by Country, US$ Mn, 2021–2036</a:t>
                      </a:r>
                      <a:endParaRPr sz="1050"/>
                    </a:p>
                  </a:txBody>
                  <a:tcPr marL="9525" marR="9525" marT="9525" marB="0" anchor="ctr"/>
                </a:tc>
              </a:tr>
              <a:tr h="343968">
                <a:tc>
                  <a:txBody>
                    <a:bodyPr wrap="square"/>
                    <a:lstStyle/>
                    <a:p>
                      <a:pPr algn="l"/>
                      <a:r>
                        <a:rPr sz="1050" b="0" i="0">
                          <a:solidFill>
                            <a:srgbClr val="000000"/>
                          </a:solidFill>
                          <a:latin typeface="Calibri"/>
                        </a:rPr>
                        <a:t>Table 116: North America Market CAGR and Absolute $ Opportunity by Country, %, US$ Mn, 2026–2036</a:t>
                      </a:r>
                      <a:endParaRPr sz="1050"/>
                    </a:p>
                  </a:txBody>
                  <a:tcPr marL="9525" marR="9525" marT="9525" marB="0" anchor="ctr"/>
                </a:tc>
              </a:tr>
              <a:tr h="175494">
                <a:tc>
                  <a:txBody>
                    <a:bodyPr wrap="square"/>
                    <a:lstStyle/>
                    <a:p>
                      <a:pPr algn="l"/>
                      <a:r>
                        <a:rPr sz="1050" b="0" i="0">
                          <a:solidFill>
                            <a:srgbClr val="000000"/>
                          </a:solidFill>
                          <a:latin typeface="Calibri"/>
                        </a:rPr>
                        <a:t>Table 117: Latin America Market CAGR and Absolute $ Opportunity by Country, %, US$ Mn, 2026–2036</a:t>
                      </a:r>
                      <a:endParaRPr sz="1050"/>
                    </a:p>
                  </a:txBody>
                  <a:tcPr marL="9525" marR="9525" marT="9525" marB="0" anchor="ctr"/>
                </a:tc>
              </a:tr>
              <a:tr h="175494">
                <a:tc>
                  <a:txBody>
                    <a:bodyPr wrap="square"/>
                    <a:lstStyle/>
                    <a:p>
                      <a:pPr algn="l"/>
                      <a:r>
                        <a:rPr sz="1050" b="0" i="0">
                          <a:solidFill>
                            <a:srgbClr val="000000"/>
                          </a:solidFill>
                          <a:latin typeface="Calibri"/>
                        </a:rPr>
                        <a:t>Table 118: Europe Market CAGR and Absolute $ Opportunity by Country, %, US$ Mn, 2026–2036</a:t>
                      </a:r>
                      <a:endParaRPr sz="1050"/>
                    </a:p>
                  </a:txBody>
                  <a:tcPr marL="9525" marR="9525" marT="9525" marB="0" anchor="ctr"/>
                </a:tc>
              </a:tr>
              <a:tr h="175494">
                <a:tc>
                  <a:txBody>
                    <a:bodyPr wrap="square"/>
                    <a:lstStyle/>
                    <a:p>
                      <a:pPr algn="l"/>
                      <a:r>
                        <a:rPr sz="1050" b="0" i="0">
                          <a:solidFill>
                            <a:srgbClr val="000000"/>
                          </a:solidFill>
                          <a:latin typeface="Calibri"/>
                        </a:rPr>
                        <a:t>Table 119: East Asia Market CAGR and Absolute $ Opportunity by Country, %,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333289">
                <a:tc>
                  <a:txBody>
                    <a:bodyPr wrap="square"/>
                    <a:lstStyle/>
                    <a:p>
                      <a:pPr algn="l"/>
                      <a:r>
                        <a:rPr sz="1050" b="0" i="0">
                          <a:solidFill>
                            <a:srgbClr val="000000"/>
                          </a:solidFill>
                          <a:latin typeface="Calibri"/>
                        </a:rPr>
                        <a:t>Table 120: South Asia &amp; Pacific Market CAGR and Absolute $ Opportunity by Country, %, US$ Mn, 2026–2036</a:t>
                      </a:r>
                      <a:endParaRPr sz="1050"/>
                    </a:p>
                  </a:txBody>
                  <a:tcPr marL="9525" marR="9525" marT="9525" marB="0" anchor="ctr"/>
                </a:tc>
              </a:tr>
              <a:tr h="333289">
                <a:tc>
                  <a:txBody>
                    <a:bodyPr wrap="square"/>
                    <a:lstStyle/>
                    <a:p>
                      <a:pPr algn="l"/>
                      <a:r>
                        <a:rPr sz="1050" b="0" i="0">
                          <a:solidFill>
                            <a:srgbClr val="000000"/>
                          </a:solidFill>
                          <a:latin typeface="Calibri"/>
                        </a:rPr>
                        <a:t>Table 121: Middle East &amp; Africa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122: North America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123: Latin America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124: Europe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125: East Asia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126: South Asia &amp; Pacific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127: Middle East &amp; Africa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128: North America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129: Latin America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130: Europe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131: East Asia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132: U.S.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133: U.S. Market Historical and Forecast Growth, %, 2021–2036</a:t>
                      </a:r>
                      <a:endParaRPr sz="1050"/>
                    </a:p>
                  </a:txBody>
                  <a:tcPr marL="9525" marR="9525" marT="9525" marB="0" anchor="ctr"/>
                </a:tc>
              </a:tr>
              <a:tr h="170045">
                <a:tc>
                  <a:txBody>
                    <a:bodyPr wrap="square"/>
                    <a:lstStyle/>
                    <a:p>
                      <a:pPr algn="l"/>
                      <a:r>
                        <a:rPr sz="1050" b="0" i="0">
                          <a:solidFill>
                            <a:srgbClr val="000000"/>
                          </a:solidFill>
                          <a:latin typeface="Calibri"/>
                        </a:rPr>
                        <a:t>Table 134: U.S. Market Value by End User, US$ Mn, 2021–2036</a:t>
                      </a:r>
                      <a:endParaRPr sz="1050"/>
                    </a:p>
                  </a:txBody>
                  <a:tcPr marL="9525" marR="9525" marT="9525" marB="0" anchor="ctr"/>
                </a:tc>
              </a:tr>
              <a:tr h="170045">
                <a:tc>
                  <a:txBody>
                    <a:bodyPr wrap="square"/>
                    <a:lstStyle/>
                    <a:p>
                      <a:pPr algn="l"/>
                      <a:r>
                        <a:rPr sz="1050" b="0" i="0">
                          <a:solidFill>
                            <a:srgbClr val="000000"/>
                          </a:solidFill>
                          <a:latin typeface="Calibri"/>
                        </a:rPr>
                        <a:t>Table 135: U.S. Market Share within North America, %, 2025, 2026 and 2036</a:t>
                      </a:r>
                      <a:endParaRPr sz="1050"/>
                    </a:p>
                  </a:txBody>
                  <a:tcPr marL="9525" marR="9525" marT="9525" marB="0" anchor="ctr"/>
                </a:tc>
              </a:tr>
              <a:tr h="170045">
                <a:tc>
                  <a:txBody>
                    <a:bodyPr wrap="square"/>
                    <a:lstStyle/>
                    <a:p>
                      <a:pPr algn="l"/>
                      <a:r>
                        <a:rPr sz="1050" b="0" i="0">
                          <a:solidFill>
                            <a:srgbClr val="000000"/>
                          </a:solidFill>
                          <a:latin typeface="Calibri"/>
                        </a:rPr>
                        <a:t>Table 136: U.S.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137: U.S. Market Value by Technology, US$ Mn, 2021–2036</a:t>
                      </a:r>
                      <a:endParaRPr sz="1050"/>
                    </a:p>
                  </a:txBody>
                  <a:tcPr marL="9525" marR="9525" marT="9525" marB="0" anchor="ctr"/>
                </a:tc>
              </a:tr>
              <a:tr h="170045">
                <a:tc>
                  <a:txBody>
                    <a:bodyPr wrap="square"/>
                    <a:lstStyle/>
                    <a:p>
                      <a:pPr algn="l"/>
                      <a:r>
                        <a:rPr sz="1050" b="0" i="0">
                          <a:solidFill>
                            <a:srgbClr val="000000"/>
                          </a:solidFill>
                          <a:latin typeface="Calibri"/>
                        </a:rPr>
                        <a:t>Table 138: U.S. Market Value by Distribution Channel, US$ Mn, 2021–2036</a:t>
                      </a:r>
                      <a:endParaRPr sz="1050"/>
                    </a:p>
                  </a:txBody>
                  <a:tcPr marL="9525" marR="9525" marT="9525" marB="0" anchor="ctr"/>
                </a:tc>
              </a:tr>
              <a:tr h="170045">
                <a:tc>
                  <a:txBody>
                    <a:bodyPr wrap="square"/>
                    <a:lstStyle/>
                    <a:p>
                      <a:pPr algn="l"/>
                      <a:r>
                        <a:rPr sz="1050" b="0" i="0">
                          <a:solidFill>
                            <a:srgbClr val="000000"/>
                          </a:solidFill>
                          <a:latin typeface="Calibri"/>
                        </a:rPr>
                        <a:t>Table 139: U.S. Market Value by Patient Age Group, US$ Mn, 2021–2036</a:t>
                      </a:r>
                      <a:endParaRPr sz="1050"/>
                    </a:p>
                  </a:txBody>
                  <a:tcPr marL="9525" marR="9525" marT="9525" marB="0" anchor="ctr"/>
                </a:tc>
              </a:tr>
              <a:tr h="170045">
                <a:tc>
                  <a:txBody>
                    <a:bodyPr wrap="square"/>
                    <a:lstStyle/>
                    <a:p>
                      <a:pPr algn="l"/>
                      <a:r>
                        <a:rPr sz="1050" b="0" i="0">
                          <a:solidFill>
                            <a:srgbClr val="000000"/>
                          </a:solidFill>
                          <a:latin typeface="Calibri"/>
                        </a:rPr>
                        <a:t>Table 140: Germany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141: Germany Market Historical and Forecast Growth, %, 2021–2036</a:t>
                      </a:r>
                      <a:endParaRPr sz="1050"/>
                    </a:p>
                  </a:txBody>
                  <a:tcPr marL="9525" marR="9525" marT="9525" marB="0" anchor="ctr"/>
                </a:tc>
              </a:tr>
              <a:tr h="170045">
                <a:tc>
                  <a:txBody>
                    <a:bodyPr wrap="square"/>
                    <a:lstStyle/>
                    <a:p>
                      <a:pPr algn="l"/>
                      <a:r>
                        <a:rPr sz="1050" b="0" i="0">
                          <a:solidFill>
                            <a:srgbClr val="000000"/>
                          </a:solidFill>
                          <a:latin typeface="Calibri"/>
                        </a:rPr>
                        <a:t>Table 142: Germany Market Value by End User, US$ Mn, 2021–2036</a:t>
                      </a:r>
                      <a:endParaRPr sz="1050"/>
                    </a:p>
                  </a:txBody>
                  <a:tcPr marL="9525" marR="9525" marT="9525" marB="0" anchor="ctr"/>
                </a:tc>
              </a:tr>
              <a:tr h="170045">
                <a:tc>
                  <a:txBody>
                    <a:bodyPr wrap="square"/>
                    <a:lstStyle/>
                    <a:p>
                      <a:pPr algn="l"/>
                      <a:r>
                        <a:rPr sz="1050" b="0" i="0">
                          <a:solidFill>
                            <a:srgbClr val="000000"/>
                          </a:solidFill>
                          <a:latin typeface="Calibri"/>
                        </a:rPr>
                        <a:t>Table 143: Germany Market Share within Europe,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144: Germany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145: Germany Market Value by Technology, US$ Mn, 2021–2036</a:t>
                      </a:r>
                      <a:endParaRPr sz="1050"/>
                    </a:p>
                  </a:txBody>
                  <a:tcPr marL="9525" marR="9525" marT="9525" marB="0" anchor="ctr"/>
                </a:tc>
              </a:tr>
              <a:tr h="170045">
                <a:tc>
                  <a:txBody>
                    <a:bodyPr wrap="square"/>
                    <a:lstStyle/>
                    <a:p>
                      <a:pPr algn="l"/>
                      <a:r>
                        <a:rPr sz="1050" b="0" i="0">
                          <a:solidFill>
                            <a:srgbClr val="000000"/>
                          </a:solidFill>
                          <a:latin typeface="Calibri"/>
                        </a:rPr>
                        <a:t>Table 146: Germany Market Value by Distribution Channel, US$ Mn, 2021–2036</a:t>
                      </a:r>
                      <a:endParaRPr sz="1050"/>
                    </a:p>
                  </a:txBody>
                  <a:tcPr marL="9525" marR="9525" marT="9525" marB="0" anchor="ctr"/>
                </a:tc>
              </a:tr>
              <a:tr h="170045">
                <a:tc>
                  <a:txBody>
                    <a:bodyPr wrap="square"/>
                    <a:lstStyle/>
                    <a:p>
                      <a:pPr algn="l"/>
                      <a:r>
                        <a:rPr sz="1050" b="0" i="0">
                          <a:solidFill>
                            <a:srgbClr val="000000"/>
                          </a:solidFill>
                          <a:latin typeface="Calibri"/>
                        </a:rPr>
                        <a:t>Table 147: Germany Market Value by Patient Age Group, US$ Mn, 2021–2036</a:t>
                      </a:r>
                      <a:endParaRPr sz="1050"/>
                    </a:p>
                  </a:txBody>
                  <a:tcPr marL="9525" marR="9525" marT="9525" marB="0" anchor="ctr"/>
                </a:tc>
              </a:tr>
              <a:tr h="170045">
                <a:tc>
                  <a:txBody>
                    <a:bodyPr wrap="square"/>
                    <a:lstStyle/>
                    <a:p>
                      <a:pPr algn="l"/>
                      <a:r>
                        <a:rPr sz="1050" b="0" i="0">
                          <a:solidFill>
                            <a:srgbClr val="000000"/>
                          </a:solidFill>
                          <a:latin typeface="Calibri"/>
                        </a:rPr>
                        <a:t>Table 148: Canada Market Value by Product Type,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149: Canada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150: Canada Market Value by End User, US$ Mn, 2021–2036</a:t>
                      </a:r>
                      <a:endParaRPr sz="1050"/>
                    </a:p>
                  </a:txBody>
                  <a:tcPr marL="9525" marR="9525" marT="9525" marB="0" anchor="ctr"/>
                </a:tc>
              </a:tr>
              <a:tr h="169606">
                <a:tc>
                  <a:txBody>
                    <a:bodyPr wrap="square"/>
                    <a:lstStyle/>
                    <a:p>
                      <a:pPr algn="l"/>
                      <a:r>
                        <a:rPr sz="1050" b="0" i="0">
                          <a:solidFill>
                            <a:srgbClr val="000000"/>
                          </a:solidFill>
                          <a:latin typeface="Calibri"/>
                        </a:rPr>
                        <a:t>Table 151: Canada Market Share within North America,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152: Canada Market Value by Material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153: Canada Market Value by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154: Canada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Table 155: Canada Market Value by Patient Age Group, US$ Mn, 2021–2036</a:t>
                      </a:r>
                      <a:endParaRPr sz="1050"/>
                    </a:p>
                  </a:txBody>
                  <a:tcPr marL="9525" marR="9525" marT="9525" marB="0" anchor="ctr"/>
                </a:tc>
              </a:tr>
              <a:tr h="169606">
                <a:tc>
                  <a:txBody>
                    <a:bodyPr wrap="square"/>
                    <a:lstStyle/>
                    <a:p>
                      <a:pPr algn="l"/>
                      <a:r>
                        <a:rPr sz="1050" b="0" i="0">
                          <a:solidFill>
                            <a:srgbClr val="000000"/>
                          </a:solidFill>
                          <a:latin typeface="Calibri"/>
                        </a:rPr>
                        <a:t>Table 156: China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157: China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158: China Market Value by End User, US$ Mn, 2021–2036</a:t>
                      </a:r>
                      <a:endParaRPr sz="1050"/>
                    </a:p>
                  </a:txBody>
                  <a:tcPr marL="9525" marR="9525" marT="9525" marB="0" anchor="ctr"/>
                </a:tc>
              </a:tr>
              <a:tr h="169606">
                <a:tc>
                  <a:txBody>
                    <a:bodyPr wrap="square"/>
                    <a:lstStyle/>
                    <a:p>
                      <a:pPr algn="l"/>
                      <a:r>
                        <a:rPr sz="1050" b="0" i="0">
                          <a:solidFill>
                            <a:srgbClr val="000000"/>
                          </a:solidFill>
                          <a:latin typeface="Calibri"/>
                        </a:rPr>
                        <a:t>Table 159: India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160: India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161: Brazil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162: Brazil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163: U.K.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164: U.K.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165: Market Product Price Comparison by Company and Product Type, US$/Units, 2026</a:t>
                      </a:r>
                      <a:endParaRPr sz="1050"/>
                    </a:p>
                  </a:txBody>
                  <a:tcPr marL="9525" marR="9525" marT="9525" marB="0" anchor="ctr"/>
                </a:tc>
              </a:tr>
              <a:tr h="169606">
                <a:tc>
                  <a:txBody>
                    <a:bodyPr wrap="square"/>
                    <a:lstStyle/>
                    <a:p>
                      <a:pPr algn="l"/>
                      <a:r>
                        <a:rPr sz="1050" b="0" i="0">
                          <a:solidFill>
                            <a:srgbClr val="000000"/>
                          </a:solidFill>
                          <a:latin typeface="Calibri"/>
                        </a:rPr>
                        <a:t>Table 166: Global Market Average Selling Price by Region, US$/Units, 2021–2036</a:t>
                      </a:r>
                      <a:endParaRPr sz="1050"/>
                    </a:p>
                  </a:txBody>
                  <a:tcPr marL="9525" marR="9525" marT="9525" marB="0" anchor="ctr"/>
                </a:tc>
              </a:tr>
              <a:tr h="169606">
                <a:tc>
                  <a:txBody>
                    <a:bodyPr wrap="square"/>
                    <a:lstStyle/>
                    <a:p>
                      <a:pPr algn="l"/>
                      <a:r>
                        <a:rPr sz="1050" b="0" i="0">
                          <a:solidFill>
                            <a:srgbClr val="000000"/>
                          </a:solidFill>
                          <a:latin typeface="Calibri"/>
                        </a:rPr>
                        <a:t>Table 167: Global Market Average Selling Price by Product Type, US$/Units, 2021–2036</a:t>
                      </a:r>
                      <a:endParaRPr sz="1050"/>
                    </a:p>
                  </a:txBody>
                  <a:tcPr marL="9525" marR="9525" marT="9525" marB="0" anchor="ctr"/>
                </a:tc>
              </a:tr>
              <a:tr h="169606">
                <a:tc>
                  <a:txBody>
                    <a:bodyPr wrap="square"/>
                    <a:lstStyle/>
                    <a:p>
                      <a:pPr algn="l"/>
                      <a:r>
                        <a:rPr sz="1050" b="0" i="0">
                          <a:solidFill>
                            <a:srgbClr val="000000"/>
                          </a:solidFill>
                          <a:latin typeface="Calibri"/>
                        </a:rPr>
                        <a:t>Table 168: Global Market Average Selling Price by Material Type, US$/Units, 2021–2036</a:t>
                      </a:r>
                      <a:endParaRPr sz="1050"/>
                    </a:p>
                  </a:txBody>
                  <a:tcPr marL="9525" marR="9525" marT="9525" marB="0" anchor="ctr"/>
                </a:tc>
              </a:tr>
              <a:tr h="169606">
                <a:tc>
                  <a:txBody>
                    <a:bodyPr wrap="square"/>
                    <a:lstStyle/>
                    <a:p>
                      <a:pPr algn="l"/>
                      <a:r>
                        <a:rPr sz="1050" b="0" i="0">
                          <a:solidFill>
                            <a:srgbClr val="000000"/>
                          </a:solidFill>
                          <a:latin typeface="Calibri"/>
                        </a:rPr>
                        <a:t>Table 169: Global Market Average Selling Price by Technology, US$/Units, 2021–2036</a:t>
                      </a:r>
                      <a:endParaRPr sz="1050"/>
                    </a:p>
                  </a:txBody>
                  <a:tcPr marL="9525" marR="9525" marT="9525" marB="0" anchor="ctr"/>
                </a:tc>
              </a:tr>
              <a:tr h="169606">
                <a:tc>
                  <a:txBody>
                    <a:bodyPr wrap="square"/>
                    <a:lstStyle/>
                    <a:p>
                      <a:pPr algn="l"/>
                      <a:r>
                        <a:rPr sz="1050" b="0" i="0">
                          <a:solidFill>
                            <a:srgbClr val="000000"/>
                          </a:solidFill>
                          <a:latin typeface="Calibri"/>
                        </a:rPr>
                        <a:t>Table 170: Global Market Average Selling Price by End User, US$/Units, 2021–2036</a:t>
                      </a:r>
                      <a:endParaRPr sz="1050"/>
                    </a:p>
                  </a:txBody>
                  <a:tcPr marL="9525" marR="9525" marT="9525" marB="0" anchor="ctr"/>
                </a:tc>
              </a:tr>
              <a:tr h="169606">
                <a:tc>
                  <a:txBody>
                    <a:bodyPr wrap="square"/>
                    <a:lstStyle/>
                    <a:p>
                      <a:pPr algn="l"/>
                      <a:r>
                        <a:rPr sz="1050" b="0" i="0">
                          <a:solidFill>
                            <a:srgbClr val="000000"/>
                          </a:solidFill>
                          <a:latin typeface="Calibri"/>
                        </a:rPr>
                        <a:t>Table 171: Global Market Average Selling Price by Distribution Channel, US$/Units, 2021–2036</a:t>
                      </a:r>
                      <a:endParaRPr sz="1050"/>
                    </a:p>
                  </a:txBody>
                  <a:tcPr marL="9525" marR="9525" marT="9525" marB="0" anchor="ctr"/>
                </a:tc>
              </a:tr>
              <a:tr h="169606">
                <a:tc>
                  <a:txBody>
                    <a:bodyPr wrap="square"/>
                    <a:lstStyle/>
                    <a:p>
                      <a:pPr algn="l"/>
                      <a:r>
                        <a:rPr sz="1050" b="0" i="0">
                          <a:solidFill>
                            <a:srgbClr val="000000"/>
                          </a:solidFill>
                          <a:latin typeface="Calibri"/>
                        </a:rPr>
                        <a:t>Table 172: Global Market Average Selling Price by Patient Age Group, US$/Units, 2021–2036</a:t>
                      </a:r>
                      <a:endParaRPr sz="1050"/>
                    </a:p>
                  </a:txBody>
                  <a:tcPr marL="9525" marR="9525" marT="9525" marB="0" anchor="ctr"/>
                </a:tc>
              </a:tr>
              <a:tr h="169606">
                <a:tc>
                  <a:txBody>
                    <a:bodyPr wrap="square"/>
                    <a:lstStyle/>
                    <a:p>
                      <a:pPr algn="l"/>
                      <a:r>
                        <a:rPr sz="1050" b="0" i="0">
                          <a:solidFill>
                            <a:srgbClr val="000000"/>
                          </a:solidFill>
                          <a:latin typeface="Calibri"/>
                        </a:rPr>
                        <a:t>Table 173: Supplier-to-Customer Relationship Mapping in U.S., 2026</a:t>
                      </a:r>
                      <a:endParaRPr sz="1050"/>
                    </a:p>
                  </a:txBody>
                  <a:tcPr marL="9525" marR="9525" marT="9525" marB="0" anchor="ctr"/>
                </a:tc>
              </a:tr>
              <a:tr h="169606">
                <a:tc>
                  <a:txBody>
                    <a:bodyPr wrap="square"/>
                    <a:lstStyle/>
                    <a:p>
                      <a:pPr algn="l"/>
                      <a:r>
                        <a:rPr sz="1050" b="0" i="0">
                          <a:solidFill>
                            <a:srgbClr val="000000"/>
                          </a:solidFill>
                          <a:latin typeface="Calibri"/>
                        </a:rPr>
                        <a:t>Table 174: Global Market Value Chain Participants by Stage, 2026</a:t>
                      </a:r>
                      <a:endParaRPr sz="1050"/>
                    </a:p>
                  </a:txBody>
                  <a:tcPr marL="9525" marR="9525" marT="9525" marB="0" anchor="ctr"/>
                </a:tc>
              </a:tr>
              <a:tr h="169606">
                <a:tc>
                  <a:txBody>
                    <a:bodyPr wrap="square"/>
                    <a:lstStyle/>
                    <a:p>
                      <a:pPr algn="l"/>
                      <a:r>
                        <a:rPr sz="1050" b="0" i="0">
                          <a:solidFill>
                            <a:srgbClr val="000000"/>
                          </a:solidFill>
                          <a:latin typeface="Calibri"/>
                        </a:rPr>
                        <a:t>Table 175: Global Market Margin Analysis by Value Chain Stage, %, 2026</a:t>
                      </a:r>
                      <a:endParaRPr sz="1050"/>
                    </a:p>
                  </a:txBody>
                  <a:tcPr marL="9525" marR="9525" marT="9525" marB="0" anchor="ctr"/>
                </a:tc>
              </a:tr>
              <a:tr h="169606">
                <a:tc>
                  <a:txBody>
                    <a:bodyPr wrap="square"/>
                    <a:lstStyle/>
                    <a:p>
                      <a:pPr algn="l"/>
                      <a:r>
                        <a:rPr sz="1050" b="0" i="0">
                          <a:solidFill>
                            <a:srgbClr val="000000"/>
                          </a:solidFill>
                          <a:latin typeface="Calibri"/>
                        </a:rPr>
                        <a:t>Table 176: Global Market Cost Structure by Component, %, 2026</a:t>
                      </a:r>
                      <a:endParaRPr sz="1050"/>
                    </a:p>
                  </a:txBody>
                  <a:tcPr marL="9525" marR="9525" marT="9525" marB="0" anchor="ctr"/>
                </a:tc>
              </a:tr>
              <a:tr h="169606">
                <a:tc>
                  <a:txBody>
                    <a:bodyPr wrap="square"/>
                    <a:lstStyle/>
                    <a:p>
                      <a:pPr algn="l"/>
                      <a:r>
                        <a:rPr sz="1050" b="0" i="0">
                          <a:solidFill>
                            <a:srgbClr val="000000"/>
                          </a:solidFill>
                          <a:latin typeface="Calibri"/>
                        </a:rPr>
                        <a:t>Table 177: Global Market Import Value by Leading Country, US$ Mn, 2021–2025</a:t>
                      </a:r>
                      <a:endParaRPr sz="1050"/>
                    </a:p>
                  </a:txBody>
                  <a:tcPr marL="9525" marR="9525" marT="9525" marB="0" anchor="ctr"/>
                </a:tc>
              </a:tr>
              <a:tr h="169606">
                <a:tc>
                  <a:txBody>
                    <a:bodyPr wrap="square"/>
                    <a:lstStyle/>
                    <a:p>
                      <a:pPr algn="l"/>
                      <a:r>
                        <a:rPr sz="1050" b="0" i="0">
                          <a:solidFill>
                            <a:srgbClr val="000000"/>
                          </a:solidFill>
                          <a:latin typeface="Calibri"/>
                        </a:rPr>
                        <a:t>Table 178: Global Market Export Value by Leading Country, US$ Mn, 2021–2025</a:t>
                      </a:r>
                      <a:endParaRPr sz="1050"/>
                    </a:p>
                  </a:txBody>
                  <a:tcPr marL="9525" marR="9525" marT="9525" marB="0" anchor="ctr"/>
                </a:tc>
              </a:tr>
              <a:tr h="169606">
                <a:tc>
                  <a:txBody>
                    <a:bodyPr wrap="square"/>
                    <a:lstStyle/>
                    <a:p>
                      <a:pPr algn="l"/>
                      <a:r>
                        <a:rPr sz="1050" b="0" i="0">
                          <a:solidFill>
                            <a:srgbClr val="000000"/>
                          </a:solidFill>
                          <a:latin typeface="Calibri"/>
                        </a:rPr>
                        <a:t>Table 179: Global Market Trade Flow Matrix by Region, US$ Mn, 2025</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3660468"/>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180: Global Market Pricing Factors and Impact Rating, 2026–2036</a:t>
                      </a:r>
                      <a:endParaRPr sz="1050"/>
                    </a:p>
                  </a:txBody>
                  <a:tcPr marL="9525" marR="9525" marT="9525" marB="0" anchor="ctr"/>
                </a:tc>
              </a:tr>
              <a:tr h="326708">
                <a:tc>
                  <a:txBody>
                    <a:bodyPr wrap="square"/>
                    <a:lstStyle/>
                    <a:p>
                      <a:pPr algn="l"/>
                      <a:r>
                        <a:rPr sz="1050" b="0" i="0">
                          <a:solidFill>
                            <a:srgbClr val="000000"/>
                          </a:solidFill>
                          <a:latin typeface="Calibri"/>
                        </a:rPr>
                        <a:t>Table 181: Leading Removable Partial Dentures Manufacturers: Product Portfolio and Geographic Presence, 2026</a:t>
                      </a:r>
                      <a:endParaRPr sz="1050"/>
                    </a:p>
                  </a:txBody>
                  <a:tcPr marL="9525" marR="9525" marT="9525" marB="0" anchor="ctr"/>
                </a:tc>
              </a:tr>
              <a:tr h="166688">
                <a:tc>
                  <a:txBody>
                    <a:bodyPr wrap="square"/>
                    <a:lstStyle/>
                    <a:p>
                      <a:pPr algn="l"/>
                      <a:r>
                        <a:rPr sz="1050" b="0" i="0">
                          <a:solidFill>
                            <a:srgbClr val="000000"/>
                          </a:solidFill>
                          <a:latin typeface="Calibri"/>
                        </a:rPr>
                        <a:t>Table 182: Company Revenue from the Global Market, US$ Mn, 2025–2026</a:t>
                      </a:r>
                      <a:endParaRPr sz="1050"/>
                    </a:p>
                  </a:txBody>
                  <a:tcPr marL="9525" marR="9525" marT="9525" marB="0" anchor="ctr"/>
                </a:tc>
              </a:tr>
              <a:tr h="166688">
                <a:tc>
                  <a:txBody>
                    <a:bodyPr wrap="square"/>
                    <a:lstStyle/>
                    <a:p>
                      <a:pPr algn="l"/>
                      <a:r>
                        <a:rPr sz="1050" b="0" i="0">
                          <a:solidFill>
                            <a:srgbClr val="000000"/>
                          </a:solidFill>
                          <a:latin typeface="Calibri"/>
                        </a:rPr>
                        <a:t>Table 183: Company Market Share in the Global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184: Global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185: Global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186: Company 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Company B: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Company 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Company D: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Company 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Company F: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Company 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Company 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Global Market Value by Scenario and Region, US$ Mn, 2026–2036</a:t>
                      </a:r>
                      <a:endParaRPr sz="1050"/>
                    </a:p>
                  </a:txBody>
                  <a:tcPr marL="9525" marR="9525" marT="9525" marB="0" anchor="ctr"/>
                </a:tc>
              </a:tr>
              <a:tr h="166688">
                <a:tc>
                  <a:txBody>
                    <a:bodyPr wrap="square"/>
                    <a:lstStyle/>
                    <a:p>
                      <a:pPr algn="l"/>
                      <a:r>
                        <a:rPr sz="1050" b="0" i="0">
                          <a:solidFill>
                            <a:srgbClr val="000000"/>
                          </a:solidFill>
                          <a:latin typeface="Calibri"/>
                        </a:rPr>
                        <a:t>Table 195: Global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Global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197: Global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Global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199: Global Market Customer Purchase Criteria by Product Type, 2026</a:t>
                      </a:r>
                      <a:endParaRPr sz="1050"/>
                    </a:p>
                  </a:txBody>
                  <a:tcPr marL="9525" marR="9525" marT="9525" marB="0" anchor="ctr"/>
                </a:tc>
              </a:tr>
              <a:tr h="166688">
                <a:tc>
                  <a:txBody>
                    <a:bodyPr wrap="square"/>
                    <a:lstStyle/>
                    <a:p>
                      <a:pPr algn="l"/>
                      <a:r>
                        <a:rPr sz="1050" b="0" i="0">
                          <a:solidFill>
                            <a:srgbClr val="000000"/>
                          </a:solidFill>
                          <a:latin typeface="Calibri"/>
                        </a:rPr>
                        <a:t>Table 200: Global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70116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005965"/>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2710815"/>
            <a:ext cx="7124700" cy="387477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Patient Age Group</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By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(UNITS)</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780705" cy="186689"/>
          </a:xfrm>
          <a:prstGeom prst="rect">
            <a:avLst/>
          </a:prstGeom>
          <a:noFill/>
        </p:spPr>
        <p:txBody>
          <a:bodyPr wrap="none" lIns="0" rIns="0" tIns="0" bIns="0">
            <a:spAutoFit/>
          </a:bodyPr>
          <a:lstStyle/>
          <a:p>
            <a:r>
              <a:rPr sz="1100" b="0">
                <a:solidFill>
                  <a:srgbClr val="2E2E2E"/>
                </a:solidFill>
                <a:latin typeface="Calibri"/>
              </a:rPr>
              <a:t>Global removable partial dentures market is projected to register</a:t>
            </a:r>
          </a:p>
        </p:txBody>
      </p:sp>
      <p:pic>
        <p:nvPicPr>
          <p:cNvPr id="36" name="Picture 35" descr="lock.png"/>
          <p:cNvPicPr>
            <a:picLocks noChangeAspect="1"/>
          </p:cNvPicPr>
          <p:nvPr/>
        </p:nvPicPr>
        <p:blipFill>
          <a:blip r:embed="rId6"/>
          <a:stretch>
            <a:fillRect/>
          </a:stretch>
        </p:blipFill>
        <p:spPr>
          <a:xfrm>
            <a:off x="8035157" y="2204848"/>
            <a:ext cx="128699" cy="187198"/>
          </a:xfrm>
          <a:prstGeom prst="rect">
            <a:avLst/>
          </a:prstGeom>
        </p:spPr>
      </p:pic>
      <p:sp>
        <p:nvSpPr>
          <p:cNvPr id="37" name="TextBox 36"/>
          <p:cNvSpPr txBox="1"/>
          <p:nvPr/>
        </p:nvSpPr>
        <p:spPr>
          <a:xfrm>
            <a:off x="8202653" y="2214627"/>
            <a:ext cx="3314948"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 2036.</a:t>
            </a:r>
          </a:p>
        </p:txBody>
      </p:sp>
      <p:sp>
        <p:nvSpPr>
          <p:cNvPr id="38" name="TextBox 37"/>
          <p:cNvSpPr txBox="1"/>
          <p:nvPr/>
        </p:nvSpPr>
        <p:spPr>
          <a:xfrm>
            <a:off x="8048625" y="2382267"/>
            <a:ext cx="3416721" cy="186689"/>
          </a:xfrm>
          <a:prstGeom prst="rect">
            <a:avLst/>
          </a:prstGeom>
          <a:noFill/>
        </p:spPr>
        <p:txBody>
          <a:bodyPr wrap="none" lIns="0" rIns="0" tIns="0" bIns="0">
            <a:spAutoFit/>
          </a:bodyPr>
          <a:lstStyle/>
          <a:p>
            <a:r>
              <a:rPr sz="1100" b="0">
                <a:solidFill>
                  <a:srgbClr val="2E2E2E"/>
                </a:solidFill>
                <a:latin typeface="Calibri"/>
              </a:rPr>
              <a:t>Global removable partial dentures market volume stood at</a:t>
            </a:r>
          </a:p>
        </p:txBody>
      </p:sp>
      <p:pic>
        <p:nvPicPr>
          <p:cNvPr id="39" name="Picture 38" descr="lock.png"/>
          <p:cNvPicPr>
            <a:picLocks noChangeAspect="1"/>
          </p:cNvPicPr>
          <p:nvPr/>
        </p:nvPicPr>
        <p:blipFill>
          <a:blip r:embed="rId6"/>
          <a:stretch>
            <a:fillRect/>
          </a:stretch>
        </p:blipFill>
        <p:spPr>
          <a:xfrm>
            <a:off x="11413398" y="2372488"/>
            <a:ext cx="128699" cy="187198"/>
          </a:xfrm>
          <a:prstGeom prst="rect">
            <a:avLst/>
          </a:prstGeom>
        </p:spPr>
      </p:pic>
      <p:sp>
        <p:nvSpPr>
          <p:cNvPr id="40" name="TextBox 39"/>
          <p:cNvSpPr txBox="1"/>
          <p:nvPr/>
        </p:nvSpPr>
        <p:spPr>
          <a:xfrm>
            <a:off x="8048625" y="2549907"/>
            <a:ext cx="2245097" cy="186689"/>
          </a:xfrm>
          <a:prstGeom prst="rect">
            <a:avLst/>
          </a:prstGeom>
          <a:noFill/>
        </p:spPr>
        <p:txBody>
          <a:bodyPr wrap="none" lIns="0" rIns="0" tIns="0" bIns="0">
            <a:spAutoFit/>
          </a:bodyPr>
          <a:lstStyle/>
          <a:p>
            <a:r>
              <a:rPr sz="1100" b="0">
                <a:solidFill>
                  <a:srgbClr val="2E2E2E"/>
                </a:solidFill>
                <a:latin typeface="Calibri"/>
              </a:rPr>
              <a:t>Units in 2025 and is expected to reach</a:t>
            </a:r>
          </a:p>
        </p:txBody>
      </p:sp>
      <p:pic>
        <p:nvPicPr>
          <p:cNvPr id="41" name="Picture 40" descr="lock.png"/>
          <p:cNvPicPr>
            <a:picLocks noChangeAspect="1"/>
          </p:cNvPicPr>
          <p:nvPr/>
        </p:nvPicPr>
        <p:blipFill>
          <a:blip r:embed="rId6"/>
          <a:stretch>
            <a:fillRect/>
          </a:stretch>
        </p:blipFill>
        <p:spPr>
          <a:xfrm>
            <a:off x="10241773" y="2540128"/>
            <a:ext cx="128699" cy="187198"/>
          </a:xfrm>
          <a:prstGeom prst="rect">
            <a:avLst/>
          </a:prstGeom>
        </p:spPr>
      </p:pic>
      <p:sp>
        <p:nvSpPr>
          <p:cNvPr id="42" name="TextBox 41"/>
          <p:cNvSpPr txBox="1"/>
          <p:nvPr/>
        </p:nvSpPr>
        <p:spPr>
          <a:xfrm>
            <a:off x="10409269" y="2549907"/>
            <a:ext cx="1383704" cy="186689"/>
          </a:xfrm>
          <a:prstGeom prst="rect">
            <a:avLst/>
          </a:prstGeom>
          <a:noFill/>
        </p:spPr>
        <p:txBody>
          <a:bodyPr wrap="none" lIns="0" rIns="0" tIns="0" bIns="0">
            <a:spAutoFit/>
          </a:bodyPr>
          <a:lstStyle/>
          <a:p>
            <a:r>
              <a:rPr sz="1100" b="0">
                <a:solidFill>
                  <a:srgbClr val="2E2E2E"/>
                </a:solidFill>
                <a:latin typeface="Calibri"/>
              </a:rPr>
              <a:t>Units by 2036 end, at a</a:t>
            </a:r>
          </a:p>
        </p:txBody>
      </p:sp>
      <p:sp>
        <p:nvSpPr>
          <p:cNvPr id="43" name="TextBox 42"/>
          <p:cNvSpPr txBox="1"/>
          <p:nvPr/>
        </p:nvSpPr>
        <p:spPr>
          <a:xfrm>
            <a:off x="8048625" y="2717547"/>
            <a:ext cx="543304" cy="186689"/>
          </a:xfrm>
          <a:prstGeom prst="rect">
            <a:avLst/>
          </a:prstGeom>
          <a:noFill/>
        </p:spPr>
        <p:txBody>
          <a:bodyPr wrap="none" lIns="0" rIns="0" tIns="0" bIns="0">
            <a:spAutoFit/>
          </a:bodyPr>
          <a:lstStyle/>
          <a:p>
            <a:r>
              <a:rPr sz="1100" b="0">
                <a:solidFill>
                  <a:srgbClr val="2E2E2E"/>
                </a:solidFill>
                <a:latin typeface="Calibri"/>
              </a:rPr>
              <a:t>CAGR of</a:t>
            </a:r>
          </a:p>
        </p:txBody>
      </p:sp>
      <p:pic>
        <p:nvPicPr>
          <p:cNvPr id="44" name="Picture 43" descr="lock.png"/>
          <p:cNvPicPr>
            <a:picLocks noChangeAspect="1"/>
          </p:cNvPicPr>
          <p:nvPr/>
        </p:nvPicPr>
        <p:blipFill>
          <a:blip r:embed="rId6"/>
          <a:stretch>
            <a:fillRect/>
          </a:stretch>
        </p:blipFill>
        <p:spPr>
          <a:xfrm>
            <a:off x="8539981" y="2707768"/>
            <a:ext cx="128699" cy="187198"/>
          </a:xfrm>
          <a:prstGeom prst="rect">
            <a:avLst/>
          </a:prstGeom>
        </p:spPr>
      </p:pic>
      <p:sp>
        <p:nvSpPr>
          <p:cNvPr id="45" name="TextBox 44"/>
          <p:cNvSpPr txBox="1"/>
          <p:nvPr/>
        </p:nvSpPr>
        <p:spPr>
          <a:xfrm>
            <a:off x="8707477"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8048625" y="2935479"/>
            <a:ext cx="3678386" cy="186689"/>
          </a:xfrm>
          <a:prstGeom prst="rect">
            <a:avLst/>
          </a:prstGeom>
          <a:noFill/>
        </p:spPr>
        <p:txBody>
          <a:bodyPr wrap="none" lIns="0" rIns="0" tIns="0" bIns="0">
            <a:spAutoFit/>
          </a:bodyPr>
          <a:lstStyle/>
          <a:p>
            <a:r>
              <a:rPr sz="1100" b="0">
                <a:solidFill>
                  <a:srgbClr val="2E2E2E"/>
                </a:solidFill>
                <a:latin typeface="Calibri"/>
              </a:rPr>
              <a:t>Value is projected to grow faster than volume over the forecast</a:t>
            </a:r>
          </a:p>
        </p:txBody>
      </p:sp>
      <p:sp>
        <p:nvSpPr>
          <p:cNvPr id="47" name="TextBox 46"/>
          <p:cNvSpPr txBox="1"/>
          <p:nvPr/>
        </p:nvSpPr>
        <p:spPr>
          <a:xfrm>
            <a:off x="8048625" y="3103119"/>
            <a:ext cx="3049736" cy="186689"/>
          </a:xfrm>
          <a:prstGeom prst="rect">
            <a:avLst/>
          </a:prstGeom>
          <a:noFill/>
        </p:spPr>
        <p:txBody>
          <a:bodyPr wrap="none" lIns="0" rIns="0" tIns="0" bIns="0">
            <a:spAutoFit/>
          </a:bodyPr>
          <a:lstStyle/>
          <a:p>
            <a:r>
              <a:rPr sz="1100" b="0">
                <a:solidFill>
                  <a:srgbClr val="2E2E2E"/>
                </a:solidFill>
                <a:latin typeface="Calibri"/>
              </a:rPr>
              <a:t>period, owing to an increase in average selling price.</a:t>
            </a:r>
          </a:p>
        </p:txBody>
      </p:sp>
      <p:sp>
        <p:nvSpPr>
          <p:cNvPr id="48" name="TextBox 47"/>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49" name="Picture 48" descr="lock.png"/>
          <p:cNvPicPr>
            <a:picLocks noChangeAspect="1"/>
          </p:cNvPicPr>
          <p:nvPr/>
        </p:nvPicPr>
        <p:blipFill>
          <a:blip r:embed="rId6"/>
          <a:stretch>
            <a:fillRect/>
          </a:stretch>
        </p:blipFill>
        <p:spPr>
          <a:xfrm>
            <a:off x="10866614" y="4446251"/>
            <a:ext cx="134549" cy="195707"/>
          </a:xfrm>
          <a:prstGeom prst="rect">
            <a:avLst/>
          </a:prstGeom>
        </p:spPr>
      </p:pic>
      <p:sp>
        <p:nvSpPr>
          <p:cNvPr id="50" name="TextBox 49"/>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1" name="TextBox 50"/>
          <p:cNvSpPr txBox="1"/>
          <p:nvPr/>
        </p:nvSpPr>
        <p:spPr>
          <a:xfrm>
            <a:off x="8048625" y="4684312"/>
            <a:ext cx="3571701" cy="194310"/>
          </a:xfrm>
          <a:prstGeom prst="rect">
            <a:avLst/>
          </a:prstGeom>
          <a:noFill/>
        </p:spPr>
        <p:txBody>
          <a:bodyPr wrap="none" lIns="0" rIns="0" tIns="0" bIns="0">
            <a:spAutoFit/>
          </a:bodyPr>
          <a:lstStyle/>
          <a:p>
            <a:r>
              <a:rPr sz="1150" b="0">
                <a:solidFill>
                  <a:srgbClr val="2E2E2E"/>
                </a:solidFill>
                <a:latin typeface="Calibri"/>
              </a:rPr>
              <a:t>▪ Demand concentrates in 'Combination Framework Partial</a:t>
            </a:r>
          </a:p>
        </p:txBody>
      </p:sp>
      <p:sp>
        <p:nvSpPr>
          <p:cNvPr id="52" name="TextBox 51"/>
          <p:cNvSpPr txBox="1"/>
          <p:nvPr/>
        </p:nvSpPr>
        <p:spPr>
          <a:xfrm>
            <a:off x="8048625" y="4859572"/>
            <a:ext cx="1919795" cy="194310"/>
          </a:xfrm>
          <a:prstGeom prst="rect">
            <a:avLst/>
          </a:prstGeom>
          <a:noFill/>
        </p:spPr>
        <p:txBody>
          <a:bodyPr wrap="none" lIns="0" rIns="0" tIns="0" bIns="0">
            <a:spAutoFit/>
          </a:bodyPr>
          <a:lstStyle/>
          <a:p>
            <a:r>
              <a:rPr sz="1150" b="0">
                <a:solidFill>
                  <a:srgbClr val="2E2E2E"/>
                </a:solidFill>
                <a:latin typeface="Calibri"/>
              </a:rPr>
              <a:t>Dentures' within Product Type.</a:t>
            </a:r>
          </a:p>
        </p:txBody>
      </p:sp>
      <p:sp>
        <p:nvSpPr>
          <p:cNvPr id="53" name="TextBox 52"/>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4" name="TextBox 53"/>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5"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(US$/Units)</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cxnSp>
        <p:nvCxnSpPr>
          <p:cNvPr id="27" name="Connector 26"/>
          <p:cNvCxnSpPr/>
          <p:nvPr/>
        </p:nvCxnSpPr>
        <p:spPr>
          <a:xfrm flipV="1">
            <a:off x="1533525" y="2381104"/>
            <a:ext cx="0" cy="30659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68769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38110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462696"/>
            <a:ext cx="438150" cy="15311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54084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28704"/>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3286125" y="2243498"/>
            <a:ext cx="0" cy="32294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56644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224349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2329416"/>
            <a:ext cx="438150" cy="16126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241175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2091098"/>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9" name="Connector 38"/>
          <p:cNvCxnSpPr/>
          <p:nvPr/>
        </p:nvCxnSpPr>
        <p:spPr>
          <a:xfrm flipV="1">
            <a:off x="5038725" y="1670329"/>
            <a:ext cx="0" cy="39880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206913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1776472"/>
            <a:ext cx="438150" cy="19910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187816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45" name="Connector 44"/>
          <p:cNvCxnSpPr/>
          <p:nvPr/>
        </p:nvCxnSpPr>
        <p:spPr>
          <a:xfrm flipV="1">
            <a:off x="6791325" y="2875494"/>
            <a:ext cx="0" cy="24405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7549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40454"/>
            <a:ext cx="438150" cy="12190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0267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23094"/>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57" name="Connector 56"/>
          <p:cNvCxnSpPr/>
          <p:nvPr/>
        </p:nvCxnSpPr>
        <p:spPr>
          <a:xfrm>
            <a:off x="619125" y="432242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3110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54845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595712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22428"/>
            <a:ext cx="0" cy="163469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2242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3110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54845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595712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138112" y="4255753"/>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+8.3%</a:t>
            </a:r>
          </a:p>
        </p:txBody>
      </p:sp>
      <p:sp>
        <p:nvSpPr>
          <p:cNvPr id="69" name="FMI Scale tick"/>
          <p:cNvSpPr txBox="1"/>
          <p:nvPr/>
        </p:nvSpPr>
        <p:spPr>
          <a:xfrm>
            <a:off x="138112" y="4664427"/>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70"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71" name="FMI Scale tick"/>
          <p:cNvSpPr txBox="1"/>
          <p:nvPr/>
        </p:nvSpPr>
        <p:spPr>
          <a:xfrm>
            <a:off x="164306" y="5481775"/>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72" name="FMI Scale tick"/>
          <p:cNvSpPr txBox="1"/>
          <p:nvPr/>
        </p:nvSpPr>
        <p:spPr>
          <a:xfrm>
            <a:off x="164306" y="5890449"/>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-8.3%</a:t>
            </a:r>
          </a:p>
        </p:txBody>
      </p:sp>
      <p:cxnSp>
        <p:nvCxnSpPr>
          <p:cNvPr id="73" name="Connector 72"/>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977900" y="5139776"/>
            <a:ext cx="457200" cy="71631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586561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6" name="Rectangle 75"/>
          <p:cNvSpPr/>
          <p:nvPr/>
        </p:nvSpPr>
        <p:spPr>
          <a:xfrm>
            <a:off x="2152650" y="5074214"/>
            <a:ext cx="457200" cy="6556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1793875" y="493133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8" name="Rectangle 77"/>
          <p:cNvSpPr/>
          <p:nvPr/>
        </p:nvSpPr>
        <p:spPr>
          <a:xfrm>
            <a:off x="3327400" y="4453525"/>
            <a:ext cx="457200" cy="68625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MI Data Label"/>
          <p:cNvSpPr txBox="1"/>
          <p:nvPr/>
        </p:nvSpPr>
        <p:spPr>
          <a:xfrm>
            <a:off x="2968625" y="431065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0" name="Rectangle 79"/>
          <p:cNvSpPr/>
          <p:nvPr/>
        </p:nvSpPr>
        <p:spPr>
          <a:xfrm>
            <a:off x="4502150" y="5121533"/>
            <a:ext cx="457200" cy="1824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MI Data Label"/>
          <p:cNvSpPr txBox="1"/>
          <p:nvPr/>
        </p:nvSpPr>
        <p:spPr>
          <a:xfrm>
            <a:off x="4143375" y="497865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2" name="Rectangle 81"/>
          <p:cNvSpPr/>
          <p:nvPr/>
        </p:nvSpPr>
        <p:spPr>
          <a:xfrm>
            <a:off x="5676900" y="4892671"/>
            <a:ext cx="457200" cy="24710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MI Data Label"/>
          <p:cNvSpPr txBox="1"/>
          <p:nvPr/>
        </p:nvSpPr>
        <p:spPr>
          <a:xfrm>
            <a:off x="5318125" y="4749796"/>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4" name="Rectangle 83"/>
          <p:cNvSpPr/>
          <p:nvPr/>
        </p:nvSpPr>
        <p:spPr>
          <a:xfrm>
            <a:off x="6851650" y="4740624"/>
            <a:ext cx="457200" cy="39915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MI Data Label"/>
          <p:cNvSpPr txBox="1"/>
          <p:nvPr/>
        </p:nvSpPr>
        <p:spPr>
          <a:xfrm>
            <a:off x="6492875" y="459774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6" name="TextBox 85"/>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87" name="TextBox 86"/>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88" name="TextBox 87"/>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89" name="TextBox 88"/>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90" name="TextBox 89"/>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91" name="TextBox 90"/>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92" name="Rounded Rectangle 91"/>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94" name="Rectangle 93"/>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96" name="TextBox 9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7" name="Picture 96" descr="lock.png"/>
          <p:cNvPicPr>
            <a:picLocks noChangeAspect="1"/>
          </p:cNvPicPr>
          <p:nvPr/>
        </p:nvPicPr>
        <p:blipFill>
          <a:blip r:embed="rId4"/>
          <a:stretch>
            <a:fillRect/>
          </a:stretch>
        </p:blipFill>
        <p:spPr>
          <a:xfrm>
            <a:off x="1469175" y="2201780"/>
            <a:ext cx="128699" cy="187198"/>
          </a:xfrm>
          <a:prstGeom prst="rect">
            <a:avLst/>
          </a:prstGeom>
        </p:spPr>
      </p:pic>
      <p:pic>
        <p:nvPicPr>
          <p:cNvPr id="98" name="Picture 97" descr="lock.png"/>
          <p:cNvPicPr>
            <a:picLocks noChangeAspect="1"/>
          </p:cNvPicPr>
          <p:nvPr/>
        </p:nvPicPr>
        <p:blipFill>
          <a:blip r:embed="rId4"/>
          <a:stretch>
            <a:fillRect/>
          </a:stretch>
        </p:blipFill>
        <p:spPr>
          <a:xfrm>
            <a:off x="3221775" y="2064174"/>
            <a:ext cx="128699" cy="187198"/>
          </a:xfrm>
          <a:prstGeom prst="rect">
            <a:avLst/>
          </a:prstGeom>
        </p:spPr>
      </p:pic>
      <p:pic>
        <p:nvPicPr>
          <p:cNvPr id="99" name="Picture 98" descr="lock.png"/>
          <p:cNvPicPr>
            <a:picLocks noChangeAspect="1"/>
          </p:cNvPicPr>
          <p:nvPr/>
        </p:nvPicPr>
        <p:blipFill>
          <a:blip r:embed="rId4"/>
          <a:stretch>
            <a:fillRect/>
          </a:stretch>
        </p:blipFill>
        <p:spPr>
          <a:xfrm>
            <a:off x="4974375" y="1491005"/>
            <a:ext cx="128699" cy="187198"/>
          </a:xfrm>
          <a:prstGeom prst="rect">
            <a:avLst/>
          </a:prstGeom>
        </p:spPr>
      </p:pic>
      <p:pic>
        <p:nvPicPr>
          <p:cNvPr id="100" name="Picture 99" descr="lock.png"/>
          <p:cNvPicPr>
            <a:picLocks noChangeAspect="1"/>
          </p:cNvPicPr>
          <p:nvPr/>
        </p:nvPicPr>
        <p:blipFill>
          <a:blip r:embed="rId4"/>
          <a:stretch>
            <a:fillRect/>
          </a:stretch>
        </p:blipFill>
        <p:spPr>
          <a:xfrm>
            <a:off x="6726975" y="2696170"/>
            <a:ext cx="128699" cy="187198"/>
          </a:xfrm>
          <a:prstGeom prst="rect">
            <a:avLst/>
          </a:prstGeom>
        </p:spPr>
      </p:pic>
      <p:pic>
        <p:nvPicPr>
          <p:cNvPr id="101" name="Picture 100" descr="lock.png"/>
          <p:cNvPicPr>
            <a:picLocks noChangeAspect="1"/>
          </p:cNvPicPr>
          <p:nvPr/>
        </p:nvPicPr>
        <p:blipFill>
          <a:blip r:embed="rId4"/>
          <a:stretch>
            <a:fillRect/>
          </a:stretch>
        </p:blipFill>
        <p:spPr>
          <a:xfrm>
            <a:off x="1142150" y="5838694"/>
            <a:ext cx="128699" cy="187198"/>
          </a:xfrm>
          <a:prstGeom prst="rect">
            <a:avLst/>
          </a:prstGeom>
        </p:spPr>
      </p:pic>
      <p:pic>
        <p:nvPicPr>
          <p:cNvPr id="102" name="Picture 101" descr="lock.png"/>
          <p:cNvPicPr>
            <a:picLocks noChangeAspect="1"/>
          </p:cNvPicPr>
          <p:nvPr/>
        </p:nvPicPr>
        <p:blipFill>
          <a:blip r:embed="rId4"/>
          <a:stretch>
            <a:fillRect/>
          </a:stretch>
        </p:blipFill>
        <p:spPr>
          <a:xfrm>
            <a:off x="2316900" y="4904415"/>
            <a:ext cx="128699" cy="187198"/>
          </a:xfrm>
          <a:prstGeom prst="rect">
            <a:avLst/>
          </a:prstGeom>
        </p:spPr>
      </p:pic>
      <p:pic>
        <p:nvPicPr>
          <p:cNvPr id="103" name="Picture 102" descr="lock.png"/>
          <p:cNvPicPr>
            <a:picLocks noChangeAspect="1"/>
          </p:cNvPicPr>
          <p:nvPr/>
        </p:nvPicPr>
        <p:blipFill>
          <a:blip r:embed="rId4"/>
          <a:stretch>
            <a:fillRect/>
          </a:stretch>
        </p:blipFill>
        <p:spPr>
          <a:xfrm>
            <a:off x="3491650" y="4283726"/>
            <a:ext cx="128699" cy="187198"/>
          </a:xfrm>
          <a:prstGeom prst="rect">
            <a:avLst/>
          </a:prstGeom>
        </p:spPr>
      </p:pic>
      <p:pic>
        <p:nvPicPr>
          <p:cNvPr id="104" name="Picture 103" descr="lock.png"/>
          <p:cNvPicPr>
            <a:picLocks noChangeAspect="1"/>
          </p:cNvPicPr>
          <p:nvPr/>
        </p:nvPicPr>
        <p:blipFill>
          <a:blip r:embed="rId4"/>
          <a:stretch>
            <a:fillRect/>
          </a:stretch>
        </p:blipFill>
        <p:spPr>
          <a:xfrm>
            <a:off x="4666400" y="4951734"/>
            <a:ext cx="128699" cy="187198"/>
          </a:xfrm>
          <a:prstGeom prst="rect">
            <a:avLst/>
          </a:prstGeom>
        </p:spPr>
      </p:pic>
      <p:pic>
        <p:nvPicPr>
          <p:cNvPr id="105" name="Picture 104" descr="lock.png"/>
          <p:cNvPicPr>
            <a:picLocks noChangeAspect="1"/>
          </p:cNvPicPr>
          <p:nvPr/>
        </p:nvPicPr>
        <p:blipFill>
          <a:blip r:embed="rId4"/>
          <a:stretch>
            <a:fillRect/>
          </a:stretch>
        </p:blipFill>
        <p:spPr>
          <a:xfrm>
            <a:off x="5841150" y="4722872"/>
            <a:ext cx="128699" cy="187198"/>
          </a:xfrm>
          <a:prstGeom prst="rect">
            <a:avLst/>
          </a:prstGeom>
        </p:spPr>
      </p:pic>
      <p:pic>
        <p:nvPicPr>
          <p:cNvPr id="106" name="Picture 105" descr="lock.png"/>
          <p:cNvPicPr>
            <a:picLocks noChangeAspect="1"/>
          </p:cNvPicPr>
          <p:nvPr/>
        </p:nvPicPr>
        <p:blipFill>
          <a:blip r:embed="rId4"/>
          <a:stretch>
            <a:fillRect/>
          </a:stretch>
        </p:blipFill>
        <p:spPr>
          <a:xfrm>
            <a:off x="7015900" y="4570825"/>
            <a:ext cx="128699" cy="187198"/>
          </a:xfrm>
          <a:prstGeom prst="rect">
            <a:avLst/>
          </a:prstGeom>
        </p:spPr>
      </p:pic>
      <p:sp>
        <p:nvSpPr>
          <p:cNvPr id="107" name="TextBox 106"/>
          <p:cNvSpPr txBox="1"/>
          <p:nvPr/>
        </p:nvSpPr>
        <p:spPr>
          <a:xfrm>
            <a:off x="8048625" y="1471995"/>
            <a:ext cx="3781933"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command the</a:t>
            </a:r>
          </a:p>
        </p:txBody>
      </p:sp>
      <p:sp>
        <p:nvSpPr>
          <p:cNvPr id="108" name="TextBox 107"/>
          <p:cNvSpPr txBox="1"/>
          <p:nvPr/>
        </p:nvSpPr>
        <p:spPr>
          <a:xfrm>
            <a:off x="8048625" y="1647255"/>
            <a:ext cx="1766899" cy="194310"/>
          </a:xfrm>
          <a:prstGeom prst="rect">
            <a:avLst/>
          </a:prstGeom>
          <a:noFill/>
        </p:spPr>
        <p:txBody>
          <a:bodyPr wrap="none" lIns="0" rIns="0" tIns="0" bIns="0">
            <a:spAutoFit/>
          </a:bodyPr>
          <a:lstStyle/>
          <a:p>
            <a:r>
              <a:rPr sz="1150" b="0">
                <a:solidFill>
                  <a:srgbClr val="2E2E2E"/>
                </a:solidFill>
                <a:latin typeface="Calibri"/>
              </a:rPr>
              <a:t>highest average price of US$</a:t>
            </a:r>
          </a:p>
        </p:txBody>
      </p:sp>
      <p:pic>
        <p:nvPicPr>
          <p:cNvPr id="109" name="Picture 108" descr="lock.png"/>
          <p:cNvPicPr>
            <a:picLocks noChangeAspect="1"/>
          </p:cNvPicPr>
          <p:nvPr/>
        </p:nvPicPr>
        <p:blipFill>
          <a:blip r:embed="rId4"/>
          <a:stretch>
            <a:fillRect/>
          </a:stretch>
        </p:blipFill>
        <p:spPr>
          <a:xfrm>
            <a:off x="9764678" y="1637031"/>
            <a:ext cx="134549" cy="195707"/>
          </a:xfrm>
          <a:prstGeom prst="rect">
            <a:avLst/>
          </a:prstGeom>
        </p:spPr>
      </p:pic>
      <p:sp>
        <p:nvSpPr>
          <p:cNvPr id="110" name="TextBox 109"/>
          <p:cNvSpPr txBox="1"/>
          <p:nvPr/>
        </p:nvSpPr>
        <p:spPr>
          <a:xfrm>
            <a:off x="9939788" y="1647255"/>
            <a:ext cx="1591713" cy="194310"/>
          </a:xfrm>
          <a:prstGeom prst="rect">
            <a:avLst/>
          </a:prstGeom>
          <a:noFill/>
        </p:spPr>
        <p:txBody>
          <a:bodyPr wrap="none" lIns="0" rIns="0" tIns="0" bIns="0">
            <a:spAutoFit/>
          </a:bodyPr>
          <a:lstStyle/>
          <a:p>
            <a:r>
              <a:rPr sz="1150" b="0">
                <a:solidFill>
                  <a:srgbClr val="2E2E2E"/>
                </a:solidFill>
                <a:latin typeface="Calibri"/>
              </a:rPr>
              <a:t>per Unit in 2036. Average</a:t>
            </a:r>
          </a:p>
        </p:txBody>
      </p:sp>
      <p:sp>
        <p:nvSpPr>
          <p:cNvPr id="111" name="TextBox 110"/>
          <p:cNvSpPr txBox="1"/>
          <p:nvPr/>
        </p:nvSpPr>
        <p:spPr>
          <a:xfrm>
            <a:off x="8048625" y="1822515"/>
            <a:ext cx="3763391" cy="194310"/>
          </a:xfrm>
          <a:prstGeom prst="rect">
            <a:avLst/>
          </a:prstGeom>
          <a:noFill/>
        </p:spPr>
        <p:txBody>
          <a:bodyPr wrap="none" lIns="0" rIns="0" tIns="0" bIns="0">
            <a:spAutoFit/>
          </a:bodyPr>
          <a:lstStyle/>
          <a:p>
            <a:r>
              <a:rPr sz="1150" b="0">
                <a:solidFill>
                  <a:srgbClr val="2E2E2E"/>
                </a:solidFill>
                <a:latin typeface="Calibri"/>
              </a:rPr>
              <a:t>selling price of removable partial dentures is estimated at US$</a:t>
            </a:r>
          </a:p>
        </p:txBody>
      </p:sp>
      <p:pic>
        <p:nvPicPr>
          <p:cNvPr id="112" name="Picture 111" descr="lock.png"/>
          <p:cNvPicPr>
            <a:picLocks noChangeAspect="1"/>
          </p:cNvPicPr>
          <p:nvPr/>
        </p:nvPicPr>
        <p:blipFill>
          <a:blip r:embed="rId4"/>
          <a:stretch>
            <a:fillRect/>
          </a:stretch>
        </p:blipFill>
        <p:spPr>
          <a:xfrm>
            <a:off x="8034545" y="1987551"/>
            <a:ext cx="134549" cy="195707"/>
          </a:xfrm>
          <a:prstGeom prst="rect">
            <a:avLst/>
          </a:prstGeom>
        </p:spPr>
      </p:pic>
      <p:sp>
        <p:nvSpPr>
          <p:cNvPr id="113" name="TextBox 112"/>
          <p:cNvSpPr txBox="1"/>
          <p:nvPr/>
        </p:nvSpPr>
        <p:spPr>
          <a:xfrm>
            <a:off x="8209654" y="1997775"/>
            <a:ext cx="3138115" cy="194310"/>
          </a:xfrm>
          <a:prstGeom prst="rect">
            <a:avLst/>
          </a:prstGeom>
          <a:noFill/>
        </p:spPr>
        <p:txBody>
          <a:bodyPr wrap="none" lIns="0" rIns="0" tIns="0" bIns="0">
            <a:spAutoFit/>
          </a:bodyPr>
          <a:lstStyle/>
          <a:p>
            <a:r>
              <a:rPr sz="1150" b="0">
                <a:solidFill>
                  <a:srgbClr val="2E2E2E"/>
                </a:solidFill>
                <a:latin typeface="Calibri"/>
              </a:rPr>
              <a:t>per Unit in 2025 and is projected to increase to US$</a:t>
            </a:r>
          </a:p>
        </p:txBody>
      </p:sp>
      <p:pic>
        <p:nvPicPr>
          <p:cNvPr id="114" name="Picture 113" descr="lock.png"/>
          <p:cNvPicPr>
            <a:picLocks noChangeAspect="1"/>
          </p:cNvPicPr>
          <p:nvPr/>
        </p:nvPicPr>
        <p:blipFill>
          <a:blip r:embed="rId4"/>
          <a:stretch>
            <a:fillRect/>
          </a:stretch>
        </p:blipFill>
        <p:spPr>
          <a:xfrm>
            <a:off x="11296924" y="1987551"/>
            <a:ext cx="134549" cy="195707"/>
          </a:xfrm>
          <a:prstGeom prst="rect">
            <a:avLst/>
          </a:prstGeom>
        </p:spPr>
      </p:pic>
      <p:sp>
        <p:nvSpPr>
          <p:cNvPr id="115" name="TextBox 114"/>
          <p:cNvSpPr txBox="1"/>
          <p:nvPr/>
        </p:nvSpPr>
        <p:spPr>
          <a:xfrm>
            <a:off x="8048625" y="2173035"/>
            <a:ext cx="1105681" cy="194310"/>
          </a:xfrm>
          <a:prstGeom prst="rect">
            <a:avLst/>
          </a:prstGeom>
          <a:noFill/>
        </p:spPr>
        <p:txBody>
          <a:bodyPr wrap="none" lIns="0" rIns="0" tIns="0" bIns="0">
            <a:spAutoFit/>
          </a:bodyPr>
          <a:lstStyle/>
          <a:p>
            <a:r>
              <a:rPr sz="1150" b="0">
                <a:solidFill>
                  <a:srgbClr val="2E2E2E"/>
                </a:solidFill>
                <a:latin typeface="Calibri"/>
              </a:rPr>
              <a:t>per Unit by 2036.</a:t>
            </a:r>
          </a:p>
        </p:txBody>
      </p:sp>
      <p:sp>
        <p:nvSpPr>
          <p:cNvPr id="116" name="TextBox 115"/>
          <p:cNvSpPr txBox="1"/>
          <p:nvPr/>
        </p:nvSpPr>
        <p:spPr>
          <a:xfrm>
            <a:off x="8048625" y="2400873"/>
            <a:ext cx="3806750" cy="194310"/>
          </a:xfrm>
          <a:prstGeom prst="rect">
            <a:avLst/>
          </a:prstGeom>
          <a:noFill/>
        </p:spPr>
        <p:txBody>
          <a:bodyPr wrap="none" lIns="0" rIns="0" tIns="0" bIns="0">
            <a:spAutoFit/>
          </a:bodyPr>
          <a:lstStyle/>
          <a:p>
            <a:r>
              <a:rPr sz="1150" b="0">
                <a:solidFill>
                  <a:srgbClr val="2E2E2E"/>
                </a:solidFill>
                <a:latin typeface="Calibri"/>
              </a:rPr>
              <a:t>Europe is the highest-priced region, while North America is the</a:t>
            </a:r>
          </a:p>
        </p:txBody>
      </p:sp>
      <p:sp>
        <p:nvSpPr>
          <p:cNvPr id="117" name="TextBox 116"/>
          <p:cNvSpPr txBox="1"/>
          <p:nvPr/>
        </p:nvSpPr>
        <p:spPr>
          <a:xfrm>
            <a:off x="8048625" y="2576133"/>
            <a:ext cx="3535759" cy="194310"/>
          </a:xfrm>
          <a:prstGeom prst="rect">
            <a:avLst/>
          </a:prstGeom>
          <a:noFill/>
        </p:spPr>
        <p:txBody>
          <a:bodyPr wrap="none" lIns="0" rIns="0" tIns="0" bIns="0">
            <a:spAutoFit/>
          </a:bodyPr>
          <a:lstStyle/>
          <a:p>
            <a:r>
              <a:rPr sz="1150" b="0">
                <a:solidFill>
                  <a:srgbClr val="2E2E2E"/>
                </a:solidFill>
                <a:latin typeface="Calibri"/>
              </a:rPr>
              <a:t>most price-competitive market. Against the global price of</a:t>
            </a:r>
          </a:p>
        </p:txBody>
      </p:sp>
      <p:pic>
        <p:nvPicPr>
          <p:cNvPr id="118" name="Picture 117" descr="lock.png"/>
          <p:cNvPicPr>
            <a:picLocks noChangeAspect="1"/>
          </p:cNvPicPr>
          <p:nvPr/>
        </p:nvPicPr>
        <p:blipFill>
          <a:blip r:embed="rId4"/>
          <a:stretch>
            <a:fillRect/>
          </a:stretch>
        </p:blipFill>
        <p:spPr>
          <a:xfrm>
            <a:off x="11533538" y="2565909"/>
            <a:ext cx="134549" cy="195707"/>
          </a:xfrm>
          <a:prstGeom prst="rect">
            <a:avLst/>
          </a:prstGeom>
        </p:spPr>
      </p:pic>
      <p:sp>
        <p:nvSpPr>
          <p:cNvPr id="119" name="TextBox 118"/>
          <p:cNvSpPr txBox="1"/>
          <p:nvPr/>
        </p:nvSpPr>
        <p:spPr>
          <a:xfrm>
            <a:off x="8048625" y="2751393"/>
            <a:ext cx="3076500" cy="194310"/>
          </a:xfrm>
          <a:prstGeom prst="rect">
            <a:avLst/>
          </a:prstGeom>
          <a:noFill/>
        </p:spPr>
        <p:txBody>
          <a:bodyPr wrap="none" lIns="0" rIns="0" tIns="0" bIns="0">
            <a:spAutoFit/>
          </a:bodyPr>
          <a:lstStyle/>
          <a:p>
            <a:r>
              <a:rPr sz="1150" b="0">
                <a:solidFill>
                  <a:srgbClr val="2E2E2E"/>
                </a:solidFill>
                <a:latin typeface="Calibri"/>
              </a:rPr>
              <a:t>US$/Units, 5 of 6 regions price above and 1 below.</a:t>
            </a:r>
          </a:p>
        </p:txBody>
      </p:sp>
      <p:sp>
        <p:nvSpPr>
          <p:cNvPr id="120" name="TextBox 119"/>
          <p:cNvSpPr txBox="1"/>
          <p:nvPr/>
        </p:nvSpPr>
        <p:spPr>
          <a:xfrm>
            <a:off x="8048625" y="2979230"/>
            <a:ext cx="1661926" cy="194310"/>
          </a:xfrm>
          <a:prstGeom prst="rect">
            <a:avLst/>
          </a:prstGeom>
          <a:noFill/>
        </p:spPr>
        <p:txBody>
          <a:bodyPr wrap="none" lIns="0" rIns="0" tIns="0" bIns="0">
            <a:spAutoFit/>
          </a:bodyPr>
          <a:lstStyle/>
          <a:p>
            <a:r>
              <a:rPr sz="1150" b="0">
                <a:solidFill>
                  <a:srgbClr val="2E2E2E"/>
                </a:solidFill>
                <a:latin typeface="Calibri"/>
              </a:rPr>
              <a:t>'Europe' is the dearest at +</a:t>
            </a:r>
          </a:p>
        </p:txBody>
      </p:sp>
      <p:pic>
        <p:nvPicPr>
          <p:cNvPr id="121" name="Picture 120" descr="lock.png"/>
          <p:cNvPicPr>
            <a:picLocks noChangeAspect="1"/>
          </p:cNvPicPr>
          <p:nvPr/>
        </p:nvPicPr>
        <p:blipFill>
          <a:blip r:embed="rId4"/>
          <a:stretch>
            <a:fillRect/>
          </a:stretch>
        </p:blipFill>
        <p:spPr>
          <a:xfrm>
            <a:off x="9659705" y="2969007"/>
            <a:ext cx="134549" cy="195707"/>
          </a:xfrm>
          <a:prstGeom prst="rect">
            <a:avLst/>
          </a:prstGeom>
        </p:spPr>
      </p:pic>
      <p:sp>
        <p:nvSpPr>
          <p:cNvPr id="122" name="TextBox 121"/>
          <p:cNvSpPr txBox="1"/>
          <p:nvPr/>
        </p:nvSpPr>
        <p:spPr>
          <a:xfrm>
            <a:off x="9834814" y="2979230"/>
            <a:ext cx="1878719" cy="194310"/>
          </a:xfrm>
          <a:prstGeom prst="rect">
            <a:avLst/>
          </a:prstGeom>
          <a:noFill/>
        </p:spPr>
        <p:txBody>
          <a:bodyPr wrap="none" lIns="0" rIns="0" tIns="0" bIns="0">
            <a:spAutoFit/>
          </a:bodyPr>
          <a:lstStyle/>
          <a:p>
            <a:r>
              <a:rPr sz="1150" b="0">
                <a:solidFill>
                  <a:srgbClr val="2E2E2E"/>
                </a:solidFill>
                <a:latin typeface="Calibri"/>
              </a:rPr>
              <a:t>versus Global, 'North America'</a:t>
            </a:r>
          </a:p>
        </p:txBody>
      </p:sp>
      <p:sp>
        <p:nvSpPr>
          <p:cNvPr id="123" name="TextBox 122"/>
          <p:cNvSpPr txBox="1"/>
          <p:nvPr/>
        </p:nvSpPr>
        <p:spPr>
          <a:xfrm>
            <a:off x="8048625" y="3154490"/>
            <a:ext cx="1074588" cy="194310"/>
          </a:xfrm>
          <a:prstGeom prst="rect">
            <a:avLst/>
          </a:prstGeom>
          <a:noFill/>
        </p:spPr>
        <p:txBody>
          <a:bodyPr wrap="none" lIns="0" rIns="0" tIns="0" bIns="0">
            <a:spAutoFit/>
          </a:bodyPr>
          <a:lstStyle/>
          <a:p>
            <a:r>
              <a:rPr sz="1150" b="0">
                <a:solidFill>
                  <a:srgbClr val="2E2E2E"/>
                </a:solidFill>
                <a:latin typeface="Calibri"/>
              </a:rPr>
              <a:t>the cheapest at -</a:t>
            </a:r>
          </a:p>
        </p:txBody>
      </p:sp>
      <p:pic>
        <p:nvPicPr>
          <p:cNvPr id="124" name="Picture 123" descr="lock.png"/>
          <p:cNvPicPr>
            <a:picLocks noChangeAspect="1"/>
          </p:cNvPicPr>
          <p:nvPr/>
        </p:nvPicPr>
        <p:blipFill>
          <a:blip r:embed="rId4"/>
          <a:stretch>
            <a:fillRect/>
          </a:stretch>
        </p:blipFill>
        <p:spPr>
          <a:xfrm>
            <a:off x="9072367" y="3144267"/>
            <a:ext cx="134549" cy="195707"/>
          </a:xfrm>
          <a:prstGeom prst="rect">
            <a:avLst/>
          </a:prstGeom>
        </p:spPr>
      </p:pic>
      <p:sp>
        <p:nvSpPr>
          <p:cNvPr id="125" name="TextBox 124"/>
          <p:cNvSpPr txBox="1"/>
          <p:nvPr/>
        </p:nvSpPr>
        <p:spPr>
          <a:xfrm>
            <a:off x="9247476" y="3154490"/>
            <a:ext cx="2496579" cy="194310"/>
          </a:xfrm>
          <a:prstGeom prst="rect">
            <a:avLst/>
          </a:prstGeom>
          <a:noFill/>
        </p:spPr>
        <p:txBody>
          <a:bodyPr wrap="none" lIns="0" rIns="0" tIns="0" bIns="0">
            <a:spAutoFit/>
          </a:bodyPr>
          <a:lstStyle/>
          <a:p>
            <a:r>
              <a:rPr sz="1150" b="0">
                <a:solidFill>
                  <a:srgbClr val="2E2E2E"/>
                </a:solidFill>
                <a:latin typeface="Calibri"/>
              </a:rPr>
              <a:t>pointing to premiumisation headroom in</a:t>
            </a:r>
          </a:p>
        </p:txBody>
      </p:sp>
      <p:sp>
        <p:nvSpPr>
          <p:cNvPr id="126" name="TextBox 125"/>
          <p:cNvSpPr txBox="1"/>
          <p:nvPr/>
        </p:nvSpPr>
        <p:spPr>
          <a:xfrm>
            <a:off x="8048625" y="3329750"/>
            <a:ext cx="1571215" cy="194310"/>
          </a:xfrm>
          <a:prstGeom prst="rect">
            <a:avLst/>
          </a:prstGeom>
          <a:noFill/>
        </p:spPr>
        <p:txBody>
          <a:bodyPr wrap="none" lIns="0" rIns="0" tIns="0" bIns="0">
            <a:spAutoFit/>
          </a:bodyPr>
          <a:lstStyle/>
          <a:p>
            <a:r>
              <a:rPr sz="1150" b="0">
                <a:solidFill>
                  <a:srgbClr val="2E2E2E"/>
                </a:solidFill>
                <a:latin typeface="Calibri"/>
              </a:rPr>
              <a:t>the lower-priced regions.</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1,125</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1,731</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4.4%</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7512844"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3991062" y="5157531"/>
            <a:ext cx="289830" cy="421571"/>
          </a:xfrm>
          <a:prstGeom prst="rect">
            <a:avLst/>
          </a:prstGeom>
        </p:spPr>
      </p:pic>
      <p:sp>
        <p:nvSpPr>
          <p:cNvPr id="32" name="TextBox 31"/>
          <p:cNvSpPr txBox="1"/>
          <p:nvPr/>
        </p:nvSpPr>
        <p:spPr>
          <a:xfrm>
            <a:off x="8048625" y="2046987"/>
            <a:ext cx="3409627" cy="186689"/>
          </a:xfrm>
          <a:prstGeom prst="rect">
            <a:avLst/>
          </a:prstGeom>
          <a:noFill/>
        </p:spPr>
        <p:txBody>
          <a:bodyPr wrap="none" lIns="0" rIns="0" tIns="0" bIns="0">
            <a:spAutoFit/>
          </a:bodyPr>
          <a:lstStyle/>
          <a:p>
            <a:r>
              <a:rPr sz="1100" b="0">
                <a:solidFill>
                  <a:srgbClr val="2E2E2E"/>
                </a:solidFill>
                <a:latin typeface="Calibri"/>
              </a:rPr>
              <a:t>Removable partial dentures market is projected to register</a:t>
            </a:r>
          </a:p>
        </p:txBody>
      </p:sp>
      <p:pic>
        <p:nvPicPr>
          <p:cNvPr id="33" name="Picture 32" descr="lock.png"/>
          <p:cNvPicPr>
            <a:picLocks noChangeAspect="1"/>
          </p:cNvPicPr>
          <p:nvPr/>
        </p:nvPicPr>
        <p:blipFill>
          <a:blip r:embed="rId6"/>
          <a:stretch>
            <a:fillRect/>
          </a:stretch>
        </p:blipFill>
        <p:spPr>
          <a:xfrm>
            <a:off x="11406304" y="2037208"/>
            <a:ext cx="128699" cy="187198"/>
          </a:xfrm>
          <a:prstGeom prst="rect">
            <a:avLst/>
          </a:prstGeom>
        </p:spPr>
      </p:pic>
      <p:sp>
        <p:nvSpPr>
          <p:cNvPr id="34" name="TextBox 33"/>
          <p:cNvSpPr txBox="1"/>
          <p:nvPr/>
        </p:nvSpPr>
        <p:spPr>
          <a:xfrm>
            <a:off x="11573799" y="2046987"/>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35" name="TextBox 34"/>
          <p:cNvSpPr txBox="1"/>
          <p:nvPr/>
        </p:nvSpPr>
        <p:spPr>
          <a:xfrm>
            <a:off x="8048625" y="2214627"/>
            <a:ext cx="3818086" cy="186689"/>
          </a:xfrm>
          <a:prstGeom prst="rect">
            <a:avLst/>
          </a:prstGeom>
          <a:noFill/>
        </p:spPr>
        <p:txBody>
          <a:bodyPr wrap="none" lIns="0" rIns="0" tIns="0" bIns="0">
            <a:spAutoFit/>
          </a:bodyPr>
          <a:lstStyle/>
          <a:p>
            <a:r>
              <a:rPr sz="1100" b="0">
                <a:solidFill>
                  <a:srgbClr val="2E2E2E"/>
                </a:solidFill>
                <a:latin typeface="Calibri"/>
              </a:rPr>
              <a:t>increase in its revenue by the end of forecast period, 2036. Global</a:t>
            </a:r>
          </a:p>
        </p:txBody>
      </p:sp>
      <p:sp>
        <p:nvSpPr>
          <p:cNvPr id="36" name="TextBox 35"/>
          <p:cNvSpPr txBox="1"/>
          <p:nvPr/>
        </p:nvSpPr>
        <p:spPr>
          <a:xfrm>
            <a:off x="8048625" y="2382267"/>
            <a:ext cx="3848100" cy="186689"/>
          </a:xfrm>
          <a:prstGeom prst="rect">
            <a:avLst/>
          </a:prstGeom>
          <a:noFill/>
        </p:spPr>
        <p:txBody>
          <a:bodyPr wrap="none" lIns="0" rIns="0" tIns="0" bIns="0">
            <a:spAutoFit/>
          </a:bodyPr>
          <a:lstStyle/>
          <a:p>
            <a:r>
              <a:rPr sz="1100" b="0">
                <a:solidFill>
                  <a:srgbClr val="2E2E2E"/>
                </a:solidFill>
                <a:latin typeface="Calibri"/>
              </a:rPr>
              <a:t>removable partial dentures market is expected to be valued at US$</a:t>
            </a:r>
          </a:p>
        </p:txBody>
      </p:sp>
      <p:sp>
        <p:nvSpPr>
          <p:cNvPr id="37" name="TextBox 36"/>
          <p:cNvSpPr txBox="1"/>
          <p:nvPr/>
        </p:nvSpPr>
        <p:spPr>
          <a:xfrm>
            <a:off x="8048625" y="2549907"/>
            <a:ext cx="1386433" cy="186689"/>
          </a:xfrm>
          <a:prstGeom prst="rect">
            <a:avLst/>
          </a:prstGeom>
          <a:noFill/>
        </p:spPr>
        <p:txBody>
          <a:bodyPr wrap="none" lIns="0" rIns="0" tIns="0" bIns="0">
            <a:spAutoFit/>
          </a:bodyPr>
          <a:lstStyle/>
          <a:p>
            <a:r>
              <a:rPr sz="1100" b="0">
                <a:solidFill>
                  <a:srgbClr val="2E2E2E"/>
                </a:solidFill>
                <a:latin typeface="Calibri"/>
              </a:rPr>
              <a:t>1,731 Mn by 2036 end.</a:t>
            </a:r>
          </a:p>
        </p:txBody>
      </p:sp>
      <p:sp>
        <p:nvSpPr>
          <p:cNvPr id="38" name="TextBox 37"/>
          <p:cNvSpPr txBox="1"/>
          <p:nvPr/>
        </p:nvSpPr>
        <p:spPr>
          <a:xfrm>
            <a:off x="8048625" y="2767838"/>
            <a:ext cx="3650009" cy="186689"/>
          </a:xfrm>
          <a:prstGeom prst="rect">
            <a:avLst/>
          </a:prstGeom>
          <a:noFill/>
        </p:spPr>
        <p:txBody>
          <a:bodyPr wrap="none" lIns="0" rIns="0" tIns="0" bIns="0">
            <a:spAutoFit/>
          </a:bodyPr>
          <a:lstStyle/>
          <a:p>
            <a:r>
              <a:rPr sz="1100" b="0">
                <a:solidFill>
                  <a:srgbClr val="2E2E2E"/>
                </a:solidFill>
                <a:latin typeface="Calibri"/>
              </a:rPr>
              <a:t>It is projected to create overall incremental opportunity of US$</a:t>
            </a:r>
          </a:p>
        </p:txBody>
      </p:sp>
      <p:pic>
        <p:nvPicPr>
          <p:cNvPr id="39" name="Picture 38" descr="lock.png"/>
          <p:cNvPicPr>
            <a:picLocks noChangeAspect="1"/>
          </p:cNvPicPr>
          <p:nvPr/>
        </p:nvPicPr>
        <p:blipFill>
          <a:blip r:embed="rId6"/>
          <a:stretch>
            <a:fillRect/>
          </a:stretch>
        </p:blipFill>
        <p:spPr>
          <a:xfrm>
            <a:off x="8035157" y="2925700"/>
            <a:ext cx="128699" cy="187198"/>
          </a:xfrm>
          <a:prstGeom prst="rect">
            <a:avLst/>
          </a:prstGeom>
        </p:spPr>
      </p:pic>
      <p:sp>
        <p:nvSpPr>
          <p:cNvPr id="40" name="TextBox 39"/>
          <p:cNvSpPr txBox="1"/>
          <p:nvPr/>
        </p:nvSpPr>
        <p:spPr>
          <a:xfrm>
            <a:off x="8202653" y="2935479"/>
            <a:ext cx="3263106" cy="186689"/>
          </a:xfrm>
          <a:prstGeom prst="rect">
            <a:avLst/>
          </a:prstGeom>
          <a:noFill/>
        </p:spPr>
        <p:txBody>
          <a:bodyPr wrap="none" lIns="0" rIns="0" tIns="0" bIns="0">
            <a:spAutoFit/>
          </a:bodyPr>
          <a:lstStyle/>
          <a:p>
            <a:r>
              <a:rPr sz="1100" b="0">
                <a:solidFill>
                  <a:srgbClr val="2E2E2E"/>
                </a:solidFill>
                <a:latin typeface="Calibri"/>
              </a:rPr>
              <a:t>Mn from 2025 to 2036. Increasing prevalence of chronic</a:t>
            </a:r>
          </a:p>
        </p:txBody>
      </p:sp>
      <p:sp>
        <p:nvSpPr>
          <p:cNvPr id="41" name="TextBox 40"/>
          <p:cNvSpPr txBox="1"/>
          <p:nvPr/>
        </p:nvSpPr>
        <p:spPr>
          <a:xfrm>
            <a:off x="8048625" y="3103119"/>
            <a:ext cx="3848100" cy="186689"/>
          </a:xfrm>
          <a:prstGeom prst="rect">
            <a:avLst/>
          </a:prstGeom>
          <a:noFill/>
        </p:spPr>
        <p:txBody>
          <a:bodyPr wrap="none" lIns="0" rIns="0" tIns="0" bIns="0">
            <a:spAutoFit/>
          </a:bodyPr>
          <a:lstStyle/>
          <a:p>
            <a:r>
              <a:rPr sz="1100" b="0">
                <a:solidFill>
                  <a:srgbClr val="2E2E2E"/>
                </a:solidFill>
                <a:latin typeface="Calibri"/>
              </a:rPr>
              <a:t>diseases along with increasing ageing population is fuelling demand</a:t>
            </a:r>
          </a:p>
        </p:txBody>
      </p:sp>
      <p:sp>
        <p:nvSpPr>
          <p:cNvPr id="42" name="TextBox 41"/>
          <p:cNvSpPr txBox="1"/>
          <p:nvPr/>
        </p:nvSpPr>
        <p:spPr>
          <a:xfrm>
            <a:off x="8048625" y="3270759"/>
            <a:ext cx="1857102" cy="186689"/>
          </a:xfrm>
          <a:prstGeom prst="rect">
            <a:avLst/>
          </a:prstGeom>
          <a:noFill/>
        </p:spPr>
        <p:txBody>
          <a:bodyPr wrap="none" lIns="0" rIns="0" tIns="0" bIns="0">
            <a:spAutoFit/>
          </a:bodyPr>
          <a:lstStyle/>
          <a:p>
            <a:r>
              <a:rPr sz="1100" b="0">
                <a:solidFill>
                  <a:srgbClr val="2E2E2E"/>
                </a:solidFill>
                <a:latin typeface="Calibri"/>
              </a:rPr>
              <a:t>for removable partial dentures.</a:t>
            </a:r>
          </a:p>
        </p:txBody>
      </p:sp>
      <p:sp>
        <p:nvSpPr>
          <p:cNvPr id="43" name="TextBox 42"/>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44" name="Picture 43" descr="lock.png"/>
          <p:cNvPicPr>
            <a:picLocks noChangeAspect="1"/>
          </p:cNvPicPr>
          <p:nvPr/>
        </p:nvPicPr>
        <p:blipFill>
          <a:blip r:embed="rId6"/>
          <a:stretch>
            <a:fillRect/>
          </a:stretch>
        </p:blipFill>
        <p:spPr>
          <a:xfrm>
            <a:off x="10866614" y="4446251"/>
            <a:ext cx="134549" cy="195707"/>
          </a:xfrm>
          <a:prstGeom prst="rect">
            <a:avLst/>
          </a:prstGeom>
        </p:spPr>
      </p:pic>
      <p:sp>
        <p:nvSpPr>
          <p:cNvPr id="45" name="TextBox 44"/>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6" name="TextBox 45"/>
          <p:cNvSpPr txBox="1"/>
          <p:nvPr/>
        </p:nvSpPr>
        <p:spPr>
          <a:xfrm>
            <a:off x="8048625" y="4684312"/>
            <a:ext cx="3569419" cy="194310"/>
          </a:xfrm>
          <a:prstGeom prst="rect">
            <a:avLst/>
          </a:prstGeom>
          <a:noFill/>
        </p:spPr>
        <p:txBody>
          <a:bodyPr wrap="none" lIns="0" rIns="0" tIns="0" bIns="0">
            <a:spAutoFit/>
          </a:bodyPr>
          <a:lstStyle/>
          <a:p>
            <a:r>
              <a:rPr sz="1150" b="0">
                <a:solidFill>
                  <a:srgbClr val="2E2E2E"/>
                </a:solidFill>
                <a:latin typeface="Calibri"/>
              </a:rPr>
              <a:t>▪ Demand concentrates in 'Flexible Partial Dentures' within</a:t>
            </a:r>
          </a:p>
        </p:txBody>
      </p:sp>
      <p:sp>
        <p:nvSpPr>
          <p:cNvPr id="47" name="TextBox 46"/>
          <p:cNvSpPr txBox="1"/>
          <p:nvPr/>
        </p:nvSpPr>
        <p:spPr>
          <a:xfrm>
            <a:off x="8048625" y="4859572"/>
            <a:ext cx="901154" cy="194310"/>
          </a:xfrm>
          <a:prstGeom prst="rect">
            <a:avLst/>
          </a:prstGeom>
          <a:noFill/>
        </p:spPr>
        <p:txBody>
          <a:bodyPr wrap="none" lIns="0" rIns="0" tIns="0" bIns="0">
            <a:spAutoFit/>
          </a:bodyPr>
          <a:lstStyle/>
          <a:p>
            <a:r>
              <a:rPr sz="1150" b="0">
                <a:solidFill>
                  <a:srgbClr val="2E2E2E"/>
                </a:solidFill>
                <a:latin typeface="Calibri"/>
              </a:rPr>
              <a:t>Product Type.</a:t>
            </a:r>
          </a:p>
        </p:txBody>
      </p:sp>
      <p:sp>
        <p:nvSpPr>
          <p:cNvPr id="48" name="TextBox 47"/>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49" name="TextBox 48"/>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4.4%</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3894" y="2050946"/>
            <a:ext cx="205327" cy="298657"/>
          </a:xfrm>
          <a:prstGeom prst="rect">
            <a:avLst/>
          </a:prstGeom>
        </p:spPr>
      </p:pic>
      <p:pic>
        <p:nvPicPr>
          <p:cNvPr id="27" name="Picture 26" descr="lock.png"/>
          <p:cNvPicPr>
            <a:picLocks noChangeAspect="1"/>
          </p:cNvPicPr>
          <p:nvPr/>
        </p:nvPicPr>
        <p:blipFill>
          <a:blip r:embed="rId6"/>
          <a:stretch>
            <a:fillRect/>
          </a:stretch>
        </p:blipFill>
        <p:spPr>
          <a:xfrm>
            <a:off x="8530846" y="2011501"/>
            <a:ext cx="259564" cy="377547"/>
          </a:xfrm>
          <a:prstGeom prst="rect">
            <a:avLst/>
          </a:prstGeom>
        </p:spPr>
      </p:pic>
      <p:pic>
        <p:nvPicPr>
          <p:cNvPr id="28" name="Picture 27" descr="lock.png"/>
          <p:cNvPicPr>
            <a:picLocks noChangeAspect="1"/>
          </p:cNvPicPr>
          <p:nvPr/>
        </p:nvPicPr>
        <p:blipFill>
          <a:blip r:embed="rId6"/>
          <a:stretch>
            <a:fillRect/>
          </a:stretch>
        </p:blipFill>
        <p:spPr>
          <a:xfrm>
            <a:off x="13215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6998494" y="4022407"/>
            <a:ext cx="157162" cy="228600"/>
          </a:xfrm>
          <a:prstGeom prst="rect">
            <a:avLst/>
          </a:prstGeom>
        </p:spPr>
      </p:pic>
      <p:pic>
        <p:nvPicPr>
          <p:cNvPr id="30" name="Picture 29" descr="lock.png"/>
          <p:cNvPicPr>
            <a:picLocks noChangeAspect="1"/>
          </p:cNvPicPr>
          <p:nvPr/>
        </p:nvPicPr>
        <p:blipFill>
          <a:blip r:embed="rId6"/>
          <a:stretch>
            <a:fillRect/>
          </a:stretch>
        </p:blipFill>
        <p:spPr>
          <a:xfrm>
            <a:off x="10351294" y="4022407"/>
            <a:ext cx="157162" cy="228600"/>
          </a:xfrm>
          <a:prstGeom prst="rect">
            <a:avLst/>
          </a:prstGeom>
        </p:spPr>
      </p:pic>
      <p:sp>
        <p:nvSpPr>
          <p:cNvPr id="31" name="TextBox 30"/>
          <p:cNvSpPr txBox="1"/>
          <p:nvPr/>
        </p:nvSpPr>
        <p:spPr>
          <a:xfrm>
            <a:off x="276225" y="4972050"/>
            <a:ext cx="3561146" cy="194310"/>
          </a:xfrm>
          <a:prstGeom prst="rect">
            <a:avLst/>
          </a:prstGeom>
          <a:noFill/>
        </p:spPr>
        <p:txBody>
          <a:bodyPr wrap="none" lIns="0" rIns="0" tIns="0" bIns="0">
            <a:spAutoFit/>
          </a:bodyPr>
          <a:lstStyle/>
          <a:p>
            <a:r>
              <a:rPr sz="1150" b="0">
                <a:solidFill>
                  <a:srgbClr val="2E2E2E"/>
                </a:solidFill>
                <a:latin typeface="Calibri"/>
              </a:rPr>
              <a:t>Removable partial dentures market is projected to register</a:t>
            </a:r>
          </a:p>
        </p:txBody>
      </p:sp>
      <p:pic>
        <p:nvPicPr>
          <p:cNvPr id="32" name="Picture 31" descr="lock.png"/>
          <p:cNvPicPr>
            <a:picLocks noChangeAspect="1"/>
          </p:cNvPicPr>
          <p:nvPr/>
        </p:nvPicPr>
        <p:blipFill>
          <a:blip r:embed="rId6"/>
          <a:stretch>
            <a:fillRect/>
          </a:stretch>
        </p:blipFill>
        <p:spPr>
          <a:xfrm>
            <a:off x="3786525" y="4961826"/>
            <a:ext cx="134549" cy="195707"/>
          </a:xfrm>
          <a:prstGeom prst="rect">
            <a:avLst/>
          </a:prstGeom>
        </p:spPr>
      </p:pic>
      <p:sp>
        <p:nvSpPr>
          <p:cNvPr id="33" name="TextBox 32"/>
          <p:cNvSpPr txBox="1"/>
          <p:nvPr/>
        </p:nvSpPr>
        <p:spPr>
          <a:xfrm>
            <a:off x="3961635" y="4972050"/>
            <a:ext cx="7833965" cy="194310"/>
          </a:xfrm>
          <a:prstGeom prst="rect">
            <a:avLst/>
          </a:prstGeom>
          <a:noFill/>
        </p:spPr>
        <p:txBody>
          <a:bodyPr wrap="none" lIns="0" rIns="0" tIns="0" bIns="0">
            <a:spAutoFit/>
          </a:bodyPr>
          <a:lstStyle/>
          <a:p>
            <a:r>
              <a:rPr sz="1150" b="0">
                <a:solidFill>
                  <a:srgbClr val="2E2E2E"/>
                </a:solidFill>
                <a:latin typeface="Calibri"/>
              </a:rPr>
              <a:t>X increase in its revenue by the end of forecast period, 2036. Global removable partial dentures market is expected to be valued at</a:t>
            </a:r>
          </a:p>
        </p:txBody>
      </p:sp>
      <p:sp>
        <p:nvSpPr>
          <p:cNvPr id="34" name="TextBox 33"/>
          <p:cNvSpPr txBox="1"/>
          <p:nvPr/>
        </p:nvSpPr>
        <p:spPr>
          <a:xfrm>
            <a:off x="276225" y="5147310"/>
            <a:ext cx="5483473" cy="194310"/>
          </a:xfrm>
          <a:prstGeom prst="rect">
            <a:avLst/>
          </a:prstGeom>
          <a:noFill/>
        </p:spPr>
        <p:txBody>
          <a:bodyPr wrap="none" lIns="0" rIns="0" tIns="0" bIns="0">
            <a:spAutoFit/>
          </a:bodyPr>
          <a:lstStyle/>
          <a:p>
            <a:r>
              <a:rPr sz="1150" b="0">
                <a:solidFill>
                  <a:srgbClr val="2E2E2E"/>
                </a:solidFill>
                <a:latin typeface="Calibri"/>
              </a:rPr>
              <a:t>US$ 1,731 Mn by 2036 end. It is projected to create overall incremental opportunity of US$</a:t>
            </a:r>
          </a:p>
        </p:txBody>
      </p:sp>
      <p:pic>
        <p:nvPicPr>
          <p:cNvPr id="35" name="Picture 34" descr="lock.png"/>
          <p:cNvPicPr>
            <a:picLocks noChangeAspect="1"/>
          </p:cNvPicPr>
          <p:nvPr/>
        </p:nvPicPr>
        <p:blipFill>
          <a:blip r:embed="rId6"/>
          <a:stretch>
            <a:fillRect/>
          </a:stretch>
        </p:blipFill>
        <p:spPr>
          <a:xfrm>
            <a:off x="5708851" y="5137086"/>
            <a:ext cx="134549" cy="195707"/>
          </a:xfrm>
          <a:prstGeom prst="rect">
            <a:avLst/>
          </a:prstGeom>
        </p:spPr>
      </p:pic>
      <p:sp>
        <p:nvSpPr>
          <p:cNvPr id="36" name="TextBox 35"/>
          <p:cNvSpPr txBox="1"/>
          <p:nvPr/>
        </p:nvSpPr>
        <p:spPr>
          <a:xfrm>
            <a:off x="5883961" y="5147310"/>
            <a:ext cx="1455687" cy="194310"/>
          </a:xfrm>
          <a:prstGeom prst="rect">
            <a:avLst/>
          </a:prstGeom>
          <a:noFill/>
        </p:spPr>
        <p:txBody>
          <a:bodyPr wrap="none" lIns="0" rIns="0" tIns="0" bIns="0">
            <a:spAutoFit/>
          </a:bodyPr>
          <a:lstStyle/>
          <a:p>
            <a:r>
              <a:rPr sz="1150" b="0">
                <a:solidFill>
                  <a:srgbClr val="2E2E2E"/>
                </a:solidFill>
                <a:latin typeface="Calibri"/>
              </a:rPr>
              <a:t>Mn from 2025 to 2036.</a:t>
            </a:r>
          </a:p>
        </p:txBody>
      </p:sp>
      <p:sp>
        <p:nvSpPr>
          <p:cNvPr id="37" name="TextBox 36"/>
          <p:cNvSpPr txBox="1"/>
          <p:nvPr/>
        </p:nvSpPr>
        <p:spPr>
          <a:xfrm>
            <a:off x="276225" y="5375147"/>
            <a:ext cx="11352286" cy="194310"/>
          </a:xfrm>
          <a:prstGeom prst="rect">
            <a:avLst/>
          </a:prstGeom>
          <a:noFill/>
        </p:spPr>
        <p:txBody>
          <a:bodyPr wrap="none" lIns="0" rIns="0" tIns="0" bIns="0">
            <a:spAutoFit/>
          </a:bodyPr>
          <a:lstStyle/>
          <a:p>
            <a:r>
              <a:rPr sz="1150" b="0">
                <a:solidFill>
                  <a:srgbClr val="2E2E2E"/>
                </a:solidFill>
                <a:latin typeface="Calibri"/>
              </a:rPr>
              <a:t>Increasing prevalence of chronic diseases along with increasing ageing population is fuelling demand for removable partial dentures. Global removable partial dentures market is projected to</a:t>
            </a:r>
          </a:p>
        </p:txBody>
      </p:sp>
      <p:sp>
        <p:nvSpPr>
          <p:cNvPr id="38" name="TextBox 37"/>
          <p:cNvSpPr txBox="1"/>
          <p:nvPr/>
        </p:nvSpPr>
        <p:spPr>
          <a:xfrm>
            <a:off x="276225" y="5550407"/>
            <a:ext cx="532320" cy="194310"/>
          </a:xfrm>
          <a:prstGeom prst="rect">
            <a:avLst/>
          </a:prstGeom>
          <a:noFill/>
        </p:spPr>
        <p:txBody>
          <a:bodyPr wrap="none" lIns="0" rIns="0" tIns="0" bIns="0">
            <a:spAutoFit/>
          </a:bodyPr>
          <a:lstStyle/>
          <a:p>
            <a:r>
              <a:rPr sz="1150" b="0">
                <a:solidFill>
                  <a:srgbClr val="2E2E2E"/>
                </a:solidFill>
                <a:latin typeface="Calibri"/>
              </a:rPr>
              <a:t>register</a:t>
            </a:r>
          </a:p>
        </p:txBody>
      </p:sp>
      <p:pic>
        <p:nvPicPr>
          <p:cNvPr id="39" name="Picture 38" descr="lock.png"/>
          <p:cNvPicPr>
            <a:picLocks noChangeAspect="1"/>
          </p:cNvPicPr>
          <p:nvPr/>
        </p:nvPicPr>
        <p:blipFill>
          <a:blip r:embed="rId6"/>
          <a:stretch>
            <a:fillRect/>
          </a:stretch>
        </p:blipFill>
        <p:spPr>
          <a:xfrm>
            <a:off x="757699" y="5540184"/>
            <a:ext cx="134549" cy="195707"/>
          </a:xfrm>
          <a:prstGeom prst="rect">
            <a:avLst/>
          </a:prstGeom>
        </p:spPr>
      </p:pic>
      <p:sp>
        <p:nvSpPr>
          <p:cNvPr id="40" name="TextBox 39"/>
          <p:cNvSpPr txBox="1"/>
          <p:nvPr/>
        </p:nvSpPr>
        <p:spPr>
          <a:xfrm>
            <a:off x="932809" y="5550407"/>
            <a:ext cx="3462163" cy="194310"/>
          </a:xfrm>
          <a:prstGeom prst="rect">
            <a:avLst/>
          </a:prstGeom>
          <a:noFill/>
        </p:spPr>
        <p:txBody>
          <a:bodyPr wrap="none" lIns="0" rIns="0" tIns="0" bIns="0">
            <a:spAutoFit/>
          </a:bodyPr>
          <a:lstStyle/>
          <a:p>
            <a:r>
              <a:rPr sz="1150" b="0">
                <a:solidFill>
                  <a:srgbClr val="2E2E2E"/>
                </a:solidFill>
                <a:latin typeface="Calibri"/>
              </a:rPr>
              <a:t>X increase in volume by the end of forecast period, 2036.</a:t>
            </a:r>
          </a:p>
        </p:txBody>
      </p:sp>
      <p:sp>
        <p:nvSpPr>
          <p:cNvPr id="41" name="TextBox 40"/>
          <p:cNvSpPr txBox="1"/>
          <p:nvPr/>
        </p:nvSpPr>
        <p:spPr>
          <a:xfrm>
            <a:off x="276225" y="5778245"/>
            <a:ext cx="3568563" cy="194310"/>
          </a:xfrm>
          <a:prstGeom prst="rect">
            <a:avLst/>
          </a:prstGeom>
          <a:noFill/>
        </p:spPr>
        <p:txBody>
          <a:bodyPr wrap="none" lIns="0" rIns="0" tIns="0" bIns="0">
            <a:spAutoFit/>
          </a:bodyPr>
          <a:lstStyle/>
          <a:p>
            <a:r>
              <a:rPr sz="1150" b="0">
                <a:solidFill>
                  <a:srgbClr val="2E2E2E"/>
                </a:solidFill>
                <a:latin typeface="Calibri"/>
              </a:rPr>
              <a:t>Global removable partial dentures market volume stood at</a:t>
            </a:r>
          </a:p>
        </p:txBody>
      </p:sp>
      <p:pic>
        <p:nvPicPr>
          <p:cNvPr id="42" name="Picture 41" descr="lock.png"/>
          <p:cNvPicPr>
            <a:picLocks noChangeAspect="1"/>
          </p:cNvPicPr>
          <p:nvPr/>
        </p:nvPicPr>
        <p:blipFill>
          <a:blip r:embed="rId6"/>
          <a:stretch>
            <a:fillRect/>
          </a:stretch>
        </p:blipFill>
        <p:spPr>
          <a:xfrm>
            <a:off x="3793942" y="5768022"/>
            <a:ext cx="134549" cy="195707"/>
          </a:xfrm>
          <a:prstGeom prst="rect">
            <a:avLst/>
          </a:prstGeom>
        </p:spPr>
      </p:pic>
      <p:sp>
        <p:nvSpPr>
          <p:cNvPr id="43" name="TextBox 42"/>
          <p:cNvSpPr txBox="1"/>
          <p:nvPr/>
        </p:nvSpPr>
        <p:spPr>
          <a:xfrm>
            <a:off x="3969051" y="5778245"/>
            <a:ext cx="2343683" cy="194310"/>
          </a:xfrm>
          <a:prstGeom prst="rect">
            <a:avLst/>
          </a:prstGeom>
          <a:noFill/>
        </p:spPr>
        <p:txBody>
          <a:bodyPr wrap="none" lIns="0" rIns="0" tIns="0" bIns="0">
            <a:spAutoFit/>
          </a:bodyPr>
          <a:lstStyle/>
          <a:p>
            <a:r>
              <a:rPr sz="1150" b="0">
                <a:solidFill>
                  <a:srgbClr val="2E2E2E"/>
                </a:solidFill>
                <a:latin typeface="Calibri"/>
              </a:rPr>
              <a:t>Units in 2025 and is expected to reach</a:t>
            </a:r>
          </a:p>
        </p:txBody>
      </p:sp>
      <p:pic>
        <p:nvPicPr>
          <p:cNvPr id="44" name="Picture 43" descr="lock.png"/>
          <p:cNvPicPr>
            <a:picLocks noChangeAspect="1"/>
          </p:cNvPicPr>
          <p:nvPr/>
        </p:nvPicPr>
        <p:blipFill>
          <a:blip r:embed="rId6"/>
          <a:stretch>
            <a:fillRect/>
          </a:stretch>
        </p:blipFill>
        <p:spPr>
          <a:xfrm>
            <a:off x="6261889" y="5768022"/>
            <a:ext cx="134549" cy="195707"/>
          </a:xfrm>
          <a:prstGeom prst="rect">
            <a:avLst/>
          </a:prstGeom>
        </p:spPr>
      </p:pic>
      <p:sp>
        <p:nvSpPr>
          <p:cNvPr id="45" name="TextBox 44"/>
          <p:cNvSpPr txBox="1"/>
          <p:nvPr/>
        </p:nvSpPr>
        <p:spPr>
          <a:xfrm>
            <a:off x="6436998" y="5778245"/>
            <a:ext cx="1964563" cy="194310"/>
          </a:xfrm>
          <a:prstGeom prst="rect">
            <a:avLst/>
          </a:prstGeom>
          <a:noFill/>
        </p:spPr>
        <p:txBody>
          <a:bodyPr wrap="none" lIns="0" rIns="0" tIns="0" bIns="0">
            <a:spAutoFit/>
          </a:bodyPr>
          <a:lstStyle/>
          <a:p>
            <a:r>
              <a:rPr sz="1150" b="0">
                <a:solidFill>
                  <a:srgbClr val="2E2E2E"/>
                </a:solidFill>
                <a:latin typeface="Calibri"/>
              </a:rPr>
              <a:t>Units by 2036 end, at a CAGR of</a:t>
            </a:r>
          </a:p>
        </p:txBody>
      </p:sp>
      <p:pic>
        <p:nvPicPr>
          <p:cNvPr id="46" name="Picture 45" descr="lock.png"/>
          <p:cNvPicPr>
            <a:picLocks noChangeAspect="1"/>
          </p:cNvPicPr>
          <p:nvPr/>
        </p:nvPicPr>
        <p:blipFill>
          <a:blip r:embed="rId6"/>
          <a:stretch>
            <a:fillRect/>
          </a:stretch>
        </p:blipFill>
        <p:spPr>
          <a:xfrm>
            <a:off x="8350715" y="5768022"/>
            <a:ext cx="134549" cy="195707"/>
          </a:xfrm>
          <a:prstGeom prst="rect">
            <a:avLst/>
          </a:prstGeom>
        </p:spPr>
      </p:pic>
      <p:sp>
        <p:nvSpPr>
          <p:cNvPr id="47" name="TextBox 46"/>
          <p:cNvSpPr txBox="1"/>
          <p:nvPr/>
        </p:nvSpPr>
        <p:spPr>
          <a:xfrm>
            <a:off x="8525824" y="5778245"/>
            <a:ext cx="2864271" cy="194310"/>
          </a:xfrm>
          <a:prstGeom prst="rect">
            <a:avLst/>
          </a:prstGeom>
          <a:noFill/>
        </p:spPr>
        <p:txBody>
          <a:bodyPr wrap="none" lIns="0" rIns="0" tIns="0" bIns="0">
            <a:spAutoFit/>
          </a:bodyPr>
          <a:lstStyle/>
          <a:p>
            <a:r>
              <a:rPr sz="1150" b="0">
                <a:solidFill>
                  <a:srgbClr val="2E2E2E"/>
                </a:solidFill>
                <a:latin typeface="Calibri"/>
              </a:rPr>
              <a:t>. Value is projected to grow faster than volume</a:t>
            </a:r>
          </a:p>
        </p:txBody>
      </p:sp>
      <p:sp>
        <p:nvSpPr>
          <p:cNvPr id="48" name="TextBox 47"/>
          <p:cNvSpPr txBox="1"/>
          <p:nvPr/>
        </p:nvSpPr>
        <p:spPr>
          <a:xfrm>
            <a:off x="276225" y="5953505"/>
            <a:ext cx="4232634" cy="194310"/>
          </a:xfrm>
          <a:prstGeom prst="rect">
            <a:avLst/>
          </a:prstGeom>
          <a:noFill/>
        </p:spPr>
        <p:txBody>
          <a:bodyPr wrap="none" lIns="0" rIns="0" tIns="0" bIns="0">
            <a:spAutoFit/>
          </a:bodyPr>
          <a:lstStyle/>
          <a:p>
            <a:r>
              <a:rPr sz="1150" b="0">
                <a:solidFill>
                  <a:srgbClr val="2E2E2E"/>
                </a:solidFill>
                <a:latin typeface="Calibri"/>
              </a:rPr>
              <a:t>over the forecast period, owing to an increase in average selling price.</a:t>
            </a:r>
          </a:p>
        </p:txBody>
      </p:sp>
      <p:sp>
        <p:nvSpPr>
          <p:cNvPr id="49" name="lockshield_13"/>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lockshield_16"/>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1"/>
        </p:xfrm>
        <a:graphic>
          <a:graphicData uri="http://schemas.openxmlformats.org/drawingml/2006/table">
            <a:tbl>
              <a:tblPr>
                <a:tableStyleId>{5C22544A-7EE6-4342-B048-85BDC9FD1C3A}</a:tableStyleId>
              </a:tblPr>
              <a:tblGrid>
                <a:gridCol w="1013910"/>
                <a:gridCol w="969873"/>
                <a:gridCol w="661933"/>
                <a:gridCol w="1269060"/>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77189">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74030" cy="2003628"/>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6584080" y="1293011"/>
            <a:ext cx="1369295" cy="2003628"/>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20" name="Rectangle 19"/>
          <p:cNvSpPr/>
          <p:nvPr/>
        </p:nvSpPr>
        <p:spPr>
          <a:xfrm>
            <a:off x="4210050" y="3296639"/>
            <a:ext cx="1574528" cy="145951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1" name="Rectangle 20"/>
          <p:cNvSpPr/>
          <p:nvPr/>
        </p:nvSpPr>
        <p:spPr>
          <a:xfrm>
            <a:off x="4210050" y="4756153"/>
            <a:ext cx="1574528" cy="1122456"/>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22" name="Rectangle 21"/>
          <p:cNvSpPr/>
          <p:nvPr/>
        </p:nvSpPr>
        <p:spPr>
          <a:xfrm>
            <a:off x="5784578" y="3296639"/>
            <a:ext cx="1190176" cy="1131388"/>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23" name="Rectangle 22"/>
          <p:cNvSpPr/>
          <p:nvPr/>
        </p:nvSpPr>
        <p:spPr>
          <a:xfrm>
            <a:off x="6974755" y="3296639"/>
            <a:ext cx="978620" cy="1131388"/>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24" name="Rectangle 23"/>
          <p:cNvSpPr/>
          <p:nvPr/>
        </p:nvSpPr>
        <p:spPr>
          <a:xfrm>
            <a:off x="5784578" y="4428027"/>
            <a:ext cx="1185271" cy="809390"/>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5" name="Rectangle 24"/>
          <p:cNvSpPr/>
          <p:nvPr/>
        </p:nvSpPr>
        <p:spPr>
          <a:xfrm>
            <a:off x="5784578" y="5237417"/>
            <a:ext cx="1185271" cy="641193"/>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6" name="Rectangle 25"/>
          <p:cNvSpPr/>
          <p:nvPr/>
        </p:nvSpPr>
        <p:spPr>
          <a:xfrm>
            <a:off x="6969850" y="4428027"/>
            <a:ext cx="983525" cy="759246"/>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7" name="Rectangle 26"/>
          <p:cNvSpPr/>
          <p:nvPr/>
        </p:nvSpPr>
        <p:spPr>
          <a:xfrm>
            <a:off x="6969850" y="5187272"/>
            <a:ext cx="983525" cy="691337"/>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14776" cy="2159451"/>
        </p:xfrm>
        <a:graphic>
          <a:graphicData uri="http://schemas.openxmlformats.org/drawingml/2006/table">
            <a:tbl>
              <a:tblPr>
                <a:tableStyleId>{5C22544A-7EE6-4342-B048-85BDC9FD1C3A}</a:tableStyleId>
              </a:tblPr>
              <a:tblGrid>
                <a:gridCol w="671383"/>
                <a:gridCol w="1081131"/>
                <a:gridCol w="1081131"/>
                <a:gridCol w="10811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82665">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6" name="Picture 35" descr="lock.png"/>
          <p:cNvPicPr>
            <a:picLocks noChangeAspect="1"/>
          </p:cNvPicPr>
          <p:nvPr/>
        </p:nvPicPr>
        <p:blipFill>
          <a:blip r:embed="rId6"/>
          <a:stretch>
            <a:fillRect/>
          </a:stretch>
        </p:blipFill>
        <p:spPr>
          <a:xfrm>
            <a:off x="3188017" y="2125483"/>
            <a:ext cx="183356" cy="266700"/>
          </a:xfrm>
          <a:prstGeom prst="rect">
            <a:avLst/>
          </a:prstGeom>
        </p:spPr>
      </p:pic>
      <p:pic>
        <p:nvPicPr>
          <p:cNvPr id="37" name="Picture 36" descr="lock.png"/>
          <p:cNvPicPr>
            <a:picLocks noChangeAspect="1"/>
          </p:cNvPicPr>
          <p:nvPr/>
        </p:nvPicPr>
        <p:blipFill>
          <a:blip r:embed="rId6"/>
          <a:stretch>
            <a:fillRect/>
          </a:stretch>
        </p:blipFill>
        <p:spPr>
          <a:xfrm>
            <a:off x="2447283" y="4512977"/>
            <a:ext cx="332867" cy="484170"/>
          </a:xfrm>
          <a:prstGeom prst="rect">
            <a:avLst/>
          </a:prstGeom>
        </p:spPr>
      </p:pic>
      <p:pic>
        <p:nvPicPr>
          <p:cNvPr id="38" name="Picture 37" descr="lock.png"/>
          <p:cNvPicPr>
            <a:picLocks noChangeAspect="1"/>
          </p:cNvPicPr>
          <p:nvPr/>
        </p:nvPicPr>
        <p:blipFill>
          <a:blip r:embed="rId6"/>
          <a:stretch>
            <a:fillRect/>
          </a:stretch>
        </p:blipFill>
        <p:spPr>
          <a:xfrm>
            <a:off x="5339439" y="2294825"/>
            <a:ext cx="115252" cy="167639"/>
          </a:xfrm>
          <a:prstGeom prst="rect">
            <a:avLst/>
          </a:prstGeom>
        </p:spPr>
      </p:pic>
      <p:pic>
        <p:nvPicPr>
          <p:cNvPr id="39" name="Picture 38" descr="lock.png"/>
          <p:cNvPicPr>
            <a:picLocks noChangeAspect="1"/>
          </p:cNvPicPr>
          <p:nvPr/>
        </p:nvPicPr>
        <p:blipFill>
          <a:blip r:embed="rId6"/>
          <a:stretch>
            <a:fillRect/>
          </a:stretch>
        </p:blipFill>
        <p:spPr>
          <a:xfrm>
            <a:off x="7211101" y="2294825"/>
            <a:ext cx="115252" cy="167639"/>
          </a:xfrm>
          <a:prstGeom prst="rect">
            <a:avLst/>
          </a:prstGeom>
        </p:spPr>
      </p:pic>
      <p:pic>
        <p:nvPicPr>
          <p:cNvPr id="40" name="Picture 39" descr="lock.png"/>
          <p:cNvPicPr>
            <a:picLocks noChangeAspect="1"/>
          </p:cNvPicPr>
          <p:nvPr/>
        </p:nvPicPr>
        <p:blipFill>
          <a:blip r:embed="rId6"/>
          <a:stretch>
            <a:fillRect/>
          </a:stretch>
        </p:blipFill>
        <p:spPr>
          <a:xfrm>
            <a:off x="4939688" y="4026396"/>
            <a:ext cx="115252" cy="167639"/>
          </a:xfrm>
          <a:prstGeom prst="rect">
            <a:avLst/>
          </a:prstGeom>
        </p:spPr>
      </p:pic>
      <p:pic>
        <p:nvPicPr>
          <p:cNvPr id="41" name="Picture 40" descr="lock.png"/>
          <p:cNvPicPr>
            <a:picLocks noChangeAspect="1"/>
          </p:cNvPicPr>
          <p:nvPr/>
        </p:nvPicPr>
        <p:blipFill>
          <a:blip r:embed="rId6"/>
          <a:stretch>
            <a:fillRect/>
          </a:stretch>
        </p:blipFill>
        <p:spPr>
          <a:xfrm>
            <a:off x="4939688" y="5317381"/>
            <a:ext cx="115252" cy="167639"/>
          </a:xfrm>
          <a:prstGeom prst="rect">
            <a:avLst/>
          </a:prstGeom>
        </p:spPr>
      </p:pic>
      <p:pic>
        <p:nvPicPr>
          <p:cNvPr id="42" name="Picture 41" descr="lock.png"/>
          <p:cNvPicPr>
            <a:picLocks noChangeAspect="1"/>
          </p:cNvPicPr>
          <p:nvPr/>
        </p:nvPicPr>
        <p:blipFill>
          <a:blip r:embed="rId6"/>
          <a:stretch>
            <a:fillRect/>
          </a:stretch>
        </p:blipFill>
        <p:spPr>
          <a:xfrm>
            <a:off x="6322040" y="3862333"/>
            <a:ext cx="115252" cy="167639"/>
          </a:xfrm>
          <a:prstGeom prst="rect">
            <a:avLst/>
          </a:prstGeom>
        </p:spPr>
      </p:pic>
      <p:pic>
        <p:nvPicPr>
          <p:cNvPr id="43" name="Picture 42" descr="lock.png"/>
          <p:cNvPicPr>
            <a:picLocks noChangeAspect="1"/>
          </p:cNvPicPr>
          <p:nvPr/>
        </p:nvPicPr>
        <p:blipFill>
          <a:blip r:embed="rId6"/>
          <a:stretch>
            <a:fillRect/>
          </a:stretch>
        </p:blipFill>
        <p:spPr>
          <a:xfrm>
            <a:off x="7406439" y="3862333"/>
            <a:ext cx="115252" cy="167639"/>
          </a:xfrm>
          <a:prstGeom prst="rect">
            <a:avLst/>
          </a:prstGeom>
        </p:spPr>
      </p:pic>
      <p:pic>
        <p:nvPicPr>
          <p:cNvPr id="44" name="Picture 43" descr="lock.png"/>
          <p:cNvPicPr>
            <a:picLocks noChangeAspect="1"/>
          </p:cNvPicPr>
          <p:nvPr/>
        </p:nvPicPr>
        <p:blipFill>
          <a:blip r:embed="rId6"/>
          <a:stretch>
            <a:fillRect/>
          </a:stretch>
        </p:blipFill>
        <p:spPr>
          <a:xfrm>
            <a:off x="6319587" y="4832722"/>
            <a:ext cx="115252" cy="167639"/>
          </a:xfrm>
          <a:prstGeom prst="rect">
            <a:avLst/>
          </a:prstGeom>
        </p:spPr>
      </p:pic>
      <p:pic>
        <p:nvPicPr>
          <p:cNvPr id="45" name="Picture 44" descr="lock.png"/>
          <p:cNvPicPr>
            <a:picLocks noChangeAspect="1"/>
          </p:cNvPicPr>
          <p:nvPr/>
        </p:nvPicPr>
        <p:blipFill>
          <a:blip r:embed="rId6"/>
          <a:stretch>
            <a:fillRect/>
          </a:stretch>
        </p:blipFill>
        <p:spPr>
          <a:xfrm>
            <a:off x="6319587" y="5558013"/>
            <a:ext cx="115252" cy="167639"/>
          </a:xfrm>
          <a:prstGeom prst="rect">
            <a:avLst/>
          </a:prstGeom>
        </p:spPr>
      </p:pic>
      <p:pic>
        <p:nvPicPr>
          <p:cNvPr id="46" name="Picture 45" descr="lock.png"/>
          <p:cNvPicPr>
            <a:picLocks noChangeAspect="1"/>
          </p:cNvPicPr>
          <p:nvPr/>
        </p:nvPicPr>
        <p:blipFill>
          <a:blip r:embed="rId6"/>
          <a:stretch>
            <a:fillRect/>
          </a:stretch>
        </p:blipFill>
        <p:spPr>
          <a:xfrm>
            <a:off x="7403986" y="4807650"/>
            <a:ext cx="115252" cy="167639"/>
          </a:xfrm>
          <a:prstGeom prst="rect">
            <a:avLst/>
          </a:prstGeom>
        </p:spPr>
      </p:pic>
      <p:pic>
        <p:nvPicPr>
          <p:cNvPr id="47" name="Picture 46" descr="lock.png"/>
          <p:cNvPicPr>
            <a:picLocks noChangeAspect="1"/>
          </p:cNvPicPr>
          <p:nvPr/>
        </p:nvPicPr>
        <p:blipFill>
          <a:blip r:embed="rId6"/>
          <a:stretch>
            <a:fillRect/>
          </a:stretch>
        </p:blipFill>
        <p:spPr>
          <a:xfrm>
            <a:off x="7403986" y="5532940"/>
            <a:ext cx="115252" cy="167639"/>
          </a:xfrm>
          <a:prstGeom prst="rect">
            <a:avLst/>
          </a:prstGeom>
        </p:spPr>
      </p:pic>
      <p:pic>
        <p:nvPicPr>
          <p:cNvPr id="48" name="Picture 47" descr="lock.png"/>
          <p:cNvPicPr>
            <a:picLocks noChangeAspect="1"/>
          </p:cNvPicPr>
          <p:nvPr/>
        </p:nvPicPr>
        <p:blipFill>
          <a:blip r:embed="rId6"/>
          <a:stretch>
            <a:fillRect/>
          </a:stretch>
        </p:blipFill>
        <p:spPr>
          <a:xfrm>
            <a:off x="11131867" y="2120920"/>
            <a:ext cx="183356" cy="266700"/>
          </a:xfrm>
          <a:prstGeom prst="rect">
            <a:avLst/>
          </a:prstGeom>
        </p:spPr>
      </p:pic>
      <p:pic>
        <p:nvPicPr>
          <p:cNvPr id="49" name="Picture 48" descr="lock.png"/>
          <p:cNvPicPr>
            <a:picLocks noChangeAspect="1"/>
          </p:cNvPicPr>
          <p:nvPr/>
        </p:nvPicPr>
        <p:blipFill>
          <a:blip r:embed="rId6"/>
          <a:stretch>
            <a:fillRect/>
          </a:stretch>
        </p:blipFill>
        <p:spPr>
          <a:xfrm>
            <a:off x="10208848" y="4492667"/>
            <a:ext cx="354517" cy="515661"/>
          </a:xfrm>
          <a:prstGeom prst="rect">
            <a:avLst/>
          </a:prstGeom>
        </p:spPr>
      </p:pic>
      <p:sp>
        <p:nvSpPr>
          <p:cNvPr id="50" name="TextBox 49"/>
          <p:cNvSpPr txBox="1"/>
          <p:nvPr/>
        </p:nvSpPr>
        <p:spPr>
          <a:xfrm>
            <a:off x="257175" y="6160574"/>
            <a:ext cx="3881387" cy="186689"/>
          </a:xfrm>
          <a:prstGeom prst="rect">
            <a:avLst/>
          </a:prstGeom>
          <a:noFill/>
        </p:spPr>
        <p:txBody>
          <a:bodyPr wrap="none" lIns="0" rIns="0" tIns="0" bIns="0">
            <a:spAutoFit/>
          </a:bodyPr>
          <a:lstStyle/>
          <a:p>
            <a:r>
              <a:rPr sz="1100" b="0">
                <a:solidFill>
                  <a:srgbClr val="2E2E2E"/>
                </a:solidFill>
                <a:latin typeface="Calibri"/>
              </a:rPr>
              <a:t>The U.S. removable partial dentures market is projected to register</a:t>
            </a:r>
          </a:p>
        </p:txBody>
      </p:sp>
      <p:pic>
        <p:nvPicPr>
          <p:cNvPr id="51" name="Picture 50" descr="lock.png"/>
          <p:cNvPicPr>
            <a:picLocks noChangeAspect="1"/>
          </p:cNvPicPr>
          <p:nvPr/>
        </p:nvPicPr>
        <p:blipFill>
          <a:blip r:embed="rId6"/>
          <a:stretch>
            <a:fillRect/>
          </a:stretch>
        </p:blipFill>
        <p:spPr>
          <a:xfrm>
            <a:off x="4086614" y="6150795"/>
            <a:ext cx="128699" cy="187198"/>
          </a:xfrm>
          <a:prstGeom prst="rect">
            <a:avLst/>
          </a:prstGeom>
        </p:spPr>
      </p:pic>
      <p:sp>
        <p:nvSpPr>
          <p:cNvPr id="52" name="TextBox 51"/>
          <p:cNvSpPr txBox="1"/>
          <p:nvPr/>
        </p:nvSpPr>
        <p:spPr>
          <a:xfrm>
            <a:off x="4254110" y="6160574"/>
            <a:ext cx="4298833" cy="186689"/>
          </a:xfrm>
          <a:prstGeom prst="rect">
            <a:avLst/>
          </a:prstGeom>
          <a:noFill/>
        </p:spPr>
        <p:txBody>
          <a:bodyPr wrap="none" lIns="0" rIns="0" tIns="0" bIns="0">
            <a:spAutoFit/>
          </a:bodyPr>
          <a:lstStyle/>
          <a:p>
            <a:r>
              <a:rPr sz="1100" b="0">
                <a:solidFill>
                  <a:srgbClr val="2E2E2E"/>
                </a:solidFill>
                <a:latin typeface="Calibri"/>
              </a:rPr>
              <a:t>X higher value than Germany in 2036. India posts the highest CAGR Index (</a:t>
            </a:r>
          </a:p>
        </p:txBody>
      </p:sp>
      <p:pic>
        <p:nvPicPr>
          <p:cNvPr id="53" name="Picture 52" descr="lock.png"/>
          <p:cNvPicPr>
            <a:picLocks noChangeAspect="1"/>
          </p:cNvPicPr>
          <p:nvPr/>
        </p:nvPicPr>
        <p:blipFill>
          <a:blip r:embed="rId6"/>
          <a:stretch>
            <a:fillRect/>
          </a:stretch>
        </p:blipFill>
        <p:spPr>
          <a:xfrm>
            <a:off x="8500995" y="6150795"/>
            <a:ext cx="128699" cy="187198"/>
          </a:xfrm>
          <a:prstGeom prst="rect">
            <a:avLst/>
          </a:prstGeom>
        </p:spPr>
      </p:pic>
      <p:sp>
        <p:nvSpPr>
          <p:cNvPr id="54" name="TextBox 53"/>
          <p:cNvSpPr txBox="1"/>
          <p:nvPr/>
        </p:nvSpPr>
        <p:spPr>
          <a:xfrm>
            <a:off x="8668491"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55" name="Picture 54" descr="lock.png"/>
          <p:cNvPicPr>
            <a:picLocks noChangeAspect="1"/>
          </p:cNvPicPr>
          <p:nvPr/>
        </p:nvPicPr>
        <p:blipFill>
          <a:blip r:embed="rId6"/>
          <a:stretch>
            <a:fillRect/>
          </a:stretch>
        </p:blipFill>
        <p:spPr>
          <a:xfrm>
            <a:off x="9406522" y="6150795"/>
            <a:ext cx="128699" cy="187198"/>
          </a:xfrm>
          <a:prstGeom prst="rect">
            <a:avLst/>
          </a:prstGeom>
        </p:spPr>
      </p:pic>
      <p:sp>
        <p:nvSpPr>
          <p:cNvPr id="56" name="TextBox 55"/>
          <p:cNvSpPr txBox="1"/>
          <p:nvPr/>
        </p:nvSpPr>
        <p:spPr>
          <a:xfrm>
            <a:off x="9574018" y="6160574"/>
            <a:ext cx="1080020" cy="186689"/>
          </a:xfrm>
          <a:prstGeom prst="rect">
            <a:avLst/>
          </a:prstGeom>
          <a:noFill/>
        </p:spPr>
        <p:txBody>
          <a:bodyPr wrap="none" lIns="0" rIns="0" tIns="0" bIns="0">
            <a:spAutoFit/>
          </a:bodyPr>
          <a:lstStyle/>
          <a:p>
            <a:r>
              <a:rPr sz="1100" b="0">
                <a:solidFill>
                  <a:srgbClr val="2E2E2E"/>
                </a:solidFill>
                <a:latin typeface="Calibri"/>
              </a:rPr>
              <a:t>against the global</a:t>
            </a:r>
          </a:p>
        </p:txBody>
      </p:sp>
      <p:sp>
        <p:nvSpPr>
          <p:cNvPr id="57" name="TextBox 56"/>
          <p:cNvSpPr txBox="1"/>
          <p:nvPr/>
        </p:nvSpPr>
        <p:spPr>
          <a:xfrm>
            <a:off x="257175" y="6328214"/>
            <a:ext cx="3580159" cy="186689"/>
          </a:xfrm>
          <a:prstGeom prst="rect">
            <a:avLst/>
          </a:prstGeom>
          <a:noFill/>
        </p:spPr>
        <p:txBody>
          <a:bodyPr wrap="none" lIns="0" rIns="0" tIns="0" bIns="0">
            <a:spAutoFit/>
          </a:bodyPr>
          <a:lstStyle/>
          <a:p>
            <a:r>
              <a:rPr sz="1100" b="0">
                <a:solidFill>
                  <a:srgbClr val="2E2E2E"/>
                </a:solidFill>
                <a:latin typeface="Calibri"/>
              </a:rPr>
              <a:t>benchmark, while U.S. offers the largest absolute opportunity</a:t>
            </a:r>
          </a:p>
        </p:txBody>
      </p:sp>
      <p:pic>
        <p:nvPicPr>
          <p:cNvPr id="58" name="Picture 57" descr="lock.png"/>
          <p:cNvPicPr>
            <a:picLocks noChangeAspect="1"/>
          </p:cNvPicPr>
          <p:nvPr/>
        </p:nvPicPr>
        <p:blipFill>
          <a:blip r:embed="rId6"/>
          <a:stretch>
            <a:fillRect/>
          </a:stretch>
        </p:blipFill>
        <p:spPr>
          <a:xfrm>
            <a:off x="3785386" y="6318435"/>
            <a:ext cx="128699" cy="187198"/>
          </a:xfrm>
          <a:prstGeom prst="rect">
            <a:avLst/>
          </a:prstGeom>
        </p:spPr>
      </p:pic>
      <p:sp>
        <p:nvSpPr>
          <p:cNvPr id="59" name="TextBox 58"/>
          <p:cNvSpPr txBox="1"/>
          <p:nvPr/>
        </p:nvSpPr>
        <p:spPr>
          <a:xfrm>
            <a:off x="3952882"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60" name="Picture 59" descr="lock.png"/>
          <p:cNvPicPr>
            <a:picLocks noChangeAspect="1"/>
          </p:cNvPicPr>
          <p:nvPr/>
        </p:nvPicPr>
        <p:blipFill>
          <a:blip r:embed="rId6"/>
          <a:stretch>
            <a:fillRect/>
          </a:stretch>
        </p:blipFill>
        <p:spPr>
          <a:xfrm>
            <a:off x="7212880" y="6318435"/>
            <a:ext cx="128699" cy="187198"/>
          </a:xfrm>
          <a:prstGeom prst="rect">
            <a:avLst/>
          </a:prstGeom>
        </p:spPr>
      </p:pic>
      <p:sp>
        <p:nvSpPr>
          <p:cNvPr id="61" name="TextBox 60"/>
          <p:cNvSpPr txBox="1"/>
          <p:nvPr/>
        </p:nvSpPr>
        <p:spPr>
          <a:xfrm>
            <a:off x="7380376" y="6328214"/>
            <a:ext cx="1483568" cy="186689"/>
          </a:xfrm>
          <a:prstGeom prst="rect">
            <a:avLst/>
          </a:prstGeom>
          <a:noFill/>
        </p:spPr>
        <p:txBody>
          <a:bodyPr wrap="none" lIns="0" rIns="0" tIns="0" bIns="0">
            <a:spAutoFit/>
          </a:bodyPr>
          <a:lstStyle/>
          <a:p>
            <a:r>
              <a:rPr sz="1100" b="0">
                <a:solidFill>
                  <a:srgbClr val="2E2E2E"/>
                </a:solidFill>
                <a:latin typeface="Calibri"/>
              </a:rPr>
              <a:t>of the global increment).</a:t>
            </a:r>
          </a:p>
        </p:txBody>
      </p:sp>
      <p:sp>
        <p:nvSpPr>
          <p:cNvPr id="62"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lockshield_30"/>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199" cy="1485896"/>
        </p:xfrm>
        <a:graphic>
          <a:graphicData uri="http://schemas.openxmlformats.org/drawingml/2006/table">
            <a:tbl>
              <a:tblPr>
                <a:tableStyleId>{5C22544A-7EE6-4342-B048-85BDC9FD1C3A}</a:tableStyleId>
              </a:tblPr>
              <a:tblGrid>
                <a:gridCol w="1994456"/>
                <a:gridCol w="3297581"/>
                <a:gridCol w="3297581"/>
                <a:gridCol w="32975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Spain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Mexico</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5527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90512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981325"/>
          <a:ext cx="11887201" cy="1485896"/>
        </p:xfrm>
        <a:graphic>
          <a:graphicData uri="http://schemas.openxmlformats.org/drawingml/2006/table">
            <a:tbl>
              <a:tblPr>
                <a:tableStyleId>{5C22544A-7EE6-4342-B048-85BDC9FD1C3A}</a:tableStyleId>
              </a:tblPr>
              <a:tblGrid>
                <a:gridCol w="1943458"/>
                <a:gridCol w="3314581"/>
                <a:gridCol w="3314581"/>
                <a:gridCol w="33145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4"/>
          <a:stretch>
            <a:fillRect/>
          </a:stretch>
        </p:blipFill>
        <p:spPr>
          <a:xfrm>
            <a:off x="6906537" y="1656588"/>
            <a:ext cx="366712" cy="533400"/>
          </a:xfrm>
          <a:prstGeom prst="rect">
            <a:avLst/>
          </a:prstGeom>
        </p:spPr>
      </p:pic>
      <p:pic>
        <p:nvPicPr>
          <p:cNvPr id="18" name="Picture 17" descr="lock.png"/>
          <p:cNvPicPr>
            <a:picLocks noChangeAspect="1"/>
          </p:cNvPicPr>
          <p:nvPr/>
        </p:nvPicPr>
        <p:blipFill>
          <a:blip r:embed="rId4"/>
          <a:stretch>
            <a:fillRect/>
          </a:stretch>
        </p:blipFill>
        <p:spPr>
          <a:xfrm>
            <a:off x="6881039" y="3580638"/>
            <a:ext cx="366712" cy="533400"/>
          </a:xfrm>
          <a:prstGeom prst="rect">
            <a:avLst/>
          </a:prstGeom>
        </p:spPr>
      </p:pic>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'Cast Metal Partial Dentures'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916573" cy="194310"/>
          </a:xfrm>
          <a:prstGeom prst="rect">
            <a:avLst/>
          </a:prstGeom>
          <a:noFill/>
        </p:spPr>
        <p:txBody>
          <a:bodyPr wrap="none" lIns="0" rIns="0" tIns="0" bIns="0">
            <a:spAutoFit/>
          </a:bodyPr>
          <a:lstStyle/>
          <a:p>
            <a:r>
              <a:rPr sz="1150" b="0">
                <a:solidFill>
                  <a:srgbClr val="2E2E2E"/>
                </a:solidFill>
                <a:latin typeface="Calibri"/>
              </a:rPr>
              <a:t>Global removable partial dentures market is expected to witness</a:t>
            </a:r>
          </a:p>
        </p:txBody>
      </p:sp>
      <p:pic>
        <p:nvPicPr>
          <p:cNvPr id="32" name="Picture 31" descr="lock.png"/>
          <p:cNvPicPr>
            <a:picLocks noChangeAspect="1"/>
          </p:cNvPicPr>
          <p:nvPr/>
        </p:nvPicPr>
        <p:blipFill>
          <a:blip r:embed="rId4"/>
          <a:stretch>
            <a:fillRect/>
          </a:stretch>
        </p:blipFill>
        <p:spPr>
          <a:xfrm>
            <a:off x="4141952" y="1389951"/>
            <a:ext cx="134549" cy="195707"/>
          </a:xfrm>
          <a:prstGeom prst="rect">
            <a:avLst/>
          </a:prstGeom>
        </p:spPr>
      </p:pic>
      <p:sp>
        <p:nvSpPr>
          <p:cNvPr id="33" name="TextBox 32"/>
          <p:cNvSpPr txBox="1"/>
          <p:nvPr/>
        </p:nvSpPr>
        <p:spPr>
          <a:xfrm>
            <a:off x="4317061" y="1400175"/>
            <a:ext cx="7426337" cy="194310"/>
          </a:xfrm>
          <a:prstGeom prst="rect">
            <a:avLst/>
          </a:prstGeom>
          <a:noFill/>
        </p:spPr>
        <p:txBody>
          <a:bodyPr wrap="none" lIns="0" rIns="0" tIns="0" bIns="0">
            <a:spAutoFit/>
          </a:bodyPr>
          <a:lstStyle/>
          <a:p>
            <a:r>
              <a:rPr sz="1150" b="0">
                <a:solidFill>
                  <a:srgbClr val="2E2E2E"/>
                </a:solidFill>
                <a:latin typeface="Calibri"/>
              </a:rPr>
              <a:t>X increase in revenue by 2036 end. Global removable partial dentures market accounted for US$ 1,078 Mn in 2025, which is</a:t>
            </a:r>
          </a:p>
        </p:txBody>
      </p:sp>
      <p:sp>
        <p:nvSpPr>
          <p:cNvPr id="34" name="TextBox 33"/>
          <p:cNvSpPr txBox="1"/>
          <p:nvPr/>
        </p:nvSpPr>
        <p:spPr>
          <a:xfrm>
            <a:off x="276225" y="1575435"/>
            <a:ext cx="3947648" cy="194310"/>
          </a:xfrm>
          <a:prstGeom prst="rect">
            <a:avLst/>
          </a:prstGeom>
          <a:noFill/>
        </p:spPr>
        <p:txBody>
          <a:bodyPr wrap="none" lIns="0" rIns="0" tIns="0" bIns="0">
            <a:spAutoFit/>
          </a:bodyPr>
          <a:lstStyle/>
          <a:p>
            <a:r>
              <a:rPr sz="1150" b="0">
                <a:solidFill>
                  <a:srgbClr val="2E2E2E"/>
                </a:solidFill>
                <a:latin typeface="Calibri"/>
              </a:rPr>
              <a:t>expected to increase to US$ 1,731 Mn in 2036 at a CAGR of 4.4%.</a:t>
            </a:r>
          </a:p>
        </p:txBody>
      </p:sp>
      <p:sp>
        <p:nvSpPr>
          <p:cNvPr id="35" name="TextBox 34"/>
          <p:cNvSpPr txBox="1"/>
          <p:nvPr/>
        </p:nvSpPr>
        <p:spPr>
          <a:xfrm>
            <a:off x="276225" y="1803273"/>
            <a:ext cx="11516307" cy="194310"/>
          </a:xfrm>
          <a:prstGeom prst="rect">
            <a:avLst/>
          </a:prstGeom>
          <a:noFill/>
        </p:spPr>
        <p:txBody>
          <a:bodyPr wrap="none" lIns="0" rIns="0" tIns="0" bIns="0">
            <a:spAutoFit/>
          </a:bodyPr>
          <a:lstStyle/>
          <a:p>
            <a:r>
              <a:rPr sz="1150" b="0">
                <a:solidFill>
                  <a:srgbClr val="2E2E2E"/>
                </a:solidFill>
                <a:latin typeface="Calibri"/>
              </a:rPr>
              <a:t>The global removable partial dentures market has been analysed on the basis of product type, material type, technology and end user across the globe. North America is expected to remain the</a:t>
            </a:r>
          </a:p>
        </p:txBody>
      </p:sp>
      <p:sp>
        <p:nvSpPr>
          <p:cNvPr id="36" name="TextBox 35"/>
          <p:cNvSpPr txBox="1"/>
          <p:nvPr/>
        </p:nvSpPr>
        <p:spPr>
          <a:xfrm>
            <a:off x="276225" y="1978533"/>
            <a:ext cx="7847924" cy="194310"/>
          </a:xfrm>
          <a:prstGeom prst="rect">
            <a:avLst/>
          </a:prstGeom>
          <a:noFill/>
        </p:spPr>
        <p:txBody>
          <a:bodyPr wrap="none" lIns="0" rIns="0" tIns="0" bIns="0">
            <a:spAutoFit/>
          </a:bodyPr>
          <a:lstStyle/>
          <a:p>
            <a:r>
              <a:rPr sz="1150" b="0">
                <a:solidFill>
                  <a:srgbClr val="2E2E2E"/>
                </a:solidFill>
                <a:latin typeface="Calibri"/>
              </a:rPr>
              <a:t>largest market for removable partial dentures, while demand in South Asia &amp; Pacific is projected to increase at the highest CAGR of</a:t>
            </a:r>
          </a:p>
        </p:txBody>
      </p:sp>
      <p:pic>
        <p:nvPicPr>
          <p:cNvPr id="37" name="Picture 36" descr="lock.png"/>
          <p:cNvPicPr>
            <a:picLocks noChangeAspect="1"/>
          </p:cNvPicPr>
          <p:nvPr/>
        </p:nvPicPr>
        <p:blipFill>
          <a:blip r:embed="rId4"/>
          <a:stretch>
            <a:fillRect/>
          </a:stretch>
        </p:blipFill>
        <p:spPr>
          <a:xfrm>
            <a:off x="8073303" y="1968309"/>
            <a:ext cx="134549" cy="195707"/>
          </a:xfrm>
          <a:prstGeom prst="rect">
            <a:avLst/>
          </a:prstGeom>
        </p:spPr>
      </p:pic>
      <p:sp>
        <p:nvSpPr>
          <p:cNvPr id="38" name="TextBox 37"/>
          <p:cNvSpPr txBox="1"/>
          <p:nvPr/>
        </p:nvSpPr>
        <p:spPr>
          <a:xfrm>
            <a:off x="8248413"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39" name="TextBox 38"/>
          <p:cNvSpPr txBox="1"/>
          <p:nvPr/>
        </p:nvSpPr>
        <p:spPr>
          <a:xfrm>
            <a:off x="276225" y="3276600"/>
            <a:ext cx="6401420" cy="194310"/>
          </a:xfrm>
          <a:prstGeom prst="rect">
            <a:avLst/>
          </a:prstGeom>
          <a:noFill/>
        </p:spPr>
        <p:txBody>
          <a:bodyPr wrap="none" lIns="0" rIns="0" tIns="0" bIns="0">
            <a:spAutoFit/>
          </a:bodyPr>
          <a:lstStyle/>
          <a:p>
            <a:r>
              <a:rPr sz="1150" b="0">
                <a:solidFill>
                  <a:srgbClr val="2E2E2E"/>
                </a:solidFill>
                <a:latin typeface="Calibri"/>
              </a:rPr>
              <a:t>▪ The market is moderately fragmented: the leading product type category 'Flexible Partial Dentures' holds</a:t>
            </a:r>
          </a:p>
        </p:txBody>
      </p:sp>
      <p:pic>
        <p:nvPicPr>
          <p:cNvPr id="40" name="Picture 39" descr="lock.png"/>
          <p:cNvPicPr>
            <a:picLocks noChangeAspect="1"/>
          </p:cNvPicPr>
          <p:nvPr/>
        </p:nvPicPr>
        <p:blipFill>
          <a:blip r:embed="rId4"/>
          <a:stretch>
            <a:fillRect/>
          </a:stretch>
        </p:blipFill>
        <p:spPr>
          <a:xfrm>
            <a:off x="6626799" y="3266376"/>
            <a:ext cx="134549" cy="195707"/>
          </a:xfrm>
          <a:prstGeom prst="rect">
            <a:avLst/>
          </a:prstGeom>
        </p:spPr>
      </p:pic>
      <p:sp>
        <p:nvSpPr>
          <p:cNvPr id="41" name="TextBox 40"/>
          <p:cNvSpPr txBox="1"/>
          <p:nvPr/>
        </p:nvSpPr>
        <p:spPr>
          <a:xfrm>
            <a:off x="6801908" y="32766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2" name="TextBox 41"/>
          <p:cNvSpPr txBox="1"/>
          <p:nvPr/>
        </p:nvSpPr>
        <p:spPr>
          <a:xfrm>
            <a:off x="276225" y="3504437"/>
            <a:ext cx="4910968" cy="194310"/>
          </a:xfrm>
          <a:prstGeom prst="rect">
            <a:avLst/>
          </a:prstGeom>
          <a:noFill/>
        </p:spPr>
        <p:txBody>
          <a:bodyPr wrap="none" lIns="0" rIns="0" tIns="0" bIns="0">
            <a:spAutoFit/>
          </a:bodyPr>
          <a:lstStyle/>
          <a:p>
            <a:r>
              <a:rPr sz="1150" b="0">
                <a:solidFill>
                  <a:srgbClr val="2E2E2E"/>
                </a:solidFill>
                <a:latin typeface="Calibri"/>
              </a:rPr>
              <a:t>▪ Demand spans 6 regions and 8 segmentation lenses (4 product type categories).</a:t>
            </a:r>
          </a:p>
        </p:txBody>
      </p:sp>
      <p:sp>
        <p:nvSpPr>
          <p:cNvPr id="43" name="TextBox 42"/>
          <p:cNvSpPr txBox="1"/>
          <p:nvPr/>
        </p:nvSpPr>
        <p:spPr>
          <a:xfrm>
            <a:off x="276225" y="3732275"/>
            <a:ext cx="2950988" cy="194310"/>
          </a:xfrm>
          <a:prstGeom prst="rect">
            <a:avLst/>
          </a:prstGeom>
          <a:noFill/>
        </p:spPr>
        <p:txBody>
          <a:bodyPr wrap="none" lIns="0" rIns="0" tIns="0" bIns="0">
            <a:spAutoFit/>
          </a:bodyPr>
          <a:lstStyle/>
          <a:p>
            <a:r>
              <a:rPr sz="1150" b="0">
                <a:solidFill>
                  <a:srgbClr val="2E2E2E"/>
                </a:solidFill>
                <a:latin typeface="Calibri"/>
              </a:rPr>
              <a:t>▪ North America is the largest regional market at</a:t>
            </a:r>
          </a:p>
        </p:txBody>
      </p:sp>
      <p:pic>
        <p:nvPicPr>
          <p:cNvPr id="44" name="Picture 43" descr="lock.png"/>
          <p:cNvPicPr>
            <a:picLocks noChangeAspect="1"/>
          </p:cNvPicPr>
          <p:nvPr/>
        </p:nvPicPr>
        <p:blipFill>
          <a:blip r:embed="rId4"/>
          <a:stretch>
            <a:fillRect/>
          </a:stretch>
        </p:blipFill>
        <p:spPr>
          <a:xfrm>
            <a:off x="3176367" y="3722052"/>
            <a:ext cx="134549" cy="195707"/>
          </a:xfrm>
          <a:prstGeom prst="rect">
            <a:avLst/>
          </a:prstGeom>
        </p:spPr>
      </p:pic>
      <p:sp>
        <p:nvSpPr>
          <p:cNvPr id="45" name="TextBox 44"/>
          <p:cNvSpPr txBox="1"/>
          <p:nvPr/>
        </p:nvSpPr>
        <p:spPr>
          <a:xfrm>
            <a:off x="3351477" y="37322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6" name="TextBox 45"/>
          <p:cNvSpPr txBox="1"/>
          <p:nvPr/>
        </p:nvSpPr>
        <p:spPr>
          <a:xfrm>
            <a:off x="276225" y="5038725"/>
            <a:ext cx="3303847" cy="194310"/>
          </a:xfrm>
          <a:prstGeom prst="rect">
            <a:avLst/>
          </a:prstGeom>
          <a:noFill/>
        </p:spPr>
        <p:txBody>
          <a:bodyPr wrap="none" lIns="0" rIns="0" tIns="0" bIns="0">
            <a:spAutoFit/>
          </a:bodyPr>
          <a:lstStyle/>
          <a:p>
            <a:r>
              <a:rPr sz="1150" b="0">
                <a:solidFill>
                  <a:srgbClr val="2E2E2E"/>
                </a:solidFill>
                <a:latin typeface="Calibri"/>
              </a:rPr>
              <a:t>▪ Accelerating uptake of 'Cast Metal Partial Dentures' (</a:t>
            </a:r>
          </a:p>
        </p:txBody>
      </p:sp>
      <p:pic>
        <p:nvPicPr>
          <p:cNvPr id="47" name="Picture 46" descr="lock.png"/>
          <p:cNvPicPr>
            <a:picLocks noChangeAspect="1"/>
          </p:cNvPicPr>
          <p:nvPr/>
        </p:nvPicPr>
        <p:blipFill>
          <a:blip r:embed="rId4"/>
          <a:stretch>
            <a:fillRect/>
          </a:stretch>
        </p:blipFill>
        <p:spPr>
          <a:xfrm>
            <a:off x="3529226" y="5028501"/>
            <a:ext cx="134549" cy="195707"/>
          </a:xfrm>
          <a:prstGeom prst="rect">
            <a:avLst/>
          </a:prstGeom>
        </p:spPr>
      </p:pic>
      <p:sp>
        <p:nvSpPr>
          <p:cNvPr id="48" name="TextBox 47"/>
          <p:cNvSpPr txBox="1"/>
          <p:nvPr/>
        </p:nvSpPr>
        <p:spPr>
          <a:xfrm>
            <a:off x="276225" y="521398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9" name="TextBox 48"/>
          <p:cNvSpPr txBox="1"/>
          <p:nvPr/>
        </p:nvSpPr>
        <p:spPr>
          <a:xfrm>
            <a:off x="276225" y="5441822"/>
            <a:ext cx="2877045" cy="194310"/>
          </a:xfrm>
          <a:prstGeom prst="rect">
            <a:avLst/>
          </a:prstGeom>
          <a:noFill/>
        </p:spPr>
        <p:txBody>
          <a:bodyPr wrap="none" lIns="0" rIns="0" tIns="0" bIns="0">
            <a:spAutoFit/>
          </a:bodyPr>
          <a:lstStyle/>
          <a:p>
            <a:r>
              <a:rPr sz="1150" b="0">
                <a:solidFill>
                  <a:srgbClr val="2E2E2E"/>
                </a:solidFill>
                <a:latin typeface="Calibri"/>
              </a:rPr>
              <a:t>▪ Fast-growing demand in South Asia &amp; Pacific (</a:t>
            </a:r>
          </a:p>
        </p:txBody>
      </p:sp>
      <p:pic>
        <p:nvPicPr>
          <p:cNvPr id="50" name="Picture 49" descr="lock.png"/>
          <p:cNvPicPr>
            <a:picLocks noChangeAspect="1"/>
          </p:cNvPicPr>
          <p:nvPr/>
        </p:nvPicPr>
        <p:blipFill>
          <a:blip r:embed="rId4"/>
          <a:stretch>
            <a:fillRect/>
          </a:stretch>
        </p:blipFill>
        <p:spPr>
          <a:xfrm>
            <a:off x="3102424" y="5431599"/>
            <a:ext cx="134549" cy="195707"/>
          </a:xfrm>
          <a:prstGeom prst="rect">
            <a:avLst/>
          </a:prstGeom>
        </p:spPr>
      </p:pic>
      <p:sp>
        <p:nvSpPr>
          <p:cNvPr id="51" name="TextBox 50"/>
          <p:cNvSpPr txBox="1"/>
          <p:nvPr/>
        </p:nvSpPr>
        <p:spPr>
          <a:xfrm>
            <a:off x="3277533" y="5441822"/>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2" name="TextBox 51"/>
          <p:cNvSpPr txBox="1"/>
          <p:nvPr/>
        </p:nvSpPr>
        <p:spPr>
          <a:xfrm>
            <a:off x="276225" y="5669660"/>
            <a:ext cx="3052824" cy="194310"/>
          </a:xfrm>
          <a:prstGeom prst="rect">
            <a:avLst/>
          </a:prstGeom>
          <a:noFill/>
        </p:spPr>
        <p:txBody>
          <a:bodyPr wrap="none" lIns="0" rIns="0" tIns="0" bIns="0">
            <a:spAutoFit/>
          </a:bodyPr>
          <a:lstStyle/>
          <a:p>
            <a:r>
              <a:rPr sz="1150" b="0">
                <a:solidFill>
                  <a:srgbClr val="2E2E2E"/>
                </a:solidFill>
                <a:latin typeface="Calibri"/>
              </a:rPr>
              <a:t>▪ Momentum in Dental Hospitals within end user (</a:t>
            </a:r>
          </a:p>
        </p:txBody>
      </p:sp>
      <p:pic>
        <p:nvPicPr>
          <p:cNvPr id="53" name="Picture 52" descr="lock.png"/>
          <p:cNvPicPr>
            <a:picLocks noChangeAspect="1"/>
          </p:cNvPicPr>
          <p:nvPr/>
        </p:nvPicPr>
        <p:blipFill>
          <a:blip r:embed="rId4"/>
          <a:stretch>
            <a:fillRect/>
          </a:stretch>
        </p:blipFill>
        <p:spPr>
          <a:xfrm>
            <a:off x="3278203" y="5659437"/>
            <a:ext cx="134549" cy="195707"/>
          </a:xfrm>
          <a:prstGeom prst="rect">
            <a:avLst/>
          </a:prstGeom>
        </p:spPr>
      </p:pic>
      <p:sp>
        <p:nvSpPr>
          <p:cNvPr id="54" name="TextBox 53"/>
          <p:cNvSpPr txBox="1"/>
          <p:nvPr/>
        </p:nvSpPr>
        <p:spPr>
          <a:xfrm>
            <a:off x="3453312" y="566966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5" name="TextBox 54"/>
          <p:cNvSpPr txBox="1"/>
          <p:nvPr/>
        </p:nvSpPr>
        <p:spPr>
          <a:xfrm>
            <a:off x="4371975" y="5038725"/>
            <a:ext cx="3069083" cy="194310"/>
          </a:xfrm>
          <a:prstGeom prst="rect">
            <a:avLst/>
          </a:prstGeom>
          <a:noFill/>
        </p:spPr>
        <p:txBody>
          <a:bodyPr wrap="none" lIns="0" rIns="0" tIns="0" bIns="0">
            <a:spAutoFit/>
          </a:bodyPr>
          <a:lstStyle/>
          <a:p>
            <a:r>
              <a:rPr sz="1150" b="0">
                <a:solidFill>
                  <a:srgbClr val="2E2E2E"/>
                </a:solidFill>
                <a:latin typeface="Calibri"/>
              </a:rPr>
              <a:t>▪ Slower momentum in 'Flexible Partial Dentures' (</a:t>
            </a:r>
          </a:p>
        </p:txBody>
      </p:sp>
      <p:pic>
        <p:nvPicPr>
          <p:cNvPr id="56" name="Picture 55" descr="lock.png"/>
          <p:cNvPicPr>
            <a:picLocks noChangeAspect="1"/>
          </p:cNvPicPr>
          <p:nvPr/>
        </p:nvPicPr>
        <p:blipFill>
          <a:blip r:embed="rId4"/>
          <a:stretch>
            <a:fillRect/>
          </a:stretch>
        </p:blipFill>
        <p:spPr>
          <a:xfrm>
            <a:off x="7390212" y="5028501"/>
            <a:ext cx="134549" cy="195707"/>
          </a:xfrm>
          <a:prstGeom prst="rect">
            <a:avLst/>
          </a:prstGeom>
        </p:spPr>
      </p:pic>
      <p:sp>
        <p:nvSpPr>
          <p:cNvPr id="57" name="TextBox 56"/>
          <p:cNvSpPr txBox="1"/>
          <p:nvPr/>
        </p:nvSpPr>
        <p:spPr>
          <a:xfrm>
            <a:off x="7565322" y="50387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8" name="TextBox 57"/>
          <p:cNvSpPr txBox="1"/>
          <p:nvPr/>
        </p:nvSpPr>
        <p:spPr>
          <a:xfrm>
            <a:off x="4371975" y="52665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59" name="TextBox 58"/>
          <p:cNvSpPr txBox="1"/>
          <p:nvPr/>
        </p:nvSpPr>
        <p:spPr>
          <a:xfrm>
            <a:off x="4371975" y="54418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0" name="Picture 59" descr="lock.png"/>
          <p:cNvPicPr>
            <a:picLocks noChangeAspect="1"/>
          </p:cNvPicPr>
          <p:nvPr/>
        </p:nvPicPr>
        <p:blipFill>
          <a:blip r:embed="rId4"/>
          <a:stretch>
            <a:fillRect/>
          </a:stretch>
        </p:blipFill>
        <p:spPr>
          <a:xfrm>
            <a:off x="4883401" y="5431599"/>
            <a:ext cx="134549" cy="195707"/>
          </a:xfrm>
          <a:prstGeom prst="rect">
            <a:avLst/>
          </a:prstGeom>
        </p:spPr>
      </p:pic>
      <p:sp>
        <p:nvSpPr>
          <p:cNvPr id="61" name="TextBox 60"/>
          <p:cNvSpPr txBox="1"/>
          <p:nvPr/>
        </p:nvSpPr>
        <p:spPr>
          <a:xfrm>
            <a:off x="5058510" y="54418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2" name="TextBox 61"/>
          <p:cNvSpPr txBox="1"/>
          <p:nvPr/>
        </p:nvSpPr>
        <p:spPr>
          <a:xfrm>
            <a:off x="4371975" y="5669660"/>
            <a:ext cx="3427648" cy="194310"/>
          </a:xfrm>
          <a:prstGeom prst="rect">
            <a:avLst/>
          </a:prstGeom>
          <a:noFill/>
        </p:spPr>
        <p:txBody>
          <a:bodyPr wrap="none" lIns="0" rIns="0" tIns="0" bIns="0">
            <a:spAutoFit/>
          </a:bodyPr>
          <a:lstStyle/>
          <a:p>
            <a:r>
              <a:rPr sz="1150" b="0">
                <a:solidFill>
                  <a:srgbClr val="2E2E2E"/>
                </a:solidFill>
                <a:latin typeface="Calibri"/>
              </a:rPr>
              <a:t>▪ Value concentration in 'Flexible Partial Dentures' raises</a:t>
            </a:r>
          </a:p>
        </p:txBody>
      </p:sp>
      <p:sp>
        <p:nvSpPr>
          <p:cNvPr id="63" name="TextBox 62"/>
          <p:cNvSpPr txBox="1"/>
          <p:nvPr/>
        </p:nvSpPr>
        <p:spPr>
          <a:xfrm>
            <a:off x="4371975" y="5844920"/>
            <a:ext cx="1604305" cy="194310"/>
          </a:xfrm>
          <a:prstGeom prst="rect">
            <a:avLst/>
          </a:prstGeom>
          <a:noFill/>
        </p:spPr>
        <p:txBody>
          <a:bodyPr wrap="none" lIns="0" rIns="0" tIns="0" bIns="0">
            <a:spAutoFit/>
          </a:bodyPr>
          <a:lstStyle/>
          <a:p>
            <a:r>
              <a:rPr sz="1150" b="0">
                <a:solidFill>
                  <a:srgbClr val="2E2E2E"/>
                </a:solidFill>
                <a:latin typeface="Calibri"/>
              </a:rPr>
              <a:t>barriers for new entrants.</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'Cast Metal Partial Dentures' and South Asia &amp; Pacific.</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North America and South Asia &amp; Pacific.</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2430363" cy="186689"/>
          </a:xfrm>
          <a:prstGeom prst="rect">
            <a:avLst/>
          </a:prstGeom>
          <a:noFill/>
        </p:spPr>
        <p:txBody>
          <a:bodyPr wrap="none" lIns="0" rIns="0" tIns="0" bIns="0">
            <a:spAutoFit/>
          </a:bodyPr>
          <a:lstStyle/>
          <a:p>
            <a:r>
              <a:rPr sz="1100" b="0">
                <a:solidFill>
                  <a:srgbClr val="2E2E2E"/>
                </a:solidFill>
                <a:latin typeface="Calibri"/>
              </a:rPr>
              <a:t>▪ Lead category 'Flexible Partial Dentures'</a:t>
            </a:r>
          </a:p>
        </p:txBody>
      </p:sp>
      <p:pic>
        <p:nvPicPr>
          <p:cNvPr id="41" name="Picture 40" descr="lock.png"/>
          <p:cNvPicPr>
            <a:picLocks noChangeAspect="1"/>
          </p:cNvPicPr>
          <p:nvPr/>
        </p:nvPicPr>
        <p:blipFill>
          <a:blip r:embed="rId5"/>
          <a:stretch>
            <a:fillRect/>
          </a:stretch>
        </p:blipFill>
        <p:spPr>
          <a:xfrm>
            <a:off x="8683964" y="1826260"/>
            <a:ext cx="128699" cy="187198"/>
          </a:xfrm>
          <a:prstGeom prst="rect">
            <a:avLst/>
          </a:prstGeom>
        </p:spPr>
      </p:pic>
      <p:sp>
        <p:nvSpPr>
          <p:cNvPr id="42" name="TextBox 41"/>
          <p:cNvSpPr txBox="1"/>
          <p:nvPr/>
        </p:nvSpPr>
        <p:spPr>
          <a:xfrm>
            <a:off x="8851460"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686297" cy="186689"/>
          </a:xfrm>
          <a:prstGeom prst="rect">
            <a:avLst/>
          </a:prstGeom>
          <a:noFill/>
        </p:spPr>
        <p:txBody>
          <a:bodyPr wrap="none" lIns="0" rIns="0" tIns="0" bIns="0">
            <a:spAutoFit/>
          </a:bodyPr>
          <a:lstStyle/>
          <a:p>
            <a:r>
              <a:rPr sz="1100" b="0">
                <a:solidFill>
                  <a:srgbClr val="2E2E2E"/>
                </a:solidFill>
                <a:latin typeface="Calibri"/>
              </a:rPr>
              <a:t>▪ Lead region North America</a:t>
            </a:r>
          </a:p>
        </p:txBody>
      </p:sp>
      <p:pic>
        <p:nvPicPr>
          <p:cNvPr id="44" name="Picture 43" descr="lock.png"/>
          <p:cNvPicPr>
            <a:picLocks noChangeAspect="1"/>
          </p:cNvPicPr>
          <p:nvPr/>
        </p:nvPicPr>
        <p:blipFill>
          <a:blip r:embed="rId5"/>
          <a:stretch>
            <a:fillRect/>
          </a:stretch>
        </p:blipFill>
        <p:spPr>
          <a:xfrm>
            <a:off x="7939898" y="2044192"/>
            <a:ext cx="128699" cy="187198"/>
          </a:xfrm>
          <a:prstGeom prst="rect">
            <a:avLst/>
          </a:prstGeom>
        </p:spPr>
      </p:pic>
      <p:sp>
        <p:nvSpPr>
          <p:cNvPr id="45" name="TextBox 44"/>
          <p:cNvSpPr txBox="1"/>
          <p:nvPr/>
        </p:nvSpPr>
        <p:spPr>
          <a:xfrm>
            <a:off x="8107394"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907582" cy="186689"/>
          </a:xfrm>
          <a:prstGeom prst="rect">
            <a:avLst/>
          </a:prstGeom>
          <a:noFill/>
        </p:spPr>
        <p:txBody>
          <a:bodyPr wrap="none" lIns="0" rIns="0" tIns="0" bIns="0">
            <a:spAutoFit/>
          </a:bodyPr>
          <a:lstStyle/>
          <a:p>
            <a:r>
              <a:rPr sz="1100" b="0">
                <a:solidFill>
                  <a:srgbClr val="2E2E2E"/>
                </a:solidFill>
                <a:latin typeface="Calibri"/>
              </a:rPr>
              <a:t>▪ Investment is flowing toward the fastest-growing tier 'Cast Metal Partial Dentures' (</a:t>
            </a:r>
          </a:p>
        </p:txBody>
      </p:sp>
      <p:pic>
        <p:nvPicPr>
          <p:cNvPr id="50" name="Picture 49" descr="lock.png"/>
          <p:cNvPicPr>
            <a:picLocks noChangeAspect="1"/>
          </p:cNvPicPr>
          <p:nvPr/>
        </p:nvPicPr>
        <p:blipFill>
          <a:blip r:embed="rId5"/>
          <a:stretch>
            <a:fillRect/>
          </a:stretch>
        </p:blipFill>
        <p:spPr>
          <a:xfrm>
            <a:off x="5131859" y="3304921"/>
            <a:ext cx="128699" cy="187198"/>
          </a:xfrm>
          <a:prstGeom prst="rect">
            <a:avLst/>
          </a:prstGeom>
        </p:spPr>
      </p:pic>
      <p:sp>
        <p:nvSpPr>
          <p:cNvPr id="51" name="TextBox 50"/>
          <p:cNvSpPr txBox="1"/>
          <p:nvPr/>
        </p:nvSpPr>
        <p:spPr>
          <a:xfrm>
            <a:off x="5299355" y="33147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52" name="TextBox 51"/>
          <p:cNvSpPr txBox="1"/>
          <p:nvPr/>
        </p:nvSpPr>
        <p:spPr>
          <a:xfrm>
            <a:off x="276225" y="3532632"/>
            <a:ext cx="1351781" cy="186689"/>
          </a:xfrm>
          <a:prstGeom prst="rect">
            <a:avLst/>
          </a:prstGeom>
          <a:noFill/>
        </p:spPr>
        <p:txBody>
          <a:bodyPr wrap="none" lIns="0" rIns="0" tIns="0" bIns="0">
            <a:spAutoFit/>
          </a:bodyPr>
          <a:lstStyle/>
          <a:p>
            <a:r>
              <a:rPr sz="1100" b="0">
                <a:solidFill>
                  <a:srgbClr val="2E2E2E"/>
                </a:solidFill>
                <a:latin typeface="Calibri"/>
              </a:rPr>
              <a:t>▪ South Asia &amp; Pacific (</a:t>
            </a:r>
          </a:p>
        </p:txBody>
      </p:sp>
      <p:pic>
        <p:nvPicPr>
          <p:cNvPr id="53" name="Picture 52" descr="lock.png"/>
          <p:cNvPicPr>
            <a:picLocks noChangeAspect="1"/>
          </p:cNvPicPr>
          <p:nvPr/>
        </p:nvPicPr>
        <p:blipFill>
          <a:blip r:embed="rId5"/>
          <a:stretch>
            <a:fillRect/>
          </a:stretch>
        </p:blipFill>
        <p:spPr>
          <a:xfrm>
            <a:off x="1576057" y="3522853"/>
            <a:ext cx="128699" cy="187198"/>
          </a:xfrm>
          <a:prstGeom prst="rect">
            <a:avLst/>
          </a:prstGeom>
        </p:spPr>
      </p:pic>
      <p:sp>
        <p:nvSpPr>
          <p:cNvPr id="54" name="TextBox 53"/>
          <p:cNvSpPr txBox="1"/>
          <p:nvPr/>
        </p:nvSpPr>
        <p:spPr>
          <a:xfrm>
            <a:off x="1743553" y="3532632"/>
            <a:ext cx="2187525" cy="186689"/>
          </a:xfrm>
          <a:prstGeom prst="rect">
            <a:avLst/>
          </a:prstGeom>
          <a:noFill/>
        </p:spPr>
        <p:txBody>
          <a:bodyPr wrap="none" lIns="0" rIns="0" tIns="0" bIns="0">
            <a:spAutoFit/>
          </a:bodyPr>
          <a:lstStyle/>
          <a:p>
            <a:r>
              <a:rPr sz="1100" b="0">
                <a:solidFill>
                  <a:srgbClr val="2E2E2E"/>
                </a:solidFill>
                <a:latin typeface="Calibri"/>
              </a:rPr>
              <a:t>) is a priority region for new capacity.</a:t>
            </a:r>
          </a:p>
        </p:txBody>
      </p:sp>
      <p:sp>
        <p:nvSpPr>
          <p:cNvPr id="55" name="TextBox 54"/>
          <p:cNvSpPr txBox="1"/>
          <p:nvPr/>
        </p:nvSpPr>
        <p:spPr>
          <a:xfrm>
            <a:off x="276225" y="3750564"/>
            <a:ext cx="3310582" cy="186689"/>
          </a:xfrm>
          <a:prstGeom prst="rect">
            <a:avLst/>
          </a:prstGeom>
          <a:noFill/>
        </p:spPr>
        <p:txBody>
          <a:bodyPr wrap="none" lIns="0" rIns="0" tIns="0" bIns="0">
            <a:spAutoFit/>
          </a:bodyPr>
          <a:lstStyle/>
          <a:p>
            <a:r>
              <a:rPr sz="1100" b="0">
                <a:solidFill>
                  <a:srgbClr val="2E2E2E"/>
                </a:solidFill>
                <a:latin typeface="Calibri"/>
              </a:rPr>
              <a:t>▪ Scale players anchor around 'Flexible Partial Dentures' (</a:t>
            </a:r>
          </a:p>
        </p:txBody>
      </p:sp>
      <p:pic>
        <p:nvPicPr>
          <p:cNvPr id="56" name="Picture 55" descr="lock.png"/>
          <p:cNvPicPr>
            <a:picLocks noChangeAspect="1"/>
          </p:cNvPicPr>
          <p:nvPr/>
        </p:nvPicPr>
        <p:blipFill>
          <a:blip r:embed="rId5"/>
          <a:stretch>
            <a:fillRect/>
          </a:stretch>
        </p:blipFill>
        <p:spPr>
          <a:xfrm>
            <a:off x="3534859" y="3740785"/>
            <a:ext cx="128699" cy="187198"/>
          </a:xfrm>
          <a:prstGeom prst="rect">
            <a:avLst/>
          </a:prstGeom>
        </p:spPr>
      </p:pic>
      <p:sp>
        <p:nvSpPr>
          <p:cNvPr id="57" name="TextBox 56"/>
          <p:cNvSpPr txBox="1"/>
          <p:nvPr/>
        </p:nvSpPr>
        <p:spPr>
          <a:xfrm>
            <a:off x="3702354" y="3750564"/>
            <a:ext cx="466923" cy="186689"/>
          </a:xfrm>
          <a:prstGeom prst="rect">
            <a:avLst/>
          </a:prstGeom>
          <a:noFill/>
        </p:spPr>
        <p:txBody>
          <a:bodyPr wrap="none" lIns="0" rIns="0" tIns="0" bIns="0">
            <a:spAutoFit/>
          </a:bodyPr>
          <a:lstStyle/>
          <a:p>
            <a:r>
              <a:rPr sz="1100" b="0">
                <a:solidFill>
                  <a:srgbClr val="2E2E2E"/>
                </a:solidFill>
                <a:latin typeface="Calibri"/>
              </a:rPr>
              <a:t>share).</a:t>
            </a:r>
          </a:p>
        </p:txBody>
      </p:sp>
      <p:sp>
        <p:nvSpPr>
          <p:cNvPr id="58" name="TextBox 57"/>
          <p:cNvSpPr txBox="1"/>
          <p:nvPr/>
        </p:nvSpPr>
        <p:spPr>
          <a:xfrm>
            <a:off x="6305550" y="3314700"/>
            <a:ext cx="5304308" cy="186689"/>
          </a:xfrm>
          <a:prstGeom prst="rect">
            <a:avLst/>
          </a:prstGeom>
          <a:noFill/>
        </p:spPr>
        <p:txBody>
          <a:bodyPr wrap="none" lIns="0" rIns="0" tIns="0" bIns="0">
            <a:spAutoFit/>
          </a:bodyPr>
          <a:lstStyle/>
          <a:p>
            <a:r>
              <a:rPr sz="1100" b="0">
                <a:solidFill>
                  <a:srgbClr val="2E2E2E"/>
                </a:solidFill>
                <a:latin typeface="Calibri"/>
              </a:rPr>
              <a:t>▪ R&amp;D aligns with the migration to 'Cast Metal Partial Dentures' and adjacent premium tiers.</a:t>
            </a:r>
          </a:p>
        </p:txBody>
      </p:sp>
      <p:sp>
        <p:nvSpPr>
          <p:cNvPr id="59" name="TextBox 58"/>
          <p:cNvSpPr txBox="1"/>
          <p:nvPr/>
        </p:nvSpPr>
        <p:spPr>
          <a:xfrm>
            <a:off x="6305550" y="3532632"/>
            <a:ext cx="4406354" cy="186689"/>
          </a:xfrm>
          <a:prstGeom prst="rect">
            <a:avLst/>
          </a:prstGeom>
          <a:noFill/>
        </p:spPr>
        <p:txBody>
          <a:bodyPr wrap="none" lIns="0" rIns="0" tIns="0" bIns="0">
            <a:spAutoFit/>
          </a:bodyPr>
          <a:lstStyle/>
          <a:p>
            <a:r>
              <a:rPr sz="1100" b="0">
                <a:solidFill>
                  <a:srgbClr val="2E2E2E"/>
                </a:solidFill>
                <a:latin typeface="Calibri"/>
              </a:rPr>
              <a:t>▪ Development spend targets product type categories gaining share to 2036.</a:t>
            </a:r>
          </a:p>
        </p:txBody>
      </p:sp>
      <p:sp>
        <p:nvSpPr>
          <p:cNvPr id="60" name="TextBox 59"/>
          <p:cNvSpPr txBox="1"/>
          <p:nvPr/>
        </p:nvSpPr>
        <p:spPr>
          <a:xfrm>
            <a:off x="6305550" y="3750564"/>
            <a:ext cx="1594346" cy="186689"/>
          </a:xfrm>
          <a:prstGeom prst="rect">
            <a:avLst/>
          </a:prstGeom>
          <a:noFill/>
        </p:spPr>
        <p:txBody>
          <a:bodyPr wrap="none" lIns="0" rIns="0" tIns="0" bIns="0">
            <a:spAutoFit/>
          </a:bodyPr>
          <a:lstStyle/>
          <a:p>
            <a:r>
              <a:rPr sz="110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847947" y="3740785"/>
            <a:ext cx="128699" cy="187198"/>
          </a:xfrm>
          <a:prstGeom prst="rect">
            <a:avLst/>
          </a:prstGeom>
        </p:spPr>
      </p:pic>
      <p:sp>
        <p:nvSpPr>
          <p:cNvPr id="62" name="TextBox 61"/>
          <p:cNvSpPr txBox="1"/>
          <p:nvPr/>
        </p:nvSpPr>
        <p:spPr>
          <a:xfrm>
            <a:off x="8015443" y="3750564"/>
            <a:ext cx="924478"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'Cast Metal Partial Dentures' tier and Dental Hospitals within end user.</a:t>
            </a:r>
          </a:p>
        </p:txBody>
      </p:sp>
      <p:sp>
        <p:nvSpPr>
          <p:cNvPr id="18" name="Rounded Rectangle 17"/>
          <p:cNvSpPr/>
          <p:nvPr/>
        </p:nvSpPr>
        <p:spPr>
          <a:xfrm>
            <a:off x="142875"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619625"/>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05350"/>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943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029200"/>
            <a:ext cx="11639550" cy="1514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205350" cy="194310"/>
          </a:xfrm>
          <a:prstGeom prst="rect">
            <a:avLst/>
          </a:prstGeom>
          <a:noFill/>
        </p:spPr>
        <p:txBody>
          <a:bodyPr wrap="none" lIns="0" rIns="0" tIns="0" bIns="0">
            <a:spAutoFit/>
          </a:bodyPr>
          <a:lstStyle/>
          <a:p>
            <a:r>
              <a:rPr sz="1150" b="0">
                <a:solidFill>
                  <a:srgbClr val="2E2E2E"/>
                </a:solidFill>
                <a:latin typeface="Calibri"/>
              </a:rPr>
              <a:t>▪ Balance scale in 'Flexible Partial Dentures' with targeted growth in 'Cast Metal Partial</a:t>
            </a:r>
          </a:p>
        </p:txBody>
      </p:sp>
      <p:sp>
        <p:nvSpPr>
          <p:cNvPr id="32" name="TextBox 31"/>
          <p:cNvSpPr txBox="1"/>
          <p:nvPr/>
        </p:nvSpPr>
        <p:spPr>
          <a:xfrm>
            <a:off x="276225" y="1575435"/>
            <a:ext cx="1473088" cy="194310"/>
          </a:xfrm>
          <a:prstGeom prst="rect">
            <a:avLst/>
          </a:prstGeom>
          <a:noFill/>
        </p:spPr>
        <p:txBody>
          <a:bodyPr wrap="none" lIns="0" rIns="0" tIns="0" bIns="0">
            <a:spAutoFit/>
          </a:bodyPr>
          <a:lstStyle/>
          <a:p>
            <a:r>
              <a:rPr sz="1150" b="0">
                <a:solidFill>
                  <a:srgbClr val="2E2E2E"/>
                </a:solidFill>
                <a:latin typeface="Calibri"/>
              </a:rPr>
              <a:t>Dentures', pursuing the</a:t>
            </a:r>
          </a:p>
        </p:txBody>
      </p:sp>
      <p:pic>
        <p:nvPicPr>
          <p:cNvPr id="33" name="Picture 32" descr="lock.png"/>
          <p:cNvPicPr>
            <a:picLocks noChangeAspect="1"/>
          </p:cNvPicPr>
          <p:nvPr/>
        </p:nvPicPr>
        <p:blipFill>
          <a:blip r:embed="rId4"/>
          <a:stretch>
            <a:fillRect/>
          </a:stretch>
        </p:blipFill>
        <p:spPr>
          <a:xfrm>
            <a:off x="1698467" y="1565211"/>
            <a:ext cx="134549" cy="195707"/>
          </a:xfrm>
          <a:prstGeom prst="rect">
            <a:avLst/>
          </a:prstGeom>
        </p:spPr>
      </p:pic>
      <p:sp>
        <p:nvSpPr>
          <p:cNvPr id="34" name="TextBox 33"/>
          <p:cNvSpPr txBox="1"/>
          <p:nvPr/>
        </p:nvSpPr>
        <p:spPr>
          <a:xfrm>
            <a:off x="1873576"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5" name="TextBox 34"/>
          <p:cNvSpPr txBox="1"/>
          <p:nvPr/>
        </p:nvSpPr>
        <p:spPr>
          <a:xfrm>
            <a:off x="276225" y="3219450"/>
            <a:ext cx="2502569" cy="194310"/>
          </a:xfrm>
          <a:prstGeom prst="rect">
            <a:avLst/>
          </a:prstGeom>
          <a:noFill/>
        </p:spPr>
        <p:txBody>
          <a:bodyPr wrap="none" lIns="0" rIns="0" tIns="0" bIns="0">
            <a:spAutoFit/>
          </a:bodyPr>
          <a:lstStyle/>
          <a:p>
            <a:r>
              <a:rPr sz="1150" b="0">
                <a:solidFill>
                  <a:srgbClr val="2E2E2E"/>
                </a:solidFill>
                <a:latin typeface="Calibri"/>
              </a:rPr>
              <a:t>▪ Prioritise 'Cast Metal Partial Dentures' (</a:t>
            </a:r>
          </a:p>
        </p:txBody>
      </p:sp>
      <p:pic>
        <p:nvPicPr>
          <p:cNvPr id="36" name="Picture 35" descr="lock.png"/>
          <p:cNvPicPr>
            <a:picLocks noChangeAspect="1"/>
          </p:cNvPicPr>
          <p:nvPr/>
        </p:nvPicPr>
        <p:blipFill>
          <a:blip r:embed="rId4"/>
          <a:stretch>
            <a:fillRect/>
          </a:stretch>
        </p:blipFill>
        <p:spPr>
          <a:xfrm>
            <a:off x="2727948" y="3209226"/>
            <a:ext cx="134549" cy="195707"/>
          </a:xfrm>
          <a:prstGeom prst="rect">
            <a:avLst/>
          </a:prstGeom>
        </p:spPr>
      </p:pic>
      <p:sp>
        <p:nvSpPr>
          <p:cNvPr id="37" name="TextBox 36"/>
          <p:cNvSpPr txBox="1"/>
          <p:nvPr/>
        </p:nvSpPr>
        <p:spPr>
          <a:xfrm>
            <a:off x="2903057" y="3219450"/>
            <a:ext cx="2209043" cy="194310"/>
          </a:xfrm>
          <a:prstGeom prst="rect">
            <a:avLst/>
          </a:prstGeom>
          <a:noFill/>
        </p:spPr>
        <p:txBody>
          <a:bodyPr wrap="none" lIns="0" rIns="0" tIns="0" bIns="0">
            <a:spAutoFit/>
          </a:bodyPr>
          <a:lstStyle/>
          <a:p>
            <a:r>
              <a:rPr sz="1150" b="0">
                <a:solidFill>
                  <a:srgbClr val="2E2E2E"/>
                </a:solidFill>
                <a:latin typeface="Calibri"/>
              </a:rPr>
              <a:t>); 'Flexible Partial Dentures' anchors</a:t>
            </a:r>
          </a:p>
        </p:txBody>
      </p:sp>
      <p:pic>
        <p:nvPicPr>
          <p:cNvPr id="38" name="Picture 37" descr="lock.png"/>
          <p:cNvPicPr>
            <a:picLocks noChangeAspect="1"/>
          </p:cNvPicPr>
          <p:nvPr/>
        </p:nvPicPr>
        <p:blipFill>
          <a:blip r:embed="rId4"/>
          <a:stretch>
            <a:fillRect/>
          </a:stretch>
        </p:blipFill>
        <p:spPr>
          <a:xfrm>
            <a:off x="5061255" y="3209226"/>
            <a:ext cx="134549" cy="195707"/>
          </a:xfrm>
          <a:prstGeom prst="rect">
            <a:avLst/>
          </a:prstGeom>
        </p:spPr>
      </p:pic>
      <p:sp>
        <p:nvSpPr>
          <p:cNvPr id="39" name="TextBox 38"/>
          <p:cNvSpPr txBox="1"/>
          <p:nvPr/>
        </p:nvSpPr>
        <p:spPr>
          <a:xfrm>
            <a:off x="5236364" y="3219450"/>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40" name="TextBox 39"/>
          <p:cNvSpPr txBox="1"/>
          <p:nvPr/>
        </p:nvSpPr>
        <p:spPr>
          <a:xfrm>
            <a:off x="276225" y="3394710"/>
            <a:ext cx="431911" cy="194310"/>
          </a:xfrm>
          <a:prstGeom prst="rect">
            <a:avLst/>
          </a:prstGeom>
          <a:noFill/>
        </p:spPr>
        <p:txBody>
          <a:bodyPr wrap="none" lIns="0" rIns="0" tIns="0" bIns="0">
            <a:spAutoFit/>
          </a:bodyPr>
          <a:lstStyle/>
          <a:p>
            <a:r>
              <a:rPr sz="1150" b="0">
                <a:solidFill>
                  <a:srgbClr val="2E2E2E"/>
                </a:solidFill>
                <a:latin typeface="Calibri"/>
              </a:rPr>
              <a:t>value.</a:t>
            </a:r>
          </a:p>
        </p:txBody>
      </p:sp>
      <p:sp>
        <p:nvSpPr>
          <p:cNvPr id="41" name="TextBox 40"/>
          <p:cNvSpPr txBox="1"/>
          <p:nvPr/>
        </p:nvSpPr>
        <p:spPr>
          <a:xfrm>
            <a:off x="6305550" y="3219450"/>
            <a:ext cx="1720688" cy="194310"/>
          </a:xfrm>
          <a:prstGeom prst="rect">
            <a:avLst/>
          </a:prstGeom>
          <a:noFill/>
        </p:spPr>
        <p:txBody>
          <a:bodyPr wrap="none" lIns="0" rIns="0" tIns="0" bIns="0">
            <a:spAutoFit/>
          </a:bodyPr>
          <a:lstStyle/>
          <a:p>
            <a:r>
              <a:rPr sz="1150" b="0">
                <a:solidFill>
                  <a:srgbClr val="2E2E2E"/>
                </a:solidFill>
                <a:latin typeface="Calibri"/>
              </a:rPr>
              <a:t>▪ Lead with North America (</a:t>
            </a:r>
          </a:p>
        </p:txBody>
      </p:sp>
      <p:pic>
        <p:nvPicPr>
          <p:cNvPr id="42" name="Picture 41" descr="lock.png"/>
          <p:cNvPicPr>
            <a:picLocks noChangeAspect="1"/>
          </p:cNvPicPr>
          <p:nvPr/>
        </p:nvPicPr>
        <p:blipFill>
          <a:blip r:embed="rId4"/>
          <a:stretch>
            <a:fillRect/>
          </a:stretch>
        </p:blipFill>
        <p:spPr>
          <a:xfrm>
            <a:off x="7975392" y="3209226"/>
            <a:ext cx="134549" cy="195707"/>
          </a:xfrm>
          <a:prstGeom prst="rect">
            <a:avLst/>
          </a:prstGeom>
        </p:spPr>
      </p:pic>
      <p:sp>
        <p:nvSpPr>
          <p:cNvPr id="43" name="TextBox 42"/>
          <p:cNvSpPr txBox="1"/>
          <p:nvPr/>
        </p:nvSpPr>
        <p:spPr>
          <a:xfrm>
            <a:off x="8150501" y="3219450"/>
            <a:ext cx="2502854" cy="194310"/>
          </a:xfrm>
          <a:prstGeom prst="rect">
            <a:avLst/>
          </a:prstGeom>
          <a:noFill/>
        </p:spPr>
        <p:txBody>
          <a:bodyPr wrap="none" lIns="0" rIns="0" tIns="0" bIns="0">
            <a:spAutoFit/>
          </a:bodyPr>
          <a:lstStyle/>
          <a:p>
            <a:r>
              <a:rPr sz="1150" b="0">
                <a:solidFill>
                  <a:srgbClr val="2E2E2E"/>
                </a:solidFill>
                <a:latin typeface="Calibri"/>
              </a:rPr>
              <a:t>); capture upside in South Asia &amp; Pacific (</a:t>
            </a:r>
          </a:p>
        </p:txBody>
      </p:sp>
      <p:pic>
        <p:nvPicPr>
          <p:cNvPr id="44" name="Picture 43" descr="lock.png"/>
          <p:cNvPicPr>
            <a:picLocks noChangeAspect="1"/>
          </p:cNvPicPr>
          <p:nvPr/>
        </p:nvPicPr>
        <p:blipFill>
          <a:blip r:embed="rId4"/>
          <a:stretch>
            <a:fillRect/>
          </a:stretch>
        </p:blipFill>
        <p:spPr>
          <a:xfrm>
            <a:off x="10602510" y="3209226"/>
            <a:ext cx="134549" cy="195707"/>
          </a:xfrm>
          <a:prstGeom prst="rect">
            <a:avLst/>
          </a:prstGeom>
        </p:spPr>
      </p:pic>
      <p:sp>
        <p:nvSpPr>
          <p:cNvPr id="45" name="TextBox 44"/>
          <p:cNvSpPr txBox="1"/>
          <p:nvPr/>
        </p:nvSpPr>
        <p:spPr>
          <a:xfrm>
            <a:off x="10777620" y="321945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038725"/>
            <a:ext cx="2134021" cy="194310"/>
          </a:xfrm>
          <a:prstGeom prst="rect">
            <a:avLst/>
          </a:prstGeom>
          <a:noFill/>
        </p:spPr>
        <p:txBody>
          <a:bodyPr wrap="none" lIns="0" rIns="0" tIns="0" bIns="0">
            <a:spAutoFit/>
          </a:bodyPr>
          <a:lstStyle/>
          <a:p>
            <a:r>
              <a:rPr sz="1150" b="0">
                <a:solidFill>
                  <a:srgbClr val="2E2E2E"/>
                </a:solidFill>
                <a:latin typeface="Calibri"/>
              </a:rPr>
              <a:t>▪ Removable Partial Dentures adds</a:t>
            </a:r>
          </a:p>
        </p:txBody>
      </p:sp>
      <p:pic>
        <p:nvPicPr>
          <p:cNvPr id="47" name="Picture 46" descr="lock.png"/>
          <p:cNvPicPr>
            <a:picLocks noChangeAspect="1"/>
          </p:cNvPicPr>
          <p:nvPr/>
        </p:nvPicPr>
        <p:blipFill>
          <a:blip r:embed="rId4"/>
          <a:stretch>
            <a:fillRect/>
          </a:stretch>
        </p:blipFill>
        <p:spPr>
          <a:xfrm>
            <a:off x="2359400" y="5028501"/>
            <a:ext cx="134549" cy="195707"/>
          </a:xfrm>
          <a:prstGeom prst="rect">
            <a:avLst/>
          </a:prstGeom>
        </p:spPr>
      </p:pic>
      <p:sp>
        <p:nvSpPr>
          <p:cNvPr id="48" name="TextBox 47"/>
          <p:cNvSpPr txBox="1"/>
          <p:nvPr/>
        </p:nvSpPr>
        <p:spPr>
          <a:xfrm>
            <a:off x="2534509" y="5038725"/>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9" name="Picture 48" descr="lock.png"/>
          <p:cNvPicPr>
            <a:picLocks noChangeAspect="1"/>
          </p:cNvPicPr>
          <p:nvPr/>
        </p:nvPicPr>
        <p:blipFill>
          <a:blip r:embed="rId4"/>
          <a:stretch>
            <a:fillRect/>
          </a:stretch>
        </p:blipFill>
        <p:spPr>
          <a:xfrm>
            <a:off x="4298771" y="5028501"/>
            <a:ext cx="134549" cy="195707"/>
          </a:xfrm>
          <a:prstGeom prst="rect">
            <a:avLst/>
          </a:prstGeom>
        </p:spPr>
      </p:pic>
      <p:sp>
        <p:nvSpPr>
          <p:cNvPr id="50" name="TextBox 49"/>
          <p:cNvSpPr txBox="1"/>
          <p:nvPr/>
        </p:nvSpPr>
        <p:spPr>
          <a:xfrm>
            <a:off x="4473880" y="5038725"/>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51" name="TextBox 50"/>
          <p:cNvSpPr txBox="1"/>
          <p:nvPr/>
        </p:nvSpPr>
        <p:spPr>
          <a:xfrm>
            <a:off x="276225" y="5266563"/>
            <a:ext cx="626563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segment/region while seeding the fastest-growing pockets early.</a:t>
            </a:r>
          </a:p>
        </p:txBody>
      </p:sp>
      <p:sp>
        <p:nvSpPr>
          <p:cNvPr id="52" name="TextBox 51"/>
          <p:cNvSpPr txBox="1"/>
          <p:nvPr/>
        </p:nvSpPr>
        <p:spPr>
          <a:xfrm>
            <a:off x="276225" y="5494400"/>
            <a:ext cx="4810273" cy="194310"/>
          </a:xfrm>
          <a:prstGeom prst="rect">
            <a:avLst/>
          </a:prstGeom>
          <a:noFill/>
        </p:spPr>
        <p:txBody>
          <a:bodyPr wrap="none" lIns="0" rIns="0" tIns="0" bIns="0">
            <a:spAutoFit/>
          </a:bodyPr>
          <a:lstStyle/>
          <a:p>
            <a:r>
              <a:rPr sz="1150" b="0">
                <a:solidFill>
                  <a:srgbClr val="2E2E2E"/>
                </a:solidFill>
                <a:latin typeface="Calibri"/>
              </a:rPr>
              <a:t>▪ Defend share in 'Flexible Partial Dentures' as the value anchor of the portfolio.</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Removable Partial Dentures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72838"/>
            <a:ext cx="635826" cy="832462"/>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115510"/>
            <a:ext cx="635826" cy="1189790"/>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68479"/>
            <a:ext cx="635826" cy="1336821"/>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805113"/>
            <a:ext cx="635826" cy="15001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82160"/>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77385"/>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724985"/>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620210"/>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467810"/>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63035"/>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Removable Partial Dentures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1637332" y="1028326"/>
            <a:ext cx="1030634" cy="166573"/>
          </a:xfrm>
          <a:prstGeom prst="rect">
            <a:avLst/>
          </a:prstGeom>
          <a:noFill/>
        </p:spPr>
        <p:txBody>
          <a:bodyPr wrap="none" lIns="0" rIns="0" tIns="0" bIns="0">
            <a:spAutoFit/>
          </a:bodyPr>
          <a:lstStyle/>
          <a:p>
            <a:r>
              <a:rPr sz="968" b="1">
                <a:solidFill>
                  <a:srgbClr val="6C7A89"/>
                </a:solidFill>
                <a:latin typeface="Calibri"/>
              </a:rPr>
              <a:t>OPTIMISTIC (2036)</a:t>
            </a:r>
          </a:p>
        </p:txBody>
      </p:sp>
      <p:sp>
        <p:nvSpPr>
          <p:cNvPr id="46" name="TextBox 45"/>
          <p:cNvSpPr txBox="1"/>
          <p:nvPr/>
        </p:nvSpPr>
        <p:spPr>
          <a:xfrm>
            <a:off x="1906321"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208575" y="1473019"/>
            <a:ext cx="113255" cy="164734"/>
          </a:xfrm>
          <a:prstGeom prst="rect">
            <a:avLst/>
          </a:prstGeom>
        </p:spPr>
      </p:pic>
      <p:sp>
        <p:nvSpPr>
          <p:cNvPr id="48" name="TextBox 47"/>
          <p:cNvSpPr txBox="1"/>
          <p:nvPr/>
        </p:nvSpPr>
        <p:spPr>
          <a:xfrm>
            <a:off x="5807156" y="1028326"/>
            <a:ext cx="758662" cy="166573"/>
          </a:xfrm>
          <a:prstGeom prst="rect">
            <a:avLst/>
          </a:prstGeom>
          <a:noFill/>
        </p:spPr>
        <p:txBody>
          <a:bodyPr wrap="none" lIns="0" rIns="0" tIns="0" bIns="0">
            <a:spAutoFit/>
          </a:bodyPr>
          <a:lstStyle/>
          <a:p>
            <a:r>
              <a:rPr sz="968" b="1">
                <a:solidFill>
                  <a:srgbClr val="6C7A89"/>
                </a:solidFill>
                <a:latin typeface="Calibri"/>
              </a:rPr>
              <a:t>LIKELY (2036)</a:t>
            </a:r>
          </a:p>
        </p:txBody>
      </p:sp>
      <p:sp>
        <p:nvSpPr>
          <p:cNvPr id="49" name="TextBox 48"/>
          <p:cNvSpPr txBox="1"/>
          <p:nvPr/>
        </p:nvSpPr>
        <p:spPr>
          <a:xfrm>
            <a:off x="5940158"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42412" y="1473019"/>
            <a:ext cx="113255" cy="164734"/>
          </a:xfrm>
          <a:prstGeom prst="rect">
            <a:avLst/>
          </a:prstGeom>
        </p:spPr>
      </p:pic>
      <p:sp>
        <p:nvSpPr>
          <p:cNvPr id="51" name="TextBox 50"/>
          <p:cNvSpPr txBox="1"/>
          <p:nvPr/>
        </p:nvSpPr>
        <p:spPr>
          <a:xfrm>
            <a:off x="9548094" y="1028326"/>
            <a:ext cx="1220636" cy="166573"/>
          </a:xfrm>
          <a:prstGeom prst="rect">
            <a:avLst/>
          </a:prstGeom>
          <a:noFill/>
        </p:spPr>
        <p:txBody>
          <a:bodyPr wrap="none" lIns="0" rIns="0" tIns="0" bIns="0">
            <a:spAutoFit/>
          </a:bodyPr>
          <a:lstStyle/>
          <a:p>
            <a:r>
              <a:rPr sz="968" b="1">
                <a:solidFill>
                  <a:srgbClr val="6C7A89"/>
                </a:solidFill>
                <a:latin typeface="Calibri"/>
              </a:rPr>
              <a:t>CONSERVATIVE (2036)</a:t>
            </a:r>
          </a:p>
        </p:txBody>
      </p:sp>
      <p:sp>
        <p:nvSpPr>
          <p:cNvPr id="52" name="TextBox 51"/>
          <p:cNvSpPr txBox="1"/>
          <p:nvPr/>
        </p:nvSpPr>
        <p:spPr>
          <a:xfrm>
            <a:off x="9912083"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14337" y="1473019"/>
            <a:ext cx="113255" cy="164734"/>
          </a:xfrm>
          <a:prstGeom prst="rect">
            <a:avLst/>
          </a:prstGeom>
        </p:spPr>
      </p:pic>
      <p:sp>
        <p:nvSpPr>
          <p:cNvPr id="54" name="TextBox 53"/>
          <p:cNvSpPr txBox="1"/>
          <p:nvPr/>
        </p:nvSpPr>
        <p:spPr>
          <a:xfrm>
            <a:off x="2032418" y="2911751"/>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903536"/>
            <a:ext cx="108107" cy="157246"/>
          </a:xfrm>
          <a:prstGeom prst="rect">
            <a:avLst/>
          </a:prstGeom>
        </p:spPr>
      </p:pic>
      <p:sp>
        <p:nvSpPr>
          <p:cNvPr id="56" name="TextBox 55"/>
          <p:cNvSpPr txBox="1"/>
          <p:nvPr/>
        </p:nvSpPr>
        <p:spPr>
          <a:xfrm>
            <a:off x="2032418" y="2654576"/>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646361"/>
            <a:ext cx="108107" cy="157246"/>
          </a:xfrm>
          <a:prstGeom prst="rect">
            <a:avLst/>
          </a:prstGeom>
        </p:spPr>
      </p:pic>
      <p:sp>
        <p:nvSpPr>
          <p:cNvPr id="58" name="TextBox 57"/>
          <p:cNvSpPr txBox="1"/>
          <p:nvPr/>
        </p:nvSpPr>
        <p:spPr>
          <a:xfrm>
            <a:off x="2032418" y="2397401"/>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389186"/>
            <a:ext cx="108107" cy="157246"/>
          </a:xfrm>
          <a:prstGeom prst="rect">
            <a:avLst/>
          </a:prstGeom>
        </p:spPr>
      </p:pic>
      <p:sp>
        <p:nvSpPr>
          <p:cNvPr id="60" name="TextBox 59"/>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61" name="Picture 60" descr="lock.png"/>
          <p:cNvPicPr>
            <a:picLocks noChangeAspect="1"/>
          </p:cNvPicPr>
          <p:nvPr/>
        </p:nvPicPr>
        <p:blipFill>
          <a:blip r:embed="rId5"/>
          <a:stretch>
            <a:fillRect/>
          </a:stretch>
        </p:blipFill>
        <p:spPr>
          <a:xfrm>
            <a:off x="1033540" y="5361876"/>
            <a:ext cx="134549" cy="195707"/>
          </a:xfrm>
          <a:prstGeom prst="rect">
            <a:avLst/>
          </a:prstGeom>
        </p:spPr>
      </p:pic>
      <p:sp>
        <p:nvSpPr>
          <p:cNvPr id="62" name="TextBox 61"/>
          <p:cNvSpPr txBox="1"/>
          <p:nvPr/>
        </p:nvSpPr>
        <p:spPr>
          <a:xfrm>
            <a:off x="1208649" y="537210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2361612" y="5361876"/>
            <a:ext cx="134549" cy="195707"/>
          </a:xfrm>
          <a:prstGeom prst="rect">
            <a:avLst/>
          </a:prstGeom>
        </p:spPr>
      </p:pic>
      <p:sp>
        <p:nvSpPr>
          <p:cNvPr id="64" name="TextBox 63"/>
          <p:cNvSpPr txBox="1"/>
          <p:nvPr/>
        </p:nvSpPr>
        <p:spPr>
          <a:xfrm>
            <a:off x="2536721" y="5372100"/>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5" name="TextBox 64"/>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66" name="Picture 65" descr="lock.png"/>
          <p:cNvPicPr>
            <a:picLocks noChangeAspect="1"/>
          </p:cNvPicPr>
          <p:nvPr/>
        </p:nvPicPr>
        <p:blipFill>
          <a:blip r:embed="rId5"/>
          <a:stretch>
            <a:fillRect/>
          </a:stretch>
        </p:blipFill>
        <p:spPr>
          <a:xfrm>
            <a:off x="1673650" y="5589714"/>
            <a:ext cx="134549" cy="195707"/>
          </a:xfrm>
          <a:prstGeom prst="rect">
            <a:avLst/>
          </a:prstGeom>
        </p:spPr>
      </p:pic>
      <p:sp>
        <p:nvSpPr>
          <p:cNvPr id="67" name="TextBox 66"/>
          <p:cNvSpPr txBox="1"/>
          <p:nvPr/>
        </p:nvSpPr>
        <p:spPr>
          <a:xfrm>
            <a:off x="1848759" y="5599938"/>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68" name="Picture 67" descr="lock.png"/>
          <p:cNvPicPr>
            <a:picLocks noChangeAspect="1"/>
          </p:cNvPicPr>
          <p:nvPr/>
        </p:nvPicPr>
        <p:blipFill>
          <a:blip r:embed="rId5"/>
          <a:stretch>
            <a:fillRect/>
          </a:stretch>
        </p:blipFill>
        <p:spPr>
          <a:xfrm>
            <a:off x="2495966" y="5589714"/>
            <a:ext cx="134549" cy="195707"/>
          </a:xfrm>
          <a:prstGeom prst="rect">
            <a:avLst/>
          </a:prstGeom>
        </p:spPr>
      </p:pic>
      <p:sp>
        <p:nvSpPr>
          <p:cNvPr id="69" name="TextBox 68"/>
          <p:cNvSpPr txBox="1"/>
          <p:nvPr/>
        </p:nvSpPr>
        <p:spPr>
          <a:xfrm>
            <a:off x="2671076" y="559993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71" name="Picture 70" descr="lock.png"/>
          <p:cNvPicPr>
            <a:picLocks noChangeAspect="1"/>
          </p:cNvPicPr>
          <p:nvPr/>
        </p:nvPicPr>
        <p:blipFill>
          <a:blip r:embed="rId5"/>
          <a:stretch>
            <a:fillRect/>
          </a:stretch>
        </p:blipFill>
        <p:spPr>
          <a:xfrm>
            <a:off x="1194994" y="5817552"/>
            <a:ext cx="134549" cy="195707"/>
          </a:xfrm>
          <a:prstGeom prst="rect">
            <a:avLst/>
          </a:prstGeom>
        </p:spPr>
      </p:pic>
      <p:sp>
        <p:nvSpPr>
          <p:cNvPr id="72" name="TextBox 71"/>
          <p:cNvSpPr txBox="1"/>
          <p:nvPr/>
        </p:nvSpPr>
        <p:spPr>
          <a:xfrm>
            <a:off x="1370103" y="5827775"/>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73" name="Picture 72" descr="lock.png"/>
          <p:cNvPicPr>
            <a:picLocks noChangeAspect="1"/>
          </p:cNvPicPr>
          <p:nvPr/>
        </p:nvPicPr>
        <p:blipFill>
          <a:blip r:embed="rId5"/>
          <a:stretch>
            <a:fillRect/>
          </a:stretch>
        </p:blipFill>
        <p:spPr>
          <a:xfrm>
            <a:off x="2017310" y="5817552"/>
            <a:ext cx="134549" cy="195707"/>
          </a:xfrm>
          <a:prstGeom prst="rect">
            <a:avLst/>
          </a:prstGeom>
        </p:spPr>
      </p:pic>
      <p:sp>
        <p:nvSpPr>
          <p:cNvPr id="74" name="TextBox 73"/>
          <p:cNvSpPr txBox="1"/>
          <p:nvPr/>
        </p:nvSpPr>
        <p:spPr>
          <a:xfrm>
            <a:off x="2192420" y="58277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5" name="TextBox 74"/>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76" name="Picture 75" descr="lock.png"/>
          <p:cNvPicPr>
            <a:picLocks noChangeAspect="1"/>
          </p:cNvPicPr>
          <p:nvPr/>
        </p:nvPicPr>
        <p:blipFill>
          <a:blip r:embed="rId5"/>
          <a:stretch>
            <a:fillRect/>
          </a:stretch>
        </p:blipFill>
        <p:spPr>
          <a:xfrm>
            <a:off x="3885509" y="6045390"/>
            <a:ext cx="134549" cy="195707"/>
          </a:xfrm>
          <a:prstGeom prst="rect">
            <a:avLst/>
          </a:prstGeom>
        </p:spPr>
      </p:pic>
      <p:sp>
        <p:nvSpPr>
          <p:cNvPr id="77" name="TextBox 76"/>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78" name="lockshield_36"/>
          <p:cNvSpPr/>
          <p:nvPr/>
        </p:nvSpPr>
        <p:spPr>
          <a:xfrm>
            <a:off x="6267450" y="2266950"/>
            <a:ext cx="5686425" cy="2495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Removable Partial Dentures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Global market is projected to grow at a CAGR of 4.4%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371_3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523_9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3_5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303_8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495_5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5_0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146_3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221_5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4_2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135_0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226_0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5_3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90_0_605E5C.png"/>
          <p:cNvPicPr>
            <a:picLocks noChangeAspect="1"/>
          </p:cNvPicPr>
          <p:nvPr/>
        </p:nvPicPr>
        <p:blipFill>
          <a:blip r:embed="rId16"/>
          <a:stretch>
            <a:fillRect/>
          </a:stretch>
        </p:blipFill>
        <p:spPr>
          <a:xfrm>
            <a:off x="8905194" y="2286582"/>
            <a:ext cx="982436" cy="361950"/>
          </a:xfrm>
          <a:prstGeom prst="rect">
            <a:avLst/>
          </a:prstGeom>
        </p:spPr>
      </p:pic>
      <p:pic>
        <p:nvPicPr>
          <p:cNvPr id="91" name="Picture 90" descr="143_9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4_8__605E5C.png"/>
          <p:cNvPicPr>
            <a:picLocks noChangeAspect="1"/>
          </p:cNvPicPr>
          <p:nvPr/>
        </p:nvPicPr>
        <p:blipFill>
          <a:blip r:embed="rId18"/>
          <a:stretch>
            <a:fillRect/>
          </a:stretch>
        </p:blipFill>
        <p:spPr>
          <a:xfrm>
            <a:off x="8905194" y="3272281"/>
            <a:ext cx="982436" cy="361950"/>
          </a:xfrm>
          <a:prstGeom prst="rect">
            <a:avLst/>
          </a:prstGeom>
        </p:spPr>
      </p:pic>
      <p:pic>
        <p:nvPicPr>
          <p:cNvPr id="93" name="Picture 92" descr="78_8_605E5C.png"/>
          <p:cNvPicPr>
            <a:picLocks noChangeAspect="1"/>
          </p:cNvPicPr>
          <p:nvPr/>
        </p:nvPicPr>
        <p:blipFill>
          <a:blip r:embed="rId19"/>
          <a:stretch>
            <a:fillRect/>
          </a:stretch>
        </p:blipFill>
        <p:spPr>
          <a:xfrm>
            <a:off x="10591119" y="2286582"/>
            <a:ext cx="982436" cy="361950"/>
          </a:xfrm>
          <a:prstGeom prst="rect">
            <a:avLst/>
          </a:prstGeom>
        </p:spPr>
      </p:pic>
      <p:pic>
        <p:nvPicPr>
          <p:cNvPr id="94" name="Picture 93" descr="119_9_605E5C.png"/>
          <p:cNvPicPr>
            <a:picLocks noChangeAspect="1"/>
          </p:cNvPicPr>
          <p:nvPr/>
        </p:nvPicPr>
        <p:blipFill>
          <a:blip r:embed="rId20"/>
          <a:stretch>
            <a:fillRect/>
          </a:stretch>
        </p:blipFill>
        <p:spPr>
          <a:xfrm>
            <a:off x="10484473" y="2779432"/>
            <a:ext cx="1195728" cy="361950"/>
          </a:xfrm>
          <a:prstGeom prst="rect">
            <a:avLst/>
          </a:prstGeom>
        </p:spPr>
      </p:pic>
      <p:pic>
        <p:nvPicPr>
          <p:cNvPr id="95" name="Picture 94" descr="4_3__605E5C.png"/>
          <p:cNvPicPr>
            <a:picLocks noChangeAspect="1"/>
          </p:cNvPicPr>
          <p:nvPr/>
        </p:nvPicPr>
        <p:blipFill>
          <a:blip r:embed="rId21"/>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2"/>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2"/>
          <a:stretch>
            <a:fillRect/>
          </a:stretch>
        </p:blipFill>
        <p:spPr>
          <a:xfrm>
            <a:off x="10988992" y="2827057"/>
            <a:ext cx="183356" cy="266700"/>
          </a:xfrm>
          <a:prstGeom prst="rect">
            <a:avLst/>
          </a:prstGeom>
        </p:spPr>
      </p:pic>
      <p:sp>
        <p:nvSpPr>
          <p:cNvPr id="102" name="TextBox 101"/>
          <p:cNvSpPr txBox="1"/>
          <p:nvPr/>
        </p:nvSpPr>
        <p:spPr>
          <a:xfrm>
            <a:off x="485775" y="4229437"/>
            <a:ext cx="2685206" cy="186689"/>
          </a:xfrm>
          <a:prstGeom prst="rect">
            <a:avLst/>
          </a:prstGeom>
          <a:noFill/>
        </p:spPr>
        <p:txBody>
          <a:bodyPr wrap="none" lIns="0" rIns="0" tIns="0" bIns="0">
            <a:spAutoFit/>
          </a:bodyPr>
          <a:lstStyle/>
          <a:p>
            <a:r>
              <a:rPr sz="1100" b="0">
                <a:solidFill>
                  <a:srgbClr val="2E2E2E"/>
                </a:solidFill>
                <a:latin typeface="Calibri"/>
              </a:rPr>
              <a:t>▪ ¶ North America removable partial dentures</a:t>
            </a:r>
          </a:p>
        </p:txBody>
      </p:sp>
      <p:sp>
        <p:nvSpPr>
          <p:cNvPr id="103" name="TextBox 102"/>
          <p:cNvSpPr txBox="1"/>
          <p:nvPr/>
        </p:nvSpPr>
        <p:spPr>
          <a:xfrm>
            <a:off x="485775" y="4397077"/>
            <a:ext cx="1801986" cy="186689"/>
          </a:xfrm>
          <a:prstGeom prst="rect">
            <a:avLst/>
          </a:prstGeom>
          <a:noFill/>
        </p:spPr>
        <p:txBody>
          <a:bodyPr wrap="none" lIns="0" rIns="0" tIns="0" bIns="0">
            <a:spAutoFit/>
          </a:bodyPr>
          <a:lstStyle/>
          <a:p>
            <a:r>
              <a:rPr sz="1100" b="0">
                <a:solidFill>
                  <a:srgbClr val="2E2E2E"/>
                </a:solidFill>
                <a:latin typeface="Calibri"/>
              </a:rPr>
              <a:t>market is projected to register</a:t>
            </a:r>
          </a:p>
        </p:txBody>
      </p:sp>
      <p:pic>
        <p:nvPicPr>
          <p:cNvPr id="104" name="Picture 103" descr="lock.png"/>
          <p:cNvPicPr>
            <a:picLocks noChangeAspect="1"/>
          </p:cNvPicPr>
          <p:nvPr/>
        </p:nvPicPr>
        <p:blipFill>
          <a:blip r:embed="rId22"/>
          <a:stretch>
            <a:fillRect/>
          </a:stretch>
        </p:blipFill>
        <p:spPr>
          <a:xfrm>
            <a:off x="2235812" y="4387298"/>
            <a:ext cx="128699" cy="187198"/>
          </a:xfrm>
          <a:prstGeom prst="rect">
            <a:avLst/>
          </a:prstGeom>
        </p:spPr>
      </p:pic>
      <p:sp>
        <p:nvSpPr>
          <p:cNvPr id="105" name="TextBox 104"/>
          <p:cNvSpPr txBox="1"/>
          <p:nvPr/>
        </p:nvSpPr>
        <p:spPr>
          <a:xfrm>
            <a:off x="2403308" y="4397077"/>
            <a:ext cx="880293" cy="186689"/>
          </a:xfrm>
          <a:prstGeom prst="rect">
            <a:avLst/>
          </a:prstGeom>
          <a:noFill/>
        </p:spPr>
        <p:txBody>
          <a:bodyPr wrap="none" lIns="0" rIns="0" tIns="0" bIns="0">
            <a:spAutoFit/>
          </a:bodyPr>
          <a:lstStyle/>
          <a:p>
            <a:r>
              <a:rPr sz="1100" b="0">
                <a:solidFill>
                  <a:srgbClr val="2E2E2E"/>
                </a:solidFill>
                <a:latin typeface="Calibri"/>
              </a:rPr>
              <a:t>X higher value</a:t>
            </a:r>
          </a:p>
        </p:txBody>
      </p:sp>
      <p:sp>
        <p:nvSpPr>
          <p:cNvPr id="106" name="TextBox 105"/>
          <p:cNvSpPr txBox="1"/>
          <p:nvPr/>
        </p:nvSpPr>
        <p:spPr>
          <a:xfrm>
            <a:off x="485775" y="4564717"/>
            <a:ext cx="2739504" cy="186689"/>
          </a:xfrm>
          <a:prstGeom prst="rect">
            <a:avLst/>
          </a:prstGeom>
          <a:noFill/>
        </p:spPr>
        <p:txBody>
          <a:bodyPr wrap="none" lIns="0" rIns="0" tIns="0" bIns="0">
            <a:spAutoFit/>
          </a:bodyPr>
          <a:lstStyle/>
          <a:p>
            <a:r>
              <a:rPr sz="1100" b="0">
                <a:solidFill>
                  <a:srgbClr val="2E2E2E"/>
                </a:solidFill>
                <a:latin typeface="Calibri"/>
              </a:rPr>
              <a:t>than Europe in 2036. Among removable partial</a:t>
            </a:r>
          </a:p>
        </p:txBody>
      </p:sp>
      <p:sp>
        <p:nvSpPr>
          <p:cNvPr id="107" name="TextBox 106"/>
          <p:cNvSpPr txBox="1"/>
          <p:nvPr/>
        </p:nvSpPr>
        <p:spPr>
          <a:xfrm>
            <a:off x="485775" y="4732357"/>
            <a:ext cx="2454919" cy="186689"/>
          </a:xfrm>
          <a:prstGeom prst="rect">
            <a:avLst/>
          </a:prstGeom>
          <a:noFill/>
        </p:spPr>
        <p:txBody>
          <a:bodyPr wrap="none" lIns="0" rIns="0" tIns="0" bIns="0">
            <a:spAutoFit/>
          </a:bodyPr>
          <a:lstStyle/>
          <a:p>
            <a:r>
              <a:rPr sz="1100" b="0">
                <a:solidFill>
                  <a:srgbClr val="2E2E2E"/>
                </a:solidFill>
                <a:latin typeface="Calibri"/>
              </a:rPr>
              <a:t>dentures by region, South Asia &amp; Pacific is</a:t>
            </a:r>
          </a:p>
        </p:txBody>
      </p:sp>
      <p:sp>
        <p:nvSpPr>
          <p:cNvPr id="108" name="TextBox 107"/>
          <p:cNvSpPr txBox="1"/>
          <p:nvPr/>
        </p:nvSpPr>
        <p:spPr>
          <a:xfrm>
            <a:off x="485775" y="489999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109" name="Picture 108" descr="lock.png"/>
          <p:cNvPicPr>
            <a:picLocks noChangeAspect="1"/>
          </p:cNvPicPr>
          <p:nvPr/>
        </p:nvPicPr>
        <p:blipFill>
          <a:blip r:embed="rId22"/>
          <a:stretch>
            <a:fillRect/>
          </a:stretch>
        </p:blipFill>
        <p:spPr>
          <a:xfrm>
            <a:off x="2815059" y="4890217"/>
            <a:ext cx="128699" cy="187198"/>
          </a:xfrm>
          <a:prstGeom prst="rect">
            <a:avLst/>
          </a:prstGeom>
        </p:spPr>
      </p:pic>
      <p:sp>
        <p:nvSpPr>
          <p:cNvPr id="110" name="TextBox 109"/>
          <p:cNvSpPr txBox="1"/>
          <p:nvPr/>
        </p:nvSpPr>
        <p:spPr>
          <a:xfrm>
            <a:off x="2982555" y="489999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111" name="TextBox 110"/>
          <p:cNvSpPr txBox="1"/>
          <p:nvPr/>
        </p:nvSpPr>
        <p:spPr>
          <a:xfrm>
            <a:off x="485775" y="5067637"/>
            <a:ext cx="1197892" cy="186689"/>
          </a:xfrm>
          <a:prstGeom prst="rect">
            <a:avLst/>
          </a:prstGeom>
          <a:noFill/>
        </p:spPr>
        <p:txBody>
          <a:bodyPr wrap="none" lIns="0" rIns="0" tIns="0" bIns="0">
            <a:spAutoFit/>
          </a:bodyPr>
          <a:lstStyle/>
          <a:p>
            <a:r>
              <a:rPr sz="1100" b="0">
                <a:solidFill>
                  <a:srgbClr val="2E2E2E"/>
                </a:solidFill>
                <a:latin typeface="Calibri"/>
              </a:rPr>
              <a:t>the forecast period.</a:t>
            </a:r>
          </a:p>
        </p:txBody>
      </p:sp>
      <p:sp>
        <p:nvSpPr>
          <p:cNvPr id="112" name="TextBox 111"/>
          <p:cNvSpPr txBox="1"/>
          <p:nvPr/>
        </p:nvSpPr>
        <p:spPr>
          <a:xfrm>
            <a:off x="485775" y="5285569"/>
            <a:ext cx="2535138" cy="186689"/>
          </a:xfrm>
          <a:prstGeom prst="rect">
            <a:avLst/>
          </a:prstGeom>
          <a:noFill/>
        </p:spPr>
        <p:txBody>
          <a:bodyPr wrap="none" lIns="0" rIns="0" tIns="0" bIns="0">
            <a:spAutoFit/>
          </a:bodyPr>
          <a:lstStyle/>
          <a:p>
            <a:r>
              <a:rPr sz="1100" b="0">
                <a:solidFill>
                  <a:srgbClr val="2E2E2E"/>
                </a:solidFill>
                <a:latin typeface="Calibri"/>
              </a:rPr>
              <a:t>▪ ¶ In terms of value share by region, North</a:t>
            </a:r>
          </a:p>
        </p:txBody>
      </p:sp>
      <p:sp>
        <p:nvSpPr>
          <p:cNvPr id="113" name="TextBox 112"/>
          <p:cNvSpPr txBox="1"/>
          <p:nvPr/>
        </p:nvSpPr>
        <p:spPr>
          <a:xfrm>
            <a:off x="485775" y="5453209"/>
            <a:ext cx="2644551" cy="186689"/>
          </a:xfrm>
          <a:prstGeom prst="rect">
            <a:avLst/>
          </a:prstGeom>
          <a:noFill/>
        </p:spPr>
        <p:txBody>
          <a:bodyPr wrap="none" lIns="0" rIns="0" tIns="0" bIns="0">
            <a:spAutoFit/>
          </a:bodyPr>
          <a:lstStyle/>
          <a:p>
            <a:r>
              <a:rPr sz="1100" b="0">
                <a:solidFill>
                  <a:srgbClr val="2E2E2E"/>
                </a:solidFill>
                <a:latin typeface="Calibri"/>
              </a:rPr>
              <a:t>America is expected to dominate the market,</a:t>
            </a:r>
          </a:p>
        </p:txBody>
      </p:sp>
      <p:sp>
        <p:nvSpPr>
          <p:cNvPr id="114" name="TextBox 113"/>
          <p:cNvSpPr txBox="1"/>
          <p:nvPr/>
        </p:nvSpPr>
        <p:spPr>
          <a:xfrm>
            <a:off x="485775" y="5620849"/>
            <a:ext cx="407987" cy="186689"/>
          </a:xfrm>
          <a:prstGeom prst="rect">
            <a:avLst/>
          </a:prstGeom>
          <a:noFill/>
        </p:spPr>
        <p:txBody>
          <a:bodyPr wrap="none" lIns="0" rIns="0" tIns="0" bIns="0">
            <a:spAutoFit/>
          </a:bodyPr>
          <a:lstStyle/>
          <a:p>
            <a:r>
              <a:rPr sz="1100" b="0">
                <a:solidFill>
                  <a:srgbClr val="2E2E2E"/>
                </a:solidFill>
                <a:latin typeface="Calibri"/>
              </a:rPr>
              <a:t>losing</a:t>
            </a:r>
          </a:p>
        </p:txBody>
      </p:sp>
      <p:pic>
        <p:nvPicPr>
          <p:cNvPr id="115" name="Picture 114" descr="lock.png"/>
          <p:cNvPicPr>
            <a:picLocks noChangeAspect="1"/>
          </p:cNvPicPr>
          <p:nvPr/>
        </p:nvPicPr>
        <p:blipFill>
          <a:blip r:embed="rId22"/>
          <a:stretch>
            <a:fillRect/>
          </a:stretch>
        </p:blipFill>
        <p:spPr>
          <a:xfrm>
            <a:off x="841814" y="5611070"/>
            <a:ext cx="128699" cy="187198"/>
          </a:xfrm>
          <a:prstGeom prst="rect">
            <a:avLst/>
          </a:prstGeom>
        </p:spPr>
      </p:pic>
      <p:sp>
        <p:nvSpPr>
          <p:cNvPr id="116" name="TextBox 115"/>
          <p:cNvSpPr txBox="1"/>
          <p:nvPr/>
        </p:nvSpPr>
        <p:spPr>
          <a:xfrm>
            <a:off x="1009309" y="5620849"/>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17" name="Picture 116" descr="lock.png"/>
          <p:cNvPicPr>
            <a:picLocks noChangeAspect="1"/>
          </p:cNvPicPr>
          <p:nvPr/>
        </p:nvPicPr>
        <p:blipFill>
          <a:blip r:embed="rId22"/>
          <a:stretch>
            <a:fillRect/>
          </a:stretch>
        </p:blipFill>
        <p:spPr>
          <a:xfrm>
            <a:off x="2343794" y="5611070"/>
            <a:ext cx="128699" cy="187198"/>
          </a:xfrm>
          <a:prstGeom prst="rect">
            <a:avLst/>
          </a:prstGeom>
        </p:spPr>
      </p:pic>
      <p:sp>
        <p:nvSpPr>
          <p:cNvPr id="118" name="TextBox 117"/>
          <p:cNvSpPr txBox="1"/>
          <p:nvPr/>
        </p:nvSpPr>
        <p:spPr>
          <a:xfrm>
            <a:off x="2511290" y="5620849"/>
            <a:ext cx="557783" cy="186689"/>
          </a:xfrm>
          <a:prstGeom prst="rect">
            <a:avLst/>
          </a:prstGeom>
          <a:noFill/>
        </p:spPr>
        <p:txBody>
          <a:bodyPr wrap="none" lIns="0" rIns="0" tIns="0" bIns="0">
            <a:spAutoFit/>
          </a:bodyPr>
          <a:lstStyle/>
          <a:p>
            <a:r>
              <a:rPr sz="1100" b="0">
                <a:solidFill>
                  <a:srgbClr val="2E2E2E"/>
                </a:solidFill>
                <a:latin typeface="Calibri"/>
              </a:rPr>
              <a:t>share by</a:t>
            </a:r>
          </a:p>
        </p:txBody>
      </p:sp>
      <p:sp>
        <p:nvSpPr>
          <p:cNvPr id="119" name="TextBox 118"/>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120" name="TextBox 119"/>
          <p:cNvSpPr txBox="1"/>
          <p:nvPr/>
        </p:nvSpPr>
        <p:spPr>
          <a:xfrm>
            <a:off x="3838575" y="4229437"/>
            <a:ext cx="1063376" cy="186689"/>
          </a:xfrm>
          <a:prstGeom prst="rect">
            <a:avLst/>
          </a:prstGeom>
          <a:noFill/>
        </p:spPr>
        <p:txBody>
          <a:bodyPr wrap="none" lIns="0" rIns="0" tIns="0" bIns="0">
            <a:spAutoFit/>
          </a:bodyPr>
          <a:lstStyle/>
          <a:p>
            <a:r>
              <a:rPr sz="1100" b="0">
                <a:solidFill>
                  <a:srgbClr val="2E2E2E"/>
                </a:solidFill>
                <a:latin typeface="Calibri"/>
              </a:rPr>
              <a:t>● North America:</a:t>
            </a:r>
          </a:p>
        </p:txBody>
      </p:sp>
      <p:pic>
        <p:nvPicPr>
          <p:cNvPr id="121" name="Picture 120" descr="lock.png"/>
          <p:cNvPicPr>
            <a:picLocks noChangeAspect="1"/>
          </p:cNvPicPr>
          <p:nvPr/>
        </p:nvPicPr>
        <p:blipFill>
          <a:blip r:embed="rId22"/>
          <a:stretch>
            <a:fillRect/>
          </a:stretch>
        </p:blipFill>
        <p:spPr>
          <a:xfrm>
            <a:off x="4850003" y="4219658"/>
            <a:ext cx="128699" cy="187198"/>
          </a:xfrm>
          <a:prstGeom prst="rect">
            <a:avLst/>
          </a:prstGeom>
        </p:spPr>
      </p:pic>
      <p:sp>
        <p:nvSpPr>
          <p:cNvPr id="122" name="TextBox 121"/>
          <p:cNvSpPr txBox="1"/>
          <p:nvPr/>
        </p:nvSpPr>
        <p:spPr>
          <a:xfrm>
            <a:off x="501749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3" name="Picture 122" descr="lock.png"/>
          <p:cNvPicPr>
            <a:picLocks noChangeAspect="1"/>
          </p:cNvPicPr>
          <p:nvPr/>
        </p:nvPicPr>
        <p:blipFill>
          <a:blip r:embed="rId22"/>
          <a:stretch>
            <a:fillRect/>
          </a:stretch>
        </p:blipFill>
        <p:spPr>
          <a:xfrm>
            <a:off x="5876949" y="4219658"/>
            <a:ext cx="128699" cy="187198"/>
          </a:xfrm>
          <a:prstGeom prst="rect">
            <a:avLst/>
          </a:prstGeom>
        </p:spPr>
      </p:pic>
      <p:sp>
        <p:nvSpPr>
          <p:cNvPr id="124" name="TextBox 123"/>
          <p:cNvSpPr txBox="1"/>
          <p:nvPr/>
        </p:nvSpPr>
        <p:spPr>
          <a:xfrm>
            <a:off x="604444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125" name="TextBox 124"/>
          <p:cNvSpPr txBox="1"/>
          <p:nvPr/>
        </p:nvSpPr>
        <p:spPr>
          <a:xfrm>
            <a:off x="3838575" y="4447369"/>
            <a:ext cx="636637" cy="186689"/>
          </a:xfrm>
          <a:prstGeom prst="rect">
            <a:avLst/>
          </a:prstGeom>
          <a:noFill/>
        </p:spPr>
        <p:txBody>
          <a:bodyPr wrap="none" lIns="0" rIns="0" tIns="0" bIns="0">
            <a:spAutoFit/>
          </a:bodyPr>
          <a:lstStyle/>
          <a:p>
            <a:r>
              <a:rPr sz="1100" b="0">
                <a:solidFill>
                  <a:srgbClr val="2E2E2E"/>
                </a:solidFill>
                <a:latin typeface="Calibri"/>
              </a:rPr>
              <a:t>● Europe:</a:t>
            </a:r>
          </a:p>
        </p:txBody>
      </p:sp>
      <p:pic>
        <p:nvPicPr>
          <p:cNvPr id="126" name="Picture 125" descr="lock.png"/>
          <p:cNvPicPr>
            <a:picLocks noChangeAspect="1"/>
          </p:cNvPicPr>
          <p:nvPr/>
        </p:nvPicPr>
        <p:blipFill>
          <a:blip r:embed="rId22"/>
          <a:stretch>
            <a:fillRect/>
          </a:stretch>
        </p:blipFill>
        <p:spPr>
          <a:xfrm>
            <a:off x="4423263" y="4437590"/>
            <a:ext cx="128699" cy="187198"/>
          </a:xfrm>
          <a:prstGeom prst="rect">
            <a:avLst/>
          </a:prstGeom>
        </p:spPr>
      </p:pic>
      <p:sp>
        <p:nvSpPr>
          <p:cNvPr id="127" name="TextBox 126"/>
          <p:cNvSpPr txBox="1"/>
          <p:nvPr/>
        </p:nvSpPr>
        <p:spPr>
          <a:xfrm>
            <a:off x="459075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8" name="Picture 127" descr="lock.png"/>
          <p:cNvPicPr>
            <a:picLocks noChangeAspect="1"/>
          </p:cNvPicPr>
          <p:nvPr/>
        </p:nvPicPr>
        <p:blipFill>
          <a:blip r:embed="rId22"/>
          <a:stretch>
            <a:fillRect/>
          </a:stretch>
        </p:blipFill>
        <p:spPr>
          <a:xfrm>
            <a:off x="5450209" y="4437590"/>
            <a:ext cx="128699" cy="187198"/>
          </a:xfrm>
          <a:prstGeom prst="rect">
            <a:avLst/>
          </a:prstGeom>
        </p:spPr>
      </p:pic>
      <p:sp>
        <p:nvSpPr>
          <p:cNvPr id="129" name="TextBox 128"/>
          <p:cNvSpPr txBox="1"/>
          <p:nvPr/>
        </p:nvSpPr>
        <p:spPr>
          <a:xfrm>
            <a:off x="5617705" y="4447369"/>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0" name="TextBox 129"/>
          <p:cNvSpPr txBox="1"/>
          <p:nvPr/>
        </p:nvSpPr>
        <p:spPr>
          <a:xfrm>
            <a:off x="3838575" y="4665301"/>
            <a:ext cx="732101" cy="186689"/>
          </a:xfrm>
          <a:prstGeom prst="rect">
            <a:avLst/>
          </a:prstGeom>
          <a:noFill/>
        </p:spPr>
        <p:txBody>
          <a:bodyPr wrap="none" lIns="0" rIns="0" tIns="0" bIns="0">
            <a:spAutoFit/>
          </a:bodyPr>
          <a:lstStyle/>
          <a:p>
            <a:r>
              <a:rPr sz="1100" b="0">
                <a:solidFill>
                  <a:srgbClr val="2E2E2E"/>
                </a:solidFill>
                <a:latin typeface="Calibri"/>
              </a:rPr>
              <a:t>● East Asia:</a:t>
            </a:r>
          </a:p>
        </p:txBody>
      </p:sp>
      <p:pic>
        <p:nvPicPr>
          <p:cNvPr id="131" name="Picture 130" descr="lock.png"/>
          <p:cNvPicPr>
            <a:picLocks noChangeAspect="1"/>
          </p:cNvPicPr>
          <p:nvPr/>
        </p:nvPicPr>
        <p:blipFill>
          <a:blip r:embed="rId22"/>
          <a:stretch>
            <a:fillRect/>
          </a:stretch>
        </p:blipFill>
        <p:spPr>
          <a:xfrm>
            <a:off x="4518727" y="4655522"/>
            <a:ext cx="128699" cy="187198"/>
          </a:xfrm>
          <a:prstGeom prst="rect">
            <a:avLst/>
          </a:prstGeom>
        </p:spPr>
      </p:pic>
      <p:sp>
        <p:nvSpPr>
          <p:cNvPr id="132" name="TextBox 131"/>
          <p:cNvSpPr txBox="1"/>
          <p:nvPr/>
        </p:nvSpPr>
        <p:spPr>
          <a:xfrm>
            <a:off x="46862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3" name="Picture 132" descr="lock.png"/>
          <p:cNvPicPr>
            <a:picLocks noChangeAspect="1"/>
          </p:cNvPicPr>
          <p:nvPr/>
        </p:nvPicPr>
        <p:blipFill>
          <a:blip r:embed="rId22"/>
          <a:stretch>
            <a:fillRect/>
          </a:stretch>
        </p:blipFill>
        <p:spPr>
          <a:xfrm>
            <a:off x="5545673" y="4655522"/>
            <a:ext cx="128699" cy="187198"/>
          </a:xfrm>
          <a:prstGeom prst="rect">
            <a:avLst/>
          </a:prstGeom>
        </p:spPr>
      </p:pic>
      <p:sp>
        <p:nvSpPr>
          <p:cNvPr id="134" name="TextBox 133"/>
          <p:cNvSpPr txBox="1"/>
          <p:nvPr/>
        </p:nvSpPr>
        <p:spPr>
          <a:xfrm>
            <a:off x="5713169" y="4665301"/>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5" name="TextBox 134"/>
          <p:cNvSpPr txBox="1"/>
          <p:nvPr/>
        </p:nvSpPr>
        <p:spPr>
          <a:xfrm>
            <a:off x="3838575" y="4883233"/>
            <a:ext cx="1350143" cy="186689"/>
          </a:xfrm>
          <a:prstGeom prst="rect">
            <a:avLst/>
          </a:prstGeom>
          <a:noFill/>
        </p:spPr>
        <p:txBody>
          <a:bodyPr wrap="none" lIns="0" rIns="0" tIns="0" bIns="0">
            <a:spAutoFit/>
          </a:bodyPr>
          <a:lstStyle/>
          <a:p>
            <a:r>
              <a:rPr sz="1100" b="0">
                <a:solidFill>
                  <a:srgbClr val="2E2E2E"/>
                </a:solidFill>
                <a:latin typeface="Calibri"/>
              </a:rPr>
              <a:t>● South Asia &amp; Pacific:</a:t>
            </a:r>
          </a:p>
        </p:txBody>
      </p:sp>
      <p:pic>
        <p:nvPicPr>
          <p:cNvPr id="136" name="Picture 135" descr="lock.png"/>
          <p:cNvPicPr>
            <a:picLocks noChangeAspect="1"/>
          </p:cNvPicPr>
          <p:nvPr/>
        </p:nvPicPr>
        <p:blipFill>
          <a:blip r:embed="rId22"/>
          <a:stretch>
            <a:fillRect/>
          </a:stretch>
        </p:blipFill>
        <p:spPr>
          <a:xfrm>
            <a:off x="5136770" y="4873454"/>
            <a:ext cx="128699" cy="187198"/>
          </a:xfrm>
          <a:prstGeom prst="rect">
            <a:avLst/>
          </a:prstGeom>
        </p:spPr>
      </p:pic>
      <p:sp>
        <p:nvSpPr>
          <p:cNvPr id="137" name="TextBox 136"/>
          <p:cNvSpPr txBox="1"/>
          <p:nvPr/>
        </p:nvSpPr>
        <p:spPr>
          <a:xfrm>
            <a:off x="5304266"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8" name="Picture 137" descr="lock.png"/>
          <p:cNvPicPr>
            <a:picLocks noChangeAspect="1"/>
          </p:cNvPicPr>
          <p:nvPr/>
        </p:nvPicPr>
        <p:blipFill>
          <a:blip r:embed="rId22"/>
          <a:stretch>
            <a:fillRect/>
          </a:stretch>
        </p:blipFill>
        <p:spPr>
          <a:xfrm>
            <a:off x="6163716" y="4873454"/>
            <a:ext cx="128699" cy="187198"/>
          </a:xfrm>
          <a:prstGeom prst="rect">
            <a:avLst/>
          </a:prstGeom>
        </p:spPr>
      </p:pic>
      <p:sp>
        <p:nvSpPr>
          <p:cNvPr id="139" name="TextBox 138"/>
          <p:cNvSpPr txBox="1"/>
          <p:nvPr/>
        </p:nvSpPr>
        <p:spPr>
          <a:xfrm>
            <a:off x="6331212"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40" name="TextBox 139"/>
          <p:cNvSpPr txBox="1"/>
          <p:nvPr/>
        </p:nvSpPr>
        <p:spPr>
          <a:xfrm>
            <a:off x="3838575" y="5101165"/>
            <a:ext cx="1008260" cy="186689"/>
          </a:xfrm>
          <a:prstGeom prst="rect">
            <a:avLst/>
          </a:prstGeom>
          <a:noFill/>
        </p:spPr>
        <p:txBody>
          <a:bodyPr wrap="none" lIns="0" rIns="0" tIns="0" bIns="0">
            <a:spAutoFit/>
          </a:bodyPr>
          <a:lstStyle/>
          <a:p>
            <a:r>
              <a:rPr sz="1100" b="0">
                <a:solidFill>
                  <a:srgbClr val="2E2E2E"/>
                </a:solidFill>
                <a:latin typeface="Calibri"/>
              </a:rPr>
              <a:t>● Latin America:</a:t>
            </a:r>
          </a:p>
        </p:txBody>
      </p:sp>
      <p:pic>
        <p:nvPicPr>
          <p:cNvPr id="141" name="Picture 140" descr="lock.png"/>
          <p:cNvPicPr>
            <a:picLocks noChangeAspect="1"/>
          </p:cNvPicPr>
          <p:nvPr/>
        </p:nvPicPr>
        <p:blipFill>
          <a:blip r:embed="rId22"/>
          <a:stretch>
            <a:fillRect/>
          </a:stretch>
        </p:blipFill>
        <p:spPr>
          <a:xfrm>
            <a:off x="4794887" y="5091385"/>
            <a:ext cx="128699" cy="187198"/>
          </a:xfrm>
          <a:prstGeom prst="rect">
            <a:avLst/>
          </a:prstGeom>
        </p:spPr>
      </p:pic>
      <p:sp>
        <p:nvSpPr>
          <p:cNvPr id="142" name="TextBox 141"/>
          <p:cNvSpPr txBox="1"/>
          <p:nvPr/>
        </p:nvSpPr>
        <p:spPr>
          <a:xfrm>
            <a:off x="4962383"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3" name="Picture 142" descr="lock.png"/>
          <p:cNvPicPr>
            <a:picLocks noChangeAspect="1"/>
          </p:cNvPicPr>
          <p:nvPr/>
        </p:nvPicPr>
        <p:blipFill>
          <a:blip r:embed="rId22"/>
          <a:stretch>
            <a:fillRect/>
          </a:stretch>
        </p:blipFill>
        <p:spPr>
          <a:xfrm>
            <a:off x="5821833" y="5091385"/>
            <a:ext cx="128699" cy="187198"/>
          </a:xfrm>
          <a:prstGeom prst="rect">
            <a:avLst/>
          </a:prstGeom>
        </p:spPr>
      </p:pic>
      <p:sp>
        <p:nvSpPr>
          <p:cNvPr id="144" name="TextBox 143"/>
          <p:cNvSpPr txBox="1"/>
          <p:nvPr/>
        </p:nvSpPr>
        <p:spPr>
          <a:xfrm>
            <a:off x="5989329" y="5101165"/>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5" name="TextBox 144"/>
          <p:cNvSpPr txBox="1"/>
          <p:nvPr/>
        </p:nvSpPr>
        <p:spPr>
          <a:xfrm>
            <a:off x="3838575" y="5319097"/>
            <a:ext cx="1386944" cy="186689"/>
          </a:xfrm>
          <a:prstGeom prst="rect">
            <a:avLst/>
          </a:prstGeom>
          <a:noFill/>
        </p:spPr>
        <p:txBody>
          <a:bodyPr wrap="none" lIns="0" rIns="0" tIns="0" bIns="0">
            <a:spAutoFit/>
          </a:bodyPr>
          <a:lstStyle/>
          <a:p>
            <a:r>
              <a:rPr sz="1100" b="0">
                <a:solidFill>
                  <a:srgbClr val="2E2E2E"/>
                </a:solidFill>
                <a:latin typeface="Calibri"/>
              </a:rPr>
              <a:t>● Middle East &amp; Africa:</a:t>
            </a:r>
          </a:p>
        </p:txBody>
      </p:sp>
      <p:pic>
        <p:nvPicPr>
          <p:cNvPr id="146" name="Picture 145" descr="lock.png"/>
          <p:cNvPicPr>
            <a:picLocks noChangeAspect="1"/>
          </p:cNvPicPr>
          <p:nvPr/>
        </p:nvPicPr>
        <p:blipFill>
          <a:blip r:embed="rId22"/>
          <a:stretch>
            <a:fillRect/>
          </a:stretch>
        </p:blipFill>
        <p:spPr>
          <a:xfrm>
            <a:off x="5173571" y="5309317"/>
            <a:ext cx="128699" cy="187198"/>
          </a:xfrm>
          <a:prstGeom prst="rect">
            <a:avLst/>
          </a:prstGeom>
        </p:spPr>
      </p:pic>
      <p:sp>
        <p:nvSpPr>
          <p:cNvPr id="147" name="TextBox 146"/>
          <p:cNvSpPr txBox="1"/>
          <p:nvPr/>
        </p:nvSpPr>
        <p:spPr>
          <a:xfrm>
            <a:off x="5341067"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8" name="Picture 147" descr="lock.png"/>
          <p:cNvPicPr>
            <a:picLocks noChangeAspect="1"/>
          </p:cNvPicPr>
          <p:nvPr/>
        </p:nvPicPr>
        <p:blipFill>
          <a:blip r:embed="rId22"/>
          <a:stretch>
            <a:fillRect/>
          </a:stretch>
        </p:blipFill>
        <p:spPr>
          <a:xfrm>
            <a:off x="6200517" y="5309317"/>
            <a:ext cx="128699" cy="187198"/>
          </a:xfrm>
          <a:prstGeom prst="rect">
            <a:avLst/>
          </a:prstGeom>
        </p:spPr>
      </p:pic>
      <p:sp>
        <p:nvSpPr>
          <p:cNvPr id="149" name="TextBox 148"/>
          <p:cNvSpPr txBox="1"/>
          <p:nvPr/>
        </p:nvSpPr>
        <p:spPr>
          <a:xfrm>
            <a:off x="6368013" y="5319097"/>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Analysis, By Region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4420"/>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7965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345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6537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5837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5360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7740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3932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4362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23886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6266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27" name="BPS Value 3"/>
          <p:cNvSpPr txBox="1"/>
          <p:nvPr/>
        </p:nvSpPr>
        <p:spPr>
          <a:xfrm>
            <a:off x="6305550" y="222457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551045" y="271221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70745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3125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31" name="BPS Value 4"/>
          <p:cNvSpPr txBox="1"/>
          <p:nvPr/>
        </p:nvSpPr>
        <p:spPr>
          <a:xfrm>
            <a:off x="6305550" y="269316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551045" y="343904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342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35808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1999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3006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253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4910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1101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(UNITS)</a:t>
            </a:r>
          </a:p>
          <a:p>
            <a:pPr algn="ctr">
              <a:lnSpc>
                <a:spcPct val="95000"/>
              </a:lnSpc>
            </a:pPr>
            <a:r>
              <a:rPr sz="2000" b="1">
                <a:solidFill>
                  <a:srgbClr val="0E72AE"/>
                </a:solidFill>
                <a:latin typeface="Calibri"/>
              </a:rPr>
              <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(UNITS)</a:t>
            </a:r>
          </a:p>
          <a:p>
            <a:pPr algn="ctr">
              <a:lnSpc>
                <a:spcPct val="95000"/>
              </a:lnSpc>
            </a:pPr>
            <a:r>
              <a:rPr sz="2000" b="1">
                <a:solidFill>
                  <a:srgbClr val="0E72AE"/>
                </a:solidFill>
                <a:latin typeface="Calibri"/>
              </a:rPr>
              <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3_497_603_605E5C.png"/>
          <p:cNvPicPr>
            <a:picLocks noChangeAspect="1"/>
          </p:cNvPicPr>
          <p:nvPr/>
        </p:nvPicPr>
        <p:blipFill>
          <a:blip r:embed="rId6"/>
          <a:stretch>
            <a:fillRect/>
          </a:stretch>
        </p:blipFill>
        <p:spPr>
          <a:xfrm>
            <a:off x="744310" y="5897562"/>
            <a:ext cx="2740473" cy="482599"/>
          </a:xfrm>
          <a:prstGeom prst="rect">
            <a:avLst/>
          </a:prstGeom>
        </p:spPr>
      </p:pic>
      <p:pic>
        <p:nvPicPr>
          <p:cNvPr id="50" name="Picture 49" descr="4_987_551_605E5C.png"/>
          <p:cNvPicPr>
            <a:picLocks noChangeAspect="1"/>
          </p:cNvPicPr>
          <p:nvPr/>
        </p:nvPicPr>
        <p:blipFill>
          <a:blip r:embed="rId7"/>
          <a:stretch>
            <a:fillRect/>
          </a:stretch>
        </p:blipFill>
        <p:spPr>
          <a:xfrm>
            <a:off x="4778148" y="5897562"/>
            <a:ext cx="2740473" cy="482599"/>
          </a:xfrm>
          <a:prstGeom prst="rect">
            <a:avLst/>
          </a:prstGeom>
        </p:spPr>
      </p:pic>
      <p:pic>
        <p:nvPicPr>
          <p:cNvPr id="51" name="Picture 50" descr="3_6__605E5C.png"/>
          <p:cNvPicPr>
            <a:picLocks noChangeAspect="1"/>
          </p:cNvPicPr>
          <p:nvPr/>
        </p:nvPicPr>
        <p:blipFill>
          <a:blip r:embed="rId8"/>
          <a:stretch>
            <a:fillRect/>
          </a:stretch>
        </p:blipFill>
        <p:spPr>
          <a:xfrm>
            <a:off x="9465355" y="5897562"/>
            <a:ext cx="1309912" cy="482599"/>
          </a:xfrm>
          <a:prstGeom prst="rect">
            <a:avLst/>
          </a:prstGeom>
        </p:spPr>
      </p:pic>
      <p:pic>
        <p:nvPicPr>
          <p:cNvPr id="52" name="Picture 51" descr="lock.png"/>
          <p:cNvPicPr>
            <a:picLocks noChangeAspect="1"/>
          </p:cNvPicPr>
          <p:nvPr/>
        </p:nvPicPr>
        <p:blipFill>
          <a:blip r:embed="rId5"/>
          <a:stretch>
            <a:fillRect/>
          </a:stretch>
        </p:blipFill>
        <p:spPr>
          <a:xfrm>
            <a:off x="5914657" y="5893409"/>
            <a:ext cx="337498" cy="490906"/>
          </a:xfrm>
          <a:prstGeom prst="rect">
            <a:avLst/>
          </a:prstGeom>
        </p:spPr>
      </p:pic>
      <p:sp>
        <p:nvSpPr>
          <p:cNvPr id="53" name="TextBox 52"/>
          <p:cNvSpPr txBox="1"/>
          <p:nvPr/>
        </p:nvSpPr>
        <p:spPr>
          <a:xfrm>
            <a:off x="7239000" y="1400175"/>
            <a:ext cx="4437732" cy="194310"/>
          </a:xfrm>
          <a:prstGeom prst="rect">
            <a:avLst/>
          </a:prstGeom>
          <a:noFill/>
        </p:spPr>
        <p:txBody>
          <a:bodyPr wrap="none" lIns="0" rIns="0" tIns="0" bIns="0">
            <a:spAutoFit/>
          </a:bodyPr>
          <a:lstStyle/>
          <a:p>
            <a:r>
              <a:rPr sz="1150" b="0">
                <a:solidFill>
                  <a:srgbClr val="2E2E2E"/>
                </a:solidFill>
                <a:latin typeface="Calibri"/>
              </a:rPr>
              <a:t>North America removable partial dentures market is projected to register</a:t>
            </a:r>
          </a:p>
        </p:txBody>
      </p:sp>
      <p:pic>
        <p:nvPicPr>
          <p:cNvPr id="54" name="Picture 53" descr="lock.png"/>
          <p:cNvPicPr>
            <a:picLocks noChangeAspect="1"/>
          </p:cNvPicPr>
          <p:nvPr/>
        </p:nvPicPr>
        <p:blipFill>
          <a:blip r:embed="rId5"/>
          <a:stretch>
            <a:fillRect/>
          </a:stretch>
        </p:blipFill>
        <p:spPr>
          <a:xfrm>
            <a:off x="7224920" y="1565211"/>
            <a:ext cx="134549" cy="195707"/>
          </a:xfrm>
          <a:prstGeom prst="rect">
            <a:avLst/>
          </a:prstGeom>
        </p:spPr>
      </p:pic>
      <p:sp>
        <p:nvSpPr>
          <p:cNvPr id="55" name="TextBox 54"/>
          <p:cNvSpPr txBox="1"/>
          <p:nvPr/>
        </p:nvSpPr>
        <p:spPr>
          <a:xfrm>
            <a:off x="7400029" y="1575435"/>
            <a:ext cx="4424040" cy="194310"/>
          </a:xfrm>
          <a:prstGeom prst="rect">
            <a:avLst/>
          </a:prstGeom>
          <a:noFill/>
        </p:spPr>
        <p:txBody>
          <a:bodyPr wrap="none" lIns="0" rIns="0" tIns="0" bIns="0">
            <a:spAutoFit/>
          </a:bodyPr>
          <a:lstStyle/>
          <a:p>
            <a:r>
              <a:rPr sz="1150" b="0">
                <a:solidFill>
                  <a:srgbClr val="2E2E2E"/>
                </a:solidFill>
                <a:latin typeface="Calibri"/>
              </a:rPr>
              <a:t>X higher volume than Europe in 2036. Among removable partial dentures</a:t>
            </a:r>
          </a:p>
        </p:txBody>
      </p:sp>
      <p:sp>
        <p:nvSpPr>
          <p:cNvPr id="56" name="TextBox 55"/>
          <p:cNvSpPr txBox="1"/>
          <p:nvPr/>
        </p:nvSpPr>
        <p:spPr>
          <a:xfrm>
            <a:off x="7239000" y="1750695"/>
            <a:ext cx="4439996" cy="194310"/>
          </a:xfrm>
          <a:prstGeom prst="rect">
            <a:avLst/>
          </a:prstGeom>
          <a:noFill/>
        </p:spPr>
        <p:txBody>
          <a:bodyPr wrap="none" lIns="0" rIns="0" tIns="0" bIns="0">
            <a:spAutoFit/>
          </a:bodyPr>
          <a:lstStyle/>
          <a:p>
            <a:r>
              <a:rPr sz="1150" b="0">
                <a:solidFill>
                  <a:srgbClr val="2E2E2E"/>
                </a:solidFill>
                <a:latin typeface="Calibri"/>
              </a:rPr>
              <a:t>by region, South Asia &amp; Pacific is expected to witness the highest CAGR of</a:t>
            </a:r>
          </a:p>
        </p:txBody>
      </p:sp>
      <p:pic>
        <p:nvPicPr>
          <p:cNvPr id="57" name="Picture 56" descr="lock.png"/>
          <p:cNvPicPr>
            <a:picLocks noChangeAspect="1"/>
          </p:cNvPicPr>
          <p:nvPr/>
        </p:nvPicPr>
        <p:blipFill>
          <a:blip r:embed="rId5"/>
          <a:stretch>
            <a:fillRect/>
          </a:stretch>
        </p:blipFill>
        <p:spPr>
          <a:xfrm>
            <a:off x="11628150" y="1740471"/>
            <a:ext cx="134549" cy="195707"/>
          </a:xfrm>
          <a:prstGeom prst="rect">
            <a:avLst/>
          </a:prstGeom>
        </p:spPr>
      </p:pic>
      <p:sp>
        <p:nvSpPr>
          <p:cNvPr id="58" name="TextBox 57"/>
          <p:cNvSpPr txBox="1"/>
          <p:nvPr/>
        </p:nvSpPr>
        <p:spPr>
          <a:xfrm>
            <a:off x="7239000" y="192595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59" name="TextBox 58"/>
          <p:cNvSpPr txBox="1"/>
          <p:nvPr/>
        </p:nvSpPr>
        <p:spPr>
          <a:xfrm>
            <a:off x="7239000" y="2153793"/>
            <a:ext cx="4558394" cy="194310"/>
          </a:xfrm>
          <a:prstGeom prst="rect">
            <a:avLst/>
          </a:prstGeom>
          <a:noFill/>
        </p:spPr>
        <p:txBody>
          <a:bodyPr wrap="none" lIns="0" rIns="0" tIns="0" bIns="0">
            <a:spAutoFit/>
          </a:bodyPr>
          <a:lstStyle/>
          <a:p>
            <a:r>
              <a:rPr sz="1150" b="0">
                <a:solidFill>
                  <a:srgbClr val="2E2E2E"/>
                </a:solidFill>
                <a:latin typeface="Calibri"/>
              </a:rPr>
              <a:t>In terms of volume share by region, North America is expected to dominate</a:t>
            </a:r>
          </a:p>
        </p:txBody>
      </p:sp>
      <p:sp>
        <p:nvSpPr>
          <p:cNvPr id="60" name="TextBox 59"/>
          <p:cNvSpPr txBox="1"/>
          <p:nvPr/>
        </p:nvSpPr>
        <p:spPr>
          <a:xfrm>
            <a:off x="7239000" y="2329053"/>
            <a:ext cx="1150180" cy="194310"/>
          </a:xfrm>
          <a:prstGeom prst="rect">
            <a:avLst/>
          </a:prstGeom>
          <a:noFill/>
        </p:spPr>
        <p:txBody>
          <a:bodyPr wrap="none" lIns="0" rIns="0" tIns="0" bIns="0">
            <a:spAutoFit/>
          </a:bodyPr>
          <a:lstStyle/>
          <a:p>
            <a:r>
              <a:rPr sz="1150" b="0">
                <a:solidFill>
                  <a:srgbClr val="2E2E2E"/>
                </a:solidFill>
                <a:latin typeface="Calibri"/>
              </a:rPr>
              <a:t>the market, losing</a:t>
            </a:r>
          </a:p>
        </p:txBody>
      </p:sp>
      <p:pic>
        <p:nvPicPr>
          <p:cNvPr id="61" name="Picture 60" descr="lock.png"/>
          <p:cNvPicPr>
            <a:picLocks noChangeAspect="1"/>
          </p:cNvPicPr>
          <p:nvPr/>
        </p:nvPicPr>
        <p:blipFill>
          <a:blip r:embed="rId5"/>
          <a:stretch>
            <a:fillRect/>
          </a:stretch>
        </p:blipFill>
        <p:spPr>
          <a:xfrm>
            <a:off x="8338334" y="2318829"/>
            <a:ext cx="134549" cy="195707"/>
          </a:xfrm>
          <a:prstGeom prst="rect">
            <a:avLst/>
          </a:prstGeom>
        </p:spPr>
      </p:pic>
      <p:sp>
        <p:nvSpPr>
          <p:cNvPr id="62" name="TextBox 61"/>
          <p:cNvSpPr txBox="1"/>
          <p:nvPr/>
        </p:nvSpPr>
        <p:spPr>
          <a:xfrm>
            <a:off x="8513444"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63" name="Picture 62" descr="lock.png"/>
          <p:cNvPicPr>
            <a:picLocks noChangeAspect="1"/>
          </p:cNvPicPr>
          <p:nvPr/>
        </p:nvPicPr>
        <p:blipFill>
          <a:blip r:embed="rId5"/>
          <a:stretch>
            <a:fillRect/>
          </a:stretch>
        </p:blipFill>
        <p:spPr>
          <a:xfrm>
            <a:off x="9908587" y="2318829"/>
            <a:ext cx="134549" cy="195707"/>
          </a:xfrm>
          <a:prstGeom prst="rect">
            <a:avLst/>
          </a:prstGeom>
        </p:spPr>
      </p:pic>
      <p:sp>
        <p:nvSpPr>
          <p:cNvPr id="64" name="TextBox 63"/>
          <p:cNvSpPr txBox="1"/>
          <p:nvPr/>
        </p:nvSpPr>
        <p:spPr>
          <a:xfrm>
            <a:off x="1008369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5"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911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8435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815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006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6860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6384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8764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4955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5573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2509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7477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23668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551045" y="272987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7251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4891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27108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551045" y="349426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8950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41330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7521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7420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694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9323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5515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1,125</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1,731</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4.4%</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sp>
        <p:nvSpPr>
          <p:cNvPr id="49" name="TextBox 48"/>
          <p:cNvSpPr txBox="1"/>
          <p:nvPr/>
        </p:nvSpPr>
        <p:spPr>
          <a:xfrm>
            <a:off x="7239000" y="1400175"/>
            <a:ext cx="4437732" cy="194310"/>
          </a:xfrm>
          <a:prstGeom prst="rect">
            <a:avLst/>
          </a:prstGeom>
          <a:noFill/>
        </p:spPr>
        <p:txBody>
          <a:bodyPr wrap="none" lIns="0" rIns="0" tIns="0" bIns="0">
            <a:spAutoFit/>
          </a:bodyPr>
          <a:lstStyle/>
          <a:p>
            <a:r>
              <a:rPr sz="1150" b="0">
                <a:solidFill>
                  <a:srgbClr val="2E2E2E"/>
                </a:solidFill>
                <a:latin typeface="Calibri"/>
              </a:rPr>
              <a:t>North America removable partial dentures market is projected to register</a:t>
            </a:r>
          </a:p>
        </p:txBody>
      </p:sp>
      <p:pic>
        <p:nvPicPr>
          <p:cNvPr id="50" name="Picture 49" descr="lock.png"/>
          <p:cNvPicPr>
            <a:picLocks noChangeAspect="1"/>
          </p:cNvPicPr>
          <p:nvPr/>
        </p:nvPicPr>
        <p:blipFill>
          <a:blip r:embed="rId5"/>
          <a:stretch>
            <a:fillRect/>
          </a:stretch>
        </p:blipFill>
        <p:spPr>
          <a:xfrm>
            <a:off x="7224920" y="1565211"/>
            <a:ext cx="134549" cy="195707"/>
          </a:xfrm>
          <a:prstGeom prst="rect">
            <a:avLst/>
          </a:prstGeom>
        </p:spPr>
      </p:pic>
      <p:sp>
        <p:nvSpPr>
          <p:cNvPr id="51" name="TextBox 50"/>
          <p:cNvSpPr txBox="1"/>
          <p:nvPr/>
        </p:nvSpPr>
        <p:spPr>
          <a:xfrm>
            <a:off x="7400029" y="1575435"/>
            <a:ext cx="4300239" cy="194310"/>
          </a:xfrm>
          <a:prstGeom prst="rect">
            <a:avLst/>
          </a:prstGeom>
          <a:noFill/>
        </p:spPr>
        <p:txBody>
          <a:bodyPr wrap="none" lIns="0" rIns="0" tIns="0" bIns="0">
            <a:spAutoFit/>
          </a:bodyPr>
          <a:lstStyle/>
          <a:p>
            <a:r>
              <a:rPr sz="1150" b="0">
                <a:solidFill>
                  <a:srgbClr val="2E2E2E"/>
                </a:solidFill>
                <a:latin typeface="Calibri"/>
              </a:rPr>
              <a:t>X higher value than Europe in 2036. Among removable partial dentures</a:t>
            </a:r>
          </a:p>
        </p:txBody>
      </p:sp>
      <p:sp>
        <p:nvSpPr>
          <p:cNvPr id="52" name="TextBox 51"/>
          <p:cNvSpPr txBox="1"/>
          <p:nvPr/>
        </p:nvSpPr>
        <p:spPr>
          <a:xfrm>
            <a:off x="7239000" y="1750695"/>
            <a:ext cx="4439996" cy="194310"/>
          </a:xfrm>
          <a:prstGeom prst="rect">
            <a:avLst/>
          </a:prstGeom>
          <a:noFill/>
        </p:spPr>
        <p:txBody>
          <a:bodyPr wrap="none" lIns="0" rIns="0" tIns="0" bIns="0">
            <a:spAutoFit/>
          </a:bodyPr>
          <a:lstStyle/>
          <a:p>
            <a:r>
              <a:rPr sz="1150" b="0">
                <a:solidFill>
                  <a:srgbClr val="2E2E2E"/>
                </a:solidFill>
                <a:latin typeface="Calibri"/>
              </a:rPr>
              <a:t>by region, South Asia &amp; Pacific is expected to witness the highest CAGR of</a:t>
            </a:r>
          </a:p>
        </p:txBody>
      </p:sp>
      <p:pic>
        <p:nvPicPr>
          <p:cNvPr id="53" name="Picture 52" descr="lock.png"/>
          <p:cNvPicPr>
            <a:picLocks noChangeAspect="1"/>
          </p:cNvPicPr>
          <p:nvPr/>
        </p:nvPicPr>
        <p:blipFill>
          <a:blip r:embed="rId5"/>
          <a:stretch>
            <a:fillRect/>
          </a:stretch>
        </p:blipFill>
        <p:spPr>
          <a:xfrm>
            <a:off x="11628150" y="1740471"/>
            <a:ext cx="134549" cy="195707"/>
          </a:xfrm>
          <a:prstGeom prst="rect">
            <a:avLst/>
          </a:prstGeom>
        </p:spPr>
      </p:pic>
      <p:sp>
        <p:nvSpPr>
          <p:cNvPr id="54" name="TextBox 53"/>
          <p:cNvSpPr txBox="1"/>
          <p:nvPr/>
        </p:nvSpPr>
        <p:spPr>
          <a:xfrm>
            <a:off x="7239000" y="192595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55" name="TextBox 54"/>
          <p:cNvSpPr txBox="1"/>
          <p:nvPr/>
        </p:nvSpPr>
        <p:spPr>
          <a:xfrm>
            <a:off x="7239000" y="2153793"/>
            <a:ext cx="4648200"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a:t>
            </a:r>
          </a:p>
        </p:txBody>
      </p:sp>
      <p:sp>
        <p:nvSpPr>
          <p:cNvPr id="56" name="TextBox 55"/>
          <p:cNvSpPr txBox="1"/>
          <p:nvPr/>
        </p:nvSpPr>
        <p:spPr>
          <a:xfrm>
            <a:off x="7239000" y="232905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57" name="Picture 56" descr="lock.png"/>
          <p:cNvPicPr>
            <a:picLocks noChangeAspect="1"/>
          </p:cNvPicPr>
          <p:nvPr/>
        </p:nvPicPr>
        <p:blipFill>
          <a:blip r:embed="rId5"/>
          <a:stretch>
            <a:fillRect/>
          </a:stretch>
        </p:blipFill>
        <p:spPr>
          <a:xfrm>
            <a:off x="8106708" y="2318829"/>
            <a:ext cx="134549" cy="195707"/>
          </a:xfrm>
          <a:prstGeom prst="rect">
            <a:avLst/>
          </a:prstGeom>
        </p:spPr>
      </p:pic>
      <p:sp>
        <p:nvSpPr>
          <p:cNvPr id="58" name="TextBox 57"/>
          <p:cNvSpPr txBox="1"/>
          <p:nvPr/>
        </p:nvSpPr>
        <p:spPr>
          <a:xfrm>
            <a:off x="8281817"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59" name="Picture 58" descr="lock.png"/>
          <p:cNvPicPr>
            <a:picLocks noChangeAspect="1"/>
          </p:cNvPicPr>
          <p:nvPr/>
        </p:nvPicPr>
        <p:blipFill>
          <a:blip r:embed="rId5"/>
          <a:stretch>
            <a:fillRect/>
          </a:stretch>
        </p:blipFill>
        <p:spPr>
          <a:xfrm>
            <a:off x="9676961" y="2318829"/>
            <a:ext cx="134549" cy="195707"/>
          </a:xfrm>
          <a:prstGeom prst="rect">
            <a:avLst/>
          </a:prstGeom>
        </p:spPr>
      </p:pic>
      <p:sp>
        <p:nvSpPr>
          <p:cNvPr id="60" name="TextBox 59"/>
          <p:cNvSpPr txBox="1"/>
          <p:nvPr/>
        </p:nvSpPr>
        <p:spPr>
          <a:xfrm>
            <a:off x="9852070"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1"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Share Analysis, By Region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019425"/>
          </a:xfrm>
          <a:prstGeom prst="roundRect">
            <a:avLst>
              <a:gd name="adj" fmla="val 25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(Units)</a:t>
            </a:r>
          </a:p>
        </p:txBody>
      </p:sp>
      <p:graphicFrame>
        <p:nvGraphicFramePr>
          <p:cNvPr id="13" name="Table 12"/>
          <p:cNvGraphicFramePr>
            <a:graphicFrameLocks noGrp="1"/>
          </p:cNvGraphicFramePr>
          <p:nvPr/>
        </p:nvGraphicFramePr>
        <p:xfrm>
          <a:off x="152400" y="1238250"/>
          <a:ext cx="11887208" cy="25526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Region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North America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Latin America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Europe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East Asia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673">
                <a:tc>
                  <a:txBody>
                    <a:bodyPr wrap="none"/>
                    <a:lstStyle/>
                    <a:p>
                      <a:pPr algn="l"/>
                      <a:r>
                        <a:rPr sz="1100" b="1">
                          <a:solidFill>
                            <a:srgbClr val="2E2E2E"/>
                          </a:solidFill>
                          <a:latin typeface="Calibri"/>
                        </a:rPr>
                        <a:t>South Asia &amp;</a:t>
                      </a:r>
                      <a:endParaRPr sz="1100"/>
                    </a:p>
                    <a:p>
                      <a:pPr algn="l"/>
                      <a:r>
                        <a:rPr sz="1100" b="1">
                          <a:solidFill>
                            <a:srgbClr val="2E2E2E"/>
                          </a:solidFill>
                          <a:latin typeface="Calibri"/>
                        </a:rPr>
                        <a:t>Pacific</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Middle East &amp;</a:t>
                      </a:r>
                      <a:endParaRPr sz="1100"/>
                    </a:p>
                    <a:p>
                      <a:pPr algn="l"/>
                      <a:r>
                        <a:rPr sz="1100" b="1">
                          <a:solidFill>
                            <a:srgbClr val="2E2E2E"/>
                          </a:solidFill>
                          <a:latin typeface="Calibri"/>
                        </a:rPr>
                        <a:t>Africa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00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33850"/>
            <a:ext cx="11906250" cy="2495550"/>
          </a:xfrm>
          <a:prstGeom prst="roundRect">
            <a:avLst>
              <a:gd name="adj" fmla="val 30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195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44577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43425"/>
            <a:ext cx="11639550" cy="20097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67355"/>
            <a:ext cx="366712" cy="533400"/>
          </a:xfrm>
          <a:prstGeom prst="rect">
            <a:avLst/>
          </a:prstGeom>
        </p:spPr>
      </p:pic>
      <p:sp>
        <p:nvSpPr>
          <p:cNvPr id="21" name="TextBox 20"/>
          <p:cNvSpPr txBox="1"/>
          <p:nvPr/>
        </p:nvSpPr>
        <p:spPr>
          <a:xfrm>
            <a:off x="276225" y="4552950"/>
            <a:ext cx="4437732" cy="194310"/>
          </a:xfrm>
          <a:prstGeom prst="rect">
            <a:avLst/>
          </a:prstGeom>
          <a:noFill/>
        </p:spPr>
        <p:txBody>
          <a:bodyPr wrap="none" lIns="0" rIns="0" tIns="0" bIns="0">
            <a:spAutoFit/>
          </a:bodyPr>
          <a:lstStyle/>
          <a:p>
            <a:r>
              <a:rPr sz="1150" b="0">
                <a:solidFill>
                  <a:srgbClr val="2E2E2E"/>
                </a:solidFill>
                <a:latin typeface="Calibri"/>
              </a:rPr>
              <a:t>North America removable partial dentures market is projected to register</a:t>
            </a:r>
          </a:p>
        </p:txBody>
      </p:sp>
      <p:pic>
        <p:nvPicPr>
          <p:cNvPr id="22" name="Picture 21" descr="lock.png"/>
          <p:cNvPicPr>
            <a:picLocks noChangeAspect="1"/>
          </p:cNvPicPr>
          <p:nvPr/>
        </p:nvPicPr>
        <p:blipFill>
          <a:blip r:embed="rId4"/>
          <a:stretch>
            <a:fillRect/>
          </a:stretch>
        </p:blipFill>
        <p:spPr>
          <a:xfrm>
            <a:off x="4663111" y="4542726"/>
            <a:ext cx="134549" cy="195707"/>
          </a:xfrm>
          <a:prstGeom prst="rect">
            <a:avLst/>
          </a:prstGeom>
        </p:spPr>
      </p:pic>
      <p:sp>
        <p:nvSpPr>
          <p:cNvPr id="23" name="TextBox 22"/>
          <p:cNvSpPr txBox="1"/>
          <p:nvPr/>
        </p:nvSpPr>
        <p:spPr>
          <a:xfrm>
            <a:off x="4838220" y="4552950"/>
            <a:ext cx="6957094" cy="194310"/>
          </a:xfrm>
          <a:prstGeom prst="rect">
            <a:avLst/>
          </a:prstGeom>
          <a:noFill/>
        </p:spPr>
        <p:txBody>
          <a:bodyPr wrap="none" lIns="0" rIns="0" tIns="0" bIns="0">
            <a:spAutoFit/>
          </a:bodyPr>
          <a:lstStyle/>
          <a:p>
            <a:r>
              <a:rPr sz="1150" b="0">
                <a:solidFill>
                  <a:srgbClr val="2E2E2E"/>
                </a:solidFill>
                <a:latin typeface="Calibri"/>
              </a:rPr>
              <a:t>X higher volume than Europe in 2036. Among removable partial dentures by region, South Asia &amp; Pacific is expected</a:t>
            </a:r>
          </a:p>
        </p:txBody>
      </p:sp>
      <p:sp>
        <p:nvSpPr>
          <p:cNvPr id="24" name="TextBox 23"/>
          <p:cNvSpPr txBox="1"/>
          <p:nvPr/>
        </p:nvSpPr>
        <p:spPr>
          <a:xfrm>
            <a:off x="276225" y="4728210"/>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132320" y="4717986"/>
            <a:ext cx="134549" cy="195707"/>
          </a:xfrm>
          <a:prstGeom prst="rect">
            <a:avLst/>
          </a:prstGeom>
        </p:spPr>
      </p:pic>
      <p:sp>
        <p:nvSpPr>
          <p:cNvPr id="26" name="TextBox 25"/>
          <p:cNvSpPr txBox="1"/>
          <p:nvPr/>
        </p:nvSpPr>
        <p:spPr>
          <a:xfrm>
            <a:off x="2307429" y="47282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956047"/>
            <a:ext cx="5665465" cy="194310"/>
          </a:xfrm>
          <a:prstGeom prst="rect">
            <a:avLst/>
          </a:prstGeom>
          <a:noFill/>
        </p:spPr>
        <p:txBody>
          <a:bodyPr wrap="none" lIns="0" rIns="0" tIns="0" bIns="0">
            <a:spAutoFit/>
          </a:bodyPr>
          <a:lstStyle/>
          <a:p>
            <a:r>
              <a:rPr sz="1150" b="0">
                <a:solidFill>
                  <a:srgbClr val="2E2E2E"/>
                </a:solidFill>
                <a:latin typeface="Calibri"/>
              </a:rPr>
              <a:t>In terms of volume share by region, North America is expected to dominate the market, losing</a:t>
            </a:r>
          </a:p>
        </p:txBody>
      </p:sp>
      <p:pic>
        <p:nvPicPr>
          <p:cNvPr id="28" name="Picture 27" descr="lock.png"/>
          <p:cNvPicPr>
            <a:picLocks noChangeAspect="1"/>
          </p:cNvPicPr>
          <p:nvPr/>
        </p:nvPicPr>
        <p:blipFill>
          <a:blip r:embed="rId4"/>
          <a:stretch>
            <a:fillRect/>
          </a:stretch>
        </p:blipFill>
        <p:spPr>
          <a:xfrm>
            <a:off x="5890843" y="4945824"/>
            <a:ext cx="134549" cy="195707"/>
          </a:xfrm>
          <a:prstGeom prst="rect">
            <a:avLst/>
          </a:prstGeom>
        </p:spPr>
      </p:pic>
      <p:sp>
        <p:nvSpPr>
          <p:cNvPr id="29" name="TextBox 28"/>
          <p:cNvSpPr txBox="1"/>
          <p:nvPr/>
        </p:nvSpPr>
        <p:spPr>
          <a:xfrm>
            <a:off x="6065953" y="49560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461096" y="4945824"/>
            <a:ext cx="134549" cy="195707"/>
          </a:xfrm>
          <a:prstGeom prst="rect">
            <a:avLst/>
          </a:prstGeom>
        </p:spPr>
      </p:pic>
      <p:sp>
        <p:nvSpPr>
          <p:cNvPr id="31" name="TextBox 30"/>
          <p:cNvSpPr txBox="1"/>
          <p:nvPr/>
        </p:nvSpPr>
        <p:spPr>
          <a:xfrm>
            <a:off x="7636205" y="49560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6995" y="2080450"/>
            <a:ext cx="366712" cy="533400"/>
          </a:xfrm>
          <a:prstGeom prst="rect">
            <a:avLst/>
          </a:prstGeom>
        </p:spPr>
      </p:pic>
      <p:sp>
        <p:nvSpPr>
          <p:cNvPr id="21" name="TextBox 20"/>
          <p:cNvSpPr txBox="1"/>
          <p:nvPr/>
        </p:nvSpPr>
        <p:spPr>
          <a:xfrm>
            <a:off x="276225" y="3971925"/>
            <a:ext cx="4437732" cy="194310"/>
          </a:xfrm>
          <a:prstGeom prst="rect">
            <a:avLst/>
          </a:prstGeom>
          <a:noFill/>
        </p:spPr>
        <p:txBody>
          <a:bodyPr wrap="none" lIns="0" rIns="0" tIns="0" bIns="0">
            <a:spAutoFit/>
          </a:bodyPr>
          <a:lstStyle/>
          <a:p>
            <a:r>
              <a:rPr sz="1150" b="0">
                <a:solidFill>
                  <a:srgbClr val="2E2E2E"/>
                </a:solidFill>
                <a:latin typeface="Calibri"/>
              </a:rPr>
              <a:t>North America removable partial dentures market is projected to register</a:t>
            </a:r>
          </a:p>
        </p:txBody>
      </p:sp>
      <p:pic>
        <p:nvPicPr>
          <p:cNvPr id="22" name="Picture 21" descr="lock.png"/>
          <p:cNvPicPr>
            <a:picLocks noChangeAspect="1"/>
          </p:cNvPicPr>
          <p:nvPr/>
        </p:nvPicPr>
        <p:blipFill>
          <a:blip r:embed="rId4"/>
          <a:stretch>
            <a:fillRect/>
          </a:stretch>
        </p:blipFill>
        <p:spPr>
          <a:xfrm>
            <a:off x="4663111" y="3961701"/>
            <a:ext cx="134549" cy="195707"/>
          </a:xfrm>
          <a:prstGeom prst="rect">
            <a:avLst/>
          </a:prstGeom>
        </p:spPr>
      </p:pic>
      <p:sp>
        <p:nvSpPr>
          <p:cNvPr id="23" name="TextBox 22"/>
          <p:cNvSpPr txBox="1"/>
          <p:nvPr/>
        </p:nvSpPr>
        <p:spPr>
          <a:xfrm>
            <a:off x="4838220" y="3971925"/>
            <a:ext cx="6992466" cy="194310"/>
          </a:xfrm>
          <a:prstGeom prst="rect">
            <a:avLst/>
          </a:prstGeom>
          <a:noFill/>
        </p:spPr>
        <p:txBody>
          <a:bodyPr wrap="none" lIns="0" rIns="0" tIns="0" bIns="0">
            <a:spAutoFit/>
          </a:bodyPr>
          <a:lstStyle/>
          <a:p>
            <a:r>
              <a:rPr sz="1150" b="0">
                <a:solidFill>
                  <a:srgbClr val="2E2E2E"/>
                </a:solidFill>
                <a:latin typeface="Calibri"/>
              </a:rPr>
              <a:t>X higher value than Europe in 2036. Among removable partial dentures by region, South Asia &amp; Pacific is expected to</a:t>
            </a:r>
          </a:p>
        </p:txBody>
      </p:sp>
      <p:sp>
        <p:nvSpPr>
          <p:cNvPr id="24" name="TextBox 23"/>
          <p:cNvSpPr txBox="1"/>
          <p:nvPr/>
        </p:nvSpPr>
        <p:spPr>
          <a:xfrm>
            <a:off x="276225" y="414718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25" name="Picture 24" descr="lock.png"/>
          <p:cNvPicPr>
            <a:picLocks noChangeAspect="1"/>
          </p:cNvPicPr>
          <p:nvPr/>
        </p:nvPicPr>
        <p:blipFill>
          <a:blip r:embed="rId4"/>
          <a:stretch>
            <a:fillRect/>
          </a:stretch>
        </p:blipFill>
        <p:spPr>
          <a:xfrm>
            <a:off x="1973149" y="4136961"/>
            <a:ext cx="134549" cy="195707"/>
          </a:xfrm>
          <a:prstGeom prst="rect">
            <a:avLst/>
          </a:prstGeom>
        </p:spPr>
      </p:pic>
      <p:sp>
        <p:nvSpPr>
          <p:cNvPr id="26" name="TextBox 25"/>
          <p:cNvSpPr txBox="1"/>
          <p:nvPr/>
        </p:nvSpPr>
        <p:spPr>
          <a:xfrm>
            <a:off x="2148258" y="41471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75022"/>
            <a:ext cx="5541664"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 market, losing</a:t>
            </a:r>
          </a:p>
        </p:txBody>
      </p:sp>
      <p:pic>
        <p:nvPicPr>
          <p:cNvPr id="28" name="Picture 27" descr="lock.png"/>
          <p:cNvPicPr>
            <a:picLocks noChangeAspect="1"/>
          </p:cNvPicPr>
          <p:nvPr/>
        </p:nvPicPr>
        <p:blipFill>
          <a:blip r:embed="rId4"/>
          <a:stretch>
            <a:fillRect/>
          </a:stretch>
        </p:blipFill>
        <p:spPr>
          <a:xfrm>
            <a:off x="5767043" y="4364799"/>
            <a:ext cx="134549" cy="195707"/>
          </a:xfrm>
          <a:prstGeom prst="rect">
            <a:avLst/>
          </a:prstGeom>
        </p:spPr>
      </p:pic>
      <p:sp>
        <p:nvSpPr>
          <p:cNvPr id="29" name="TextBox 28"/>
          <p:cNvSpPr txBox="1"/>
          <p:nvPr/>
        </p:nvSpPr>
        <p:spPr>
          <a:xfrm>
            <a:off x="5942153"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337296" y="4364799"/>
            <a:ext cx="134549" cy="195707"/>
          </a:xfrm>
          <a:prstGeom prst="rect">
            <a:avLst/>
          </a:prstGeom>
        </p:spPr>
      </p:pic>
      <p:sp>
        <p:nvSpPr>
          <p:cNvPr id="31" name="TextBox 30"/>
          <p:cNvSpPr txBox="1"/>
          <p:nvPr/>
        </p:nvSpPr>
        <p:spPr>
          <a:xfrm>
            <a:off x="7512405" y="43750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pPr/>
            <a:r>
              <a:rPr sz="850" b="1">
                <a:solidFill>
                  <a:srgbClr val="6C7A89"/>
                </a:solidFill>
                <a:latin typeface="Calibri"/>
              </a:rPr>
              <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pPr/>
            <a:r>
              <a:rPr sz="850" b="1">
                <a:solidFill>
                  <a:srgbClr val="6C7A89"/>
                </a:solidFill>
                <a:latin typeface="Calibri"/>
              </a:rPr>
              <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4" name="TextBox 23"/>
          <p:cNvSpPr txBox="1"/>
          <p:nvPr/>
        </p:nvSpPr>
        <p:spPr>
          <a:xfrm>
            <a:off x="9930765" y="1407795"/>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5" name="TextBox 24"/>
          <p:cNvSpPr txBox="1"/>
          <p:nvPr/>
        </p:nvSpPr>
        <p:spPr>
          <a:xfrm>
            <a:off x="9930765" y="4293870"/>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6" name="lockshield_13"/>
          <p:cNvSpPr/>
          <p:nvPr/>
        </p:nvSpPr>
        <p:spPr>
          <a:xfrm>
            <a:off x="238125" y="1266825"/>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9"/>
          <p:cNvSpPr/>
          <p:nvPr/>
        </p:nvSpPr>
        <p:spPr>
          <a:xfrm>
            <a:off x="238125" y="4152900"/>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3246532"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3484657" y="1266825"/>
            <a:ext cx="3441005" cy="2887124"/>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15" name="Rectangle 14"/>
          <p:cNvSpPr/>
          <p:nvPr/>
        </p:nvSpPr>
        <p:spPr>
          <a:xfrm>
            <a:off x="3484657" y="4153949"/>
            <a:ext cx="3441005" cy="2418301"/>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6" name="Rectangle 15"/>
          <p:cNvSpPr/>
          <p:nvPr/>
        </p:nvSpPr>
        <p:spPr>
          <a:xfrm>
            <a:off x="6925663" y="1266825"/>
            <a:ext cx="2853844" cy="2242469"/>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17" name="Rectangle 16"/>
          <p:cNvSpPr/>
          <p:nvPr/>
        </p:nvSpPr>
        <p:spPr>
          <a:xfrm>
            <a:off x="9779506" y="1266825"/>
            <a:ext cx="2174369" cy="2242469"/>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18" name="Rectangle 17"/>
          <p:cNvSpPr/>
          <p:nvPr/>
        </p:nvSpPr>
        <p:spPr>
          <a:xfrm>
            <a:off x="6925663" y="3509294"/>
            <a:ext cx="2443098" cy="1641049"/>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19" name="Rectangle 18"/>
          <p:cNvSpPr/>
          <p:nvPr/>
        </p:nvSpPr>
        <p:spPr>
          <a:xfrm>
            <a:off x="6925663" y="5150343"/>
            <a:ext cx="2443098" cy="1421907"/>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0" name="Rectangle 19"/>
          <p:cNvSpPr/>
          <p:nvPr/>
        </p:nvSpPr>
        <p:spPr>
          <a:xfrm>
            <a:off x="9368761" y="3509294"/>
            <a:ext cx="1303924" cy="2110527"/>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1" name="Rectangle 20"/>
          <p:cNvSpPr/>
          <p:nvPr/>
        </p:nvSpPr>
        <p:spPr>
          <a:xfrm>
            <a:off x="10672685" y="3509294"/>
            <a:ext cx="1281190" cy="2110527"/>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2" name="Rectangle 21"/>
          <p:cNvSpPr/>
          <p:nvPr/>
        </p:nvSpPr>
        <p:spPr>
          <a:xfrm>
            <a:off x="9368761" y="5619821"/>
            <a:ext cx="2585114" cy="952429"/>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1706952" y="3919537"/>
            <a:ext cx="308877" cy="449275"/>
          </a:xfrm>
          <a:prstGeom prst="rect">
            <a:avLst/>
          </a:prstGeom>
        </p:spPr>
      </p:pic>
      <p:pic>
        <p:nvPicPr>
          <p:cNvPr id="25" name="Picture 24" descr="lock.png"/>
          <p:cNvPicPr>
            <a:picLocks noChangeAspect="1"/>
          </p:cNvPicPr>
          <p:nvPr/>
        </p:nvPicPr>
        <p:blipFill>
          <a:blip r:embed="rId4"/>
          <a:stretch>
            <a:fillRect/>
          </a:stretch>
        </p:blipFill>
        <p:spPr>
          <a:xfrm>
            <a:off x="5050721" y="2710387"/>
            <a:ext cx="308877" cy="449275"/>
          </a:xfrm>
          <a:prstGeom prst="rect">
            <a:avLst/>
          </a:prstGeom>
        </p:spPr>
      </p:pic>
      <p:pic>
        <p:nvPicPr>
          <p:cNvPr id="26" name="Picture 25" descr="lock.png"/>
          <p:cNvPicPr>
            <a:picLocks noChangeAspect="1"/>
          </p:cNvPicPr>
          <p:nvPr/>
        </p:nvPicPr>
        <p:blipFill>
          <a:blip r:embed="rId4"/>
          <a:stretch>
            <a:fillRect/>
          </a:stretch>
        </p:blipFill>
        <p:spPr>
          <a:xfrm>
            <a:off x="5050721" y="5363099"/>
            <a:ext cx="308877" cy="449275"/>
          </a:xfrm>
          <a:prstGeom prst="rect">
            <a:avLst/>
          </a:prstGeom>
        </p:spPr>
      </p:pic>
      <p:pic>
        <p:nvPicPr>
          <p:cNvPr id="27" name="Picture 26" descr="lock.png"/>
          <p:cNvPicPr>
            <a:picLocks noChangeAspect="1"/>
          </p:cNvPicPr>
          <p:nvPr/>
        </p:nvPicPr>
        <p:blipFill>
          <a:blip r:embed="rId4"/>
          <a:stretch>
            <a:fillRect/>
          </a:stretch>
        </p:blipFill>
        <p:spPr>
          <a:xfrm>
            <a:off x="8198146" y="2388059"/>
            <a:ext cx="308877" cy="449275"/>
          </a:xfrm>
          <a:prstGeom prst="rect">
            <a:avLst/>
          </a:prstGeom>
        </p:spPr>
      </p:pic>
      <p:pic>
        <p:nvPicPr>
          <p:cNvPr id="28" name="Picture 27" descr="lock.png"/>
          <p:cNvPicPr>
            <a:picLocks noChangeAspect="1"/>
          </p:cNvPicPr>
          <p:nvPr/>
        </p:nvPicPr>
        <p:blipFill>
          <a:blip r:embed="rId4"/>
          <a:stretch>
            <a:fillRect/>
          </a:stretch>
        </p:blipFill>
        <p:spPr>
          <a:xfrm>
            <a:off x="10712252" y="2388059"/>
            <a:ext cx="308877" cy="449275"/>
          </a:xfrm>
          <a:prstGeom prst="rect">
            <a:avLst/>
          </a:prstGeom>
        </p:spPr>
      </p:pic>
      <p:pic>
        <p:nvPicPr>
          <p:cNvPr id="29" name="Picture 28" descr="lock.png"/>
          <p:cNvPicPr>
            <a:picLocks noChangeAspect="1"/>
          </p:cNvPicPr>
          <p:nvPr/>
        </p:nvPicPr>
        <p:blipFill>
          <a:blip r:embed="rId4"/>
          <a:stretch>
            <a:fillRect/>
          </a:stretch>
        </p:blipFill>
        <p:spPr>
          <a:xfrm>
            <a:off x="7992773" y="4329818"/>
            <a:ext cx="308877" cy="449275"/>
          </a:xfrm>
          <a:prstGeom prst="rect">
            <a:avLst/>
          </a:prstGeom>
        </p:spPr>
      </p:pic>
      <p:pic>
        <p:nvPicPr>
          <p:cNvPr id="30" name="Picture 29" descr="lock.png"/>
          <p:cNvPicPr>
            <a:picLocks noChangeAspect="1"/>
          </p:cNvPicPr>
          <p:nvPr/>
        </p:nvPicPr>
        <p:blipFill>
          <a:blip r:embed="rId4"/>
          <a:stretch>
            <a:fillRect/>
          </a:stretch>
        </p:blipFill>
        <p:spPr>
          <a:xfrm>
            <a:off x="7992773" y="5861296"/>
            <a:ext cx="308877" cy="449275"/>
          </a:xfrm>
          <a:prstGeom prst="rect">
            <a:avLst/>
          </a:prstGeom>
        </p:spPr>
      </p:pic>
      <p:pic>
        <p:nvPicPr>
          <p:cNvPr id="31" name="Picture 30" descr="lock.png"/>
          <p:cNvPicPr>
            <a:picLocks noChangeAspect="1"/>
          </p:cNvPicPr>
          <p:nvPr/>
        </p:nvPicPr>
        <p:blipFill>
          <a:blip r:embed="rId4"/>
          <a:stretch>
            <a:fillRect/>
          </a:stretch>
        </p:blipFill>
        <p:spPr>
          <a:xfrm>
            <a:off x="9866284" y="4564557"/>
            <a:ext cx="308877" cy="449275"/>
          </a:xfrm>
          <a:prstGeom prst="rect">
            <a:avLst/>
          </a:prstGeom>
        </p:spPr>
      </p:pic>
      <p:pic>
        <p:nvPicPr>
          <p:cNvPr id="32" name="Picture 31" descr="lock.png"/>
          <p:cNvPicPr>
            <a:picLocks noChangeAspect="1"/>
          </p:cNvPicPr>
          <p:nvPr/>
        </p:nvPicPr>
        <p:blipFill>
          <a:blip r:embed="rId4"/>
          <a:stretch>
            <a:fillRect/>
          </a:stretch>
        </p:blipFill>
        <p:spPr>
          <a:xfrm>
            <a:off x="11158841" y="4564557"/>
            <a:ext cx="308877" cy="449275"/>
          </a:xfrm>
          <a:prstGeom prst="rect">
            <a:avLst/>
          </a:prstGeom>
        </p:spPr>
      </p:pic>
      <p:pic>
        <p:nvPicPr>
          <p:cNvPr id="33" name="Picture 32" descr="lock.png"/>
          <p:cNvPicPr>
            <a:picLocks noChangeAspect="1"/>
          </p:cNvPicPr>
          <p:nvPr/>
        </p:nvPicPr>
        <p:blipFill>
          <a:blip r:embed="rId4"/>
          <a:stretch>
            <a:fillRect/>
          </a:stretch>
        </p:blipFill>
        <p:spPr>
          <a:xfrm>
            <a:off x="10506879" y="6096035"/>
            <a:ext cx="308877" cy="449275"/>
          </a:xfrm>
          <a:prstGeom prst="rect">
            <a:avLst/>
          </a:prstGeom>
        </p:spPr>
      </p:pic>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Partial Dentures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Combination Framework Partial Den…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Cast Metal Partial Dentures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Partial Dentures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392_7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529_8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80_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467_2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5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232_5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431_1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4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219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302_7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3_3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05397" cy="186689"/>
          </a:xfrm>
          <a:prstGeom prst="rect">
            <a:avLst/>
          </a:prstGeom>
          <a:noFill/>
        </p:spPr>
        <p:txBody>
          <a:bodyPr wrap="none" lIns="0" rIns="0" tIns="0" bIns="0">
            <a:spAutoFit/>
          </a:bodyPr>
          <a:lstStyle/>
          <a:p>
            <a:r>
              <a:rPr sz="1100" b="0">
                <a:solidFill>
                  <a:srgbClr val="2E2E2E"/>
                </a:solidFill>
                <a:latin typeface="Calibri"/>
              </a:rPr>
              <a:t>▪ ¶ Among removable partial dentures by product</a:t>
            </a:r>
          </a:p>
        </p:txBody>
      </p:sp>
      <p:sp>
        <p:nvSpPr>
          <p:cNvPr id="81" name="TextBox 80"/>
          <p:cNvSpPr txBox="1"/>
          <p:nvPr/>
        </p:nvSpPr>
        <p:spPr>
          <a:xfrm>
            <a:off x="485775" y="4397077"/>
            <a:ext cx="2564060" cy="186689"/>
          </a:xfrm>
          <a:prstGeom prst="rect">
            <a:avLst/>
          </a:prstGeom>
          <a:noFill/>
        </p:spPr>
        <p:txBody>
          <a:bodyPr wrap="none" lIns="0" rIns="0" tIns="0" bIns="0">
            <a:spAutoFit/>
          </a:bodyPr>
          <a:lstStyle/>
          <a:p>
            <a:r>
              <a:rPr sz="1100" b="0">
                <a:solidFill>
                  <a:srgbClr val="2E2E2E"/>
                </a:solidFill>
                <a:latin typeface="Calibri"/>
              </a:rPr>
              <a:t>type, cast metal partial dentures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product type, the flexible partial dentures segment</a:t>
            </a:r>
          </a:p>
        </p:txBody>
      </p:sp>
      <p:sp>
        <p:nvSpPr>
          <p:cNvPr id="87" name="TextBox 86"/>
          <p:cNvSpPr txBox="1"/>
          <p:nvPr/>
        </p:nvSpPr>
        <p:spPr>
          <a:xfrm>
            <a:off x="485775" y="5067637"/>
            <a:ext cx="2507307" cy="186689"/>
          </a:xfrm>
          <a:prstGeom prst="rect">
            <a:avLst/>
          </a:prstGeom>
          <a:noFill/>
        </p:spPr>
        <p:txBody>
          <a:bodyPr wrap="none" lIns="0" rIns="0" tIns="0" bIns="0">
            <a:spAutoFit/>
          </a:bodyPr>
          <a:lstStyle/>
          <a:p>
            <a:r>
              <a:rPr sz="1100" b="0">
                <a:solidFill>
                  <a:srgbClr val="2E2E2E"/>
                </a:solidFill>
                <a:latin typeface="Calibri"/>
              </a:rPr>
              <a:t>is expected to dominate the market, losing</a:t>
            </a:r>
          </a:p>
        </p:txBody>
      </p:sp>
      <p:pic>
        <p:nvPicPr>
          <p:cNvPr id="88" name="Picture 87" descr="lock.png"/>
          <p:cNvPicPr>
            <a:picLocks noChangeAspect="1"/>
          </p:cNvPicPr>
          <p:nvPr/>
        </p:nvPicPr>
        <p:blipFill>
          <a:blip r:embed="rId16"/>
          <a:stretch>
            <a:fillRect/>
          </a:stretch>
        </p:blipFill>
        <p:spPr>
          <a:xfrm>
            <a:off x="2941134" y="5057858"/>
            <a:ext cx="128699" cy="187198"/>
          </a:xfrm>
          <a:prstGeom prst="rect">
            <a:avLst/>
          </a:prstGeom>
        </p:spPr>
      </p:pic>
      <p:sp>
        <p:nvSpPr>
          <p:cNvPr id="89" name="TextBox 88"/>
          <p:cNvSpPr txBox="1"/>
          <p:nvPr/>
        </p:nvSpPr>
        <p:spPr>
          <a:xfrm>
            <a:off x="485775"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90" name="Picture 89" descr="lock.png"/>
          <p:cNvPicPr>
            <a:picLocks noChangeAspect="1"/>
          </p:cNvPicPr>
          <p:nvPr/>
        </p:nvPicPr>
        <p:blipFill>
          <a:blip r:embed="rId16"/>
          <a:stretch>
            <a:fillRect/>
          </a:stretch>
        </p:blipFill>
        <p:spPr>
          <a:xfrm>
            <a:off x="1820259" y="5225498"/>
            <a:ext cx="128699" cy="187198"/>
          </a:xfrm>
          <a:prstGeom prst="rect">
            <a:avLst/>
          </a:prstGeom>
        </p:spPr>
      </p:pic>
      <p:sp>
        <p:nvSpPr>
          <p:cNvPr id="91" name="TextBox 90"/>
          <p:cNvSpPr txBox="1"/>
          <p:nvPr/>
        </p:nvSpPr>
        <p:spPr>
          <a:xfrm>
            <a:off x="1987755"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2" name="TextBox 91"/>
          <p:cNvSpPr txBox="1"/>
          <p:nvPr/>
        </p:nvSpPr>
        <p:spPr>
          <a:xfrm>
            <a:off x="485775" y="5453209"/>
            <a:ext cx="2866107" cy="186689"/>
          </a:xfrm>
          <a:prstGeom prst="rect">
            <a:avLst/>
          </a:prstGeom>
          <a:noFill/>
        </p:spPr>
        <p:txBody>
          <a:bodyPr wrap="none" lIns="0" rIns="0" tIns="0" bIns="0">
            <a:spAutoFit/>
          </a:bodyPr>
          <a:lstStyle/>
          <a:p>
            <a:r>
              <a:rPr sz="1100" b="0">
                <a:solidFill>
                  <a:srgbClr val="2E2E2E"/>
                </a:solidFill>
                <a:latin typeface="Calibri"/>
              </a:rPr>
              <a:t>▪ ¶ Flexible partial dentures segment is projected</a:t>
            </a:r>
          </a:p>
        </p:txBody>
      </p:sp>
      <p:sp>
        <p:nvSpPr>
          <p:cNvPr id="93" name="TextBox 92"/>
          <p:cNvSpPr txBox="1"/>
          <p:nvPr/>
        </p:nvSpPr>
        <p:spPr>
          <a:xfrm>
            <a:off x="485775" y="5620849"/>
            <a:ext cx="664740" cy="186689"/>
          </a:xfrm>
          <a:prstGeom prst="rect">
            <a:avLst/>
          </a:prstGeom>
          <a:noFill/>
        </p:spPr>
        <p:txBody>
          <a:bodyPr wrap="none" lIns="0" rIns="0" tIns="0" bIns="0">
            <a:spAutoFit/>
          </a:bodyPr>
          <a:lstStyle/>
          <a:p>
            <a:r>
              <a:rPr sz="1100" b="0">
                <a:solidFill>
                  <a:srgbClr val="2E2E2E"/>
                </a:solidFill>
                <a:latin typeface="Calibri"/>
              </a:rPr>
              <a:t>to register</a:t>
            </a:r>
          </a:p>
        </p:txBody>
      </p:sp>
      <p:pic>
        <p:nvPicPr>
          <p:cNvPr id="94" name="Picture 93" descr="lock.png"/>
          <p:cNvPicPr>
            <a:picLocks noChangeAspect="1"/>
          </p:cNvPicPr>
          <p:nvPr/>
        </p:nvPicPr>
        <p:blipFill>
          <a:blip r:embed="rId16"/>
          <a:stretch>
            <a:fillRect/>
          </a:stretch>
        </p:blipFill>
        <p:spPr>
          <a:xfrm>
            <a:off x="1098567" y="5611070"/>
            <a:ext cx="128699" cy="187198"/>
          </a:xfrm>
          <a:prstGeom prst="rect">
            <a:avLst/>
          </a:prstGeom>
        </p:spPr>
      </p:pic>
      <p:sp>
        <p:nvSpPr>
          <p:cNvPr id="95" name="TextBox 94"/>
          <p:cNvSpPr txBox="1"/>
          <p:nvPr/>
        </p:nvSpPr>
        <p:spPr>
          <a:xfrm>
            <a:off x="1266063" y="5620849"/>
            <a:ext cx="1920676" cy="186689"/>
          </a:xfrm>
          <a:prstGeom prst="rect">
            <a:avLst/>
          </a:prstGeom>
          <a:noFill/>
        </p:spPr>
        <p:txBody>
          <a:bodyPr wrap="none" lIns="0" rIns="0" tIns="0" bIns="0">
            <a:spAutoFit/>
          </a:bodyPr>
          <a:lstStyle/>
          <a:p>
            <a:r>
              <a:rPr sz="1100" b="0">
                <a:solidFill>
                  <a:srgbClr val="2E2E2E"/>
                </a:solidFill>
                <a:latin typeface="Calibri"/>
              </a:rPr>
              <a:t>X higher value than combination</a:t>
            </a:r>
          </a:p>
        </p:txBody>
      </p:sp>
      <p:sp>
        <p:nvSpPr>
          <p:cNvPr id="96" name="TextBox 95"/>
          <p:cNvSpPr txBox="1"/>
          <p:nvPr/>
        </p:nvSpPr>
        <p:spPr>
          <a:xfrm>
            <a:off x="485775" y="5788489"/>
            <a:ext cx="2652737" cy="186689"/>
          </a:xfrm>
          <a:prstGeom prst="rect">
            <a:avLst/>
          </a:prstGeom>
          <a:noFill/>
        </p:spPr>
        <p:txBody>
          <a:bodyPr wrap="none" lIns="0" rIns="0" tIns="0" bIns="0">
            <a:spAutoFit/>
          </a:bodyPr>
          <a:lstStyle/>
          <a:p>
            <a:r>
              <a:rPr sz="1100" b="0">
                <a:solidFill>
                  <a:srgbClr val="2E2E2E"/>
                </a:solidFill>
                <a:latin typeface="Calibri"/>
              </a:rPr>
              <a:t>framework partial dentures segment in 2036.</a:t>
            </a:r>
          </a:p>
        </p:txBody>
      </p:sp>
      <p:sp>
        <p:nvSpPr>
          <p:cNvPr id="97" name="TextBox 96"/>
          <p:cNvSpPr txBox="1"/>
          <p:nvPr/>
        </p:nvSpPr>
        <p:spPr>
          <a:xfrm>
            <a:off x="3838575" y="4229437"/>
            <a:ext cx="1615082" cy="186689"/>
          </a:xfrm>
          <a:prstGeom prst="rect">
            <a:avLst/>
          </a:prstGeom>
          <a:noFill/>
        </p:spPr>
        <p:txBody>
          <a:bodyPr wrap="none" lIns="0" rIns="0" tIns="0" bIns="0">
            <a:spAutoFit/>
          </a:bodyPr>
          <a:lstStyle/>
          <a:p>
            <a:r>
              <a:rPr sz="1100" b="0">
                <a:solidFill>
                  <a:srgbClr val="2E2E2E"/>
                </a:solidFill>
                <a:latin typeface="Calibri"/>
              </a:rPr>
              <a:t>● Flexible Partial Dentures:</a:t>
            </a:r>
          </a:p>
        </p:txBody>
      </p:sp>
      <p:pic>
        <p:nvPicPr>
          <p:cNvPr id="98" name="Picture 97" descr="lock.png"/>
          <p:cNvPicPr>
            <a:picLocks noChangeAspect="1"/>
          </p:cNvPicPr>
          <p:nvPr/>
        </p:nvPicPr>
        <p:blipFill>
          <a:blip r:embed="rId16"/>
          <a:stretch>
            <a:fillRect/>
          </a:stretch>
        </p:blipFill>
        <p:spPr>
          <a:xfrm>
            <a:off x="5401709" y="4219658"/>
            <a:ext cx="128699" cy="187198"/>
          </a:xfrm>
          <a:prstGeom prst="rect">
            <a:avLst/>
          </a:prstGeom>
        </p:spPr>
      </p:pic>
      <p:sp>
        <p:nvSpPr>
          <p:cNvPr id="99" name="TextBox 98"/>
          <p:cNvSpPr txBox="1"/>
          <p:nvPr/>
        </p:nvSpPr>
        <p:spPr>
          <a:xfrm>
            <a:off x="556920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6428655" y="4219658"/>
            <a:ext cx="128699" cy="187198"/>
          </a:xfrm>
          <a:prstGeom prst="rect">
            <a:avLst/>
          </a:prstGeom>
        </p:spPr>
      </p:pic>
      <p:sp>
        <p:nvSpPr>
          <p:cNvPr id="101" name="TextBox 100"/>
          <p:cNvSpPr txBox="1"/>
          <p:nvPr/>
        </p:nvSpPr>
        <p:spPr>
          <a:xfrm>
            <a:off x="6596151"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02" name="TextBox 10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03" name="TextBox 102"/>
          <p:cNvSpPr txBox="1"/>
          <p:nvPr/>
        </p:nvSpPr>
        <p:spPr>
          <a:xfrm>
            <a:off x="3838575" y="4615009"/>
            <a:ext cx="2591618" cy="186689"/>
          </a:xfrm>
          <a:prstGeom prst="rect">
            <a:avLst/>
          </a:prstGeom>
          <a:noFill/>
        </p:spPr>
        <p:txBody>
          <a:bodyPr wrap="none" lIns="0" rIns="0" tIns="0" bIns="0">
            <a:spAutoFit/>
          </a:bodyPr>
          <a:lstStyle/>
          <a:p>
            <a:r>
              <a:rPr sz="1100" b="0">
                <a:solidFill>
                  <a:srgbClr val="2E2E2E"/>
                </a:solidFill>
                <a:latin typeface="Calibri"/>
              </a:rPr>
              <a:t>● Combination Framework Partial Dentures:</a:t>
            </a:r>
          </a:p>
        </p:txBody>
      </p:sp>
      <p:pic>
        <p:nvPicPr>
          <p:cNvPr id="104" name="Picture 103" descr="lock.png"/>
          <p:cNvPicPr>
            <a:picLocks noChangeAspect="1"/>
          </p:cNvPicPr>
          <p:nvPr/>
        </p:nvPicPr>
        <p:blipFill>
          <a:blip r:embed="rId16"/>
          <a:stretch>
            <a:fillRect/>
          </a:stretch>
        </p:blipFill>
        <p:spPr>
          <a:xfrm>
            <a:off x="6378245" y="4605230"/>
            <a:ext cx="128699" cy="187198"/>
          </a:xfrm>
          <a:prstGeom prst="rect">
            <a:avLst/>
          </a:prstGeom>
        </p:spPr>
      </p:pic>
      <p:sp>
        <p:nvSpPr>
          <p:cNvPr id="105" name="TextBox 104"/>
          <p:cNvSpPr txBox="1"/>
          <p:nvPr/>
        </p:nvSpPr>
        <p:spPr>
          <a:xfrm>
            <a:off x="654574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405191" y="4605230"/>
            <a:ext cx="128699" cy="187198"/>
          </a:xfrm>
          <a:prstGeom prst="rect">
            <a:avLst/>
          </a:prstGeom>
        </p:spPr>
      </p:pic>
      <p:sp>
        <p:nvSpPr>
          <p:cNvPr id="107" name="TextBox 106"/>
          <p:cNvSpPr txBox="1"/>
          <p:nvPr/>
        </p:nvSpPr>
        <p:spPr>
          <a:xfrm>
            <a:off x="3838575" y="478264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5000581"/>
            <a:ext cx="1790799" cy="186689"/>
          </a:xfrm>
          <a:prstGeom prst="rect">
            <a:avLst/>
          </a:prstGeom>
          <a:noFill/>
        </p:spPr>
        <p:txBody>
          <a:bodyPr wrap="none" lIns="0" rIns="0" tIns="0" bIns="0">
            <a:spAutoFit/>
          </a:bodyPr>
          <a:lstStyle/>
          <a:p>
            <a:r>
              <a:rPr sz="1100" b="0">
                <a:solidFill>
                  <a:srgbClr val="2E2E2E"/>
                </a:solidFill>
                <a:latin typeface="Calibri"/>
              </a:rPr>
              <a:t>● Cast Metal Partial Dentures:</a:t>
            </a:r>
          </a:p>
        </p:txBody>
      </p:sp>
      <p:pic>
        <p:nvPicPr>
          <p:cNvPr id="109" name="Picture 108" descr="lock.png"/>
          <p:cNvPicPr>
            <a:picLocks noChangeAspect="1"/>
          </p:cNvPicPr>
          <p:nvPr/>
        </p:nvPicPr>
        <p:blipFill>
          <a:blip r:embed="rId16"/>
          <a:stretch>
            <a:fillRect/>
          </a:stretch>
        </p:blipFill>
        <p:spPr>
          <a:xfrm>
            <a:off x="5577425" y="4990801"/>
            <a:ext cx="128699" cy="187198"/>
          </a:xfrm>
          <a:prstGeom prst="rect">
            <a:avLst/>
          </a:prstGeom>
        </p:spPr>
      </p:pic>
      <p:sp>
        <p:nvSpPr>
          <p:cNvPr id="110" name="TextBox 109"/>
          <p:cNvSpPr txBox="1"/>
          <p:nvPr/>
        </p:nvSpPr>
        <p:spPr>
          <a:xfrm>
            <a:off x="5744921"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6604371" y="4990801"/>
            <a:ext cx="128699" cy="187198"/>
          </a:xfrm>
          <a:prstGeom prst="rect">
            <a:avLst/>
          </a:prstGeom>
        </p:spPr>
      </p:pic>
      <p:sp>
        <p:nvSpPr>
          <p:cNvPr id="112" name="TextBox 111"/>
          <p:cNvSpPr txBox="1"/>
          <p:nvPr/>
        </p:nvSpPr>
        <p:spPr>
          <a:xfrm>
            <a:off x="6771867" y="5000581"/>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3" name="TextBox 112"/>
          <p:cNvSpPr txBox="1"/>
          <p:nvPr/>
        </p:nvSpPr>
        <p:spPr>
          <a:xfrm>
            <a:off x="3838575" y="5168221"/>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4" name="TextBox 113"/>
          <p:cNvSpPr txBox="1"/>
          <p:nvPr/>
        </p:nvSpPr>
        <p:spPr>
          <a:xfrm>
            <a:off x="3838575" y="5386153"/>
            <a:ext cx="1556965" cy="186689"/>
          </a:xfrm>
          <a:prstGeom prst="rect">
            <a:avLst/>
          </a:prstGeom>
          <a:noFill/>
        </p:spPr>
        <p:txBody>
          <a:bodyPr wrap="none" lIns="0" rIns="0" tIns="0" bIns="0">
            <a:spAutoFit/>
          </a:bodyPr>
          <a:lstStyle/>
          <a:p>
            <a:r>
              <a:rPr sz="1100" b="0">
                <a:solidFill>
                  <a:srgbClr val="2E2E2E"/>
                </a:solidFill>
                <a:latin typeface="Calibri"/>
              </a:rPr>
              <a:t>● Acrylic Partial Dentures:</a:t>
            </a:r>
          </a:p>
        </p:txBody>
      </p:sp>
      <p:pic>
        <p:nvPicPr>
          <p:cNvPr id="115" name="Picture 114" descr="lock.png"/>
          <p:cNvPicPr>
            <a:picLocks noChangeAspect="1"/>
          </p:cNvPicPr>
          <p:nvPr/>
        </p:nvPicPr>
        <p:blipFill>
          <a:blip r:embed="rId16"/>
          <a:stretch>
            <a:fillRect/>
          </a:stretch>
        </p:blipFill>
        <p:spPr>
          <a:xfrm>
            <a:off x="5343592" y="5376373"/>
            <a:ext cx="128699" cy="187198"/>
          </a:xfrm>
          <a:prstGeom prst="rect">
            <a:avLst/>
          </a:prstGeom>
        </p:spPr>
      </p:pic>
      <p:sp>
        <p:nvSpPr>
          <p:cNvPr id="116" name="TextBox 115"/>
          <p:cNvSpPr txBox="1"/>
          <p:nvPr/>
        </p:nvSpPr>
        <p:spPr>
          <a:xfrm>
            <a:off x="5511087" y="538615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7" name="Picture 116" descr="lock.png"/>
          <p:cNvPicPr>
            <a:picLocks noChangeAspect="1"/>
          </p:cNvPicPr>
          <p:nvPr/>
        </p:nvPicPr>
        <p:blipFill>
          <a:blip r:embed="rId16"/>
          <a:stretch>
            <a:fillRect/>
          </a:stretch>
        </p:blipFill>
        <p:spPr>
          <a:xfrm>
            <a:off x="6370538" y="5376373"/>
            <a:ext cx="128699" cy="187198"/>
          </a:xfrm>
          <a:prstGeom prst="rect">
            <a:avLst/>
          </a:prstGeom>
        </p:spPr>
      </p:pic>
      <p:sp>
        <p:nvSpPr>
          <p:cNvPr id="118" name="TextBox 117"/>
          <p:cNvSpPr txBox="1"/>
          <p:nvPr/>
        </p:nvSpPr>
        <p:spPr>
          <a:xfrm>
            <a:off x="6538033" y="538615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Cast metal partial dentures followed by combination framework partial dentures are expected to be the two most attractive product type segments in the global removable partial dentures market in terms</a:t>
            </a:r>
          </a:p>
        </p:txBody>
      </p:sp>
      <p:sp>
        <p:nvSpPr>
          <p:cNvPr id="21" name="TextBox 20"/>
          <p:cNvSpPr txBox="1"/>
          <p:nvPr/>
        </p:nvSpPr>
        <p:spPr>
          <a:xfrm>
            <a:off x="257175" y="5861685"/>
            <a:ext cx="7491469" cy="186689"/>
          </a:xfrm>
          <a:prstGeom prst="rect">
            <a:avLst/>
          </a:prstGeom>
          <a:noFill/>
        </p:spPr>
        <p:txBody>
          <a:bodyPr wrap="none" lIns="0" rIns="0" tIns="0" bIns="0">
            <a:spAutoFit/>
          </a:bodyPr>
          <a:lstStyle/>
          <a:p>
            <a:r>
              <a:rPr sz="1100" b="0">
                <a:solidFill>
                  <a:srgbClr val="2E2E2E"/>
                </a:solidFill>
                <a:latin typeface="Calibri"/>
              </a:rPr>
              <a:t>of value over the forecast period. Cast metal partial dentures and combination framework partial dentures exhibit a CAGR index of</a:t>
            </a:r>
          </a:p>
        </p:txBody>
      </p:sp>
      <p:pic>
        <p:nvPicPr>
          <p:cNvPr id="22" name="Picture 21" descr="lock.png"/>
          <p:cNvPicPr>
            <a:picLocks noChangeAspect="1"/>
          </p:cNvPicPr>
          <p:nvPr/>
        </p:nvPicPr>
        <p:blipFill>
          <a:blip r:embed="rId6"/>
          <a:stretch>
            <a:fillRect/>
          </a:stretch>
        </p:blipFill>
        <p:spPr>
          <a:xfrm>
            <a:off x="7696696" y="5851905"/>
            <a:ext cx="128699" cy="187198"/>
          </a:xfrm>
          <a:prstGeom prst="rect">
            <a:avLst/>
          </a:prstGeom>
        </p:spPr>
      </p:pic>
      <p:sp>
        <p:nvSpPr>
          <p:cNvPr id="23" name="TextBox 22"/>
          <p:cNvSpPr txBox="1"/>
          <p:nvPr/>
        </p:nvSpPr>
        <p:spPr>
          <a:xfrm>
            <a:off x="786419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102086" y="5851905"/>
            <a:ext cx="128699" cy="187198"/>
          </a:xfrm>
          <a:prstGeom prst="rect">
            <a:avLst/>
          </a:prstGeom>
        </p:spPr>
      </p:pic>
      <p:sp>
        <p:nvSpPr>
          <p:cNvPr id="25" name="TextBox 24"/>
          <p:cNvSpPr txBox="1"/>
          <p:nvPr/>
        </p:nvSpPr>
        <p:spPr>
          <a:xfrm>
            <a:off x="826958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9878555" y="5851905"/>
            <a:ext cx="128699" cy="187198"/>
          </a:xfrm>
          <a:prstGeom prst="rect">
            <a:avLst/>
          </a:prstGeom>
        </p:spPr>
      </p:pic>
      <p:sp>
        <p:nvSpPr>
          <p:cNvPr id="27" name="TextBox 26"/>
          <p:cNvSpPr txBox="1"/>
          <p:nvPr/>
        </p:nvSpPr>
        <p:spPr>
          <a:xfrm>
            <a:off x="1004605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0283946" y="5851905"/>
            <a:ext cx="128699" cy="187198"/>
          </a:xfrm>
          <a:prstGeom prst="rect">
            <a:avLst/>
          </a:prstGeom>
        </p:spPr>
      </p:pic>
      <p:sp>
        <p:nvSpPr>
          <p:cNvPr id="29" name="TextBox 28"/>
          <p:cNvSpPr txBox="1"/>
          <p:nvPr/>
        </p:nvSpPr>
        <p:spPr>
          <a:xfrm>
            <a:off x="10451441" y="5861685"/>
            <a:ext cx="793526"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30" name="TextBox 29"/>
          <p:cNvSpPr txBox="1"/>
          <p:nvPr/>
        </p:nvSpPr>
        <p:spPr>
          <a:xfrm>
            <a:off x="257175" y="6029325"/>
            <a:ext cx="1857375" cy="186689"/>
          </a:xfrm>
          <a:prstGeom prst="rect">
            <a:avLst/>
          </a:prstGeom>
          <a:noFill/>
        </p:spPr>
        <p:txBody>
          <a:bodyPr wrap="none" lIns="0" rIns="0" tIns="0" bIns="0">
            <a:spAutoFit/>
          </a:bodyPr>
          <a:lstStyle/>
          <a:p>
            <a:r>
              <a:rPr sz="1100" b="0">
                <a:solidFill>
                  <a:srgbClr val="2E2E2E"/>
                </a:solidFill>
                <a:latin typeface="Calibri"/>
              </a:rPr>
              <a:t>against the segment average of</a:t>
            </a:r>
          </a:p>
        </p:txBody>
      </p:sp>
      <p:pic>
        <p:nvPicPr>
          <p:cNvPr id="31" name="Picture 30" descr="lock.png"/>
          <p:cNvPicPr>
            <a:picLocks noChangeAspect="1"/>
          </p:cNvPicPr>
          <p:nvPr/>
        </p:nvPicPr>
        <p:blipFill>
          <a:blip r:embed="rId6"/>
          <a:stretch>
            <a:fillRect/>
          </a:stretch>
        </p:blipFill>
        <p:spPr>
          <a:xfrm>
            <a:off x="2062601" y="6019545"/>
            <a:ext cx="128699" cy="187198"/>
          </a:xfrm>
          <a:prstGeom prst="rect">
            <a:avLst/>
          </a:prstGeom>
        </p:spPr>
      </p:pic>
      <p:sp>
        <p:nvSpPr>
          <p:cNvPr id="32" name="TextBox 31"/>
          <p:cNvSpPr txBox="1"/>
          <p:nvPr/>
        </p:nvSpPr>
        <p:spPr>
          <a:xfrm>
            <a:off x="2230097" y="6029325"/>
            <a:ext cx="9668279" cy="186689"/>
          </a:xfrm>
          <a:prstGeom prst="rect">
            <a:avLst/>
          </a:prstGeom>
          <a:noFill/>
        </p:spPr>
        <p:txBody>
          <a:bodyPr wrap="none" lIns="0" rIns="0" tIns="0" bIns="0">
            <a:spAutoFit/>
          </a:bodyPr>
          <a:lstStyle/>
          <a:p>
            <a:r>
              <a:rPr sz="1100" b="0">
                <a:solidFill>
                  <a:srgbClr val="2E2E2E"/>
                </a:solidFill>
                <a:latin typeface="Calibri"/>
              </a:rPr>
              <a:t>. The acrylic partial dentures segment is expected to be less attractive as compared to other segments over the forecast period, owing to its lower CAGR and incremental</a:t>
            </a:r>
          </a:p>
        </p:txBody>
      </p:sp>
      <p:sp>
        <p:nvSpPr>
          <p:cNvPr id="33" name="TextBox 32"/>
          <p:cNvSpPr txBox="1"/>
          <p:nvPr/>
        </p:nvSpPr>
        <p:spPr>
          <a:xfrm>
            <a:off x="257175" y="6196965"/>
            <a:ext cx="5122845" cy="186689"/>
          </a:xfrm>
          <a:prstGeom prst="rect">
            <a:avLst/>
          </a:prstGeom>
          <a:noFill/>
        </p:spPr>
        <p:txBody>
          <a:bodyPr wrap="none" lIns="0" rIns="0" tIns="0" bIns="0">
            <a:spAutoFit/>
          </a:bodyPr>
          <a:lstStyle/>
          <a:p>
            <a:r>
              <a:rPr sz="1100" b="0">
                <a:solidFill>
                  <a:srgbClr val="2E2E2E"/>
                </a:solidFill>
                <a:latin typeface="Calibri"/>
              </a:rPr>
              <a:t>opportunity. Bubbles right 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Cast Metal Partial Dentures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Acrylic Partial Dentures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Flexible Partial Dentures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Combination Framework Partial Dentures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Product Type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Product Type (Units)</a:t>
            </a:r>
          </a:p>
        </p:txBody>
      </p:sp>
      <p:graphicFrame>
        <p:nvGraphicFramePr>
          <p:cNvPr id="13" name="Table 12"/>
          <p:cNvGraphicFramePr>
            <a:graphicFrameLocks noGrp="1"/>
          </p:cNvGraphicFramePr>
          <p:nvPr/>
        </p:nvGraphicFramePr>
        <p:xfrm>
          <a:off x="152400" y="1238250"/>
          <a:ext cx="11887208" cy="2638427"/>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Product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903">
                <a:tc>
                  <a:txBody>
                    <a:bodyPr wrap="none"/>
                    <a:lstStyle/>
                    <a:p>
                      <a:pPr algn="l"/>
                      <a:r>
                        <a:rPr sz="1100" b="1">
                          <a:solidFill>
                            <a:srgbClr val="2E2E2E"/>
                          </a:solidFill>
                          <a:latin typeface="Calibri"/>
                        </a:rPr>
                        <a:t>Cast Metal Partial</a:t>
                      </a:r>
                      <a:endParaRPr sz="1100"/>
                    </a:p>
                    <a:p>
                      <a:pPr algn="l"/>
                      <a:r>
                        <a:rPr sz="1100" b="1">
                          <a:solidFill>
                            <a:srgbClr val="2E2E2E"/>
                          </a:solidFill>
                          <a:latin typeface="Calibri"/>
                        </a:rPr>
                        <a:t>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903">
                <a:tc>
                  <a:txBody>
                    <a:bodyPr wrap="none"/>
                    <a:lstStyle/>
                    <a:p>
                      <a:pPr algn="l"/>
                      <a:r>
                        <a:rPr sz="1100" b="1">
                          <a:solidFill>
                            <a:srgbClr val="2E2E2E"/>
                          </a:solidFill>
                          <a:latin typeface="Calibri"/>
                        </a:rPr>
                        <a:t>Acrylic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903">
                <a:tc>
                  <a:txBody>
                    <a:bodyPr wrap="none"/>
                    <a:lstStyle/>
                    <a:p>
                      <a:pPr algn="l"/>
                      <a:r>
                        <a:rPr sz="1100" b="1">
                          <a:solidFill>
                            <a:srgbClr val="2E2E2E"/>
                          </a:solidFill>
                          <a:latin typeface="Calibri"/>
                        </a:rPr>
                        <a:t>Flexible Partial</a:t>
                      </a:r>
                      <a:endParaRPr sz="1100"/>
                    </a:p>
                    <a:p>
                      <a:pPr algn="l"/>
                      <a:r>
                        <a:rPr sz="1100" b="1">
                          <a:solidFill>
                            <a:srgbClr val="2E2E2E"/>
                          </a:solidFill>
                          <a:latin typeface="Calibri"/>
                        </a:rPr>
                        <a:t>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689">
                <a:tc>
                  <a:txBody>
                    <a:bodyPr wrap="none"/>
                    <a:lstStyle/>
                    <a:p>
                      <a:pPr algn="l"/>
                      <a:r>
                        <a:rPr sz="1100" b="1">
                          <a:solidFill>
                            <a:srgbClr val="2E2E2E"/>
                          </a:solidFill>
                          <a:latin typeface="Calibri"/>
                        </a:rPr>
                        <a:t>Combination</a:t>
                      </a:r>
                      <a:endParaRPr sz="1100"/>
                    </a:p>
                    <a:p>
                      <a:pPr algn="l"/>
                      <a:r>
                        <a:rPr sz="1100" b="1">
                          <a:solidFill>
                            <a:srgbClr val="2E2E2E"/>
                          </a:solidFill>
                          <a:latin typeface="Calibri"/>
                        </a:rPr>
                        <a:t>Framework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1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86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195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053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Product Type</a:t>
            </a:r>
          </a:p>
        </p:txBody>
      </p:sp>
      <p:sp>
        <p:nvSpPr>
          <p:cNvPr id="17" name="Rectangle 16"/>
          <p:cNvSpPr/>
          <p:nvPr/>
        </p:nvSpPr>
        <p:spPr>
          <a:xfrm>
            <a:off x="276225" y="4543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29150"/>
            <a:ext cx="11639550" cy="1924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510219"/>
            <a:ext cx="366712" cy="533400"/>
          </a:xfrm>
          <a:prstGeom prst="rect">
            <a:avLst/>
          </a:prstGeom>
        </p:spPr>
      </p:pic>
      <p:sp>
        <p:nvSpPr>
          <p:cNvPr id="21" name="TextBox 20"/>
          <p:cNvSpPr txBox="1"/>
          <p:nvPr/>
        </p:nvSpPr>
        <p:spPr>
          <a:xfrm>
            <a:off x="276225" y="4638675"/>
            <a:ext cx="4436305" cy="194310"/>
          </a:xfrm>
          <a:prstGeom prst="rect">
            <a:avLst/>
          </a:prstGeom>
          <a:noFill/>
        </p:spPr>
        <p:txBody>
          <a:bodyPr wrap="none" lIns="0" rIns="0" tIns="0" bIns="0">
            <a:spAutoFit/>
          </a:bodyPr>
          <a:lstStyle/>
          <a:p>
            <a:r>
              <a:rPr sz="1150" b="0">
                <a:solidFill>
                  <a:srgbClr val="2E2E2E"/>
                </a:solidFill>
                <a:latin typeface="Calibri"/>
              </a:rPr>
              <a:t>Combination framework partial dentures segment is projected to register</a:t>
            </a:r>
          </a:p>
        </p:txBody>
      </p:sp>
      <p:pic>
        <p:nvPicPr>
          <p:cNvPr id="22" name="Picture 21" descr="lock.png"/>
          <p:cNvPicPr>
            <a:picLocks noChangeAspect="1"/>
          </p:cNvPicPr>
          <p:nvPr/>
        </p:nvPicPr>
        <p:blipFill>
          <a:blip r:embed="rId4"/>
          <a:stretch>
            <a:fillRect/>
          </a:stretch>
        </p:blipFill>
        <p:spPr>
          <a:xfrm>
            <a:off x="4661684" y="4628451"/>
            <a:ext cx="134549" cy="195707"/>
          </a:xfrm>
          <a:prstGeom prst="rect">
            <a:avLst/>
          </a:prstGeom>
        </p:spPr>
      </p:pic>
      <p:sp>
        <p:nvSpPr>
          <p:cNvPr id="23" name="TextBox 22"/>
          <p:cNvSpPr txBox="1"/>
          <p:nvPr/>
        </p:nvSpPr>
        <p:spPr>
          <a:xfrm>
            <a:off x="4836794" y="4638675"/>
            <a:ext cx="6819602" cy="194310"/>
          </a:xfrm>
          <a:prstGeom prst="rect">
            <a:avLst/>
          </a:prstGeom>
          <a:noFill/>
        </p:spPr>
        <p:txBody>
          <a:bodyPr wrap="none" lIns="0" rIns="0" tIns="0" bIns="0">
            <a:spAutoFit/>
          </a:bodyPr>
          <a:lstStyle/>
          <a:p>
            <a:r>
              <a:rPr sz="1150" b="0">
                <a:solidFill>
                  <a:srgbClr val="2E2E2E"/>
                </a:solidFill>
                <a:latin typeface="Calibri"/>
              </a:rPr>
              <a:t>X higher volume than cast metal partial dentures segment in 2036. Among removable partial dentures by product</a:t>
            </a:r>
          </a:p>
        </p:txBody>
      </p:sp>
      <p:sp>
        <p:nvSpPr>
          <p:cNvPr id="24" name="TextBox 23"/>
          <p:cNvSpPr txBox="1"/>
          <p:nvPr/>
        </p:nvSpPr>
        <p:spPr>
          <a:xfrm>
            <a:off x="276225" y="4813935"/>
            <a:ext cx="5120041" cy="194310"/>
          </a:xfrm>
          <a:prstGeom prst="rect">
            <a:avLst/>
          </a:prstGeom>
          <a:noFill/>
        </p:spPr>
        <p:txBody>
          <a:bodyPr wrap="none" lIns="0" rIns="0" tIns="0" bIns="0">
            <a:spAutoFit/>
          </a:bodyPr>
          <a:lstStyle/>
          <a:p>
            <a:r>
              <a:rPr sz="1150" b="0">
                <a:solidFill>
                  <a:srgbClr val="2E2E2E"/>
                </a:solidFill>
                <a:latin typeface="Calibri"/>
              </a:rPr>
              <a:t>type, 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345420" y="4803711"/>
            <a:ext cx="134549" cy="195707"/>
          </a:xfrm>
          <a:prstGeom prst="rect">
            <a:avLst/>
          </a:prstGeom>
        </p:spPr>
      </p:pic>
      <p:sp>
        <p:nvSpPr>
          <p:cNvPr id="26" name="TextBox 25"/>
          <p:cNvSpPr txBox="1"/>
          <p:nvPr/>
        </p:nvSpPr>
        <p:spPr>
          <a:xfrm>
            <a:off x="5520529" y="48139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041772"/>
            <a:ext cx="8459527" cy="194310"/>
          </a:xfrm>
          <a:prstGeom prst="rect">
            <a:avLst/>
          </a:prstGeom>
          <a:noFill/>
        </p:spPr>
        <p:txBody>
          <a:bodyPr wrap="none" lIns="0" rIns="0" tIns="0" bIns="0">
            <a:spAutoFit/>
          </a:bodyPr>
          <a:lstStyle/>
          <a:p>
            <a:r>
              <a:rPr sz="1150" b="0">
                <a:solidFill>
                  <a:srgbClr val="2E2E2E"/>
                </a:solidFill>
                <a:latin typeface="Calibri"/>
              </a:rPr>
              <a:t>In terms of volume share by product type, the combination framework partial dentures segment is expected to dominate the market, gaining</a:t>
            </a:r>
          </a:p>
        </p:txBody>
      </p:sp>
      <p:pic>
        <p:nvPicPr>
          <p:cNvPr id="28" name="Picture 27" descr="lock.png"/>
          <p:cNvPicPr>
            <a:picLocks noChangeAspect="1"/>
          </p:cNvPicPr>
          <p:nvPr/>
        </p:nvPicPr>
        <p:blipFill>
          <a:blip r:embed="rId4"/>
          <a:stretch>
            <a:fillRect/>
          </a:stretch>
        </p:blipFill>
        <p:spPr>
          <a:xfrm>
            <a:off x="8684905" y="5031549"/>
            <a:ext cx="134549" cy="195707"/>
          </a:xfrm>
          <a:prstGeom prst="rect">
            <a:avLst/>
          </a:prstGeom>
        </p:spPr>
      </p:pic>
      <p:sp>
        <p:nvSpPr>
          <p:cNvPr id="29" name="TextBox 28"/>
          <p:cNvSpPr txBox="1"/>
          <p:nvPr/>
        </p:nvSpPr>
        <p:spPr>
          <a:xfrm>
            <a:off x="8860015" y="50417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10255158" y="5031549"/>
            <a:ext cx="134549" cy="195707"/>
          </a:xfrm>
          <a:prstGeom prst="rect">
            <a:avLst/>
          </a:prstGeom>
        </p:spPr>
      </p:pic>
      <p:sp>
        <p:nvSpPr>
          <p:cNvPr id="31" name="TextBox 30"/>
          <p:cNvSpPr txBox="1"/>
          <p:nvPr/>
        </p:nvSpPr>
        <p:spPr>
          <a:xfrm>
            <a:off x="10430267" y="50417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5217032"/>
            <a:ext cx="3172631"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lose</a:t>
            </a:r>
          </a:p>
        </p:txBody>
      </p:sp>
      <p:pic>
        <p:nvPicPr>
          <p:cNvPr id="33" name="Picture 32" descr="lock.png"/>
          <p:cNvPicPr>
            <a:picLocks noChangeAspect="1"/>
          </p:cNvPicPr>
          <p:nvPr/>
        </p:nvPicPr>
        <p:blipFill>
          <a:blip r:embed="rId4"/>
          <a:stretch>
            <a:fillRect/>
          </a:stretch>
        </p:blipFill>
        <p:spPr>
          <a:xfrm>
            <a:off x="3398010" y="5206809"/>
            <a:ext cx="134549" cy="195707"/>
          </a:xfrm>
          <a:prstGeom prst="rect">
            <a:avLst/>
          </a:prstGeom>
        </p:spPr>
      </p:pic>
      <p:sp>
        <p:nvSpPr>
          <p:cNvPr id="34" name="TextBox 33"/>
          <p:cNvSpPr txBox="1"/>
          <p:nvPr/>
        </p:nvSpPr>
        <p:spPr>
          <a:xfrm>
            <a:off x="3573119" y="52170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160623" y="5206809"/>
            <a:ext cx="134549" cy="195707"/>
          </a:xfrm>
          <a:prstGeom prst="rect">
            <a:avLst/>
          </a:prstGeom>
        </p:spPr>
      </p:pic>
      <p:sp>
        <p:nvSpPr>
          <p:cNvPr id="36" name="TextBox 35"/>
          <p:cNvSpPr txBox="1"/>
          <p:nvPr/>
        </p:nvSpPr>
        <p:spPr>
          <a:xfrm>
            <a:off x="6335733" y="52170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Type (US$ Mn)</a:t>
            </a:r>
          </a:p>
        </p:txBody>
      </p:sp>
      <p:graphicFrame>
        <p:nvGraphicFramePr>
          <p:cNvPr id="13" name="Table 12"/>
          <p:cNvGraphicFramePr>
            <a:graphicFrameLocks noGrp="1"/>
          </p:cNvGraphicFramePr>
          <p:nvPr/>
        </p:nvGraphicFramePr>
        <p:xfrm>
          <a:off x="152400" y="1238250"/>
          <a:ext cx="11887203" cy="1485896"/>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Type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53373" y="1837563"/>
            <a:ext cx="366712" cy="533400"/>
          </a:xfrm>
          <a:prstGeom prst="rect">
            <a:avLst/>
          </a:prstGeom>
        </p:spPr>
      </p:pic>
      <p:sp>
        <p:nvSpPr>
          <p:cNvPr id="21" name="TextBox 20"/>
          <p:cNvSpPr txBox="1"/>
          <p:nvPr/>
        </p:nvSpPr>
        <p:spPr>
          <a:xfrm>
            <a:off x="276225" y="3486150"/>
            <a:ext cx="3437917" cy="194310"/>
          </a:xfrm>
          <a:prstGeom prst="rect">
            <a:avLst/>
          </a:prstGeom>
          <a:noFill/>
        </p:spPr>
        <p:txBody>
          <a:bodyPr wrap="none" lIns="0" rIns="0" tIns="0" bIns="0">
            <a:spAutoFit/>
          </a:bodyPr>
          <a:lstStyle/>
          <a:p>
            <a:r>
              <a:rPr sz="1150" b="0">
                <a:solidFill>
                  <a:srgbClr val="2E2E2E"/>
                </a:solidFill>
                <a:latin typeface="Calibri"/>
              </a:rPr>
              <a:t>Flexible partial dentures segment is projected to register</a:t>
            </a:r>
          </a:p>
        </p:txBody>
      </p:sp>
      <p:pic>
        <p:nvPicPr>
          <p:cNvPr id="22" name="Picture 21" descr="lock.png"/>
          <p:cNvPicPr>
            <a:picLocks noChangeAspect="1"/>
          </p:cNvPicPr>
          <p:nvPr/>
        </p:nvPicPr>
        <p:blipFill>
          <a:blip r:embed="rId4"/>
          <a:stretch>
            <a:fillRect/>
          </a:stretch>
        </p:blipFill>
        <p:spPr>
          <a:xfrm>
            <a:off x="3663296" y="3475926"/>
            <a:ext cx="134549" cy="195707"/>
          </a:xfrm>
          <a:prstGeom prst="rect">
            <a:avLst/>
          </a:prstGeom>
        </p:spPr>
      </p:pic>
      <p:sp>
        <p:nvSpPr>
          <p:cNvPr id="23" name="TextBox 22"/>
          <p:cNvSpPr txBox="1"/>
          <p:nvPr/>
        </p:nvSpPr>
        <p:spPr>
          <a:xfrm>
            <a:off x="3838405" y="3486150"/>
            <a:ext cx="7853077" cy="194310"/>
          </a:xfrm>
          <a:prstGeom prst="rect">
            <a:avLst/>
          </a:prstGeom>
          <a:noFill/>
        </p:spPr>
        <p:txBody>
          <a:bodyPr wrap="none" lIns="0" rIns="0" tIns="0" bIns="0">
            <a:spAutoFit/>
          </a:bodyPr>
          <a:lstStyle/>
          <a:p>
            <a:r>
              <a:rPr sz="1150" b="0">
                <a:solidFill>
                  <a:srgbClr val="2E2E2E"/>
                </a:solidFill>
                <a:latin typeface="Calibri"/>
              </a:rPr>
              <a:t>X higher value than combination framework partial dentures segment in 2036. Among removable partial dentures by product type,</a:t>
            </a:r>
          </a:p>
        </p:txBody>
      </p:sp>
      <p:sp>
        <p:nvSpPr>
          <p:cNvPr id="24" name="TextBox 23"/>
          <p:cNvSpPr txBox="1"/>
          <p:nvPr/>
        </p:nvSpPr>
        <p:spPr>
          <a:xfrm>
            <a:off x="276225" y="3661410"/>
            <a:ext cx="4785724" cy="194310"/>
          </a:xfrm>
          <a:prstGeom prst="rect">
            <a:avLst/>
          </a:prstGeom>
          <a:noFill/>
        </p:spPr>
        <p:txBody>
          <a:bodyPr wrap="none" lIns="0" rIns="0" tIns="0" bIns="0">
            <a:spAutoFit/>
          </a:bodyPr>
          <a:lstStyle/>
          <a:p>
            <a:r>
              <a:rPr sz="1150" b="0">
                <a:solidFill>
                  <a:srgbClr val="2E2E2E"/>
                </a:solidFill>
                <a:latin typeface="Calibri"/>
              </a:rPr>
              <a:t>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011103" y="3651186"/>
            <a:ext cx="134549" cy="195707"/>
          </a:xfrm>
          <a:prstGeom prst="rect">
            <a:avLst/>
          </a:prstGeom>
        </p:spPr>
      </p:pic>
      <p:sp>
        <p:nvSpPr>
          <p:cNvPr id="26" name="TextBox 25"/>
          <p:cNvSpPr txBox="1"/>
          <p:nvPr/>
        </p:nvSpPr>
        <p:spPr>
          <a:xfrm>
            <a:off x="5186212"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7249479"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 segment is expected to dominate the market, losing</a:t>
            </a:r>
          </a:p>
        </p:txBody>
      </p:sp>
      <p:pic>
        <p:nvPicPr>
          <p:cNvPr id="28" name="Picture 27" descr="lock.png"/>
          <p:cNvPicPr>
            <a:picLocks noChangeAspect="1"/>
          </p:cNvPicPr>
          <p:nvPr/>
        </p:nvPicPr>
        <p:blipFill>
          <a:blip r:embed="rId4"/>
          <a:stretch>
            <a:fillRect/>
          </a:stretch>
        </p:blipFill>
        <p:spPr>
          <a:xfrm>
            <a:off x="7474858" y="3879024"/>
            <a:ext cx="134549" cy="195707"/>
          </a:xfrm>
          <a:prstGeom prst="rect">
            <a:avLst/>
          </a:prstGeom>
        </p:spPr>
      </p:pic>
      <p:sp>
        <p:nvSpPr>
          <p:cNvPr id="29" name="TextBox 28"/>
          <p:cNvSpPr txBox="1"/>
          <p:nvPr/>
        </p:nvSpPr>
        <p:spPr>
          <a:xfrm>
            <a:off x="7649968"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45111" y="3879024"/>
            <a:ext cx="134549" cy="195707"/>
          </a:xfrm>
          <a:prstGeom prst="rect">
            <a:avLst/>
          </a:prstGeom>
        </p:spPr>
      </p:pic>
      <p:sp>
        <p:nvSpPr>
          <p:cNvPr id="31" name="TextBox 30"/>
          <p:cNvSpPr txBox="1"/>
          <p:nvPr/>
        </p:nvSpPr>
        <p:spPr>
          <a:xfrm>
            <a:off x="9220220" y="38892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7103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662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900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Partial Dentures</a:t>
            </a:r>
          </a:p>
        </p:txBody>
      </p:sp>
      <p:sp>
        <p:nvSpPr>
          <p:cNvPr id="19" name="BPS Value 1"/>
          <p:cNvSpPr txBox="1"/>
          <p:nvPr/>
        </p:nvSpPr>
        <p:spPr>
          <a:xfrm>
            <a:off x="6896100" y="205198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04025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03548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592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Cast Metal Partial Dentures</a:t>
            </a:r>
          </a:p>
        </p:txBody>
      </p:sp>
      <p:sp>
        <p:nvSpPr>
          <p:cNvPr id="23" name="BPS Value 2"/>
          <p:cNvSpPr txBox="1"/>
          <p:nvPr/>
        </p:nvSpPr>
        <p:spPr>
          <a:xfrm>
            <a:off x="6896100" y="302120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22685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22209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14589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Combination Framework Partial Dentures</a:t>
            </a:r>
          </a:p>
        </p:txBody>
      </p:sp>
      <p:sp>
        <p:nvSpPr>
          <p:cNvPr id="27" name="BPS Value 3"/>
          <p:cNvSpPr txBox="1"/>
          <p:nvPr/>
        </p:nvSpPr>
        <p:spPr>
          <a:xfrm>
            <a:off x="6896100" y="420780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54383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5390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628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Partial Dentures</a:t>
            </a:r>
          </a:p>
        </p:txBody>
      </p:sp>
      <p:sp>
        <p:nvSpPr>
          <p:cNvPr id="31" name="BPS Value 4"/>
          <p:cNvSpPr txBox="1"/>
          <p:nvPr/>
        </p:nvSpPr>
        <p:spPr>
          <a:xfrm>
            <a:off x="6896100" y="552478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811029" cy="194310"/>
          </a:xfrm>
          <a:prstGeom prst="rect">
            <a:avLst/>
          </a:prstGeom>
          <a:noFill/>
        </p:spPr>
        <p:txBody>
          <a:bodyPr wrap="none" lIns="0" rIns="0" tIns="0" bIns="0">
            <a:spAutoFit/>
          </a:bodyPr>
          <a:lstStyle/>
          <a:p>
            <a:r>
              <a:rPr sz="1150" b="0">
                <a:solidFill>
                  <a:srgbClr val="2E2E2E"/>
                </a:solidFill>
                <a:latin typeface="Calibri"/>
              </a:rPr>
              <a:t>Among removable partial dentures by product type, cast metal</a:t>
            </a:r>
          </a:p>
        </p:txBody>
      </p:sp>
      <p:sp>
        <p:nvSpPr>
          <p:cNvPr id="39" name="TextBox 38"/>
          <p:cNvSpPr txBox="1"/>
          <p:nvPr/>
        </p:nvSpPr>
        <p:spPr>
          <a:xfrm>
            <a:off x="7829550" y="1575435"/>
            <a:ext cx="3985016" cy="194310"/>
          </a:xfrm>
          <a:prstGeom prst="rect">
            <a:avLst/>
          </a:prstGeom>
          <a:noFill/>
        </p:spPr>
        <p:txBody>
          <a:bodyPr wrap="none" lIns="0" rIns="0" tIns="0" bIns="0">
            <a:spAutoFit/>
          </a:bodyPr>
          <a:lstStyle/>
          <a:p>
            <a:r>
              <a:rPr sz="1150" b="0">
                <a:solidFill>
                  <a:srgbClr val="2E2E2E"/>
                </a:solidFill>
                <a:latin typeface="Calibri"/>
              </a:rPr>
              <a:t>partial dentures segment is expected to witness the highest CAGR</a:t>
            </a:r>
          </a:p>
        </p:txBody>
      </p:sp>
      <p:sp>
        <p:nvSpPr>
          <p:cNvPr id="40" name="TextBox 39"/>
          <p:cNvSpPr txBox="1"/>
          <p:nvPr/>
        </p:nvSpPr>
        <p:spPr>
          <a:xfrm>
            <a:off x="7829550" y="1750695"/>
            <a:ext cx="197718" cy="194310"/>
          </a:xfrm>
          <a:prstGeom prst="rect">
            <a:avLst/>
          </a:prstGeom>
          <a:noFill/>
        </p:spPr>
        <p:txBody>
          <a:bodyPr wrap="none" lIns="0" rIns="0" tIns="0" bIns="0">
            <a:spAutoFit/>
          </a:bodyPr>
          <a:lstStyle/>
          <a:p>
            <a:r>
              <a:rPr sz="1150" b="0">
                <a:solidFill>
                  <a:srgbClr val="2E2E2E"/>
                </a:solidFill>
                <a:latin typeface="Calibri"/>
              </a:rPr>
              <a:t>of</a:t>
            </a:r>
          </a:p>
        </p:txBody>
      </p:sp>
      <p:pic>
        <p:nvPicPr>
          <p:cNvPr id="41" name="Picture 40" descr="lock.png"/>
          <p:cNvPicPr>
            <a:picLocks noChangeAspect="1"/>
          </p:cNvPicPr>
          <p:nvPr/>
        </p:nvPicPr>
        <p:blipFill>
          <a:blip r:embed="rId5"/>
          <a:stretch>
            <a:fillRect/>
          </a:stretch>
        </p:blipFill>
        <p:spPr>
          <a:xfrm>
            <a:off x="7976422" y="1740471"/>
            <a:ext cx="134549" cy="195707"/>
          </a:xfrm>
          <a:prstGeom prst="rect">
            <a:avLst/>
          </a:prstGeom>
        </p:spPr>
      </p:pic>
      <p:sp>
        <p:nvSpPr>
          <p:cNvPr id="42" name="TextBox 41"/>
          <p:cNvSpPr txBox="1"/>
          <p:nvPr/>
        </p:nvSpPr>
        <p:spPr>
          <a:xfrm>
            <a:off x="8151531"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3" name="TextBox 42"/>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a:t>
            </a:r>
          </a:p>
        </p:txBody>
      </p:sp>
      <p:sp>
        <p:nvSpPr>
          <p:cNvPr id="44" name="TextBox 43"/>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45" name="Picture 44" descr="lock.png"/>
          <p:cNvPicPr>
            <a:picLocks noChangeAspect="1"/>
          </p:cNvPicPr>
          <p:nvPr/>
        </p:nvPicPr>
        <p:blipFill>
          <a:blip r:embed="rId5"/>
          <a:stretch>
            <a:fillRect/>
          </a:stretch>
        </p:blipFill>
        <p:spPr>
          <a:xfrm>
            <a:off x="10943347" y="2143569"/>
            <a:ext cx="134549" cy="195707"/>
          </a:xfrm>
          <a:prstGeom prst="rect">
            <a:avLst/>
          </a:prstGeom>
        </p:spPr>
      </p:pic>
      <p:sp>
        <p:nvSpPr>
          <p:cNvPr id="46" name="TextBox 45"/>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47" name="TextBox 46"/>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48" name="Picture 47" descr="lock.png"/>
          <p:cNvPicPr>
            <a:picLocks noChangeAspect="1"/>
          </p:cNvPicPr>
          <p:nvPr/>
        </p:nvPicPr>
        <p:blipFill>
          <a:blip r:embed="rId5"/>
          <a:stretch>
            <a:fillRect/>
          </a:stretch>
        </p:blipFill>
        <p:spPr>
          <a:xfrm>
            <a:off x="8712947" y="2318829"/>
            <a:ext cx="134549" cy="195707"/>
          </a:xfrm>
          <a:prstGeom prst="rect">
            <a:avLst/>
          </a:prstGeom>
        </p:spPr>
      </p:pic>
      <p:sp>
        <p:nvSpPr>
          <p:cNvPr id="49" name="TextBox 48"/>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Material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Type segment categorizes the market by material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 Resin</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 Alloys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Thermoplastics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High-performance Polymers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Type split shows how demand is distributed across material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Type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89_2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761_2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5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24_7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496_4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3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208_9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311_1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4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02_4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62_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4_7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material</a:t>
            </a:r>
          </a:p>
        </p:txBody>
      </p:sp>
      <p:sp>
        <p:nvSpPr>
          <p:cNvPr id="81" name="TextBox 80"/>
          <p:cNvSpPr txBox="1"/>
          <p:nvPr/>
        </p:nvSpPr>
        <p:spPr>
          <a:xfrm>
            <a:off x="485775" y="4397077"/>
            <a:ext cx="2621359" cy="186689"/>
          </a:xfrm>
          <a:prstGeom prst="rect">
            <a:avLst/>
          </a:prstGeom>
          <a:noFill/>
        </p:spPr>
        <p:txBody>
          <a:bodyPr wrap="none" lIns="0" rIns="0" tIns="0" bIns="0">
            <a:spAutoFit/>
          </a:bodyPr>
          <a:lstStyle/>
          <a:p>
            <a:r>
              <a:rPr sz="1100" b="0">
                <a:solidFill>
                  <a:srgbClr val="2E2E2E"/>
                </a:solidFill>
                <a:latin typeface="Calibri"/>
              </a:rPr>
              <a:t>type, high-performance polymers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523405" cy="186689"/>
          </a:xfrm>
          <a:prstGeom prst="rect">
            <a:avLst/>
          </a:prstGeom>
          <a:noFill/>
        </p:spPr>
        <p:txBody>
          <a:bodyPr wrap="none" lIns="0" rIns="0" tIns="0" bIns="0">
            <a:spAutoFit/>
          </a:bodyPr>
          <a:lstStyle/>
          <a:p>
            <a:r>
              <a:rPr sz="1100" b="0">
                <a:solidFill>
                  <a:srgbClr val="2E2E2E"/>
                </a:solidFill>
                <a:latin typeface="Calibri"/>
              </a:rPr>
              <a:t>material type, the acrylic / resin segment is</a:t>
            </a:r>
          </a:p>
        </p:txBody>
      </p:sp>
      <p:sp>
        <p:nvSpPr>
          <p:cNvPr id="87" name="TextBox 86"/>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88" name="Picture 87" descr="lock.png"/>
          <p:cNvPicPr>
            <a:picLocks noChangeAspect="1"/>
          </p:cNvPicPr>
          <p:nvPr/>
        </p:nvPicPr>
        <p:blipFill>
          <a:blip r:embed="rId16"/>
          <a:stretch>
            <a:fillRect/>
          </a:stretch>
        </p:blipFill>
        <p:spPr>
          <a:xfrm>
            <a:off x="2900479" y="5057858"/>
            <a:ext cx="128699" cy="187198"/>
          </a:xfrm>
          <a:prstGeom prst="rect">
            <a:avLst/>
          </a:prstGeom>
        </p:spPr>
      </p:pic>
      <p:sp>
        <p:nvSpPr>
          <p:cNvPr id="89" name="TextBox 88"/>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883842" cy="186689"/>
          </a:xfrm>
          <a:prstGeom prst="rect">
            <a:avLst/>
          </a:prstGeom>
          <a:noFill/>
        </p:spPr>
        <p:txBody>
          <a:bodyPr wrap="none" lIns="0" rIns="0" tIns="0" bIns="0">
            <a:spAutoFit/>
          </a:bodyPr>
          <a:lstStyle/>
          <a:p>
            <a:r>
              <a:rPr sz="1100" b="0">
                <a:solidFill>
                  <a:srgbClr val="2E2E2E"/>
                </a:solidFill>
                <a:latin typeface="Calibri"/>
              </a:rPr>
              <a:t>▪ ¶ Acrylic / resin segment is projected to register</a:t>
            </a:r>
          </a:p>
        </p:txBody>
      </p:sp>
      <p:pic>
        <p:nvPicPr>
          <p:cNvPr id="94" name="Picture 93" descr="lock.png"/>
          <p:cNvPicPr>
            <a:picLocks noChangeAspect="1"/>
          </p:cNvPicPr>
          <p:nvPr/>
        </p:nvPicPr>
        <p:blipFill>
          <a:blip r:embed="rId16"/>
          <a:stretch>
            <a:fillRect/>
          </a:stretch>
        </p:blipFill>
        <p:spPr>
          <a:xfrm>
            <a:off x="472307" y="5611070"/>
            <a:ext cx="128699" cy="187198"/>
          </a:xfrm>
          <a:prstGeom prst="rect">
            <a:avLst/>
          </a:prstGeom>
        </p:spPr>
      </p:pic>
      <p:sp>
        <p:nvSpPr>
          <p:cNvPr id="95" name="TextBox 94"/>
          <p:cNvSpPr txBox="1"/>
          <p:nvPr/>
        </p:nvSpPr>
        <p:spPr>
          <a:xfrm>
            <a:off x="639803" y="5620849"/>
            <a:ext cx="2546052" cy="186689"/>
          </a:xfrm>
          <a:prstGeom prst="rect">
            <a:avLst/>
          </a:prstGeom>
          <a:noFill/>
        </p:spPr>
        <p:txBody>
          <a:bodyPr wrap="none" lIns="0" rIns="0" tIns="0" bIns="0">
            <a:spAutoFit/>
          </a:bodyPr>
          <a:lstStyle/>
          <a:p>
            <a:r>
              <a:rPr sz="1100" b="0">
                <a:solidFill>
                  <a:srgbClr val="2E2E2E"/>
                </a:solidFill>
                <a:latin typeface="Calibri"/>
              </a:rPr>
              <a:t>X higher value than metal alloys segment in</a:t>
            </a:r>
          </a:p>
        </p:txBody>
      </p:sp>
      <p:sp>
        <p:nvSpPr>
          <p:cNvPr id="96" name="TextBox 95"/>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97" name="TextBox 96"/>
          <p:cNvSpPr txBox="1"/>
          <p:nvPr/>
        </p:nvSpPr>
        <p:spPr>
          <a:xfrm>
            <a:off x="3838575" y="4229437"/>
            <a:ext cx="1028179" cy="186689"/>
          </a:xfrm>
          <a:prstGeom prst="rect">
            <a:avLst/>
          </a:prstGeom>
          <a:noFill/>
        </p:spPr>
        <p:txBody>
          <a:bodyPr wrap="none" lIns="0" rIns="0" tIns="0" bIns="0">
            <a:spAutoFit/>
          </a:bodyPr>
          <a:lstStyle/>
          <a:p>
            <a:r>
              <a:rPr sz="1100" b="0">
                <a:solidFill>
                  <a:srgbClr val="2E2E2E"/>
                </a:solidFill>
                <a:latin typeface="Calibri"/>
              </a:rPr>
              <a:t>● Acrylic / Resin:</a:t>
            </a:r>
          </a:p>
        </p:txBody>
      </p:sp>
      <p:pic>
        <p:nvPicPr>
          <p:cNvPr id="98" name="Picture 97" descr="lock.png"/>
          <p:cNvPicPr>
            <a:picLocks noChangeAspect="1"/>
          </p:cNvPicPr>
          <p:nvPr/>
        </p:nvPicPr>
        <p:blipFill>
          <a:blip r:embed="rId16"/>
          <a:stretch>
            <a:fillRect/>
          </a:stretch>
        </p:blipFill>
        <p:spPr>
          <a:xfrm>
            <a:off x="4814805" y="4219658"/>
            <a:ext cx="128699" cy="187198"/>
          </a:xfrm>
          <a:prstGeom prst="rect">
            <a:avLst/>
          </a:prstGeom>
        </p:spPr>
      </p:pic>
      <p:sp>
        <p:nvSpPr>
          <p:cNvPr id="99" name="TextBox 98"/>
          <p:cNvSpPr txBox="1"/>
          <p:nvPr/>
        </p:nvSpPr>
        <p:spPr>
          <a:xfrm>
            <a:off x="498230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841751" y="4219658"/>
            <a:ext cx="128699" cy="187198"/>
          </a:xfrm>
          <a:prstGeom prst="rect">
            <a:avLst/>
          </a:prstGeom>
        </p:spPr>
      </p:pic>
      <p:sp>
        <p:nvSpPr>
          <p:cNvPr id="101" name="TextBox 100"/>
          <p:cNvSpPr txBox="1"/>
          <p:nvPr/>
        </p:nvSpPr>
        <p:spPr>
          <a:xfrm>
            <a:off x="600924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932953" cy="186689"/>
          </a:xfrm>
          <a:prstGeom prst="rect">
            <a:avLst/>
          </a:prstGeom>
          <a:noFill/>
        </p:spPr>
        <p:txBody>
          <a:bodyPr wrap="none" lIns="0" rIns="0" tIns="0" bIns="0">
            <a:spAutoFit/>
          </a:bodyPr>
          <a:lstStyle/>
          <a:p>
            <a:r>
              <a:rPr sz="1100" b="0">
                <a:solidFill>
                  <a:srgbClr val="2E2E2E"/>
                </a:solidFill>
                <a:latin typeface="Calibri"/>
              </a:rPr>
              <a:t>● Metal Alloys:</a:t>
            </a:r>
          </a:p>
        </p:txBody>
      </p:sp>
      <p:pic>
        <p:nvPicPr>
          <p:cNvPr id="103" name="Picture 102" descr="lock.png"/>
          <p:cNvPicPr>
            <a:picLocks noChangeAspect="1"/>
          </p:cNvPicPr>
          <p:nvPr/>
        </p:nvPicPr>
        <p:blipFill>
          <a:blip r:embed="rId16"/>
          <a:stretch>
            <a:fillRect/>
          </a:stretch>
        </p:blipFill>
        <p:spPr>
          <a:xfrm>
            <a:off x="4719580" y="4437590"/>
            <a:ext cx="128699" cy="187198"/>
          </a:xfrm>
          <a:prstGeom prst="rect">
            <a:avLst/>
          </a:prstGeom>
        </p:spPr>
      </p:pic>
      <p:sp>
        <p:nvSpPr>
          <p:cNvPr id="104" name="TextBox 103"/>
          <p:cNvSpPr txBox="1"/>
          <p:nvPr/>
        </p:nvSpPr>
        <p:spPr>
          <a:xfrm>
            <a:off x="488707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746526" y="4437590"/>
            <a:ext cx="128699" cy="187198"/>
          </a:xfrm>
          <a:prstGeom prst="rect">
            <a:avLst/>
          </a:prstGeom>
        </p:spPr>
      </p:pic>
      <p:sp>
        <p:nvSpPr>
          <p:cNvPr id="106" name="TextBox 105"/>
          <p:cNvSpPr txBox="1"/>
          <p:nvPr/>
        </p:nvSpPr>
        <p:spPr>
          <a:xfrm>
            <a:off x="591402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7" name="TextBox 106"/>
          <p:cNvSpPr txBox="1"/>
          <p:nvPr/>
        </p:nvSpPr>
        <p:spPr>
          <a:xfrm>
            <a:off x="3838575" y="4665301"/>
            <a:ext cx="1560239" cy="186689"/>
          </a:xfrm>
          <a:prstGeom prst="rect">
            <a:avLst/>
          </a:prstGeom>
          <a:noFill/>
        </p:spPr>
        <p:txBody>
          <a:bodyPr wrap="none" lIns="0" rIns="0" tIns="0" bIns="0">
            <a:spAutoFit/>
          </a:bodyPr>
          <a:lstStyle/>
          <a:p>
            <a:r>
              <a:rPr sz="1100" b="0">
                <a:solidFill>
                  <a:srgbClr val="2E2E2E"/>
                </a:solidFill>
                <a:latin typeface="Calibri"/>
              </a:rPr>
              <a:t>● Flexible Thermoplastics:</a:t>
            </a:r>
          </a:p>
        </p:txBody>
      </p:sp>
      <p:pic>
        <p:nvPicPr>
          <p:cNvPr id="108" name="Picture 107" descr="lock.png"/>
          <p:cNvPicPr>
            <a:picLocks noChangeAspect="1"/>
          </p:cNvPicPr>
          <p:nvPr/>
        </p:nvPicPr>
        <p:blipFill>
          <a:blip r:embed="rId16"/>
          <a:stretch>
            <a:fillRect/>
          </a:stretch>
        </p:blipFill>
        <p:spPr>
          <a:xfrm>
            <a:off x="5346866" y="4655522"/>
            <a:ext cx="128699" cy="187198"/>
          </a:xfrm>
          <a:prstGeom prst="rect">
            <a:avLst/>
          </a:prstGeom>
        </p:spPr>
      </p:pic>
      <p:sp>
        <p:nvSpPr>
          <p:cNvPr id="109" name="TextBox 108"/>
          <p:cNvSpPr txBox="1"/>
          <p:nvPr/>
        </p:nvSpPr>
        <p:spPr>
          <a:xfrm>
            <a:off x="551436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6373812" y="4655522"/>
            <a:ext cx="128699" cy="187198"/>
          </a:xfrm>
          <a:prstGeom prst="rect">
            <a:avLst/>
          </a:prstGeom>
        </p:spPr>
      </p:pic>
      <p:sp>
        <p:nvSpPr>
          <p:cNvPr id="111" name="TextBox 110"/>
          <p:cNvSpPr txBox="1"/>
          <p:nvPr/>
        </p:nvSpPr>
        <p:spPr>
          <a:xfrm>
            <a:off x="654130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825997" cy="186689"/>
          </a:xfrm>
          <a:prstGeom prst="rect">
            <a:avLst/>
          </a:prstGeom>
          <a:noFill/>
        </p:spPr>
        <p:txBody>
          <a:bodyPr wrap="none" lIns="0" rIns="0" tIns="0" bIns="0">
            <a:spAutoFit/>
          </a:bodyPr>
          <a:lstStyle/>
          <a:p>
            <a:r>
              <a:rPr sz="1100" b="0">
                <a:solidFill>
                  <a:srgbClr val="2E2E2E"/>
                </a:solidFill>
                <a:latin typeface="Calibri"/>
              </a:rPr>
              <a:t>● High-performance Polymers:</a:t>
            </a:r>
          </a:p>
        </p:txBody>
      </p:sp>
      <p:pic>
        <p:nvPicPr>
          <p:cNvPr id="113" name="Picture 112" descr="lock.png"/>
          <p:cNvPicPr>
            <a:picLocks noChangeAspect="1"/>
          </p:cNvPicPr>
          <p:nvPr/>
        </p:nvPicPr>
        <p:blipFill>
          <a:blip r:embed="rId16"/>
          <a:stretch>
            <a:fillRect/>
          </a:stretch>
        </p:blipFill>
        <p:spPr>
          <a:xfrm>
            <a:off x="5612623" y="4873454"/>
            <a:ext cx="128699" cy="187198"/>
          </a:xfrm>
          <a:prstGeom prst="rect">
            <a:avLst/>
          </a:prstGeom>
        </p:spPr>
      </p:pic>
      <p:sp>
        <p:nvSpPr>
          <p:cNvPr id="114" name="TextBox 113"/>
          <p:cNvSpPr txBox="1"/>
          <p:nvPr/>
        </p:nvSpPr>
        <p:spPr>
          <a:xfrm>
            <a:off x="5780119"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6639569" y="4873454"/>
            <a:ext cx="128699" cy="187198"/>
          </a:xfrm>
          <a:prstGeom prst="rect">
            <a:avLst/>
          </a:prstGeom>
        </p:spPr>
      </p:pic>
      <p:sp>
        <p:nvSpPr>
          <p:cNvPr id="116" name="TextBox 115"/>
          <p:cNvSpPr txBox="1"/>
          <p:nvPr/>
        </p:nvSpPr>
        <p:spPr>
          <a:xfrm>
            <a:off x="6807065" y="488323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7" name="TextBox 116"/>
          <p:cNvSpPr txBox="1"/>
          <p:nvPr/>
        </p:nvSpPr>
        <p:spPr>
          <a:xfrm>
            <a:off x="3838575" y="505087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Material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Acrylic / resin followed by metal alloys are expected to be the two most attractive material type segments in the global removable partial dentures market in terms of value over the forecast period. Acrylic</a:t>
            </a:r>
          </a:p>
        </p:txBody>
      </p:sp>
      <p:sp>
        <p:nvSpPr>
          <p:cNvPr id="21" name="TextBox 20"/>
          <p:cNvSpPr txBox="1"/>
          <p:nvPr/>
        </p:nvSpPr>
        <p:spPr>
          <a:xfrm>
            <a:off x="257175" y="5861685"/>
            <a:ext cx="2756949" cy="186689"/>
          </a:xfrm>
          <a:prstGeom prst="rect">
            <a:avLst/>
          </a:prstGeom>
          <a:noFill/>
        </p:spPr>
        <p:txBody>
          <a:bodyPr wrap="none" lIns="0" rIns="0" tIns="0" bIns="0">
            <a:spAutoFit/>
          </a:bodyPr>
          <a:lstStyle/>
          <a:p>
            <a:r>
              <a:rPr sz="1100" b="0">
                <a:solidFill>
                  <a:srgbClr val="2E2E2E"/>
                </a:solidFill>
                <a:latin typeface="Calibri"/>
              </a:rPr>
              <a:t>/ resin and metal alloys exhibit a CAGR index of</a:t>
            </a:r>
          </a:p>
        </p:txBody>
      </p:sp>
      <p:pic>
        <p:nvPicPr>
          <p:cNvPr id="22" name="Picture 21" descr="lock.png"/>
          <p:cNvPicPr>
            <a:picLocks noChangeAspect="1"/>
          </p:cNvPicPr>
          <p:nvPr/>
        </p:nvPicPr>
        <p:blipFill>
          <a:blip r:embed="rId6"/>
          <a:stretch>
            <a:fillRect/>
          </a:stretch>
        </p:blipFill>
        <p:spPr>
          <a:xfrm>
            <a:off x="2962176" y="5851905"/>
            <a:ext cx="128699" cy="187198"/>
          </a:xfrm>
          <a:prstGeom prst="rect">
            <a:avLst/>
          </a:prstGeom>
        </p:spPr>
      </p:pic>
      <p:sp>
        <p:nvSpPr>
          <p:cNvPr id="23" name="TextBox 22"/>
          <p:cNvSpPr txBox="1"/>
          <p:nvPr/>
        </p:nvSpPr>
        <p:spPr>
          <a:xfrm>
            <a:off x="312967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3367566" y="5851905"/>
            <a:ext cx="128699" cy="187198"/>
          </a:xfrm>
          <a:prstGeom prst="rect">
            <a:avLst/>
          </a:prstGeom>
        </p:spPr>
      </p:pic>
      <p:sp>
        <p:nvSpPr>
          <p:cNvPr id="25" name="TextBox 24"/>
          <p:cNvSpPr txBox="1"/>
          <p:nvPr/>
        </p:nvSpPr>
        <p:spPr>
          <a:xfrm>
            <a:off x="353506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144035" y="5851905"/>
            <a:ext cx="128699" cy="187198"/>
          </a:xfrm>
          <a:prstGeom prst="rect">
            <a:avLst/>
          </a:prstGeom>
        </p:spPr>
      </p:pic>
      <p:sp>
        <p:nvSpPr>
          <p:cNvPr id="27" name="TextBox 26"/>
          <p:cNvSpPr txBox="1"/>
          <p:nvPr/>
        </p:nvSpPr>
        <p:spPr>
          <a:xfrm>
            <a:off x="531153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549425" y="5851905"/>
            <a:ext cx="128699" cy="187198"/>
          </a:xfrm>
          <a:prstGeom prst="rect">
            <a:avLst/>
          </a:prstGeom>
        </p:spPr>
      </p:pic>
      <p:sp>
        <p:nvSpPr>
          <p:cNvPr id="29" name="TextBox 28"/>
          <p:cNvSpPr txBox="1"/>
          <p:nvPr/>
        </p:nvSpPr>
        <p:spPr>
          <a:xfrm>
            <a:off x="5716921"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271325" y="5851905"/>
            <a:ext cx="128699" cy="187198"/>
          </a:xfrm>
          <a:prstGeom prst="rect">
            <a:avLst/>
          </a:prstGeom>
        </p:spPr>
      </p:pic>
      <p:sp>
        <p:nvSpPr>
          <p:cNvPr id="31" name="TextBox 30"/>
          <p:cNvSpPr txBox="1"/>
          <p:nvPr/>
        </p:nvSpPr>
        <p:spPr>
          <a:xfrm>
            <a:off x="8438821" y="5861685"/>
            <a:ext cx="2611263" cy="186689"/>
          </a:xfrm>
          <a:prstGeom prst="rect">
            <a:avLst/>
          </a:prstGeom>
          <a:noFill/>
        </p:spPr>
        <p:txBody>
          <a:bodyPr wrap="none" lIns="0" rIns="0" tIns="0" bIns="0">
            <a:spAutoFit/>
          </a:bodyPr>
          <a:lstStyle/>
          <a:p>
            <a:r>
              <a:rPr sz="1100" b="0">
                <a:solidFill>
                  <a:srgbClr val="2E2E2E"/>
                </a:solidFill>
                <a:latin typeface="Calibri"/>
              </a:rPr>
              <a:t>. The high-performance polymers segment is</a:t>
            </a:r>
          </a:p>
        </p:txBody>
      </p:sp>
      <p:sp>
        <p:nvSpPr>
          <p:cNvPr id="32" name="TextBox 31"/>
          <p:cNvSpPr txBox="1"/>
          <p:nvPr/>
        </p:nvSpPr>
        <p:spPr>
          <a:xfrm>
            <a:off x="257175" y="6029325"/>
            <a:ext cx="11421333" cy="186689"/>
          </a:xfrm>
          <a:prstGeom prst="rect">
            <a:avLst/>
          </a:prstGeom>
          <a:noFill/>
        </p:spPr>
        <p:txBody>
          <a:bodyPr wrap="none" lIns="0" rIns="0" tIns="0" bIns="0">
            <a:spAutoFit/>
          </a:bodyPr>
          <a:lstStyle/>
          <a:p>
            <a:r>
              <a:rPr sz="1100" b="0">
                <a:solidFill>
                  <a:srgbClr val="2E2E2E"/>
                </a:solidFill>
                <a:latin typeface="Calibri"/>
              </a:rPr>
              <a:t>expected to be less attractive as compared to other segments over the forecast period, owing to its lower CAGR and incremental opportunity. Bubbles right of the CAGR-Index line grow faster than the</a:t>
            </a:r>
          </a:p>
        </p:txBody>
      </p:sp>
      <p:sp>
        <p:nvSpPr>
          <p:cNvPr id="33" name="TextBox 32"/>
          <p:cNvSpPr txBox="1"/>
          <p:nvPr/>
        </p:nvSpPr>
        <p:spPr>
          <a:xfrm>
            <a:off x="257175" y="619696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Metal Alloys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Acrylic / Resin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Flexible Thermoplastics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High-performance Polymers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Material Type (Units)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209925"/>
          </a:xfrm>
          <a:prstGeom prst="roundRect">
            <a:avLst>
              <a:gd name="adj" fmla="val 23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Material Type (Units)</a:t>
            </a:r>
          </a:p>
        </p:txBody>
      </p:sp>
      <p:graphicFrame>
        <p:nvGraphicFramePr>
          <p:cNvPr id="13" name="Table 12"/>
          <p:cNvGraphicFramePr>
            <a:graphicFrameLocks noGrp="1"/>
          </p:cNvGraphicFramePr>
          <p:nvPr/>
        </p:nvGraphicFramePr>
        <p:xfrm>
          <a:off x="152400" y="1238250"/>
          <a:ext cx="11887208" cy="2743197"/>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61">
                <a:tc>
                  <a:txBody>
                    <a:bodyPr wrap="none"/>
                    <a:lstStyle/>
                    <a:p>
                      <a:pPr algn="l"/>
                      <a:r>
                        <a:rPr sz="1100" b="1">
                          <a:solidFill>
                            <a:srgbClr val="2E2E2E"/>
                          </a:solidFill>
                          <a:latin typeface="Calibri"/>
                        </a:rPr>
                        <a:t>Metal Alloys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347">
                <a:tc>
                  <a:txBody>
                    <a:bodyPr wrap="none"/>
                    <a:lstStyle/>
                    <a:p>
                      <a:pPr algn="l"/>
                      <a:r>
                        <a:rPr sz="1100" b="1">
                          <a:solidFill>
                            <a:srgbClr val="2E2E2E"/>
                          </a:solidFill>
                          <a:latin typeface="Calibri"/>
                        </a:rPr>
                        <a:t>– Cobalt-Chromium</a:t>
                      </a:r>
                      <a:endParaRPr sz="1100"/>
                    </a:p>
                    <a:p>
                      <a:pPr algn="l"/>
                      <a:r>
                        <a:rPr sz="1100" b="1">
                          <a:solidFill>
                            <a:srgbClr val="2E2E2E"/>
                          </a:solidFill>
                          <a:latin typeface="Calibri"/>
                        </a:rPr>
                        <a:t>Alloys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61">
                <a:tc>
                  <a:txBody>
                    <a:bodyPr wrap="none"/>
                    <a:lstStyle/>
                    <a:p>
                      <a:pPr algn="l"/>
                      <a:r>
                        <a:rPr sz="1100" b="1">
                          <a:solidFill>
                            <a:srgbClr val="2E2E2E"/>
                          </a:solidFill>
                          <a:latin typeface="Calibri"/>
                        </a:rPr>
                        <a:t>– Titanium Alloys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61">
                <a:tc>
                  <a:txBody>
                    <a:bodyPr wrap="none"/>
                    <a:lstStyle/>
                    <a:p>
                      <a:pPr algn="l"/>
                      <a:r>
                        <a:rPr sz="1100" b="1">
                          <a:solidFill>
                            <a:srgbClr val="2E2E2E"/>
                          </a:solidFill>
                          <a:latin typeface="Calibri"/>
                        </a:rPr>
                        <a:t>Acrylic / Resin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61">
                <a:tc>
                  <a:txBody>
                    <a:bodyPr wrap="none"/>
                    <a:lstStyle/>
                    <a:p>
                      <a:pPr algn="l"/>
                      <a:r>
                        <a:rPr sz="1100" b="1">
                          <a:solidFill>
                            <a:srgbClr val="2E2E2E"/>
                          </a:solidFill>
                          <a:latin typeface="Calibri"/>
                        </a:rPr>
                        <a:t>– PMMA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347">
                <a:tc>
                  <a:txBody>
                    <a:bodyPr wrap="none"/>
                    <a:lstStyle/>
                    <a:p>
                      <a:pPr algn="l"/>
                      <a:r>
                        <a:rPr sz="1100" b="1">
                          <a:solidFill>
                            <a:srgbClr val="2E2E2E"/>
                          </a:solidFill>
                          <a:latin typeface="Calibri"/>
                        </a:rPr>
                        <a:t>– Printable Denture</a:t>
                      </a:r>
                      <a:endParaRPr sz="1100"/>
                    </a:p>
                    <a:p>
                      <a:pPr algn="l"/>
                      <a:r>
                        <a:rPr sz="1100" b="1">
                          <a:solidFill>
                            <a:srgbClr val="2E2E2E"/>
                          </a:solidFill>
                          <a:latin typeface="Calibri"/>
                        </a:rPr>
                        <a:t>Resins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347">
                <a:tc>
                  <a:txBody>
                    <a:bodyPr wrap="none"/>
                    <a:lstStyle/>
                    <a:p>
                      <a:pPr algn="l"/>
                      <a:r>
                        <a:rPr sz="1100" b="1">
                          <a:solidFill>
                            <a:srgbClr val="2E2E2E"/>
                          </a:solidFill>
                          <a:latin typeface="Calibri"/>
                        </a:rPr>
                        <a:t>Flexible</a:t>
                      </a:r>
                      <a:endParaRPr sz="1100"/>
                    </a:p>
                    <a:p>
                      <a:pPr algn="l"/>
                      <a:r>
                        <a:rPr sz="1100" b="1">
                          <a:solidFill>
                            <a:srgbClr val="2E2E2E"/>
                          </a:solidFill>
                          <a:latin typeface="Calibri"/>
                        </a:rPr>
                        <a:t>Thermoplastics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529244" y="2562604"/>
            <a:ext cx="366712" cy="533400"/>
          </a:xfrm>
          <a:prstGeom prst="rect">
            <a:avLst/>
          </a:prstGeom>
        </p:spPr>
      </p:pic>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Material Type (Units)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42875" y="981075"/>
            <a:ext cx="11906250" cy="3733800"/>
          </a:xfrm>
          <a:prstGeom prst="roundRect">
            <a:avLst>
              <a:gd name="adj" fmla="val 20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Material Type (Units)</a:t>
            </a:r>
          </a:p>
        </p:txBody>
      </p:sp>
      <p:graphicFrame>
        <p:nvGraphicFramePr>
          <p:cNvPr id="12" name="Table 11"/>
          <p:cNvGraphicFramePr>
            <a:graphicFrameLocks noGrp="1"/>
          </p:cNvGraphicFramePr>
          <p:nvPr/>
        </p:nvGraphicFramePr>
        <p:xfrm>
          <a:off x="152400" y="1238250"/>
          <a:ext cx="11887208" cy="3267075"/>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229">
                <a:tc>
                  <a:txBody>
                    <a:bodyPr wrap="none"/>
                    <a:lstStyle/>
                    <a:p>
                      <a:pPr algn="l"/>
                      <a:r>
                        <a:rPr sz="1100" b="1">
                          <a:solidFill>
                            <a:srgbClr val="2E2E2E"/>
                          </a:solidFill>
                          <a:latin typeface="Calibri"/>
                        </a:rPr>
                        <a:t>– Polyamide /</a:t>
                      </a:r>
                      <a:endParaRPr sz="1100"/>
                    </a:p>
                    <a:p>
                      <a:pPr algn="l"/>
                      <a:r>
                        <a:rPr sz="1100" b="1">
                          <a:solidFill>
                            <a:srgbClr val="2E2E2E"/>
                          </a:solidFill>
                          <a:latin typeface="Calibri"/>
                        </a:rPr>
                        <a:t>Nylon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016">
                <a:tc>
                  <a:txBody>
                    <a:bodyPr wrap="none"/>
                    <a:lstStyle/>
                    <a:p>
                      <a:pPr algn="l"/>
                      <a:r>
                        <a:rPr sz="1100" b="1">
                          <a:solidFill>
                            <a:srgbClr val="2E2E2E"/>
                          </a:solidFill>
                          <a:latin typeface="Calibri"/>
                        </a:rPr>
                        <a:t>– Other</a:t>
                      </a:r>
                      <a:endParaRPr sz="1100"/>
                    </a:p>
                    <a:p>
                      <a:pPr algn="l"/>
                      <a:r>
                        <a:rPr sz="1100" b="1">
                          <a:solidFill>
                            <a:srgbClr val="2E2E2E"/>
                          </a:solidFill>
                          <a:latin typeface="Calibri"/>
                        </a:rPr>
                        <a:t>Thermoplastic</a:t>
                      </a:r>
                      <a:endParaRPr sz="1100"/>
                    </a:p>
                    <a:p>
                      <a:pPr algn="l"/>
                      <a:r>
                        <a:rPr sz="1100" b="1">
                          <a:solidFill>
                            <a:srgbClr val="2E2E2E"/>
                          </a:solidFill>
                          <a:latin typeface="Calibri"/>
                        </a:rPr>
                        <a:t>Resins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229">
                <a:tc>
                  <a:txBody>
                    <a:bodyPr wrap="none"/>
                    <a:lstStyle/>
                    <a:p>
                      <a:pPr algn="l"/>
                      <a:r>
                        <a:rPr sz="1100" b="1">
                          <a:solidFill>
                            <a:srgbClr val="2E2E2E"/>
                          </a:solidFill>
                          <a:latin typeface="Calibri"/>
                        </a:rPr>
                        <a:t>High-performance</a:t>
                      </a:r>
                      <a:endParaRPr sz="1100"/>
                    </a:p>
                    <a:p>
                      <a:pPr algn="l"/>
                      <a:r>
                        <a:rPr sz="1100" b="1">
                          <a:solidFill>
                            <a:srgbClr val="2E2E2E"/>
                          </a:solidFill>
                          <a:latin typeface="Calibri"/>
                        </a:rPr>
                        <a:t>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229">
                <a:tc>
                  <a:txBody>
                    <a:bodyPr wrap="none"/>
                    <a:lstStyle/>
                    <a:p>
                      <a:pPr algn="l"/>
                      <a:r>
                        <a:rPr sz="1100" b="1">
                          <a:solidFill>
                            <a:srgbClr val="2E2E2E"/>
                          </a:solidFill>
                          <a:latin typeface="Calibri"/>
                        </a:rPr>
                        <a:t>– PEEK-based</a:t>
                      </a:r>
                      <a:endParaRPr sz="1100"/>
                    </a:p>
                    <a:p>
                      <a:pPr algn="l"/>
                      <a:r>
                        <a:rPr sz="1100" b="1">
                          <a:solidFill>
                            <a:srgbClr val="2E2E2E"/>
                          </a:solidFill>
                          <a:latin typeface="Calibri"/>
                        </a:rPr>
                        <a:t>Materials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016">
                <a:tc>
                  <a:txBody>
                    <a:bodyPr wrap="none"/>
                    <a:lstStyle/>
                    <a:p>
                      <a:pPr algn="l"/>
                      <a:r>
                        <a:rPr sz="1100" b="1">
                          <a:solidFill>
                            <a:srgbClr val="2E2E2E"/>
                          </a:solidFill>
                          <a:latin typeface="Calibri"/>
                        </a:rPr>
                        <a:t>– Other High-</a:t>
                      </a:r>
                      <a:endParaRPr sz="1100"/>
                    </a:p>
                    <a:p>
                      <a:pPr algn="l"/>
                      <a:r>
                        <a:rPr sz="1100" b="1">
                          <a:solidFill>
                            <a:srgbClr val="2E2E2E"/>
                          </a:solidFill>
                          <a:latin typeface="Calibri"/>
                        </a:rPr>
                        <a:t>performance</a:t>
                      </a:r>
                      <a:endParaRPr sz="1100"/>
                    </a:p>
                    <a:p>
                      <a:pPr algn="l"/>
                      <a:r>
                        <a:rPr sz="1100" b="1">
                          <a:solidFill>
                            <a:srgbClr val="2E2E2E"/>
                          </a:solidFill>
                          <a:latin typeface="Calibri"/>
                        </a:rPr>
                        <a:t>Dental 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444">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3" name="TextBox 12"/>
          <p:cNvSpPr txBox="1"/>
          <p:nvPr/>
        </p:nvSpPr>
        <p:spPr>
          <a:xfrm>
            <a:off x="219075" y="45148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848225"/>
            <a:ext cx="1190625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9339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Material Type</a:t>
            </a:r>
          </a:p>
        </p:txBody>
      </p:sp>
      <p:sp>
        <p:nvSpPr>
          <p:cNvPr id="16" name="Rectangle 15"/>
          <p:cNvSpPr/>
          <p:nvPr/>
        </p:nvSpPr>
        <p:spPr>
          <a:xfrm>
            <a:off x="276225" y="51720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257800"/>
            <a:ext cx="11639550"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29244" y="2824543"/>
            <a:ext cx="366712" cy="533400"/>
          </a:xfrm>
          <a:prstGeom prst="rect">
            <a:avLst/>
          </a:prstGeom>
        </p:spPr>
      </p:pic>
      <p:sp>
        <p:nvSpPr>
          <p:cNvPr id="20" name="TextBox 19"/>
          <p:cNvSpPr txBox="1"/>
          <p:nvPr/>
        </p:nvSpPr>
        <p:spPr>
          <a:xfrm>
            <a:off x="276225" y="5267325"/>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1" name="Picture 20" descr="lock.png"/>
          <p:cNvPicPr>
            <a:picLocks noChangeAspect="1"/>
          </p:cNvPicPr>
          <p:nvPr/>
        </p:nvPicPr>
        <p:blipFill>
          <a:blip r:embed="rId4"/>
          <a:stretch>
            <a:fillRect/>
          </a:stretch>
        </p:blipFill>
        <p:spPr>
          <a:xfrm>
            <a:off x="3033455" y="5257101"/>
            <a:ext cx="134549" cy="195707"/>
          </a:xfrm>
          <a:prstGeom prst="rect">
            <a:avLst/>
          </a:prstGeom>
        </p:spPr>
      </p:pic>
      <p:sp>
        <p:nvSpPr>
          <p:cNvPr id="22" name="TextBox 21"/>
          <p:cNvSpPr txBox="1"/>
          <p:nvPr/>
        </p:nvSpPr>
        <p:spPr>
          <a:xfrm>
            <a:off x="3208564" y="5267325"/>
            <a:ext cx="8657493" cy="194310"/>
          </a:xfrm>
          <a:prstGeom prst="rect">
            <a:avLst/>
          </a:prstGeom>
          <a:noFill/>
        </p:spPr>
        <p:txBody>
          <a:bodyPr wrap="none" lIns="0" rIns="0" tIns="0" bIns="0">
            <a:spAutoFit/>
          </a:bodyPr>
          <a:lstStyle/>
          <a:p>
            <a:r>
              <a:rPr sz="1150" b="0">
                <a:solidFill>
                  <a:srgbClr val="2E2E2E"/>
                </a:solidFill>
                <a:latin typeface="Calibri"/>
              </a:rPr>
              <a:t>X higher volume than metal alloys segment in 2036. Among removable partial dentures by material type, high-performance polymers segment is</a:t>
            </a:r>
          </a:p>
        </p:txBody>
      </p:sp>
      <p:sp>
        <p:nvSpPr>
          <p:cNvPr id="23" name="TextBox 22"/>
          <p:cNvSpPr txBox="1"/>
          <p:nvPr/>
        </p:nvSpPr>
        <p:spPr>
          <a:xfrm>
            <a:off x="276225" y="544258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4" name="Picture 23" descr="lock.png"/>
          <p:cNvPicPr>
            <a:picLocks noChangeAspect="1"/>
          </p:cNvPicPr>
          <p:nvPr/>
        </p:nvPicPr>
        <p:blipFill>
          <a:blip r:embed="rId4"/>
          <a:stretch>
            <a:fillRect/>
          </a:stretch>
        </p:blipFill>
        <p:spPr>
          <a:xfrm>
            <a:off x="2711386" y="5432361"/>
            <a:ext cx="134549" cy="195707"/>
          </a:xfrm>
          <a:prstGeom prst="rect">
            <a:avLst/>
          </a:prstGeom>
        </p:spPr>
      </p:pic>
      <p:sp>
        <p:nvSpPr>
          <p:cNvPr id="25" name="TextBox 24"/>
          <p:cNvSpPr txBox="1"/>
          <p:nvPr/>
        </p:nvSpPr>
        <p:spPr>
          <a:xfrm>
            <a:off x="2886495" y="54425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5670422"/>
            <a:ext cx="6860108" cy="194310"/>
          </a:xfrm>
          <a:prstGeom prst="rect">
            <a:avLst/>
          </a:prstGeom>
          <a:noFill/>
        </p:spPr>
        <p:txBody>
          <a:bodyPr wrap="none" lIns="0" rIns="0" tIns="0" bIns="0">
            <a:spAutoFit/>
          </a:bodyPr>
          <a:lstStyle/>
          <a:p>
            <a:r>
              <a:rPr sz="1150" b="0">
                <a:solidFill>
                  <a:srgbClr val="2E2E2E"/>
                </a:solidFill>
                <a:latin typeface="Calibri"/>
              </a:rPr>
              <a:t>In terms of volume share by material type, the acrylic / resin segment is expected to dominate the market, gaining</a:t>
            </a:r>
          </a:p>
        </p:txBody>
      </p:sp>
      <p:pic>
        <p:nvPicPr>
          <p:cNvPr id="27" name="Picture 26" descr="lock.png"/>
          <p:cNvPicPr>
            <a:picLocks noChangeAspect="1"/>
          </p:cNvPicPr>
          <p:nvPr/>
        </p:nvPicPr>
        <p:blipFill>
          <a:blip r:embed="rId4"/>
          <a:stretch>
            <a:fillRect/>
          </a:stretch>
        </p:blipFill>
        <p:spPr>
          <a:xfrm>
            <a:off x="7085487" y="5660199"/>
            <a:ext cx="134549" cy="195707"/>
          </a:xfrm>
          <a:prstGeom prst="rect">
            <a:avLst/>
          </a:prstGeom>
        </p:spPr>
      </p:pic>
      <p:sp>
        <p:nvSpPr>
          <p:cNvPr id="28" name="TextBox 27"/>
          <p:cNvSpPr txBox="1"/>
          <p:nvPr/>
        </p:nvSpPr>
        <p:spPr>
          <a:xfrm>
            <a:off x="7260596" y="56704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655739" y="5660199"/>
            <a:ext cx="134549" cy="195707"/>
          </a:xfrm>
          <a:prstGeom prst="rect">
            <a:avLst/>
          </a:prstGeom>
        </p:spPr>
      </p:pic>
      <p:sp>
        <p:nvSpPr>
          <p:cNvPr id="30" name="TextBox 29"/>
          <p:cNvSpPr txBox="1"/>
          <p:nvPr/>
        </p:nvSpPr>
        <p:spPr>
          <a:xfrm>
            <a:off x="8830849" y="5670422"/>
            <a:ext cx="2616386" cy="194310"/>
          </a:xfrm>
          <a:prstGeom prst="rect">
            <a:avLst/>
          </a:prstGeom>
          <a:noFill/>
        </p:spPr>
        <p:txBody>
          <a:bodyPr wrap="none" lIns="0" rIns="0" tIns="0" bIns="0">
            <a:spAutoFit/>
          </a:bodyPr>
          <a:lstStyle/>
          <a:p>
            <a:r>
              <a:rPr sz="1150" b="0">
                <a:solidFill>
                  <a:srgbClr val="2E2E2E"/>
                </a:solidFill>
                <a:latin typeface="Calibri"/>
              </a:rPr>
              <a:t>share by 2036. The metal alloys segment is</a:t>
            </a:r>
          </a:p>
        </p:txBody>
      </p:sp>
      <p:sp>
        <p:nvSpPr>
          <p:cNvPr id="31" name="TextBox 30"/>
          <p:cNvSpPr txBox="1"/>
          <p:nvPr/>
        </p:nvSpPr>
        <p:spPr>
          <a:xfrm>
            <a:off x="276225" y="5845682"/>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2" name="Picture 31" descr="lock.png"/>
          <p:cNvPicPr>
            <a:picLocks noChangeAspect="1"/>
          </p:cNvPicPr>
          <p:nvPr/>
        </p:nvPicPr>
        <p:blipFill>
          <a:blip r:embed="rId4"/>
          <a:stretch>
            <a:fillRect/>
          </a:stretch>
        </p:blipFill>
        <p:spPr>
          <a:xfrm>
            <a:off x="1280285" y="5835459"/>
            <a:ext cx="134549" cy="195707"/>
          </a:xfrm>
          <a:prstGeom prst="rect">
            <a:avLst/>
          </a:prstGeom>
        </p:spPr>
      </p:pic>
      <p:sp>
        <p:nvSpPr>
          <p:cNvPr id="33" name="TextBox 32"/>
          <p:cNvSpPr txBox="1"/>
          <p:nvPr/>
        </p:nvSpPr>
        <p:spPr>
          <a:xfrm>
            <a:off x="1455394" y="58456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042898" y="5835459"/>
            <a:ext cx="134549" cy="195707"/>
          </a:xfrm>
          <a:prstGeom prst="rect">
            <a:avLst/>
          </a:prstGeom>
        </p:spPr>
      </p:pic>
      <p:sp>
        <p:nvSpPr>
          <p:cNvPr id="35" name="TextBox 34"/>
          <p:cNvSpPr txBox="1"/>
          <p:nvPr/>
        </p:nvSpPr>
        <p:spPr>
          <a:xfrm>
            <a:off x="4218008" y="58456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Material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Material Type (US$ Mn)</a:t>
            </a:r>
          </a:p>
        </p:txBody>
      </p:sp>
      <p:graphicFrame>
        <p:nvGraphicFramePr>
          <p:cNvPr id="13" name="Table 12"/>
          <p:cNvGraphicFramePr>
            <a:graphicFrameLocks noGrp="1"/>
          </p:cNvGraphicFramePr>
          <p:nvPr/>
        </p:nvGraphicFramePr>
        <p:xfrm>
          <a:off x="152400" y="1238250"/>
          <a:ext cx="11887201" cy="3448052"/>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02">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Material Type</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97216" y="2818639"/>
            <a:ext cx="366712" cy="533400"/>
          </a:xfrm>
          <a:prstGeom prst="rect">
            <a:avLst/>
          </a:prstGeom>
        </p:spPr>
      </p:pic>
      <p:sp>
        <p:nvSpPr>
          <p:cNvPr id="21" name="TextBox 20"/>
          <p:cNvSpPr txBox="1"/>
          <p:nvPr/>
        </p:nvSpPr>
        <p:spPr>
          <a:xfrm>
            <a:off x="276225" y="5448300"/>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2" name="Picture 21" descr="lock.png"/>
          <p:cNvPicPr>
            <a:picLocks noChangeAspect="1"/>
          </p:cNvPicPr>
          <p:nvPr/>
        </p:nvPicPr>
        <p:blipFill>
          <a:blip r:embed="rId4"/>
          <a:stretch>
            <a:fillRect/>
          </a:stretch>
        </p:blipFill>
        <p:spPr>
          <a:xfrm>
            <a:off x="3033455" y="5438076"/>
            <a:ext cx="134549" cy="195707"/>
          </a:xfrm>
          <a:prstGeom prst="rect">
            <a:avLst/>
          </a:prstGeom>
        </p:spPr>
      </p:pic>
      <p:sp>
        <p:nvSpPr>
          <p:cNvPr id="23" name="TextBox 22"/>
          <p:cNvSpPr txBox="1"/>
          <p:nvPr/>
        </p:nvSpPr>
        <p:spPr>
          <a:xfrm>
            <a:off x="3208564" y="5448300"/>
            <a:ext cx="8533693" cy="194310"/>
          </a:xfrm>
          <a:prstGeom prst="rect">
            <a:avLst/>
          </a:prstGeom>
          <a:noFill/>
        </p:spPr>
        <p:txBody>
          <a:bodyPr wrap="none" lIns="0" rIns="0" tIns="0" bIns="0">
            <a:spAutoFit/>
          </a:bodyPr>
          <a:lstStyle/>
          <a:p>
            <a:r>
              <a:rPr sz="1150" b="0">
                <a:solidFill>
                  <a:srgbClr val="2E2E2E"/>
                </a:solidFill>
                <a:latin typeface="Calibri"/>
              </a:rPr>
              <a:t>X higher value than metal alloys segment in 2036. Among removable partial dentures by material type, high-performance polymers segment is</a:t>
            </a:r>
          </a:p>
        </p:txBody>
      </p:sp>
      <p:sp>
        <p:nvSpPr>
          <p:cNvPr id="24" name="TextBox 23"/>
          <p:cNvSpPr txBox="1"/>
          <p:nvPr/>
        </p:nvSpPr>
        <p:spPr>
          <a:xfrm>
            <a:off x="276225" y="562356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5613336"/>
            <a:ext cx="134549" cy="195707"/>
          </a:xfrm>
          <a:prstGeom prst="rect">
            <a:avLst/>
          </a:prstGeom>
        </p:spPr>
      </p:pic>
      <p:sp>
        <p:nvSpPr>
          <p:cNvPr id="26" name="TextBox 25"/>
          <p:cNvSpPr txBox="1"/>
          <p:nvPr/>
        </p:nvSpPr>
        <p:spPr>
          <a:xfrm>
            <a:off x="2886495" y="56235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851397"/>
            <a:ext cx="6736308" cy="194310"/>
          </a:xfrm>
          <a:prstGeom prst="rect">
            <a:avLst/>
          </a:prstGeom>
          <a:noFill/>
        </p:spPr>
        <p:txBody>
          <a:bodyPr wrap="none" lIns="0" rIns="0" tIns="0" bIns="0">
            <a:spAutoFit/>
          </a:bodyPr>
          <a:lstStyle/>
          <a:p>
            <a:r>
              <a:rPr sz="1150" b="0">
                <a:solidFill>
                  <a:srgbClr val="2E2E2E"/>
                </a:solidFill>
                <a:latin typeface="Calibri"/>
              </a:rPr>
              <a:t>In terms of value share by material type, the acrylic / resin segment is expected to dominate the market, gaining</a:t>
            </a:r>
          </a:p>
        </p:txBody>
      </p:sp>
      <p:pic>
        <p:nvPicPr>
          <p:cNvPr id="28" name="Picture 27" descr="lock.png"/>
          <p:cNvPicPr>
            <a:picLocks noChangeAspect="1"/>
          </p:cNvPicPr>
          <p:nvPr/>
        </p:nvPicPr>
        <p:blipFill>
          <a:blip r:embed="rId4"/>
          <a:stretch>
            <a:fillRect/>
          </a:stretch>
        </p:blipFill>
        <p:spPr>
          <a:xfrm>
            <a:off x="6961687" y="5841174"/>
            <a:ext cx="134549" cy="195707"/>
          </a:xfrm>
          <a:prstGeom prst="rect">
            <a:avLst/>
          </a:prstGeom>
        </p:spPr>
      </p:pic>
      <p:sp>
        <p:nvSpPr>
          <p:cNvPr id="29" name="TextBox 28"/>
          <p:cNvSpPr txBox="1"/>
          <p:nvPr/>
        </p:nvSpPr>
        <p:spPr>
          <a:xfrm>
            <a:off x="7136796" y="58513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31939" y="5841174"/>
            <a:ext cx="134549" cy="195707"/>
          </a:xfrm>
          <a:prstGeom prst="rect">
            <a:avLst/>
          </a:prstGeom>
        </p:spPr>
      </p:pic>
      <p:sp>
        <p:nvSpPr>
          <p:cNvPr id="31" name="TextBox 30"/>
          <p:cNvSpPr txBox="1"/>
          <p:nvPr/>
        </p:nvSpPr>
        <p:spPr>
          <a:xfrm>
            <a:off x="8707048" y="5851397"/>
            <a:ext cx="2579588" cy="194310"/>
          </a:xfrm>
          <a:prstGeom prst="rect">
            <a:avLst/>
          </a:prstGeom>
          <a:noFill/>
        </p:spPr>
        <p:txBody>
          <a:bodyPr wrap="none" lIns="0" rIns="0" tIns="0" bIns="0">
            <a:spAutoFit/>
          </a:bodyPr>
          <a:lstStyle/>
          <a:p>
            <a:r>
              <a:rPr sz="1150" b="0">
                <a:solidFill>
                  <a:srgbClr val="2E2E2E"/>
                </a:solidFill>
                <a:latin typeface="Calibri"/>
              </a:rPr>
              <a:t>share by 2036. The flexible thermoplastics</a:t>
            </a:r>
          </a:p>
        </p:txBody>
      </p:sp>
      <p:sp>
        <p:nvSpPr>
          <p:cNvPr id="32" name="TextBox 31"/>
          <p:cNvSpPr txBox="1"/>
          <p:nvPr/>
        </p:nvSpPr>
        <p:spPr>
          <a:xfrm>
            <a:off x="276225" y="6026657"/>
            <a:ext cx="1725538" cy="194310"/>
          </a:xfrm>
          <a:prstGeom prst="rect">
            <a:avLst/>
          </a:prstGeom>
          <a:noFill/>
        </p:spPr>
        <p:txBody>
          <a:bodyPr wrap="none" lIns="0" rIns="0" tIns="0" bIns="0">
            <a:spAutoFit/>
          </a:bodyPr>
          <a:lstStyle/>
          <a:p>
            <a:r>
              <a:rPr sz="1150" b="0">
                <a:solidFill>
                  <a:srgbClr val="2E2E2E"/>
                </a:solidFill>
                <a:latin typeface="Calibri"/>
              </a:rPr>
              <a:t>segment is expected to lose</a:t>
            </a:r>
          </a:p>
        </p:txBody>
      </p:sp>
      <p:pic>
        <p:nvPicPr>
          <p:cNvPr id="33" name="Picture 32" descr="lock.png"/>
          <p:cNvPicPr>
            <a:picLocks noChangeAspect="1"/>
          </p:cNvPicPr>
          <p:nvPr/>
        </p:nvPicPr>
        <p:blipFill>
          <a:blip r:embed="rId4"/>
          <a:stretch>
            <a:fillRect/>
          </a:stretch>
        </p:blipFill>
        <p:spPr>
          <a:xfrm>
            <a:off x="1950917" y="6016434"/>
            <a:ext cx="134549" cy="195707"/>
          </a:xfrm>
          <a:prstGeom prst="rect">
            <a:avLst/>
          </a:prstGeom>
        </p:spPr>
      </p:pic>
      <p:sp>
        <p:nvSpPr>
          <p:cNvPr id="34" name="TextBox 33"/>
          <p:cNvSpPr txBox="1"/>
          <p:nvPr/>
        </p:nvSpPr>
        <p:spPr>
          <a:xfrm>
            <a:off x="2126026" y="60266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713530" y="6016434"/>
            <a:ext cx="134549" cy="195707"/>
          </a:xfrm>
          <a:prstGeom prst="rect">
            <a:avLst/>
          </a:prstGeom>
        </p:spPr>
      </p:pic>
      <p:sp>
        <p:nvSpPr>
          <p:cNvPr id="36" name="TextBox 35"/>
          <p:cNvSpPr txBox="1"/>
          <p:nvPr/>
        </p:nvSpPr>
        <p:spPr>
          <a:xfrm>
            <a:off x="4888640" y="60266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Material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8531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805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043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High-performance Polymers</a:t>
            </a:r>
          </a:p>
        </p:txBody>
      </p:sp>
      <p:sp>
        <p:nvSpPr>
          <p:cNvPr id="19" name="BPS Value 1"/>
          <p:cNvSpPr txBox="1"/>
          <p:nvPr/>
        </p:nvSpPr>
        <p:spPr>
          <a:xfrm>
            <a:off x="6896100" y="186626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51029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055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293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Thermoplastics</a:t>
            </a:r>
          </a:p>
        </p:txBody>
      </p:sp>
      <p:sp>
        <p:nvSpPr>
          <p:cNvPr id="23" name="BPS Value 2"/>
          <p:cNvSpPr txBox="1"/>
          <p:nvPr/>
        </p:nvSpPr>
        <p:spPr>
          <a:xfrm>
            <a:off x="6896100" y="24912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57692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57216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4959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 Alloys</a:t>
            </a:r>
          </a:p>
        </p:txBody>
      </p:sp>
      <p:sp>
        <p:nvSpPr>
          <p:cNvPr id="27" name="BPS Value 3"/>
          <p:cNvSpPr txBox="1"/>
          <p:nvPr/>
        </p:nvSpPr>
        <p:spPr>
          <a:xfrm>
            <a:off x="6896100" y="35578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23814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3337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571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 Resin</a:t>
            </a:r>
          </a:p>
        </p:txBody>
      </p:sp>
      <p:sp>
        <p:nvSpPr>
          <p:cNvPr id="31" name="BPS Value 4"/>
          <p:cNvSpPr txBox="1"/>
          <p:nvPr/>
        </p:nvSpPr>
        <p:spPr>
          <a:xfrm>
            <a:off x="6896100" y="521909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Material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192313" cy="194310"/>
          </a:xfrm>
          <a:prstGeom prst="rect">
            <a:avLst/>
          </a:prstGeom>
          <a:noFill/>
        </p:spPr>
        <p:txBody>
          <a:bodyPr wrap="none" lIns="0" rIns="0" tIns="0" bIns="0">
            <a:spAutoFit/>
          </a:bodyPr>
          <a:lstStyle/>
          <a:p>
            <a:r>
              <a:rPr sz="1150" b="0">
                <a:solidFill>
                  <a:srgbClr val="2E2E2E"/>
                </a:solidFill>
                <a:latin typeface="Calibri"/>
              </a:rPr>
              <a:t>Among removable partial dentures by material type,</a:t>
            </a:r>
          </a:p>
        </p:txBody>
      </p:sp>
      <p:sp>
        <p:nvSpPr>
          <p:cNvPr id="39" name="TextBox 38"/>
          <p:cNvSpPr txBox="1"/>
          <p:nvPr/>
        </p:nvSpPr>
        <p:spPr>
          <a:xfrm>
            <a:off x="7829550" y="1575435"/>
            <a:ext cx="3856384" cy="194310"/>
          </a:xfrm>
          <a:prstGeom prst="rect">
            <a:avLst/>
          </a:prstGeom>
          <a:noFill/>
        </p:spPr>
        <p:txBody>
          <a:bodyPr wrap="none" lIns="0" rIns="0" tIns="0" bIns="0">
            <a:spAutoFit/>
          </a:bodyPr>
          <a:lstStyle/>
          <a:p>
            <a:r>
              <a:rPr sz="1150" b="0">
                <a:solidFill>
                  <a:srgbClr val="2E2E2E"/>
                </a:solidFill>
                <a:latin typeface="Calibri"/>
              </a:rPr>
              <a:t>high-performance polymers segment is expected to witness the</a:t>
            </a:r>
          </a:p>
        </p:txBody>
      </p:sp>
      <p:sp>
        <p:nvSpPr>
          <p:cNvPr id="40" name="TextBox 39"/>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41" name="Picture 40" descr="lock.png"/>
          <p:cNvPicPr>
            <a:picLocks noChangeAspect="1"/>
          </p:cNvPicPr>
          <p:nvPr/>
        </p:nvPicPr>
        <p:blipFill>
          <a:blip r:embed="rId5"/>
          <a:stretch>
            <a:fillRect/>
          </a:stretch>
        </p:blipFill>
        <p:spPr>
          <a:xfrm>
            <a:off x="8811057" y="1740471"/>
            <a:ext cx="134549" cy="195707"/>
          </a:xfrm>
          <a:prstGeom prst="rect">
            <a:avLst/>
          </a:prstGeom>
        </p:spPr>
      </p:pic>
      <p:sp>
        <p:nvSpPr>
          <p:cNvPr id="42" name="TextBox 41"/>
          <p:cNvSpPr txBox="1"/>
          <p:nvPr/>
        </p:nvSpPr>
        <p:spPr>
          <a:xfrm>
            <a:off x="8986166" y="1750695"/>
            <a:ext cx="2581585" cy="194310"/>
          </a:xfrm>
          <a:prstGeom prst="rect">
            <a:avLst/>
          </a:prstGeom>
          <a:noFill/>
        </p:spPr>
        <p:txBody>
          <a:bodyPr wrap="none" lIns="0" rIns="0" tIns="0" bIns="0">
            <a:spAutoFit/>
          </a:bodyPr>
          <a:lstStyle/>
          <a:p>
            <a:r>
              <a:rPr sz="1150" b="0">
                <a:solidFill>
                  <a:srgbClr val="2E2E2E"/>
                </a:solidFill>
                <a:latin typeface="Calibri"/>
              </a:rPr>
              <a:t>over the forecast period. In terms of value</a:t>
            </a:r>
          </a:p>
        </p:txBody>
      </p:sp>
      <p:sp>
        <p:nvSpPr>
          <p:cNvPr id="43" name="TextBox 42"/>
          <p:cNvSpPr txBox="1"/>
          <p:nvPr/>
        </p:nvSpPr>
        <p:spPr>
          <a:xfrm>
            <a:off x="7829550" y="1925955"/>
            <a:ext cx="3909441" cy="194310"/>
          </a:xfrm>
          <a:prstGeom prst="rect">
            <a:avLst/>
          </a:prstGeom>
          <a:noFill/>
        </p:spPr>
        <p:txBody>
          <a:bodyPr wrap="none" lIns="0" rIns="0" tIns="0" bIns="0">
            <a:spAutoFit/>
          </a:bodyPr>
          <a:lstStyle/>
          <a:p>
            <a:r>
              <a:rPr sz="1150" b="0">
                <a:solidFill>
                  <a:srgbClr val="2E2E2E"/>
                </a:solidFill>
                <a:latin typeface="Calibri"/>
              </a:rPr>
              <a:t>share by material type, the acrylic / resin segment is expected to</a:t>
            </a:r>
          </a:p>
        </p:txBody>
      </p:sp>
      <p:sp>
        <p:nvSpPr>
          <p:cNvPr id="44" name="TextBox 43"/>
          <p:cNvSpPr txBox="1"/>
          <p:nvPr/>
        </p:nvSpPr>
        <p:spPr>
          <a:xfrm>
            <a:off x="7829550" y="2101215"/>
            <a:ext cx="1837072" cy="194310"/>
          </a:xfrm>
          <a:prstGeom prst="rect">
            <a:avLst/>
          </a:prstGeom>
          <a:noFill/>
        </p:spPr>
        <p:txBody>
          <a:bodyPr wrap="none" lIns="0" rIns="0" tIns="0" bIns="0">
            <a:spAutoFit/>
          </a:bodyPr>
          <a:lstStyle/>
          <a:p>
            <a:r>
              <a:rPr sz="1150" b="0">
                <a:solidFill>
                  <a:srgbClr val="2E2E2E"/>
                </a:solidFill>
                <a:latin typeface="Calibri"/>
              </a:rPr>
              <a:t>dominate the market, gaining</a:t>
            </a:r>
          </a:p>
        </p:txBody>
      </p:sp>
      <p:pic>
        <p:nvPicPr>
          <p:cNvPr id="45" name="Picture 44" descr="lock.png"/>
          <p:cNvPicPr>
            <a:picLocks noChangeAspect="1"/>
          </p:cNvPicPr>
          <p:nvPr/>
        </p:nvPicPr>
        <p:blipFill>
          <a:blip r:embed="rId5"/>
          <a:stretch>
            <a:fillRect/>
          </a:stretch>
        </p:blipFill>
        <p:spPr>
          <a:xfrm>
            <a:off x="9615776" y="2090991"/>
            <a:ext cx="134549" cy="195707"/>
          </a:xfrm>
          <a:prstGeom prst="rect">
            <a:avLst/>
          </a:prstGeom>
        </p:spPr>
      </p:pic>
      <p:sp>
        <p:nvSpPr>
          <p:cNvPr id="46" name="TextBox 45"/>
          <p:cNvSpPr txBox="1"/>
          <p:nvPr/>
        </p:nvSpPr>
        <p:spPr>
          <a:xfrm>
            <a:off x="979088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1186028" y="2090991"/>
            <a:ext cx="134549" cy="195707"/>
          </a:xfrm>
          <a:prstGeom prst="rect">
            <a:avLst/>
          </a:prstGeom>
        </p:spPr>
      </p:pic>
      <p:sp>
        <p:nvSpPr>
          <p:cNvPr id="48" name="TextBox 47"/>
          <p:cNvSpPr txBox="1"/>
          <p:nvPr/>
        </p:nvSpPr>
        <p:spPr>
          <a:xfrm>
            <a:off x="7829550"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504313"/>
            <a:ext cx="3358901" cy="194310"/>
          </a:xfrm>
          <a:prstGeom prst="rect">
            <a:avLst/>
          </a:prstGeom>
          <a:noFill/>
        </p:spPr>
        <p:txBody>
          <a:bodyPr wrap="none" lIns="0" rIns="0" tIns="0" bIns="0">
            <a:spAutoFit/>
          </a:bodyPr>
          <a:lstStyle/>
          <a:p>
            <a:r>
              <a:rPr sz="1150" b="0">
                <a:solidFill>
                  <a:srgbClr val="2E2E2E"/>
                </a:solidFill>
                <a:latin typeface="Calibri"/>
              </a:rPr>
              <a:t>The flexible thermoplastics segment is expected to lose</a:t>
            </a:r>
          </a:p>
        </p:txBody>
      </p:sp>
      <p:pic>
        <p:nvPicPr>
          <p:cNvPr id="50" name="Picture 49" descr="lock.png"/>
          <p:cNvPicPr>
            <a:picLocks noChangeAspect="1"/>
          </p:cNvPicPr>
          <p:nvPr/>
        </p:nvPicPr>
        <p:blipFill>
          <a:blip r:embed="rId5"/>
          <a:stretch>
            <a:fillRect/>
          </a:stretch>
        </p:blipFill>
        <p:spPr>
          <a:xfrm>
            <a:off x="11137605" y="2494089"/>
            <a:ext cx="134549" cy="195707"/>
          </a:xfrm>
          <a:prstGeom prst="rect">
            <a:avLst/>
          </a:prstGeom>
        </p:spPr>
      </p:pic>
      <p:sp>
        <p:nvSpPr>
          <p:cNvPr id="51" name="TextBox 50"/>
          <p:cNvSpPr txBox="1"/>
          <p:nvPr/>
        </p:nvSpPr>
        <p:spPr>
          <a:xfrm>
            <a:off x="11312715" y="250431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2" name="TextBox 51"/>
          <p:cNvSpPr txBox="1"/>
          <p:nvPr/>
        </p:nvSpPr>
        <p:spPr>
          <a:xfrm>
            <a:off x="7829550" y="267957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3" name="Picture 52" descr="lock.png"/>
          <p:cNvPicPr>
            <a:picLocks noChangeAspect="1"/>
          </p:cNvPicPr>
          <p:nvPr/>
        </p:nvPicPr>
        <p:blipFill>
          <a:blip r:embed="rId5"/>
          <a:stretch>
            <a:fillRect/>
          </a:stretch>
        </p:blipFill>
        <p:spPr>
          <a:xfrm>
            <a:off x="10161752" y="2669349"/>
            <a:ext cx="134549" cy="195707"/>
          </a:xfrm>
          <a:prstGeom prst="rect">
            <a:avLst/>
          </a:prstGeom>
        </p:spPr>
      </p:pic>
      <p:sp>
        <p:nvSpPr>
          <p:cNvPr id="54" name="TextBox 53"/>
          <p:cNvSpPr txBox="1"/>
          <p:nvPr/>
        </p:nvSpPr>
        <p:spPr>
          <a:xfrm>
            <a:off x="10336861"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00406"/>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348748" y="2694815"/>
            <a:ext cx="366712" cy="533400"/>
          </a:xfrm>
          <a:prstGeom prst="rect">
            <a:avLst/>
          </a:prstGeom>
        </p:spPr>
      </p:pic>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E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A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00406"/>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348748" y="2694815"/>
            <a:ext cx="366712" cy="533400"/>
          </a:xfrm>
          <a:prstGeom prst="rect">
            <a:avLst/>
          </a:prstGeom>
        </p:spPr>
      </p:pic>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E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Technology segment categorizes the market by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Digital Fabrication</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Fabrication</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Technology split shows how demand is distributed across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Technology segment is projected to grow at a CAGR of 4.4%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72_1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937_6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4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453_1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793_2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8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59" name="TextBox 58"/>
          <p:cNvSpPr txBox="1"/>
          <p:nvPr/>
        </p:nvSpPr>
        <p:spPr>
          <a:xfrm>
            <a:off x="485775" y="4397077"/>
            <a:ext cx="2800622" cy="186689"/>
          </a:xfrm>
          <a:prstGeom prst="rect">
            <a:avLst/>
          </a:prstGeom>
          <a:noFill/>
        </p:spPr>
        <p:txBody>
          <a:bodyPr wrap="none" lIns="0" rIns="0" tIns="0" bIns="0">
            <a:spAutoFit/>
          </a:bodyPr>
          <a:lstStyle/>
          <a:p>
            <a:r>
              <a:rPr sz="1100" b="0">
                <a:solidFill>
                  <a:srgbClr val="2E2E2E"/>
                </a:solidFill>
                <a:latin typeface="Calibri"/>
              </a:rPr>
              <a:t>technology, conventional fabrication segment is</a:t>
            </a:r>
          </a:p>
        </p:txBody>
      </p:sp>
      <p:sp>
        <p:nvSpPr>
          <p:cNvPr id="60" name="TextBox 59"/>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61" name="Picture 60" descr="lock.png"/>
          <p:cNvPicPr>
            <a:picLocks noChangeAspect="1"/>
          </p:cNvPicPr>
          <p:nvPr/>
        </p:nvPicPr>
        <p:blipFill>
          <a:blip r:embed="rId10"/>
          <a:stretch>
            <a:fillRect/>
          </a:stretch>
        </p:blipFill>
        <p:spPr>
          <a:xfrm>
            <a:off x="2815059" y="4554938"/>
            <a:ext cx="128699" cy="187198"/>
          </a:xfrm>
          <a:prstGeom prst="rect">
            <a:avLst/>
          </a:prstGeom>
        </p:spPr>
      </p:pic>
      <p:sp>
        <p:nvSpPr>
          <p:cNvPr id="62" name="TextBox 61"/>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63" name="TextBox 62"/>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64" name="TextBox 63"/>
          <p:cNvSpPr txBox="1"/>
          <p:nvPr/>
        </p:nvSpPr>
        <p:spPr>
          <a:xfrm>
            <a:off x="485775" y="4899997"/>
            <a:ext cx="2634183" cy="186689"/>
          </a:xfrm>
          <a:prstGeom prst="rect">
            <a:avLst/>
          </a:prstGeom>
          <a:noFill/>
        </p:spPr>
        <p:txBody>
          <a:bodyPr wrap="none" lIns="0" rIns="0" tIns="0" bIns="0">
            <a:spAutoFit/>
          </a:bodyPr>
          <a:lstStyle/>
          <a:p>
            <a:r>
              <a:rPr sz="1100" b="0">
                <a:solidFill>
                  <a:srgbClr val="2E2E2E"/>
                </a:solidFill>
                <a:latin typeface="Calibri"/>
              </a:rPr>
              <a:t>technology, the digital fabrication segment is</a:t>
            </a:r>
          </a:p>
        </p:txBody>
      </p:sp>
      <p:sp>
        <p:nvSpPr>
          <p:cNvPr id="65" name="TextBox 64"/>
          <p:cNvSpPr txBox="1"/>
          <p:nvPr/>
        </p:nvSpPr>
        <p:spPr>
          <a:xfrm>
            <a:off x="485775" y="506763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6" name="Picture 65" descr="lock.png"/>
          <p:cNvPicPr>
            <a:picLocks noChangeAspect="1"/>
          </p:cNvPicPr>
          <p:nvPr/>
        </p:nvPicPr>
        <p:blipFill>
          <a:blip r:embed="rId10"/>
          <a:stretch>
            <a:fillRect/>
          </a:stretch>
        </p:blipFill>
        <p:spPr>
          <a:xfrm>
            <a:off x="2822716" y="5057858"/>
            <a:ext cx="128699" cy="187198"/>
          </a:xfrm>
          <a:prstGeom prst="rect">
            <a:avLst/>
          </a:prstGeom>
        </p:spPr>
      </p:pic>
      <p:sp>
        <p:nvSpPr>
          <p:cNvPr id="67" name="TextBox 66"/>
          <p:cNvSpPr txBox="1"/>
          <p:nvPr/>
        </p:nvSpPr>
        <p:spPr>
          <a:xfrm>
            <a:off x="2990212"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54101" cy="186689"/>
          </a:xfrm>
          <a:prstGeom prst="rect">
            <a:avLst/>
          </a:prstGeom>
          <a:noFill/>
        </p:spPr>
        <p:txBody>
          <a:bodyPr wrap="none" lIns="0" rIns="0" tIns="0" bIns="0">
            <a:spAutoFit/>
          </a:bodyPr>
          <a:lstStyle/>
          <a:p>
            <a:r>
              <a:rPr sz="1100" b="0">
                <a:solidFill>
                  <a:srgbClr val="2E2E2E"/>
                </a:solidFill>
                <a:latin typeface="Calibri"/>
              </a:rPr>
              <a:t>▪ ¶ Digital fabrication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1941686" cy="186689"/>
          </a:xfrm>
          <a:prstGeom prst="rect">
            <a:avLst/>
          </a:prstGeom>
          <a:noFill/>
        </p:spPr>
        <p:txBody>
          <a:bodyPr wrap="none" lIns="0" rIns="0" tIns="0" bIns="0">
            <a:spAutoFit/>
          </a:bodyPr>
          <a:lstStyle/>
          <a:p>
            <a:r>
              <a:rPr sz="1100" b="0">
                <a:solidFill>
                  <a:srgbClr val="2E2E2E"/>
                </a:solidFill>
                <a:latin typeface="Calibri"/>
              </a:rPr>
              <a:t>X higher value than conventional</a:t>
            </a:r>
          </a:p>
        </p:txBody>
      </p:sp>
      <p:sp>
        <p:nvSpPr>
          <p:cNvPr id="75" name="TextBox 74"/>
          <p:cNvSpPr txBox="1"/>
          <p:nvPr/>
        </p:nvSpPr>
        <p:spPr>
          <a:xfrm>
            <a:off x="485775" y="5788489"/>
            <a:ext cx="1703213" cy="186689"/>
          </a:xfrm>
          <a:prstGeom prst="rect">
            <a:avLst/>
          </a:prstGeom>
          <a:noFill/>
        </p:spPr>
        <p:txBody>
          <a:bodyPr wrap="none" lIns="0" rIns="0" tIns="0" bIns="0">
            <a:spAutoFit/>
          </a:bodyPr>
          <a:lstStyle/>
          <a:p>
            <a:r>
              <a:rPr sz="1100" b="0">
                <a:solidFill>
                  <a:srgbClr val="2E2E2E"/>
                </a:solidFill>
                <a:latin typeface="Calibri"/>
              </a:rPr>
              <a:t>fabrication segment in 2036.</a:t>
            </a:r>
          </a:p>
        </p:txBody>
      </p:sp>
      <p:sp>
        <p:nvSpPr>
          <p:cNvPr id="76" name="TextBox 75"/>
          <p:cNvSpPr txBox="1"/>
          <p:nvPr/>
        </p:nvSpPr>
        <p:spPr>
          <a:xfrm>
            <a:off x="3838575" y="4229437"/>
            <a:ext cx="1260861" cy="186689"/>
          </a:xfrm>
          <a:prstGeom prst="rect">
            <a:avLst/>
          </a:prstGeom>
          <a:noFill/>
        </p:spPr>
        <p:txBody>
          <a:bodyPr wrap="none" lIns="0" rIns="0" tIns="0" bIns="0">
            <a:spAutoFit/>
          </a:bodyPr>
          <a:lstStyle/>
          <a:p>
            <a:r>
              <a:rPr sz="1100" b="0">
                <a:solidFill>
                  <a:srgbClr val="2E2E2E"/>
                </a:solidFill>
                <a:latin typeface="Calibri"/>
              </a:rPr>
              <a:t>● Digital Fabrication:</a:t>
            </a:r>
          </a:p>
        </p:txBody>
      </p:sp>
      <p:pic>
        <p:nvPicPr>
          <p:cNvPr id="77" name="Picture 76" descr="lock.png"/>
          <p:cNvPicPr>
            <a:picLocks noChangeAspect="1"/>
          </p:cNvPicPr>
          <p:nvPr/>
        </p:nvPicPr>
        <p:blipFill>
          <a:blip r:embed="rId10"/>
          <a:stretch>
            <a:fillRect/>
          </a:stretch>
        </p:blipFill>
        <p:spPr>
          <a:xfrm>
            <a:off x="5047488" y="4219658"/>
            <a:ext cx="128699" cy="187198"/>
          </a:xfrm>
          <a:prstGeom prst="rect">
            <a:avLst/>
          </a:prstGeom>
        </p:spPr>
      </p:pic>
      <p:sp>
        <p:nvSpPr>
          <p:cNvPr id="78" name="TextBox 77"/>
          <p:cNvSpPr txBox="1"/>
          <p:nvPr/>
        </p:nvSpPr>
        <p:spPr>
          <a:xfrm>
            <a:off x="521498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74434" y="4219658"/>
            <a:ext cx="128699" cy="187198"/>
          </a:xfrm>
          <a:prstGeom prst="rect">
            <a:avLst/>
          </a:prstGeom>
        </p:spPr>
      </p:pic>
      <p:sp>
        <p:nvSpPr>
          <p:cNvPr id="80" name="TextBox 79"/>
          <p:cNvSpPr txBox="1"/>
          <p:nvPr/>
        </p:nvSpPr>
        <p:spPr>
          <a:xfrm>
            <a:off x="624193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1651585" cy="186689"/>
          </a:xfrm>
          <a:prstGeom prst="rect">
            <a:avLst/>
          </a:prstGeom>
          <a:noFill/>
        </p:spPr>
        <p:txBody>
          <a:bodyPr wrap="none" lIns="0" rIns="0" tIns="0" bIns="0">
            <a:spAutoFit/>
          </a:bodyPr>
          <a:lstStyle/>
          <a:p>
            <a:r>
              <a:rPr sz="1100" b="0">
                <a:solidFill>
                  <a:srgbClr val="2E2E2E"/>
                </a:solidFill>
                <a:latin typeface="Calibri"/>
              </a:rPr>
              <a:t>● Conventional Fabrication:</a:t>
            </a:r>
          </a:p>
        </p:txBody>
      </p:sp>
      <p:pic>
        <p:nvPicPr>
          <p:cNvPr id="82" name="Picture 81" descr="lock.png"/>
          <p:cNvPicPr>
            <a:picLocks noChangeAspect="1"/>
          </p:cNvPicPr>
          <p:nvPr/>
        </p:nvPicPr>
        <p:blipFill>
          <a:blip r:embed="rId10"/>
          <a:stretch>
            <a:fillRect/>
          </a:stretch>
        </p:blipFill>
        <p:spPr>
          <a:xfrm>
            <a:off x="5438211" y="4437590"/>
            <a:ext cx="128699" cy="187198"/>
          </a:xfrm>
          <a:prstGeom prst="rect">
            <a:avLst/>
          </a:prstGeom>
        </p:spPr>
      </p:pic>
      <p:sp>
        <p:nvSpPr>
          <p:cNvPr id="83" name="TextBox 82"/>
          <p:cNvSpPr txBox="1"/>
          <p:nvPr/>
        </p:nvSpPr>
        <p:spPr>
          <a:xfrm>
            <a:off x="560570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6465157" y="4437590"/>
            <a:ext cx="128699" cy="187198"/>
          </a:xfrm>
          <a:prstGeom prst="rect">
            <a:avLst/>
          </a:prstGeom>
        </p:spPr>
      </p:pic>
      <p:sp>
        <p:nvSpPr>
          <p:cNvPr id="85" name="TextBox 84"/>
          <p:cNvSpPr txBox="1"/>
          <p:nvPr/>
        </p:nvSpPr>
        <p:spPr>
          <a:xfrm>
            <a:off x="6632653" y="444736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86" name="TextBox 85"/>
          <p:cNvSpPr txBox="1"/>
          <p:nvPr/>
        </p:nvSpPr>
        <p:spPr>
          <a:xfrm>
            <a:off x="3838575" y="461500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Technology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53291" cy="186689"/>
          </a:xfrm>
          <a:prstGeom prst="rect">
            <a:avLst/>
          </a:prstGeom>
          <a:noFill/>
        </p:spPr>
        <p:txBody>
          <a:bodyPr wrap="none" lIns="0" rIns="0" tIns="0" bIns="0">
            <a:spAutoFit/>
          </a:bodyPr>
          <a:lstStyle/>
          <a:p>
            <a:r>
              <a:rPr sz="1100" b="0">
                <a:solidFill>
                  <a:srgbClr val="2E2E2E"/>
                </a:solidFill>
                <a:latin typeface="Calibri"/>
              </a:rPr>
              <a:t>Conventional fabrication followed by digital fabrication are expected to be the two most attractive technology segments in the global removable partial dentures market in terms of value over the forecast</a:t>
            </a:r>
          </a:p>
        </p:txBody>
      </p:sp>
      <p:sp>
        <p:nvSpPr>
          <p:cNvPr id="21" name="TextBox 20"/>
          <p:cNvSpPr txBox="1"/>
          <p:nvPr/>
        </p:nvSpPr>
        <p:spPr>
          <a:xfrm>
            <a:off x="257175" y="5945505"/>
            <a:ext cx="4546855" cy="186689"/>
          </a:xfrm>
          <a:prstGeom prst="rect">
            <a:avLst/>
          </a:prstGeom>
          <a:noFill/>
        </p:spPr>
        <p:txBody>
          <a:bodyPr wrap="none" lIns="0" rIns="0" tIns="0" bIns="0">
            <a:spAutoFit/>
          </a:bodyPr>
          <a:lstStyle/>
          <a:p>
            <a:r>
              <a:rPr sz="1100" b="0">
                <a:solidFill>
                  <a:srgbClr val="2E2E2E"/>
                </a:solidFill>
                <a:latin typeface="Calibri"/>
              </a:rPr>
              <a:t>period. Conventional fabrication and digital fabrication exhibit a CAGR index of</a:t>
            </a:r>
          </a:p>
        </p:txBody>
      </p:sp>
      <p:pic>
        <p:nvPicPr>
          <p:cNvPr id="22" name="Picture 21" descr="lock.png"/>
          <p:cNvPicPr>
            <a:picLocks noChangeAspect="1"/>
          </p:cNvPicPr>
          <p:nvPr/>
        </p:nvPicPr>
        <p:blipFill>
          <a:blip r:embed="rId6"/>
          <a:stretch>
            <a:fillRect/>
          </a:stretch>
        </p:blipFill>
        <p:spPr>
          <a:xfrm>
            <a:off x="4752082" y="5935726"/>
            <a:ext cx="128699" cy="187198"/>
          </a:xfrm>
          <a:prstGeom prst="rect">
            <a:avLst/>
          </a:prstGeom>
        </p:spPr>
      </p:pic>
      <p:sp>
        <p:nvSpPr>
          <p:cNvPr id="23" name="TextBox 22"/>
          <p:cNvSpPr txBox="1"/>
          <p:nvPr/>
        </p:nvSpPr>
        <p:spPr>
          <a:xfrm>
            <a:off x="4919578"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157472" y="5935726"/>
            <a:ext cx="128699" cy="187198"/>
          </a:xfrm>
          <a:prstGeom prst="rect">
            <a:avLst/>
          </a:prstGeom>
        </p:spPr>
      </p:pic>
      <p:sp>
        <p:nvSpPr>
          <p:cNvPr id="25" name="TextBox 24"/>
          <p:cNvSpPr txBox="1"/>
          <p:nvPr/>
        </p:nvSpPr>
        <p:spPr>
          <a:xfrm>
            <a:off x="5324968"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6933941" y="5935726"/>
            <a:ext cx="128699" cy="187198"/>
          </a:xfrm>
          <a:prstGeom prst="rect">
            <a:avLst/>
          </a:prstGeom>
        </p:spPr>
      </p:pic>
      <p:sp>
        <p:nvSpPr>
          <p:cNvPr id="27" name="TextBox 26"/>
          <p:cNvSpPr txBox="1"/>
          <p:nvPr/>
        </p:nvSpPr>
        <p:spPr>
          <a:xfrm>
            <a:off x="7101437"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339332" y="5935726"/>
            <a:ext cx="128699" cy="187198"/>
          </a:xfrm>
          <a:prstGeom prst="rect">
            <a:avLst/>
          </a:prstGeom>
        </p:spPr>
      </p:pic>
      <p:sp>
        <p:nvSpPr>
          <p:cNvPr id="29" name="TextBox 28"/>
          <p:cNvSpPr txBox="1"/>
          <p:nvPr/>
        </p:nvSpPr>
        <p:spPr>
          <a:xfrm>
            <a:off x="7506827"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061232" y="5935726"/>
            <a:ext cx="128699" cy="187198"/>
          </a:xfrm>
          <a:prstGeom prst="rect">
            <a:avLst/>
          </a:prstGeom>
        </p:spPr>
      </p:pic>
      <p:sp>
        <p:nvSpPr>
          <p:cNvPr id="31" name="TextBox 30"/>
          <p:cNvSpPr txBox="1"/>
          <p:nvPr/>
        </p:nvSpPr>
        <p:spPr>
          <a:xfrm>
            <a:off x="10228727" y="5945505"/>
            <a:ext cx="1042367" cy="186689"/>
          </a:xfrm>
          <a:prstGeom prst="rect">
            <a:avLst/>
          </a:prstGeom>
          <a:noFill/>
        </p:spPr>
        <p:txBody>
          <a:bodyPr wrap="none" lIns="0" rIns="0" tIns="0" bIns="0">
            <a:spAutoFit/>
          </a:bodyPr>
          <a:lstStyle/>
          <a:p>
            <a:r>
              <a:rPr sz="1100" b="0">
                <a:solidFill>
                  <a:srgbClr val="2E2E2E"/>
                </a:solidFill>
                <a:latin typeface="Calibri"/>
              </a:rPr>
              <a:t>. Bubbles right of</a:t>
            </a:r>
          </a:p>
        </p:txBody>
      </p:sp>
      <p:sp>
        <p:nvSpPr>
          <p:cNvPr id="32" name="TextBox 31"/>
          <p:cNvSpPr txBox="1"/>
          <p:nvPr/>
        </p:nvSpPr>
        <p:spPr>
          <a:xfrm>
            <a:off x="257175" y="6113145"/>
            <a:ext cx="3445899" cy="186689"/>
          </a:xfrm>
          <a:prstGeom prst="rect">
            <a:avLst/>
          </a:prstGeom>
          <a:noFill/>
        </p:spPr>
        <p:txBody>
          <a:bodyPr wrap="none" lIns="0" rIns="0" tIns="0" bIns="0">
            <a:spAutoFit/>
          </a:bodyPr>
          <a:lstStyle/>
          <a:p>
            <a:r>
              <a:rPr sz="1100" b="0">
                <a:solidFill>
                  <a:srgbClr val="2E2E2E"/>
                </a:solidFill>
                <a:latin typeface="Calibri"/>
              </a:rPr>
              <a:t>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Conventional Fabrication</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Digital Fabrication</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Technology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286250"/>
          </a:xfrm>
          <a:prstGeom prst="roundRect">
            <a:avLst>
              <a:gd name="adj" fmla="val 17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Technology (Units)</a:t>
            </a:r>
          </a:p>
        </p:txBody>
      </p:sp>
      <p:graphicFrame>
        <p:nvGraphicFramePr>
          <p:cNvPr id="13" name="Table 12"/>
          <p:cNvGraphicFramePr>
            <a:graphicFrameLocks noGrp="1"/>
          </p:cNvGraphicFramePr>
          <p:nvPr/>
        </p:nvGraphicFramePr>
        <p:xfrm>
          <a:off x="152400" y="1238250"/>
          <a:ext cx="11887208" cy="381952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886">
                <a:tc>
                  <a:txBody>
                    <a:bodyPr wrap="none"/>
                    <a:lstStyle/>
                    <a:p>
                      <a:pPr algn="l"/>
                      <a:r>
                        <a:rPr sz="1100" b="1">
                          <a:solidFill>
                            <a:srgbClr val="2E2E2E"/>
                          </a:solidFill>
                          <a:latin typeface="Calibri"/>
                        </a:rPr>
                        <a:t>Conventional</a:t>
                      </a:r>
                      <a:endParaRPr sz="1100"/>
                    </a:p>
                    <a:p>
                      <a:pPr algn="l"/>
                      <a:r>
                        <a:rPr sz="1100" b="1">
                          <a:solidFill>
                            <a:srgbClr val="2E2E2E"/>
                          </a:solidFill>
                          <a:latin typeface="Calibri"/>
                        </a:rPr>
                        <a:t>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Metal Casting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672">
                <a:tc>
                  <a:txBody>
                    <a:bodyPr wrap="none"/>
                    <a:lstStyle/>
                    <a:p>
                      <a:pPr algn="l"/>
                      <a:r>
                        <a:rPr sz="1100" b="1">
                          <a:solidFill>
                            <a:srgbClr val="2E2E2E"/>
                          </a:solidFill>
                          <a:latin typeface="Calibri"/>
                        </a:rPr>
                        <a:t>– Heat-cured /</a:t>
                      </a:r>
                      <a:endParaRPr sz="1100"/>
                    </a:p>
                    <a:p>
                      <a:pPr algn="l"/>
                      <a:r>
                        <a:rPr sz="1100" b="1">
                          <a:solidFill>
                            <a:srgbClr val="2E2E2E"/>
                          </a:solidFill>
                          <a:latin typeface="Calibri"/>
                        </a:rPr>
                        <a:t>Compression</a:t>
                      </a:r>
                      <a:endParaRPr sz="1100"/>
                    </a:p>
                    <a:p>
                      <a:pPr algn="l"/>
                      <a:r>
                        <a:rPr sz="1100" b="1">
                          <a:solidFill>
                            <a:srgbClr val="2E2E2E"/>
                          </a:solidFill>
                          <a:latin typeface="Calibri"/>
                        </a:rPr>
                        <a:t>Processing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Injection Molding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00">
                <a:tc>
                  <a:txBody>
                    <a:bodyPr wrap="none"/>
                    <a:lstStyle/>
                    <a:p>
                      <a:pPr algn="l"/>
                      <a:r>
                        <a:rPr sz="1100" b="1">
                          <a:solidFill>
                            <a:srgbClr val="2E2E2E"/>
                          </a:solidFill>
                          <a:latin typeface="Calibri"/>
                        </a:rPr>
                        <a:t>Digital 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CAD/CAM Milling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672">
                <a:tc>
                  <a:txBody>
                    <a:bodyPr wrap="none"/>
                    <a:lstStyle/>
                    <a:p>
                      <a:pPr algn="l"/>
                      <a:r>
                        <a:rPr sz="1100" b="1">
                          <a:solidFill>
                            <a:srgbClr val="2E2E2E"/>
                          </a:solidFill>
                          <a:latin typeface="Calibri"/>
                        </a:rPr>
                        <a:t>– 3D Printing /</a:t>
                      </a:r>
                      <a:endParaRPr sz="1100"/>
                    </a:p>
                    <a:p>
                      <a:pPr algn="l"/>
                      <a:r>
                        <a:rPr sz="1100" b="1">
                          <a:solidFill>
                            <a:srgbClr val="2E2E2E"/>
                          </a:solidFill>
                          <a:latin typeface="Calibri"/>
                        </a:rPr>
                        <a:t>Additive</a:t>
                      </a:r>
                      <a:endParaRPr sz="1100"/>
                    </a:p>
                    <a:p>
                      <a:pPr algn="l"/>
                      <a:r>
                        <a:rPr sz="1100" b="1">
                          <a:solidFill>
                            <a:srgbClr val="2E2E2E"/>
                          </a:solidFill>
                          <a:latin typeface="Calibri"/>
                        </a:rPr>
                        <a:t>Manufacturing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86">
                <a:tc>
                  <a:txBody>
                    <a:bodyPr wrap="none"/>
                    <a:lstStyle/>
                    <a:p>
                      <a:pPr algn="l"/>
                      <a:r>
                        <a:rPr sz="1100" b="1">
                          <a:solidFill>
                            <a:srgbClr val="2E2E2E"/>
                          </a:solidFill>
                          <a:latin typeface="Calibri"/>
                        </a:rPr>
                        <a:t>– Hybrid Digital</a:t>
                      </a:r>
                      <a:endParaRPr sz="1100"/>
                    </a:p>
                    <a:p>
                      <a:pPr algn="l"/>
                      <a:r>
                        <a:rPr sz="1100" b="1">
                          <a:solidFill>
                            <a:srgbClr val="2E2E2E"/>
                          </a:solidFill>
                          <a:latin typeface="Calibri"/>
                        </a:rPr>
                        <a:t>Fabrication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0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50673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400675"/>
            <a:ext cx="11906250" cy="1228725"/>
          </a:xfrm>
          <a:prstGeom prst="roundRect">
            <a:avLst>
              <a:gd name="adj" fmla="val 62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4864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Technology</a:t>
            </a:r>
          </a:p>
        </p:txBody>
      </p:sp>
      <p:sp>
        <p:nvSpPr>
          <p:cNvPr id="17" name="Rectangle 16"/>
          <p:cNvSpPr/>
          <p:nvPr/>
        </p:nvSpPr>
        <p:spPr>
          <a:xfrm>
            <a:off x="276225" y="5724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810250"/>
            <a:ext cx="11639550" cy="742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3100770"/>
            <a:ext cx="366712" cy="533400"/>
          </a:xfrm>
          <a:prstGeom prst="rect">
            <a:avLst/>
          </a:prstGeom>
        </p:spPr>
      </p:pic>
      <p:sp>
        <p:nvSpPr>
          <p:cNvPr id="21" name="TextBox 20"/>
          <p:cNvSpPr txBox="1"/>
          <p:nvPr/>
        </p:nvSpPr>
        <p:spPr>
          <a:xfrm>
            <a:off x="276225" y="581977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5809551"/>
            <a:ext cx="134549" cy="195707"/>
          </a:xfrm>
          <a:prstGeom prst="rect">
            <a:avLst/>
          </a:prstGeom>
        </p:spPr>
      </p:pic>
      <p:sp>
        <p:nvSpPr>
          <p:cNvPr id="23" name="TextBox 22"/>
          <p:cNvSpPr txBox="1"/>
          <p:nvPr/>
        </p:nvSpPr>
        <p:spPr>
          <a:xfrm>
            <a:off x="3457591" y="5819775"/>
            <a:ext cx="8380226" cy="194310"/>
          </a:xfrm>
          <a:prstGeom prst="rect">
            <a:avLst/>
          </a:prstGeom>
          <a:noFill/>
        </p:spPr>
        <p:txBody>
          <a:bodyPr wrap="none" lIns="0" rIns="0" tIns="0" bIns="0">
            <a:spAutoFit/>
          </a:bodyPr>
          <a:lstStyle/>
          <a:p>
            <a:r>
              <a:rPr sz="1150" b="0">
                <a:solidFill>
                  <a:srgbClr val="2E2E2E"/>
                </a:solidFill>
                <a:latin typeface="Calibri"/>
              </a:rPr>
              <a:t>X higher volume than conventional fabrication segment in 2036. Among removable partial dentures by technology, conventional fabrication</a:t>
            </a:r>
          </a:p>
        </p:txBody>
      </p:sp>
      <p:sp>
        <p:nvSpPr>
          <p:cNvPr id="24" name="TextBox 23"/>
          <p:cNvSpPr txBox="1"/>
          <p:nvPr/>
        </p:nvSpPr>
        <p:spPr>
          <a:xfrm>
            <a:off x="276225" y="59950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5984811"/>
            <a:ext cx="134549" cy="195707"/>
          </a:xfrm>
          <a:prstGeom prst="rect">
            <a:avLst/>
          </a:prstGeom>
        </p:spPr>
      </p:pic>
      <p:sp>
        <p:nvSpPr>
          <p:cNvPr id="26" name="TextBox 25"/>
          <p:cNvSpPr txBox="1"/>
          <p:nvPr/>
        </p:nvSpPr>
        <p:spPr>
          <a:xfrm>
            <a:off x="3557127" y="59950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6222872"/>
            <a:ext cx="6894624" cy="194310"/>
          </a:xfrm>
          <a:prstGeom prst="rect">
            <a:avLst/>
          </a:prstGeom>
          <a:noFill/>
        </p:spPr>
        <p:txBody>
          <a:bodyPr wrap="none" lIns="0" rIns="0" tIns="0" bIns="0">
            <a:spAutoFit/>
          </a:bodyPr>
          <a:lstStyle/>
          <a:p>
            <a:r>
              <a:rPr sz="1150" b="0">
                <a:solidFill>
                  <a:srgbClr val="2E2E2E"/>
                </a:solidFill>
                <a:latin typeface="Calibri"/>
              </a:rPr>
              <a:t>In terms of volume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7120003" y="6212649"/>
            <a:ext cx="134549" cy="195707"/>
          </a:xfrm>
          <a:prstGeom prst="rect">
            <a:avLst/>
          </a:prstGeom>
        </p:spPr>
      </p:pic>
      <p:sp>
        <p:nvSpPr>
          <p:cNvPr id="29" name="TextBox 28"/>
          <p:cNvSpPr txBox="1"/>
          <p:nvPr/>
        </p:nvSpPr>
        <p:spPr>
          <a:xfrm>
            <a:off x="7295112" y="62228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90255" y="6212649"/>
            <a:ext cx="134549" cy="195707"/>
          </a:xfrm>
          <a:prstGeom prst="rect">
            <a:avLst/>
          </a:prstGeom>
        </p:spPr>
      </p:pic>
      <p:sp>
        <p:nvSpPr>
          <p:cNvPr id="31" name="TextBox 30"/>
          <p:cNvSpPr txBox="1"/>
          <p:nvPr/>
        </p:nvSpPr>
        <p:spPr>
          <a:xfrm>
            <a:off x="8865364" y="62228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Technology (US$ Mn)</a:t>
            </a:r>
          </a:p>
        </p:txBody>
      </p:sp>
      <p:graphicFrame>
        <p:nvGraphicFramePr>
          <p:cNvPr id="13" name="Table 12"/>
          <p:cNvGraphicFramePr>
            <a:graphicFrameLocks noGrp="1"/>
          </p:cNvGraphicFramePr>
          <p:nvPr/>
        </p:nvGraphicFramePr>
        <p:xfrm>
          <a:off x="152400" y="1238250"/>
          <a:ext cx="11887195" cy="2466975"/>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Technology</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41720" y="2328100"/>
            <a:ext cx="366712" cy="533400"/>
          </a:xfrm>
          <a:prstGeom prst="rect">
            <a:avLst/>
          </a:prstGeom>
        </p:spPr>
      </p:pic>
      <p:sp>
        <p:nvSpPr>
          <p:cNvPr id="21" name="TextBox 20"/>
          <p:cNvSpPr txBox="1"/>
          <p:nvPr/>
        </p:nvSpPr>
        <p:spPr>
          <a:xfrm>
            <a:off x="276225" y="446722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4457001"/>
            <a:ext cx="134549" cy="195707"/>
          </a:xfrm>
          <a:prstGeom prst="rect">
            <a:avLst/>
          </a:prstGeom>
        </p:spPr>
      </p:pic>
      <p:sp>
        <p:nvSpPr>
          <p:cNvPr id="23" name="TextBox 22"/>
          <p:cNvSpPr txBox="1"/>
          <p:nvPr/>
        </p:nvSpPr>
        <p:spPr>
          <a:xfrm>
            <a:off x="3457591" y="4467225"/>
            <a:ext cx="8256426" cy="194310"/>
          </a:xfrm>
          <a:prstGeom prst="rect">
            <a:avLst/>
          </a:prstGeom>
          <a:noFill/>
        </p:spPr>
        <p:txBody>
          <a:bodyPr wrap="none" lIns="0" rIns="0" tIns="0" bIns="0">
            <a:spAutoFit/>
          </a:bodyPr>
          <a:lstStyle/>
          <a:p>
            <a:r>
              <a:rPr sz="1150" b="0">
                <a:solidFill>
                  <a:srgbClr val="2E2E2E"/>
                </a:solidFill>
                <a:latin typeface="Calibri"/>
              </a:rPr>
              <a:t>X higher value than conventional fabrication segment in 2036. Among removable partial dentures by technology, conventional fabrication</a:t>
            </a:r>
          </a:p>
        </p:txBody>
      </p:sp>
      <p:sp>
        <p:nvSpPr>
          <p:cNvPr id="24" name="TextBox 23"/>
          <p:cNvSpPr txBox="1"/>
          <p:nvPr/>
        </p:nvSpPr>
        <p:spPr>
          <a:xfrm>
            <a:off x="276225" y="464248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632261"/>
            <a:ext cx="134549" cy="195707"/>
          </a:xfrm>
          <a:prstGeom prst="rect">
            <a:avLst/>
          </a:prstGeom>
        </p:spPr>
      </p:pic>
      <p:sp>
        <p:nvSpPr>
          <p:cNvPr id="26" name="TextBox 25"/>
          <p:cNvSpPr txBox="1"/>
          <p:nvPr/>
        </p:nvSpPr>
        <p:spPr>
          <a:xfrm>
            <a:off x="3557127" y="46424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870322"/>
            <a:ext cx="6770823"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6996202" y="4860099"/>
            <a:ext cx="134549" cy="195707"/>
          </a:xfrm>
          <a:prstGeom prst="rect">
            <a:avLst/>
          </a:prstGeom>
        </p:spPr>
      </p:pic>
      <p:sp>
        <p:nvSpPr>
          <p:cNvPr id="29" name="TextBox 28"/>
          <p:cNvSpPr txBox="1"/>
          <p:nvPr/>
        </p:nvSpPr>
        <p:spPr>
          <a:xfrm>
            <a:off x="7171312" y="48703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66455" y="4860099"/>
            <a:ext cx="134549" cy="195707"/>
          </a:xfrm>
          <a:prstGeom prst="rect">
            <a:avLst/>
          </a:prstGeom>
        </p:spPr>
      </p:pic>
      <p:sp>
        <p:nvSpPr>
          <p:cNvPr id="31" name="TextBox 30"/>
          <p:cNvSpPr txBox="1"/>
          <p:nvPr/>
        </p:nvSpPr>
        <p:spPr>
          <a:xfrm>
            <a:off x="8741564" y="48703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Technology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59204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5872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110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Fabrication</a:t>
            </a:r>
          </a:p>
        </p:txBody>
      </p:sp>
      <p:sp>
        <p:nvSpPr>
          <p:cNvPr id="19" name="BPS Value 1"/>
          <p:cNvSpPr txBox="1"/>
          <p:nvPr/>
        </p:nvSpPr>
        <p:spPr>
          <a:xfrm>
            <a:off x="6896100" y="257299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9605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95576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795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Digital Fabrication</a:t>
            </a:r>
          </a:p>
        </p:txBody>
      </p:sp>
      <p:sp>
        <p:nvSpPr>
          <p:cNvPr id="23" name="BPS Value 2"/>
          <p:cNvSpPr txBox="1"/>
          <p:nvPr/>
        </p:nvSpPr>
        <p:spPr>
          <a:xfrm>
            <a:off x="6896100" y="49414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Technology</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751325"/>
            <a:ext cx="275034" cy="400050"/>
          </a:xfrm>
          <a:prstGeom prst="rect">
            <a:avLst/>
          </a:prstGeom>
        </p:spPr>
      </p:pic>
      <p:sp>
        <p:nvSpPr>
          <p:cNvPr id="30" name="TextBox 29"/>
          <p:cNvSpPr txBox="1"/>
          <p:nvPr/>
        </p:nvSpPr>
        <p:spPr>
          <a:xfrm>
            <a:off x="7829550" y="1400175"/>
            <a:ext cx="3861804" cy="194310"/>
          </a:xfrm>
          <a:prstGeom prst="rect">
            <a:avLst/>
          </a:prstGeom>
          <a:noFill/>
        </p:spPr>
        <p:txBody>
          <a:bodyPr wrap="none" lIns="0" rIns="0" tIns="0" bIns="0">
            <a:spAutoFit/>
          </a:bodyPr>
          <a:lstStyle/>
          <a:p>
            <a:r>
              <a:rPr sz="1150" b="0">
                <a:solidFill>
                  <a:srgbClr val="2E2E2E"/>
                </a:solidFill>
                <a:latin typeface="Calibri"/>
              </a:rPr>
              <a:t>Among removable partial dentures by technology, conventional</a:t>
            </a:r>
          </a:p>
        </p:txBody>
      </p:sp>
      <p:sp>
        <p:nvSpPr>
          <p:cNvPr id="31" name="TextBox 30"/>
          <p:cNvSpPr txBox="1"/>
          <p:nvPr/>
        </p:nvSpPr>
        <p:spPr>
          <a:xfrm>
            <a:off x="7829550" y="1575435"/>
            <a:ext cx="3833831" cy="194310"/>
          </a:xfrm>
          <a:prstGeom prst="rect">
            <a:avLst/>
          </a:prstGeom>
          <a:noFill/>
        </p:spPr>
        <p:txBody>
          <a:bodyPr wrap="none" lIns="0" rIns="0" tIns="0" bIns="0">
            <a:spAutoFit/>
          </a:bodyPr>
          <a:lstStyle/>
          <a:p>
            <a:r>
              <a:rPr sz="1150" b="0">
                <a:solidFill>
                  <a:srgbClr val="2E2E2E"/>
                </a:solidFill>
                <a:latin typeface="Calibri"/>
              </a:rPr>
              <a:t>fabrication segment is expected to witness the highest CAGR of</a:t>
            </a:r>
          </a:p>
        </p:txBody>
      </p:sp>
      <p:pic>
        <p:nvPicPr>
          <p:cNvPr id="32" name="Picture 31" descr="lock.png"/>
          <p:cNvPicPr>
            <a:picLocks noChangeAspect="1"/>
          </p:cNvPicPr>
          <p:nvPr/>
        </p:nvPicPr>
        <p:blipFill>
          <a:blip r:embed="rId5"/>
          <a:stretch>
            <a:fillRect/>
          </a:stretch>
        </p:blipFill>
        <p:spPr>
          <a:xfrm>
            <a:off x="11612535" y="1565211"/>
            <a:ext cx="134549" cy="195707"/>
          </a:xfrm>
          <a:prstGeom prst="rect">
            <a:avLst/>
          </a:prstGeom>
        </p:spPr>
      </p:pic>
      <p:sp>
        <p:nvSpPr>
          <p:cNvPr id="33" name="TextBox 32"/>
          <p:cNvSpPr txBox="1"/>
          <p:nvPr/>
        </p:nvSpPr>
        <p:spPr>
          <a:xfrm>
            <a:off x="7829550"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4" name="TextBox 33"/>
          <p:cNvSpPr txBox="1"/>
          <p:nvPr/>
        </p:nvSpPr>
        <p:spPr>
          <a:xfrm>
            <a:off x="7829550" y="1978533"/>
            <a:ext cx="3649290"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a:t>
            </a:r>
          </a:p>
        </p:txBody>
      </p:sp>
      <p:sp>
        <p:nvSpPr>
          <p:cNvPr id="35" name="TextBox 34"/>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36" name="Picture 35" descr="lock.png"/>
          <p:cNvPicPr>
            <a:picLocks noChangeAspect="1"/>
          </p:cNvPicPr>
          <p:nvPr/>
        </p:nvPicPr>
        <p:blipFill>
          <a:blip r:embed="rId5"/>
          <a:stretch>
            <a:fillRect/>
          </a:stretch>
        </p:blipFill>
        <p:spPr>
          <a:xfrm>
            <a:off x="10943347" y="2143569"/>
            <a:ext cx="134549" cy="195707"/>
          </a:xfrm>
          <a:prstGeom prst="rect">
            <a:avLst/>
          </a:prstGeom>
        </p:spPr>
      </p:pic>
      <p:sp>
        <p:nvSpPr>
          <p:cNvPr id="37" name="TextBox 36"/>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38" name="TextBox 37"/>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39" name="Picture 38" descr="lock.png"/>
          <p:cNvPicPr>
            <a:picLocks noChangeAspect="1"/>
          </p:cNvPicPr>
          <p:nvPr/>
        </p:nvPicPr>
        <p:blipFill>
          <a:blip r:embed="rId5"/>
          <a:stretch>
            <a:fillRect/>
          </a:stretch>
        </p:blipFill>
        <p:spPr>
          <a:xfrm>
            <a:off x="8712947" y="2318829"/>
            <a:ext cx="134549" cy="195707"/>
          </a:xfrm>
          <a:prstGeom prst="rect">
            <a:avLst/>
          </a:prstGeom>
        </p:spPr>
      </p:pic>
      <p:sp>
        <p:nvSpPr>
          <p:cNvPr id="40" name="TextBox 39"/>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End User,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User segment categorizes the market by end user.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Laboratories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Academic &amp; Teaching Dental Instit…</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Clinics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Hospitals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User split shows how demand is distributed across end user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End User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90_0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668_2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1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413_3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684_8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5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43_9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31_9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4_9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77_9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145_9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5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end user,</a:t>
            </a:r>
          </a:p>
        </p:txBody>
      </p:sp>
      <p:sp>
        <p:nvSpPr>
          <p:cNvPr id="81" name="TextBox 80"/>
          <p:cNvSpPr txBox="1"/>
          <p:nvPr/>
        </p:nvSpPr>
        <p:spPr>
          <a:xfrm>
            <a:off x="485775" y="4397077"/>
            <a:ext cx="2788344" cy="186689"/>
          </a:xfrm>
          <a:prstGeom prst="rect">
            <a:avLst/>
          </a:prstGeom>
          <a:noFill/>
        </p:spPr>
        <p:txBody>
          <a:bodyPr wrap="none" lIns="0" rIns="0" tIns="0" bIns="0">
            <a:spAutoFit/>
          </a:bodyPr>
          <a:lstStyle/>
          <a:p>
            <a:r>
              <a:rPr sz="1100" b="0">
                <a:solidFill>
                  <a:srgbClr val="2E2E2E"/>
                </a:solidFill>
                <a:latin typeface="Calibri"/>
              </a:rPr>
              <a:t>dental hospitals segment is expected to witness</a:t>
            </a:r>
          </a:p>
        </p:txBody>
      </p:sp>
      <p:sp>
        <p:nvSpPr>
          <p:cNvPr id="82" name="TextBox 81"/>
          <p:cNvSpPr txBox="1"/>
          <p:nvPr/>
        </p:nvSpPr>
        <p:spPr>
          <a:xfrm>
            <a:off x="485775" y="456471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83" name="Picture 82" descr="lock.png"/>
          <p:cNvPicPr>
            <a:picLocks noChangeAspect="1"/>
          </p:cNvPicPr>
          <p:nvPr/>
        </p:nvPicPr>
        <p:blipFill>
          <a:blip r:embed="rId16"/>
          <a:stretch>
            <a:fillRect/>
          </a:stretch>
        </p:blipFill>
        <p:spPr>
          <a:xfrm>
            <a:off x="1646163" y="4554938"/>
            <a:ext cx="128699" cy="187198"/>
          </a:xfrm>
          <a:prstGeom prst="rect">
            <a:avLst/>
          </a:prstGeom>
        </p:spPr>
      </p:pic>
      <p:sp>
        <p:nvSpPr>
          <p:cNvPr id="84" name="TextBox 83"/>
          <p:cNvSpPr txBox="1"/>
          <p:nvPr/>
        </p:nvSpPr>
        <p:spPr>
          <a:xfrm>
            <a:off x="1813659" y="456471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85" name="TextBox 84"/>
          <p:cNvSpPr txBox="1"/>
          <p:nvPr/>
        </p:nvSpPr>
        <p:spPr>
          <a:xfrm>
            <a:off x="485775" y="4732357"/>
            <a:ext cx="2898849" cy="186689"/>
          </a:xfrm>
          <a:prstGeom prst="rect">
            <a:avLst/>
          </a:prstGeom>
          <a:noFill/>
        </p:spPr>
        <p:txBody>
          <a:bodyPr wrap="none" lIns="0" rIns="0" tIns="0" bIns="0">
            <a:spAutoFit/>
          </a:bodyPr>
          <a:lstStyle/>
          <a:p>
            <a:r>
              <a:rPr sz="1100" b="0">
                <a:solidFill>
                  <a:srgbClr val="2E2E2E"/>
                </a:solidFill>
                <a:latin typeface="Calibri"/>
              </a:rPr>
              <a:t>In terms of value share by end user, the academic</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&amp; teaching dental institutions segment is expected</a:t>
            </a:r>
          </a:p>
        </p:txBody>
      </p:sp>
      <p:sp>
        <p:nvSpPr>
          <p:cNvPr id="87" name="TextBox 86"/>
          <p:cNvSpPr txBox="1"/>
          <p:nvPr/>
        </p:nvSpPr>
        <p:spPr>
          <a:xfrm>
            <a:off x="485775" y="5067637"/>
            <a:ext cx="1912763" cy="186689"/>
          </a:xfrm>
          <a:prstGeom prst="rect">
            <a:avLst/>
          </a:prstGeom>
          <a:noFill/>
        </p:spPr>
        <p:txBody>
          <a:bodyPr wrap="none" lIns="0" rIns="0" tIns="0" bIns="0">
            <a:spAutoFit/>
          </a:bodyPr>
          <a:lstStyle/>
          <a:p>
            <a:r>
              <a:rPr sz="1100" b="0">
                <a:solidFill>
                  <a:srgbClr val="2E2E2E"/>
                </a:solidFill>
                <a:latin typeface="Calibri"/>
              </a:rPr>
              <a:t>to dominate the market, gaining</a:t>
            </a:r>
          </a:p>
        </p:txBody>
      </p:sp>
      <p:pic>
        <p:nvPicPr>
          <p:cNvPr id="88" name="Picture 87" descr="lock.png"/>
          <p:cNvPicPr>
            <a:picLocks noChangeAspect="1"/>
          </p:cNvPicPr>
          <p:nvPr/>
        </p:nvPicPr>
        <p:blipFill>
          <a:blip r:embed="rId16"/>
          <a:stretch>
            <a:fillRect/>
          </a:stretch>
        </p:blipFill>
        <p:spPr>
          <a:xfrm>
            <a:off x="2346590" y="5057858"/>
            <a:ext cx="128699" cy="187198"/>
          </a:xfrm>
          <a:prstGeom prst="rect">
            <a:avLst/>
          </a:prstGeom>
        </p:spPr>
      </p:pic>
      <p:sp>
        <p:nvSpPr>
          <p:cNvPr id="89" name="TextBox 88"/>
          <p:cNvSpPr txBox="1"/>
          <p:nvPr/>
        </p:nvSpPr>
        <p:spPr>
          <a:xfrm>
            <a:off x="2514086"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90" name="TextBox 89"/>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91" name="Picture 90" descr="lock.png"/>
          <p:cNvPicPr>
            <a:picLocks noChangeAspect="1"/>
          </p:cNvPicPr>
          <p:nvPr/>
        </p:nvPicPr>
        <p:blipFill>
          <a:blip r:embed="rId16"/>
          <a:stretch>
            <a:fillRect/>
          </a:stretch>
        </p:blipFill>
        <p:spPr>
          <a:xfrm>
            <a:off x="1330764" y="5225498"/>
            <a:ext cx="128699" cy="187198"/>
          </a:xfrm>
          <a:prstGeom prst="rect">
            <a:avLst/>
          </a:prstGeom>
        </p:spPr>
      </p:pic>
      <p:sp>
        <p:nvSpPr>
          <p:cNvPr id="92" name="TextBox 91"/>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535411" cy="186689"/>
          </a:xfrm>
          <a:prstGeom prst="rect">
            <a:avLst/>
          </a:prstGeom>
          <a:noFill/>
        </p:spPr>
        <p:txBody>
          <a:bodyPr wrap="none" lIns="0" rIns="0" tIns="0" bIns="0">
            <a:spAutoFit/>
          </a:bodyPr>
          <a:lstStyle/>
          <a:p>
            <a:r>
              <a:rPr sz="1100" b="0">
                <a:solidFill>
                  <a:srgbClr val="2E2E2E"/>
                </a:solidFill>
                <a:latin typeface="Calibri"/>
              </a:rPr>
              <a:t>▪ ¶ Academic &amp; teaching dental institutions</a:t>
            </a:r>
          </a:p>
        </p:txBody>
      </p:sp>
      <p:sp>
        <p:nvSpPr>
          <p:cNvPr id="94" name="TextBox 93"/>
          <p:cNvSpPr txBox="1"/>
          <p:nvPr/>
        </p:nvSpPr>
        <p:spPr>
          <a:xfrm>
            <a:off x="485775" y="5620849"/>
            <a:ext cx="1886024" cy="186689"/>
          </a:xfrm>
          <a:prstGeom prst="rect">
            <a:avLst/>
          </a:prstGeom>
          <a:noFill/>
        </p:spPr>
        <p:txBody>
          <a:bodyPr wrap="none" lIns="0" rIns="0" tIns="0" bIns="0">
            <a:spAutoFit/>
          </a:bodyPr>
          <a:lstStyle/>
          <a:p>
            <a:r>
              <a:rPr sz="1100" b="0">
                <a:solidFill>
                  <a:srgbClr val="2E2E2E"/>
                </a:solidFill>
                <a:latin typeface="Calibri"/>
              </a:rPr>
              <a:t>segment is projected to register</a:t>
            </a:r>
          </a:p>
        </p:txBody>
      </p:sp>
      <p:pic>
        <p:nvPicPr>
          <p:cNvPr id="95" name="Picture 94" descr="lock.png"/>
          <p:cNvPicPr>
            <a:picLocks noChangeAspect="1"/>
          </p:cNvPicPr>
          <p:nvPr/>
        </p:nvPicPr>
        <p:blipFill>
          <a:blip r:embed="rId16"/>
          <a:stretch>
            <a:fillRect/>
          </a:stretch>
        </p:blipFill>
        <p:spPr>
          <a:xfrm>
            <a:off x="2319851" y="5611070"/>
            <a:ext cx="128699" cy="187198"/>
          </a:xfrm>
          <a:prstGeom prst="rect">
            <a:avLst/>
          </a:prstGeom>
        </p:spPr>
      </p:pic>
      <p:sp>
        <p:nvSpPr>
          <p:cNvPr id="96" name="TextBox 95"/>
          <p:cNvSpPr txBox="1"/>
          <p:nvPr/>
        </p:nvSpPr>
        <p:spPr>
          <a:xfrm>
            <a:off x="2487346" y="5620849"/>
            <a:ext cx="880293" cy="186689"/>
          </a:xfrm>
          <a:prstGeom prst="rect">
            <a:avLst/>
          </a:prstGeom>
          <a:noFill/>
        </p:spPr>
        <p:txBody>
          <a:bodyPr wrap="none" lIns="0" rIns="0" tIns="0" bIns="0">
            <a:spAutoFit/>
          </a:bodyPr>
          <a:lstStyle/>
          <a:p>
            <a:r>
              <a:rPr sz="1100" b="0">
                <a:solidFill>
                  <a:srgbClr val="2E2E2E"/>
                </a:solidFill>
                <a:latin typeface="Calibri"/>
              </a:rPr>
              <a:t>X higher value</a:t>
            </a:r>
          </a:p>
        </p:txBody>
      </p:sp>
      <p:sp>
        <p:nvSpPr>
          <p:cNvPr id="97" name="TextBox 96"/>
          <p:cNvSpPr txBox="1"/>
          <p:nvPr/>
        </p:nvSpPr>
        <p:spPr>
          <a:xfrm>
            <a:off x="485775" y="5788489"/>
            <a:ext cx="2460922" cy="186689"/>
          </a:xfrm>
          <a:prstGeom prst="rect">
            <a:avLst/>
          </a:prstGeom>
          <a:noFill/>
        </p:spPr>
        <p:txBody>
          <a:bodyPr wrap="none" lIns="0" rIns="0" tIns="0" bIns="0">
            <a:spAutoFit/>
          </a:bodyPr>
          <a:lstStyle/>
          <a:p>
            <a:r>
              <a:rPr sz="1100" b="0">
                <a:solidFill>
                  <a:srgbClr val="2E2E2E"/>
                </a:solidFill>
                <a:latin typeface="Calibri"/>
              </a:rPr>
              <a:t>than dental laboratories segment in 2036.</a:t>
            </a:r>
          </a:p>
        </p:txBody>
      </p:sp>
      <p:sp>
        <p:nvSpPr>
          <p:cNvPr id="98" name="TextBox 97"/>
          <p:cNvSpPr txBox="1"/>
          <p:nvPr/>
        </p:nvSpPr>
        <p:spPr>
          <a:xfrm>
            <a:off x="3838575" y="4229437"/>
            <a:ext cx="1350143" cy="186689"/>
          </a:xfrm>
          <a:prstGeom prst="rect">
            <a:avLst/>
          </a:prstGeom>
          <a:noFill/>
        </p:spPr>
        <p:txBody>
          <a:bodyPr wrap="none" lIns="0" rIns="0" tIns="0" bIns="0">
            <a:spAutoFit/>
          </a:bodyPr>
          <a:lstStyle/>
          <a:p>
            <a:r>
              <a:rPr sz="1100" b="0">
                <a:solidFill>
                  <a:srgbClr val="2E2E2E"/>
                </a:solidFill>
                <a:latin typeface="Calibri"/>
              </a:rPr>
              <a:t>● Dental Laboratories:</a:t>
            </a:r>
          </a:p>
        </p:txBody>
      </p:sp>
      <p:pic>
        <p:nvPicPr>
          <p:cNvPr id="99" name="Picture 98" descr="lock.png"/>
          <p:cNvPicPr>
            <a:picLocks noChangeAspect="1"/>
          </p:cNvPicPr>
          <p:nvPr/>
        </p:nvPicPr>
        <p:blipFill>
          <a:blip r:embed="rId16"/>
          <a:stretch>
            <a:fillRect/>
          </a:stretch>
        </p:blipFill>
        <p:spPr>
          <a:xfrm>
            <a:off x="5136770" y="4219658"/>
            <a:ext cx="128699" cy="187198"/>
          </a:xfrm>
          <a:prstGeom prst="rect">
            <a:avLst/>
          </a:prstGeom>
        </p:spPr>
      </p:pic>
      <p:sp>
        <p:nvSpPr>
          <p:cNvPr id="100" name="TextBox 99"/>
          <p:cNvSpPr txBox="1"/>
          <p:nvPr/>
        </p:nvSpPr>
        <p:spPr>
          <a:xfrm>
            <a:off x="530426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6"/>
          <a:stretch>
            <a:fillRect/>
          </a:stretch>
        </p:blipFill>
        <p:spPr>
          <a:xfrm>
            <a:off x="6163716" y="4219658"/>
            <a:ext cx="128699" cy="187198"/>
          </a:xfrm>
          <a:prstGeom prst="rect">
            <a:avLst/>
          </a:prstGeom>
        </p:spPr>
      </p:pic>
      <p:sp>
        <p:nvSpPr>
          <p:cNvPr id="102" name="TextBox 101"/>
          <p:cNvSpPr txBox="1"/>
          <p:nvPr/>
        </p:nvSpPr>
        <p:spPr>
          <a:xfrm>
            <a:off x="633121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3" name="TextBox 102"/>
          <p:cNvSpPr txBox="1"/>
          <p:nvPr/>
        </p:nvSpPr>
        <p:spPr>
          <a:xfrm>
            <a:off x="3838575" y="4447369"/>
            <a:ext cx="2531045" cy="186689"/>
          </a:xfrm>
          <a:prstGeom prst="rect">
            <a:avLst/>
          </a:prstGeom>
          <a:noFill/>
        </p:spPr>
        <p:txBody>
          <a:bodyPr wrap="none" lIns="0" rIns="0" tIns="0" bIns="0">
            <a:spAutoFit/>
          </a:bodyPr>
          <a:lstStyle/>
          <a:p>
            <a:r>
              <a:rPr sz="1100" b="0">
                <a:solidFill>
                  <a:srgbClr val="2E2E2E"/>
                </a:solidFill>
                <a:latin typeface="Calibri"/>
              </a:rPr>
              <a:t>● Academic &amp; Teaching Dental Institutions:</a:t>
            </a:r>
          </a:p>
        </p:txBody>
      </p:sp>
      <p:pic>
        <p:nvPicPr>
          <p:cNvPr id="104" name="Picture 103" descr="lock.png"/>
          <p:cNvPicPr>
            <a:picLocks noChangeAspect="1"/>
          </p:cNvPicPr>
          <p:nvPr/>
        </p:nvPicPr>
        <p:blipFill>
          <a:blip r:embed="rId16"/>
          <a:stretch>
            <a:fillRect/>
          </a:stretch>
        </p:blipFill>
        <p:spPr>
          <a:xfrm>
            <a:off x="6317672" y="4437590"/>
            <a:ext cx="128699" cy="187198"/>
          </a:xfrm>
          <a:prstGeom prst="rect">
            <a:avLst/>
          </a:prstGeom>
        </p:spPr>
      </p:pic>
      <p:sp>
        <p:nvSpPr>
          <p:cNvPr id="105" name="TextBox 104"/>
          <p:cNvSpPr txBox="1"/>
          <p:nvPr/>
        </p:nvSpPr>
        <p:spPr>
          <a:xfrm>
            <a:off x="648516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344618" y="4437590"/>
            <a:ext cx="128699" cy="187198"/>
          </a:xfrm>
          <a:prstGeom prst="rect">
            <a:avLst/>
          </a:prstGeom>
        </p:spPr>
      </p:pic>
      <p:sp>
        <p:nvSpPr>
          <p:cNvPr id="107" name="TextBox 106"/>
          <p:cNvSpPr txBox="1"/>
          <p:nvPr/>
        </p:nvSpPr>
        <p:spPr>
          <a:xfrm>
            <a:off x="3838575"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4832941"/>
            <a:ext cx="994345" cy="186689"/>
          </a:xfrm>
          <a:prstGeom prst="rect">
            <a:avLst/>
          </a:prstGeom>
          <a:noFill/>
        </p:spPr>
        <p:txBody>
          <a:bodyPr wrap="none" lIns="0" rIns="0" tIns="0" bIns="0">
            <a:spAutoFit/>
          </a:bodyPr>
          <a:lstStyle/>
          <a:p>
            <a:r>
              <a:rPr sz="1100" b="0">
                <a:solidFill>
                  <a:srgbClr val="2E2E2E"/>
                </a:solidFill>
                <a:latin typeface="Calibri"/>
              </a:rPr>
              <a:t>● Dental Clinics:</a:t>
            </a:r>
          </a:p>
        </p:txBody>
      </p:sp>
      <p:pic>
        <p:nvPicPr>
          <p:cNvPr id="109" name="Picture 108" descr="lock.png"/>
          <p:cNvPicPr>
            <a:picLocks noChangeAspect="1"/>
          </p:cNvPicPr>
          <p:nvPr/>
        </p:nvPicPr>
        <p:blipFill>
          <a:blip r:embed="rId16"/>
          <a:stretch>
            <a:fillRect/>
          </a:stretch>
        </p:blipFill>
        <p:spPr>
          <a:xfrm>
            <a:off x="4780972" y="4823162"/>
            <a:ext cx="128699" cy="187198"/>
          </a:xfrm>
          <a:prstGeom prst="rect">
            <a:avLst/>
          </a:prstGeom>
        </p:spPr>
      </p:pic>
      <p:sp>
        <p:nvSpPr>
          <p:cNvPr id="110" name="TextBox 109"/>
          <p:cNvSpPr txBox="1"/>
          <p:nvPr/>
        </p:nvSpPr>
        <p:spPr>
          <a:xfrm>
            <a:off x="494846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5807918" y="4823162"/>
            <a:ext cx="128699" cy="187198"/>
          </a:xfrm>
          <a:prstGeom prst="rect">
            <a:avLst/>
          </a:prstGeom>
        </p:spPr>
      </p:pic>
      <p:sp>
        <p:nvSpPr>
          <p:cNvPr id="112" name="TextBox 111"/>
          <p:cNvSpPr txBox="1"/>
          <p:nvPr/>
        </p:nvSpPr>
        <p:spPr>
          <a:xfrm>
            <a:off x="5975413"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3" name="TextBox 112"/>
          <p:cNvSpPr txBox="1"/>
          <p:nvPr/>
        </p:nvSpPr>
        <p:spPr>
          <a:xfrm>
            <a:off x="3838575" y="5050872"/>
            <a:ext cx="1157510" cy="186689"/>
          </a:xfrm>
          <a:prstGeom prst="rect">
            <a:avLst/>
          </a:prstGeom>
          <a:noFill/>
        </p:spPr>
        <p:txBody>
          <a:bodyPr wrap="none" lIns="0" rIns="0" tIns="0" bIns="0">
            <a:spAutoFit/>
          </a:bodyPr>
          <a:lstStyle/>
          <a:p>
            <a:r>
              <a:rPr sz="1100" b="0">
                <a:solidFill>
                  <a:srgbClr val="2E2E2E"/>
                </a:solidFill>
                <a:latin typeface="Calibri"/>
              </a:rPr>
              <a:t>● Dental Hospitals:</a:t>
            </a:r>
          </a:p>
        </p:txBody>
      </p:sp>
      <p:pic>
        <p:nvPicPr>
          <p:cNvPr id="114" name="Picture 113" descr="lock.png"/>
          <p:cNvPicPr>
            <a:picLocks noChangeAspect="1"/>
          </p:cNvPicPr>
          <p:nvPr/>
        </p:nvPicPr>
        <p:blipFill>
          <a:blip r:embed="rId16"/>
          <a:stretch>
            <a:fillRect/>
          </a:stretch>
        </p:blipFill>
        <p:spPr>
          <a:xfrm>
            <a:off x="4944137" y="5041093"/>
            <a:ext cx="128699" cy="187198"/>
          </a:xfrm>
          <a:prstGeom prst="rect">
            <a:avLst/>
          </a:prstGeom>
        </p:spPr>
      </p:pic>
      <p:sp>
        <p:nvSpPr>
          <p:cNvPr id="115" name="TextBox 114"/>
          <p:cNvSpPr txBox="1"/>
          <p:nvPr/>
        </p:nvSpPr>
        <p:spPr>
          <a:xfrm>
            <a:off x="5111633"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6" name="Picture 115" descr="lock.png"/>
          <p:cNvPicPr>
            <a:picLocks noChangeAspect="1"/>
          </p:cNvPicPr>
          <p:nvPr/>
        </p:nvPicPr>
        <p:blipFill>
          <a:blip r:embed="rId16"/>
          <a:stretch>
            <a:fillRect/>
          </a:stretch>
        </p:blipFill>
        <p:spPr>
          <a:xfrm>
            <a:off x="5971083" y="5041093"/>
            <a:ext cx="128699" cy="187198"/>
          </a:xfrm>
          <a:prstGeom prst="rect">
            <a:avLst/>
          </a:prstGeom>
        </p:spPr>
      </p:pic>
      <p:sp>
        <p:nvSpPr>
          <p:cNvPr id="117" name="TextBox 116"/>
          <p:cNvSpPr txBox="1"/>
          <p:nvPr/>
        </p:nvSpPr>
        <p:spPr>
          <a:xfrm>
            <a:off x="6138579" y="5050872"/>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End User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End User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End User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Academic &amp; teaching dental institutions followed by dental laboratories are expected to be the two most attractive end user segments in the global removable partial dentures market in terms of value over</a:t>
            </a:r>
          </a:p>
        </p:txBody>
      </p:sp>
      <p:sp>
        <p:nvSpPr>
          <p:cNvPr id="21" name="TextBox 20"/>
          <p:cNvSpPr txBox="1"/>
          <p:nvPr/>
        </p:nvSpPr>
        <p:spPr>
          <a:xfrm>
            <a:off x="257175" y="5861685"/>
            <a:ext cx="6210704" cy="186689"/>
          </a:xfrm>
          <a:prstGeom prst="rect">
            <a:avLst/>
          </a:prstGeom>
          <a:noFill/>
        </p:spPr>
        <p:txBody>
          <a:bodyPr wrap="none" lIns="0" rIns="0" tIns="0" bIns="0">
            <a:spAutoFit/>
          </a:bodyPr>
          <a:lstStyle/>
          <a:p>
            <a:r>
              <a:rPr sz="1100" b="0">
                <a:solidFill>
                  <a:srgbClr val="2E2E2E"/>
                </a:solidFill>
                <a:latin typeface="Calibri"/>
              </a:rPr>
              <a:t>the forecast period. Academic &amp; teaching dental institutions and dental laboratories exhibit a CAGR index of</a:t>
            </a:r>
          </a:p>
        </p:txBody>
      </p:sp>
      <p:pic>
        <p:nvPicPr>
          <p:cNvPr id="22" name="Picture 21" descr="lock.png"/>
          <p:cNvPicPr>
            <a:picLocks noChangeAspect="1"/>
          </p:cNvPicPr>
          <p:nvPr/>
        </p:nvPicPr>
        <p:blipFill>
          <a:blip r:embed="rId6"/>
          <a:stretch>
            <a:fillRect/>
          </a:stretch>
        </p:blipFill>
        <p:spPr>
          <a:xfrm>
            <a:off x="6415931" y="5851905"/>
            <a:ext cx="128699" cy="187198"/>
          </a:xfrm>
          <a:prstGeom prst="rect">
            <a:avLst/>
          </a:prstGeom>
        </p:spPr>
      </p:pic>
      <p:sp>
        <p:nvSpPr>
          <p:cNvPr id="23" name="TextBox 22"/>
          <p:cNvSpPr txBox="1"/>
          <p:nvPr/>
        </p:nvSpPr>
        <p:spPr>
          <a:xfrm>
            <a:off x="6583427"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6821321" y="5851905"/>
            <a:ext cx="128699" cy="187198"/>
          </a:xfrm>
          <a:prstGeom prst="rect">
            <a:avLst/>
          </a:prstGeom>
        </p:spPr>
      </p:pic>
      <p:sp>
        <p:nvSpPr>
          <p:cNvPr id="25" name="TextBox 24"/>
          <p:cNvSpPr txBox="1"/>
          <p:nvPr/>
        </p:nvSpPr>
        <p:spPr>
          <a:xfrm>
            <a:off x="6988817"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8597790" y="5851905"/>
            <a:ext cx="128699" cy="187198"/>
          </a:xfrm>
          <a:prstGeom prst="rect">
            <a:avLst/>
          </a:prstGeom>
        </p:spPr>
      </p:pic>
      <p:sp>
        <p:nvSpPr>
          <p:cNvPr id="27" name="TextBox 26"/>
          <p:cNvSpPr txBox="1"/>
          <p:nvPr/>
        </p:nvSpPr>
        <p:spPr>
          <a:xfrm>
            <a:off x="8765286"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9003180" y="5851905"/>
            <a:ext cx="128699" cy="187198"/>
          </a:xfrm>
          <a:prstGeom prst="rect">
            <a:avLst/>
          </a:prstGeom>
        </p:spPr>
      </p:pic>
      <p:sp>
        <p:nvSpPr>
          <p:cNvPr id="29" name="TextBox 28"/>
          <p:cNvSpPr txBox="1"/>
          <p:nvPr/>
        </p:nvSpPr>
        <p:spPr>
          <a:xfrm>
            <a:off x="9170676" y="5861685"/>
            <a:ext cx="1976338" cy="186689"/>
          </a:xfrm>
          <a:prstGeom prst="rect">
            <a:avLst/>
          </a:prstGeom>
          <a:noFill/>
        </p:spPr>
        <p:txBody>
          <a:bodyPr wrap="none" lIns="0" rIns="0" tIns="0" bIns="0">
            <a:spAutoFit/>
          </a:bodyPr>
          <a:lstStyle/>
          <a:p>
            <a:r>
              <a:rPr sz="1100" b="0">
                <a:solidFill>
                  <a:srgbClr val="2E2E2E"/>
                </a:solidFill>
                <a:latin typeface="Calibri"/>
              </a:rPr>
              <a:t>respectively, against the segment</a:t>
            </a:r>
          </a:p>
        </p:txBody>
      </p:sp>
      <p:sp>
        <p:nvSpPr>
          <p:cNvPr id="30" name="TextBox 29"/>
          <p:cNvSpPr txBox="1"/>
          <p:nvPr/>
        </p:nvSpPr>
        <p:spPr>
          <a:xfrm>
            <a:off x="257175" y="6029325"/>
            <a:ext cx="674563" cy="186689"/>
          </a:xfrm>
          <a:prstGeom prst="rect">
            <a:avLst/>
          </a:prstGeom>
          <a:noFill/>
        </p:spPr>
        <p:txBody>
          <a:bodyPr wrap="none" lIns="0" rIns="0" tIns="0" bIns="0">
            <a:spAutoFit/>
          </a:bodyPr>
          <a:lstStyle/>
          <a:p>
            <a:r>
              <a:rPr sz="1100" b="0">
                <a:solidFill>
                  <a:srgbClr val="2E2E2E"/>
                </a:solidFill>
                <a:latin typeface="Calibri"/>
              </a:rPr>
              <a:t>average of</a:t>
            </a:r>
          </a:p>
        </p:txBody>
      </p:sp>
      <p:pic>
        <p:nvPicPr>
          <p:cNvPr id="31" name="Picture 30" descr="lock.png"/>
          <p:cNvPicPr>
            <a:picLocks noChangeAspect="1"/>
          </p:cNvPicPr>
          <p:nvPr/>
        </p:nvPicPr>
        <p:blipFill>
          <a:blip r:embed="rId6"/>
          <a:stretch>
            <a:fillRect/>
          </a:stretch>
        </p:blipFill>
        <p:spPr>
          <a:xfrm>
            <a:off x="879790" y="6019545"/>
            <a:ext cx="128699" cy="187198"/>
          </a:xfrm>
          <a:prstGeom prst="rect">
            <a:avLst/>
          </a:prstGeom>
        </p:spPr>
      </p:pic>
      <p:sp>
        <p:nvSpPr>
          <p:cNvPr id="32" name="TextBox 31"/>
          <p:cNvSpPr txBox="1"/>
          <p:nvPr/>
        </p:nvSpPr>
        <p:spPr>
          <a:xfrm>
            <a:off x="1047285" y="6029325"/>
            <a:ext cx="10780149" cy="186689"/>
          </a:xfrm>
          <a:prstGeom prst="rect">
            <a:avLst/>
          </a:prstGeom>
          <a:noFill/>
        </p:spPr>
        <p:txBody>
          <a:bodyPr wrap="none" lIns="0" rIns="0" tIns="0" bIns="0">
            <a:spAutoFit/>
          </a:bodyPr>
          <a:lstStyle/>
          <a:p>
            <a:r>
              <a:rPr sz="1100" b="0">
                <a:solidFill>
                  <a:srgbClr val="2E2E2E"/>
                </a:solidFill>
                <a:latin typeface="Calibri"/>
              </a:rPr>
              <a:t>. The dental clinics segment is expected to be less attractive as compared to other segments over the forecast period, owing to its lower CAGR and incremental opportunity. Bubbles right of</a:t>
            </a:r>
          </a:p>
        </p:txBody>
      </p:sp>
      <p:sp>
        <p:nvSpPr>
          <p:cNvPr id="33" name="TextBox 32"/>
          <p:cNvSpPr txBox="1"/>
          <p:nvPr/>
        </p:nvSpPr>
        <p:spPr>
          <a:xfrm>
            <a:off x="257175" y="6196965"/>
            <a:ext cx="3445899" cy="186689"/>
          </a:xfrm>
          <a:prstGeom prst="rect">
            <a:avLst/>
          </a:prstGeom>
          <a:noFill/>
        </p:spPr>
        <p:txBody>
          <a:bodyPr wrap="none" lIns="0" rIns="0" tIns="0" bIns="0">
            <a:spAutoFit/>
          </a:bodyPr>
          <a:lstStyle/>
          <a:p>
            <a:r>
              <a:rPr sz="1100" b="0">
                <a:solidFill>
                  <a:srgbClr val="2E2E2E"/>
                </a:solidFill>
                <a:latin typeface="Calibri"/>
              </a:rPr>
              <a:t>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Clinics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Hospitals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Laboratories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Academic &amp; Teaching Dental Institutions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End User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End User (Units)</a:t>
            </a:r>
          </a:p>
        </p:txBody>
      </p:sp>
      <p:graphicFrame>
        <p:nvGraphicFramePr>
          <p:cNvPr id="13" name="Table 12"/>
          <p:cNvGraphicFramePr>
            <a:graphicFrameLocks noGrp="1"/>
          </p:cNvGraphicFramePr>
          <p:nvPr/>
        </p:nvGraphicFramePr>
        <p:xfrm>
          <a:off x="152400" y="1238250"/>
          <a:ext cx="11887208" cy="20573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End User</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83">
                <a:tc>
                  <a:txBody>
                    <a:bodyPr wrap="none"/>
                    <a:lstStyle/>
                    <a:p>
                      <a:pPr algn="l"/>
                      <a:r>
                        <a:rPr sz="1100" b="1">
                          <a:solidFill>
                            <a:srgbClr val="2E2E2E"/>
                          </a:solidFill>
                          <a:latin typeface="Calibri"/>
                        </a:rPr>
                        <a:t>Dental Clinics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83">
                <a:tc>
                  <a:txBody>
                    <a:bodyPr wrap="none"/>
                    <a:lstStyle/>
                    <a:p>
                      <a:pPr algn="l"/>
                      <a:r>
                        <a:rPr sz="1100" b="1">
                          <a:solidFill>
                            <a:srgbClr val="2E2E2E"/>
                          </a:solidFill>
                          <a:latin typeface="Calibri"/>
                        </a:rPr>
                        <a:t>Dental Hospitals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83">
                <a:tc>
                  <a:txBody>
                    <a:bodyPr wrap="none"/>
                    <a:lstStyle/>
                    <a:p>
                      <a:pPr algn="l"/>
                      <a:r>
                        <a:rPr sz="1100" b="1">
                          <a:solidFill>
                            <a:srgbClr val="2E2E2E"/>
                          </a:solidFill>
                          <a:latin typeface="Calibri"/>
                        </a:rPr>
                        <a:t>Dental Laboratories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154">
                <a:tc>
                  <a:txBody>
                    <a:bodyPr wrap="none"/>
                    <a:lstStyle/>
                    <a:p>
                      <a:pPr algn="l"/>
                      <a:r>
                        <a:rPr sz="1100" b="1">
                          <a:solidFill>
                            <a:srgbClr val="2E2E2E"/>
                          </a:solidFill>
                          <a:latin typeface="Calibri"/>
                        </a:rPr>
                        <a:t>Academic &amp;</a:t>
                      </a:r>
                      <a:endParaRPr sz="1100"/>
                    </a:p>
                    <a:p>
                      <a:pPr algn="l"/>
                      <a:r>
                        <a:rPr sz="1100" b="1">
                          <a:solidFill>
                            <a:srgbClr val="2E2E2E"/>
                          </a:solidFill>
                          <a:latin typeface="Calibri"/>
                        </a:rPr>
                        <a:t>Teaching Dental</a:t>
                      </a:r>
                      <a:endParaRPr sz="1100"/>
                    </a:p>
                    <a:p>
                      <a:pPr algn="l"/>
                      <a:r>
                        <a:rPr sz="1100" b="1">
                          <a:solidFill>
                            <a:srgbClr val="2E2E2E"/>
                          </a:solidFill>
                          <a:latin typeface="Calibri"/>
                        </a:rPr>
                        <a:t>Institutions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83">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305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38550"/>
            <a:ext cx="11906250" cy="2990850"/>
          </a:xfrm>
          <a:prstGeom prst="roundRect">
            <a:avLst>
              <a:gd name="adj" fmla="val 25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242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End User</a:t>
            </a:r>
          </a:p>
        </p:txBody>
      </p:sp>
      <p:sp>
        <p:nvSpPr>
          <p:cNvPr id="17" name="Rectangle 16"/>
          <p:cNvSpPr/>
          <p:nvPr/>
        </p:nvSpPr>
        <p:spPr>
          <a:xfrm>
            <a:off x="276225" y="3962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048125"/>
            <a:ext cx="11639550" cy="2505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219705"/>
            <a:ext cx="366712" cy="533400"/>
          </a:xfrm>
          <a:prstGeom prst="rect">
            <a:avLst/>
          </a:prstGeom>
        </p:spPr>
      </p:pic>
      <p:sp>
        <p:nvSpPr>
          <p:cNvPr id="21" name="TextBox 20"/>
          <p:cNvSpPr txBox="1"/>
          <p:nvPr/>
        </p:nvSpPr>
        <p:spPr>
          <a:xfrm>
            <a:off x="276225" y="4057650"/>
            <a:ext cx="3145246" cy="194310"/>
          </a:xfrm>
          <a:prstGeom prst="rect">
            <a:avLst/>
          </a:prstGeom>
          <a:noFill/>
        </p:spPr>
        <p:txBody>
          <a:bodyPr wrap="none" lIns="0" rIns="0" tIns="0" bIns="0">
            <a:spAutoFit/>
          </a:bodyPr>
          <a:lstStyle/>
          <a:p>
            <a:r>
              <a:rPr sz="1150" b="0">
                <a:solidFill>
                  <a:srgbClr val="2E2E2E"/>
                </a:solidFill>
                <a:latin typeface="Calibri"/>
              </a:rPr>
              <a:t>Dental laboratories segment is projected to register</a:t>
            </a:r>
          </a:p>
        </p:txBody>
      </p:sp>
      <p:pic>
        <p:nvPicPr>
          <p:cNvPr id="22" name="Picture 21" descr="lock.png"/>
          <p:cNvPicPr>
            <a:picLocks noChangeAspect="1"/>
          </p:cNvPicPr>
          <p:nvPr/>
        </p:nvPicPr>
        <p:blipFill>
          <a:blip r:embed="rId4"/>
          <a:stretch>
            <a:fillRect/>
          </a:stretch>
        </p:blipFill>
        <p:spPr>
          <a:xfrm>
            <a:off x="3370625" y="4047426"/>
            <a:ext cx="134549" cy="195707"/>
          </a:xfrm>
          <a:prstGeom prst="rect">
            <a:avLst/>
          </a:prstGeom>
        </p:spPr>
      </p:pic>
      <p:sp>
        <p:nvSpPr>
          <p:cNvPr id="23" name="TextBox 22"/>
          <p:cNvSpPr txBox="1"/>
          <p:nvPr/>
        </p:nvSpPr>
        <p:spPr>
          <a:xfrm>
            <a:off x="3545734" y="4057650"/>
            <a:ext cx="8072722" cy="194310"/>
          </a:xfrm>
          <a:prstGeom prst="rect">
            <a:avLst/>
          </a:prstGeom>
          <a:noFill/>
        </p:spPr>
        <p:txBody>
          <a:bodyPr wrap="none" lIns="0" rIns="0" tIns="0" bIns="0">
            <a:spAutoFit/>
          </a:bodyPr>
          <a:lstStyle/>
          <a:p>
            <a:r>
              <a:rPr sz="1150" b="0">
                <a:solidFill>
                  <a:srgbClr val="2E2E2E"/>
                </a:solidFill>
                <a:latin typeface="Calibri"/>
              </a:rPr>
              <a:t>X higher volume than academic &amp; teaching dental institutions segment in 2036. Among removable partial dentures by end user, dental</a:t>
            </a:r>
          </a:p>
        </p:txBody>
      </p:sp>
      <p:sp>
        <p:nvSpPr>
          <p:cNvPr id="24" name="TextBox 23"/>
          <p:cNvSpPr txBox="1"/>
          <p:nvPr/>
        </p:nvSpPr>
        <p:spPr>
          <a:xfrm>
            <a:off x="276225" y="42329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4222686"/>
            <a:ext cx="134549" cy="195707"/>
          </a:xfrm>
          <a:prstGeom prst="rect">
            <a:avLst/>
          </a:prstGeom>
        </p:spPr>
      </p:pic>
      <p:sp>
        <p:nvSpPr>
          <p:cNvPr id="26" name="TextBox 25"/>
          <p:cNvSpPr txBox="1"/>
          <p:nvPr/>
        </p:nvSpPr>
        <p:spPr>
          <a:xfrm>
            <a:off x="4121074" y="42329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460747"/>
            <a:ext cx="6839855" cy="194310"/>
          </a:xfrm>
          <a:prstGeom prst="rect">
            <a:avLst/>
          </a:prstGeom>
          <a:noFill/>
        </p:spPr>
        <p:txBody>
          <a:bodyPr wrap="none" lIns="0" rIns="0" tIns="0" bIns="0">
            <a:spAutoFit/>
          </a:bodyPr>
          <a:lstStyle/>
          <a:p>
            <a:r>
              <a:rPr sz="1150" b="0">
                <a:solidFill>
                  <a:srgbClr val="2E2E2E"/>
                </a:solidFill>
                <a:latin typeface="Calibri"/>
              </a:rPr>
              <a:t>In terms of volume share by end user, the dental laboratories segment is expected to dominate the market, losing</a:t>
            </a:r>
          </a:p>
        </p:txBody>
      </p:sp>
      <p:pic>
        <p:nvPicPr>
          <p:cNvPr id="28" name="Picture 27" descr="lock.png"/>
          <p:cNvPicPr>
            <a:picLocks noChangeAspect="1"/>
          </p:cNvPicPr>
          <p:nvPr/>
        </p:nvPicPr>
        <p:blipFill>
          <a:blip r:embed="rId4"/>
          <a:stretch>
            <a:fillRect/>
          </a:stretch>
        </p:blipFill>
        <p:spPr>
          <a:xfrm>
            <a:off x="7065234" y="4450524"/>
            <a:ext cx="134549" cy="195707"/>
          </a:xfrm>
          <a:prstGeom prst="rect">
            <a:avLst/>
          </a:prstGeom>
        </p:spPr>
      </p:pic>
      <p:sp>
        <p:nvSpPr>
          <p:cNvPr id="29" name="TextBox 28"/>
          <p:cNvSpPr txBox="1"/>
          <p:nvPr/>
        </p:nvSpPr>
        <p:spPr>
          <a:xfrm>
            <a:off x="7240343" y="44607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35486" y="4450524"/>
            <a:ext cx="134549" cy="195707"/>
          </a:xfrm>
          <a:prstGeom prst="rect">
            <a:avLst/>
          </a:prstGeom>
        </p:spPr>
      </p:pic>
      <p:sp>
        <p:nvSpPr>
          <p:cNvPr id="31" name="TextBox 30"/>
          <p:cNvSpPr txBox="1"/>
          <p:nvPr/>
        </p:nvSpPr>
        <p:spPr>
          <a:xfrm>
            <a:off x="8810596" y="44607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End User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End User (US$ Mn)</a:t>
            </a:r>
          </a:p>
        </p:txBody>
      </p:sp>
      <p:graphicFrame>
        <p:nvGraphicFramePr>
          <p:cNvPr id="13" name="Table 12"/>
          <p:cNvGraphicFramePr>
            <a:graphicFrameLocks noGrp="1"/>
          </p:cNvGraphicFramePr>
          <p:nvPr/>
        </p:nvGraphicFramePr>
        <p:xfrm>
          <a:off x="152400" y="1238250"/>
          <a:ext cx="11887196" cy="1485896"/>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End User</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27480" y="1837563"/>
            <a:ext cx="366712" cy="533400"/>
          </a:xfrm>
          <a:prstGeom prst="rect">
            <a:avLst/>
          </a:prstGeom>
        </p:spPr>
      </p:pic>
      <p:sp>
        <p:nvSpPr>
          <p:cNvPr id="21" name="TextBox 20"/>
          <p:cNvSpPr txBox="1"/>
          <p:nvPr/>
        </p:nvSpPr>
        <p:spPr>
          <a:xfrm>
            <a:off x="276225" y="3486150"/>
            <a:ext cx="4368986" cy="194310"/>
          </a:xfrm>
          <a:prstGeom prst="rect">
            <a:avLst/>
          </a:prstGeom>
          <a:noFill/>
        </p:spPr>
        <p:txBody>
          <a:bodyPr wrap="none" lIns="0" rIns="0" tIns="0" bIns="0">
            <a:spAutoFit/>
          </a:bodyPr>
          <a:lstStyle/>
          <a:p>
            <a:r>
              <a:rPr sz="1150" b="0">
                <a:solidFill>
                  <a:srgbClr val="2E2E2E"/>
                </a:solidFill>
                <a:latin typeface="Calibri"/>
              </a:rPr>
              <a:t>Academic &amp; teaching dental institutions segment is projected to register</a:t>
            </a:r>
          </a:p>
        </p:txBody>
      </p:sp>
      <p:pic>
        <p:nvPicPr>
          <p:cNvPr id="22" name="Picture 21" descr="lock.png"/>
          <p:cNvPicPr>
            <a:picLocks noChangeAspect="1"/>
          </p:cNvPicPr>
          <p:nvPr/>
        </p:nvPicPr>
        <p:blipFill>
          <a:blip r:embed="rId4"/>
          <a:stretch>
            <a:fillRect/>
          </a:stretch>
        </p:blipFill>
        <p:spPr>
          <a:xfrm>
            <a:off x="4594364" y="3475926"/>
            <a:ext cx="134549" cy="195707"/>
          </a:xfrm>
          <a:prstGeom prst="rect">
            <a:avLst/>
          </a:prstGeom>
        </p:spPr>
      </p:pic>
      <p:sp>
        <p:nvSpPr>
          <p:cNvPr id="23" name="TextBox 22"/>
          <p:cNvSpPr txBox="1"/>
          <p:nvPr/>
        </p:nvSpPr>
        <p:spPr>
          <a:xfrm>
            <a:off x="4769474" y="3486150"/>
            <a:ext cx="6726609" cy="194310"/>
          </a:xfrm>
          <a:prstGeom prst="rect">
            <a:avLst/>
          </a:prstGeom>
          <a:noFill/>
        </p:spPr>
        <p:txBody>
          <a:bodyPr wrap="none" lIns="0" rIns="0" tIns="0" bIns="0">
            <a:spAutoFit/>
          </a:bodyPr>
          <a:lstStyle/>
          <a:p>
            <a:r>
              <a:rPr sz="1150" b="0">
                <a:solidFill>
                  <a:srgbClr val="2E2E2E"/>
                </a:solidFill>
                <a:latin typeface="Calibri"/>
              </a:rPr>
              <a:t>X higher value than dental laboratories segment in 2036. Among removable partial dentures by end user, dental</a:t>
            </a:r>
          </a:p>
        </p:txBody>
      </p:sp>
      <p:sp>
        <p:nvSpPr>
          <p:cNvPr id="24" name="TextBox 23"/>
          <p:cNvSpPr txBox="1"/>
          <p:nvPr/>
        </p:nvSpPr>
        <p:spPr>
          <a:xfrm>
            <a:off x="276225" y="36614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3651186"/>
            <a:ext cx="134549" cy="195707"/>
          </a:xfrm>
          <a:prstGeom prst="rect">
            <a:avLst/>
          </a:prstGeom>
        </p:spPr>
      </p:pic>
      <p:sp>
        <p:nvSpPr>
          <p:cNvPr id="26" name="TextBox 25"/>
          <p:cNvSpPr txBox="1"/>
          <p:nvPr/>
        </p:nvSpPr>
        <p:spPr>
          <a:xfrm>
            <a:off x="4121074"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8019665" cy="194310"/>
          </a:xfrm>
          <a:prstGeom prst="rect">
            <a:avLst/>
          </a:prstGeom>
          <a:noFill/>
        </p:spPr>
        <p:txBody>
          <a:bodyPr wrap="none" lIns="0" rIns="0" tIns="0" bIns="0">
            <a:spAutoFit/>
          </a:bodyPr>
          <a:lstStyle/>
          <a:p>
            <a:r>
              <a:rPr sz="1150" b="0">
                <a:solidFill>
                  <a:srgbClr val="2E2E2E"/>
                </a:solidFill>
                <a:latin typeface="Calibri"/>
              </a:rPr>
              <a:t>In terms of value share by end user, the academic &amp; teaching dental institutions segment is expected to dominate the market, gaining</a:t>
            </a:r>
          </a:p>
        </p:txBody>
      </p:sp>
      <p:pic>
        <p:nvPicPr>
          <p:cNvPr id="28" name="Picture 27" descr="lock.png"/>
          <p:cNvPicPr>
            <a:picLocks noChangeAspect="1"/>
          </p:cNvPicPr>
          <p:nvPr/>
        </p:nvPicPr>
        <p:blipFill>
          <a:blip r:embed="rId4"/>
          <a:stretch>
            <a:fillRect/>
          </a:stretch>
        </p:blipFill>
        <p:spPr>
          <a:xfrm>
            <a:off x="8245044" y="3879024"/>
            <a:ext cx="134549" cy="195707"/>
          </a:xfrm>
          <a:prstGeom prst="rect">
            <a:avLst/>
          </a:prstGeom>
        </p:spPr>
      </p:pic>
      <p:sp>
        <p:nvSpPr>
          <p:cNvPr id="29" name="TextBox 28"/>
          <p:cNvSpPr txBox="1"/>
          <p:nvPr/>
        </p:nvSpPr>
        <p:spPr>
          <a:xfrm>
            <a:off x="8420153"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15296" y="3879024"/>
            <a:ext cx="134549" cy="195707"/>
          </a:xfrm>
          <a:prstGeom prst="rect">
            <a:avLst/>
          </a:prstGeom>
        </p:spPr>
      </p:pic>
      <p:sp>
        <p:nvSpPr>
          <p:cNvPr id="31" name="TextBox 30"/>
          <p:cNvSpPr txBox="1"/>
          <p:nvPr/>
        </p:nvSpPr>
        <p:spPr>
          <a:xfrm>
            <a:off x="9990406" y="3889247"/>
            <a:ext cx="1612007" cy="194310"/>
          </a:xfrm>
          <a:prstGeom prst="rect">
            <a:avLst/>
          </a:prstGeom>
          <a:noFill/>
        </p:spPr>
        <p:txBody>
          <a:bodyPr wrap="none" lIns="0" rIns="0" tIns="0" bIns="0">
            <a:spAutoFit/>
          </a:bodyPr>
          <a:lstStyle/>
          <a:p>
            <a:r>
              <a:rPr sz="1150" b="0">
                <a:solidFill>
                  <a:srgbClr val="2E2E2E"/>
                </a:solidFill>
                <a:latin typeface="Calibri"/>
              </a:rPr>
              <a:t>share by 2036. The dental</a:t>
            </a:r>
          </a:p>
        </p:txBody>
      </p:sp>
      <p:sp>
        <p:nvSpPr>
          <p:cNvPr id="32" name="TextBox 31"/>
          <p:cNvSpPr txBox="1"/>
          <p:nvPr/>
        </p:nvSpPr>
        <p:spPr>
          <a:xfrm>
            <a:off x="276225" y="4064507"/>
            <a:ext cx="2477467" cy="194310"/>
          </a:xfrm>
          <a:prstGeom prst="rect">
            <a:avLst/>
          </a:prstGeom>
          <a:noFill/>
        </p:spPr>
        <p:txBody>
          <a:bodyPr wrap="none" lIns="0" rIns="0" tIns="0" bIns="0">
            <a:spAutoFit/>
          </a:bodyPr>
          <a:lstStyle/>
          <a:p>
            <a:r>
              <a:rPr sz="1150" b="0">
                <a:solidFill>
                  <a:srgbClr val="2E2E2E"/>
                </a:solidFill>
                <a:latin typeface="Calibri"/>
              </a:rPr>
              <a:t>laboratories segment is expected to lose</a:t>
            </a:r>
          </a:p>
        </p:txBody>
      </p:sp>
      <p:pic>
        <p:nvPicPr>
          <p:cNvPr id="33" name="Picture 32" descr="lock.png"/>
          <p:cNvPicPr>
            <a:picLocks noChangeAspect="1"/>
          </p:cNvPicPr>
          <p:nvPr/>
        </p:nvPicPr>
        <p:blipFill>
          <a:blip r:embed="rId4"/>
          <a:stretch>
            <a:fillRect/>
          </a:stretch>
        </p:blipFill>
        <p:spPr>
          <a:xfrm>
            <a:off x="2702846" y="4054284"/>
            <a:ext cx="134549" cy="195707"/>
          </a:xfrm>
          <a:prstGeom prst="rect">
            <a:avLst/>
          </a:prstGeom>
        </p:spPr>
      </p:pic>
      <p:sp>
        <p:nvSpPr>
          <p:cNvPr id="34" name="TextBox 33"/>
          <p:cNvSpPr txBox="1"/>
          <p:nvPr/>
        </p:nvSpPr>
        <p:spPr>
          <a:xfrm>
            <a:off x="2877955" y="40645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5465460" y="4054284"/>
            <a:ext cx="134549" cy="195707"/>
          </a:xfrm>
          <a:prstGeom prst="rect">
            <a:avLst/>
          </a:prstGeom>
        </p:spPr>
      </p:pic>
      <p:sp>
        <p:nvSpPr>
          <p:cNvPr id="36" name="TextBox 35"/>
          <p:cNvSpPr txBox="1"/>
          <p:nvPr/>
        </p:nvSpPr>
        <p:spPr>
          <a:xfrm>
            <a:off x="5640569" y="40645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End User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End User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70630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015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253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Hospitals</a:t>
            </a:r>
          </a:p>
        </p:txBody>
      </p:sp>
      <p:sp>
        <p:nvSpPr>
          <p:cNvPr id="19" name="BPS Value 1"/>
          <p:cNvSpPr txBox="1"/>
          <p:nvPr/>
        </p:nvSpPr>
        <p:spPr>
          <a:xfrm>
            <a:off x="6896100" y="168725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22329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185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423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Clinics</a:t>
            </a:r>
          </a:p>
        </p:txBody>
      </p:sp>
      <p:sp>
        <p:nvSpPr>
          <p:cNvPr id="23" name="BPS Value 2"/>
          <p:cNvSpPr txBox="1"/>
          <p:nvPr/>
        </p:nvSpPr>
        <p:spPr>
          <a:xfrm>
            <a:off x="6896100" y="220424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4550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4502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3740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Laboratories</a:t>
            </a:r>
          </a:p>
        </p:txBody>
      </p:sp>
      <p:sp>
        <p:nvSpPr>
          <p:cNvPr id="27" name="BPS Value 3"/>
          <p:cNvSpPr txBox="1"/>
          <p:nvPr/>
        </p:nvSpPr>
        <p:spPr>
          <a:xfrm>
            <a:off x="6896100" y="343596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30652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30175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2255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Academic &amp; Teaching Dental Institutions</a:t>
            </a:r>
          </a:p>
        </p:txBody>
      </p:sp>
      <p:sp>
        <p:nvSpPr>
          <p:cNvPr id="31" name="BPS Value 4"/>
          <p:cNvSpPr txBox="1"/>
          <p:nvPr/>
        </p:nvSpPr>
        <p:spPr>
          <a:xfrm>
            <a:off x="6896100" y="528747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End User</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751325"/>
            <a:ext cx="275034" cy="400050"/>
          </a:xfrm>
          <a:prstGeom prst="rect">
            <a:avLst/>
          </a:prstGeom>
        </p:spPr>
      </p:pic>
      <p:sp>
        <p:nvSpPr>
          <p:cNvPr id="38" name="TextBox 37"/>
          <p:cNvSpPr txBox="1"/>
          <p:nvPr/>
        </p:nvSpPr>
        <p:spPr>
          <a:xfrm>
            <a:off x="7829550" y="1400175"/>
            <a:ext cx="3890615" cy="194310"/>
          </a:xfrm>
          <a:prstGeom prst="rect">
            <a:avLst/>
          </a:prstGeom>
          <a:noFill/>
        </p:spPr>
        <p:txBody>
          <a:bodyPr wrap="none" lIns="0" rIns="0" tIns="0" bIns="0">
            <a:spAutoFit/>
          </a:bodyPr>
          <a:lstStyle/>
          <a:p>
            <a:r>
              <a:rPr sz="1150" b="0">
                <a:solidFill>
                  <a:srgbClr val="2E2E2E"/>
                </a:solidFill>
                <a:latin typeface="Calibri"/>
              </a:rPr>
              <a:t>Among removable partial dentures by end user, dental hospitals</a:t>
            </a:r>
          </a:p>
        </p:txBody>
      </p:sp>
      <p:sp>
        <p:nvSpPr>
          <p:cNvPr id="39" name="TextBox 38"/>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40" name="Picture 39" descr="lock.png"/>
          <p:cNvPicPr>
            <a:picLocks noChangeAspect="1"/>
          </p:cNvPicPr>
          <p:nvPr/>
        </p:nvPicPr>
        <p:blipFill>
          <a:blip r:embed="rId5"/>
          <a:stretch>
            <a:fillRect/>
          </a:stretch>
        </p:blipFill>
        <p:spPr>
          <a:xfrm>
            <a:off x="10935343" y="1565211"/>
            <a:ext cx="134549" cy="195707"/>
          </a:xfrm>
          <a:prstGeom prst="rect">
            <a:avLst/>
          </a:prstGeom>
        </p:spPr>
      </p:pic>
      <p:sp>
        <p:nvSpPr>
          <p:cNvPr id="41" name="TextBox 40"/>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2" name="TextBox 41"/>
          <p:cNvSpPr txBox="1"/>
          <p:nvPr/>
        </p:nvSpPr>
        <p:spPr>
          <a:xfrm>
            <a:off x="7829550" y="1750695"/>
            <a:ext cx="4001293" cy="194310"/>
          </a:xfrm>
          <a:prstGeom prst="rect">
            <a:avLst/>
          </a:prstGeom>
          <a:noFill/>
        </p:spPr>
        <p:txBody>
          <a:bodyPr wrap="none" lIns="0" rIns="0" tIns="0" bIns="0">
            <a:spAutoFit/>
          </a:bodyPr>
          <a:lstStyle/>
          <a:p>
            <a:r>
              <a:rPr sz="1150" b="0">
                <a:solidFill>
                  <a:srgbClr val="2E2E2E"/>
                </a:solidFill>
                <a:latin typeface="Calibri"/>
              </a:rPr>
              <a:t>forecast period. In terms of value share by end user, the academic</a:t>
            </a:r>
          </a:p>
        </p:txBody>
      </p:sp>
      <p:sp>
        <p:nvSpPr>
          <p:cNvPr id="43" name="TextBox 42"/>
          <p:cNvSpPr txBox="1"/>
          <p:nvPr/>
        </p:nvSpPr>
        <p:spPr>
          <a:xfrm>
            <a:off x="7829550" y="1925955"/>
            <a:ext cx="4057650" cy="194310"/>
          </a:xfrm>
          <a:prstGeom prst="rect">
            <a:avLst/>
          </a:prstGeom>
          <a:noFill/>
        </p:spPr>
        <p:txBody>
          <a:bodyPr wrap="none" lIns="0" rIns="0" tIns="0" bIns="0">
            <a:spAutoFit/>
          </a:bodyPr>
          <a:lstStyle/>
          <a:p>
            <a:r>
              <a:rPr sz="1150" b="0">
                <a:solidFill>
                  <a:srgbClr val="2E2E2E"/>
                </a:solidFill>
                <a:latin typeface="Calibri"/>
              </a:rPr>
              <a:t>&amp; teaching dental institutions segment is expected to dominate the</a:t>
            </a:r>
          </a:p>
        </p:txBody>
      </p:sp>
      <p:sp>
        <p:nvSpPr>
          <p:cNvPr id="44" name="TextBox 43"/>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45" name="Picture 44" descr="lock.png"/>
          <p:cNvPicPr>
            <a:picLocks noChangeAspect="1"/>
          </p:cNvPicPr>
          <p:nvPr/>
        </p:nvPicPr>
        <p:blipFill>
          <a:blip r:embed="rId5"/>
          <a:stretch>
            <a:fillRect/>
          </a:stretch>
        </p:blipFill>
        <p:spPr>
          <a:xfrm>
            <a:off x="8778556" y="2090991"/>
            <a:ext cx="134549" cy="195707"/>
          </a:xfrm>
          <a:prstGeom prst="rect">
            <a:avLst/>
          </a:prstGeom>
        </p:spPr>
      </p:pic>
      <p:sp>
        <p:nvSpPr>
          <p:cNvPr id="46" name="TextBox 45"/>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0348808" y="2090991"/>
            <a:ext cx="134549" cy="195707"/>
          </a:xfrm>
          <a:prstGeom prst="rect">
            <a:avLst/>
          </a:prstGeom>
        </p:spPr>
      </p:pic>
      <p:sp>
        <p:nvSpPr>
          <p:cNvPr id="48" name="TextBox 47"/>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329053"/>
            <a:ext cx="3143250" cy="194310"/>
          </a:xfrm>
          <a:prstGeom prst="rect">
            <a:avLst/>
          </a:prstGeom>
          <a:noFill/>
        </p:spPr>
        <p:txBody>
          <a:bodyPr wrap="none" lIns="0" rIns="0" tIns="0" bIns="0">
            <a:spAutoFit/>
          </a:bodyPr>
          <a:lstStyle/>
          <a:p>
            <a:r>
              <a:rPr sz="1150" b="0">
                <a:solidFill>
                  <a:srgbClr val="2E2E2E"/>
                </a:solidFill>
                <a:latin typeface="Calibri"/>
              </a:rPr>
              <a:t>The dental laboratories segment is expected to lose</a:t>
            </a:r>
          </a:p>
        </p:txBody>
      </p:sp>
      <p:pic>
        <p:nvPicPr>
          <p:cNvPr id="50" name="Picture 49" descr="lock.png"/>
          <p:cNvPicPr>
            <a:picLocks noChangeAspect="1"/>
          </p:cNvPicPr>
          <p:nvPr/>
        </p:nvPicPr>
        <p:blipFill>
          <a:blip r:embed="rId5"/>
          <a:stretch>
            <a:fillRect/>
          </a:stretch>
        </p:blipFill>
        <p:spPr>
          <a:xfrm>
            <a:off x="10921953" y="2318829"/>
            <a:ext cx="134549" cy="195707"/>
          </a:xfrm>
          <a:prstGeom prst="rect">
            <a:avLst/>
          </a:prstGeom>
        </p:spPr>
      </p:pic>
      <p:sp>
        <p:nvSpPr>
          <p:cNvPr id="51" name="TextBox 50"/>
          <p:cNvSpPr txBox="1"/>
          <p:nvPr/>
        </p:nvSpPr>
        <p:spPr>
          <a:xfrm>
            <a:off x="11097063" y="2329053"/>
            <a:ext cx="598214" cy="194310"/>
          </a:xfrm>
          <a:prstGeom prst="rect">
            <a:avLst/>
          </a:prstGeom>
          <a:noFill/>
        </p:spPr>
        <p:txBody>
          <a:bodyPr wrap="none" lIns="0" rIns="0" tIns="0" bIns="0">
            <a:spAutoFit/>
          </a:bodyPr>
          <a:lstStyle/>
          <a:p>
            <a:r>
              <a:rPr sz="1150" b="0">
                <a:solidFill>
                  <a:srgbClr val="2E2E2E"/>
                </a:solidFill>
                <a:latin typeface="Calibri"/>
              </a:rPr>
              <a:t>BPS over</a:t>
            </a:r>
          </a:p>
        </p:txBody>
      </p:sp>
      <p:sp>
        <p:nvSpPr>
          <p:cNvPr id="52" name="TextBox 51"/>
          <p:cNvSpPr txBox="1"/>
          <p:nvPr/>
        </p:nvSpPr>
        <p:spPr>
          <a:xfrm>
            <a:off x="7829550" y="2504313"/>
            <a:ext cx="2083246" cy="194310"/>
          </a:xfrm>
          <a:prstGeom prst="rect">
            <a:avLst/>
          </a:prstGeom>
          <a:noFill/>
        </p:spPr>
        <p:txBody>
          <a:bodyPr wrap="none" lIns="0" rIns="0" tIns="0" bIns="0">
            <a:spAutoFit/>
          </a:bodyPr>
          <a:lstStyle/>
          <a:p>
            <a:r>
              <a:rPr sz="1150" b="0">
                <a:solidFill>
                  <a:srgbClr val="2E2E2E"/>
                </a:solidFill>
                <a:latin typeface="Calibri"/>
              </a:rPr>
              <a:t>the forecast period to account for</a:t>
            </a:r>
          </a:p>
        </p:txBody>
      </p:sp>
      <p:pic>
        <p:nvPicPr>
          <p:cNvPr id="53" name="Picture 52" descr="lock.png"/>
          <p:cNvPicPr>
            <a:picLocks noChangeAspect="1"/>
          </p:cNvPicPr>
          <p:nvPr/>
        </p:nvPicPr>
        <p:blipFill>
          <a:blip r:embed="rId5"/>
          <a:stretch>
            <a:fillRect/>
          </a:stretch>
        </p:blipFill>
        <p:spPr>
          <a:xfrm>
            <a:off x="9861950" y="2494089"/>
            <a:ext cx="134549" cy="195707"/>
          </a:xfrm>
          <a:prstGeom prst="rect">
            <a:avLst/>
          </a:prstGeom>
        </p:spPr>
      </p:pic>
      <p:sp>
        <p:nvSpPr>
          <p:cNvPr id="54" name="TextBox 53"/>
          <p:cNvSpPr txBox="1"/>
          <p:nvPr/>
        </p:nvSpPr>
        <p:spPr>
          <a:xfrm>
            <a:off x="10037059"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Dental Dealers &amp; Distributors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 Sales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Dental Supply Channels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4.4%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712_7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909_9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2_5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295_2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71_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8_6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17_3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149_5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2_4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70" name="TextBox 69"/>
          <p:cNvSpPr txBox="1"/>
          <p:nvPr/>
        </p:nvSpPr>
        <p:spPr>
          <a:xfrm>
            <a:off x="485775" y="4397077"/>
            <a:ext cx="2564606" cy="186689"/>
          </a:xfrm>
          <a:prstGeom prst="rect">
            <a:avLst/>
          </a:prstGeom>
          <a:noFill/>
        </p:spPr>
        <p:txBody>
          <a:bodyPr wrap="none" lIns="0" rIns="0" tIns="0" bIns="0">
            <a:spAutoFit/>
          </a:bodyPr>
          <a:lstStyle/>
          <a:p>
            <a:r>
              <a:rPr sz="1100" b="0">
                <a:solidFill>
                  <a:srgbClr val="2E2E2E"/>
                </a:solidFill>
                <a:latin typeface="Calibri"/>
              </a:rPr>
              <a:t>distribution channel, direct sales segment is</a:t>
            </a:r>
          </a:p>
        </p:txBody>
      </p:sp>
      <p:sp>
        <p:nvSpPr>
          <p:cNvPr id="71" name="TextBox 70"/>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72" name="Picture 71" descr="lock.png"/>
          <p:cNvPicPr>
            <a:picLocks noChangeAspect="1"/>
          </p:cNvPicPr>
          <p:nvPr/>
        </p:nvPicPr>
        <p:blipFill>
          <a:blip r:embed="rId13"/>
          <a:stretch>
            <a:fillRect/>
          </a:stretch>
        </p:blipFill>
        <p:spPr>
          <a:xfrm>
            <a:off x="2815059" y="4554938"/>
            <a:ext cx="128699" cy="187198"/>
          </a:xfrm>
          <a:prstGeom prst="rect">
            <a:avLst/>
          </a:prstGeom>
        </p:spPr>
      </p:pic>
      <p:sp>
        <p:nvSpPr>
          <p:cNvPr id="73" name="TextBox 72"/>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74" name="TextBox 73"/>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75" name="TextBox 74"/>
          <p:cNvSpPr txBox="1"/>
          <p:nvPr/>
        </p:nvSpPr>
        <p:spPr>
          <a:xfrm>
            <a:off x="485775" y="4899997"/>
            <a:ext cx="2441004" cy="186689"/>
          </a:xfrm>
          <a:prstGeom prst="rect">
            <a:avLst/>
          </a:prstGeom>
          <a:noFill/>
        </p:spPr>
        <p:txBody>
          <a:bodyPr wrap="none" lIns="0" rIns="0" tIns="0" bIns="0">
            <a:spAutoFit/>
          </a:bodyPr>
          <a:lstStyle/>
          <a:p>
            <a:r>
              <a:rPr sz="1100" b="0">
                <a:solidFill>
                  <a:srgbClr val="2E2E2E"/>
                </a:solidFill>
                <a:latin typeface="Calibri"/>
              </a:rPr>
              <a:t>distribution channel, the dental dealers &amp;</a:t>
            </a:r>
          </a:p>
        </p:txBody>
      </p:sp>
      <p:sp>
        <p:nvSpPr>
          <p:cNvPr id="76" name="TextBox 75"/>
          <p:cNvSpPr txBox="1"/>
          <p:nvPr/>
        </p:nvSpPr>
        <p:spPr>
          <a:xfrm>
            <a:off x="485775" y="5067637"/>
            <a:ext cx="2883569" cy="186689"/>
          </a:xfrm>
          <a:prstGeom prst="rect">
            <a:avLst/>
          </a:prstGeom>
          <a:noFill/>
        </p:spPr>
        <p:txBody>
          <a:bodyPr wrap="none" lIns="0" rIns="0" tIns="0" bIns="0">
            <a:spAutoFit/>
          </a:bodyPr>
          <a:lstStyle/>
          <a:p>
            <a:r>
              <a:rPr sz="1100" b="0">
                <a:solidFill>
                  <a:srgbClr val="2E2E2E"/>
                </a:solidFill>
                <a:latin typeface="Calibri"/>
              </a:rPr>
              <a:t>distributors segment is expected to dominate the</a:t>
            </a:r>
          </a:p>
        </p:txBody>
      </p:sp>
      <p:sp>
        <p:nvSpPr>
          <p:cNvPr id="77" name="TextBox 76"/>
          <p:cNvSpPr txBox="1"/>
          <p:nvPr/>
        </p:nvSpPr>
        <p:spPr>
          <a:xfrm>
            <a:off x="485775" y="5235277"/>
            <a:ext cx="881930" cy="186689"/>
          </a:xfrm>
          <a:prstGeom prst="rect">
            <a:avLst/>
          </a:prstGeom>
          <a:noFill/>
        </p:spPr>
        <p:txBody>
          <a:bodyPr wrap="none" lIns="0" rIns="0" tIns="0" bIns="0">
            <a:spAutoFit/>
          </a:bodyPr>
          <a:lstStyle/>
          <a:p>
            <a:r>
              <a:rPr sz="1100" b="0">
                <a:solidFill>
                  <a:srgbClr val="2E2E2E"/>
                </a:solidFill>
                <a:latin typeface="Calibri"/>
              </a:rPr>
              <a:t>market, losing</a:t>
            </a:r>
          </a:p>
        </p:txBody>
      </p:sp>
      <p:pic>
        <p:nvPicPr>
          <p:cNvPr id="78" name="Picture 77" descr="lock.png"/>
          <p:cNvPicPr>
            <a:picLocks noChangeAspect="1"/>
          </p:cNvPicPr>
          <p:nvPr/>
        </p:nvPicPr>
        <p:blipFill>
          <a:blip r:embed="rId13"/>
          <a:stretch>
            <a:fillRect/>
          </a:stretch>
        </p:blipFill>
        <p:spPr>
          <a:xfrm>
            <a:off x="1315757" y="5225498"/>
            <a:ext cx="128699" cy="187198"/>
          </a:xfrm>
          <a:prstGeom prst="rect">
            <a:avLst/>
          </a:prstGeom>
        </p:spPr>
      </p:pic>
      <p:sp>
        <p:nvSpPr>
          <p:cNvPr id="79" name="TextBox 78"/>
          <p:cNvSpPr txBox="1"/>
          <p:nvPr/>
        </p:nvSpPr>
        <p:spPr>
          <a:xfrm>
            <a:off x="1483253"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80" name="Picture 79" descr="lock.png"/>
          <p:cNvPicPr>
            <a:picLocks noChangeAspect="1"/>
          </p:cNvPicPr>
          <p:nvPr/>
        </p:nvPicPr>
        <p:blipFill>
          <a:blip r:embed="rId13"/>
          <a:stretch>
            <a:fillRect/>
          </a:stretch>
        </p:blipFill>
        <p:spPr>
          <a:xfrm>
            <a:off x="2817737" y="5225498"/>
            <a:ext cx="128699" cy="187198"/>
          </a:xfrm>
          <a:prstGeom prst="rect">
            <a:avLst/>
          </a:prstGeom>
        </p:spPr>
      </p:pic>
      <p:sp>
        <p:nvSpPr>
          <p:cNvPr id="81" name="TextBox 80"/>
          <p:cNvSpPr txBox="1"/>
          <p:nvPr/>
        </p:nvSpPr>
        <p:spPr>
          <a:xfrm>
            <a:off x="485775"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620849"/>
            <a:ext cx="2551236" cy="186689"/>
          </a:xfrm>
          <a:prstGeom prst="rect">
            <a:avLst/>
          </a:prstGeom>
          <a:noFill/>
        </p:spPr>
        <p:txBody>
          <a:bodyPr wrap="none" lIns="0" rIns="0" tIns="0" bIns="0">
            <a:spAutoFit/>
          </a:bodyPr>
          <a:lstStyle/>
          <a:p>
            <a:r>
              <a:rPr sz="1100" b="0">
                <a:solidFill>
                  <a:srgbClr val="2E2E2E"/>
                </a:solidFill>
                <a:latin typeface="Calibri"/>
              </a:rPr>
              <a:t>▪ ¶ Dental dealers &amp; distributors segment is</a:t>
            </a:r>
          </a:p>
        </p:txBody>
      </p:sp>
      <p:sp>
        <p:nvSpPr>
          <p:cNvPr id="83" name="TextBox 82"/>
          <p:cNvSpPr txBox="1"/>
          <p:nvPr/>
        </p:nvSpPr>
        <p:spPr>
          <a:xfrm>
            <a:off x="485775" y="578848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84" name="Picture 83" descr="lock.png"/>
          <p:cNvPicPr>
            <a:picLocks noChangeAspect="1"/>
          </p:cNvPicPr>
          <p:nvPr/>
        </p:nvPicPr>
        <p:blipFill>
          <a:blip r:embed="rId13"/>
          <a:stretch>
            <a:fillRect/>
          </a:stretch>
        </p:blipFill>
        <p:spPr>
          <a:xfrm>
            <a:off x="1678376" y="5778710"/>
            <a:ext cx="128699" cy="187198"/>
          </a:xfrm>
          <a:prstGeom prst="rect">
            <a:avLst/>
          </a:prstGeom>
        </p:spPr>
      </p:pic>
      <p:sp>
        <p:nvSpPr>
          <p:cNvPr id="85" name="TextBox 84"/>
          <p:cNvSpPr txBox="1"/>
          <p:nvPr/>
        </p:nvSpPr>
        <p:spPr>
          <a:xfrm>
            <a:off x="1845872" y="5788489"/>
            <a:ext cx="1534318" cy="186689"/>
          </a:xfrm>
          <a:prstGeom prst="rect">
            <a:avLst/>
          </a:prstGeom>
          <a:noFill/>
        </p:spPr>
        <p:txBody>
          <a:bodyPr wrap="none" lIns="0" rIns="0" tIns="0" bIns="0">
            <a:spAutoFit/>
          </a:bodyPr>
          <a:lstStyle/>
          <a:p>
            <a:r>
              <a:rPr sz="1100" b="0">
                <a:solidFill>
                  <a:srgbClr val="2E2E2E"/>
                </a:solidFill>
                <a:latin typeface="Calibri"/>
              </a:rPr>
              <a:t>X higher value than direct</a:t>
            </a:r>
          </a:p>
        </p:txBody>
      </p:sp>
      <p:sp>
        <p:nvSpPr>
          <p:cNvPr id="86" name="TextBox 85"/>
          <p:cNvSpPr txBox="1"/>
          <p:nvPr/>
        </p:nvSpPr>
        <p:spPr>
          <a:xfrm>
            <a:off x="485775" y="5956129"/>
            <a:ext cx="1364877" cy="186689"/>
          </a:xfrm>
          <a:prstGeom prst="rect">
            <a:avLst/>
          </a:prstGeom>
          <a:noFill/>
        </p:spPr>
        <p:txBody>
          <a:bodyPr wrap="none" lIns="0" rIns="0" tIns="0" bIns="0">
            <a:spAutoFit/>
          </a:bodyPr>
          <a:lstStyle/>
          <a:p>
            <a:r>
              <a:rPr sz="1100" b="0">
                <a:solidFill>
                  <a:srgbClr val="2E2E2E"/>
                </a:solidFill>
                <a:latin typeface="Calibri"/>
              </a:rPr>
              <a:t>sales segment in 2036.</a:t>
            </a:r>
          </a:p>
        </p:txBody>
      </p:sp>
      <p:sp>
        <p:nvSpPr>
          <p:cNvPr id="87" name="TextBox 86"/>
          <p:cNvSpPr txBox="1"/>
          <p:nvPr/>
        </p:nvSpPr>
        <p:spPr>
          <a:xfrm>
            <a:off x="3838575" y="4229437"/>
            <a:ext cx="1893664" cy="186689"/>
          </a:xfrm>
          <a:prstGeom prst="rect">
            <a:avLst/>
          </a:prstGeom>
          <a:noFill/>
        </p:spPr>
        <p:txBody>
          <a:bodyPr wrap="none" lIns="0" rIns="0" tIns="0" bIns="0">
            <a:spAutoFit/>
          </a:bodyPr>
          <a:lstStyle/>
          <a:p>
            <a:r>
              <a:rPr sz="1100" b="0">
                <a:solidFill>
                  <a:srgbClr val="2E2E2E"/>
                </a:solidFill>
                <a:latin typeface="Calibri"/>
              </a:rPr>
              <a:t>● Dental Dealers &amp; Distributors:</a:t>
            </a:r>
          </a:p>
        </p:txBody>
      </p:sp>
      <p:pic>
        <p:nvPicPr>
          <p:cNvPr id="88" name="Picture 87" descr="lock.png"/>
          <p:cNvPicPr>
            <a:picLocks noChangeAspect="1"/>
          </p:cNvPicPr>
          <p:nvPr/>
        </p:nvPicPr>
        <p:blipFill>
          <a:blip r:embed="rId13"/>
          <a:stretch>
            <a:fillRect/>
          </a:stretch>
        </p:blipFill>
        <p:spPr>
          <a:xfrm>
            <a:off x="5680290" y="4219658"/>
            <a:ext cx="128699" cy="187198"/>
          </a:xfrm>
          <a:prstGeom prst="rect">
            <a:avLst/>
          </a:prstGeom>
        </p:spPr>
      </p:pic>
      <p:sp>
        <p:nvSpPr>
          <p:cNvPr id="89" name="TextBox 88"/>
          <p:cNvSpPr txBox="1"/>
          <p:nvPr/>
        </p:nvSpPr>
        <p:spPr>
          <a:xfrm>
            <a:off x="584778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707236" y="4219658"/>
            <a:ext cx="128699" cy="187198"/>
          </a:xfrm>
          <a:prstGeom prst="rect">
            <a:avLst/>
          </a:prstGeom>
        </p:spPr>
      </p:pic>
      <p:sp>
        <p:nvSpPr>
          <p:cNvPr id="91" name="TextBox 90"/>
          <p:cNvSpPr txBox="1"/>
          <p:nvPr/>
        </p:nvSpPr>
        <p:spPr>
          <a:xfrm>
            <a:off x="687473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2" name="TextBox 9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3" name="TextBox 92"/>
          <p:cNvSpPr txBox="1"/>
          <p:nvPr/>
        </p:nvSpPr>
        <p:spPr>
          <a:xfrm>
            <a:off x="3838575" y="4615009"/>
            <a:ext cx="891207" cy="186689"/>
          </a:xfrm>
          <a:prstGeom prst="rect">
            <a:avLst/>
          </a:prstGeom>
          <a:noFill/>
        </p:spPr>
        <p:txBody>
          <a:bodyPr wrap="none" lIns="0" rIns="0" tIns="0" bIns="0">
            <a:spAutoFit/>
          </a:bodyPr>
          <a:lstStyle/>
          <a:p>
            <a:r>
              <a:rPr sz="1100" b="0">
                <a:solidFill>
                  <a:srgbClr val="2E2E2E"/>
                </a:solidFill>
                <a:latin typeface="Calibri"/>
              </a:rPr>
              <a:t>● Direct Sales:</a:t>
            </a:r>
          </a:p>
        </p:txBody>
      </p:sp>
      <p:pic>
        <p:nvPicPr>
          <p:cNvPr id="94" name="Picture 93" descr="lock.png"/>
          <p:cNvPicPr>
            <a:picLocks noChangeAspect="1"/>
          </p:cNvPicPr>
          <p:nvPr/>
        </p:nvPicPr>
        <p:blipFill>
          <a:blip r:embed="rId13"/>
          <a:stretch>
            <a:fillRect/>
          </a:stretch>
        </p:blipFill>
        <p:spPr>
          <a:xfrm>
            <a:off x="4677834" y="4605230"/>
            <a:ext cx="128699" cy="187198"/>
          </a:xfrm>
          <a:prstGeom prst="rect">
            <a:avLst/>
          </a:prstGeom>
        </p:spPr>
      </p:pic>
      <p:sp>
        <p:nvSpPr>
          <p:cNvPr id="95" name="TextBox 94"/>
          <p:cNvSpPr txBox="1"/>
          <p:nvPr/>
        </p:nvSpPr>
        <p:spPr>
          <a:xfrm>
            <a:off x="484533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6" name="Picture 95" descr="lock.png"/>
          <p:cNvPicPr>
            <a:picLocks noChangeAspect="1"/>
          </p:cNvPicPr>
          <p:nvPr/>
        </p:nvPicPr>
        <p:blipFill>
          <a:blip r:embed="rId13"/>
          <a:stretch>
            <a:fillRect/>
          </a:stretch>
        </p:blipFill>
        <p:spPr>
          <a:xfrm>
            <a:off x="5704780" y="4605230"/>
            <a:ext cx="128699" cy="187198"/>
          </a:xfrm>
          <a:prstGeom prst="rect">
            <a:avLst/>
          </a:prstGeom>
        </p:spPr>
      </p:pic>
      <p:sp>
        <p:nvSpPr>
          <p:cNvPr id="97" name="TextBox 96"/>
          <p:cNvSpPr txBox="1"/>
          <p:nvPr/>
        </p:nvSpPr>
        <p:spPr>
          <a:xfrm>
            <a:off x="5872276" y="461500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8" name="TextBox 97"/>
          <p:cNvSpPr txBox="1"/>
          <p:nvPr/>
        </p:nvSpPr>
        <p:spPr>
          <a:xfrm>
            <a:off x="3838575" y="4832941"/>
            <a:ext cx="1970335" cy="186689"/>
          </a:xfrm>
          <a:prstGeom prst="rect">
            <a:avLst/>
          </a:prstGeom>
          <a:noFill/>
        </p:spPr>
        <p:txBody>
          <a:bodyPr wrap="none" lIns="0" rIns="0" tIns="0" bIns="0">
            <a:spAutoFit/>
          </a:bodyPr>
          <a:lstStyle/>
          <a:p>
            <a:r>
              <a:rPr sz="1100" b="0">
                <a:solidFill>
                  <a:srgbClr val="2E2E2E"/>
                </a:solidFill>
                <a:latin typeface="Calibri"/>
              </a:rPr>
              <a:t>● Online Dental Supply Channels:</a:t>
            </a:r>
          </a:p>
        </p:txBody>
      </p:sp>
      <p:pic>
        <p:nvPicPr>
          <p:cNvPr id="99" name="Picture 98" descr="lock.png"/>
          <p:cNvPicPr>
            <a:picLocks noChangeAspect="1"/>
          </p:cNvPicPr>
          <p:nvPr/>
        </p:nvPicPr>
        <p:blipFill>
          <a:blip r:embed="rId13"/>
          <a:stretch>
            <a:fillRect/>
          </a:stretch>
        </p:blipFill>
        <p:spPr>
          <a:xfrm>
            <a:off x="5756962" y="4823162"/>
            <a:ext cx="128699" cy="187198"/>
          </a:xfrm>
          <a:prstGeom prst="rect">
            <a:avLst/>
          </a:prstGeom>
        </p:spPr>
      </p:pic>
      <p:sp>
        <p:nvSpPr>
          <p:cNvPr id="100" name="TextBox 99"/>
          <p:cNvSpPr txBox="1"/>
          <p:nvPr/>
        </p:nvSpPr>
        <p:spPr>
          <a:xfrm>
            <a:off x="592445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3"/>
          <a:stretch>
            <a:fillRect/>
          </a:stretch>
        </p:blipFill>
        <p:spPr>
          <a:xfrm>
            <a:off x="6783908" y="4823162"/>
            <a:ext cx="128699" cy="187198"/>
          </a:xfrm>
          <a:prstGeom prst="rect">
            <a:avLst/>
          </a:prstGeom>
        </p:spPr>
      </p:pic>
      <p:sp>
        <p:nvSpPr>
          <p:cNvPr id="102" name="TextBox 101"/>
          <p:cNvSpPr txBox="1"/>
          <p:nvPr/>
        </p:nvSpPr>
        <p:spPr>
          <a:xfrm>
            <a:off x="6951404"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3" name="TextBox 102"/>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49881" cy="186689"/>
          </a:xfrm>
          <a:prstGeom prst="rect">
            <a:avLst/>
          </a:prstGeom>
          <a:noFill/>
        </p:spPr>
        <p:txBody>
          <a:bodyPr wrap="none" lIns="0" rIns="0" tIns="0" bIns="0">
            <a:spAutoFit/>
          </a:bodyPr>
          <a:lstStyle/>
          <a:p>
            <a:r>
              <a:rPr sz="1100" b="0">
                <a:solidFill>
                  <a:srgbClr val="2E2E2E"/>
                </a:solidFill>
                <a:latin typeface="Calibri"/>
              </a:rPr>
              <a:t>Direct sales followed by dental dealers &amp; distributors are expected to be the two most attractive distribution channel segments in the global removable partial dentures market in terms of value over the</a:t>
            </a:r>
          </a:p>
        </p:txBody>
      </p:sp>
      <p:sp>
        <p:nvSpPr>
          <p:cNvPr id="21" name="TextBox 20"/>
          <p:cNvSpPr txBox="1"/>
          <p:nvPr/>
        </p:nvSpPr>
        <p:spPr>
          <a:xfrm>
            <a:off x="257175" y="5861685"/>
            <a:ext cx="4921480" cy="186689"/>
          </a:xfrm>
          <a:prstGeom prst="rect">
            <a:avLst/>
          </a:prstGeom>
          <a:noFill/>
        </p:spPr>
        <p:txBody>
          <a:bodyPr wrap="none" lIns="0" rIns="0" tIns="0" bIns="0">
            <a:spAutoFit/>
          </a:bodyPr>
          <a:lstStyle/>
          <a:p>
            <a:r>
              <a:rPr sz="1100" b="0">
                <a:solidFill>
                  <a:srgbClr val="2E2E2E"/>
                </a:solidFill>
                <a:latin typeface="Calibri"/>
              </a:rPr>
              <a:t>forecast period. Direct sales and dental dealers &amp; distributors exhibit a CAGR index of</a:t>
            </a:r>
          </a:p>
        </p:txBody>
      </p:sp>
      <p:pic>
        <p:nvPicPr>
          <p:cNvPr id="22" name="Picture 21" descr="lock.png"/>
          <p:cNvPicPr>
            <a:picLocks noChangeAspect="1"/>
          </p:cNvPicPr>
          <p:nvPr/>
        </p:nvPicPr>
        <p:blipFill>
          <a:blip r:embed="rId6"/>
          <a:stretch>
            <a:fillRect/>
          </a:stretch>
        </p:blipFill>
        <p:spPr>
          <a:xfrm>
            <a:off x="5126707" y="5851905"/>
            <a:ext cx="128699" cy="187198"/>
          </a:xfrm>
          <a:prstGeom prst="rect">
            <a:avLst/>
          </a:prstGeom>
        </p:spPr>
      </p:pic>
      <p:sp>
        <p:nvSpPr>
          <p:cNvPr id="23" name="TextBox 22"/>
          <p:cNvSpPr txBox="1"/>
          <p:nvPr/>
        </p:nvSpPr>
        <p:spPr>
          <a:xfrm>
            <a:off x="5294203"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532097" y="5851905"/>
            <a:ext cx="128699" cy="187198"/>
          </a:xfrm>
          <a:prstGeom prst="rect">
            <a:avLst/>
          </a:prstGeom>
        </p:spPr>
      </p:pic>
      <p:sp>
        <p:nvSpPr>
          <p:cNvPr id="25" name="TextBox 24"/>
          <p:cNvSpPr txBox="1"/>
          <p:nvPr/>
        </p:nvSpPr>
        <p:spPr>
          <a:xfrm>
            <a:off x="5699593"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308567" y="5851905"/>
            <a:ext cx="128699" cy="187198"/>
          </a:xfrm>
          <a:prstGeom prst="rect">
            <a:avLst/>
          </a:prstGeom>
        </p:spPr>
      </p:pic>
      <p:sp>
        <p:nvSpPr>
          <p:cNvPr id="27" name="TextBox 26"/>
          <p:cNvSpPr txBox="1"/>
          <p:nvPr/>
        </p:nvSpPr>
        <p:spPr>
          <a:xfrm>
            <a:off x="747606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713957" y="5851905"/>
            <a:ext cx="128699" cy="187198"/>
          </a:xfrm>
          <a:prstGeom prst="rect">
            <a:avLst/>
          </a:prstGeom>
        </p:spPr>
      </p:pic>
      <p:sp>
        <p:nvSpPr>
          <p:cNvPr id="29" name="TextBox 28"/>
          <p:cNvSpPr txBox="1"/>
          <p:nvPr/>
        </p:nvSpPr>
        <p:spPr>
          <a:xfrm>
            <a:off x="7881453"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435857" y="5851905"/>
            <a:ext cx="128699" cy="187198"/>
          </a:xfrm>
          <a:prstGeom prst="rect">
            <a:avLst/>
          </a:prstGeom>
        </p:spPr>
      </p:pic>
      <p:sp>
        <p:nvSpPr>
          <p:cNvPr id="31" name="TextBox 30"/>
          <p:cNvSpPr txBox="1"/>
          <p:nvPr/>
        </p:nvSpPr>
        <p:spPr>
          <a:xfrm>
            <a:off x="10603353" y="5861685"/>
            <a:ext cx="740320" cy="186689"/>
          </a:xfrm>
          <a:prstGeom prst="rect">
            <a:avLst/>
          </a:prstGeom>
          <a:noFill/>
        </p:spPr>
        <p:txBody>
          <a:bodyPr wrap="none" lIns="0" rIns="0" tIns="0" bIns="0">
            <a:spAutoFit/>
          </a:bodyPr>
          <a:lstStyle/>
          <a:p>
            <a:r>
              <a:rPr sz="1100" b="0">
                <a:solidFill>
                  <a:srgbClr val="2E2E2E"/>
                </a:solidFill>
                <a:latin typeface="Calibri"/>
              </a:rPr>
              <a:t>. The online</a:t>
            </a:r>
          </a:p>
        </p:txBody>
      </p:sp>
      <p:sp>
        <p:nvSpPr>
          <p:cNvPr id="32" name="TextBox 31"/>
          <p:cNvSpPr txBox="1"/>
          <p:nvPr/>
        </p:nvSpPr>
        <p:spPr>
          <a:xfrm>
            <a:off x="257175" y="6029325"/>
            <a:ext cx="11253547" cy="186689"/>
          </a:xfrm>
          <a:prstGeom prst="rect">
            <a:avLst/>
          </a:prstGeom>
          <a:noFill/>
        </p:spPr>
        <p:txBody>
          <a:bodyPr wrap="none" lIns="0" rIns="0" tIns="0" bIns="0">
            <a:spAutoFit/>
          </a:bodyPr>
          <a:lstStyle/>
          <a:p>
            <a:r>
              <a:rPr sz="1100" b="0">
                <a:solidFill>
                  <a:srgbClr val="2E2E2E"/>
                </a:solidFill>
                <a:latin typeface="Calibri"/>
              </a:rPr>
              <a:t>dental supply channels segment is expected to be less attractive as compared to other segments over the forecast period, owing to its lower CAGR and incremental opportunity. Bubbles right of the</a:t>
            </a:r>
          </a:p>
        </p:txBody>
      </p:sp>
      <p:sp>
        <p:nvSpPr>
          <p:cNvPr id="33" name="TextBox 32"/>
          <p:cNvSpPr txBox="1"/>
          <p:nvPr/>
        </p:nvSpPr>
        <p:spPr>
          <a:xfrm>
            <a:off x="257175" y="6196965"/>
            <a:ext cx="3224344" cy="186689"/>
          </a:xfrm>
          <a:prstGeom prst="rect">
            <a:avLst/>
          </a:prstGeom>
          <a:noFill/>
        </p:spPr>
        <p:txBody>
          <a:bodyPr wrap="none" lIns="0" rIns="0" tIns="0" bIns="0">
            <a:spAutoFit/>
          </a:bodyPr>
          <a:lstStyle/>
          <a:p>
            <a:r>
              <a:rPr sz="1100" b="0">
                <a:solidFill>
                  <a:srgbClr val="2E2E2E"/>
                </a:solidFill>
                <a:latin typeface="Calibri"/>
              </a:rPr>
              <a:t>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Direct Sales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Dealers &amp; Distributors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Online Dental Supply Channels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Distribution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4169856" cy="194310"/>
          </a:xfrm>
          <a:prstGeom prst="rect">
            <a:avLst/>
          </a:prstGeom>
          <a:noFill/>
        </p:spPr>
        <p:txBody>
          <a:bodyPr wrap="none" lIns="0" rIns="0" tIns="0" bIns="0">
            <a:spAutoFit/>
          </a:bodyPr>
          <a:lstStyle/>
          <a:p>
            <a:r>
              <a:rPr sz="1150" b="0">
                <a:solidFill>
                  <a:srgbClr val="2E2E2E"/>
                </a:solidFill>
                <a:latin typeface="Calibri"/>
              </a:rPr>
              <a:t>By 2036, direct sales segment is anticipated to witness an increase of</a:t>
            </a:r>
          </a:p>
        </p:txBody>
      </p:sp>
      <p:pic>
        <p:nvPicPr>
          <p:cNvPr id="29" name="Picture 28" descr="lock.png"/>
          <p:cNvPicPr>
            <a:picLocks noChangeAspect="1"/>
          </p:cNvPicPr>
          <p:nvPr/>
        </p:nvPicPr>
        <p:blipFill>
          <a:blip r:embed="rId7"/>
          <a:stretch>
            <a:fillRect/>
          </a:stretch>
        </p:blipFill>
        <p:spPr>
          <a:xfrm>
            <a:off x="10424560" y="4276026"/>
            <a:ext cx="134549" cy="195707"/>
          </a:xfrm>
          <a:prstGeom prst="rect">
            <a:avLst/>
          </a:prstGeom>
        </p:spPr>
      </p:pic>
      <p:sp>
        <p:nvSpPr>
          <p:cNvPr id="30" name="TextBox 29"/>
          <p:cNvSpPr txBox="1"/>
          <p:nvPr/>
        </p:nvSpPr>
        <p:spPr>
          <a:xfrm>
            <a:off x="10599669" y="4286250"/>
            <a:ext cx="1181844" cy="194310"/>
          </a:xfrm>
          <a:prstGeom prst="rect">
            <a:avLst/>
          </a:prstGeom>
          <a:noFill/>
        </p:spPr>
        <p:txBody>
          <a:bodyPr wrap="none" lIns="0" rIns="0" tIns="0" bIns="0">
            <a:spAutoFit/>
          </a:bodyPr>
          <a:lstStyle/>
          <a:p>
            <a:r>
              <a:rPr sz="1150" b="0">
                <a:solidFill>
                  <a:srgbClr val="2E2E2E"/>
                </a:solidFill>
                <a:latin typeface="Calibri"/>
              </a:rPr>
              <a:t>X in terms of value</a:t>
            </a:r>
          </a:p>
        </p:txBody>
      </p:sp>
      <p:sp>
        <p:nvSpPr>
          <p:cNvPr id="31" name="TextBox 30"/>
          <p:cNvSpPr txBox="1"/>
          <p:nvPr/>
        </p:nvSpPr>
        <p:spPr>
          <a:xfrm>
            <a:off x="6305550" y="4461510"/>
            <a:ext cx="5067287" cy="194310"/>
          </a:xfrm>
          <a:prstGeom prst="rect">
            <a:avLst/>
          </a:prstGeom>
          <a:noFill/>
        </p:spPr>
        <p:txBody>
          <a:bodyPr wrap="none" lIns="0" rIns="0" tIns="0" bIns="0">
            <a:spAutoFit/>
          </a:bodyPr>
          <a:lstStyle/>
          <a:p>
            <a:r>
              <a:rPr sz="1150" b="0">
                <a:solidFill>
                  <a:srgbClr val="2E2E2E"/>
                </a:solidFill>
                <a:latin typeface="Calibri"/>
              </a:rPr>
              <a:t>as compared to 2026. The direct sales segment is expected to create an incremental</a:t>
            </a:r>
          </a:p>
        </p:txBody>
      </p:sp>
      <p:sp>
        <p:nvSpPr>
          <p:cNvPr id="32" name="TextBox 31"/>
          <p:cNvSpPr txBox="1"/>
          <p:nvPr/>
        </p:nvSpPr>
        <p:spPr>
          <a:xfrm>
            <a:off x="6305550" y="4636770"/>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33" name="Picture 32" descr="lock.png"/>
          <p:cNvPicPr>
            <a:picLocks noChangeAspect="1"/>
          </p:cNvPicPr>
          <p:nvPr/>
        </p:nvPicPr>
        <p:blipFill>
          <a:blip r:embed="rId7"/>
          <a:stretch>
            <a:fillRect/>
          </a:stretch>
        </p:blipFill>
        <p:spPr>
          <a:xfrm>
            <a:off x="7463647" y="4626546"/>
            <a:ext cx="134549" cy="195707"/>
          </a:xfrm>
          <a:prstGeom prst="rect">
            <a:avLst/>
          </a:prstGeom>
        </p:spPr>
      </p:pic>
      <p:sp>
        <p:nvSpPr>
          <p:cNvPr id="34" name="TextBox 33"/>
          <p:cNvSpPr txBox="1"/>
          <p:nvPr/>
        </p:nvSpPr>
        <p:spPr>
          <a:xfrm>
            <a:off x="7638756" y="4636770"/>
            <a:ext cx="4074889"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a:t>
            </a:r>
          </a:p>
        </p:txBody>
      </p:sp>
      <p:sp>
        <p:nvSpPr>
          <p:cNvPr id="35" name="TextBox 34"/>
          <p:cNvSpPr txBox="1"/>
          <p:nvPr/>
        </p:nvSpPr>
        <p:spPr>
          <a:xfrm>
            <a:off x="6305550" y="4812029"/>
            <a:ext cx="409661" cy="194310"/>
          </a:xfrm>
          <a:prstGeom prst="rect">
            <a:avLst/>
          </a:prstGeom>
          <a:noFill/>
        </p:spPr>
        <p:txBody>
          <a:bodyPr wrap="none" lIns="0" rIns="0" tIns="0" bIns="0">
            <a:spAutoFit/>
          </a:bodyPr>
          <a:lstStyle/>
          <a:p>
            <a:r>
              <a:rPr sz="1150" b="0">
                <a:solidFill>
                  <a:srgbClr val="2E2E2E"/>
                </a:solidFill>
                <a:latin typeface="Calibri"/>
              </a:rPr>
              <a:t>2036.</a:t>
            </a:r>
          </a:p>
        </p:txBody>
      </p:sp>
      <p:sp>
        <p:nvSpPr>
          <p:cNvPr id="36" name="TextBox 35"/>
          <p:cNvSpPr txBox="1"/>
          <p:nvPr/>
        </p:nvSpPr>
        <p:spPr>
          <a:xfrm>
            <a:off x="6305550" y="5039867"/>
            <a:ext cx="5520556" cy="194310"/>
          </a:xfrm>
          <a:prstGeom prst="rect">
            <a:avLst/>
          </a:prstGeom>
          <a:noFill/>
        </p:spPr>
        <p:txBody>
          <a:bodyPr wrap="none" lIns="0" rIns="0" tIns="0" bIns="0">
            <a:spAutoFit/>
          </a:bodyPr>
          <a:lstStyle/>
          <a:p>
            <a:r>
              <a:rPr sz="1150" b="0">
                <a:solidFill>
                  <a:srgbClr val="2E2E2E"/>
                </a:solidFill>
                <a:latin typeface="Calibri"/>
              </a:rPr>
              <a:t>The dental dealers &amp; distributors segment is expected to create an incremental opportunity</a:t>
            </a:r>
          </a:p>
        </p:txBody>
      </p:sp>
      <p:sp>
        <p:nvSpPr>
          <p:cNvPr id="37" name="TextBox 36"/>
          <p:cNvSpPr txBox="1"/>
          <p:nvPr/>
        </p:nvSpPr>
        <p:spPr>
          <a:xfrm>
            <a:off x="6305550" y="5215127"/>
            <a:ext cx="465856" cy="194310"/>
          </a:xfrm>
          <a:prstGeom prst="rect">
            <a:avLst/>
          </a:prstGeom>
          <a:noFill/>
        </p:spPr>
        <p:txBody>
          <a:bodyPr wrap="none" lIns="0" rIns="0" tIns="0" bIns="0">
            <a:spAutoFit/>
          </a:bodyPr>
          <a:lstStyle/>
          <a:p>
            <a:r>
              <a:rPr sz="1150" b="0">
                <a:solidFill>
                  <a:srgbClr val="2E2E2E"/>
                </a:solidFill>
                <a:latin typeface="Calibri"/>
              </a:rPr>
              <a:t>of US$</a:t>
            </a:r>
          </a:p>
        </p:txBody>
      </p:sp>
      <p:pic>
        <p:nvPicPr>
          <p:cNvPr id="38" name="Picture 37" descr="lock.png"/>
          <p:cNvPicPr>
            <a:picLocks noChangeAspect="1"/>
          </p:cNvPicPr>
          <p:nvPr/>
        </p:nvPicPr>
        <p:blipFill>
          <a:blip r:embed="rId7"/>
          <a:stretch>
            <a:fillRect/>
          </a:stretch>
        </p:blipFill>
        <p:spPr>
          <a:xfrm>
            <a:off x="6720560" y="5204904"/>
            <a:ext cx="134549" cy="195707"/>
          </a:xfrm>
          <a:prstGeom prst="rect">
            <a:avLst/>
          </a:prstGeom>
        </p:spPr>
      </p:pic>
      <p:sp>
        <p:nvSpPr>
          <p:cNvPr id="39" name="TextBox 38"/>
          <p:cNvSpPr txBox="1"/>
          <p:nvPr/>
        </p:nvSpPr>
        <p:spPr>
          <a:xfrm>
            <a:off x="6895670" y="5215127"/>
            <a:ext cx="4695316"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 The</a:t>
            </a:r>
          </a:p>
        </p:txBody>
      </p:sp>
      <p:sp>
        <p:nvSpPr>
          <p:cNvPr id="40" name="TextBox 39"/>
          <p:cNvSpPr txBox="1"/>
          <p:nvPr/>
        </p:nvSpPr>
        <p:spPr>
          <a:xfrm>
            <a:off x="6305550" y="5390387"/>
            <a:ext cx="5482046" cy="194310"/>
          </a:xfrm>
          <a:prstGeom prst="rect">
            <a:avLst/>
          </a:prstGeom>
          <a:noFill/>
        </p:spPr>
        <p:txBody>
          <a:bodyPr wrap="none" lIns="0" rIns="0" tIns="0" bIns="0">
            <a:spAutoFit/>
          </a:bodyPr>
          <a:lstStyle/>
          <a:p>
            <a:r>
              <a:rPr sz="1150" b="0">
                <a:solidFill>
                  <a:srgbClr val="2E2E2E"/>
                </a:solidFill>
                <a:latin typeface="Calibri"/>
              </a:rPr>
              <a:t>online dental supply channels segment is expected to create an incremental opportunity of</a:t>
            </a:r>
          </a:p>
        </p:txBody>
      </p:sp>
      <p:sp>
        <p:nvSpPr>
          <p:cNvPr id="41" name="TextBox 40"/>
          <p:cNvSpPr txBox="1"/>
          <p:nvPr/>
        </p:nvSpPr>
        <p:spPr>
          <a:xfrm>
            <a:off x="6305550" y="556564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42" name="Picture 41" descr="lock.png"/>
          <p:cNvPicPr>
            <a:picLocks noChangeAspect="1"/>
          </p:cNvPicPr>
          <p:nvPr/>
        </p:nvPicPr>
        <p:blipFill>
          <a:blip r:embed="rId7"/>
          <a:stretch>
            <a:fillRect/>
          </a:stretch>
        </p:blipFill>
        <p:spPr>
          <a:xfrm>
            <a:off x="6565953" y="5555424"/>
            <a:ext cx="134549" cy="195707"/>
          </a:xfrm>
          <a:prstGeom prst="rect">
            <a:avLst/>
          </a:prstGeom>
        </p:spPr>
      </p:pic>
      <p:sp>
        <p:nvSpPr>
          <p:cNvPr id="43" name="TextBox 42"/>
          <p:cNvSpPr txBox="1"/>
          <p:nvPr/>
        </p:nvSpPr>
        <p:spPr>
          <a:xfrm>
            <a:off x="6741062" y="5565647"/>
            <a:ext cx="4441440"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a:t>
            </a:r>
          </a:p>
        </p:txBody>
      </p:sp>
      <p:sp>
        <p:nvSpPr>
          <p:cNvPr id="44"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Distribution Channel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276475"/>
          </a:xfrm>
          <a:prstGeom prst="roundRect">
            <a:avLst>
              <a:gd name="adj" fmla="val 3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Distribution Channel (Units)</a:t>
            </a:r>
          </a:p>
        </p:txBody>
      </p:sp>
      <p:graphicFrame>
        <p:nvGraphicFramePr>
          <p:cNvPr id="13" name="Table 12"/>
          <p:cNvGraphicFramePr>
            <a:graphicFrameLocks noGrp="1"/>
          </p:cNvGraphicFramePr>
          <p:nvPr/>
        </p:nvGraphicFramePr>
        <p:xfrm>
          <a:off x="152400" y="1238250"/>
          <a:ext cx="11887208" cy="180974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Distribution</a:t>
                      </a:r>
                      <a:endParaRPr sz="1100"/>
                    </a:p>
                    <a:p>
                      <a:pPr algn="l"/>
                      <a:r>
                        <a:rPr sz="1100" b="1">
                          <a:solidFill>
                            <a:srgbClr val="0B2E4A"/>
                          </a:solidFill>
                          <a:latin typeface="Calibri"/>
                        </a:rPr>
                        <a:t>Channel</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317">
                <a:tc>
                  <a:txBody>
                    <a:bodyPr wrap="none"/>
                    <a:lstStyle/>
                    <a:p>
                      <a:pPr algn="l"/>
                      <a:r>
                        <a:rPr sz="1100" b="1">
                          <a:solidFill>
                            <a:srgbClr val="2E2E2E"/>
                          </a:solidFill>
                          <a:latin typeface="Calibri"/>
                        </a:rPr>
                        <a:t>Direct Sales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101">
                <a:tc>
                  <a:txBody>
                    <a:bodyPr wrap="none"/>
                    <a:lstStyle/>
                    <a:p>
                      <a:pPr algn="l"/>
                      <a:r>
                        <a:rPr sz="1100" b="1">
                          <a:solidFill>
                            <a:srgbClr val="2E2E2E"/>
                          </a:solidFill>
                          <a:latin typeface="Calibri"/>
                        </a:rPr>
                        <a:t>Dental Dealers &amp;</a:t>
                      </a:r>
                      <a:endParaRPr sz="1100"/>
                    </a:p>
                    <a:p>
                      <a:pPr algn="l"/>
                      <a:r>
                        <a:rPr sz="1100" b="1">
                          <a:solidFill>
                            <a:srgbClr val="2E2E2E"/>
                          </a:solidFill>
                          <a:latin typeface="Calibri"/>
                        </a:rPr>
                        <a:t>Distributors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101">
                <a:tc>
                  <a:txBody>
                    <a:bodyPr wrap="none"/>
                    <a:lstStyle/>
                    <a:p>
                      <a:pPr algn="l"/>
                      <a:r>
                        <a:rPr sz="1100" b="1">
                          <a:solidFill>
                            <a:srgbClr val="2E2E2E"/>
                          </a:solidFill>
                          <a:latin typeface="Calibri"/>
                        </a:rPr>
                        <a:t>Online Dental</a:t>
                      </a:r>
                      <a:endParaRPr sz="1100"/>
                    </a:p>
                    <a:p>
                      <a:pPr algn="l"/>
                      <a:r>
                        <a:rPr sz="1100" b="1">
                          <a:solidFill>
                            <a:srgbClr val="2E2E2E"/>
                          </a:solidFill>
                          <a:latin typeface="Calibri"/>
                        </a:rPr>
                        <a:t>Supply Channels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057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0900"/>
            <a:ext cx="11906250" cy="3238500"/>
          </a:xfrm>
          <a:prstGeom prst="roundRect">
            <a:avLst>
              <a:gd name="adj" fmla="val 23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4766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Distribution Channel</a:t>
            </a:r>
          </a:p>
        </p:txBody>
      </p:sp>
      <p:sp>
        <p:nvSpPr>
          <p:cNvPr id="17" name="Rectangle 16"/>
          <p:cNvSpPr/>
          <p:nvPr/>
        </p:nvSpPr>
        <p:spPr>
          <a:xfrm>
            <a:off x="276225" y="3714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00475"/>
            <a:ext cx="11639550" cy="27527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095880"/>
            <a:ext cx="366712" cy="533400"/>
          </a:xfrm>
          <a:prstGeom prst="rect">
            <a:avLst/>
          </a:prstGeom>
        </p:spPr>
      </p:pic>
      <p:sp>
        <p:nvSpPr>
          <p:cNvPr id="21" name="TextBox 20"/>
          <p:cNvSpPr txBox="1"/>
          <p:nvPr/>
        </p:nvSpPr>
        <p:spPr>
          <a:xfrm>
            <a:off x="276225" y="38100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799776"/>
            <a:ext cx="134549" cy="195707"/>
          </a:xfrm>
          <a:prstGeom prst="rect">
            <a:avLst/>
          </a:prstGeom>
        </p:spPr>
      </p:pic>
      <p:sp>
        <p:nvSpPr>
          <p:cNvPr id="23" name="TextBox 22"/>
          <p:cNvSpPr txBox="1"/>
          <p:nvPr/>
        </p:nvSpPr>
        <p:spPr>
          <a:xfrm>
            <a:off x="4115387" y="3810000"/>
            <a:ext cx="7353882" cy="194310"/>
          </a:xfrm>
          <a:prstGeom prst="rect">
            <a:avLst/>
          </a:prstGeom>
          <a:noFill/>
        </p:spPr>
        <p:txBody>
          <a:bodyPr wrap="none" lIns="0" rIns="0" tIns="0" bIns="0">
            <a:spAutoFit/>
          </a:bodyPr>
          <a:lstStyle/>
          <a:p>
            <a:r>
              <a:rPr sz="1150" b="0">
                <a:solidFill>
                  <a:srgbClr val="2E2E2E"/>
                </a:solidFill>
                <a:latin typeface="Calibri"/>
              </a:rPr>
              <a:t>X higher volume than direct sales segment in 2036. Among removable partial dentures by distribution channel, direct sales</a:t>
            </a:r>
          </a:p>
        </p:txBody>
      </p:sp>
      <p:sp>
        <p:nvSpPr>
          <p:cNvPr id="24" name="TextBox 23"/>
          <p:cNvSpPr txBox="1"/>
          <p:nvPr/>
        </p:nvSpPr>
        <p:spPr>
          <a:xfrm>
            <a:off x="276225" y="39852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975036"/>
            <a:ext cx="134549" cy="195707"/>
          </a:xfrm>
          <a:prstGeom prst="rect">
            <a:avLst/>
          </a:prstGeom>
        </p:spPr>
      </p:pic>
      <p:sp>
        <p:nvSpPr>
          <p:cNvPr id="26" name="TextBox 25"/>
          <p:cNvSpPr txBox="1"/>
          <p:nvPr/>
        </p:nvSpPr>
        <p:spPr>
          <a:xfrm>
            <a:off x="3557127" y="39852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213097"/>
            <a:ext cx="8085273" cy="194310"/>
          </a:xfrm>
          <a:prstGeom prst="rect">
            <a:avLst/>
          </a:prstGeom>
          <a:noFill/>
        </p:spPr>
        <p:txBody>
          <a:bodyPr wrap="none" lIns="0" rIns="0" tIns="0" bIns="0">
            <a:spAutoFit/>
          </a:bodyPr>
          <a:lstStyle/>
          <a:p>
            <a:r>
              <a:rPr sz="1150" b="0">
                <a:solidFill>
                  <a:srgbClr val="2E2E2E"/>
                </a:solidFill>
                <a:latin typeface="Calibri"/>
              </a:rPr>
              <a:t>In terms of volume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310652" y="4202874"/>
            <a:ext cx="134549" cy="195707"/>
          </a:xfrm>
          <a:prstGeom prst="rect">
            <a:avLst/>
          </a:prstGeom>
        </p:spPr>
      </p:pic>
      <p:sp>
        <p:nvSpPr>
          <p:cNvPr id="29" name="TextBox 28"/>
          <p:cNvSpPr txBox="1"/>
          <p:nvPr/>
        </p:nvSpPr>
        <p:spPr>
          <a:xfrm>
            <a:off x="8485762" y="42130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80905" y="4202874"/>
            <a:ext cx="134549" cy="195707"/>
          </a:xfrm>
          <a:prstGeom prst="rect">
            <a:avLst/>
          </a:prstGeom>
        </p:spPr>
      </p:pic>
      <p:sp>
        <p:nvSpPr>
          <p:cNvPr id="31" name="TextBox 30"/>
          <p:cNvSpPr txBox="1"/>
          <p:nvPr/>
        </p:nvSpPr>
        <p:spPr>
          <a:xfrm>
            <a:off x="10056014" y="42130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Distribution Channel (US$ Mn)</a:t>
            </a:r>
          </a:p>
        </p:txBody>
      </p:sp>
      <p:graphicFrame>
        <p:nvGraphicFramePr>
          <p:cNvPr id="13" name="Table 12"/>
          <p:cNvGraphicFramePr>
            <a:graphicFrameLocks noGrp="1"/>
          </p:cNvGraphicFramePr>
          <p:nvPr/>
        </p:nvGraphicFramePr>
        <p:xfrm>
          <a:off x="152400" y="1238250"/>
          <a:ext cx="11887206" cy="1238250"/>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Distribution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30200" y="1713738"/>
            <a:ext cx="366712" cy="533400"/>
          </a:xfrm>
          <a:prstGeom prst="rect">
            <a:avLst/>
          </a:prstGeom>
        </p:spPr>
      </p:pic>
      <p:sp>
        <p:nvSpPr>
          <p:cNvPr id="21" name="TextBox 20"/>
          <p:cNvSpPr txBox="1"/>
          <p:nvPr/>
        </p:nvSpPr>
        <p:spPr>
          <a:xfrm>
            <a:off x="276225" y="32385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228276"/>
            <a:ext cx="134549" cy="195707"/>
          </a:xfrm>
          <a:prstGeom prst="rect">
            <a:avLst/>
          </a:prstGeom>
        </p:spPr>
      </p:pic>
      <p:sp>
        <p:nvSpPr>
          <p:cNvPr id="23" name="TextBox 22"/>
          <p:cNvSpPr txBox="1"/>
          <p:nvPr/>
        </p:nvSpPr>
        <p:spPr>
          <a:xfrm>
            <a:off x="4115387" y="3238500"/>
            <a:ext cx="7230082" cy="194310"/>
          </a:xfrm>
          <a:prstGeom prst="rect">
            <a:avLst/>
          </a:prstGeom>
          <a:noFill/>
        </p:spPr>
        <p:txBody>
          <a:bodyPr wrap="none" lIns="0" rIns="0" tIns="0" bIns="0">
            <a:spAutoFit/>
          </a:bodyPr>
          <a:lstStyle/>
          <a:p>
            <a:r>
              <a:rPr sz="1150" b="0">
                <a:solidFill>
                  <a:srgbClr val="2E2E2E"/>
                </a:solidFill>
                <a:latin typeface="Calibri"/>
              </a:rPr>
              <a:t>X higher value than direct sales segment in 2036. Among removable partial dentures by distribution channel, direct sales</a:t>
            </a:r>
          </a:p>
        </p:txBody>
      </p:sp>
      <p:sp>
        <p:nvSpPr>
          <p:cNvPr id="24" name="TextBox 23"/>
          <p:cNvSpPr txBox="1"/>
          <p:nvPr/>
        </p:nvSpPr>
        <p:spPr>
          <a:xfrm>
            <a:off x="276225" y="34137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403536"/>
            <a:ext cx="134549" cy="195707"/>
          </a:xfrm>
          <a:prstGeom prst="rect">
            <a:avLst/>
          </a:prstGeom>
        </p:spPr>
      </p:pic>
      <p:sp>
        <p:nvSpPr>
          <p:cNvPr id="26" name="TextBox 25"/>
          <p:cNvSpPr txBox="1"/>
          <p:nvPr/>
        </p:nvSpPr>
        <p:spPr>
          <a:xfrm>
            <a:off x="3557127"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7961473"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186852" y="3631374"/>
            <a:ext cx="134549" cy="195707"/>
          </a:xfrm>
          <a:prstGeom prst="rect">
            <a:avLst/>
          </a:prstGeom>
        </p:spPr>
      </p:pic>
      <p:sp>
        <p:nvSpPr>
          <p:cNvPr id="29" name="TextBox 28"/>
          <p:cNvSpPr txBox="1"/>
          <p:nvPr/>
        </p:nvSpPr>
        <p:spPr>
          <a:xfrm>
            <a:off x="8361961"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757105" y="3631374"/>
            <a:ext cx="134549" cy="195707"/>
          </a:xfrm>
          <a:prstGeom prst="rect">
            <a:avLst/>
          </a:prstGeom>
        </p:spPr>
      </p:pic>
      <p:sp>
        <p:nvSpPr>
          <p:cNvPr id="31" name="TextBox 30"/>
          <p:cNvSpPr txBox="1"/>
          <p:nvPr/>
        </p:nvSpPr>
        <p:spPr>
          <a:xfrm>
            <a:off x="9932214" y="36415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6867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639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877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Dental Supply Channels</a:t>
            </a:r>
          </a:p>
        </p:txBody>
      </p:sp>
      <p:sp>
        <p:nvSpPr>
          <p:cNvPr id="19" name="BPS Value 1"/>
          <p:cNvSpPr txBox="1"/>
          <p:nvPr/>
        </p:nvSpPr>
        <p:spPr>
          <a:xfrm>
            <a:off x="6896100" y="184962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530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4825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720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 Sales</a:t>
            </a:r>
          </a:p>
        </p:txBody>
      </p:sp>
      <p:sp>
        <p:nvSpPr>
          <p:cNvPr id="23" name="BPS Value 2"/>
          <p:cNvSpPr txBox="1"/>
          <p:nvPr/>
        </p:nvSpPr>
        <p:spPr>
          <a:xfrm>
            <a:off x="6896100" y="2933968"/>
            <a:ext cx="514350" cy="123825"/>
          </a:xfrm>
          <a:prstGeom prst="rect">
            <a:avLst/>
          </a:prstGeom>
          <a:noFill/>
        </p:spPr>
        <p:txBody>
          <a:bodyPr wrap="none" lIns="19050" rIns="19050" tIns="0" bIns="0" anchor="ctr">
            <a:spAutoFit/>
          </a:bodyPr>
          <a:lstStyle/>
          <a:p>
            <a:pPr algn="r"/>
            <a:r>
              <a:rPr sz="900" b="1">
                <a:solidFill>
                  <a:srgbClr val="2E7D32"/>
                </a:solidFill>
                <a:latin typeface="Calibri"/>
              </a:rPr>
              <a:t>XX</a:t>
            </a:r>
          </a:p>
        </p:txBody>
      </p:sp>
      <p:sp>
        <p:nvSpPr>
          <p:cNvPr id="24" name="FMI Legend Chip"/>
          <p:cNvSpPr/>
          <p:nvPr/>
        </p:nvSpPr>
        <p:spPr>
          <a:xfrm>
            <a:off x="4928997" y="504179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0370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9608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Dental Dealers &amp; Distributors</a:t>
            </a:r>
          </a:p>
        </p:txBody>
      </p:sp>
      <p:sp>
        <p:nvSpPr>
          <p:cNvPr id="27" name="BPS Value 3"/>
          <p:cNvSpPr txBox="1"/>
          <p:nvPr/>
        </p:nvSpPr>
        <p:spPr>
          <a:xfrm>
            <a:off x="6896100" y="5022746"/>
            <a:ext cx="514350" cy="123825"/>
          </a:xfrm>
          <a:prstGeom prst="rect">
            <a:avLst/>
          </a:prstGeom>
          <a:noFill/>
        </p:spPr>
        <p:txBody>
          <a:bodyPr wrap="none" lIns="19050" rIns="1905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Distribution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968774" cy="194310"/>
          </a:xfrm>
          <a:prstGeom prst="rect">
            <a:avLst/>
          </a:prstGeom>
          <a:noFill/>
        </p:spPr>
        <p:txBody>
          <a:bodyPr wrap="none" lIns="0" rIns="0" tIns="0" bIns="0">
            <a:spAutoFit/>
          </a:bodyPr>
          <a:lstStyle/>
          <a:p>
            <a:r>
              <a:rPr sz="1150" b="0">
                <a:solidFill>
                  <a:srgbClr val="2E2E2E"/>
                </a:solidFill>
                <a:latin typeface="Calibri"/>
              </a:rPr>
              <a:t>Among removable partial dentures by distribution channel, direct</a:t>
            </a:r>
          </a:p>
        </p:txBody>
      </p:sp>
      <p:sp>
        <p:nvSpPr>
          <p:cNvPr id="35" name="TextBox 34"/>
          <p:cNvSpPr txBox="1"/>
          <p:nvPr/>
        </p:nvSpPr>
        <p:spPr>
          <a:xfrm>
            <a:off x="7829550" y="1575435"/>
            <a:ext cx="3480117" cy="194310"/>
          </a:xfrm>
          <a:prstGeom prst="rect">
            <a:avLst/>
          </a:prstGeom>
          <a:noFill/>
        </p:spPr>
        <p:txBody>
          <a:bodyPr wrap="none" lIns="0" rIns="0" tIns="0" bIns="0">
            <a:spAutoFit/>
          </a:bodyPr>
          <a:lstStyle/>
          <a:p>
            <a:r>
              <a:rPr sz="1150" b="0">
                <a:solidFill>
                  <a:srgbClr val="2E2E2E"/>
                </a:solidFill>
                <a:latin typeface="Calibri"/>
              </a:rPr>
              <a:t>sales segment is expected to witness the highest CAGR of</a:t>
            </a:r>
          </a:p>
        </p:txBody>
      </p:sp>
      <p:pic>
        <p:nvPicPr>
          <p:cNvPr id="36" name="Picture 35" descr="lock.png"/>
          <p:cNvPicPr>
            <a:picLocks noChangeAspect="1"/>
          </p:cNvPicPr>
          <p:nvPr/>
        </p:nvPicPr>
        <p:blipFill>
          <a:blip r:embed="rId5"/>
          <a:stretch>
            <a:fillRect/>
          </a:stretch>
        </p:blipFill>
        <p:spPr>
          <a:xfrm>
            <a:off x="11258820" y="1565211"/>
            <a:ext cx="134549" cy="195707"/>
          </a:xfrm>
          <a:prstGeom prst="rect">
            <a:avLst/>
          </a:prstGeom>
        </p:spPr>
      </p:pic>
      <p:sp>
        <p:nvSpPr>
          <p:cNvPr id="37" name="TextBox 36"/>
          <p:cNvSpPr txBox="1"/>
          <p:nvPr/>
        </p:nvSpPr>
        <p:spPr>
          <a:xfrm>
            <a:off x="11433930" y="157543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38" name="TextBox 37"/>
          <p:cNvSpPr txBox="1"/>
          <p:nvPr/>
        </p:nvSpPr>
        <p:spPr>
          <a:xfrm>
            <a:off x="7829550" y="1750695"/>
            <a:ext cx="1248878" cy="194310"/>
          </a:xfrm>
          <a:prstGeom prst="rect">
            <a:avLst/>
          </a:prstGeom>
          <a:noFill/>
        </p:spPr>
        <p:txBody>
          <a:bodyPr wrap="none" lIns="0" rIns="0" tIns="0" bIns="0">
            <a:spAutoFit/>
          </a:bodyPr>
          <a:lstStyle/>
          <a:p>
            <a:r>
              <a:rPr sz="1150" b="0">
                <a:solidFill>
                  <a:srgbClr val="2E2E2E"/>
                </a:solidFill>
                <a:latin typeface="Calibri"/>
              </a:rPr>
              <a:t>the forecast period.</a:t>
            </a:r>
          </a:p>
        </p:txBody>
      </p:sp>
      <p:sp>
        <p:nvSpPr>
          <p:cNvPr id="39" name="TextBox 38"/>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a:t>
            </a:r>
          </a:p>
        </p:txBody>
      </p:sp>
      <p:sp>
        <p:nvSpPr>
          <p:cNvPr id="40" name="TextBox 39"/>
          <p:cNvSpPr txBox="1"/>
          <p:nvPr/>
        </p:nvSpPr>
        <p:spPr>
          <a:xfrm>
            <a:off x="7829550" y="2153793"/>
            <a:ext cx="3886621" cy="194310"/>
          </a:xfrm>
          <a:prstGeom prst="rect">
            <a:avLst/>
          </a:prstGeom>
          <a:noFill/>
        </p:spPr>
        <p:txBody>
          <a:bodyPr wrap="none" lIns="0" rIns="0" tIns="0" bIns="0">
            <a:spAutoFit/>
          </a:bodyPr>
          <a:lstStyle/>
          <a:p>
            <a:r>
              <a:rPr sz="1150" b="0">
                <a:solidFill>
                  <a:srgbClr val="2E2E2E"/>
                </a:solidFill>
                <a:latin typeface="Calibri"/>
              </a:rPr>
              <a:t>distributors segment is expected to dominate the market, losing</a:t>
            </a:r>
          </a:p>
        </p:txBody>
      </p:sp>
      <p:pic>
        <p:nvPicPr>
          <p:cNvPr id="41" name="Picture 40" descr="lock.png"/>
          <p:cNvPicPr>
            <a:picLocks noChangeAspect="1"/>
          </p:cNvPicPr>
          <p:nvPr/>
        </p:nvPicPr>
        <p:blipFill>
          <a:blip r:embed="rId5"/>
          <a:stretch>
            <a:fillRect/>
          </a:stretch>
        </p:blipFill>
        <p:spPr>
          <a:xfrm>
            <a:off x="7815470" y="2318829"/>
            <a:ext cx="134549" cy="195707"/>
          </a:xfrm>
          <a:prstGeom prst="rect">
            <a:avLst/>
          </a:prstGeom>
        </p:spPr>
      </p:pic>
      <p:sp>
        <p:nvSpPr>
          <p:cNvPr id="42" name="TextBox 41"/>
          <p:cNvSpPr txBox="1"/>
          <p:nvPr/>
        </p:nvSpPr>
        <p:spPr>
          <a:xfrm>
            <a:off x="7990579"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385722" y="2318829"/>
            <a:ext cx="134549" cy="195707"/>
          </a:xfrm>
          <a:prstGeom prst="rect">
            <a:avLst/>
          </a:prstGeom>
        </p:spPr>
      </p:pic>
      <p:sp>
        <p:nvSpPr>
          <p:cNvPr id="44" name="TextBox 43"/>
          <p:cNvSpPr txBox="1"/>
          <p:nvPr/>
        </p:nvSpPr>
        <p:spPr>
          <a:xfrm>
            <a:off x="956083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Patient Age Group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Patient Age Group,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Patient Age Group segment categorizes the market by patient age group.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Geriatric Patients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Adults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Patient Age Group split shows how demand is distributed across patient age group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Patient Age Group segment is projected to grow at a CAGR of 4.4%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753_1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_168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5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372_1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563_3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2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5834" cy="186689"/>
          </a:xfrm>
          <a:prstGeom prst="rect">
            <a:avLst/>
          </a:prstGeom>
          <a:noFill/>
        </p:spPr>
        <p:txBody>
          <a:bodyPr wrap="none" lIns="0" rIns="0" tIns="0" bIns="0">
            <a:spAutoFit/>
          </a:bodyPr>
          <a:lstStyle/>
          <a:p>
            <a:r>
              <a:rPr sz="1100" b="0">
                <a:solidFill>
                  <a:srgbClr val="2E2E2E"/>
                </a:solidFill>
                <a:latin typeface="Calibri"/>
              </a:rPr>
              <a:t>▪ ¶ Among removable partial dentures by patient</a:t>
            </a:r>
          </a:p>
        </p:txBody>
      </p:sp>
      <p:sp>
        <p:nvSpPr>
          <p:cNvPr id="59" name="TextBox 58"/>
          <p:cNvSpPr txBox="1"/>
          <p:nvPr/>
        </p:nvSpPr>
        <p:spPr>
          <a:xfrm>
            <a:off x="485775" y="4397077"/>
            <a:ext cx="2872928" cy="186689"/>
          </a:xfrm>
          <a:prstGeom prst="rect">
            <a:avLst/>
          </a:prstGeom>
          <a:noFill/>
        </p:spPr>
        <p:txBody>
          <a:bodyPr wrap="none" lIns="0" rIns="0" tIns="0" bIns="0">
            <a:spAutoFit/>
          </a:bodyPr>
          <a:lstStyle/>
          <a:p>
            <a:r>
              <a:rPr sz="1100" b="0">
                <a:solidFill>
                  <a:srgbClr val="2E2E2E"/>
                </a:solidFill>
                <a:latin typeface="Calibri"/>
              </a:rPr>
              <a:t>age group, geriatric patients segment is expected</a:t>
            </a:r>
          </a:p>
        </p:txBody>
      </p:sp>
      <p:sp>
        <p:nvSpPr>
          <p:cNvPr id="60" name="TextBox 59"/>
          <p:cNvSpPr txBox="1"/>
          <p:nvPr/>
        </p:nvSpPr>
        <p:spPr>
          <a:xfrm>
            <a:off x="485775" y="4564717"/>
            <a:ext cx="1827344" cy="186689"/>
          </a:xfrm>
          <a:prstGeom prst="rect">
            <a:avLst/>
          </a:prstGeom>
          <a:noFill/>
        </p:spPr>
        <p:txBody>
          <a:bodyPr wrap="none" lIns="0" rIns="0" tIns="0" bIns="0">
            <a:spAutoFit/>
          </a:bodyPr>
          <a:lstStyle/>
          <a:p>
            <a:r>
              <a:rPr sz="1100" b="0">
                <a:solidFill>
                  <a:srgbClr val="2E2E2E"/>
                </a:solidFill>
                <a:latin typeface="Calibri"/>
              </a:rPr>
              <a:t>to witness the highest CAGR of</a:t>
            </a:r>
          </a:p>
        </p:txBody>
      </p:sp>
      <p:pic>
        <p:nvPicPr>
          <p:cNvPr id="61" name="Picture 60" descr="lock.png"/>
          <p:cNvPicPr>
            <a:picLocks noChangeAspect="1"/>
          </p:cNvPicPr>
          <p:nvPr/>
        </p:nvPicPr>
        <p:blipFill>
          <a:blip r:embed="rId10"/>
          <a:stretch>
            <a:fillRect/>
          </a:stretch>
        </p:blipFill>
        <p:spPr>
          <a:xfrm>
            <a:off x="2261170" y="4554938"/>
            <a:ext cx="128699" cy="187198"/>
          </a:xfrm>
          <a:prstGeom prst="rect">
            <a:avLst/>
          </a:prstGeom>
        </p:spPr>
      </p:pic>
      <p:sp>
        <p:nvSpPr>
          <p:cNvPr id="62" name="TextBox 61"/>
          <p:cNvSpPr txBox="1"/>
          <p:nvPr/>
        </p:nvSpPr>
        <p:spPr>
          <a:xfrm>
            <a:off x="2428666" y="4564717"/>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3" name="TextBox 62"/>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forecast period. In terms of value share by patient</a:t>
            </a:r>
          </a:p>
        </p:txBody>
      </p:sp>
      <p:sp>
        <p:nvSpPr>
          <p:cNvPr id="64" name="TextBox 63"/>
          <p:cNvSpPr txBox="1"/>
          <p:nvPr/>
        </p:nvSpPr>
        <p:spPr>
          <a:xfrm>
            <a:off x="485775" y="4899997"/>
            <a:ext cx="2540595" cy="186689"/>
          </a:xfrm>
          <a:prstGeom prst="rect">
            <a:avLst/>
          </a:prstGeom>
          <a:noFill/>
        </p:spPr>
        <p:txBody>
          <a:bodyPr wrap="none" lIns="0" rIns="0" tIns="0" bIns="0">
            <a:spAutoFit/>
          </a:bodyPr>
          <a:lstStyle/>
          <a:p>
            <a:r>
              <a:rPr sz="1100" b="0">
                <a:solidFill>
                  <a:srgbClr val="2E2E2E"/>
                </a:solidFill>
                <a:latin typeface="Calibri"/>
              </a:rPr>
              <a:t>age group, the geriatric patients segment is</a:t>
            </a:r>
          </a:p>
        </p:txBody>
      </p:sp>
      <p:sp>
        <p:nvSpPr>
          <p:cNvPr id="65" name="TextBox 64"/>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66" name="Picture 65" descr="lock.png"/>
          <p:cNvPicPr>
            <a:picLocks noChangeAspect="1"/>
          </p:cNvPicPr>
          <p:nvPr/>
        </p:nvPicPr>
        <p:blipFill>
          <a:blip r:embed="rId10"/>
          <a:stretch>
            <a:fillRect/>
          </a:stretch>
        </p:blipFill>
        <p:spPr>
          <a:xfrm>
            <a:off x="2900479" y="5057858"/>
            <a:ext cx="128699" cy="187198"/>
          </a:xfrm>
          <a:prstGeom prst="rect">
            <a:avLst/>
          </a:prstGeom>
        </p:spPr>
      </p:pic>
      <p:sp>
        <p:nvSpPr>
          <p:cNvPr id="67" name="TextBox 66"/>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32546" cy="186689"/>
          </a:xfrm>
          <a:prstGeom prst="rect">
            <a:avLst/>
          </a:prstGeom>
          <a:noFill/>
        </p:spPr>
        <p:txBody>
          <a:bodyPr wrap="none" lIns="0" rIns="0" tIns="0" bIns="0">
            <a:spAutoFit/>
          </a:bodyPr>
          <a:lstStyle/>
          <a:p>
            <a:r>
              <a:rPr sz="1100" b="0">
                <a:solidFill>
                  <a:srgbClr val="2E2E2E"/>
                </a:solidFill>
                <a:latin typeface="Calibri"/>
              </a:rPr>
              <a:t>▪ ¶ Geriatric patients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2211809" cy="186689"/>
          </a:xfrm>
          <a:prstGeom prst="rect">
            <a:avLst/>
          </a:prstGeom>
          <a:noFill/>
        </p:spPr>
        <p:txBody>
          <a:bodyPr wrap="none" lIns="0" rIns="0" tIns="0" bIns="0">
            <a:spAutoFit/>
          </a:bodyPr>
          <a:lstStyle/>
          <a:p>
            <a:r>
              <a:rPr sz="1100" b="0">
                <a:solidFill>
                  <a:srgbClr val="2E2E2E"/>
                </a:solidFill>
                <a:latin typeface="Calibri"/>
              </a:rPr>
              <a:t>X higher value than adults segment in</a:t>
            </a:r>
          </a:p>
        </p:txBody>
      </p:sp>
      <p:sp>
        <p:nvSpPr>
          <p:cNvPr id="75" name="TextBox 74"/>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6" name="TextBox 75"/>
          <p:cNvSpPr txBox="1"/>
          <p:nvPr/>
        </p:nvSpPr>
        <p:spPr>
          <a:xfrm>
            <a:off x="3838575" y="4229437"/>
            <a:ext cx="1216719" cy="186689"/>
          </a:xfrm>
          <a:prstGeom prst="rect">
            <a:avLst/>
          </a:prstGeom>
          <a:noFill/>
        </p:spPr>
        <p:txBody>
          <a:bodyPr wrap="none" lIns="0" rIns="0" tIns="0" bIns="0">
            <a:spAutoFit/>
          </a:bodyPr>
          <a:lstStyle/>
          <a:p>
            <a:r>
              <a:rPr sz="1100" b="0">
                <a:solidFill>
                  <a:srgbClr val="2E2E2E"/>
                </a:solidFill>
                <a:latin typeface="Calibri"/>
              </a:rPr>
              <a:t>● Geriatric Patients:</a:t>
            </a:r>
          </a:p>
        </p:txBody>
      </p:sp>
      <p:pic>
        <p:nvPicPr>
          <p:cNvPr id="77" name="Picture 76" descr="lock.png"/>
          <p:cNvPicPr>
            <a:picLocks noChangeAspect="1"/>
          </p:cNvPicPr>
          <p:nvPr/>
        </p:nvPicPr>
        <p:blipFill>
          <a:blip r:embed="rId10"/>
          <a:stretch>
            <a:fillRect/>
          </a:stretch>
        </p:blipFill>
        <p:spPr>
          <a:xfrm>
            <a:off x="5003346" y="4219658"/>
            <a:ext cx="128699" cy="187198"/>
          </a:xfrm>
          <a:prstGeom prst="rect">
            <a:avLst/>
          </a:prstGeom>
        </p:spPr>
      </p:pic>
      <p:sp>
        <p:nvSpPr>
          <p:cNvPr id="78" name="TextBox 77"/>
          <p:cNvSpPr txBox="1"/>
          <p:nvPr/>
        </p:nvSpPr>
        <p:spPr>
          <a:xfrm>
            <a:off x="517084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30292" y="4219658"/>
            <a:ext cx="128699" cy="187198"/>
          </a:xfrm>
          <a:prstGeom prst="rect">
            <a:avLst/>
          </a:prstGeom>
        </p:spPr>
      </p:pic>
      <p:sp>
        <p:nvSpPr>
          <p:cNvPr id="80" name="TextBox 79"/>
          <p:cNvSpPr txBox="1"/>
          <p:nvPr/>
        </p:nvSpPr>
        <p:spPr>
          <a:xfrm>
            <a:off x="619778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590798" cy="186689"/>
          </a:xfrm>
          <a:prstGeom prst="rect">
            <a:avLst/>
          </a:prstGeom>
          <a:noFill/>
        </p:spPr>
        <p:txBody>
          <a:bodyPr wrap="none" lIns="0" rIns="0" tIns="0" bIns="0">
            <a:spAutoFit/>
          </a:bodyPr>
          <a:lstStyle/>
          <a:p>
            <a:r>
              <a:rPr sz="1100" b="0">
                <a:solidFill>
                  <a:srgbClr val="2E2E2E"/>
                </a:solidFill>
                <a:latin typeface="Calibri"/>
              </a:rPr>
              <a:t>● Adults:</a:t>
            </a:r>
          </a:p>
        </p:txBody>
      </p:sp>
      <p:pic>
        <p:nvPicPr>
          <p:cNvPr id="82" name="Picture 81" descr="lock.png"/>
          <p:cNvPicPr>
            <a:picLocks noChangeAspect="1"/>
          </p:cNvPicPr>
          <p:nvPr/>
        </p:nvPicPr>
        <p:blipFill>
          <a:blip r:embed="rId10"/>
          <a:stretch>
            <a:fillRect/>
          </a:stretch>
        </p:blipFill>
        <p:spPr>
          <a:xfrm>
            <a:off x="4377424" y="4437590"/>
            <a:ext cx="128699" cy="187198"/>
          </a:xfrm>
          <a:prstGeom prst="rect">
            <a:avLst/>
          </a:prstGeom>
        </p:spPr>
      </p:pic>
      <p:sp>
        <p:nvSpPr>
          <p:cNvPr id="83" name="TextBox 82"/>
          <p:cNvSpPr txBox="1"/>
          <p:nvPr/>
        </p:nvSpPr>
        <p:spPr>
          <a:xfrm>
            <a:off x="454492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5404370" y="4437590"/>
            <a:ext cx="128699" cy="187198"/>
          </a:xfrm>
          <a:prstGeom prst="rect">
            <a:avLst/>
          </a:prstGeom>
        </p:spPr>
      </p:pic>
      <p:sp>
        <p:nvSpPr>
          <p:cNvPr id="85" name="TextBox 84"/>
          <p:cNvSpPr txBox="1"/>
          <p:nvPr/>
        </p:nvSpPr>
        <p:spPr>
          <a:xfrm>
            <a:off x="5571866"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Patient Age Group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Patient Age Group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Patient Age Group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407725" cy="186689"/>
          </a:xfrm>
          <a:prstGeom prst="rect">
            <a:avLst/>
          </a:prstGeom>
          <a:noFill/>
        </p:spPr>
        <p:txBody>
          <a:bodyPr wrap="none" lIns="0" rIns="0" tIns="0" bIns="0">
            <a:spAutoFit/>
          </a:bodyPr>
          <a:lstStyle/>
          <a:p>
            <a:r>
              <a:rPr sz="1100" b="0">
                <a:solidFill>
                  <a:srgbClr val="2E2E2E"/>
                </a:solidFill>
                <a:latin typeface="Calibri"/>
              </a:rPr>
              <a:t>Geriatric patients followed by adults are expected to be the two most attractive patient age group segments in the global removable partial dentures market in terms of value over the forecast period.</a:t>
            </a:r>
          </a:p>
        </p:txBody>
      </p:sp>
      <p:sp>
        <p:nvSpPr>
          <p:cNvPr id="21" name="TextBox 20"/>
          <p:cNvSpPr txBox="1"/>
          <p:nvPr/>
        </p:nvSpPr>
        <p:spPr>
          <a:xfrm>
            <a:off x="257175" y="5945505"/>
            <a:ext cx="3046717" cy="186689"/>
          </a:xfrm>
          <a:prstGeom prst="rect">
            <a:avLst/>
          </a:prstGeom>
          <a:noFill/>
        </p:spPr>
        <p:txBody>
          <a:bodyPr wrap="none" lIns="0" rIns="0" tIns="0" bIns="0">
            <a:spAutoFit/>
          </a:bodyPr>
          <a:lstStyle/>
          <a:p>
            <a:r>
              <a:rPr sz="1100" b="0">
                <a:solidFill>
                  <a:srgbClr val="2E2E2E"/>
                </a:solidFill>
                <a:latin typeface="Calibri"/>
              </a:rPr>
              <a:t>Geriatric patients and adults exhibit a CAGR index of</a:t>
            </a:r>
          </a:p>
        </p:txBody>
      </p:sp>
      <p:pic>
        <p:nvPicPr>
          <p:cNvPr id="22" name="Picture 21" descr="lock.png"/>
          <p:cNvPicPr>
            <a:picLocks noChangeAspect="1"/>
          </p:cNvPicPr>
          <p:nvPr/>
        </p:nvPicPr>
        <p:blipFill>
          <a:blip r:embed="rId6"/>
          <a:stretch>
            <a:fillRect/>
          </a:stretch>
        </p:blipFill>
        <p:spPr>
          <a:xfrm>
            <a:off x="3251944" y="5935726"/>
            <a:ext cx="128699" cy="187198"/>
          </a:xfrm>
          <a:prstGeom prst="rect">
            <a:avLst/>
          </a:prstGeom>
        </p:spPr>
      </p:pic>
      <p:sp>
        <p:nvSpPr>
          <p:cNvPr id="23" name="TextBox 22"/>
          <p:cNvSpPr txBox="1"/>
          <p:nvPr/>
        </p:nvSpPr>
        <p:spPr>
          <a:xfrm>
            <a:off x="3419440"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3657334" y="5935726"/>
            <a:ext cx="128699" cy="187198"/>
          </a:xfrm>
          <a:prstGeom prst="rect">
            <a:avLst/>
          </a:prstGeom>
        </p:spPr>
      </p:pic>
      <p:sp>
        <p:nvSpPr>
          <p:cNvPr id="25" name="TextBox 24"/>
          <p:cNvSpPr txBox="1"/>
          <p:nvPr/>
        </p:nvSpPr>
        <p:spPr>
          <a:xfrm>
            <a:off x="3824830"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433803" y="5935726"/>
            <a:ext cx="128699" cy="187198"/>
          </a:xfrm>
          <a:prstGeom prst="rect">
            <a:avLst/>
          </a:prstGeom>
        </p:spPr>
      </p:pic>
      <p:sp>
        <p:nvSpPr>
          <p:cNvPr id="27" name="TextBox 26"/>
          <p:cNvSpPr txBox="1"/>
          <p:nvPr/>
        </p:nvSpPr>
        <p:spPr>
          <a:xfrm>
            <a:off x="5601299"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839194" y="5935726"/>
            <a:ext cx="128699" cy="187198"/>
          </a:xfrm>
          <a:prstGeom prst="rect">
            <a:avLst/>
          </a:prstGeom>
        </p:spPr>
      </p:pic>
      <p:sp>
        <p:nvSpPr>
          <p:cNvPr id="29" name="TextBox 28"/>
          <p:cNvSpPr txBox="1"/>
          <p:nvPr/>
        </p:nvSpPr>
        <p:spPr>
          <a:xfrm>
            <a:off x="6006689"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561094" y="5935726"/>
            <a:ext cx="128699" cy="187198"/>
          </a:xfrm>
          <a:prstGeom prst="rect">
            <a:avLst/>
          </a:prstGeom>
        </p:spPr>
      </p:pic>
      <p:sp>
        <p:nvSpPr>
          <p:cNvPr id="31" name="TextBox 30"/>
          <p:cNvSpPr txBox="1"/>
          <p:nvPr/>
        </p:nvSpPr>
        <p:spPr>
          <a:xfrm>
            <a:off x="8728589" y="5945505"/>
            <a:ext cx="2528572" cy="186689"/>
          </a:xfrm>
          <a:prstGeom prst="rect">
            <a:avLst/>
          </a:prstGeom>
          <a:noFill/>
        </p:spPr>
        <p:txBody>
          <a:bodyPr wrap="none" lIns="0" rIns="0" tIns="0" bIns="0">
            <a:spAutoFit/>
          </a:bodyPr>
          <a:lstStyle/>
          <a:p>
            <a:r>
              <a:rPr sz="1100" b="0">
                <a:solidFill>
                  <a:srgbClr val="2E2E2E"/>
                </a:solidFill>
                <a:latin typeface="Calibri"/>
              </a:rPr>
              <a:t>. Bubbles right of the CAGR-Index line grow</a:t>
            </a:r>
          </a:p>
        </p:txBody>
      </p:sp>
      <p:sp>
        <p:nvSpPr>
          <p:cNvPr id="32" name="TextBox 31"/>
          <p:cNvSpPr txBox="1"/>
          <p:nvPr/>
        </p:nvSpPr>
        <p:spPr>
          <a:xfrm>
            <a:off x="257175" y="6113145"/>
            <a:ext cx="1959694" cy="186689"/>
          </a:xfrm>
          <a:prstGeom prst="rect">
            <a:avLst/>
          </a:prstGeom>
          <a:noFill/>
        </p:spPr>
        <p:txBody>
          <a:bodyPr wrap="none" lIns="0" rIns="0" tIns="0" bIns="0">
            <a:spAutoFit/>
          </a:bodyPr>
          <a:lstStyle/>
          <a:p>
            <a:r>
              <a:rPr sz="1100" b="0">
                <a:solidFill>
                  <a:srgbClr val="2E2E2E"/>
                </a:solidFill>
                <a:latin typeface="Calibri"/>
              </a:rPr>
              <a:t>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Patient Age Group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Adults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Geriatric Patients</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4059" y="3583939"/>
            <a:ext cx="402511" cy="58547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Patient Age Group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Patient Age Group (Units)</a:t>
            </a:r>
          </a:p>
        </p:txBody>
      </p:sp>
      <p:graphicFrame>
        <p:nvGraphicFramePr>
          <p:cNvPr id="13" name="Table 12"/>
          <p:cNvGraphicFramePr>
            <a:graphicFrameLocks noGrp="1"/>
          </p:cNvGraphicFramePr>
          <p:nvPr/>
        </p:nvGraphicFramePr>
        <p:xfrm>
          <a:off x="152400" y="1238250"/>
          <a:ext cx="11887200" cy="1181100"/>
        </p:xfrm>
        <a:graphic>
          <a:graphicData uri="http://schemas.openxmlformats.org/drawingml/2006/table">
            <a:tbl>
              <a:tblPr>
                <a:tableStyleId>{5C22544A-7EE6-4342-B048-85BDC9FD1C3A}</a:tableStyleId>
              </a:tblPr>
              <a:tblGrid>
                <a:gridCol w="1121278"/>
                <a:gridCol w="645795"/>
                <a:gridCol w="645795"/>
                <a:gridCol w="645795"/>
                <a:gridCol w="645795"/>
                <a:gridCol w="645795"/>
                <a:gridCol w="645795"/>
                <a:gridCol w="645795"/>
                <a:gridCol w="645795"/>
                <a:gridCol w="645795"/>
                <a:gridCol w="645795"/>
                <a:gridCol w="645795"/>
                <a:gridCol w="645795"/>
                <a:gridCol w="645795"/>
                <a:gridCol w="645795"/>
                <a:gridCol w="645795"/>
                <a:gridCol w="645795"/>
                <a:gridCol w="433202"/>
              </a:tblGrid>
              <a:tr h="438912">
                <a:tc>
                  <a:txBody>
                    <a:bodyPr wrap="none"/>
                    <a:lstStyle/>
                    <a:p>
                      <a:pPr algn="l"/>
                      <a:r>
                        <a:rPr sz="1100" b="1">
                          <a:solidFill>
                            <a:srgbClr val="0B2E4A"/>
                          </a:solidFill>
                          <a:latin typeface="Calibri"/>
                        </a:rPr>
                        <a:t>Patient Age</a:t>
                      </a:r>
                      <a:endParaRPr sz="1100"/>
                    </a:p>
                    <a:p>
                      <a:pPr algn="l"/>
                      <a:r>
                        <a:rPr sz="1100" b="1">
                          <a:solidFill>
                            <a:srgbClr val="0B2E4A"/>
                          </a:solidFill>
                          <a:latin typeface="Calibri"/>
                        </a:rPr>
                        <a:t>Group</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9050" marT="19050" marB="19050" anchor="ctr">
                    <a:solidFill>
                      <a:srgbClr val="E0E8EF"/>
                    </a:solidFill>
                  </a:tcPr>
                </a:tc>
              </a:tr>
              <a:tr h="247396">
                <a:tc>
                  <a:txBody>
                    <a:bodyPr wrap="none"/>
                    <a:lstStyle/>
                    <a:p>
                      <a:pPr algn="l"/>
                      <a:r>
                        <a:rPr sz="1100" b="1">
                          <a:solidFill>
                            <a:srgbClr val="2E2E2E"/>
                          </a:solidFill>
                          <a:latin typeface="Calibri"/>
                        </a:rPr>
                        <a:t>Adults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7396">
                <a:tc>
                  <a:txBody>
                    <a:bodyPr wrap="none"/>
                    <a:lstStyle/>
                    <a:p>
                      <a:pPr algn="l"/>
                      <a:r>
                        <a:rPr sz="1100" b="1">
                          <a:solidFill>
                            <a:srgbClr val="2E2E2E"/>
                          </a:solidFill>
                          <a:latin typeface="Calibri"/>
                        </a:rPr>
                        <a:t>Geriatric Patients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8479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Patient Age Group</a:t>
            </a:r>
          </a:p>
        </p:txBody>
      </p:sp>
      <p:sp>
        <p:nvSpPr>
          <p:cNvPr id="17" name="Rectangle 16"/>
          <p:cNvSpPr/>
          <p:nvPr/>
        </p:nvSpPr>
        <p:spPr>
          <a:xfrm>
            <a:off x="276225" y="3086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171825"/>
            <a:ext cx="1163955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69948" y="1781556"/>
            <a:ext cx="366712" cy="533400"/>
          </a:xfrm>
          <a:prstGeom prst="rect">
            <a:avLst/>
          </a:prstGeom>
        </p:spPr>
      </p:pic>
      <p:sp>
        <p:nvSpPr>
          <p:cNvPr id="21" name="TextBox 20"/>
          <p:cNvSpPr txBox="1"/>
          <p:nvPr/>
        </p:nvSpPr>
        <p:spPr>
          <a:xfrm>
            <a:off x="276225" y="31813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3171126"/>
            <a:ext cx="134549" cy="195707"/>
          </a:xfrm>
          <a:prstGeom prst="rect">
            <a:avLst/>
          </a:prstGeom>
        </p:spPr>
      </p:pic>
      <p:sp>
        <p:nvSpPr>
          <p:cNvPr id="23" name="TextBox 22"/>
          <p:cNvSpPr txBox="1"/>
          <p:nvPr/>
        </p:nvSpPr>
        <p:spPr>
          <a:xfrm>
            <a:off x="3435056" y="3181350"/>
            <a:ext cx="7923249" cy="194310"/>
          </a:xfrm>
          <a:prstGeom prst="rect">
            <a:avLst/>
          </a:prstGeom>
          <a:noFill/>
        </p:spPr>
        <p:txBody>
          <a:bodyPr wrap="none" lIns="0" rIns="0" tIns="0" bIns="0">
            <a:spAutoFit/>
          </a:bodyPr>
          <a:lstStyle/>
          <a:p>
            <a:r>
              <a:rPr sz="1150" b="0">
                <a:solidFill>
                  <a:srgbClr val="2E2E2E"/>
                </a:solidFill>
                <a:latin typeface="Calibri"/>
              </a:rPr>
              <a:t>X higher volume than adults segment in 2036. Among removable partial dentures by patient age group, geriatric patients segment is</a:t>
            </a:r>
          </a:p>
        </p:txBody>
      </p:sp>
      <p:sp>
        <p:nvSpPr>
          <p:cNvPr id="24" name="TextBox 23"/>
          <p:cNvSpPr txBox="1"/>
          <p:nvPr/>
        </p:nvSpPr>
        <p:spPr>
          <a:xfrm>
            <a:off x="276225" y="335661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3346386"/>
            <a:ext cx="134549" cy="195707"/>
          </a:xfrm>
          <a:prstGeom prst="rect">
            <a:avLst/>
          </a:prstGeom>
        </p:spPr>
      </p:pic>
      <p:sp>
        <p:nvSpPr>
          <p:cNvPr id="26" name="TextBox 25"/>
          <p:cNvSpPr txBox="1"/>
          <p:nvPr/>
        </p:nvSpPr>
        <p:spPr>
          <a:xfrm>
            <a:off x="2886495" y="33566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584447"/>
            <a:ext cx="7339049" cy="194310"/>
          </a:xfrm>
          <a:prstGeom prst="rect">
            <a:avLst/>
          </a:prstGeom>
          <a:noFill/>
        </p:spPr>
        <p:txBody>
          <a:bodyPr wrap="none" lIns="0" rIns="0" tIns="0" bIns="0">
            <a:spAutoFit/>
          </a:bodyPr>
          <a:lstStyle/>
          <a:p>
            <a:r>
              <a:rPr sz="1150" b="0">
                <a:solidFill>
                  <a:srgbClr val="2E2E2E"/>
                </a:solidFill>
                <a:latin typeface="Calibri"/>
              </a:rPr>
              <a:t>In terms of volume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564428" y="3574224"/>
            <a:ext cx="134549" cy="195707"/>
          </a:xfrm>
          <a:prstGeom prst="rect">
            <a:avLst/>
          </a:prstGeom>
        </p:spPr>
      </p:pic>
      <p:sp>
        <p:nvSpPr>
          <p:cNvPr id="29" name="TextBox 28"/>
          <p:cNvSpPr txBox="1"/>
          <p:nvPr/>
        </p:nvSpPr>
        <p:spPr>
          <a:xfrm>
            <a:off x="7739537" y="35844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134681" y="3574224"/>
            <a:ext cx="134549" cy="195707"/>
          </a:xfrm>
          <a:prstGeom prst="rect">
            <a:avLst/>
          </a:prstGeom>
        </p:spPr>
      </p:pic>
      <p:sp>
        <p:nvSpPr>
          <p:cNvPr id="31" name="TextBox 30"/>
          <p:cNvSpPr txBox="1"/>
          <p:nvPr/>
        </p:nvSpPr>
        <p:spPr>
          <a:xfrm>
            <a:off x="9309790" y="35844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7597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749484"/>
            <a:ext cx="134549" cy="195707"/>
          </a:xfrm>
          <a:prstGeom prst="rect">
            <a:avLst/>
          </a:prstGeom>
        </p:spPr>
      </p:pic>
      <p:sp>
        <p:nvSpPr>
          <p:cNvPr id="34" name="TextBox 33"/>
          <p:cNvSpPr txBox="1"/>
          <p:nvPr/>
        </p:nvSpPr>
        <p:spPr>
          <a:xfrm>
            <a:off x="1455394" y="37597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749484"/>
            <a:ext cx="134549" cy="195707"/>
          </a:xfrm>
          <a:prstGeom prst="rect">
            <a:avLst/>
          </a:prstGeom>
        </p:spPr>
      </p:pic>
      <p:sp>
        <p:nvSpPr>
          <p:cNvPr id="36" name="TextBox 35"/>
          <p:cNvSpPr txBox="1"/>
          <p:nvPr/>
        </p:nvSpPr>
        <p:spPr>
          <a:xfrm>
            <a:off x="4218008" y="37597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Patient Age Group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Patient Age Group (US$ Mn)</a:t>
            </a:r>
          </a:p>
        </p:txBody>
      </p:sp>
      <p:graphicFrame>
        <p:nvGraphicFramePr>
          <p:cNvPr id="13" name="Table 12"/>
          <p:cNvGraphicFramePr>
            <a:graphicFrameLocks noGrp="1"/>
          </p:cNvGraphicFramePr>
          <p:nvPr/>
        </p:nvGraphicFramePr>
        <p:xfrm>
          <a:off x="152400" y="1238250"/>
          <a:ext cx="11887195" cy="990600"/>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Patient Age Group</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86908" y="1589913"/>
            <a:ext cx="366712" cy="533400"/>
          </a:xfrm>
          <a:prstGeom prst="rect">
            <a:avLst/>
          </a:prstGeom>
        </p:spPr>
      </p:pic>
      <p:sp>
        <p:nvSpPr>
          <p:cNvPr id="21" name="TextBox 20"/>
          <p:cNvSpPr txBox="1"/>
          <p:nvPr/>
        </p:nvSpPr>
        <p:spPr>
          <a:xfrm>
            <a:off x="276225" y="29908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2980626"/>
            <a:ext cx="134549" cy="195707"/>
          </a:xfrm>
          <a:prstGeom prst="rect">
            <a:avLst/>
          </a:prstGeom>
        </p:spPr>
      </p:pic>
      <p:sp>
        <p:nvSpPr>
          <p:cNvPr id="23" name="TextBox 22"/>
          <p:cNvSpPr txBox="1"/>
          <p:nvPr/>
        </p:nvSpPr>
        <p:spPr>
          <a:xfrm>
            <a:off x="3435056" y="2990850"/>
            <a:ext cx="8378514" cy="194310"/>
          </a:xfrm>
          <a:prstGeom prst="rect">
            <a:avLst/>
          </a:prstGeom>
          <a:noFill/>
        </p:spPr>
        <p:txBody>
          <a:bodyPr wrap="none" lIns="0" rIns="0" tIns="0" bIns="0">
            <a:spAutoFit/>
          </a:bodyPr>
          <a:lstStyle/>
          <a:p>
            <a:r>
              <a:rPr sz="1150" b="0">
                <a:solidFill>
                  <a:srgbClr val="2E2E2E"/>
                </a:solidFill>
                <a:latin typeface="Calibri"/>
              </a:rPr>
              <a:t>X higher value than adults segment in 2036. Among removable partial dentures by patient age group, geriatric patients segment is expected</a:t>
            </a:r>
          </a:p>
        </p:txBody>
      </p:sp>
      <p:sp>
        <p:nvSpPr>
          <p:cNvPr id="24" name="TextBox 23"/>
          <p:cNvSpPr txBox="1"/>
          <p:nvPr/>
        </p:nvSpPr>
        <p:spPr>
          <a:xfrm>
            <a:off x="276225" y="3166110"/>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132320" y="3155886"/>
            <a:ext cx="134549" cy="195707"/>
          </a:xfrm>
          <a:prstGeom prst="rect">
            <a:avLst/>
          </a:prstGeom>
        </p:spPr>
      </p:pic>
      <p:sp>
        <p:nvSpPr>
          <p:cNvPr id="26" name="TextBox 25"/>
          <p:cNvSpPr txBox="1"/>
          <p:nvPr/>
        </p:nvSpPr>
        <p:spPr>
          <a:xfrm>
            <a:off x="2307429"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215249" cy="194310"/>
          </a:xfrm>
          <a:prstGeom prst="rect">
            <a:avLst/>
          </a:prstGeom>
          <a:noFill/>
        </p:spPr>
        <p:txBody>
          <a:bodyPr wrap="none" lIns="0" rIns="0" tIns="0" bIns="0">
            <a:spAutoFit/>
          </a:bodyPr>
          <a:lstStyle/>
          <a:p>
            <a:r>
              <a:rPr sz="1150" b="0">
                <a:solidFill>
                  <a:srgbClr val="2E2E2E"/>
                </a:solidFill>
                <a:latin typeface="Calibri"/>
              </a:rPr>
              <a:t>In terms of value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440628" y="3383724"/>
            <a:ext cx="134549" cy="195707"/>
          </a:xfrm>
          <a:prstGeom prst="rect">
            <a:avLst/>
          </a:prstGeom>
        </p:spPr>
      </p:pic>
      <p:sp>
        <p:nvSpPr>
          <p:cNvPr id="29" name="TextBox 28"/>
          <p:cNvSpPr txBox="1"/>
          <p:nvPr/>
        </p:nvSpPr>
        <p:spPr>
          <a:xfrm>
            <a:off x="7615737"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10880" y="3383724"/>
            <a:ext cx="134549" cy="195707"/>
          </a:xfrm>
          <a:prstGeom prst="rect">
            <a:avLst/>
          </a:prstGeom>
        </p:spPr>
      </p:pic>
      <p:sp>
        <p:nvSpPr>
          <p:cNvPr id="31" name="TextBox 30"/>
          <p:cNvSpPr txBox="1"/>
          <p:nvPr/>
        </p:nvSpPr>
        <p:spPr>
          <a:xfrm>
            <a:off x="9185990" y="33939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5692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558984"/>
            <a:ext cx="134549" cy="195707"/>
          </a:xfrm>
          <a:prstGeom prst="rect">
            <a:avLst/>
          </a:prstGeom>
        </p:spPr>
      </p:pic>
      <p:sp>
        <p:nvSpPr>
          <p:cNvPr id="34" name="TextBox 33"/>
          <p:cNvSpPr txBox="1"/>
          <p:nvPr/>
        </p:nvSpPr>
        <p:spPr>
          <a:xfrm>
            <a:off x="1455394" y="35692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558984"/>
            <a:ext cx="134549" cy="195707"/>
          </a:xfrm>
          <a:prstGeom prst="rect">
            <a:avLst/>
          </a:prstGeom>
        </p:spPr>
      </p:pic>
      <p:sp>
        <p:nvSpPr>
          <p:cNvPr id="36" name="TextBox 35"/>
          <p:cNvSpPr txBox="1"/>
          <p:nvPr/>
        </p:nvSpPr>
        <p:spPr>
          <a:xfrm>
            <a:off x="4218008" y="35692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Patient Age Group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Patient Age Group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1530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41054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3434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Adults</a:t>
            </a:r>
          </a:p>
        </p:txBody>
      </p:sp>
      <p:sp>
        <p:nvSpPr>
          <p:cNvPr id="19" name="BPS Value 1"/>
          <p:cNvSpPr txBox="1"/>
          <p:nvPr/>
        </p:nvSpPr>
        <p:spPr>
          <a:xfrm>
            <a:off x="6896100" y="239625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70149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69673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62053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Geriatric Patients</a:t>
            </a:r>
          </a:p>
        </p:txBody>
      </p:sp>
      <p:sp>
        <p:nvSpPr>
          <p:cNvPr id="23" name="BPS Value 2"/>
          <p:cNvSpPr txBox="1"/>
          <p:nvPr/>
        </p:nvSpPr>
        <p:spPr>
          <a:xfrm>
            <a:off x="6896100" y="468244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Patient Age Group</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978473" cy="194310"/>
          </a:xfrm>
          <a:prstGeom prst="rect">
            <a:avLst/>
          </a:prstGeom>
          <a:noFill/>
        </p:spPr>
        <p:txBody>
          <a:bodyPr wrap="none" lIns="0" rIns="0" tIns="0" bIns="0">
            <a:spAutoFit/>
          </a:bodyPr>
          <a:lstStyle/>
          <a:p>
            <a:r>
              <a:rPr sz="1150" b="0">
                <a:solidFill>
                  <a:srgbClr val="2E2E2E"/>
                </a:solidFill>
                <a:latin typeface="Calibri"/>
              </a:rPr>
              <a:t>Among removable partial dentures by patient age group, geriatric</a:t>
            </a:r>
          </a:p>
        </p:txBody>
      </p:sp>
      <p:sp>
        <p:nvSpPr>
          <p:cNvPr id="31" name="TextBox 30"/>
          <p:cNvSpPr txBox="1"/>
          <p:nvPr/>
        </p:nvSpPr>
        <p:spPr>
          <a:xfrm>
            <a:off x="7829550" y="1575435"/>
            <a:ext cx="3674660" cy="194310"/>
          </a:xfrm>
          <a:prstGeom prst="rect">
            <a:avLst/>
          </a:prstGeom>
          <a:noFill/>
        </p:spPr>
        <p:txBody>
          <a:bodyPr wrap="none" lIns="0" rIns="0" tIns="0" bIns="0">
            <a:spAutoFit/>
          </a:bodyPr>
          <a:lstStyle/>
          <a:p>
            <a:r>
              <a:rPr sz="1150" b="0">
                <a:solidFill>
                  <a:srgbClr val="2E2E2E"/>
                </a:solidFill>
                <a:latin typeface="Calibri"/>
              </a:rPr>
              <a:t>patients segment is expected to witness the highest CAGR of</a:t>
            </a:r>
          </a:p>
        </p:txBody>
      </p:sp>
      <p:pic>
        <p:nvPicPr>
          <p:cNvPr id="32" name="Picture 31" descr="lock.png"/>
          <p:cNvPicPr>
            <a:picLocks noChangeAspect="1"/>
          </p:cNvPicPr>
          <p:nvPr/>
        </p:nvPicPr>
        <p:blipFill>
          <a:blip r:embed="rId5"/>
          <a:stretch>
            <a:fillRect/>
          </a:stretch>
        </p:blipFill>
        <p:spPr>
          <a:xfrm>
            <a:off x="11453364" y="1565211"/>
            <a:ext cx="134549" cy="195707"/>
          </a:xfrm>
          <a:prstGeom prst="rect">
            <a:avLst/>
          </a:prstGeom>
        </p:spPr>
      </p:pic>
      <p:sp>
        <p:nvSpPr>
          <p:cNvPr id="33" name="TextBox 32"/>
          <p:cNvSpPr txBox="1"/>
          <p:nvPr/>
        </p:nvSpPr>
        <p:spPr>
          <a:xfrm>
            <a:off x="7829550" y="1750695"/>
            <a:ext cx="3823580"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 patient age</a:t>
            </a:r>
          </a:p>
        </p:txBody>
      </p:sp>
      <p:sp>
        <p:nvSpPr>
          <p:cNvPr id="34" name="TextBox 33"/>
          <p:cNvSpPr txBox="1"/>
          <p:nvPr/>
        </p:nvSpPr>
        <p:spPr>
          <a:xfrm>
            <a:off x="7829550" y="1925955"/>
            <a:ext cx="3983608" cy="194310"/>
          </a:xfrm>
          <a:prstGeom prst="rect">
            <a:avLst/>
          </a:prstGeom>
          <a:noFill/>
        </p:spPr>
        <p:txBody>
          <a:bodyPr wrap="none" lIns="0" rIns="0" tIns="0" bIns="0">
            <a:spAutoFit/>
          </a:bodyPr>
          <a:lstStyle/>
          <a:p>
            <a:r>
              <a:rPr sz="1150" b="0">
                <a:solidFill>
                  <a:srgbClr val="2E2E2E"/>
                </a:solidFill>
                <a:latin typeface="Calibri"/>
              </a:rPr>
              <a:t>group, the geriatric patients segment is expected to dominate the</a:t>
            </a:r>
          </a:p>
        </p:txBody>
      </p:sp>
      <p:sp>
        <p:nvSpPr>
          <p:cNvPr id="35" name="TextBox 34"/>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36" name="Picture 35" descr="lock.png"/>
          <p:cNvPicPr>
            <a:picLocks noChangeAspect="1"/>
          </p:cNvPicPr>
          <p:nvPr/>
        </p:nvPicPr>
        <p:blipFill>
          <a:blip r:embed="rId5"/>
          <a:stretch>
            <a:fillRect/>
          </a:stretch>
        </p:blipFill>
        <p:spPr>
          <a:xfrm>
            <a:off x="8778556" y="2090991"/>
            <a:ext cx="134549" cy="195707"/>
          </a:xfrm>
          <a:prstGeom prst="rect">
            <a:avLst/>
          </a:prstGeom>
        </p:spPr>
      </p:pic>
      <p:sp>
        <p:nvSpPr>
          <p:cNvPr id="37" name="TextBox 36"/>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8" name="Picture 37" descr="lock.png"/>
          <p:cNvPicPr>
            <a:picLocks noChangeAspect="1"/>
          </p:cNvPicPr>
          <p:nvPr/>
        </p:nvPicPr>
        <p:blipFill>
          <a:blip r:embed="rId5"/>
          <a:stretch>
            <a:fillRect/>
          </a:stretch>
        </p:blipFill>
        <p:spPr>
          <a:xfrm>
            <a:off x="10348808" y="2090991"/>
            <a:ext cx="134549" cy="195707"/>
          </a:xfrm>
          <a:prstGeom prst="rect">
            <a:avLst/>
          </a:prstGeom>
        </p:spPr>
      </p:pic>
      <p:sp>
        <p:nvSpPr>
          <p:cNvPr id="39" name="TextBox 38"/>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0" name="TextBox 39"/>
          <p:cNvSpPr txBox="1"/>
          <p:nvPr/>
        </p:nvSpPr>
        <p:spPr>
          <a:xfrm>
            <a:off x="7829550" y="2329053"/>
            <a:ext cx="2375631" cy="194310"/>
          </a:xfrm>
          <a:prstGeom prst="rect">
            <a:avLst/>
          </a:prstGeom>
          <a:noFill/>
        </p:spPr>
        <p:txBody>
          <a:bodyPr wrap="none" lIns="0" rIns="0" tIns="0" bIns="0">
            <a:spAutoFit/>
          </a:bodyPr>
          <a:lstStyle/>
          <a:p>
            <a:r>
              <a:rPr sz="1150" b="0">
                <a:solidFill>
                  <a:srgbClr val="2E2E2E"/>
                </a:solidFill>
                <a:latin typeface="Calibri"/>
              </a:rPr>
              <a:t>The adults segment is expected to lose</a:t>
            </a:r>
          </a:p>
        </p:txBody>
      </p:sp>
      <p:pic>
        <p:nvPicPr>
          <p:cNvPr id="41" name="Picture 40" descr="lock.png"/>
          <p:cNvPicPr>
            <a:picLocks noChangeAspect="1"/>
          </p:cNvPicPr>
          <p:nvPr/>
        </p:nvPicPr>
        <p:blipFill>
          <a:blip r:embed="rId5"/>
          <a:stretch>
            <a:fillRect/>
          </a:stretch>
        </p:blipFill>
        <p:spPr>
          <a:xfrm>
            <a:off x="10154335" y="2318829"/>
            <a:ext cx="134549" cy="195707"/>
          </a:xfrm>
          <a:prstGeom prst="rect">
            <a:avLst/>
          </a:prstGeom>
        </p:spPr>
      </p:pic>
      <p:sp>
        <p:nvSpPr>
          <p:cNvPr id="42" name="TextBox 41"/>
          <p:cNvSpPr txBox="1"/>
          <p:nvPr/>
        </p:nvSpPr>
        <p:spPr>
          <a:xfrm>
            <a:off x="10329444"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43" name="TextBox 42"/>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44" name="Picture 43" descr="lock.png"/>
          <p:cNvPicPr>
            <a:picLocks noChangeAspect="1"/>
          </p:cNvPicPr>
          <p:nvPr/>
        </p:nvPicPr>
        <p:blipFill>
          <a:blip r:embed="rId5"/>
          <a:stretch>
            <a:fillRect/>
          </a:stretch>
        </p:blipFill>
        <p:spPr>
          <a:xfrm>
            <a:off x="9114014" y="2494089"/>
            <a:ext cx="134549" cy="195707"/>
          </a:xfrm>
          <a:prstGeom prst="rect">
            <a:avLst/>
          </a:prstGeom>
        </p:spPr>
      </p:pic>
      <p:sp>
        <p:nvSpPr>
          <p:cNvPr id="45" name="TextBox 44"/>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37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Material Type, 2026E and 2036F (US$ Mn)</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829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1163955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027682" y="2276792"/>
            <a:ext cx="366712" cy="533400"/>
          </a:xfrm>
          <a:prstGeom prst="rect">
            <a:avLst/>
          </a:prstGeom>
        </p:spPr>
      </p:pic>
      <p:sp>
        <p:nvSpPr>
          <p:cNvPr id="21" name="TextBox 20"/>
          <p:cNvSpPr txBox="1"/>
          <p:nvPr/>
        </p:nvSpPr>
        <p:spPr>
          <a:xfrm>
            <a:off x="276225" y="3924300"/>
            <a:ext cx="10055807"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global removable partial dentures market, led by high-performance polymers at US$</a:t>
            </a:r>
          </a:p>
        </p:txBody>
      </p:sp>
      <p:pic>
        <p:nvPicPr>
          <p:cNvPr id="22" name="Picture 21" descr="lock.png"/>
          <p:cNvPicPr>
            <a:picLocks noChangeAspect="1"/>
          </p:cNvPicPr>
          <p:nvPr/>
        </p:nvPicPr>
        <p:blipFill>
          <a:blip r:embed="rId4"/>
          <a:stretch>
            <a:fillRect/>
          </a:stretch>
        </p:blipFill>
        <p:spPr>
          <a:xfrm>
            <a:off x="10281186" y="3914076"/>
            <a:ext cx="134549" cy="195707"/>
          </a:xfrm>
          <a:prstGeom prst="rect">
            <a:avLst/>
          </a:prstGeom>
        </p:spPr>
      </p:pic>
      <p:sp>
        <p:nvSpPr>
          <p:cNvPr id="23" name="TextBox 22"/>
          <p:cNvSpPr txBox="1"/>
          <p:nvPr/>
        </p:nvSpPr>
        <p:spPr>
          <a:xfrm>
            <a:off x="10456296" y="3924300"/>
            <a:ext cx="1246026" cy="194310"/>
          </a:xfrm>
          <a:prstGeom prst="rect">
            <a:avLst/>
          </a:prstGeom>
          <a:noFill/>
        </p:spPr>
        <p:txBody>
          <a:bodyPr wrap="none" lIns="0" rIns="0" tIns="0" bIns="0">
            <a:spAutoFit/>
          </a:bodyPr>
          <a:lstStyle/>
          <a:p>
            <a:r>
              <a:rPr sz="1150" b="0">
                <a:solidFill>
                  <a:srgbClr val="2E2E2E"/>
                </a:solidFill>
                <a:latin typeface="Calibri"/>
              </a:rPr>
              <a:t>Mn in 2036. 'Acrylic</a:t>
            </a:r>
          </a:p>
        </p:txBody>
      </p:sp>
      <p:sp>
        <p:nvSpPr>
          <p:cNvPr id="24" name="TextBox 23"/>
          <p:cNvSpPr txBox="1"/>
          <p:nvPr/>
        </p:nvSpPr>
        <p:spPr>
          <a:xfrm>
            <a:off x="276225" y="4099560"/>
            <a:ext cx="4436591" cy="194310"/>
          </a:xfrm>
          <a:prstGeom prst="rect">
            <a:avLst/>
          </a:prstGeom>
          <a:noFill/>
        </p:spPr>
        <p:txBody>
          <a:bodyPr wrap="none" lIns="0" rIns="0" tIns="0" bIns="0">
            <a:spAutoFit/>
          </a:bodyPr>
          <a:lstStyle/>
          <a:p>
            <a:r>
              <a:rPr sz="1150" b="0">
                <a:solidFill>
                  <a:srgbClr val="2E2E2E"/>
                </a:solidFill>
                <a:latin typeface="Calibri"/>
              </a:rPr>
              <a:t>Partial Dentures × Acrylic / Resin' is the single largest cross-sectional cell (</a:t>
            </a:r>
          </a:p>
        </p:txBody>
      </p:sp>
      <p:pic>
        <p:nvPicPr>
          <p:cNvPr id="25" name="Picture 24" descr="lock.png"/>
          <p:cNvPicPr>
            <a:picLocks noChangeAspect="1"/>
          </p:cNvPicPr>
          <p:nvPr/>
        </p:nvPicPr>
        <p:blipFill>
          <a:blip r:embed="rId4"/>
          <a:stretch>
            <a:fillRect/>
          </a:stretch>
        </p:blipFill>
        <p:spPr>
          <a:xfrm>
            <a:off x="4661970" y="4089336"/>
            <a:ext cx="134549" cy="195707"/>
          </a:xfrm>
          <a:prstGeom prst="rect">
            <a:avLst/>
          </a:prstGeom>
        </p:spPr>
      </p:pic>
      <p:sp>
        <p:nvSpPr>
          <p:cNvPr id="26" name="TextBox 25"/>
          <p:cNvSpPr txBox="1"/>
          <p:nvPr/>
        </p:nvSpPr>
        <p:spPr>
          <a:xfrm>
            <a:off x="4837079" y="4099560"/>
            <a:ext cx="6815305"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Flexible Thermoplastics' records the fastest growth at a CAGR of</a:t>
            </a:r>
          </a:p>
        </p:txBody>
      </p:sp>
      <p:pic>
        <p:nvPicPr>
          <p:cNvPr id="27" name="Picture 26" descr="lock.png"/>
          <p:cNvPicPr>
            <a:picLocks noChangeAspect="1"/>
          </p:cNvPicPr>
          <p:nvPr/>
        </p:nvPicPr>
        <p:blipFill>
          <a:blip r:embed="rId4"/>
          <a:stretch>
            <a:fillRect/>
          </a:stretch>
        </p:blipFill>
        <p:spPr>
          <a:xfrm>
            <a:off x="262145" y="4264596"/>
            <a:ext cx="134549" cy="195707"/>
          </a:xfrm>
          <a:prstGeom prst="rect">
            <a:avLst/>
          </a:prstGeom>
        </p:spPr>
      </p:pic>
      <p:sp>
        <p:nvSpPr>
          <p:cNvPr id="28" name="TextBox 27"/>
          <p:cNvSpPr txBox="1"/>
          <p:nvPr/>
        </p:nvSpPr>
        <p:spPr>
          <a:xfrm>
            <a:off x="437254" y="427482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29" name="TextBox 28"/>
          <p:cNvSpPr txBox="1"/>
          <p:nvPr/>
        </p:nvSpPr>
        <p:spPr>
          <a:xfrm>
            <a:off x="276225" y="4502657"/>
            <a:ext cx="5866854" cy="194310"/>
          </a:xfrm>
          <a:prstGeom prst="rect">
            <a:avLst/>
          </a:prstGeom>
          <a:noFill/>
        </p:spPr>
        <p:txBody>
          <a:bodyPr wrap="none" lIns="0" rIns="0" tIns="0" bIns="0">
            <a:spAutoFit/>
          </a:bodyPr>
          <a:lstStyle/>
          <a:p>
            <a:r>
              <a:rPr sz="1150" b="0">
                <a:solidFill>
                  <a:srgbClr val="2E2E2E"/>
                </a:solidFill>
                <a:latin typeface="Calibri"/>
              </a:rPr>
              <a:t>Combined, the top three product type × material type cells generate an absolute $ opportunity of</a:t>
            </a:r>
          </a:p>
        </p:txBody>
      </p:sp>
      <p:pic>
        <p:nvPicPr>
          <p:cNvPr id="30" name="Picture 29" descr="lock.png"/>
          <p:cNvPicPr>
            <a:picLocks noChangeAspect="1"/>
          </p:cNvPicPr>
          <p:nvPr/>
        </p:nvPicPr>
        <p:blipFill>
          <a:blip r:embed="rId4"/>
          <a:stretch>
            <a:fillRect/>
          </a:stretch>
        </p:blipFill>
        <p:spPr>
          <a:xfrm>
            <a:off x="6092233" y="4492434"/>
            <a:ext cx="134549" cy="195707"/>
          </a:xfrm>
          <a:prstGeom prst="rect">
            <a:avLst/>
          </a:prstGeom>
        </p:spPr>
      </p:pic>
      <p:sp>
        <p:nvSpPr>
          <p:cNvPr id="31" name="TextBox 30"/>
          <p:cNvSpPr txBox="1"/>
          <p:nvPr/>
        </p:nvSpPr>
        <p:spPr>
          <a:xfrm>
            <a:off x="6267342" y="45026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Material Type, 2026E (% of each row)</a:t>
            </a:r>
          </a:p>
        </p:txBody>
      </p:sp>
      <p:graphicFrame>
        <p:nvGraphicFramePr>
          <p:cNvPr id="13" name="Table 12"/>
          <p:cNvGraphicFramePr>
            <a:graphicFrameLocks noGrp="1"/>
          </p:cNvGraphicFramePr>
          <p:nvPr/>
        </p:nvGraphicFramePr>
        <p:xfrm>
          <a:off x="152400" y="1238250"/>
          <a:ext cx="11887201" cy="2114550"/>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2714">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72866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7528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981450"/>
          <a:ext cx="7096125" cy="25908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695700"/>
            <a:ext cx="4457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7814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40195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4105275"/>
            <a:ext cx="4191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2" y="2468245"/>
            <a:ext cx="366712" cy="533400"/>
          </a:xfrm>
          <a:prstGeom prst="rect">
            <a:avLst/>
          </a:prstGeom>
        </p:spPr>
      </p:pic>
      <p:pic>
        <p:nvPicPr>
          <p:cNvPr id="24" name="Picture 23" descr="lock.png"/>
          <p:cNvPicPr>
            <a:picLocks noChangeAspect="1"/>
          </p:cNvPicPr>
          <p:nvPr/>
        </p:nvPicPr>
        <p:blipFill>
          <a:blip r:embed="rId5"/>
          <a:stretch>
            <a:fillRect/>
          </a:stretch>
        </p:blipFill>
        <p:spPr>
          <a:xfrm>
            <a:off x="3755735" y="4509229"/>
            <a:ext cx="349819" cy="508827"/>
          </a:xfrm>
          <a:prstGeom prst="rect">
            <a:avLst/>
          </a:prstGeom>
        </p:spPr>
      </p:pic>
      <p:sp>
        <p:nvSpPr>
          <p:cNvPr id="25" name="TextBox 24"/>
          <p:cNvSpPr txBox="1"/>
          <p:nvPr/>
        </p:nvSpPr>
        <p:spPr>
          <a:xfrm>
            <a:off x="7715250" y="4114800"/>
            <a:ext cx="4139071" cy="194310"/>
          </a:xfrm>
          <a:prstGeom prst="rect">
            <a:avLst/>
          </a:prstGeom>
          <a:noFill/>
        </p:spPr>
        <p:txBody>
          <a:bodyPr wrap="none" lIns="0" rIns="0" tIns="0" bIns="0">
            <a:spAutoFit/>
          </a:bodyPr>
          <a:lstStyle/>
          <a:p>
            <a:r>
              <a:rPr sz="1150" b="0">
                <a:solidFill>
                  <a:srgbClr val="2E2E2E"/>
                </a:solidFill>
                <a:latin typeface="Calibri"/>
              </a:rPr>
              <a:t>▪ 'Printable Denture Resins' holds the highest share of 'Acrylic Partial</a:t>
            </a:r>
          </a:p>
        </p:txBody>
      </p:sp>
      <p:sp>
        <p:nvSpPr>
          <p:cNvPr id="26" name="TextBox 25"/>
          <p:cNvSpPr txBox="1"/>
          <p:nvPr/>
        </p:nvSpPr>
        <p:spPr>
          <a:xfrm>
            <a:off x="7715250" y="4290060"/>
            <a:ext cx="806449" cy="194310"/>
          </a:xfrm>
          <a:prstGeom prst="rect">
            <a:avLst/>
          </a:prstGeom>
          <a:noFill/>
        </p:spPr>
        <p:txBody>
          <a:bodyPr wrap="none" lIns="0" rIns="0" tIns="0" bIns="0">
            <a:spAutoFit/>
          </a:bodyPr>
          <a:lstStyle/>
          <a:p>
            <a:r>
              <a:rPr sz="1150" b="0">
                <a:solidFill>
                  <a:srgbClr val="2E2E2E"/>
                </a:solidFill>
                <a:latin typeface="Calibri"/>
              </a:rPr>
              <a:t>Dentures' at</a:t>
            </a:r>
          </a:p>
        </p:txBody>
      </p:sp>
      <p:pic>
        <p:nvPicPr>
          <p:cNvPr id="27" name="Picture 26" descr="lock.png"/>
          <p:cNvPicPr>
            <a:picLocks noChangeAspect="1"/>
          </p:cNvPicPr>
          <p:nvPr/>
        </p:nvPicPr>
        <p:blipFill>
          <a:blip r:embed="rId5"/>
          <a:stretch>
            <a:fillRect/>
          </a:stretch>
        </p:blipFill>
        <p:spPr>
          <a:xfrm>
            <a:off x="8470853" y="4279836"/>
            <a:ext cx="134549" cy="195707"/>
          </a:xfrm>
          <a:prstGeom prst="rect">
            <a:avLst/>
          </a:prstGeom>
        </p:spPr>
      </p:pic>
      <p:sp>
        <p:nvSpPr>
          <p:cNvPr id="28" name="TextBox 27"/>
          <p:cNvSpPr txBox="1"/>
          <p:nvPr/>
        </p:nvSpPr>
        <p:spPr>
          <a:xfrm>
            <a:off x="8645963" y="42900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517897"/>
            <a:ext cx="3930265" cy="194310"/>
          </a:xfrm>
          <a:prstGeom prst="rect">
            <a:avLst/>
          </a:prstGeom>
          <a:noFill/>
        </p:spPr>
        <p:txBody>
          <a:bodyPr wrap="none" lIns="0" rIns="0" tIns="0" bIns="0">
            <a:spAutoFit/>
          </a:bodyPr>
          <a:lstStyle/>
          <a:p>
            <a:r>
              <a:rPr sz="1150" b="0">
                <a:solidFill>
                  <a:srgbClr val="2E2E2E"/>
                </a:solidFill>
                <a:latin typeface="Calibri"/>
              </a:rPr>
              <a:t>▪ 'Acrylic Partial Dentures' is the most concentrated product type</a:t>
            </a:r>
          </a:p>
        </p:txBody>
      </p:sp>
      <p:sp>
        <p:nvSpPr>
          <p:cNvPr id="30" name="TextBox 29"/>
          <p:cNvSpPr txBox="1"/>
          <p:nvPr/>
        </p:nvSpPr>
        <p:spPr>
          <a:xfrm>
            <a:off x="7715250" y="46931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682934"/>
            <a:ext cx="134549" cy="195707"/>
          </a:xfrm>
          <a:prstGeom prst="rect">
            <a:avLst/>
          </a:prstGeom>
        </p:spPr>
      </p:pic>
      <p:sp>
        <p:nvSpPr>
          <p:cNvPr id="32" name="TextBox 31"/>
          <p:cNvSpPr txBox="1"/>
          <p:nvPr/>
        </p:nvSpPr>
        <p:spPr>
          <a:xfrm>
            <a:off x="9018219" y="4693157"/>
            <a:ext cx="2530239" cy="194310"/>
          </a:xfrm>
          <a:prstGeom prst="rect">
            <a:avLst/>
          </a:prstGeom>
          <a:noFill/>
        </p:spPr>
        <p:txBody>
          <a:bodyPr wrap="none" lIns="0" rIns="0" tIns="0" bIns="0">
            <a:spAutoFit/>
          </a:bodyPr>
          <a:lstStyle/>
          <a:p>
            <a:r>
              <a:rPr sz="1150" b="0">
                <a:solidFill>
                  <a:srgbClr val="2E2E2E"/>
                </a:solidFill>
                <a:latin typeface="Calibri"/>
              </a:rPr>
              <a:t>of its value via 'Printable Denture Resins'.</a:t>
            </a:r>
          </a:p>
        </p:txBody>
      </p:sp>
      <p:sp>
        <p:nvSpPr>
          <p:cNvPr id="33" name="TextBox 32"/>
          <p:cNvSpPr txBox="1"/>
          <p:nvPr/>
        </p:nvSpPr>
        <p:spPr>
          <a:xfrm>
            <a:off x="7715250" y="4920995"/>
            <a:ext cx="2306885" cy="194310"/>
          </a:xfrm>
          <a:prstGeom prst="rect">
            <a:avLst/>
          </a:prstGeom>
          <a:noFill/>
        </p:spPr>
        <p:txBody>
          <a:bodyPr wrap="none" lIns="0" rIns="0" tIns="0" bIns="0">
            <a:spAutoFit/>
          </a:bodyPr>
          <a:lstStyle/>
          <a:p>
            <a:r>
              <a:rPr sz="1150" b="0">
                <a:solidFill>
                  <a:srgbClr val="2E2E2E"/>
                </a:solidFill>
                <a:latin typeface="Calibri"/>
              </a:rPr>
              <a:t>▪ 'Other Thermoplastic Resins' gains +</a:t>
            </a:r>
          </a:p>
        </p:txBody>
      </p:sp>
      <p:pic>
        <p:nvPicPr>
          <p:cNvPr id="34" name="Picture 33" descr="lock.png"/>
          <p:cNvPicPr>
            <a:picLocks noChangeAspect="1"/>
          </p:cNvPicPr>
          <p:nvPr/>
        </p:nvPicPr>
        <p:blipFill>
          <a:blip r:embed="rId5"/>
          <a:stretch>
            <a:fillRect/>
          </a:stretch>
        </p:blipFill>
        <p:spPr>
          <a:xfrm>
            <a:off x="9971289" y="4910772"/>
            <a:ext cx="134549" cy="195707"/>
          </a:xfrm>
          <a:prstGeom prst="rect">
            <a:avLst/>
          </a:prstGeom>
        </p:spPr>
      </p:pic>
      <p:sp>
        <p:nvSpPr>
          <p:cNvPr id="35" name="TextBox 34"/>
          <p:cNvSpPr txBox="1"/>
          <p:nvPr/>
        </p:nvSpPr>
        <p:spPr>
          <a:xfrm>
            <a:off x="10146398" y="4920995"/>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6" name="TextBox 35"/>
          <p:cNvSpPr txBox="1"/>
          <p:nvPr/>
        </p:nvSpPr>
        <p:spPr>
          <a:xfrm>
            <a:off x="7715250" y="509625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7" name="lockshield_17"/>
          <p:cNvSpPr/>
          <p:nvPr/>
        </p:nvSpPr>
        <p:spPr>
          <a:xfrm>
            <a:off x="238125" y="3981450"/>
            <a:ext cx="70961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5600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8290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5334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749672" y="2276792"/>
            <a:ext cx="366712" cy="533400"/>
          </a:xfrm>
          <a:prstGeom prst="rect">
            <a:avLst/>
          </a:prstGeom>
        </p:spPr>
      </p:pic>
      <p:sp>
        <p:nvSpPr>
          <p:cNvPr id="33" name="TextBox 32"/>
          <p:cNvSpPr txBox="1"/>
          <p:nvPr/>
        </p:nvSpPr>
        <p:spPr>
          <a:xfrm>
            <a:off x="276225" y="3924300"/>
            <a:ext cx="3328665" cy="194310"/>
          </a:xfrm>
          <a:prstGeom prst="rect">
            <a:avLst/>
          </a:prstGeom>
          <a:noFill/>
        </p:spPr>
        <p:txBody>
          <a:bodyPr wrap="none" lIns="0" rIns="0" tIns="0" bIns="0">
            <a:spAutoFit/>
          </a:bodyPr>
          <a:lstStyle/>
          <a:p>
            <a:r>
              <a:rPr sz="1150" b="0">
                <a:solidFill>
                  <a:srgbClr val="2E2E2E"/>
                </a:solidFill>
                <a:latin typeface="Calibri"/>
              </a:rPr>
              <a:t>▪ 1. Acrylic Partial Dentures × Flexible Thermoplastics –</a:t>
            </a:r>
          </a:p>
        </p:txBody>
      </p:sp>
      <p:pic>
        <p:nvPicPr>
          <p:cNvPr id="34" name="Picture 33" descr="lock.png"/>
          <p:cNvPicPr>
            <a:picLocks noChangeAspect="1"/>
          </p:cNvPicPr>
          <p:nvPr/>
        </p:nvPicPr>
        <p:blipFill>
          <a:blip r:embed="rId4"/>
          <a:stretch>
            <a:fillRect/>
          </a:stretch>
        </p:blipFill>
        <p:spPr>
          <a:xfrm>
            <a:off x="3554043" y="3914076"/>
            <a:ext cx="134549" cy="195707"/>
          </a:xfrm>
          <a:prstGeom prst="rect">
            <a:avLst/>
          </a:prstGeom>
        </p:spPr>
      </p:pic>
      <p:sp>
        <p:nvSpPr>
          <p:cNvPr id="35" name="TextBox 34"/>
          <p:cNvSpPr txBox="1"/>
          <p:nvPr/>
        </p:nvSpPr>
        <p:spPr>
          <a:xfrm>
            <a:off x="3729153" y="39243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791304" y="3914076"/>
            <a:ext cx="134549" cy="195707"/>
          </a:xfrm>
          <a:prstGeom prst="rect">
            <a:avLst/>
          </a:prstGeom>
        </p:spPr>
      </p:pic>
      <p:sp>
        <p:nvSpPr>
          <p:cNvPr id="37" name="TextBox 36"/>
          <p:cNvSpPr txBox="1"/>
          <p:nvPr/>
        </p:nvSpPr>
        <p:spPr>
          <a:xfrm>
            <a:off x="3966414" y="39243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152137"/>
            <a:ext cx="3389424" cy="194310"/>
          </a:xfrm>
          <a:prstGeom prst="rect">
            <a:avLst/>
          </a:prstGeom>
          <a:noFill/>
        </p:spPr>
        <p:txBody>
          <a:bodyPr wrap="none" lIns="0" rIns="0" tIns="0" bIns="0">
            <a:spAutoFit/>
          </a:bodyPr>
          <a:lstStyle/>
          <a:p>
            <a:r>
              <a:rPr sz="1150" b="0">
                <a:solidFill>
                  <a:srgbClr val="2E2E2E"/>
                </a:solidFill>
                <a:latin typeface="Calibri"/>
              </a:rPr>
              <a:t>▪ 2. Flexible Partial Dentures × Flexible Thermoplastics –</a:t>
            </a:r>
          </a:p>
        </p:txBody>
      </p:sp>
      <p:pic>
        <p:nvPicPr>
          <p:cNvPr id="39" name="Picture 38" descr="lock.png"/>
          <p:cNvPicPr>
            <a:picLocks noChangeAspect="1"/>
          </p:cNvPicPr>
          <p:nvPr/>
        </p:nvPicPr>
        <p:blipFill>
          <a:blip r:embed="rId4"/>
          <a:stretch>
            <a:fillRect/>
          </a:stretch>
        </p:blipFill>
        <p:spPr>
          <a:xfrm>
            <a:off x="3614803" y="4141914"/>
            <a:ext cx="134549" cy="195707"/>
          </a:xfrm>
          <a:prstGeom prst="rect">
            <a:avLst/>
          </a:prstGeom>
        </p:spPr>
      </p:pic>
      <p:sp>
        <p:nvSpPr>
          <p:cNvPr id="40" name="TextBox 39"/>
          <p:cNvSpPr txBox="1"/>
          <p:nvPr/>
        </p:nvSpPr>
        <p:spPr>
          <a:xfrm>
            <a:off x="3789912" y="41521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852064" y="4141914"/>
            <a:ext cx="134549" cy="195707"/>
          </a:xfrm>
          <a:prstGeom prst="rect">
            <a:avLst/>
          </a:prstGeom>
        </p:spPr>
      </p:pic>
      <p:sp>
        <p:nvSpPr>
          <p:cNvPr id="42" name="TextBox 41"/>
          <p:cNvSpPr txBox="1"/>
          <p:nvPr/>
        </p:nvSpPr>
        <p:spPr>
          <a:xfrm>
            <a:off x="4027173" y="41521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79975"/>
            <a:ext cx="4410347" cy="194310"/>
          </a:xfrm>
          <a:prstGeom prst="rect">
            <a:avLst/>
          </a:prstGeom>
          <a:noFill/>
        </p:spPr>
        <p:txBody>
          <a:bodyPr wrap="none" lIns="0" rIns="0" tIns="0" bIns="0">
            <a:spAutoFit/>
          </a:bodyPr>
          <a:lstStyle/>
          <a:p>
            <a:r>
              <a:rPr sz="1150" b="0">
                <a:solidFill>
                  <a:srgbClr val="2E2E2E"/>
                </a:solidFill>
                <a:latin typeface="Calibri"/>
              </a:rPr>
              <a:t>▪ 3. Combination Framework Partial Dentures × Flexible Thermoplastics –</a:t>
            </a:r>
          </a:p>
        </p:txBody>
      </p:sp>
      <p:pic>
        <p:nvPicPr>
          <p:cNvPr id="44" name="Picture 43" descr="lock.png"/>
          <p:cNvPicPr>
            <a:picLocks noChangeAspect="1"/>
          </p:cNvPicPr>
          <p:nvPr/>
        </p:nvPicPr>
        <p:blipFill>
          <a:blip r:embed="rId4"/>
          <a:stretch>
            <a:fillRect/>
          </a:stretch>
        </p:blipFill>
        <p:spPr>
          <a:xfrm>
            <a:off x="4635726" y="4369752"/>
            <a:ext cx="134549" cy="195707"/>
          </a:xfrm>
          <a:prstGeom prst="rect">
            <a:avLst/>
          </a:prstGeom>
        </p:spPr>
      </p:pic>
      <p:sp>
        <p:nvSpPr>
          <p:cNvPr id="45" name="TextBox 44"/>
          <p:cNvSpPr txBox="1"/>
          <p:nvPr/>
        </p:nvSpPr>
        <p:spPr>
          <a:xfrm>
            <a:off x="4810836" y="43799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872987" y="4369752"/>
            <a:ext cx="134549" cy="195707"/>
          </a:xfrm>
          <a:prstGeom prst="rect">
            <a:avLst/>
          </a:prstGeom>
        </p:spPr>
      </p:pic>
      <p:sp>
        <p:nvSpPr>
          <p:cNvPr id="47" name="TextBox 46"/>
          <p:cNvSpPr txBox="1"/>
          <p:nvPr/>
        </p:nvSpPr>
        <p:spPr>
          <a:xfrm>
            <a:off x="5048097" y="43799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607813"/>
            <a:ext cx="3573127" cy="194310"/>
          </a:xfrm>
          <a:prstGeom prst="rect">
            <a:avLst/>
          </a:prstGeom>
          <a:noFill/>
        </p:spPr>
        <p:txBody>
          <a:bodyPr wrap="none" lIns="0" rIns="0" tIns="0" bIns="0">
            <a:spAutoFit/>
          </a:bodyPr>
          <a:lstStyle/>
          <a:p>
            <a:r>
              <a:rPr sz="1150" b="0">
                <a:solidFill>
                  <a:srgbClr val="2E2E2E"/>
                </a:solidFill>
                <a:latin typeface="Calibri"/>
              </a:rPr>
              <a:t>▪ 4. Cast Metal Partial Dentures × Flexible Thermoplastics –</a:t>
            </a:r>
          </a:p>
        </p:txBody>
      </p:sp>
      <p:pic>
        <p:nvPicPr>
          <p:cNvPr id="49" name="Picture 48" descr="lock.png"/>
          <p:cNvPicPr>
            <a:picLocks noChangeAspect="1"/>
          </p:cNvPicPr>
          <p:nvPr/>
        </p:nvPicPr>
        <p:blipFill>
          <a:blip r:embed="rId4"/>
          <a:stretch>
            <a:fillRect/>
          </a:stretch>
        </p:blipFill>
        <p:spPr>
          <a:xfrm>
            <a:off x="3798506" y="4597590"/>
            <a:ext cx="134549" cy="195707"/>
          </a:xfrm>
          <a:prstGeom prst="rect">
            <a:avLst/>
          </a:prstGeom>
        </p:spPr>
      </p:pic>
      <p:sp>
        <p:nvSpPr>
          <p:cNvPr id="50" name="TextBox 49"/>
          <p:cNvSpPr txBox="1"/>
          <p:nvPr/>
        </p:nvSpPr>
        <p:spPr>
          <a:xfrm>
            <a:off x="3973615" y="46078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4035767" y="4597590"/>
            <a:ext cx="134549" cy="195707"/>
          </a:xfrm>
          <a:prstGeom prst="rect">
            <a:avLst/>
          </a:prstGeom>
        </p:spPr>
      </p:pic>
      <p:sp>
        <p:nvSpPr>
          <p:cNvPr id="52" name="TextBox 51"/>
          <p:cNvSpPr txBox="1"/>
          <p:nvPr/>
        </p:nvSpPr>
        <p:spPr>
          <a:xfrm>
            <a:off x="4210876" y="46078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835651"/>
            <a:ext cx="3850964" cy="194310"/>
          </a:xfrm>
          <a:prstGeom prst="rect">
            <a:avLst/>
          </a:prstGeom>
          <a:noFill/>
        </p:spPr>
        <p:txBody>
          <a:bodyPr wrap="none" lIns="0" rIns="0" tIns="0" bIns="0">
            <a:spAutoFit/>
          </a:bodyPr>
          <a:lstStyle/>
          <a:p>
            <a:r>
              <a:rPr sz="1150" b="0">
                <a:solidFill>
                  <a:srgbClr val="2E2E2E"/>
                </a:solidFill>
                <a:latin typeface="Calibri"/>
              </a:rPr>
              <a:t>▪ 5. Cast Metal Partial Dentures × High-performance Polymers –</a:t>
            </a:r>
          </a:p>
        </p:txBody>
      </p:sp>
      <p:pic>
        <p:nvPicPr>
          <p:cNvPr id="54" name="Picture 53" descr="lock.png"/>
          <p:cNvPicPr>
            <a:picLocks noChangeAspect="1"/>
          </p:cNvPicPr>
          <p:nvPr/>
        </p:nvPicPr>
        <p:blipFill>
          <a:blip r:embed="rId4"/>
          <a:stretch>
            <a:fillRect/>
          </a:stretch>
        </p:blipFill>
        <p:spPr>
          <a:xfrm>
            <a:off x="4076343" y="4825428"/>
            <a:ext cx="134549" cy="195707"/>
          </a:xfrm>
          <a:prstGeom prst="rect">
            <a:avLst/>
          </a:prstGeom>
        </p:spPr>
      </p:pic>
      <p:sp>
        <p:nvSpPr>
          <p:cNvPr id="55" name="TextBox 54"/>
          <p:cNvSpPr txBox="1"/>
          <p:nvPr/>
        </p:nvSpPr>
        <p:spPr>
          <a:xfrm>
            <a:off x="4251453" y="48356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313604" y="4825428"/>
            <a:ext cx="134549" cy="195707"/>
          </a:xfrm>
          <a:prstGeom prst="rect">
            <a:avLst/>
          </a:prstGeom>
        </p:spPr>
      </p:pic>
      <p:sp>
        <p:nvSpPr>
          <p:cNvPr id="57" name="TextBox 56"/>
          <p:cNvSpPr txBox="1"/>
          <p:nvPr/>
        </p:nvSpPr>
        <p:spPr>
          <a:xfrm>
            <a:off x="4488714" y="48356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59" name="TextBox 58"/>
          <p:cNvSpPr txBox="1"/>
          <p:nvPr/>
        </p:nvSpPr>
        <p:spPr>
          <a:xfrm>
            <a:off x="60293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0" name="TextBox 59"/>
          <p:cNvSpPr txBox="1"/>
          <p:nvPr/>
        </p:nvSpPr>
        <p:spPr>
          <a:xfrm>
            <a:off x="6029325" y="427482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4264596"/>
            <a:ext cx="134549" cy="195707"/>
          </a:xfrm>
          <a:prstGeom prst="rect">
            <a:avLst/>
          </a:prstGeom>
        </p:spPr>
      </p:pic>
      <p:sp>
        <p:nvSpPr>
          <p:cNvPr id="62" name="TextBox 61"/>
          <p:cNvSpPr txBox="1"/>
          <p:nvPr/>
        </p:nvSpPr>
        <p:spPr>
          <a:xfrm>
            <a:off x="6510192" y="427482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3" name="TextBox 62"/>
          <p:cNvSpPr txBox="1"/>
          <p:nvPr/>
        </p:nvSpPr>
        <p:spPr>
          <a:xfrm>
            <a:off x="6029325" y="445007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4439856"/>
            <a:ext cx="134549" cy="195707"/>
          </a:xfrm>
          <a:prstGeom prst="rect">
            <a:avLst/>
          </a:prstGeom>
        </p:spPr>
      </p:pic>
      <p:sp>
        <p:nvSpPr>
          <p:cNvPr id="65" name="TextBox 64"/>
          <p:cNvSpPr txBox="1"/>
          <p:nvPr/>
        </p:nvSpPr>
        <p:spPr>
          <a:xfrm>
            <a:off x="6302527" y="445007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6" name="TextBox 65"/>
          <p:cNvSpPr txBox="1"/>
          <p:nvPr/>
        </p:nvSpPr>
        <p:spPr>
          <a:xfrm>
            <a:off x="6029325" y="462533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7" name="TextBox 66"/>
          <p:cNvSpPr txBox="1"/>
          <p:nvPr/>
        </p:nvSpPr>
        <p:spPr>
          <a:xfrm>
            <a:off x="81248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8" name="TextBox 67"/>
          <p:cNvSpPr txBox="1"/>
          <p:nvPr/>
        </p:nvSpPr>
        <p:spPr>
          <a:xfrm>
            <a:off x="81248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9" name="TextBox 68"/>
          <p:cNvSpPr txBox="1"/>
          <p:nvPr/>
        </p:nvSpPr>
        <p:spPr>
          <a:xfrm>
            <a:off x="8124825" y="4274820"/>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4264596"/>
            <a:ext cx="134549" cy="195707"/>
          </a:xfrm>
          <a:prstGeom prst="rect">
            <a:avLst/>
          </a:prstGeom>
        </p:spPr>
      </p:pic>
      <p:sp>
        <p:nvSpPr>
          <p:cNvPr id="71" name="TextBox 70"/>
          <p:cNvSpPr txBox="1"/>
          <p:nvPr/>
        </p:nvSpPr>
        <p:spPr>
          <a:xfrm>
            <a:off x="8938584" y="427482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4264596"/>
            <a:ext cx="134549" cy="195707"/>
          </a:xfrm>
          <a:prstGeom prst="rect">
            <a:avLst/>
          </a:prstGeom>
        </p:spPr>
      </p:pic>
      <p:sp>
        <p:nvSpPr>
          <p:cNvPr id="73" name="TextBox 72"/>
          <p:cNvSpPr txBox="1"/>
          <p:nvPr/>
        </p:nvSpPr>
        <p:spPr>
          <a:xfrm>
            <a:off x="8124825" y="445007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4" name="TextBox 73"/>
          <p:cNvSpPr txBox="1"/>
          <p:nvPr/>
        </p:nvSpPr>
        <p:spPr>
          <a:xfrm>
            <a:off x="8124825" y="462533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Technology, 2026E and 2036F (US$ Mn)</a:t>
            </a:r>
          </a:p>
        </p:txBody>
      </p:sp>
      <p:graphicFrame>
        <p:nvGraphicFramePr>
          <p:cNvPr id="13" name="Table 12"/>
          <p:cNvGraphicFramePr>
            <a:graphicFrameLocks noGrp="1"/>
          </p:cNvGraphicFramePr>
          <p:nvPr/>
        </p:nvGraphicFramePr>
        <p:xfrm>
          <a:off x="152400" y="1238250"/>
          <a:ext cx="11887202" cy="1724028"/>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762089" y="2079785"/>
            <a:ext cx="366712" cy="533400"/>
          </a:xfrm>
          <a:prstGeom prst="rect">
            <a:avLst/>
          </a:prstGeom>
        </p:spPr>
      </p:pic>
      <p:sp>
        <p:nvSpPr>
          <p:cNvPr id="21" name="TextBox 20"/>
          <p:cNvSpPr txBox="1"/>
          <p:nvPr/>
        </p:nvSpPr>
        <p:spPr>
          <a:xfrm>
            <a:off x="276225" y="3724275"/>
            <a:ext cx="9848143"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global removable partial dentures market, led by conventional fabrication at US$</a:t>
            </a:r>
          </a:p>
        </p:txBody>
      </p:sp>
      <p:pic>
        <p:nvPicPr>
          <p:cNvPr id="22" name="Picture 21" descr="lock.png"/>
          <p:cNvPicPr>
            <a:picLocks noChangeAspect="1"/>
          </p:cNvPicPr>
          <p:nvPr/>
        </p:nvPicPr>
        <p:blipFill>
          <a:blip r:embed="rId4"/>
          <a:stretch>
            <a:fillRect/>
          </a:stretch>
        </p:blipFill>
        <p:spPr>
          <a:xfrm>
            <a:off x="10073522" y="3714051"/>
            <a:ext cx="134549" cy="195707"/>
          </a:xfrm>
          <a:prstGeom prst="rect">
            <a:avLst/>
          </a:prstGeom>
        </p:spPr>
      </p:pic>
      <p:sp>
        <p:nvSpPr>
          <p:cNvPr id="23" name="TextBox 22"/>
          <p:cNvSpPr txBox="1"/>
          <p:nvPr/>
        </p:nvSpPr>
        <p:spPr>
          <a:xfrm>
            <a:off x="10248631" y="3724275"/>
            <a:ext cx="1490488" cy="194310"/>
          </a:xfrm>
          <a:prstGeom prst="rect">
            <a:avLst/>
          </a:prstGeom>
          <a:noFill/>
        </p:spPr>
        <p:txBody>
          <a:bodyPr wrap="none" lIns="0" rIns="0" tIns="0" bIns="0">
            <a:spAutoFit/>
          </a:bodyPr>
          <a:lstStyle/>
          <a:p>
            <a:r>
              <a:rPr sz="1150" b="0">
                <a:solidFill>
                  <a:srgbClr val="2E2E2E"/>
                </a:solidFill>
                <a:latin typeface="Calibri"/>
              </a:rPr>
              <a:t>Mn in 2036. 'Cast Metal</a:t>
            </a:r>
          </a:p>
        </p:txBody>
      </p:sp>
      <p:sp>
        <p:nvSpPr>
          <p:cNvPr id="24" name="TextBox 23"/>
          <p:cNvSpPr txBox="1"/>
          <p:nvPr/>
        </p:nvSpPr>
        <p:spPr>
          <a:xfrm>
            <a:off x="276225" y="3899535"/>
            <a:ext cx="5088333" cy="194310"/>
          </a:xfrm>
          <a:prstGeom prst="rect">
            <a:avLst/>
          </a:prstGeom>
          <a:noFill/>
        </p:spPr>
        <p:txBody>
          <a:bodyPr wrap="none" lIns="0" rIns="0" tIns="0" bIns="0">
            <a:spAutoFit/>
          </a:bodyPr>
          <a:lstStyle/>
          <a:p>
            <a:r>
              <a:rPr sz="1150" b="0">
                <a:solidFill>
                  <a:srgbClr val="2E2E2E"/>
                </a:solidFill>
                <a:latin typeface="Calibri"/>
              </a:rPr>
              <a:t>Partial Dentures × Conventional Fabrication' is the single largest cross-sectional cell (</a:t>
            </a:r>
          </a:p>
        </p:txBody>
      </p:sp>
      <p:pic>
        <p:nvPicPr>
          <p:cNvPr id="25" name="Picture 24" descr="lock.png"/>
          <p:cNvPicPr>
            <a:picLocks noChangeAspect="1"/>
          </p:cNvPicPr>
          <p:nvPr/>
        </p:nvPicPr>
        <p:blipFill>
          <a:blip r:embed="rId4"/>
          <a:stretch>
            <a:fillRect/>
          </a:stretch>
        </p:blipFill>
        <p:spPr>
          <a:xfrm>
            <a:off x="5313712" y="3889311"/>
            <a:ext cx="134549" cy="195707"/>
          </a:xfrm>
          <a:prstGeom prst="rect">
            <a:avLst/>
          </a:prstGeom>
        </p:spPr>
      </p:pic>
      <p:sp>
        <p:nvSpPr>
          <p:cNvPr id="26" name="TextBox 25"/>
          <p:cNvSpPr txBox="1"/>
          <p:nvPr/>
        </p:nvSpPr>
        <p:spPr>
          <a:xfrm>
            <a:off x="5488822" y="3899535"/>
            <a:ext cx="6389377"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Conventional Fabrication' records the fastest growth at a</a:t>
            </a:r>
          </a:p>
        </p:txBody>
      </p:sp>
      <p:sp>
        <p:nvSpPr>
          <p:cNvPr id="27" name="TextBox 26"/>
          <p:cNvSpPr txBox="1"/>
          <p:nvPr/>
        </p:nvSpPr>
        <p:spPr>
          <a:xfrm>
            <a:off x="276225" y="4074794"/>
            <a:ext cx="2061050" cy="194310"/>
          </a:xfrm>
          <a:prstGeom prst="rect">
            <a:avLst/>
          </a:prstGeom>
          <a:noFill/>
        </p:spPr>
        <p:txBody>
          <a:bodyPr wrap="none" lIns="0" rIns="0" tIns="0" bIns="0">
            <a:spAutoFit/>
          </a:bodyPr>
          <a:lstStyle/>
          <a:p>
            <a:r>
              <a:rPr sz="1150" b="0">
                <a:solidFill>
                  <a:srgbClr val="2E2E2E"/>
                </a:solidFill>
                <a:latin typeface="Calibri"/>
              </a:rPr>
              <a:t>CAGR of 4.4% over 2026E–2036F.</a:t>
            </a:r>
          </a:p>
        </p:txBody>
      </p:sp>
      <p:sp>
        <p:nvSpPr>
          <p:cNvPr id="28" name="TextBox 27"/>
          <p:cNvSpPr txBox="1"/>
          <p:nvPr/>
        </p:nvSpPr>
        <p:spPr>
          <a:xfrm>
            <a:off x="276225" y="4302632"/>
            <a:ext cx="5732214" cy="194310"/>
          </a:xfrm>
          <a:prstGeom prst="rect">
            <a:avLst/>
          </a:prstGeom>
          <a:noFill/>
        </p:spPr>
        <p:txBody>
          <a:bodyPr wrap="none" lIns="0" rIns="0" tIns="0" bIns="0">
            <a:spAutoFit/>
          </a:bodyPr>
          <a:lstStyle/>
          <a:p>
            <a:r>
              <a:rPr sz="1150" b="0">
                <a:solidFill>
                  <a:srgbClr val="2E2E2E"/>
                </a:solidFill>
                <a:latin typeface="Calibri"/>
              </a:rPr>
              <a:t>Combined, the top three product type × technology cells generate an absolute $ opportunity of</a:t>
            </a:r>
          </a:p>
        </p:txBody>
      </p:sp>
      <p:pic>
        <p:nvPicPr>
          <p:cNvPr id="29" name="Picture 28" descr="lock.png"/>
          <p:cNvPicPr>
            <a:picLocks noChangeAspect="1"/>
          </p:cNvPicPr>
          <p:nvPr/>
        </p:nvPicPr>
        <p:blipFill>
          <a:blip r:embed="rId4"/>
          <a:stretch>
            <a:fillRect/>
          </a:stretch>
        </p:blipFill>
        <p:spPr>
          <a:xfrm>
            <a:off x="5957593" y="4292409"/>
            <a:ext cx="134549" cy="195707"/>
          </a:xfrm>
          <a:prstGeom prst="rect">
            <a:avLst/>
          </a:prstGeom>
        </p:spPr>
      </p:pic>
      <p:sp>
        <p:nvSpPr>
          <p:cNvPr id="30" name="TextBox 29"/>
          <p:cNvSpPr txBox="1"/>
          <p:nvPr/>
        </p:nvSpPr>
        <p:spPr>
          <a:xfrm>
            <a:off x="6132702" y="43026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Technology, 2026E (% of each row)</a:t>
            </a:r>
          </a:p>
        </p:txBody>
      </p:sp>
      <p:graphicFrame>
        <p:nvGraphicFramePr>
          <p:cNvPr id="13" name="Table 12"/>
          <p:cNvGraphicFramePr>
            <a:graphicFrameLocks noGrp="1"/>
          </p:cNvGraphicFramePr>
          <p:nvPr/>
        </p:nvGraphicFramePr>
        <p:xfrm>
          <a:off x="152400" y="1238250"/>
          <a:ext cx="11887200" cy="1924050"/>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309">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7286625"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623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790950"/>
          <a:ext cx="7096125" cy="27813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505200"/>
            <a:ext cx="4457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5909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8290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914775"/>
            <a:ext cx="4191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1" y="2276792"/>
            <a:ext cx="366712" cy="533400"/>
          </a:xfrm>
          <a:prstGeom prst="rect">
            <a:avLst/>
          </a:prstGeom>
        </p:spPr>
      </p:pic>
      <p:pic>
        <p:nvPicPr>
          <p:cNvPr id="24" name="Picture 23" descr="lock.png"/>
          <p:cNvPicPr>
            <a:picLocks noChangeAspect="1"/>
          </p:cNvPicPr>
          <p:nvPr/>
        </p:nvPicPr>
        <p:blipFill>
          <a:blip r:embed="rId5"/>
          <a:stretch>
            <a:fillRect/>
          </a:stretch>
        </p:blipFill>
        <p:spPr>
          <a:xfrm>
            <a:off x="3747745" y="4372085"/>
            <a:ext cx="365513" cy="531655"/>
          </a:xfrm>
          <a:prstGeom prst="rect">
            <a:avLst/>
          </a:prstGeom>
        </p:spPr>
      </p:pic>
      <p:sp>
        <p:nvSpPr>
          <p:cNvPr id="25" name="TextBox 24"/>
          <p:cNvSpPr txBox="1"/>
          <p:nvPr/>
        </p:nvSpPr>
        <p:spPr>
          <a:xfrm>
            <a:off x="7715250" y="3924300"/>
            <a:ext cx="4003513" cy="194310"/>
          </a:xfrm>
          <a:prstGeom prst="rect">
            <a:avLst/>
          </a:prstGeom>
          <a:noFill/>
        </p:spPr>
        <p:txBody>
          <a:bodyPr wrap="none" lIns="0" rIns="0" tIns="0" bIns="0">
            <a:spAutoFit/>
          </a:bodyPr>
          <a:lstStyle/>
          <a:p>
            <a:r>
              <a:rPr sz="1150" b="0">
                <a:solidFill>
                  <a:srgbClr val="2E2E2E"/>
                </a:solidFill>
                <a:latin typeface="Calibri"/>
              </a:rPr>
              <a:t>▪ 'Hybrid Digital Fabrication' holds the highest share of 'Cast Metal</a:t>
            </a:r>
          </a:p>
        </p:txBody>
      </p:sp>
      <p:sp>
        <p:nvSpPr>
          <p:cNvPr id="26" name="TextBox 25"/>
          <p:cNvSpPr txBox="1"/>
          <p:nvPr/>
        </p:nvSpPr>
        <p:spPr>
          <a:xfrm>
            <a:off x="7715250" y="4099560"/>
            <a:ext cx="1222350" cy="194310"/>
          </a:xfrm>
          <a:prstGeom prst="rect">
            <a:avLst/>
          </a:prstGeom>
          <a:noFill/>
        </p:spPr>
        <p:txBody>
          <a:bodyPr wrap="none" lIns="0" rIns="0" tIns="0" bIns="0">
            <a:spAutoFit/>
          </a:bodyPr>
          <a:lstStyle/>
          <a:p>
            <a:r>
              <a:rPr sz="1150" b="0">
                <a:solidFill>
                  <a:srgbClr val="2E2E2E"/>
                </a:solidFill>
                <a:latin typeface="Calibri"/>
              </a:rPr>
              <a:t>Partial Dentures' at</a:t>
            </a:r>
          </a:p>
        </p:txBody>
      </p:sp>
      <p:pic>
        <p:nvPicPr>
          <p:cNvPr id="27" name="Picture 26" descr="lock.png"/>
          <p:cNvPicPr>
            <a:picLocks noChangeAspect="1"/>
          </p:cNvPicPr>
          <p:nvPr/>
        </p:nvPicPr>
        <p:blipFill>
          <a:blip r:embed="rId5"/>
          <a:stretch>
            <a:fillRect/>
          </a:stretch>
        </p:blipFill>
        <p:spPr>
          <a:xfrm>
            <a:off x="8886754" y="4089336"/>
            <a:ext cx="134549" cy="195707"/>
          </a:xfrm>
          <a:prstGeom prst="rect">
            <a:avLst/>
          </a:prstGeom>
        </p:spPr>
      </p:pic>
      <p:sp>
        <p:nvSpPr>
          <p:cNvPr id="28" name="TextBox 27"/>
          <p:cNvSpPr txBox="1"/>
          <p:nvPr/>
        </p:nvSpPr>
        <p:spPr>
          <a:xfrm>
            <a:off x="9061863" y="40995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327397"/>
            <a:ext cx="4171950" cy="194310"/>
          </a:xfrm>
          <a:prstGeom prst="rect">
            <a:avLst/>
          </a:prstGeom>
          <a:noFill/>
        </p:spPr>
        <p:txBody>
          <a:bodyPr wrap="none" lIns="0" rIns="0" tIns="0" bIns="0">
            <a:spAutoFit/>
          </a:bodyPr>
          <a:lstStyle/>
          <a:p>
            <a:r>
              <a:rPr sz="1150" b="0">
                <a:solidFill>
                  <a:srgbClr val="2E2E2E"/>
                </a:solidFill>
                <a:latin typeface="Calibri"/>
              </a:rPr>
              <a:t>▪ 'Cast Metal Partial Dentures' is the most concentrated product type</a:t>
            </a:r>
          </a:p>
        </p:txBody>
      </p:sp>
      <p:sp>
        <p:nvSpPr>
          <p:cNvPr id="30" name="TextBox 29"/>
          <p:cNvSpPr txBox="1"/>
          <p:nvPr/>
        </p:nvSpPr>
        <p:spPr>
          <a:xfrm>
            <a:off x="7715250" y="45026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492434"/>
            <a:ext cx="134549" cy="195707"/>
          </a:xfrm>
          <a:prstGeom prst="rect">
            <a:avLst/>
          </a:prstGeom>
        </p:spPr>
      </p:pic>
      <p:sp>
        <p:nvSpPr>
          <p:cNvPr id="32" name="TextBox 31"/>
          <p:cNvSpPr txBox="1"/>
          <p:nvPr/>
        </p:nvSpPr>
        <p:spPr>
          <a:xfrm>
            <a:off x="9018219" y="4502657"/>
            <a:ext cx="2566118" cy="194310"/>
          </a:xfrm>
          <a:prstGeom prst="rect">
            <a:avLst/>
          </a:prstGeom>
          <a:noFill/>
        </p:spPr>
        <p:txBody>
          <a:bodyPr wrap="none" lIns="0" rIns="0" tIns="0" bIns="0">
            <a:spAutoFit/>
          </a:bodyPr>
          <a:lstStyle/>
          <a:p>
            <a:r>
              <a:rPr sz="1150" b="0">
                <a:solidFill>
                  <a:srgbClr val="2E2E2E"/>
                </a:solidFill>
                <a:latin typeface="Calibri"/>
              </a:rPr>
              <a:t>of its value via 'Hybrid Digital Fabrication'.</a:t>
            </a:r>
          </a:p>
        </p:txBody>
      </p:sp>
      <p:sp>
        <p:nvSpPr>
          <p:cNvPr id="33" name="TextBox 32"/>
          <p:cNvSpPr txBox="1"/>
          <p:nvPr/>
        </p:nvSpPr>
        <p:spPr>
          <a:xfrm>
            <a:off x="7715250" y="4730495"/>
            <a:ext cx="1486780" cy="194310"/>
          </a:xfrm>
          <a:prstGeom prst="rect">
            <a:avLst/>
          </a:prstGeom>
          <a:noFill/>
        </p:spPr>
        <p:txBody>
          <a:bodyPr wrap="none" lIns="0" rIns="0" tIns="0" bIns="0">
            <a:spAutoFit/>
          </a:bodyPr>
          <a:lstStyle/>
          <a:p>
            <a:r>
              <a:rPr sz="1150" b="0">
                <a:solidFill>
                  <a:srgbClr val="2E2E2E"/>
                </a:solidFill>
                <a:latin typeface="Calibri"/>
              </a:rPr>
              <a:t>▪ 'Metal Casting' gains +</a:t>
            </a:r>
          </a:p>
        </p:txBody>
      </p:sp>
      <p:pic>
        <p:nvPicPr>
          <p:cNvPr id="34" name="Picture 33" descr="lock.png"/>
          <p:cNvPicPr>
            <a:picLocks noChangeAspect="1"/>
          </p:cNvPicPr>
          <p:nvPr/>
        </p:nvPicPr>
        <p:blipFill>
          <a:blip r:embed="rId5"/>
          <a:stretch>
            <a:fillRect/>
          </a:stretch>
        </p:blipFill>
        <p:spPr>
          <a:xfrm>
            <a:off x="9151184" y="4720272"/>
            <a:ext cx="134549" cy="195707"/>
          </a:xfrm>
          <a:prstGeom prst="rect">
            <a:avLst/>
          </a:prstGeom>
        </p:spPr>
      </p:pic>
      <p:sp>
        <p:nvSpPr>
          <p:cNvPr id="35" name="TextBox 34"/>
          <p:cNvSpPr txBox="1"/>
          <p:nvPr/>
        </p:nvSpPr>
        <p:spPr>
          <a:xfrm>
            <a:off x="9326293" y="4730495"/>
            <a:ext cx="2426121" cy="194310"/>
          </a:xfrm>
          <a:prstGeom prst="rect">
            <a:avLst/>
          </a:prstGeom>
          <a:noFill/>
        </p:spPr>
        <p:txBody>
          <a:bodyPr wrap="none" lIns="0" rIns="0" tIns="0" bIns="0">
            <a:spAutoFit/>
          </a:bodyPr>
          <a:lstStyle/>
          <a:p>
            <a:r>
              <a:rPr sz="1150" b="0">
                <a:solidFill>
                  <a:srgbClr val="2E2E2E"/>
                </a:solidFill>
                <a:latin typeface="Calibri"/>
              </a:rPr>
              <a:t>BPS of share of the Global cross-section</a:t>
            </a:r>
          </a:p>
        </p:txBody>
      </p:sp>
      <p:sp>
        <p:nvSpPr>
          <p:cNvPr id="36" name="TextBox 35"/>
          <p:cNvSpPr txBox="1"/>
          <p:nvPr/>
        </p:nvSpPr>
        <p:spPr>
          <a:xfrm>
            <a:off x="7715250" y="4905755"/>
            <a:ext cx="652484" cy="194310"/>
          </a:xfrm>
          <a:prstGeom prst="rect">
            <a:avLst/>
          </a:prstGeom>
          <a:noFill/>
        </p:spPr>
        <p:txBody>
          <a:bodyPr wrap="none" lIns="0" rIns="0" tIns="0" bIns="0">
            <a:spAutoFit/>
          </a:bodyPr>
          <a:lstStyle/>
          <a:p>
            <a:r>
              <a:rPr sz="1150" b="0">
                <a:solidFill>
                  <a:srgbClr val="2E2E2E"/>
                </a:solidFill>
                <a:latin typeface="Calibri"/>
              </a:rPr>
              <a:t>by 2036F.</a:t>
            </a:r>
          </a:p>
        </p:txBody>
      </p:sp>
      <p:sp>
        <p:nvSpPr>
          <p:cNvPr id="37" name="lockshield_17"/>
          <p:cNvSpPr/>
          <p:nvPr/>
        </p:nvSpPr>
        <p:spPr>
          <a:xfrm>
            <a:off x="238125" y="3790950"/>
            <a:ext cx="7096125" cy="27813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560070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6290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53340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8451757" y="2079785"/>
            <a:ext cx="366712" cy="533400"/>
          </a:xfrm>
          <a:prstGeom prst="rect">
            <a:avLst/>
          </a:prstGeom>
        </p:spPr>
      </p:pic>
      <p:sp>
        <p:nvSpPr>
          <p:cNvPr id="33" name="TextBox 32"/>
          <p:cNvSpPr txBox="1"/>
          <p:nvPr/>
        </p:nvSpPr>
        <p:spPr>
          <a:xfrm>
            <a:off x="276225" y="3724275"/>
            <a:ext cx="3424162" cy="194310"/>
          </a:xfrm>
          <a:prstGeom prst="rect">
            <a:avLst/>
          </a:prstGeom>
          <a:noFill/>
        </p:spPr>
        <p:txBody>
          <a:bodyPr wrap="none" lIns="0" rIns="0" tIns="0" bIns="0">
            <a:spAutoFit/>
          </a:bodyPr>
          <a:lstStyle/>
          <a:p>
            <a:r>
              <a:rPr sz="1150" b="0">
                <a:solidFill>
                  <a:srgbClr val="2E2E2E"/>
                </a:solidFill>
                <a:latin typeface="Calibri"/>
              </a:rPr>
              <a:t>▪ 1. Acrylic Partial Dentures × Conventional Fabrication –</a:t>
            </a:r>
          </a:p>
        </p:txBody>
      </p:sp>
      <p:pic>
        <p:nvPicPr>
          <p:cNvPr id="34" name="Picture 33" descr="lock.png"/>
          <p:cNvPicPr>
            <a:picLocks noChangeAspect="1"/>
          </p:cNvPicPr>
          <p:nvPr/>
        </p:nvPicPr>
        <p:blipFill>
          <a:blip r:embed="rId4"/>
          <a:stretch>
            <a:fillRect/>
          </a:stretch>
        </p:blipFill>
        <p:spPr>
          <a:xfrm>
            <a:off x="3649541" y="3714051"/>
            <a:ext cx="134549" cy="195707"/>
          </a:xfrm>
          <a:prstGeom prst="rect">
            <a:avLst/>
          </a:prstGeom>
        </p:spPr>
      </p:pic>
      <p:sp>
        <p:nvSpPr>
          <p:cNvPr id="35" name="TextBox 34"/>
          <p:cNvSpPr txBox="1"/>
          <p:nvPr/>
        </p:nvSpPr>
        <p:spPr>
          <a:xfrm>
            <a:off x="3824650" y="37242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86802" y="3714051"/>
            <a:ext cx="134549" cy="195707"/>
          </a:xfrm>
          <a:prstGeom prst="rect">
            <a:avLst/>
          </a:prstGeom>
        </p:spPr>
      </p:pic>
      <p:sp>
        <p:nvSpPr>
          <p:cNvPr id="37" name="TextBox 36"/>
          <p:cNvSpPr txBox="1"/>
          <p:nvPr/>
        </p:nvSpPr>
        <p:spPr>
          <a:xfrm>
            <a:off x="4061911" y="37242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952112"/>
            <a:ext cx="3484921" cy="194310"/>
          </a:xfrm>
          <a:prstGeom prst="rect">
            <a:avLst/>
          </a:prstGeom>
          <a:noFill/>
        </p:spPr>
        <p:txBody>
          <a:bodyPr wrap="none" lIns="0" rIns="0" tIns="0" bIns="0">
            <a:spAutoFit/>
          </a:bodyPr>
          <a:lstStyle/>
          <a:p>
            <a:r>
              <a:rPr sz="1150" b="0">
                <a:solidFill>
                  <a:srgbClr val="2E2E2E"/>
                </a:solidFill>
                <a:latin typeface="Calibri"/>
              </a:rPr>
              <a:t>▪ 2. Flexible Partial Dentures × Conventional Fabrication –</a:t>
            </a:r>
          </a:p>
        </p:txBody>
      </p:sp>
      <p:pic>
        <p:nvPicPr>
          <p:cNvPr id="39" name="Picture 38" descr="lock.png"/>
          <p:cNvPicPr>
            <a:picLocks noChangeAspect="1"/>
          </p:cNvPicPr>
          <p:nvPr/>
        </p:nvPicPr>
        <p:blipFill>
          <a:blip r:embed="rId4"/>
          <a:stretch>
            <a:fillRect/>
          </a:stretch>
        </p:blipFill>
        <p:spPr>
          <a:xfrm>
            <a:off x="3710300" y="3941889"/>
            <a:ext cx="134549" cy="195707"/>
          </a:xfrm>
          <a:prstGeom prst="rect">
            <a:avLst/>
          </a:prstGeom>
        </p:spPr>
      </p:pic>
      <p:sp>
        <p:nvSpPr>
          <p:cNvPr id="40" name="TextBox 39"/>
          <p:cNvSpPr txBox="1"/>
          <p:nvPr/>
        </p:nvSpPr>
        <p:spPr>
          <a:xfrm>
            <a:off x="3885409" y="3952112"/>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47561" y="3941889"/>
            <a:ext cx="134549" cy="195707"/>
          </a:xfrm>
          <a:prstGeom prst="rect">
            <a:avLst/>
          </a:prstGeom>
        </p:spPr>
      </p:pic>
      <p:sp>
        <p:nvSpPr>
          <p:cNvPr id="42" name="TextBox 41"/>
          <p:cNvSpPr txBox="1"/>
          <p:nvPr/>
        </p:nvSpPr>
        <p:spPr>
          <a:xfrm>
            <a:off x="4122670" y="3952112"/>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179950"/>
            <a:ext cx="4505845" cy="194310"/>
          </a:xfrm>
          <a:prstGeom prst="rect">
            <a:avLst/>
          </a:prstGeom>
          <a:noFill/>
        </p:spPr>
        <p:txBody>
          <a:bodyPr wrap="none" lIns="0" rIns="0" tIns="0" bIns="0">
            <a:spAutoFit/>
          </a:bodyPr>
          <a:lstStyle/>
          <a:p>
            <a:r>
              <a:rPr sz="1150" b="0">
                <a:solidFill>
                  <a:srgbClr val="2E2E2E"/>
                </a:solidFill>
                <a:latin typeface="Calibri"/>
              </a:rPr>
              <a:t>▪ 3. Combination Framework Partial Dentures × Conventional Fabrication –</a:t>
            </a:r>
          </a:p>
        </p:txBody>
      </p:sp>
      <p:pic>
        <p:nvPicPr>
          <p:cNvPr id="44" name="Picture 43" descr="lock.png"/>
          <p:cNvPicPr>
            <a:picLocks noChangeAspect="1"/>
          </p:cNvPicPr>
          <p:nvPr/>
        </p:nvPicPr>
        <p:blipFill>
          <a:blip r:embed="rId4"/>
          <a:stretch>
            <a:fillRect/>
          </a:stretch>
        </p:blipFill>
        <p:spPr>
          <a:xfrm>
            <a:off x="4731224" y="4169727"/>
            <a:ext cx="134549" cy="195707"/>
          </a:xfrm>
          <a:prstGeom prst="rect">
            <a:avLst/>
          </a:prstGeom>
        </p:spPr>
      </p:pic>
      <p:sp>
        <p:nvSpPr>
          <p:cNvPr id="45" name="TextBox 44"/>
          <p:cNvSpPr txBox="1"/>
          <p:nvPr/>
        </p:nvSpPr>
        <p:spPr>
          <a:xfrm>
            <a:off x="4906333"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968485" y="4169727"/>
            <a:ext cx="134549" cy="195707"/>
          </a:xfrm>
          <a:prstGeom prst="rect">
            <a:avLst/>
          </a:prstGeom>
        </p:spPr>
      </p:pic>
      <p:sp>
        <p:nvSpPr>
          <p:cNvPr id="47" name="TextBox 46"/>
          <p:cNvSpPr txBox="1"/>
          <p:nvPr/>
        </p:nvSpPr>
        <p:spPr>
          <a:xfrm>
            <a:off x="5143594"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8" name="TextBox 47"/>
          <p:cNvSpPr txBox="1"/>
          <p:nvPr/>
        </p:nvSpPr>
        <p:spPr>
          <a:xfrm>
            <a:off x="276225" y="4355210"/>
            <a:ext cx="281012" cy="194310"/>
          </a:xfrm>
          <a:prstGeom prst="rect">
            <a:avLst/>
          </a:prstGeom>
          <a:noFill/>
        </p:spPr>
        <p:txBody>
          <a:bodyPr wrap="none" lIns="0" rIns="0" tIns="0" bIns="0">
            <a:spAutoFit/>
          </a:bodyPr>
          <a:lstStyle/>
          <a:p>
            <a:r>
              <a:rPr sz="1150" b="0">
                <a:solidFill>
                  <a:srgbClr val="2E2E2E"/>
                </a:solidFill>
                <a:latin typeface="Calibri"/>
              </a:rPr>
              <a:t>5/5</a:t>
            </a:r>
          </a:p>
        </p:txBody>
      </p:sp>
      <p:sp>
        <p:nvSpPr>
          <p:cNvPr id="49" name="TextBox 48"/>
          <p:cNvSpPr txBox="1"/>
          <p:nvPr/>
        </p:nvSpPr>
        <p:spPr>
          <a:xfrm>
            <a:off x="276225" y="4583048"/>
            <a:ext cx="3668625" cy="194310"/>
          </a:xfrm>
          <a:prstGeom prst="rect">
            <a:avLst/>
          </a:prstGeom>
          <a:noFill/>
        </p:spPr>
        <p:txBody>
          <a:bodyPr wrap="none" lIns="0" rIns="0" tIns="0" bIns="0">
            <a:spAutoFit/>
          </a:bodyPr>
          <a:lstStyle/>
          <a:p>
            <a:r>
              <a:rPr sz="1150" b="0">
                <a:solidFill>
                  <a:srgbClr val="2E2E2E"/>
                </a:solidFill>
                <a:latin typeface="Calibri"/>
              </a:rPr>
              <a:t>▪ 4. Cast Metal Partial Dentures × Conventional Fabrication –</a:t>
            </a:r>
          </a:p>
        </p:txBody>
      </p:sp>
      <p:pic>
        <p:nvPicPr>
          <p:cNvPr id="50" name="Picture 49" descr="lock.png"/>
          <p:cNvPicPr>
            <a:picLocks noChangeAspect="1"/>
          </p:cNvPicPr>
          <p:nvPr/>
        </p:nvPicPr>
        <p:blipFill>
          <a:blip r:embed="rId4"/>
          <a:stretch>
            <a:fillRect/>
          </a:stretch>
        </p:blipFill>
        <p:spPr>
          <a:xfrm>
            <a:off x="3894004" y="4572825"/>
            <a:ext cx="134549" cy="195707"/>
          </a:xfrm>
          <a:prstGeom prst="rect">
            <a:avLst/>
          </a:prstGeom>
        </p:spPr>
      </p:pic>
      <p:sp>
        <p:nvSpPr>
          <p:cNvPr id="51" name="TextBox 50"/>
          <p:cNvSpPr txBox="1"/>
          <p:nvPr/>
        </p:nvSpPr>
        <p:spPr>
          <a:xfrm>
            <a:off x="4069113" y="458304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2" name="Picture 51" descr="lock.png"/>
          <p:cNvPicPr>
            <a:picLocks noChangeAspect="1"/>
          </p:cNvPicPr>
          <p:nvPr/>
        </p:nvPicPr>
        <p:blipFill>
          <a:blip r:embed="rId4"/>
          <a:stretch>
            <a:fillRect/>
          </a:stretch>
        </p:blipFill>
        <p:spPr>
          <a:xfrm>
            <a:off x="4131265" y="4572825"/>
            <a:ext cx="134549" cy="195707"/>
          </a:xfrm>
          <a:prstGeom prst="rect">
            <a:avLst/>
          </a:prstGeom>
        </p:spPr>
      </p:pic>
      <p:sp>
        <p:nvSpPr>
          <p:cNvPr id="53" name="TextBox 52"/>
          <p:cNvSpPr txBox="1"/>
          <p:nvPr/>
        </p:nvSpPr>
        <p:spPr>
          <a:xfrm>
            <a:off x="4306374" y="4583048"/>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4" name="TextBox 53"/>
          <p:cNvSpPr txBox="1"/>
          <p:nvPr/>
        </p:nvSpPr>
        <p:spPr>
          <a:xfrm>
            <a:off x="276225" y="4810886"/>
            <a:ext cx="3076438" cy="194310"/>
          </a:xfrm>
          <a:prstGeom prst="rect">
            <a:avLst/>
          </a:prstGeom>
          <a:noFill/>
        </p:spPr>
        <p:txBody>
          <a:bodyPr wrap="none" lIns="0" rIns="0" tIns="0" bIns="0">
            <a:spAutoFit/>
          </a:bodyPr>
          <a:lstStyle/>
          <a:p>
            <a:r>
              <a:rPr sz="1150" b="0">
                <a:solidFill>
                  <a:srgbClr val="2E2E2E"/>
                </a:solidFill>
                <a:latin typeface="Calibri"/>
              </a:rPr>
              <a:t>▪ 5. Flexible Partial Dentures × Digital Fabrication –</a:t>
            </a:r>
          </a:p>
        </p:txBody>
      </p:sp>
      <p:pic>
        <p:nvPicPr>
          <p:cNvPr id="55" name="Picture 54" descr="lock.png"/>
          <p:cNvPicPr>
            <a:picLocks noChangeAspect="1"/>
          </p:cNvPicPr>
          <p:nvPr/>
        </p:nvPicPr>
        <p:blipFill>
          <a:blip r:embed="rId4"/>
          <a:stretch>
            <a:fillRect/>
          </a:stretch>
        </p:blipFill>
        <p:spPr>
          <a:xfrm>
            <a:off x="3301817" y="4800663"/>
            <a:ext cx="134549" cy="195707"/>
          </a:xfrm>
          <a:prstGeom prst="rect">
            <a:avLst/>
          </a:prstGeom>
        </p:spPr>
      </p:pic>
      <p:sp>
        <p:nvSpPr>
          <p:cNvPr id="56" name="TextBox 55"/>
          <p:cNvSpPr txBox="1"/>
          <p:nvPr/>
        </p:nvSpPr>
        <p:spPr>
          <a:xfrm>
            <a:off x="3476926" y="481088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3539078" y="4800663"/>
            <a:ext cx="134549" cy="195707"/>
          </a:xfrm>
          <a:prstGeom prst="rect">
            <a:avLst/>
          </a:prstGeom>
        </p:spPr>
      </p:pic>
      <p:sp>
        <p:nvSpPr>
          <p:cNvPr id="58" name="TextBox 57"/>
          <p:cNvSpPr txBox="1"/>
          <p:nvPr/>
        </p:nvSpPr>
        <p:spPr>
          <a:xfrm>
            <a:off x="3714187" y="4810886"/>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9" name="TextBox 58"/>
          <p:cNvSpPr txBox="1"/>
          <p:nvPr/>
        </p:nvSpPr>
        <p:spPr>
          <a:xfrm>
            <a:off x="60293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0" name="TextBox 59"/>
          <p:cNvSpPr txBox="1"/>
          <p:nvPr/>
        </p:nvSpPr>
        <p:spPr>
          <a:xfrm>
            <a:off x="60293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61" name="TextBox 60"/>
          <p:cNvSpPr txBox="1"/>
          <p:nvPr/>
        </p:nvSpPr>
        <p:spPr>
          <a:xfrm>
            <a:off x="6029325" y="4074794"/>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2" name="Picture 61" descr="lock.png"/>
          <p:cNvPicPr>
            <a:picLocks noChangeAspect="1"/>
          </p:cNvPicPr>
          <p:nvPr/>
        </p:nvPicPr>
        <p:blipFill>
          <a:blip r:embed="rId4"/>
          <a:stretch>
            <a:fillRect/>
          </a:stretch>
        </p:blipFill>
        <p:spPr>
          <a:xfrm>
            <a:off x="6335083" y="4064571"/>
            <a:ext cx="134549" cy="195707"/>
          </a:xfrm>
          <a:prstGeom prst="rect">
            <a:avLst/>
          </a:prstGeom>
        </p:spPr>
      </p:pic>
      <p:sp>
        <p:nvSpPr>
          <p:cNvPr id="63" name="TextBox 62"/>
          <p:cNvSpPr txBox="1"/>
          <p:nvPr/>
        </p:nvSpPr>
        <p:spPr>
          <a:xfrm>
            <a:off x="6510192" y="4074794"/>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4" name="TextBox 63"/>
          <p:cNvSpPr txBox="1"/>
          <p:nvPr/>
        </p:nvSpPr>
        <p:spPr>
          <a:xfrm>
            <a:off x="6029325" y="4250054"/>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5" name="Picture 64" descr="lock.png"/>
          <p:cNvPicPr>
            <a:picLocks noChangeAspect="1"/>
          </p:cNvPicPr>
          <p:nvPr/>
        </p:nvPicPr>
        <p:blipFill>
          <a:blip r:embed="rId4"/>
          <a:stretch>
            <a:fillRect/>
          </a:stretch>
        </p:blipFill>
        <p:spPr>
          <a:xfrm>
            <a:off x="6127418" y="4239831"/>
            <a:ext cx="134549" cy="195707"/>
          </a:xfrm>
          <a:prstGeom prst="rect">
            <a:avLst/>
          </a:prstGeom>
        </p:spPr>
      </p:pic>
      <p:sp>
        <p:nvSpPr>
          <p:cNvPr id="66" name="TextBox 65"/>
          <p:cNvSpPr txBox="1"/>
          <p:nvPr/>
        </p:nvSpPr>
        <p:spPr>
          <a:xfrm>
            <a:off x="6302527" y="4250054"/>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7" name="TextBox 66"/>
          <p:cNvSpPr txBox="1"/>
          <p:nvPr/>
        </p:nvSpPr>
        <p:spPr>
          <a:xfrm>
            <a:off x="6029325" y="442531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8" name="TextBox 67"/>
          <p:cNvSpPr txBox="1"/>
          <p:nvPr/>
        </p:nvSpPr>
        <p:spPr>
          <a:xfrm>
            <a:off x="81248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9" name="TextBox 68"/>
          <p:cNvSpPr txBox="1"/>
          <p:nvPr/>
        </p:nvSpPr>
        <p:spPr>
          <a:xfrm>
            <a:off x="81248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70" name="TextBox 69"/>
          <p:cNvSpPr txBox="1"/>
          <p:nvPr/>
        </p:nvSpPr>
        <p:spPr>
          <a:xfrm>
            <a:off x="8124825" y="4074794"/>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1" name="Picture 70" descr="lock.png"/>
          <p:cNvPicPr>
            <a:picLocks noChangeAspect="1"/>
          </p:cNvPicPr>
          <p:nvPr/>
        </p:nvPicPr>
        <p:blipFill>
          <a:blip r:embed="rId4"/>
          <a:stretch>
            <a:fillRect/>
          </a:stretch>
        </p:blipFill>
        <p:spPr>
          <a:xfrm>
            <a:off x="8763474" y="4064571"/>
            <a:ext cx="134549" cy="195707"/>
          </a:xfrm>
          <a:prstGeom prst="rect">
            <a:avLst/>
          </a:prstGeom>
        </p:spPr>
      </p:pic>
      <p:sp>
        <p:nvSpPr>
          <p:cNvPr id="72" name="TextBox 71"/>
          <p:cNvSpPr txBox="1"/>
          <p:nvPr/>
        </p:nvSpPr>
        <p:spPr>
          <a:xfrm>
            <a:off x="8938584" y="4074794"/>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3" name="Picture 72" descr="lock.png"/>
          <p:cNvPicPr>
            <a:picLocks noChangeAspect="1"/>
          </p:cNvPicPr>
          <p:nvPr/>
        </p:nvPicPr>
        <p:blipFill>
          <a:blip r:embed="rId4"/>
          <a:stretch>
            <a:fillRect/>
          </a:stretch>
        </p:blipFill>
        <p:spPr>
          <a:xfrm>
            <a:off x="9334179" y="4064571"/>
            <a:ext cx="134549" cy="195707"/>
          </a:xfrm>
          <a:prstGeom prst="rect">
            <a:avLst/>
          </a:prstGeom>
        </p:spPr>
      </p:pic>
      <p:sp>
        <p:nvSpPr>
          <p:cNvPr id="74" name="TextBox 73"/>
          <p:cNvSpPr txBox="1"/>
          <p:nvPr/>
        </p:nvSpPr>
        <p:spPr>
          <a:xfrm>
            <a:off x="8124825" y="4250054"/>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5" name="TextBox 74"/>
          <p:cNvSpPr txBox="1"/>
          <p:nvPr/>
        </p:nvSpPr>
        <p:spPr>
          <a:xfrm>
            <a:off x="8124825" y="442531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58390"/>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663190"/>
            <a:ext cx="7239000" cy="9715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825240"/>
            <a:ext cx="5067300" cy="210312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Technology</a:t>
            </a:r>
          </a:p>
        </p:txBody>
      </p:sp>
      <p:sp>
        <p:nvSpPr>
          <p:cNvPr id="8" name="TextBox 7"/>
          <p:cNvSpPr txBox="1"/>
          <p:nvPr/>
        </p:nvSpPr>
        <p:spPr>
          <a:xfrm>
            <a:off x="6096000" y="3825240"/>
            <a:ext cx="5067300" cy="1866900"/>
          </a:xfrm>
          <a:prstGeom prst="rect">
            <a:avLst/>
          </a:prstGeom>
          <a:noFill/>
        </p:spPr>
        <p:txBody>
          <a:bodyPr wrap="square" lIns="0" rIns="0" tIns="0" bIns="0">
            <a:spAutoFit/>
          </a:bodyPr>
          <a:lstStyle/>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Patient Age Group</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Technology</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By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(UNITS)</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780159" cy="186689"/>
          </a:xfrm>
          <a:prstGeom prst="rect">
            <a:avLst/>
          </a:prstGeom>
          <a:noFill/>
        </p:spPr>
        <p:txBody>
          <a:bodyPr wrap="none" lIns="0" rIns="0" tIns="0" bIns="0">
            <a:spAutoFit/>
          </a:bodyPr>
          <a:lstStyle/>
          <a:p>
            <a:r>
              <a:rPr sz="1100" b="0">
                <a:solidFill>
                  <a:srgbClr val="2E2E2E"/>
                </a:solidFill>
                <a:latin typeface="Calibri"/>
              </a:rPr>
              <a:t>North America removable partial dentures market is projected to</a:t>
            </a:r>
          </a:p>
        </p:txBody>
      </p:sp>
      <p:sp>
        <p:nvSpPr>
          <p:cNvPr id="36" name="TextBox 35"/>
          <p:cNvSpPr txBox="1"/>
          <p:nvPr/>
        </p:nvSpPr>
        <p:spPr>
          <a:xfrm>
            <a:off x="8048625" y="2214627"/>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37" name="Picture 36" descr="lock.png"/>
          <p:cNvPicPr>
            <a:picLocks noChangeAspect="1"/>
          </p:cNvPicPr>
          <p:nvPr/>
        </p:nvPicPr>
        <p:blipFill>
          <a:blip r:embed="rId6"/>
          <a:stretch>
            <a:fillRect/>
          </a:stretch>
        </p:blipFill>
        <p:spPr>
          <a:xfrm>
            <a:off x="8509166" y="2204848"/>
            <a:ext cx="128699" cy="187198"/>
          </a:xfrm>
          <a:prstGeom prst="rect">
            <a:avLst/>
          </a:prstGeom>
        </p:spPr>
      </p:pic>
      <p:sp>
        <p:nvSpPr>
          <p:cNvPr id="38" name="TextBox 37"/>
          <p:cNvSpPr txBox="1"/>
          <p:nvPr/>
        </p:nvSpPr>
        <p:spPr>
          <a:xfrm>
            <a:off x="8676662" y="2214627"/>
            <a:ext cx="2964333"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a:t>
            </a:r>
          </a:p>
        </p:txBody>
      </p:sp>
      <p:sp>
        <p:nvSpPr>
          <p:cNvPr id="39" name="TextBox 38"/>
          <p:cNvSpPr txBox="1"/>
          <p:nvPr/>
        </p:nvSpPr>
        <p:spPr>
          <a:xfrm>
            <a:off x="8048625" y="2382267"/>
            <a:ext cx="3735412" cy="186689"/>
          </a:xfrm>
          <a:prstGeom prst="rect">
            <a:avLst/>
          </a:prstGeom>
          <a:noFill/>
        </p:spPr>
        <p:txBody>
          <a:bodyPr wrap="none" lIns="0" rIns="0" tIns="0" bIns="0">
            <a:spAutoFit/>
          </a:bodyPr>
          <a:lstStyle/>
          <a:p>
            <a:r>
              <a:rPr sz="1100" b="0">
                <a:solidFill>
                  <a:srgbClr val="2E2E2E"/>
                </a:solidFill>
                <a:latin typeface="Calibri"/>
              </a:rPr>
              <a:t>2036. North America removable partial dentures market volume</a:t>
            </a:r>
          </a:p>
        </p:txBody>
      </p:sp>
      <p:sp>
        <p:nvSpPr>
          <p:cNvPr id="40" name="TextBox 39"/>
          <p:cNvSpPr txBox="1"/>
          <p:nvPr/>
        </p:nvSpPr>
        <p:spPr>
          <a:xfrm>
            <a:off x="8048625" y="2549907"/>
            <a:ext cx="543867" cy="186689"/>
          </a:xfrm>
          <a:prstGeom prst="rect">
            <a:avLst/>
          </a:prstGeom>
          <a:noFill/>
        </p:spPr>
        <p:txBody>
          <a:bodyPr wrap="none" lIns="0" rIns="0" tIns="0" bIns="0">
            <a:spAutoFit/>
          </a:bodyPr>
          <a:lstStyle/>
          <a:p>
            <a:r>
              <a:rPr sz="1100" b="0">
                <a:solidFill>
                  <a:srgbClr val="2E2E2E"/>
                </a:solidFill>
                <a:latin typeface="Calibri"/>
              </a:rPr>
              <a:t>stood at</a:t>
            </a:r>
          </a:p>
        </p:txBody>
      </p:sp>
      <p:pic>
        <p:nvPicPr>
          <p:cNvPr id="41" name="Picture 40" descr="lock.png"/>
          <p:cNvPicPr>
            <a:picLocks noChangeAspect="1"/>
          </p:cNvPicPr>
          <p:nvPr/>
        </p:nvPicPr>
        <p:blipFill>
          <a:blip r:embed="rId6"/>
          <a:stretch>
            <a:fillRect/>
          </a:stretch>
        </p:blipFill>
        <p:spPr>
          <a:xfrm>
            <a:off x="8540544" y="2540128"/>
            <a:ext cx="128699" cy="187198"/>
          </a:xfrm>
          <a:prstGeom prst="rect">
            <a:avLst/>
          </a:prstGeom>
        </p:spPr>
      </p:pic>
      <p:sp>
        <p:nvSpPr>
          <p:cNvPr id="42" name="TextBox 41"/>
          <p:cNvSpPr txBox="1"/>
          <p:nvPr/>
        </p:nvSpPr>
        <p:spPr>
          <a:xfrm>
            <a:off x="8708039" y="2549907"/>
            <a:ext cx="2245097" cy="186689"/>
          </a:xfrm>
          <a:prstGeom prst="rect">
            <a:avLst/>
          </a:prstGeom>
          <a:noFill/>
        </p:spPr>
        <p:txBody>
          <a:bodyPr wrap="none" lIns="0" rIns="0" tIns="0" bIns="0">
            <a:spAutoFit/>
          </a:bodyPr>
          <a:lstStyle/>
          <a:p>
            <a:r>
              <a:rPr sz="1100" b="0">
                <a:solidFill>
                  <a:srgbClr val="2E2E2E"/>
                </a:solidFill>
                <a:latin typeface="Calibri"/>
              </a:rPr>
              <a:t>Units in 2025 and is expected to reach</a:t>
            </a:r>
          </a:p>
        </p:txBody>
      </p:sp>
      <p:pic>
        <p:nvPicPr>
          <p:cNvPr id="43" name="Picture 42" descr="lock.png"/>
          <p:cNvPicPr>
            <a:picLocks noChangeAspect="1"/>
          </p:cNvPicPr>
          <p:nvPr/>
        </p:nvPicPr>
        <p:blipFill>
          <a:blip r:embed="rId6"/>
          <a:stretch>
            <a:fillRect/>
          </a:stretch>
        </p:blipFill>
        <p:spPr>
          <a:xfrm>
            <a:off x="10901188" y="2540128"/>
            <a:ext cx="128699" cy="187198"/>
          </a:xfrm>
          <a:prstGeom prst="rect">
            <a:avLst/>
          </a:prstGeom>
        </p:spPr>
      </p:pic>
      <p:sp>
        <p:nvSpPr>
          <p:cNvPr id="44" name="TextBox 43"/>
          <p:cNvSpPr txBox="1"/>
          <p:nvPr/>
        </p:nvSpPr>
        <p:spPr>
          <a:xfrm>
            <a:off x="11068684" y="2549907"/>
            <a:ext cx="541411" cy="186689"/>
          </a:xfrm>
          <a:prstGeom prst="rect">
            <a:avLst/>
          </a:prstGeom>
          <a:noFill/>
        </p:spPr>
        <p:txBody>
          <a:bodyPr wrap="none" lIns="0" rIns="0" tIns="0" bIns="0">
            <a:spAutoFit/>
          </a:bodyPr>
          <a:lstStyle/>
          <a:p>
            <a:r>
              <a:rPr sz="1100" b="0">
                <a:solidFill>
                  <a:srgbClr val="2E2E2E"/>
                </a:solidFill>
                <a:latin typeface="Calibri"/>
              </a:rPr>
              <a:t>Units by</a:t>
            </a:r>
          </a:p>
        </p:txBody>
      </p:sp>
      <p:sp>
        <p:nvSpPr>
          <p:cNvPr id="45" name="TextBox 44"/>
          <p:cNvSpPr txBox="1"/>
          <p:nvPr/>
        </p:nvSpPr>
        <p:spPr>
          <a:xfrm>
            <a:off x="8048625" y="2717547"/>
            <a:ext cx="1385597" cy="186689"/>
          </a:xfrm>
          <a:prstGeom prst="rect">
            <a:avLst/>
          </a:prstGeom>
          <a:noFill/>
        </p:spPr>
        <p:txBody>
          <a:bodyPr wrap="none" lIns="0" rIns="0" tIns="0" bIns="0">
            <a:spAutoFit/>
          </a:bodyPr>
          <a:lstStyle/>
          <a:p>
            <a:r>
              <a:rPr sz="1100" b="0">
                <a:solidFill>
                  <a:srgbClr val="2E2E2E"/>
                </a:solidFill>
                <a:latin typeface="Calibri"/>
              </a:rPr>
              <a:t>2036 end, at a CAGR of</a:t>
            </a:r>
          </a:p>
        </p:txBody>
      </p:sp>
      <p:pic>
        <p:nvPicPr>
          <p:cNvPr id="46" name="Picture 45" descr="lock.png"/>
          <p:cNvPicPr>
            <a:picLocks noChangeAspect="1"/>
          </p:cNvPicPr>
          <p:nvPr/>
        </p:nvPicPr>
        <p:blipFill>
          <a:blip r:embed="rId6"/>
          <a:stretch>
            <a:fillRect/>
          </a:stretch>
        </p:blipFill>
        <p:spPr>
          <a:xfrm>
            <a:off x="9382274" y="2707768"/>
            <a:ext cx="128699" cy="187198"/>
          </a:xfrm>
          <a:prstGeom prst="rect">
            <a:avLst/>
          </a:prstGeom>
        </p:spPr>
      </p:pic>
      <p:sp>
        <p:nvSpPr>
          <p:cNvPr id="47" name="TextBox 46"/>
          <p:cNvSpPr txBox="1"/>
          <p:nvPr/>
        </p:nvSpPr>
        <p:spPr>
          <a:xfrm>
            <a:off x="9549770"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8" name="TextBox 47"/>
          <p:cNvSpPr txBox="1"/>
          <p:nvPr/>
        </p:nvSpPr>
        <p:spPr>
          <a:xfrm>
            <a:off x="8048625" y="2935479"/>
            <a:ext cx="3678386" cy="186689"/>
          </a:xfrm>
          <a:prstGeom prst="rect">
            <a:avLst/>
          </a:prstGeom>
          <a:noFill/>
        </p:spPr>
        <p:txBody>
          <a:bodyPr wrap="none" lIns="0" rIns="0" tIns="0" bIns="0">
            <a:spAutoFit/>
          </a:bodyPr>
          <a:lstStyle/>
          <a:p>
            <a:r>
              <a:rPr sz="1100" b="0">
                <a:solidFill>
                  <a:srgbClr val="2E2E2E"/>
                </a:solidFill>
                <a:latin typeface="Calibri"/>
              </a:rPr>
              <a:t>Value is projected to grow faster than volume over the forecast</a:t>
            </a:r>
          </a:p>
        </p:txBody>
      </p:sp>
      <p:sp>
        <p:nvSpPr>
          <p:cNvPr id="49" name="TextBox 48"/>
          <p:cNvSpPr txBox="1"/>
          <p:nvPr/>
        </p:nvSpPr>
        <p:spPr>
          <a:xfrm>
            <a:off x="8048625" y="3103119"/>
            <a:ext cx="3049736" cy="186689"/>
          </a:xfrm>
          <a:prstGeom prst="rect">
            <a:avLst/>
          </a:prstGeom>
          <a:noFill/>
        </p:spPr>
        <p:txBody>
          <a:bodyPr wrap="none" lIns="0" rIns="0" tIns="0" bIns="0">
            <a:spAutoFit/>
          </a:bodyPr>
          <a:lstStyle/>
          <a:p>
            <a:r>
              <a:rPr sz="1100" b="0">
                <a:solidFill>
                  <a:srgbClr val="2E2E2E"/>
                </a:solidFill>
                <a:latin typeface="Calibri"/>
              </a:rPr>
              <a:t>period, owing to an increase in average selling price.</a:t>
            </a:r>
          </a:p>
        </p:txBody>
      </p:sp>
      <p:sp>
        <p:nvSpPr>
          <p:cNvPr id="50" name="TextBox 49"/>
          <p:cNvSpPr txBox="1"/>
          <p:nvPr/>
        </p:nvSpPr>
        <p:spPr>
          <a:xfrm>
            <a:off x="8048625" y="4456475"/>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51" name="Picture 50" descr="lock.png"/>
          <p:cNvPicPr>
            <a:picLocks noChangeAspect="1"/>
          </p:cNvPicPr>
          <p:nvPr/>
        </p:nvPicPr>
        <p:blipFill>
          <a:blip r:embed="rId6"/>
          <a:stretch>
            <a:fillRect/>
          </a:stretch>
        </p:blipFill>
        <p:spPr>
          <a:xfrm>
            <a:off x="10136079" y="4446251"/>
            <a:ext cx="134549" cy="195707"/>
          </a:xfrm>
          <a:prstGeom prst="rect">
            <a:avLst/>
          </a:prstGeom>
        </p:spPr>
      </p:pic>
      <p:sp>
        <p:nvSpPr>
          <p:cNvPr id="52" name="TextBox 51"/>
          <p:cNvSpPr txBox="1"/>
          <p:nvPr/>
        </p:nvSpPr>
        <p:spPr>
          <a:xfrm>
            <a:off x="10311188"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3" name="TextBox 52"/>
          <p:cNvSpPr txBox="1"/>
          <p:nvPr/>
        </p:nvSpPr>
        <p:spPr>
          <a:xfrm>
            <a:off x="8048625" y="4684312"/>
            <a:ext cx="3571701" cy="194310"/>
          </a:xfrm>
          <a:prstGeom prst="rect">
            <a:avLst/>
          </a:prstGeom>
          <a:noFill/>
        </p:spPr>
        <p:txBody>
          <a:bodyPr wrap="none" lIns="0" rIns="0" tIns="0" bIns="0">
            <a:spAutoFit/>
          </a:bodyPr>
          <a:lstStyle/>
          <a:p>
            <a:r>
              <a:rPr sz="1150" b="0">
                <a:solidFill>
                  <a:srgbClr val="2E2E2E"/>
                </a:solidFill>
                <a:latin typeface="Calibri"/>
              </a:rPr>
              <a:t>▪ Demand concentrates in 'Combination Framework Partial</a:t>
            </a:r>
          </a:p>
        </p:txBody>
      </p:sp>
      <p:sp>
        <p:nvSpPr>
          <p:cNvPr id="54" name="TextBox 53"/>
          <p:cNvSpPr txBox="1"/>
          <p:nvPr/>
        </p:nvSpPr>
        <p:spPr>
          <a:xfrm>
            <a:off x="8048625" y="4859572"/>
            <a:ext cx="1919795" cy="194310"/>
          </a:xfrm>
          <a:prstGeom prst="rect">
            <a:avLst/>
          </a:prstGeom>
          <a:noFill/>
        </p:spPr>
        <p:txBody>
          <a:bodyPr wrap="none" lIns="0" rIns="0" tIns="0" bIns="0">
            <a:spAutoFit/>
          </a:bodyPr>
          <a:lstStyle/>
          <a:p>
            <a:r>
              <a:rPr sz="1150" b="0">
                <a:solidFill>
                  <a:srgbClr val="2E2E2E"/>
                </a:solidFill>
                <a:latin typeface="Calibri"/>
              </a:rPr>
              <a:t>Dentures' within Product Type.</a:t>
            </a:r>
          </a:p>
        </p:txBody>
      </p:sp>
      <p:sp>
        <p:nvSpPr>
          <p:cNvPr id="55" name="TextBox 54"/>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6" name="TextBox 55"/>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7"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(US$/Units)</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cxnSp>
        <p:nvCxnSpPr>
          <p:cNvPr id="27" name="Connector 26"/>
          <p:cNvCxnSpPr/>
          <p:nvPr/>
        </p:nvCxnSpPr>
        <p:spPr>
          <a:xfrm flipV="1">
            <a:off x="1533525" y="2376676"/>
            <a:ext cx="0" cy="29911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67579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37667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456118"/>
            <a:ext cx="438150" cy="14935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53234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2427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3286125" y="2235112"/>
            <a:ext cx="0" cy="31657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55168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223511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2319210"/>
            <a:ext cx="438150" cy="15804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2399850"/>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2082712"/>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9" name="Connector 38"/>
          <p:cNvCxnSpPr/>
          <p:nvPr/>
        </p:nvCxnSpPr>
        <p:spPr>
          <a:xfrm flipV="1">
            <a:off x="5038725" y="1670329"/>
            <a:ext cx="0" cy="38639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205672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1772959"/>
            <a:ext cx="438150" cy="19294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187141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45" name="Connector 44"/>
          <p:cNvCxnSpPr/>
          <p:nvPr/>
        </p:nvCxnSpPr>
        <p:spPr>
          <a:xfrm flipV="1">
            <a:off x="6791325" y="2884094"/>
            <a:ext cx="0" cy="23545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8409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46645"/>
            <a:ext cx="438150" cy="11757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0662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31694"/>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57" name="Connector 56"/>
          <p:cNvCxnSpPr/>
          <p:nvPr/>
        </p:nvCxnSpPr>
        <p:spPr>
          <a:xfrm>
            <a:off x="619125" y="432414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5862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62760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606208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24142"/>
            <a:ext cx="0" cy="1737947"/>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2414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5862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62760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606208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219075" y="4257467"/>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sp>
        <p:nvSpPr>
          <p:cNvPr id="69" name="FMI Scale tick"/>
          <p:cNvSpPr txBox="1"/>
          <p:nvPr/>
        </p:nvSpPr>
        <p:spPr>
          <a:xfrm>
            <a:off x="219075" y="4691954"/>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70"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71" name="FMI Scale tick"/>
          <p:cNvSpPr txBox="1"/>
          <p:nvPr/>
        </p:nvSpPr>
        <p:spPr>
          <a:xfrm>
            <a:off x="219075" y="5560928"/>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72" name="FMI Scale tick"/>
          <p:cNvSpPr txBox="1"/>
          <p:nvPr/>
        </p:nvSpPr>
        <p:spPr>
          <a:xfrm>
            <a:off x="219075" y="5995414"/>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cxnSp>
        <p:nvCxnSpPr>
          <p:cNvPr id="73" name="Connector 72"/>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2152650" y="5193116"/>
            <a:ext cx="457200" cy="29703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5499677"/>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6" name="Rectangle 75"/>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4143375" y="429441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8" name="TextBox 77"/>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79" name="TextBox 78"/>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80" name="Rounded Rectangle 79"/>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2" name="Rectangle 81"/>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5" name="Picture 84" descr="lock.png"/>
          <p:cNvPicPr>
            <a:picLocks noChangeAspect="1"/>
          </p:cNvPicPr>
          <p:nvPr/>
        </p:nvPicPr>
        <p:blipFill>
          <a:blip r:embed="rId4"/>
          <a:stretch>
            <a:fillRect/>
          </a:stretch>
        </p:blipFill>
        <p:spPr>
          <a:xfrm>
            <a:off x="1469175" y="2197352"/>
            <a:ext cx="128699" cy="187198"/>
          </a:xfrm>
          <a:prstGeom prst="rect">
            <a:avLst/>
          </a:prstGeom>
        </p:spPr>
      </p:pic>
      <p:pic>
        <p:nvPicPr>
          <p:cNvPr id="86" name="Picture 85" descr="lock.png"/>
          <p:cNvPicPr>
            <a:picLocks noChangeAspect="1"/>
          </p:cNvPicPr>
          <p:nvPr/>
        </p:nvPicPr>
        <p:blipFill>
          <a:blip r:embed="rId4"/>
          <a:stretch>
            <a:fillRect/>
          </a:stretch>
        </p:blipFill>
        <p:spPr>
          <a:xfrm>
            <a:off x="3221775" y="2055788"/>
            <a:ext cx="128699" cy="187198"/>
          </a:xfrm>
          <a:prstGeom prst="rect">
            <a:avLst/>
          </a:prstGeom>
        </p:spPr>
      </p:pic>
      <p:pic>
        <p:nvPicPr>
          <p:cNvPr id="87" name="Picture 86" descr="lock.png"/>
          <p:cNvPicPr>
            <a:picLocks noChangeAspect="1"/>
          </p:cNvPicPr>
          <p:nvPr/>
        </p:nvPicPr>
        <p:blipFill>
          <a:blip r:embed="rId4"/>
          <a:stretch>
            <a:fillRect/>
          </a:stretch>
        </p:blipFill>
        <p:spPr>
          <a:xfrm>
            <a:off x="4974375" y="1491005"/>
            <a:ext cx="128699" cy="187198"/>
          </a:xfrm>
          <a:prstGeom prst="rect">
            <a:avLst/>
          </a:prstGeom>
        </p:spPr>
      </p:pic>
      <p:pic>
        <p:nvPicPr>
          <p:cNvPr id="88" name="Picture 87" descr="lock.png"/>
          <p:cNvPicPr>
            <a:picLocks noChangeAspect="1"/>
          </p:cNvPicPr>
          <p:nvPr/>
        </p:nvPicPr>
        <p:blipFill>
          <a:blip r:embed="rId4"/>
          <a:stretch>
            <a:fillRect/>
          </a:stretch>
        </p:blipFill>
        <p:spPr>
          <a:xfrm>
            <a:off x="6726975" y="2704770"/>
            <a:ext cx="128699" cy="187198"/>
          </a:xfrm>
          <a:prstGeom prst="rect">
            <a:avLst/>
          </a:prstGeom>
        </p:spPr>
      </p:pic>
      <p:pic>
        <p:nvPicPr>
          <p:cNvPr id="89" name="Picture 88" descr="lock.png"/>
          <p:cNvPicPr>
            <a:picLocks noChangeAspect="1"/>
          </p:cNvPicPr>
          <p:nvPr/>
        </p:nvPicPr>
        <p:blipFill>
          <a:blip r:embed="rId4"/>
          <a:stretch>
            <a:fillRect/>
          </a:stretch>
        </p:blipFill>
        <p:spPr>
          <a:xfrm>
            <a:off x="2316900" y="5472753"/>
            <a:ext cx="128699" cy="187198"/>
          </a:xfrm>
          <a:prstGeom prst="rect">
            <a:avLst/>
          </a:prstGeom>
        </p:spPr>
      </p:pic>
      <p:pic>
        <p:nvPicPr>
          <p:cNvPr id="90" name="Picture 89" descr="lock.png"/>
          <p:cNvPicPr>
            <a:picLocks noChangeAspect="1"/>
          </p:cNvPicPr>
          <p:nvPr/>
        </p:nvPicPr>
        <p:blipFill>
          <a:blip r:embed="rId4"/>
          <a:stretch>
            <a:fillRect/>
          </a:stretch>
        </p:blipFill>
        <p:spPr>
          <a:xfrm>
            <a:off x="5841150" y="4267488"/>
            <a:ext cx="128699" cy="187198"/>
          </a:xfrm>
          <a:prstGeom prst="rect">
            <a:avLst/>
          </a:prstGeom>
        </p:spPr>
      </p:pic>
      <p:sp>
        <p:nvSpPr>
          <p:cNvPr id="91" name="TextBox 90"/>
          <p:cNvSpPr txBox="1"/>
          <p:nvPr/>
        </p:nvSpPr>
        <p:spPr>
          <a:xfrm>
            <a:off x="8048625" y="1471995"/>
            <a:ext cx="3781933"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command the</a:t>
            </a:r>
          </a:p>
        </p:txBody>
      </p:sp>
      <p:sp>
        <p:nvSpPr>
          <p:cNvPr id="92" name="TextBox 91"/>
          <p:cNvSpPr txBox="1"/>
          <p:nvPr/>
        </p:nvSpPr>
        <p:spPr>
          <a:xfrm>
            <a:off x="8048625" y="1647255"/>
            <a:ext cx="1766899" cy="194310"/>
          </a:xfrm>
          <a:prstGeom prst="rect">
            <a:avLst/>
          </a:prstGeom>
          <a:noFill/>
        </p:spPr>
        <p:txBody>
          <a:bodyPr wrap="none" lIns="0" rIns="0" tIns="0" bIns="0">
            <a:spAutoFit/>
          </a:bodyPr>
          <a:lstStyle/>
          <a:p>
            <a:r>
              <a:rPr sz="1150" b="0">
                <a:solidFill>
                  <a:srgbClr val="2E2E2E"/>
                </a:solidFill>
                <a:latin typeface="Calibri"/>
              </a:rPr>
              <a:t>highest average price of US$</a:t>
            </a:r>
          </a:p>
        </p:txBody>
      </p:sp>
      <p:pic>
        <p:nvPicPr>
          <p:cNvPr id="93" name="Picture 92" descr="lock.png"/>
          <p:cNvPicPr>
            <a:picLocks noChangeAspect="1"/>
          </p:cNvPicPr>
          <p:nvPr/>
        </p:nvPicPr>
        <p:blipFill>
          <a:blip r:embed="rId4"/>
          <a:stretch>
            <a:fillRect/>
          </a:stretch>
        </p:blipFill>
        <p:spPr>
          <a:xfrm>
            <a:off x="9764678" y="1637031"/>
            <a:ext cx="134549" cy="195707"/>
          </a:xfrm>
          <a:prstGeom prst="rect">
            <a:avLst/>
          </a:prstGeom>
        </p:spPr>
      </p:pic>
      <p:sp>
        <p:nvSpPr>
          <p:cNvPr id="94" name="TextBox 93"/>
          <p:cNvSpPr txBox="1"/>
          <p:nvPr/>
        </p:nvSpPr>
        <p:spPr>
          <a:xfrm>
            <a:off x="9939788" y="1647255"/>
            <a:ext cx="1591713" cy="194310"/>
          </a:xfrm>
          <a:prstGeom prst="rect">
            <a:avLst/>
          </a:prstGeom>
          <a:noFill/>
        </p:spPr>
        <p:txBody>
          <a:bodyPr wrap="none" lIns="0" rIns="0" tIns="0" bIns="0">
            <a:spAutoFit/>
          </a:bodyPr>
          <a:lstStyle/>
          <a:p>
            <a:r>
              <a:rPr sz="1150" b="0">
                <a:solidFill>
                  <a:srgbClr val="2E2E2E"/>
                </a:solidFill>
                <a:latin typeface="Calibri"/>
              </a:rPr>
              <a:t>per Unit in 2036. Average</a:t>
            </a:r>
          </a:p>
        </p:txBody>
      </p:sp>
      <p:sp>
        <p:nvSpPr>
          <p:cNvPr id="95" name="TextBox 94"/>
          <p:cNvSpPr txBox="1"/>
          <p:nvPr/>
        </p:nvSpPr>
        <p:spPr>
          <a:xfrm>
            <a:off x="8048625" y="1822515"/>
            <a:ext cx="3763391" cy="194310"/>
          </a:xfrm>
          <a:prstGeom prst="rect">
            <a:avLst/>
          </a:prstGeom>
          <a:noFill/>
        </p:spPr>
        <p:txBody>
          <a:bodyPr wrap="none" lIns="0" rIns="0" tIns="0" bIns="0">
            <a:spAutoFit/>
          </a:bodyPr>
          <a:lstStyle/>
          <a:p>
            <a:r>
              <a:rPr sz="1150" b="0">
                <a:solidFill>
                  <a:srgbClr val="2E2E2E"/>
                </a:solidFill>
                <a:latin typeface="Calibri"/>
              </a:rPr>
              <a:t>selling price of removable partial dentures is estimated at US$</a:t>
            </a:r>
          </a:p>
        </p:txBody>
      </p:sp>
      <p:pic>
        <p:nvPicPr>
          <p:cNvPr id="96" name="Picture 95" descr="lock.png"/>
          <p:cNvPicPr>
            <a:picLocks noChangeAspect="1"/>
          </p:cNvPicPr>
          <p:nvPr/>
        </p:nvPicPr>
        <p:blipFill>
          <a:blip r:embed="rId4"/>
          <a:stretch>
            <a:fillRect/>
          </a:stretch>
        </p:blipFill>
        <p:spPr>
          <a:xfrm>
            <a:off x="8034545" y="1987551"/>
            <a:ext cx="134549" cy="195707"/>
          </a:xfrm>
          <a:prstGeom prst="rect">
            <a:avLst/>
          </a:prstGeom>
        </p:spPr>
      </p:pic>
      <p:sp>
        <p:nvSpPr>
          <p:cNvPr id="97" name="TextBox 96"/>
          <p:cNvSpPr txBox="1"/>
          <p:nvPr/>
        </p:nvSpPr>
        <p:spPr>
          <a:xfrm>
            <a:off x="8209654" y="1997775"/>
            <a:ext cx="3138115" cy="194310"/>
          </a:xfrm>
          <a:prstGeom prst="rect">
            <a:avLst/>
          </a:prstGeom>
          <a:noFill/>
        </p:spPr>
        <p:txBody>
          <a:bodyPr wrap="none" lIns="0" rIns="0" tIns="0" bIns="0">
            <a:spAutoFit/>
          </a:bodyPr>
          <a:lstStyle/>
          <a:p>
            <a:r>
              <a:rPr sz="1150" b="0">
                <a:solidFill>
                  <a:srgbClr val="2E2E2E"/>
                </a:solidFill>
                <a:latin typeface="Calibri"/>
              </a:rPr>
              <a:t>per Unit in 2025 and is projected to increase to US$</a:t>
            </a:r>
          </a:p>
        </p:txBody>
      </p:sp>
      <p:pic>
        <p:nvPicPr>
          <p:cNvPr id="98" name="Picture 97" descr="lock.png"/>
          <p:cNvPicPr>
            <a:picLocks noChangeAspect="1"/>
          </p:cNvPicPr>
          <p:nvPr/>
        </p:nvPicPr>
        <p:blipFill>
          <a:blip r:embed="rId4"/>
          <a:stretch>
            <a:fillRect/>
          </a:stretch>
        </p:blipFill>
        <p:spPr>
          <a:xfrm>
            <a:off x="11296924" y="1987551"/>
            <a:ext cx="134549" cy="195707"/>
          </a:xfrm>
          <a:prstGeom prst="rect">
            <a:avLst/>
          </a:prstGeom>
        </p:spPr>
      </p:pic>
      <p:sp>
        <p:nvSpPr>
          <p:cNvPr id="99" name="TextBox 98"/>
          <p:cNvSpPr txBox="1"/>
          <p:nvPr/>
        </p:nvSpPr>
        <p:spPr>
          <a:xfrm>
            <a:off x="8048625" y="2173035"/>
            <a:ext cx="1105681" cy="194310"/>
          </a:xfrm>
          <a:prstGeom prst="rect">
            <a:avLst/>
          </a:prstGeom>
          <a:noFill/>
        </p:spPr>
        <p:txBody>
          <a:bodyPr wrap="none" lIns="0" rIns="0" tIns="0" bIns="0">
            <a:spAutoFit/>
          </a:bodyPr>
          <a:lstStyle/>
          <a:p>
            <a:r>
              <a:rPr sz="1150" b="0">
                <a:solidFill>
                  <a:srgbClr val="2E2E2E"/>
                </a:solidFill>
                <a:latin typeface="Calibri"/>
              </a:rPr>
              <a:t>per Unit by 2036.</a:t>
            </a:r>
          </a:p>
        </p:txBody>
      </p:sp>
      <p:sp>
        <p:nvSpPr>
          <p:cNvPr id="100" name="TextBox 99"/>
          <p:cNvSpPr txBox="1"/>
          <p:nvPr/>
        </p:nvSpPr>
        <p:spPr>
          <a:xfrm>
            <a:off x="8048625" y="2400873"/>
            <a:ext cx="3596518" cy="194310"/>
          </a:xfrm>
          <a:prstGeom prst="rect">
            <a:avLst/>
          </a:prstGeom>
          <a:noFill/>
        </p:spPr>
        <p:txBody>
          <a:bodyPr wrap="none" lIns="0" rIns="0" tIns="0" bIns="0">
            <a:spAutoFit/>
          </a:bodyPr>
          <a:lstStyle/>
          <a:p>
            <a:r>
              <a:rPr sz="1150" b="0">
                <a:solidFill>
                  <a:srgbClr val="2E2E2E"/>
                </a:solidFill>
                <a:latin typeface="Calibri"/>
              </a:rPr>
              <a:t>Canada is the highest-priced country, while U.S. is the most</a:t>
            </a:r>
          </a:p>
        </p:txBody>
      </p:sp>
      <p:sp>
        <p:nvSpPr>
          <p:cNvPr id="101" name="TextBox 100"/>
          <p:cNvSpPr txBox="1"/>
          <p:nvPr/>
        </p:nvSpPr>
        <p:spPr>
          <a:xfrm>
            <a:off x="8048625" y="2576133"/>
            <a:ext cx="3714898" cy="194310"/>
          </a:xfrm>
          <a:prstGeom prst="rect">
            <a:avLst/>
          </a:prstGeom>
          <a:noFill/>
        </p:spPr>
        <p:txBody>
          <a:bodyPr wrap="none" lIns="0" rIns="0" tIns="0" bIns="0">
            <a:spAutoFit/>
          </a:bodyPr>
          <a:lstStyle/>
          <a:p>
            <a:r>
              <a:rPr sz="1150" b="0">
                <a:solidFill>
                  <a:srgbClr val="2E2E2E"/>
                </a:solidFill>
                <a:latin typeface="Calibri"/>
              </a:rPr>
              <a:t>price-competitive market. Against the North America price of</a:t>
            </a:r>
          </a:p>
        </p:txBody>
      </p:sp>
      <p:pic>
        <p:nvPicPr>
          <p:cNvPr id="102" name="Picture 101" descr="lock.png"/>
          <p:cNvPicPr>
            <a:picLocks noChangeAspect="1"/>
          </p:cNvPicPr>
          <p:nvPr/>
        </p:nvPicPr>
        <p:blipFill>
          <a:blip r:embed="rId4"/>
          <a:stretch>
            <a:fillRect/>
          </a:stretch>
        </p:blipFill>
        <p:spPr>
          <a:xfrm>
            <a:off x="8034545" y="2741169"/>
            <a:ext cx="134549" cy="195707"/>
          </a:xfrm>
          <a:prstGeom prst="rect">
            <a:avLst/>
          </a:prstGeom>
        </p:spPr>
      </p:pic>
      <p:sp>
        <p:nvSpPr>
          <p:cNvPr id="103" name="TextBox 102"/>
          <p:cNvSpPr txBox="1"/>
          <p:nvPr/>
        </p:nvSpPr>
        <p:spPr>
          <a:xfrm>
            <a:off x="8209654" y="2751393"/>
            <a:ext cx="3195451" cy="194310"/>
          </a:xfrm>
          <a:prstGeom prst="rect">
            <a:avLst/>
          </a:prstGeom>
          <a:noFill/>
        </p:spPr>
        <p:txBody>
          <a:bodyPr wrap="none" lIns="0" rIns="0" tIns="0" bIns="0">
            <a:spAutoFit/>
          </a:bodyPr>
          <a:lstStyle/>
          <a:p>
            <a:r>
              <a:rPr sz="1150" b="0">
                <a:solidFill>
                  <a:srgbClr val="2E2E2E"/>
                </a:solidFill>
                <a:latin typeface="Calibri"/>
              </a:rPr>
              <a:t>US$/Units, 1 of 2 countries price above and 1 below.</a:t>
            </a:r>
          </a:p>
        </p:txBody>
      </p:sp>
      <p:sp>
        <p:nvSpPr>
          <p:cNvPr id="104" name="TextBox 103"/>
          <p:cNvSpPr txBox="1"/>
          <p:nvPr/>
        </p:nvSpPr>
        <p:spPr>
          <a:xfrm>
            <a:off x="8048625" y="2979230"/>
            <a:ext cx="1677330" cy="194310"/>
          </a:xfrm>
          <a:prstGeom prst="rect">
            <a:avLst/>
          </a:prstGeom>
          <a:noFill/>
        </p:spPr>
        <p:txBody>
          <a:bodyPr wrap="none" lIns="0" rIns="0" tIns="0" bIns="0">
            <a:spAutoFit/>
          </a:bodyPr>
          <a:lstStyle/>
          <a:p>
            <a:r>
              <a:rPr sz="1150" b="0">
                <a:solidFill>
                  <a:srgbClr val="2E2E2E"/>
                </a:solidFill>
                <a:latin typeface="Calibri"/>
              </a:rPr>
              <a:t>'Canada' is the dearest at +</a:t>
            </a:r>
          </a:p>
        </p:txBody>
      </p:sp>
      <p:pic>
        <p:nvPicPr>
          <p:cNvPr id="105" name="Picture 104" descr="lock.png"/>
          <p:cNvPicPr>
            <a:picLocks noChangeAspect="1"/>
          </p:cNvPicPr>
          <p:nvPr/>
        </p:nvPicPr>
        <p:blipFill>
          <a:blip r:embed="rId4"/>
          <a:stretch>
            <a:fillRect/>
          </a:stretch>
        </p:blipFill>
        <p:spPr>
          <a:xfrm>
            <a:off x="9675109" y="2969007"/>
            <a:ext cx="134549" cy="195707"/>
          </a:xfrm>
          <a:prstGeom prst="rect">
            <a:avLst/>
          </a:prstGeom>
        </p:spPr>
      </p:pic>
      <p:sp>
        <p:nvSpPr>
          <p:cNvPr id="106" name="TextBox 105"/>
          <p:cNvSpPr txBox="1"/>
          <p:nvPr/>
        </p:nvSpPr>
        <p:spPr>
          <a:xfrm>
            <a:off x="9850218" y="2979230"/>
            <a:ext cx="1961728" cy="194310"/>
          </a:xfrm>
          <a:prstGeom prst="rect">
            <a:avLst/>
          </a:prstGeom>
          <a:noFill/>
        </p:spPr>
        <p:txBody>
          <a:bodyPr wrap="none" lIns="0" rIns="0" tIns="0" bIns="0">
            <a:spAutoFit/>
          </a:bodyPr>
          <a:lstStyle/>
          <a:p>
            <a:r>
              <a:rPr sz="1150" b="0">
                <a:solidFill>
                  <a:srgbClr val="2E2E2E"/>
                </a:solidFill>
                <a:latin typeface="Calibri"/>
              </a:rPr>
              <a:t>versus North America, 'U.S.' the</a:t>
            </a:r>
          </a:p>
        </p:txBody>
      </p:sp>
      <p:sp>
        <p:nvSpPr>
          <p:cNvPr id="107" name="TextBox 106"/>
          <p:cNvSpPr txBox="1"/>
          <p:nvPr/>
        </p:nvSpPr>
        <p:spPr>
          <a:xfrm>
            <a:off x="8048625" y="3154490"/>
            <a:ext cx="842962" cy="194310"/>
          </a:xfrm>
          <a:prstGeom prst="rect">
            <a:avLst/>
          </a:prstGeom>
          <a:noFill/>
        </p:spPr>
        <p:txBody>
          <a:bodyPr wrap="none" lIns="0" rIns="0" tIns="0" bIns="0">
            <a:spAutoFit/>
          </a:bodyPr>
          <a:lstStyle/>
          <a:p>
            <a:r>
              <a:rPr sz="1150" b="0">
                <a:solidFill>
                  <a:srgbClr val="2E2E2E"/>
                </a:solidFill>
                <a:latin typeface="Calibri"/>
              </a:rPr>
              <a:t>cheapest at -</a:t>
            </a:r>
          </a:p>
        </p:txBody>
      </p:sp>
      <p:pic>
        <p:nvPicPr>
          <p:cNvPr id="108" name="Picture 107" descr="lock.png"/>
          <p:cNvPicPr>
            <a:picLocks noChangeAspect="1"/>
          </p:cNvPicPr>
          <p:nvPr/>
        </p:nvPicPr>
        <p:blipFill>
          <a:blip r:embed="rId4"/>
          <a:stretch>
            <a:fillRect/>
          </a:stretch>
        </p:blipFill>
        <p:spPr>
          <a:xfrm>
            <a:off x="8840741" y="3144267"/>
            <a:ext cx="134549" cy="195707"/>
          </a:xfrm>
          <a:prstGeom prst="rect">
            <a:avLst/>
          </a:prstGeom>
        </p:spPr>
      </p:pic>
      <p:sp>
        <p:nvSpPr>
          <p:cNvPr id="109" name="TextBox 108"/>
          <p:cNvSpPr txBox="1"/>
          <p:nvPr/>
        </p:nvSpPr>
        <p:spPr>
          <a:xfrm>
            <a:off x="9015850" y="3154490"/>
            <a:ext cx="2728205" cy="194310"/>
          </a:xfrm>
          <a:prstGeom prst="rect">
            <a:avLst/>
          </a:prstGeom>
          <a:noFill/>
        </p:spPr>
        <p:txBody>
          <a:bodyPr wrap="none" lIns="0" rIns="0" tIns="0" bIns="0">
            <a:spAutoFit/>
          </a:bodyPr>
          <a:lstStyle/>
          <a:p>
            <a:r>
              <a:rPr sz="1150" b="0">
                <a:solidFill>
                  <a:srgbClr val="2E2E2E"/>
                </a:solidFill>
                <a:latin typeface="Calibri"/>
              </a:rPr>
              <a:t>pointing to premiumisation headroom in the</a:t>
            </a:r>
          </a:p>
        </p:txBody>
      </p:sp>
      <p:sp>
        <p:nvSpPr>
          <p:cNvPr id="110" name="TextBox 109"/>
          <p:cNvSpPr txBox="1"/>
          <p:nvPr/>
        </p:nvSpPr>
        <p:spPr>
          <a:xfrm>
            <a:off x="8048625" y="3329750"/>
            <a:ext cx="1458540" cy="194310"/>
          </a:xfrm>
          <a:prstGeom prst="rect">
            <a:avLst/>
          </a:prstGeom>
          <a:noFill/>
        </p:spPr>
        <p:txBody>
          <a:bodyPr wrap="none" lIns="0" rIns="0" tIns="0" bIns="0">
            <a:spAutoFit/>
          </a:bodyPr>
          <a:lstStyle/>
          <a:p>
            <a:r>
              <a:rPr sz="1150" b="0">
                <a:solidFill>
                  <a:srgbClr val="2E2E2E"/>
                </a:solidFill>
                <a:latin typeface="Calibri"/>
              </a:rPr>
              <a:t>lower-priced countries.</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51231"/>
          </a:xfrm>
          <a:prstGeom prst="roundRect">
            <a:avLst>
              <a:gd name="adj" fmla="val 24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545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733879"/>
            <a:ext cx="4133850" cy="1822506"/>
          </a:xfrm>
          <a:prstGeom prst="roundRect">
            <a:avLst>
              <a:gd name="adj" fmla="val 41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960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772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43454"/>
            <a:ext cx="3867150" cy="133673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549054" cy="186689"/>
          </a:xfrm>
          <a:prstGeom prst="rect">
            <a:avLst/>
          </a:prstGeom>
          <a:noFill/>
        </p:spPr>
        <p:txBody>
          <a:bodyPr wrap="none" lIns="0" rIns="0" tIns="0" bIns="0">
            <a:spAutoFit/>
          </a:bodyPr>
          <a:lstStyle/>
          <a:p>
            <a:r>
              <a:rPr sz="1100" b="0">
                <a:solidFill>
                  <a:srgbClr val="2E2E2E"/>
                </a:solidFill>
                <a:latin typeface="Calibri"/>
              </a:rPr>
              <a:t>Removable partial dentures market value in North America is</a:t>
            </a:r>
          </a:p>
        </p:txBody>
      </p:sp>
      <p:sp>
        <p:nvSpPr>
          <p:cNvPr id="36" name="TextBox 35"/>
          <p:cNvSpPr txBox="1"/>
          <p:nvPr/>
        </p:nvSpPr>
        <p:spPr>
          <a:xfrm>
            <a:off x="8048625" y="2214627"/>
            <a:ext cx="1256555" cy="186689"/>
          </a:xfrm>
          <a:prstGeom prst="rect">
            <a:avLst/>
          </a:prstGeom>
          <a:noFill/>
        </p:spPr>
        <p:txBody>
          <a:bodyPr wrap="none" lIns="0" rIns="0" tIns="0" bIns="0">
            <a:spAutoFit/>
          </a:bodyPr>
          <a:lstStyle/>
          <a:p>
            <a:r>
              <a:rPr sz="1100" b="0">
                <a:solidFill>
                  <a:srgbClr val="2E2E2E"/>
                </a:solidFill>
                <a:latin typeface="Calibri"/>
              </a:rPr>
              <a:t>expected to increase</a:t>
            </a:r>
          </a:p>
        </p:txBody>
      </p:sp>
      <p:pic>
        <p:nvPicPr>
          <p:cNvPr id="37" name="Picture 36" descr="lock.png"/>
          <p:cNvPicPr>
            <a:picLocks noChangeAspect="1"/>
          </p:cNvPicPr>
          <p:nvPr/>
        </p:nvPicPr>
        <p:blipFill>
          <a:blip r:embed="rId6"/>
          <a:stretch>
            <a:fillRect/>
          </a:stretch>
        </p:blipFill>
        <p:spPr>
          <a:xfrm>
            <a:off x="9253232" y="2204848"/>
            <a:ext cx="128699" cy="187198"/>
          </a:xfrm>
          <a:prstGeom prst="rect">
            <a:avLst/>
          </a:prstGeom>
        </p:spPr>
      </p:pic>
      <p:sp>
        <p:nvSpPr>
          <p:cNvPr id="38" name="TextBox 37"/>
          <p:cNvSpPr txBox="1"/>
          <p:nvPr/>
        </p:nvSpPr>
        <p:spPr>
          <a:xfrm>
            <a:off x="9420728" y="2214627"/>
            <a:ext cx="2306215" cy="186689"/>
          </a:xfrm>
          <a:prstGeom prst="rect">
            <a:avLst/>
          </a:prstGeom>
          <a:noFill/>
        </p:spPr>
        <p:txBody>
          <a:bodyPr wrap="none" lIns="0" rIns="0" tIns="0" bIns="0">
            <a:spAutoFit/>
          </a:bodyPr>
          <a:lstStyle/>
          <a:p>
            <a:r>
              <a:rPr sz="1100" b="0">
                <a:solidFill>
                  <a:srgbClr val="2E2E2E"/>
                </a:solidFill>
                <a:latin typeface="Calibri"/>
              </a:rPr>
              <a:t>X between 2025 and 2036. In 2025, the</a:t>
            </a:r>
          </a:p>
        </p:txBody>
      </p:sp>
      <p:sp>
        <p:nvSpPr>
          <p:cNvPr id="39" name="TextBox 38"/>
          <p:cNvSpPr txBox="1"/>
          <p:nvPr/>
        </p:nvSpPr>
        <p:spPr>
          <a:xfrm>
            <a:off x="8048625" y="2382267"/>
            <a:ext cx="3848100" cy="186689"/>
          </a:xfrm>
          <a:prstGeom prst="rect">
            <a:avLst/>
          </a:prstGeom>
          <a:noFill/>
        </p:spPr>
        <p:txBody>
          <a:bodyPr wrap="none" lIns="0" rIns="0" tIns="0" bIns="0">
            <a:spAutoFit/>
          </a:bodyPr>
          <a:lstStyle/>
          <a:p>
            <a:r>
              <a:rPr sz="1100" b="0">
                <a:solidFill>
                  <a:srgbClr val="2E2E2E"/>
                </a:solidFill>
                <a:latin typeface="Calibri"/>
              </a:rPr>
              <a:t>removable partial dentures market in North America was valued at</a:t>
            </a:r>
          </a:p>
        </p:txBody>
      </p:sp>
      <p:sp>
        <p:nvSpPr>
          <p:cNvPr id="40" name="TextBox 39"/>
          <p:cNvSpPr txBox="1"/>
          <p:nvPr/>
        </p:nvSpPr>
        <p:spPr>
          <a:xfrm>
            <a:off x="8048625" y="2549907"/>
            <a:ext cx="301029" cy="186689"/>
          </a:xfrm>
          <a:prstGeom prst="rect">
            <a:avLst/>
          </a:prstGeom>
          <a:noFill/>
        </p:spPr>
        <p:txBody>
          <a:bodyPr wrap="none" lIns="0" rIns="0" tIns="0" bIns="0">
            <a:spAutoFit/>
          </a:bodyPr>
          <a:lstStyle/>
          <a:p>
            <a:r>
              <a:rPr sz="1100" b="0">
                <a:solidFill>
                  <a:srgbClr val="2E2E2E"/>
                </a:solidFill>
                <a:latin typeface="Calibri"/>
              </a:rPr>
              <a:t>US$</a:t>
            </a:r>
          </a:p>
        </p:txBody>
      </p:sp>
      <p:pic>
        <p:nvPicPr>
          <p:cNvPr id="41" name="Picture 40" descr="lock.png"/>
          <p:cNvPicPr>
            <a:picLocks noChangeAspect="1"/>
          </p:cNvPicPr>
          <p:nvPr/>
        </p:nvPicPr>
        <p:blipFill>
          <a:blip r:embed="rId6"/>
          <a:stretch>
            <a:fillRect/>
          </a:stretch>
        </p:blipFill>
        <p:spPr>
          <a:xfrm>
            <a:off x="8297706" y="2540128"/>
            <a:ext cx="128699" cy="187198"/>
          </a:xfrm>
          <a:prstGeom prst="rect">
            <a:avLst/>
          </a:prstGeom>
        </p:spPr>
      </p:pic>
      <p:sp>
        <p:nvSpPr>
          <p:cNvPr id="42" name="TextBox 41"/>
          <p:cNvSpPr txBox="1"/>
          <p:nvPr/>
        </p:nvSpPr>
        <p:spPr>
          <a:xfrm>
            <a:off x="8465202" y="2549907"/>
            <a:ext cx="2325861" cy="186689"/>
          </a:xfrm>
          <a:prstGeom prst="rect">
            <a:avLst/>
          </a:prstGeom>
          <a:noFill/>
        </p:spPr>
        <p:txBody>
          <a:bodyPr wrap="none" lIns="0" rIns="0" tIns="0" bIns="0">
            <a:spAutoFit/>
          </a:bodyPr>
          <a:lstStyle/>
          <a:p>
            <a:r>
              <a:rPr sz="1100" b="0">
                <a:solidFill>
                  <a:srgbClr val="2E2E2E"/>
                </a:solidFill>
                <a:latin typeface="Calibri"/>
              </a:rPr>
              <a:t>Mn and is estimated to account for US$</a:t>
            </a:r>
          </a:p>
        </p:txBody>
      </p:sp>
      <p:pic>
        <p:nvPicPr>
          <p:cNvPr id="43" name="Picture 42" descr="lock.png"/>
          <p:cNvPicPr>
            <a:picLocks noChangeAspect="1"/>
          </p:cNvPicPr>
          <p:nvPr/>
        </p:nvPicPr>
        <p:blipFill>
          <a:blip r:embed="rId6"/>
          <a:stretch>
            <a:fillRect/>
          </a:stretch>
        </p:blipFill>
        <p:spPr>
          <a:xfrm>
            <a:off x="10739114" y="2540128"/>
            <a:ext cx="128699" cy="187198"/>
          </a:xfrm>
          <a:prstGeom prst="rect">
            <a:avLst/>
          </a:prstGeom>
        </p:spPr>
      </p:pic>
      <p:sp>
        <p:nvSpPr>
          <p:cNvPr id="44" name="TextBox 43"/>
          <p:cNvSpPr txBox="1"/>
          <p:nvPr/>
        </p:nvSpPr>
        <p:spPr>
          <a:xfrm>
            <a:off x="10906610" y="2549907"/>
            <a:ext cx="907033" cy="186689"/>
          </a:xfrm>
          <a:prstGeom prst="rect">
            <a:avLst/>
          </a:prstGeom>
          <a:noFill/>
        </p:spPr>
        <p:txBody>
          <a:bodyPr wrap="none" lIns="0" rIns="0" tIns="0" bIns="0">
            <a:spAutoFit/>
          </a:bodyPr>
          <a:lstStyle/>
          <a:p>
            <a:r>
              <a:rPr sz="1100" b="0">
                <a:solidFill>
                  <a:srgbClr val="2E2E2E"/>
                </a:solidFill>
                <a:latin typeface="Calibri"/>
              </a:rPr>
              <a:t>Mn by the end</a:t>
            </a:r>
          </a:p>
        </p:txBody>
      </p:sp>
      <p:sp>
        <p:nvSpPr>
          <p:cNvPr id="45" name="TextBox 44"/>
          <p:cNvSpPr txBox="1"/>
          <p:nvPr/>
        </p:nvSpPr>
        <p:spPr>
          <a:xfrm>
            <a:off x="8048625" y="2717547"/>
            <a:ext cx="2392436" cy="186689"/>
          </a:xfrm>
          <a:prstGeom prst="rect">
            <a:avLst/>
          </a:prstGeom>
          <a:noFill/>
        </p:spPr>
        <p:txBody>
          <a:bodyPr wrap="none" lIns="0" rIns="0" tIns="0" bIns="0">
            <a:spAutoFit/>
          </a:bodyPr>
          <a:lstStyle/>
          <a:p>
            <a:r>
              <a:rPr sz="1100" b="0">
                <a:solidFill>
                  <a:srgbClr val="2E2E2E"/>
                </a:solidFill>
                <a:latin typeface="Calibri"/>
              </a:rPr>
              <a:t>of 2026, reflecting a Y-o-Y growth rate of</a:t>
            </a:r>
          </a:p>
        </p:txBody>
      </p:sp>
      <p:pic>
        <p:nvPicPr>
          <p:cNvPr id="46" name="Picture 45" descr="lock.png"/>
          <p:cNvPicPr>
            <a:picLocks noChangeAspect="1"/>
          </p:cNvPicPr>
          <p:nvPr/>
        </p:nvPicPr>
        <p:blipFill>
          <a:blip r:embed="rId6"/>
          <a:stretch>
            <a:fillRect/>
          </a:stretch>
        </p:blipFill>
        <p:spPr>
          <a:xfrm>
            <a:off x="10389113" y="2707768"/>
            <a:ext cx="128699" cy="187198"/>
          </a:xfrm>
          <a:prstGeom prst="rect">
            <a:avLst/>
          </a:prstGeom>
        </p:spPr>
      </p:pic>
      <p:sp>
        <p:nvSpPr>
          <p:cNvPr id="47" name="TextBox 46"/>
          <p:cNvSpPr txBox="1"/>
          <p:nvPr/>
        </p:nvSpPr>
        <p:spPr>
          <a:xfrm>
            <a:off x="10556609"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8" name="TextBox 47"/>
          <p:cNvSpPr txBox="1"/>
          <p:nvPr/>
        </p:nvSpPr>
        <p:spPr>
          <a:xfrm>
            <a:off x="8048625" y="2935479"/>
            <a:ext cx="3491210" cy="186689"/>
          </a:xfrm>
          <a:prstGeom prst="rect">
            <a:avLst/>
          </a:prstGeom>
          <a:noFill/>
        </p:spPr>
        <p:txBody>
          <a:bodyPr wrap="none" lIns="0" rIns="0" tIns="0" bIns="0">
            <a:spAutoFit/>
          </a:bodyPr>
          <a:lstStyle/>
          <a:p>
            <a:r>
              <a:rPr sz="1100" b="0">
                <a:solidFill>
                  <a:srgbClr val="2E2E2E"/>
                </a:solidFill>
                <a:latin typeface="Calibri"/>
              </a:rPr>
              <a:t>The market in North America is expected to account for US$</a:t>
            </a:r>
          </a:p>
        </p:txBody>
      </p:sp>
      <p:pic>
        <p:nvPicPr>
          <p:cNvPr id="49" name="Picture 48" descr="lock.png"/>
          <p:cNvPicPr>
            <a:picLocks noChangeAspect="1"/>
          </p:cNvPicPr>
          <p:nvPr/>
        </p:nvPicPr>
        <p:blipFill>
          <a:blip r:embed="rId6"/>
          <a:stretch>
            <a:fillRect/>
          </a:stretch>
        </p:blipFill>
        <p:spPr>
          <a:xfrm>
            <a:off x="8035157" y="3093340"/>
            <a:ext cx="128699" cy="187198"/>
          </a:xfrm>
          <a:prstGeom prst="rect">
            <a:avLst/>
          </a:prstGeom>
        </p:spPr>
      </p:pic>
      <p:sp>
        <p:nvSpPr>
          <p:cNvPr id="50" name="TextBox 49"/>
          <p:cNvSpPr txBox="1"/>
          <p:nvPr/>
        </p:nvSpPr>
        <p:spPr>
          <a:xfrm>
            <a:off x="8202653" y="3103119"/>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51" name="Picture 50" descr="lock.png"/>
          <p:cNvPicPr>
            <a:picLocks noChangeAspect="1"/>
          </p:cNvPicPr>
          <p:nvPr/>
        </p:nvPicPr>
        <p:blipFill>
          <a:blip r:embed="rId6"/>
          <a:stretch>
            <a:fillRect/>
          </a:stretch>
        </p:blipFill>
        <p:spPr>
          <a:xfrm>
            <a:off x="9646261" y="3093340"/>
            <a:ext cx="128699" cy="187198"/>
          </a:xfrm>
          <a:prstGeom prst="rect">
            <a:avLst/>
          </a:prstGeom>
        </p:spPr>
      </p:pic>
      <p:sp>
        <p:nvSpPr>
          <p:cNvPr id="52" name="TextBox 51"/>
          <p:cNvSpPr txBox="1"/>
          <p:nvPr/>
        </p:nvSpPr>
        <p:spPr>
          <a:xfrm>
            <a:off x="9813757" y="3103119"/>
            <a:ext cx="1849462" cy="186689"/>
          </a:xfrm>
          <a:prstGeom prst="rect">
            <a:avLst/>
          </a:prstGeom>
          <a:noFill/>
        </p:spPr>
        <p:txBody>
          <a:bodyPr wrap="none" lIns="0" rIns="0" tIns="0" bIns="0">
            <a:spAutoFit/>
          </a:bodyPr>
          <a:lstStyle/>
          <a:p>
            <a:r>
              <a:rPr sz="1100" b="0">
                <a:solidFill>
                  <a:srgbClr val="2E2E2E"/>
                </a:solidFill>
                <a:latin typeface="Calibri"/>
              </a:rPr>
              <a:t>over the forecast period. North</a:t>
            </a:r>
          </a:p>
        </p:txBody>
      </p:sp>
      <p:sp>
        <p:nvSpPr>
          <p:cNvPr id="53" name="TextBox 52"/>
          <p:cNvSpPr txBox="1"/>
          <p:nvPr/>
        </p:nvSpPr>
        <p:spPr>
          <a:xfrm>
            <a:off x="8048625" y="3270759"/>
            <a:ext cx="3764880" cy="186689"/>
          </a:xfrm>
          <a:prstGeom prst="rect">
            <a:avLst/>
          </a:prstGeom>
          <a:noFill/>
        </p:spPr>
        <p:txBody>
          <a:bodyPr wrap="none" lIns="0" rIns="0" tIns="0" bIns="0">
            <a:spAutoFit/>
          </a:bodyPr>
          <a:lstStyle/>
          <a:p>
            <a:r>
              <a:rPr sz="1100" b="0">
                <a:solidFill>
                  <a:srgbClr val="2E2E2E"/>
                </a:solidFill>
                <a:latin typeface="Calibri"/>
              </a:rPr>
              <a:t>America is expected to create an incremental opportunity of US$</a:t>
            </a:r>
          </a:p>
        </p:txBody>
      </p:sp>
      <p:pic>
        <p:nvPicPr>
          <p:cNvPr id="54" name="Picture 53" descr="lock.png"/>
          <p:cNvPicPr>
            <a:picLocks noChangeAspect="1"/>
          </p:cNvPicPr>
          <p:nvPr/>
        </p:nvPicPr>
        <p:blipFill>
          <a:blip r:embed="rId6"/>
          <a:stretch>
            <a:fillRect/>
          </a:stretch>
        </p:blipFill>
        <p:spPr>
          <a:xfrm>
            <a:off x="8035157" y="3428620"/>
            <a:ext cx="128699" cy="187198"/>
          </a:xfrm>
          <a:prstGeom prst="rect">
            <a:avLst/>
          </a:prstGeom>
        </p:spPr>
      </p:pic>
      <p:sp>
        <p:nvSpPr>
          <p:cNvPr id="55" name="TextBox 54"/>
          <p:cNvSpPr txBox="1"/>
          <p:nvPr/>
        </p:nvSpPr>
        <p:spPr>
          <a:xfrm>
            <a:off x="8202653" y="3438399"/>
            <a:ext cx="3433365" cy="186689"/>
          </a:xfrm>
          <a:prstGeom prst="rect">
            <a:avLst/>
          </a:prstGeom>
          <a:noFill/>
        </p:spPr>
        <p:txBody>
          <a:bodyPr wrap="none" lIns="0" rIns="0" tIns="0" bIns="0">
            <a:spAutoFit/>
          </a:bodyPr>
          <a:lstStyle/>
          <a:p>
            <a:r>
              <a:rPr sz="1100" b="0">
                <a:solidFill>
                  <a:srgbClr val="2E2E2E"/>
                </a:solidFill>
                <a:latin typeface="Calibri"/>
              </a:rPr>
              <a:t>Mn for the overall removable partial dentures market from</a:t>
            </a:r>
          </a:p>
        </p:txBody>
      </p:sp>
      <p:sp>
        <p:nvSpPr>
          <p:cNvPr id="56" name="TextBox 55"/>
          <p:cNvSpPr txBox="1"/>
          <p:nvPr/>
        </p:nvSpPr>
        <p:spPr>
          <a:xfrm>
            <a:off x="8048625" y="3606039"/>
            <a:ext cx="862831" cy="186689"/>
          </a:xfrm>
          <a:prstGeom prst="rect">
            <a:avLst/>
          </a:prstGeom>
          <a:noFill/>
        </p:spPr>
        <p:txBody>
          <a:bodyPr wrap="none" lIns="0" rIns="0" tIns="0" bIns="0">
            <a:spAutoFit/>
          </a:bodyPr>
          <a:lstStyle/>
          <a:p>
            <a:r>
              <a:rPr sz="1100" b="0">
                <a:solidFill>
                  <a:srgbClr val="2E2E2E"/>
                </a:solidFill>
                <a:latin typeface="Calibri"/>
              </a:rPr>
              <a:t>2025 to 2036.</a:t>
            </a:r>
          </a:p>
        </p:txBody>
      </p:sp>
      <p:sp>
        <p:nvSpPr>
          <p:cNvPr id="57" name="TextBox 56"/>
          <p:cNvSpPr txBox="1"/>
          <p:nvPr/>
        </p:nvSpPr>
        <p:spPr>
          <a:xfrm>
            <a:off x="8048625" y="3823971"/>
            <a:ext cx="2837184" cy="186689"/>
          </a:xfrm>
          <a:prstGeom prst="rect">
            <a:avLst/>
          </a:prstGeom>
          <a:noFill/>
        </p:spPr>
        <p:txBody>
          <a:bodyPr wrap="none" lIns="0" rIns="0" tIns="0" bIns="0">
            <a:spAutoFit/>
          </a:bodyPr>
          <a:lstStyle/>
          <a:p>
            <a:r>
              <a:rPr sz="1100" b="0">
                <a:solidFill>
                  <a:srgbClr val="2E2E2E"/>
                </a:solidFill>
                <a:latin typeface="Calibri"/>
              </a:rPr>
              <a:t>Absolute $ value for 2026 is estimated to be US$</a:t>
            </a:r>
          </a:p>
        </p:txBody>
      </p:sp>
      <p:pic>
        <p:nvPicPr>
          <p:cNvPr id="58" name="Picture 57" descr="lock.png"/>
          <p:cNvPicPr>
            <a:picLocks noChangeAspect="1"/>
          </p:cNvPicPr>
          <p:nvPr/>
        </p:nvPicPr>
        <p:blipFill>
          <a:blip r:embed="rId6"/>
          <a:stretch>
            <a:fillRect/>
          </a:stretch>
        </p:blipFill>
        <p:spPr>
          <a:xfrm>
            <a:off x="10833861" y="3814192"/>
            <a:ext cx="128699" cy="187198"/>
          </a:xfrm>
          <a:prstGeom prst="rect">
            <a:avLst/>
          </a:prstGeom>
        </p:spPr>
      </p:pic>
      <p:sp>
        <p:nvSpPr>
          <p:cNvPr id="59" name="TextBox 58"/>
          <p:cNvSpPr txBox="1"/>
          <p:nvPr/>
        </p:nvSpPr>
        <p:spPr>
          <a:xfrm>
            <a:off x="11001357" y="3823971"/>
            <a:ext cx="304303" cy="186689"/>
          </a:xfrm>
          <a:prstGeom prst="rect">
            <a:avLst/>
          </a:prstGeom>
          <a:noFill/>
        </p:spPr>
        <p:txBody>
          <a:bodyPr wrap="none" lIns="0" rIns="0" tIns="0" bIns="0">
            <a:spAutoFit/>
          </a:bodyPr>
          <a:lstStyle/>
          <a:p>
            <a:r>
              <a:rPr sz="1100" b="0">
                <a:solidFill>
                  <a:srgbClr val="2E2E2E"/>
                </a:solidFill>
                <a:latin typeface="Calibri"/>
              </a:rPr>
              <a:t>Mn.</a:t>
            </a:r>
          </a:p>
        </p:txBody>
      </p:sp>
      <p:sp>
        <p:nvSpPr>
          <p:cNvPr id="60" name="TextBox 59"/>
          <p:cNvSpPr txBox="1"/>
          <p:nvPr/>
        </p:nvSpPr>
        <p:spPr>
          <a:xfrm>
            <a:off x="8048625" y="5152979"/>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61" name="Picture 60" descr="lock.png"/>
          <p:cNvPicPr>
            <a:picLocks noChangeAspect="1"/>
          </p:cNvPicPr>
          <p:nvPr/>
        </p:nvPicPr>
        <p:blipFill>
          <a:blip r:embed="rId6"/>
          <a:stretch>
            <a:fillRect/>
          </a:stretch>
        </p:blipFill>
        <p:spPr>
          <a:xfrm>
            <a:off x="10136079" y="5142755"/>
            <a:ext cx="134549" cy="195707"/>
          </a:xfrm>
          <a:prstGeom prst="rect">
            <a:avLst/>
          </a:prstGeom>
        </p:spPr>
      </p:pic>
      <p:sp>
        <p:nvSpPr>
          <p:cNvPr id="62" name="TextBox 61"/>
          <p:cNvSpPr txBox="1"/>
          <p:nvPr/>
        </p:nvSpPr>
        <p:spPr>
          <a:xfrm>
            <a:off x="10311188" y="5152979"/>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3" name="TextBox 62"/>
          <p:cNvSpPr txBox="1"/>
          <p:nvPr/>
        </p:nvSpPr>
        <p:spPr>
          <a:xfrm>
            <a:off x="8048625" y="5380816"/>
            <a:ext cx="3569419" cy="194310"/>
          </a:xfrm>
          <a:prstGeom prst="rect">
            <a:avLst/>
          </a:prstGeom>
          <a:noFill/>
        </p:spPr>
        <p:txBody>
          <a:bodyPr wrap="none" lIns="0" rIns="0" tIns="0" bIns="0">
            <a:spAutoFit/>
          </a:bodyPr>
          <a:lstStyle/>
          <a:p>
            <a:r>
              <a:rPr sz="1150" b="0">
                <a:solidFill>
                  <a:srgbClr val="2E2E2E"/>
                </a:solidFill>
                <a:latin typeface="Calibri"/>
              </a:rPr>
              <a:t>▪ Demand concentrates in 'Flexible Partial Dentures' within</a:t>
            </a:r>
          </a:p>
        </p:txBody>
      </p:sp>
      <p:sp>
        <p:nvSpPr>
          <p:cNvPr id="64" name="TextBox 63"/>
          <p:cNvSpPr txBox="1"/>
          <p:nvPr/>
        </p:nvSpPr>
        <p:spPr>
          <a:xfrm>
            <a:off x="8048625" y="5556076"/>
            <a:ext cx="901154" cy="194310"/>
          </a:xfrm>
          <a:prstGeom prst="rect">
            <a:avLst/>
          </a:prstGeom>
          <a:noFill/>
        </p:spPr>
        <p:txBody>
          <a:bodyPr wrap="none" lIns="0" rIns="0" tIns="0" bIns="0">
            <a:spAutoFit/>
          </a:bodyPr>
          <a:lstStyle/>
          <a:p>
            <a:r>
              <a:rPr sz="1150" b="0">
                <a:solidFill>
                  <a:srgbClr val="2E2E2E"/>
                </a:solidFill>
                <a:latin typeface="Calibri"/>
              </a:rPr>
              <a:t>Product Type.</a:t>
            </a:r>
          </a:p>
        </p:txBody>
      </p:sp>
      <p:sp>
        <p:nvSpPr>
          <p:cNvPr id="65" name="TextBox 64"/>
          <p:cNvSpPr txBox="1"/>
          <p:nvPr/>
        </p:nvSpPr>
        <p:spPr>
          <a:xfrm>
            <a:off x="8048625" y="5783914"/>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66" name="TextBox 65"/>
          <p:cNvSpPr txBox="1"/>
          <p:nvPr/>
        </p:nvSpPr>
        <p:spPr>
          <a:xfrm>
            <a:off x="8048625" y="6011752"/>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7"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5356" y="2029222"/>
            <a:ext cx="202455" cy="294480"/>
          </a:xfrm>
          <a:prstGeom prst="rect">
            <a:avLst/>
          </a:prstGeom>
        </p:spPr>
      </p:pic>
      <p:pic>
        <p:nvPicPr>
          <p:cNvPr id="27" name="Picture 26" descr="lock.png"/>
          <p:cNvPicPr>
            <a:picLocks noChangeAspect="1"/>
          </p:cNvPicPr>
          <p:nvPr/>
        </p:nvPicPr>
        <p:blipFill>
          <a:blip r:embed="rId6"/>
          <a:stretch>
            <a:fillRect/>
          </a:stretch>
        </p:blipFill>
        <p:spPr>
          <a:xfrm>
            <a:off x="8532694" y="1990329"/>
            <a:ext cx="255933" cy="372266"/>
          </a:xfrm>
          <a:prstGeom prst="rect">
            <a:avLst/>
          </a:prstGeom>
        </p:spPr>
      </p:pic>
      <p:pic>
        <p:nvPicPr>
          <p:cNvPr id="28" name="Picture 27" descr="lock.png"/>
          <p:cNvPicPr>
            <a:picLocks noChangeAspect="1"/>
          </p:cNvPicPr>
          <p:nvPr/>
        </p:nvPicPr>
        <p:blipFill>
          <a:blip r:embed="rId6"/>
          <a:stretch>
            <a:fillRect/>
          </a:stretch>
        </p:blipFill>
        <p:spPr>
          <a:xfrm>
            <a:off x="1321594" y="3950970"/>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3950970"/>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3950970"/>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3950970"/>
            <a:ext cx="157162" cy="228600"/>
          </a:xfrm>
          <a:prstGeom prst="rect">
            <a:avLst/>
          </a:prstGeom>
        </p:spPr>
      </p:pic>
      <p:sp>
        <p:nvSpPr>
          <p:cNvPr id="32" name="TextBox 31"/>
          <p:cNvSpPr txBox="1"/>
          <p:nvPr/>
        </p:nvSpPr>
        <p:spPr>
          <a:xfrm>
            <a:off x="276225" y="4876800"/>
            <a:ext cx="4761061" cy="186689"/>
          </a:xfrm>
          <a:prstGeom prst="rect">
            <a:avLst/>
          </a:prstGeom>
          <a:noFill/>
        </p:spPr>
        <p:txBody>
          <a:bodyPr wrap="none" lIns="0" rIns="0" tIns="0" bIns="0">
            <a:spAutoFit/>
          </a:bodyPr>
          <a:lstStyle/>
          <a:p>
            <a:r>
              <a:rPr sz="1100" b="0">
                <a:solidFill>
                  <a:srgbClr val="2E2E2E"/>
                </a:solidFill>
                <a:latin typeface="Calibri"/>
              </a:rPr>
              <a:t>Removable partial dentures market value in North America is expected to increase</a:t>
            </a:r>
          </a:p>
        </p:txBody>
      </p:sp>
      <p:pic>
        <p:nvPicPr>
          <p:cNvPr id="33" name="Picture 32" descr="lock.png"/>
          <p:cNvPicPr>
            <a:picLocks noChangeAspect="1"/>
          </p:cNvPicPr>
          <p:nvPr/>
        </p:nvPicPr>
        <p:blipFill>
          <a:blip r:embed="rId6"/>
          <a:stretch>
            <a:fillRect/>
          </a:stretch>
        </p:blipFill>
        <p:spPr>
          <a:xfrm>
            <a:off x="4985337" y="4867021"/>
            <a:ext cx="128699" cy="187198"/>
          </a:xfrm>
          <a:prstGeom prst="rect">
            <a:avLst/>
          </a:prstGeom>
        </p:spPr>
      </p:pic>
      <p:sp>
        <p:nvSpPr>
          <p:cNvPr id="34" name="TextBox 33"/>
          <p:cNvSpPr txBox="1"/>
          <p:nvPr/>
        </p:nvSpPr>
        <p:spPr>
          <a:xfrm>
            <a:off x="5152833" y="4876800"/>
            <a:ext cx="6393532" cy="186689"/>
          </a:xfrm>
          <a:prstGeom prst="rect">
            <a:avLst/>
          </a:prstGeom>
          <a:noFill/>
        </p:spPr>
        <p:txBody>
          <a:bodyPr wrap="none" lIns="0" rIns="0" tIns="0" bIns="0">
            <a:spAutoFit/>
          </a:bodyPr>
          <a:lstStyle/>
          <a:p>
            <a:r>
              <a:rPr sz="1100" b="0">
                <a:solidFill>
                  <a:srgbClr val="2E2E2E"/>
                </a:solidFill>
                <a:latin typeface="Calibri"/>
              </a:rPr>
              <a:t>X between 2025 and 2036. In 2025, the removable partial dentures market in North America was valued at US$</a:t>
            </a:r>
          </a:p>
        </p:txBody>
      </p:sp>
      <p:pic>
        <p:nvPicPr>
          <p:cNvPr id="35" name="Picture 34" descr="lock.png"/>
          <p:cNvPicPr>
            <a:picLocks noChangeAspect="1"/>
          </p:cNvPicPr>
          <p:nvPr/>
        </p:nvPicPr>
        <p:blipFill>
          <a:blip r:embed="rId6"/>
          <a:stretch>
            <a:fillRect/>
          </a:stretch>
        </p:blipFill>
        <p:spPr>
          <a:xfrm>
            <a:off x="262757" y="5034660"/>
            <a:ext cx="128699" cy="187198"/>
          </a:xfrm>
          <a:prstGeom prst="rect">
            <a:avLst/>
          </a:prstGeom>
        </p:spPr>
      </p:pic>
      <p:sp>
        <p:nvSpPr>
          <p:cNvPr id="36" name="TextBox 35"/>
          <p:cNvSpPr txBox="1"/>
          <p:nvPr/>
        </p:nvSpPr>
        <p:spPr>
          <a:xfrm>
            <a:off x="430253" y="5044440"/>
            <a:ext cx="2325861" cy="186689"/>
          </a:xfrm>
          <a:prstGeom prst="rect">
            <a:avLst/>
          </a:prstGeom>
          <a:noFill/>
        </p:spPr>
        <p:txBody>
          <a:bodyPr wrap="none" lIns="0" rIns="0" tIns="0" bIns="0">
            <a:spAutoFit/>
          </a:bodyPr>
          <a:lstStyle/>
          <a:p>
            <a:r>
              <a:rPr sz="1100" b="0">
                <a:solidFill>
                  <a:srgbClr val="2E2E2E"/>
                </a:solidFill>
                <a:latin typeface="Calibri"/>
              </a:rPr>
              <a:t>Mn and is estimated to account for US$</a:t>
            </a:r>
          </a:p>
        </p:txBody>
      </p:sp>
      <p:pic>
        <p:nvPicPr>
          <p:cNvPr id="37" name="Picture 36" descr="lock.png"/>
          <p:cNvPicPr>
            <a:picLocks noChangeAspect="1"/>
          </p:cNvPicPr>
          <p:nvPr/>
        </p:nvPicPr>
        <p:blipFill>
          <a:blip r:embed="rId6"/>
          <a:stretch>
            <a:fillRect/>
          </a:stretch>
        </p:blipFill>
        <p:spPr>
          <a:xfrm>
            <a:off x="2704166" y="5034660"/>
            <a:ext cx="128699" cy="187198"/>
          </a:xfrm>
          <a:prstGeom prst="rect">
            <a:avLst/>
          </a:prstGeom>
        </p:spPr>
      </p:pic>
      <p:sp>
        <p:nvSpPr>
          <p:cNvPr id="38" name="TextBox 37"/>
          <p:cNvSpPr txBox="1"/>
          <p:nvPr/>
        </p:nvSpPr>
        <p:spPr>
          <a:xfrm>
            <a:off x="2871661" y="5044440"/>
            <a:ext cx="3254920" cy="186689"/>
          </a:xfrm>
          <a:prstGeom prst="rect">
            <a:avLst/>
          </a:prstGeom>
          <a:noFill/>
        </p:spPr>
        <p:txBody>
          <a:bodyPr wrap="none" lIns="0" rIns="0" tIns="0" bIns="0">
            <a:spAutoFit/>
          </a:bodyPr>
          <a:lstStyle/>
          <a:p>
            <a:r>
              <a:rPr sz="1100" b="0">
                <a:solidFill>
                  <a:srgbClr val="2E2E2E"/>
                </a:solidFill>
                <a:latin typeface="Calibri"/>
              </a:rPr>
              <a:t>Mn by the end of 2026, reflecting a Y-o-Y growth rate of</a:t>
            </a:r>
          </a:p>
        </p:txBody>
      </p:sp>
      <p:pic>
        <p:nvPicPr>
          <p:cNvPr id="39" name="Picture 38" descr="lock.png"/>
          <p:cNvPicPr>
            <a:picLocks noChangeAspect="1"/>
          </p:cNvPicPr>
          <p:nvPr/>
        </p:nvPicPr>
        <p:blipFill>
          <a:blip r:embed="rId6"/>
          <a:stretch>
            <a:fillRect/>
          </a:stretch>
        </p:blipFill>
        <p:spPr>
          <a:xfrm>
            <a:off x="6074634" y="5034660"/>
            <a:ext cx="128699" cy="187198"/>
          </a:xfrm>
          <a:prstGeom prst="rect">
            <a:avLst/>
          </a:prstGeom>
        </p:spPr>
      </p:pic>
      <p:sp>
        <p:nvSpPr>
          <p:cNvPr id="40" name="TextBox 39"/>
          <p:cNvSpPr txBox="1"/>
          <p:nvPr/>
        </p:nvSpPr>
        <p:spPr>
          <a:xfrm>
            <a:off x="6242130" y="5044440"/>
            <a:ext cx="3558058" cy="186689"/>
          </a:xfrm>
          <a:prstGeom prst="rect">
            <a:avLst/>
          </a:prstGeom>
          <a:noFill/>
        </p:spPr>
        <p:txBody>
          <a:bodyPr wrap="none" lIns="0" rIns="0" tIns="0" bIns="0">
            <a:spAutoFit/>
          </a:bodyPr>
          <a:lstStyle/>
          <a:p>
            <a:r>
              <a:rPr sz="1100" b="0">
                <a:solidFill>
                  <a:srgbClr val="2E2E2E"/>
                </a:solidFill>
                <a:latin typeface="Calibri"/>
              </a:rPr>
              <a:t>. The market in North America is expected to account for US$</a:t>
            </a:r>
          </a:p>
        </p:txBody>
      </p:sp>
      <p:pic>
        <p:nvPicPr>
          <p:cNvPr id="41" name="Picture 40" descr="lock.png"/>
          <p:cNvPicPr>
            <a:picLocks noChangeAspect="1"/>
          </p:cNvPicPr>
          <p:nvPr/>
        </p:nvPicPr>
        <p:blipFill>
          <a:blip r:embed="rId6"/>
          <a:stretch>
            <a:fillRect/>
          </a:stretch>
        </p:blipFill>
        <p:spPr>
          <a:xfrm>
            <a:off x="9748240" y="5034660"/>
            <a:ext cx="128699" cy="187198"/>
          </a:xfrm>
          <a:prstGeom prst="rect">
            <a:avLst/>
          </a:prstGeom>
        </p:spPr>
      </p:pic>
      <p:sp>
        <p:nvSpPr>
          <p:cNvPr id="42" name="TextBox 41"/>
          <p:cNvSpPr txBox="1"/>
          <p:nvPr/>
        </p:nvSpPr>
        <p:spPr>
          <a:xfrm>
            <a:off x="9915736" y="5044440"/>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43" name="Picture 42" descr="lock.png"/>
          <p:cNvPicPr>
            <a:picLocks noChangeAspect="1"/>
          </p:cNvPicPr>
          <p:nvPr/>
        </p:nvPicPr>
        <p:blipFill>
          <a:blip r:embed="rId6"/>
          <a:stretch>
            <a:fillRect/>
          </a:stretch>
        </p:blipFill>
        <p:spPr>
          <a:xfrm>
            <a:off x="262757" y="5202301"/>
            <a:ext cx="128699" cy="187198"/>
          </a:xfrm>
          <a:prstGeom prst="rect">
            <a:avLst/>
          </a:prstGeom>
        </p:spPr>
      </p:pic>
      <p:sp>
        <p:nvSpPr>
          <p:cNvPr id="44" name="TextBox 43"/>
          <p:cNvSpPr txBox="1"/>
          <p:nvPr/>
        </p:nvSpPr>
        <p:spPr>
          <a:xfrm>
            <a:off x="430253" y="5212080"/>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45" name="TextBox 44"/>
          <p:cNvSpPr txBox="1"/>
          <p:nvPr/>
        </p:nvSpPr>
        <p:spPr>
          <a:xfrm>
            <a:off x="276225" y="5430012"/>
            <a:ext cx="4129682" cy="186689"/>
          </a:xfrm>
          <a:prstGeom prst="rect">
            <a:avLst/>
          </a:prstGeom>
          <a:noFill/>
        </p:spPr>
        <p:txBody>
          <a:bodyPr wrap="none" lIns="0" rIns="0" tIns="0" bIns="0">
            <a:spAutoFit/>
          </a:bodyPr>
          <a:lstStyle/>
          <a:p>
            <a:r>
              <a:rPr sz="1100" b="0">
                <a:solidFill>
                  <a:srgbClr val="2E2E2E"/>
                </a:solidFill>
                <a:latin typeface="Calibri"/>
              </a:rPr>
              <a:t>North America is expected to create an incremental opportunity of US$</a:t>
            </a:r>
          </a:p>
        </p:txBody>
      </p:sp>
      <p:pic>
        <p:nvPicPr>
          <p:cNvPr id="46" name="Picture 45" descr="lock.png"/>
          <p:cNvPicPr>
            <a:picLocks noChangeAspect="1"/>
          </p:cNvPicPr>
          <p:nvPr/>
        </p:nvPicPr>
        <p:blipFill>
          <a:blip r:embed="rId6"/>
          <a:stretch>
            <a:fillRect/>
          </a:stretch>
        </p:blipFill>
        <p:spPr>
          <a:xfrm>
            <a:off x="4353959" y="5420233"/>
            <a:ext cx="128699" cy="187198"/>
          </a:xfrm>
          <a:prstGeom prst="rect">
            <a:avLst/>
          </a:prstGeom>
        </p:spPr>
      </p:pic>
      <p:sp>
        <p:nvSpPr>
          <p:cNvPr id="47" name="TextBox 46"/>
          <p:cNvSpPr txBox="1"/>
          <p:nvPr/>
        </p:nvSpPr>
        <p:spPr>
          <a:xfrm>
            <a:off x="4521455" y="5430012"/>
            <a:ext cx="7044283" cy="186689"/>
          </a:xfrm>
          <a:prstGeom prst="rect">
            <a:avLst/>
          </a:prstGeom>
          <a:noFill/>
        </p:spPr>
        <p:txBody>
          <a:bodyPr wrap="none" lIns="0" rIns="0" tIns="0" bIns="0">
            <a:spAutoFit/>
          </a:bodyPr>
          <a:lstStyle/>
          <a:p>
            <a:r>
              <a:rPr sz="1100" b="0">
                <a:solidFill>
                  <a:srgbClr val="2E2E2E"/>
                </a:solidFill>
                <a:latin typeface="Calibri"/>
              </a:rPr>
              <a:t>Mn for the overall removable partial dentures market from 2025 to 2036. Absolute $ value for 2026 is estimated to be US$</a:t>
            </a:r>
          </a:p>
        </p:txBody>
      </p:sp>
      <p:pic>
        <p:nvPicPr>
          <p:cNvPr id="48" name="Picture 47" descr="lock.png"/>
          <p:cNvPicPr>
            <a:picLocks noChangeAspect="1"/>
          </p:cNvPicPr>
          <p:nvPr/>
        </p:nvPicPr>
        <p:blipFill>
          <a:blip r:embed="rId6"/>
          <a:stretch>
            <a:fillRect/>
          </a:stretch>
        </p:blipFill>
        <p:spPr>
          <a:xfrm>
            <a:off x="262757" y="5587873"/>
            <a:ext cx="128699" cy="187198"/>
          </a:xfrm>
          <a:prstGeom prst="rect">
            <a:avLst/>
          </a:prstGeom>
        </p:spPr>
      </p:pic>
      <p:sp>
        <p:nvSpPr>
          <p:cNvPr id="49" name="TextBox 48"/>
          <p:cNvSpPr txBox="1"/>
          <p:nvPr/>
        </p:nvSpPr>
        <p:spPr>
          <a:xfrm>
            <a:off x="430253" y="5597652"/>
            <a:ext cx="4507855" cy="186689"/>
          </a:xfrm>
          <a:prstGeom prst="rect">
            <a:avLst/>
          </a:prstGeom>
          <a:noFill/>
        </p:spPr>
        <p:txBody>
          <a:bodyPr wrap="none" lIns="0" rIns="0" tIns="0" bIns="0">
            <a:spAutoFit/>
          </a:bodyPr>
          <a:lstStyle/>
          <a:p>
            <a:r>
              <a:rPr sz="1100" b="0">
                <a:solidFill>
                  <a:srgbClr val="2E2E2E"/>
                </a:solidFill>
                <a:latin typeface="Calibri"/>
              </a:rPr>
              <a:t>Mn. North America removable partial dentures market is projected to register</a:t>
            </a:r>
          </a:p>
        </p:txBody>
      </p:sp>
      <p:pic>
        <p:nvPicPr>
          <p:cNvPr id="50" name="Picture 49" descr="lock.png"/>
          <p:cNvPicPr>
            <a:picLocks noChangeAspect="1"/>
          </p:cNvPicPr>
          <p:nvPr/>
        </p:nvPicPr>
        <p:blipFill>
          <a:blip r:embed="rId6"/>
          <a:stretch>
            <a:fillRect/>
          </a:stretch>
        </p:blipFill>
        <p:spPr>
          <a:xfrm>
            <a:off x="4886160" y="5587873"/>
            <a:ext cx="128699" cy="187198"/>
          </a:xfrm>
          <a:prstGeom prst="rect">
            <a:avLst/>
          </a:prstGeom>
        </p:spPr>
      </p:pic>
      <p:sp>
        <p:nvSpPr>
          <p:cNvPr id="51" name="TextBox 50"/>
          <p:cNvSpPr txBox="1"/>
          <p:nvPr/>
        </p:nvSpPr>
        <p:spPr>
          <a:xfrm>
            <a:off x="5053655" y="5597652"/>
            <a:ext cx="3314948"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 2036.</a:t>
            </a:r>
          </a:p>
        </p:txBody>
      </p:sp>
      <p:sp>
        <p:nvSpPr>
          <p:cNvPr id="52" name="TextBox 51"/>
          <p:cNvSpPr txBox="1"/>
          <p:nvPr/>
        </p:nvSpPr>
        <p:spPr>
          <a:xfrm>
            <a:off x="276225" y="5815584"/>
            <a:ext cx="3884116" cy="186689"/>
          </a:xfrm>
          <a:prstGeom prst="rect">
            <a:avLst/>
          </a:prstGeom>
          <a:noFill/>
        </p:spPr>
        <p:txBody>
          <a:bodyPr wrap="none" lIns="0" rIns="0" tIns="0" bIns="0">
            <a:spAutoFit/>
          </a:bodyPr>
          <a:lstStyle/>
          <a:p>
            <a:r>
              <a:rPr sz="1100" b="0">
                <a:solidFill>
                  <a:srgbClr val="2E2E2E"/>
                </a:solidFill>
                <a:latin typeface="Calibri"/>
              </a:rPr>
              <a:t>North America removable partial dentures market volume stood at</a:t>
            </a:r>
          </a:p>
        </p:txBody>
      </p:sp>
      <p:pic>
        <p:nvPicPr>
          <p:cNvPr id="53" name="Picture 52" descr="lock.png"/>
          <p:cNvPicPr>
            <a:picLocks noChangeAspect="1"/>
          </p:cNvPicPr>
          <p:nvPr/>
        </p:nvPicPr>
        <p:blipFill>
          <a:blip r:embed="rId6"/>
          <a:stretch>
            <a:fillRect/>
          </a:stretch>
        </p:blipFill>
        <p:spPr>
          <a:xfrm>
            <a:off x="4108393" y="5805805"/>
            <a:ext cx="128699" cy="187198"/>
          </a:xfrm>
          <a:prstGeom prst="rect">
            <a:avLst/>
          </a:prstGeom>
        </p:spPr>
      </p:pic>
      <p:sp>
        <p:nvSpPr>
          <p:cNvPr id="54" name="TextBox 53"/>
          <p:cNvSpPr txBox="1"/>
          <p:nvPr/>
        </p:nvSpPr>
        <p:spPr>
          <a:xfrm>
            <a:off x="4275888" y="5815584"/>
            <a:ext cx="2245097" cy="186689"/>
          </a:xfrm>
          <a:prstGeom prst="rect">
            <a:avLst/>
          </a:prstGeom>
          <a:noFill/>
        </p:spPr>
        <p:txBody>
          <a:bodyPr wrap="none" lIns="0" rIns="0" tIns="0" bIns="0">
            <a:spAutoFit/>
          </a:bodyPr>
          <a:lstStyle/>
          <a:p>
            <a:r>
              <a:rPr sz="1100" b="0">
                <a:solidFill>
                  <a:srgbClr val="2E2E2E"/>
                </a:solidFill>
                <a:latin typeface="Calibri"/>
              </a:rPr>
              <a:t>Units in 2025 and is expected to reach</a:t>
            </a:r>
          </a:p>
        </p:txBody>
      </p:sp>
      <p:pic>
        <p:nvPicPr>
          <p:cNvPr id="55" name="Picture 54" descr="lock.png"/>
          <p:cNvPicPr>
            <a:picLocks noChangeAspect="1"/>
          </p:cNvPicPr>
          <p:nvPr/>
        </p:nvPicPr>
        <p:blipFill>
          <a:blip r:embed="rId6"/>
          <a:stretch>
            <a:fillRect/>
          </a:stretch>
        </p:blipFill>
        <p:spPr>
          <a:xfrm>
            <a:off x="6469037" y="5805805"/>
            <a:ext cx="128699" cy="187198"/>
          </a:xfrm>
          <a:prstGeom prst="rect">
            <a:avLst/>
          </a:prstGeom>
        </p:spPr>
      </p:pic>
      <p:sp>
        <p:nvSpPr>
          <p:cNvPr id="56" name="TextBox 55"/>
          <p:cNvSpPr txBox="1"/>
          <p:nvPr/>
        </p:nvSpPr>
        <p:spPr>
          <a:xfrm>
            <a:off x="6636533" y="5815584"/>
            <a:ext cx="1882460" cy="186689"/>
          </a:xfrm>
          <a:prstGeom prst="rect">
            <a:avLst/>
          </a:prstGeom>
          <a:noFill/>
        </p:spPr>
        <p:txBody>
          <a:bodyPr wrap="none" lIns="0" rIns="0" tIns="0" bIns="0">
            <a:spAutoFit/>
          </a:bodyPr>
          <a:lstStyle/>
          <a:p>
            <a:r>
              <a:rPr sz="1100" b="0">
                <a:solidFill>
                  <a:srgbClr val="2E2E2E"/>
                </a:solidFill>
                <a:latin typeface="Calibri"/>
              </a:rPr>
              <a:t>Units by 2036 end, at a CAGR of</a:t>
            </a:r>
          </a:p>
        </p:txBody>
      </p:sp>
      <p:pic>
        <p:nvPicPr>
          <p:cNvPr id="57" name="Picture 56" descr="lock.png"/>
          <p:cNvPicPr>
            <a:picLocks noChangeAspect="1"/>
          </p:cNvPicPr>
          <p:nvPr/>
        </p:nvPicPr>
        <p:blipFill>
          <a:blip r:embed="rId6"/>
          <a:stretch>
            <a:fillRect/>
          </a:stretch>
        </p:blipFill>
        <p:spPr>
          <a:xfrm>
            <a:off x="8467045" y="5805805"/>
            <a:ext cx="128699" cy="187198"/>
          </a:xfrm>
          <a:prstGeom prst="rect">
            <a:avLst/>
          </a:prstGeom>
        </p:spPr>
      </p:pic>
      <p:sp>
        <p:nvSpPr>
          <p:cNvPr id="58" name="TextBox 57"/>
          <p:cNvSpPr txBox="1"/>
          <p:nvPr/>
        </p:nvSpPr>
        <p:spPr>
          <a:xfrm>
            <a:off x="8634541" y="5815584"/>
            <a:ext cx="3029818" cy="186689"/>
          </a:xfrm>
          <a:prstGeom prst="rect">
            <a:avLst/>
          </a:prstGeom>
          <a:noFill/>
        </p:spPr>
        <p:txBody>
          <a:bodyPr wrap="none" lIns="0" rIns="0" tIns="0" bIns="0">
            <a:spAutoFit/>
          </a:bodyPr>
          <a:lstStyle/>
          <a:p>
            <a:r>
              <a:rPr sz="1100" b="0">
                <a:solidFill>
                  <a:srgbClr val="2E2E2E"/>
                </a:solidFill>
                <a:latin typeface="Calibri"/>
              </a:rPr>
              <a:t>. Value is projected to grow faster than volume over</a:t>
            </a:r>
          </a:p>
        </p:txBody>
      </p:sp>
      <p:sp>
        <p:nvSpPr>
          <p:cNvPr id="59" name="TextBox 58"/>
          <p:cNvSpPr txBox="1"/>
          <p:nvPr/>
        </p:nvSpPr>
        <p:spPr>
          <a:xfrm>
            <a:off x="276225" y="5983224"/>
            <a:ext cx="3765153" cy="186689"/>
          </a:xfrm>
          <a:prstGeom prst="rect">
            <a:avLst/>
          </a:prstGeom>
          <a:noFill/>
        </p:spPr>
        <p:txBody>
          <a:bodyPr wrap="none" lIns="0" rIns="0" tIns="0" bIns="0">
            <a:spAutoFit/>
          </a:bodyPr>
          <a:lstStyle/>
          <a:p>
            <a:r>
              <a:rPr sz="1100" b="0">
                <a:solidFill>
                  <a:srgbClr val="2E2E2E"/>
                </a:solidFill>
                <a:latin typeface="Calibri"/>
              </a:rPr>
              <a:t>the forecast period, owing to an increase in average selling price.</a:t>
            </a:r>
          </a:p>
        </p:txBody>
      </p:sp>
      <p:sp>
        <p:nvSpPr>
          <p:cNvPr id="60" name="lockshield_13"/>
          <p:cNvSpPr/>
          <p:nvPr/>
        </p:nvSpPr>
        <p:spPr>
          <a:xfrm>
            <a:off x="238125" y="1266825"/>
            <a:ext cx="4505325"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16"/>
          <p:cNvSpPr/>
          <p:nvPr/>
        </p:nvSpPr>
        <p:spPr>
          <a:xfrm>
            <a:off x="5086350" y="1266825"/>
            <a:ext cx="6858000"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68"/>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42971">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42971">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91858"/>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4210050" y="4384869"/>
            <a:ext cx="3743325" cy="1493741"/>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14776" cy="2159450"/>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5666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5666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6"/>
          <a:stretch>
            <a:fillRect/>
          </a:stretch>
        </p:blipFill>
        <p:spPr>
          <a:xfrm>
            <a:off x="3188017" y="2125483"/>
            <a:ext cx="183356" cy="266700"/>
          </a:xfrm>
          <a:prstGeom prst="rect">
            <a:avLst/>
          </a:prstGeom>
        </p:spPr>
      </p:pic>
      <p:pic>
        <p:nvPicPr>
          <p:cNvPr id="29" name="Picture 28" descr="lock.png"/>
          <p:cNvPicPr>
            <a:picLocks noChangeAspect="1"/>
          </p:cNvPicPr>
          <p:nvPr/>
        </p:nvPicPr>
        <p:blipFill>
          <a:blip r:embed="rId6"/>
          <a:stretch>
            <a:fillRect/>
          </a:stretch>
        </p:blipFill>
        <p:spPr>
          <a:xfrm>
            <a:off x="2232897" y="4496595"/>
            <a:ext cx="355389" cy="516930"/>
          </a:xfrm>
          <a:prstGeom prst="rect">
            <a:avLst/>
          </a:prstGeom>
        </p:spPr>
      </p:pic>
      <p:pic>
        <p:nvPicPr>
          <p:cNvPr id="30" name="Picture 29" descr="lock.png"/>
          <p:cNvPicPr>
            <a:picLocks noChangeAspect="1"/>
          </p:cNvPicPr>
          <p:nvPr/>
        </p:nvPicPr>
        <p:blipFill>
          <a:blip r:embed="rId6"/>
          <a:stretch>
            <a:fillRect/>
          </a:stretch>
        </p:blipFill>
        <p:spPr>
          <a:xfrm>
            <a:off x="6024086" y="2838940"/>
            <a:ext cx="115252" cy="167639"/>
          </a:xfrm>
          <a:prstGeom prst="rect">
            <a:avLst/>
          </a:prstGeom>
        </p:spPr>
      </p:pic>
      <p:pic>
        <p:nvPicPr>
          <p:cNvPr id="31" name="Picture 30" descr="lock.png"/>
          <p:cNvPicPr>
            <a:picLocks noChangeAspect="1"/>
          </p:cNvPicPr>
          <p:nvPr/>
        </p:nvPicPr>
        <p:blipFill>
          <a:blip r:embed="rId6"/>
          <a:stretch>
            <a:fillRect/>
          </a:stretch>
        </p:blipFill>
        <p:spPr>
          <a:xfrm>
            <a:off x="6024086" y="5131739"/>
            <a:ext cx="115252" cy="167639"/>
          </a:xfrm>
          <a:prstGeom prst="rect">
            <a:avLst/>
          </a:prstGeom>
        </p:spPr>
      </p:pic>
      <p:pic>
        <p:nvPicPr>
          <p:cNvPr id="32" name="Picture 31" descr="lock.png"/>
          <p:cNvPicPr>
            <a:picLocks noChangeAspect="1"/>
          </p:cNvPicPr>
          <p:nvPr/>
        </p:nvPicPr>
        <p:blipFill>
          <a:blip r:embed="rId6"/>
          <a:stretch>
            <a:fillRect/>
          </a:stretch>
        </p:blipFill>
        <p:spPr>
          <a:xfrm>
            <a:off x="11131867" y="2120920"/>
            <a:ext cx="183356" cy="266700"/>
          </a:xfrm>
          <a:prstGeom prst="rect">
            <a:avLst/>
          </a:prstGeom>
        </p:spPr>
      </p:pic>
      <p:pic>
        <p:nvPicPr>
          <p:cNvPr id="33" name="Picture 32" descr="lock.png"/>
          <p:cNvPicPr>
            <a:picLocks noChangeAspect="1"/>
          </p:cNvPicPr>
          <p:nvPr/>
        </p:nvPicPr>
        <p:blipFill>
          <a:blip r:embed="rId6"/>
          <a:stretch>
            <a:fillRect/>
          </a:stretch>
        </p:blipFill>
        <p:spPr>
          <a:xfrm>
            <a:off x="10175439" y="4490163"/>
            <a:ext cx="357960" cy="520669"/>
          </a:xfrm>
          <a:prstGeom prst="rect">
            <a:avLst/>
          </a:prstGeom>
        </p:spPr>
      </p:pic>
      <p:sp>
        <p:nvSpPr>
          <p:cNvPr id="34" name="TextBox 33"/>
          <p:cNvSpPr txBox="1"/>
          <p:nvPr/>
        </p:nvSpPr>
        <p:spPr>
          <a:xfrm>
            <a:off x="257175" y="6160574"/>
            <a:ext cx="3881387" cy="186689"/>
          </a:xfrm>
          <a:prstGeom prst="rect">
            <a:avLst/>
          </a:prstGeom>
          <a:noFill/>
        </p:spPr>
        <p:txBody>
          <a:bodyPr wrap="none" lIns="0" rIns="0" tIns="0" bIns="0">
            <a:spAutoFit/>
          </a:bodyPr>
          <a:lstStyle/>
          <a:p>
            <a:r>
              <a:rPr sz="1100" b="0">
                <a:solidFill>
                  <a:srgbClr val="2E2E2E"/>
                </a:solidFill>
                <a:latin typeface="Calibri"/>
              </a:rPr>
              <a:t>The U.S. removable partial dentures market is projected to register</a:t>
            </a:r>
          </a:p>
        </p:txBody>
      </p:sp>
      <p:pic>
        <p:nvPicPr>
          <p:cNvPr id="35" name="Picture 34" descr="lock.png"/>
          <p:cNvPicPr>
            <a:picLocks noChangeAspect="1"/>
          </p:cNvPicPr>
          <p:nvPr/>
        </p:nvPicPr>
        <p:blipFill>
          <a:blip r:embed="rId6"/>
          <a:stretch>
            <a:fillRect/>
          </a:stretch>
        </p:blipFill>
        <p:spPr>
          <a:xfrm>
            <a:off x="4086614" y="6150795"/>
            <a:ext cx="128699" cy="187198"/>
          </a:xfrm>
          <a:prstGeom prst="rect">
            <a:avLst/>
          </a:prstGeom>
        </p:spPr>
      </p:pic>
      <p:sp>
        <p:nvSpPr>
          <p:cNvPr id="36" name="TextBox 35"/>
          <p:cNvSpPr txBox="1"/>
          <p:nvPr/>
        </p:nvSpPr>
        <p:spPr>
          <a:xfrm>
            <a:off x="4254110" y="6160574"/>
            <a:ext cx="4339761" cy="186689"/>
          </a:xfrm>
          <a:prstGeom prst="rect">
            <a:avLst/>
          </a:prstGeom>
          <a:noFill/>
        </p:spPr>
        <p:txBody>
          <a:bodyPr wrap="none" lIns="0" rIns="0" tIns="0" bIns="0">
            <a:spAutoFit/>
          </a:bodyPr>
          <a:lstStyle/>
          <a:p>
            <a:r>
              <a:rPr sz="1100" b="0">
                <a:solidFill>
                  <a:srgbClr val="2E2E2E"/>
                </a:solidFill>
                <a:latin typeface="Calibri"/>
              </a:rPr>
              <a:t>X higher value than Canada in 2036. Canada posts the highest CAGR Index (</a:t>
            </a:r>
          </a:p>
        </p:txBody>
      </p:sp>
      <p:pic>
        <p:nvPicPr>
          <p:cNvPr id="37" name="Picture 36" descr="lock.png"/>
          <p:cNvPicPr>
            <a:picLocks noChangeAspect="1"/>
          </p:cNvPicPr>
          <p:nvPr/>
        </p:nvPicPr>
        <p:blipFill>
          <a:blip r:embed="rId6"/>
          <a:stretch>
            <a:fillRect/>
          </a:stretch>
        </p:blipFill>
        <p:spPr>
          <a:xfrm>
            <a:off x="8541923" y="6150795"/>
            <a:ext cx="128699" cy="187198"/>
          </a:xfrm>
          <a:prstGeom prst="rect">
            <a:avLst/>
          </a:prstGeom>
        </p:spPr>
      </p:pic>
      <p:sp>
        <p:nvSpPr>
          <p:cNvPr id="38" name="TextBox 37"/>
          <p:cNvSpPr txBox="1"/>
          <p:nvPr/>
        </p:nvSpPr>
        <p:spPr>
          <a:xfrm>
            <a:off x="8709419"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39" name="Picture 38" descr="lock.png"/>
          <p:cNvPicPr>
            <a:picLocks noChangeAspect="1"/>
          </p:cNvPicPr>
          <p:nvPr/>
        </p:nvPicPr>
        <p:blipFill>
          <a:blip r:embed="rId6"/>
          <a:stretch>
            <a:fillRect/>
          </a:stretch>
        </p:blipFill>
        <p:spPr>
          <a:xfrm>
            <a:off x="9447450" y="6150795"/>
            <a:ext cx="128699" cy="187198"/>
          </a:xfrm>
          <a:prstGeom prst="rect">
            <a:avLst/>
          </a:prstGeom>
        </p:spPr>
      </p:pic>
      <p:sp>
        <p:nvSpPr>
          <p:cNvPr id="40" name="TextBox 39"/>
          <p:cNvSpPr txBox="1"/>
          <p:nvPr/>
        </p:nvSpPr>
        <p:spPr>
          <a:xfrm>
            <a:off x="9614946" y="6160574"/>
            <a:ext cx="1069106" cy="186689"/>
          </a:xfrm>
          <a:prstGeom prst="rect">
            <a:avLst/>
          </a:prstGeom>
          <a:noFill/>
        </p:spPr>
        <p:txBody>
          <a:bodyPr wrap="none" lIns="0" rIns="0" tIns="0" bIns="0">
            <a:spAutoFit/>
          </a:bodyPr>
          <a:lstStyle/>
          <a:p>
            <a:r>
              <a:rPr sz="1100" b="0">
                <a:solidFill>
                  <a:srgbClr val="2E2E2E"/>
                </a:solidFill>
                <a:latin typeface="Calibri"/>
              </a:rPr>
              <a:t>against the North</a:t>
            </a:r>
          </a:p>
        </p:txBody>
      </p:sp>
      <p:sp>
        <p:nvSpPr>
          <p:cNvPr id="41" name="TextBox 40"/>
          <p:cNvSpPr txBox="1"/>
          <p:nvPr/>
        </p:nvSpPr>
        <p:spPr>
          <a:xfrm>
            <a:off x="257175" y="6328214"/>
            <a:ext cx="4080842" cy="186689"/>
          </a:xfrm>
          <a:prstGeom prst="rect">
            <a:avLst/>
          </a:prstGeom>
          <a:noFill/>
        </p:spPr>
        <p:txBody>
          <a:bodyPr wrap="none" lIns="0" rIns="0" tIns="0" bIns="0">
            <a:spAutoFit/>
          </a:bodyPr>
          <a:lstStyle/>
          <a:p>
            <a:r>
              <a:rPr sz="1100" b="0">
                <a:solidFill>
                  <a:srgbClr val="2E2E2E"/>
                </a:solidFill>
                <a:latin typeface="Calibri"/>
              </a:rPr>
              <a:t>America benchmark, while U.S. offers the largest absolute opportunity</a:t>
            </a:r>
          </a:p>
        </p:txBody>
      </p:sp>
      <p:pic>
        <p:nvPicPr>
          <p:cNvPr id="42" name="Picture 41" descr="lock.png"/>
          <p:cNvPicPr>
            <a:picLocks noChangeAspect="1"/>
          </p:cNvPicPr>
          <p:nvPr/>
        </p:nvPicPr>
        <p:blipFill>
          <a:blip r:embed="rId6"/>
          <a:stretch>
            <a:fillRect/>
          </a:stretch>
        </p:blipFill>
        <p:spPr>
          <a:xfrm>
            <a:off x="4286068" y="6318435"/>
            <a:ext cx="128699" cy="187198"/>
          </a:xfrm>
          <a:prstGeom prst="rect">
            <a:avLst/>
          </a:prstGeom>
        </p:spPr>
      </p:pic>
      <p:sp>
        <p:nvSpPr>
          <p:cNvPr id="43" name="TextBox 42"/>
          <p:cNvSpPr txBox="1"/>
          <p:nvPr/>
        </p:nvSpPr>
        <p:spPr>
          <a:xfrm>
            <a:off x="4453564"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44" name="Picture 43" descr="lock.png"/>
          <p:cNvPicPr>
            <a:picLocks noChangeAspect="1"/>
          </p:cNvPicPr>
          <p:nvPr/>
        </p:nvPicPr>
        <p:blipFill>
          <a:blip r:embed="rId6"/>
          <a:stretch>
            <a:fillRect/>
          </a:stretch>
        </p:blipFill>
        <p:spPr>
          <a:xfrm>
            <a:off x="7713563" y="6318435"/>
            <a:ext cx="128699" cy="187198"/>
          </a:xfrm>
          <a:prstGeom prst="rect">
            <a:avLst/>
          </a:prstGeom>
        </p:spPr>
      </p:pic>
      <p:sp>
        <p:nvSpPr>
          <p:cNvPr id="45" name="TextBox 44"/>
          <p:cNvSpPr txBox="1"/>
          <p:nvPr/>
        </p:nvSpPr>
        <p:spPr>
          <a:xfrm>
            <a:off x="7881058" y="6328214"/>
            <a:ext cx="1973336" cy="186689"/>
          </a:xfrm>
          <a:prstGeom prst="rect">
            <a:avLst/>
          </a:prstGeom>
          <a:noFill/>
        </p:spPr>
        <p:txBody>
          <a:bodyPr wrap="none" lIns="0" rIns="0" tIns="0" bIns="0">
            <a:spAutoFit/>
          </a:bodyPr>
          <a:lstStyle/>
          <a:p>
            <a:r>
              <a:rPr sz="1100" b="0">
                <a:solidFill>
                  <a:srgbClr val="2E2E2E"/>
                </a:solidFill>
                <a:latin typeface="Calibri"/>
              </a:rPr>
              <a:t>of the North America increment).</a:t>
            </a:r>
          </a:p>
        </p:txBody>
      </p:sp>
      <p:sp>
        <p:nvSpPr>
          <p:cNvPr id="46"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22"/>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'Cast Metal Partial Dentures'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916573" cy="194310"/>
          </a:xfrm>
          <a:prstGeom prst="rect">
            <a:avLst/>
          </a:prstGeom>
          <a:noFill/>
        </p:spPr>
        <p:txBody>
          <a:bodyPr wrap="none" lIns="0" rIns="0" tIns="0" bIns="0">
            <a:spAutoFit/>
          </a:bodyPr>
          <a:lstStyle/>
          <a:p>
            <a:r>
              <a:rPr sz="1150" b="0">
                <a:solidFill>
                  <a:srgbClr val="2E2E2E"/>
                </a:solidFill>
                <a:latin typeface="Calibri"/>
              </a:rPr>
              <a:t>Global removable partial dentures market is expected to witness</a:t>
            </a:r>
          </a:p>
        </p:txBody>
      </p:sp>
      <p:pic>
        <p:nvPicPr>
          <p:cNvPr id="32" name="Picture 31" descr="lock.png"/>
          <p:cNvPicPr>
            <a:picLocks noChangeAspect="1"/>
          </p:cNvPicPr>
          <p:nvPr/>
        </p:nvPicPr>
        <p:blipFill>
          <a:blip r:embed="rId4"/>
          <a:stretch>
            <a:fillRect/>
          </a:stretch>
        </p:blipFill>
        <p:spPr>
          <a:xfrm>
            <a:off x="4141952" y="1389951"/>
            <a:ext cx="134549" cy="195707"/>
          </a:xfrm>
          <a:prstGeom prst="rect">
            <a:avLst/>
          </a:prstGeom>
        </p:spPr>
      </p:pic>
      <p:sp>
        <p:nvSpPr>
          <p:cNvPr id="33" name="TextBox 32"/>
          <p:cNvSpPr txBox="1"/>
          <p:nvPr/>
        </p:nvSpPr>
        <p:spPr>
          <a:xfrm>
            <a:off x="4317061" y="1400175"/>
            <a:ext cx="5805239" cy="194310"/>
          </a:xfrm>
          <a:prstGeom prst="rect">
            <a:avLst/>
          </a:prstGeom>
          <a:noFill/>
        </p:spPr>
        <p:txBody>
          <a:bodyPr wrap="none" lIns="0" rIns="0" tIns="0" bIns="0">
            <a:spAutoFit/>
          </a:bodyPr>
          <a:lstStyle/>
          <a:p>
            <a:r>
              <a:rPr sz="1150" b="0">
                <a:solidFill>
                  <a:srgbClr val="2E2E2E"/>
                </a:solidFill>
                <a:latin typeface="Calibri"/>
              </a:rPr>
              <a:t>X increase in revenue by 2036 end. Global removable partial dentures market accounted for US$</a:t>
            </a:r>
          </a:p>
        </p:txBody>
      </p:sp>
      <p:pic>
        <p:nvPicPr>
          <p:cNvPr id="34" name="Picture 33" descr="lock.png"/>
          <p:cNvPicPr>
            <a:picLocks noChangeAspect="1"/>
          </p:cNvPicPr>
          <p:nvPr/>
        </p:nvPicPr>
        <p:blipFill>
          <a:blip r:embed="rId4"/>
          <a:stretch>
            <a:fillRect/>
          </a:stretch>
        </p:blipFill>
        <p:spPr>
          <a:xfrm>
            <a:off x="10071454" y="1389951"/>
            <a:ext cx="134549" cy="195707"/>
          </a:xfrm>
          <a:prstGeom prst="rect">
            <a:avLst/>
          </a:prstGeom>
        </p:spPr>
      </p:pic>
      <p:sp>
        <p:nvSpPr>
          <p:cNvPr id="35" name="TextBox 34"/>
          <p:cNvSpPr txBox="1"/>
          <p:nvPr/>
        </p:nvSpPr>
        <p:spPr>
          <a:xfrm>
            <a:off x="10246564" y="1400175"/>
            <a:ext cx="1297942" cy="194310"/>
          </a:xfrm>
          <a:prstGeom prst="rect">
            <a:avLst/>
          </a:prstGeom>
          <a:noFill/>
        </p:spPr>
        <p:txBody>
          <a:bodyPr wrap="none" lIns="0" rIns="0" tIns="0" bIns="0">
            <a:spAutoFit/>
          </a:bodyPr>
          <a:lstStyle/>
          <a:p>
            <a:r>
              <a:rPr sz="1150" b="0">
                <a:solidFill>
                  <a:srgbClr val="2E2E2E"/>
                </a:solidFill>
                <a:latin typeface="Calibri"/>
              </a:rPr>
              <a:t>Mn in 2025, which is</a:t>
            </a:r>
          </a:p>
        </p:txBody>
      </p:sp>
      <p:sp>
        <p:nvSpPr>
          <p:cNvPr id="36" name="TextBox 35"/>
          <p:cNvSpPr txBox="1"/>
          <p:nvPr/>
        </p:nvSpPr>
        <p:spPr>
          <a:xfrm>
            <a:off x="276225" y="1575435"/>
            <a:ext cx="1737518" cy="194310"/>
          </a:xfrm>
          <a:prstGeom prst="rect">
            <a:avLst/>
          </a:prstGeom>
          <a:noFill/>
        </p:spPr>
        <p:txBody>
          <a:bodyPr wrap="none" lIns="0" rIns="0" tIns="0" bIns="0">
            <a:spAutoFit/>
          </a:bodyPr>
          <a:lstStyle/>
          <a:p>
            <a:r>
              <a:rPr sz="1150" b="0">
                <a:solidFill>
                  <a:srgbClr val="2E2E2E"/>
                </a:solidFill>
                <a:latin typeface="Calibri"/>
              </a:rPr>
              <a:t>expected to increase to US$</a:t>
            </a:r>
          </a:p>
        </p:txBody>
      </p:sp>
      <p:pic>
        <p:nvPicPr>
          <p:cNvPr id="37" name="Picture 36" descr="lock.png"/>
          <p:cNvPicPr>
            <a:picLocks noChangeAspect="1"/>
          </p:cNvPicPr>
          <p:nvPr/>
        </p:nvPicPr>
        <p:blipFill>
          <a:blip r:embed="rId4"/>
          <a:stretch>
            <a:fillRect/>
          </a:stretch>
        </p:blipFill>
        <p:spPr>
          <a:xfrm>
            <a:off x="1962897" y="1565211"/>
            <a:ext cx="134549" cy="195707"/>
          </a:xfrm>
          <a:prstGeom prst="rect">
            <a:avLst/>
          </a:prstGeom>
        </p:spPr>
      </p:pic>
      <p:sp>
        <p:nvSpPr>
          <p:cNvPr id="38" name="TextBox 37"/>
          <p:cNvSpPr txBox="1"/>
          <p:nvPr/>
        </p:nvSpPr>
        <p:spPr>
          <a:xfrm>
            <a:off x="2138006" y="1575435"/>
            <a:ext cx="1527554" cy="194310"/>
          </a:xfrm>
          <a:prstGeom prst="rect">
            <a:avLst/>
          </a:prstGeom>
          <a:noFill/>
        </p:spPr>
        <p:txBody>
          <a:bodyPr wrap="none" lIns="0" rIns="0" tIns="0" bIns="0">
            <a:spAutoFit/>
          </a:bodyPr>
          <a:lstStyle/>
          <a:p>
            <a:r>
              <a:rPr sz="1150" b="0">
                <a:solidFill>
                  <a:srgbClr val="2E2E2E"/>
                </a:solidFill>
                <a:latin typeface="Calibri"/>
              </a:rPr>
              <a:t>Mn in 2036 at a CAGR of</a:t>
            </a:r>
          </a:p>
        </p:txBody>
      </p:sp>
      <p:pic>
        <p:nvPicPr>
          <p:cNvPr id="39" name="Picture 38" descr="lock.png"/>
          <p:cNvPicPr>
            <a:picLocks noChangeAspect="1"/>
          </p:cNvPicPr>
          <p:nvPr/>
        </p:nvPicPr>
        <p:blipFill>
          <a:blip r:embed="rId4"/>
          <a:stretch>
            <a:fillRect/>
          </a:stretch>
        </p:blipFill>
        <p:spPr>
          <a:xfrm>
            <a:off x="3614714" y="1565211"/>
            <a:ext cx="134549" cy="195707"/>
          </a:xfrm>
          <a:prstGeom prst="rect">
            <a:avLst/>
          </a:prstGeom>
        </p:spPr>
      </p:pic>
      <p:sp>
        <p:nvSpPr>
          <p:cNvPr id="40" name="TextBox 39"/>
          <p:cNvSpPr txBox="1"/>
          <p:nvPr/>
        </p:nvSpPr>
        <p:spPr>
          <a:xfrm>
            <a:off x="3789824" y="157543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1" name="TextBox 40"/>
          <p:cNvSpPr txBox="1"/>
          <p:nvPr/>
        </p:nvSpPr>
        <p:spPr>
          <a:xfrm>
            <a:off x="276225" y="1803273"/>
            <a:ext cx="11314348" cy="194310"/>
          </a:xfrm>
          <a:prstGeom prst="rect">
            <a:avLst/>
          </a:prstGeom>
          <a:noFill/>
        </p:spPr>
        <p:txBody>
          <a:bodyPr wrap="none" lIns="0" rIns="0" tIns="0" bIns="0">
            <a:spAutoFit/>
          </a:bodyPr>
          <a:lstStyle/>
          <a:p>
            <a:r>
              <a:rPr sz="1150" b="0">
                <a:solidFill>
                  <a:srgbClr val="2E2E2E"/>
                </a:solidFill>
                <a:latin typeface="Calibri"/>
              </a:rPr>
              <a:t>The global removable partial dentures market has been analysed on the basis of product type, material type, technology and end user across the globe. U.S. is expected to remain the largest</a:t>
            </a:r>
          </a:p>
        </p:txBody>
      </p:sp>
      <p:sp>
        <p:nvSpPr>
          <p:cNvPr id="42" name="TextBox 41"/>
          <p:cNvSpPr txBox="1"/>
          <p:nvPr/>
        </p:nvSpPr>
        <p:spPr>
          <a:xfrm>
            <a:off x="276225" y="1978533"/>
            <a:ext cx="6682092" cy="194310"/>
          </a:xfrm>
          <a:prstGeom prst="rect">
            <a:avLst/>
          </a:prstGeom>
          <a:noFill/>
        </p:spPr>
        <p:txBody>
          <a:bodyPr wrap="none" lIns="0" rIns="0" tIns="0" bIns="0">
            <a:spAutoFit/>
          </a:bodyPr>
          <a:lstStyle/>
          <a:p>
            <a:r>
              <a:rPr sz="1150" b="0">
                <a:solidFill>
                  <a:srgbClr val="2E2E2E"/>
                </a:solidFill>
                <a:latin typeface="Calibri"/>
              </a:rPr>
              <a:t>market for removable partial dentures, while demand in Canada is projected to increase at the highest CAGR of</a:t>
            </a:r>
          </a:p>
        </p:txBody>
      </p:sp>
      <p:pic>
        <p:nvPicPr>
          <p:cNvPr id="43" name="Picture 42" descr="lock.png"/>
          <p:cNvPicPr>
            <a:picLocks noChangeAspect="1"/>
          </p:cNvPicPr>
          <p:nvPr/>
        </p:nvPicPr>
        <p:blipFill>
          <a:blip r:embed="rId4"/>
          <a:stretch>
            <a:fillRect/>
          </a:stretch>
        </p:blipFill>
        <p:spPr>
          <a:xfrm>
            <a:off x="6907471" y="1968309"/>
            <a:ext cx="134549" cy="195707"/>
          </a:xfrm>
          <a:prstGeom prst="rect">
            <a:avLst/>
          </a:prstGeom>
        </p:spPr>
      </p:pic>
      <p:sp>
        <p:nvSpPr>
          <p:cNvPr id="44" name="TextBox 43"/>
          <p:cNvSpPr txBox="1"/>
          <p:nvPr/>
        </p:nvSpPr>
        <p:spPr>
          <a:xfrm>
            <a:off x="7082580"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45" name="TextBox 44"/>
          <p:cNvSpPr txBox="1"/>
          <p:nvPr/>
        </p:nvSpPr>
        <p:spPr>
          <a:xfrm>
            <a:off x="276225" y="3276600"/>
            <a:ext cx="6401420" cy="194310"/>
          </a:xfrm>
          <a:prstGeom prst="rect">
            <a:avLst/>
          </a:prstGeom>
          <a:noFill/>
        </p:spPr>
        <p:txBody>
          <a:bodyPr wrap="none" lIns="0" rIns="0" tIns="0" bIns="0">
            <a:spAutoFit/>
          </a:bodyPr>
          <a:lstStyle/>
          <a:p>
            <a:r>
              <a:rPr sz="1150" b="0">
                <a:solidFill>
                  <a:srgbClr val="2E2E2E"/>
                </a:solidFill>
                <a:latin typeface="Calibri"/>
              </a:rPr>
              <a:t>▪ The market is moderately fragmented: the leading product type category 'Flexible Partial Dentures' holds</a:t>
            </a:r>
          </a:p>
        </p:txBody>
      </p:sp>
      <p:pic>
        <p:nvPicPr>
          <p:cNvPr id="46" name="Picture 45" descr="lock.png"/>
          <p:cNvPicPr>
            <a:picLocks noChangeAspect="1"/>
          </p:cNvPicPr>
          <p:nvPr/>
        </p:nvPicPr>
        <p:blipFill>
          <a:blip r:embed="rId4"/>
          <a:stretch>
            <a:fillRect/>
          </a:stretch>
        </p:blipFill>
        <p:spPr>
          <a:xfrm>
            <a:off x="6626799" y="3266376"/>
            <a:ext cx="134549" cy="195707"/>
          </a:xfrm>
          <a:prstGeom prst="rect">
            <a:avLst/>
          </a:prstGeom>
        </p:spPr>
      </p:pic>
      <p:sp>
        <p:nvSpPr>
          <p:cNvPr id="47" name="TextBox 46"/>
          <p:cNvSpPr txBox="1"/>
          <p:nvPr/>
        </p:nvSpPr>
        <p:spPr>
          <a:xfrm>
            <a:off x="6801908" y="32766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8" name="TextBox 47"/>
          <p:cNvSpPr txBox="1"/>
          <p:nvPr/>
        </p:nvSpPr>
        <p:spPr>
          <a:xfrm>
            <a:off x="276225" y="3504437"/>
            <a:ext cx="5029919" cy="194310"/>
          </a:xfrm>
          <a:prstGeom prst="rect">
            <a:avLst/>
          </a:prstGeom>
          <a:noFill/>
        </p:spPr>
        <p:txBody>
          <a:bodyPr wrap="none" lIns="0" rIns="0" tIns="0" bIns="0">
            <a:spAutoFit/>
          </a:bodyPr>
          <a:lstStyle/>
          <a:p>
            <a:r>
              <a:rPr sz="1150" b="0">
                <a:solidFill>
                  <a:srgbClr val="2E2E2E"/>
                </a:solidFill>
                <a:latin typeface="Calibri"/>
              </a:rPr>
              <a:t>▪ Demand spans 2 countries and 8 segmentation lenses (4 product type categories).</a:t>
            </a:r>
          </a:p>
        </p:txBody>
      </p:sp>
      <p:sp>
        <p:nvSpPr>
          <p:cNvPr id="49" name="TextBox 48"/>
          <p:cNvSpPr txBox="1"/>
          <p:nvPr/>
        </p:nvSpPr>
        <p:spPr>
          <a:xfrm>
            <a:off x="276225" y="3732275"/>
            <a:ext cx="2288914" cy="194310"/>
          </a:xfrm>
          <a:prstGeom prst="rect">
            <a:avLst/>
          </a:prstGeom>
          <a:noFill/>
        </p:spPr>
        <p:txBody>
          <a:bodyPr wrap="none" lIns="0" rIns="0" tIns="0" bIns="0">
            <a:spAutoFit/>
          </a:bodyPr>
          <a:lstStyle/>
          <a:p>
            <a:r>
              <a:rPr sz="1150" b="0">
                <a:solidFill>
                  <a:srgbClr val="2E2E2E"/>
                </a:solidFill>
                <a:latin typeface="Calibri"/>
              </a:rPr>
              <a:t>▪ U.S. is the largest country market at</a:t>
            </a:r>
          </a:p>
        </p:txBody>
      </p:sp>
      <p:pic>
        <p:nvPicPr>
          <p:cNvPr id="50" name="Picture 49" descr="lock.png"/>
          <p:cNvPicPr>
            <a:picLocks noChangeAspect="1"/>
          </p:cNvPicPr>
          <p:nvPr/>
        </p:nvPicPr>
        <p:blipFill>
          <a:blip r:embed="rId4"/>
          <a:stretch>
            <a:fillRect/>
          </a:stretch>
        </p:blipFill>
        <p:spPr>
          <a:xfrm>
            <a:off x="2514293" y="3722052"/>
            <a:ext cx="134549" cy="195707"/>
          </a:xfrm>
          <a:prstGeom prst="rect">
            <a:avLst/>
          </a:prstGeom>
        </p:spPr>
      </p:pic>
      <p:sp>
        <p:nvSpPr>
          <p:cNvPr id="51" name="TextBox 50"/>
          <p:cNvSpPr txBox="1"/>
          <p:nvPr/>
        </p:nvSpPr>
        <p:spPr>
          <a:xfrm>
            <a:off x="2689402" y="37322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2" name="TextBox 51"/>
          <p:cNvSpPr txBox="1"/>
          <p:nvPr/>
        </p:nvSpPr>
        <p:spPr>
          <a:xfrm>
            <a:off x="276225" y="5038725"/>
            <a:ext cx="3303847" cy="194310"/>
          </a:xfrm>
          <a:prstGeom prst="rect">
            <a:avLst/>
          </a:prstGeom>
          <a:noFill/>
        </p:spPr>
        <p:txBody>
          <a:bodyPr wrap="none" lIns="0" rIns="0" tIns="0" bIns="0">
            <a:spAutoFit/>
          </a:bodyPr>
          <a:lstStyle/>
          <a:p>
            <a:r>
              <a:rPr sz="1150" b="0">
                <a:solidFill>
                  <a:srgbClr val="2E2E2E"/>
                </a:solidFill>
                <a:latin typeface="Calibri"/>
              </a:rPr>
              <a:t>▪ Accelerating uptake of 'Cast Metal Partial Dentures' (</a:t>
            </a:r>
          </a:p>
        </p:txBody>
      </p:sp>
      <p:pic>
        <p:nvPicPr>
          <p:cNvPr id="53" name="Picture 52" descr="lock.png"/>
          <p:cNvPicPr>
            <a:picLocks noChangeAspect="1"/>
          </p:cNvPicPr>
          <p:nvPr/>
        </p:nvPicPr>
        <p:blipFill>
          <a:blip r:embed="rId4"/>
          <a:stretch>
            <a:fillRect/>
          </a:stretch>
        </p:blipFill>
        <p:spPr>
          <a:xfrm>
            <a:off x="3529226" y="5028501"/>
            <a:ext cx="134549" cy="195707"/>
          </a:xfrm>
          <a:prstGeom prst="rect">
            <a:avLst/>
          </a:prstGeom>
        </p:spPr>
      </p:pic>
      <p:sp>
        <p:nvSpPr>
          <p:cNvPr id="54" name="TextBox 53"/>
          <p:cNvSpPr txBox="1"/>
          <p:nvPr/>
        </p:nvSpPr>
        <p:spPr>
          <a:xfrm>
            <a:off x="276225" y="521398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5" name="TextBox 54"/>
          <p:cNvSpPr txBox="1"/>
          <p:nvPr/>
        </p:nvSpPr>
        <p:spPr>
          <a:xfrm>
            <a:off x="276225" y="5441822"/>
            <a:ext cx="2146510" cy="194310"/>
          </a:xfrm>
          <a:prstGeom prst="rect">
            <a:avLst/>
          </a:prstGeom>
          <a:noFill/>
        </p:spPr>
        <p:txBody>
          <a:bodyPr wrap="none" lIns="0" rIns="0" tIns="0" bIns="0">
            <a:spAutoFit/>
          </a:bodyPr>
          <a:lstStyle/>
          <a:p>
            <a:r>
              <a:rPr sz="1150" b="0">
                <a:solidFill>
                  <a:srgbClr val="2E2E2E"/>
                </a:solidFill>
                <a:latin typeface="Calibri"/>
              </a:rPr>
              <a:t>▪ Fast-growing demand in Canada (</a:t>
            </a:r>
          </a:p>
        </p:txBody>
      </p:sp>
      <p:pic>
        <p:nvPicPr>
          <p:cNvPr id="56" name="Picture 55" descr="lock.png"/>
          <p:cNvPicPr>
            <a:picLocks noChangeAspect="1"/>
          </p:cNvPicPr>
          <p:nvPr/>
        </p:nvPicPr>
        <p:blipFill>
          <a:blip r:embed="rId4"/>
          <a:stretch>
            <a:fillRect/>
          </a:stretch>
        </p:blipFill>
        <p:spPr>
          <a:xfrm>
            <a:off x="2371889" y="5431599"/>
            <a:ext cx="134549" cy="195707"/>
          </a:xfrm>
          <a:prstGeom prst="rect">
            <a:avLst/>
          </a:prstGeom>
        </p:spPr>
      </p:pic>
      <p:sp>
        <p:nvSpPr>
          <p:cNvPr id="57" name="TextBox 56"/>
          <p:cNvSpPr txBox="1"/>
          <p:nvPr/>
        </p:nvSpPr>
        <p:spPr>
          <a:xfrm>
            <a:off x="2546998" y="5441822"/>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8" name="TextBox 57"/>
          <p:cNvSpPr txBox="1"/>
          <p:nvPr/>
        </p:nvSpPr>
        <p:spPr>
          <a:xfrm>
            <a:off x="276225" y="5669660"/>
            <a:ext cx="3052824" cy="194310"/>
          </a:xfrm>
          <a:prstGeom prst="rect">
            <a:avLst/>
          </a:prstGeom>
          <a:noFill/>
        </p:spPr>
        <p:txBody>
          <a:bodyPr wrap="none" lIns="0" rIns="0" tIns="0" bIns="0">
            <a:spAutoFit/>
          </a:bodyPr>
          <a:lstStyle/>
          <a:p>
            <a:r>
              <a:rPr sz="1150" b="0">
                <a:solidFill>
                  <a:srgbClr val="2E2E2E"/>
                </a:solidFill>
                <a:latin typeface="Calibri"/>
              </a:rPr>
              <a:t>▪ Momentum in Dental Hospitals within end user (</a:t>
            </a:r>
          </a:p>
        </p:txBody>
      </p:sp>
      <p:pic>
        <p:nvPicPr>
          <p:cNvPr id="59" name="Picture 58" descr="lock.png"/>
          <p:cNvPicPr>
            <a:picLocks noChangeAspect="1"/>
          </p:cNvPicPr>
          <p:nvPr/>
        </p:nvPicPr>
        <p:blipFill>
          <a:blip r:embed="rId4"/>
          <a:stretch>
            <a:fillRect/>
          </a:stretch>
        </p:blipFill>
        <p:spPr>
          <a:xfrm>
            <a:off x="3278203" y="5659437"/>
            <a:ext cx="134549" cy="195707"/>
          </a:xfrm>
          <a:prstGeom prst="rect">
            <a:avLst/>
          </a:prstGeom>
        </p:spPr>
      </p:pic>
      <p:sp>
        <p:nvSpPr>
          <p:cNvPr id="60" name="TextBox 59"/>
          <p:cNvSpPr txBox="1"/>
          <p:nvPr/>
        </p:nvSpPr>
        <p:spPr>
          <a:xfrm>
            <a:off x="3453312" y="566966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1" name="TextBox 60"/>
          <p:cNvSpPr txBox="1"/>
          <p:nvPr/>
        </p:nvSpPr>
        <p:spPr>
          <a:xfrm>
            <a:off x="4371975" y="5038725"/>
            <a:ext cx="3069083" cy="194310"/>
          </a:xfrm>
          <a:prstGeom prst="rect">
            <a:avLst/>
          </a:prstGeom>
          <a:noFill/>
        </p:spPr>
        <p:txBody>
          <a:bodyPr wrap="none" lIns="0" rIns="0" tIns="0" bIns="0">
            <a:spAutoFit/>
          </a:bodyPr>
          <a:lstStyle/>
          <a:p>
            <a:r>
              <a:rPr sz="1150" b="0">
                <a:solidFill>
                  <a:srgbClr val="2E2E2E"/>
                </a:solidFill>
                <a:latin typeface="Calibri"/>
              </a:rPr>
              <a:t>▪ Slower momentum in 'Flexible Partial Dentures' (</a:t>
            </a:r>
          </a:p>
        </p:txBody>
      </p:sp>
      <p:pic>
        <p:nvPicPr>
          <p:cNvPr id="62" name="Picture 61" descr="lock.png"/>
          <p:cNvPicPr>
            <a:picLocks noChangeAspect="1"/>
          </p:cNvPicPr>
          <p:nvPr/>
        </p:nvPicPr>
        <p:blipFill>
          <a:blip r:embed="rId4"/>
          <a:stretch>
            <a:fillRect/>
          </a:stretch>
        </p:blipFill>
        <p:spPr>
          <a:xfrm>
            <a:off x="7390212" y="5028501"/>
            <a:ext cx="134549" cy="195707"/>
          </a:xfrm>
          <a:prstGeom prst="rect">
            <a:avLst/>
          </a:prstGeom>
        </p:spPr>
      </p:pic>
      <p:sp>
        <p:nvSpPr>
          <p:cNvPr id="63" name="TextBox 62"/>
          <p:cNvSpPr txBox="1"/>
          <p:nvPr/>
        </p:nvSpPr>
        <p:spPr>
          <a:xfrm>
            <a:off x="7565322" y="50387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4" name="TextBox 63"/>
          <p:cNvSpPr txBox="1"/>
          <p:nvPr/>
        </p:nvSpPr>
        <p:spPr>
          <a:xfrm>
            <a:off x="4371975" y="52665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5" name="TextBox 64"/>
          <p:cNvSpPr txBox="1"/>
          <p:nvPr/>
        </p:nvSpPr>
        <p:spPr>
          <a:xfrm>
            <a:off x="4371975" y="54418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6" name="Picture 65" descr="lock.png"/>
          <p:cNvPicPr>
            <a:picLocks noChangeAspect="1"/>
          </p:cNvPicPr>
          <p:nvPr/>
        </p:nvPicPr>
        <p:blipFill>
          <a:blip r:embed="rId4"/>
          <a:stretch>
            <a:fillRect/>
          </a:stretch>
        </p:blipFill>
        <p:spPr>
          <a:xfrm>
            <a:off x="4883401" y="5431599"/>
            <a:ext cx="134549" cy="195707"/>
          </a:xfrm>
          <a:prstGeom prst="rect">
            <a:avLst/>
          </a:prstGeom>
        </p:spPr>
      </p:pic>
      <p:sp>
        <p:nvSpPr>
          <p:cNvPr id="67" name="TextBox 66"/>
          <p:cNvSpPr txBox="1"/>
          <p:nvPr/>
        </p:nvSpPr>
        <p:spPr>
          <a:xfrm>
            <a:off x="5058510" y="54418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8" name="TextBox 67"/>
          <p:cNvSpPr txBox="1"/>
          <p:nvPr/>
        </p:nvSpPr>
        <p:spPr>
          <a:xfrm>
            <a:off x="4371975" y="5669660"/>
            <a:ext cx="3427648" cy="194310"/>
          </a:xfrm>
          <a:prstGeom prst="rect">
            <a:avLst/>
          </a:prstGeom>
          <a:noFill/>
        </p:spPr>
        <p:txBody>
          <a:bodyPr wrap="none" lIns="0" rIns="0" tIns="0" bIns="0">
            <a:spAutoFit/>
          </a:bodyPr>
          <a:lstStyle/>
          <a:p>
            <a:r>
              <a:rPr sz="1150" b="0">
                <a:solidFill>
                  <a:srgbClr val="2E2E2E"/>
                </a:solidFill>
                <a:latin typeface="Calibri"/>
              </a:rPr>
              <a:t>▪ Value concentration in 'Flexible Partial Dentures' raises</a:t>
            </a:r>
          </a:p>
        </p:txBody>
      </p:sp>
      <p:sp>
        <p:nvSpPr>
          <p:cNvPr id="69" name="TextBox 68"/>
          <p:cNvSpPr txBox="1"/>
          <p:nvPr/>
        </p:nvSpPr>
        <p:spPr>
          <a:xfrm>
            <a:off x="4371975" y="5844920"/>
            <a:ext cx="1604305" cy="194310"/>
          </a:xfrm>
          <a:prstGeom prst="rect">
            <a:avLst/>
          </a:prstGeom>
          <a:noFill/>
        </p:spPr>
        <p:txBody>
          <a:bodyPr wrap="none" lIns="0" rIns="0" tIns="0" bIns="0">
            <a:spAutoFit/>
          </a:bodyPr>
          <a:lstStyle/>
          <a:p>
            <a:r>
              <a:rPr sz="1150" b="0">
                <a:solidFill>
                  <a:srgbClr val="2E2E2E"/>
                </a:solidFill>
                <a:latin typeface="Calibri"/>
              </a:rPr>
              <a:t>barriers for new entrants.</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'Cast Metal Partial Dentures' and Canada.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U.S. and Canada.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2430363" cy="186689"/>
          </a:xfrm>
          <a:prstGeom prst="rect">
            <a:avLst/>
          </a:prstGeom>
          <a:noFill/>
        </p:spPr>
        <p:txBody>
          <a:bodyPr wrap="none" lIns="0" rIns="0" tIns="0" bIns="0">
            <a:spAutoFit/>
          </a:bodyPr>
          <a:lstStyle/>
          <a:p>
            <a:r>
              <a:rPr sz="1100" b="0">
                <a:solidFill>
                  <a:srgbClr val="2E2E2E"/>
                </a:solidFill>
                <a:latin typeface="Calibri"/>
              </a:rPr>
              <a:t>▪ Lead category 'Flexible Partial Dentures'</a:t>
            </a:r>
          </a:p>
        </p:txBody>
      </p:sp>
      <p:pic>
        <p:nvPicPr>
          <p:cNvPr id="41" name="Picture 40" descr="lock.png"/>
          <p:cNvPicPr>
            <a:picLocks noChangeAspect="1"/>
          </p:cNvPicPr>
          <p:nvPr/>
        </p:nvPicPr>
        <p:blipFill>
          <a:blip r:embed="rId5"/>
          <a:stretch>
            <a:fillRect/>
          </a:stretch>
        </p:blipFill>
        <p:spPr>
          <a:xfrm>
            <a:off x="8683964" y="1826260"/>
            <a:ext cx="128699" cy="187198"/>
          </a:xfrm>
          <a:prstGeom prst="rect">
            <a:avLst/>
          </a:prstGeom>
        </p:spPr>
      </p:pic>
      <p:sp>
        <p:nvSpPr>
          <p:cNvPr id="42" name="TextBox 41"/>
          <p:cNvSpPr txBox="1"/>
          <p:nvPr/>
        </p:nvSpPr>
        <p:spPr>
          <a:xfrm>
            <a:off x="8851460"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152053" cy="186689"/>
          </a:xfrm>
          <a:prstGeom prst="rect">
            <a:avLst/>
          </a:prstGeom>
          <a:noFill/>
        </p:spPr>
        <p:txBody>
          <a:bodyPr wrap="none" lIns="0" rIns="0" tIns="0" bIns="0">
            <a:spAutoFit/>
          </a:bodyPr>
          <a:lstStyle/>
          <a:p>
            <a:r>
              <a:rPr sz="1100" b="0">
                <a:solidFill>
                  <a:srgbClr val="2E2E2E"/>
                </a:solidFill>
                <a:latin typeface="Calibri"/>
              </a:rPr>
              <a:t>▪ Lead country U.S.</a:t>
            </a:r>
          </a:p>
        </p:txBody>
      </p:sp>
      <p:pic>
        <p:nvPicPr>
          <p:cNvPr id="44" name="Picture 43" descr="lock.png"/>
          <p:cNvPicPr>
            <a:picLocks noChangeAspect="1"/>
          </p:cNvPicPr>
          <p:nvPr/>
        </p:nvPicPr>
        <p:blipFill>
          <a:blip r:embed="rId5"/>
          <a:stretch>
            <a:fillRect/>
          </a:stretch>
        </p:blipFill>
        <p:spPr>
          <a:xfrm>
            <a:off x="7405655" y="2044192"/>
            <a:ext cx="128699" cy="187198"/>
          </a:xfrm>
          <a:prstGeom prst="rect">
            <a:avLst/>
          </a:prstGeom>
        </p:spPr>
      </p:pic>
      <p:sp>
        <p:nvSpPr>
          <p:cNvPr id="45" name="TextBox 44"/>
          <p:cNvSpPr txBox="1"/>
          <p:nvPr/>
        </p:nvSpPr>
        <p:spPr>
          <a:xfrm>
            <a:off x="7573151"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907582" cy="186689"/>
          </a:xfrm>
          <a:prstGeom prst="rect">
            <a:avLst/>
          </a:prstGeom>
          <a:noFill/>
        </p:spPr>
        <p:txBody>
          <a:bodyPr wrap="none" lIns="0" rIns="0" tIns="0" bIns="0">
            <a:spAutoFit/>
          </a:bodyPr>
          <a:lstStyle/>
          <a:p>
            <a:r>
              <a:rPr sz="1100" b="0">
                <a:solidFill>
                  <a:srgbClr val="2E2E2E"/>
                </a:solidFill>
                <a:latin typeface="Calibri"/>
              </a:rPr>
              <a:t>▪ Investment is flowing toward the fastest-growing tier 'Cast Metal Partial Dentures' (</a:t>
            </a:r>
          </a:p>
        </p:txBody>
      </p:sp>
      <p:pic>
        <p:nvPicPr>
          <p:cNvPr id="50" name="Picture 49" descr="lock.png"/>
          <p:cNvPicPr>
            <a:picLocks noChangeAspect="1"/>
          </p:cNvPicPr>
          <p:nvPr/>
        </p:nvPicPr>
        <p:blipFill>
          <a:blip r:embed="rId5"/>
          <a:stretch>
            <a:fillRect/>
          </a:stretch>
        </p:blipFill>
        <p:spPr>
          <a:xfrm>
            <a:off x="5131859" y="3304921"/>
            <a:ext cx="128699" cy="187198"/>
          </a:xfrm>
          <a:prstGeom prst="rect">
            <a:avLst/>
          </a:prstGeom>
        </p:spPr>
      </p:pic>
      <p:sp>
        <p:nvSpPr>
          <p:cNvPr id="51" name="TextBox 50"/>
          <p:cNvSpPr txBox="1"/>
          <p:nvPr/>
        </p:nvSpPr>
        <p:spPr>
          <a:xfrm>
            <a:off x="5299355" y="33147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52" name="TextBox 51"/>
          <p:cNvSpPr txBox="1"/>
          <p:nvPr/>
        </p:nvSpPr>
        <p:spPr>
          <a:xfrm>
            <a:off x="276225" y="3532632"/>
            <a:ext cx="653008" cy="186689"/>
          </a:xfrm>
          <a:prstGeom prst="rect">
            <a:avLst/>
          </a:prstGeom>
          <a:noFill/>
        </p:spPr>
        <p:txBody>
          <a:bodyPr wrap="none" lIns="0" rIns="0" tIns="0" bIns="0">
            <a:spAutoFit/>
          </a:bodyPr>
          <a:lstStyle/>
          <a:p>
            <a:r>
              <a:rPr sz="1100" b="0">
                <a:solidFill>
                  <a:srgbClr val="2E2E2E"/>
                </a:solidFill>
                <a:latin typeface="Calibri"/>
              </a:rPr>
              <a:t>▪ Canada (</a:t>
            </a:r>
          </a:p>
        </p:txBody>
      </p:sp>
      <p:pic>
        <p:nvPicPr>
          <p:cNvPr id="53" name="Picture 52" descr="lock.png"/>
          <p:cNvPicPr>
            <a:picLocks noChangeAspect="1"/>
          </p:cNvPicPr>
          <p:nvPr/>
        </p:nvPicPr>
        <p:blipFill>
          <a:blip r:embed="rId5"/>
          <a:stretch>
            <a:fillRect/>
          </a:stretch>
        </p:blipFill>
        <p:spPr>
          <a:xfrm>
            <a:off x="877284" y="3522853"/>
            <a:ext cx="128699" cy="187198"/>
          </a:xfrm>
          <a:prstGeom prst="rect">
            <a:avLst/>
          </a:prstGeom>
        </p:spPr>
      </p:pic>
      <p:sp>
        <p:nvSpPr>
          <p:cNvPr id="54" name="TextBox 53"/>
          <p:cNvSpPr txBox="1"/>
          <p:nvPr/>
        </p:nvSpPr>
        <p:spPr>
          <a:xfrm>
            <a:off x="1044780" y="3532632"/>
            <a:ext cx="2262832" cy="186689"/>
          </a:xfrm>
          <a:prstGeom prst="rect">
            <a:avLst/>
          </a:prstGeom>
          <a:noFill/>
        </p:spPr>
        <p:txBody>
          <a:bodyPr wrap="none" lIns="0" rIns="0" tIns="0" bIns="0">
            <a:spAutoFit/>
          </a:bodyPr>
          <a:lstStyle/>
          <a:p>
            <a:r>
              <a:rPr sz="1100" b="0">
                <a:solidFill>
                  <a:srgbClr val="2E2E2E"/>
                </a:solidFill>
                <a:latin typeface="Calibri"/>
              </a:rPr>
              <a:t>) is a priority country for new capacity.</a:t>
            </a:r>
          </a:p>
        </p:txBody>
      </p:sp>
      <p:sp>
        <p:nvSpPr>
          <p:cNvPr id="55" name="TextBox 54"/>
          <p:cNvSpPr txBox="1"/>
          <p:nvPr/>
        </p:nvSpPr>
        <p:spPr>
          <a:xfrm>
            <a:off x="276225" y="3750564"/>
            <a:ext cx="3310582" cy="186689"/>
          </a:xfrm>
          <a:prstGeom prst="rect">
            <a:avLst/>
          </a:prstGeom>
          <a:noFill/>
        </p:spPr>
        <p:txBody>
          <a:bodyPr wrap="none" lIns="0" rIns="0" tIns="0" bIns="0">
            <a:spAutoFit/>
          </a:bodyPr>
          <a:lstStyle/>
          <a:p>
            <a:r>
              <a:rPr sz="1100" b="0">
                <a:solidFill>
                  <a:srgbClr val="2E2E2E"/>
                </a:solidFill>
                <a:latin typeface="Calibri"/>
              </a:rPr>
              <a:t>▪ Scale players anchor around 'Flexible Partial Dentures' (</a:t>
            </a:r>
          </a:p>
        </p:txBody>
      </p:sp>
      <p:pic>
        <p:nvPicPr>
          <p:cNvPr id="56" name="Picture 55" descr="lock.png"/>
          <p:cNvPicPr>
            <a:picLocks noChangeAspect="1"/>
          </p:cNvPicPr>
          <p:nvPr/>
        </p:nvPicPr>
        <p:blipFill>
          <a:blip r:embed="rId5"/>
          <a:stretch>
            <a:fillRect/>
          </a:stretch>
        </p:blipFill>
        <p:spPr>
          <a:xfrm>
            <a:off x="3534859" y="3740785"/>
            <a:ext cx="128699" cy="187198"/>
          </a:xfrm>
          <a:prstGeom prst="rect">
            <a:avLst/>
          </a:prstGeom>
        </p:spPr>
      </p:pic>
      <p:sp>
        <p:nvSpPr>
          <p:cNvPr id="57" name="TextBox 56"/>
          <p:cNvSpPr txBox="1"/>
          <p:nvPr/>
        </p:nvSpPr>
        <p:spPr>
          <a:xfrm>
            <a:off x="3702354" y="3750564"/>
            <a:ext cx="466923" cy="186689"/>
          </a:xfrm>
          <a:prstGeom prst="rect">
            <a:avLst/>
          </a:prstGeom>
          <a:noFill/>
        </p:spPr>
        <p:txBody>
          <a:bodyPr wrap="none" lIns="0" rIns="0" tIns="0" bIns="0">
            <a:spAutoFit/>
          </a:bodyPr>
          <a:lstStyle/>
          <a:p>
            <a:r>
              <a:rPr sz="1100" b="0">
                <a:solidFill>
                  <a:srgbClr val="2E2E2E"/>
                </a:solidFill>
                <a:latin typeface="Calibri"/>
              </a:rPr>
              <a:t>share).</a:t>
            </a:r>
          </a:p>
        </p:txBody>
      </p:sp>
      <p:sp>
        <p:nvSpPr>
          <p:cNvPr id="58" name="TextBox 57"/>
          <p:cNvSpPr txBox="1"/>
          <p:nvPr/>
        </p:nvSpPr>
        <p:spPr>
          <a:xfrm>
            <a:off x="6305550" y="3314700"/>
            <a:ext cx="5304308" cy="186689"/>
          </a:xfrm>
          <a:prstGeom prst="rect">
            <a:avLst/>
          </a:prstGeom>
          <a:noFill/>
        </p:spPr>
        <p:txBody>
          <a:bodyPr wrap="none" lIns="0" rIns="0" tIns="0" bIns="0">
            <a:spAutoFit/>
          </a:bodyPr>
          <a:lstStyle/>
          <a:p>
            <a:r>
              <a:rPr sz="1100" b="0">
                <a:solidFill>
                  <a:srgbClr val="2E2E2E"/>
                </a:solidFill>
                <a:latin typeface="Calibri"/>
              </a:rPr>
              <a:t>▪ R&amp;D aligns with the migration to 'Cast Metal Partial Dentures' and adjacent premium tiers.</a:t>
            </a:r>
          </a:p>
        </p:txBody>
      </p:sp>
      <p:sp>
        <p:nvSpPr>
          <p:cNvPr id="59" name="TextBox 58"/>
          <p:cNvSpPr txBox="1"/>
          <p:nvPr/>
        </p:nvSpPr>
        <p:spPr>
          <a:xfrm>
            <a:off x="6305550" y="3532632"/>
            <a:ext cx="4406354" cy="186689"/>
          </a:xfrm>
          <a:prstGeom prst="rect">
            <a:avLst/>
          </a:prstGeom>
          <a:noFill/>
        </p:spPr>
        <p:txBody>
          <a:bodyPr wrap="none" lIns="0" rIns="0" tIns="0" bIns="0">
            <a:spAutoFit/>
          </a:bodyPr>
          <a:lstStyle/>
          <a:p>
            <a:r>
              <a:rPr sz="1100" b="0">
                <a:solidFill>
                  <a:srgbClr val="2E2E2E"/>
                </a:solidFill>
                <a:latin typeface="Calibri"/>
              </a:rPr>
              <a:t>▪ Development spend targets product type categories gaining share to 2036.</a:t>
            </a:r>
          </a:p>
        </p:txBody>
      </p:sp>
      <p:sp>
        <p:nvSpPr>
          <p:cNvPr id="60" name="TextBox 59"/>
          <p:cNvSpPr txBox="1"/>
          <p:nvPr/>
        </p:nvSpPr>
        <p:spPr>
          <a:xfrm>
            <a:off x="6305550" y="3750564"/>
            <a:ext cx="1594346" cy="186689"/>
          </a:xfrm>
          <a:prstGeom prst="rect">
            <a:avLst/>
          </a:prstGeom>
          <a:noFill/>
        </p:spPr>
        <p:txBody>
          <a:bodyPr wrap="none" lIns="0" rIns="0" tIns="0" bIns="0">
            <a:spAutoFit/>
          </a:bodyPr>
          <a:lstStyle/>
          <a:p>
            <a:r>
              <a:rPr sz="110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847947" y="3740785"/>
            <a:ext cx="128699" cy="187198"/>
          </a:xfrm>
          <a:prstGeom prst="rect">
            <a:avLst/>
          </a:prstGeom>
        </p:spPr>
      </p:pic>
      <p:sp>
        <p:nvSpPr>
          <p:cNvPr id="62" name="TextBox 61"/>
          <p:cNvSpPr txBox="1"/>
          <p:nvPr/>
        </p:nvSpPr>
        <p:spPr>
          <a:xfrm>
            <a:off x="8015443" y="3750564"/>
            <a:ext cx="924478"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'Cast Metal Partial Dentures' tier and Dental Hospitals within end user.</a:t>
            </a:r>
          </a:p>
        </p:txBody>
      </p:sp>
      <p:sp>
        <p:nvSpPr>
          <p:cNvPr id="18" name="Rounded Rectangle 17"/>
          <p:cNvSpPr/>
          <p:nvPr/>
        </p:nvSpPr>
        <p:spPr>
          <a:xfrm>
            <a:off x="142875"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619625"/>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05350"/>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943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029200"/>
            <a:ext cx="11639550" cy="1514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205350" cy="194310"/>
          </a:xfrm>
          <a:prstGeom prst="rect">
            <a:avLst/>
          </a:prstGeom>
          <a:noFill/>
        </p:spPr>
        <p:txBody>
          <a:bodyPr wrap="none" lIns="0" rIns="0" tIns="0" bIns="0">
            <a:spAutoFit/>
          </a:bodyPr>
          <a:lstStyle/>
          <a:p>
            <a:r>
              <a:rPr sz="1150" b="0">
                <a:solidFill>
                  <a:srgbClr val="2E2E2E"/>
                </a:solidFill>
                <a:latin typeface="Calibri"/>
              </a:rPr>
              <a:t>▪ Balance scale in 'Flexible Partial Dentures' with targeted growth in 'Cast Metal Partial</a:t>
            </a:r>
          </a:p>
        </p:txBody>
      </p:sp>
      <p:sp>
        <p:nvSpPr>
          <p:cNvPr id="32" name="TextBox 31"/>
          <p:cNvSpPr txBox="1"/>
          <p:nvPr/>
        </p:nvSpPr>
        <p:spPr>
          <a:xfrm>
            <a:off x="276225" y="1575435"/>
            <a:ext cx="1473088" cy="194310"/>
          </a:xfrm>
          <a:prstGeom prst="rect">
            <a:avLst/>
          </a:prstGeom>
          <a:noFill/>
        </p:spPr>
        <p:txBody>
          <a:bodyPr wrap="none" lIns="0" rIns="0" tIns="0" bIns="0">
            <a:spAutoFit/>
          </a:bodyPr>
          <a:lstStyle/>
          <a:p>
            <a:r>
              <a:rPr sz="1150" b="0">
                <a:solidFill>
                  <a:srgbClr val="2E2E2E"/>
                </a:solidFill>
                <a:latin typeface="Calibri"/>
              </a:rPr>
              <a:t>Dentures', pursuing the</a:t>
            </a:r>
          </a:p>
        </p:txBody>
      </p:sp>
      <p:pic>
        <p:nvPicPr>
          <p:cNvPr id="33" name="Picture 32" descr="lock.png"/>
          <p:cNvPicPr>
            <a:picLocks noChangeAspect="1"/>
          </p:cNvPicPr>
          <p:nvPr/>
        </p:nvPicPr>
        <p:blipFill>
          <a:blip r:embed="rId4"/>
          <a:stretch>
            <a:fillRect/>
          </a:stretch>
        </p:blipFill>
        <p:spPr>
          <a:xfrm>
            <a:off x="1698467" y="1565211"/>
            <a:ext cx="134549" cy="195707"/>
          </a:xfrm>
          <a:prstGeom prst="rect">
            <a:avLst/>
          </a:prstGeom>
        </p:spPr>
      </p:pic>
      <p:sp>
        <p:nvSpPr>
          <p:cNvPr id="34" name="TextBox 33"/>
          <p:cNvSpPr txBox="1"/>
          <p:nvPr/>
        </p:nvSpPr>
        <p:spPr>
          <a:xfrm>
            <a:off x="1873576"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5" name="TextBox 34"/>
          <p:cNvSpPr txBox="1"/>
          <p:nvPr/>
        </p:nvSpPr>
        <p:spPr>
          <a:xfrm>
            <a:off x="276225" y="3219450"/>
            <a:ext cx="2502569" cy="194310"/>
          </a:xfrm>
          <a:prstGeom prst="rect">
            <a:avLst/>
          </a:prstGeom>
          <a:noFill/>
        </p:spPr>
        <p:txBody>
          <a:bodyPr wrap="none" lIns="0" rIns="0" tIns="0" bIns="0">
            <a:spAutoFit/>
          </a:bodyPr>
          <a:lstStyle/>
          <a:p>
            <a:r>
              <a:rPr sz="1150" b="0">
                <a:solidFill>
                  <a:srgbClr val="2E2E2E"/>
                </a:solidFill>
                <a:latin typeface="Calibri"/>
              </a:rPr>
              <a:t>▪ Prioritise 'Cast Metal Partial Dentures' (</a:t>
            </a:r>
          </a:p>
        </p:txBody>
      </p:sp>
      <p:pic>
        <p:nvPicPr>
          <p:cNvPr id="36" name="Picture 35" descr="lock.png"/>
          <p:cNvPicPr>
            <a:picLocks noChangeAspect="1"/>
          </p:cNvPicPr>
          <p:nvPr/>
        </p:nvPicPr>
        <p:blipFill>
          <a:blip r:embed="rId4"/>
          <a:stretch>
            <a:fillRect/>
          </a:stretch>
        </p:blipFill>
        <p:spPr>
          <a:xfrm>
            <a:off x="2727948" y="3209226"/>
            <a:ext cx="134549" cy="195707"/>
          </a:xfrm>
          <a:prstGeom prst="rect">
            <a:avLst/>
          </a:prstGeom>
        </p:spPr>
      </p:pic>
      <p:sp>
        <p:nvSpPr>
          <p:cNvPr id="37" name="TextBox 36"/>
          <p:cNvSpPr txBox="1"/>
          <p:nvPr/>
        </p:nvSpPr>
        <p:spPr>
          <a:xfrm>
            <a:off x="2903057" y="3219450"/>
            <a:ext cx="2209043" cy="194310"/>
          </a:xfrm>
          <a:prstGeom prst="rect">
            <a:avLst/>
          </a:prstGeom>
          <a:noFill/>
        </p:spPr>
        <p:txBody>
          <a:bodyPr wrap="none" lIns="0" rIns="0" tIns="0" bIns="0">
            <a:spAutoFit/>
          </a:bodyPr>
          <a:lstStyle/>
          <a:p>
            <a:r>
              <a:rPr sz="1150" b="0">
                <a:solidFill>
                  <a:srgbClr val="2E2E2E"/>
                </a:solidFill>
                <a:latin typeface="Calibri"/>
              </a:rPr>
              <a:t>); 'Flexible Partial Dentures' anchors</a:t>
            </a:r>
          </a:p>
        </p:txBody>
      </p:sp>
      <p:pic>
        <p:nvPicPr>
          <p:cNvPr id="38" name="Picture 37" descr="lock.png"/>
          <p:cNvPicPr>
            <a:picLocks noChangeAspect="1"/>
          </p:cNvPicPr>
          <p:nvPr/>
        </p:nvPicPr>
        <p:blipFill>
          <a:blip r:embed="rId4"/>
          <a:stretch>
            <a:fillRect/>
          </a:stretch>
        </p:blipFill>
        <p:spPr>
          <a:xfrm>
            <a:off x="5061255" y="3209226"/>
            <a:ext cx="134549" cy="195707"/>
          </a:xfrm>
          <a:prstGeom prst="rect">
            <a:avLst/>
          </a:prstGeom>
        </p:spPr>
      </p:pic>
      <p:sp>
        <p:nvSpPr>
          <p:cNvPr id="39" name="TextBox 38"/>
          <p:cNvSpPr txBox="1"/>
          <p:nvPr/>
        </p:nvSpPr>
        <p:spPr>
          <a:xfrm>
            <a:off x="5236364" y="3219450"/>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40" name="TextBox 39"/>
          <p:cNvSpPr txBox="1"/>
          <p:nvPr/>
        </p:nvSpPr>
        <p:spPr>
          <a:xfrm>
            <a:off x="276225" y="3394710"/>
            <a:ext cx="431911" cy="194310"/>
          </a:xfrm>
          <a:prstGeom prst="rect">
            <a:avLst/>
          </a:prstGeom>
          <a:noFill/>
        </p:spPr>
        <p:txBody>
          <a:bodyPr wrap="none" lIns="0" rIns="0" tIns="0" bIns="0">
            <a:spAutoFit/>
          </a:bodyPr>
          <a:lstStyle/>
          <a:p>
            <a:r>
              <a:rPr sz="1150" b="0">
                <a:solidFill>
                  <a:srgbClr val="2E2E2E"/>
                </a:solidFill>
                <a:latin typeface="Calibri"/>
              </a:rPr>
              <a:t>value.</a:t>
            </a:r>
          </a:p>
        </p:txBody>
      </p:sp>
      <p:sp>
        <p:nvSpPr>
          <p:cNvPr id="41" name="TextBox 40"/>
          <p:cNvSpPr txBox="1"/>
          <p:nvPr/>
        </p:nvSpPr>
        <p:spPr>
          <a:xfrm>
            <a:off x="6305550" y="3219450"/>
            <a:ext cx="1083431" cy="194310"/>
          </a:xfrm>
          <a:prstGeom prst="rect">
            <a:avLst/>
          </a:prstGeom>
          <a:noFill/>
        </p:spPr>
        <p:txBody>
          <a:bodyPr wrap="none" lIns="0" rIns="0" tIns="0" bIns="0">
            <a:spAutoFit/>
          </a:bodyPr>
          <a:lstStyle/>
          <a:p>
            <a:r>
              <a:rPr sz="1150" b="0">
                <a:solidFill>
                  <a:srgbClr val="2E2E2E"/>
                </a:solidFill>
                <a:latin typeface="Calibri"/>
              </a:rPr>
              <a:t>▪ Lead with U.S. (</a:t>
            </a:r>
          </a:p>
        </p:txBody>
      </p:sp>
      <p:pic>
        <p:nvPicPr>
          <p:cNvPr id="42" name="Picture 41" descr="lock.png"/>
          <p:cNvPicPr>
            <a:picLocks noChangeAspect="1"/>
          </p:cNvPicPr>
          <p:nvPr/>
        </p:nvPicPr>
        <p:blipFill>
          <a:blip r:embed="rId4"/>
          <a:stretch>
            <a:fillRect/>
          </a:stretch>
        </p:blipFill>
        <p:spPr>
          <a:xfrm>
            <a:off x="7338135" y="3209226"/>
            <a:ext cx="134549" cy="195707"/>
          </a:xfrm>
          <a:prstGeom prst="rect">
            <a:avLst/>
          </a:prstGeom>
        </p:spPr>
      </p:pic>
      <p:sp>
        <p:nvSpPr>
          <p:cNvPr id="43" name="TextBox 42"/>
          <p:cNvSpPr txBox="1"/>
          <p:nvPr/>
        </p:nvSpPr>
        <p:spPr>
          <a:xfrm>
            <a:off x="7513244" y="3219450"/>
            <a:ext cx="1772319" cy="194310"/>
          </a:xfrm>
          <a:prstGeom prst="rect">
            <a:avLst/>
          </a:prstGeom>
          <a:noFill/>
        </p:spPr>
        <p:txBody>
          <a:bodyPr wrap="none" lIns="0" rIns="0" tIns="0" bIns="0">
            <a:spAutoFit/>
          </a:bodyPr>
          <a:lstStyle/>
          <a:p>
            <a:r>
              <a:rPr sz="1150" b="0">
                <a:solidFill>
                  <a:srgbClr val="2E2E2E"/>
                </a:solidFill>
                <a:latin typeface="Calibri"/>
              </a:rPr>
              <a:t>); capture upside in Canada (</a:t>
            </a:r>
          </a:p>
        </p:txBody>
      </p:sp>
      <p:pic>
        <p:nvPicPr>
          <p:cNvPr id="44" name="Picture 43" descr="lock.png"/>
          <p:cNvPicPr>
            <a:picLocks noChangeAspect="1"/>
          </p:cNvPicPr>
          <p:nvPr/>
        </p:nvPicPr>
        <p:blipFill>
          <a:blip r:embed="rId4"/>
          <a:stretch>
            <a:fillRect/>
          </a:stretch>
        </p:blipFill>
        <p:spPr>
          <a:xfrm>
            <a:off x="9234718" y="3209226"/>
            <a:ext cx="134549" cy="195707"/>
          </a:xfrm>
          <a:prstGeom prst="rect">
            <a:avLst/>
          </a:prstGeom>
        </p:spPr>
      </p:pic>
      <p:sp>
        <p:nvSpPr>
          <p:cNvPr id="45" name="TextBox 44"/>
          <p:cNvSpPr txBox="1"/>
          <p:nvPr/>
        </p:nvSpPr>
        <p:spPr>
          <a:xfrm>
            <a:off x="9409827" y="321945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038725"/>
            <a:ext cx="2134021" cy="194310"/>
          </a:xfrm>
          <a:prstGeom prst="rect">
            <a:avLst/>
          </a:prstGeom>
          <a:noFill/>
        </p:spPr>
        <p:txBody>
          <a:bodyPr wrap="none" lIns="0" rIns="0" tIns="0" bIns="0">
            <a:spAutoFit/>
          </a:bodyPr>
          <a:lstStyle/>
          <a:p>
            <a:r>
              <a:rPr sz="1150" b="0">
                <a:solidFill>
                  <a:srgbClr val="2E2E2E"/>
                </a:solidFill>
                <a:latin typeface="Calibri"/>
              </a:rPr>
              <a:t>▪ Removable Partial Dentures adds</a:t>
            </a:r>
          </a:p>
        </p:txBody>
      </p:sp>
      <p:pic>
        <p:nvPicPr>
          <p:cNvPr id="47" name="Picture 46" descr="lock.png"/>
          <p:cNvPicPr>
            <a:picLocks noChangeAspect="1"/>
          </p:cNvPicPr>
          <p:nvPr/>
        </p:nvPicPr>
        <p:blipFill>
          <a:blip r:embed="rId4"/>
          <a:stretch>
            <a:fillRect/>
          </a:stretch>
        </p:blipFill>
        <p:spPr>
          <a:xfrm>
            <a:off x="2359400" y="5028501"/>
            <a:ext cx="134549" cy="195707"/>
          </a:xfrm>
          <a:prstGeom prst="rect">
            <a:avLst/>
          </a:prstGeom>
        </p:spPr>
      </p:pic>
      <p:sp>
        <p:nvSpPr>
          <p:cNvPr id="48" name="TextBox 47"/>
          <p:cNvSpPr txBox="1"/>
          <p:nvPr/>
        </p:nvSpPr>
        <p:spPr>
          <a:xfrm>
            <a:off x="2534509" y="5038725"/>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9" name="Picture 48" descr="lock.png"/>
          <p:cNvPicPr>
            <a:picLocks noChangeAspect="1"/>
          </p:cNvPicPr>
          <p:nvPr/>
        </p:nvPicPr>
        <p:blipFill>
          <a:blip r:embed="rId4"/>
          <a:stretch>
            <a:fillRect/>
          </a:stretch>
        </p:blipFill>
        <p:spPr>
          <a:xfrm>
            <a:off x="4298771" y="5028501"/>
            <a:ext cx="134549" cy="195707"/>
          </a:xfrm>
          <a:prstGeom prst="rect">
            <a:avLst/>
          </a:prstGeom>
        </p:spPr>
      </p:pic>
      <p:sp>
        <p:nvSpPr>
          <p:cNvPr id="50" name="TextBox 49"/>
          <p:cNvSpPr txBox="1"/>
          <p:nvPr/>
        </p:nvSpPr>
        <p:spPr>
          <a:xfrm>
            <a:off x="4473880" y="5038725"/>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51" name="TextBox 50"/>
          <p:cNvSpPr txBox="1"/>
          <p:nvPr/>
        </p:nvSpPr>
        <p:spPr>
          <a:xfrm>
            <a:off x="276225" y="5266563"/>
            <a:ext cx="634436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segment/country while seeding the fastest-growing pockets early.</a:t>
            </a:r>
          </a:p>
        </p:txBody>
      </p:sp>
      <p:sp>
        <p:nvSpPr>
          <p:cNvPr id="52" name="TextBox 51"/>
          <p:cNvSpPr txBox="1"/>
          <p:nvPr/>
        </p:nvSpPr>
        <p:spPr>
          <a:xfrm>
            <a:off x="276225" y="5494400"/>
            <a:ext cx="4810273" cy="194310"/>
          </a:xfrm>
          <a:prstGeom prst="rect">
            <a:avLst/>
          </a:prstGeom>
          <a:noFill/>
        </p:spPr>
        <p:txBody>
          <a:bodyPr wrap="none" lIns="0" rIns="0" tIns="0" bIns="0">
            <a:spAutoFit/>
          </a:bodyPr>
          <a:lstStyle/>
          <a:p>
            <a:r>
              <a:rPr sz="1150" b="0">
                <a:solidFill>
                  <a:srgbClr val="2E2E2E"/>
                </a:solidFill>
                <a:latin typeface="Calibri"/>
              </a:rPr>
              <a:t>▪ Defend share in 'Flexible Partial Dentures' as the value anchor of the portfolio.</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Removable Partial Dentures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369403"/>
            <a:ext cx="635826" cy="935897"/>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60125"/>
            <a:ext cx="635826" cy="1245175"/>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38015"/>
            <a:ext cx="635826" cy="1367285"/>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805113"/>
            <a:ext cx="635826" cy="15001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26775"/>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22000"/>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669600"/>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64825"/>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412425"/>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07650"/>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Removable Partial Dentures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1637332" y="1028326"/>
            <a:ext cx="1030634" cy="166573"/>
          </a:xfrm>
          <a:prstGeom prst="rect">
            <a:avLst/>
          </a:prstGeom>
          <a:noFill/>
        </p:spPr>
        <p:txBody>
          <a:bodyPr wrap="none" lIns="0" rIns="0" tIns="0" bIns="0">
            <a:spAutoFit/>
          </a:bodyPr>
          <a:lstStyle/>
          <a:p>
            <a:r>
              <a:rPr sz="968" b="1">
                <a:solidFill>
                  <a:srgbClr val="6C7A89"/>
                </a:solidFill>
                <a:latin typeface="Calibri"/>
              </a:rPr>
              <a:t>OPTIMISTIC (2036)</a:t>
            </a:r>
          </a:p>
        </p:txBody>
      </p:sp>
      <p:sp>
        <p:nvSpPr>
          <p:cNvPr id="46" name="TextBox 45"/>
          <p:cNvSpPr txBox="1"/>
          <p:nvPr/>
        </p:nvSpPr>
        <p:spPr>
          <a:xfrm>
            <a:off x="1906321"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208575" y="1473019"/>
            <a:ext cx="113255" cy="164734"/>
          </a:xfrm>
          <a:prstGeom prst="rect">
            <a:avLst/>
          </a:prstGeom>
        </p:spPr>
      </p:pic>
      <p:sp>
        <p:nvSpPr>
          <p:cNvPr id="48" name="TextBox 47"/>
          <p:cNvSpPr txBox="1"/>
          <p:nvPr/>
        </p:nvSpPr>
        <p:spPr>
          <a:xfrm>
            <a:off x="5807156" y="1028326"/>
            <a:ext cx="758662" cy="166573"/>
          </a:xfrm>
          <a:prstGeom prst="rect">
            <a:avLst/>
          </a:prstGeom>
          <a:noFill/>
        </p:spPr>
        <p:txBody>
          <a:bodyPr wrap="none" lIns="0" rIns="0" tIns="0" bIns="0">
            <a:spAutoFit/>
          </a:bodyPr>
          <a:lstStyle/>
          <a:p>
            <a:r>
              <a:rPr sz="968" b="1">
                <a:solidFill>
                  <a:srgbClr val="6C7A89"/>
                </a:solidFill>
                <a:latin typeface="Calibri"/>
              </a:rPr>
              <a:t>LIKELY (2036)</a:t>
            </a:r>
          </a:p>
        </p:txBody>
      </p:sp>
      <p:sp>
        <p:nvSpPr>
          <p:cNvPr id="49" name="TextBox 48"/>
          <p:cNvSpPr txBox="1"/>
          <p:nvPr/>
        </p:nvSpPr>
        <p:spPr>
          <a:xfrm>
            <a:off x="5940158"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42412" y="1473019"/>
            <a:ext cx="113255" cy="164734"/>
          </a:xfrm>
          <a:prstGeom prst="rect">
            <a:avLst/>
          </a:prstGeom>
        </p:spPr>
      </p:pic>
      <p:sp>
        <p:nvSpPr>
          <p:cNvPr id="51" name="TextBox 50"/>
          <p:cNvSpPr txBox="1"/>
          <p:nvPr/>
        </p:nvSpPr>
        <p:spPr>
          <a:xfrm>
            <a:off x="9548094" y="1028326"/>
            <a:ext cx="1220636" cy="166573"/>
          </a:xfrm>
          <a:prstGeom prst="rect">
            <a:avLst/>
          </a:prstGeom>
          <a:noFill/>
        </p:spPr>
        <p:txBody>
          <a:bodyPr wrap="none" lIns="0" rIns="0" tIns="0" bIns="0">
            <a:spAutoFit/>
          </a:bodyPr>
          <a:lstStyle/>
          <a:p>
            <a:r>
              <a:rPr sz="968" b="1">
                <a:solidFill>
                  <a:srgbClr val="6C7A89"/>
                </a:solidFill>
                <a:latin typeface="Calibri"/>
              </a:rPr>
              <a:t>CONSERVATIVE (2036)</a:t>
            </a:r>
          </a:p>
        </p:txBody>
      </p:sp>
      <p:sp>
        <p:nvSpPr>
          <p:cNvPr id="52" name="TextBox 51"/>
          <p:cNvSpPr txBox="1"/>
          <p:nvPr/>
        </p:nvSpPr>
        <p:spPr>
          <a:xfrm>
            <a:off x="9912083"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14337" y="1473019"/>
            <a:ext cx="113255" cy="164734"/>
          </a:xfrm>
          <a:prstGeom prst="rect">
            <a:avLst/>
          </a:prstGeom>
        </p:spPr>
      </p:pic>
      <p:sp>
        <p:nvSpPr>
          <p:cNvPr id="54" name="TextBox 53"/>
          <p:cNvSpPr txBox="1"/>
          <p:nvPr/>
        </p:nvSpPr>
        <p:spPr>
          <a:xfrm>
            <a:off x="2032418" y="2856366"/>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848151"/>
            <a:ext cx="108107" cy="157246"/>
          </a:xfrm>
          <a:prstGeom prst="rect">
            <a:avLst/>
          </a:prstGeom>
        </p:spPr>
      </p:pic>
      <p:sp>
        <p:nvSpPr>
          <p:cNvPr id="56" name="TextBox 55"/>
          <p:cNvSpPr txBox="1"/>
          <p:nvPr/>
        </p:nvSpPr>
        <p:spPr>
          <a:xfrm>
            <a:off x="2032418" y="2599191"/>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590976"/>
            <a:ext cx="108107" cy="157246"/>
          </a:xfrm>
          <a:prstGeom prst="rect">
            <a:avLst/>
          </a:prstGeom>
        </p:spPr>
      </p:pic>
      <p:sp>
        <p:nvSpPr>
          <p:cNvPr id="58" name="TextBox 57"/>
          <p:cNvSpPr txBox="1"/>
          <p:nvPr/>
        </p:nvSpPr>
        <p:spPr>
          <a:xfrm>
            <a:off x="2032418" y="2342016"/>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333801"/>
            <a:ext cx="108107" cy="157246"/>
          </a:xfrm>
          <a:prstGeom prst="rect">
            <a:avLst/>
          </a:prstGeom>
        </p:spPr>
      </p:pic>
      <p:sp>
        <p:nvSpPr>
          <p:cNvPr id="60" name="TextBox 59"/>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61" name="Picture 60" descr="lock.png"/>
          <p:cNvPicPr>
            <a:picLocks noChangeAspect="1"/>
          </p:cNvPicPr>
          <p:nvPr/>
        </p:nvPicPr>
        <p:blipFill>
          <a:blip r:embed="rId5"/>
          <a:stretch>
            <a:fillRect/>
          </a:stretch>
        </p:blipFill>
        <p:spPr>
          <a:xfrm>
            <a:off x="1033540" y="5361876"/>
            <a:ext cx="134549" cy="195707"/>
          </a:xfrm>
          <a:prstGeom prst="rect">
            <a:avLst/>
          </a:prstGeom>
        </p:spPr>
      </p:pic>
      <p:sp>
        <p:nvSpPr>
          <p:cNvPr id="62" name="TextBox 61"/>
          <p:cNvSpPr txBox="1"/>
          <p:nvPr/>
        </p:nvSpPr>
        <p:spPr>
          <a:xfrm>
            <a:off x="1208649" y="537210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2361612" y="5361876"/>
            <a:ext cx="134549" cy="195707"/>
          </a:xfrm>
          <a:prstGeom prst="rect">
            <a:avLst/>
          </a:prstGeom>
        </p:spPr>
      </p:pic>
      <p:sp>
        <p:nvSpPr>
          <p:cNvPr id="64" name="TextBox 63"/>
          <p:cNvSpPr txBox="1"/>
          <p:nvPr/>
        </p:nvSpPr>
        <p:spPr>
          <a:xfrm>
            <a:off x="2536721" y="5372100"/>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5" name="TextBox 64"/>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66" name="Picture 65" descr="lock.png"/>
          <p:cNvPicPr>
            <a:picLocks noChangeAspect="1"/>
          </p:cNvPicPr>
          <p:nvPr/>
        </p:nvPicPr>
        <p:blipFill>
          <a:blip r:embed="rId5"/>
          <a:stretch>
            <a:fillRect/>
          </a:stretch>
        </p:blipFill>
        <p:spPr>
          <a:xfrm>
            <a:off x="1673650" y="5589714"/>
            <a:ext cx="134549" cy="195707"/>
          </a:xfrm>
          <a:prstGeom prst="rect">
            <a:avLst/>
          </a:prstGeom>
        </p:spPr>
      </p:pic>
      <p:sp>
        <p:nvSpPr>
          <p:cNvPr id="67" name="TextBox 66"/>
          <p:cNvSpPr txBox="1"/>
          <p:nvPr/>
        </p:nvSpPr>
        <p:spPr>
          <a:xfrm>
            <a:off x="1848759" y="5599938"/>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68" name="Picture 67" descr="lock.png"/>
          <p:cNvPicPr>
            <a:picLocks noChangeAspect="1"/>
          </p:cNvPicPr>
          <p:nvPr/>
        </p:nvPicPr>
        <p:blipFill>
          <a:blip r:embed="rId5"/>
          <a:stretch>
            <a:fillRect/>
          </a:stretch>
        </p:blipFill>
        <p:spPr>
          <a:xfrm>
            <a:off x="2495966" y="5589714"/>
            <a:ext cx="134549" cy="195707"/>
          </a:xfrm>
          <a:prstGeom prst="rect">
            <a:avLst/>
          </a:prstGeom>
        </p:spPr>
      </p:pic>
      <p:sp>
        <p:nvSpPr>
          <p:cNvPr id="69" name="TextBox 68"/>
          <p:cNvSpPr txBox="1"/>
          <p:nvPr/>
        </p:nvSpPr>
        <p:spPr>
          <a:xfrm>
            <a:off x="2671076" y="559993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71" name="Picture 70" descr="lock.png"/>
          <p:cNvPicPr>
            <a:picLocks noChangeAspect="1"/>
          </p:cNvPicPr>
          <p:nvPr/>
        </p:nvPicPr>
        <p:blipFill>
          <a:blip r:embed="rId5"/>
          <a:stretch>
            <a:fillRect/>
          </a:stretch>
        </p:blipFill>
        <p:spPr>
          <a:xfrm>
            <a:off x="1194994" y="5817552"/>
            <a:ext cx="134549" cy="195707"/>
          </a:xfrm>
          <a:prstGeom prst="rect">
            <a:avLst/>
          </a:prstGeom>
        </p:spPr>
      </p:pic>
      <p:sp>
        <p:nvSpPr>
          <p:cNvPr id="72" name="TextBox 71"/>
          <p:cNvSpPr txBox="1"/>
          <p:nvPr/>
        </p:nvSpPr>
        <p:spPr>
          <a:xfrm>
            <a:off x="1370103" y="5827775"/>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73" name="Picture 72" descr="lock.png"/>
          <p:cNvPicPr>
            <a:picLocks noChangeAspect="1"/>
          </p:cNvPicPr>
          <p:nvPr/>
        </p:nvPicPr>
        <p:blipFill>
          <a:blip r:embed="rId5"/>
          <a:stretch>
            <a:fillRect/>
          </a:stretch>
        </p:blipFill>
        <p:spPr>
          <a:xfrm>
            <a:off x="2017310" y="5817552"/>
            <a:ext cx="134549" cy="195707"/>
          </a:xfrm>
          <a:prstGeom prst="rect">
            <a:avLst/>
          </a:prstGeom>
        </p:spPr>
      </p:pic>
      <p:sp>
        <p:nvSpPr>
          <p:cNvPr id="74" name="TextBox 73"/>
          <p:cNvSpPr txBox="1"/>
          <p:nvPr/>
        </p:nvSpPr>
        <p:spPr>
          <a:xfrm>
            <a:off x="2192420" y="58277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5" name="TextBox 74"/>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76" name="Picture 75" descr="lock.png"/>
          <p:cNvPicPr>
            <a:picLocks noChangeAspect="1"/>
          </p:cNvPicPr>
          <p:nvPr/>
        </p:nvPicPr>
        <p:blipFill>
          <a:blip r:embed="rId5"/>
          <a:stretch>
            <a:fillRect/>
          </a:stretch>
        </p:blipFill>
        <p:spPr>
          <a:xfrm>
            <a:off x="3885509" y="6045390"/>
            <a:ext cx="134549" cy="195707"/>
          </a:xfrm>
          <a:prstGeom prst="rect">
            <a:avLst/>
          </a:prstGeom>
        </p:spPr>
      </p:pic>
      <p:sp>
        <p:nvSpPr>
          <p:cNvPr id="77" name="TextBox 76"/>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78" name="lockshield_36"/>
          <p:cNvSpPr/>
          <p:nvPr/>
        </p:nvSpPr>
        <p:spPr>
          <a:xfrm>
            <a:off x="6267450" y="2266950"/>
            <a:ext cx="5686425" cy="2495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Removable Partial Dentures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lock.png"/>
          <p:cNvPicPr>
            <a:picLocks noChangeAspect="1"/>
          </p:cNvPicPr>
          <p:nvPr/>
        </p:nvPicPr>
        <p:blipFill>
          <a:blip r:embed="rId4"/>
          <a:stretch>
            <a:fillRect/>
          </a:stretch>
        </p:blipFill>
        <p:spPr>
          <a:xfrm>
            <a:off x="4250888" y="2339922"/>
            <a:ext cx="175498" cy="255270"/>
          </a:xfrm>
          <a:prstGeom prst="rect">
            <a:avLst/>
          </a:prstGeom>
        </p:spPr>
      </p:pic>
      <p:pic>
        <p:nvPicPr>
          <p:cNvPr id="51" name="Picture 50" descr="lock.png"/>
          <p:cNvPicPr>
            <a:picLocks noChangeAspect="1"/>
          </p:cNvPicPr>
          <p:nvPr/>
        </p:nvPicPr>
        <p:blipFill>
          <a:blip r:embed="rId4"/>
          <a:stretch>
            <a:fillRect/>
          </a:stretch>
        </p:blipFill>
        <p:spPr>
          <a:xfrm>
            <a:off x="4250888" y="2832772"/>
            <a:ext cx="175498" cy="255270"/>
          </a:xfrm>
          <a:prstGeom prst="rect">
            <a:avLst/>
          </a:prstGeom>
        </p:spPr>
      </p:pic>
      <p:pic>
        <p:nvPicPr>
          <p:cNvPr id="52" name="Picture 51" descr="lock.png"/>
          <p:cNvPicPr>
            <a:picLocks noChangeAspect="1"/>
          </p:cNvPicPr>
          <p:nvPr/>
        </p:nvPicPr>
        <p:blipFill>
          <a:blip r:embed="rId4"/>
          <a:stretch>
            <a:fillRect/>
          </a:stretch>
        </p:blipFill>
        <p:spPr>
          <a:xfrm>
            <a:off x="4250888" y="3325622"/>
            <a:ext cx="175498" cy="255270"/>
          </a:xfrm>
          <a:prstGeom prst="rect">
            <a:avLst/>
          </a:prstGeom>
        </p:spPr>
      </p:pic>
      <p:pic>
        <p:nvPicPr>
          <p:cNvPr id="53" name="Picture 52" descr="lock.png"/>
          <p:cNvPicPr>
            <a:picLocks noChangeAspect="1"/>
          </p:cNvPicPr>
          <p:nvPr/>
        </p:nvPicPr>
        <p:blipFill>
          <a:blip r:embed="rId4"/>
          <a:stretch>
            <a:fillRect/>
          </a:stretch>
        </p:blipFill>
        <p:spPr>
          <a:xfrm>
            <a:off x="9308663" y="2339922"/>
            <a:ext cx="175498" cy="255270"/>
          </a:xfrm>
          <a:prstGeom prst="rect">
            <a:avLst/>
          </a:prstGeom>
        </p:spPr>
      </p:pic>
      <p:pic>
        <p:nvPicPr>
          <p:cNvPr id="54" name="Picture 53" descr="lock.png"/>
          <p:cNvPicPr>
            <a:picLocks noChangeAspect="1"/>
          </p:cNvPicPr>
          <p:nvPr/>
        </p:nvPicPr>
        <p:blipFill>
          <a:blip r:embed="rId4"/>
          <a:stretch>
            <a:fillRect/>
          </a:stretch>
        </p:blipFill>
        <p:spPr>
          <a:xfrm>
            <a:off x="9308663" y="2832772"/>
            <a:ext cx="175498" cy="255270"/>
          </a:xfrm>
          <a:prstGeom prst="rect">
            <a:avLst/>
          </a:prstGeom>
        </p:spPr>
      </p:pic>
      <p:pic>
        <p:nvPicPr>
          <p:cNvPr id="55" name="Picture 54" descr="lock.png"/>
          <p:cNvPicPr>
            <a:picLocks noChangeAspect="1"/>
          </p:cNvPicPr>
          <p:nvPr/>
        </p:nvPicPr>
        <p:blipFill>
          <a:blip r:embed="rId4"/>
          <a:stretch>
            <a:fillRect/>
          </a:stretch>
        </p:blipFill>
        <p:spPr>
          <a:xfrm>
            <a:off x="9308663" y="3325622"/>
            <a:ext cx="175498" cy="255270"/>
          </a:xfrm>
          <a:prstGeom prst="rect">
            <a:avLst/>
          </a:prstGeom>
        </p:spPr>
      </p:pic>
      <p:sp>
        <p:nvSpPr>
          <p:cNvPr id="56" name="TextBox 55"/>
          <p:cNvSpPr txBox="1"/>
          <p:nvPr/>
        </p:nvSpPr>
        <p:spPr>
          <a:xfrm>
            <a:off x="485775" y="4229437"/>
            <a:ext cx="2875929" cy="186689"/>
          </a:xfrm>
          <a:prstGeom prst="rect">
            <a:avLst/>
          </a:prstGeom>
          <a:noFill/>
        </p:spPr>
        <p:txBody>
          <a:bodyPr wrap="none" lIns="0" rIns="0" tIns="0" bIns="0">
            <a:spAutoFit/>
          </a:bodyPr>
          <a:lstStyle/>
          <a:p>
            <a:r>
              <a:rPr sz="1100" b="0">
                <a:solidFill>
                  <a:srgbClr val="2E2E2E"/>
                </a:solidFill>
                <a:latin typeface="Calibri"/>
              </a:rPr>
              <a:t>▪ ¶ The U.S. removable partial dentures market is</a:t>
            </a:r>
          </a:p>
        </p:txBody>
      </p:sp>
      <p:sp>
        <p:nvSpPr>
          <p:cNvPr id="57" name="TextBox 56"/>
          <p:cNvSpPr txBox="1"/>
          <p:nvPr/>
        </p:nvSpPr>
        <p:spPr>
          <a:xfrm>
            <a:off x="485775" y="4397077"/>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58" name="Picture 57" descr="lock.png"/>
          <p:cNvPicPr>
            <a:picLocks noChangeAspect="1"/>
          </p:cNvPicPr>
          <p:nvPr/>
        </p:nvPicPr>
        <p:blipFill>
          <a:blip r:embed="rId4"/>
          <a:stretch>
            <a:fillRect/>
          </a:stretch>
        </p:blipFill>
        <p:spPr>
          <a:xfrm>
            <a:off x="1678376" y="4387298"/>
            <a:ext cx="128699" cy="187198"/>
          </a:xfrm>
          <a:prstGeom prst="rect">
            <a:avLst/>
          </a:prstGeom>
        </p:spPr>
      </p:pic>
      <p:sp>
        <p:nvSpPr>
          <p:cNvPr id="59" name="TextBox 58"/>
          <p:cNvSpPr txBox="1"/>
          <p:nvPr/>
        </p:nvSpPr>
        <p:spPr>
          <a:xfrm>
            <a:off x="1845872" y="4397077"/>
            <a:ext cx="1172517" cy="186689"/>
          </a:xfrm>
          <a:prstGeom prst="rect">
            <a:avLst/>
          </a:prstGeom>
          <a:noFill/>
        </p:spPr>
        <p:txBody>
          <a:bodyPr wrap="none" lIns="0" rIns="0" tIns="0" bIns="0">
            <a:spAutoFit/>
          </a:bodyPr>
          <a:lstStyle/>
          <a:p>
            <a:r>
              <a:rPr sz="1100" b="0">
                <a:solidFill>
                  <a:srgbClr val="2E2E2E"/>
                </a:solidFill>
                <a:latin typeface="Calibri"/>
              </a:rPr>
              <a:t>X higher value than</a:t>
            </a:r>
          </a:p>
        </p:txBody>
      </p:sp>
      <p:sp>
        <p:nvSpPr>
          <p:cNvPr id="60" name="TextBox 59"/>
          <p:cNvSpPr txBox="1"/>
          <p:nvPr/>
        </p:nvSpPr>
        <p:spPr>
          <a:xfrm>
            <a:off x="485775" y="4564717"/>
            <a:ext cx="2462014" cy="186689"/>
          </a:xfrm>
          <a:prstGeom prst="rect">
            <a:avLst/>
          </a:prstGeom>
          <a:noFill/>
        </p:spPr>
        <p:txBody>
          <a:bodyPr wrap="none" lIns="0" rIns="0" tIns="0" bIns="0">
            <a:spAutoFit/>
          </a:bodyPr>
          <a:lstStyle/>
          <a:p>
            <a:r>
              <a:rPr sz="1100" b="0">
                <a:solidFill>
                  <a:srgbClr val="2E2E2E"/>
                </a:solidFill>
                <a:latin typeface="Calibri"/>
              </a:rPr>
              <a:t>Canada in 2036. Among removable partial</a:t>
            </a:r>
          </a:p>
        </p:txBody>
      </p:sp>
      <p:sp>
        <p:nvSpPr>
          <p:cNvPr id="61" name="TextBox 60"/>
          <p:cNvSpPr txBox="1"/>
          <p:nvPr/>
        </p:nvSpPr>
        <p:spPr>
          <a:xfrm>
            <a:off x="485775" y="4732357"/>
            <a:ext cx="2537593" cy="186689"/>
          </a:xfrm>
          <a:prstGeom prst="rect">
            <a:avLst/>
          </a:prstGeom>
          <a:noFill/>
        </p:spPr>
        <p:txBody>
          <a:bodyPr wrap="none" lIns="0" rIns="0" tIns="0" bIns="0">
            <a:spAutoFit/>
          </a:bodyPr>
          <a:lstStyle/>
          <a:p>
            <a:r>
              <a:rPr sz="1100" b="0">
                <a:solidFill>
                  <a:srgbClr val="2E2E2E"/>
                </a:solidFill>
                <a:latin typeface="Calibri"/>
              </a:rPr>
              <a:t>dentures by country, Canada is expected to</a:t>
            </a:r>
          </a:p>
        </p:txBody>
      </p:sp>
      <p:sp>
        <p:nvSpPr>
          <p:cNvPr id="62" name="TextBox 61"/>
          <p:cNvSpPr txBox="1"/>
          <p:nvPr/>
        </p:nvSpPr>
        <p:spPr>
          <a:xfrm>
            <a:off x="485775" y="489999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63" name="Picture 62" descr="lock.png"/>
          <p:cNvPicPr>
            <a:picLocks noChangeAspect="1"/>
          </p:cNvPicPr>
          <p:nvPr/>
        </p:nvPicPr>
        <p:blipFill>
          <a:blip r:embed="rId4"/>
          <a:stretch>
            <a:fillRect/>
          </a:stretch>
        </p:blipFill>
        <p:spPr>
          <a:xfrm>
            <a:off x="2108919" y="4890217"/>
            <a:ext cx="128699" cy="187198"/>
          </a:xfrm>
          <a:prstGeom prst="rect">
            <a:avLst/>
          </a:prstGeom>
        </p:spPr>
      </p:pic>
      <p:sp>
        <p:nvSpPr>
          <p:cNvPr id="64" name="TextBox 63"/>
          <p:cNvSpPr txBox="1"/>
          <p:nvPr/>
        </p:nvSpPr>
        <p:spPr>
          <a:xfrm>
            <a:off x="2276415" y="489999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65" name="TextBox 64"/>
          <p:cNvSpPr txBox="1"/>
          <p:nvPr/>
        </p:nvSpPr>
        <p:spPr>
          <a:xfrm>
            <a:off x="485775" y="5067637"/>
            <a:ext cx="482475" cy="186689"/>
          </a:xfrm>
          <a:prstGeom prst="rect">
            <a:avLst/>
          </a:prstGeom>
          <a:noFill/>
        </p:spPr>
        <p:txBody>
          <a:bodyPr wrap="none" lIns="0" rIns="0" tIns="0" bIns="0">
            <a:spAutoFit/>
          </a:bodyPr>
          <a:lstStyle/>
          <a:p>
            <a:r>
              <a:rPr sz="1100" b="0">
                <a:solidFill>
                  <a:srgbClr val="2E2E2E"/>
                </a:solidFill>
                <a:latin typeface="Calibri"/>
              </a:rPr>
              <a:t>period.</a:t>
            </a:r>
          </a:p>
        </p:txBody>
      </p:sp>
      <p:sp>
        <p:nvSpPr>
          <p:cNvPr id="66" name="TextBox 65"/>
          <p:cNvSpPr txBox="1"/>
          <p:nvPr/>
        </p:nvSpPr>
        <p:spPr>
          <a:xfrm>
            <a:off x="485775" y="5285569"/>
            <a:ext cx="2619995" cy="186689"/>
          </a:xfrm>
          <a:prstGeom prst="rect">
            <a:avLst/>
          </a:prstGeom>
          <a:noFill/>
        </p:spPr>
        <p:txBody>
          <a:bodyPr wrap="none" lIns="0" rIns="0" tIns="0" bIns="0">
            <a:spAutoFit/>
          </a:bodyPr>
          <a:lstStyle/>
          <a:p>
            <a:r>
              <a:rPr sz="1100" b="0">
                <a:solidFill>
                  <a:srgbClr val="2E2E2E"/>
                </a:solidFill>
                <a:latin typeface="Calibri"/>
              </a:rPr>
              <a:t>▪ ¶ In terms of value share by country, U.S. is</a:t>
            </a:r>
          </a:p>
        </p:txBody>
      </p:sp>
      <p:sp>
        <p:nvSpPr>
          <p:cNvPr id="67" name="TextBox 66"/>
          <p:cNvSpPr txBox="1"/>
          <p:nvPr/>
        </p:nvSpPr>
        <p:spPr>
          <a:xfrm>
            <a:off x="485775" y="5453209"/>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8" name="Picture 67" descr="lock.png"/>
          <p:cNvPicPr>
            <a:picLocks noChangeAspect="1"/>
          </p:cNvPicPr>
          <p:nvPr/>
        </p:nvPicPr>
        <p:blipFill>
          <a:blip r:embed="rId4"/>
          <a:stretch>
            <a:fillRect/>
          </a:stretch>
        </p:blipFill>
        <p:spPr>
          <a:xfrm>
            <a:off x="2822716" y="5443430"/>
            <a:ext cx="128699" cy="187198"/>
          </a:xfrm>
          <a:prstGeom prst="rect">
            <a:avLst/>
          </a:prstGeom>
        </p:spPr>
      </p:pic>
      <p:sp>
        <p:nvSpPr>
          <p:cNvPr id="69" name="TextBox 68"/>
          <p:cNvSpPr txBox="1"/>
          <p:nvPr/>
        </p:nvSpPr>
        <p:spPr>
          <a:xfrm>
            <a:off x="2990212" y="5453209"/>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70" name="TextBox 69"/>
          <p:cNvSpPr txBox="1"/>
          <p:nvPr/>
        </p:nvSpPr>
        <p:spPr>
          <a:xfrm>
            <a:off x="485775" y="5620849"/>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71" name="Picture 70" descr="lock.png"/>
          <p:cNvPicPr>
            <a:picLocks noChangeAspect="1"/>
          </p:cNvPicPr>
          <p:nvPr/>
        </p:nvPicPr>
        <p:blipFill>
          <a:blip r:embed="rId4"/>
          <a:stretch>
            <a:fillRect/>
          </a:stretch>
        </p:blipFill>
        <p:spPr>
          <a:xfrm>
            <a:off x="1576057" y="5611070"/>
            <a:ext cx="128699" cy="187198"/>
          </a:xfrm>
          <a:prstGeom prst="rect">
            <a:avLst/>
          </a:prstGeom>
        </p:spPr>
      </p:pic>
      <p:sp>
        <p:nvSpPr>
          <p:cNvPr id="72" name="TextBox 71"/>
          <p:cNvSpPr txBox="1"/>
          <p:nvPr/>
        </p:nvSpPr>
        <p:spPr>
          <a:xfrm>
            <a:off x="1743553" y="5620849"/>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3" name="TextBox 72"/>
          <p:cNvSpPr txBox="1"/>
          <p:nvPr/>
        </p:nvSpPr>
        <p:spPr>
          <a:xfrm>
            <a:off x="3838575" y="4229437"/>
            <a:ext cx="453826" cy="186689"/>
          </a:xfrm>
          <a:prstGeom prst="rect">
            <a:avLst/>
          </a:prstGeom>
          <a:noFill/>
        </p:spPr>
        <p:txBody>
          <a:bodyPr wrap="none" lIns="0" rIns="0" tIns="0" bIns="0">
            <a:spAutoFit/>
          </a:bodyPr>
          <a:lstStyle/>
          <a:p>
            <a:r>
              <a:rPr sz="1100" b="0">
                <a:solidFill>
                  <a:srgbClr val="2E2E2E"/>
                </a:solidFill>
                <a:latin typeface="Calibri"/>
              </a:rPr>
              <a:t>● U.S.:</a:t>
            </a:r>
          </a:p>
        </p:txBody>
      </p:sp>
      <p:pic>
        <p:nvPicPr>
          <p:cNvPr id="74" name="Picture 73" descr="lock.png"/>
          <p:cNvPicPr>
            <a:picLocks noChangeAspect="1"/>
          </p:cNvPicPr>
          <p:nvPr/>
        </p:nvPicPr>
        <p:blipFill>
          <a:blip r:embed="rId4"/>
          <a:stretch>
            <a:fillRect/>
          </a:stretch>
        </p:blipFill>
        <p:spPr>
          <a:xfrm>
            <a:off x="4240453" y="4219658"/>
            <a:ext cx="128699" cy="187198"/>
          </a:xfrm>
          <a:prstGeom prst="rect">
            <a:avLst/>
          </a:prstGeom>
        </p:spPr>
      </p:pic>
      <p:sp>
        <p:nvSpPr>
          <p:cNvPr id="75" name="TextBox 74"/>
          <p:cNvSpPr txBox="1"/>
          <p:nvPr/>
        </p:nvSpPr>
        <p:spPr>
          <a:xfrm>
            <a:off x="440794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4"/>
          <a:stretch>
            <a:fillRect/>
          </a:stretch>
        </p:blipFill>
        <p:spPr>
          <a:xfrm>
            <a:off x="5267399" y="4219658"/>
            <a:ext cx="128699" cy="187198"/>
          </a:xfrm>
          <a:prstGeom prst="rect">
            <a:avLst/>
          </a:prstGeom>
        </p:spPr>
      </p:pic>
      <p:sp>
        <p:nvSpPr>
          <p:cNvPr id="77" name="TextBox 76"/>
          <p:cNvSpPr txBox="1"/>
          <p:nvPr/>
        </p:nvSpPr>
        <p:spPr>
          <a:xfrm>
            <a:off x="543489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78" name="TextBox 77"/>
          <p:cNvSpPr txBox="1"/>
          <p:nvPr/>
        </p:nvSpPr>
        <p:spPr>
          <a:xfrm>
            <a:off x="3838575" y="4447369"/>
            <a:ext cx="651371" cy="186689"/>
          </a:xfrm>
          <a:prstGeom prst="rect">
            <a:avLst/>
          </a:prstGeom>
          <a:noFill/>
        </p:spPr>
        <p:txBody>
          <a:bodyPr wrap="none" lIns="0" rIns="0" tIns="0" bIns="0">
            <a:spAutoFit/>
          </a:bodyPr>
          <a:lstStyle/>
          <a:p>
            <a:r>
              <a:rPr sz="1100" b="0">
                <a:solidFill>
                  <a:srgbClr val="2E2E2E"/>
                </a:solidFill>
                <a:latin typeface="Calibri"/>
              </a:rPr>
              <a:t>● Canada:</a:t>
            </a:r>
          </a:p>
        </p:txBody>
      </p:sp>
      <p:pic>
        <p:nvPicPr>
          <p:cNvPr id="79" name="Picture 78" descr="lock.png"/>
          <p:cNvPicPr>
            <a:picLocks noChangeAspect="1"/>
          </p:cNvPicPr>
          <p:nvPr/>
        </p:nvPicPr>
        <p:blipFill>
          <a:blip r:embed="rId4"/>
          <a:stretch>
            <a:fillRect/>
          </a:stretch>
        </p:blipFill>
        <p:spPr>
          <a:xfrm>
            <a:off x="4437997" y="4437590"/>
            <a:ext cx="128699" cy="187198"/>
          </a:xfrm>
          <a:prstGeom prst="rect">
            <a:avLst/>
          </a:prstGeom>
        </p:spPr>
      </p:pic>
      <p:sp>
        <p:nvSpPr>
          <p:cNvPr id="80" name="TextBox 79"/>
          <p:cNvSpPr txBox="1"/>
          <p:nvPr/>
        </p:nvSpPr>
        <p:spPr>
          <a:xfrm>
            <a:off x="460549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4"/>
          <a:stretch>
            <a:fillRect/>
          </a:stretch>
        </p:blipFill>
        <p:spPr>
          <a:xfrm>
            <a:off x="5464943" y="4437590"/>
            <a:ext cx="128699" cy="187198"/>
          </a:xfrm>
          <a:prstGeom prst="rect">
            <a:avLst/>
          </a:prstGeom>
        </p:spPr>
      </p:pic>
      <p:sp>
        <p:nvSpPr>
          <p:cNvPr id="82" name="TextBox 81"/>
          <p:cNvSpPr txBox="1"/>
          <p:nvPr/>
        </p:nvSpPr>
        <p:spPr>
          <a:xfrm>
            <a:off x="5632439"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North America market is projected to grow at a</a:t>
            </a:r>
          </a:p>
        </p:txBody>
      </p:sp>
      <p:sp>
        <p:nvSpPr>
          <p:cNvPr id="84" name="TextBox 83"/>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5" name="Picture 84" descr="lock.png"/>
          <p:cNvPicPr>
            <a:picLocks noChangeAspect="1"/>
          </p:cNvPicPr>
          <p:nvPr/>
        </p:nvPicPr>
        <p:blipFill>
          <a:blip r:embed="rId4"/>
          <a:stretch>
            <a:fillRect/>
          </a:stretch>
        </p:blipFill>
        <p:spPr>
          <a:xfrm>
            <a:off x="9048826" y="6007677"/>
            <a:ext cx="134549" cy="195707"/>
          </a:xfrm>
          <a:prstGeom prst="rect">
            <a:avLst/>
          </a:prstGeom>
        </p:spPr>
      </p:pic>
      <p:sp>
        <p:nvSpPr>
          <p:cNvPr id="86" name="TextBox 85"/>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Analysis, By Country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99165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9868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1068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97260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252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204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74425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0616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(UNITS)</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(UNITS)</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37" name="Picture 36" descr="lock.png"/>
          <p:cNvPicPr>
            <a:picLocks noChangeAspect="1"/>
          </p:cNvPicPr>
          <p:nvPr/>
        </p:nvPicPr>
        <p:blipFill>
          <a:blip r:embed="rId5"/>
          <a:stretch>
            <a:fillRect/>
          </a:stretch>
        </p:blipFill>
        <p:spPr>
          <a:xfrm>
            <a:off x="11242504" y="1389951"/>
            <a:ext cx="134549" cy="195707"/>
          </a:xfrm>
          <a:prstGeom prst="rect">
            <a:avLst/>
          </a:prstGeom>
        </p:spPr>
      </p:pic>
      <p:sp>
        <p:nvSpPr>
          <p:cNvPr id="38" name="TextBox 37"/>
          <p:cNvSpPr txBox="1"/>
          <p:nvPr/>
        </p:nvSpPr>
        <p:spPr>
          <a:xfrm>
            <a:off x="11417614"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9" name="TextBox 38"/>
          <p:cNvSpPr txBox="1"/>
          <p:nvPr/>
        </p:nvSpPr>
        <p:spPr>
          <a:xfrm>
            <a:off x="7239000" y="1575435"/>
            <a:ext cx="4506478" cy="194310"/>
          </a:xfrm>
          <a:prstGeom prst="rect">
            <a:avLst/>
          </a:prstGeom>
          <a:noFill/>
        </p:spPr>
        <p:txBody>
          <a:bodyPr wrap="none" lIns="0" rIns="0" tIns="0" bIns="0">
            <a:spAutoFit/>
          </a:bodyPr>
          <a:lstStyle/>
          <a:p>
            <a:r>
              <a:rPr sz="1150" b="0">
                <a:solidFill>
                  <a:srgbClr val="2E2E2E"/>
                </a:solidFill>
                <a:latin typeface="Calibri"/>
              </a:rPr>
              <a:t>higher volume than Canada in 2036. Among removable partial dentures by</a:t>
            </a:r>
          </a:p>
        </p:txBody>
      </p:sp>
      <p:sp>
        <p:nvSpPr>
          <p:cNvPr id="40" name="TextBox 39"/>
          <p:cNvSpPr txBox="1"/>
          <p:nvPr/>
        </p:nvSpPr>
        <p:spPr>
          <a:xfrm>
            <a:off x="7239000" y="1750695"/>
            <a:ext cx="3612189" cy="194310"/>
          </a:xfrm>
          <a:prstGeom prst="rect">
            <a:avLst/>
          </a:prstGeom>
          <a:noFill/>
        </p:spPr>
        <p:txBody>
          <a:bodyPr wrap="none" lIns="0" rIns="0" tIns="0" bIns="0">
            <a:spAutoFit/>
          </a:bodyPr>
          <a:lstStyle/>
          <a:p>
            <a:r>
              <a:rPr sz="1150" b="0">
                <a:solidFill>
                  <a:srgbClr val="2E2E2E"/>
                </a:solidFill>
                <a:latin typeface="Calibri"/>
              </a:rPr>
              <a:t>country, Canada is expected to witness the highest CAGR of</a:t>
            </a:r>
          </a:p>
        </p:txBody>
      </p:sp>
      <p:pic>
        <p:nvPicPr>
          <p:cNvPr id="41" name="Picture 40" descr="lock.png"/>
          <p:cNvPicPr>
            <a:picLocks noChangeAspect="1"/>
          </p:cNvPicPr>
          <p:nvPr/>
        </p:nvPicPr>
        <p:blipFill>
          <a:blip r:embed="rId5"/>
          <a:stretch>
            <a:fillRect/>
          </a:stretch>
        </p:blipFill>
        <p:spPr>
          <a:xfrm>
            <a:off x="10800343" y="1740471"/>
            <a:ext cx="134549" cy="195707"/>
          </a:xfrm>
          <a:prstGeom prst="rect">
            <a:avLst/>
          </a:prstGeom>
        </p:spPr>
      </p:pic>
      <p:sp>
        <p:nvSpPr>
          <p:cNvPr id="42" name="TextBox 41"/>
          <p:cNvSpPr txBox="1"/>
          <p:nvPr/>
        </p:nvSpPr>
        <p:spPr>
          <a:xfrm>
            <a:off x="10975452" y="175069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3" name="TextBox 42"/>
          <p:cNvSpPr txBox="1"/>
          <p:nvPr/>
        </p:nvSpPr>
        <p:spPr>
          <a:xfrm>
            <a:off x="7239000" y="192595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44" name="TextBox 43"/>
          <p:cNvSpPr txBox="1"/>
          <p:nvPr/>
        </p:nvSpPr>
        <p:spPr>
          <a:xfrm>
            <a:off x="7239000" y="2153793"/>
            <a:ext cx="4231493"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a:t>
            </a:r>
          </a:p>
        </p:txBody>
      </p:sp>
      <p:sp>
        <p:nvSpPr>
          <p:cNvPr id="45" name="TextBox 44"/>
          <p:cNvSpPr txBox="1"/>
          <p:nvPr/>
        </p:nvSpPr>
        <p:spPr>
          <a:xfrm>
            <a:off x="7239000" y="232905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46" name="Picture 45" descr="lock.png"/>
          <p:cNvPicPr>
            <a:picLocks noChangeAspect="1"/>
          </p:cNvPicPr>
          <p:nvPr/>
        </p:nvPicPr>
        <p:blipFill>
          <a:blip r:embed="rId5"/>
          <a:stretch>
            <a:fillRect/>
          </a:stretch>
        </p:blipFill>
        <p:spPr>
          <a:xfrm>
            <a:off x="8106708" y="2318829"/>
            <a:ext cx="134549" cy="195707"/>
          </a:xfrm>
          <a:prstGeom prst="rect">
            <a:avLst/>
          </a:prstGeom>
        </p:spPr>
      </p:pic>
      <p:sp>
        <p:nvSpPr>
          <p:cNvPr id="47" name="TextBox 46"/>
          <p:cNvSpPr txBox="1"/>
          <p:nvPr/>
        </p:nvSpPr>
        <p:spPr>
          <a:xfrm>
            <a:off x="8281817"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8" name="Picture 47" descr="lock.png"/>
          <p:cNvPicPr>
            <a:picLocks noChangeAspect="1"/>
          </p:cNvPicPr>
          <p:nvPr/>
        </p:nvPicPr>
        <p:blipFill>
          <a:blip r:embed="rId5"/>
          <a:stretch>
            <a:fillRect/>
          </a:stretch>
        </p:blipFill>
        <p:spPr>
          <a:xfrm>
            <a:off x="9676961" y="2318829"/>
            <a:ext cx="134549" cy="195707"/>
          </a:xfrm>
          <a:prstGeom prst="rect">
            <a:avLst/>
          </a:prstGeom>
        </p:spPr>
      </p:pic>
      <p:sp>
        <p:nvSpPr>
          <p:cNvPr id="49" name="TextBox 48"/>
          <p:cNvSpPr txBox="1"/>
          <p:nvPr/>
        </p:nvSpPr>
        <p:spPr>
          <a:xfrm>
            <a:off x="9852070"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5936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546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784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4031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929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8816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81196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7387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37" name="Picture 36" descr="lock.png"/>
          <p:cNvPicPr>
            <a:picLocks noChangeAspect="1"/>
          </p:cNvPicPr>
          <p:nvPr/>
        </p:nvPicPr>
        <p:blipFill>
          <a:blip r:embed="rId5"/>
          <a:stretch>
            <a:fillRect/>
          </a:stretch>
        </p:blipFill>
        <p:spPr>
          <a:xfrm>
            <a:off x="11242504" y="1389951"/>
            <a:ext cx="134549" cy="195707"/>
          </a:xfrm>
          <a:prstGeom prst="rect">
            <a:avLst/>
          </a:prstGeom>
        </p:spPr>
      </p:pic>
      <p:sp>
        <p:nvSpPr>
          <p:cNvPr id="38" name="TextBox 37"/>
          <p:cNvSpPr txBox="1"/>
          <p:nvPr/>
        </p:nvSpPr>
        <p:spPr>
          <a:xfrm>
            <a:off x="11417614"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9" name="TextBox 38"/>
          <p:cNvSpPr txBox="1"/>
          <p:nvPr/>
        </p:nvSpPr>
        <p:spPr>
          <a:xfrm>
            <a:off x="7239000" y="1575435"/>
            <a:ext cx="4382678" cy="194310"/>
          </a:xfrm>
          <a:prstGeom prst="rect">
            <a:avLst/>
          </a:prstGeom>
          <a:noFill/>
        </p:spPr>
        <p:txBody>
          <a:bodyPr wrap="none" lIns="0" rIns="0" tIns="0" bIns="0">
            <a:spAutoFit/>
          </a:bodyPr>
          <a:lstStyle/>
          <a:p>
            <a:r>
              <a:rPr sz="1150" b="0">
                <a:solidFill>
                  <a:srgbClr val="2E2E2E"/>
                </a:solidFill>
                <a:latin typeface="Calibri"/>
              </a:rPr>
              <a:t>higher value than Canada in 2036. Among removable partial dentures by</a:t>
            </a:r>
          </a:p>
        </p:txBody>
      </p:sp>
      <p:sp>
        <p:nvSpPr>
          <p:cNvPr id="40" name="TextBox 39"/>
          <p:cNvSpPr txBox="1"/>
          <p:nvPr/>
        </p:nvSpPr>
        <p:spPr>
          <a:xfrm>
            <a:off x="7239000" y="1750695"/>
            <a:ext cx="3612189" cy="194310"/>
          </a:xfrm>
          <a:prstGeom prst="rect">
            <a:avLst/>
          </a:prstGeom>
          <a:noFill/>
        </p:spPr>
        <p:txBody>
          <a:bodyPr wrap="none" lIns="0" rIns="0" tIns="0" bIns="0">
            <a:spAutoFit/>
          </a:bodyPr>
          <a:lstStyle/>
          <a:p>
            <a:r>
              <a:rPr sz="1150" b="0">
                <a:solidFill>
                  <a:srgbClr val="2E2E2E"/>
                </a:solidFill>
                <a:latin typeface="Calibri"/>
              </a:rPr>
              <a:t>country, Canada is expected to witness the highest CAGR of</a:t>
            </a:r>
          </a:p>
        </p:txBody>
      </p:sp>
      <p:pic>
        <p:nvPicPr>
          <p:cNvPr id="41" name="Picture 40" descr="lock.png"/>
          <p:cNvPicPr>
            <a:picLocks noChangeAspect="1"/>
          </p:cNvPicPr>
          <p:nvPr/>
        </p:nvPicPr>
        <p:blipFill>
          <a:blip r:embed="rId5"/>
          <a:stretch>
            <a:fillRect/>
          </a:stretch>
        </p:blipFill>
        <p:spPr>
          <a:xfrm>
            <a:off x="10800343" y="1740471"/>
            <a:ext cx="134549" cy="195707"/>
          </a:xfrm>
          <a:prstGeom prst="rect">
            <a:avLst/>
          </a:prstGeom>
        </p:spPr>
      </p:pic>
      <p:sp>
        <p:nvSpPr>
          <p:cNvPr id="42" name="TextBox 41"/>
          <p:cNvSpPr txBox="1"/>
          <p:nvPr/>
        </p:nvSpPr>
        <p:spPr>
          <a:xfrm>
            <a:off x="10975452" y="175069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3" name="TextBox 42"/>
          <p:cNvSpPr txBox="1"/>
          <p:nvPr/>
        </p:nvSpPr>
        <p:spPr>
          <a:xfrm>
            <a:off x="7239000" y="192595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44" name="TextBox 43"/>
          <p:cNvSpPr txBox="1"/>
          <p:nvPr/>
        </p:nvSpPr>
        <p:spPr>
          <a:xfrm>
            <a:off x="7239000" y="2153793"/>
            <a:ext cx="4603179"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a:t>
            </a:r>
          </a:p>
        </p:txBody>
      </p:sp>
      <p:sp>
        <p:nvSpPr>
          <p:cNvPr id="45" name="TextBox 44"/>
          <p:cNvSpPr txBox="1"/>
          <p:nvPr/>
        </p:nvSpPr>
        <p:spPr>
          <a:xfrm>
            <a:off x="7239000" y="2329053"/>
            <a:ext cx="423068" cy="194310"/>
          </a:xfrm>
          <a:prstGeom prst="rect">
            <a:avLst/>
          </a:prstGeom>
          <a:noFill/>
        </p:spPr>
        <p:txBody>
          <a:bodyPr wrap="none" lIns="0" rIns="0" tIns="0" bIns="0">
            <a:spAutoFit/>
          </a:bodyPr>
          <a:lstStyle/>
          <a:p>
            <a:r>
              <a:rPr sz="1150" b="0">
                <a:solidFill>
                  <a:srgbClr val="2E2E2E"/>
                </a:solidFill>
                <a:latin typeface="Calibri"/>
              </a:rPr>
              <a:t>losing</a:t>
            </a:r>
          </a:p>
        </p:txBody>
      </p:sp>
      <p:pic>
        <p:nvPicPr>
          <p:cNvPr id="46" name="Picture 45" descr="lock.png"/>
          <p:cNvPicPr>
            <a:picLocks noChangeAspect="1"/>
          </p:cNvPicPr>
          <p:nvPr/>
        </p:nvPicPr>
        <p:blipFill>
          <a:blip r:embed="rId5"/>
          <a:stretch>
            <a:fillRect/>
          </a:stretch>
        </p:blipFill>
        <p:spPr>
          <a:xfrm>
            <a:off x="7611222" y="2318829"/>
            <a:ext cx="134549" cy="195707"/>
          </a:xfrm>
          <a:prstGeom prst="rect">
            <a:avLst/>
          </a:prstGeom>
        </p:spPr>
      </p:pic>
      <p:sp>
        <p:nvSpPr>
          <p:cNvPr id="47" name="TextBox 46"/>
          <p:cNvSpPr txBox="1"/>
          <p:nvPr/>
        </p:nvSpPr>
        <p:spPr>
          <a:xfrm>
            <a:off x="7786331"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8" name="Picture 47" descr="lock.png"/>
          <p:cNvPicPr>
            <a:picLocks noChangeAspect="1"/>
          </p:cNvPicPr>
          <p:nvPr/>
        </p:nvPicPr>
        <p:blipFill>
          <a:blip r:embed="rId5"/>
          <a:stretch>
            <a:fillRect/>
          </a:stretch>
        </p:blipFill>
        <p:spPr>
          <a:xfrm>
            <a:off x="9181475" y="2318829"/>
            <a:ext cx="134549" cy="195707"/>
          </a:xfrm>
          <a:prstGeom prst="rect">
            <a:avLst/>
          </a:prstGeom>
        </p:spPr>
      </p:pic>
      <p:sp>
        <p:nvSpPr>
          <p:cNvPr id="49" name="TextBox 48"/>
          <p:cNvSpPr txBox="1"/>
          <p:nvPr/>
        </p:nvSpPr>
        <p:spPr>
          <a:xfrm>
            <a:off x="9356584"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Share Analysis, By Country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(Units)</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566452"/>
                <a:gridCol w="674370"/>
                <a:gridCol w="674370"/>
                <a:gridCol w="674370"/>
                <a:gridCol w="674370"/>
                <a:gridCol w="674370"/>
                <a:gridCol w="674370"/>
                <a:gridCol w="674370"/>
                <a:gridCol w="674370"/>
                <a:gridCol w="674370"/>
                <a:gridCol w="674370"/>
                <a:gridCol w="674370"/>
                <a:gridCol w="674370"/>
                <a:gridCol w="674370"/>
                <a:gridCol w="674370"/>
                <a:gridCol w="674370"/>
                <a:gridCol w="674370"/>
                <a:gridCol w="530828"/>
              </a:tblGrid>
              <a:tr h="246126">
                <a:tc>
                  <a:txBody>
                    <a:bodyPr wrap="none"/>
                    <a:lstStyle/>
                    <a:p>
                      <a:pPr algn="l"/>
                      <a:r>
                        <a:rPr sz="1100" b="1">
                          <a:solidFill>
                            <a:srgbClr val="0B2E4A"/>
                          </a:solidFill>
                          <a:latin typeface="Calibri"/>
                        </a:rPr>
                        <a:t>Country</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192536" y="1589913"/>
            <a:ext cx="366712" cy="533400"/>
          </a:xfrm>
          <a:prstGeom prst="rect">
            <a:avLst/>
          </a:prstGeom>
        </p:spPr>
      </p:pic>
      <p:sp>
        <p:nvSpPr>
          <p:cNvPr id="21" name="TextBox 20"/>
          <p:cNvSpPr txBox="1"/>
          <p:nvPr/>
        </p:nvSpPr>
        <p:spPr>
          <a:xfrm>
            <a:off x="276225" y="2990850"/>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22" name="Picture 21" descr="lock.png"/>
          <p:cNvPicPr>
            <a:picLocks noChangeAspect="1"/>
          </p:cNvPicPr>
          <p:nvPr/>
        </p:nvPicPr>
        <p:blipFill>
          <a:blip r:embed="rId4"/>
          <a:stretch>
            <a:fillRect/>
          </a:stretch>
        </p:blipFill>
        <p:spPr>
          <a:xfrm>
            <a:off x="4279729" y="2980626"/>
            <a:ext cx="134549" cy="195707"/>
          </a:xfrm>
          <a:prstGeom prst="rect">
            <a:avLst/>
          </a:prstGeom>
        </p:spPr>
      </p:pic>
      <p:sp>
        <p:nvSpPr>
          <p:cNvPr id="23" name="TextBox 22"/>
          <p:cNvSpPr txBox="1"/>
          <p:nvPr/>
        </p:nvSpPr>
        <p:spPr>
          <a:xfrm>
            <a:off x="4454839" y="2990850"/>
            <a:ext cx="7195281" cy="194310"/>
          </a:xfrm>
          <a:prstGeom prst="rect">
            <a:avLst/>
          </a:prstGeom>
          <a:noFill/>
        </p:spPr>
        <p:txBody>
          <a:bodyPr wrap="none" lIns="0" rIns="0" tIns="0" bIns="0">
            <a:spAutoFit/>
          </a:bodyPr>
          <a:lstStyle/>
          <a:p>
            <a:r>
              <a:rPr sz="1150" b="0">
                <a:solidFill>
                  <a:srgbClr val="2E2E2E"/>
                </a:solidFill>
                <a:latin typeface="Calibri"/>
              </a:rPr>
              <a:t>X higher volume than Canada in 2036. Among removable partial dentures by country, Canada is expected to witness the</a:t>
            </a:r>
          </a:p>
        </p:txBody>
      </p:sp>
      <p:sp>
        <p:nvSpPr>
          <p:cNvPr id="24" name="TextBox 23"/>
          <p:cNvSpPr txBox="1"/>
          <p:nvPr/>
        </p:nvSpPr>
        <p:spPr>
          <a:xfrm>
            <a:off x="276225" y="3166110"/>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3155886"/>
            <a:ext cx="134549" cy="195707"/>
          </a:xfrm>
          <a:prstGeom prst="rect">
            <a:avLst/>
          </a:prstGeom>
        </p:spPr>
      </p:pic>
      <p:sp>
        <p:nvSpPr>
          <p:cNvPr id="26" name="TextBox 25"/>
          <p:cNvSpPr txBox="1"/>
          <p:nvPr/>
        </p:nvSpPr>
        <p:spPr>
          <a:xfrm>
            <a:off x="1432841"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5106937"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 market, losing</a:t>
            </a:r>
          </a:p>
        </p:txBody>
      </p:sp>
      <p:pic>
        <p:nvPicPr>
          <p:cNvPr id="28" name="Picture 27" descr="lock.png"/>
          <p:cNvPicPr>
            <a:picLocks noChangeAspect="1"/>
          </p:cNvPicPr>
          <p:nvPr/>
        </p:nvPicPr>
        <p:blipFill>
          <a:blip r:embed="rId4"/>
          <a:stretch>
            <a:fillRect/>
          </a:stretch>
        </p:blipFill>
        <p:spPr>
          <a:xfrm>
            <a:off x="5332316" y="3383724"/>
            <a:ext cx="134549" cy="195707"/>
          </a:xfrm>
          <a:prstGeom prst="rect">
            <a:avLst/>
          </a:prstGeom>
        </p:spPr>
      </p:pic>
      <p:sp>
        <p:nvSpPr>
          <p:cNvPr id="29" name="TextBox 28"/>
          <p:cNvSpPr txBox="1"/>
          <p:nvPr/>
        </p:nvSpPr>
        <p:spPr>
          <a:xfrm>
            <a:off x="5507426"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6902569" y="3383724"/>
            <a:ext cx="134549" cy="195707"/>
          </a:xfrm>
          <a:prstGeom prst="rect">
            <a:avLst/>
          </a:prstGeom>
        </p:spPr>
      </p:pic>
      <p:sp>
        <p:nvSpPr>
          <p:cNvPr id="31" name="TextBox 30"/>
          <p:cNvSpPr txBox="1"/>
          <p:nvPr/>
        </p:nvSpPr>
        <p:spPr>
          <a:xfrm>
            <a:off x="70776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57436" y="1589913"/>
            <a:ext cx="366712" cy="533400"/>
          </a:xfrm>
          <a:prstGeom prst="rect">
            <a:avLst/>
          </a:prstGeom>
        </p:spPr>
      </p:pic>
      <p:sp>
        <p:nvSpPr>
          <p:cNvPr id="21" name="TextBox 20"/>
          <p:cNvSpPr txBox="1"/>
          <p:nvPr/>
        </p:nvSpPr>
        <p:spPr>
          <a:xfrm>
            <a:off x="276225" y="2990850"/>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22" name="Picture 21" descr="lock.png"/>
          <p:cNvPicPr>
            <a:picLocks noChangeAspect="1"/>
          </p:cNvPicPr>
          <p:nvPr/>
        </p:nvPicPr>
        <p:blipFill>
          <a:blip r:embed="rId4"/>
          <a:stretch>
            <a:fillRect/>
          </a:stretch>
        </p:blipFill>
        <p:spPr>
          <a:xfrm>
            <a:off x="4279729" y="2980626"/>
            <a:ext cx="134549" cy="195707"/>
          </a:xfrm>
          <a:prstGeom prst="rect">
            <a:avLst/>
          </a:prstGeom>
        </p:spPr>
      </p:pic>
      <p:sp>
        <p:nvSpPr>
          <p:cNvPr id="23" name="TextBox 22"/>
          <p:cNvSpPr txBox="1"/>
          <p:nvPr/>
        </p:nvSpPr>
        <p:spPr>
          <a:xfrm>
            <a:off x="4454839" y="2990850"/>
            <a:ext cx="7071481" cy="194310"/>
          </a:xfrm>
          <a:prstGeom prst="rect">
            <a:avLst/>
          </a:prstGeom>
          <a:noFill/>
        </p:spPr>
        <p:txBody>
          <a:bodyPr wrap="none" lIns="0" rIns="0" tIns="0" bIns="0">
            <a:spAutoFit/>
          </a:bodyPr>
          <a:lstStyle/>
          <a:p>
            <a:r>
              <a:rPr sz="1150" b="0">
                <a:solidFill>
                  <a:srgbClr val="2E2E2E"/>
                </a:solidFill>
                <a:latin typeface="Calibri"/>
              </a:rPr>
              <a:t>X higher value than Canada in 2036. Among removable partial dentures by country, Canada is expected to witness the</a:t>
            </a:r>
          </a:p>
        </p:txBody>
      </p:sp>
      <p:sp>
        <p:nvSpPr>
          <p:cNvPr id="24" name="TextBox 23"/>
          <p:cNvSpPr txBox="1"/>
          <p:nvPr/>
        </p:nvSpPr>
        <p:spPr>
          <a:xfrm>
            <a:off x="276225" y="3166110"/>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3155886"/>
            <a:ext cx="134549" cy="195707"/>
          </a:xfrm>
          <a:prstGeom prst="rect">
            <a:avLst/>
          </a:prstGeom>
        </p:spPr>
      </p:pic>
      <p:sp>
        <p:nvSpPr>
          <p:cNvPr id="26" name="TextBox 25"/>
          <p:cNvSpPr txBox="1"/>
          <p:nvPr/>
        </p:nvSpPr>
        <p:spPr>
          <a:xfrm>
            <a:off x="1432841"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4983137"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 losing</a:t>
            </a:r>
          </a:p>
        </p:txBody>
      </p:sp>
      <p:pic>
        <p:nvPicPr>
          <p:cNvPr id="28" name="Picture 27" descr="lock.png"/>
          <p:cNvPicPr>
            <a:picLocks noChangeAspect="1"/>
          </p:cNvPicPr>
          <p:nvPr/>
        </p:nvPicPr>
        <p:blipFill>
          <a:blip r:embed="rId4"/>
          <a:stretch>
            <a:fillRect/>
          </a:stretch>
        </p:blipFill>
        <p:spPr>
          <a:xfrm>
            <a:off x="5208516" y="3383724"/>
            <a:ext cx="134549" cy="195707"/>
          </a:xfrm>
          <a:prstGeom prst="rect">
            <a:avLst/>
          </a:prstGeom>
        </p:spPr>
      </p:pic>
      <p:sp>
        <p:nvSpPr>
          <p:cNvPr id="29" name="TextBox 28"/>
          <p:cNvSpPr txBox="1"/>
          <p:nvPr/>
        </p:nvSpPr>
        <p:spPr>
          <a:xfrm>
            <a:off x="5383625"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6778769" y="3383724"/>
            <a:ext cx="134549" cy="195707"/>
          </a:xfrm>
          <a:prstGeom prst="rect">
            <a:avLst/>
          </a:prstGeom>
        </p:spPr>
      </p:pic>
      <p:sp>
        <p:nvSpPr>
          <p:cNvPr id="31" name="TextBox 30"/>
          <p:cNvSpPr txBox="1"/>
          <p:nvPr/>
        </p:nvSpPr>
        <p:spPr>
          <a:xfrm>
            <a:off x="69538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(Units)</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6058646" y="2026489"/>
            <a:ext cx="363375" cy="528545"/>
          </a:xfrm>
          <a:prstGeom prst="rect">
            <a:avLst/>
          </a:prstGeom>
        </p:spPr>
      </p:pic>
      <p:pic>
        <p:nvPicPr>
          <p:cNvPr id="19" name="Picture 18" descr="lock.png"/>
          <p:cNvPicPr>
            <a:picLocks noChangeAspect="1"/>
          </p:cNvPicPr>
          <p:nvPr/>
        </p:nvPicPr>
        <p:blipFill>
          <a:blip r:embed="rId6"/>
          <a:stretch>
            <a:fillRect/>
          </a:stretch>
        </p:blipFill>
        <p:spPr>
          <a:xfrm>
            <a:off x="6058646" y="4912564"/>
            <a:ext cx="363375" cy="528545"/>
          </a:xfrm>
          <a:prstGeom prst="rect">
            <a:avLst/>
          </a:prstGeom>
        </p:spPr>
      </p:pic>
      <p:sp>
        <p:nvSpPr>
          <p:cNvPr id="20" name="lockshield_13"/>
          <p:cNvSpPr/>
          <p:nvPr/>
        </p:nvSpPr>
        <p:spPr>
          <a:xfrm>
            <a:off x="238125" y="1266825"/>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238125" y="4152900"/>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7899390"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8137515" y="1266825"/>
            <a:ext cx="381636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4130194" y="3919537"/>
            <a:ext cx="115252" cy="167639"/>
          </a:xfrm>
          <a:prstGeom prst="rect">
            <a:avLst/>
          </a:prstGeom>
        </p:spPr>
      </p:pic>
      <p:pic>
        <p:nvPicPr>
          <p:cNvPr id="17" name="Picture 16" descr="lock.png"/>
          <p:cNvPicPr>
            <a:picLocks noChangeAspect="1"/>
          </p:cNvPicPr>
          <p:nvPr/>
        </p:nvPicPr>
        <p:blipFill>
          <a:blip r:embed="rId4"/>
          <a:stretch>
            <a:fillRect/>
          </a:stretch>
        </p:blipFill>
        <p:spPr>
          <a:xfrm>
            <a:off x="9988068" y="3919537"/>
            <a:ext cx="115252" cy="167639"/>
          </a:xfrm>
          <a:prstGeom prst="rect">
            <a:avLst/>
          </a:prstGeom>
        </p:spPr>
      </p:pic>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Partial Dentures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Combination Framework Partial Den…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Cast Metal Partial Dentures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Partial Dentures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32_6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64_2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2_2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94_4_605E5C.png"/>
          <p:cNvPicPr>
            <a:picLocks noChangeAspect="1"/>
          </p:cNvPicPr>
          <p:nvPr/>
        </p:nvPicPr>
        <p:blipFill>
          <a:blip r:embed="rId7"/>
          <a:stretch>
            <a:fillRect/>
          </a:stretch>
        </p:blipFill>
        <p:spPr>
          <a:xfrm>
            <a:off x="5111864" y="2286582"/>
            <a:ext cx="982436" cy="361950"/>
          </a:xfrm>
          <a:prstGeom prst="rect">
            <a:avLst/>
          </a:prstGeom>
        </p:spPr>
      </p:pic>
      <p:pic>
        <p:nvPicPr>
          <p:cNvPr id="68" name="Picture 67" descr="143_8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3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75_8_605E5C.png"/>
          <p:cNvPicPr>
            <a:picLocks noChangeAspect="1"/>
          </p:cNvPicPr>
          <p:nvPr/>
        </p:nvPicPr>
        <p:blipFill>
          <a:blip r:embed="rId10"/>
          <a:stretch>
            <a:fillRect/>
          </a:stretch>
        </p:blipFill>
        <p:spPr>
          <a:xfrm>
            <a:off x="7640751" y="2286582"/>
            <a:ext cx="982436" cy="361950"/>
          </a:xfrm>
          <a:prstGeom prst="rect">
            <a:avLst/>
          </a:prstGeom>
        </p:spPr>
      </p:pic>
      <p:pic>
        <p:nvPicPr>
          <p:cNvPr id="71" name="Picture 70" descr="129_4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5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68_5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86_5_605E5C.png"/>
          <p:cNvPicPr>
            <a:picLocks noChangeAspect="1"/>
          </p:cNvPicPr>
          <p:nvPr/>
        </p:nvPicPr>
        <p:blipFill>
          <a:blip r:embed="rId14"/>
          <a:stretch>
            <a:fillRect/>
          </a:stretch>
        </p:blipFill>
        <p:spPr>
          <a:xfrm>
            <a:off x="10169638" y="2779432"/>
            <a:ext cx="982436" cy="361950"/>
          </a:xfrm>
          <a:prstGeom prst="rect">
            <a:avLst/>
          </a:prstGeom>
        </p:spPr>
      </p:pic>
      <p:pic>
        <p:nvPicPr>
          <p:cNvPr id="75" name="Picture 74" descr="2_4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05397" cy="186689"/>
          </a:xfrm>
          <a:prstGeom prst="rect">
            <a:avLst/>
          </a:prstGeom>
          <a:noFill/>
        </p:spPr>
        <p:txBody>
          <a:bodyPr wrap="none" lIns="0" rIns="0" tIns="0" bIns="0">
            <a:spAutoFit/>
          </a:bodyPr>
          <a:lstStyle/>
          <a:p>
            <a:r>
              <a:rPr sz="1100" b="0">
                <a:solidFill>
                  <a:srgbClr val="2E2E2E"/>
                </a:solidFill>
                <a:latin typeface="Calibri"/>
              </a:rPr>
              <a:t>▪ ¶ Among removable partial dentures by product</a:t>
            </a:r>
          </a:p>
        </p:txBody>
      </p:sp>
      <p:sp>
        <p:nvSpPr>
          <p:cNvPr id="81" name="TextBox 80"/>
          <p:cNvSpPr txBox="1"/>
          <p:nvPr/>
        </p:nvSpPr>
        <p:spPr>
          <a:xfrm>
            <a:off x="485775" y="4397077"/>
            <a:ext cx="2564060" cy="186689"/>
          </a:xfrm>
          <a:prstGeom prst="rect">
            <a:avLst/>
          </a:prstGeom>
          <a:noFill/>
        </p:spPr>
        <p:txBody>
          <a:bodyPr wrap="none" lIns="0" rIns="0" tIns="0" bIns="0">
            <a:spAutoFit/>
          </a:bodyPr>
          <a:lstStyle/>
          <a:p>
            <a:r>
              <a:rPr sz="1100" b="0">
                <a:solidFill>
                  <a:srgbClr val="2E2E2E"/>
                </a:solidFill>
                <a:latin typeface="Calibri"/>
              </a:rPr>
              <a:t>type, cast metal partial dentures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product type, the flexible partial dentures segment</a:t>
            </a:r>
          </a:p>
        </p:txBody>
      </p:sp>
      <p:sp>
        <p:nvSpPr>
          <p:cNvPr id="87" name="TextBox 86"/>
          <p:cNvSpPr txBox="1"/>
          <p:nvPr/>
        </p:nvSpPr>
        <p:spPr>
          <a:xfrm>
            <a:off x="485775" y="5067637"/>
            <a:ext cx="2507307" cy="186689"/>
          </a:xfrm>
          <a:prstGeom prst="rect">
            <a:avLst/>
          </a:prstGeom>
          <a:noFill/>
        </p:spPr>
        <p:txBody>
          <a:bodyPr wrap="none" lIns="0" rIns="0" tIns="0" bIns="0">
            <a:spAutoFit/>
          </a:bodyPr>
          <a:lstStyle/>
          <a:p>
            <a:r>
              <a:rPr sz="1100" b="0">
                <a:solidFill>
                  <a:srgbClr val="2E2E2E"/>
                </a:solidFill>
                <a:latin typeface="Calibri"/>
              </a:rPr>
              <a:t>is expected to dominate the market, losing</a:t>
            </a:r>
          </a:p>
        </p:txBody>
      </p:sp>
      <p:pic>
        <p:nvPicPr>
          <p:cNvPr id="88" name="Picture 87" descr="lock.png"/>
          <p:cNvPicPr>
            <a:picLocks noChangeAspect="1"/>
          </p:cNvPicPr>
          <p:nvPr/>
        </p:nvPicPr>
        <p:blipFill>
          <a:blip r:embed="rId16"/>
          <a:stretch>
            <a:fillRect/>
          </a:stretch>
        </p:blipFill>
        <p:spPr>
          <a:xfrm>
            <a:off x="2941134" y="5057858"/>
            <a:ext cx="128699" cy="187198"/>
          </a:xfrm>
          <a:prstGeom prst="rect">
            <a:avLst/>
          </a:prstGeom>
        </p:spPr>
      </p:pic>
      <p:sp>
        <p:nvSpPr>
          <p:cNvPr id="89" name="TextBox 88"/>
          <p:cNvSpPr txBox="1"/>
          <p:nvPr/>
        </p:nvSpPr>
        <p:spPr>
          <a:xfrm>
            <a:off x="485775"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90" name="Picture 89" descr="lock.png"/>
          <p:cNvPicPr>
            <a:picLocks noChangeAspect="1"/>
          </p:cNvPicPr>
          <p:nvPr/>
        </p:nvPicPr>
        <p:blipFill>
          <a:blip r:embed="rId16"/>
          <a:stretch>
            <a:fillRect/>
          </a:stretch>
        </p:blipFill>
        <p:spPr>
          <a:xfrm>
            <a:off x="1820259" y="5225498"/>
            <a:ext cx="128699" cy="187198"/>
          </a:xfrm>
          <a:prstGeom prst="rect">
            <a:avLst/>
          </a:prstGeom>
        </p:spPr>
      </p:pic>
      <p:sp>
        <p:nvSpPr>
          <p:cNvPr id="91" name="TextBox 90"/>
          <p:cNvSpPr txBox="1"/>
          <p:nvPr/>
        </p:nvSpPr>
        <p:spPr>
          <a:xfrm>
            <a:off x="1987755"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2" name="TextBox 91"/>
          <p:cNvSpPr txBox="1"/>
          <p:nvPr/>
        </p:nvSpPr>
        <p:spPr>
          <a:xfrm>
            <a:off x="485775" y="5453209"/>
            <a:ext cx="2866107" cy="186689"/>
          </a:xfrm>
          <a:prstGeom prst="rect">
            <a:avLst/>
          </a:prstGeom>
          <a:noFill/>
        </p:spPr>
        <p:txBody>
          <a:bodyPr wrap="none" lIns="0" rIns="0" tIns="0" bIns="0">
            <a:spAutoFit/>
          </a:bodyPr>
          <a:lstStyle/>
          <a:p>
            <a:r>
              <a:rPr sz="1100" b="0">
                <a:solidFill>
                  <a:srgbClr val="2E2E2E"/>
                </a:solidFill>
                <a:latin typeface="Calibri"/>
              </a:rPr>
              <a:t>▪ ¶ Flexible partial dentures segment is projected</a:t>
            </a:r>
          </a:p>
        </p:txBody>
      </p:sp>
      <p:sp>
        <p:nvSpPr>
          <p:cNvPr id="93" name="TextBox 92"/>
          <p:cNvSpPr txBox="1"/>
          <p:nvPr/>
        </p:nvSpPr>
        <p:spPr>
          <a:xfrm>
            <a:off x="485775" y="5620849"/>
            <a:ext cx="664740" cy="186689"/>
          </a:xfrm>
          <a:prstGeom prst="rect">
            <a:avLst/>
          </a:prstGeom>
          <a:noFill/>
        </p:spPr>
        <p:txBody>
          <a:bodyPr wrap="none" lIns="0" rIns="0" tIns="0" bIns="0">
            <a:spAutoFit/>
          </a:bodyPr>
          <a:lstStyle/>
          <a:p>
            <a:r>
              <a:rPr sz="1100" b="0">
                <a:solidFill>
                  <a:srgbClr val="2E2E2E"/>
                </a:solidFill>
                <a:latin typeface="Calibri"/>
              </a:rPr>
              <a:t>to register</a:t>
            </a:r>
          </a:p>
        </p:txBody>
      </p:sp>
      <p:pic>
        <p:nvPicPr>
          <p:cNvPr id="94" name="Picture 93" descr="lock.png"/>
          <p:cNvPicPr>
            <a:picLocks noChangeAspect="1"/>
          </p:cNvPicPr>
          <p:nvPr/>
        </p:nvPicPr>
        <p:blipFill>
          <a:blip r:embed="rId16"/>
          <a:stretch>
            <a:fillRect/>
          </a:stretch>
        </p:blipFill>
        <p:spPr>
          <a:xfrm>
            <a:off x="1098567" y="5611070"/>
            <a:ext cx="128699" cy="187198"/>
          </a:xfrm>
          <a:prstGeom prst="rect">
            <a:avLst/>
          </a:prstGeom>
        </p:spPr>
      </p:pic>
      <p:sp>
        <p:nvSpPr>
          <p:cNvPr id="95" name="TextBox 94"/>
          <p:cNvSpPr txBox="1"/>
          <p:nvPr/>
        </p:nvSpPr>
        <p:spPr>
          <a:xfrm>
            <a:off x="1266063" y="5620849"/>
            <a:ext cx="1920676" cy="186689"/>
          </a:xfrm>
          <a:prstGeom prst="rect">
            <a:avLst/>
          </a:prstGeom>
          <a:noFill/>
        </p:spPr>
        <p:txBody>
          <a:bodyPr wrap="none" lIns="0" rIns="0" tIns="0" bIns="0">
            <a:spAutoFit/>
          </a:bodyPr>
          <a:lstStyle/>
          <a:p>
            <a:r>
              <a:rPr sz="1100" b="0">
                <a:solidFill>
                  <a:srgbClr val="2E2E2E"/>
                </a:solidFill>
                <a:latin typeface="Calibri"/>
              </a:rPr>
              <a:t>X higher value than combination</a:t>
            </a:r>
          </a:p>
        </p:txBody>
      </p:sp>
      <p:sp>
        <p:nvSpPr>
          <p:cNvPr id="96" name="TextBox 95"/>
          <p:cNvSpPr txBox="1"/>
          <p:nvPr/>
        </p:nvSpPr>
        <p:spPr>
          <a:xfrm>
            <a:off x="485775" y="5788489"/>
            <a:ext cx="2652737" cy="186689"/>
          </a:xfrm>
          <a:prstGeom prst="rect">
            <a:avLst/>
          </a:prstGeom>
          <a:noFill/>
        </p:spPr>
        <p:txBody>
          <a:bodyPr wrap="none" lIns="0" rIns="0" tIns="0" bIns="0">
            <a:spAutoFit/>
          </a:bodyPr>
          <a:lstStyle/>
          <a:p>
            <a:r>
              <a:rPr sz="1100" b="0">
                <a:solidFill>
                  <a:srgbClr val="2E2E2E"/>
                </a:solidFill>
                <a:latin typeface="Calibri"/>
              </a:rPr>
              <a:t>framework partial dentures segment in 2036.</a:t>
            </a:r>
          </a:p>
        </p:txBody>
      </p:sp>
      <p:sp>
        <p:nvSpPr>
          <p:cNvPr id="97" name="TextBox 96"/>
          <p:cNvSpPr txBox="1"/>
          <p:nvPr/>
        </p:nvSpPr>
        <p:spPr>
          <a:xfrm>
            <a:off x="3838575" y="4229437"/>
            <a:ext cx="1615082" cy="186689"/>
          </a:xfrm>
          <a:prstGeom prst="rect">
            <a:avLst/>
          </a:prstGeom>
          <a:noFill/>
        </p:spPr>
        <p:txBody>
          <a:bodyPr wrap="none" lIns="0" rIns="0" tIns="0" bIns="0">
            <a:spAutoFit/>
          </a:bodyPr>
          <a:lstStyle/>
          <a:p>
            <a:r>
              <a:rPr sz="1100" b="0">
                <a:solidFill>
                  <a:srgbClr val="2E2E2E"/>
                </a:solidFill>
                <a:latin typeface="Calibri"/>
              </a:rPr>
              <a:t>● Flexible Partial Dentures:</a:t>
            </a:r>
          </a:p>
        </p:txBody>
      </p:sp>
      <p:pic>
        <p:nvPicPr>
          <p:cNvPr id="98" name="Picture 97" descr="lock.png"/>
          <p:cNvPicPr>
            <a:picLocks noChangeAspect="1"/>
          </p:cNvPicPr>
          <p:nvPr/>
        </p:nvPicPr>
        <p:blipFill>
          <a:blip r:embed="rId16"/>
          <a:stretch>
            <a:fillRect/>
          </a:stretch>
        </p:blipFill>
        <p:spPr>
          <a:xfrm>
            <a:off x="5401709" y="4219658"/>
            <a:ext cx="128699" cy="187198"/>
          </a:xfrm>
          <a:prstGeom prst="rect">
            <a:avLst/>
          </a:prstGeom>
        </p:spPr>
      </p:pic>
      <p:sp>
        <p:nvSpPr>
          <p:cNvPr id="99" name="TextBox 98"/>
          <p:cNvSpPr txBox="1"/>
          <p:nvPr/>
        </p:nvSpPr>
        <p:spPr>
          <a:xfrm>
            <a:off x="556920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6428655" y="4219658"/>
            <a:ext cx="128699" cy="187198"/>
          </a:xfrm>
          <a:prstGeom prst="rect">
            <a:avLst/>
          </a:prstGeom>
        </p:spPr>
      </p:pic>
      <p:sp>
        <p:nvSpPr>
          <p:cNvPr id="101" name="TextBox 100"/>
          <p:cNvSpPr txBox="1"/>
          <p:nvPr/>
        </p:nvSpPr>
        <p:spPr>
          <a:xfrm>
            <a:off x="6596151"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02" name="TextBox 10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03" name="TextBox 102"/>
          <p:cNvSpPr txBox="1"/>
          <p:nvPr/>
        </p:nvSpPr>
        <p:spPr>
          <a:xfrm>
            <a:off x="3838575" y="4615009"/>
            <a:ext cx="2591618" cy="186689"/>
          </a:xfrm>
          <a:prstGeom prst="rect">
            <a:avLst/>
          </a:prstGeom>
          <a:noFill/>
        </p:spPr>
        <p:txBody>
          <a:bodyPr wrap="none" lIns="0" rIns="0" tIns="0" bIns="0">
            <a:spAutoFit/>
          </a:bodyPr>
          <a:lstStyle/>
          <a:p>
            <a:r>
              <a:rPr sz="1100" b="0">
                <a:solidFill>
                  <a:srgbClr val="2E2E2E"/>
                </a:solidFill>
                <a:latin typeface="Calibri"/>
              </a:rPr>
              <a:t>● Combination Framework Partial Dentures:</a:t>
            </a:r>
          </a:p>
        </p:txBody>
      </p:sp>
      <p:pic>
        <p:nvPicPr>
          <p:cNvPr id="104" name="Picture 103" descr="lock.png"/>
          <p:cNvPicPr>
            <a:picLocks noChangeAspect="1"/>
          </p:cNvPicPr>
          <p:nvPr/>
        </p:nvPicPr>
        <p:blipFill>
          <a:blip r:embed="rId16"/>
          <a:stretch>
            <a:fillRect/>
          </a:stretch>
        </p:blipFill>
        <p:spPr>
          <a:xfrm>
            <a:off x="6378245" y="4605230"/>
            <a:ext cx="128699" cy="187198"/>
          </a:xfrm>
          <a:prstGeom prst="rect">
            <a:avLst/>
          </a:prstGeom>
        </p:spPr>
      </p:pic>
      <p:sp>
        <p:nvSpPr>
          <p:cNvPr id="105" name="TextBox 104"/>
          <p:cNvSpPr txBox="1"/>
          <p:nvPr/>
        </p:nvSpPr>
        <p:spPr>
          <a:xfrm>
            <a:off x="654574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405191" y="4605230"/>
            <a:ext cx="128699" cy="187198"/>
          </a:xfrm>
          <a:prstGeom prst="rect">
            <a:avLst/>
          </a:prstGeom>
        </p:spPr>
      </p:pic>
      <p:sp>
        <p:nvSpPr>
          <p:cNvPr id="107" name="TextBox 106"/>
          <p:cNvSpPr txBox="1"/>
          <p:nvPr/>
        </p:nvSpPr>
        <p:spPr>
          <a:xfrm>
            <a:off x="3838575" y="478264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5000581"/>
            <a:ext cx="1790799" cy="186689"/>
          </a:xfrm>
          <a:prstGeom prst="rect">
            <a:avLst/>
          </a:prstGeom>
          <a:noFill/>
        </p:spPr>
        <p:txBody>
          <a:bodyPr wrap="none" lIns="0" rIns="0" tIns="0" bIns="0">
            <a:spAutoFit/>
          </a:bodyPr>
          <a:lstStyle/>
          <a:p>
            <a:r>
              <a:rPr sz="1100" b="0">
                <a:solidFill>
                  <a:srgbClr val="2E2E2E"/>
                </a:solidFill>
                <a:latin typeface="Calibri"/>
              </a:rPr>
              <a:t>● Cast Metal Partial Dentures:</a:t>
            </a:r>
          </a:p>
        </p:txBody>
      </p:sp>
      <p:pic>
        <p:nvPicPr>
          <p:cNvPr id="109" name="Picture 108" descr="lock.png"/>
          <p:cNvPicPr>
            <a:picLocks noChangeAspect="1"/>
          </p:cNvPicPr>
          <p:nvPr/>
        </p:nvPicPr>
        <p:blipFill>
          <a:blip r:embed="rId16"/>
          <a:stretch>
            <a:fillRect/>
          </a:stretch>
        </p:blipFill>
        <p:spPr>
          <a:xfrm>
            <a:off x="5577425" y="4990801"/>
            <a:ext cx="128699" cy="187198"/>
          </a:xfrm>
          <a:prstGeom prst="rect">
            <a:avLst/>
          </a:prstGeom>
        </p:spPr>
      </p:pic>
      <p:sp>
        <p:nvSpPr>
          <p:cNvPr id="110" name="TextBox 109"/>
          <p:cNvSpPr txBox="1"/>
          <p:nvPr/>
        </p:nvSpPr>
        <p:spPr>
          <a:xfrm>
            <a:off x="5744921"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6604371" y="4990801"/>
            <a:ext cx="128699" cy="187198"/>
          </a:xfrm>
          <a:prstGeom prst="rect">
            <a:avLst/>
          </a:prstGeom>
        </p:spPr>
      </p:pic>
      <p:sp>
        <p:nvSpPr>
          <p:cNvPr id="112" name="TextBox 111"/>
          <p:cNvSpPr txBox="1"/>
          <p:nvPr/>
        </p:nvSpPr>
        <p:spPr>
          <a:xfrm>
            <a:off x="6771867" y="5000581"/>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3" name="TextBox 112"/>
          <p:cNvSpPr txBox="1"/>
          <p:nvPr/>
        </p:nvSpPr>
        <p:spPr>
          <a:xfrm>
            <a:off x="3838575" y="5168221"/>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4" name="TextBox 113"/>
          <p:cNvSpPr txBox="1"/>
          <p:nvPr/>
        </p:nvSpPr>
        <p:spPr>
          <a:xfrm>
            <a:off x="3838575" y="5386153"/>
            <a:ext cx="1556965" cy="186689"/>
          </a:xfrm>
          <a:prstGeom prst="rect">
            <a:avLst/>
          </a:prstGeom>
          <a:noFill/>
        </p:spPr>
        <p:txBody>
          <a:bodyPr wrap="none" lIns="0" rIns="0" tIns="0" bIns="0">
            <a:spAutoFit/>
          </a:bodyPr>
          <a:lstStyle/>
          <a:p>
            <a:r>
              <a:rPr sz="1100" b="0">
                <a:solidFill>
                  <a:srgbClr val="2E2E2E"/>
                </a:solidFill>
                <a:latin typeface="Calibri"/>
              </a:rPr>
              <a:t>● Acrylic Partial Dentures:</a:t>
            </a:r>
          </a:p>
        </p:txBody>
      </p:sp>
      <p:pic>
        <p:nvPicPr>
          <p:cNvPr id="115" name="Picture 114" descr="lock.png"/>
          <p:cNvPicPr>
            <a:picLocks noChangeAspect="1"/>
          </p:cNvPicPr>
          <p:nvPr/>
        </p:nvPicPr>
        <p:blipFill>
          <a:blip r:embed="rId16"/>
          <a:stretch>
            <a:fillRect/>
          </a:stretch>
        </p:blipFill>
        <p:spPr>
          <a:xfrm>
            <a:off x="5343592" y="5376373"/>
            <a:ext cx="128699" cy="187198"/>
          </a:xfrm>
          <a:prstGeom prst="rect">
            <a:avLst/>
          </a:prstGeom>
        </p:spPr>
      </p:pic>
      <p:sp>
        <p:nvSpPr>
          <p:cNvPr id="116" name="TextBox 115"/>
          <p:cNvSpPr txBox="1"/>
          <p:nvPr/>
        </p:nvSpPr>
        <p:spPr>
          <a:xfrm>
            <a:off x="5511087" y="538615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7" name="Picture 116" descr="lock.png"/>
          <p:cNvPicPr>
            <a:picLocks noChangeAspect="1"/>
          </p:cNvPicPr>
          <p:nvPr/>
        </p:nvPicPr>
        <p:blipFill>
          <a:blip r:embed="rId16"/>
          <a:stretch>
            <a:fillRect/>
          </a:stretch>
        </p:blipFill>
        <p:spPr>
          <a:xfrm>
            <a:off x="6370538" y="5376373"/>
            <a:ext cx="128699" cy="187198"/>
          </a:xfrm>
          <a:prstGeom prst="rect">
            <a:avLst/>
          </a:prstGeom>
        </p:spPr>
      </p:pic>
      <p:sp>
        <p:nvSpPr>
          <p:cNvPr id="118" name="TextBox 117"/>
          <p:cNvSpPr txBox="1"/>
          <p:nvPr/>
        </p:nvSpPr>
        <p:spPr>
          <a:xfrm>
            <a:off x="6538033" y="538615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9" name="TextBox 118"/>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Type segment is projected to grow at a</a:t>
            </a:r>
          </a:p>
        </p:txBody>
      </p:sp>
      <p:sp>
        <p:nvSpPr>
          <p:cNvPr id="120" name="TextBox 119"/>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21" name="Picture 120" descr="lock.png"/>
          <p:cNvPicPr>
            <a:picLocks noChangeAspect="1"/>
          </p:cNvPicPr>
          <p:nvPr/>
        </p:nvPicPr>
        <p:blipFill>
          <a:blip r:embed="rId16"/>
          <a:stretch>
            <a:fillRect/>
          </a:stretch>
        </p:blipFill>
        <p:spPr>
          <a:xfrm>
            <a:off x="9048826" y="6007677"/>
            <a:ext cx="134549" cy="195707"/>
          </a:xfrm>
          <a:prstGeom prst="rect">
            <a:avLst/>
          </a:prstGeom>
        </p:spPr>
      </p:pic>
      <p:sp>
        <p:nvSpPr>
          <p:cNvPr id="122" name="TextBox 121"/>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Cast metal partial dentures followed by combination framework partial dentures are expected to be the two most attractive product type segments in the North America removable partial dentures market</a:t>
            </a:r>
          </a:p>
        </p:txBody>
      </p:sp>
      <p:sp>
        <p:nvSpPr>
          <p:cNvPr id="21" name="TextBox 20"/>
          <p:cNvSpPr txBox="1"/>
          <p:nvPr/>
        </p:nvSpPr>
        <p:spPr>
          <a:xfrm>
            <a:off x="257175" y="5861685"/>
            <a:ext cx="7991879" cy="186689"/>
          </a:xfrm>
          <a:prstGeom prst="rect">
            <a:avLst/>
          </a:prstGeom>
          <a:noFill/>
        </p:spPr>
        <p:txBody>
          <a:bodyPr wrap="none" lIns="0" rIns="0" tIns="0" bIns="0">
            <a:spAutoFit/>
          </a:bodyPr>
          <a:lstStyle/>
          <a:p>
            <a:r>
              <a:rPr sz="1100" b="0">
                <a:solidFill>
                  <a:srgbClr val="2E2E2E"/>
                </a:solidFill>
                <a:latin typeface="Calibri"/>
              </a:rPr>
              <a:t>in terms of value over the forecast period. Cast metal partial dentures and combination framework partial dentures exhibit a CAGR index of</a:t>
            </a:r>
          </a:p>
        </p:txBody>
      </p:sp>
      <p:pic>
        <p:nvPicPr>
          <p:cNvPr id="22" name="Picture 21" descr="lock.png"/>
          <p:cNvPicPr>
            <a:picLocks noChangeAspect="1"/>
          </p:cNvPicPr>
          <p:nvPr/>
        </p:nvPicPr>
        <p:blipFill>
          <a:blip r:embed="rId6"/>
          <a:stretch>
            <a:fillRect/>
          </a:stretch>
        </p:blipFill>
        <p:spPr>
          <a:xfrm>
            <a:off x="8197106" y="5851905"/>
            <a:ext cx="128699" cy="187198"/>
          </a:xfrm>
          <a:prstGeom prst="rect">
            <a:avLst/>
          </a:prstGeom>
        </p:spPr>
      </p:pic>
      <p:sp>
        <p:nvSpPr>
          <p:cNvPr id="23" name="TextBox 22"/>
          <p:cNvSpPr txBox="1"/>
          <p:nvPr/>
        </p:nvSpPr>
        <p:spPr>
          <a:xfrm>
            <a:off x="836460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602496" y="5851905"/>
            <a:ext cx="128699" cy="187198"/>
          </a:xfrm>
          <a:prstGeom prst="rect">
            <a:avLst/>
          </a:prstGeom>
        </p:spPr>
      </p:pic>
      <p:sp>
        <p:nvSpPr>
          <p:cNvPr id="25" name="TextBox 24"/>
          <p:cNvSpPr txBox="1"/>
          <p:nvPr/>
        </p:nvSpPr>
        <p:spPr>
          <a:xfrm>
            <a:off x="876999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0378965" y="5851905"/>
            <a:ext cx="128699" cy="187198"/>
          </a:xfrm>
          <a:prstGeom prst="rect">
            <a:avLst/>
          </a:prstGeom>
        </p:spPr>
      </p:pic>
      <p:sp>
        <p:nvSpPr>
          <p:cNvPr id="27" name="TextBox 26"/>
          <p:cNvSpPr txBox="1"/>
          <p:nvPr/>
        </p:nvSpPr>
        <p:spPr>
          <a:xfrm>
            <a:off x="1054646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0784355" y="5851905"/>
            <a:ext cx="128699" cy="187198"/>
          </a:xfrm>
          <a:prstGeom prst="rect">
            <a:avLst/>
          </a:prstGeom>
        </p:spPr>
      </p:pic>
      <p:sp>
        <p:nvSpPr>
          <p:cNvPr id="29" name="TextBox 28"/>
          <p:cNvSpPr txBox="1"/>
          <p:nvPr/>
        </p:nvSpPr>
        <p:spPr>
          <a:xfrm>
            <a:off x="257175" y="602932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2811579" y="6019545"/>
            <a:ext cx="128699" cy="187198"/>
          </a:xfrm>
          <a:prstGeom prst="rect">
            <a:avLst/>
          </a:prstGeom>
        </p:spPr>
      </p:pic>
      <p:sp>
        <p:nvSpPr>
          <p:cNvPr id="31" name="TextBox 30"/>
          <p:cNvSpPr txBox="1"/>
          <p:nvPr/>
        </p:nvSpPr>
        <p:spPr>
          <a:xfrm>
            <a:off x="2979074" y="6029325"/>
            <a:ext cx="8952862" cy="186689"/>
          </a:xfrm>
          <a:prstGeom prst="rect">
            <a:avLst/>
          </a:prstGeom>
          <a:noFill/>
        </p:spPr>
        <p:txBody>
          <a:bodyPr wrap="none" lIns="0" rIns="0" tIns="0" bIns="0">
            <a:spAutoFit/>
          </a:bodyPr>
          <a:lstStyle/>
          <a:p>
            <a:r>
              <a:rPr sz="1100" b="0">
                <a:solidFill>
                  <a:srgbClr val="2E2E2E"/>
                </a:solidFill>
                <a:latin typeface="Calibri"/>
              </a:rPr>
              <a:t>. The acrylic partial dentures segment is expected to be less attractive as compared to other segments over the forecast period, owing to its lower CAGR and</a:t>
            </a:r>
          </a:p>
        </p:txBody>
      </p:sp>
      <p:sp>
        <p:nvSpPr>
          <p:cNvPr id="32" name="TextBox 31"/>
          <p:cNvSpPr txBox="1"/>
          <p:nvPr/>
        </p:nvSpPr>
        <p:spPr>
          <a:xfrm>
            <a:off x="257175" y="6196965"/>
            <a:ext cx="5838262" cy="186689"/>
          </a:xfrm>
          <a:prstGeom prst="rect">
            <a:avLst/>
          </a:prstGeom>
          <a:noFill/>
        </p:spPr>
        <p:txBody>
          <a:bodyPr wrap="none" lIns="0" rIns="0" tIns="0" bIns="0">
            <a:spAutoFit/>
          </a:bodyPr>
          <a:lstStyle/>
          <a:p>
            <a:r>
              <a:rPr sz="1100" b="0">
                <a:solidFill>
                  <a:srgbClr val="2E2E2E"/>
                </a:solidFill>
                <a:latin typeface="Calibri"/>
              </a:rPr>
              <a:t>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Cast Metal Partial Dentures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Acrylic Partial Dentures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Flexible Partial Dentures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Combination Framework Partial Dentures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Product Type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Product Type (Units)</a:t>
            </a:r>
          </a:p>
        </p:txBody>
      </p:sp>
      <p:graphicFrame>
        <p:nvGraphicFramePr>
          <p:cNvPr id="13" name="Table 12"/>
          <p:cNvGraphicFramePr>
            <a:graphicFrameLocks noGrp="1"/>
          </p:cNvGraphicFramePr>
          <p:nvPr/>
        </p:nvGraphicFramePr>
        <p:xfrm>
          <a:off x="152400" y="1238250"/>
          <a:ext cx="11887208" cy="2638427"/>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Product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903">
                <a:tc>
                  <a:txBody>
                    <a:bodyPr wrap="none"/>
                    <a:lstStyle/>
                    <a:p>
                      <a:pPr algn="l"/>
                      <a:r>
                        <a:rPr sz="1100" b="1">
                          <a:solidFill>
                            <a:srgbClr val="2E2E2E"/>
                          </a:solidFill>
                          <a:latin typeface="Calibri"/>
                        </a:rPr>
                        <a:t>Cast Metal Partial</a:t>
                      </a:r>
                      <a:endParaRPr sz="1100"/>
                    </a:p>
                    <a:p>
                      <a:pPr algn="l"/>
                      <a:r>
                        <a:rPr sz="1100" b="1">
                          <a:solidFill>
                            <a:srgbClr val="2E2E2E"/>
                          </a:solidFill>
                          <a:latin typeface="Calibri"/>
                        </a:rPr>
                        <a:t>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903">
                <a:tc>
                  <a:txBody>
                    <a:bodyPr wrap="none"/>
                    <a:lstStyle/>
                    <a:p>
                      <a:pPr algn="l"/>
                      <a:r>
                        <a:rPr sz="1100" b="1">
                          <a:solidFill>
                            <a:srgbClr val="2E2E2E"/>
                          </a:solidFill>
                          <a:latin typeface="Calibri"/>
                        </a:rPr>
                        <a:t>Acrylic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903">
                <a:tc>
                  <a:txBody>
                    <a:bodyPr wrap="none"/>
                    <a:lstStyle/>
                    <a:p>
                      <a:pPr algn="l"/>
                      <a:r>
                        <a:rPr sz="1100" b="1">
                          <a:solidFill>
                            <a:srgbClr val="2E2E2E"/>
                          </a:solidFill>
                          <a:latin typeface="Calibri"/>
                        </a:rPr>
                        <a:t>Flexible Partial</a:t>
                      </a:r>
                      <a:endParaRPr sz="1100"/>
                    </a:p>
                    <a:p>
                      <a:pPr algn="l"/>
                      <a:r>
                        <a:rPr sz="1100" b="1">
                          <a:solidFill>
                            <a:srgbClr val="2E2E2E"/>
                          </a:solidFill>
                          <a:latin typeface="Calibri"/>
                        </a:rPr>
                        <a:t>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689">
                <a:tc>
                  <a:txBody>
                    <a:bodyPr wrap="none"/>
                    <a:lstStyle/>
                    <a:p>
                      <a:pPr algn="l"/>
                      <a:r>
                        <a:rPr sz="1100" b="1">
                          <a:solidFill>
                            <a:srgbClr val="2E2E2E"/>
                          </a:solidFill>
                          <a:latin typeface="Calibri"/>
                        </a:rPr>
                        <a:t>Combination</a:t>
                      </a:r>
                      <a:endParaRPr sz="1100"/>
                    </a:p>
                    <a:p>
                      <a:pPr algn="l"/>
                      <a:r>
                        <a:rPr sz="1100" b="1">
                          <a:solidFill>
                            <a:srgbClr val="2E2E2E"/>
                          </a:solidFill>
                          <a:latin typeface="Calibri"/>
                        </a:rPr>
                        <a:t>Framework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1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86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195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053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Product Type</a:t>
            </a:r>
          </a:p>
        </p:txBody>
      </p:sp>
      <p:sp>
        <p:nvSpPr>
          <p:cNvPr id="17" name="Rectangle 16"/>
          <p:cNvSpPr/>
          <p:nvPr/>
        </p:nvSpPr>
        <p:spPr>
          <a:xfrm>
            <a:off x="276225" y="4543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29150"/>
            <a:ext cx="11639550" cy="1924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510219"/>
            <a:ext cx="366712" cy="533400"/>
          </a:xfrm>
          <a:prstGeom prst="rect">
            <a:avLst/>
          </a:prstGeom>
        </p:spPr>
      </p:pic>
      <p:sp>
        <p:nvSpPr>
          <p:cNvPr id="21" name="TextBox 20"/>
          <p:cNvSpPr txBox="1"/>
          <p:nvPr/>
        </p:nvSpPr>
        <p:spPr>
          <a:xfrm>
            <a:off x="276225" y="4638675"/>
            <a:ext cx="4436305" cy="194310"/>
          </a:xfrm>
          <a:prstGeom prst="rect">
            <a:avLst/>
          </a:prstGeom>
          <a:noFill/>
        </p:spPr>
        <p:txBody>
          <a:bodyPr wrap="none" lIns="0" rIns="0" tIns="0" bIns="0">
            <a:spAutoFit/>
          </a:bodyPr>
          <a:lstStyle/>
          <a:p>
            <a:r>
              <a:rPr sz="1150" b="0">
                <a:solidFill>
                  <a:srgbClr val="2E2E2E"/>
                </a:solidFill>
                <a:latin typeface="Calibri"/>
              </a:rPr>
              <a:t>Combination framework partial dentures segment is projected to register</a:t>
            </a:r>
          </a:p>
        </p:txBody>
      </p:sp>
      <p:pic>
        <p:nvPicPr>
          <p:cNvPr id="22" name="Picture 21" descr="lock.png"/>
          <p:cNvPicPr>
            <a:picLocks noChangeAspect="1"/>
          </p:cNvPicPr>
          <p:nvPr/>
        </p:nvPicPr>
        <p:blipFill>
          <a:blip r:embed="rId4"/>
          <a:stretch>
            <a:fillRect/>
          </a:stretch>
        </p:blipFill>
        <p:spPr>
          <a:xfrm>
            <a:off x="4661684" y="4628451"/>
            <a:ext cx="134549" cy="195707"/>
          </a:xfrm>
          <a:prstGeom prst="rect">
            <a:avLst/>
          </a:prstGeom>
        </p:spPr>
      </p:pic>
      <p:sp>
        <p:nvSpPr>
          <p:cNvPr id="23" name="TextBox 22"/>
          <p:cNvSpPr txBox="1"/>
          <p:nvPr/>
        </p:nvSpPr>
        <p:spPr>
          <a:xfrm>
            <a:off x="4836794" y="4638675"/>
            <a:ext cx="6819602" cy="194310"/>
          </a:xfrm>
          <a:prstGeom prst="rect">
            <a:avLst/>
          </a:prstGeom>
          <a:noFill/>
        </p:spPr>
        <p:txBody>
          <a:bodyPr wrap="none" lIns="0" rIns="0" tIns="0" bIns="0">
            <a:spAutoFit/>
          </a:bodyPr>
          <a:lstStyle/>
          <a:p>
            <a:r>
              <a:rPr sz="1150" b="0">
                <a:solidFill>
                  <a:srgbClr val="2E2E2E"/>
                </a:solidFill>
                <a:latin typeface="Calibri"/>
              </a:rPr>
              <a:t>X higher volume than cast metal partial dentures segment in 2036. Among removable partial dentures by product</a:t>
            </a:r>
          </a:p>
        </p:txBody>
      </p:sp>
      <p:sp>
        <p:nvSpPr>
          <p:cNvPr id="24" name="TextBox 23"/>
          <p:cNvSpPr txBox="1"/>
          <p:nvPr/>
        </p:nvSpPr>
        <p:spPr>
          <a:xfrm>
            <a:off x="276225" y="4813935"/>
            <a:ext cx="5120041" cy="194310"/>
          </a:xfrm>
          <a:prstGeom prst="rect">
            <a:avLst/>
          </a:prstGeom>
          <a:noFill/>
        </p:spPr>
        <p:txBody>
          <a:bodyPr wrap="none" lIns="0" rIns="0" tIns="0" bIns="0">
            <a:spAutoFit/>
          </a:bodyPr>
          <a:lstStyle/>
          <a:p>
            <a:r>
              <a:rPr sz="1150" b="0">
                <a:solidFill>
                  <a:srgbClr val="2E2E2E"/>
                </a:solidFill>
                <a:latin typeface="Calibri"/>
              </a:rPr>
              <a:t>type, 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345420" y="4803711"/>
            <a:ext cx="134549" cy="195707"/>
          </a:xfrm>
          <a:prstGeom prst="rect">
            <a:avLst/>
          </a:prstGeom>
        </p:spPr>
      </p:pic>
      <p:sp>
        <p:nvSpPr>
          <p:cNvPr id="26" name="TextBox 25"/>
          <p:cNvSpPr txBox="1"/>
          <p:nvPr/>
        </p:nvSpPr>
        <p:spPr>
          <a:xfrm>
            <a:off x="5520529" y="48139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041772"/>
            <a:ext cx="8459527" cy="194310"/>
          </a:xfrm>
          <a:prstGeom prst="rect">
            <a:avLst/>
          </a:prstGeom>
          <a:noFill/>
        </p:spPr>
        <p:txBody>
          <a:bodyPr wrap="none" lIns="0" rIns="0" tIns="0" bIns="0">
            <a:spAutoFit/>
          </a:bodyPr>
          <a:lstStyle/>
          <a:p>
            <a:r>
              <a:rPr sz="1150" b="0">
                <a:solidFill>
                  <a:srgbClr val="2E2E2E"/>
                </a:solidFill>
                <a:latin typeface="Calibri"/>
              </a:rPr>
              <a:t>In terms of volume share by product type, the combination framework partial dentures segment is expected to dominate the market, gaining</a:t>
            </a:r>
          </a:p>
        </p:txBody>
      </p:sp>
      <p:pic>
        <p:nvPicPr>
          <p:cNvPr id="28" name="Picture 27" descr="lock.png"/>
          <p:cNvPicPr>
            <a:picLocks noChangeAspect="1"/>
          </p:cNvPicPr>
          <p:nvPr/>
        </p:nvPicPr>
        <p:blipFill>
          <a:blip r:embed="rId4"/>
          <a:stretch>
            <a:fillRect/>
          </a:stretch>
        </p:blipFill>
        <p:spPr>
          <a:xfrm>
            <a:off x="8684905" y="5031549"/>
            <a:ext cx="134549" cy="195707"/>
          </a:xfrm>
          <a:prstGeom prst="rect">
            <a:avLst/>
          </a:prstGeom>
        </p:spPr>
      </p:pic>
      <p:sp>
        <p:nvSpPr>
          <p:cNvPr id="29" name="TextBox 28"/>
          <p:cNvSpPr txBox="1"/>
          <p:nvPr/>
        </p:nvSpPr>
        <p:spPr>
          <a:xfrm>
            <a:off x="8860015" y="50417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10255158" y="5031549"/>
            <a:ext cx="134549" cy="195707"/>
          </a:xfrm>
          <a:prstGeom prst="rect">
            <a:avLst/>
          </a:prstGeom>
        </p:spPr>
      </p:pic>
      <p:sp>
        <p:nvSpPr>
          <p:cNvPr id="31" name="TextBox 30"/>
          <p:cNvSpPr txBox="1"/>
          <p:nvPr/>
        </p:nvSpPr>
        <p:spPr>
          <a:xfrm>
            <a:off x="10430267" y="50417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5217032"/>
            <a:ext cx="3172631"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lose</a:t>
            </a:r>
          </a:p>
        </p:txBody>
      </p:sp>
      <p:pic>
        <p:nvPicPr>
          <p:cNvPr id="33" name="Picture 32" descr="lock.png"/>
          <p:cNvPicPr>
            <a:picLocks noChangeAspect="1"/>
          </p:cNvPicPr>
          <p:nvPr/>
        </p:nvPicPr>
        <p:blipFill>
          <a:blip r:embed="rId4"/>
          <a:stretch>
            <a:fillRect/>
          </a:stretch>
        </p:blipFill>
        <p:spPr>
          <a:xfrm>
            <a:off x="3398010" y="5206809"/>
            <a:ext cx="134549" cy="195707"/>
          </a:xfrm>
          <a:prstGeom prst="rect">
            <a:avLst/>
          </a:prstGeom>
        </p:spPr>
      </p:pic>
      <p:sp>
        <p:nvSpPr>
          <p:cNvPr id="34" name="TextBox 33"/>
          <p:cNvSpPr txBox="1"/>
          <p:nvPr/>
        </p:nvSpPr>
        <p:spPr>
          <a:xfrm>
            <a:off x="3573119" y="52170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160623" y="5206809"/>
            <a:ext cx="134549" cy="195707"/>
          </a:xfrm>
          <a:prstGeom prst="rect">
            <a:avLst/>
          </a:prstGeom>
        </p:spPr>
      </p:pic>
      <p:sp>
        <p:nvSpPr>
          <p:cNvPr id="36" name="TextBox 35"/>
          <p:cNvSpPr txBox="1"/>
          <p:nvPr/>
        </p:nvSpPr>
        <p:spPr>
          <a:xfrm>
            <a:off x="6335733" y="52170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Type (US$ Mn)</a:t>
            </a:r>
          </a:p>
        </p:txBody>
      </p:sp>
      <p:graphicFrame>
        <p:nvGraphicFramePr>
          <p:cNvPr id="13" name="Table 12"/>
          <p:cNvGraphicFramePr>
            <a:graphicFrameLocks noGrp="1"/>
          </p:cNvGraphicFramePr>
          <p:nvPr/>
        </p:nvGraphicFramePr>
        <p:xfrm>
          <a:off x="152400" y="1238250"/>
          <a:ext cx="11887203" cy="1485896"/>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Type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53373" y="1837563"/>
            <a:ext cx="366712" cy="533400"/>
          </a:xfrm>
          <a:prstGeom prst="rect">
            <a:avLst/>
          </a:prstGeom>
        </p:spPr>
      </p:pic>
      <p:sp>
        <p:nvSpPr>
          <p:cNvPr id="21" name="TextBox 20"/>
          <p:cNvSpPr txBox="1"/>
          <p:nvPr/>
        </p:nvSpPr>
        <p:spPr>
          <a:xfrm>
            <a:off x="276225" y="3486150"/>
            <a:ext cx="3437917" cy="194310"/>
          </a:xfrm>
          <a:prstGeom prst="rect">
            <a:avLst/>
          </a:prstGeom>
          <a:noFill/>
        </p:spPr>
        <p:txBody>
          <a:bodyPr wrap="none" lIns="0" rIns="0" tIns="0" bIns="0">
            <a:spAutoFit/>
          </a:bodyPr>
          <a:lstStyle/>
          <a:p>
            <a:r>
              <a:rPr sz="1150" b="0">
                <a:solidFill>
                  <a:srgbClr val="2E2E2E"/>
                </a:solidFill>
                <a:latin typeface="Calibri"/>
              </a:rPr>
              <a:t>Flexible partial dentures segment is projected to register</a:t>
            </a:r>
          </a:p>
        </p:txBody>
      </p:sp>
      <p:pic>
        <p:nvPicPr>
          <p:cNvPr id="22" name="Picture 21" descr="lock.png"/>
          <p:cNvPicPr>
            <a:picLocks noChangeAspect="1"/>
          </p:cNvPicPr>
          <p:nvPr/>
        </p:nvPicPr>
        <p:blipFill>
          <a:blip r:embed="rId4"/>
          <a:stretch>
            <a:fillRect/>
          </a:stretch>
        </p:blipFill>
        <p:spPr>
          <a:xfrm>
            <a:off x="3663296" y="3475926"/>
            <a:ext cx="134549" cy="195707"/>
          </a:xfrm>
          <a:prstGeom prst="rect">
            <a:avLst/>
          </a:prstGeom>
        </p:spPr>
      </p:pic>
      <p:sp>
        <p:nvSpPr>
          <p:cNvPr id="23" name="TextBox 22"/>
          <p:cNvSpPr txBox="1"/>
          <p:nvPr/>
        </p:nvSpPr>
        <p:spPr>
          <a:xfrm>
            <a:off x="3838405" y="3486150"/>
            <a:ext cx="7853077" cy="194310"/>
          </a:xfrm>
          <a:prstGeom prst="rect">
            <a:avLst/>
          </a:prstGeom>
          <a:noFill/>
        </p:spPr>
        <p:txBody>
          <a:bodyPr wrap="none" lIns="0" rIns="0" tIns="0" bIns="0">
            <a:spAutoFit/>
          </a:bodyPr>
          <a:lstStyle/>
          <a:p>
            <a:r>
              <a:rPr sz="1150" b="0">
                <a:solidFill>
                  <a:srgbClr val="2E2E2E"/>
                </a:solidFill>
                <a:latin typeface="Calibri"/>
              </a:rPr>
              <a:t>X higher value than combination framework partial dentures segment in 2036. Among removable partial dentures by product type,</a:t>
            </a:r>
          </a:p>
        </p:txBody>
      </p:sp>
      <p:sp>
        <p:nvSpPr>
          <p:cNvPr id="24" name="TextBox 23"/>
          <p:cNvSpPr txBox="1"/>
          <p:nvPr/>
        </p:nvSpPr>
        <p:spPr>
          <a:xfrm>
            <a:off x="276225" y="3661410"/>
            <a:ext cx="4785724" cy="194310"/>
          </a:xfrm>
          <a:prstGeom prst="rect">
            <a:avLst/>
          </a:prstGeom>
          <a:noFill/>
        </p:spPr>
        <p:txBody>
          <a:bodyPr wrap="none" lIns="0" rIns="0" tIns="0" bIns="0">
            <a:spAutoFit/>
          </a:bodyPr>
          <a:lstStyle/>
          <a:p>
            <a:r>
              <a:rPr sz="1150" b="0">
                <a:solidFill>
                  <a:srgbClr val="2E2E2E"/>
                </a:solidFill>
                <a:latin typeface="Calibri"/>
              </a:rPr>
              <a:t>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011103" y="3651186"/>
            <a:ext cx="134549" cy="195707"/>
          </a:xfrm>
          <a:prstGeom prst="rect">
            <a:avLst/>
          </a:prstGeom>
        </p:spPr>
      </p:pic>
      <p:sp>
        <p:nvSpPr>
          <p:cNvPr id="26" name="TextBox 25"/>
          <p:cNvSpPr txBox="1"/>
          <p:nvPr/>
        </p:nvSpPr>
        <p:spPr>
          <a:xfrm>
            <a:off x="5186212"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7249479"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 segment is expected to dominate the market, losing</a:t>
            </a:r>
          </a:p>
        </p:txBody>
      </p:sp>
      <p:pic>
        <p:nvPicPr>
          <p:cNvPr id="28" name="Picture 27" descr="lock.png"/>
          <p:cNvPicPr>
            <a:picLocks noChangeAspect="1"/>
          </p:cNvPicPr>
          <p:nvPr/>
        </p:nvPicPr>
        <p:blipFill>
          <a:blip r:embed="rId4"/>
          <a:stretch>
            <a:fillRect/>
          </a:stretch>
        </p:blipFill>
        <p:spPr>
          <a:xfrm>
            <a:off x="7474858" y="3879024"/>
            <a:ext cx="134549" cy="195707"/>
          </a:xfrm>
          <a:prstGeom prst="rect">
            <a:avLst/>
          </a:prstGeom>
        </p:spPr>
      </p:pic>
      <p:sp>
        <p:nvSpPr>
          <p:cNvPr id="29" name="TextBox 28"/>
          <p:cNvSpPr txBox="1"/>
          <p:nvPr/>
        </p:nvSpPr>
        <p:spPr>
          <a:xfrm>
            <a:off x="7649968"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45111" y="3879024"/>
            <a:ext cx="134549" cy="195707"/>
          </a:xfrm>
          <a:prstGeom prst="rect">
            <a:avLst/>
          </a:prstGeom>
        </p:spPr>
      </p:pic>
      <p:sp>
        <p:nvSpPr>
          <p:cNvPr id="31" name="TextBox 30"/>
          <p:cNvSpPr txBox="1"/>
          <p:nvPr/>
        </p:nvSpPr>
        <p:spPr>
          <a:xfrm>
            <a:off x="9220220" y="38892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889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41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79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Partial Dentures</a:t>
            </a:r>
          </a:p>
        </p:txBody>
      </p:sp>
      <p:sp>
        <p:nvSpPr>
          <p:cNvPr id="19" name="BPS Value 1"/>
          <p:cNvSpPr txBox="1"/>
          <p:nvPr/>
        </p:nvSpPr>
        <p:spPr>
          <a:xfrm>
            <a:off x="6896100" y="202984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9098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862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100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Cast Metal Partial Dentures</a:t>
            </a:r>
          </a:p>
        </p:txBody>
      </p:sp>
      <p:sp>
        <p:nvSpPr>
          <p:cNvPr id="23" name="BPS Value 2"/>
          <p:cNvSpPr txBox="1"/>
          <p:nvPr/>
        </p:nvSpPr>
        <p:spPr>
          <a:xfrm>
            <a:off x="6896100" y="297193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18300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1782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1020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Combination Framework Partial Dentures</a:t>
            </a:r>
          </a:p>
        </p:txBody>
      </p:sp>
      <p:sp>
        <p:nvSpPr>
          <p:cNvPr id="27" name="BPS Value 3"/>
          <p:cNvSpPr txBox="1"/>
          <p:nvPr/>
        </p:nvSpPr>
        <p:spPr>
          <a:xfrm>
            <a:off x="6896100" y="416395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52711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52234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461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Partial Dentures</a:t>
            </a:r>
          </a:p>
        </p:txBody>
      </p:sp>
      <p:sp>
        <p:nvSpPr>
          <p:cNvPr id="31" name="BPS Value 4"/>
          <p:cNvSpPr txBox="1"/>
          <p:nvPr/>
        </p:nvSpPr>
        <p:spPr>
          <a:xfrm>
            <a:off x="6896100" y="550806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811029" cy="194310"/>
          </a:xfrm>
          <a:prstGeom prst="rect">
            <a:avLst/>
          </a:prstGeom>
          <a:noFill/>
        </p:spPr>
        <p:txBody>
          <a:bodyPr wrap="none" lIns="0" rIns="0" tIns="0" bIns="0">
            <a:spAutoFit/>
          </a:bodyPr>
          <a:lstStyle/>
          <a:p>
            <a:r>
              <a:rPr sz="1150" b="0">
                <a:solidFill>
                  <a:srgbClr val="2E2E2E"/>
                </a:solidFill>
                <a:latin typeface="Calibri"/>
              </a:rPr>
              <a:t>Among removable partial dentures by product type, cast metal</a:t>
            </a:r>
          </a:p>
        </p:txBody>
      </p:sp>
      <p:sp>
        <p:nvSpPr>
          <p:cNvPr id="39" name="TextBox 38"/>
          <p:cNvSpPr txBox="1"/>
          <p:nvPr/>
        </p:nvSpPr>
        <p:spPr>
          <a:xfrm>
            <a:off x="7829550" y="1575435"/>
            <a:ext cx="3985016" cy="194310"/>
          </a:xfrm>
          <a:prstGeom prst="rect">
            <a:avLst/>
          </a:prstGeom>
          <a:noFill/>
        </p:spPr>
        <p:txBody>
          <a:bodyPr wrap="none" lIns="0" rIns="0" tIns="0" bIns="0">
            <a:spAutoFit/>
          </a:bodyPr>
          <a:lstStyle/>
          <a:p>
            <a:r>
              <a:rPr sz="1150" b="0">
                <a:solidFill>
                  <a:srgbClr val="2E2E2E"/>
                </a:solidFill>
                <a:latin typeface="Calibri"/>
              </a:rPr>
              <a:t>partial dentures segment is expected to witness the highest CAGR</a:t>
            </a:r>
          </a:p>
        </p:txBody>
      </p:sp>
      <p:sp>
        <p:nvSpPr>
          <p:cNvPr id="40" name="TextBox 39"/>
          <p:cNvSpPr txBox="1"/>
          <p:nvPr/>
        </p:nvSpPr>
        <p:spPr>
          <a:xfrm>
            <a:off x="7829550" y="1750695"/>
            <a:ext cx="197718" cy="194310"/>
          </a:xfrm>
          <a:prstGeom prst="rect">
            <a:avLst/>
          </a:prstGeom>
          <a:noFill/>
        </p:spPr>
        <p:txBody>
          <a:bodyPr wrap="none" lIns="0" rIns="0" tIns="0" bIns="0">
            <a:spAutoFit/>
          </a:bodyPr>
          <a:lstStyle/>
          <a:p>
            <a:r>
              <a:rPr sz="1150" b="0">
                <a:solidFill>
                  <a:srgbClr val="2E2E2E"/>
                </a:solidFill>
                <a:latin typeface="Calibri"/>
              </a:rPr>
              <a:t>of</a:t>
            </a:r>
          </a:p>
        </p:txBody>
      </p:sp>
      <p:pic>
        <p:nvPicPr>
          <p:cNvPr id="41" name="Picture 40" descr="lock.png"/>
          <p:cNvPicPr>
            <a:picLocks noChangeAspect="1"/>
          </p:cNvPicPr>
          <p:nvPr/>
        </p:nvPicPr>
        <p:blipFill>
          <a:blip r:embed="rId5"/>
          <a:stretch>
            <a:fillRect/>
          </a:stretch>
        </p:blipFill>
        <p:spPr>
          <a:xfrm>
            <a:off x="7976422" y="1740471"/>
            <a:ext cx="134549" cy="195707"/>
          </a:xfrm>
          <a:prstGeom prst="rect">
            <a:avLst/>
          </a:prstGeom>
        </p:spPr>
      </p:pic>
      <p:sp>
        <p:nvSpPr>
          <p:cNvPr id="42" name="TextBox 41"/>
          <p:cNvSpPr txBox="1"/>
          <p:nvPr/>
        </p:nvSpPr>
        <p:spPr>
          <a:xfrm>
            <a:off x="8151531"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3" name="TextBox 42"/>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a:t>
            </a:r>
          </a:p>
        </p:txBody>
      </p:sp>
      <p:sp>
        <p:nvSpPr>
          <p:cNvPr id="44" name="TextBox 43"/>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45" name="Picture 44" descr="lock.png"/>
          <p:cNvPicPr>
            <a:picLocks noChangeAspect="1"/>
          </p:cNvPicPr>
          <p:nvPr/>
        </p:nvPicPr>
        <p:blipFill>
          <a:blip r:embed="rId5"/>
          <a:stretch>
            <a:fillRect/>
          </a:stretch>
        </p:blipFill>
        <p:spPr>
          <a:xfrm>
            <a:off x="10943347" y="2143569"/>
            <a:ext cx="134549" cy="195707"/>
          </a:xfrm>
          <a:prstGeom prst="rect">
            <a:avLst/>
          </a:prstGeom>
        </p:spPr>
      </p:pic>
      <p:sp>
        <p:nvSpPr>
          <p:cNvPr id="46" name="TextBox 45"/>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47" name="TextBox 46"/>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48" name="Picture 47" descr="lock.png"/>
          <p:cNvPicPr>
            <a:picLocks noChangeAspect="1"/>
          </p:cNvPicPr>
          <p:nvPr/>
        </p:nvPicPr>
        <p:blipFill>
          <a:blip r:embed="rId5"/>
          <a:stretch>
            <a:fillRect/>
          </a:stretch>
        </p:blipFill>
        <p:spPr>
          <a:xfrm>
            <a:off x="8712947" y="2318829"/>
            <a:ext cx="134549" cy="195707"/>
          </a:xfrm>
          <a:prstGeom prst="rect">
            <a:avLst/>
          </a:prstGeom>
        </p:spPr>
      </p:pic>
      <p:sp>
        <p:nvSpPr>
          <p:cNvPr id="49" name="TextBox 48"/>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Material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Type segment categorizes the market by material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 Resin</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 Alloys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Thermoplastics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High-performance Polymers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Type split shows how demand is distributed across material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63_9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35_6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7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08_0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49_6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3_3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65_5_605E5C.png"/>
          <p:cNvPicPr>
            <a:picLocks noChangeAspect="1"/>
          </p:cNvPicPr>
          <p:nvPr/>
        </p:nvPicPr>
        <p:blipFill>
          <a:blip r:embed="rId10"/>
          <a:stretch>
            <a:fillRect/>
          </a:stretch>
        </p:blipFill>
        <p:spPr>
          <a:xfrm>
            <a:off x="7640751" y="2286582"/>
            <a:ext cx="982436" cy="361950"/>
          </a:xfrm>
          <a:prstGeom prst="rect">
            <a:avLst/>
          </a:prstGeom>
        </p:spPr>
      </p:pic>
      <p:pic>
        <p:nvPicPr>
          <p:cNvPr id="71" name="Picture 70" descr="89_3_605E5C.png"/>
          <p:cNvPicPr>
            <a:picLocks noChangeAspect="1"/>
          </p:cNvPicPr>
          <p:nvPr/>
        </p:nvPicPr>
        <p:blipFill>
          <a:blip r:embed="rId11"/>
          <a:stretch>
            <a:fillRect/>
          </a:stretch>
        </p:blipFill>
        <p:spPr>
          <a:xfrm>
            <a:off x="7640751" y="2779432"/>
            <a:ext cx="982436" cy="361950"/>
          </a:xfrm>
          <a:prstGeom prst="rect">
            <a:avLst/>
          </a:prstGeom>
        </p:spPr>
      </p:pic>
      <p:pic>
        <p:nvPicPr>
          <p:cNvPr id="72" name="Picture 71" descr="3_2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33_9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49_4_605E5C.png"/>
          <p:cNvPicPr>
            <a:picLocks noChangeAspect="1"/>
          </p:cNvPicPr>
          <p:nvPr/>
        </p:nvPicPr>
        <p:blipFill>
          <a:blip r:embed="rId14"/>
          <a:stretch>
            <a:fillRect/>
          </a:stretch>
        </p:blipFill>
        <p:spPr>
          <a:xfrm>
            <a:off x="10169638" y="2779432"/>
            <a:ext cx="982436" cy="361950"/>
          </a:xfrm>
          <a:prstGeom prst="rect">
            <a:avLst/>
          </a:prstGeom>
        </p:spPr>
      </p:pic>
      <p:pic>
        <p:nvPicPr>
          <p:cNvPr id="75" name="Picture 74" descr="3_8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material</a:t>
            </a:r>
          </a:p>
        </p:txBody>
      </p:sp>
      <p:sp>
        <p:nvSpPr>
          <p:cNvPr id="81" name="TextBox 80"/>
          <p:cNvSpPr txBox="1"/>
          <p:nvPr/>
        </p:nvSpPr>
        <p:spPr>
          <a:xfrm>
            <a:off x="485775" y="4397077"/>
            <a:ext cx="2621359" cy="186689"/>
          </a:xfrm>
          <a:prstGeom prst="rect">
            <a:avLst/>
          </a:prstGeom>
          <a:noFill/>
        </p:spPr>
        <p:txBody>
          <a:bodyPr wrap="none" lIns="0" rIns="0" tIns="0" bIns="0">
            <a:spAutoFit/>
          </a:bodyPr>
          <a:lstStyle/>
          <a:p>
            <a:r>
              <a:rPr sz="1100" b="0">
                <a:solidFill>
                  <a:srgbClr val="2E2E2E"/>
                </a:solidFill>
                <a:latin typeface="Calibri"/>
              </a:rPr>
              <a:t>type, high-performance polymers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523405" cy="186689"/>
          </a:xfrm>
          <a:prstGeom prst="rect">
            <a:avLst/>
          </a:prstGeom>
          <a:noFill/>
        </p:spPr>
        <p:txBody>
          <a:bodyPr wrap="none" lIns="0" rIns="0" tIns="0" bIns="0">
            <a:spAutoFit/>
          </a:bodyPr>
          <a:lstStyle/>
          <a:p>
            <a:r>
              <a:rPr sz="1100" b="0">
                <a:solidFill>
                  <a:srgbClr val="2E2E2E"/>
                </a:solidFill>
                <a:latin typeface="Calibri"/>
              </a:rPr>
              <a:t>material type, the acrylic / resin segment is</a:t>
            </a:r>
          </a:p>
        </p:txBody>
      </p:sp>
      <p:sp>
        <p:nvSpPr>
          <p:cNvPr id="87" name="TextBox 86"/>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88" name="Picture 87" descr="lock.png"/>
          <p:cNvPicPr>
            <a:picLocks noChangeAspect="1"/>
          </p:cNvPicPr>
          <p:nvPr/>
        </p:nvPicPr>
        <p:blipFill>
          <a:blip r:embed="rId16"/>
          <a:stretch>
            <a:fillRect/>
          </a:stretch>
        </p:blipFill>
        <p:spPr>
          <a:xfrm>
            <a:off x="2900479" y="5057858"/>
            <a:ext cx="128699" cy="187198"/>
          </a:xfrm>
          <a:prstGeom prst="rect">
            <a:avLst/>
          </a:prstGeom>
        </p:spPr>
      </p:pic>
      <p:sp>
        <p:nvSpPr>
          <p:cNvPr id="89" name="TextBox 88"/>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883842" cy="186689"/>
          </a:xfrm>
          <a:prstGeom prst="rect">
            <a:avLst/>
          </a:prstGeom>
          <a:noFill/>
        </p:spPr>
        <p:txBody>
          <a:bodyPr wrap="none" lIns="0" rIns="0" tIns="0" bIns="0">
            <a:spAutoFit/>
          </a:bodyPr>
          <a:lstStyle/>
          <a:p>
            <a:r>
              <a:rPr sz="1100" b="0">
                <a:solidFill>
                  <a:srgbClr val="2E2E2E"/>
                </a:solidFill>
                <a:latin typeface="Calibri"/>
              </a:rPr>
              <a:t>▪ ¶ Acrylic / resin segment is projected to register</a:t>
            </a:r>
          </a:p>
        </p:txBody>
      </p:sp>
      <p:pic>
        <p:nvPicPr>
          <p:cNvPr id="94" name="Picture 93" descr="lock.png"/>
          <p:cNvPicPr>
            <a:picLocks noChangeAspect="1"/>
          </p:cNvPicPr>
          <p:nvPr/>
        </p:nvPicPr>
        <p:blipFill>
          <a:blip r:embed="rId16"/>
          <a:stretch>
            <a:fillRect/>
          </a:stretch>
        </p:blipFill>
        <p:spPr>
          <a:xfrm>
            <a:off x="472307" y="5611070"/>
            <a:ext cx="128699" cy="187198"/>
          </a:xfrm>
          <a:prstGeom prst="rect">
            <a:avLst/>
          </a:prstGeom>
        </p:spPr>
      </p:pic>
      <p:sp>
        <p:nvSpPr>
          <p:cNvPr id="95" name="TextBox 94"/>
          <p:cNvSpPr txBox="1"/>
          <p:nvPr/>
        </p:nvSpPr>
        <p:spPr>
          <a:xfrm>
            <a:off x="639803" y="5620849"/>
            <a:ext cx="2546052" cy="186689"/>
          </a:xfrm>
          <a:prstGeom prst="rect">
            <a:avLst/>
          </a:prstGeom>
          <a:noFill/>
        </p:spPr>
        <p:txBody>
          <a:bodyPr wrap="none" lIns="0" rIns="0" tIns="0" bIns="0">
            <a:spAutoFit/>
          </a:bodyPr>
          <a:lstStyle/>
          <a:p>
            <a:r>
              <a:rPr sz="1100" b="0">
                <a:solidFill>
                  <a:srgbClr val="2E2E2E"/>
                </a:solidFill>
                <a:latin typeface="Calibri"/>
              </a:rPr>
              <a:t>X higher value than metal alloys segment in</a:t>
            </a:r>
          </a:p>
        </p:txBody>
      </p:sp>
      <p:sp>
        <p:nvSpPr>
          <p:cNvPr id="96" name="TextBox 95"/>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97" name="TextBox 96"/>
          <p:cNvSpPr txBox="1"/>
          <p:nvPr/>
        </p:nvSpPr>
        <p:spPr>
          <a:xfrm>
            <a:off x="3838575" y="4229437"/>
            <a:ext cx="1028179" cy="186689"/>
          </a:xfrm>
          <a:prstGeom prst="rect">
            <a:avLst/>
          </a:prstGeom>
          <a:noFill/>
        </p:spPr>
        <p:txBody>
          <a:bodyPr wrap="none" lIns="0" rIns="0" tIns="0" bIns="0">
            <a:spAutoFit/>
          </a:bodyPr>
          <a:lstStyle/>
          <a:p>
            <a:r>
              <a:rPr sz="1100" b="0">
                <a:solidFill>
                  <a:srgbClr val="2E2E2E"/>
                </a:solidFill>
                <a:latin typeface="Calibri"/>
              </a:rPr>
              <a:t>● Acrylic / Resin:</a:t>
            </a:r>
          </a:p>
        </p:txBody>
      </p:sp>
      <p:pic>
        <p:nvPicPr>
          <p:cNvPr id="98" name="Picture 97" descr="lock.png"/>
          <p:cNvPicPr>
            <a:picLocks noChangeAspect="1"/>
          </p:cNvPicPr>
          <p:nvPr/>
        </p:nvPicPr>
        <p:blipFill>
          <a:blip r:embed="rId16"/>
          <a:stretch>
            <a:fillRect/>
          </a:stretch>
        </p:blipFill>
        <p:spPr>
          <a:xfrm>
            <a:off x="4814805" y="4219658"/>
            <a:ext cx="128699" cy="187198"/>
          </a:xfrm>
          <a:prstGeom prst="rect">
            <a:avLst/>
          </a:prstGeom>
        </p:spPr>
      </p:pic>
      <p:sp>
        <p:nvSpPr>
          <p:cNvPr id="99" name="TextBox 98"/>
          <p:cNvSpPr txBox="1"/>
          <p:nvPr/>
        </p:nvSpPr>
        <p:spPr>
          <a:xfrm>
            <a:off x="498230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841751" y="4219658"/>
            <a:ext cx="128699" cy="187198"/>
          </a:xfrm>
          <a:prstGeom prst="rect">
            <a:avLst/>
          </a:prstGeom>
        </p:spPr>
      </p:pic>
      <p:sp>
        <p:nvSpPr>
          <p:cNvPr id="101" name="TextBox 100"/>
          <p:cNvSpPr txBox="1"/>
          <p:nvPr/>
        </p:nvSpPr>
        <p:spPr>
          <a:xfrm>
            <a:off x="600924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932953" cy="186689"/>
          </a:xfrm>
          <a:prstGeom prst="rect">
            <a:avLst/>
          </a:prstGeom>
          <a:noFill/>
        </p:spPr>
        <p:txBody>
          <a:bodyPr wrap="none" lIns="0" rIns="0" tIns="0" bIns="0">
            <a:spAutoFit/>
          </a:bodyPr>
          <a:lstStyle/>
          <a:p>
            <a:r>
              <a:rPr sz="1100" b="0">
                <a:solidFill>
                  <a:srgbClr val="2E2E2E"/>
                </a:solidFill>
                <a:latin typeface="Calibri"/>
              </a:rPr>
              <a:t>● Metal Alloys:</a:t>
            </a:r>
          </a:p>
        </p:txBody>
      </p:sp>
      <p:pic>
        <p:nvPicPr>
          <p:cNvPr id="103" name="Picture 102" descr="lock.png"/>
          <p:cNvPicPr>
            <a:picLocks noChangeAspect="1"/>
          </p:cNvPicPr>
          <p:nvPr/>
        </p:nvPicPr>
        <p:blipFill>
          <a:blip r:embed="rId16"/>
          <a:stretch>
            <a:fillRect/>
          </a:stretch>
        </p:blipFill>
        <p:spPr>
          <a:xfrm>
            <a:off x="4719580" y="4437590"/>
            <a:ext cx="128699" cy="187198"/>
          </a:xfrm>
          <a:prstGeom prst="rect">
            <a:avLst/>
          </a:prstGeom>
        </p:spPr>
      </p:pic>
      <p:sp>
        <p:nvSpPr>
          <p:cNvPr id="104" name="TextBox 103"/>
          <p:cNvSpPr txBox="1"/>
          <p:nvPr/>
        </p:nvSpPr>
        <p:spPr>
          <a:xfrm>
            <a:off x="488707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746526" y="4437590"/>
            <a:ext cx="128699" cy="187198"/>
          </a:xfrm>
          <a:prstGeom prst="rect">
            <a:avLst/>
          </a:prstGeom>
        </p:spPr>
      </p:pic>
      <p:sp>
        <p:nvSpPr>
          <p:cNvPr id="106" name="TextBox 105"/>
          <p:cNvSpPr txBox="1"/>
          <p:nvPr/>
        </p:nvSpPr>
        <p:spPr>
          <a:xfrm>
            <a:off x="591402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7" name="TextBox 106"/>
          <p:cNvSpPr txBox="1"/>
          <p:nvPr/>
        </p:nvSpPr>
        <p:spPr>
          <a:xfrm>
            <a:off x="3838575" y="4665301"/>
            <a:ext cx="1560239" cy="186689"/>
          </a:xfrm>
          <a:prstGeom prst="rect">
            <a:avLst/>
          </a:prstGeom>
          <a:noFill/>
        </p:spPr>
        <p:txBody>
          <a:bodyPr wrap="none" lIns="0" rIns="0" tIns="0" bIns="0">
            <a:spAutoFit/>
          </a:bodyPr>
          <a:lstStyle/>
          <a:p>
            <a:r>
              <a:rPr sz="1100" b="0">
                <a:solidFill>
                  <a:srgbClr val="2E2E2E"/>
                </a:solidFill>
                <a:latin typeface="Calibri"/>
              </a:rPr>
              <a:t>● Flexible Thermoplastics:</a:t>
            </a:r>
          </a:p>
        </p:txBody>
      </p:sp>
      <p:pic>
        <p:nvPicPr>
          <p:cNvPr id="108" name="Picture 107" descr="lock.png"/>
          <p:cNvPicPr>
            <a:picLocks noChangeAspect="1"/>
          </p:cNvPicPr>
          <p:nvPr/>
        </p:nvPicPr>
        <p:blipFill>
          <a:blip r:embed="rId16"/>
          <a:stretch>
            <a:fillRect/>
          </a:stretch>
        </p:blipFill>
        <p:spPr>
          <a:xfrm>
            <a:off x="5346866" y="4655522"/>
            <a:ext cx="128699" cy="187198"/>
          </a:xfrm>
          <a:prstGeom prst="rect">
            <a:avLst/>
          </a:prstGeom>
        </p:spPr>
      </p:pic>
      <p:sp>
        <p:nvSpPr>
          <p:cNvPr id="109" name="TextBox 108"/>
          <p:cNvSpPr txBox="1"/>
          <p:nvPr/>
        </p:nvSpPr>
        <p:spPr>
          <a:xfrm>
            <a:off x="551436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6373812" y="4655522"/>
            <a:ext cx="128699" cy="187198"/>
          </a:xfrm>
          <a:prstGeom prst="rect">
            <a:avLst/>
          </a:prstGeom>
        </p:spPr>
      </p:pic>
      <p:sp>
        <p:nvSpPr>
          <p:cNvPr id="111" name="TextBox 110"/>
          <p:cNvSpPr txBox="1"/>
          <p:nvPr/>
        </p:nvSpPr>
        <p:spPr>
          <a:xfrm>
            <a:off x="654130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825997" cy="186689"/>
          </a:xfrm>
          <a:prstGeom prst="rect">
            <a:avLst/>
          </a:prstGeom>
          <a:noFill/>
        </p:spPr>
        <p:txBody>
          <a:bodyPr wrap="none" lIns="0" rIns="0" tIns="0" bIns="0">
            <a:spAutoFit/>
          </a:bodyPr>
          <a:lstStyle/>
          <a:p>
            <a:r>
              <a:rPr sz="1100" b="0">
                <a:solidFill>
                  <a:srgbClr val="2E2E2E"/>
                </a:solidFill>
                <a:latin typeface="Calibri"/>
              </a:rPr>
              <a:t>● High-performance Polymers:</a:t>
            </a:r>
          </a:p>
        </p:txBody>
      </p:sp>
      <p:pic>
        <p:nvPicPr>
          <p:cNvPr id="113" name="Picture 112" descr="lock.png"/>
          <p:cNvPicPr>
            <a:picLocks noChangeAspect="1"/>
          </p:cNvPicPr>
          <p:nvPr/>
        </p:nvPicPr>
        <p:blipFill>
          <a:blip r:embed="rId16"/>
          <a:stretch>
            <a:fillRect/>
          </a:stretch>
        </p:blipFill>
        <p:spPr>
          <a:xfrm>
            <a:off x="5612623" y="4873454"/>
            <a:ext cx="128699" cy="187198"/>
          </a:xfrm>
          <a:prstGeom prst="rect">
            <a:avLst/>
          </a:prstGeom>
        </p:spPr>
      </p:pic>
      <p:sp>
        <p:nvSpPr>
          <p:cNvPr id="114" name="TextBox 113"/>
          <p:cNvSpPr txBox="1"/>
          <p:nvPr/>
        </p:nvSpPr>
        <p:spPr>
          <a:xfrm>
            <a:off x="5780119"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6639569" y="4873454"/>
            <a:ext cx="128699" cy="187198"/>
          </a:xfrm>
          <a:prstGeom prst="rect">
            <a:avLst/>
          </a:prstGeom>
        </p:spPr>
      </p:pic>
      <p:sp>
        <p:nvSpPr>
          <p:cNvPr id="116" name="TextBox 115"/>
          <p:cNvSpPr txBox="1"/>
          <p:nvPr/>
        </p:nvSpPr>
        <p:spPr>
          <a:xfrm>
            <a:off x="6807065" y="488323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7" name="TextBox 116"/>
          <p:cNvSpPr txBox="1"/>
          <p:nvPr/>
        </p:nvSpPr>
        <p:spPr>
          <a:xfrm>
            <a:off x="3838575" y="505087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8" name="TextBox 117"/>
          <p:cNvSpPr txBox="1"/>
          <p:nvPr/>
        </p:nvSpPr>
        <p:spPr>
          <a:xfrm>
            <a:off x="8524875" y="5842641"/>
            <a:ext cx="3140967" cy="194310"/>
          </a:xfrm>
          <a:prstGeom prst="rect">
            <a:avLst/>
          </a:prstGeom>
          <a:noFill/>
        </p:spPr>
        <p:txBody>
          <a:bodyPr wrap="none" lIns="0" rIns="0" tIns="0" bIns="0">
            <a:spAutoFit/>
          </a:bodyPr>
          <a:lstStyle/>
          <a:p>
            <a:r>
              <a:rPr sz="1150" b="1">
                <a:solidFill>
                  <a:srgbClr val="0B2E4A"/>
                </a:solidFill>
                <a:latin typeface="Calibri"/>
              </a:rPr>
              <a:t>The Material Type segment is projected to grow at</a:t>
            </a:r>
          </a:p>
        </p:txBody>
      </p:sp>
      <p:sp>
        <p:nvSpPr>
          <p:cNvPr id="119" name="TextBox 118"/>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20" name="Picture 119" descr="lock.png"/>
          <p:cNvPicPr>
            <a:picLocks noChangeAspect="1"/>
          </p:cNvPicPr>
          <p:nvPr/>
        </p:nvPicPr>
        <p:blipFill>
          <a:blip r:embed="rId16"/>
          <a:stretch>
            <a:fillRect/>
          </a:stretch>
        </p:blipFill>
        <p:spPr>
          <a:xfrm>
            <a:off x="9154084" y="6007677"/>
            <a:ext cx="134549" cy="195707"/>
          </a:xfrm>
          <a:prstGeom prst="rect">
            <a:avLst/>
          </a:prstGeom>
        </p:spPr>
      </p:pic>
      <p:sp>
        <p:nvSpPr>
          <p:cNvPr id="121" name="TextBox 120"/>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Material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327234" cy="186689"/>
          </a:xfrm>
          <a:prstGeom prst="rect">
            <a:avLst/>
          </a:prstGeom>
          <a:noFill/>
        </p:spPr>
        <p:txBody>
          <a:bodyPr wrap="none" lIns="0" rIns="0" tIns="0" bIns="0">
            <a:spAutoFit/>
          </a:bodyPr>
          <a:lstStyle/>
          <a:p>
            <a:r>
              <a:rPr sz="1100" b="0">
                <a:solidFill>
                  <a:srgbClr val="2E2E2E"/>
                </a:solidFill>
                <a:latin typeface="Calibri"/>
              </a:rPr>
              <a:t>Acrylic / resin followed by metal alloys are expected to be the two most attractive material type segments in the North America removable partial dentures market in terms of value over the forecast</a:t>
            </a:r>
          </a:p>
        </p:txBody>
      </p:sp>
      <p:sp>
        <p:nvSpPr>
          <p:cNvPr id="21" name="TextBox 20"/>
          <p:cNvSpPr txBox="1"/>
          <p:nvPr/>
        </p:nvSpPr>
        <p:spPr>
          <a:xfrm>
            <a:off x="257175" y="5861685"/>
            <a:ext cx="3602243" cy="186689"/>
          </a:xfrm>
          <a:prstGeom prst="rect">
            <a:avLst/>
          </a:prstGeom>
          <a:noFill/>
        </p:spPr>
        <p:txBody>
          <a:bodyPr wrap="none" lIns="0" rIns="0" tIns="0" bIns="0">
            <a:spAutoFit/>
          </a:bodyPr>
          <a:lstStyle/>
          <a:p>
            <a:r>
              <a:rPr sz="1100" b="0">
                <a:solidFill>
                  <a:srgbClr val="2E2E2E"/>
                </a:solidFill>
                <a:latin typeface="Calibri"/>
              </a:rPr>
              <a:t>period. Acrylic / resin and metal alloys exhibit a CAGR index of</a:t>
            </a:r>
          </a:p>
        </p:txBody>
      </p:sp>
      <p:pic>
        <p:nvPicPr>
          <p:cNvPr id="22" name="Picture 21" descr="lock.png"/>
          <p:cNvPicPr>
            <a:picLocks noChangeAspect="1"/>
          </p:cNvPicPr>
          <p:nvPr/>
        </p:nvPicPr>
        <p:blipFill>
          <a:blip r:embed="rId6"/>
          <a:stretch>
            <a:fillRect/>
          </a:stretch>
        </p:blipFill>
        <p:spPr>
          <a:xfrm>
            <a:off x="3807470" y="5851905"/>
            <a:ext cx="128699" cy="187198"/>
          </a:xfrm>
          <a:prstGeom prst="rect">
            <a:avLst/>
          </a:prstGeom>
        </p:spPr>
      </p:pic>
      <p:sp>
        <p:nvSpPr>
          <p:cNvPr id="23" name="TextBox 22"/>
          <p:cNvSpPr txBox="1"/>
          <p:nvPr/>
        </p:nvSpPr>
        <p:spPr>
          <a:xfrm>
            <a:off x="3974966"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4212860" y="5851905"/>
            <a:ext cx="128699" cy="187198"/>
          </a:xfrm>
          <a:prstGeom prst="rect">
            <a:avLst/>
          </a:prstGeom>
        </p:spPr>
      </p:pic>
      <p:sp>
        <p:nvSpPr>
          <p:cNvPr id="25" name="TextBox 24"/>
          <p:cNvSpPr txBox="1"/>
          <p:nvPr/>
        </p:nvSpPr>
        <p:spPr>
          <a:xfrm>
            <a:off x="4380356"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989329" y="5851905"/>
            <a:ext cx="128699" cy="187198"/>
          </a:xfrm>
          <a:prstGeom prst="rect">
            <a:avLst/>
          </a:prstGeom>
        </p:spPr>
      </p:pic>
      <p:sp>
        <p:nvSpPr>
          <p:cNvPr id="27" name="TextBox 26"/>
          <p:cNvSpPr txBox="1"/>
          <p:nvPr/>
        </p:nvSpPr>
        <p:spPr>
          <a:xfrm>
            <a:off x="6156825"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6394719" y="5851905"/>
            <a:ext cx="128699" cy="187198"/>
          </a:xfrm>
          <a:prstGeom prst="rect">
            <a:avLst/>
          </a:prstGeom>
        </p:spPr>
      </p:pic>
      <p:sp>
        <p:nvSpPr>
          <p:cNvPr id="29" name="TextBox 28"/>
          <p:cNvSpPr txBox="1"/>
          <p:nvPr/>
        </p:nvSpPr>
        <p:spPr>
          <a:xfrm>
            <a:off x="6562215"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9116619" y="5851905"/>
            <a:ext cx="128699" cy="187198"/>
          </a:xfrm>
          <a:prstGeom prst="rect">
            <a:avLst/>
          </a:prstGeom>
        </p:spPr>
      </p:pic>
      <p:sp>
        <p:nvSpPr>
          <p:cNvPr id="31" name="TextBox 30"/>
          <p:cNvSpPr txBox="1"/>
          <p:nvPr/>
        </p:nvSpPr>
        <p:spPr>
          <a:xfrm>
            <a:off x="9284115" y="5861685"/>
            <a:ext cx="1969789" cy="186689"/>
          </a:xfrm>
          <a:prstGeom prst="rect">
            <a:avLst/>
          </a:prstGeom>
          <a:noFill/>
        </p:spPr>
        <p:txBody>
          <a:bodyPr wrap="none" lIns="0" rIns="0" tIns="0" bIns="0">
            <a:spAutoFit/>
          </a:bodyPr>
          <a:lstStyle/>
          <a:p>
            <a:r>
              <a:rPr sz="1100" b="0">
                <a:solidFill>
                  <a:srgbClr val="2E2E2E"/>
                </a:solidFill>
                <a:latin typeface="Calibri"/>
              </a:rPr>
              <a:t>. The high-performance polymers</a:t>
            </a:r>
          </a:p>
        </p:txBody>
      </p:sp>
      <p:sp>
        <p:nvSpPr>
          <p:cNvPr id="32" name="TextBox 31"/>
          <p:cNvSpPr txBox="1"/>
          <p:nvPr/>
        </p:nvSpPr>
        <p:spPr>
          <a:xfrm>
            <a:off x="257175" y="6029325"/>
            <a:ext cx="11549028" cy="186689"/>
          </a:xfrm>
          <a:prstGeom prst="rect">
            <a:avLst/>
          </a:prstGeom>
          <a:noFill/>
        </p:spPr>
        <p:txBody>
          <a:bodyPr wrap="none" lIns="0" rIns="0" tIns="0" bIns="0">
            <a:spAutoFit/>
          </a:bodyPr>
          <a:lstStyle/>
          <a:p>
            <a:r>
              <a:rPr sz="1100" b="0">
                <a:solidFill>
                  <a:srgbClr val="2E2E2E"/>
                </a:solidFill>
                <a:latin typeface="Calibri"/>
              </a:rPr>
              <a:t>segment is expected to be less attractive as compared to other segments over the forecast period, owing to its lower CAGR and incremental opportunity. Bubbles right of the CAGR-Index line grow faster</a:t>
            </a:r>
          </a:p>
        </p:txBody>
      </p:sp>
      <p:sp>
        <p:nvSpPr>
          <p:cNvPr id="33" name="TextBox 32"/>
          <p:cNvSpPr txBox="1"/>
          <p:nvPr/>
        </p:nvSpPr>
        <p:spPr>
          <a:xfrm>
            <a:off x="257175" y="6196965"/>
            <a:ext cx="1598711" cy="186689"/>
          </a:xfrm>
          <a:prstGeom prst="rect">
            <a:avLst/>
          </a:prstGeom>
          <a:noFill/>
        </p:spPr>
        <p:txBody>
          <a:bodyPr wrap="none" lIns="0" rIns="0" tIns="0" bIns="0">
            <a:spAutoFit/>
          </a:bodyPr>
          <a:lstStyle/>
          <a:p>
            <a:r>
              <a:rPr sz="1100" b="0">
                <a:solidFill>
                  <a:srgbClr val="2E2E2E"/>
                </a:solidFill>
                <a:latin typeface="Calibri"/>
              </a:rPr>
              <a:t>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Metal Alloys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Acrylic / Resin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Flexible Thermoplastics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High-performance Polymers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Type (Units)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209925"/>
          </a:xfrm>
          <a:prstGeom prst="roundRect">
            <a:avLst>
              <a:gd name="adj" fmla="val 23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Type (Units)</a:t>
            </a:r>
          </a:p>
        </p:txBody>
      </p:sp>
      <p:graphicFrame>
        <p:nvGraphicFramePr>
          <p:cNvPr id="13" name="Table 12"/>
          <p:cNvGraphicFramePr>
            <a:graphicFrameLocks noGrp="1"/>
          </p:cNvGraphicFramePr>
          <p:nvPr/>
        </p:nvGraphicFramePr>
        <p:xfrm>
          <a:off x="152400" y="1238250"/>
          <a:ext cx="11887201" cy="2743194"/>
        </p:xfrm>
        <a:graphic>
          <a:graphicData uri="http://schemas.openxmlformats.org/drawingml/2006/table">
            <a:tbl>
              <a:tblPr>
                <a:tableStyleId>{5C22544A-7EE6-4342-B048-85BDC9FD1C3A}</a:tableStyleId>
              </a:tblPr>
              <a:tblGrid>
                <a:gridCol w="1739459"/>
                <a:gridCol w="596926"/>
                <a:gridCol w="596926"/>
                <a:gridCol w="596926"/>
                <a:gridCol w="596926"/>
                <a:gridCol w="596926"/>
                <a:gridCol w="596926"/>
                <a:gridCol w="596926"/>
                <a:gridCol w="596926"/>
                <a:gridCol w="596926"/>
                <a:gridCol w="596926"/>
                <a:gridCol w="596926"/>
                <a:gridCol w="596926"/>
                <a:gridCol w="596926"/>
                <a:gridCol w="596926"/>
                <a:gridCol w="596926"/>
                <a:gridCol w="596926"/>
                <a:gridCol w="596926"/>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356724">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56724">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56724">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56724">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56724">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56724">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56724">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779040" y="2466213"/>
            <a:ext cx="366712" cy="533400"/>
          </a:xfrm>
          <a:prstGeom prst="rect">
            <a:avLst/>
          </a:prstGeom>
        </p:spPr>
      </p:pic>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Type (Units)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42875" y="981075"/>
            <a:ext cx="11906250" cy="3733800"/>
          </a:xfrm>
          <a:prstGeom prst="roundRect">
            <a:avLst>
              <a:gd name="adj" fmla="val 20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Type (Units)</a:t>
            </a:r>
          </a:p>
        </p:txBody>
      </p:sp>
      <p:graphicFrame>
        <p:nvGraphicFramePr>
          <p:cNvPr id="12" name="Table 11"/>
          <p:cNvGraphicFramePr>
            <a:graphicFrameLocks noGrp="1"/>
          </p:cNvGraphicFramePr>
          <p:nvPr/>
        </p:nvGraphicFramePr>
        <p:xfrm>
          <a:off x="152400" y="1238250"/>
          <a:ext cx="11887208" cy="3267075"/>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229">
                <a:tc>
                  <a:txBody>
                    <a:bodyPr wrap="none"/>
                    <a:lstStyle/>
                    <a:p>
                      <a:pPr algn="l"/>
                      <a:r>
                        <a:rPr sz="1100" b="1">
                          <a:solidFill>
                            <a:srgbClr val="2E2E2E"/>
                          </a:solidFill>
                          <a:latin typeface="Calibri"/>
                        </a:rPr>
                        <a:t>– Polyamide /</a:t>
                      </a:r>
                      <a:endParaRPr sz="1100"/>
                    </a:p>
                    <a:p>
                      <a:pPr algn="l"/>
                      <a:r>
                        <a:rPr sz="1100" b="1">
                          <a:solidFill>
                            <a:srgbClr val="2E2E2E"/>
                          </a:solidFill>
                          <a:latin typeface="Calibri"/>
                        </a:rPr>
                        <a:t>Nylon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016">
                <a:tc>
                  <a:txBody>
                    <a:bodyPr wrap="none"/>
                    <a:lstStyle/>
                    <a:p>
                      <a:pPr algn="l"/>
                      <a:r>
                        <a:rPr sz="1100" b="1">
                          <a:solidFill>
                            <a:srgbClr val="2E2E2E"/>
                          </a:solidFill>
                          <a:latin typeface="Calibri"/>
                        </a:rPr>
                        <a:t>– Other</a:t>
                      </a:r>
                      <a:endParaRPr sz="1100"/>
                    </a:p>
                    <a:p>
                      <a:pPr algn="l"/>
                      <a:r>
                        <a:rPr sz="1100" b="1">
                          <a:solidFill>
                            <a:srgbClr val="2E2E2E"/>
                          </a:solidFill>
                          <a:latin typeface="Calibri"/>
                        </a:rPr>
                        <a:t>Thermoplastic</a:t>
                      </a:r>
                      <a:endParaRPr sz="1100"/>
                    </a:p>
                    <a:p>
                      <a:pPr algn="l"/>
                      <a:r>
                        <a:rPr sz="1100" b="1">
                          <a:solidFill>
                            <a:srgbClr val="2E2E2E"/>
                          </a:solidFill>
                          <a:latin typeface="Calibri"/>
                        </a:rPr>
                        <a:t>Resins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229">
                <a:tc>
                  <a:txBody>
                    <a:bodyPr wrap="none"/>
                    <a:lstStyle/>
                    <a:p>
                      <a:pPr algn="l"/>
                      <a:r>
                        <a:rPr sz="1100" b="1">
                          <a:solidFill>
                            <a:srgbClr val="2E2E2E"/>
                          </a:solidFill>
                          <a:latin typeface="Calibri"/>
                        </a:rPr>
                        <a:t>High-performance</a:t>
                      </a:r>
                      <a:endParaRPr sz="1100"/>
                    </a:p>
                    <a:p>
                      <a:pPr algn="l"/>
                      <a:r>
                        <a:rPr sz="1100" b="1">
                          <a:solidFill>
                            <a:srgbClr val="2E2E2E"/>
                          </a:solidFill>
                          <a:latin typeface="Calibri"/>
                        </a:rPr>
                        <a:t>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229">
                <a:tc>
                  <a:txBody>
                    <a:bodyPr wrap="none"/>
                    <a:lstStyle/>
                    <a:p>
                      <a:pPr algn="l"/>
                      <a:r>
                        <a:rPr sz="1100" b="1">
                          <a:solidFill>
                            <a:srgbClr val="2E2E2E"/>
                          </a:solidFill>
                          <a:latin typeface="Calibri"/>
                        </a:rPr>
                        <a:t>– PEEK-based</a:t>
                      </a:r>
                      <a:endParaRPr sz="1100"/>
                    </a:p>
                    <a:p>
                      <a:pPr algn="l"/>
                      <a:r>
                        <a:rPr sz="1100" b="1">
                          <a:solidFill>
                            <a:srgbClr val="2E2E2E"/>
                          </a:solidFill>
                          <a:latin typeface="Calibri"/>
                        </a:rPr>
                        <a:t>Materials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016">
                <a:tc>
                  <a:txBody>
                    <a:bodyPr wrap="none"/>
                    <a:lstStyle/>
                    <a:p>
                      <a:pPr algn="l"/>
                      <a:r>
                        <a:rPr sz="1100" b="1">
                          <a:solidFill>
                            <a:srgbClr val="2E2E2E"/>
                          </a:solidFill>
                          <a:latin typeface="Calibri"/>
                        </a:rPr>
                        <a:t>– Other High-</a:t>
                      </a:r>
                      <a:endParaRPr sz="1100"/>
                    </a:p>
                    <a:p>
                      <a:pPr algn="l"/>
                      <a:r>
                        <a:rPr sz="1100" b="1">
                          <a:solidFill>
                            <a:srgbClr val="2E2E2E"/>
                          </a:solidFill>
                          <a:latin typeface="Calibri"/>
                        </a:rPr>
                        <a:t>performance</a:t>
                      </a:r>
                      <a:endParaRPr sz="1100"/>
                    </a:p>
                    <a:p>
                      <a:pPr algn="l"/>
                      <a:r>
                        <a:rPr sz="1100" b="1">
                          <a:solidFill>
                            <a:srgbClr val="2E2E2E"/>
                          </a:solidFill>
                          <a:latin typeface="Calibri"/>
                        </a:rPr>
                        <a:t>Dental 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444">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3" name="TextBox 12"/>
          <p:cNvSpPr txBox="1"/>
          <p:nvPr/>
        </p:nvSpPr>
        <p:spPr>
          <a:xfrm>
            <a:off x="219075" y="45148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848225"/>
            <a:ext cx="1190625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9339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Material Type</a:t>
            </a:r>
          </a:p>
        </p:txBody>
      </p:sp>
      <p:sp>
        <p:nvSpPr>
          <p:cNvPr id="16" name="Rectangle 15"/>
          <p:cNvSpPr/>
          <p:nvPr/>
        </p:nvSpPr>
        <p:spPr>
          <a:xfrm>
            <a:off x="276225" y="51720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257800"/>
            <a:ext cx="11639550"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29244" y="2824543"/>
            <a:ext cx="366712" cy="533400"/>
          </a:xfrm>
          <a:prstGeom prst="rect">
            <a:avLst/>
          </a:prstGeom>
        </p:spPr>
      </p:pic>
      <p:sp>
        <p:nvSpPr>
          <p:cNvPr id="20" name="TextBox 19"/>
          <p:cNvSpPr txBox="1"/>
          <p:nvPr/>
        </p:nvSpPr>
        <p:spPr>
          <a:xfrm>
            <a:off x="276225" y="5267325"/>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1" name="Picture 20" descr="lock.png"/>
          <p:cNvPicPr>
            <a:picLocks noChangeAspect="1"/>
          </p:cNvPicPr>
          <p:nvPr/>
        </p:nvPicPr>
        <p:blipFill>
          <a:blip r:embed="rId4"/>
          <a:stretch>
            <a:fillRect/>
          </a:stretch>
        </p:blipFill>
        <p:spPr>
          <a:xfrm>
            <a:off x="3033455" y="5257101"/>
            <a:ext cx="134549" cy="195707"/>
          </a:xfrm>
          <a:prstGeom prst="rect">
            <a:avLst/>
          </a:prstGeom>
        </p:spPr>
      </p:pic>
      <p:sp>
        <p:nvSpPr>
          <p:cNvPr id="22" name="TextBox 21"/>
          <p:cNvSpPr txBox="1"/>
          <p:nvPr/>
        </p:nvSpPr>
        <p:spPr>
          <a:xfrm>
            <a:off x="3208564" y="5267325"/>
            <a:ext cx="8657493" cy="194310"/>
          </a:xfrm>
          <a:prstGeom prst="rect">
            <a:avLst/>
          </a:prstGeom>
          <a:noFill/>
        </p:spPr>
        <p:txBody>
          <a:bodyPr wrap="none" lIns="0" rIns="0" tIns="0" bIns="0">
            <a:spAutoFit/>
          </a:bodyPr>
          <a:lstStyle/>
          <a:p>
            <a:r>
              <a:rPr sz="1150" b="0">
                <a:solidFill>
                  <a:srgbClr val="2E2E2E"/>
                </a:solidFill>
                <a:latin typeface="Calibri"/>
              </a:rPr>
              <a:t>X higher volume than metal alloys segment in 2036. Among removable partial dentures by material type, high-performance polymers segment is</a:t>
            </a:r>
          </a:p>
        </p:txBody>
      </p:sp>
      <p:sp>
        <p:nvSpPr>
          <p:cNvPr id="23" name="TextBox 22"/>
          <p:cNvSpPr txBox="1"/>
          <p:nvPr/>
        </p:nvSpPr>
        <p:spPr>
          <a:xfrm>
            <a:off x="276225" y="544258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4" name="Picture 23" descr="lock.png"/>
          <p:cNvPicPr>
            <a:picLocks noChangeAspect="1"/>
          </p:cNvPicPr>
          <p:nvPr/>
        </p:nvPicPr>
        <p:blipFill>
          <a:blip r:embed="rId4"/>
          <a:stretch>
            <a:fillRect/>
          </a:stretch>
        </p:blipFill>
        <p:spPr>
          <a:xfrm>
            <a:off x="2711386" y="5432361"/>
            <a:ext cx="134549" cy="195707"/>
          </a:xfrm>
          <a:prstGeom prst="rect">
            <a:avLst/>
          </a:prstGeom>
        </p:spPr>
      </p:pic>
      <p:sp>
        <p:nvSpPr>
          <p:cNvPr id="25" name="TextBox 24"/>
          <p:cNvSpPr txBox="1"/>
          <p:nvPr/>
        </p:nvSpPr>
        <p:spPr>
          <a:xfrm>
            <a:off x="2886495" y="54425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5670422"/>
            <a:ext cx="6860108" cy="194310"/>
          </a:xfrm>
          <a:prstGeom prst="rect">
            <a:avLst/>
          </a:prstGeom>
          <a:noFill/>
        </p:spPr>
        <p:txBody>
          <a:bodyPr wrap="none" lIns="0" rIns="0" tIns="0" bIns="0">
            <a:spAutoFit/>
          </a:bodyPr>
          <a:lstStyle/>
          <a:p>
            <a:r>
              <a:rPr sz="1150" b="0">
                <a:solidFill>
                  <a:srgbClr val="2E2E2E"/>
                </a:solidFill>
                <a:latin typeface="Calibri"/>
              </a:rPr>
              <a:t>In terms of volume share by material type, the acrylic / resin segment is expected to dominate the market, gaining</a:t>
            </a:r>
          </a:p>
        </p:txBody>
      </p:sp>
      <p:pic>
        <p:nvPicPr>
          <p:cNvPr id="27" name="Picture 26" descr="lock.png"/>
          <p:cNvPicPr>
            <a:picLocks noChangeAspect="1"/>
          </p:cNvPicPr>
          <p:nvPr/>
        </p:nvPicPr>
        <p:blipFill>
          <a:blip r:embed="rId4"/>
          <a:stretch>
            <a:fillRect/>
          </a:stretch>
        </p:blipFill>
        <p:spPr>
          <a:xfrm>
            <a:off x="7085487" y="5660199"/>
            <a:ext cx="134549" cy="195707"/>
          </a:xfrm>
          <a:prstGeom prst="rect">
            <a:avLst/>
          </a:prstGeom>
        </p:spPr>
      </p:pic>
      <p:sp>
        <p:nvSpPr>
          <p:cNvPr id="28" name="TextBox 27"/>
          <p:cNvSpPr txBox="1"/>
          <p:nvPr/>
        </p:nvSpPr>
        <p:spPr>
          <a:xfrm>
            <a:off x="7260596" y="56704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655739" y="5660199"/>
            <a:ext cx="134549" cy="195707"/>
          </a:xfrm>
          <a:prstGeom prst="rect">
            <a:avLst/>
          </a:prstGeom>
        </p:spPr>
      </p:pic>
      <p:sp>
        <p:nvSpPr>
          <p:cNvPr id="30" name="TextBox 29"/>
          <p:cNvSpPr txBox="1"/>
          <p:nvPr/>
        </p:nvSpPr>
        <p:spPr>
          <a:xfrm>
            <a:off x="8830849" y="5670422"/>
            <a:ext cx="2616386" cy="194310"/>
          </a:xfrm>
          <a:prstGeom prst="rect">
            <a:avLst/>
          </a:prstGeom>
          <a:noFill/>
        </p:spPr>
        <p:txBody>
          <a:bodyPr wrap="none" lIns="0" rIns="0" tIns="0" bIns="0">
            <a:spAutoFit/>
          </a:bodyPr>
          <a:lstStyle/>
          <a:p>
            <a:r>
              <a:rPr sz="1150" b="0">
                <a:solidFill>
                  <a:srgbClr val="2E2E2E"/>
                </a:solidFill>
                <a:latin typeface="Calibri"/>
              </a:rPr>
              <a:t>share by 2036. The metal alloys segment is</a:t>
            </a:r>
          </a:p>
        </p:txBody>
      </p:sp>
      <p:sp>
        <p:nvSpPr>
          <p:cNvPr id="31" name="TextBox 30"/>
          <p:cNvSpPr txBox="1"/>
          <p:nvPr/>
        </p:nvSpPr>
        <p:spPr>
          <a:xfrm>
            <a:off x="276225" y="5845682"/>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2" name="Picture 31" descr="lock.png"/>
          <p:cNvPicPr>
            <a:picLocks noChangeAspect="1"/>
          </p:cNvPicPr>
          <p:nvPr/>
        </p:nvPicPr>
        <p:blipFill>
          <a:blip r:embed="rId4"/>
          <a:stretch>
            <a:fillRect/>
          </a:stretch>
        </p:blipFill>
        <p:spPr>
          <a:xfrm>
            <a:off x="1280285" y="5835459"/>
            <a:ext cx="134549" cy="195707"/>
          </a:xfrm>
          <a:prstGeom prst="rect">
            <a:avLst/>
          </a:prstGeom>
        </p:spPr>
      </p:pic>
      <p:sp>
        <p:nvSpPr>
          <p:cNvPr id="33" name="TextBox 32"/>
          <p:cNvSpPr txBox="1"/>
          <p:nvPr/>
        </p:nvSpPr>
        <p:spPr>
          <a:xfrm>
            <a:off x="1455394" y="58456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042898" y="5835459"/>
            <a:ext cx="134549" cy="195707"/>
          </a:xfrm>
          <a:prstGeom prst="rect">
            <a:avLst/>
          </a:prstGeom>
        </p:spPr>
      </p:pic>
      <p:sp>
        <p:nvSpPr>
          <p:cNvPr id="35" name="TextBox 34"/>
          <p:cNvSpPr txBox="1"/>
          <p:nvPr/>
        </p:nvSpPr>
        <p:spPr>
          <a:xfrm>
            <a:off x="4218008" y="58456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Material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Material Type (US$ Mn)</a:t>
            </a:r>
          </a:p>
        </p:txBody>
      </p:sp>
      <p:graphicFrame>
        <p:nvGraphicFramePr>
          <p:cNvPr id="13" name="Table 12"/>
          <p:cNvGraphicFramePr>
            <a:graphicFrameLocks noGrp="1"/>
          </p:cNvGraphicFramePr>
          <p:nvPr/>
        </p:nvGraphicFramePr>
        <p:xfrm>
          <a:off x="152400" y="1238250"/>
          <a:ext cx="11887201" cy="3448052"/>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02">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Material Type</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97216" y="2818639"/>
            <a:ext cx="366712" cy="533400"/>
          </a:xfrm>
          <a:prstGeom prst="rect">
            <a:avLst/>
          </a:prstGeom>
        </p:spPr>
      </p:pic>
      <p:sp>
        <p:nvSpPr>
          <p:cNvPr id="21" name="TextBox 20"/>
          <p:cNvSpPr txBox="1"/>
          <p:nvPr/>
        </p:nvSpPr>
        <p:spPr>
          <a:xfrm>
            <a:off x="276225" y="5448300"/>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2" name="Picture 21" descr="lock.png"/>
          <p:cNvPicPr>
            <a:picLocks noChangeAspect="1"/>
          </p:cNvPicPr>
          <p:nvPr/>
        </p:nvPicPr>
        <p:blipFill>
          <a:blip r:embed="rId4"/>
          <a:stretch>
            <a:fillRect/>
          </a:stretch>
        </p:blipFill>
        <p:spPr>
          <a:xfrm>
            <a:off x="3033455" y="5438076"/>
            <a:ext cx="134549" cy="195707"/>
          </a:xfrm>
          <a:prstGeom prst="rect">
            <a:avLst/>
          </a:prstGeom>
        </p:spPr>
      </p:pic>
      <p:sp>
        <p:nvSpPr>
          <p:cNvPr id="23" name="TextBox 22"/>
          <p:cNvSpPr txBox="1"/>
          <p:nvPr/>
        </p:nvSpPr>
        <p:spPr>
          <a:xfrm>
            <a:off x="3208564" y="5448300"/>
            <a:ext cx="8533693" cy="194310"/>
          </a:xfrm>
          <a:prstGeom prst="rect">
            <a:avLst/>
          </a:prstGeom>
          <a:noFill/>
        </p:spPr>
        <p:txBody>
          <a:bodyPr wrap="none" lIns="0" rIns="0" tIns="0" bIns="0">
            <a:spAutoFit/>
          </a:bodyPr>
          <a:lstStyle/>
          <a:p>
            <a:r>
              <a:rPr sz="1150" b="0">
                <a:solidFill>
                  <a:srgbClr val="2E2E2E"/>
                </a:solidFill>
                <a:latin typeface="Calibri"/>
              </a:rPr>
              <a:t>X higher value than metal alloys segment in 2036. Among removable partial dentures by material type, high-performance polymers segment is</a:t>
            </a:r>
          </a:p>
        </p:txBody>
      </p:sp>
      <p:sp>
        <p:nvSpPr>
          <p:cNvPr id="24" name="TextBox 23"/>
          <p:cNvSpPr txBox="1"/>
          <p:nvPr/>
        </p:nvSpPr>
        <p:spPr>
          <a:xfrm>
            <a:off x="276225" y="562356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5613336"/>
            <a:ext cx="134549" cy="195707"/>
          </a:xfrm>
          <a:prstGeom prst="rect">
            <a:avLst/>
          </a:prstGeom>
        </p:spPr>
      </p:pic>
      <p:sp>
        <p:nvSpPr>
          <p:cNvPr id="26" name="TextBox 25"/>
          <p:cNvSpPr txBox="1"/>
          <p:nvPr/>
        </p:nvSpPr>
        <p:spPr>
          <a:xfrm>
            <a:off x="2886495" y="56235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851397"/>
            <a:ext cx="6736308" cy="194310"/>
          </a:xfrm>
          <a:prstGeom prst="rect">
            <a:avLst/>
          </a:prstGeom>
          <a:noFill/>
        </p:spPr>
        <p:txBody>
          <a:bodyPr wrap="none" lIns="0" rIns="0" tIns="0" bIns="0">
            <a:spAutoFit/>
          </a:bodyPr>
          <a:lstStyle/>
          <a:p>
            <a:r>
              <a:rPr sz="1150" b="0">
                <a:solidFill>
                  <a:srgbClr val="2E2E2E"/>
                </a:solidFill>
                <a:latin typeface="Calibri"/>
              </a:rPr>
              <a:t>In terms of value share by material type, the acrylic / resin segment is expected to dominate the market, gaining</a:t>
            </a:r>
          </a:p>
        </p:txBody>
      </p:sp>
      <p:pic>
        <p:nvPicPr>
          <p:cNvPr id="28" name="Picture 27" descr="lock.png"/>
          <p:cNvPicPr>
            <a:picLocks noChangeAspect="1"/>
          </p:cNvPicPr>
          <p:nvPr/>
        </p:nvPicPr>
        <p:blipFill>
          <a:blip r:embed="rId4"/>
          <a:stretch>
            <a:fillRect/>
          </a:stretch>
        </p:blipFill>
        <p:spPr>
          <a:xfrm>
            <a:off x="6961687" y="5841174"/>
            <a:ext cx="134549" cy="195707"/>
          </a:xfrm>
          <a:prstGeom prst="rect">
            <a:avLst/>
          </a:prstGeom>
        </p:spPr>
      </p:pic>
      <p:sp>
        <p:nvSpPr>
          <p:cNvPr id="29" name="TextBox 28"/>
          <p:cNvSpPr txBox="1"/>
          <p:nvPr/>
        </p:nvSpPr>
        <p:spPr>
          <a:xfrm>
            <a:off x="7136796" y="58513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31939" y="5841174"/>
            <a:ext cx="134549" cy="195707"/>
          </a:xfrm>
          <a:prstGeom prst="rect">
            <a:avLst/>
          </a:prstGeom>
        </p:spPr>
      </p:pic>
      <p:sp>
        <p:nvSpPr>
          <p:cNvPr id="31" name="TextBox 30"/>
          <p:cNvSpPr txBox="1"/>
          <p:nvPr/>
        </p:nvSpPr>
        <p:spPr>
          <a:xfrm>
            <a:off x="8707048" y="5851397"/>
            <a:ext cx="2579588" cy="194310"/>
          </a:xfrm>
          <a:prstGeom prst="rect">
            <a:avLst/>
          </a:prstGeom>
          <a:noFill/>
        </p:spPr>
        <p:txBody>
          <a:bodyPr wrap="none" lIns="0" rIns="0" tIns="0" bIns="0">
            <a:spAutoFit/>
          </a:bodyPr>
          <a:lstStyle/>
          <a:p>
            <a:r>
              <a:rPr sz="1150" b="0">
                <a:solidFill>
                  <a:srgbClr val="2E2E2E"/>
                </a:solidFill>
                <a:latin typeface="Calibri"/>
              </a:rPr>
              <a:t>share by 2036. The flexible thermoplastics</a:t>
            </a:r>
          </a:p>
        </p:txBody>
      </p:sp>
      <p:sp>
        <p:nvSpPr>
          <p:cNvPr id="32" name="TextBox 31"/>
          <p:cNvSpPr txBox="1"/>
          <p:nvPr/>
        </p:nvSpPr>
        <p:spPr>
          <a:xfrm>
            <a:off x="276225" y="6026657"/>
            <a:ext cx="1725538" cy="194310"/>
          </a:xfrm>
          <a:prstGeom prst="rect">
            <a:avLst/>
          </a:prstGeom>
          <a:noFill/>
        </p:spPr>
        <p:txBody>
          <a:bodyPr wrap="none" lIns="0" rIns="0" tIns="0" bIns="0">
            <a:spAutoFit/>
          </a:bodyPr>
          <a:lstStyle/>
          <a:p>
            <a:r>
              <a:rPr sz="1150" b="0">
                <a:solidFill>
                  <a:srgbClr val="2E2E2E"/>
                </a:solidFill>
                <a:latin typeface="Calibri"/>
              </a:rPr>
              <a:t>segment is expected to lose</a:t>
            </a:r>
          </a:p>
        </p:txBody>
      </p:sp>
      <p:pic>
        <p:nvPicPr>
          <p:cNvPr id="33" name="Picture 32" descr="lock.png"/>
          <p:cNvPicPr>
            <a:picLocks noChangeAspect="1"/>
          </p:cNvPicPr>
          <p:nvPr/>
        </p:nvPicPr>
        <p:blipFill>
          <a:blip r:embed="rId4"/>
          <a:stretch>
            <a:fillRect/>
          </a:stretch>
        </p:blipFill>
        <p:spPr>
          <a:xfrm>
            <a:off x="1950917" y="6016434"/>
            <a:ext cx="134549" cy="195707"/>
          </a:xfrm>
          <a:prstGeom prst="rect">
            <a:avLst/>
          </a:prstGeom>
        </p:spPr>
      </p:pic>
      <p:sp>
        <p:nvSpPr>
          <p:cNvPr id="34" name="TextBox 33"/>
          <p:cNvSpPr txBox="1"/>
          <p:nvPr/>
        </p:nvSpPr>
        <p:spPr>
          <a:xfrm>
            <a:off x="2126026" y="60266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713530" y="6016434"/>
            <a:ext cx="134549" cy="195707"/>
          </a:xfrm>
          <a:prstGeom prst="rect">
            <a:avLst/>
          </a:prstGeom>
        </p:spPr>
      </p:pic>
      <p:sp>
        <p:nvSpPr>
          <p:cNvPr id="36" name="TextBox 35"/>
          <p:cNvSpPr txBox="1"/>
          <p:nvPr/>
        </p:nvSpPr>
        <p:spPr>
          <a:xfrm>
            <a:off x="4888640" y="60266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Material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8684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8208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058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High-performance Polymers</a:t>
            </a:r>
          </a:p>
        </p:txBody>
      </p:sp>
      <p:sp>
        <p:nvSpPr>
          <p:cNvPr id="19" name="BPS Value 1"/>
          <p:cNvSpPr txBox="1"/>
          <p:nvPr/>
        </p:nvSpPr>
        <p:spPr>
          <a:xfrm>
            <a:off x="6896100" y="186779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49206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873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111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Thermoplastics</a:t>
            </a:r>
          </a:p>
        </p:txBody>
      </p:sp>
      <p:sp>
        <p:nvSpPr>
          <p:cNvPr id="23" name="BPS Value 2"/>
          <p:cNvSpPr txBox="1"/>
          <p:nvPr/>
        </p:nvSpPr>
        <p:spPr>
          <a:xfrm>
            <a:off x="6896100" y="247301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5343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52961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45341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 Alloys</a:t>
            </a:r>
          </a:p>
        </p:txBody>
      </p:sp>
      <p:sp>
        <p:nvSpPr>
          <p:cNvPr id="27" name="BPS Value 3"/>
          <p:cNvSpPr txBox="1"/>
          <p:nvPr/>
        </p:nvSpPr>
        <p:spPr>
          <a:xfrm>
            <a:off x="6896100" y="351532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21533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1057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3437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 Resin</a:t>
            </a:r>
          </a:p>
        </p:txBody>
      </p:sp>
      <p:sp>
        <p:nvSpPr>
          <p:cNvPr id="31" name="BPS Value 4"/>
          <p:cNvSpPr txBox="1"/>
          <p:nvPr/>
        </p:nvSpPr>
        <p:spPr>
          <a:xfrm>
            <a:off x="6896100" y="519628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Material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192313" cy="194310"/>
          </a:xfrm>
          <a:prstGeom prst="rect">
            <a:avLst/>
          </a:prstGeom>
          <a:noFill/>
        </p:spPr>
        <p:txBody>
          <a:bodyPr wrap="none" lIns="0" rIns="0" tIns="0" bIns="0">
            <a:spAutoFit/>
          </a:bodyPr>
          <a:lstStyle/>
          <a:p>
            <a:r>
              <a:rPr sz="1150" b="0">
                <a:solidFill>
                  <a:srgbClr val="2E2E2E"/>
                </a:solidFill>
                <a:latin typeface="Calibri"/>
              </a:rPr>
              <a:t>Among removable partial dentures by material type,</a:t>
            </a:r>
          </a:p>
        </p:txBody>
      </p:sp>
      <p:sp>
        <p:nvSpPr>
          <p:cNvPr id="39" name="TextBox 38"/>
          <p:cNvSpPr txBox="1"/>
          <p:nvPr/>
        </p:nvSpPr>
        <p:spPr>
          <a:xfrm>
            <a:off x="7829550" y="1575435"/>
            <a:ext cx="3856384" cy="194310"/>
          </a:xfrm>
          <a:prstGeom prst="rect">
            <a:avLst/>
          </a:prstGeom>
          <a:noFill/>
        </p:spPr>
        <p:txBody>
          <a:bodyPr wrap="none" lIns="0" rIns="0" tIns="0" bIns="0">
            <a:spAutoFit/>
          </a:bodyPr>
          <a:lstStyle/>
          <a:p>
            <a:r>
              <a:rPr sz="1150" b="0">
                <a:solidFill>
                  <a:srgbClr val="2E2E2E"/>
                </a:solidFill>
                <a:latin typeface="Calibri"/>
              </a:rPr>
              <a:t>high-performance polymers segment is expected to witness the</a:t>
            </a:r>
          </a:p>
        </p:txBody>
      </p:sp>
      <p:sp>
        <p:nvSpPr>
          <p:cNvPr id="40" name="TextBox 39"/>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41" name="Picture 40" descr="lock.png"/>
          <p:cNvPicPr>
            <a:picLocks noChangeAspect="1"/>
          </p:cNvPicPr>
          <p:nvPr/>
        </p:nvPicPr>
        <p:blipFill>
          <a:blip r:embed="rId5"/>
          <a:stretch>
            <a:fillRect/>
          </a:stretch>
        </p:blipFill>
        <p:spPr>
          <a:xfrm>
            <a:off x="8811057" y="1740471"/>
            <a:ext cx="134549" cy="195707"/>
          </a:xfrm>
          <a:prstGeom prst="rect">
            <a:avLst/>
          </a:prstGeom>
        </p:spPr>
      </p:pic>
      <p:sp>
        <p:nvSpPr>
          <p:cNvPr id="42" name="TextBox 41"/>
          <p:cNvSpPr txBox="1"/>
          <p:nvPr/>
        </p:nvSpPr>
        <p:spPr>
          <a:xfrm>
            <a:off x="8986166" y="1750695"/>
            <a:ext cx="2581585" cy="194310"/>
          </a:xfrm>
          <a:prstGeom prst="rect">
            <a:avLst/>
          </a:prstGeom>
          <a:noFill/>
        </p:spPr>
        <p:txBody>
          <a:bodyPr wrap="none" lIns="0" rIns="0" tIns="0" bIns="0">
            <a:spAutoFit/>
          </a:bodyPr>
          <a:lstStyle/>
          <a:p>
            <a:r>
              <a:rPr sz="1150" b="0">
                <a:solidFill>
                  <a:srgbClr val="2E2E2E"/>
                </a:solidFill>
                <a:latin typeface="Calibri"/>
              </a:rPr>
              <a:t>over the forecast period. In terms of value</a:t>
            </a:r>
          </a:p>
        </p:txBody>
      </p:sp>
      <p:sp>
        <p:nvSpPr>
          <p:cNvPr id="43" name="TextBox 42"/>
          <p:cNvSpPr txBox="1"/>
          <p:nvPr/>
        </p:nvSpPr>
        <p:spPr>
          <a:xfrm>
            <a:off x="7829550" y="1925955"/>
            <a:ext cx="3909441" cy="194310"/>
          </a:xfrm>
          <a:prstGeom prst="rect">
            <a:avLst/>
          </a:prstGeom>
          <a:noFill/>
        </p:spPr>
        <p:txBody>
          <a:bodyPr wrap="none" lIns="0" rIns="0" tIns="0" bIns="0">
            <a:spAutoFit/>
          </a:bodyPr>
          <a:lstStyle/>
          <a:p>
            <a:r>
              <a:rPr sz="1150" b="0">
                <a:solidFill>
                  <a:srgbClr val="2E2E2E"/>
                </a:solidFill>
                <a:latin typeface="Calibri"/>
              </a:rPr>
              <a:t>share by material type, the acrylic / resin segment is expected to</a:t>
            </a:r>
          </a:p>
        </p:txBody>
      </p:sp>
      <p:sp>
        <p:nvSpPr>
          <p:cNvPr id="44" name="TextBox 43"/>
          <p:cNvSpPr txBox="1"/>
          <p:nvPr/>
        </p:nvSpPr>
        <p:spPr>
          <a:xfrm>
            <a:off x="7829550" y="2101215"/>
            <a:ext cx="1837072" cy="194310"/>
          </a:xfrm>
          <a:prstGeom prst="rect">
            <a:avLst/>
          </a:prstGeom>
          <a:noFill/>
        </p:spPr>
        <p:txBody>
          <a:bodyPr wrap="none" lIns="0" rIns="0" tIns="0" bIns="0">
            <a:spAutoFit/>
          </a:bodyPr>
          <a:lstStyle/>
          <a:p>
            <a:r>
              <a:rPr sz="1150" b="0">
                <a:solidFill>
                  <a:srgbClr val="2E2E2E"/>
                </a:solidFill>
                <a:latin typeface="Calibri"/>
              </a:rPr>
              <a:t>dominate the market, gaining</a:t>
            </a:r>
          </a:p>
        </p:txBody>
      </p:sp>
      <p:pic>
        <p:nvPicPr>
          <p:cNvPr id="45" name="Picture 44" descr="lock.png"/>
          <p:cNvPicPr>
            <a:picLocks noChangeAspect="1"/>
          </p:cNvPicPr>
          <p:nvPr/>
        </p:nvPicPr>
        <p:blipFill>
          <a:blip r:embed="rId5"/>
          <a:stretch>
            <a:fillRect/>
          </a:stretch>
        </p:blipFill>
        <p:spPr>
          <a:xfrm>
            <a:off x="9615776" y="2090991"/>
            <a:ext cx="134549" cy="195707"/>
          </a:xfrm>
          <a:prstGeom prst="rect">
            <a:avLst/>
          </a:prstGeom>
        </p:spPr>
      </p:pic>
      <p:sp>
        <p:nvSpPr>
          <p:cNvPr id="46" name="TextBox 45"/>
          <p:cNvSpPr txBox="1"/>
          <p:nvPr/>
        </p:nvSpPr>
        <p:spPr>
          <a:xfrm>
            <a:off x="979088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1186028" y="2090991"/>
            <a:ext cx="134549" cy="195707"/>
          </a:xfrm>
          <a:prstGeom prst="rect">
            <a:avLst/>
          </a:prstGeom>
        </p:spPr>
      </p:pic>
      <p:sp>
        <p:nvSpPr>
          <p:cNvPr id="48" name="TextBox 47"/>
          <p:cNvSpPr txBox="1"/>
          <p:nvPr/>
        </p:nvSpPr>
        <p:spPr>
          <a:xfrm>
            <a:off x="7829550"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504313"/>
            <a:ext cx="3358901" cy="194310"/>
          </a:xfrm>
          <a:prstGeom prst="rect">
            <a:avLst/>
          </a:prstGeom>
          <a:noFill/>
        </p:spPr>
        <p:txBody>
          <a:bodyPr wrap="none" lIns="0" rIns="0" tIns="0" bIns="0">
            <a:spAutoFit/>
          </a:bodyPr>
          <a:lstStyle/>
          <a:p>
            <a:r>
              <a:rPr sz="1150" b="0">
                <a:solidFill>
                  <a:srgbClr val="2E2E2E"/>
                </a:solidFill>
                <a:latin typeface="Calibri"/>
              </a:rPr>
              <a:t>The flexible thermoplastics segment is expected to lose</a:t>
            </a:r>
          </a:p>
        </p:txBody>
      </p:sp>
      <p:pic>
        <p:nvPicPr>
          <p:cNvPr id="50" name="Picture 49" descr="lock.png"/>
          <p:cNvPicPr>
            <a:picLocks noChangeAspect="1"/>
          </p:cNvPicPr>
          <p:nvPr/>
        </p:nvPicPr>
        <p:blipFill>
          <a:blip r:embed="rId5"/>
          <a:stretch>
            <a:fillRect/>
          </a:stretch>
        </p:blipFill>
        <p:spPr>
          <a:xfrm>
            <a:off x="11137605" y="2494089"/>
            <a:ext cx="134549" cy="195707"/>
          </a:xfrm>
          <a:prstGeom prst="rect">
            <a:avLst/>
          </a:prstGeom>
        </p:spPr>
      </p:pic>
      <p:sp>
        <p:nvSpPr>
          <p:cNvPr id="51" name="TextBox 50"/>
          <p:cNvSpPr txBox="1"/>
          <p:nvPr/>
        </p:nvSpPr>
        <p:spPr>
          <a:xfrm>
            <a:off x="11312715" y="250431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2" name="TextBox 51"/>
          <p:cNvSpPr txBox="1"/>
          <p:nvPr/>
        </p:nvSpPr>
        <p:spPr>
          <a:xfrm>
            <a:off x="7829550" y="267957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3" name="Picture 52" descr="lock.png"/>
          <p:cNvPicPr>
            <a:picLocks noChangeAspect="1"/>
          </p:cNvPicPr>
          <p:nvPr/>
        </p:nvPicPr>
        <p:blipFill>
          <a:blip r:embed="rId5"/>
          <a:stretch>
            <a:fillRect/>
          </a:stretch>
        </p:blipFill>
        <p:spPr>
          <a:xfrm>
            <a:off x="10161752" y="2669349"/>
            <a:ext cx="134549" cy="195707"/>
          </a:xfrm>
          <a:prstGeom prst="rect">
            <a:avLst/>
          </a:prstGeom>
        </p:spPr>
      </p:pic>
      <p:sp>
        <p:nvSpPr>
          <p:cNvPr id="54" name="TextBox 53"/>
          <p:cNvSpPr txBox="1"/>
          <p:nvPr/>
        </p:nvSpPr>
        <p:spPr>
          <a:xfrm>
            <a:off x="10336861"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3200406"/>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68310" y="2694815"/>
            <a:ext cx="366712" cy="533400"/>
          </a:xfrm>
          <a:prstGeom prst="rect">
            <a:avLst/>
          </a:prstGeom>
        </p:spPr>
      </p:pic>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4" name="Picture 263" descr="lock.png"/>
          <p:cNvPicPr>
            <a:picLocks noChangeAspect="1"/>
          </p:cNvPicPr>
          <p:nvPr/>
        </p:nvPicPr>
        <p:blipFill>
          <a:blip r:embed="rId4"/>
          <a:stretch>
            <a:fillRect/>
          </a:stretch>
        </p:blipFill>
        <p:spPr>
          <a:xfrm>
            <a:off x="11760938" y="1354201"/>
            <a:ext cx="128699" cy="187198"/>
          </a:xfrm>
          <a:prstGeom prst="rect">
            <a:avLst/>
          </a:prstGeom>
        </p:spPr>
      </p:pic>
      <p:pic>
        <p:nvPicPr>
          <p:cNvPr id="265" name="Picture 264" descr="lock.png"/>
          <p:cNvPicPr>
            <a:picLocks noChangeAspect="1"/>
          </p:cNvPicPr>
          <p:nvPr/>
        </p:nvPicPr>
        <p:blipFill>
          <a:blip r:embed="rId4"/>
          <a:stretch>
            <a:fillRect/>
          </a:stretch>
        </p:blipFill>
        <p:spPr>
          <a:xfrm>
            <a:off x="11760938" y="3897376"/>
            <a:ext cx="128699" cy="187198"/>
          </a:xfrm>
          <a:prstGeom prst="rect">
            <a:avLst/>
          </a:prstGeom>
        </p:spPr>
      </p:pic>
      <p:pic>
        <p:nvPicPr>
          <p:cNvPr id="266" name="Picture 26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00406"/>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348748" y="2694815"/>
            <a:ext cx="366712" cy="533400"/>
          </a:xfrm>
          <a:prstGeom prst="rect">
            <a:avLst/>
          </a:prstGeom>
        </p:spPr>
      </p:pic>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Technology segment categorizes the market by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Digital Fabrication</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Fabrication</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Technology split shows how demand is distributed across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39_2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10_9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2_7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32_1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13_0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9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59" name="TextBox 58"/>
          <p:cNvSpPr txBox="1"/>
          <p:nvPr/>
        </p:nvSpPr>
        <p:spPr>
          <a:xfrm>
            <a:off x="485775" y="4397077"/>
            <a:ext cx="2800622" cy="186689"/>
          </a:xfrm>
          <a:prstGeom prst="rect">
            <a:avLst/>
          </a:prstGeom>
          <a:noFill/>
        </p:spPr>
        <p:txBody>
          <a:bodyPr wrap="none" lIns="0" rIns="0" tIns="0" bIns="0">
            <a:spAutoFit/>
          </a:bodyPr>
          <a:lstStyle/>
          <a:p>
            <a:r>
              <a:rPr sz="1100" b="0">
                <a:solidFill>
                  <a:srgbClr val="2E2E2E"/>
                </a:solidFill>
                <a:latin typeface="Calibri"/>
              </a:rPr>
              <a:t>technology, conventional fabrication segment is</a:t>
            </a:r>
          </a:p>
        </p:txBody>
      </p:sp>
      <p:sp>
        <p:nvSpPr>
          <p:cNvPr id="60" name="TextBox 59"/>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61" name="Picture 60" descr="lock.png"/>
          <p:cNvPicPr>
            <a:picLocks noChangeAspect="1"/>
          </p:cNvPicPr>
          <p:nvPr/>
        </p:nvPicPr>
        <p:blipFill>
          <a:blip r:embed="rId10"/>
          <a:stretch>
            <a:fillRect/>
          </a:stretch>
        </p:blipFill>
        <p:spPr>
          <a:xfrm>
            <a:off x="2815059" y="4554938"/>
            <a:ext cx="128699" cy="187198"/>
          </a:xfrm>
          <a:prstGeom prst="rect">
            <a:avLst/>
          </a:prstGeom>
        </p:spPr>
      </p:pic>
      <p:sp>
        <p:nvSpPr>
          <p:cNvPr id="62" name="TextBox 61"/>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63" name="TextBox 62"/>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64" name="TextBox 63"/>
          <p:cNvSpPr txBox="1"/>
          <p:nvPr/>
        </p:nvSpPr>
        <p:spPr>
          <a:xfrm>
            <a:off x="485775" y="4899997"/>
            <a:ext cx="2634183" cy="186689"/>
          </a:xfrm>
          <a:prstGeom prst="rect">
            <a:avLst/>
          </a:prstGeom>
          <a:noFill/>
        </p:spPr>
        <p:txBody>
          <a:bodyPr wrap="none" lIns="0" rIns="0" tIns="0" bIns="0">
            <a:spAutoFit/>
          </a:bodyPr>
          <a:lstStyle/>
          <a:p>
            <a:r>
              <a:rPr sz="1100" b="0">
                <a:solidFill>
                  <a:srgbClr val="2E2E2E"/>
                </a:solidFill>
                <a:latin typeface="Calibri"/>
              </a:rPr>
              <a:t>technology, the digital fabrication segment is</a:t>
            </a:r>
          </a:p>
        </p:txBody>
      </p:sp>
      <p:sp>
        <p:nvSpPr>
          <p:cNvPr id="65" name="TextBox 64"/>
          <p:cNvSpPr txBox="1"/>
          <p:nvPr/>
        </p:nvSpPr>
        <p:spPr>
          <a:xfrm>
            <a:off x="485775" y="506763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6" name="Picture 65" descr="lock.png"/>
          <p:cNvPicPr>
            <a:picLocks noChangeAspect="1"/>
          </p:cNvPicPr>
          <p:nvPr/>
        </p:nvPicPr>
        <p:blipFill>
          <a:blip r:embed="rId10"/>
          <a:stretch>
            <a:fillRect/>
          </a:stretch>
        </p:blipFill>
        <p:spPr>
          <a:xfrm>
            <a:off x="2822716" y="5057858"/>
            <a:ext cx="128699" cy="187198"/>
          </a:xfrm>
          <a:prstGeom prst="rect">
            <a:avLst/>
          </a:prstGeom>
        </p:spPr>
      </p:pic>
      <p:sp>
        <p:nvSpPr>
          <p:cNvPr id="67" name="TextBox 66"/>
          <p:cNvSpPr txBox="1"/>
          <p:nvPr/>
        </p:nvSpPr>
        <p:spPr>
          <a:xfrm>
            <a:off x="2990212"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54101" cy="186689"/>
          </a:xfrm>
          <a:prstGeom prst="rect">
            <a:avLst/>
          </a:prstGeom>
          <a:noFill/>
        </p:spPr>
        <p:txBody>
          <a:bodyPr wrap="none" lIns="0" rIns="0" tIns="0" bIns="0">
            <a:spAutoFit/>
          </a:bodyPr>
          <a:lstStyle/>
          <a:p>
            <a:r>
              <a:rPr sz="1100" b="0">
                <a:solidFill>
                  <a:srgbClr val="2E2E2E"/>
                </a:solidFill>
                <a:latin typeface="Calibri"/>
              </a:rPr>
              <a:t>▪ ¶ Digital fabrication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1941686" cy="186689"/>
          </a:xfrm>
          <a:prstGeom prst="rect">
            <a:avLst/>
          </a:prstGeom>
          <a:noFill/>
        </p:spPr>
        <p:txBody>
          <a:bodyPr wrap="none" lIns="0" rIns="0" tIns="0" bIns="0">
            <a:spAutoFit/>
          </a:bodyPr>
          <a:lstStyle/>
          <a:p>
            <a:r>
              <a:rPr sz="1100" b="0">
                <a:solidFill>
                  <a:srgbClr val="2E2E2E"/>
                </a:solidFill>
                <a:latin typeface="Calibri"/>
              </a:rPr>
              <a:t>X higher value than conventional</a:t>
            </a:r>
          </a:p>
        </p:txBody>
      </p:sp>
      <p:sp>
        <p:nvSpPr>
          <p:cNvPr id="75" name="TextBox 74"/>
          <p:cNvSpPr txBox="1"/>
          <p:nvPr/>
        </p:nvSpPr>
        <p:spPr>
          <a:xfrm>
            <a:off x="485775" y="5788489"/>
            <a:ext cx="1703213" cy="186689"/>
          </a:xfrm>
          <a:prstGeom prst="rect">
            <a:avLst/>
          </a:prstGeom>
          <a:noFill/>
        </p:spPr>
        <p:txBody>
          <a:bodyPr wrap="none" lIns="0" rIns="0" tIns="0" bIns="0">
            <a:spAutoFit/>
          </a:bodyPr>
          <a:lstStyle/>
          <a:p>
            <a:r>
              <a:rPr sz="1100" b="0">
                <a:solidFill>
                  <a:srgbClr val="2E2E2E"/>
                </a:solidFill>
                <a:latin typeface="Calibri"/>
              </a:rPr>
              <a:t>fabrication segment in 2036.</a:t>
            </a:r>
          </a:p>
        </p:txBody>
      </p:sp>
      <p:sp>
        <p:nvSpPr>
          <p:cNvPr id="76" name="TextBox 75"/>
          <p:cNvSpPr txBox="1"/>
          <p:nvPr/>
        </p:nvSpPr>
        <p:spPr>
          <a:xfrm>
            <a:off x="3838575" y="4229437"/>
            <a:ext cx="1260861" cy="186689"/>
          </a:xfrm>
          <a:prstGeom prst="rect">
            <a:avLst/>
          </a:prstGeom>
          <a:noFill/>
        </p:spPr>
        <p:txBody>
          <a:bodyPr wrap="none" lIns="0" rIns="0" tIns="0" bIns="0">
            <a:spAutoFit/>
          </a:bodyPr>
          <a:lstStyle/>
          <a:p>
            <a:r>
              <a:rPr sz="1100" b="0">
                <a:solidFill>
                  <a:srgbClr val="2E2E2E"/>
                </a:solidFill>
                <a:latin typeface="Calibri"/>
              </a:rPr>
              <a:t>● Digital Fabrication:</a:t>
            </a:r>
          </a:p>
        </p:txBody>
      </p:sp>
      <p:pic>
        <p:nvPicPr>
          <p:cNvPr id="77" name="Picture 76" descr="lock.png"/>
          <p:cNvPicPr>
            <a:picLocks noChangeAspect="1"/>
          </p:cNvPicPr>
          <p:nvPr/>
        </p:nvPicPr>
        <p:blipFill>
          <a:blip r:embed="rId10"/>
          <a:stretch>
            <a:fillRect/>
          </a:stretch>
        </p:blipFill>
        <p:spPr>
          <a:xfrm>
            <a:off x="5047488" y="4219658"/>
            <a:ext cx="128699" cy="187198"/>
          </a:xfrm>
          <a:prstGeom prst="rect">
            <a:avLst/>
          </a:prstGeom>
        </p:spPr>
      </p:pic>
      <p:sp>
        <p:nvSpPr>
          <p:cNvPr id="78" name="TextBox 77"/>
          <p:cNvSpPr txBox="1"/>
          <p:nvPr/>
        </p:nvSpPr>
        <p:spPr>
          <a:xfrm>
            <a:off x="521498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74434" y="4219658"/>
            <a:ext cx="128699" cy="187198"/>
          </a:xfrm>
          <a:prstGeom prst="rect">
            <a:avLst/>
          </a:prstGeom>
        </p:spPr>
      </p:pic>
      <p:sp>
        <p:nvSpPr>
          <p:cNvPr id="80" name="TextBox 79"/>
          <p:cNvSpPr txBox="1"/>
          <p:nvPr/>
        </p:nvSpPr>
        <p:spPr>
          <a:xfrm>
            <a:off x="624193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1651585" cy="186689"/>
          </a:xfrm>
          <a:prstGeom prst="rect">
            <a:avLst/>
          </a:prstGeom>
          <a:noFill/>
        </p:spPr>
        <p:txBody>
          <a:bodyPr wrap="none" lIns="0" rIns="0" tIns="0" bIns="0">
            <a:spAutoFit/>
          </a:bodyPr>
          <a:lstStyle/>
          <a:p>
            <a:r>
              <a:rPr sz="1100" b="0">
                <a:solidFill>
                  <a:srgbClr val="2E2E2E"/>
                </a:solidFill>
                <a:latin typeface="Calibri"/>
              </a:rPr>
              <a:t>● Conventional Fabrication:</a:t>
            </a:r>
          </a:p>
        </p:txBody>
      </p:sp>
      <p:pic>
        <p:nvPicPr>
          <p:cNvPr id="82" name="Picture 81" descr="lock.png"/>
          <p:cNvPicPr>
            <a:picLocks noChangeAspect="1"/>
          </p:cNvPicPr>
          <p:nvPr/>
        </p:nvPicPr>
        <p:blipFill>
          <a:blip r:embed="rId10"/>
          <a:stretch>
            <a:fillRect/>
          </a:stretch>
        </p:blipFill>
        <p:spPr>
          <a:xfrm>
            <a:off x="5438211" y="4437590"/>
            <a:ext cx="128699" cy="187198"/>
          </a:xfrm>
          <a:prstGeom prst="rect">
            <a:avLst/>
          </a:prstGeom>
        </p:spPr>
      </p:pic>
      <p:sp>
        <p:nvSpPr>
          <p:cNvPr id="83" name="TextBox 82"/>
          <p:cNvSpPr txBox="1"/>
          <p:nvPr/>
        </p:nvSpPr>
        <p:spPr>
          <a:xfrm>
            <a:off x="560570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6465157" y="4437590"/>
            <a:ext cx="128699" cy="187198"/>
          </a:xfrm>
          <a:prstGeom prst="rect">
            <a:avLst/>
          </a:prstGeom>
        </p:spPr>
      </p:pic>
      <p:sp>
        <p:nvSpPr>
          <p:cNvPr id="85" name="TextBox 84"/>
          <p:cNvSpPr txBox="1"/>
          <p:nvPr/>
        </p:nvSpPr>
        <p:spPr>
          <a:xfrm>
            <a:off x="6632653" y="444736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86" name="TextBox 85"/>
          <p:cNvSpPr txBox="1"/>
          <p:nvPr/>
        </p:nvSpPr>
        <p:spPr>
          <a:xfrm>
            <a:off x="3838575" y="461500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87" name="TextBox 86"/>
          <p:cNvSpPr txBox="1"/>
          <p:nvPr/>
        </p:nvSpPr>
        <p:spPr>
          <a:xfrm>
            <a:off x="8524875" y="5842641"/>
            <a:ext cx="3094471" cy="194310"/>
          </a:xfrm>
          <a:prstGeom prst="rect">
            <a:avLst/>
          </a:prstGeom>
          <a:noFill/>
        </p:spPr>
        <p:txBody>
          <a:bodyPr wrap="none" lIns="0" rIns="0" tIns="0" bIns="0">
            <a:spAutoFit/>
          </a:bodyPr>
          <a:lstStyle/>
          <a:p>
            <a:r>
              <a:rPr sz="1150" b="1">
                <a:solidFill>
                  <a:srgbClr val="0B2E4A"/>
                </a:solidFill>
                <a:latin typeface="Calibri"/>
              </a:rPr>
              <a:t>The Technology segment is projected to grow at a</a:t>
            </a:r>
          </a:p>
        </p:txBody>
      </p:sp>
      <p:sp>
        <p:nvSpPr>
          <p:cNvPr id="88" name="TextBox 87"/>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9" name="Picture 88" descr="lock.png"/>
          <p:cNvPicPr>
            <a:picLocks noChangeAspect="1"/>
          </p:cNvPicPr>
          <p:nvPr/>
        </p:nvPicPr>
        <p:blipFill>
          <a:blip r:embed="rId10"/>
          <a:stretch>
            <a:fillRect/>
          </a:stretch>
        </p:blipFill>
        <p:spPr>
          <a:xfrm>
            <a:off x="9048826" y="6007677"/>
            <a:ext cx="134549" cy="195707"/>
          </a:xfrm>
          <a:prstGeom prst="rect">
            <a:avLst/>
          </a:prstGeom>
        </p:spPr>
      </p:pic>
      <p:sp>
        <p:nvSpPr>
          <p:cNvPr id="90" name="TextBox 89"/>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49199" cy="186689"/>
          </a:xfrm>
          <a:prstGeom prst="rect">
            <a:avLst/>
          </a:prstGeom>
          <a:noFill/>
        </p:spPr>
        <p:txBody>
          <a:bodyPr wrap="none" lIns="0" rIns="0" tIns="0" bIns="0">
            <a:spAutoFit/>
          </a:bodyPr>
          <a:lstStyle/>
          <a:p>
            <a:r>
              <a:rPr sz="1100" b="0">
                <a:solidFill>
                  <a:srgbClr val="2E2E2E"/>
                </a:solidFill>
                <a:latin typeface="Calibri"/>
              </a:rPr>
              <a:t>Conventional fabrication followed by digital fabrication are expected to be the two most attractive technology segments in the North America removable partial dentures market in terms of value over the</a:t>
            </a:r>
          </a:p>
        </p:txBody>
      </p:sp>
      <p:sp>
        <p:nvSpPr>
          <p:cNvPr id="21" name="TextBox 20"/>
          <p:cNvSpPr txBox="1"/>
          <p:nvPr/>
        </p:nvSpPr>
        <p:spPr>
          <a:xfrm>
            <a:off x="257175" y="5945505"/>
            <a:ext cx="5040717" cy="186689"/>
          </a:xfrm>
          <a:prstGeom prst="rect">
            <a:avLst/>
          </a:prstGeom>
          <a:noFill/>
        </p:spPr>
        <p:txBody>
          <a:bodyPr wrap="none" lIns="0" rIns="0" tIns="0" bIns="0">
            <a:spAutoFit/>
          </a:bodyPr>
          <a:lstStyle/>
          <a:p>
            <a:r>
              <a:rPr sz="1100" b="0">
                <a:solidFill>
                  <a:srgbClr val="2E2E2E"/>
                </a:solidFill>
                <a:latin typeface="Calibri"/>
              </a:rPr>
              <a:t>forecast period. Conventional fabrication and digital fabrication exhibit a CAGR index of</a:t>
            </a:r>
          </a:p>
        </p:txBody>
      </p:sp>
      <p:pic>
        <p:nvPicPr>
          <p:cNvPr id="22" name="Picture 21" descr="lock.png"/>
          <p:cNvPicPr>
            <a:picLocks noChangeAspect="1"/>
          </p:cNvPicPr>
          <p:nvPr/>
        </p:nvPicPr>
        <p:blipFill>
          <a:blip r:embed="rId6"/>
          <a:stretch>
            <a:fillRect/>
          </a:stretch>
        </p:blipFill>
        <p:spPr>
          <a:xfrm>
            <a:off x="5245943" y="5935726"/>
            <a:ext cx="128699" cy="187198"/>
          </a:xfrm>
          <a:prstGeom prst="rect">
            <a:avLst/>
          </a:prstGeom>
        </p:spPr>
      </p:pic>
      <p:sp>
        <p:nvSpPr>
          <p:cNvPr id="23" name="TextBox 22"/>
          <p:cNvSpPr txBox="1"/>
          <p:nvPr/>
        </p:nvSpPr>
        <p:spPr>
          <a:xfrm>
            <a:off x="5413439"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651333" y="5935726"/>
            <a:ext cx="128699" cy="187198"/>
          </a:xfrm>
          <a:prstGeom prst="rect">
            <a:avLst/>
          </a:prstGeom>
        </p:spPr>
      </p:pic>
      <p:sp>
        <p:nvSpPr>
          <p:cNvPr id="25" name="TextBox 24"/>
          <p:cNvSpPr txBox="1"/>
          <p:nvPr/>
        </p:nvSpPr>
        <p:spPr>
          <a:xfrm>
            <a:off x="5818829"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427803" y="5935726"/>
            <a:ext cx="128699" cy="187198"/>
          </a:xfrm>
          <a:prstGeom prst="rect">
            <a:avLst/>
          </a:prstGeom>
        </p:spPr>
      </p:pic>
      <p:sp>
        <p:nvSpPr>
          <p:cNvPr id="27" name="TextBox 26"/>
          <p:cNvSpPr txBox="1"/>
          <p:nvPr/>
        </p:nvSpPr>
        <p:spPr>
          <a:xfrm>
            <a:off x="7595299"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833193" y="5935726"/>
            <a:ext cx="128699" cy="187198"/>
          </a:xfrm>
          <a:prstGeom prst="rect">
            <a:avLst/>
          </a:prstGeom>
        </p:spPr>
      </p:pic>
      <p:sp>
        <p:nvSpPr>
          <p:cNvPr id="29" name="TextBox 28"/>
          <p:cNvSpPr txBox="1"/>
          <p:nvPr/>
        </p:nvSpPr>
        <p:spPr>
          <a:xfrm>
            <a:off x="8000689"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555093" y="5935726"/>
            <a:ext cx="128699" cy="187198"/>
          </a:xfrm>
          <a:prstGeom prst="rect">
            <a:avLst/>
          </a:prstGeom>
        </p:spPr>
      </p:pic>
      <p:sp>
        <p:nvSpPr>
          <p:cNvPr id="31" name="TextBox 30"/>
          <p:cNvSpPr txBox="1"/>
          <p:nvPr/>
        </p:nvSpPr>
        <p:spPr>
          <a:xfrm>
            <a:off x="10722589" y="5945505"/>
            <a:ext cx="595709" cy="186689"/>
          </a:xfrm>
          <a:prstGeom prst="rect">
            <a:avLst/>
          </a:prstGeom>
          <a:noFill/>
        </p:spPr>
        <p:txBody>
          <a:bodyPr wrap="none" lIns="0" rIns="0" tIns="0" bIns="0">
            <a:spAutoFit/>
          </a:bodyPr>
          <a:lstStyle/>
          <a:p>
            <a:r>
              <a:rPr sz="1100" b="0">
                <a:solidFill>
                  <a:srgbClr val="2E2E2E"/>
                </a:solidFill>
                <a:latin typeface="Calibri"/>
              </a:rPr>
              <a:t>. Bubbles</a:t>
            </a:r>
          </a:p>
        </p:txBody>
      </p:sp>
      <p:sp>
        <p:nvSpPr>
          <p:cNvPr id="32" name="TextBox 31"/>
          <p:cNvSpPr txBox="1"/>
          <p:nvPr/>
        </p:nvSpPr>
        <p:spPr>
          <a:xfrm>
            <a:off x="257175" y="6113145"/>
            <a:ext cx="3892557" cy="186689"/>
          </a:xfrm>
          <a:prstGeom prst="rect">
            <a:avLst/>
          </a:prstGeom>
          <a:noFill/>
        </p:spPr>
        <p:txBody>
          <a:bodyPr wrap="none" lIns="0" rIns="0" tIns="0" bIns="0">
            <a:spAutoFit/>
          </a:bodyPr>
          <a:lstStyle/>
          <a:p>
            <a:r>
              <a:rPr sz="1100" b="0">
                <a:solidFill>
                  <a:srgbClr val="2E2E2E"/>
                </a:solidFill>
                <a:latin typeface="Calibri"/>
              </a:rPr>
              <a:t>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Conventional Fabrication</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Digital Fabrication</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Technology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286250"/>
          </a:xfrm>
          <a:prstGeom prst="roundRect">
            <a:avLst>
              <a:gd name="adj" fmla="val 17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Technology (Units)</a:t>
            </a:r>
          </a:p>
        </p:txBody>
      </p:sp>
      <p:graphicFrame>
        <p:nvGraphicFramePr>
          <p:cNvPr id="13" name="Table 12"/>
          <p:cNvGraphicFramePr>
            <a:graphicFrameLocks noGrp="1"/>
          </p:cNvGraphicFramePr>
          <p:nvPr/>
        </p:nvGraphicFramePr>
        <p:xfrm>
          <a:off x="152400" y="1238250"/>
          <a:ext cx="11887208" cy="381952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886">
                <a:tc>
                  <a:txBody>
                    <a:bodyPr wrap="none"/>
                    <a:lstStyle/>
                    <a:p>
                      <a:pPr algn="l"/>
                      <a:r>
                        <a:rPr sz="1100" b="1">
                          <a:solidFill>
                            <a:srgbClr val="2E2E2E"/>
                          </a:solidFill>
                          <a:latin typeface="Calibri"/>
                        </a:rPr>
                        <a:t>Conventional</a:t>
                      </a:r>
                      <a:endParaRPr sz="1100"/>
                    </a:p>
                    <a:p>
                      <a:pPr algn="l"/>
                      <a:r>
                        <a:rPr sz="1100" b="1">
                          <a:solidFill>
                            <a:srgbClr val="2E2E2E"/>
                          </a:solidFill>
                          <a:latin typeface="Calibri"/>
                        </a:rPr>
                        <a:t>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Metal Casting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672">
                <a:tc>
                  <a:txBody>
                    <a:bodyPr wrap="none"/>
                    <a:lstStyle/>
                    <a:p>
                      <a:pPr algn="l"/>
                      <a:r>
                        <a:rPr sz="1100" b="1">
                          <a:solidFill>
                            <a:srgbClr val="2E2E2E"/>
                          </a:solidFill>
                          <a:latin typeface="Calibri"/>
                        </a:rPr>
                        <a:t>– Heat-cured /</a:t>
                      </a:r>
                      <a:endParaRPr sz="1100"/>
                    </a:p>
                    <a:p>
                      <a:pPr algn="l"/>
                      <a:r>
                        <a:rPr sz="1100" b="1">
                          <a:solidFill>
                            <a:srgbClr val="2E2E2E"/>
                          </a:solidFill>
                          <a:latin typeface="Calibri"/>
                        </a:rPr>
                        <a:t>Compression</a:t>
                      </a:r>
                      <a:endParaRPr sz="1100"/>
                    </a:p>
                    <a:p>
                      <a:pPr algn="l"/>
                      <a:r>
                        <a:rPr sz="1100" b="1">
                          <a:solidFill>
                            <a:srgbClr val="2E2E2E"/>
                          </a:solidFill>
                          <a:latin typeface="Calibri"/>
                        </a:rPr>
                        <a:t>Processing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Injection Molding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00">
                <a:tc>
                  <a:txBody>
                    <a:bodyPr wrap="none"/>
                    <a:lstStyle/>
                    <a:p>
                      <a:pPr algn="l"/>
                      <a:r>
                        <a:rPr sz="1100" b="1">
                          <a:solidFill>
                            <a:srgbClr val="2E2E2E"/>
                          </a:solidFill>
                          <a:latin typeface="Calibri"/>
                        </a:rPr>
                        <a:t>Digital 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CAD/CAM Milling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672">
                <a:tc>
                  <a:txBody>
                    <a:bodyPr wrap="none"/>
                    <a:lstStyle/>
                    <a:p>
                      <a:pPr algn="l"/>
                      <a:r>
                        <a:rPr sz="1100" b="1">
                          <a:solidFill>
                            <a:srgbClr val="2E2E2E"/>
                          </a:solidFill>
                          <a:latin typeface="Calibri"/>
                        </a:rPr>
                        <a:t>– 3D Printing /</a:t>
                      </a:r>
                      <a:endParaRPr sz="1100"/>
                    </a:p>
                    <a:p>
                      <a:pPr algn="l"/>
                      <a:r>
                        <a:rPr sz="1100" b="1">
                          <a:solidFill>
                            <a:srgbClr val="2E2E2E"/>
                          </a:solidFill>
                          <a:latin typeface="Calibri"/>
                        </a:rPr>
                        <a:t>Additive</a:t>
                      </a:r>
                      <a:endParaRPr sz="1100"/>
                    </a:p>
                    <a:p>
                      <a:pPr algn="l"/>
                      <a:r>
                        <a:rPr sz="1100" b="1">
                          <a:solidFill>
                            <a:srgbClr val="2E2E2E"/>
                          </a:solidFill>
                          <a:latin typeface="Calibri"/>
                        </a:rPr>
                        <a:t>Manufacturing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86">
                <a:tc>
                  <a:txBody>
                    <a:bodyPr wrap="none"/>
                    <a:lstStyle/>
                    <a:p>
                      <a:pPr algn="l"/>
                      <a:r>
                        <a:rPr sz="1100" b="1">
                          <a:solidFill>
                            <a:srgbClr val="2E2E2E"/>
                          </a:solidFill>
                          <a:latin typeface="Calibri"/>
                        </a:rPr>
                        <a:t>– Hybrid Digital</a:t>
                      </a:r>
                      <a:endParaRPr sz="1100"/>
                    </a:p>
                    <a:p>
                      <a:pPr algn="l"/>
                      <a:r>
                        <a:rPr sz="1100" b="1">
                          <a:solidFill>
                            <a:srgbClr val="2E2E2E"/>
                          </a:solidFill>
                          <a:latin typeface="Calibri"/>
                        </a:rPr>
                        <a:t>Fabrication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0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50673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400675"/>
            <a:ext cx="11906250" cy="1228725"/>
          </a:xfrm>
          <a:prstGeom prst="roundRect">
            <a:avLst>
              <a:gd name="adj" fmla="val 62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4864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Technology</a:t>
            </a:r>
          </a:p>
        </p:txBody>
      </p:sp>
      <p:sp>
        <p:nvSpPr>
          <p:cNvPr id="17" name="Rectangle 16"/>
          <p:cNvSpPr/>
          <p:nvPr/>
        </p:nvSpPr>
        <p:spPr>
          <a:xfrm>
            <a:off x="276225" y="5724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810250"/>
            <a:ext cx="11639550" cy="742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3100770"/>
            <a:ext cx="366712" cy="533400"/>
          </a:xfrm>
          <a:prstGeom prst="rect">
            <a:avLst/>
          </a:prstGeom>
        </p:spPr>
      </p:pic>
      <p:sp>
        <p:nvSpPr>
          <p:cNvPr id="21" name="TextBox 20"/>
          <p:cNvSpPr txBox="1"/>
          <p:nvPr/>
        </p:nvSpPr>
        <p:spPr>
          <a:xfrm>
            <a:off x="276225" y="581977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5809551"/>
            <a:ext cx="134549" cy="195707"/>
          </a:xfrm>
          <a:prstGeom prst="rect">
            <a:avLst/>
          </a:prstGeom>
        </p:spPr>
      </p:pic>
      <p:sp>
        <p:nvSpPr>
          <p:cNvPr id="23" name="TextBox 22"/>
          <p:cNvSpPr txBox="1"/>
          <p:nvPr/>
        </p:nvSpPr>
        <p:spPr>
          <a:xfrm>
            <a:off x="3457591" y="5819775"/>
            <a:ext cx="8380226" cy="194310"/>
          </a:xfrm>
          <a:prstGeom prst="rect">
            <a:avLst/>
          </a:prstGeom>
          <a:noFill/>
        </p:spPr>
        <p:txBody>
          <a:bodyPr wrap="none" lIns="0" rIns="0" tIns="0" bIns="0">
            <a:spAutoFit/>
          </a:bodyPr>
          <a:lstStyle/>
          <a:p>
            <a:r>
              <a:rPr sz="1150" b="0">
                <a:solidFill>
                  <a:srgbClr val="2E2E2E"/>
                </a:solidFill>
                <a:latin typeface="Calibri"/>
              </a:rPr>
              <a:t>X higher volume than conventional fabrication segment in 2036. Among removable partial dentures by technology, conventional fabrication</a:t>
            </a:r>
          </a:p>
        </p:txBody>
      </p:sp>
      <p:sp>
        <p:nvSpPr>
          <p:cNvPr id="24" name="TextBox 23"/>
          <p:cNvSpPr txBox="1"/>
          <p:nvPr/>
        </p:nvSpPr>
        <p:spPr>
          <a:xfrm>
            <a:off x="276225" y="59950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5984811"/>
            <a:ext cx="134549" cy="195707"/>
          </a:xfrm>
          <a:prstGeom prst="rect">
            <a:avLst/>
          </a:prstGeom>
        </p:spPr>
      </p:pic>
      <p:sp>
        <p:nvSpPr>
          <p:cNvPr id="26" name="TextBox 25"/>
          <p:cNvSpPr txBox="1"/>
          <p:nvPr/>
        </p:nvSpPr>
        <p:spPr>
          <a:xfrm>
            <a:off x="3557127" y="59950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6222872"/>
            <a:ext cx="6894624" cy="194310"/>
          </a:xfrm>
          <a:prstGeom prst="rect">
            <a:avLst/>
          </a:prstGeom>
          <a:noFill/>
        </p:spPr>
        <p:txBody>
          <a:bodyPr wrap="none" lIns="0" rIns="0" tIns="0" bIns="0">
            <a:spAutoFit/>
          </a:bodyPr>
          <a:lstStyle/>
          <a:p>
            <a:r>
              <a:rPr sz="1150" b="0">
                <a:solidFill>
                  <a:srgbClr val="2E2E2E"/>
                </a:solidFill>
                <a:latin typeface="Calibri"/>
              </a:rPr>
              <a:t>In terms of volume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7120003" y="6212649"/>
            <a:ext cx="134549" cy="195707"/>
          </a:xfrm>
          <a:prstGeom prst="rect">
            <a:avLst/>
          </a:prstGeom>
        </p:spPr>
      </p:pic>
      <p:sp>
        <p:nvSpPr>
          <p:cNvPr id="29" name="TextBox 28"/>
          <p:cNvSpPr txBox="1"/>
          <p:nvPr/>
        </p:nvSpPr>
        <p:spPr>
          <a:xfrm>
            <a:off x="7295112" y="62228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90255" y="6212649"/>
            <a:ext cx="134549" cy="195707"/>
          </a:xfrm>
          <a:prstGeom prst="rect">
            <a:avLst/>
          </a:prstGeom>
        </p:spPr>
      </p:pic>
      <p:sp>
        <p:nvSpPr>
          <p:cNvPr id="31" name="TextBox 30"/>
          <p:cNvSpPr txBox="1"/>
          <p:nvPr/>
        </p:nvSpPr>
        <p:spPr>
          <a:xfrm>
            <a:off x="8865364" y="62228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Technology (US$ Mn)</a:t>
            </a:r>
          </a:p>
        </p:txBody>
      </p:sp>
      <p:graphicFrame>
        <p:nvGraphicFramePr>
          <p:cNvPr id="13" name="Table 12"/>
          <p:cNvGraphicFramePr>
            <a:graphicFrameLocks noGrp="1"/>
          </p:cNvGraphicFramePr>
          <p:nvPr/>
        </p:nvGraphicFramePr>
        <p:xfrm>
          <a:off x="152400" y="1238250"/>
          <a:ext cx="11887195" cy="2466975"/>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Technology</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41720" y="2328100"/>
            <a:ext cx="366712" cy="533400"/>
          </a:xfrm>
          <a:prstGeom prst="rect">
            <a:avLst/>
          </a:prstGeom>
        </p:spPr>
      </p:pic>
      <p:sp>
        <p:nvSpPr>
          <p:cNvPr id="21" name="TextBox 20"/>
          <p:cNvSpPr txBox="1"/>
          <p:nvPr/>
        </p:nvSpPr>
        <p:spPr>
          <a:xfrm>
            <a:off x="276225" y="446722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4457001"/>
            <a:ext cx="134549" cy="195707"/>
          </a:xfrm>
          <a:prstGeom prst="rect">
            <a:avLst/>
          </a:prstGeom>
        </p:spPr>
      </p:pic>
      <p:sp>
        <p:nvSpPr>
          <p:cNvPr id="23" name="TextBox 22"/>
          <p:cNvSpPr txBox="1"/>
          <p:nvPr/>
        </p:nvSpPr>
        <p:spPr>
          <a:xfrm>
            <a:off x="3457591" y="4467225"/>
            <a:ext cx="8256426" cy="194310"/>
          </a:xfrm>
          <a:prstGeom prst="rect">
            <a:avLst/>
          </a:prstGeom>
          <a:noFill/>
        </p:spPr>
        <p:txBody>
          <a:bodyPr wrap="none" lIns="0" rIns="0" tIns="0" bIns="0">
            <a:spAutoFit/>
          </a:bodyPr>
          <a:lstStyle/>
          <a:p>
            <a:r>
              <a:rPr sz="1150" b="0">
                <a:solidFill>
                  <a:srgbClr val="2E2E2E"/>
                </a:solidFill>
                <a:latin typeface="Calibri"/>
              </a:rPr>
              <a:t>X higher value than conventional fabrication segment in 2036. Among removable partial dentures by technology, conventional fabrication</a:t>
            </a:r>
          </a:p>
        </p:txBody>
      </p:sp>
      <p:sp>
        <p:nvSpPr>
          <p:cNvPr id="24" name="TextBox 23"/>
          <p:cNvSpPr txBox="1"/>
          <p:nvPr/>
        </p:nvSpPr>
        <p:spPr>
          <a:xfrm>
            <a:off x="276225" y="464248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632261"/>
            <a:ext cx="134549" cy="195707"/>
          </a:xfrm>
          <a:prstGeom prst="rect">
            <a:avLst/>
          </a:prstGeom>
        </p:spPr>
      </p:pic>
      <p:sp>
        <p:nvSpPr>
          <p:cNvPr id="26" name="TextBox 25"/>
          <p:cNvSpPr txBox="1"/>
          <p:nvPr/>
        </p:nvSpPr>
        <p:spPr>
          <a:xfrm>
            <a:off x="3557127" y="46424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870322"/>
            <a:ext cx="6770823"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6996202" y="4860099"/>
            <a:ext cx="134549" cy="195707"/>
          </a:xfrm>
          <a:prstGeom prst="rect">
            <a:avLst/>
          </a:prstGeom>
        </p:spPr>
      </p:pic>
      <p:sp>
        <p:nvSpPr>
          <p:cNvPr id="29" name="TextBox 28"/>
          <p:cNvSpPr txBox="1"/>
          <p:nvPr/>
        </p:nvSpPr>
        <p:spPr>
          <a:xfrm>
            <a:off x="7171312" y="48703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66455" y="4860099"/>
            <a:ext cx="134549" cy="195707"/>
          </a:xfrm>
          <a:prstGeom prst="rect">
            <a:avLst/>
          </a:prstGeom>
        </p:spPr>
      </p:pic>
      <p:sp>
        <p:nvSpPr>
          <p:cNvPr id="31" name="TextBox 30"/>
          <p:cNvSpPr txBox="1"/>
          <p:nvPr/>
        </p:nvSpPr>
        <p:spPr>
          <a:xfrm>
            <a:off x="8741564" y="48703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0090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5961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199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Fabrication</a:t>
            </a:r>
          </a:p>
        </p:txBody>
      </p:sp>
      <p:sp>
        <p:nvSpPr>
          <p:cNvPr id="19" name="BPS Value 1"/>
          <p:cNvSpPr txBox="1"/>
          <p:nvPr/>
        </p:nvSpPr>
        <p:spPr>
          <a:xfrm>
            <a:off x="6896100" y="258185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88709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8823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061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Digital Fabrication</a:t>
            </a:r>
          </a:p>
        </p:txBody>
      </p:sp>
      <p:sp>
        <p:nvSpPr>
          <p:cNvPr id="23" name="BPS Value 2"/>
          <p:cNvSpPr txBox="1"/>
          <p:nvPr/>
        </p:nvSpPr>
        <p:spPr>
          <a:xfrm>
            <a:off x="6896100" y="486804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Technology</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861804" cy="194310"/>
          </a:xfrm>
          <a:prstGeom prst="rect">
            <a:avLst/>
          </a:prstGeom>
          <a:noFill/>
        </p:spPr>
        <p:txBody>
          <a:bodyPr wrap="none" lIns="0" rIns="0" tIns="0" bIns="0">
            <a:spAutoFit/>
          </a:bodyPr>
          <a:lstStyle/>
          <a:p>
            <a:r>
              <a:rPr sz="1150" b="0">
                <a:solidFill>
                  <a:srgbClr val="2E2E2E"/>
                </a:solidFill>
                <a:latin typeface="Calibri"/>
              </a:rPr>
              <a:t>Among removable partial dentures by technology, conventional</a:t>
            </a:r>
          </a:p>
        </p:txBody>
      </p:sp>
      <p:sp>
        <p:nvSpPr>
          <p:cNvPr id="31" name="TextBox 30"/>
          <p:cNvSpPr txBox="1"/>
          <p:nvPr/>
        </p:nvSpPr>
        <p:spPr>
          <a:xfrm>
            <a:off x="7829550" y="1575435"/>
            <a:ext cx="3833831" cy="194310"/>
          </a:xfrm>
          <a:prstGeom prst="rect">
            <a:avLst/>
          </a:prstGeom>
          <a:noFill/>
        </p:spPr>
        <p:txBody>
          <a:bodyPr wrap="none" lIns="0" rIns="0" tIns="0" bIns="0">
            <a:spAutoFit/>
          </a:bodyPr>
          <a:lstStyle/>
          <a:p>
            <a:r>
              <a:rPr sz="1150" b="0">
                <a:solidFill>
                  <a:srgbClr val="2E2E2E"/>
                </a:solidFill>
                <a:latin typeface="Calibri"/>
              </a:rPr>
              <a:t>fabrication segment is expected to witness the highest CAGR of</a:t>
            </a:r>
          </a:p>
        </p:txBody>
      </p:sp>
      <p:pic>
        <p:nvPicPr>
          <p:cNvPr id="32" name="Picture 31" descr="lock.png"/>
          <p:cNvPicPr>
            <a:picLocks noChangeAspect="1"/>
          </p:cNvPicPr>
          <p:nvPr/>
        </p:nvPicPr>
        <p:blipFill>
          <a:blip r:embed="rId5"/>
          <a:stretch>
            <a:fillRect/>
          </a:stretch>
        </p:blipFill>
        <p:spPr>
          <a:xfrm>
            <a:off x="11612535" y="1565211"/>
            <a:ext cx="134549" cy="195707"/>
          </a:xfrm>
          <a:prstGeom prst="rect">
            <a:avLst/>
          </a:prstGeom>
        </p:spPr>
      </p:pic>
      <p:sp>
        <p:nvSpPr>
          <p:cNvPr id="33" name="TextBox 32"/>
          <p:cNvSpPr txBox="1"/>
          <p:nvPr/>
        </p:nvSpPr>
        <p:spPr>
          <a:xfrm>
            <a:off x="7829550"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4" name="TextBox 33"/>
          <p:cNvSpPr txBox="1"/>
          <p:nvPr/>
        </p:nvSpPr>
        <p:spPr>
          <a:xfrm>
            <a:off x="7829550" y="1978533"/>
            <a:ext cx="3649290"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a:t>
            </a:r>
          </a:p>
        </p:txBody>
      </p:sp>
      <p:sp>
        <p:nvSpPr>
          <p:cNvPr id="35" name="TextBox 34"/>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36" name="Picture 35" descr="lock.png"/>
          <p:cNvPicPr>
            <a:picLocks noChangeAspect="1"/>
          </p:cNvPicPr>
          <p:nvPr/>
        </p:nvPicPr>
        <p:blipFill>
          <a:blip r:embed="rId5"/>
          <a:stretch>
            <a:fillRect/>
          </a:stretch>
        </p:blipFill>
        <p:spPr>
          <a:xfrm>
            <a:off x="10943347" y="2143569"/>
            <a:ext cx="134549" cy="195707"/>
          </a:xfrm>
          <a:prstGeom prst="rect">
            <a:avLst/>
          </a:prstGeom>
        </p:spPr>
      </p:pic>
      <p:sp>
        <p:nvSpPr>
          <p:cNvPr id="37" name="TextBox 36"/>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38" name="TextBox 37"/>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39" name="Picture 38" descr="lock.png"/>
          <p:cNvPicPr>
            <a:picLocks noChangeAspect="1"/>
          </p:cNvPicPr>
          <p:nvPr/>
        </p:nvPicPr>
        <p:blipFill>
          <a:blip r:embed="rId5"/>
          <a:stretch>
            <a:fillRect/>
          </a:stretch>
        </p:blipFill>
        <p:spPr>
          <a:xfrm>
            <a:off x="8712947" y="2318829"/>
            <a:ext cx="134549" cy="195707"/>
          </a:xfrm>
          <a:prstGeom prst="rect">
            <a:avLst/>
          </a:prstGeom>
        </p:spPr>
      </p:pic>
      <p:sp>
        <p:nvSpPr>
          <p:cNvPr id="40" name="TextBox 39"/>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End User,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User segment categorizes the market by end user.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Academic &amp; Teaching Dental Instit…</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Laboratories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Clinics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Hospitals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User split shows how demand is distributed across end user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56_5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37_3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2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50_1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85_9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39_2_605E5C.png"/>
          <p:cNvPicPr>
            <a:picLocks noChangeAspect="1"/>
          </p:cNvPicPr>
          <p:nvPr/>
        </p:nvPicPr>
        <p:blipFill>
          <a:blip r:embed="rId10"/>
          <a:stretch>
            <a:fillRect/>
          </a:stretch>
        </p:blipFill>
        <p:spPr>
          <a:xfrm>
            <a:off x="7640751" y="2286582"/>
            <a:ext cx="982436" cy="361950"/>
          </a:xfrm>
          <a:prstGeom prst="rect">
            <a:avLst/>
          </a:prstGeom>
        </p:spPr>
      </p:pic>
      <p:pic>
        <p:nvPicPr>
          <p:cNvPr id="71" name="Picture 70" descr="57_0_605E5C.png"/>
          <p:cNvPicPr>
            <a:picLocks noChangeAspect="1"/>
          </p:cNvPicPr>
          <p:nvPr/>
        </p:nvPicPr>
        <p:blipFill>
          <a:blip r:embed="rId11"/>
          <a:stretch>
            <a:fillRect/>
          </a:stretch>
        </p:blipFill>
        <p:spPr>
          <a:xfrm>
            <a:off x="7640751" y="2779432"/>
            <a:ext cx="982436" cy="361950"/>
          </a:xfrm>
          <a:prstGeom prst="rect">
            <a:avLst/>
          </a:prstGeom>
        </p:spPr>
      </p:pic>
      <p:pic>
        <p:nvPicPr>
          <p:cNvPr id="72" name="Picture 71" descr="3_8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25_5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43_7_605E5C.png"/>
          <p:cNvPicPr>
            <a:picLocks noChangeAspect="1"/>
          </p:cNvPicPr>
          <p:nvPr/>
        </p:nvPicPr>
        <p:blipFill>
          <a:blip r:embed="rId14"/>
          <a:stretch>
            <a:fillRect/>
          </a:stretch>
        </p:blipFill>
        <p:spPr>
          <a:xfrm>
            <a:off x="10169638" y="2779432"/>
            <a:ext cx="982436" cy="361950"/>
          </a:xfrm>
          <a:prstGeom prst="rect">
            <a:avLst/>
          </a:prstGeom>
        </p:spPr>
      </p:pic>
      <p:pic>
        <p:nvPicPr>
          <p:cNvPr id="75" name="Picture 74" descr="5_5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end user,</a:t>
            </a:r>
          </a:p>
        </p:txBody>
      </p:sp>
      <p:sp>
        <p:nvSpPr>
          <p:cNvPr id="81" name="TextBox 80"/>
          <p:cNvSpPr txBox="1"/>
          <p:nvPr/>
        </p:nvSpPr>
        <p:spPr>
          <a:xfrm>
            <a:off x="485775" y="4397077"/>
            <a:ext cx="2788344" cy="186689"/>
          </a:xfrm>
          <a:prstGeom prst="rect">
            <a:avLst/>
          </a:prstGeom>
          <a:noFill/>
        </p:spPr>
        <p:txBody>
          <a:bodyPr wrap="none" lIns="0" rIns="0" tIns="0" bIns="0">
            <a:spAutoFit/>
          </a:bodyPr>
          <a:lstStyle/>
          <a:p>
            <a:r>
              <a:rPr sz="1100" b="0">
                <a:solidFill>
                  <a:srgbClr val="2E2E2E"/>
                </a:solidFill>
                <a:latin typeface="Calibri"/>
              </a:rPr>
              <a:t>dental hospitals segment is expected to witness</a:t>
            </a:r>
          </a:p>
        </p:txBody>
      </p:sp>
      <p:sp>
        <p:nvSpPr>
          <p:cNvPr id="82" name="TextBox 81"/>
          <p:cNvSpPr txBox="1"/>
          <p:nvPr/>
        </p:nvSpPr>
        <p:spPr>
          <a:xfrm>
            <a:off x="485775" y="456471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83" name="Picture 82" descr="lock.png"/>
          <p:cNvPicPr>
            <a:picLocks noChangeAspect="1"/>
          </p:cNvPicPr>
          <p:nvPr/>
        </p:nvPicPr>
        <p:blipFill>
          <a:blip r:embed="rId16"/>
          <a:stretch>
            <a:fillRect/>
          </a:stretch>
        </p:blipFill>
        <p:spPr>
          <a:xfrm>
            <a:off x="1646163" y="4554938"/>
            <a:ext cx="128699" cy="187198"/>
          </a:xfrm>
          <a:prstGeom prst="rect">
            <a:avLst/>
          </a:prstGeom>
        </p:spPr>
      </p:pic>
      <p:sp>
        <p:nvSpPr>
          <p:cNvPr id="84" name="TextBox 83"/>
          <p:cNvSpPr txBox="1"/>
          <p:nvPr/>
        </p:nvSpPr>
        <p:spPr>
          <a:xfrm>
            <a:off x="1813659" y="456471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85" name="TextBox 84"/>
          <p:cNvSpPr txBox="1"/>
          <p:nvPr/>
        </p:nvSpPr>
        <p:spPr>
          <a:xfrm>
            <a:off x="485775" y="4732357"/>
            <a:ext cx="2898849" cy="186689"/>
          </a:xfrm>
          <a:prstGeom prst="rect">
            <a:avLst/>
          </a:prstGeom>
          <a:noFill/>
        </p:spPr>
        <p:txBody>
          <a:bodyPr wrap="none" lIns="0" rIns="0" tIns="0" bIns="0">
            <a:spAutoFit/>
          </a:bodyPr>
          <a:lstStyle/>
          <a:p>
            <a:r>
              <a:rPr sz="1100" b="0">
                <a:solidFill>
                  <a:srgbClr val="2E2E2E"/>
                </a:solidFill>
                <a:latin typeface="Calibri"/>
              </a:rPr>
              <a:t>In terms of value share by end user, the academic</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&amp; teaching dental institutions segment is expected</a:t>
            </a:r>
          </a:p>
        </p:txBody>
      </p:sp>
      <p:sp>
        <p:nvSpPr>
          <p:cNvPr id="87" name="TextBox 86"/>
          <p:cNvSpPr txBox="1"/>
          <p:nvPr/>
        </p:nvSpPr>
        <p:spPr>
          <a:xfrm>
            <a:off x="485775" y="5067637"/>
            <a:ext cx="1912763" cy="186689"/>
          </a:xfrm>
          <a:prstGeom prst="rect">
            <a:avLst/>
          </a:prstGeom>
          <a:noFill/>
        </p:spPr>
        <p:txBody>
          <a:bodyPr wrap="none" lIns="0" rIns="0" tIns="0" bIns="0">
            <a:spAutoFit/>
          </a:bodyPr>
          <a:lstStyle/>
          <a:p>
            <a:r>
              <a:rPr sz="1100" b="0">
                <a:solidFill>
                  <a:srgbClr val="2E2E2E"/>
                </a:solidFill>
                <a:latin typeface="Calibri"/>
              </a:rPr>
              <a:t>to dominate the market, gaining</a:t>
            </a:r>
          </a:p>
        </p:txBody>
      </p:sp>
      <p:pic>
        <p:nvPicPr>
          <p:cNvPr id="88" name="Picture 87" descr="lock.png"/>
          <p:cNvPicPr>
            <a:picLocks noChangeAspect="1"/>
          </p:cNvPicPr>
          <p:nvPr/>
        </p:nvPicPr>
        <p:blipFill>
          <a:blip r:embed="rId16"/>
          <a:stretch>
            <a:fillRect/>
          </a:stretch>
        </p:blipFill>
        <p:spPr>
          <a:xfrm>
            <a:off x="2346590" y="5057858"/>
            <a:ext cx="128699" cy="187198"/>
          </a:xfrm>
          <a:prstGeom prst="rect">
            <a:avLst/>
          </a:prstGeom>
        </p:spPr>
      </p:pic>
      <p:sp>
        <p:nvSpPr>
          <p:cNvPr id="89" name="TextBox 88"/>
          <p:cNvSpPr txBox="1"/>
          <p:nvPr/>
        </p:nvSpPr>
        <p:spPr>
          <a:xfrm>
            <a:off x="2514086"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90" name="TextBox 89"/>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91" name="Picture 90" descr="lock.png"/>
          <p:cNvPicPr>
            <a:picLocks noChangeAspect="1"/>
          </p:cNvPicPr>
          <p:nvPr/>
        </p:nvPicPr>
        <p:blipFill>
          <a:blip r:embed="rId16"/>
          <a:stretch>
            <a:fillRect/>
          </a:stretch>
        </p:blipFill>
        <p:spPr>
          <a:xfrm>
            <a:off x="1330764" y="5225498"/>
            <a:ext cx="128699" cy="187198"/>
          </a:xfrm>
          <a:prstGeom prst="rect">
            <a:avLst/>
          </a:prstGeom>
        </p:spPr>
      </p:pic>
      <p:sp>
        <p:nvSpPr>
          <p:cNvPr id="92" name="TextBox 91"/>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535411" cy="186689"/>
          </a:xfrm>
          <a:prstGeom prst="rect">
            <a:avLst/>
          </a:prstGeom>
          <a:noFill/>
        </p:spPr>
        <p:txBody>
          <a:bodyPr wrap="none" lIns="0" rIns="0" tIns="0" bIns="0">
            <a:spAutoFit/>
          </a:bodyPr>
          <a:lstStyle/>
          <a:p>
            <a:r>
              <a:rPr sz="1100" b="0">
                <a:solidFill>
                  <a:srgbClr val="2E2E2E"/>
                </a:solidFill>
                <a:latin typeface="Calibri"/>
              </a:rPr>
              <a:t>▪ ¶ Academic &amp; teaching dental institutions</a:t>
            </a:r>
          </a:p>
        </p:txBody>
      </p:sp>
      <p:sp>
        <p:nvSpPr>
          <p:cNvPr id="94" name="TextBox 93"/>
          <p:cNvSpPr txBox="1"/>
          <p:nvPr/>
        </p:nvSpPr>
        <p:spPr>
          <a:xfrm>
            <a:off x="485775" y="5620849"/>
            <a:ext cx="1886024" cy="186689"/>
          </a:xfrm>
          <a:prstGeom prst="rect">
            <a:avLst/>
          </a:prstGeom>
          <a:noFill/>
        </p:spPr>
        <p:txBody>
          <a:bodyPr wrap="none" lIns="0" rIns="0" tIns="0" bIns="0">
            <a:spAutoFit/>
          </a:bodyPr>
          <a:lstStyle/>
          <a:p>
            <a:r>
              <a:rPr sz="1100" b="0">
                <a:solidFill>
                  <a:srgbClr val="2E2E2E"/>
                </a:solidFill>
                <a:latin typeface="Calibri"/>
              </a:rPr>
              <a:t>segment is projected to register</a:t>
            </a:r>
          </a:p>
        </p:txBody>
      </p:sp>
      <p:pic>
        <p:nvPicPr>
          <p:cNvPr id="95" name="Picture 94" descr="lock.png"/>
          <p:cNvPicPr>
            <a:picLocks noChangeAspect="1"/>
          </p:cNvPicPr>
          <p:nvPr/>
        </p:nvPicPr>
        <p:blipFill>
          <a:blip r:embed="rId16"/>
          <a:stretch>
            <a:fillRect/>
          </a:stretch>
        </p:blipFill>
        <p:spPr>
          <a:xfrm>
            <a:off x="2319851" y="5611070"/>
            <a:ext cx="128699" cy="187198"/>
          </a:xfrm>
          <a:prstGeom prst="rect">
            <a:avLst/>
          </a:prstGeom>
        </p:spPr>
      </p:pic>
      <p:sp>
        <p:nvSpPr>
          <p:cNvPr id="96" name="TextBox 95"/>
          <p:cNvSpPr txBox="1"/>
          <p:nvPr/>
        </p:nvSpPr>
        <p:spPr>
          <a:xfrm>
            <a:off x="2487346" y="5620849"/>
            <a:ext cx="880293" cy="186689"/>
          </a:xfrm>
          <a:prstGeom prst="rect">
            <a:avLst/>
          </a:prstGeom>
          <a:noFill/>
        </p:spPr>
        <p:txBody>
          <a:bodyPr wrap="none" lIns="0" rIns="0" tIns="0" bIns="0">
            <a:spAutoFit/>
          </a:bodyPr>
          <a:lstStyle/>
          <a:p>
            <a:r>
              <a:rPr sz="1100" b="0">
                <a:solidFill>
                  <a:srgbClr val="2E2E2E"/>
                </a:solidFill>
                <a:latin typeface="Calibri"/>
              </a:rPr>
              <a:t>X higher value</a:t>
            </a:r>
          </a:p>
        </p:txBody>
      </p:sp>
      <p:sp>
        <p:nvSpPr>
          <p:cNvPr id="97" name="TextBox 96"/>
          <p:cNvSpPr txBox="1"/>
          <p:nvPr/>
        </p:nvSpPr>
        <p:spPr>
          <a:xfrm>
            <a:off x="485775" y="5788489"/>
            <a:ext cx="2460922" cy="186689"/>
          </a:xfrm>
          <a:prstGeom prst="rect">
            <a:avLst/>
          </a:prstGeom>
          <a:noFill/>
        </p:spPr>
        <p:txBody>
          <a:bodyPr wrap="none" lIns="0" rIns="0" tIns="0" bIns="0">
            <a:spAutoFit/>
          </a:bodyPr>
          <a:lstStyle/>
          <a:p>
            <a:r>
              <a:rPr sz="1100" b="0">
                <a:solidFill>
                  <a:srgbClr val="2E2E2E"/>
                </a:solidFill>
                <a:latin typeface="Calibri"/>
              </a:rPr>
              <a:t>than dental laboratories segment in 2036.</a:t>
            </a:r>
          </a:p>
        </p:txBody>
      </p:sp>
      <p:sp>
        <p:nvSpPr>
          <p:cNvPr id="98" name="TextBox 97"/>
          <p:cNvSpPr txBox="1"/>
          <p:nvPr/>
        </p:nvSpPr>
        <p:spPr>
          <a:xfrm>
            <a:off x="3838575" y="4229437"/>
            <a:ext cx="2531045" cy="186689"/>
          </a:xfrm>
          <a:prstGeom prst="rect">
            <a:avLst/>
          </a:prstGeom>
          <a:noFill/>
        </p:spPr>
        <p:txBody>
          <a:bodyPr wrap="none" lIns="0" rIns="0" tIns="0" bIns="0">
            <a:spAutoFit/>
          </a:bodyPr>
          <a:lstStyle/>
          <a:p>
            <a:r>
              <a:rPr sz="1100" b="0">
                <a:solidFill>
                  <a:srgbClr val="2E2E2E"/>
                </a:solidFill>
                <a:latin typeface="Calibri"/>
              </a:rPr>
              <a:t>● Academic &amp; Teaching Dental Institutions:</a:t>
            </a:r>
          </a:p>
        </p:txBody>
      </p:sp>
      <p:pic>
        <p:nvPicPr>
          <p:cNvPr id="99" name="Picture 98" descr="lock.png"/>
          <p:cNvPicPr>
            <a:picLocks noChangeAspect="1"/>
          </p:cNvPicPr>
          <p:nvPr/>
        </p:nvPicPr>
        <p:blipFill>
          <a:blip r:embed="rId16"/>
          <a:stretch>
            <a:fillRect/>
          </a:stretch>
        </p:blipFill>
        <p:spPr>
          <a:xfrm>
            <a:off x="6317672" y="4219658"/>
            <a:ext cx="128699" cy="187198"/>
          </a:xfrm>
          <a:prstGeom prst="rect">
            <a:avLst/>
          </a:prstGeom>
        </p:spPr>
      </p:pic>
      <p:sp>
        <p:nvSpPr>
          <p:cNvPr id="100" name="TextBox 99"/>
          <p:cNvSpPr txBox="1"/>
          <p:nvPr/>
        </p:nvSpPr>
        <p:spPr>
          <a:xfrm>
            <a:off x="6485167"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6"/>
          <a:stretch>
            <a:fillRect/>
          </a:stretch>
        </p:blipFill>
        <p:spPr>
          <a:xfrm>
            <a:off x="7344618" y="4219658"/>
            <a:ext cx="128699" cy="187198"/>
          </a:xfrm>
          <a:prstGeom prst="rect">
            <a:avLst/>
          </a:prstGeom>
        </p:spPr>
      </p:pic>
      <p:sp>
        <p:nvSpPr>
          <p:cNvPr id="102" name="TextBox 101"/>
          <p:cNvSpPr txBox="1"/>
          <p:nvPr/>
        </p:nvSpPr>
        <p:spPr>
          <a:xfrm>
            <a:off x="3838575" y="439707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3" name="TextBox 102"/>
          <p:cNvSpPr txBox="1"/>
          <p:nvPr/>
        </p:nvSpPr>
        <p:spPr>
          <a:xfrm>
            <a:off x="3838575" y="4615009"/>
            <a:ext cx="1350143" cy="186689"/>
          </a:xfrm>
          <a:prstGeom prst="rect">
            <a:avLst/>
          </a:prstGeom>
          <a:noFill/>
        </p:spPr>
        <p:txBody>
          <a:bodyPr wrap="none" lIns="0" rIns="0" tIns="0" bIns="0">
            <a:spAutoFit/>
          </a:bodyPr>
          <a:lstStyle/>
          <a:p>
            <a:r>
              <a:rPr sz="1100" b="0">
                <a:solidFill>
                  <a:srgbClr val="2E2E2E"/>
                </a:solidFill>
                <a:latin typeface="Calibri"/>
              </a:rPr>
              <a:t>● Dental Laboratories:</a:t>
            </a:r>
          </a:p>
        </p:txBody>
      </p:sp>
      <p:pic>
        <p:nvPicPr>
          <p:cNvPr id="104" name="Picture 103" descr="lock.png"/>
          <p:cNvPicPr>
            <a:picLocks noChangeAspect="1"/>
          </p:cNvPicPr>
          <p:nvPr/>
        </p:nvPicPr>
        <p:blipFill>
          <a:blip r:embed="rId16"/>
          <a:stretch>
            <a:fillRect/>
          </a:stretch>
        </p:blipFill>
        <p:spPr>
          <a:xfrm>
            <a:off x="5136770" y="4605230"/>
            <a:ext cx="128699" cy="187198"/>
          </a:xfrm>
          <a:prstGeom prst="rect">
            <a:avLst/>
          </a:prstGeom>
        </p:spPr>
      </p:pic>
      <p:sp>
        <p:nvSpPr>
          <p:cNvPr id="105" name="TextBox 104"/>
          <p:cNvSpPr txBox="1"/>
          <p:nvPr/>
        </p:nvSpPr>
        <p:spPr>
          <a:xfrm>
            <a:off x="5304266"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6163716" y="4605230"/>
            <a:ext cx="128699" cy="187198"/>
          </a:xfrm>
          <a:prstGeom prst="rect">
            <a:avLst/>
          </a:prstGeom>
        </p:spPr>
      </p:pic>
      <p:sp>
        <p:nvSpPr>
          <p:cNvPr id="107" name="TextBox 106"/>
          <p:cNvSpPr txBox="1"/>
          <p:nvPr/>
        </p:nvSpPr>
        <p:spPr>
          <a:xfrm>
            <a:off x="6331212"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4832941"/>
            <a:ext cx="994345" cy="186689"/>
          </a:xfrm>
          <a:prstGeom prst="rect">
            <a:avLst/>
          </a:prstGeom>
          <a:noFill/>
        </p:spPr>
        <p:txBody>
          <a:bodyPr wrap="none" lIns="0" rIns="0" tIns="0" bIns="0">
            <a:spAutoFit/>
          </a:bodyPr>
          <a:lstStyle/>
          <a:p>
            <a:r>
              <a:rPr sz="1100" b="0">
                <a:solidFill>
                  <a:srgbClr val="2E2E2E"/>
                </a:solidFill>
                <a:latin typeface="Calibri"/>
              </a:rPr>
              <a:t>● Dental Clinics:</a:t>
            </a:r>
          </a:p>
        </p:txBody>
      </p:sp>
      <p:pic>
        <p:nvPicPr>
          <p:cNvPr id="109" name="Picture 108" descr="lock.png"/>
          <p:cNvPicPr>
            <a:picLocks noChangeAspect="1"/>
          </p:cNvPicPr>
          <p:nvPr/>
        </p:nvPicPr>
        <p:blipFill>
          <a:blip r:embed="rId16"/>
          <a:stretch>
            <a:fillRect/>
          </a:stretch>
        </p:blipFill>
        <p:spPr>
          <a:xfrm>
            <a:off x="4780972" y="4823162"/>
            <a:ext cx="128699" cy="187198"/>
          </a:xfrm>
          <a:prstGeom prst="rect">
            <a:avLst/>
          </a:prstGeom>
        </p:spPr>
      </p:pic>
      <p:sp>
        <p:nvSpPr>
          <p:cNvPr id="110" name="TextBox 109"/>
          <p:cNvSpPr txBox="1"/>
          <p:nvPr/>
        </p:nvSpPr>
        <p:spPr>
          <a:xfrm>
            <a:off x="494846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5807918" y="4823162"/>
            <a:ext cx="128699" cy="187198"/>
          </a:xfrm>
          <a:prstGeom prst="rect">
            <a:avLst/>
          </a:prstGeom>
        </p:spPr>
      </p:pic>
      <p:sp>
        <p:nvSpPr>
          <p:cNvPr id="112" name="TextBox 111"/>
          <p:cNvSpPr txBox="1"/>
          <p:nvPr/>
        </p:nvSpPr>
        <p:spPr>
          <a:xfrm>
            <a:off x="5975413"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3" name="TextBox 112"/>
          <p:cNvSpPr txBox="1"/>
          <p:nvPr/>
        </p:nvSpPr>
        <p:spPr>
          <a:xfrm>
            <a:off x="3838575" y="5050872"/>
            <a:ext cx="1157510" cy="186689"/>
          </a:xfrm>
          <a:prstGeom prst="rect">
            <a:avLst/>
          </a:prstGeom>
          <a:noFill/>
        </p:spPr>
        <p:txBody>
          <a:bodyPr wrap="none" lIns="0" rIns="0" tIns="0" bIns="0">
            <a:spAutoFit/>
          </a:bodyPr>
          <a:lstStyle/>
          <a:p>
            <a:r>
              <a:rPr sz="1100" b="0">
                <a:solidFill>
                  <a:srgbClr val="2E2E2E"/>
                </a:solidFill>
                <a:latin typeface="Calibri"/>
              </a:rPr>
              <a:t>● Dental Hospitals:</a:t>
            </a:r>
          </a:p>
        </p:txBody>
      </p:sp>
      <p:pic>
        <p:nvPicPr>
          <p:cNvPr id="114" name="Picture 113" descr="lock.png"/>
          <p:cNvPicPr>
            <a:picLocks noChangeAspect="1"/>
          </p:cNvPicPr>
          <p:nvPr/>
        </p:nvPicPr>
        <p:blipFill>
          <a:blip r:embed="rId16"/>
          <a:stretch>
            <a:fillRect/>
          </a:stretch>
        </p:blipFill>
        <p:spPr>
          <a:xfrm>
            <a:off x="4944137" y="5041093"/>
            <a:ext cx="128699" cy="187198"/>
          </a:xfrm>
          <a:prstGeom prst="rect">
            <a:avLst/>
          </a:prstGeom>
        </p:spPr>
      </p:pic>
      <p:sp>
        <p:nvSpPr>
          <p:cNvPr id="115" name="TextBox 114"/>
          <p:cNvSpPr txBox="1"/>
          <p:nvPr/>
        </p:nvSpPr>
        <p:spPr>
          <a:xfrm>
            <a:off x="5111633"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6" name="Picture 115" descr="lock.png"/>
          <p:cNvPicPr>
            <a:picLocks noChangeAspect="1"/>
          </p:cNvPicPr>
          <p:nvPr/>
        </p:nvPicPr>
        <p:blipFill>
          <a:blip r:embed="rId16"/>
          <a:stretch>
            <a:fillRect/>
          </a:stretch>
        </p:blipFill>
        <p:spPr>
          <a:xfrm>
            <a:off x="5971083" y="5041093"/>
            <a:ext cx="128699" cy="187198"/>
          </a:xfrm>
          <a:prstGeom prst="rect">
            <a:avLst/>
          </a:prstGeom>
        </p:spPr>
      </p:pic>
      <p:sp>
        <p:nvSpPr>
          <p:cNvPr id="117" name="TextBox 116"/>
          <p:cNvSpPr txBox="1"/>
          <p:nvPr/>
        </p:nvSpPr>
        <p:spPr>
          <a:xfrm>
            <a:off x="6138579" y="5050872"/>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8" name="TextBox 117"/>
          <p:cNvSpPr txBox="1"/>
          <p:nvPr/>
        </p:nvSpPr>
        <p:spPr>
          <a:xfrm>
            <a:off x="8524875" y="5842641"/>
            <a:ext cx="2939293" cy="194310"/>
          </a:xfrm>
          <a:prstGeom prst="rect">
            <a:avLst/>
          </a:prstGeom>
          <a:noFill/>
        </p:spPr>
        <p:txBody>
          <a:bodyPr wrap="none" lIns="0" rIns="0" tIns="0" bIns="0">
            <a:spAutoFit/>
          </a:bodyPr>
          <a:lstStyle/>
          <a:p>
            <a:r>
              <a:rPr sz="1150" b="1">
                <a:solidFill>
                  <a:srgbClr val="0B2E4A"/>
                </a:solidFill>
                <a:latin typeface="Calibri"/>
              </a:rPr>
              <a:t>The End User segment is projected to grow at a</a:t>
            </a:r>
          </a:p>
        </p:txBody>
      </p:sp>
      <p:sp>
        <p:nvSpPr>
          <p:cNvPr id="119" name="TextBox 118"/>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20" name="Picture 119" descr="lock.png"/>
          <p:cNvPicPr>
            <a:picLocks noChangeAspect="1"/>
          </p:cNvPicPr>
          <p:nvPr/>
        </p:nvPicPr>
        <p:blipFill>
          <a:blip r:embed="rId16"/>
          <a:stretch>
            <a:fillRect/>
          </a:stretch>
        </p:blipFill>
        <p:spPr>
          <a:xfrm>
            <a:off x="9048826" y="6007677"/>
            <a:ext cx="134549" cy="195707"/>
          </a:xfrm>
          <a:prstGeom prst="rect">
            <a:avLst/>
          </a:prstGeom>
        </p:spPr>
      </p:pic>
      <p:sp>
        <p:nvSpPr>
          <p:cNvPr id="121" name="TextBox 120"/>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End User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End User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End User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15911" cy="186689"/>
          </a:xfrm>
          <a:prstGeom prst="rect">
            <a:avLst/>
          </a:prstGeom>
          <a:noFill/>
        </p:spPr>
        <p:txBody>
          <a:bodyPr wrap="none" lIns="0" rIns="0" tIns="0" bIns="0">
            <a:spAutoFit/>
          </a:bodyPr>
          <a:lstStyle/>
          <a:p>
            <a:r>
              <a:rPr sz="1100" b="0">
                <a:solidFill>
                  <a:srgbClr val="2E2E2E"/>
                </a:solidFill>
                <a:latin typeface="Calibri"/>
              </a:rPr>
              <a:t>Academic &amp; teaching dental institutions followed by dental laboratories are expected to be the two most attractive end user segments in the North America removable partial dentures market in terms of</a:t>
            </a:r>
          </a:p>
        </p:txBody>
      </p:sp>
      <p:sp>
        <p:nvSpPr>
          <p:cNvPr id="21" name="TextBox 20"/>
          <p:cNvSpPr txBox="1"/>
          <p:nvPr/>
        </p:nvSpPr>
        <p:spPr>
          <a:xfrm>
            <a:off x="257175" y="5861685"/>
            <a:ext cx="6834170" cy="186689"/>
          </a:xfrm>
          <a:prstGeom prst="rect">
            <a:avLst/>
          </a:prstGeom>
          <a:noFill/>
        </p:spPr>
        <p:txBody>
          <a:bodyPr wrap="none" lIns="0" rIns="0" tIns="0" bIns="0">
            <a:spAutoFit/>
          </a:bodyPr>
          <a:lstStyle/>
          <a:p>
            <a:r>
              <a:rPr sz="1100" b="0">
                <a:solidFill>
                  <a:srgbClr val="2E2E2E"/>
                </a:solidFill>
                <a:latin typeface="Calibri"/>
              </a:rPr>
              <a:t>value over the forecast period. Academic &amp; teaching dental institutions and dental laboratories exhibit a CAGR index of</a:t>
            </a:r>
          </a:p>
        </p:txBody>
      </p:sp>
      <p:pic>
        <p:nvPicPr>
          <p:cNvPr id="22" name="Picture 21" descr="lock.png"/>
          <p:cNvPicPr>
            <a:picLocks noChangeAspect="1"/>
          </p:cNvPicPr>
          <p:nvPr/>
        </p:nvPicPr>
        <p:blipFill>
          <a:blip r:embed="rId6"/>
          <a:stretch>
            <a:fillRect/>
          </a:stretch>
        </p:blipFill>
        <p:spPr>
          <a:xfrm>
            <a:off x="7039397" y="5851905"/>
            <a:ext cx="128699" cy="187198"/>
          </a:xfrm>
          <a:prstGeom prst="rect">
            <a:avLst/>
          </a:prstGeom>
        </p:spPr>
      </p:pic>
      <p:sp>
        <p:nvSpPr>
          <p:cNvPr id="23" name="TextBox 22"/>
          <p:cNvSpPr txBox="1"/>
          <p:nvPr/>
        </p:nvSpPr>
        <p:spPr>
          <a:xfrm>
            <a:off x="720689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7444787" y="5851905"/>
            <a:ext cx="128699" cy="187198"/>
          </a:xfrm>
          <a:prstGeom prst="rect">
            <a:avLst/>
          </a:prstGeom>
        </p:spPr>
      </p:pic>
      <p:sp>
        <p:nvSpPr>
          <p:cNvPr id="25" name="TextBox 24"/>
          <p:cNvSpPr txBox="1"/>
          <p:nvPr/>
        </p:nvSpPr>
        <p:spPr>
          <a:xfrm>
            <a:off x="7612283"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9221256" y="5851905"/>
            <a:ext cx="128699" cy="187198"/>
          </a:xfrm>
          <a:prstGeom prst="rect">
            <a:avLst/>
          </a:prstGeom>
        </p:spPr>
      </p:pic>
      <p:sp>
        <p:nvSpPr>
          <p:cNvPr id="27" name="TextBox 26"/>
          <p:cNvSpPr txBox="1"/>
          <p:nvPr/>
        </p:nvSpPr>
        <p:spPr>
          <a:xfrm>
            <a:off x="938875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9626646" y="5851905"/>
            <a:ext cx="128699" cy="187198"/>
          </a:xfrm>
          <a:prstGeom prst="rect">
            <a:avLst/>
          </a:prstGeom>
        </p:spPr>
      </p:pic>
      <p:sp>
        <p:nvSpPr>
          <p:cNvPr id="29" name="TextBox 28"/>
          <p:cNvSpPr txBox="1"/>
          <p:nvPr/>
        </p:nvSpPr>
        <p:spPr>
          <a:xfrm>
            <a:off x="9794142" y="5861685"/>
            <a:ext cx="1453281" cy="186689"/>
          </a:xfrm>
          <a:prstGeom prst="rect">
            <a:avLst/>
          </a:prstGeom>
          <a:noFill/>
        </p:spPr>
        <p:txBody>
          <a:bodyPr wrap="none" lIns="0" rIns="0" tIns="0" bIns="0">
            <a:spAutoFit/>
          </a:bodyPr>
          <a:lstStyle/>
          <a:p>
            <a:r>
              <a:rPr sz="1100" b="0">
                <a:solidFill>
                  <a:srgbClr val="2E2E2E"/>
                </a:solidFill>
                <a:latin typeface="Calibri"/>
              </a:rPr>
              <a:t>respectively, against the</a:t>
            </a:r>
          </a:p>
        </p:txBody>
      </p:sp>
      <p:sp>
        <p:nvSpPr>
          <p:cNvPr id="30" name="TextBox 29"/>
          <p:cNvSpPr txBox="1"/>
          <p:nvPr/>
        </p:nvSpPr>
        <p:spPr>
          <a:xfrm>
            <a:off x="257175" y="6029325"/>
            <a:ext cx="1197619" cy="186689"/>
          </a:xfrm>
          <a:prstGeom prst="rect">
            <a:avLst/>
          </a:prstGeom>
          <a:noFill/>
        </p:spPr>
        <p:txBody>
          <a:bodyPr wrap="none" lIns="0" rIns="0" tIns="0" bIns="0">
            <a:spAutoFit/>
          </a:bodyPr>
          <a:lstStyle/>
          <a:p>
            <a:r>
              <a:rPr sz="1100" b="0">
                <a:solidFill>
                  <a:srgbClr val="2E2E2E"/>
                </a:solidFill>
                <a:latin typeface="Calibri"/>
              </a:rPr>
              <a:t>segment average of</a:t>
            </a:r>
          </a:p>
        </p:txBody>
      </p:sp>
      <p:pic>
        <p:nvPicPr>
          <p:cNvPr id="31" name="Picture 30" descr="lock.png"/>
          <p:cNvPicPr>
            <a:picLocks noChangeAspect="1"/>
          </p:cNvPicPr>
          <p:nvPr/>
        </p:nvPicPr>
        <p:blipFill>
          <a:blip r:embed="rId6"/>
          <a:stretch>
            <a:fillRect/>
          </a:stretch>
        </p:blipFill>
        <p:spPr>
          <a:xfrm>
            <a:off x="1402846" y="6019545"/>
            <a:ext cx="128699" cy="187198"/>
          </a:xfrm>
          <a:prstGeom prst="rect">
            <a:avLst/>
          </a:prstGeom>
        </p:spPr>
      </p:pic>
      <p:sp>
        <p:nvSpPr>
          <p:cNvPr id="32" name="TextBox 31"/>
          <p:cNvSpPr txBox="1"/>
          <p:nvPr/>
        </p:nvSpPr>
        <p:spPr>
          <a:xfrm>
            <a:off x="1570342" y="6029325"/>
            <a:ext cx="10333491" cy="186689"/>
          </a:xfrm>
          <a:prstGeom prst="rect">
            <a:avLst/>
          </a:prstGeom>
          <a:noFill/>
        </p:spPr>
        <p:txBody>
          <a:bodyPr wrap="none" lIns="0" rIns="0" tIns="0" bIns="0">
            <a:spAutoFit/>
          </a:bodyPr>
          <a:lstStyle/>
          <a:p>
            <a:r>
              <a:rPr sz="1100" b="0">
                <a:solidFill>
                  <a:srgbClr val="2E2E2E"/>
                </a:solidFill>
                <a:latin typeface="Calibri"/>
              </a:rPr>
              <a:t>. The dental clinics segment is expected to be less attractive as compared to other segments over the forecast period, owing to its lower CAGR and incremental opportunity. Bubbles</a:t>
            </a:r>
          </a:p>
        </p:txBody>
      </p:sp>
      <p:sp>
        <p:nvSpPr>
          <p:cNvPr id="33" name="TextBox 32"/>
          <p:cNvSpPr txBox="1"/>
          <p:nvPr/>
        </p:nvSpPr>
        <p:spPr>
          <a:xfrm>
            <a:off x="257175" y="6196965"/>
            <a:ext cx="3892557" cy="186689"/>
          </a:xfrm>
          <a:prstGeom prst="rect">
            <a:avLst/>
          </a:prstGeom>
          <a:noFill/>
        </p:spPr>
        <p:txBody>
          <a:bodyPr wrap="none" lIns="0" rIns="0" tIns="0" bIns="0">
            <a:spAutoFit/>
          </a:bodyPr>
          <a:lstStyle/>
          <a:p>
            <a:r>
              <a:rPr sz="1100" b="0">
                <a:solidFill>
                  <a:srgbClr val="2E2E2E"/>
                </a:solidFill>
                <a:latin typeface="Calibri"/>
              </a:rPr>
              <a:t>right 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Clinics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Hospitals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Laboratories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Academic &amp; Teaching Dental Institutions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End User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End User (Units)</a:t>
            </a:r>
          </a:p>
        </p:txBody>
      </p:sp>
      <p:graphicFrame>
        <p:nvGraphicFramePr>
          <p:cNvPr id="13" name="Table 12"/>
          <p:cNvGraphicFramePr>
            <a:graphicFrameLocks noGrp="1"/>
          </p:cNvGraphicFramePr>
          <p:nvPr/>
        </p:nvGraphicFramePr>
        <p:xfrm>
          <a:off x="152400" y="1238250"/>
          <a:ext cx="11887208" cy="20573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End User</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83">
                <a:tc>
                  <a:txBody>
                    <a:bodyPr wrap="none"/>
                    <a:lstStyle/>
                    <a:p>
                      <a:pPr algn="l"/>
                      <a:r>
                        <a:rPr sz="1100" b="1">
                          <a:solidFill>
                            <a:srgbClr val="2E2E2E"/>
                          </a:solidFill>
                          <a:latin typeface="Calibri"/>
                        </a:rPr>
                        <a:t>Dental Clinics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83">
                <a:tc>
                  <a:txBody>
                    <a:bodyPr wrap="none"/>
                    <a:lstStyle/>
                    <a:p>
                      <a:pPr algn="l"/>
                      <a:r>
                        <a:rPr sz="1100" b="1">
                          <a:solidFill>
                            <a:srgbClr val="2E2E2E"/>
                          </a:solidFill>
                          <a:latin typeface="Calibri"/>
                        </a:rPr>
                        <a:t>Dental Hospitals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83">
                <a:tc>
                  <a:txBody>
                    <a:bodyPr wrap="none"/>
                    <a:lstStyle/>
                    <a:p>
                      <a:pPr algn="l"/>
                      <a:r>
                        <a:rPr sz="1100" b="1">
                          <a:solidFill>
                            <a:srgbClr val="2E2E2E"/>
                          </a:solidFill>
                          <a:latin typeface="Calibri"/>
                        </a:rPr>
                        <a:t>Dental Laboratories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154">
                <a:tc>
                  <a:txBody>
                    <a:bodyPr wrap="none"/>
                    <a:lstStyle/>
                    <a:p>
                      <a:pPr algn="l"/>
                      <a:r>
                        <a:rPr sz="1100" b="1">
                          <a:solidFill>
                            <a:srgbClr val="2E2E2E"/>
                          </a:solidFill>
                          <a:latin typeface="Calibri"/>
                        </a:rPr>
                        <a:t>Academic &amp;</a:t>
                      </a:r>
                      <a:endParaRPr sz="1100"/>
                    </a:p>
                    <a:p>
                      <a:pPr algn="l"/>
                      <a:r>
                        <a:rPr sz="1100" b="1">
                          <a:solidFill>
                            <a:srgbClr val="2E2E2E"/>
                          </a:solidFill>
                          <a:latin typeface="Calibri"/>
                        </a:rPr>
                        <a:t>Teaching Dental</a:t>
                      </a:r>
                      <a:endParaRPr sz="1100"/>
                    </a:p>
                    <a:p>
                      <a:pPr algn="l"/>
                      <a:r>
                        <a:rPr sz="1100" b="1">
                          <a:solidFill>
                            <a:srgbClr val="2E2E2E"/>
                          </a:solidFill>
                          <a:latin typeface="Calibri"/>
                        </a:rPr>
                        <a:t>Institutions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83">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305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38550"/>
            <a:ext cx="11906250" cy="2990850"/>
          </a:xfrm>
          <a:prstGeom prst="roundRect">
            <a:avLst>
              <a:gd name="adj" fmla="val 25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24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End User</a:t>
            </a:r>
          </a:p>
        </p:txBody>
      </p:sp>
      <p:sp>
        <p:nvSpPr>
          <p:cNvPr id="17" name="Rectangle 16"/>
          <p:cNvSpPr/>
          <p:nvPr/>
        </p:nvSpPr>
        <p:spPr>
          <a:xfrm>
            <a:off x="276225" y="3962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048125"/>
            <a:ext cx="11639550" cy="2505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219705"/>
            <a:ext cx="366712" cy="533400"/>
          </a:xfrm>
          <a:prstGeom prst="rect">
            <a:avLst/>
          </a:prstGeom>
        </p:spPr>
      </p:pic>
      <p:sp>
        <p:nvSpPr>
          <p:cNvPr id="21" name="TextBox 20"/>
          <p:cNvSpPr txBox="1"/>
          <p:nvPr/>
        </p:nvSpPr>
        <p:spPr>
          <a:xfrm>
            <a:off x="276225" y="4057650"/>
            <a:ext cx="3145246" cy="194310"/>
          </a:xfrm>
          <a:prstGeom prst="rect">
            <a:avLst/>
          </a:prstGeom>
          <a:noFill/>
        </p:spPr>
        <p:txBody>
          <a:bodyPr wrap="none" lIns="0" rIns="0" tIns="0" bIns="0">
            <a:spAutoFit/>
          </a:bodyPr>
          <a:lstStyle/>
          <a:p>
            <a:r>
              <a:rPr sz="1150" b="0">
                <a:solidFill>
                  <a:srgbClr val="2E2E2E"/>
                </a:solidFill>
                <a:latin typeface="Calibri"/>
              </a:rPr>
              <a:t>Dental laboratories segment is projected to register</a:t>
            </a:r>
          </a:p>
        </p:txBody>
      </p:sp>
      <p:pic>
        <p:nvPicPr>
          <p:cNvPr id="22" name="Picture 21" descr="lock.png"/>
          <p:cNvPicPr>
            <a:picLocks noChangeAspect="1"/>
          </p:cNvPicPr>
          <p:nvPr/>
        </p:nvPicPr>
        <p:blipFill>
          <a:blip r:embed="rId4"/>
          <a:stretch>
            <a:fillRect/>
          </a:stretch>
        </p:blipFill>
        <p:spPr>
          <a:xfrm>
            <a:off x="3370625" y="4047426"/>
            <a:ext cx="134549" cy="195707"/>
          </a:xfrm>
          <a:prstGeom prst="rect">
            <a:avLst/>
          </a:prstGeom>
        </p:spPr>
      </p:pic>
      <p:sp>
        <p:nvSpPr>
          <p:cNvPr id="23" name="TextBox 22"/>
          <p:cNvSpPr txBox="1"/>
          <p:nvPr/>
        </p:nvSpPr>
        <p:spPr>
          <a:xfrm>
            <a:off x="3545734" y="4057650"/>
            <a:ext cx="8072722" cy="194310"/>
          </a:xfrm>
          <a:prstGeom prst="rect">
            <a:avLst/>
          </a:prstGeom>
          <a:noFill/>
        </p:spPr>
        <p:txBody>
          <a:bodyPr wrap="none" lIns="0" rIns="0" tIns="0" bIns="0">
            <a:spAutoFit/>
          </a:bodyPr>
          <a:lstStyle/>
          <a:p>
            <a:r>
              <a:rPr sz="1150" b="0">
                <a:solidFill>
                  <a:srgbClr val="2E2E2E"/>
                </a:solidFill>
                <a:latin typeface="Calibri"/>
              </a:rPr>
              <a:t>X higher volume than academic &amp; teaching dental institutions segment in 2036. Among removable partial dentures by end user, dental</a:t>
            </a:r>
          </a:p>
        </p:txBody>
      </p:sp>
      <p:sp>
        <p:nvSpPr>
          <p:cNvPr id="24" name="TextBox 23"/>
          <p:cNvSpPr txBox="1"/>
          <p:nvPr/>
        </p:nvSpPr>
        <p:spPr>
          <a:xfrm>
            <a:off x="276225" y="42329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4222686"/>
            <a:ext cx="134549" cy="195707"/>
          </a:xfrm>
          <a:prstGeom prst="rect">
            <a:avLst/>
          </a:prstGeom>
        </p:spPr>
      </p:pic>
      <p:sp>
        <p:nvSpPr>
          <p:cNvPr id="26" name="TextBox 25"/>
          <p:cNvSpPr txBox="1"/>
          <p:nvPr/>
        </p:nvSpPr>
        <p:spPr>
          <a:xfrm>
            <a:off x="4121074" y="42329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460747"/>
            <a:ext cx="6839855" cy="194310"/>
          </a:xfrm>
          <a:prstGeom prst="rect">
            <a:avLst/>
          </a:prstGeom>
          <a:noFill/>
        </p:spPr>
        <p:txBody>
          <a:bodyPr wrap="none" lIns="0" rIns="0" tIns="0" bIns="0">
            <a:spAutoFit/>
          </a:bodyPr>
          <a:lstStyle/>
          <a:p>
            <a:r>
              <a:rPr sz="1150" b="0">
                <a:solidFill>
                  <a:srgbClr val="2E2E2E"/>
                </a:solidFill>
                <a:latin typeface="Calibri"/>
              </a:rPr>
              <a:t>In terms of volume share by end user, the dental laboratories segment is expected to dominate the market, losing</a:t>
            </a:r>
          </a:p>
        </p:txBody>
      </p:sp>
      <p:pic>
        <p:nvPicPr>
          <p:cNvPr id="28" name="Picture 27" descr="lock.png"/>
          <p:cNvPicPr>
            <a:picLocks noChangeAspect="1"/>
          </p:cNvPicPr>
          <p:nvPr/>
        </p:nvPicPr>
        <p:blipFill>
          <a:blip r:embed="rId4"/>
          <a:stretch>
            <a:fillRect/>
          </a:stretch>
        </p:blipFill>
        <p:spPr>
          <a:xfrm>
            <a:off x="7065234" y="4450524"/>
            <a:ext cx="134549" cy="195707"/>
          </a:xfrm>
          <a:prstGeom prst="rect">
            <a:avLst/>
          </a:prstGeom>
        </p:spPr>
      </p:pic>
      <p:sp>
        <p:nvSpPr>
          <p:cNvPr id="29" name="TextBox 28"/>
          <p:cNvSpPr txBox="1"/>
          <p:nvPr/>
        </p:nvSpPr>
        <p:spPr>
          <a:xfrm>
            <a:off x="7240343" y="44607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35486" y="4450524"/>
            <a:ext cx="134549" cy="195707"/>
          </a:xfrm>
          <a:prstGeom prst="rect">
            <a:avLst/>
          </a:prstGeom>
        </p:spPr>
      </p:pic>
      <p:sp>
        <p:nvSpPr>
          <p:cNvPr id="31" name="TextBox 30"/>
          <p:cNvSpPr txBox="1"/>
          <p:nvPr/>
        </p:nvSpPr>
        <p:spPr>
          <a:xfrm>
            <a:off x="8810596" y="44607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End User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End User (US$ Mn)</a:t>
            </a:r>
          </a:p>
        </p:txBody>
      </p:sp>
      <p:graphicFrame>
        <p:nvGraphicFramePr>
          <p:cNvPr id="13" name="Table 12"/>
          <p:cNvGraphicFramePr>
            <a:graphicFrameLocks noGrp="1"/>
          </p:cNvGraphicFramePr>
          <p:nvPr/>
        </p:nvGraphicFramePr>
        <p:xfrm>
          <a:off x="152400" y="1238250"/>
          <a:ext cx="11887196" cy="1485896"/>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End User</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27480" y="1837563"/>
            <a:ext cx="366712" cy="533400"/>
          </a:xfrm>
          <a:prstGeom prst="rect">
            <a:avLst/>
          </a:prstGeom>
        </p:spPr>
      </p:pic>
      <p:sp>
        <p:nvSpPr>
          <p:cNvPr id="21" name="TextBox 20"/>
          <p:cNvSpPr txBox="1"/>
          <p:nvPr/>
        </p:nvSpPr>
        <p:spPr>
          <a:xfrm>
            <a:off x="276225" y="3486150"/>
            <a:ext cx="4368986" cy="194310"/>
          </a:xfrm>
          <a:prstGeom prst="rect">
            <a:avLst/>
          </a:prstGeom>
          <a:noFill/>
        </p:spPr>
        <p:txBody>
          <a:bodyPr wrap="none" lIns="0" rIns="0" tIns="0" bIns="0">
            <a:spAutoFit/>
          </a:bodyPr>
          <a:lstStyle/>
          <a:p>
            <a:r>
              <a:rPr sz="1150" b="0">
                <a:solidFill>
                  <a:srgbClr val="2E2E2E"/>
                </a:solidFill>
                <a:latin typeface="Calibri"/>
              </a:rPr>
              <a:t>Academic &amp; teaching dental institutions segment is projected to register</a:t>
            </a:r>
          </a:p>
        </p:txBody>
      </p:sp>
      <p:pic>
        <p:nvPicPr>
          <p:cNvPr id="22" name="Picture 21" descr="lock.png"/>
          <p:cNvPicPr>
            <a:picLocks noChangeAspect="1"/>
          </p:cNvPicPr>
          <p:nvPr/>
        </p:nvPicPr>
        <p:blipFill>
          <a:blip r:embed="rId4"/>
          <a:stretch>
            <a:fillRect/>
          </a:stretch>
        </p:blipFill>
        <p:spPr>
          <a:xfrm>
            <a:off x="4594364" y="3475926"/>
            <a:ext cx="134549" cy="195707"/>
          </a:xfrm>
          <a:prstGeom prst="rect">
            <a:avLst/>
          </a:prstGeom>
        </p:spPr>
      </p:pic>
      <p:sp>
        <p:nvSpPr>
          <p:cNvPr id="23" name="TextBox 22"/>
          <p:cNvSpPr txBox="1"/>
          <p:nvPr/>
        </p:nvSpPr>
        <p:spPr>
          <a:xfrm>
            <a:off x="4769474" y="3486150"/>
            <a:ext cx="6726609" cy="194310"/>
          </a:xfrm>
          <a:prstGeom prst="rect">
            <a:avLst/>
          </a:prstGeom>
          <a:noFill/>
        </p:spPr>
        <p:txBody>
          <a:bodyPr wrap="none" lIns="0" rIns="0" tIns="0" bIns="0">
            <a:spAutoFit/>
          </a:bodyPr>
          <a:lstStyle/>
          <a:p>
            <a:r>
              <a:rPr sz="1150" b="0">
                <a:solidFill>
                  <a:srgbClr val="2E2E2E"/>
                </a:solidFill>
                <a:latin typeface="Calibri"/>
              </a:rPr>
              <a:t>X higher value than dental laboratories segment in 2036. Among removable partial dentures by end user, dental</a:t>
            </a:r>
          </a:p>
        </p:txBody>
      </p:sp>
      <p:sp>
        <p:nvSpPr>
          <p:cNvPr id="24" name="TextBox 23"/>
          <p:cNvSpPr txBox="1"/>
          <p:nvPr/>
        </p:nvSpPr>
        <p:spPr>
          <a:xfrm>
            <a:off x="276225" y="36614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3651186"/>
            <a:ext cx="134549" cy="195707"/>
          </a:xfrm>
          <a:prstGeom prst="rect">
            <a:avLst/>
          </a:prstGeom>
        </p:spPr>
      </p:pic>
      <p:sp>
        <p:nvSpPr>
          <p:cNvPr id="26" name="TextBox 25"/>
          <p:cNvSpPr txBox="1"/>
          <p:nvPr/>
        </p:nvSpPr>
        <p:spPr>
          <a:xfrm>
            <a:off x="4121074"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8019665" cy="194310"/>
          </a:xfrm>
          <a:prstGeom prst="rect">
            <a:avLst/>
          </a:prstGeom>
          <a:noFill/>
        </p:spPr>
        <p:txBody>
          <a:bodyPr wrap="none" lIns="0" rIns="0" tIns="0" bIns="0">
            <a:spAutoFit/>
          </a:bodyPr>
          <a:lstStyle/>
          <a:p>
            <a:r>
              <a:rPr sz="1150" b="0">
                <a:solidFill>
                  <a:srgbClr val="2E2E2E"/>
                </a:solidFill>
                <a:latin typeface="Calibri"/>
              </a:rPr>
              <a:t>In terms of value share by end user, the academic &amp; teaching dental institutions segment is expected to dominate the market, gaining</a:t>
            </a:r>
          </a:p>
        </p:txBody>
      </p:sp>
      <p:pic>
        <p:nvPicPr>
          <p:cNvPr id="28" name="Picture 27" descr="lock.png"/>
          <p:cNvPicPr>
            <a:picLocks noChangeAspect="1"/>
          </p:cNvPicPr>
          <p:nvPr/>
        </p:nvPicPr>
        <p:blipFill>
          <a:blip r:embed="rId4"/>
          <a:stretch>
            <a:fillRect/>
          </a:stretch>
        </p:blipFill>
        <p:spPr>
          <a:xfrm>
            <a:off x="8245044" y="3879024"/>
            <a:ext cx="134549" cy="195707"/>
          </a:xfrm>
          <a:prstGeom prst="rect">
            <a:avLst/>
          </a:prstGeom>
        </p:spPr>
      </p:pic>
      <p:sp>
        <p:nvSpPr>
          <p:cNvPr id="29" name="TextBox 28"/>
          <p:cNvSpPr txBox="1"/>
          <p:nvPr/>
        </p:nvSpPr>
        <p:spPr>
          <a:xfrm>
            <a:off x="8420153"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15296" y="3879024"/>
            <a:ext cx="134549" cy="195707"/>
          </a:xfrm>
          <a:prstGeom prst="rect">
            <a:avLst/>
          </a:prstGeom>
        </p:spPr>
      </p:pic>
      <p:sp>
        <p:nvSpPr>
          <p:cNvPr id="31" name="TextBox 30"/>
          <p:cNvSpPr txBox="1"/>
          <p:nvPr/>
        </p:nvSpPr>
        <p:spPr>
          <a:xfrm>
            <a:off x="9990406" y="3889247"/>
            <a:ext cx="1612007" cy="194310"/>
          </a:xfrm>
          <a:prstGeom prst="rect">
            <a:avLst/>
          </a:prstGeom>
          <a:noFill/>
        </p:spPr>
        <p:txBody>
          <a:bodyPr wrap="none" lIns="0" rIns="0" tIns="0" bIns="0">
            <a:spAutoFit/>
          </a:bodyPr>
          <a:lstStyle/>
          <a:p>
            <a:r>
              <a:rPr sz="1150" b="0">
                <a:solidFill>
                  <a:srgbClr val="2E2E2E"/>
                </a:solidFill>
                <a:latin typeface="Calibri"/>
              </a:rPr>
              <a:t>share by 2036. The dental</a:t>
            </a:r>
          </a:p>
        </p:txBody>
      </p:sp>
      <p:sp>
        <p:nvSpPr>
          <p:cNvPr id="32" name="TextBox 31"/>
          <p:cNvSpPr txBox="1"/>
          <p:nvPr/>
        </p:nvSpPr>
        <p:spPr>
          <a:xfrm>
            <a:off x="276225" y="4064507"/>
            <a:ext cx="2477467" cy="194310"/>
          </a:xfrm>
          <a:prstGeom prst="rect">
            <a:avLst/>
          </a:prstGeom>
          <a:noFill/>
        </p:spPr>
        <p:txBody>
          <a:bodyPr wrap="none" lIns="0" rIns="0" tIns="0" bIns="0">
            <a:spAutoFit/>
          </a:bodyPr>
          <a:lstStyle/>
          <a:p>
            <a:r>
              <a:rPr sz="1150" b="0">
                <a:solidFill>
                  <a:srgbClr val="2E2E2E"/>
                </a:solidFill>
                <a:latin typeface="Calibri"/>
              </a:rPr>
              <a:t>laboratories segment is expected to lose</a:t>
            </a:r>
          </a:p>
        </p:txBody>
      </p:sp>
      <p:pic>
        <p:nvPicPr>
          <p:cNvPr id="33" name="Picture 32" descr="lock.png"/>
          <p:cNvPicPr>
            <a:picLocks noChangeAspect="1"/>
          </p:cNvPicPr>
          <p:nvPr/>
        </p:nvPicPr>
        <p:blipFill>
          <a:blip r:embed="rId4"/>
          <a:stretch>
            <a:fillRect/>
          </a:stretch>
        </p:blipFill>
        <p:spPr>
          <a:xfrm>
            <a:off x="2702846" y="4054284"/>
            <a:ext cx="134549" cy="195707"/>
          </a:xfrm>
          <a:prstGeom prst="rect">
            <a:avLst/>
          </a:prstGeom>
        </p:spPr>
      </p:pic>
      <p:sp>
        <p:nvSpPr>
          <p:cNvPr id="34" name="TextBox 33"/>
          <p:cNvSpPr txBox="1"/>
          <p:nvPr/>
        </p:nvSpPr>
        <p:spPr>
          <a:xfrm>
            <a:off x="2877955" y="40645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5465460" y="4054284"/>
            <a:ext cx="134549" cy="195707"/>
          </a:xfrm>
          <a:prstGeom prst="rect">
            <a:avLst/>
          </a:prstGeom>
        </p:spPr>
      </p:pic>
      <p:sp>
        <p:nvSpPr>
          <p:cNvPr id="36" name="TextBox 35"/>
          <p:cNvSpPr txBox="1"/>
          <p:nvPr/>
        </p:nvSpPr>
        <p:spPr>
          <a:xfrm>
            <a:off x="5640569" y="40645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End User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End User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6182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5706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8086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Hospitals</a:t>
            </a:r>
          </a:p>
        </p:txBody>
      </p:sp>
      <p:sp>
        <p:nvSpPr>
          <p:cNvPr id="19" name="BPS Value 1"/>
          <p:cNvSpPr txBox="1"/>
          <p:nvPr/>
        </p:nvSpPr>
        <p:spPr>
          <a:xfrm>
            <a:off x="6896100" y="184277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30129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965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2203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Clinics</a:t>
            </a:r>
          </a:p>
        </p:txBody>
      </p:sp>
      <p:sp>
        <p:nvSpPr>
          <p:cNvPr id="23" name="BPS Value 2"/>
          <p:cNvSpPr txBox="1"/>
          <p:nvPr/>
        </p:nvSpPr>
        <p:spPr>
          <a:xfrm>
            <a:off x="6896100" y="228224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3615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35678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805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Laboratories</a:t>
            </a:r>
          </a:p>
        </p:txBody>
      </p:sp>
      <p:sp>
        <p:nvSpPr>
          <p:cNvPr id="27" name="BPS Value 3"/>
          <p:cNvSpPr txBox="1"/>
          <p:nvPr/>
        </p:nvSpPr>
        <p:spPr>
          <a:xfrm>
            <a:off x="6896100" y="334250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20827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0351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273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Academic &amp; Teaching Dental Institutions</a:t>
            </a:r>
          </a:p>
        </p:txBody>
      </p:sp>
      <p:sp>
        <p:nvSpPr>
          <p:cNvPr id="31" name="BPS Value 4"/>
          <p:cNvSpPr txBox="1"/>
          <p:nvPr/>
        </p:nvSpPr>
        <p:spPr>
          <a:xfrm>
            <a:off x="6896100" y="518922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End User</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890615" cy="194310"/>
          </a:xfrm>
          <a:prstGeom prst="rect">
            <a:avLst/>
          </a:prstGeom>
          <a:noFill/>
        </p:spPr>
        <p:txBody>
          <a:bodyPr wrap="none" lIns="0" rIns="0" tIns="0" bIns="0">
            <a:spAutoFit/>
          </a:bodyPr>
          <a:lstStyle/>
          <a:p>
            <a:r>
              <a:rPr sz="1150" b="0">
                <a:solidFill>
                  <a:srgbClr val="2E2E2E"/>
                </a:solidFill>
                <a:latin typeface="Calibri"/>
              </a:rPr>
              <a:t>Among removable partial dentures by end user, dental hospitals</a:t>
            </a:r>
          </a:p>
        </p:txBody>
      </p:sp>
      <p:sp>
        <p:nvSpPr>
          <p:cNvPr id="39" name="TextBox 38"/>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40" name="Picture 39" descr="lock.png"/>
          <p:cNvPicPr>
            <a:picLocks noChangeAspect="1"/>
          </p:cNvPicPr>
          <p:nvPr/>
        </p:nvPicPr>
        <p:blipFill>
          <a:blip r:embed="rId5"/>
          <a:stretch>
            <a:fillRect/>
          </a:stretch>
        </p:blipFill>
        <p:spPr>
          <a:xfrm>
            <a:off x="10935343" y="1565211"/>
            <a:ext cx="134549" cy="195707"/>
          </a:xfrm>
          <a:prstGeom prst="rect">
            <a:avLst/>
          </a:prstGeom>
        </p:spPr>
      </p:pic>
      <p:sp>
        <p:nvSpPr>
          <p:cNvPr id="41" name="TextBox 40"/>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2" name="TextBox 41"/>
          <p:cNvSpPr txBox="1"/>
          <p:nvPr/>
        </p:nvSpPr>
        <p:spPr>
          <a:xfrm>
            <a:off x="7829550" y="1750695"/>
            <a:ext cx="4001293" cy="194310"/>
          </a:xfrm>
          <a:prstGeom prst="rect">
            <a:avLst/>
          </a:prstGeom>
          <a:noFill/>
        </p:spPr>
        <p:txBody>
          <a:bodyPr wrap="none" lIns="0" rIns="0" tIns="0" bIns="0">
            <a:spAutoFit/>
          </a:bodyPr>
          <a:lstStyle/>
          <a:p>
            <a:r>
              <a:rPr sz="1150" b="0">
                <a:solidFill>
                  <a:srgbClr val="2E2E2E"/>
                </a:solidFill>
                <a:latin typeface="Calibri"/>
              </a:rPr>
              <a:t>forecast period. In terms of value share by end user, the academic</a:t>
            </a:r>
          </a:p>
        </p:txBody>
      </p:sp>
      <p:sp>
        <p:nvSpPr>
          <p:cNvPr id="43" name="TextBox 42"/>
          <p:cNvSpPr txBox="1"/>
          <p:nvPr/>
        </p:nvSpPr>
        <p:spPr>
          <a:xfrm>
            <a:off x="7829550" y="1925955"/>
            <a:ext cx="4057650" cy="194310"/>
          </a:xfrm>
          <a:prstGeom prst="rect">
            <a:avLst/>
          </a:prstGeom>
          <a:noFill/>
        </p:spPr>
        <p:txBody>
          <a:bodyPr wrap="none" lIns="0" rIns="0" tIns="0" bIns="0">
            <a:spAutoFit/>
          </a:bodyPr>
          <a:lstStyle/>
          <a:p>
            <a:r>
              <a:rPr sz="1150" b="0">
                <a:solidFill>
                  <a:srgbClr val="2E2E2E"/>
                </a:solidFill>
                <a:latin typeface="Calibri"/>
              </a:rPr>
              <a:t>&amp; teaching dental institutions segment is expected to dominate the</a:t>
            </a:r>
          </a:p>
        </p:txBody>
      </p:sp>
      <p:sp>
        <p:nvSpPr>
          <p:cNvPr id="44" name="TextBox 43"/>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45" name="Picture 44" descr="lock.png"/>
          <p:cNvPicPr>
            <a:picLocks noChangeAspect="1"/>
          </p:cNvPicPr>
          <p:nvPr/>
        </p:nvPicPr>
        <p:blipFill>
          <a:blip r:embed="rId5"/>
          <a:stretch>
            <a:fillRect/>
          </a:stretch>
        </p:blipFill>
        <p:spPr>
          <a:xfrm>
            <a:off x="8778556" y="2090991"/>
            <a:ext cx="134549" cy="195707"/>
          </a:xfrm>
          <a:prstGeom prst="rect">
            <a:avLst/>
          </a:prstGeom>
        </p:spPr>
      </p:pic>
      <p:sp>
        <p:nvSpPr>
          <p:cNvPr id="46" name="TextBox 45"/>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0348808" y="2090991"/>
            <a:ext cx="134549" cy="195707"/>
          </a:xfrm>
          <a:prstGeom prst="rect">
            <a:avLst/>
          </a:prstGeom>
        </p:spPr>
      </p:pic>
      <p:sp>
        <p:nvSpPr>
          <p:cNvPr id="48" name="TextBox 47"/>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329053"/>
            <a:ext cx="3143250" cy="194310"/>
          </a:xfrm>
          <a:prstGeom prst="rect">
            <a:avLst/>
          </a:prstGeom>
          <a:noFill/>
        </p:spPr>
        <p:txBody>
          <a:bodyPr wrap="none" lIns="0" rIns="0" tIns="0" bIns="0">
            <a:spAutoFit/>
          </a:bodyPr>
          <a:lstStyle/>
          <a:p>
            <a:r>
              <a:rPr sz="1150" b="0">
                <a:solidFill>
                  <a:srgbClr val="2E2E2E"/>
                </a:solidFill>
                <a:latin typeface="Calibri"/>
              </a:rPr>
              <a:t>The dental laboratories segment is expected to lose</a:t>
            </a:r>
          </a:p>
        </p:txBody>
      </p:sp>
      <p:pic>
        <p:nvPicPr>
          <p:cNvPr id="50" name="Picture 49" descr="lock.png"/>
          <p:cNvPicPr>
            <a:picLocks noChangeAspect="1"/>
          </p:cNvPicPr>
          <p:nvPr/>
        </p:nvPicPr>
        <p:blipFill>
          <a:blip r:embed="rId5"/>
          <a:stretch>
            <a:fillRect/>
          </a:stretch>
        </p:blipFill>
        <p:spPr>
          <a:xfrm>
            <a:off x="10921953" y="2318829"/>
            <a:ext cx="134549" cy="195707"/>
          </a:xfrm>
          <a:prstGeom prst="rect">
            <a:avLst/>
          </a:prstGeom>
        </p:spPr>
      </p:pic>
      <p:sp>
        <p:nvSpPr>
          <p:cNvPr id="51" name="TextBox 50"/>
          <p:cNvSpPr txBox="1"/>
          <p:nvPr/>
        </p:nvSpPr>
        <p:spPr>
          <a:xfrm>
            <a:off x="11097063" y="2329053"/>
            <a:ext cx="598214" cy="194310"/>
          </a:xfrm>
          <a:prstGeom prst="rect">
            <a:avLst/>
          </a:prstGeom>
          <a:noFill/>
        </p:spPr>
        <p:txBody>
          <a:bodyPr wrap="none" lIns="0" rIns="0" tIns="0" bIns="0">
            <a:spAutoFit/>
          </a:bodyPr>
          <a:lstStyle/>
          <a:p>
            <a:r>
              <a:rPr sz="1150" b="0">
                <a:solidFill>
                  <a:srgbClr val="2E2E2E"/>
                </a:solidFill>
                <a:latin typeface="Calibri"/>
              </a:rPr>
              <a:t>BPS over</a:t>
            </a:r>
          </a:p>
        </p:txBody>
      </p:sp>
      <p:sp>
        <p:nvSpPr>
          <p:cNvPr id="52" name="TextBox 51"/>
          <p:cNvSpPr txBox="1"/>
          <p:nvPr/>
        </p:nvSpPr>
        <p:spPr>
          <a:xfrm>
            <a:off x="7829550" y="2504313"/>
            <a:ext cx="2083246" cy="194310"/>
          </a:xfrm>
          <a:prstGeom prst="rect">
            <a:avLst/>
          </a:prstGeom>
          <a:noFill/>
        </p:spPr>
        <p:txBody>
          <a:bodyPr wrap="none" lIns="0" rIns="0" tIns="0" bIns="0">
            <a:spAutoFit/>
          </a:bodyPr>
          <a:lstStyle/>
          <a:p>
            <a:r>
              <a:rPr sz="1150" b="0">
                <a:solidFill>
                  <a:srgbClr val="2E2E2E"/>
                </a:solidFill>
                <a:latin typeface="Calibri"/>
              </a:rPr>
              <a:t>the forecast period to account for</a:t>
            </a:r>
          </a:p>
        </p:txBody>
      </p:sp>
      <p:pic>
        <p:nvPicPr>
          <p:cNvPr id="53" name="Picture 52" descr="lock.png"/>
          <p:cNvPicPr>
            <a:picLocks noChangeAspect="1"/>
          </p:cNvPicPr>
          <p:nvPr/>
        </p:nvPicPr>
        <p:blipFill>
          <a:blip r:embed="rId5"/>
          <a:stretch>
            <a:fillRect/>
          </a:stretch>
        </p:blipFill>
        <p:spPr>
          <a:xfrm>
            <a:off x="9861950" y="2494089"/>
            <a:ext cx="134549" cy="195707"/>
          </a:xfrm>
          <a:prstGeom prst="rect">
            <a:avLst/>
          </a:prstGeom>
        </p:spPr>
      </p:pic>
      <p:sp>
        <p:nvSpPr>
          <p:cNvPr id="54" name="TextBox 53"/>
          <p:cNvSpPr txBox="1"/>
          <p:nvPr/>
        </p:nvSpPr>
        <p:spPr>
          <a:xfrm>
            <a:off x="10037059"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Dental Dealers &amp; Distributors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 Sales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Dental Supply Channels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246_6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93_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1_8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89_2_605E5C.png"/>
          <p:cNvPicPr>
            <a:picLocks noChangeAspect="1"/>
          </p:cNvPicPr>
          <p:nvPr/>
        </p:nvPicPr>
        <p:blipFill>
          <a:blip r:embed="rId7"/>
          <a:stretch>
            <a:fillRect/>
          </a:stretch>
        </p:blipFill>
        <p:spPr>
          <a:xfrm>
            <a:off x="6376307" y="2286582"/>
            <a:ext cx="982436" cy="361950"/>
          </a:xfrm>
          <a:prstGeom prst="rect">
            <a:avLst/>
          </a:prstGeom>
        </p:spPr>
      </p:pic>
      <p:pic>
        <p:nvPicPr>
          <p:cNvPr id="61" name="Picture 60" descr="188_3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7_8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35_5_605E5C.png"/>
          <p:cNvPicPr>
            <a:picLocks noChangeAspect="1"/>
          </p:cNvPicPr>
          <p:nvPr/>
        </p:nvPicPr>
        <p:blipFill>
          <a:blip r:embed="rId10"/>
          <a:stretch>
            <a:fillRect/>
          </a:stretch>
        </p:blipFill>
        <p:spPr>
          <a:xfrm>
            <a:off x="9748157" y="2286582"/>
            <a:ext cx="982436" cy="361950"/>
          </a:xfrm>
          <a:prstGeom prst="rect">
            <a:avLst/>
          </a:prstGeom>
        </p:spPr>
      </p:pic>
      <p:pic>
        <p:nvPicPr>
          <p:cNvPr id="64" name="Picture 63" descr="42_0_605E5C.png"/>
          <p:cNvPicPr>
            <a:picLocks noChangeAspect="1"/>
          </p:cNvPicPr>
          <p:nvPr/>
        </p:nvPicPr>
        <p:blipFill>
          <a:blip r:embed="rId11"/>
          <a:stretch>
            <a:fillRect/>
          </a:stretch>
        </p:blipFill>
        <p:spPr>
          <a:xfrm>
            <a:off x="9748157" y="2779432"/>
            <a:ext cx="982436" cy="361950"/>
          </a:xfrm>
          <a:prstGeom prst="rect">
            <a:avLst/>
          </a:prstGeom>
        </p:spPr>
      </p:pic>
      <p:pic>
        <p:nvPicPr>
          <p:cNvPr id="65" name="Picture 64" descr="1_7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70" name="TextBox 69"/>
          <p:cNvSpPr txBox="1"/>
          <p:nvPr/>
        </p:nvSpPr>
        <p:spPr>
          <a:xfrm>
            <a:off x="485775" y="4397077"/>
            <a:ext cx="2564606" cy="186689"/>
          </a:xfrm>
          <a:prstGeom prst="rect">
            <a:avLst/>
          </a:prstGeom>
          <a:noFill/>
        </p:spPr>
        <p:txBody>
          <a:bodyPr wrap="none" lIns="0" rIns="0" tIns="0" bIns="0">
            <a:spAutoFit/>
          </a:bodyPr>
          <a:lstStyle/>
          <a:p>
            <a:r>
              <a:rPr sz="1100" b="0">
                <a:solidFill>
                  <a:srgbClr val="2E2E2E"/>
                </a:solidFill>
                <a:latin typeface="Calibri"/>
              </a:rPr>
              <a:t>distribution channel, direct sales segment is</a:t>
            </a:r>
          </a:p>
        </p:txBody>
      </p:sp>
      <p:sp>
        <p:nvSpPr>
          <p:cNvPr id="71" name="TextBox 70"/>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72" name="Picture 71" descr="lock.png"/>
          <p:cNvPicPr>
            <a:picLocks noChangeAspect="1"/>
          </p:cNvPicPr>
          <p:nvPr/>
        </p:nvPicPr>
        <p:blipFill>
          <a:blip r:embed="rId13"/>
          <a:stretch>
            <a:fillRect/>
          </a:stretch>
        </p:blipFill>
        <p:spPr>
          <a:xfrm>
            <a:off x="2815059" y="4554938"/>
            <a:ext cx="128699" cy="187198"/>
          </a:xfrm>
          <a:prstGeom prst="rect">
            <a:avLst/>
          </a:prstGeom>
        </p:spPr>
      </p:pic>
      <p:sp>
        <p:nvSpPr>
          <p:cNvPr id="73" name="TextBox 72"/>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74" name="TextBox 73"/>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75" name="TextBox 74"/>
          <p:cNvSpPr txBox="1"/>
          <p:nvPr/>
        </p:nvSpPr>
        <p:spPr>
          <a:xfrm>
            <a:off x="485775" y="4899997"/>
            <a:ext cx="2441004" cy="186689"/>
          </a:xfrm>
          <a:prstGeom prst="rect">
            <a:avLst/>
          </a:prstGeom>
          <a:noFill/>
        </p:spPr>
        <p:txBody>
          <a:bodyPr wrap="none" lIns="0" rIns="0" tIns="0" bIns="0">
            <a:spAutoFit/>
          </a:bodyPr>
          <a:lstStyle/>
          <a:p>
            <a:r>
              <a:rPr sz="1100" b="0">
                <a:solidFill>
                  <a:srgbClr val="2E2E2E"/>
                </a:solidFill>
                <a:latin typeface="Calibri"/>
              </a:rPr>
              <a:t>distribution channel, the dental dealers &amp;</a:t>
            </a:r>
          </a:p>
        </p:txBody>
      </p:sp>
      <p:sp>
        <p:nvSpPr>
          <p:cNvPr id="76" name="TextBox 75"/>
          <p:cNvSpPr txBox="1"/>
          <p:nvPr/>
        </p:nvSpPr>
        <p:spPr>
          <a:xfrm>
            <a:off x="485775" y="5067637"/>
            <a:ext cx="2883569" cy="186689"/>
          </a:xfrm>
          <a:prstGeom prst="rect">
            <a:avLst/>
          </a:prstGeom>
          <a:noFill/>
        </p:spPr>
        <p:txBody>
          <a:bodyPr wrap="none" lIns="0" rIns="0" tIns="0" bIns="0">
            <a:spAutoFit/>
          </a:bodyPr>
          <a:lstStyle/>
          <a:p>
            <a:r>
              <a:rPr sz="1100" b="0">
                <a:solidFill>
                  <a:srgbClr val="2E2E2E"/>
                </a:solidFill>
                <a:latin typeface="Calibri"/>
              </a:rPr>
              <a:t>distributors segment is expected to dominate the</a:t>
            </a:r>
          </a:p>
        </p:txBody>
      </p:sp>
      <p:sp>
        <p:nvSpPr>
          <p:cNvPr id="77" name="TextBox 76"/>
          <p:cNvSpPr txBox="1"/>
          <p:nvPr/>
        </p:nvSpPr>
        <p:spPr>
          <a:xfrm>
            <a:off x="485775" y="5235277"/>
            <a:ext cx="881930" cy="186689"/>
          </a:xfrm>
          <a:prstGeom prst="rect">
            <a:avLst/>
          </a:prstGeom>
          <a:noFill/>
        </p:spPr>
        <p:txBody>
          <a:bodyPr wrap="none" lIns="0" rIns="0" tIns="0" bIns="0">
            <a:spAutoFit/>
          </a:bodyPr>
          <a:lstStyle/>
          <a:p>
            <a:r>
              <a:rPr sz="1100" b="0">
                <a:solidFill>
                  <a:srgbClr val="2E2E2E"/>
                </a:solidFill>
                <a:latin typeface="Calibri"/>
              </a:rPr>
              <a:t>market, losing</a:t>
            </a:r>
          </a:p>
        </p:txBody>
      </p:sp>
      <p:pic>
        <p:nvPicPr>
          <p:cNvPr id="78" name="Picture 77" descr="lock.png"/>
          <p:cNvPicPr>
            <a:picLocks noChangeAspect="1"/>
          </p:cNvPicPr>
          <p:nvPr/>
        </p:nvPicPr>
        <p:blipFill>
          <a:blip r:embed="rId13"/>
          <a:stretch>
            <a:fillRect/>
          </a:stretch>
        </p:blipFill>
        <p:spPr>
          <a:xfrm>
            <a:off x="1315757" y="5225498"/>
            <a:ext cx="128699" cy="187198"/>
          </a:xfrm>
          <a:prstGeom prst="rect">
            <a:avLst/>
          </a:prstGeom>
        </p:spPr>
      </p:pic>
      <p:sp>
        <p:nvSpPr>
          <p:cNvPr id="79" name="TextBox 78"/>
          <p:cNvSpPr txBox="1"/>
          <p:nvPr/>
        </p:nvSpPr>
        <p:spPr>
          <a:xfrm>
            <a:off x="1483253"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80" name="Picture 79" descr="lock.png"/>
          <p:cNvPicPr>
            <a:picLocks noChangeAspect="1"/>
          </p:cNvPicPr>
          <p:nvPr/>
        </p:nvPicPr>
        <p:blipFill>
          <a:blip r:embed="rId13"/>
          <a:stretch>
            <a:fillRect/>
          </a:stretch>
        </p:blipFill>
        <p:spPr>
          <a:xfrm>
            <a:off x="2817737" y="5225498"/>
            <a:ext cx="128699" cy="187198"/>
          </a:xfrm>
          <a:prstGeom prst="rect">
            <a:avLst/>
          </a:prstGeom>
        </p:spPr>
      </p:pic>
      <p:sp>
        <p:nvSpPr>
          <p:cNvPr id="81" name="TextBox 80"/>
          <p:cNvSpPr txBox="1"/>
          <p:nvPr/>
        </p:nvSpPr>
        <p:spPr>
          <a:xfrm>
            <a:off x="485775"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620849"/>
            <a:ext cx="2551236" cy="186689"/>
          </a:xfrm>
          <a:prstGeom prst="rect">
            <a:avLst/>
          </a:prstGeom>
          <a:noFill/>
        </p:spPr>
        <p:txBody>
          <a:bodyPr wrap="none" lIns="0" rIns="0" tIns="0" bIns="0">
            <a:spAutoFit/>
          </a:bodyPr>
          <a:lstStyle/>
          <a:p>
            <a:r>
              <a:rPr sz="1100" b="0">
                <a:solidFill>
                  <a:srgbClr val="2E2E2E"/>
                </a:solidFill>
                <a:latin typeface="Calibri"/>
              </a:rPr>
              <a:t>▪ ¶ Dental dealers &amp; distributors segment is</a:t>
            </a:r>
          </a:p>
        </p:txBody>
      </p:sp>
      <p:sp>
        <p:nvSpPr>
          <p:cNvPr id="83" name="TextBox 82"/>
          <p:cNvSpPr txBox="1"/>
          <p:nvPr/>
        </p:nvSpPr>
        <p:spPr>
          <a:xfrm>
            <a:off x="485775" y="578848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84" name="Picture 83" descr="lock.png"/>
          <p:cNvPicPr>
            <a:picLocks noChangeAspect="1"/>
          </p:cNvPicPr>
          <p:nvPr/>
        </p:nvPicPr>
        <p:blipFill>
          <a:blip r:embed="rId13"/>
          <a:stretch>
            <a:fillRect/>
          </a:stretch>
        </p:blipFill>
        <p:spPr>
          <a:xfrm>
            <a:off x="1678376" y="5778710"/>
            <a:ext cx="128699" cy="187198"/>
          </a:xfrm>
          <a:prstGeom prst="rect">
            <a:avLst/>
          </a:prstGeom>
        </p:spPr>
      </p:pic>
      <p:sp>
        <p:nvSpPr>
          <p:cNvPr id="85" name="TextBox 84"/>
          <p:cNvSpPr txBox="1"/>
          <p:nvPr/>
        </p:nvSpPr>
        <p:spPr>
          <a:xfrm>
            <a:off x="1845872" y="5788489"/>
            <a:ext cx="1534318" cy="186689"/>
          </a:xfrm>
          <a:prstGeom prst="rect">
            <a:avLst/>
          </a:prstGeom>
          <a:noFill/>
        </p:spPr>
        <p:txBody>
          <a:bodyPr wrap="none" lIns="0" rIns="0" tIns="0" bIns="0">
            <a:spAutoFit/>
          </a:bodyPr>
          <a:lstStyle/>
          <a:p>
            <a:r>
              <a:rPr sz="1100" b="0">
                <a:solidFill>
                  <a:srgbClr val="2E2E2E"/>
                </a:solidFill>
                <a:latin typeface="Calibri"/>
              </a:rPr>
              <a:t>X higher value than direct</a:t>
            </a:r>
          </a:p>
        </p:txBody>
      </p:sp>
      <p:sp>
        <p:nvSpPr>
          <p:cNvPr id="86" name="TextBox 85"/>
          <p:cNvSpPr txBox="1"/>
          <p:nvPr/>
        </p:nvSpPr>
        <p:spPr>
          <a:xfrm>
            <a:off x="485775" y="5956129"/>
            <a:ext cx="1364877" cy="186689"/>
          </a:xfrm>
          <a:prstGeom prst="rect">
            <a:avLst/>
          </a:prstGeom>
          <a:noFill/>
        </p:spPr>
        <p:txBody>
          <a:bodyPr wrap="none" lIns="0" rIns="0" tIns="0" bIns="0">
            <a:spAutoFit/>
          </a:bodyPr>
          <a:lstStyle/>
          <a:p>
            <a:r>
              <a:rPr sz="1100" b="0">
                <a:solidFill>
                  <a:srgbClr val="2E2E2E"/>
                </a:solidFill>
                <a:latin typeface="Calibri"/>
              </a:rPr>
              <a:t>sales segment in 2036.</a:t>
            </a:r>
          </a:p>
        </p:txBody>
      </p:sp>
      <p:sp>
        <p:nvSpPr>
          <p:cNvPr id="87" name="TextBox 86"/>
          <p:cNvSpPr txBox="1"/>
          <p:nvPr/>
        </p:nvSpPr>
        <p:spPr>
          <a:xfrm>
            <a:off x="3838575" y="4229437"/>
            <a:ext cx="1893664" cy="186689"/>
          </a:xfrm>
          <a:prstGeom prst="rect">
            <a:avLst/>
          </a:prstGeom>
          <a:noFill/>
        </p:spPr>
        <p:txBody>
          <a:bodyPr wrap="none" lIns="0" rIns="0" tIns="0" bIns="0">
            <a:spAutoFit/>
          </a:bodyPr>
          <a:lstStyle/>
          <a:p>
            <a:r>
              <a:rPr sz="1100" b="0">
                <a:solidFill>
                  <a:srgbClr val="2E2E2E"/>
                </a:solidFill>
                <a:latin typeface="Calibri"/>
              </a:rPr>
              <a:t>● Dental Dealers &amp; Distributors:</a:t>
            </a:r>
          </a:p>
        </p:txBody>
      </p:sp>
      <p:pic>
        <p:nvPicPr>
          <p:cNvPr id="88" name="Picture 87" descr="lock.png"/>
          <p:cNvPicPr>
            <a:picLocks noChangeAspect="1"/>
          </p:cNvPicPr>
          <p:nvPr/>
        </p:nvPicPr>
        <p:blipFill>
          <a:blip r:embed="rId13"/>
          <a:stretch>
            <a:fillRect/>
          </a:stretch>
        </p:blipFill>
        <p:spPr>
          <a:xfrm>
            <a:off x="5680290" y="4219658"/>
            <a:ext cx="128699" cy="187198"/>
          </a:xfrm>
          <a:prstGeom prst="rect">
            <a:avLst/>
          </a:prstGeom>
        </p:spPr>
      </p:pic>
      <p:sp>
        <p:nvSpPr>
          <p:cNvPr id="89" name="TextBox 88"/>
          <p:cNvSpPr txBox="1"/>
          <p:nvPr/>
        </p:nvSpPr>
        <p:spPr>
          <a:xfrm>
            <a:off x="584778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707236" y="4219658"/>
            <a:ext cx="128699" cy="187198"/>
          </a:xfrm>
          <a:prstGeom prst="rect">
            <a:avLst/>
          </a:prstGeom>
        </p:spPr>
      </p:pic>
      <p:sp>
        <p:nvSpPr>
          <p:cNvPr id="91" name="TextBox 90"/>
          <p:cNvSpPr txBox="1"/>
          <p:nvPr/>
        </p:nvSpPr>
        <p:spPr>
          <a:xfrm>
            <a:off x="687473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2" name="TextBox 9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3" name="TextBox 92"/>
          <p:cNvSpPr txBox="1"/>
          <p:nvPr/>
        </p:nvSpPr>
        <p:spPr>
          <a:xfrm>
            <a:off x="3838575" y="4615009"/>
            <a:ext cx="891207" cy="186689"/>
          </a:xfrm>
          <a:prstGeom prst="rect">
            <a:avLst/>
          </a:prstGeom>
          <a:noFill/>
        </p:spPr>
        <p:txBody>
          <a:bodyPr wrap="none" lIns="0" rIns="0" tIns="0" bIns="0">
            <a:spAutoFit/>
          </a:bodyPr>
          <a:lstStyle/>
          <a:p>
            <a:r>
              <a:rPr sz="1100" b="0">
                <a:solidFill>
                  <a:srgbClr val="2E2E2E"/>
                </a:solidFill>
                <a:latin typeface="Calibri"/>
              </a:rPr>
              <a:t>● Direct Sales:</a:t>
            </a:r>
          </a:p>
        </p:txBody>
      </p:sp>
      <p:pic>
        <p:nvPicPr>
          <p:cNvPr id="94" name="Picture 93" descr="lock.png"/>
          <p:cNvPicPr>
            <a:picLocks noChangeAspect="1"/>
          </p:cNvPicPr>
          <p:nvPr/>
        </p:nvPicPr>
        <p:blipFill>
          <a:blip r:embed="rId13"/>
          <a:stretch>
            <a:fillRect/>
          </a:stretch>
        </p:blipFill>
        <p:spPr>
          <a:xfrm>
            <a:off x="4677834" y="4605230"/>
            <a:ext cx="128699" cy="187198"/>
          </a:xfrm>
          <a:prstGeom prst="rect">
            <a:avLst/>
          </a:prstGeom>
        </p:spPr>
      </p:pic>
      <p:sp>
        <p:nvSpPr>
          <p:cNvPr id="95" name="TextBox 94"/>
          <p:cNvSpPr txBox="1"/>
          <p:nvPr/>
        </p:nvSpPr>
        <p:spPr>
          <a:xfrm>
            <a:off x="484533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6" name="Picture 95" descr="lock.png"/>
          <p:cNvPicPr>
            <a:picLocks noChangeAspect="1"/>
          </p:cNvPicPr>
          <p:nvPr/>
        </p:nvPicPr>
        <p:blipFill>
          <a:blip r:embed="rId13"/>
          <a:stretch>
            <a:fillRect/>
          </a:stretch>
        </p:blipFill>
        <p:spPr>
          <a:xfrm>
            <a:off x="5704780" y="4605230"/>
            <a:ext cx="128699" cy="187198"/>
          </a:xfrm>
          <a:prstGeom prst="rect">
            <a:avLst/>
          </a:prstGeom>
        </p:spPr>
      </p:pic>
      <p:sp>
        <p:nvSpPr>
          <p:cNvPr id="97" name="TextBox 96"/>
          <p:cNvSpPr txBox="1"/>
          <p:nvPr/>
        </p:nvSpPr>
        <p:spPr>
          <a:xfrm>
            <a:off x="5872276" y="461500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8" name="TextBox 97"/>
          <p:cNvSpPr txBox="1"/>
          <p:nvPr/>
        </p:nvSpPr>
        <p:spPr>
          <a:xfrm>
            <a:off x="3838575" y="4832941"/>
            <a:ext cx="1970335" cy="186689"/>
          </a:xfrm>
          <a:prstGeom prst="rect">
            <a:avLst/>
          </a:prstGeom>
          <a:noFill/>
        </p:spPr>
        <p:txBody>
          <a:bodyPr wrap="none" lIns="0" rIns="0" tIns="0" bIns="0">
            <a:spAutoFit/>
          </a:bodyPr>
          <a:lstStyle/>
          <a:p>
            <a:r>
              <a:rPr sz="1100" b="0">
                <a:solidFill>
                  <a:srgbClr val="2E2E2E"/>
                </a:solidFill>
                <a:latin typeface="Calibri"/>
              </a:rPr>
              <a:t>● Online Dental Supply Channels:</a:t>
            </a:r>
          </a:p>
        </p:txBody>
      </p:sp>
      <p:pic>
        <p:nvPicPr>
          <p:cNvPr id="99" name="Picture 98" descr="lock.png"/>
          <p:cNvPicPr>
            <a:picLocks noChangeAspect="1"/>
          </p:cNvPicPr>
          <p:nvPr/>
        </p:nvPicPr>
        <p:blipFill>
          <a:blip r:embed="rId13"/>
          <a:stretch>
            <a:fillRect/>
          </a:stretch>
        </p:blipFill>
        <p:spPr>
          <a:xfrm>
            <a:off x="5756962" y="4823162"/>
            <a:ext cx="128699" cy="187198"/>
          </a:xfrm>
          <a:prstGeom prst="rect">
            <a:avLst/>
          </a:prstGeom>
        </p:spPr>
      </p:pic>
      <p:sp>
        <p:nvSpPr>
          <p:cNvPr id="100" name="TextBox 99"/>
          <p:cNvSpPr txBox="1"/>
          <p:nvPr/>
        </p:nvSpPr>
        <p:spPr>
          <a:xfrm>
            <a:off x="592445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3"/>
          <a:stretch>
            <a:fillRect/>
          </a:stretch>
        </p:blipFill>
        <p:spPr>
          <a:xfrm>
            <a:off x="6783908" y="4823162"/>
            <a:ext cx="128699" cy="187198"/>
          </a:xfrm>
          <a:prstGeom prst="rect">
            <a:avLst/>
          </a:prstGeom>
        </p:spPr>
      </p:pic>
      <p:sp>
        <p:nvSpPr>
          <p:cNvPr id="102" name="TextBox 101"/>
          <p:cNvSpPr txBox="1"/>
          <p:nvPr/>
        </p:nvSpPr>
        <p:spPr>
          <a:xfrm>
            <a:off x="6951404"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3" name="TextBox 102"/>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4" name="TextBox 103"/>
          <p:cNvSpPr txBox="1"/>
          <p:nvPr/>
        </p:nvSpPr>
        <p:spPr>
          <a:xfrm>
            <a:off x="8524875" y="5842641"/>
            <a:ext cx="3048830" cy="194310"/>
          </a:xfrm>
          <a:prstGeom prst="rect">
            <a:avLst/>
          </a:prstGeom>
          <a:noFill/>
        </p:spPr>
        <p:txBody>
          <a:bodyPr wrap="none" lIns="0" rIns="0" tIns="0" bIns="0">
            <a:spAutoFit/>
          </a:bodyPr>
          <a:lstStyle/>
          <a:p>
            <a:r>
              <a:rPr sz="1150" b="1">
                <a:solidFill>
                  <a:srgbClr val="0B2E4A"/>
                </a:solidFill>
                <a:latin typeface="Calibri"/>
              </a:rPr>
              <a:t>The Distribution Channel segment is projected to</a:t>
            </a:r>
          </a:p>
        </p:txBody>
      </p:sp>
      <p:sp>
        <p:nvSpPr>
          <p:cNvPr id="105" name="TextBox 104"/>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06" name="Picture 105" descr="lock.png"/>
          <p:cNvPicPr>
            <a:picLocks noChangeAspect="1"/>
          </p:cNvPicPr>
          <p:nvPr/>
        </p:nvPicPr>
        <p:blipFill>
          <a:blip r:embed="rId13"/>
          <a:stretch>
            <a:fillRect/>
          </a:stretch>
        </p:blipFill>
        <p:spPr>
          <a:xfrm>
            <a:off x="9651852" y="6007677"/>
            <a:ext cx="134549" cy="195707"/>
          </a:xfrm>
          <a:prstGeom prst="rect">
            <a:avLst/>
          </a:prstGeom>
        </p:spPr>
      </p:pic>
      <p:sp>
        <p:nvSpPr>
          <p:cNvPr id="107" name="TextBox 106"/>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31327" cy="186689"/>
          </a:xfrm>
          <a:prstGeom prst="rect">
            <a:avLst/>
          </a:prstGeom>
          <a:noFill/>
        </p:spPr>
        <p:txBody>
          <a:bodyPr wrap="none" lIns="0" rIns="0" tIns="0" bIns="0">
            <a:spAutoFit/>
          </a:bodyPr>
          <a:lstStyle/>
          <a:p>
            <a:r>
              <a:rPr sz="1100" b="0">
                <a:solidFill>
                  <a:srgbClr val="2E2E2E"/>
                </a:solidFill>
                <a:latin typeface="Calibri"/>
              </a:rPr>
              <a:t>Direct sales followed by dental dealers &amp; distributors are expected to be the two most attractive distribution channel segments in the North America removable partial dentures market in terms of value</a:t>
            </a:r>
          </a:p>
        </p:txBody>
      </p:sp>
      <p:sp>
        <p:nvSpPr>
          <p:cNvPr id="21" name="TextBox 20"/>
          <p:cNvSpPr txBox="1"/>
          <p:nvPr/>
        </p:nvSpPr>
        <p:spPr>
          <a:xfrm>
            <a:off x="257175" y="5861685"/>
            <a:ext cx="5429803" cy="186689"/>
          </a:xfrm>
          <a:prstGeom prst="rect">
            <a:avLst/>
          </a:prstGeom>
          <a:noFill/>
        </p:spPr>
        <p:txBody>
          <a:bodyPr wrap="none" lIns="0" rIns="0" tIns="0" bIns="0">
            <a:spAutoFit/>
          </a:bodyPr>
          <a:lstStyle/>
          <a:p>
            <a:r>
              <a:rPr sz="1100" b="0">
                <a:solidFill>
                  <a:srgbClr val="2E2E2E"/>
                </a:solidFill>
                <a:latin typeface="Calibri"/>
              </a:rPr>
              <a:t>over the forecast period. Direct sales and dental dealers &amp; distributors exhibit a CAGR index of</a:t>
            </a:r>
          </a:p>
        </p:txBody>
      </p:sp>
      <p:pic>
        <p:nvPicPr>
          <p:cNvPr id="22" name="Picture 21" descr="lock.png"/>
          <p:cNvPicPr>
            <a:picLocks noChangeAspect="1"/>
          </p:cNvPicPr>
          <p:nvPr/>
        </p:nvPicPr>
        <p:blipFill>
          <a:blip r:embed="rId6"/>
          <a:stretch>
            <a:fillRect/>
          </a:stretch>
        </p:blipFill>
        <p:spPr>
          <a:xfrm>
            <a:off x="5635030" y="5851905"/>
            <a:ext cx="128699" cy="187198"/>
          </a:xfrm>
          <a:prstGeom prst="rect">
            <a:avLst/>
          </a:prstGeom>
        </p:spPr>
      </p:pic>
      <p:sp>
        <p:nvSpPr>
          <p:cNvPr id="23" name="TextBox 22"/>
          <p:cNvSpPr txBox="1"/>
          <p:nvPr/>
        </p:nvSpPr>
        <p:spPr>
          <a:xfrm>
            <a:off x="5802525"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6040420" y="5851905"/>
            <a:ext cx="128699" cy="187198"/>
          </a:xfrm>
          <a:prstGeom prst="rect">
            <a:avLst/>
          </a:prstGeom>
        </p:spPr>
      </p:pic>
      <p:sp>
        <p:nvSpPr>
          <p:cNvPr id="25" name="TextBox 24"/>
          <p:cNvSpPr txBox="1"/>
          <p:nvPr/>
        </p:nvSpPr>
        <p:spPr>
          <a:xfrm>
            <a:off x="6207916"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816889" y="5851905"/>
            <a:ext cx="128699" cy="187198"/>
          </a:xfrm>
          <a:prstGeom prst="rect">
            <a:avLst/>
          </a:prstGeom>
        </p:spPr>
      </p:pic>
      <p:sp>
        <p:nvSpPr>
          <p:cNvPr id="27" name="TextBox 26"/>
          <p:cNvSpPr txBox="1"/>
          <p:nvPr/>
        </p:nvSpPr>
        <p:spPr>
          <a:xfrm>
            <a:off x="7984385"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8222279" y="5851905"/>
            <a:ext cx="128699" cy="187198"/>
          </a:xfrm>
          <a:prstGeom prst="rect">
            <a:avLst/>
          </a:prstGeom>
        </p:spPr>
      </p:pic>
      <p:sp>
        <p:nvSpPr>
          <p:cNvPr id="29" name="TextBox 28"/>
          <p:cNvSpPr txBox="1"/>
          <p:nvPr/>
        </p:nvSpPr>
        <p:spPr>
          <a:xfrm>
            <a:off x="8389775"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944179" y="5851905"/>
            <a:ext cx="128699" cy="187198"/>
          </a:xfrm>
          <a:prstGeom prst="rect">
            <a:avLst/>
          </a:prstGeom>
        </p:spPr>
      </p:pic>
      <p:sp>
        <p:nvSpPr>
          <p:cNvPr id="31" name="TextBox 30"/>
          <p:cNvSpPr txBox="1"/>
          <p:nvPr/>
        </p:nvSpPr>
        <p:spPr>
          <a:xfrm>
            <a:off x="11111675" y="5861685"/>
            <a:ext cx="354235" cy="186689"/>
          </a:xfrm>
          <a:prstGeom prst="rect">
            <a:avLst/>
          </a:prstGeom>
          <a:noFill/>
        </p:spPr>
        <p:txBody>
          <a:bodyPr wrap="none" lIns="0" rIns="0" tIns="0" bIns="0">
            <a:spAutoFit/>
          </a:bodyPr>
          <a:lstStyle/>
          <a:p>
            <a:r>
              <a:rPr sz="1100" b="0">
                <a:solidFill>
                  <a:srgbClr val="2E2E2E"/>
                </a:solidFill>
                <a:latin typeface="Calibri"/>
              </a:rPr>
              <a:t>. The</a:t>
            </a:r>
          </a:p>
        </p:txBody>
      </p:sp>
      <p:sp>
        <p:nvSpPr>
          <p:cNvPr id="32" name="TextBox 31"/>
          <p:cNvSpPr txBox="1"/>
          <p:nvPr/>
        </p:nvSpPr>
        <p:spPr>
          <a:xfrm>
            <a:off x="257175" y="6029325"/>
            <a:ext cx="11639632" cy="186689"/>
          </a:xfrm>
          <a:prstGeom prst="rect">
            <a:avLst/>
          </a:prstGeom>
          <a:noFill/>
        </p:spPr>
        <p:txBody>
          <a:bodyPr wrap="none" lIns="0" rIns="0" tIns="0" bIns="0">
            <a:spAutoFit/>
          </a:bodyPr>
          <a:lstStyle/>
          <a:p>
            <a:r>
              <a:rPr sz="1100" b="0">
                <a:solidFill>
                  <a:srgbClr val="2E2E2E"/>
                </a:solidFill>
                <a:latin typeface="Calibri"/>
              </a:rPr>
              <a:t>online dental supply channels segment is expected to be less attractive as compared to other segments over the forecast period, owing to its lower CAGR and incremental opportunity. Bubbles right of the</a:t>
            </a:r>
          </a:p>
        </p:txBody>
      </p:sp>
      <p:sp>
        <p:nvSpPr>
          <p:cNvPr id="33" name="TextBox 32"/>
          <p:cNvSpPr txBox="1"/>
          <p:nvPr/>
        </p:nvSpPr>
        <p:spPr>
          <a:xfrm>
            <a:off x="257175" y="6196965"/>
            <a:ext cx="3224344" cy="186689"/>
          </a:xfrm>
          <a:prstGeom prst="rect">
            <a:avLst/>
          </a:prstGeom>
          <a:noFill/>
        </p:spPr>
        <p:txBody>
          <a:bodyPr wrap="none" lIns="0" rIns="0" tIns="0" bIns="0">
            <a:spAutoFit/>
          </a:bodyPr>
          <a:lstStyle/>
          <a:p>
            <a:r>
              <a:rPr sz="1100" b="0">
                <a:solidFill>
                  <a:srgbClr val="2E2E2E"/>
                </a:solidFill>
                <a:latin typeface="Calibri"/>
              </a:rPr>
              <a:t>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Direct Sales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Dealers &amp; Distributors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Online Dental Supply Channels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Distribution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4169856" cy="194310"/>
          </a:xfrm>
          <a:prstGeom prst="rect">
            <a:avLst/>
          </a:prstGeom>
          <a:noFill/>
        </p:spPr>
        <p:txBody>
          <a:bodyPr wrap="none" lIns="0" rIns="0" tIns="0" bIns="0">
            <a:spAutoFit/>
          </a:bodyPr>
          <a:lstStyle/>
          <a:p>
            <a:r>
              <a:rPr sz="1150" b="0">
                <a:solidFill>
                  <a:srgbClr val="2E2E2E"/>
                </a:solidFill>
                <a:latin typeface="Calibri"/>
              </a:rPr>
              <a:t>By 2036, direct sales segment is anticipated to witness an increase of</a:t>
            </a:r>
          </a:p>
        </p:txBody>
      </p:sp>
      <p:pic>
        <p:nvPicPr>
          <p:cNvPr id="29" name="Picture 28" descr="lock.png"/>
          <p:cNvPicPr>
            <a:picLocks noChangeAspect="1"/>
          </p:cNvPicPr>
          <p:nvPr/>
        </p:nvPicPr>
        <p:blipFill>
          <a:blip r:embed="rId7"/>
          <a:stretch>
            <a:fillRect/>
          </a:stretch>
        </p:blipFill>
        <p:spPr>
          <a:xfrm>
            <a:off x="10424560" y="4276026"/>
            <a:ext cx="134549" cy="195707"/>
          </a:xfrm>
          <a:prstGeom prst="rect">
            <a:avLst/>
          </a:prstGeom>
        </p:spPr>
      </p:pic>
      <p:sp>
        <p:nvSpPr>
          <p:cNvPr id="30" name="TextBox 29"/>
          <p:cNvSpPr txBox="1"/>
          <p:nvPr/>
        </p:nvSpPr>
        <p:spPr>
          <a:xfrm>
            <a:off x="10599669" y="4286250"/>
            <a:ext cx="1181844" cy="194310"/>
          </a:xfrm>
          <a:prstGeom prst="rect">
            <a:avLst/>
          </a:prstGeom>
          <a:noFill/>
        </p:spPr>
        <p:txBody>
          <a:bodyPr wrap="none" lIns="0" rIns="0" tIns="0" bIns="0">
            <a:spAutoFit/>
          </a:bodyPr>
          <a:lstStyle/>
          <a:p>
            <a:r>
              <a:rPr sz="1150" b="0">
                <a:solidFill>
                  <a:srgbClr val="2E2E2E"/>
                </a:solidFill>
                <a:latin typeface="Calibri"/>
              </a:rPr>
              <a:t>X in terms of value</a:t>
            </a:r>
          </a:p>
        </p:txBody>
      </p:sp>
      <p:sp>
        <p:nvSpPr>
          <p:cNvPr id="31" name="TextBox 30"/>
          <p:cNvSpPr txBox="1"/>
          <p:nvPr/>
        </p:nvSpPr>
        <p:spPr>
          <a:xfrm>
            <a:off x="6305550" y="4461510"/>
            <a:ext cx="5067287" cy="194310"/>
          </a:xfrm>
          <a:prstGeom prst="rect">
            <a:avLst/>
          </a:prstGeom>
          <a:noFill/>
        </p:spPr>
        <p:txBody>
          <a:bodyPr wrap="none" lIns="0" rIns="0" tIns="0" bIns="0">
            <a:spAutoFit/>
          </a:bodyPr>
          <a:lstStyle/>
          <a:p>
            <a:r>
              <a:rPr sz="1150" b="0">
                <a:solidFill>
                  <a:srgbClr val="2E2E2E"/>
                </a:solidFill>
                <a:latin typeface="Calibri"/>
              </a:rPr>
              <a:t>as compared to 2026. The direct sales segment is expected to create an incremental</a:t>
            </a:r>
          </a:p>
        </p:txBody>
      </p:sp>
      <p:sp>
        <p:nvSpPr>
          <p:cNvPr id="32" name="TextBox 31"/>
          <p:cNvSpPr txBox="1"/>
          <p:nvPr/>
        </p:nvSpPr>
        <p:spPr>
          <a:xfrm>
            <a:off x="6305550" y="4636770"/>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33" name="Picture 32" descr="lock.png"/>
          <p:cNvPicPr>
            <a:picLocks noChangeAspect="1"/>
          </p:cNvPicPr>
          <p:nvPr/>
        </p:nvPicPr>
        <p:blipFill>
          <a:blip r:embed="rId7"/>
          <a:stretch>
            <a:fillRect/>
          </a:stretch>
        </p:blipFill>
        <p:spPr>
          <a:xfrm>
            <a:off x="7463647" y="4626546"/>
            <a:ext cx="134549" cy="195707"/>
          </a:xfrm>
          <a:prstGeom prst="rect">
            <a:avLst/>
          </a:prstGeom>
        </p:spPr>
      </p:pic>
      <p:sp>
        <p:nvSpPr>
          <p:cNvPr id="34" name="TextBox 33"/>
          <p:cNvSpPr txBox="1"/>
          <p:nvPr/>
        </p:nvSpPr>
        <p:spPr>
          <a:xfrm>
            <a:off x="7638756" y="4636770"/>
            <a:ext cx="4074889"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a:t>
            </a:r>
          </a:p>
        </p:txBody>
      </p:sp>
      <p:sp>
        <p:nvSpPr>
          <p:cNvPr id="35" name="TextBox 34"/>
          <p:cNvSpPr txBox="1"/>
          <p:nvPr/>
        </p:nvSpPr>
        <p:spPr>
          <a:xfrm>
            <a:off x="6305550" y="4812029"/>
            <a:ext cx="409661" cy="194310"/>
          </a:xfrm>
          <a:prstGeom prst="rect">
            <a:avLst/>
          </a:prstGeom>
          <a:noFill/>
        </p:spPr>
        <p:txBody>
          <a:bodyPr wrap="none" lIns="0" rIns="0" tIns="0" bIns="0">
            <a:spAutoFit/>
          </a:bodyPr>
          <a:lstStyle/>
          <a:p>
            <a:r>
              <a:rPr sz="1150" b="0">
                <a:solidFill>
                  <a:srgbClr val="2E2E2E"/>
                </a:solidFill>
                <a:latin typeface="Calibri"/>
              </a:rPr>
              <a:t>2036.</a:t>
            </a:r>
          </a:p>
        </p:txBody>
      </p:sp>
      <p:sp>
        <p:nvSpPr>
          <p:cNvPr id="36" name="TextBox 35"/>
          <p:cNvSpPr txBox="1"/>
          <p:nvPr/>
        </p:nvSpPr>
        <p:spPr>
          <a:xfrm>
            <a:off x="6305550" y="5039867"/>
            <a:ext cx="5520556" cy="194310"/>
          </a:xfrm>
          <a:prstGeom prst="rect">
            <a:avLst/>
          </a:prstGeom>
          <a:noFill/>
        </p:spPr>
        <p:txBody>
          <a:bodyPr wrap="none" lIns="0" rIns="0" tIns="0" bIns="0">
            <a:spAutoFit/>
          </a:bodyPr>
          <a:lstStyle/>
          <a:p>
            <a:r>
              <a:rPr sz="1150" b="0">
                <a:solidFill>
                  <a:srgbClr val="2E2E2E"/>
                </a:solidFill>
                <a:latin typeface="Calibri"/>
              </a:rPr>
              <a:t>The dental dealers &amp; distributors segment is expected to create an incremental opportunity</a:t>
            </a:r>
          </a:p>
        </p:txBody>
      </p:sp>
      <p:sp>
        <p:nvSpPr>
          <p:cNvPr id="37" name="TextBox 36"/>
          <p:cNvSpPr txBox="1"/>
          <p:nvPr/>
        </p:nvSpPr>
        <p:spPr>
          <a:xfrm>
            <a:off x="6305550" y="5215127"/>
            <a:ext cx="465856" cy="194310"/>
          </a:xfrm>
          <a:prstGeom prst="rect">
            <a:avLst/>
          </a:prstGeom>
          <a:noFill/>
        </p:spPr>
        <p:txBody>
          <a:bodyPr wrap="none" lIns="0" rIns="0" tIns="0" bIns="0">
            <a:spAutoFit/>
          </a:bodyPr>
          <a:lstStyle/>
          <a:p>
            <a:r>
              <a:rPr sz="1150" b="0">
                <a:solidFill>
                  <a:srgbClr val="2E2E2E"/>
                </a:solidFill>
                <a:latin typeface="Calibri"/>
              </a:rPr>
              <a:t>of US$</a:t>
            </a:r>
          </a:p>
        </p:txBody>
      </p:sp>
      <p:pic>
        <p:nvPicPr>
          <p:cNvPr id="38" name="Picture 37" descr="lock.png"/>
          <p:cNvPicPr>
            <a:picLocks noChangeAspect="1"/>
          </p:cNvPicPr>
          <p:nvPr/>
        </p:nvPicPr>
        <p:blipFill>
          <a:blip r:embed="rId7"/>
          <a:stretch>
            <a:fillRect/>
          </a:stretch>
        </p:blipFill>
        <p:spPr>
          <a:xfrm>
            <a:off x="6720560" y="5204904"/>
            <a:ext cx="134549" cy="195707"/>
          </a:xfrm>
          <a:prstGeom prst="rect">
            <a:avLst/>
          </a:prstGeom>
        </p:spPr>
      </p:pic>
      <p:sp>
        <p:nvSpPr>
          <p:cNvPr id="39" name="TextBox 38"/>
          <p:cNvSpPr txBox="1"/>
          <p:nvPr/>
        </p:nvSpPr>
        <p:spPr>
          <a:xfrm>
            <a:off x="6895670" y="5215127"/>
            <a:ext cx="4695316"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 The</a:t>
            </a:r>
          </a:p>
        </p:txBody>
      </p:sp>
      <p:sp>
        <p:nvSpPr>
          <p:cNvPr id="40" name="TextBox 39"/>
          <p:cNvSpPr txBox="1"/>
          <p:nvPr/>
        </p:nvSpPr>
        <p:spPr>
          <a:xfrm>
            <a:off x="6305550" y="5390387"/>
            <a:ext cx="5482046" cy="194310"/>
          </a:xfrm>
          <a:prstGeom prst="rect">
            <a:avLst/>
          </a:prstGeom>
          <a:noFill/>
        </p:spPr>
        <p:txBody>
          <a:bodyPr wrap="none" lIns="0" rIns="0" tIns="0" bIns="0">
            <a:spAutoFit/>
          </a:bodyPr>
          <a:lstStyle/>
          <a:p>
            <a:r>
              <a:rPr sz="1150" b="0">
                <a:solidFill>
                  <a:srgbClr val="2E2E2E"/>
                </a:solidFill>
                <a:latin typeface="Calibri"/>
              </a:rPr>
              <a:t>online dental supply channels segment is expected to create an incremental opportunity of</a:t>
            </a:r>
          </a:p>
        </p:txBody>
      </p:sp>
      <p:sp>
        <p:nvSpPr>
          <p:cNvPr id="41" name="TextBox 40"/>
          <p:cNvSpPr txBox="1"/>
          <p:nvPr/>
        </p:nvSpPr>
        <p:spPr>
          <a:xfrm>
            <a:off x="6305550" y="556564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42" name="Picture 41" descr="lock.png"/>
          <p:cNvPicPr>
            <a:picLocks noChangeAspect="1"/>
          </p:cNvPicPr>
          <p:nvPr/>
        </p:nvPicPr>
        <p:blipFill>
          <a:blip r:embed="rId7"/>
          <a:stretch>
            <a:fillRect/>
          </a:stretch>
        </p:blipFill>
        <p:spPr>
          <a:xfrm>
            <a:off x="6565953" y="5555424"/>
            <a:ext cx="134549" cy="195707"/>
          </a:xfrm>
          <a:prstGeom prst="rect">
            <a:avLst/>
          </a:prstGeom>
        </p:spPr>
      </p:pic>
      <p:sp>
        <p:nvSpPr>
          <p:cNvPr id="43" name="TextBox 42"/>
          <p:cNvSpPr txBox="1"/>
          <p:nvPr/>
        </p:nvSpPr>
        <p:spPr>
          <a:xfrm>
            <a:off x="6741062" y="5565647"/>
            <a:ext cx="4441440"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a:t>
            </a:r>
          </a:p>
        </p:txBody>
      </p:sp>
      <p:sp>
        <p:nvSpPr>
          <p:cNvPr id="44"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Distribution Channel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276475"/>
          </a:xfrm>
          <a:prstGeom prst="roundRect">
            <a:avLst>
              <a:gd name="adj" fmla="val 3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Distribution Channel (Units)</a:t>
            </a:r>
          </a:p>
        </p:txBody>
      </p:sp>
      <p:graphicFrame>
        <p:nvGraphicFramePr>
          <p:cNvPr id="13" name="Table 12"/>
          <p:cNvGraphicFramePr>
            <a:graphicFrameLocks noGrp="1"/>
          </p:cNvGraphicFramePr>
          <p:nvPr/>
        </p:nvGraphicFramePr>
        <p:xfrm>
          <a:off x="152400" y="1238250"/>
          <a:ext cx="11887208" cy="180974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Distribution</a:t>
                      </a:r>
                      <a:endParaRPr sz="1100"/>
                    </a:p>
                    <a:p>
                      <a:pPr algn="l"/>
                      <a:r>
                        <a:rPr sz="1100" b="1">
                          <a:solidFill>
                            <a:srgbClr val="0B2E4A"/>
                          </a:solidFill>
                          <a:latin typeface="Calibri"/>
                        </a:rPr>
                        <a:t>Channel</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317">
                <a:tc>
                  <a:txBody>
                    <a:bodyPr wrap="none"/>
                    <a:lstStyle/>
                    <a:p>
                      <a:pPr algn="l"/>
                      <a:r>
                        <a:rPr sz="1100" b="1">
                          <a:solidFill>
                            <a:srgbClr val="2E2E2E"/>
                          </a:solidFill>
                          <a:latin typeface="Calibri"/>
                        </a:rPr>
                        <a:t>Direct Sales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101">
                <a:tc>
                  <a:txBody>
                    <a:bodyPr wrap="none"/>
                    <a:lstStyle/>
                    <a:p>
                      <a:pPr algn="l"/>
                      <a:r>
                        <a:rPr sz="1100" b="1">
                          <a:solidFill>
                            <a:srgbClr val="2E2E2E"/>
                          </a:solidFill>
                          <a:latin typeface="Calibri"/>
                        </a:rPr>
                        <a:t>Dental Dealers &amp;</a:t>
                      </a:r>
                      <a:endParaRPr sz="1100"/>
                    </a:p>
                    <a:p>
                      <a:pPr algn="l"/>
                      <a:r>
                        <a:rPr sz="1100" b="1">
                          <a:solidFill>
                            <a:srgbClr val="2E2E2E"/>
                          </a:solidFill>
                          <a:latin typeface="Calibri"/>
                        </a:rPr>
                        <a:t>Distributors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101">
                <a:tc>
                  <a:txBody>
                    <a:bodyPr wrap="none"/>
                    <a:lstStyle/>
                    <a:p>
                      <a:pPr algn="l"/>
                      <a:r>
                        <a:rPr sz="1100" b="1">
                          <a:solidFill>
                            <a:srgbClr val="2E2E2E"/>
                          </a:solidFill>
                          <a:latin typeface="Calibri"/>
                        </a:rPr>
                        <a:t>Online Dental</a:t>
                      </a:r>
                      <a:endParaRPr sz="1100"/>
                    </a:p>
                    <a:p>
                      <a:pPr algn="l"/>
                      <a:r>
                        <a:rPr sz="1100" b="1">
                          <a:solidFill>
                            <a:srgbClr val="2E2E2E"/>
                          </a:solidFill>
                          <a:latin typeface="Calibri"/>
                        </a:rPr>
                        <a:t>Supply Channels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057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0900"/>
            <a:ext cx="11906250" cy="3238500"/>
          </a:xfrm>
          <a:prstGeom prst="roundRect">
            <a:avLst>
              <a:gd name="adj" fmla="val 23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4766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Distribution Channel</a:t>
            </a:r>
          </a:p>
        </p:txBody>
      </p:sp>
      <p:sp>
        <p:nvSpPr>
          <p:cNvPr id="17" name="Rectangle 16"/>
          <p:cNvSpPr/>
          <p:nvPr/>
        </p:nvSpPr>
        <p:spPr>
          <a:xfrm>
            <a:off x="276225" y="3714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00475"/>
            <a:ext cx="11639550" cy="27527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095880"/>
            <a:ext cx="366712" cy="533400"/>
          </a:xfrm>
          <a:prstGeom prst="rect">
            <a:avLst/>
          </a:prstGeom>
        </p:spPr>
      </p:pic>
      <p:sp>
        <p:nvSpPr>
          <p:cNvPr id="21" name="TextBox 20"/>
          <p:cNvSpPr txBox="1"/>
          <p:nvPr/>
        </p:nvSpPr>
        <p:spPr>
          <a:xfrm>
            <a:off x="276225" y="38100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799776"/>
            <a:ext cx="134549" cy="195707"/>
          </a:xfrm>
          <a:prstGeom prst="rect">
            <a:avLst/>
          </a:prstGeom>
        </p:spPr>
      </p:pic>
      <p:sp>
        <p:nvSpPr>
          <p:cNvPr id="23" name="TextBox 22"/>
          <p:cNvSpPr txBox="1"/>
          <p:nvPr/>
        </p:nvSpPr>
        <p:spPr>
          <a:xfrm>
            <a:off x="4115387" y="3810000"/>
            <a:ext cx="7353882" cy="194310"/>
          </a:xfrm>
          <a:prstGeom prst="rect">
            <a:avLst/>
          </a:prstGeom>
          <a:noFill/>
        </p:spPr>
        <p:txBody>
          <a:bodyPr wrap="none" lIns="0" rIns="0" tIns="0" bIns="0">
            <a:spAutoFit/>
          </a:bodyPr>
          <a:lstStyle/>
          <a:p>
            <a:r>
              <a:rPr sz="1150" b="0">
                <a:solidFill>
                  <a:srgbClr val="2E2E2E"/>
                </a:solidFill>
                <a:latin typeface="Calibri"/>
              </a:rPr>
              <a:t>X higher volume than direct sales segment in 2036. Among removable partial dentures by distribution channel, direct sales</a:t>
            </a:r>
          </a:p>
        </p:txBody>
      </p:sp>
      <p:sp>
        <p:nvSpPr>
          <p:cNvPr id="24" name="TextBox 23"/>
          <p:cNvSpPr txBox="1"/>
          <p:nvPr/>
        </p:nvSpPr>
        <p:spPr>
          <a:xfrm>
            <a:off x="276225" y="39852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975036"/>
            <a:ext cx="134549" cy="195707"/>
          </a:xfrm>
          <a:prstGeom prst="rect">
            <a:avLst/>
          </a:prstGeom>
        </p:spPr>
      </p:pic>
      <p:sp>
        <p:nvSpPr>
          <p:cNvPr id="26" name="TextBox 25"/>
          <p:cNvSpPr txBox="1"/>
          <p:nvPr/>
        </p:nvSpPr>
        <p:spPr>
          <a:xfrm>
            <a:off x="3557127" y="39852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213097"/>
            <a:ext cx="8085273" cy="194310"/>
          </a:xfrm>
          <a:prstGeom prst="rect">
            <a:avLst/>
          </a:prstGeom>
          <a:noFill/>
        </p:spPr>
        <p:txBody>
          <a:bodyPr wrap="none" lIns="0" rIns="0" tIns="0" bIns="0">
            <a:spAutoFit/>
          </a:bodyPr>
          <a:lstStyle/>
          <a:p>
            <a:r>
              <a:rPr sz="1150" b="0">
                <a:solidFill>
                  <a:srgbClr val="2E2E2E"/>
                </a:solidFill>
                <a:latin typeface="Calibri"/>
              </a:rPr>
              <a:t>In terms of volume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310652" y="4202874"/>
            <a:ext cx="134549" cy="195707"/>
          </a:xfrm>
          <a:prstGeom prst="rect">
            <a:avLst/>
          </a:prstGeom>
        </p:spPr>
      </p:pic>
      <p:sp>
        <p:nvSpPr>
          <p:cNvPr id="29" name="TextBox 28"/>
          <p:cNvSpPr txBox="1"/>
          <p:nvPr/>
        </p:nvSpPr>
        <p:spPr>
          <a:xfrm>
            <a:off x="8485762" y="42130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80905" y="4202874"/>
            <a:ext cx="134549" cy="195707"/>
          </a:xfrm>
          <a:prstGeom prst="rect">
            <a:avLst/>
          </a:prstGeom>
        </p:spPr>
      </p:pic>
      <p:sp>
        <p:nvSpPr>
          <p:cNvPr id="31" name="TextBox 30"/>
          <p:cNvSpPr txBox="1"/>
          <p:nvPr/>
        </p:nvSpPr>
        <p:spPr>
          <a:xfrm>
            <a:off x="10056014" y="42130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Distribution Channel (US$ Mn)</a:t>
            </a:r>
          </a:p>
        </p:txBody>
      </p:sp>
      <p:graphicFrame>
        <p:nvGraphicFramePr>
          <p:cNvPr id="13" name="Table 12"/>
          <p:cNvGraphicFramePr>
            <a:graphicFrameLocks noGrp="1"/>
          </p:cNvGraphicFramePr>
          <p:nvPr/>
        </p:nvGraphicFramePr>
        <p:xfrm>
          <a:off x="152400" y="1238250"/>
          <a:ext cx="11887206" cy="1238250"/>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Distribution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30200" y="1713738"/>
            <a:ext cx="366712" cy="533400"/>
          </a:xfrm>
          <a:prstGeom prst="rect">
            <a:avLst/>
          </a:prstGeom>
        </p:spPr>
      </p:pic>
      <p:sp>
        <p:nvSpPr>
          <p:cNvPr id="21" name="TextBox 20"/>
          <p:cNvSpPr txBox="1"/>
          <p:nvPr/>
        </p:nvSpPr>
        <p:spPr>
          <a:xfrm>
            <a:off x="276225" y="32385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228276"/>
            <a:ext cx="134549" cy="195707"/>
          </a:xfrm>
          <a:prstGeom prst="rect">
            <a:avLst/>
          </a:prstGeom>
        </p:spPr>
      </p:pic>
      <p:sp>
        <p:nvSpPr>
          <p:cNvPr id="23" name="TextBox 22"/>
          <p:cNvSpPr txBox="1"/>
          <p:nvPr/>
        </p:nvSpPr>
        <p:spPr>
          <a:xfrm>
            <a:off x="4115387" y="3238500"/>
            <a:ext cx="7230082" cy="194310"/>
          </a:xfrm>
          <a:prstGeom prst="rect">
            <a:avLst/>
          </a:prstGeom>
          <a:noFill/>
        </p:spPr>
        <p:txBody>
          <a:bodyPr wrap="none" lIns="0" rIns="0" tIns="0" bIns="0">
            <a:spAutoFit/>
          </a:bodyPr>
          <a:lstStyle/>
          <a:p>
            <a:r>
              <a:rPr sz="1150" b="0">
                <a:solidFill>
                  <a:srgbClr val="2E2E2E"/>
                </a:solidFill>
                <a:latin typeface="Calibri"/>
              </a:rPr>
              <a:t>X higher value than direct sales segment in 2036. Among removable partial dentures by distribution channel, direct sales</a:t>
            </a:r>
          </a:p>
        </p:txBody>
      </p:sp>
      <p:sp>
        <p:nvSpPr>
          <p:cNvPr id="24" name="TextBox 23"/>
          <p:cNvSpPr txBox="1"/>
          <p:nvPr/>
        </p:nvSpPr>
        <p:spPr>
          <a:xfrm>
            <a:off x="276225" y="34137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403536"/>
            <a:ext cx="134549" cy="195707"/>
          </a:xfrm>
          <a:prstGeom prst="rect">
            <a:avLst/>
          </a:prstGeom>
        </p:spPr>
      </p:pic>
      <p:sp>
        <p:nvSpPr>
          <p:cNvPr id="26" name="TextBox 25"/>
          <p:cNvSpPr txBox="1"/>
          <p:nvPr/>
        </p:nvSpPr>
        <p:spPr>
          <a:xfrm>
            <a:off x="3557127"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7961473"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186852" y="3631374"/>
            <a:ext cx="134549" cy="195707"/>
          </a:xfrm>
          <a:prstGeom prst="rect">
            <a:avLst/>
          </a:prstGeom>
        </p:spPr>
      </p:pic>
      <p:sp>
        <p:nvSpPr>
          <p:cNvPr id="29" name="TextBox 28"/>
          <p:cNvSpPr txBox="1"/>
          <p:nvPr/>
        </p:nvSpPr>
        <p:spPr>
          <a:xfrm>
            <a:off x="8361961"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757105" y="3631374"/>
            <a:ext cx="134549" cy="195707"/>
          </a:xfrm>
          <a:prstGeom prst="rect">
            <a:avLst/>
          </a:prstGeom>
        </p:spPr>
      </p:pic>
      <p:sp>
        <p:nvSpPr>
          <p:cNvPr id="31" name="TextBox 30"/>
          <p:cNvSpPr txBox="1"/>
          <p:nvPr/>
        </p:nvSpPr>
        <p:spPr>
          <a:xfrm>
            <a:off x="9932214" y="36415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5445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496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734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Dental Supply Channels</a:t>
            </a:r>
          </a:p>
        </p:txBody>
      </p:sp>
      <p:sp>
        <p:nvSpPr>
          <p:cNvPr id="19" name="BPS Value 1"/>
          <p:cNvSpPr txBox="1"/>
          <p:nvPr/>
        </p:nvSpPr>
        <p:spPr>
          <a:xfrm>
            <a:off x="6896100" y="183540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5932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5456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836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 Sales</a:t>
            </a:r>
          </a:p>
        </p:txBody>
      </p:sp>
      <p:sp>
        <p:nvSpPr>
          <p:cNvPr id="23" name="BPS Value 2"/>
          <p:cNvSpPr txBox="1"/>
          <p:nvPr/>
        </p:nvSpPr>
        <p:spPr>
          <a:xfrm>
            <a:off x="6896100" y="2840272"/>
            <a:ext cx="514350" cy="123825"/>
          </a:xfrm>
          <a:prstGeom prst="rect">
            <a:avLst/>
          </a:prstGeom>
          <a:noFill/>
        </p:spPr>
        <p:txBody>
          <a:bodyPr wrap="none" lIns="19050" rIns="19050" tIns="0" bIns="0" anchor="ctr">
            <a:spAutoFit/>
          </a:bodyPr>
          <a:lstStyle/>
          <a:p>
            <a:pPr algn="r"/>
            <a:r>
              <a:rPr sz="900" b="1">
                <a:solidFill>
                  <a:srgbClr val="2E7D32"/>
                </a:solidFill>
                <a:latin typeface="Calibri"/>
              </a:rPr>
              <a:t>XX</a:t>
            </a:r>
          </a:p>
        </p:txBody>
      </p:sp>
      <p:sp>
        <p:nvSpPr>
          <p:cNvPr id="24" name="FMI Legend Chip"/>
          <p:cNvSpPr/>
          <p:nvPr/>
        </p:nvSpPr>
        <p:spPr>
          <a:xfrm>
            <a:off x="4928997" y="496231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9575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813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Dental Dealers &amp; Distributors</a:t>
            </a:r>
          </a:p>
        </p:txBody>
      </p:sp>
      <p:sp>
        <p:nvSpPr>
          <p:cNvPr id="27" name="BPS Value 3"/>
          <p:cNvSpPr txBox="1"/>
          <p:nvPr/>
        </p:nvSpPr>
        <p:spPr>
          <a:xfrm>
            <a:off x="6896100" y="4943268"/>
            <a:ext cx="514350" cy="123825"/>
          </a:xfrm>
          <a:prstGeom prst="rect">
            <a:avLst/>
          </a:prstGeom>
          <a:noFill/>
        </p:spPr>
        <p:txBody>
          <a:bodyPr wrap="none" lIns="19050" rIns="1905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Distribution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968774" cy="194310"/>
          </a:xfrm>
          <a:prstGeom prst="rect">
            <a:avLst/>
          </a:prstGeom>
          <a:noFill/>
        </p:spPr>
        <p:txBody>
          <a:bodyPr wrap="none" lIns="0" rIns="0" tIns="0" bIns="0">
            <a:spAutoFit/>
          </a:bodyPr>
          <a:lstStyle/>
          <a:p>
            <a:r>
              <a:rPr sz="1150" b="0">
                <a:solidFill>
                  <a:srgbClr val="2E2E2E"/>
                </a:solidFill>
                <a:latin typeface="Calibri"/>
              </a:rPr>
              <a:t>Among removable partial dentures by distribution channel, direct</a:t>
            </a:r>
          </a:p>
        </p:txBody>
      </p:sp>
      <p:sp>
        <p:nvSpPr>
          <p:cNvPr id="35" name="TextBox 34"/>
          <p:cNvSpPr txBox="1"/>
          <p:nvPr/>
        </p:nvSpPr>
        <p:spPr>
          <a:xfrm>
            <a:off x="7829550" y="1575435"/>
            <a:ext cx="3480117" cy="194310"/>
          </a:xfrm>
          <a:prstGeom prst="rect">
            <a:avLst/>
          </a:prstGeom>
          <a:noFill/>
        </p:spPr>
        <p:txBody>
          <a:bodyPr wrap="none" lIns="0" rIns="0" tIns="0" bIns="0">
            <a:spAutoFit/>
          </a:bodyPr>
          <a:lstStyle/>
          <a:p>
            <a:r>
              <a:rPr sz="1150" b="0">
                <a:solidFill>
                  <a:srgbClr val="2E2E2E"/>
                </a:solidFill>
                <a:latin typeface="Calibri"/>
              </a:rPr>
              <a:t>sales segment is expected to witness the highest CAGR of</a:t>
            </a:r>
          </a:p>
        </p:txBody>
      </p:sp>
      <p:pic>
        <p:nvPicPr>
          <p:cNvPr id="36" name="Picture 35" descr="lock.png"/>
          <p:cNvPicPr>
            <a:picLocks noChangeAspect="1"/>
          </p:cNvPicPr>
          <p:nvPr/>
        </p:nvPicPr>
        <p:blipFill>
          <a:blip r:embed="rId5"/>
          <a:stretch>
            <a:fillRect/>
          </a:stretch>
        </p:blipFill>
        <p:spPr>
          <a:xfrm>
            <a:off x="11258820" y="1565211"/>
            <a:ext cx="134549" cy="195707"/>
          </a:xfrm>
          <a:prstGeom prst="rect">
            <a:avLst/>
          </a:prstGeom>
        </p:spPr>
      </p:pic>
      <p:sp>
        <p:nvSpPr>
          <p:cNvPr id="37" name="TextBox 36"/>
          <p:cNvSpPr txBox="1"/>
          <p:nvPr/>
        </p:nvSpPr>
        <p:spPr>
          <a:xfrm>
            <a:off x="11433930" y="157543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38" name="TextBox 37"/>
          <p:cNvSpPr txBox="1"/>
          <p:nvPr/>
        </p:nvSpPr>
        <p:spPr>
          <a:xfrm>
            <a:off x="7829550" y="1750695"/>
            <a:ext cx="1248878" cy="194310"/>
          </a:xfrm>
          <a:prstGeom prst="rect">
            <a:avLst/>
          </a:prstGeom>
          <a:noFill/>
        </p:spPr>
        <p:txBody>
          <a:bodyPr wrap="none" lIns="0" rIns="0" tIns="0" bIns="0">
            <a:spAutoFit/>
          </a:bodyPr>
          <a:lstStyle/>
          <a:p>
            <a:r>
              <a:rPr sz="1150" b="0">
                <a:solidFill>
                  <a:srgbClr val="2E2E2E"/>
                </a:solidFill>
                <a:latin typeface="Calibri"/>
              </a:rPr>
              <a:t>the forecast period.</a:t>
            </a:r>
          </a:p>
        </p:txBody>
      </p:sp>
      <p:sp>
        <p:nvSpPr>
          <p:cNvPr id="39" name="TextBox 38"/>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a:t>
            </a:r>
          </a:p>
        </p:txBody>
      </p:sp>
      <p:sp>
        <p:nvSpPr>
          <p:cNvPr id="40" name="TextBox 39"/>
          <p:cNvSpPr txBox="1"/>
          <p:nvPr/>
        </p:nvSpPr>
        <p:spPr>
          <a:xfrm>
            <a:off x="7829550" y="2153793"/>
            <a:ext cx="3886621" cy="194310"/>
          </a:xfrm>
          <a:prstGeom prst="rect">
            <a:avLst/>
          </a:prstGeom>
          <a:noFill/>
        </p:spPr>
        <p:txBody>
          <a:bodyPr wrap="none" lIns="0" rIns="0" tIns="0" bIns="0">
            <a:spAutoFit/>
          </a:bodyPr>
          <a:lstStyle/>
          <a:p>
            <a:r>
              <a:rPr sz="1150" b="0">
                <a:solidFill>
                  <a:srgbClr val="2E2E2E"/>
                </a:solidFill>
                <a:latin typeface="Calibri"/>
              </a:rPr>
              <a:t>distributors segment is expected to dominate the market, losing</a:t>
            </a:r>
          </a:p>
        </p:txBody>
      </p:sp>
      <p:pic>
        <p:nvPicPr>
          <p:cNvPr id="41" name="Picture 40" descr="lock.png"/>
          <p:cNvPicPr>
            <a:picLocks noChangeAspect="1"/>
          </p:cNvPicPr>
          <p:nvPr/>
        </p:nvPicPr>
        <p:blipFill>
          <a:blip r:embed="rId5"/>
          <a:stretch>
            <a:fillRect/>
          </a:stretch>
        </p:blipFill>
        <p:spPr>
          <a:xfrm>
            <a:off x="7815470" y="2318829"/>
            <a:ext cx="134549" cy="195707"/>
          </a:xfrm>
          <a:prstGeom prst="rect">
            <a:avLst/>
          </a:prstGeom>
        </p:spPr>
      </p:pic>
      <p:sp>
        <p:nvSpPr>
          <p:cNvPr id="42" name="TextBox 41"/>
          <p:cNvSpPr txBox="1"/>
          <p:nvPr/>
        </p:nvSpPr>
        <p:spPr>
          <a:xfrm>
            <a:off x="7990579"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385722" y="2318829"/>
            <a:ext cx="134549" cy="195707"/>
          </a:xfrm>
          <a:prstGeom prst="rect">
            <a:avLst/>
          </a:prstGeom>
        </p:spPr>
      </p:pic>
      <p:sp>
        <p:nvSpPr>
          <p:cNvPr id="44" name="TextBox 43"/>
          <p:cNvSpPr txBox="1"/>
          <p:nvPr/>
        </p:nvSpPr>
        <p:spPr>
          <a:xfrm>
            <a:off x="956083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Patient Age Group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Patient Age Group,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Patient Age Group segment categorizes the market by patient age group.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Geriatric Patients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Adults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Patient Age Group split shows how demand is distributed across patient age group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53_5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60_8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6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17_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163_1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3_3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5834" cy="186689"/>
          </a:xfrm>
          <a:prstGeom prst="rect">
            <a:avLst/>
          </a:prstGeom>
          <a:noFill/>
        </p:spPr>
        <p:txBody>
          <a:bodyPr wrap="none" lIns="0" rIns="0" tIns="0" bIns="0">
            <a:spAutoFit/>
          </a:bodyPr>
          <a:lstStyle/>
          <a:p>
            <a:r>
              <a:rPr sz="1100" b="0">
                <a:solidFill>
                  <a:srgbClr val="2E2E2E"/>
                </a:solidFill>
                <a:latin typeface="Calibri"/>
              </a:rPr>
              <a:t>▪ ¶ Among removable partial dentures by patient</a:t>
            </a:r>
          </a:p>
        </p:txBody>
      </p:sp>
      <p:sp>
        <p:nvSpPr>
          <p:cNvPr id="59" name="TextBox 58"/>
          <p:cNvSpPr txBox="1"/>
          <p:nvPr/>
        </p:nvSpPr>
        <p:spPr>
          <a:xfrm>
            <a:off x="485775" y="4397077"/>
            <a:ext cx="2872928" cy="186689"/>
          </a:xfrm>
          <a:prstGeom prst="rect">
            <a:avLst/>
          </a:prstGeom>
          <a:noFill/>
        </p:spPr>
        <p:txBody>
          <a:bodyPr wrap="none" lIns="0" rIns="0" tIns="0" bIns="0">
            <a:spAutoFit/>
          </a:bodyPr>
          <a:lstStyle/>
          <a:p>
            <a:r>
              <a:rPr sz="1100" b="0">
                <a:solidFill>
                  <a:srgbClr val="2E2E2E"/>
                </a:solidFill>
                <a:latin typeface="Calibri"/>
              </a:rPr>
              <a:t>age group, geriatric patients segment is expected</a:t>
            </a:r>
          </a:p>
        </p:txBody>
      </p:sp>
      <p:sp>
        <p:nvSpPr>
          <p:cNvPr id="60" name="TextBox 59"/>
          <p:cNvSpPr txBox="1"/>
          <p:nvPr/>
        </p:nvSpPr>
        <p:spPr>
          <a:xfrm>
            <a:off x="485775" y="4564717"/>
            <a:ext cx="1827344" cy="186689"/>
          </a:xfrm>
          <a:prstGeom prst="rect">
            <a:avLst/>
          </a:prstGeom>
          <a:noFill/>
        </p:spPr>
        <p:txBody>
          <a:bodyPr wrap="none" lIns="0" rIns="0" tIns="0" bIns="0">
            <a:spAutoFit/>
          </a:bodyPr>
          <a:lstStyle/>
          <a:p>
            <a:r>
              <a:rPr sz="1100" b="0">
                <a:solidFill>
                  <a:srgbClr val="2E2E2E"/>
                </a:solidFill>
                <a:latin typeface="Calibri"/>
              </a:rPr>
              <a:t>to witness the highest CAGR of</a:t>
            </a:r>
          </a:p>
        </p:txBody>
      </p:sp>
      <p:pic>
        <p:nvPicPr>
          <p:cNvPr id="61" name="Picture 60" descr="lock.png"/>
          <p:cNvPicPr>
            <a:picLocks noChangeAspect="1"/>
          </p:cNvPicPr>
          <p:nvPr/>
        </p:nvPicPr>
        <p:blipFill>
          <a:blip r:embed="rId10"/>
          <a:stretch>
            <a:fillRect/>
          </a:stretch>
        </p:blipFill>
        <p:spPr>
          <a:xfrm>
            <a:off x="2261170" y="4554938"/>
            <a:ext cx="128699" cy="187198"/>
          </a:xfrm>
          <a:prstGeom prst="rect">
            <a:avLst/>
          </a:prstGeom>
        </p:spPr>
      </p:pic>
      <p:sp>
        <p:nvSpPr>
          <p:cNvPr id="62" name="TextBox 61"/>
          <p:cNvSpPr txBox="1"/>
          <p:nvPr/>
        </p:nvSpPr>
        <p:spPr>
          <a:xfrm>
            <a:off x="2428666" y="4564717"/>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3" name="TextBox 62"/>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forecast period. In terms of value share by patient</a:t>
            </a:r>
          </a:p>
        </p:txBody>
      </p:sp>
      <p:sp>
        <p:nvSpPr>
          <p:cNvPr id="64" name="TextBox 63"/>
          <p:cNvSpPr txBox="1"/>
          <p:nvPr/>
        </p:nvSpPr>
        <p:spPr>
          <a:xfrm>
            <a:off x="485775" y="4899997"/>
            <a:ext cx="2540595" cy="186689"/>
          </a:xfrm>
          <a:prstGeom prst="rect">
            <a:avLst/>
          </a:prstGeom>
          <a:noFill/>
        </p:spPr>
        <p:txBody>
          <a:bodyPr wrap="none" lIns="0" rIns="0" tIns="0" bIns="0">
            <a:spAutoFit/>
          </a:bodyPr>
          <a:lstStyle/>
          <a:p>
            <a:r>
              <a:rPr sz="1100" b="0">
                <a:solidFill>
                  <a:srgbClr val="2E2E2E"/>
                </a:solidFill>
                <a:latin typeface="Calibri"/>
              </a:rPr>
              <a:t>age group, the geriatric patients segment is</a:t>
            </a:r>
          </a:p>
        </p:txBody>
      </p:sp>
      <p:sp>
        <p:nvSpPr>
          <p:cNvPr id="65" name="TextBox 64"/>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66" name="Picture 65" descr="lock.png"/>
          <p:cNvPicPr>
            <a:picLocks noChangeAspect="1"/>
          </p:cNvPicPr>
          <p:nvPr/>
        </p:nvPicPr>
        <p:blipFill>
          <a:blip r:embed="rId10"/>
          <a:stretch>
            <a:fillRect/>
          </a:stretch>
        </p:blipFill>
        <p:spPr>
          <a:xfrm>
            <a:off x="2900479" y="5057858"/>
            <a:ext cx="128699" cy="187198"/>
          </a:xfrm>
          <a:prstGeom prst="rect">
            <a:avLst/>
          </a:prstGeom>
        </p:spPr>
      </p:pic>
      <p:sp>
        <p:nvSpPr>
          <p:cNvPr id="67" name="TextBox 66"/>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32546" cy="186689"/>
          </a:xfrm>
          <a:prstGeom prst="rect">
            <a:avLst/>
          </a:prstGeom>
          <a:noFill/>
        </p:spPr>
        <p:txBody>
          <a:bodyPr wrap="none" lIns="0" rIns="0" tIns="0" bIns="0">
            <a:spAutoFit/>
          </a:bodyPr>
          <a:lstStyle/>
          <a:p>
            <a:r>
              <a:rPr sz="1100" b="0">
                <a:solidFill>
                  <a:srgbClr val="2E2E2E"/>
                </a:solidFill>
                <a:latin typeface="Calibri"/>
              </a:rPr>
              <a:t>▪ ¶ Geriatric patients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2211809" cy="186689"/>
          </a:xfrm>
          <a:prstGeom prst="rect">
            <a:avLst/>
          </a:prstGeom>
          <a:noFill/>
        </p:spPr>
        <p:txBody>
          <a:bodyPr wrap="none" lIns="0" rIns="0" tIns="0" bIns="0">
            <a:spAutoFit/>
          </a:bodyPr>
          <a:lstStyle/>
          <a:p>
            <a:r>
              <a:rPr sz="1100" b="0">
                <a:solidFill>
                  <a:srgbClr val="2E2E2E"/>
                </a:solidFill>
                <a:latin typeface="Calibri"/>
              </a:rPr>
              <a:t>X higher value than adults segment in</a:t>
            </a:r>
          </a:p>
        </p:txBody>
      </p:sp>
      <p:sp>
        <p:nvSpPr>
          <p:cNvPr id="75" name="TextBox 74"/>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6" name="TextBox 75"/>
          <p:cNvSpPr txBox="1"/>
          <p:nvPr/>
        </p:nvSpPr>
        <p:spPr>
          <a:xfrm>
            <a:off x="3838575" y="4229437"/>
            <a:ext cx="1216719" cy="186689"/>
          </a:xfrm>
          <a:prstGeom prst="rect">
            <a:avLst/>
          </a:prstGeom>
          <a:noFill/>
        </p:spPr>
        <p:txBody>
          <a:bodyPr wrap="none" lIns="0" rIns="0" tIns="0" bIns="0">
            <a:spAutoFit/>
          </a:bodyPr>
          <a:lstStyle/>
          <a:p>
            <a:r>
              <a:rPr sz="1100" b="0">
                <a:solidFill>
                  <a:srgbClr val="2E2E2E"/>
                </a:solidFill>
                <a:latin typeface="Calibri"/>
              </a:rPr>
              <a:t>● Geriatric Patients:</a:t>
            </a:r>
          </a:p>
        </p:txBody>
      </p:sp>
      <p:pic>
        <p:nvPicPr>
          <p:cNvPr id="77" name="Picture 76" descr="lock.png"/>
          <p:cNvPicPr>
            <a:picLocks noChangeAspect="1"/>
          </p:cNvPicPr>
          <p:nvPr/>
        </p:nvPicPr>
        <p:blipFill>
          <a:blip r:embed="rId10"/>
          <a:stretch>
            <a:fillRect/>
          </a:stretch>
        </p:blipFill>
        <p:spPr>
          <a:xfrm>
            <a:off x="5003346" y="4219658"/>
            <a:ext cx="128699" cy="187198"/>
          </a:xfrm>
          <a:prstGeom prst="rect">
            <a:avLst/>
          </a:prstGeom>
        </p:spPr>
      </p:pic>
      <p:sp>
        <p:nvSpPr>
          <p:cNvPr id="78" name="TextBox 77"/>
          <p:cNvSpPr txBox="1"/>
          <p:nvPr/>
        </p:nvSpPr>
        <p:spPr>
          <a:xfrm>
            <a:off x="517084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30292" y="4219658"/>
            <a:ext cx="128699" cy="187198"/>
          </a:xfrm>
          <a:prstGeom prst="rect">
            <a:avLst/>
          </a:prstGeom>
        </p:spPr>
      </p:pic>
      <p:sp>
        <p:nvSpPr>
          <p:cNvPr id="80" name="TextBox 79"/>
          <p:cNvSpPr txBox="1"/>
          <p:nvPr/>
        </p:nvSpPr>
        <p:spPr>
          <a:xfrm>
            <a:off x="619778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590798" cy="186689"/>
          </a:xfrm>
          <a:prstGeom prst="rect">
            <a:avLst/>
          </a:prstGeom>
          <a:noFill/>
        </p:spPr>
        <p:txBody>
          <a:bodyPr wrap="none" lIns="0" rIns="0" tIns="0" bIns="0">
            <a:spAutoFit/>
          </a:bodyPr>
          <a:lstStyle/>
          <a:p>
            <a:r>
              <a:rPr sz="1100" b="0">
                <a:solidFill>
                  <a:srgbClr val="2E2E2E"/>
                </a:solidFill>
                <a:latin typeface="Calibri"/>
              </a:rPr>
              <a:t>● Adults:</a:t>
            </a:r>
          </a:p>
        </p:txBody>
      </p:sp>
      <p:pic>
        <p:nvPicPr>
          <p:cNvPr id="82" name="Picture 81" descr="lock.png"/>
          <p:cNvPicPr>
            <a:picLocks noChangeAspect="1"/>
          </p:cNvPicPr>
          <p:nvPr/>
        </p:nvPicPr>
        <p:blipFill>
          <a:blip r:embed="rId10"/>
          <a:stretch>
            <a:fillRect/>
          </a:stretch>
        </p:blipFill>
        <p:spPr>
          <a:xfrm>
            <a:off x="4377424" y="4437590"/>
            <a:ext cx="128699" cy="187198"/>
          </a:xfrm>
          <a:prstGeom prst="rect">
            <a:avLst/>
          </a:prstGeom>
        </p:spPr>
      </p:pic>
      <p:sp>
        <p:nvSpPr>
          <p:cNvPr id="83" name="TextBox 82"/>
          <p:cNvSpPr txBox="1"/>
          <p:nvPr/>
        </p:nvSpPr>
        <p:spPr>
          <a:xfrm>
            <a:off x="454492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5404370" y="4437590"/>
            <a:ext cx="128699" cy="187198"/>
          </a:xfrm>
          <a:prstGeom prst="rect">
            <a:avLst/>
          </a:prstGeom>
        </p:spPr>
      </p:pic>
      <p:sp>
        <p:nvSpPr>
          <p:cNvPr id="85" name="TextBox 84"/>
          <p:cNvSpPr txBox="1"/>
          <p:nvPr/>
        </p:nvSpPr>
        <p:spPr>
          <a:xfrm>
            <a:off x="5571866"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6" name="TextBox 85"/>
          <p:cNvSpPr txBox="1"/>
          <p:nvPr/>
        </p:nvSpPr>
        <p:spPr>
          <a:xfrm>
            <a:off x="8524875" y="5842641"/>
            <a:ext cx="2913335" cy="194310"/>
          </a:xfrm>
          <a:prstGeom prst="rect">
            <a:avLst/>
          </a:prstGeom>
          <a:noFill/>
        </p:spPr>
        <p:txBody>
          <a:bodyPr wrap="none" lIns="0" rIns="0" tIns="0" bIns="0">
            <a:spAutoFit/>
          </a:bodyPr>
          <a:lstStyle/>
          <a:p>
            <a:r>
              <a:rPr sz="1150" b="1">
                <a:solidFill>
                  <a:srgbClr val="0B2E4A"/>
                </a:solidFill>
                <a:latin typeface="Calibri"/>
              </a:rPr>
              <a:t>The Patient Age Group segment is projected to</a:t>
            </a:r>
          </a:p>
        </p:txBody>
      </p:sp>
      <p:sp>
        <p:nvSpPr>
          <p:cNvPr id="87" name="TextBox 86"/>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88" name="Picture 87" descr="lock.png"/>
          <p:cNvPicPr>
            <a:picLocks noChangeAspect="1"/>
          </p:cNvPicPr>
          <p:nvPr/>
        </p:nvPicPr>
        <p:blipFill>
          <a:blip r:embed="rId10"/>
          <a:stretch>
            <a:fillRect/>
          </a:stretch>
        </p:blipFill>
        <p:spPr>
          <a:xfrm>
            <a:off x="9651852" y="6007677"/>
            <a:ext cx="134549" cy="195707"/>
          </a:xfrm>
          <a:prstGeom prst="rect">
            <a:avLst/>
          </a:prstGeom>
        </p:spPr>
      </p:pic>
      <p:sp>
        <p:nvSpPr>
          <p:cNvPr id="89" name="TextBox 88"/>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Patient Age Group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Patient Age Group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Patient Age Group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459567" cy="186689"/>
          </a:xfrm>
          <a:prstGeom prst="rect">
            <a:avLst/>
          </a:prstGeom>
          <a:noFill/>
        </p:spPr>
        <p:txBody>
          <a:bodyPr wrap="none" lIns="0" rIns="0" tIns="0" bIns="0">
            <a:spAutoFit/>
          </a:bodyPr>
          <a:lstStyle/>
          <a:p>
            <a:r>
              <a:rPr sz="1100" b="0">
                <a:solidFill>
                  <a:srgbClr val="2E2E2E"/>
                </a:solidFill>
                <a:latin typeface="Calibri"/>
              </a:rPr>
              <a:t>Geriatric patients followed by adults are expected to be the two most attractive patient age group segments in the North America removable partial dentures market in terms of value over the forecast</a:t>
            </a:r>
          </a:p>
        </p:txBody>
      </p:sp>
      <p:sp>
        <p:nvSpPr>
          <p:cNvPr id="21" name="TextBox 20"/>
          <p:cNvSpPr txBox="1"/>
          <p:nvPr/>
        </p:nvSpPr>
        <p:spPr>
          <a:xfrm>
            <a:off x="257175" y="5945505"/>
            <a:ext cx="3484644" cy="186689"/>
          </a:xfrm>
          <a:prstGeom prst="rect">
            <a:avLst/>
          </a:prstGeom>
          <a:noFill/>
        </p:spPr>
        <p:txBody>
          <a:bodyPr wrap="none" lIns="0" rIns="0" tIns="0" bIns="0">
            <a:spAutoFit/>
          </a:bodyPr>
          <a:lstStyle/>
          <a:p>
            <a:r>
              <a:rPr sz="1100" b="0">
                <a:solidFill>
                  <a:srgbClr val="2E2E2E"/>
                </a:solidFill>
                <a:latin typeface="Calibri"/>
              </a:rPr>
              <a:t>period. Geriatric patients and adults exhibit a CAGR index of</a:t>
            </a:r>
          </a:p>
        </p:txBody>
      </p:sp>
      <p:pic>
        <p:nvPicPr>
          <p:cNvPr id="22" name="Picture 21" descr="lock.png"/>
          <p:cNvPicPr>
            <a:picLocks noChangeAspect="1"/>
          </p:cNvPicPr>
          <p:nvPr/>
        </p:nvPicPr>
        <p:blipFill>
          <a:blip r:embed="rId6"/>
          <a:stretch>
            <a:fillRect/>
          </a:stretch>
        </p:blipFill>
        <p:spPr>
          <a:xfrm>
            <a:off x="3689871" y="5935726"/>
            <a:ext cx="128699" cy="187198"/>
          </a:xfrm>
          <a:prstGeom prst="rect">
            <a:avLst/>
          </a:prstGeom>
        </p:spPr>
      </p:pic>
      <p:sp>
        <p:nvSpPr>
          <p:cNvPr id="23" name="TextBox 22"/>
          <p:cNvSpPr txBox="1"/>
          <p:nvPr/>
        </p:nvSpPr>
        <p:spPr>
          <a:xfrm>
            <a:off x="3857367"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4095261" y="5935726"/>
            <a:ext cx="128699" cy="187198"/>
          </a:xfrm>
          <a:prstGeom prst="rect">
            <a:avLst/>
          </a:prstGeom>
        </p:spPr>
      </p:pic>
      <p:sp>
        <p:nvSpPr>
          <p:cNvPr id="25" name="TextBox 24"/>
          <p:cNvSpPr txBox="1"/>
          <p:nvPr/>
        </p:nvSpPr>
        <p:spPr>
          <a:xfrm>
            <a:off x="4262757"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871730" y="5935726"/>
            <a:ext cx="128699" cy="187198"/>
          </a:xfrm>
          <a:prstGeom prst="rect">
            <a:avLst/>
          </a:prstGeom>
        </p:spPr>
      </p:pic>
      <p:sp>
        <p:nvSpPr>
          <p:cNvPr id="27" name="TextBox 26"/>
          <p:cNvSpPr txBox="1"/>
          <p:nvPr/>
        </p:nvSpPr>
        <p:spPr>
          <a:xfrm>
            <a:off x="6039226"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6277120" y="5935726"/>
            <a:ext cx="128699" cy="187198"/>
          </a:xfrm>
          <a:prstGeom prst="rect">
            <a:avLst/>
          </a:prstGeom>
        </p:spPr>
      </p:pic>
      <p:sp>
        <p:nvSpPr>
          <p:cNvPr id="29" name="TextBox 28"/>
          <p:cNvSpPr txBox="1"/>
          <p:nvPr/>
        </p:nvSpPr>
        <p:spPr>
          <a:xfrm>
            <a:off x="6444616"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999020" y="5935726"/>
            <a:ext cx="128699" cy="187198"/>
          </a:xfrm>
          <a:prstGeom prst="rect">
            <a:avLst/>
          </a:prstGeom>
        </p:spPr>
      </p:pic>
      <p:sp>
        <p:nvSpPr>
          <p:cNvPr id="31" name="TextBox 30"/>
          <p:cNvSpPr txBox="1"/>
          <p:nvPr/>
        </p:nvSpPr>
        <p:spPr>
          <a:xfrm>
            <a:off x="9166516" y="5945505"/>
            <a:ext cx="2208790" cy="186689"/>
          </a:xfrm>
          <a:prstGeom prst="rect">
            <a:avLst/>
          </a:prstGeom>
          <a:noFill/>
        </p:spPr>
        <p:txBody>
          <a:bodyPr wrap="none" lIns="0" rIns="0" tIns="0" bIns="0">
            <a:spAutoFit/>
          </a:bodyPr>
          <a:lstStyle/>
          <a:p>
            <a:r>
              <a:rPr sz="1100" b="0">
                <a:solidFill>
                  <a:srgbClr val="2E2E2E"/>
                </a:solidFill>
                <a:latin typeface="Calibri"/>
              </a:rPr>
              <a:t>. Bubbles right of the CAGR-Index line</a:t>
            </a:r>
          </a:p>
        </p:txBody>
      </p:sp>
      <p:sp>
        <p:nvSpPr>
          <p:cNvPr id="32" name="TextBox 31"/>
          <p:cNvSpPr txBox="1"/>
          <p:nvPr/>
        </p:nvSpPr>
        <p:spPr>
          <a:xfrm>
            <a:off x="257175" y="6113145"/>
            <a:ext cx="2279476" cy="186689"/>
          </a:xfrm>
          <a:prstGeom prst="rect">
            <a:avLst/>
          </a:prstGeom>
          <a:noFill/>
        </p:spPr>
        <p:txBody>
          <a:bodyPr wrap="none" lIns="0" rIns="0" tIns="0" bIns="0">
            <a:spAutoFit/>
          </a:bodyPr>
          <a:lstStyle/>
          <a:p>
            <a:r>
              <a:rPr sz="1100" b="0">
                <a:solidFill>
                  <a:srgbClr val="2E2E2E"/>
                </a:solidFill>
                <a:latin typeface="Calibri"/>
              </a:rPr>
              <a:t>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Patient Age Group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Adults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Geriatric Patients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4059" y="3583939"/>
            <a:ext cx="402511" cy="58547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Patient Age Group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Patient Age Group (Units)</a:t>
            </a:r>
          </a:p>
        </p:txBody>
      </p:sp>
      <p:graphicFrame>
        <p:nvGraphicFramePr>
          <p:cNvPr id="13" name="Table 12"/>
          <p:cNvGraphicFramePr>
            <a:graphicFrameLocks noGrp="1"/>
          </p:cNvGraphicFramePr>
          <p:nvPr/>
        </p:nvGraphicFramePr>
        <p:xfrm>
          <a:off x="152400" y="1238250"/>
          <a:ext cx="11887200" cy="1181100"/>
        </p:xfrm>
        <a:graphic>
          <a:graphicData uri="http://schemas.openxmlformats.org/drawingml/2006/table">
            <a:tbl>
              <a:tblPr>
                <a:tableStyleId>{5C22544A-7EE6-4342-B048-85BDC9FD1C3A}</a:tableStyleId>
              </a:tblPr>
              <a:tblGrid>
                <a:gridCol w="1121278"/>
                <a:gridCol w="645795"/>
                <a:gridCol w="645795"/>
                <a:gridCol w="645795"/>
                <a:gridCol w="645795"/>
                <a:gridCol w="645795"/>
                <a:gridCol w="645795"/>
                <a:gridCol w="645795"/>
                <a:gridCol w="645795"/>
                <a:gridCol w="645795"/>
                <a:gridCol w="645795"/>
                <a:gridCol w="645795"/>
                <a:gridCol w="645795"/>
                <a:gridCol w="645795"/>
                <a:gridCol w="645795"/>
                <a:gridCol w="645795"/>
                <a:gridCol w="645795"/>
                <a:gridCol w="433202"/>
              </a:tblGrid>
              <a:tr h="438912">
                <a:tc>
                  <a:txBody>
                    <a:bodyPr wrap="none"/>
                    <a:lstStyle/>
                    <a:p>
                      <a:pPr algn="l"/>
                      <a:r>
                        <a:rPr sz="1100" b="1">
                          <a:solidFill>
                            <a:srgbClr val="0B2E4A"/>
                          </a:solidFill>
                          <a:latin typeface="Calibri"/>
                        </a:rPr>
                        <a:t>Patient Age</a:t>
                      </a:r>
                      <a:endParaRPr sz="1100"/>
                    </a:p>
                    <a:p>
                      <a:pPr algn="l"/>
                      <a:r>
                        <a:rPr sz="1100" b="1">
                          <a:solidFill>
                            <a:srgbClr val="0B2E4A"/>
                          </a:solidFill>
                          <a:latin typeface="Calibri"/>
                        </a:rPr>
                        <a:t>Group</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9050" marT="19050" marB="19050" anchor="ctr">
                    <a:solidFill>
                      <a:srgbClr val="E0E8EF"/>
                    </a:solidFill>
                  </a:tcPr>
                </a:tc>
              </a:tr>
              <a:tr h="247396">
                <a:tc>
                  <a:txBody>
                    <a:bodyPr wrap="none"/>
                    <a:lstStyle/>
                    <a:p>
                      <a:pPr algn="l"/>
                      <a:r>
                        <a:rPr sz="1100" b="1">
                          <a:solidFill>
                            <a:srgbClr val="2E2E2E"/>
                          </a:solidFill>
                          <a:latin typeface="Calibri"/>
                        </a:rPr>
                        <a:t>Adults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7396">
                <a:tc>
                  <a:txBody>
                    <a:bodyPr wrap="none"/>
                    <a:lstStyle/>
                    <a:p>
                      <a:pPr algn="l"/>
                      <a:r>
                        <a:rPr sz="1100" b="1">
                          <a:solidFill>
                            <a:srgbClr val="2E2E2E"/>
                          </a:solidFill>
                          <a:latin typeface="Calibri"/>
                        </a:rPr>
                        <a:t>Geriatric Patients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8479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Patient Age Group</a:t>
            </a:r>
          </a:p>
        </p:txBody>
      </p:sp>
      <p:sp>
        <p:nvSpPr>
          <p:cNvPr id="17" name="Rectangle 16"/>
          <p:cNvSpPr/>
          <p:nvPr/>
        </p:nvSpPr>
        <p:spPr>
          <a:xfrm>
            <a:off x="276225" y="3086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171825"/>
            <a:ext cx="1163955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69948" y="1781556"/>
            <a:ext cx="366712" cy="533400"/>
          </a:xfrm>
          <a:prstGeom prst="rect">
            <a:avLst/>
          </a:prstGeom>
        </p:spPr>
      </p:pic>
      <p:sp>
        <p:nvSpPr>
          <p:cNvPr id="21" name="TextBox 20"/>
          <p:cNvSpPr txBox="1"/>
          <p:nvPr/>
        </p:nvSpPr>
        <p:spPr>
          <a:xfrm>
            <a:off x="276225" y="31813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3171126"/>
            <a:ext cx="134549" cy="195707"/>
          </a:xfrm>
          <a:prstGeom prst="rect">
            <a:avLst/>
          </a:prstGeom>
        </p:spPr>
      </p:pic>
      <p:sp>
        <p:nvSpPr>
          <p:cNvPr id="23" name="TextBox 22"/>
          <p:cNvSpPr txBox="1"/>
          <p:nvPr/>
        </p:nvSpPr>
        <p:spPr>
          <a:xfrm>
            <a:off x="3435056" y="3181350"/>
            <a:ext cx="7923249" cy="194310"/>
          </a:xfrm>
          <a:prstGeom prst="rect">
            <a:avLst/>
          </a:prstGeom>
          <a:noFill/>
        </p:spPr>
        <p:txBody>
          <a:bodyPr wrap="none" lIns="0" rIns="0" tIns="0" bIns="0">
            <a:spAutoFit/>
          </a:bodyPr>
          <a:lstStyle/>
          <a:p>
            <a:r>
              <a:rPr sz="1150" b="0">
                <a:solidFill>
                  <a:srgbClr val="2E2E2E"/>
                </a:solidFill>
                <a:latin typeface="Calibri"/>
              </a:rPr>
              <a:t>X higher volume than adults segment in 2036. Among removable partial dentures by patient age group, geriatric patients segment is</a:t>
            </a:r>
          </a:p>
        </p:txBody>
      </p:sp>
      <p:sp>
        <p:nvSpPr>
          <p:cNvPr id="24" name="TextBox 23"/>
          <p:cNvSpPr txBox="1"/>
          <p:nvPr/>
        </p:nvSpPr>
        <p:spPr>
          <a:xfrm>
            <a:off x="276225" y="335661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3346386"/>
            <a:ext cx="134549" cy="195707"/>
          </a:xfrm>
          <a:prstGeom prst="rect">
            <a:avLst/>
          </a:prstGeom>
        </p:spPr>
      </p:pic>
      <p:sp>
        <p:nvSpPr>
          <p:cNvPr id="26" name="TextBox 25"/>
          <p:cNvSpPr txBox="1"/>
          <p:nvPr/>
        </p:nvSpPr>
        <p:spPr>
          <a:xfrm>
            <a:off x="2886495" y="33566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584447"/>
            <a:ext cx="7339049" cy="194310"/>
          </a:xfrm>
          <a:prstGeom prst="rect">
            <a:avLst/>
          </a:prstGeom>
          <a:noFill/>
        </p:spPr>
        <p:txBody>
          <a:bodyPr wrap="none" lIns="0" rIns="0" tIns="0" bIns="0">
            <a:spAutoFit/>
          </a:bodyPr>
          <a:lstStyle/>
          <a:p>
            <a:r>
              <a:rPr sz="1150" b="0">
                <a:solidFill>
                  <a:srgbClr val="2E2E2E"/>
                </a:solidFill>
                <a:latin typeface="Calibri"/>
              </a:rPr>
              <a:t>In terms of volume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564428" y="3574224"/>
            <a:ext cx="134549" cy="195707"/>
          </a:xfrm>
          <a:prstGeom prst="rect">
            <a:avLst/>
          </a:prstGeom>
        </p:spPr>
      </p:pic>
      <p:sp>
        <p:nvSpPr>
          <p:cNvPr id="29" name="TextBox 28"/>
          <p:cNvSpPr txBox="1"/>
          <p:nvPr/>
        </p:nvSpPr>
        <p:spPr>
          <a:xfrm>
            <a:off x="7739537" y="35844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134681" y="3574224"/>
            <a:ext cx="134549" cy="195707"/>
          </a:xfrm>
          <a:prstGeom prst="rect">
            <a:avLst/>
          </a:prstGeom>
        </p:spPr>
      </p:pic>
      <p:sp>
        <p:nvSpPr>
          <p:cNvPr id="31" name="TextBox 30"/>
          <p:cNvSpPr txBox="1"/>
          <p:nvPr/>
        </p:nvSpPr>
        <p:spPr>
          <a:xfrm>
            <a:off x="9309790" y="35844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7597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749484"/>
            <a:ext cx="134549" cy="195707"/>
          </a:xfrm>
          <a:prstGeom prst="rect">
            <a:avLst/>
          </a:prstGeom>
        </p:spPr>
      </p:pic>
      <p:sp>
        <p:nvSpPr>
          <p:cNvPr id="34" name="TextBox 33"/>
          <p:cNvSpPr txBox="1"/>
          <p:nvPr/>
        </p:nvSpPr>
        <p:spPr>
          <a:xfrm>
            <a:off x="1455394" y="37597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749484"/>
            <a:ext cx="134549" cy="195707"/>
          </a:xfrm>
          <a:prstGeom prst="rect">
            <a:avLst/>
          </a:prstGeom>
        </p:spPr>
      </p:pic>
      <p:sp>
        <p:nvSpPr>
          <p:cNvPr id="36" name="TextBox 35"/>
          <p:cNvSpPr txBox="1"/>
          <p:nvPr/>
        </p:nvSpPr>
        <p:spPr>
          <a:xfrm>
            <a:off x="4218008" y="37597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Patient Age Group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Patient Age Group (US$ Mn)</a:t>
            </a:r>
          </a:p>
        </p:txBody>
      </p:sp>
      <p:graphicFrame>
        <p:nvGraphicFramePr>
          <p:cNvPr id="13" name="Table 12"/>
          <p:cNvGraphicFramePr>
            <a:graphicFrameLocks noGrp="1"/>
          </p:cNvGraphicFramePr>
          <p:nvPr/>
        </p:nvGraphicFramePr>
        <p:xfrm>
          <a:off x="152400" y="1238250"/>
          <a:ext cx="11887195" cy="990600"/>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Patient Age Group</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86908" y="1589913"/>
            <a:ext cx="366712" cy="533400"/>
          </a:xfrm>
          <a:prstGeom prst="rect">
            <a:avLst/>
          </a:prstGeom>
        </p:spPr>
      </p:pic>
      <p:sp>
        <p:nvSpPr>
          <p:cNvPr id="21" name="TextBox 20"/>
          <p:cNvSpPr txBox="1"/>
          <p:nvPr/>
        </p:nvSpPr>
        <p:spPr>
          <a:xfrm>
            <a:off x="276225" y="29908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2980626"/>
            <a:ext cx="134549" cy="195707"/>
          </a:xfrm>
          <a:prstGeom prst="rect">
            <a:avLst/>
          </a:prstGeom>
        </p:spPr>
      </p:pic>
      <p:sp>
        <p:nvSpPr>
          <p:cNvPr id="23" name="TextBox 22"/>
          <p:cNvSpPr txBox="1"/>
          <p:nvPr/>
        </p:nvSpPr>
        <p:spPr>
          <a:xfrm>
            <a:off x="3435056" y="2990850"/>
            <a:ext cx="8378514" cy="194310"/>
          </a:xfrm>
          <a:prstGeom prst="rect">
            <a:avLst/>
          </a:prstGeom>
          <a:noFill/>
        </p:spPr>
        <p:txBody>
          <a:bodyPr wrap="none" lIns="0" rIns="0" tIns="0" bIns="0">
            <a:spAutoFit/>
          </a:bodyPr>
          <a:lstStyle/>
          <a:p>
            <a:r>
              <a:rPr sz="1150" b="0">
                <a:solidFill>
                  <a:srgbClr val="2E2E2E"/>
                </a:solidFill>
                <a:latin typeface="Calibri"/>
              </a:rPr>
              <a:t>X higher value than adults segment in 2036. Among removable partial dentures by patient age group, geriatric patients segment is expected</a:t>
            </a:r>
          </a:p>
        </p:txBody>
      </p:sp>
      <p:sp>
        <p:nvSpPr>
          <p:cNvPr id="24" name="TextBox 23"/>
          <p:cNvSpPr txBox="1"/>
          <p:nvPr/>
        </p:nvSpPr>
        <p:spPr>
          <a:xfrm>
            <a:off x="276225" y="3166110"/>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132320" y="3155886"/>
            <a:ext cx="134549" cy="195707"/>
          </a:xfrm>
          <a:prstGeom prst="rect">
            <a:avLst/>
          </a:prstGeom>
        </p:spPr>
      </p:pic>
      <p:sp>
        <p:nvSpPr>
          <p:cNvPr id="26" name="TextBox 25"/>
          <p:cNvSpPr txBox="1"/>
          <p:nvPr/>
        </p:nvSpPr>
        <p:spPr>
          <a:xfrm>
            <a:off x="2307429"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215249" cy="194310"/>
          </a:xfrm>
          <a:prstGeom prst="rect">
            <a:avLst/>
          </a:prstGeom>
          <a:noFill/>
        </p:spPr>
        <p:txBody>
          <a:bodyPr wrap="none" lIns="0" rIns="0" tIns="0" bIns="0">
            <a:spAutoFit/>
          </a:bodyPr>
          <a:lstStyle/>
          <a:p>
            <a:r>
              <a:rPr sz="1150" b="0">
                <a:solidFill>
                  <a:srgbClr val="2E2E2E"/>
                </a:solidFill>
                <a:latin typeface="Calibri"/>
              </a:rPr>
              <a:t>In terms of value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440628" y="3383724"/>
            <a:ext cx="134549" cy="195707"/>
          </a:xfrm>
          <a:prstGeom prst="rect">
            <a:avLst/>
          </a:prstGeom>
        </p:spPr>
      </p:pic>
      <p:sp>
        <p:nvSpPr>
          <p:cNvPr id="29" name="TextBox 28"/>
          <p:cNvSpPr txBox="1"/>
          <p:nvPr/>
        </p:nvSpPr>
        <p:spPr>
          <a:xfrm>
            <a:off x="7615737"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10880" y="3383724"/>
            <a:ext cx="134549" cy="195707"/>
          </a:xfrm>
          <a:prstGeom prst="rect">
            <a:avLst/>
          </a:prstGeom>
        </p:spPr>
      </p:pic>
      <p:sp>
        <p:nvSpPr>
          <p:cNvPr id="31" name="TextBox 30"/>
          <p:cNvSpPr txBox="1"/>
          <p:nvPr/>
        </p:nvSpPr>
        <p:spPr>
          <a:xfrm>
            <a:off x="9185990" y="33939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5692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558984"/>
            <a:ext cx="134549" cy="195707"/>
          </a:xfrm>
          <a:prstGeom prst="rect">
            <a:avLst/>
          </a:prstGeom>
        </p:spPr>
      </p:pic>
      <p:sp>
        <p:nvSpPr>
          <p:cNvPr id="34" name="TextBox 33"/>
          <p:cNvSpPr txBox="1"/>
          <p:nvPr/>
        </p:nvSpPr>
        <p:spPr>
          <a:xfrm>
            <a:off x="1455394" y="35692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558984"/>
            <a:ext cx="134549" cy="195707"/>
          </a:xfrm>
          <a:prstGeom prst="rect">
            <a:avLst/>
          </a:prstGeom>
        </p:spPr>
      </p:pic>
      <p:sp>
        <p:nvSpPr>
          <p:cNvPr id="36" name="TextBox 35"/>
          <p:cNvSpPr txBox="1"/>
          <p:nvPr/>
        </p:nvSpPr>
        <p:spPr>
          <a:xfrm>
            <a:off x="4218008" y="35692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Patient Age Group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Patient Age Group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3829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3782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020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Adults</a:t>
            </a:r>
          </a:p>
        </p:txBody>
      </p:sp>
      <p:sp>
        <p:nvSpPr>
          <p:cNvPr id="19" name="BPS Value 1"/>
          <p:cNvSpPr txBox="1"/>
          <p:nvPr/>
        </p:nvSpPr>
        <p:spPr>
          <a:xfrm>
            <a:off x="6896100" y="23639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66918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66442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58822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Geriatric Patients</a:t>
            </a:r>
          </a:p>
        </p:txBody>
      </p:sp>
      <p:sp>
        <p:nvSpPr>
          <p:cNvPr id="23" name="BPS Value 2"/>
          <p:cNvSpPr txBox="1"/>
          <p:nvPr/>
        </p:nvSpPr>
        <p:spPr>
          <a:xfrm>
            <a:off x="6896100" y="465013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Patient Age Group</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978473" cy="194310"/>
          </a:xfrm>
          <a:prstGeom prst="rect">
            <a:avLst/>
          </a:prstGeom>
          <a:noFill/>
        </p:spPr>
        <p:txBody>
          <a:bodyPr wrap="none" lIns="0" rIns="0" tIns="0" bIns="0">
            <a:spAutoFit/>
          </a:bodyPr>
          <a:lstStyle/>
          <a:p>
            <a:r>
              <a:rPr sz="1150" b="0">
                <a:solidFill>
                  <a:srgbClr val="2E2E2E"/>
                </a:solidFill>
                <a:latin typeface="Calibri"/>
              </a:rPr>
              <a:t>Among removable partial dentures by patient age group, geriatric</a:t>
            </a:r>
          </a:p>
        </p:txBody>
      </p:sp>
      <p:sp>
        <p:nvSpPr>
          <p:cNvPr id="31" name="TextBox 30"/>
          <p:cNvSpPr txBox="1"/>
          <p:nvPr/>
        </p:nvSpPr>
        <p:spPr>
          <a:xfrm>
            <a:off x="7829550" y="1575435"/>
            <a:ext cx="3674660" cy="194310"/>
          </a:xfrm>
          <a:prstGeom prst="rect">
            <a:avLst/>
          </a:prstGeom>
          <a:noFill/>
        </p:spPr>
        <p:txBody>
          <a:bodyPr wrap="none" lIns="0" rIns="0" tIns="0" bIns="0">
            <a:spAutoFit/>
          </a:bodyPr>
          <a:lstStyle/>
          <a:p>
            <a:r>
              <a:rPr sz="1150" b="0">
                <a:solidFill>
                  <a:srgbClr val="2E2E2E"/>
                </a:solidFill>
                <a:latin typeface="Calibri"/>
              </a:rPr>
              <a:t>patients segment is expected to witness the highest CAGR of</a:t>
            </a:r>
          </a:p>
        </p:txBody>
      </p:sp>
      <p:pic>
        <p:nvPicPr>
          <p:cNvPr id="32" name="Picture 31" descr="lock.png"/>
          <p:cNvPicPr>
            <a:picLocks noChangeAspect="1"/>
          </p:cNvPicPr>
          <p:nvPr/>
        </p:nvPicPr>
        <p:blipFill>
          <a:blip r:embed="rId5"/>
          <a:stretch>
            <a:fillRect/>
          </a:stretch>
        </p:blipFill>
        <p:spPr>
          <a:xfrm>
            <a:off x="11453364" y="1565211"/>
            <a:ext cx="134549" cy="195707"/>
          </a:xfrm>
          <a:prstGeom prst="rect">
            <a:avLst/>
          </a:prstGeom>
        </p:spPr>
      </p:pic>
      <p:sp>
        <p:nvSpPr>
          <p:cNvPr id="33" name="TextBox 32"/>
          <p:cNvSpPr txBox="1"/>
          <p:nvPr/>
        </p:nvSpPr>
        <p:spPr>
          <a:xfrm>
            <a:off x="7829550" y="1750695"/>
            <a:ext cx="3823580"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 patient age</a:t>
            </a:r>
          </a:p>
        </p:txBody>
      </p:sp>
      <p:sp>
        <p:nvSpPr>
          <p:cNvPr id="34" name="TextBox 33"/>
          <p:cNvSpPr txBox="1"/>
          <p:nvPr/>
        </p:nvSpPr>
        <p:spPr>
          <a:xfrm>
            <a:off x="7829550" y="1925955"/>
            <a:ext cx="3983608" cy="194310"/>
          </a:xfrm>
          <a:prstGeom prst="rect">
            <a:avLst/>
          </a:prstGeom>
          <a:noFill/>
        </p:spPr>
        <p:txBody>
          <a:bodyPr wrap="none" lIns="0" rIns="0" tIns="0" bIns="0">
            <a:spAutoFit/>
          </a:bodyPr>
          <a:lstStyle/>
          <a:p>
            <a:r>
              <a:rPr sz="1150" b="0">
                <a:solidFill>
                  <a:srgbClr val="2E2E2E"/>
                </a:solidFill>
                <a:latin typeface="Calibri"/>
              </a:rPr>
              <a:t>group, the geriatric patients segment is expected to dominate the</a:t>
            </a:r>
          </a:p>
        </p:txBody>
      </p:sp>
      <p:sp>
        <p:nvSpPr>
          <p:cNvPr id="35" name="TextBox 34"/>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36" name="Picture 35" descr="lock.png"/>
          <p:cNvPicPr>
            <a:picLocks noChangeAspect="1"/>
          </p:cNvPicPr>
          <p:nvPr/>
        </p:nvPicPr>
        <p:blipFill>
          <a:blip r:embed="rId5"/>
          <a:stretch>
            <a:fillRect/>
          </a:stretch>
        </p:blipFill>
        <p:spPr>
          <a:xfrm>
            <a:off x="8778556" y="2090991"/>
            <a:ext cx="134549" cy="195707"/>
          </a:xfrm>
          <a:prstGeom prst="rect">
            <a:avLst/>
          </a:prstGeom>
        </p:spPr>
      </p:pic>
      <p:sp>
        <p:nvSpPr>
          <p:cNvPr id="37" name="TextBox 36"/>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8" name="Picture 37" descr="lock.png"/>
          <p:cNvPicPr>
            <a:picLocks noChangeAspect="1"/>
          </p:cNvPicPr>
          <p:nvPr/>
        </p:nvPicPr>
        <p:blipFill>
          <a:blip r:embed="rId5"/>
          <a:stretch>
            <a:fillRect/>
          </a:stretch>
        </p:blipFill>
        <p:spPr>
          <a:xfrm>
            <a:off x="10348808" y="2090991"/>
            <a:ext cx="134549" cy="195707"/>
          </a:xfrm>
          <a:prstGeom prst="rect">
            <a:avLst/>
          </a:prstGeom>
        </p:spPr>
      </p:pic>
      <p:sp>
        <p:nvSpPr>
          <p:cNvPr id="39" name="TextBox 38"/>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0" name="TextBox 39"/>
          <p:cNvSpPr txBox="1"/>
          <p:nvPr/>
        </p:nvSpPr>
        <p:spPr>
          <a:xfrm>
            <a:off x="7829550" y="2329053"/>
            <a:ext cx="2375631" cy="194310"/>
          </a:xfrm>
          <a:prstGeom prst="rect">
            <a:avLst/>
          </a:prstGeom>
          <a:noFill/>
        </p:spPr>
        <p:txBody>
          <a:bodyPr wrap="none" lIns="0" rIns="0" tIns="0" bIns="0">
            <a:spAutoFit/>
          </a:bodyPr>
          <a:lstStyle/>
          <a:p>
            <a:r>
              <a:rPr sz="1150" b="0">
                <a:solidFill>
                  <a:srgbClr val="2E2E2E"/>
                </a:solidFill>
                <a:latin typeface="Calibri"/>
              </a:rPr>
              <a:t>The adults segment is expected to lose</a:t>
            </a:r>
          </a:p>
        </p:txBody>
      </p:sp>
      <p:pic>
        <p:nvPicPr>
          <p:cNvPr id="41" name="Picture 40" descr="lock.png"/>
          <p:cNvPicPr>
            <a:picLocks noChangeAspect="1"/>
          </p:cNvPicPr>
          <p:nvPr/>
        </p:nvPicPr>
        <p:blipFill>
          <a:blip r:embed="rId5"/>
          <a:stretch>
            <a:fillRect/>
          </a:stretch>
        </p:blipFill>
        <p:spPr>
          <a:xfrm>
            <a:off x="10154335" y="2318829"/>
            <a:ext cx="134549" cy="195707"/>
          </a:xfrm>
          <a:prstGeom prst="rect">
            <a:avLst/>
          </a:prstGeom>
        </p:spPr>
      </p:pic>
      <p:sp>
        <p:nvSpPr>
          <p:cNvPr id="42" name="TextBox 41"/>
          <p:cNvSpPr txBox="1"/>
          <p:nvPr/>
        </p:nvSpPr>
        <p:spPr>
          <a:xfrm>
            <a:off x="10329444"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43" name="TextBox 42"/>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44" name="Picture 43" descr="lock.png"/>
          <p:cNvPicPr>
            <a:picLocks noChangeAspect="1"/>
          </p:cNvPicPr>
          <p:nvPr/>
        </p:nvPicPr>
        <p:blipFill>
          <a:blip r:embed="rId5"/>
          <a:stretch>
            <a:fillRect/>
          </a:stretch>
        </p:blipFill>
        <p:spPr>
          <a:xfrm>
            <a:off x="9114014" y="2494089"/>
            <a:ext cx="134549" cy="195707"/>
          </a:xfrm>
          <a:prstGeom prst="rect">
            <a:avLst/>
          </a:prstGeom>
        </p:spPr>
      </p:pic>
      <p:sp>
        <p:nvSpPr>
          <p:cNvPr id="45" name="TextBox 44"/>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Product Type × Material Type, 2026E and 2036F (US$ Mn)</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829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1163955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027682" y="2276792"/>
            <a:ext cx="366712" cy="533400"/>
          </a:xfrm>
          <a:prstGeom prst="rect">
            <a:avLst/>
          </a:prstGeom>
        </p:spPr>
      </p:pic>
      <p:sp>
        <p:nvSpPr>
          <p:cNvPr id="21" name="TextBox 20"/>
          <p:cNvSpPr txBox="1"/>
          <p:nvPr/>
        </p:nvSpPr>
        <p:spPr>
          <a:xfrm>
            <a:off x="276225" y="3924300"/>
            <a:ext cx="10567838"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North America removable partial dentures market, led by high-performance polymers at US$</a:t>
            </a:r>
          </a:p>
        </p:txBody>
      </p:sp>
      <p:pic>
        <p:nvPicPr>
          <p:cNvPr id="22" name="Picture 21" descr="lock.png"/>
          <p:cNvPicPr>
            <a:picLocks noChangeAspect="1"/>
          </p:cNvPicPr>
          <p:nvPr/>
        </p:nvPicPr>
        <p:blipFill>
          <a:blip r:embed="rId4"/>
          <a:stretch>
            <a:fillRect/>
          </a:stretch>
        </p:blipFill>
        <p:spPr>
          <a:xfrm>
            <a:off x="10793217" y="3914076"/>
            <a:ext cx="134549" cy="195707"/>
          </a:xfrm>
          <a:prstGeom prst="rect">
            <a:avLst/>
          </a:prstGeom>
        </p:spPr>
      </p:pic>
      <p:sp>
        <p:nvSpPr>
          <p:cNvPr id="23" name="TextBox 22"/>
          <p:cNvSpPr txBox="1"/>
          <p:nvPr/>
        </p:nvSpPr>
        <p:spPr>
          <a:xfrm>
            <a:off x="10968326" y="3924300"/>
            <a:ext cx="787908" cy="194310"/>
          </a:xfrm>
          <a:prstGeom prst="rect">
            <a:avLst/>
          </a:prstGeom>
          <a:noFill/>
        </p:spPr>
        <p:txBody>
          <a:bodyPr wrap="none" lIns="0" rIns="0" tIns="0" bIns="0">
            <a:spAutoFit/>
          </a:bodyPr>
          <a:lstStyle/>
          <a:p>
            <a:r>
              <a:rPr sz="1150" b="0">
                <a:solidFill>
                  <a:srgbClr val="2E2E2E"/>
                </a:solidFill>
                <a:latin typeface="Calibri"/>
              </a:rPr>
              <a:t>Mn in 2036.</a:t>
            </a:r>
          </a:p>
        </p:txBody>
      </p:sp>
      <p:sp>
        <p:nvSpPr>
          <p:cNvPr id="24" name="TextBox 23"/>
          <p:cNvSpPr txBox="1"/>
          <p:nvPr/>
        </p:nvSpPr>
        <p:spPr>
          <a:xfrm>
            <a:off x="276225" y="4099560"/>
            <a:ext cx="5728791" cy="194310"/>
          </a:xfrm>
          <a:prstGeom prst="rect">
            <a:avLst/>
          </a:prstGeom>
          <a:noFill/>
        </p:spPr>
        <p:txBody>
          <a:bodyPr wrap="none" lIns="0" rIns="0" tIns="0" bIns="0">
            <a:spAutoFit/>
          </a:bodyPr>
          <a:lstStyle/>
          <a:p>
            <a:r>
              <a:rPr sz="1150" b="0">
                <a:solidFill>
                  <a:srgbClr val="2E2E2E"/>
                </a:solidFill>
                <a:latin typeface="Calibri"/>
              </a:rPr>
              <a:t>'Acrylic Partial Dentures × High-performance Polymers' is the single largest cross-sectional cell (</a:t>
            </a:r>
          </a:p>
        </p:txBody>
      </p:sp>
      <p:pic>
        <p:nvPicPr>
          <p:cNvPr id="25" name="Picture 24" descr="lock.png"/>
          <p:cNvPicPr>
            <a:picLocks noChangeAspect="1"/>
          </p:cNvPicPr>
          <p:nvPr/>
        </p:nvPicPr>
        <p:blipFill>
          <a:blip r:embed="rId4"/>
          <a:stretch>
            <a:fillRect/>
          </a:stretch>
        </p:blipFill>
        <p:spPr>
          <a:xfrm>
            <a:off x="5954170" y="4089336"/>
            <a:ext cx="134549" cy="195707"/>
          </a:xfrm>
          <a:prstGeom prst="rect">
            <a:avLst/>
          </a:prstGeom>
        </p:spPr>
      </p:pic>
      <p:sp>
        <p:nvSpPr>
          <p:cNvPr id="26" name="TextBox 25"/>
          <p:cNvSpPr txBox="1"/>
          <p:nvPr/>
        </p:nvSpPr>
        <p:spPr>
          <a:xfrm>
            <a:off x="6129279" y="4099560"/>
            <a:ext cx="5578747"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Flexible Thermoplastics' records the fastest</a:t>
            </a:r>
          </a:p>
        </p:txBody>
      </p:sp>
      <p:sp>
        <p:nvSpPr>
          <p:cNvPr id="27" name="TextBox 26"/>
          <p:cNvSpPr txBox="1"/>
          <p:nvPr/>
        </p:nvSpPr>
        <p:spPr>
          <a:xfrm>
            <a:off x="276225" y="4274820"/>
            <a:ext cx="1279668" cy="194310"/>
          </a:xfrm>
          <a:prstGeom prst="rect">
            <a:avLst/>
          </a:prstGeom>
          <a:noFill/>
        </p:spPr>
        <p:txBody>
          <a:bodyPr wrap="none" lIns="0" rIns="0" tIns="0" bIns="0">
            <a:spAutoFit/>
          </a:bodyPr>
          <a:lstStyle/>
          <a:p>
            <a:r>
              <a:rPr sz="1150" b="0">
                <a:solidFill>
                  <a:srgbClr val="2E2E2E"/>
                </a:solidFill>
                <a:latin typeface="Calibri"/>
              </a:rPr>
              <a:t>growth at a CAGR of</a:t>
            </a:r>
          </a:p>
        </p:txBody>
      </p:sp>
      <p:pic>
        <p:nvPicPr>
          <p:cNvPr id="28" name="Picture 27" descr="lock.png"/>
          <p:cNvPicPr>
            <a:picLocks noChangeAspect="1"/>
          </p:cNvPicPr>
          <p:nvPr/>
        </p:nvPicPr>
        <p:blipFill>
          <a:blip r:embed="rId4"/>
          <a:stretch>
            <a:fillRect/>
          </a:stretch>
        </p:blipFill>
        <p:spPr>
          <a:xfrm>
            <a:off x="1505047" y="4264596"/>
            <a:ext cx="134549" cy="195707"/>
          </a:xfrm>
          <a:prstGeom prst="rect">
            <a:avLst/>
          </a:prstGeom>
        </p:spPr>
      </p:pic>
      <p:sp>
        <p:nvSpPr>
          <p:cNvPr id="29" name="TextBox 28"/>
          <p:cNvSpPr txBox="1"/>
          <p:nvPr/>
        </p:nvSpPr>
        <p:spPr>
          <a:xfrm>
            <a:off x="1680156" y="427482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502657"/>
            <a:ext cx="5866854" cy="194310"/>
          </a:xfrm>
          <a:prstGeom prst="rect">
            <a:avLst/>
          </a:prstGeom>
          <a:noFill/>
        </p:spPr>
        <p:txBody>
          <a:bodyPr wrap="none" lIns="0" rIns="0" tIns="0" bIns="0">
            <a:spAutoFit/>
          </a:bodyPr>
          <a:lstStyle/>
          <a:p>
            <a:r>
              <a:rPr sz="1150" b="0">
                <a:solidFill>
                  <a:srgbClr val="2E2E2E"/>
                </a:solidFill>
                <a:latin typeface="Calibri"/>
              </a:rPr>
              <a:t>Combined, the top three product type × material type cells generate an absolute $ opportunity of</a:t>
            </a:r>
          </a:p>
        </p:txBody>
      </p:sp>
      <p:pic>
        <p:nvPicPr>
          <p:cNvPr id="31" name="Picture 30" descr="lock.png"/>
          <p:cNvPicPr>
            <a:picLocks noChangeAspect="1"/>
          </p:cNvPicPr>
          <p:nvPr/>
        </p:nvPicPr>
        <p:blipFill>
          <a:blip r:embed="rId4"/>
          <a:stretch>
            <a:fillRect/>
          </a:stretch>
        </p:blipFill>
        <p:spPr>
          <a:xfrm>
            <a:off x="6092233" y="4492434"/>
            <a:ext cx="134549" cy="195707"/>
          </a:xfrm>
          <a:prstGeom prst="rect">
            <a:avLst/>
          </a:prstGeom>
        </p:spPr>
      </p:pic>
      <p:sp>
        <p:nvSpPr>
          <p:cNvPr id="32" name="TextBox 31"/>
          <p:cNvSpPr txBox="1"/>
          <p:nvPr/>
        </p:nvSpPr>
        <p:spPr>
          <a:xfrm>
            <a:off x="6267342" y="45026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Product Type × Material Type, 2026E (% of each row)</a:t>
            </a:r>
          </a:p>
        </p:txBody>
      </p:sp>
      <p:graphicFrame>
        <p:nvGraphicFramePr>
          <p:cNvPr id="13" name="Table 12"/>
          <p:cNvGraphicFramePr>
            <a:graphicFrameLocks noGrp="1"/>
          </p:cNvGraphicFramePr>
          <p:nvPr/>
        </p:nvGraphicFramePr>
        <p:xfrm>
          <a:off x="152400" y="1238250"/>
          <a:ext cx="11887201" cy="2114550"/>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2714">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72866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7528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981450"/>
          <a:ext cx="7096125" cy="25908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695700"/>
            <a:ext cx="4457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7814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40195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4105275"/>
            <a:ext cx="4191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2" y="2468245"/>
            <a:ext cx="366712" cy="533400"/>
          </a:xfrm>
          <a:prstGeom prst="rect">
            <a:avLst/>
          </a:prstGeom>
        </p:spPr>
      </p:pic>
      <p:pic>
        <p:nvPicPr>
          <p:cNvPr id="24" name="Picture 23" descr="lock.png"/>
          <p:cNvPicPr>
            <a:picLocks noChangeAspect="1"/>
          </p:cNvPicPr>
          <p:nvPr/>
        </p:nvPicPr>
        <p:blipFill>
          <a:blip r:embed="rId5"/>
          <a:stretch>
            <a:fillRect/>
          </a:stretch>
        </p:blipFill>
        <p:spPr>
          <a:xfrm>
            <a:off x="3755735" y="4509229"/>
            <a:ext cx="349819" cy="508827"/>
          </a:xfrm>
          <a:prstGeom prst="rect">
            <a:avLst/>
          </a:prstGeom>
        </p:spPr>
      </p:pic>
      <p:sp>
        <p:nvSpPr>
          <p:cNvPr id="25" name="TextBox 24"/>
          <p:cNvSpPr txBox="1"/>
          <p:nvPr/>
        </p:nvSpPr>
        <p:spPr>
          <a:xfrm>
            <a:off x="7715250" y="4114800"/>
            <a:ext cx="3955332" cy="194310"/>
          </a:xfrm>
          <a:prstGeom prst="rect">
            <a:avLst/>
          </a:prstGeom>
          <a:noFill/>
        </p:spPr>
        <p:txBody>
          <a:bodyPr wrap="none" lIns="0" rIns="0" tIns="0" bIns="0">
            <a:spAutoFit/>
          </a:bodyPr>
          <a:lstStyle/>
          <a:p>
            <a:r>
              <a:rPr sz="1150" b="0">
                <a:solidFill>
                  <a:srgbClr val="2E2E2E"/>
                </a:solidFill>
                <a:latin typeface="Calibri"/>
              </a:rPr>
              <a:t>▪ 'PEEK-based Materials' holds the highest share of 'Acrylic Partial</a:t>
            </a:r>
          </a:p>
        </p:txBody>
      </p:sp>
      <p:sp>
        <p:nvSpPr>
          <p:cNvPr id="26" name="TextBox 25"/>
          <p:cNvSpPr txBox="1"/>
          <p:nvPr/>
        </p:nvSpPr>
        <p:spPr>
          <a:xfrm>
            <a:off x="7715250" y="4290060"/>
            <a:ext cx="806449" cy="194310"/>
          </a:xfrm>
          <a:prstGeom prst="rect">
            <a:avLst/>
          </a:prstGeom>
          <a:noFill/>
        </p:spPr>
        <p:txBody>
          <a:bodyPr wrap="none" lIns="0" rIns="0" tIns="0" bIns="0">
            <a:spAutoFit/>
          </a:bodyPr>
          <a:lstStyle/>
          <a:p>
            <a:r>
              <a:rPr sz="1150" b="0">
                <a:solidFill>
                  <a:srgbClr val="2E2E2E"/>
                </a:solidFill>
                <a:latin typeface="Calibri"/>
              </a:rPr>
              <a:t>Dentures' at</a:t>
            </a:r>
          </a:p>
        </p:txBody>
      </p:sp>
      <p:pic>
        <p:nvPicPr>
          <p:cNvPr id="27" name="Picture 26" descr="lock.png"/>
          <p:cNvPicPr>
            <a:picLocks noChangeAspect="1"/>
          </p:cNvPicPr>
          <p:nvPr/>
        </p:nvPicPr>
        <p:blipFill>
          <a:blip r:embed="rId5"/>
          <a:stretch>
            <a:fillRect/>
          </a:stretch>
        </p:blipFill>
        <p:spPr>
          <a:xfrm>
            <a:off x="8470853" y="4279836"/>
            <a:ext cx="134549" cy="195707"/>
          </a:xfrm>
          <a:prstGeom prst="rect">
            <a:avLst/>
          </a:prstGeom>
        </p:spPr>
      </p:pic>
      <p:sp>
        <p:nvSpPr>
          <p:cNvPr id="28" name="TextBox 27"/>
          <p:cNvSpPr txBox="1"/>
          <p:nvPr/>
        </p:nvSpPr>
        <p:spPr>
          <a:xfrm>
            <a:off x="8645963" y="42900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517897"/>
            <a:ext cx="3930265" cy="194310"/>
          </a:xfrm>
          <a:prstGeom prst="rect">
            <a:avLst/>
          </a:prstGeom>
          <a:noFill/>
        </p:spPr>
        <p:txBody>
          <a:bodyPr wrap="none" lIns="0" rIns="0" tIns="0" bIns="0">
            <a:spAutoFit/>
          </a:bodyPr>
          <a:lstStyle/>
          <a:p>
            <a:r>
              <a:rPr sz="1150" b="0">
                <a:solidFill>
                  <a:srgbClr val="2E2E2E"/>
                </a:solidFill>
                <a:latin typeface="Calibri"/>
              </a:rPr>
              <a:t>▪ 'Acrylic Partial Dentures' is the most concentrated product type</a:t>
            </a:r>
          </a:p>
        </p:txBody>
      </p:sp>
      <p:sp>
        <p:nvSpPr>
          <p:cNvPr id="30" name="TextBox 29"/>
          <p:cNvSpPr txBox="1"/>
          <p:nvPr/>
        </p:nvSpPr>
        <p:spPr>
          <a:xfrm>
            <a:off x="7715250" y="46931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682934"/>
            <a:ext cx="134549" cy="195707"/>
          </a:xfrm>
          <a:prstGeom prst="rect">
            <a:avLst/>
          </a:prstGeom>
        </p:spPr>
      </p:pic>
      <p:sp>
        <p:nvSpPr>
          <p:cNvPr id="32" name="TextBox 31"/>
          <p:cNvSpPr txBox="1"/>
          <p:nvPr/>
        </p:nvSpPr>
        <p:spPr>
          <a:xfrm>
            <a:off x="9018219" y="4693157"/>
            <a:ext cx="2346500" cy="194310"/>
          </a:xfrm>
          <a:prstGeom prst="rect">
            <a:avLst/>
          </a:prstGeom>
          <a:noFill/>
        </p:spPr>
        <p:txBody>
          <a:bodyPr wrap="none" lIns="0" rIns="0" tIns="0" bIns="0">
            <a:spAutoFit/>
          </a:bodyPr>
          <a:lstStyle/>
          <a:p>
            <a:r>
              <a:rPr sz="1150" b="0">
                <a:solidFill>
                  <a:srgbClr val="2E2E2E"/>
                </a:solidFill>
                <a:latin typeface="Calibri"/>
              </a:rPr>
              <a:t>of its value via 'PEEK-based Materials'.</a:t>
            </a:r>
          </a:p>
        </p:txBody>
      </p:sp>
      <p:sp>
        <p:nvSpPr>
          <p:cNvPr id="33" name="TextBox 32"/>
          <p:cNvSpPr txBox="1"/>
          <p:nvPr/>
        </p:nvSpPr>
        <p:spPr>
          <a:xfrm>
            <a:off x="7715250" y="4920995"/>
            <a:ext cx="2306885" cy="194310"/>
          </a:xfrm>
          <a:prstGeom prst="rect">
            <a:avLst/>
          </a:prstGeom>
          <a:noFill/>
        </p:spPr>
        <p:txBody>
          <a:bodyPr wrap="none" lIns="0" rIns="0" tIns="0" bIns="0">
            <a:spAutoFit/>
          </a:bodyPr>
          <a:lstStyle/>
          <a:p>
            <a:r>
              <a:rPr sz="1150" b="0">
                <a:solidFill>
                  <a:srgbClr val="2E2E2E"/>
                </a:solidFill>
                <a:latin typeface="Calibri"/>
              </a:rPr>
              <a:t>▪ 'Other Thermoplastic Resins' gains +</a:t>
            </a:r>
          </a:p>
        </p:txBody>
      </p:sp>
      <p:pic>
        <p:nvPicPr>
          <p:cNvPr id="34" name="Picture 33" descr="lock.png"/>
          <p:cNvPicPr>
            <a:picLocks noChangeAspect="1"/>
          </p:cNvPicPr>
          <p:nvPr/>
        </p:nvPicPr>
        <p:blipFill>
          <a:blip r:embed="rId5"/>
          <a:stretch>
            <a:fillRect/>
          </a:stretch>
        </p:blipFill>
        <p:spPr>
          <a:xfrm>
            <a:off x="9971289" y="4910772"/>
            <a:ext cx="134549" cy="195707"/>
          </a:xfrm>
          <a:prstGeom prst="rect">
            <a:avLst/>
          </a:prstGeom>
        </p:spPr>
      </p:pic>
      <p:sp>
        <p:nvSpPr>
          <p:cNvPr id="35" name="TextBox 34"/>
          <p:cNvSpPr txBox="1"/>
          <p:nvPr/>
        </p:nvSpPr>
        <p:spPr>
          <a:xfrm>
            <a:off x="10146398" y="4920995"/>
            <a:ext cx="1581199" cy="194310"/>
          </a:xfrm>
          <a:prstGeom prst="rect">
            <a:avLst/>
          </a:prstGeom>
          <a:noFill/>
        </p:spPr>
        <p:txBody>
          <a:bodyPr wrap="none" lIns="0" rIns="0" tIns="0" bIns="0">
            <a:spAutoFit/>
          </a:bodyPr>
          <a:lstStyle/>
          <a:p>
            <a:r>
              <a:rPr sz="1150" b="0">
                <a:solidFill>
                  <a:srgbClr val="2E2E2E"/>
                </a:solidFill>
                <a:latin typeface="Calibri"/>
              </a:rPr>
              <a:t>BPS of share of the North</a:t>
            </a:r>
          </a:p>
        </p:txBody>
      </p:sp>
      <p:sp>
        <p:nvSpPr>
          <p:cNvPr id="36" name="TextBox 35"/>
          <p:cNvSpPr txBox="1"/>
          <p:nvPr/>
        </p:nvSpPr>
        <p:spPr>
          <a:xfrm>
            <a:off x="7715250" y="5096255"/>
            <a:ext cx="1986046" cy="194310"/>
          </a:xfrm>
          <a:prstGeom prst="rect">
            <a:avLst/>
          </a:prstGeom>
          <a:noFill/>
        </p:spPr>
        <p:txBody>
          <a:bodyPr wrap="none" lIns="0" rIns="0" tIns="0" bIns="0">
            <a:spAutoFit/>
          </a:bodyPr>
          <a:lstStyle/>
          <a:p>
            <a:r>
              <a:rPr sz="1150" b="0">
                <a:solidFill>
                  <a:srgbClr val="2E2E2E"/>
                </a:solidFill>
                <a:latin typeface="Calibri"/>
              </a:rPr>
              <a:t>America cross-section by 2036F.</a:t>
            </a:r>
          </a:p>
        </p:txBody>
      </p:sp>
      <p:sp>
        <p:nvSpPr>
          <p:cNvPr id="37" name="lockshield_17"/>
          <p:cNvSpPr/>
          <p:nvPr/>
        </p:nvSpPr>
        <p:spPr>
          <a:xfrm>
            <a:off x="238125" y="3981450"/>
            <a:ext cx="70961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5600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8290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5334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749672" y="2276792"/>
            <a:ext cx="366712" cy="533400"/>
          </a:xfrm>
          <a:prstGeom prst="rect">
            <a:avLst/>
          </a:prstGeom>
        </p:spPr>
      </p:pic>
      <p:sp>
        <p:nvSpPr>
          <p:cNvPr id="33" name="TextBox 32"/>
          <p:cNvSpPr txBox="1"/>
          <p:nvPr/>
        </p:nvSpPr>
        <p:spPr>
          <a:xfrm>
            <a:off x="276225" y="3924300"/>
            <a:ext cx="3328665" cy="194310"/>
          </a:xfrm>
          <a:prstGeom prst="rect">
            <a:avLst/>
          </a:prstGeom>
          <a:noFill/>
        </p:spPr>
        <p:txBody>
          <a:bodyPr wrap="none" lIns="0" rIns="0" tIns="0" bIns="0">
            <a:spAutoFit/>
          </a:bodyPr>
          <a:lstStyle/>
          <a:p>
            <a:r>
              <a:rPr sz="1150" b="0">
                <a:solidFill>
                  <a:srgbClr val="2E2E2E"/>
                </a:solidFill>
                <a:latin typeface="Calibri"/>
              </a:rPr>
              <a:t>▪ 1. Acrylic Partial Dentures × Flexible Thermoplastics –</a:t>
            </a:r>
          </a:p>
        </p:txBody>
      </p:sp>
      <p:pic>
        <p:nvPicPr>
          <p:cNvPr id="34" name="Picture 33" descr="lock.png"/>
          <p:cNvPicPr>
            <a:picLocks noChangeAspect="1"/>
          </p:cNvPicPr>
          <p:nvPr/>
        </p:nvPicPr>
        <p:blipFill>
          <a:blip r:embed="rId4"/>
          <a:stretch>
            <a:fillRect/>
          </a:stretch>
        </p:blipFill>
        <p:spPr>
          <a:xfrm>
            <a:off x="3554043" y="3914076"/>
            <a:ext cx="134549" cy="195707"/>
          </a:xfrm>
          <a:prstGeom prst="rect">
            <a:avLst/>
          </a:prstGeom>
        </p:spPr>
      </p:pic>
      <p:sp>
        <p:nvSpPr>
          <p:cNvPr id="35" name="TextBox 34"/>
          <p:cNvSpPr txBox="1"/>
          <p:nvPr/>
        </p:nvSpPr>
        <p:spPr>
          <a:xfrm>
            <a:off x="3729153" y="39243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791304" y="3914076"/>
            <a:ext cx="134549" cy="195707"/>
          </a:xfrm>
          <a:prstGeom prst="rect">
            <a:avLst/>
          </a:prstGeom>
        </p:spPr>
      </p:pic>
      <p:sp>
        <p:nvSpPr>
          <p:cNvPr id="37" name="TextBox 36"/>
          <p:cNvSpPr txBox="1"/>
          <p:nvPr/>
        </p:nvSpPr>
        <p:spPr>
          <a:xfrm>
            <a:off x="3966414" y="39243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152137"/>
            <a:ext cx="3389424" cy="194310"/>
          </a:xfrm>
          <a:prstGeom prst="rect">
            <a:avLst/>
          </a:prstGeom>
          <a:noFill/>
        </p:spPr>
        <p:txBody>
          <a:bodyPr wrap="none" lIns="0" rIns="0" tIns="0" bIns="0">
            <a:spAutoFit/>
          </a:bodyPr>
          <a:lstStyle/>
          <a:p>
            <a:r>
              <a:rPr sz="1150" b="0">
                <a:solidFill>
                  <a:srgbClr val="2E2E2E"/>
                </a:solidFill>
                <a:latin typeface="Calibri"/>
              </a:rPr>
              <a:t>▪ 2. Flexible Partial Dentures × Flexible Thermoplastics –</a:t>
            </a:r>
          </a:p>
        </p:txBody>
      </p:sp>
      <p:pic>
        <p:nvPicPr>
          <p:cNvPr id="39" name="Picture 38" descr="lock.png"/>
          <p:cNvPicPr>
            <a:picLocks noChangeAspect="1"/>
          </p:cNvPicPr>
          <p:nvPr/>
        </p:nvPicPr>
        <p:blipFill>
          <a:blip r:embed="rId4"/>
          <a:stretch>
            <a:fillRect/>
          </a:stretch>
        </p:blipFill>
        <p:spPr>
          <a:xfrm>
            <a:off x="3614803" y="4141914"/>
            <a:ext cx="134549" cy="195707"/>
          </a:xfrm>
          <a:prstGeom prst="rect">
            <a:avLst/>
          </a:prstGeom>
        </p:spPr>
      </p:pic>
      <p:sp>
        <p:nvSpPr>
          <p:cNvPr id="40" name="TextBox 39"/>
          <p:cNvSpPr txBox="1"/>
          <p:nvPr/>
        </p:nvSpPr>
        <p:spPr>
          <a:xfrm>
            <a:off x="3789912" y="41521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852064" y="4141914"/>
            <a:ext cx="134549" cy="195707"/>
          </a:xfrm>
          <a:prstGeom prst="rect">
            <a:avLst/>
          </a:prstGeom>
        </p:spPr>
      </p:pic>
      <p:sp>
        <p:nvSpPr>
          <p:cNvPr id="42" name="TextBox 41"/>
          <p:cNvSpPr txBox="1"/>
          <p:nvPr/>
        </p:nvSpPr>
        <p:spPr>
          <a:xfrm>
            <a:off x="4027173" y="41521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79975"/>
            <a:ext cx="4410347" cy="194310"/>
          </a:xfrm>
          <a:prstGeom prst="rect">
            <a:avLst/>
          </a:prstGeom>
          <a:noFill/>
        </p:spPr>
        <p:txBody>
          <a:bodyPr wrap="none" lIns="0" rIns="0" tIns="0" bIns="0">
            <a:spAutoFit/>
          </a:bodyPr>
          <a:lstStyle/>
          <a:p>
            <a:r>
              <a:rPr sz="1150" b="0">
                <a:solidFill>
                  <a:srgbClr val="2E2E2E"/>
                </a:solidFill>
                <a:latin typeface="Calibri"/>
              </a:rPr>
              <a:t>▪ 3. Combination Framework Partial Dentures × Flexible Thermoplastics –</a:t>
            </a:r>
          </a:p>
        </p:txBody>
      </p:sp>
      <p:pic>
        <p:nvPicPr>
          <p:cNvPr id="44" name="Picture 43" descr="lock.png"/>
          <p:cNvPicPr>
            <a:picLocks noChangeAspect="1"/>
          </p:cNvPicPr>
          <p:nvPr/>
        </p:nvPicPr>
        <p:blipFill>
          <a:blip r:embed="rId4"/>
          <a:stretch>
            <a:fillRect/>
          </a:stretch>
        </p:blipFill>
        <p:spPr>
          <a:xfrm>
            <a:off x="4635726" y="4369752"/>
            <a:ext cx="134549" cy="195707"/>
          </a:xfrm>
          <a:prstGeom prst="rect">
            <a:avLst/>
          </a:prstGeom>
        </p:spPr>
      </p:pic>
      <p:sp>
        <p:nvSpPr>
          <p:cNvPr id="45" name="TextBox 44"/>
          <p:cNvSpPr txBox="1"/>
          <p:nvPr/>
        </p:nvSpPr>
        <p:spPr>
          <a:xfrm>
            <a:off x="4810836" y="43799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872987" y="4369752"/>
            <a:ext cx="134549" cy="195707"/>
          </a:xfrm>
          <a:prstGeom prst="rect">
            <a:avLst/>
          </a:prstGeom>
        </p:spPr>
      </p:pic>
      <p:sp>
        <p:nvSpPr>
          <p:cNvPr id="47" name="TextBox 46"/>
          <p:cNvSpPr txBox="1"/>
          <p:nvPr/>
        </p:nvSpPr>
        <p:spPr>
          <a:xfrm>
            <a:off x="5048097" y="43799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607813"/>
            <a:ext cx="3573127" cy="194310"/>
          </a:xfrm>
          <a:prstGeom prst="rect">
            <a:avLst/>
          </a:prstGeom>
          <a:noFill/>
        </p:spPr>
        <p:txBody>
          <a:bodyPr wrap="none" lIns="0" rIns="0" tIns="0" bIns="0">
            <a:spAutoFit/>
          </a:bodyPr>
          <a:lstStyle/>
          <a:p>
            <a:r>
              <a:rPr sz="1150" b="0">
                <a:solidFill>
                  <a:srgbClr val="2E2E2E"/>
                </a:solidFill>
                <a:latin typeface="Calibri"/>
              </a:rPr>
              <a:t>▪ 4. Cast Metal Partial Dentures × Flexible Thermoplastics –</a:t>
            </a:r>
          </a:p>
        </p:txBody>
      </p:sp>
      <p:pic>
        <p:nvPicPr>
          <p:cNvPr id="49" name="Picture 48" descr="lock.png"/>
          <p:cNvPicPr>
            <a:picLocks noChangeAspect="1"/>
          </p:cNvPicPr>
          <p:nvPr/>
        </p:nvPicPr>
        <p:blipFill>
          <a:blip r:embed="rId4"/>
          <a:stretch>
            <a:fillRect/>
          </a:stretch>
        </p:blipFill>
        <p:spPr>
          <a:xfrm>
            <a:off x="3798506" y="4597590"/>
            <a:ext cx="134549" cy="195707"/>
          </a:xfrm>
          <a:prstGeom prst="rect">
            <a:avLst/>
          </a:prstGeom>
        </p:spPr>
      </p:pic>
      <p:sp>
        <p:nvSpPr>
          <p:cNvPr id="50" name="TextBox 49"/>
          <p:cNvSpPr txBox="1"/>
          <p:nvPr/>
        </p:nvSpPr>
        <p:spPr>
          <a:xfrm>
            <a:off x="3973615" y="46078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4035767" y="4597590"/>
            <a:ext cx="134549" cy="195707"/>
          </a:xfrm>
          <a:prstGeom prst="rect">
            <a:avLst/>
          </a:prstGeom>
        </p:spPr>
      </p:pic>
      <p:sp>
        <p:nvSpPr>
          <p:cNvPr id="52" name="TextBox 51"/>
          <p:cNvSpPr txBox="1"/>
          <p:nvPr/>
        </p:nvSpPr>
        <p:spPr>
          <a:xfrm>
            <a:off x="4210876" y="46078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835651"/>
            <a:ext cx="3850964" cy="194310"/>
          </a:xfrm>
          <a:prstGeom prst="rect">
            <a:avLst/>
          </a:prstGeom>
          <a:noFill/>
        </p:spPr>
        <p:txBody>
          <a:bodyPr wrap="none" lIns="0" rIns="0" tIns="0" bIns="0">
            <a:spAutoFit/>
          </a:bodyPr>
          <a:lstStyle/>
          <a:p>
            <a:r>
              <a:rPr sz="1150" b="0">
                <a:solidFill>
                  <a:srgbClr val="2E2E2E"/>
                </a:solidFill>
                <a:latin typeface="Calibri"/>
              </a:rPr>
              <a:t>▪ 5. Cast Metal Partial Dentures × High-performance Polymers –</a:t>
            </a:r>
          </a:p>
        </p:txBody>
      </p:sp>
      <p:pic>
        <p:nvPicPr>
          <p:cNvPr id="54" name="Picture 53" descr="lock.png"/>
          <p:cNvPicPr>
            <a:picLocks noChangeAspect="1"/>
          </p:cNvPicPr>
          <p:nvPr/>
        </p:nvPicPr>
        <p:blipFill>
          <a:blip r:embed="rId4"/>
          <a:stretch>
            <a:fillRect/>
          </a:stretch>
        </p:blipFill>
        <p:spPr>
          <a:xfrm>
            <a:off x="4076343" y="4825428"/>
            <a:ext cx="134549" cy="195707"/>
          </a:xfrm>
          <a:prstGeom prst="rect">
            <a:avLst/>
          </a:prstGeom>
        </p:spPr>
      </p:pic>
      <p:sp>
        <p:nvSpPr>
          <p:cNvPr id="55" name="TextBox 54"/>
          <p:cNvSpPr txBox="1"/>
          <p:nvPr/>
        </p:nvSpPr>
        <p:spPr>
          <a:xfrm>
            <a:off x="4251453" y="48356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313604" y="4825428"/>
            <a:ext cx="134549" cy="195707"/>
          </a:xfrm>
          <a:prstGeom prst="rect">
            <a:avLst/>
          </a:prstGeom>
        </p:spPr>
      </p:pic>
      <p:sp>
        <p:nvSpPr>
          <p:cNvPr id="57" name="TextBox 56"/>
          <p:cNvSpPr txBox="1"/>
          <p:nvPr/>
        </p:nvSpPr>
        <p:spPr>
          <a:xfrm>
            <a:off x="4488714" y="48356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59" name="TextBox 58"/>
          <p:cNvSpPr txBox="1"/>
          <p:nvPr/>
        </p:nvSpPr>
        <p:spPr>
          <a:xfrm>
            <a:off x="60293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0" name="TextBox 59"/>
          <p:cNvSpPr txBox="1"/>
          <p:nvPr/>
        </p:nvSpPr>
        <p:spPr>
          <a:xfrm>
            <a:off x="6029325" y="427482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4264596"/>
            <a:ext cx="134549" cy="195707"/>
          </a:xfrm>
          <a:prstGeom prst="rect">
            <a:avLst/>
          </a:prstGeom>
        </p:spPr>
      </p:pic>
      <p:sp>
        <p:nvSpPr>
          <p:cNvPr id="62" name="TextBox 61"/>
          <p:cNvSpPr txBox="1"/>
          <p:nvPr/>
        </p:nvSpPr>
        <p:spPr>
          <a:xfrm>
            <a:off x="6510192" y="427482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3" name="TextBox 62"/>
          <p:cNvSpPr txBox="1"/>
          <p:nvPr/>
        </p:nvSpPr>
        <p:spPr>
          <a:xfrm>
            <a:off x="6029325" y="445007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4439856"/>
            <a:ext cx="134549" cy="195707"/>
          </a:xfrm>
          <a:prstGeom prst="rect">
            <a:avLst/>
          </a:prstGeom>
        </p:spPr>
      </p:pic>
      <p:sp>
        <p:nvSpPr>
          <p:cNvPr id="65" name="TextBox 64"/>
          <p:cNvSpPr txBox="1"/>
          <p:nvPr/>
        </p:nvSpPr>
        <p:spPr>
          <a:xfrm>
            <a:off x="6302527" y="445007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6" name="TextBox 65"/>
          <p:cNvSpPr txBox="1"/>
          <p:nvPr/>
        </p:nvSpPr>
        <p:spPr>
          <a:xfrm>
            <a:off x="6029325" y="462533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7" name="TextBox 66"/>
          <p:cNvSpPr txBox="1"/>
          <p:nvPr/>
        </p:nvSpPr>
        <p:spPr>
          <a:xfrm>
            <a:off x="81248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8" name="TextBox 67"/>
          <p:cNvSpPr txBox="1"/>
          <p:nvPr/>
        </p:nvSpPr>
        <p:spPr>
          <a:xfrm>
            <a:off x="81248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9" name="TextBox 68"/>
          <p:cNvSpPr txBox="1"/>
          <p:nvPr/>
        </p:nvSpPr>
        <p:spPr>
          <a:xfrm>
            <a:off x="8124825" y="4274820"/>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4264596"/>
            <a:ext cx="134549" cy="195707"/>
          </a:xfrm>
          <a:prstGeom prst="rect">
            <a:avLst/>
          </a:prstGeom>
        </p:spPr>
      </p:pic>
      <p:sp>
        <p:nvSpPr>
          <p:cNvPr id="71" name="TextBox 70"/>
          <p:cNvSpPr txBox="1"/>
          <p:nvPr/>
        </p:nvSpPr>
        <p:spPr>
          <a:xfrm>
            <a:off x="8938584" y="427482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4264596"/>
            <a:ext cx="134549" cy="195707"/>
          </a:xfrm>
          <a:prstGeom prst="rect">
            <a:avLst/>
          </a:prstGeom>
        </p:spPr>
      </p:pic>
      <p:sp>
        <p:nvSpPr>
          <p:cNvPr id="73" name="TextBox 72"/>
          <p:cNvSpPr txBox="1"/>
          <p:nvPr/>
        </p:nvSpPr>
        <p:spPr>
          <a:xfrm>
            <a:off x="8124825" y="445007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4" name="TextBox 73"/>
          <p:cNvSpPr txBox="1"/>
          <p:nvPr/>
        </p:nvSpPr>
        <p:spPr>
          <a:xfrm>
            <a:off x="8124825" y="462533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Product Type × Technology, 2026E and 2036F (US$ Mn)</a:t>
            </a:r>
          </a:p>
        </p:txBody>
      </p:sp>
      <p:graphicFrame>
        <p:nvGraphicFramePr>
          <p:cNvPr id="13" name="Table 12"/>
          <p:cNvGraphicFramePr>
            <a:graphicFrameLocks noGrp="1"/>
          </p:cNvGraphicFramePr>
          <p:nvPr/>
        </p:nvGraphicFramePr>
        <p:xfrm>
          <a:off x="152400" y="1238250"/>
          <a:ext cx="11887202" cy="1724028"/>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762089" y="2079785"/>
            <a:ext cx="366712" cy="533400"/>
          </a:xfrm>
          <a:prstGeom prst="rect">
            <a:avLst/>
          </a:prstGeom>
        </p:spPr>
      </p:pic>
      <p:sp>
        <p:nvSpPr>
          <p:cNvPr id="21" name="TextBox 20"/>
          <p:cNvSpPr txBox="1"/>
          <p:nvPr/>
        </p:nvSpPr>
        <p:spPr>
          <a:xfrm>
            <a:off x="276225" y="3724275"/>
            <a:ext cx="10360173"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North America removable partial dentures market, led by conventional fabrication at US$</a:t>
            </a:r>
          </a:p>
        </p:txBody>
      </p:sp>
      <p:pic>
        <p:nvPicPr>
          <p:cNvPr id="22" name="Picture 21" descr="lock.png"/>
          <p:cNvPicPr>
            <a:picLocks noChangeAspect="1"/>
          </p:cNvPicPr>
          <p:nvPr/>
        </p:nvPicPr>
        <p:blipFill>
          <a:blip r:embed="rId4"/>
          <a:stretch>
            <a:fillRect/>
          </a:stretch>
        </p:blipFill>
        <p:spPr>
          <a:xfrm>
            <a:off x="10585552" y="3714051"/>
            <a:ext cx="134549" cy="195707"/>
          </a:xfrm>
          <a:prstGeom prst="rect">
            <a:avLst/>
          </a:prstGeom>
        </p:spPr>
      </p:pic>
      <p:sp>
        <p:nvSpPr>
          <p:cNvPr id="23" name="TextBox 22"/>
          <p:cNvSpPr txBox="1"/>
          <p:nvPr/>
        </p:nvSpPr>
        <p:spPr>
          <a:xfrm>
            <a:off x="10760662" y="3724275"/>
            <a:ext cx="1107107" cy="194310"/>
          </a:xfrm>
          <a:prstGeom prst="rect">
            <a:avLst/>
          </a:prstGeom>
          <a:noFill/>
        </p:spPr>
        <p:txBody>
          <a:bodyPr wrap="none" lIns="0" rIns="0" tIns="0" bIns="0">
            <a:spAutoFit/>
          </a:bodyPr>
          <a:lstStyle/>
          <a:p>
            <a:r>
              <a:rPr sz="1150" b="0">
                <a:solidFill>
                  <a:srgbClr val="2E2E2E"/>
                </a:solidFill>
                <a:latin typeface="Calibri"/>
              </a:rPr>
              <a:t>Mn in 2036. 'Cast</a:t>
            </a:r>
          </a:p>
        </p:txBody>
      </p:sp>
      <p:sp>
        <p:nvSpPr>
          <p:cNvPr id="24" name="TextBox 23"/>
          <p:cNvSpPr txBox="1"/>
          <p:nvPr/>
        </p:nvSpPr>
        <p:spPr>
          <a:xfrm>
            <a:off x="276225" y="3899535"/>
            <a:ext cx="5471715" cy="194310"/>
          </a:xfrm>
          <a:prstGeom prst="rect">
            <a:avLst/>
          </a:prstGeom>
          <a:noFill/>
        </p:spPr>
        <p:txBody>
          <a:bodyPr wrap="none" lIns="0" rIns="0" tIns="0" bIns="0">
            <a:spAutoFit/>
          </a:bodyPr>
          <a:lstStyle/>
          <a:p>
            <a:r>
              <a:rPr sz="1150" b="0">
                <a:solidFill>
                  <a:srgbClr val="2E2E2E"/>
                </a:solidFill>
                <a:latin typeface="Calibri"/>
              </a:rPr>
              <a:t>Metal Partial Dentures × Conventional Fabrication' is the single largest cross-sectional cell (</a:t>
            </a:r>
          </a:p>
        </p:txBody>
      </p:sp>
      <p:pic>
        <p:nvPicPr>
          <p:cNvPr id="25" name="Picture 24" descr="lock.png"/>
          <p:cNvPicPr>
            <a:picLocks noChangeAspect="1"/>
          </p:cNvPicPr>
          <p:nvPr/>
        </p:nvPicPr>
        <p:blipFill>
          <a:blip r:embed="rId4"/>
          <a:stretch>
            <a:fillRect/>
          </a:stretch>
        </p:blipFill>
        <p:spPr>
          <a:xfrm>
            <a:off x="5697094" y="3889311"/>
            <a:ext cx="134549" cy="195707"/>
          </a:xfrm>
          <a:prstGeom prst="rect">
            <a:avLst/>
          </a:prstGeom>
        </p:spPr>
      </p:pic>
      <p:sp>
        <p:nvSpPr>
          <p:cNvPr id="26" name="TextBox 25"/>
          <p:cNvSpPr txBox="1"/>
          <p:nvPr/>
        </p:nvSpPr>
        <p:spPr>
          <a:xfrm>
            <a:off x="5872203" y="3899535"/>
            <a:ext cx="5674245"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Conventional Fabrication' records the fastest</a:t>
            </a:r>
          </a:p>
        </p:txBody>
      </p:sp>
      <p:sp>
        <p:nvSpPr>
          <p:cNvPr id="27" name="TextBox 26"/>
          <p:cNvSpPr txBox="1"/>
          <p:nvPr/>
        </p:nvSpPr>
        <p:spPr>
          <a:xfrm>
            <a:off x="276225" y="4074794"/>
            <a:ext cx="1279668" cy="194310"/>
          </a:xfrm>
          <a:prstGeom prst="rect">
            <a:avLst/>
          </a:prstGeom>
          <a:noFill/>
        </p:spPr>
        <p:txBody>
          <a:bodyPr wrap="none" lIns="0" rIns="0" tIns="0" bIns="0">
            <a:spAutoFit/>
          </a:bodyPr>
          <a:lstStyle/>
          <a:p>
            <a:r>
              <a:rPr sz="1150" b="0">
                <a:solidFill>
                  <a:srgbClr val="2E2E2E"/>
                </a:solidFill>
                <a:latin typeface="Calibri"/>
              </a:rPr>
              <a:t>growth at a CAGR of</a:t>
            </a:r>
          </a:p>
        </p:txBody>
      </p:sp>
      <p:pic>
        <p:nvPicPr>
          <p:cNvPr id="28" name="Picture 27" descr="lock.png"/>
          <p:cNvPicPr>
            <a:picLocks noChangeAspect="1"/>
          </p:cNvPicPr>
          <p:nvPr/>
        </p:nvPicPr>
        <p:blipFill>
          <a:blip r:embed="rId4"/>
          <a:stretch>
            <a:fillRect/>
          </a:stretch>
        </p:blipFill>
        <p:spPr>
          <a:xfrm>
            <a:off x="1505047" y="4064571"/>
            <a:ext cx="134549" cy="195707"/>
          </a:xfrm>
          <a:prstGeom prst="rect">
            <a:avLst/>
          </a:prstGeom>
        </p:spPr>
      </p:pic>
      <p:sp>
        <p:nvSpPr>
          <p:cNvPr id="29" name="TextBox 28"/>
          <p:cNvSpPr txBox="1"/>
          <p:nvPr/>
        </p:nvSpPr>
        <p:spPr>
          <a:xfrm>
            <a:off x="1680156" y="4074794"/>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302632"/>
            <a:ext cx="5732214" cy="194310"/>
          </a:xfrm>
          <a:prstGeom prst="rect">
            <a:avLst/>
          </a:prstGeom>
          <a:noFill/>
        </p:spPr>
        <p:txBody>
          <a:bodyPr wrap="none" lIns="0" rIns="0" tIns="0" bIns="0">
            <a:spAutoFit/>
          </a:bodyPr>
          <a:lstStyle/>
          <a:p>
            <a:r>
              <a:rPr sz="1150" b="0">
                <a:solidFill>
                  <a:srgbClr val="2E2E2E"/>
                </a:solidFill>
                <a:latin typeface="Calibri"/>
              </a:rPr>
              <a:t>Combined, the top three product type × technology cells generate an absolute $ opportunity of</a:t>
            </a:r>
          </a:p>
        </p:txBody>
      </p:sp>
      <p:pic>
        <p:nvPicPr>
          <p:cNvPr id="31" name="Picture 30" descr="lock.png"/>
          <p:cNvPicPr>
            <a:picLocks noChangeAspect="1"/>
          </p:cNvPicPr>
          <p:nvPr/>
        </p:nvPicPr>
        <p:blipFill>
          <a:blip r:embed="rId4"/>
          <a:stretch>
            <a:fillRect/>
          </a:stretch>
        </p:blipFill>
        <p:spPr>
          <a:xfrm>
            <a:off x="5957593" y="4292409"/>
            <a:ext cx="134549" cy="195707"/>
          </a:xfrm>
          <a:prstGeom prst="rect">
            <a:avLst/>
          </a:prstGeom>
        </p:spPr>
      </p:pic>
      <p:sp>
        <p:nvSpPr>
          <p:cNvPr id="32" name="TextBox 31"/>
          <p:cNvSpPr txBox="1"/>
          <p:nvPr/>
        </p:nvSpPr>
        <p:spPr>
          <a:xfrm>
            <a:off x="6132702" y="43026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Product Type × Technology, 2026E (% of each row)</a:t>
            </a:r>
          </a:p>
        </p:txBody>
      </p:sp>
      <p:graphicFrame>
        <p:nvGraphicFramePr>
          <p:cNvPr id="13" name="Table 12"/>
          <p:cNvGraphicFramePr>
            <a:graphicFrameLocks noGrp="1"/>
          </p:cNvGraphicFramePr>
          <p:nvPr/>
        </p:nvGraphicFramePr>
        <p:xfrm>
          <a:off x="152400" y="1238250"/>
          <a:ext cx="11887200" cy="1924050"/>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309">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7286625"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623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790950"/>
          <a:ext cx="7096125" cy="27813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505200"/>
            <a:ext cx="4457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5909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8290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914775"/>
            <a:ext cx="4191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1" y="2276792"/>
            <a:ext cx="366712" cy="533400"/>
          </a:xfrm>
          <a:prstGeom prst="rect">
            <a:avLst/>
          </a:prstGeom>
        </p:spPr>
      </p:pic>
      <p:pic>
        <p:nvPicPr>
          <p:cNvPr id="24" name="Picture 23" descr="lock.png"/>
          <p:cNvPicPr>
            <a:picLocks noChangeAspect="1"/>
          </p:cNvPicPr>
          <p:nvPr/>
        </p:nvPicPr>
        <p:blipFill>
          <a:blip r:embed="rId5"/>
          <a:stretch>
            <a:fillRect/>
          </a:stretch>
        </p:blipFill>
        <p:spPr>
          <a:xfrm>
            <a:off x="3747745" y="4372085"/>
            <a:ext cx="365513" cy="531655"/>
          </a:xfrm>
          <a:prstGeom prst="rect">
            <a:avLst/>
          </a:prstGeom>
        </p:spPr>
      </p:pic>
      <p:sp>
        <p:nvSpPr>
          <p:cNvPr id="25" name="TextBox 24"/>
          <p:cNvSpPr txBox="1"/>
          <p:nvPr/>
        </p:nvSpPr>
        <p:spPr>
          <a:xfrm>
            <a:off x="7715250" y="3924300"/>
            <a:ext cx="4021832" cy="194310"/>
          </a:xfrm>
          <a:prstGeom prst="rect">
            <a:avLst/>
          </a:prstGeom>
          <a:noFill/>
        </p:spPr>
        <p:txBody>
          <a:bodyPr wrap="none" lIns="0" rIns="0" tIns="0" bIns="0">
            <a:spAutoFit/>
          </a:bodyPr>
          <a:lstStyle/>
          <a:p>
            <a:r>
              <a:rPr sz="1150" b="0">
                <a:solidFill>
                  <a:srgbClr val="2E2E2E"/>
                </a:solidFill>
                <a:latin typeface="Calibri"/>
              </a:rPr>
              <a:t>▪ 'Heat-cured / Compression Processing' holds the highest share of</a:t>
            </a:r>
          </a:p>
        </p:txBody>
      </p:sp>
      <p:sp>
        <p:nvSpPr>
          <p:cNvPr id="26" name="TextBox 25"/>
          <p:cNvSpPr txBox="1"/>
          <p:nvPr/>
        </p:nvSpPr>
        <p:spPr>
          <a:xfrm>
            <a:off x="7715250" y="4099560"/>
            <a:ext cx="1924930" cy="194310"/>
          </a:xfrm>
          <a:prstGeom prst="rect">
            <a:avLst/>
          </a:prstGeom>
          <a:noFill/>
        </p:spPr>
        <p:txBody>
          <a:bodyPr wrap="none" lIns="0" rIns="0" tIns="0" bIns="0">
            <a:spAutoFit/>
          </a:bodyPr>
          <a:lstStyle/>
          <a:p>
            <a:r>
              <a:rPr sz="1150" b="0">
                <a:solidFill>
                  <a:srgbClr val="2E2E2E"/>
                </a:solidFill>
                <a:latin typeface="Calibri"/>
              </a:rPr>
              <a:t>'Cast Metal Partial Dentures' at</a:t>
            </a:r>
          </a:p>
        </p:txBody>
      </p:sp>
      <p:pic>
        <p:nvPicPr>
          <p:cNvPr id="27" name="Picture 26" descr="lock.png"/>
          <p:cNvPicPr>
            <a:picLocks noChangeAspect="1"/>
          </p:cNvPicPr>
          <p:nvPr/>
        </p:nvPicPr>
        <p:blipFill>
          <a:blip r:embed="rId5"/>
          <a:stretch>
            <a:fillRect/>
          </a:stretch>
        </p:blipFill>
        <p:spPr>
          <a:xfrm>
            <a:off x="9589334" y="4089336"/>
            <a:ext cx="134549" cy="195707"/>
          </a:xfrm>
          <a:prstGeom prst="rect">
            <a:avLst/>
          </a:prstGeom>
        </p:spPr>
      </p:pic>
      <p:sp>
        <p:nvSpPr>
          <p:cNvPr id="28" name="TextBox 27"/>
          <p:cNvSpPr txBox="1"/>
          <p:nvPr/>
        </p:nvSpPr>
        <p:spPr>
          <a:xfrm>
            <a:off x="9764443" y="40995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327397"/>
            <a:ext cx="4171950" cy="194310"/>
          </a:xfrm>
          <a:prstGeom prst="rect">
            <a:avLst/>
          </a:prstGeom>
          <a:noFill/>
        </p:spPr>
        <p:txBody>
          <a:bodyPr wrap="none" lIns="0" rIns="0" tIns="0" bIns="0">
            <a:spAutoFit/>
          </a:bodyPr>
          <a:lstStyle/>
          <a:p>
            <a:r>
              <a:rPr sz="1150" b="0">
                <a:solidFill>
                  <a:srgbClr val="2E2E2E"/>
                </a:solidFill>
                <a:latin typeface="Calibri"/>
              </a:rPr>
              <a:t>▪ 'Cast Metal Partial Dentures' is the most concentrated product type</a:t>
            </a:r>
          </a:p>
        </p:txBody>
      </p:sp>
      <p:sp>
        <p:nvSpPr>
          <p:cNvPr id="30" name="TextBox 29"/>
          <p:cNvSpPr txBox="1"/>
          <p:nvPr/>
        </p:nvSpPr>
        <p:spPr>
          <a:xfrm>
            <a:off x="7715250" y="45026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492434"/>
            <a:ext cx="134549" cy="195707"/>
          </a:xfrm>
          <a:prstGeom prst="rect">
            <a:avLst/>
          </a:prstGeom>
        </p:spPr>
      </p:pic>
      <p:sp>
        <p:nvSpPr>
          <p:cNvPr id="32" name="TextBox 31"/>
          <p:cNvSpPr txBox="1"/>
          <p:nvPr/>
        </p:nvSpPr>
        <p:spPr>
          <a:xfrm>
            <a:off x="9018219" y="4502657"/>
            <a:ext cx="2553344" cy="194310"/>
          </a:xfrm>
          <a:prstGeom prst="rect">
            <a:avLst/>
          </a:prstGeom>
          <a:noFill/>
        </p:spPr>
        <p:txBody>
          <a:bodyPr wrap="none" lIns="0" rIns="0" tIns="0" bIns="0">
            <a:spAutoFit/>
          </a:bodyPr>
          <a:lstStyle/>
          <a:p>
            <a:r>
              <a:rPr sz="1150" b="0">
                <a:solidFill>
                  <a:srgbClr val="2E2E2E"/>
                </a:solidFill>
                <a:latin typeface="Calibri"/>
              </a:rPr>
              <a:t>of its value via 'Heat-cured / Compression</a:t>
            </a:r>
          </a:p>
        </p:txBody>
      </p:sp>
      <p:sp>
        <p:nvSpPr>
          <p:cNvPr id="33" name="TextBox 32"/>
          <p:cNvSpPr txBox="1"/>
          <p:nvPr/>
        </p:nvSpPr>
        <p:spPr>
          <a:xfrm>
            <a:off x="7715250" y="4677917"/>
            <a:ext cx="776783" cy="194310"/>
          </a:xfrm>
          <a:prstGeom prst="rect">
            <a:avLst/>
          </a:prstGeom>
          <a:noFill/>
        </p:spPr>
        <p:txBody>
          <a:bodyPr wrap="none" lIns="0" rIns="0" tIns="0" bIns="0">
            <a:spAutoFit/>
          </a:bodyPr>
          <a:lstStyle/>
          <a:p>
            <a:r>
              <a:rPr sz="1150" b="0">
                <a:solidFill>
                  <a:srgbClr val="2E2E2E"/>
                </a:solidFill>
                <a:latin typeface="Calibri"/>
              </a:rPr>
              <a:t>Processing'.</a:t>
            </a:r>
          </a:p>
        </p:txBody>
      </p:sp>
      <p:sp>
        <p:nvSpPr>
          <p:cNvPr id="34" name="TextBox 33"/>
          <p:cNvSpPr txBox="1"/>
          <p:nvPr/>
        </p:nvSpPr>
        <p:spPr>
          <a:xfrm>
            <a:off x="7715250" y="4905755"/>
            <a:ext cx="1486780" cy="194310"/>
          </a:xfrm>
          <a:prstGeom prst="rect">
            <a:avLst/>
          </a:prstGeom>
          <a:noFill/>
        </p:spPr>
        <p:txBody>
          <a:bodyPr wrap="none" lIns="0" rIns="0" tIns="0" bIns="0">
            <a:spAutoFit/>
          </a:bodyPr>
          <a:lstStyle/>
          <a:p>
            <a:r>
              <a:rPr sz="1150" b="0">
                <a:solidFill>
                  <a:srgbClr val="2E2E2E"/>
                </a:solidFill>
                <a:latin typeface="Calibri"/>
              </a:rPr>
              <a:t>▪ 'Metal Casting' gains +</a:t>
            </a:r>
          </a:p>
        </p:txBody>
      </p:sp>
      <p:pic>
        <p:nvPicPr>
          <p:cNvPr id="35" name="Picture 34" descr="lock.png"/>
          <p:cNvPicPr>
            <a:picLocks noChangeAspect="1"/>
          </p:cNvPicPr>
          <p:nvPr/>
        </p:nvPicPr>
        <p:blipFill>
          <a:blip r:embed="rId5"/>
          <a:stretch>
            <a:fillRect/>
          </a:stretch>
        </p:blipFill>
        <p:spPr>
          <a:xfrm>
            <a:off x="9151184" y="4895532"/>
            <a:ext cx="134549" cy="195707"/>
          </a:xfrm>
          <a:prstGeom prst="rect">
            <a:avLst/>
          </a:prstGeom>
        </p:spPr>
      </p:pic>
      <p:sp>
        <p:nvSpPr>
          <p:cNvPr id="36" name="TextBox 35"/>
          <p:cNvSpPr txBox="1"/>
          <p:nvPr/>
        </p:nvSpPr>
        <p:spPr>
          <a:xfrm>
            <a:off x="9326293" y="4905755"/>
            <a:ext cx="2104640" cy="194310"/>
          </a:xfrm>
          <a:prstGeom prst="rect">
            <a:avLst/>
          </a:prstGeom>
          <a:noFill/>
        </p:spPr>
        <p:txBody>
          <a:bodyPr wrap="none" lIns="0" rIns="0" tIns="0" bIns="0">
            <a:spAutoFit/>
          </a:bodyPr>
          <a:lstStyle/>
          <a:p>
            <a:r>
              <a:rPr sz="1150" b="0">
                <a:solidFill>
                  <a:srgbClr val="2E2E2E"/>
                </a:solidFill>
                <a:latin typeface="Calibri"/>
              </a:rPr>
              <a:t>BPS of share of the North America</a:t>
            </a:r>
          </a:p>
        </p:txBody>
      </p:sp>
      <p:sp>
        <p:nvSpPr>
          <p:cNvPr id="37" name="TextBox 36"/>
          <p:cNvSpPr txBox="1"/>
          <p:nvPr/>
        </p:nvSpPr>
        <p:spPr>
          <a:xfrm>
            <a:off x="7715250" y="508101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8" name="lockshield_17"/>
          <p:cNvSpPr/>
          <p:nvPr/>
        </p:nvSpPr>
        <p:spPr>
          <a:xfrm>
            <a:off x="238125" y="3790950"/>
            <a:ext cx="7096125" cy="27813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560070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6290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53340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8451757" y="2079785"/>
            <a:ext cx="366712" cy="533400"/>
          </a:xfrm>
          <a:prstGeom prst="rect">
            <a:avLst/>
          </a:prstGeom>
        </p:spPr>
      </p:pic>
      <p:sp>
        <p:nvSpPr>
          <p:cNvPr id="33" name="TextBox 32"/>
          <p:cNvSpPr txBox="1"/>
          <p:nvPr/>
        </p:nvSpPr>
        <p:spPr>
          <a:xfrm>
            <a:off x="276225" y="3724275"/>
            <a:ext cx="3424162" cy="194310"/>
          </a:xfrm>
          <a:prstGeom prst="rect">
            <a:avLst/>
          </a:prstGeom>
          <a:noFill/>
        </p:spPr>
        <p:txBody>
          <a:bodyPr wrap="none" lIns="0" rIns="0" tIns="0" bIns="0">
            <a:spAutoFit/>
          </a:bodyPr>
          <a:lstStyle/>
          <a:p>
            <a:r>
              <a:rPr sz="1150" b="0">
                <a:solidFill>
                  <a:srgbClr val="2E2E2E"/>
                </a:solidFill>
                <a:latin typeface="Calibri"/>
              </a:rPr>
              <a:t>▪ 1. Acrylic Partial Dentures × Conventional Fabrication –</a:t>
            </a:r>
          </a:p>
        </p:txBody>
      </p:sp>
      <p:pic>
        <p:nvPicPr>
          <p:cNvPr id="34" name="Picture 33" descr="lock.png"/>
          <p:cNvPicPr>
            <a:picLocks noChangeAspect="1"/>
          </p:cNvPicPr>
          <p:nvPr/>
        </p:nvPicPr>
        <p:blipFill>
          <a:blip r:embed="rId4"/>
          <a:stretch>
            <a:fillRect/>
          </a:stretch>
        </p:blipFill>
        <p:spPr>
          <a:xfrm>
            <a:off x="3649541" y="3714051"/>
            <a:ext cx="134549" cy="195707"/>
          </a:xfrm>
          <a:prstGeom prst="rect">
            <a:avLst/>
          </a:prstGeom>
        </p:spPr>
      </p:pic>
      <p:sp>
        <p:nvSpPr>
          <p:cNvPr id="35" name="TextBox 34"/>
          <p:cNvSpPr txBox="1"/>
          <p:nvPr/>
        </p:nvSpPr>
        <p:spPr>
          <a:xfrm>
            <a:off x="3824650" y="37242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86802" y="3714051"/>
            <a:ext cx="134549" cy="195707"/>
          </a:xfrm>
          <a:prstGeom prst="rect">
            <a:avLst/>
          </a:prstGeom>
        </p:spPr>
      </p:pic>
      <p:sp>
        <p:nvSpPr>
          <p:cNvPr id="37" name="TextBox 36"/>
          <p:cNvSpPr txBox="1"/>
          <p:nvPr/>
        </p:nvSpPr>
        <p:spPr>
          <a:xfrm>
            <a:off x="4061911" y="37242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952112"/>
            <a:ext cx="3484921" cy="194310"/>
          </a:xfrm>
          <a:prstGeom prst="rect">
            <a:avLst/>
          </a:prstGeom>
          <a:noFill/>
        </p:spPr>
        <p:txBody>
          <a:bodyPr wrap="none" lIns="0" rIns="0" tIns="0" bIns="0">
            <a:spAutoFit/>
          </a:bodyPr>
          <a:lstStyle/>
          <a:p>
            <a:r>
              <a:rPr sz="1150" b="0">
                <a:solidFill>
                  <a:srgbClr val="2E2E2E"/>
                </a:solidFill>
                <a:latin typeface="Calibri"/>
              </a:rPr>
              <a:t>▪ 2. Flexible Partial Dentures × Conventional Fabrication –</a:t>
            </a:r>
          </a:p>
        </p:txBody>
      </p:sp>
      <p:pic>
        <p:nvPicPr>
          <p:cNvPr id="39" name="Picture 38" descr="lock.png"/>
          <p:cNvPicPr>
            <a:picLocks noChangeAspect="1"/>
          </p:cNvPicPr>
          <p:nvPr/>
        </p:nvPicPr>
        <p:blipFill>
          <a:blip r:embed="rId4"/>
          <a:stretch>
            <a:fillRect/>
          </a:stretch>
        </p:blipFill>
        <p:spPr>
          <a:xfrm>
            <a:off x="3710300" y="3941889"/>
            <a:ext cx="134549" cy="195707"/>
          </a:xfrm>
          <a:prstGeom prst="rect">
            <a:avLst/>
          </a:prstGeom>
        </p:spPr>
      </p:pic>
      <p:sp>
        <p:nvSpPr>
          <p:cNvPr id="40" name="TextBox 39"/>
          <p:cNvSpPr txBox="1"/>
          <p:nvPr/>
        </p:nvSpPr>
        <p:spPr>
          <a:xfrm>
            <a:off x="3885409" y="3952112"/>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47561" y="3941889"/>
            <a:ext cx="134549" cy="195707"/>
          </a:xfrm>
          <a:prstGeom prst="rect">
            <a:avLst/>
          </a:prstGeom>
        </p:spPr>
      </p:pic>
      <p:sp>
        <p:nvSpPr>
          <p:cNvPr id="42" name="TextBox 41"/>
          <p:cNvSpPr txBox="1"/>
          <p:nvPr/>
        </p:nvSpPr>
        <p:spPr>
          <a:xfrm>
            <a:off x="4122670" y="3952112"/>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179950"/>
            <a:ext cx="4505845" cy="194310"/>
          </a:xfrm>
          <a:prstGeom prst="rect">
            <a:avLst/>
          </a:prstGeom>
          <a:noFill/>
        </p:spPr>
        <p:txBody>
          <a:bodyPr wrap="none" lIns="0" rIns="0" tIns="0" bIns="0">
            <a:spAutoFit/>
          </a:bodyPr>
          <a:lstStyle/>
          <a:p>
            <a:r>
              <a:rPr sz="1150" b="0">
                <a:solidFill>
                  <a:srgbClr val="2E2E2E"/>
                </a:solidFill>
                <a:latin typeface="Calibri"/>
              </a:rPr>
              <a:t>▪ 3. Combination Framework Partial Dentures × Conventional Fabrication –</a:t>
            </a:r>
          </a:p>
        </p:txBody>
      </p:sp>
      <p:pic>
        <p:nvPicPr>
          <p:cNvPr id="44" name="Picture 43" descr="lock.png"/>
          <p:cNvPicPr>
            <a:picLocks noChangeAspect="1"/>
          </p:cNvPicPr>
          <p:nvPr/>
        </p:nvPicPr>
        <p:blipFill>
          <a:blip r:embed="rId4"/>
          <a:stretch>
            <a:fillRect/>
          </a:stretch>
        </p:blipFill>
        <p:spPr>
          <a:xfrm>
            <a:off x="4731224" y="4169727"/>
            <a:ext cx="134549" cy="195707"/>
          </a:xfrm>
          <a:prstGeom prst="rect">
            <a:avLst/>
          </a:prstGeom>
        </p:spPr>
      </p:pic>
      <p:sp>
        <p:nvSpPr>
          <p:cNvPr id="45" name="TextBox 44"/>
          <p:cNvSpPr txBox="1"/>
          <p:nvPr/>
        </p:nvSpPr>
        <p:spPr>
          <a:xfrm>
            <a:off x="4906333"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968485" y="4169727"/>
            <a:ext cx="134549" cy="195707"/>
          </a:xfrm>
          <a:prstGeom prst="rect">
            <a:avLst/>
          </a:prstGeom>
        </p:spPr>
      </p:pic>
      <p:sp>
        <p:nvSpPr>
          <p:cNvPr id="47" name="TextBox 46"/>
          <p:cNvSpPr txBox="1"/>
          <p:nvPr/>
        </p:nvSpPr>
        <p:spPr>
          <a:xfrm>
            <a:off x="5143594"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8" name="TextBox 47"/>
          <p:cNvSpPr txBox="1"/>
          <p:nvPr/>
        </p:nvSpPr>
        <p:spPr>
          <a:xfrm>
            <a:off x="276225" y="4355210"/>
            <a:ext cx="281012" cy="194310"/>
          </a:xfrm>
          <a:prstGeom prst="rect">
            <a:avLst/>
          </a:prstGeom>
          <a:noFill/>
        </p:spPr>
        <p:txBody>
          <a:bodyPr wrap="none" lIns="0" rIns="0" tIns="0" bIns="0">
            <a:spAutoFit/>
          </a:bodyPr>
          <a:lstStyle/>
          <a:p>
            <a:r>
              <a:rPr sz="1150" b="0">
                <a:solidFill>
                  <a:srgbClr val="2E2E2E"/>
                </a:solidFill>
                <a:latin typeface="Calibri"/>
              </a:rPr>
              <a:t>5/5</a:t>
            </a:r>
          </a:p>
        </p:txBody>
      </p:sp>
      <p:sp>
        <p:nvSpPr>
          <p:cNvPr id="49" name="TextBox 48"/>
          <p:cNvSpPr txBox="1"/>
          <p:nvPr/>
        </p:nvSpPr>
        <p:spPr>
          <a:xfrm>
            <a:off x="276225" y="4583048"/>
            <a:ext cx="3668625" cy="194310"/>
          </a:xfrm>
          <a:prstGeom prst="rect">
            <a:avLst/>
          </a:prstGeom>
          <a:noFill/>
        </p:spPr>
        <p:txBody>
          <a:bodyPr wrap="none" lIns="0" rIns="0" tIns="0" bIns="0">
            <a:spAutoFit/>
          </a:bodyPr>
          <a:lstStyle/>
          <a:p>
            <a:r>
              <a:rPr sz="1150" b="0">
                <a:solidFill>
                  <a:srgbClr val="2E2E2E"/>
                </a:solidFill>
                <a:latin typeface="Calibri"/>
              </a:rPr>
              <a:t>▪ 4. Cast Metal Partial Dentures × Conventional Fabrication –</a:t>
            </a:r>
          </a:p>
        </p:txBody>
      </p:sp>
      <p:pic>
        <p:nvPicPr>
          <p:cNvPr id="50" name="Picture 49" descr="lock.png"/>
          <p:cNvPicPr>
            <a:picLocks noChangeAspect="1"/>
          </p:cNvPicPr>
          <p:nvPr/>
        </p:nvPicPr>
        <p:blipFill>
          <a:blip r:embed="rId4"/>
          <a:stretch>
            <a:fillRect/>
          </a:stretch>
        </p:blipFill>
        <p:spPr>
          <a:xfrm>
            <a:off x="3894004" y="4572825"/>
            <a:ext cx="134549" cy="195707"/>
          </a:xfrm>
          <a:prstGeom prst="rect">
            <a:avLst/>
          </a:prstGeom>
        </p:spPr>
      </p:pic>
      <p:sp>
        <p:nvSpPr>
          <p:cNvPr id="51" name="TextBox 50"/>
          <p:cNvSpPr txBox="1"/>
          <p:nvPr/>
        </p:nvSpPr>
        <p:spPr>
          <a:xfrm>
            <a:off x="4069113" y="458304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2" name="Picture 51" descr="lock.png"/>
          <p:cNvPicPr>
            <a:picLocks noChangeAspect="1"/>
          </p:cNvPicPr>
          <p:nvPr/>
        </p:nvPicPr>
        <p:blipFill>
          <a:blip r:embed="rId4"/>
          <a:stretch>
            <a:fillRect/>
          </a:stretch>
        </p:blipFill>
        <p:spPr>
          <a:xfrm>
            <a:off x="4131265" y="4572825"/>
            <a:ext cx="134549" cy="195707"/>
          </a:xfrm>
          <a:prstGeom prst="rect">
            <a:avLst/>
          </a:prstGeom>
        </p:spPr>
      </p:pic>
      <p:sp>
        <p:nvSpPr>
          <p:cNvPr id="53" name="TextBox 52"/>
          <p:cNvSpPr txBox="1"/>
          <p:nvPr/>
        </p:nvSpPr>
        <p:spPr>
          <a:xfrm>
            <a:off x="4306374" y="4583048"/>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4" name="TextBox 53"/>
          <p:cNvSpPr txBox="1"/>
          <p:nvPr/>
        </p:nvSpPr>
        <p:spPr>
          <a:xfrm>
            <a:off x="276225" y="4810886"/>
            <a:ext cx="3076438" cy="194310"/>
          </a:xfrm>
          <a:prstGeom prst="rect">
            <a:avLst/>
          </a:prstGeom>
          <a:noFill/>
        </p:spPr>
        <p:txBody>
          <a:bodyPr wrap="none" lIns="0" rIns="0" tIns="0" bIns="0">
            <a:spAutoFit/>
          </a:bodyPr>
          <a:lstStyle/>
          <a:p>
            <a:r>
              <a:rPr sz="1150" b="0">
                <a:solidFill>
                  <a:srgbClr val="2E2E2E"/>
                </a:solidFill>
                <a:latin typeface="Calibri"/>
              </a:rPr>
              <a:t>▪ 5. Flexible Partial Dentures × Digital Fabrication –</a:t>
            </a:r>
          </a:p>
        </p:txBody>
      </p:sp>
      <p:pic>
        <p:nvPicPr>
          <p:cNvPr id="55" name="Picture 54" descr="lock.png"/>
          <p:cNvPicPr>
            <a:picLocks noChangeAspect="1"/>
          </p:cNvPicPr>
          <p:nvPr/>
        </p:nvPicPr>
        <p:blipFill>
          <a:blip r:embed="rId4"/>
          <a:stretch>
            <a:fillRect/>
          </a:stretch>
        </p:blipFill>
        <p:spPr>
          <a:xfrm>
            <a:off x="3301817" y="4800663"/>
            <a:ext cx="134549" cy="195707"/>
          </a:xfrm>
          <a:prstGeom prst="rect">
            <a:avLst/>
          </a:prstGeom>
        </p:spPr>
      </p:pic>
      <p:sp>
        <p:nvSpPr>
          <p:cNvPr id="56" name="TextBox 55"/>
          <p:cNvSpPr txBox="1"/>
          <p:nvPr/>
        </p:nvSpPr>
        <p:spPr>
          <a:xfrm>
            <a:off x="3476926" y="481088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3539078" y="4800663"/>
            <a:ext cx="134549" cy="195707"/>
          </a:xfrm>
          <a:prstGeom prst="rect">
            <a:avLst/>
          </a:prstGeom>
        </p:spPr>
      </p:pic>
      <p:sp>
        <p:nvSpPr>
          <p:cNvPr id="58" name="TextBox 57"/>
          <p:cNvSpPr txBox="1"/>
          <p:nvPr/>
        </p:nvSpPr>
        <p:spPr>
          <a:xfrm>
            <a:off x="3714187" y="4810886"/>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9" name="TextBox 58"/>
          <p:cNvSpPr txBox="1"/>
          <p:nvPr/>
        </p:nvSpPr>
        <p:spPr>
          <a:xfrm>
            <a:off x="60293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0" name="TextBox 59"/>
          <p:cNvSpPr txBox="1"/>
          <p:nvPr/>
        </p:nvSpPr>
        <p:spPr>
          <a:xfrm>
            <a:off x="60293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61" name="TextBox 60"/>
          <p:cNvSpPr txBox="1"/>
          <p:nvPr/>
        </p:nvSpPr>
        <p:spPr>
          <a:xfrm>
            <a:off x="6029325" y="4074794"/>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2" name="Picture 61" descr="lock.png"/>
          <p:cNvPicPr>
            <a:picLocks noChangeAspect="1"/>
          </p:cNvPicPr>
          <p:nvPr/>
        </p:nvPicPr>
        <p:blipFill>
          <a:blip r:embed="rId4"/>
          <a:stretch>
            <a:fillRect/>
          </a:stretch>
        </p:blipFill>
        <p:spPr>
          <a:xfrm>
            <a:off x="6335083" y="4064571"/>
            <a:ext cx="134549" cy="195707"/>
          </a:xfrm>
          <a:prstGeom prst="rect">
            <a:avLst/>
          </a:prstGeom>
        </p:spPr>
      </p:pic>
      <p:sp>
        <p:nvSpPr>
          <p:cNvPr id="63" name="TextBox 62"/>
          <p:cNvSpPr txBox="1"/>
          <p:nvPr/>
        </p:nvSpPr>
        <p:spPr>
          <a:xfrm>
            <a:off x="6510192" y="4074794"/>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4" name="TextBox 63"/>
          <p:cNvSpPr txBox="1"/>
          <p:nvPr/>
        </p:nvSpPr>
        <p:spPr>
          <a:xfrm>
            <a:off x="6029325" y="4250054"/>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5" name="Picture 64" descr="lock.png"/>
          <p:cNvPicPr>
            <a:picLocks noChangeAspect="1"/>
          </p:cNvPicPr>
          <p:nvPr/>
        </p:nvPicPr>
        <p:blipFill>
          <a:blip r:embed="rId4"/>
          <a:stretch>
            <a:fillRect/>
          </a:stretch>
        </p:blipFill>
        <p:spPr>
          <a:xfrm>
            <a:off x="6127418" y="4239831"/>
            <a:ext cx="134549" cy="195707"/>
          </a:xfrm>
          <a:prstGeom prst="rect">
            <a:avLst/>
          </a:prstGeom>
        </p:spPr>
      </p:pic>
      <p:sp>
        <p:nvSpPr>
          <p:cNvPr id="66" name="TextBox 65"/>
          <p:cNvSpPr txBox="1"/>
          <p:nvPr/>
        </p:nvSpPr>
        <p:spPr>
          <a:xfrm>
            <a:off x="6302527" y="4250054"/>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7" name="TextBox 66"/>
          <p:cNvSpPr txBox="1"/>
          <p:nvPr/>
        </p:nvSpPr>
        <p:spPr>
          <a:xfrm>
            <a:off x="6029325" y="442531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8" name="TextBox 67"/>
          <p:cNvSpPr txBox="1"/>
          <p:nvPr/>
        </p:nvSpPr>
        <p:spPr>
          <a:xfrm>
            <a:off x="81248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9" name="TextBox 68"/>
          <p:cNvSpPr txBox="1"/>
          <p:nvPr/>
        </p:nvSpPr>
        <p:spPr>
          <a:xfrm>
            <a:off x="81248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70" name="TextBox 69"/>
          <p:cNvSpPr txBox="1"/>
          <p:nvPr/>
        </p:nvSpPr>
        <p:spPr>
          <a:xfrm>
            <a:off x="8124825" y="4074794"/>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1" name="Picture 70" descr="lock.png"/>
          <p:cNvPicPr>
            <a:picLocks noChangeAspect="1"/>
          </p:cNvPicPr>
          <p:nvPr/>
        </p:nvPicPr>
        <p:blipFill>
          <a:blip r:embed="rId4"/>
          <a:stretch>
            <a:fillRect/>
          </a:stretch>
        </p:blipFill>
        <p:spPr>
          <a:xfrm>
            <a:off x="8763474" y="4064571"/>
            <a:ext cx="134549" cy="195707"/>
          </a:xfrm>
          <a:prstGeom prst="rect">
            <a:avLst/>
          </a:prstGeom>
        </p:spPr>
      </p:pic>
      <p:sp>
        <p:nvSpPr>
          <p:cNvPr id="72" name="TextBox 71"/>
          <p:cNvSpPr txBox="1"/>
          <p:nvPr/>
        </p:nvSpPr>
        <p:spPr>
          <a:xfrm>
            <a:off x="8938584" y="4074794"/>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3" name="Picture 72" descr="lock.png"/>
          <p:cNvPicPr>
            <a:picLocks noChangeAspect="1"/>
          </p:cNvPicPr>
          <p:nvPr/>
        </p:nvPicPr>
        <p:blipFill>
          <a:blip r:embed="rId4"/>
          <a:stretch>
            <a:fillRect/>
          </a:stretch>
        </p:blipFill>
        <p:spPr>
          <a:xfrm>
            <a:off x="9334179" y="4064571"/>
            <a:ext cx="134549" cy="195707"/>
          </a:xfrm>
          <a:prstGeom prst="rect">
            <a:avLst/>
          </a:prstGeom>
        </p:spPr>
      </p:pic>
      <p:sp>
        <p:nvSpPr>
          <p:cNvPr id="74" name="TextBox 73"/>
          <p:cNvSpPr txBox="1"/>
          <p:nvPr/>
        </p:nvSpPr>
        <p:spPr>
          <a:xfrm>
            <a:off x="8124825" y="4250054"/>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5" name="TextBox 74"/>
          <p:cNvSpPr txBox="1"/>
          <p:nvPr/>
        </p:nvSpPr>
        <p:spPr>
          <a:xfrm>
            <a:off x="8124825" y="442531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Patient Age Group</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Volume Overview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(UNITS)</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3054374" cy="186689"/>
          </a:xfrm>
          <a:prstGeom prst="rect">
            <a:avLst/>
          </a:prstGeom>
          <a:noFill/>
        </p:spPr>
        <p:txBody>
          <a:bodyPr wrap="none" lIns="0" rIns="0" tIns="0" bIns="0">
            <a:spAutoFit/>
          </a:bodyPr>
          <a:lstStyle/>
          <a:p>
            <a:r>
              <a:rPr sz="1100" b="0">
                <a:solidFill>
                  <a:srgbClr val="2E2E2E"/>
                </a:solidFill>
                <a:latin typeface="Calibri"/>
              </a:rPr>
              <a:t>U.S.'s removable partial dentures market expands at</a:t>
            </a:r>
          </a:p>
        </p:txBody>
      </p:sp>
      <p:pic>
        <p:nvPicPr>
          <p:cNvPr id="42" name="Picture 41" descr="lock.png"/>
          <p:cNvPicPr>
            <a:picLocks noChangeAspect="1"/>
          </p:cNvPicPr>
          <p:nvPr/>
        </p:nvPicPr>
        <p:blipFill>
          <a:blip r:embed="rId8"/>
          <a:stretch>
            <a:fillRect/>
          </a:stretch>
        </p:blipFill>
        <p:spPr>
          <a:xfrm>
            <a:off x="11073911" y="2866771"/>
            <a:ext cx="128699" cy="187198"/>
          </a:xfrm>
          <a:prstGeom prst="rect">
            <a:avLst/>
          </a:prstGeom>
        </p:spPr>
      </p:pic>
      <p:sp>
        <p:nvSpPr>
          <p:cNvPr id="43" name="TextBox 42"/>
          <p:cNvSpPr txBox="1"/>
          <p:nvPr/>
        </p:nvSpPr>
        <p:spPr>
          <a:xfrm>
            <a:off x="11241407" y="2876550"/>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44" name="TextBox 43"/>
          <p:cNvSpPr txBox="1"/>
          <p:nvPr/>
        </p:nvSpPr>
        <p:spPr>
          <a:xfrm>
            <a:off x="8071485" y="3044190"/>
            <a:ext cx="3218358" cy="186689"/>
          </a:xfrm>
          <a:prstGeom prst="rect">
            <a:avLst/>
          </a:prstGeom>
          <a:noFill/>
        </p:spPr>
        <p:txBody>
          <a:bodyPr wrap="none" lIns="0" rIns="0" tIns="0" bIns="0">
            <a:spAutoFit/>
          </a:bodyPr>
          <a:lstStyle/>
          <a:p>
            <a:r>
              <a:rPr sz="1100" b="0">
                <a:solidFill>
                  <a:srgbClr val="2E2E2E"/>
                </a:solidFill>
                <a:latin typeface="Calibri"/>
              </a:rPr>
              <a:t>through 2036, trailing the North America benchmark of</a:t>
            </a:r>
          </a:p>
        </p:txBody>
      </p:sp>
      <p:pic>
        <p:nvPicPr>
          <p:cNvPr id="45" name="Picture 44" descr="lock.png"/>
          <p:cNvPicPr>
            <a:picLocks noChangeAspect="1"/>
          </p:cNvPicPr>
          <p:nvPr/>
        </p:nvPicPr>
        <p:blipFill>
          <a:blip r:embed="rId8"/>
          <a:stretch>
            <a:fillRect/>
          </a:stretch>
        </p:blipFill>
        <p:spPr>
          <a:xfrm>
            <a:off x="11237895" y="3034411"/>
            <a:ext cx="128699" cy="187198"/>
          </a:xfrm>
          <a:prstGeom prst="rect">
            <a:avLst/>
          </a:prstGeom>
        </p:spPr>
      </p:pic>
      <p:sp>
        <p:nvSpPr>
          <p:cNvPr id="46" name="TextBox 45"/>
          <p:cNvSpPr txBox="1"/>
          <p:nvPr/>
        </p:nvSpPr>
        <p:spPr>
          <a:xfrm>
            <a:off x="11405391"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8058017" y="3202051"/>
            <a:ext cx="128699" cy="187198"/>
          </a:xfrm>
          <a:prstGeom prst="rect">
            <a:avLst/>
          </a:prstGeom>
        </p:spPr>
      </p:pic>
      <p:sp>
        <p:nvSpPr>
          <p:cNvPr id="48" name="TextBox 47"/>
          <p:cNvSpPr txBox="1"/>
          <p:nvPr/>
        </p:nvSpPr>
        <p:spPr>
          <a:xfrm>
            <a:off x="8225513" y="321183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436366" cy="186689"/>
          </a:xfrm>
          <a:prstGeom prst="rect">
            <a:avLst/>
          </a:prstGeom>
          <a:noFill/>
        </p:spPr>
        <p:txBody>
          <a:bodyPr wrap="none" lIns="0" rIns="0" tIns="0" bIns="0">
            <a:spAutoFit/>
          </a:bodyPr>
          <a:lstStyle/>
          <a:p>
            <a:r>
              <a:rPr sz="1100" b="0">
                <a:solidFill>
                  <a:srgbClr val="2E2E2E"/>
                </a:solidFill>
                <a:latin typeface="Calibri"/>
              </a:rPr>
              <a:t>of the North America removable partial dentures market in</a:t>
            </a:r>
          </a:p>
        </p:txBody>
      </p:sp>
      <p:sp>
        <p:nvSpPr>
          <p:cNvPr id="54" name="TextBox 53"/>
          <p:cNvSpPr txBox="1"/>
          <p:nvPr/>
        </p:nvSpPr>
        <p:spPr>
          <a:xfrm>
            <a:off x="257175" y="6134100"/>
            <a:ext cx="2132136" cy="186689"/>
          </a:xfrm>
          <a:prstGeom prst="rect">
            <a:avLst/>
          </a:prstGeom>
          <a:noFill/>
        </p:spPr>
        <p:txBody>
          <a:bodyPr wrap="none" lIns="0" rIns="0" tIns="0" bIns="0">
            <a:spAutoFit/>
          </a:bodyPr>
          <a:lstStyle/>
          <a:p>
            <a:r>
              <a:rPr sz="1100" b="0">
                <a:solidFill>
                  <a:srgbClr val="2E2E2E"/>
                </a:solidFill>
                <a:latin typeface="Calibri"/>
              </a:rPr>
              <a:t>2026; by 2036 those shares move to</a:t>
            </a:r>
          </a:p>
        </p:txBody>
      </p:sp>
      <p:pic>
        <p:nvPicPr>
          <p:cNvPr id="55" name="Picture 54" descr="lock.png"/>
          <p:cNvPicPr>
            <a:picLocks noChangeAspect="1"/>
          </p:cNvPicPr>
          <p:nvPr/>
        </p:nvPicPr>
        <p:blipFill>
          <a:blip r:embed="rId8"/>
          <a:stretch>
            <a:fillRect/>
          </a:stretch>
        </p:blipFill>
        <p:spPr>
          <a:xfrm>
            <a:off x="2337363" y="6124320"/>
            <a:ext cx="128699" cy="187198"/>
          </a:xfrm>
          <a:prstGeom prst="rect">
            <a:avLst/>
          </a:prstGeom>
        </p:spPr>
      </p:pic>
      <p:sp>
        <p:nvSpPr>
          <p:cNvPr id="56" name="TextBox 55"/>
          <p:cNvSpPr txBox="1"/>
          <p:nvPr/>
        </p:nvSpPr>
        <p:spPr>
          <a:xfrm>
            <a:off x="2504858"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742753" y="6124320"/>
            <a:ext cx="128699" cy="187198"/>
          </a:xfrm>
          <a:prstGeom prst="rect">
            <a:avLst/>
          </a:prstGeom>
        </p:spPr>
      </p:pic>
      <p:sp>
        <p:nvSpPr>
          <p:cNvPr id="58" name="TextBox 57"/>
          <p:cNvSpPr txBox="1"/>
          <p:nvPr/>
        </p:nvSpPr>
        <p:spPr>
          <a:xfrm>
            <a:off x="2910249"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966460"/>
            <a:ext cx="1586979" cy="186689"/>
          </a:xfrm>
          <a:prstGeom prst="rect">
            <a:avLst/>
          </a:prstGeom>
          <a:noFill/>
        </p:spPr>
        <p:txBody>
          <a:bodyPr wrap="none" lIns="0" rIns="0" tIns="0" bIns="0">
            <a:spAutoFit/>
          </a:bodyPr>
          <a:lstStyle/>
          <a:p>
            <a:r>
              <a:rPr sz="1100" b="0">
                <a:solidFill>
                  <a:srgbClr val="2E2E2E"/>
                </a:solidFill>
                <a:latin typeface="Calibri"/>
              </a:rPr>
              <a:t>The forecast build-up adds</a:t>
            </a:r>
          </a:p>
        </p:txBody>
      </p:sp>
      <p:pic>
        <p:nvPicPr>
          <p:cNvPr id="60" name="Picture 59" descr="lock.png"/>
          <p:cNvPicPr>
            <a:picLocks noChangeAspect="1"/>
          </p:cNvPicPr>
          <p:nvPr/>
        </p:nvPicPr>
        <p:blipFill>
          <a:blip r:embed="rId8"/>
          <a:stretch>
            <a:fillRect/>
          </a:stretch>
        </p:blipFill>
        <p:spPr>
          <a:xfrm>
            <a:off x="7821530" y="5956680"/>
            <a:ext cx="128699" cy="187198"/>
          </a:xfrm>
          <a:prstGeom prst="rect">
            <a:avLst/>
          </a:prstGeom>
        </p:spPr>
      </p:pic>
      <p:sp>
        <p:nvSpPr>
          <p:cNvPr id="61" name="TextBox 60"/>
          <p:cNvSpPr txBox="1"/>
          <p:nvPr/>
        </p:nvSpPr>
        <p:spPr>
          <a:xfrm>
            <a:off x="7989026" y="5966460"/>
            <a:ext cx="3226271" cy="186689"/>
          </a:xfrm>
          <a:prstGeom prst="rect">
            <a:avLst/>
          </a:prstGeom>
          <a:noFill/>
        </p:spPr>
        <p:txBody>
          <a:bodyPr wrap="none" lIns="0" rIns="0" tIns="0" bIns="0">
            <a:spAutoFit/>
          </a:bodyPr>
          <a:lstStyle/>
          <a:p>
            <a:r>
              <a:rPr sz="1100" b="0">
                <a:solidFill>
                  <a:srgbClr val="2E2E2E"/>
                </a:solidFill>
                <a:latin typeface="Calibri"/>
              </a:rPr>
              <a:t>Units between 2026 and 2036 the U.S. market grows to</a:t>
            </a:r>
          </a:p>
        </p:txBody>
      </p:sp>
      <p:pic>
        <p:nvPicPr>
          <p:cNvPr id="62" name="Picture 61" descr="lock.png"/>
          <p:cNvPicPr>
            <a:picLocks noChangeAspect="1"/>
          </p:cNvPicPr>
          <p:nvPr/>
        </p:nvPicPr>
        <p:blipFill>
          <a:blip r:embed="rId8"/>
          <a:stretch>
            <a:fillRect/>
          </a:stretch>
        </p:blipFill>
        <p:spPr>
          <a:xfrm>
            <a:off x="11163349" y="5956680"/>
            <a:ext cx="128699" cy="187198"/>
          </a:xfrm>
          <a:prstGeom prst="rect">
            <a:avLst/>
          </a:prstGeom>
        </p:spPr>
      </p:pic>
      <p:sp>
        <p:nvSpPr>
          <p:cNvPr id="63" name="TextBox 62"/>
          <p:cNvSpPr txBox="1"/>
          <p:nvPr/>
        </p:nvSpPr>
        <p:spPr>
          <a:xfrm>
            <a:off x="11330845" y="5966460"/>
            <a:ext cx="311125" cy="186689"/>
          </a:xfrm>
          <a:prstGeom prst="rect">
            <a:avLst/>
          </a:prstGeom>
          <a:noFill/>
        </p:spPr>
        <p:txBody>
          <a:bodyPr wrap="none" lIns="0" rIns="0" tIns="0" bIns="0">
            <a:spAutoFit/>
          </a:bodyPr>
          <a:lstStyle/>
          <a:p>
            <a:r>
              <a:rPr sz="1100" b="0">
                <a:solidFill>
                  <a:srgbClr val="2E2E2E"/>
                </a:solidFill>
                <a:latin typeface="Calibri"/>
              </a:rPr>
              <a:t>× its</a:t>
            </a:r>
          </a:p>
        </p:txBody>
      </p:sp>
      <p:sp>
        <p:nvSpPr>
          <p:cNvPr id="64" name="TextBox 63"/>
          <p:cNvSpPr txBox="1"/>
          <p:nvPr/>
        </p:nvSpPr>
        <p:spPr>
          <a:xfrm>
            <a:off x="6286500" y="6134100"/>
            <a:ext cx="1590253" cy="186689"/>
          </a:xfrm>
          <a:prstGeom prst="rect">
            <a:avLst/>
          </a:prstGeom>
          <a:noFill/>
        </p:spPr>
        <p:txBody>
          <a:bodyPr wrap="none" lIns="0" rIns="0" tIns="0" bIns="0">
            <a:spAutoFit/>
          </a:bodyPr>
          <a:lstStyle/>
          <a:p>
            <a:r>
              <a:rPr sz="1100" b="0">
                <a:solidFill>
                  <a:srgbClr val="2E2E2E"/>
                </a:solidFill>
                <a:latin typeface="Calibri"/>
              </a:rPr>
              <a:t>2026 size over the decade.</a:t>
            </a:r>
          </a:p>
        </p:txBody>
      </p:sp>
      <p:sp>
        <p:nvSpPr>
          <p:cNvPr id="65"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3054374" cy="186689"/>
          </a:xfrm>
          <a:prstGeom prst="rect">
            <a:avLst/>
          </a:prstGeom>
          <a:noFill/>
        </p:spPr>
        <p:txBody>
          <a:bodyPr wrap="none" lIns="0" rIns="0" tIns="0" bIns="0">
            <a:spAutoFit/>
          </a:bodyPr>
          <a:lstStyle/>
          <a:p>
            <a:r>
              <a:rPr sz="1100" b="0">
                <a:solidFill>
                  <a:srgbClr val="2E2E2E"/>
                </a:solidFill>
                <a:latin typeface="Calibri"/>
              </a:rPr>
              <a:t>U.S.'s removable partial dentures market expands at</a:t>
            </a:r>
          </a:p>
        </p:txBody>
      </p:sp>
      <p:pic>
        <p:nvPicPr>
          <p:cNvPr id="42" name="Picture 41" descr="lock.png"/>
          <p:cNvPicPr>
            <a:picLocks noChangeAspect="1"/>
          </p:cNvPicPr>
          <p:nvPr/>
        </p:nvPicPr>
        <p:blipFill>
          <a:blip r:embed="rId8"/>
          <a:stretch>
            <a:fillRect/>
          </a:stretch>
        </p:blipFill>
        <p:spPr>
          <a:xfrm>
            <a:off x="11073911" y="2866771"/>
            <a:ext cx="128699" cy="187198"/>
          </a:xfrm>
          <a:prstGeom prst="rect">
            <a:avLst/>
          </a:prstGeom>
        </p:spPr>
      </p:pic>
      <p:sp>
        <p:nvSpPr>
          <p:cNvPr id="43" name="TextBox 42"/>
          <p:cNvSpPr txBox="1"/>
          <p:nvPr/>
        </p:nvSpPr>
        <p:spPr>
          <a:xfrm>
            <a:off x="11241407" y="2876550"/>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44" name="TextBox 43"/>
          <p:cNvSpPr txBox="1"/>
          <p:nvPr/>
        </p:nvSpPr>
        <p:spPr>
          <a:xfrm>
            <a:off x="8071485" y="3044190"/>
            <a:ext cx="3218358" cy="186689"/>
          </a:xfrm>
          <a:prstGeom prst="rect">
            <a:avLst/>
          </a:prstGeom>
          <a:noFill/>
        </p:spPr>
        <p:txBody>
          <a:bodyPr wrap="none" lIns="0" rIns="0" tIns="0" bIns="0">
            <a:spAutoFit/>
          </a:bodyPr>
          <a:lstStyle/>
          <a:p>
            <a:r>
              <a:rPr sz="1100" b="0">
                <a:solidFill>
                  <a:srgbClr val="2E2E2E"/>
                </a:solidFill>
                <a:latin typeface="Calibri"/>
              </a:rPr>
              <a:t>through 2036, trailing the North America benchmark of</a:t>
            </a:r>
          </a:p>
        </p:txBody>
      </p:sp>
      <p:pic>
        <p:nvPicPr>
          <p:cNvPr id="45" name="Picture 44" descr="lock.png"/>
          <p:cNvPicPr>
            <a:picLocks noChangeAspect="1"/>
          </p:cNvPicPr>
          <p:nvPr/>
        </p:nvPicPr>
        <p:blipFill>
          <a:blip r:embed="rId8"/>
          <a:stretch>
            <a:fillRect/>
          </a:stretch>
        </p:blipFill>
        <p:spPr>
          <a:xfrm>
            <a:off x="11237895" y="3034411"/>
            <a:ext cx="128699" cy="187198"/>
          </a:xfrm>
          <a:prstGeom prst="rect">
            <a:avLst/>
          </a:prstGeom>
        </p:spPr>
      </p:pic>
      <p:sp>
        <p:nvSpPr>
          <p:cNvPr id="46" name="TextBox 45"/>
          <p:cNvSpPr txBox="1"/>
          <p:nvPr/>
        </p:nvSpPr>
        <p:spPr>
          <a:xfrm>
            <a:off x="11405391"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8058017" y="3202051"/>
            <a:ext cx="128699" cy="187198"/>
          </a:xfrm>
          <a:prstGeom prst="rect">
            <a:avLst/>
          </a:prstGeom>
        </p:spPr>
      </p:pic>
      <p:sp>
        <p:nvSpPr>
          <p:cNvPr id="48" name="TextBox 47"/>
          <p:cNvSpPr txBox="1"/>
          <p:nvPr/>
        </p:nvSpPr>
        <p:spPr>
          <a:xfrm>
            <a:off x="8225513" y="321183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436366" cy="186689"/>
          </a:xfrm>
          <a:prstGeom prst="rect">
            <a:avLst/>
          </a:prstGeom>
          <a:noFill/>
        </p:spPr>
        <p:txBody>
          <a:bodyPr wrap="none" lIns="0" rIns="0" tIns="0" bIns="0">
            <a:spAutoFit/>
          </a:bodyPr>
          <a:lstStyle/>
          <a:p>
            <a:r>
              <a:rPr sz="1100" b="0">
                <a:solidFill>
                  <a:srgbClr val="2E2E2E"/>
                </a:solidFill>
                <a:latin typeface="Calibri"/>
              </a:rPr>
              <a:t>of the North America removable partial dentures market in</a:t>
            </a:r>
          </a:p>
        </p:txBody>
      </p:sp>
      <p:sp>
        <p:nvSpPr>
          <p:cNvPr id="54" name="TextBox 53"/>
          <p:cNvSpPr txBox="1"/>
          <p:nvPr/>
        </p:nvSpPr>
        <p:spPr>
          <a:xfrm>
            <a:off x="257175" y="6134100"/>
            <a:ext cx="2132136" cy="186689"/>
          </a:xfrm>
          <a:prstGeom prst="rect">
            <a:avLst/>
          </a:prstGeom>
          <a:noFill/>
        </p:spPr>
        <p:txBody>
          <a:bodyPr wrap="none" lIns="0" rIns="0" tIns="0" bIns="0">
            <a:spAutoFit/>
          </a:bodyPr>
          <a:lstStyle/>
          <a:p>
            <a:r>
              <a:rPr sz="1100" b="0">
                <a:solidFill>
                  <a:srgbClr val="2E2E2E"/>
                </a:solidFill>
                <a:latin typeface="Calibri"/>
              </a:rPr>
              <a:t>2026; by 2036 those shares move to</a:t>
            </a:r>
          </a:p>
        </p:txBody>
      </p:sp>
      <p:pic>
        <p:nvPicPr>
          <p:cNvPr id="55" name="Picture 54" descr="lock.png"/>
          <p:cNvPicPr>
            <a:picLocks noChangeAspect="1"/>
          </p:cNvPicPr>
          <p:nvPr/>
        </p:nvPicPr>
        <p:blipFill>
          <a:blip r:embed="rId8"/>
          <a:stretch>
            <a:fillRect/>
          </a:stretch>
        </p:blipFill>
        <p:spPr>
          <a:xfrm>
            <a:off x="2337363" y="6124320"/>
            <a:ext cx="128699" cy="187198"/>
          </a:xfrm>
          <a:prstGeom prst="rect">
            <a:avLst/>
          </a:prstGeom>
        </p:spPr>
      </p:pic>
      <p:sp>
        <p:nvSpPr>
          <p:cNvPr id="56" name="TextBox 55"/>
          <p:cNvSpPr txBox="1"/>
          <p:nvPr/>
        </p:nvSpPr>
        <p:spPr>
          <a:xfrm>
            <a:off x="2504858"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742753" y="6124320"/>
            <a:ext cx="128699" cy="187198"/>
          </a:xfrm>
          <a:prstGeom prst="rect">
            <a:avLst/>
          </a:prstGeom>
        </p:spPr>
      </p:pic>
      <p:sp>
        <p:nvSpPr>
          <p:cNvPr id="58" name="TextBox 57"/>
          <p:cNvSpPr txBox="1"/>
          <p:nvPr/>
        </p:nvSpPr>
        <p:spPr>
          <a:xfrm>
            <a:off x="2910249"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882640"/>
            <a:ext cx="3103215" cy="186689"/>
          </a:xfrm>
          <a:prstGeom prst="rect">
            <a:avLst/>
          </a:prstGeom>
          <a:noFill/>
        </p:spPr>
        <p:txBody>
          <a:bodyPr wrap="none" lIns="0" rIns="0" tIns="0" bIns="0">
            <a:spAutoFit/>
          </a:bodyPr>
          <a:lstStyle/>
          <a:p>
            <a:r>
              <a:rPr sz="1100" b="0">
                <a:solidFill>
                  <a:srgbClr val="2E2E2E"/>
                </a:solidFill>
                <a:latin typeface="Calibri"/>
              </a:rPr>
              <a:t>The market in the U.S. is expected to account for US$</a:t>
            </a:r>
          </a:p>
        </p:txBody>
      </p:sp>
      <p:pic>
        <p:nvPicPr>
          <p:cNvPr id="60" name="Picture 59" descr="lock.png"/>
          <p:cNvPicPr>
            <a:picLocks noChangeAspect="1"/>
          </p:cNvPicPr>
          <p:nvPr/>
        </p:nvPicPr>
        <p:blipFill>
          <a:blip r:embed="rId8"/>
          <a:stretch>
            <a:fillRect/>
          </a:stretch>
        </p:blipFill>
        <p:spPr>
          <a:xfrm>
            <a:off x="9337766" y="5872860"/>
            <a:ext cx="128699" cy="187198"/>
          </a:xfrm>
          <a:prstGeom prst="rect">
            <a:avLst/>
          </a:prstGeom>
        </p:spPr>
      </p:pic>
      <p:sp>
        <p:nvSpPr>
          <p:cNvPr id="61" name="TextBox 60"/>
          <p:cNvSpPr txBox="1"/>
          <p:nvPr/>
        </p:nvSpPr>
        <p:spPr>
          <a:xfrm>
            <a:off x="9505262" y="5882640"/>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62" name="Picture 61" descr="lock.png"/>
          <p:cNvPicPr>
            <a:picLocks noChangeAspect="1"/>
          </p:cNvPicPr>
          <p:nvPr/>
        </p:nvPicPr>
        <p:blipFill>
          <a:blip r:embed="rId8"/>
          <a:stretch>
            <a:fillRect/>
          </a:stretch>
        </p:blipFill>
        <p:spPr>
          <a:xfrm>
            <a:off x="10948871" y="5872860"/>
            <a:ext cx="128699" cy="187198"/>
          </a:xfrm>
          <a:prstGeom prst="rect">
            <a:avLst/>
          </a:prstGeom>
        </p:spPr>
      </p:pic>
      <p:sp>
        <p:nvSpPr>
          <p:cNvPr id="63" name="TextBox 62"/>
          <p:cNvSpPr txBox="1"/>
          <p:nvPr/>
        </p:nvSpPr>
        <p:spPr>
          <a:xfrm>
            <a:off x="11116366" y="5882640"/>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4" name="TextBox 63"/>
          <p:cNvSpPr txBox="1"/>
          <p:nvPr/>
        </p:nvSpPr>
        <p:spPr>
          <a:xfrm>
            <a:off x="6286500" y="6050280"/>
            <a:ext cx="4694758" cy="186689"/>
          </a:xfrm>
          <a:prstGeom prst="rect">
            <a:avLst/>
          </a:prstGeom>
          <a:noFill/>
        </p:spPr>
        <p:txBody>
          <a:bodyPr wrap="none" lIns="0" rIns="0" tIns="0" bIns="0">
            <a:spAutoFit/>
          </a:bodyPr>
          <a:lstStyle/>
          <a:p>
            <a:r>
              <a:rPr sz="1100" b="0">
                <a:solidFill>
                  <a:srgbClr val="2E2E2E"/>
                </a:solidFill>
                <a:latin typeface="Calibri"/>
              </a:rPr>
              <a:t>forecast period. The U.S. is expected to create an incremental opportunity of US$</a:t>
            </a:r>
          </a:p>
        </p:txBody>
      </p:sp>
      <p:pic>
        <p:nvPicPr>
          <p:cNvPr id="65" name="Picture 64" descr="lock.png"/>
          <p:cNvPicPr>
            <a:picLocks noChangeAspect="1"/>
          </p:cNvPicPr>
          <p:nvPr/>
        </p:nvPicPr>
        <p:blipFill>
          <a:blip r:embed="rId8"/>
          <a:stretch>
            <a:fillRect/>
          </a:stretch>
        </p:blipFill>
        <p:spPr>
          <a:xfrm>
            <a:off x="10929309" y="6040501"/>
            <a:ext cx="128699" cy="187198"/>
          </a:xfrm>
          <a:prstGeom prst="rect">
            <a:avLst/>
          </a:prstGeom>
        </p:spPr>
      </p:pic>
      <p:sp>
        <p:nvSpPr>
          <p:cNvPr id="66" name="TextBox 65"/>
          <p:cNvSpPr txBox="1"/>
          <p:nvPr/>
        </p:nvSpPr>
        <p:spPr>
          <a:xfrm>
            <a:off x="11096805" y="6050280"/>
            <a:ext cx="687387" cy="186689"/>
          </a:xfrm>
          <a:prstGeom prst="rect">
            <a:avLst/>
          </a:prstGeom>
          <a:noFill/>
        </p:spPr>
        <p:txBody>
          <a:bodyPr wrap="none" lIns="0" rIns="0" tIns="0" bIns="0">
            <a:spAutoFit/>
          </a:bodyPr>
          <a:lstStyle/>
          <a:p>
            <a:r>
              <a:rPr sz="1100" b="0">
                <a:solidFill>
                  <a:srgbClr val="2E2E2E"/>
                </a:solidFill>
                <a:latin typeface="Calibri"/>
              </a:rPr>
              <a:t>Mn for the</a:t>
            </a:r>
          </a:p>
        </p:txBody>
      </p:sp>
      <p:sp>
        <p:nvSpPr>
          <p:cNvPr id="67" name="TextBox 66"/>
          <p:cNvSpPr txBox="1"/>
          <p:nvPr/>
        </p:nvSpPr>
        <p:spPr>
          <a:xfrm>
            <a:off x="6286500" y="6217920"/>
            <a:ext cx="3608809" cy="186689"/>
          </a:xfrm>
          <a:prstGeom prst="rect">
            <a:avLst/>
          </a:prstGeom>
          <a:noFill/>
        </p:spPr>
        <p:txBody>
          <a:bodyPr wrap="none" lIns="0" rIns="0" tIns="0" bIns="0">
            <a:spAutoFit/>
          </a:bodyPr>
          <a:lstStyle/>
          <a:p>
            <a:r>
              <a:rPr sz="1100" b="0">
                <a:solidFill>
                  <a:srgbClr val="2E2E2E"/>
                </a:solidFill>
                <a:latin typeface="Calibri"/>
              </a:rPr>
              <a:t>overall removable partial dentures market from 2025 to 2036.</a:t>
            </a:r>
          </a:p>
        </p:txBody>
      </p:sp>
      <p:sp>
        <p:nvSpPr>
          <p:cNvPr id="68"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(US$ Mn)</a:t>
            </a:r>
          </a:p>
        </p:txBody>
      </p:sp>
      <p:graphicFrame>
        <p:nvGraphicFramePr>
          <p:cNvPr id="16" name="Chart 15"/>
          <p:cNvGraphicFramePr>
            <a:graphicFrameLocks noGrp="1"/>
          </p:cNvGraphicFramePr>
          <p:nvPr/>
        </p:nvGraphicFramePr>
        <p:xfrm>
          <a:off x="3248025" y="1266825"/>
          <a:ext cx="2667000" cy="135255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(US$ Mn)</a:t>
            </a:r>
          </a:p>
        </p:txBody>
      </p:sp>
      <p:graphicFrame>
        <p:nvGraphicFramePr>
          <p:cNvPr id="28" name="Chart 27"/>
          <p:cNvGraphicFramePr>
            <a:graphicFrameLocks noGrp="1"/>
          </p:cNvGraphicFramePr>
          <p:nvPr/>
        </p:nvGraphicFramePr>
        <p:xfrm>
          <a:off x="3324225" y="3095625"/>
          <a:ext cx="2743200" cy="135255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4" name="Picture 33" descr="lock.png"/>
          <p:cNvPicPr>
            <a:picLocks noChangeAspect="1"/>
          </p:cNvPicPr>
          <p:nvPr/>
        </p:nvPicPr>
        <p:blipFill>
          <a:blip r:embed="rId10"/>
          <a:stretch>
            <a:fillRect/>
          </a:stretch>
        </p:blipFill>
        <p:spPr>
          <a:xfrm>
            <a:off x="1811655" y="1724025"/>
            <a:ext cx="183356" cy="266700"/>
          </a:xfrm>
          <a:prstGeom prst="rect">
            <a:avLst/>
          </a:prstGeom>
        </p:spPr>
      </p:pic>
      <p:pic>
        <p:nvPicPr>
          <p:cNvPr id="35" name="Picture 34" descr="lock.png"/>
          <p:cNvPicPr>
            <a:picLocks noChangeAspect="1"/>
          </p:cNvPicPr>
          <p:nvPr/>
        </p:nvPicPr>
        <p:blipFill>
          <a:blip r:embed="rId10"/>
          <a:stretch>
            <a:fillRect/>
          </a:stretch>
        </p:blipFill>
        <p:spPr>
          <a:xfrm>
            <a:off x="4821555" y="1724025"/>
            <a:ext cx="183356" cy="266700"/>
          </a:xfrm>
          <a:prstGeom prst="rect">
            <a:avLst/>
          </a:prstGeom>
        </p:spPr>
      </p:pic>
      <p:pic>
        <p:nvPicPr>
          <p:cNvPr id="36" name="Picture 35" descr="lock.png"/>
          <p:cNvPicPr>
            <a:picLocks noChangeAspect="1"/>
          </p:cNvPicPr>
          <p:nvPr/>
        </p:nvPicPr>
        <p:blipFill>
          <a:blip r:embed="rId10"/>
          <a:stretch>
            <a:fillRect/>
          </a:stretch>
        </p:blipFill>
        <p:spPr>
          <a:xfrm>
            <a:off x="7831455" y="1724025"/>
            <a:ext cx="183356" cy="266700"/>
          </a:xfrm>
          <a:prstGeom prst="rect">
            <a:avLst/>
          </a:prstGeom>
        </p:spPr>
      </p:pic>
      <p:pic>
        <p:nvPicPr>
          <p:cNvPr id="37" name="Picture 36" descr="lock.png"/>
          <p:cNvPicPr>
            <a:picLocks noChangeAspect="1"/>
          </p:cNvPicPr>
          <p:nvPr/>
        </p:nvPicPr>
        <p:blipFill>
          <a:blip r:embed="rId10"/>
          <a:stretch>
            <a:fillRect/>
          </a:stretch>
        </p:blipFill>
        <p:spPr>
          <a:xfrm>
            <a:off x="10841355" y="1724025"/>
            <a:ext cx="183356" cy="266700"/>
          </a:xfrm>
          <a:prstGeom prst="rect">
            <a:avLst/>
          </a:prstGeom>
        </p:spPr>
      </p:pic>
      <p:pic>
        <p:nvPicPr>
          <p:cNvPr id="38" name="Picture 37" descr="lock.png"/>
          <p:cNvPicPr>
            <a:picLocks noChangeAspect="1"/>
          </p:cNvPicPr>
          <p:nvPr/>
        </p:nvPicPr>
        <p:blipFill>
          <a:blip r:embed="rId10"/>
          <a:stretch>
            <a:fillRect/>
          </a:stretch>
        </p:blipFill>
        <p:spPr>
          <a:xfrm>
            <a:off x="1849755" y="3552825"/>
            <a:ext cx="183356" cy="266700"/>
          </a:xfrm>
          <a:prstGeom prst="rect">
            <a:avLst/>
          </a:prstGeom>
        </p:spPr>
      </p:pic>
      <p:pic>
        <p:nvPicPr>
          <p:cNvPr id="39" name="Picture 38" descr="lock.png"/>
          <p:cNvPicPr>
            <a:picLocks noChangeAspect="1"/>
          </p:cNvPicPr>
          <p:nvPr/>
        </p:nvPicPr>
        <p:blipFill>
          <a:blip r:embed="rId10"/>
          <a:stretch>
            <a:fillRect/>
          </a:stretch>
        </p:blipFill>
        <p:spPr>
          <a:xfrm>
            <a:off x="4935855" y="3552825"/>
            <a:ext cx="183356" cy="266700"/>
          </a:xfrm>
          <a:prstGeom prst="rect">
            <a:avLst/>
          </a:prstGeom>
        </p:spPr>
      </p:pic>
      <p:sp>
        <p:nvSpPr>
          <p:cNvPr id="40" name="TextBox 39"/>
          <p:cNvSpPr txBox="1"/>
          <p:nvPr/>
        </p:nvSpPr>
        <p:spPr>
          <a:xfrm>
            <a:off x="276225" y="4733925"/>
            <a:ext cx="1468037" cy="161696"/>
          </a:xfrm>
          <a:prstGeom prst="rect">
            <a:avLst/>
          </a:prstGeom>
          <a:noFill/>
        </p:spPr>
        <p:txBody>
          <a:bodyPr wrap="none" lIns="0" rIns="0" tIns="0" bIns="0">
            <a:spAutoFit/>
          </a:bodyPr>
          <a:lstStyle/>
          <a:p>
            <a:r>
              <a:rPr sz="935" b="1">
                <a:solidFill>
                  <a:srgbClr val="0B2E4A"/>
                </a:solidFill>
                <a:latin typeface="Calibri"/>
              </a:rPr>
              <a:t>Key Takeaways · 2026 Total:</a:t>
            </a:r>
          </a:p>
        </p:txBody>
      </p:sp>
      <p:pic>
        <p:nvPicPr>
          <p:cNvPr id="41" name="Picture 40" descr="lock.png"/>
          <p:cNvPicPr>
            <a:picLocks noChangeAspect="1"/>
          </p:cNvPicPr>
          <p:nvPr/>
        </p:nvPicPr>
        <p:blipFill>
          <a:blip r:embed="rId10"/>
          <a:stretch>
            <a:fillRect/>
          </a:stretch>
        </p:blipFill>
        <p:spPr>
          <a:xfrm>
            <a:off x="1688698" y="4725603"/>
            <a:ext cx="109510" cy="159288"/>
          </a:xfrm>
          <a:prstGeom prst="rect">
            <a:avLst/>
          </a:prstGeom>
        </p:spPr>
      </p:pic>
      <p:sp>
        <p:nvSpPr>
          <p:cNvPr id="42" name="TextBox 41"/>
          <p:cNvSpPr txBox="1"/>
          <p:nvPr/>
        </p:nvSpPr>
        <p:spPr>
          <a:xfrm>
            <a:off x="1831222" y="4733925"/>
            <a:ext cx="465087" cy="161696"/>
          </a:xfrm>
          <a:prstGeom prst="rect">
            <a:avLst/>
          </a:prstGeom>
          <a:noFill/>
        </p:spPr>
        <p:txBody>
          <a:bodyPr wrap="none" lIns="0" rIns="0" tIns="0" bIns="0">
            <a:spAutoFit/>
          </a:bodyPr>
          <a:lstStyle/>
          <a:p>
            <a:r>
              <a:rPr sz="935" b="1">
                <a:solidFill>
                  <a:srgbClr val="0B2E4A"/>
                </a:solidFill>
                <a:latin typeface="Calibri"/>
              </a:rPr>
              <a:t>US$ Mn</a:t>
            </a:r>
          </a:p>
        </p:txBody>
      </p:sp>
      <p:sp>
        <p:nvSpPr>
          <p:cNvPr id="43" name="TextBox 42"/>
          <p:cNvSpPr txBox="1"/>
          <p:nvPr/>
        </p:nvSpPr>
        <p:spPr>
          <a:xfrm>
            <a:off x="276225" y="5057775"/>
            <a:ext cx="2949895" cy="179984"/>
          </a:xfrm>
          <a:prstGeom prst="rect">
            <a:avLst/>
          </a:prstGeom>
          <a:noFill/>
        </p:spPr>
        <p:txBody>
          <a:bodyPr wrap="none" lIns="0" rIns="0" tIns="0" bIns="0">
            <a:spAutoFit/>
          </a:bodyPr>
          <a:lstStyle/>
          <a:p>
            <a:r>
              <a:rPr sz="1055" b="0">
                <a:solidFill>
                  <a:srgbClr val="2E2E2E"/>
                </a:solidFill>
                <a:latin typeface="Calibri"/>
              </a:rPr>
              <a:t>▪ By Product Type, 'Flexible Partial Dentures' leads at</a:t>
            </a:r>
          </a:p>
        </p:txBody>
      </p:sp>
      <p:pic>
        <p:nvPicPr>
          <p:cNvPr id="44" name="Picture 43" descr="lock.png"/>
          <p:cNvPicPr>
            <a:picLocks noChangeAspect="1"/>
          </p:cNvPicPr>
          <p:nvPr/>
        </p:nvPicPr>
        <p:blipFill>
          <a:blip r:embed="rId10"/>
          <a:stretch>
            <a:fillRect/>
          </a:stretch>
        </p:blipFill>
        <p:spPr>
          <a:xfrm>
            <a:off x="3173202" y="5048387"/>
            <a:ext cx="123551" cy="179710"/>
          </a:xfrm>
          <a:prstGeom prst="rect">
            <a:avLst/>
          </a:prstGeom>
        </p:spPr>
      </p:pic>
      <p:sp>
        <p:nvSpPr>
          <p:cNvPr id="45" name="TextBox 44"/>
          <p:cNvSpPr txBox="1"/>
          <p:nvPr/>
        </p:nvSpPr>
        <p:spPr>
          <a:xfrm>
            <a:off x="3333998" y="5057775"/>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46" name="Picture 45" descr="lock.png"/>
          <p:cNvPicPr>
            <a:picLocks noChangeAspect="1"/>
          </p:cNvPicPr>
          <p:nvPr/>
        </p:nvPicPr>
        <p:blipFill>
          <a:blip r:embed="rId10"/>
          <a:stretch>
            <a:fillRect/>
          </a:stretch>
        </p:blipFill>
        <p:spPr>
          <a:xfrm>
            <a:off x="3859676" y="5048387"/>
            <a:ext cx="123551" cy="179710"/>
          </a:xfrm>
          <a:prstGeom prst="rect">
            <a:avLst/>
          </a:prstGeom>
        </p:spPr>
      </p:pic>
      <p:sp>
        <p:nvSpPr>
          <p:cNvPr id="47" name="TextBox 46"/>
          <p:cNvSpPr txBox="1"/>
          <p:nvPr/>
        </p:nvSpPr>
        <p:spPr>
          <a:xfrm>
            <a:off x="4020472" y="5057775"/>
            <a:ext cx="3387613" cy="179984"/>
          </a:xfrm>
          <a:prstGeom prst="rect">
            <a:avLst/>
          </a:prstGeom>
          <a:noFill/>
        </p:spPr>
        <p:txBody>
          <a:bodyPr wrap="none" lIns="0" rIns="0" tIns="0" bIns="0">
            <a:spAutoFit/>
          </a:bodyPr>
          <a:lstStyle/>
          <a:p>
            <a:r>
              <a:rPr sz="1055" b="0">
                <a:solidFill>
                  <a:srgbClr val="2E2E2E"/>
                </a:solidFill>
                <a:latin typeface="Calibri"/>
              </a:rPr>
              <a:t>share), ahead of 'Combination Framework Partial Dentures' (</a:t>
            </a:r>
          </a:p>
        </p:txBody>
      </p:sp>
      <p:pic>
        <p:nvPicPr>
          <p:cNvPr id="48" name="Picture 47" descr="lock.png"/>
          <p:cNvPicPr>
            <a:picLocks noChangeAspect="1"/>
          </p:cNvPicPr>
          <p:nvPr/>
        </p:nvPicPr>
        <p:blipFill>
          <a:blip r:embed="rId10"/>
          <a:stretch>
            <a:fillRect/>
          </a:stretch>
        </p:blipFill>
        <p:spPr>
          <a:xfrm>
            <a:off x="7355167" y="5048387"/>
            <a:ext cx="123551" cy="179710"/>
          </a:xfrm>
          <a:prstGeom prst="rect">
            <a:avLst/>
          </a:prstGeom>
        </p:spPr>
      </p:pic>
      <p:sp>
        <p:nvSpPr>
          <p:cNvPr id="49" name="TextBox 48"/>
          <p:cNvSpPr txBox="1"/>
          <p:nvPr/>
        </p:nvSpPr>
        <p:spPr>
          <a:xfrm>
            <a:off x="7515963" y="5057775"/>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50" name="TextBox 49"/>
          <p:cNvSpPr txBox="1"/>
          <p:nvPr/>
        </p:nvSpPr>
        <p:spPr>
          <a:xfrm>
            <a:off x="276225" y="5266989"/>
            <a:ext cx="2420258" cy="179984"/>
          </a:xfrm>
          <a:prstGeom prst="rect">
            <a:avLst/>
          </a:prstGeom>
          <a:noFill/>
        </p:spPr>
        <p:txBody>
          <a:bodyPr wrap="none" lIns="0" rIns="0" tIns="0" bIns="0">
            <a:spAutoFit/>
          </a:bodyPr>
          <a:lstStyle/>
          <a:p>
            <a:r>
              <a:rPr sz="1055" b="0">
                <a:solidFill>
                  <a:srgbClr val="2E2E2E"/>
                </a:solidFill>
                <a:latin typeface="Calibri"/>
              </a:rPr>
              <a:t>▪ By Material Type, 'Acrylic / Resin' leads at</a:t>
            </a:r>
          </a:p>
        </p:txBody>
      </p:sp>
      <p:pic>
        <p:nvPicPr>
          <p:cNvPr id="51" name="Picture 50" descr="lock.png"/>
          <p:cNvPicPr>
            <a:picLocks noChangeAspect="1"/>
          </p:cNvPicPr>
          <p:nvPr/>
        </p:nvPicPr>
        <p:blipFill>
          <a:blip r:embed="rId10"/>
          <a:stretch>
            <a:fillRect/>
          </a:stretch>
        </p:blipFill>
        <p:spPr>
          <a:xfrm>
            <a:off x="2643564" y="5257601"/>
            <a:ext cx="123551" cy="179710"/>
          </a:xfrm>
          <a:prstGeom prst="rect">
            <a:avLst/>
          </a:prstGeom>
        </p:spPr>
      </p:pic>
      <p:sp>
        <p:nvSpPr>
          <p:cNvPr id="52" name="TextBox 51"/>
          <p:cNvSpPr txBox="1"/>
          <p:nvPr/>
        </p:nvSpPr>
        <p:spPr>
          <a:xfrm>
            <a:off x="2804360" y="5266989"/>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53" name="Picture 52" descr="lock.png"/>
          <p:cNvPicPr>
            <a:picLocks noChangeAspect="1"/>
          </p:cNvPicPr>
          <p:nvPr/>
        </p:nvPicPr>
        <p:blipFill>
          <a:blip r:embed="rId10"/>
          <a:stretch>
            <a:fillRect/>
          </a:stretch>
        </p:blipFill>
        <p:spPr>
          <a:xfrm>
            <a:off x="3330038" y="5257601"/>
            <a:ext cx="123551" cy="179710"/>
          </a:xfrm>
          <a:prstGeom prst="rect">
            <a:avLst/>
          </a:prstGeom>
        </p:spPr>
      </p:pic>
      <p:sp>
        <p:nvSpPr>
          <p:cNvPr id="54" name="TextBox 53"/>
          <p:cNvSpPr txBox="1"/>
          <p:nvPr/>
        </p:nvSpPr>
        <p:spPr>
          <a:xfrm>
            <a:off x="3490834" y="5266989"/>
            <a:ext cx="1795295" cy="179984"/>
          </a:xfrm>
          <a:prstGeom prst="rect">
            <a:avLst/>
          </a:prstGeom>
          <a:noFill/>
        </p:spPr>
        <p:txBody>
          <a:bodyPr wrap="none" lIns="0" rIns="0" tIns="0" bIns="0">
            <a:spAutoFit/>
          </a:bodyPr>
          <a:lstStyle/>
          <a:p>
            <a:r>
              <a:rPr sz="1055" b="0">
                <a:solidFill>
                  <a:srgbClr val="2E2E2E"/>
                </a:solidFill>
                <a:latin typeface="Calibri"/>
              </a:rPr>
              <a:t>share), ahead of 'Metal Alloys' (</a:t>
            </a:r>
          </a:p>
        </p:txBody>
      </p:sp>
      <p:pic>
        <p:nvPicPr>
          <p:cNvPr id="55" name="Picture 54" descr="lock.png"/>
          <p:cNvPicPr>
            <a:picLocks noChangeAspect="1"/>
          </p:cNvPicPr>
          <p:nvPr/>
        </p:nvPicPr>
        <p:blipFill>
          <a:blip r:embed="rId10"/>
          <a:stretch>
            <a:fillRect/>
          </a:stretch>
        </p:blipFill>
        <p:spPr>
          <a:xfrm>
            <a:off x="5233211" y="5257601"/>
            <a:ext cx="123551" cy="179710"/>
          </a:xfrm>
          <a:prstGeom prst="rect">
            <a:avLst/>
          </a:prstGeom>
        </p:spPr>
      </p:pic>
      <p:sp>
        <p:nvSpPr>
          <p:cNvPr id="56" name="TextBox 55"/>
          <p:cNvSpPr txBox="1"/>
          <p:nvPr/>
        </p:nvSpPr>
        <p:spPr>
          <a:xfrm>
            <a:off x="5394007" y="5266989"/>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57" name="TextBox 56"/>
          <p:cNvSpPr txBox="1"/>
          <p:nvPr/>
        </p:nvSpPr>
        <p:spPr>
          <a:xfrm>
            <a:off x="276225" y="5476204"/>
            <a:ext cx="2512402" cy="179984"/>
          </a:xfrm>
          <a:prstGeom prst="rect">
            <a:avLst/>
          </a:prstGeom>
          <a:noFill/>
        </p:spPr>
        <p:txBody>
          <a:bodyPr wrap="none" lIns="0" rIns="0" tIns="0" bIns="0">
            <a:spAutoFit/>
          </a:bodyPr>
          <a:lstStyle/>
          <a:p>
            <a:r>
              <a:rPr sz="1055" b="0">
                <a:solidFill>
                  <a:srgbClr val="2E2E2E"/>
                </a:solidFill>
                <a:latin typeface="Calibri"/>
              </a:rPr>
              <a:t>▪ By Technology, 'Digital Fabrication' leads at</a:t>
            </a:r>
          </a:p>
        </p:txBody>
      </p:sp>
      <p:pic>
        <p:nvPicPr>
          <p:cNvPr id="58" name="Picture 57" descr="lock.png"/>
          <p:cNvPicPr>
            <a:picLocks noChangeAspect="1"/>
          </p:cNvPicPr>
          <p:nvPr/>
        </p:nvPicPr>
        <p:blipFill>
          <a:blip r:embed="rId10"/>
          <a:stretch>
            <a:fillRect/>
          </a:stretch>
        </p:blipFill>
        <p:spPr>
          <a:xfrm>
            <a:off x="2735709" y="5466816"/>
            <a:ext cx="123551" cy="179710"/>
          </a:xfrm>
          <a:prstGeom prst="rect">
            <a:avLst/>
          </a:prstGeom>
        </p:spPr>
      </p:pic>
      <p:sp>
        <p:nvSpPr>
          <p:cNvPr id="59" name="TextBox 58"/>
          <p:cNvSpPr txBox="1"/>
          <p:nvPr/>
        </p:nvSpPr>
        <p:spPr>
          <a:xfrm>
            <a:off x="2896505" y="5476204"/>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60" name="Picture 59" descr="lock.png"/>
          <p:cNvPicPr>
            <a:picLocks noChangeAspect="1"/>
          </p:cNvPicPr>
          <p:nvPr/>
        </p:nvPicPr>
        <p:blipFill>
          <a:blip r:embed="rId10"/>
          <a:stretch>
            <a:fillRect/>
          </a:stretch>
        </p:blipFill>
        <p:spPr>
          <a:xfrm>
            <a:off x="3422183" y="5466816"/>
            <a:ext cx="123551" cy="179710"/>
          </a:xfrm>
          <a:prstGeom prst="rect">
            <a:avLst/>
          </a:prstGeom>
        </p:spPr>
      </p:pic>
      <p:sp>
        <p:nvSpPr>
          <p:cNvPr id="61" name="TextBox 60"/>
          <p:cNvSpPr txBox="1"/>
          <p:nvPr/>
        </p:nvSpPr>
        <p:spPr>
          <a:xfrm>
            <a:off x="3582979" y="5476204"/>
            <a:ext cx="2485181" cy="179984"/>
          </a:xfrm>
          <a:prstGeom prst="rect">
            <a:avLst/>
          </a:prstGeom>
          <a:noFill/>
        </p:spPr>
        <p:txBody>
          <a:bodyPr wrap="none" lIns="0" rIns="0" tIns="0" bIns="0">
            <a:spAutoFit/>
          </a:bodyPr>
          <a:lstStyle/>
          <a:p>
            <a:r>
              <a:rPr sz="1055" b="0">
                <a:solidFill>
                  <a:srgbClr val="2E2E2E"/>
                </a:solidFill>
                <a:latin typeface="Calibri"/>
              </a:rPr>
              <a:t>share), ahead of 'Conventional Fabrication' (</a:t>
            </a:r>
          </a:p>
        </p:txBody>
      </p:sp>
      <p:pic>
        <p:nvPicPr>
          <p:cNvPr id="62" name="Picture 61" descr="lock.png"/>
          <p:cNvPicPr>
            <a:picLocks noChangeAspect="1"/>
          </p:cNvPicPr>
          <p:nvPr/>
        </p:nvPicPr>
        <p:blipFill>
          <a:blip r:embed="rId10"/>
          <a:stretch>
            <a:fillRect/>
          </a:stretch>
        </p:blipFill>
        <p:spPr>
          <a:xfrm>
            <a:off x="6015242" y="5466816"/>
            <a:ext cx="123551" cy="179710"/>
          </a:xfrm>
          <a:prstGeom prst="rect">
            <a:avLst/>
          </a:prstGeom>
        </p:spPr>
      </p:pic>
      <p:sp>
        <p:nvSpPr>
          <p:cNvPr id="63" name="TextBox 62"/>
          <p:cNvSpPr txBox="1"/>
          <p:nvPr/>
        </p:nvSpPr>
        <p:spPr>
          <a:xfrm>
            <a:off x="6176038" y="5476204"/>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64" name="TextBox 63"/>
          <p:cNvSpPr txBox="1"/>
          <p:nvPr/>
        </p:nvSpPr>
        <p:spPr>
          <a:xfrm>
            <a:off x="276225" y="5685419"/>
            <a:ext cx="2460858" cy="179984"/>
          </a:xfrm>
          <a:prstGeom prst="rect">
            <a:avLst/>
          </a:prstGeom>
          <a:noFill/>
        </p:spPr>
        <p:txBody>
          <a:bodyPr wrap="none" lIns="0" rIns="0" tIns="0" bIns="0">
            <a:spAutoFit/>
          </a:bodyPr>
          <a:lstStyle/>
          <a:p>
            <a:r>
              <a:rPr sz="1055" b="0">
                <a:solidFill>
                  <a:srgbClr val="2E2E2E"/>
                </a:solidFill>
                <a:latin typeface="Calibri"/>
              </a:rPr>
              <a:t>▪ By End User, 'Dental Laboratories' leads at</a:t>
            </a:r>
          </a:p>
        </p:txBody>
      </p:sp>
      <p:pic>
        <p:nvPicPr>
          <p:cNvPr id="65" name="Picture 64" descr="lock.png"/>
          <p:cNvPicPr>
            <a:picLocks noChangeAspect="1"/>
          </p:cNvPicPr>
          <p:nvPr/>
        </p:nvPicPr>
        <p:blipFill>
          <a:blip r:embed="rId10"/>
          <a:stretch>
            <a:fillRect/>
          </a:stretch>
        </p:blipFill>
        <p:spPr>
          <a:xfrm>
            <a:off x="2684165" y="5676031"/>
            <a:ext cx="123551" cy="179710"/>
          </a:xfrm>
          <a:prstGeom prst="rect">
            <a:avLst/>
          </a:prstGeom>
        </p:spPr>
      </p:pic>
      <p:sp>
        <p:nvSpPr>
          <p:cNvPr id="66" name="TextBox 65"/>
          <p:cNvSpPr txBox="1"/>
          <p:nvPr/>
        </p:nvSpPr>
        <p:spPr>
          <a:xfrm>
            <a:off x="2844961" y="5685419"/>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67" name="Picture 66" descr="lock.png"/>
          <p:cNvPicPr>
            <a:picLocks noChangeAspect="1"/>
          </p:cNvPicPr>
          <p:nvPr/>
        </p:nvPicPr>
        <p:blipFill>
          <a:blip r:embed="rId10"/>
          <a:stretch>
            <a:fillRect/>
          </a:stretch>
        </p:blipFill>
        <p:spPr>
          <a:xfrm>
            <a:off x="3370638" y="5676031"/>
            <a:ext cx="123551" cy="179710"/>
          </a:xfrm>
          <a:prstGeom prst="rect">
            <a:avLst/>
          </a:prstGeom>
        </p:spPr>
      </p:pic>
      <p:sp>
        <p:nvSpPr>
          <p:cNvPr id="68" name="TextBox 67"/>
          <p:cNvSpPr txBox="1"/>
          <p:nvPr/>
        </p:nvSpPr>
        <p:spPr>
          <a:xfrm>
            <a:off x="3531434" y="5685419"/>
            <a:ext cx="3329463" cy="179984"/>
          </a:xfrm>
          <a:prstGeom prst="rect">
            <a:avLst/>
          </a:prstGeom>
          <a:noFill/>
        </p:spPr>
        <p:txBody>
          <a:bodyPr wrap="none" lIns="0" rIns="0" tIns="0" bIns="0">
            <a:spAutoFit/>
          </a:bodyPr>
          <a:lstStyle/>
          <a:p>
            <a:r>
              <a:rPr sz="1055" b="0">
                <a:solidFill>
                  <a:srgbClr val="2E2E2E"/>
                </a:solidFill>
                <a:latin typeface="Calibri"/>
              </a:rPr>
              <a:t>share), ahead of 'Academic &amp; Teaching Dental Institutions' (</a:t>
            </a:r>
          </a:p>
        </p:txBody>
      </p:sp>
      <p:pic>
        <p:nvPicPr>
          <p:cNvPr id="69" name="Picture 68" descr="lock.png"/>
          <p:cNvPicPr>
            <a:picLocks noChangeAspect="1"/>
          </p:cNvPicPr>
          <p:nvPr/>
        </p:nvPicPr>
        <p:blipFill>
          <a:blip r:embed="rId10"/>
          <a:stretch>
            <a:fillRect/>
          </a:stretch>
        </p:blipFill>
        <p:spPr>
          <a:xfrm>
            <a:off x="6807979" y="5676031"/>
            <a:ext cx="123551" cy="179710"/>
          </a:xfrm>
          <a:prstGeom prst="rect">
            <a:avLst/>
          </a:prstGeom>
        </p:spPr>
      </p:pic>
      <p:sp>
        <p:nvSpPr>
          <p:cNvPr id="70" name="TextBox 69"/>
          <p:cNvSpPr txBox="1"/>
          <p:nvPr/>
        </p:nvSpPr>
        <p:spPr>
          <a:xfrm>
            <a:off x="6968775" y="5685419"/>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71" name="TextBox 70"/>
          <p:cNvSpPr txBox="1"/>
          <p:nvPr/>
        </p:nvSpPr>
        <p:spPr>
          <a:xfrm>
            <a:off x="276225" y="5894633"/>
            <a:ext cx="3615479" cy="179984"/>
          </a:xfrm>
          <a:prstGeom prst="rect">
            <a:avLst/>
          </a:prstGeom>
          <a:noFill/>
        </p:spPr>
        <p:txBody>
          <a:bodyPr wrap="none" lIns="0" rIns="0" tIns="0" bIns="0">
            <a:spAutoFit/>
          </a:bodyPr>
          <a:lstStyle/>
          <a:p>
            <a:r>
              <a:rPr sz="1055" b="0">
                <a:solidFill>
                  <a:srgbClr val="2E2E2E"/>
                </a:solidFill>
                <a:latin typeface="Calibri"/>
              </a:rPr>
              <a:t>▪ By Distribution Channel, 'Dental Dealers &amp; Distributors' leads at</a:t>
            </a:r>
          </a:p>
        </p:txBody>
      </p:sp>
      <p:pic>
        <p:nvPicPr>
          <p:cNvPr id="72" name="Picture 71" descr="lock.png"/>
          <p:cNvPicPr>
            <a:picLocks noChangeAspect="1"/>
          </p:cNvPicPr>
          <p:nvPr/>
        </p:nvPicPr>
        <p:blipFill>
          <a:blip r:embed="rId10"/>
          <a:stretch>
            <a:fillRect/>
          </a:stretch>
        </p:blipFill>
        <p:spPr>
          <a:xfrm>
            <a:off x="3838785" y="5885246"/>
            <a:ext cx="123551" cy="179710"/>
          </a:xfrm>
          <a:prstGeom prst="rect">
            <a:avLst/>
          </a:prstGeom>
        </p:spPr>
      </p:pic>
      <p:sp>
        <p:nvSpPr>
          <p:cNvPr id="73" name="TextBox 72"/>
          <p:cNvSpPr txBox="1"/>
          <p:nvPr/>
        </p:nvSpPr>
        <p:spPr>
          <a:xfrm>
            <a:off x="3999581" y="5894633"/>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74" name="Picture 73" descr="lock.png"/>
          <p:cNvPicPr>
            <a:picLocks noChangeAspect="1"/>
          </p:cNvPicPr>
          <p:nvPr/>
        </p:nvPicPr>
        <p:blipFill>
          <a:blip r:embed="rId10"/>
          <a:stretch>
            <a:fillRect/>
          </a:stretch>
        </p:blipFill>
        <p:spPr>
          <a:xfrm>
            <a:off x="4525259" y="5885246"/>
            <a:ext cx="123551" cy="179710"/>
          </a:xfrm>
          <a:prstGeom prst="rect">
            <a:avLst/>
          </a:prstGeom>
        </p:spPr>
      </p:pic>
      <p:sp>
        <p:nvSpPr>
          <p:cNvPr id="75" name="TextBox 74"/>
          <p:cNvSpPr txBox="1"/>
          <p:nvPr/>
        </p:nvSpPr>
        <p:spPr>
          <a:xfrm>
            <a:off x="4686055" y="5894633"/>
            <a:ext cx="1755219" cy="179984"/>
          </a:xfrm>
          <a:prstGeom prst="rect">
            <a:avLst/>
          </a:prstGeom>
          <a:noFill/>
        </p:spPr>
        <p:txBody>
          <a:bodyPr wrap="none" lIns="0" rIns="0" tIns="0" bIns="0">
            <a:spAutoFit/>
          </a:bodyPr>
          <a:lstStyle/>
          <a:p>
            <a:r>
              <a:rPr sz="1055" b="0">
                <a:solidFill>
                  <a:srgbClr val="2E2E2E"/>
                </a:solidFill>
                <a:latin typeface="Calibri"/>
              </a:rPr>
              <a:t>share), ahead of 'Direct Sales' (</a:t>
            </a:r>
          </a:p>
        </p:txBody>
      </p:sp>
      <p:pic>
        <p:nvPicPr>
          <p:cNvPr id="76" name="Picture 75" descr="lock.png"/>
          <p:cNvPicPr>
            <a:picLocks noChangeAspect="1"/>
          </p:cNvPicPr>
          <p:nvPr/>
        </p:nvPicPr>
        <p:blipFill>
          <a:blip r:embed="rId10"/>
          <a:stretch>
            <a:fillRect/>
          </a:stretch>
        </p:blipFill>
        <p:spPr>
          <a:xfrm>
            <a:off x="6388356" y="5885246"/>
            <a:ext cx="123551" cy="179710"/>
          </a:xfrm>
          <a:prstGeom prst="rect">
            <a:avLst/>
          </a:prstGeom>
        </p:spPr>
      </p:pic>
      <p:sp>
        <p:nvSpPr>
          <p:cNvPr id="77" name="TextBox 76"/>
          <p:cNvSpPr txBox="1"/>
          <p:nvPr/>
        </p:nvSpPr>
        <p:spPr>
          <a:xfrm>
            <a:off x="6549152" y="5894633"/>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78" name="TextBox 77"/>
          <p:cNvSpPr txBox="1"/>
          <p:nvPr/>
        </p:nvSpPr>
        <p:spPr>
          <a:xfrm>
            <a:off x="276225" y="6103848"/>
            <a:ext cx="2846954" cy="179984"/>
          </a:xfrm>
          <a:prstGeom prst="rect">
            <a:avLst/>
          </a:prstGeom>
          <a:noFill/>
        </p:spPr>
        <p:txBody>
          <a:bodyPr wrap="none" lIns="0" rIns="0" tIns="0" bIns="0">
            <a:spAutoFit/>
          </a:bodyPr>
          <a:lstStyle/>
          <a:p>
            <a:r>
              <a:rPr sz="1055" b="0">
                <a:solidFill>
                  <a:srgbClr val="2E2E2E"/>
                </a:solidFill>
                <a:latin typeface="Calibri"/>
              </a:rPr>
              <a:t>▪ By Patient Age Group, 'Geriatric Patients' leads at</a:t>
            </a:r>
          </a:p>
        </p:txBody>
      </p:sp>
      <p:pic>
        <p:nvPicPr>
          <p:cNvPr id="79" name="Picture 78" descr="lock.png"/>
          <p:cNvPicPr>
            <a:picLocks noChangeAspect="1"/>
          </p:cNvPicPr>
          <p:nvPr/>
        </p:nvPicPr>
        <p:blipFill>
          <a:blip r:embed="rId10"/>
          <a:stretch>
            <a:fillRect/>
          </a:stretch>
        </p:blipFill>
        <p:spPr>
          <a:xfrm>
            <a:off x="3070260" y="6094460"/>
            <a:ext cx="123551" cy="179710"/>
          </a:xfrm>
          <a:prstGeom prst="rect">
            <a:avLst/>
          </a:prstGeom>
        </p:spPr>
      </p:pic>
      <p:sp>
        <p:nvSpPr>
          <p:cNvPr id="80" name="TextBox 79"/>
          <p:cNvSpPr txBox="1"/>
          <p:nvPr/>
        </p:nvSpPr>
        <p:spPr>
          <a:xfrm>
            <a:off x="3231056" y="6103848"/>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81" name="Picture 80" descr="lock.png"/>
          <p:cNvPicPr>
            <a:picLocks noChangeAspect="1"/>
          </p:cNvPicPr>
          <p:nvPr/>
        </p:nvPicPr>
        <p:blipFill>
          <a:blip r:embed="rId10"/>
          <a:stretch>
            <a:fillRect/>
          </a:stretch>
        </p:blipFill>
        <p:spPr>
          <a:xfrm>
            <a:off x="3756734" y="6094460"/>
            <a:ext cx="123551" cy="179710"/>
          </a:xfrm>
          <a:prstGeom prst="rect">
            <a:avLst/>
          </a:prstGeom>
        </p:spPr>
      </p:pic>
      <p:sp>
        <p:nvSpPr>
          <p:cNvPr id="82" name="TextBox 81"/>
          <p:cNvSpPr txBox="1"/>
          <p:nvPr/>
        </p:nvSpPr>
        <p:spPr>
          <a:xfrm>
            <a:off x="3917530" y="6103848"/>
            <a:ext cx="1466826" cy="179984"/>
          </a:xfrm>
          <a:prstGeom prst="rect">
            <a:avLst/>
          </a:prstGeom>
          <a:noFill/>
        </p:spPr>
        <p:txBody>
          <a:bodyPr wrap="none" lIns="0" rIns="0" tIns="0" bIns="0">
            <a:spAutoFit/>
          </a:bodyPr>
          <a:lstStyle/>
          <a:p>
            <a:r>
              <a:rPr sz="1055" b="0">
                <a:solidFill>
                  <a:srgbClr val="2E2E2E"/>
                </a:solidFill>
                <a:latin typeface="Calibri"/>
              </a:rPr>
              <a:t>share), ahead of 'Adults' (</a:t>
            </a:r>
          </a:p>
        </p:txBody>
      </p:sp>
      <p:pic>
        <p:nvPicPr>
          <p:cNvPr id="83" name="Picture 82" descr="lock.png"/>
          <p:cNvPicPr>
            <a:picLocks noChangeAspect="1"/>
          </p:cNvPicPr>
          <p:nvPr/>
        </p:nvPicPr>
        <p:blipFill>
          <a:blip r:embed="rId10"/>
          <a:stretch>
            <a:fillRect/>
          </a:stretch>
        </p:blipFill>
        <p:spPr>
          <a:xfrm>
            <a:off x="5331438" y="6094460"/>
            <a:ext cx="123551" cy="179710"/>
          </a:xfrm>
          <a:prstGeom prst="rect">
            <a:avLst/>
          </a:prstGeom>
        </p:spPr>
      </p:pic>
      <p:sp>
        <p:nvSpPr>
          <p:cNvPr id="84" name="TextBox 83"/>
          <p:cNvSpPr txBox="1"/>
          <p:nvPr/>
        </p:nvSpPr>
        <p:spPr>
          <a:xfrm>
            <a:off x="5492234" y="6103848"/>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85" name="TextBox 84"/>
          <p:cNvSpPr txBox="1"/>
          <p:nvPr/>
        </p:nvSpPr>
        <p:spPr>
          <a:xfrm>
            <a:off x="276225" y="6313063"/>
            <a:ext cx="6413777" cy="179984"/>
          </a:xfrm>
          <a:prstGeom prst="rect">
            <a:avLst/>
          </a:prstGeom>
          <a:noFill/>
        </p:spPr>
        <p:txBody>
          <a:bodyPr wrap="none" lIns="0" rIns="0" tIns="0" bIns="0">
            <a:spAutoFit/>
          </a:bodyPr>
          <a:lstStyle/>
          <a:p>
            <a:r>
              <a:rPr sz="1055" b="0">
                <a:solidFill>
                  <a:srgbClr val="2E2E2E"/>
                </a:solidFill>
                <a:latin typeface="Calibri"/>
              </a:rPr>
              <a:t>▪ Use the Country slicer in the top band to switch country the selection stays synced across every page of the report.</a:t>
            </a:r>
          </a:p>
        </p:txBody>
      </p:sp>
      <p:sp>
        <p:nvSpPr>
          <p:cNvPr id="86" name="lockshield_13"/>
          <p:cNvSpPr/>
          <p:nvPr/>
        </p:nvSpPr>
        <p:spPr>
          <a:xfrm>
            <a:off x="2381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lockshield_16"/>
          <p:cNvSpPr/>
          <p:nvPr/>
        </p:nvSpPr>
        <p:spPr>
          <a:xfrm>
            <a:off x="32480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lockshield_19"/>
          <p:cNvSpPr/>
          <p:nvPr/>
        </p:nvSpPr>
        <p:spPr>
          <a:xfrm>
            <a:off x="62579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lockshield_22"/>
          <p:cNvSpPr/>
          <p:nvPr/>
        </p:nvSpPr>
        <p:spPr>
          <a:xfrm>
            <a:off x="92678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lockshield_25"/>
          <p:cNvSpPr/>
          <p:nvPr/>
        </p:nvSpPr>
        <p:spPr>
          <a:xfrm>
            <a:off x="238125" y="3095625"/>
            <a:ext cx="27432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lockshield_28"/>
          <p:cNvSpPr/>
          <p:nvPr/>
        </p:nvSpPr>
        <p:spPr>
          <a:xfrm>
            <a:off x="3324225" y="3095625"/>
            <a:ext cx="27432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683585"/>
                <a:gridCol w="798006"/>
                <a:gridCol w="798006"/>
                <a:gridCol w="1007795"/>
                <a:gridCol w="57048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683585"/>
                <a:gridCol w="798006"/>
                <a:gridCol w="798006"/>
                <a:gridCol w="1007795"/>
                <a:gridCol w="57048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268096" y="2240942"/>
            <a:ext cx="362132" cy="526738"/>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268096" y="5127017"/>
            <a:ext cx="362132" cy="526738"/>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Product Type (Units)</a:t>
            </a:r>
          </a:p>
        </p:txBody>
      </p:sp>
      <p:graphicFrame>
        <p:nvGraphicFramePr>
          <p:cNvPr id="13" name="Table 12"/>
          <p:cNvGraphicFramePr>
            <a:graphicFrameLocks noGrp="1"/>
          </p:cNvGraphicFramePr>
          <p:nvPr/>
        </p:nvGraphicFramePr>
        <p:xfrm>
          <a:off x="152400" y="1238250"/>
          <a:ext cx="11887207" cy="1866898"/>
        </p:xfrm>
        <a:graphic>
          <a:graphicData uri="http://schemas.openxmlformats.org/drawingml/2006/table">
            <a:tbl>
              <a:tblPr>
                <a:tableStyleId>{5C22544A-7EE6-4342-B048-85BDC9FD1C3A}</a:tableStyleId>
              </a:tblPr>
              <a:tblGrid>
                <a:gridCol w="2343569"/>
                <a:gridCol w="530662"/>
                <a:gridCol w="530662"/>
                <a:gridCol w="530662"/>
                <a:gridCol w="530662"/>
                <a:gridCol w="530662"/>
                <a:gridCol w="530662"/>
                <a:gridCol w="530662"/>
                <a:gridCol w="530662"/>
                <a:gridCol w="530662"/>
                <a:gridCol w="530662"/>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Product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Cast Metal Partial 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Acrylic Partial 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Flexible Partial 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Combination Framework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05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Product Type (US$ Mn)</a:t>
            </a:r>
          </a:p>
        </p:txBody>
      </p:sp>
      <p:graphicFrame>
        <p:nvGraphicFramePr>
          <p:cNvPr id="17" name="Table 16"/>
          <p:cNvGraphicFramePr>
            <a:graphicFrameLocks noGrp="1"/>
          </p:cNvGraphicFramePr>
          <p:nvPr/>
        </p:nvGraphicFramePr>
        <p:xfrm>
          <a:off x="152400" y="3705225"/>
          <a:ext cx="11887203" cy="1485896"/>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5200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81098" y="2124454"/>
            <a:ext cx="366712" cy="533400"/>
          </a:xfrm>
          <a:prstGeom prst="rect">
            <a:avLst/>
          </a:prstGeom>
        </p:spPr>
      </p:pic>
      <p:pic>
        <p:nvPicPr>
          <p:cNvPr id="21" name="Picture 20" descr="lock.png"/>
          <p:cNvPicPr>
            <a:picLocks noChangeAspect="1"/>
          </p:cNvPicPr>
          <p:nvPr/>
        </p:nvPicPr>
        <p:blipFill>
          <a:blip r:embed="rId4"/>
          <a:stretch>
            <a:fillRect/>
          </a:stretch>
        </p:blipFill>
        <p:spPr>
          <a:xfrm>
            <a:off x="7353373" y="4304538"/>
            <a:ext cx="366712" cy="533399"/>
          </a:xfrm>
          <a:prstGeom prst="rect">
            <a:avLst/>
          </a:prstGeom>
        </p:spPr>
      </p:pic>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05889"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7305889" y="3552062"/>
            <a:ext cx="366712" cy="533400"/>
          </a:xfrm>
          <a:prstGeom prst="rect">
            <a:avLst/>
          </a:prstGeom>
        </p:spPr>
      </p:pic>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Material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Type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1842315"/>
                <a:gridCol w="1003890"/>
                <a:gridCol w="1003890"/>
                <a:gridCol w="1003890"/>
                <a:gridCol w="100389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Type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1842315"/>
                <a:gridCol w="1003890"/>
                <a:gridCol w="1003890"/>
                <a:gridCol w="1003890"/>
                <a:gridCol w="100389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845130"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845130"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Material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Material Type (Units)</a:t>
            </a:r>
          </a:p>
        </p:txBody>
      </p:sp>
      <p:graphicFrame>
        <p:nvGraphicFramePr>
          <p:cNvPr id="13" name="Table 12"/>
          <p:cNvGraphicFramePr>
            <a:graphicFrameLocks noGrp="1"/>
          </p:cNvGraphicFramePr>
          <p:nvPr/>
        </p:nvGraphicFramePr>
        <p:xfrm>
          <a:off x="152400" y="1238250"/>
          <a:ext cx="11887207" cy="3838577"/>
        </p:xfrm>
        <a:graphic>
          <a:graphicData uri="http://schemas.openxmlformats.org/drawingml/2006/table">
            <a:tbl>
              <a:tblPr>
                <a:tableStyleId>{5C22544A-7EE6-4342-B048-85BDC9FD1C3A}</a:tableStyleId>
              </a:tblPr>
              <a:tblGrid>
                <a:gridCol w="2343569"/>
                <a:gridCol w="530662"/>
                <a:gridCol w="530662"/>
                <a:gridCol w="530662"/>
                <a:gridCol w="530662"/>
                <a:gridCol w="530662"/>
                <a:gridCol w="530662"/>
                <a:gridCol w="530662"/>
                <a:gridCol w="530662"/>
                <a:gridCol w="530662"/>
                <a:gridCol w="530662"/>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683">
                <a:tc>
                  <a:txBody>
                    <a:bodyPr wrap="none"/>
                    <a:lstStyle/>
                    <a:p>
                      <a:pPr algn="l"/>
                      <a:r>
                        <a:rPr sz="1100" b="1">
                          <a:solidFill>
                            <a:srgbClr val="2E2E2E"/>
                          </a:solidFill>
                          <a:latin typeface="Calibri"/>
                        </a:rPr>
                        <a:t>Metal Alloys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83">
                <a:tc>
                  <a:txBody>
                    <a:bodyPr wrap="none"/>
                    <a:lstStyle/>
                    <a:p>
                      <a:pPr algn="l"/>
                      <a:r>
                        <a:rPr sz="1100" b="1">
                          <a:solidFill>
                            <a:srgbClr val="2E2E2E"/>
                          </a:solidFill>
                          <a:latin typeface="Calibri"/>
                        </a:rPr>
                        <a:t>– Cobalt-Chromium Alloys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83">
                <a:tc>
                  <a:txBody>
                    <a:bodyPr wrap="none"/>
                    <a:lstStyle/>
                    <a:p>
                      <a:pPr algn="l"/>
                      <a:r>
                        <a:rPr sz="1100" b="1">
                          <a:solidFill>
                            <a:srgbClr val="2E2E2E"/>
                          </a:solidFill>
                          <a:latin typeface="Calibri"/>
                        </a:rPr>
                        <a:t>– Titanium Alloys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83">
                <a:tc>
                  <a:txBody>
                    <a:bodyPr wrap="none"/>
                    <a:lstStyle/>
                    <a:p>
                      <a:pPr algn="l"/>
                      <a:r>
                        <a:rPr sz="1100" b="1">
                          <a:solidFill>
                            <a:srgbClr val="2E2E2E"/>
                          </a:solidFill>
                          <a:latin typeface="Calibri"/>
                        </a:rPr>
                        <a:t>Acrylic / Resin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83">
                <a:tc>
                  <a:txBody>
                    <a:bodyPr wrap="none"/>
                    <a:lstStyle/>
                    <a:p>
                      <a:pPr algn="l"/>
                      <a:r>
                        <a:rPr sz="1100" b="1">
                          <a:solidFill>
                            <a:srgbClr val="2E2E2E"/>
                          </a:solidFill>
                          <a:latin typeface="Calibri"/>
                        </a:rPr>
                        <a:t>– PMMA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83">
                <a:tc>
                  <a:txBody>
                    <a:bodyPr wrap="none"/>
                    <a:lstStyle/>
                    <a:p>
                      <a:pPr algn="l"/>
                      <a:r>
                        <a:rPr sz="1100" b="1">
                          <a:solidFill>
                            <a:srgbClr val="2E2E2E"/>
                          </a:solidFill>
                          <a:latin typeface="Calibri"/>
                        </a:rPr>
                        <a:t>– Printable Denture Resins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83">
                <a:tc>
                  <a:txBody>
                    <a:bodyPr wrap="none"/>
                    <a:lstStyle/>
                    <a:p>
                      <a:pPr algn="l"/>
                      <a:r>
                        <a:rPr sz="1100" b="1">
                          <a:solidFill>
                            <a:srgbClr val="2E2E2E"/>
                          </a:solidFill>
                          <a:latin typeface="Calibri"/>
                        </a:rPr>
                        <a:t>Flexible Thermoplastics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83">
                <a:tc>
                  <a:txBody>
                    <a:bodyPr wrap="none"/>
                    <a:lstStyle/>
                    <a:p>
                      <a:pPr algn="l"/>
                      <a:r>
                        <a:rPr sz="1100" b="1">
                          <a:solidFill>
                            <a:srgbClr val="2E2E2E"/>
                          </a:solidFill>
                          <a:latin typeface="Calibri"/>
                        </a:rPr>
                        <a:t>– Polyamide / Nylon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83">
                <a:tc>
                  <a:txBody>
                    <a:bodyPr wrap="none"/>
                    <a:lstStyle/>
                    <a:p>
                      <a:pPr algn="l"/>
                      <a:r>
                        <a:rPr sz="1100" b="1">
                          <a:solidFill>
                            <a:srgbClr val="2E2E2E"/>
                          </a:solidFill>
                          <a:latin typeface="Calibri"/>
                        </a:rPr>
                        <a:t>– Other Thermoplastic Resins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83">
                <a:tc>
                  <a:txBody>
                    <a:bodyPr wrap="none"/>
                    <a:lstStyle/>
                    <a:p>
                      <a:pPr algn="l"/>
                      <a:r>
                        <a:rPr sz="1100" b="1">
                          <a:solidFill>
                            <a:srgbClr val="2E2E2E"/>
                          </a:solidFill>
                          <a:latin typeface="Calibri"/>
                        </a:rPr>
                        <a:t>High-performance Polymers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83">
                <a:tc>
                  <a:txBody>
                    <a:bodyPr wrap="none"/>
                    <a:lstStyle/>
                    <a:p>
                      <a:pPr algn="l"/>
                      <a:r>
                        <a:rPr sz="1100" b="1">
                          <a:solidFill>
                            <a:srgbClr val="2E2E2E"/>
                          </a:solidFill>
                          <a:latin typeface="Calibri"/>
                        </a:rPr>
                        <a:t>– PEEK-based Materials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469">
                <a:tc>
                  <a:txBody>
                    <a:bodyPr wrap="none"/>
                    <a:lstStyle/>
                    <a:p>
                      <a:pPr algn="l"/>
                      <a:r>
                        <a:rPr sz="1100" b="1">
                          <a:solidFill>
                            <a:srgbClr val="2E2E2E"/>
                          </a:solidFill>
                          <a:latin typeface="Calibri"/>
                        </a:rPr>
                        <a:t>– Other High-performance Dental</a:t>
                      </a:r>
                      <a:endParaRPr sz="1100"/>
                    </a:p>
                    <a:p>
                      <a:pPr algn="l"/>
                      <a:r>
                        <a:rPr sz="1100" b="1">
                          <a:solidFill>
                            <a:srgbClr val="2E2E2E"/>
                          </a:solidFill>
                          <a:latin typeface="Calibri"/>
                        </a:rPr>
                        <a:t>Polymers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83">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5086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081098" y="3110294"/>
            <a:ext cx="366712" cy="533400"/>
          </a:xfrm>
          <a:prstGeom prst="rect">
            <a:avLst/>
          </a:prstGeom>
        </p:spPr>
      </p:pic>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Material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Type,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Material Type (US$ Mn)</a:t>
            </a:r>
          </a:p>
        </p:txBody>
      </p:sp>
      <p:graphicFrame>
        <p:nvGraphicFramePr>
          <p:cNvPr id="12" name="Table 11"/>
          <p:cNvGraphicFramePr>
            <a:graphicFrameLocks noGrp="1"/>
          </p:cNvGraphicFramePr>
          <p:nvPr/>
        </p:nvGraphicFramePr>
        <p:xfrm>
          <a:off x="152400" y="1238250"/>
          <a:ext cx="11887201" cy="3448052"/>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02">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397216" y="2818639"/>
            <a:ext cx="366712" cy="533400"/>
          </a:xfrm>
          <a:prstGeom prst="rect">
            <a:avLst/>
          </a:prstGeom>
        </p:spPr>
      </p:pic>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3200406"/>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68310" y="2694815"/>
            <a:ext cx="366712" cy="533400"/>
          </a:xfrm>
          <a:prstGeom prst="rect">
            <a:avLst/>
          </a:prstGeom>
        </p:spPr>
      </p:pic>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Type, highlighting acceleration and slowdown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1" cy="3200406"/>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268310" y="2694815"/>
            <a:ext cx="366712" cy="533400"/>
          </a:xfrm>
          <a:prstGeom prst="rect">
            <a:avLst/>
          </a:prstGeom>
        </p:spPr>
      </p:pic>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Technology</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708500"/>
                <a:gridCol w="1037344"/>
                <a:gridCol w="1037344"/>
                <a:gridCol w="1037344"/>
                <a:gridCol w="1037344"/>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Technology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Technology</a:t>
            </a:r>
          </a:p>
        </p:txBody>
      </p:sp>
      <p:graphicFrame>
        <p:nvGraphicFramePr>
          <p:cNvPr id="23" name="Table 22"/>
          <p:cNvGraphicFramePr>
            <a:graphicFrameLocks noGrp="1"/>
          </p:cNvGraphicFramePr>
          <p:nvPr/>
        </p:nvGraphicFramePr>
        <p:xfrm>
          <a:off x="6181725" y="4124325"/>
          <a:ext cx="5857876" cy="2286000"/>
        </p:xfrm>
        <a:graphic>
          <a:graphicData uri="http://schemas.openxmlformats.org/drawingml/2006/table">
            <a:tbl>
              <a:tblPr>
                <a:tableStyleId>{5C22544A-7EE6-4342-B048-85BDC9FD1C3A}</a:tableStyleId>
              </a:tblPr>
              <a:tblGrid>
                <a:gridCol w="1708500"/>
                <a:gridCol w="1037344"/>
                <a:gridCol w="1037344"/>
                <a:gridCol w="1037344"/>
                <a:gridCol w="1037344"/>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78223"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78223"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514725"/>
          </a:xfrm>
          <a:prstGeom prst="roundRect">
            <a:avLst>
              <a:gd name="adj" fmla="val 21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Technology (Units)</a:t>
            </a:r>
          </a:p>
        </p:txBody>
      </p:sp>
      <p:graphicFrame>
        <p:nvGraphicFramePr>
          <p:cNvPr id="13" name="Table 12"/>
          <p:cNvGraphicFramePr>
            <a:graphicFrameLocks noGrp="1"/>
          </p:cNvGraphicFramePr>
          <p:nvPr/>
        </p:nvGraphicFramePr>
        <p:xfrm>
          <a:off x="152400" y="1238250"/>
          <a:ext cx="11887207" cy="3047997"/>
        </p:xfrm>
        <a:graphic>
          <a:graphicData uri="http://schemas.openxmlformats.org/drawingml/2006/table">
            <a:tbl>
              <a:tblPr>
                <a:tableStyleId>{5C22544A-7EE6-4342-B048-85BDC9FD1C3A}</a:tableStyleId>
              </a:tblPr>
              <a:tblGrid>
                <a:gridCol w="2343569"/>
                <a:gridCol w="530662"/>
                <a:gridCol w="530662"/>
                <a:gridCol w="530662"/>
                <a:gridCol w="530662"/>
                <a:gridCol w="530662"/>
                <a:gridCol w="530662"/>
                <a:gridCol w="530662"/>
                <a:gridCol w="530662"/>
                <a:gridCol w="530662"/>
                <a:gridCol w="530662"/>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57">
                <a:tc>
                  <a:txBody>
                    <a:bodyPr wrap="none"/>
                    <a:lstStyle/>
                    <a:p>
                      <a:pPr algn="l"/>
                      <a:r>
                        <a:rPr sz="1100" b="1">
                          <a:solidFill>
                            <a:srgbClr val="2E2E2E"/>
                          </a:solidFill>
                          <a:latin typeface="Calibri"/>
                        </a:rPr>
                        <a:t>Conventional 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57">
                <a:tc>
                  <a:txBody>
                    <a:bodyPr wrap="none"/>
                    <a:lstStyle/>
                    <a:p>
                      <a:pPr algn="l"/>
                      <a:r>
                        <a:rPr sz="1100" b="1">
                          <a:solidFill>
                            <a:srgbClr val="2E2E2E"/>
                          </a:solidFill>
                          <a:latin typeface="Calibri"/>
                        </a:rPr>
                        <a:t>– Metal Casting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843">
                <a:tc>
                  <a:txBody>
                    <a:bodyPr wrap="none"/>
                    <a:lstStyle/>
                    <a:p>
                      <a:pPr algn="l"/>
                      <a:r>
                        <a:rPr sz="1100" b="1">
                          <a:solidFill>
                            <a:srgbClr val="2E2E2E"/>
                          </a:solidFill>
                          <a:latin typeface="Calibri"/>
                        </a:rPr>
                        <a:t>– Heat-cured / Compression</a:t>
                      </a:r>
                      <a:endParaRPr sz="1100"/>
                    </a:p>
                    <a:p>
                      <a:pPr algn="l"/>
                      <a:r>
                        <a:rPr sz="1100" b="1">
                          <a:solidFill>
                            <a:srgbClr val="2E2E2E"/>
                          </a:solidFill>
                          <a:latin typeface="Calibri"/>
                        </a:rPr>
                        <a:t>Processing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57">
                <a:tc>
                  <a:txBody>
                    <a:bodyPr wrap="none"/>
                    <a:lstStyle/>
                    <a:p>
                      <a:pPr algn="l"/>
                      <a:r>
                        <a:rPr sz="1100" b="1">
                          <a:solidFill>
                            <a:srgbClr val="2E2E2E"/>
                          </a:solidFill>
                          <a:latin typeface="Calibri"/>
                        </a:rPr>
                        <a:t>– Injection Molding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57">
                <a:tc>
                  <a:txBody>
                    <a:bodyPr wrap="none"/>
                    <a:lstStyle/>
                    <a:p>
                      <a:pPr algn="l"/>
                      <a:r>
                        <a:rPr sz="1100" b="1">
                          <a:solidFill>
                            <a:srgbClr val="2E2E2E"/>
                          </a:solidFill>
                          <a:latin typeface="Calibri"/>
                        </a:rPr>
                        <a:t>Digital 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57">
                <a:tc>
                  <a:txBody>
                    <a:bodyPr wrap="none"/>
                    <a:lstStyle/>
                    <a:p>
                      <a:pPr algn="l"/>
                      <a:r>
                        <a:rPr sz="1100" b="1">
                          <a:solidFill>
                            <a:srgbClr val="2E2E2E"/>
                          </a:solidFill>
                          <a:latin typeface="Calibri"/>
                        </a:rPr>
                        <a:t>– CAD/CAM Milling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843">
                <a:tc>
                  <a:txBody>
                    <a:bodyPr wrap="none"/>
                    <a:lstStyle/>
                    <a:p>
                      <a:pPr algn="l"/>
                      <a:r>
                        <a:rPr sz="1100" b="1">
                          <a:solidFill>
                            <a:srgbClr val="2E2E2E"/>
                          </a:solidFill>
                          <a:latin typeface="Calibri"/>
                        </a:rPr>
                        <a:t>– 3D Printing / Additive</a:t>
                      </a:r>
                      <a:endParaRPr sz="1100"/>
                    </a:p>
                    <a:p>
                      <a:pPr algn="l"/>
                      <a:r>
                        <a:rPr sz="1100" b="1">
                          <a:solidFill>
                            <a:srgbClr val="2E2E2E"/>
                          </a:solidFill>
                          <a:latin typeface="Calibri"/>
                        </a:rPr>
                        <a:t>Manufacturing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57">
                <a:tc>
                  <a:txBody>
                    <a:bodyPr wrap="none"/>
                    <a:lstStyle/>
                    <a:p>
                      <a:pPr algn="l"/>
                      <a:r>
                        <a:rPr sz="1100" b="1">
                          <a:solidFill>
                            <a:srgbClr val="2E2E2E"/>
                          </a:solidFill>
                          <a:latin typeface="Calibri"/>
                        </a:rPr>
                        <a:t>– Hybrid Digital Fabrication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5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2957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081098" y="2715004"/>
            <a:ext cx="366712" cy="533400"/>
          </a:xfrm>
          <a:prstGeom prst="rect">
            <a:avLst/>
          </a:prstGeom>
        </p:spPr>
      </p:pic>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Technology, 2021–2036</a:t>
            </a:r>
          </a:p>
        </p:txBody>
      </p:sp>
      <p:sp>
        <p:nvSpPr>
          <p:cNvPr id="10" name="Rounded Rectangle 9"/>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Technology (US$ Mn)</a:t>
            </a:r>
          </a:p>
        </p:txBody>
      </p:sp>
      <p:graphicFrame>
        <p:nvGraphicFramePr>
          <p:cNvPr id="12" name="Table 11"/>
          <p:cNvGraphicFramePr>
            <a:graphicFrameLocks noGrp="1"/>
          </p:cNvGraphicFramePr>
          <p:nvPr/>
        </p:nvGraphicFramePr>
        <p:xfrm>
          <a:off x="152400" y="1238250"/>
          <a:ext cx="11887195" cy="2466975"/>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141720" y="2328100"/>
            <a:ext cx="366712" cy="533400"/>
          </a:xfrm>
          <a:prstGeom prst="rect">
            <a:avLst/>
          </a:prstGeom>
        </p:spPr>
      </p:pic>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Technology,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2219326"/>
        </p:xfrm>
        <a:graphic>
          <a:graphicData uri="http://schemas.openxmlformats.org/drawingml/2006/table">
            <a:tbl>
              <a:tblPr>
                <a:tableStyleId>{5C22544A-7EE6-4342-B048-85BDC9FD1C3A}</a:tableStyleId>
              </a:tblPr>
              <a:tblGrid>
                <a:gridCol w="2522231"/>
                <a:gridCol w="624331"/>
                <a:gridCol w="624331"/>
                <a:gridCol w="624331"/>
                <a:gridCol w="624331"/>
                <a:gridCol w="624331"/>
                <a:gridCol w="624331"/>
                <a:gridCol w="624331"/>
                <a:gridCol w="624331"/>
                <a:gridCol w="624331"/>
                <a:gridCol w="624331"/>
                <a:gridCol w="624331"/>
                <a:gridCol w="624331"/>
                <a:gridCol w="624331"/>
                <a:gridCol w="624331"/>
                <a:gridCol w="624331"/>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0576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286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70423" y="2204276"/>
            <a:ext cx="366712" cy="533400"/>
          </a:xfrm>
          <a:prstGeom prst="rect">
            <a:avLst/>
          </a:prstGeom>
        </p:spPr>
      </p:pic>
      <p:pic>
        <p:nvPicPr>
          <p:cNvPr id="21" name="Picture 20" descr="lock.png"/>
          <p:cNvPicPr>
            <a:picLocks noChangeAspect="1"/>
          </p:cNvPicPr>
          <p:nvPr/>
        </p:nvPicPr>
        <p:blipFill>
          <a:blip r:embed="rId4"/>
          <a:stretch>
            <a:fillRect/>
          </a:stretch>
        </p:blipFill>
        <p:spPr>
          <a:xfrm>
            <a:off x="7246762" y="5023676"/>
            <a:ext cx="366712" cy="533399"/>
          </a:xfrm>
          <a:prstGeom prst="rect">
            <a:avLst/>
          </a:prstGeom>
        </p:spPr>
      </p:pic>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End User: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End User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End User</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648970"/>
                <a:gridCol w="806708"/>
                <a:gridCol w="806708"/>
                <a:gridCol w="1018785"/>
                <a:gridCol w="576704"/>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End User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End User</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648970"/>
                <a:gridCol w="806708"/>
                <a:gridCol w="806708"/>
                <a:gridCol w="1018785"/>
                <a:gridCol w="576704"/>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249786" y="2239510"/>
            <a:ext cx="364101" cy="529602"/>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249786" y="5125585"/>
            <a:ext cx="364101" cy="529602"/>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End User,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End User (Units)</a:t>
            </a:r>
          </a:p>
        </p:txBody>
      </p:sp>
      <p:graphicFrame>
        <p:nvGraphicFramePr>
          <p:cNvPr id="13" name="Table 12"/>
          <p:cNvGraphicFramePr>
            <a:graphicFrameLocks noGrp="1"/>
          </p:cNvGraphicFramePr>
          <p:nvPr/>
        </p:nvGraphicFramePr>
        <p:xfrm>
          <a:off x="152400" y="1238250"/>
          <a:ext cx="11887207" cy="1866898"/>
        </p:xfrm>
        <a:graphic>
          <a:graphicData uri="http://schemas.openxmlformats.org/drawingml/2006/table">
            <a:tbl>
              <a:tblPr>
                <a:tableStyleId>{5C22544A-7EE6-4342-B048-85BDC9FD1C3A}</a:tableStyleId>
              </a:tblPr>
              <a:tblGrid>
                <a:gridCol w="2343569"/>
                <a:gridCol w="530662"/>
                <a:gridCol w="530662"/>
                <a:gridCol w="530662"/>
                <a:gridCol w="530662"/>
                <a:gridCol w="530662"/>
                <a:gridCol w="530662"/>
                <a:gridCol w="530662"/>
                <a:gridCol w="530662"/>
                <a:gridCol w="530662"/>
                <a:gridCol w="530662"/>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End User</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Dental Clinics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Dental Hospitals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Dental Laboratories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Academic &amp; Teaching Dental</a:t>
                      </a:r>
                      <a:endParaRPr sz="1100"/>
                    </a:p>
                    <a:p>
                      <a:pPr algn="l"/>
                      <a:r>
                        <a:rPr sz="1100" b="1">
                          <a:solidFill>
                            <a:srgbClr val="2E2E2E"/>
                          </a:solidFill>
                          <a:latin typeface="Calibri"/>
                        </a:rPr>
                        <a:t>Institutions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05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End User (US$ Mn)</a:t>
            </a:r>
          </a:p>
        </p:txBody>
      </p:sp>
      <p:graphicFrame>
        <p:nvGraphicFramePr>
          <p:cNvPr id="17" name="Table 16"/>
          <p:cNvGraphicFramePr>
            <a:graphicFrameLocks noGrp="1"/>
          </p:cNvGraphicFramePr>
          <p:nvPr/>
        </p:nvGraphicFramePr>
        <p:xfrm>
          <a:off x="152400" y="3705225"/>
          <a:ext cx="11887196" cy="1485896"/>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5200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81098" y="2124454"/>
            <a:ext cx="366712" cy="533400"/>
          </a:xfrm>
          <a:prstGeom prst="rect">
            <a:avLst/>
          </a:prstGeom>
        </p:spPr>
      </p:pic>
      <p:pic>
        <p:nvPicPr>
          <p:cNvPr id="21" name="Picture 20" descr="lock.png"/>
          <p:cNvPicPr>
            <a:picLocks noChangeAspect="1"/>
          </p:cNvPicPr>
          <p:nvPr/>
        </p:nvPicPr>
        <p:blipFill>
          <a:blip r:embed="rId4"/>
          <a:stretch>
            <a:fillRect/>
          </a:stretch>
        </p:blipFill>
        <p:spPr>
          <a:xfrm>
            <a:off x="7327480" y="4304538"/>
            <a:ext cx="366712" cy="533400"/>
          </a:xfrm>
          <a:prstGeom prst="rect">
            <a:avLst/>
          </a:prstGeom>
        </p:spPr>
      </p:pic>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End User,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80592"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7280592" y="3552062"/>
            <a:ext cx="366712" cy="533400"/>
          </a:xfrm>
          <a:prstGeom prst="rect">
            <a:avLst/>
          </a:prstGeom>
        </p:spPr>
      </p:pic>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2272018"/>
                <a:gridCol w="901472"/>
                <a:gridCol w="901472"/>
                <a:gridCol w="1138462"/>
                <a:gridCol w="644450"/>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Distribution Channel</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2272018"/>
                <a:gridCol w="901472"/>
                <a:gridCol w="901472"/>
                <a:gridCol w="1138462"/>
                <a:gridCol w="644450"/>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059981"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059981"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Distribution Channel (Units)</a:t>
            </a:r>
          </a:p>
        </p:txBody>
      </p:sp>
      <p:graphicFrame>
        <p:nvGraphicFramePr>
          <p:cNvPr id="13" name="Table 12"/>
          <p:cNvGraphicFramePr>
            <a:graphicFrameLocks noGrp="1"/>
          </p:cNvGraphicFramePr>
          <p:nvPr/>
        </p:nvGraphicFramePr>
        <p:xfrm>
          <a:off x="152400" y="1238250"/>
          <a:ext cx="11887199" cy="1238250"/>
        </p:xfrm>
        <a:graphic>
          <a:graphicData uri="http://schemas.openxmlformats.org/drawingml/2006/table">
            <a:tbl>
              <a:tblPr>
                <a:tableStyleId>{5C22544A-7EE6-4342-B048-85BDC9FD1C3A}</a:tableStyleId>
              </a:tblPr>
              <a:tblGrid>
                <a:gridCol w="1925986"/>
                <a:gridCol w="548491"/>
                <a:gridCol w="548491"/>
                <a:gridCol w="548491"/>
                <a:gridCol w="548491"/>
                <a:gridCol w="548491"/>
                <a:gridCol w="548491"/>
                <a:gridCol w="548491"/>
                <a:gridCol w="548491"/>
                <a:gridCol w="548491"/>
                <a:gridCol w="548491"/>
                <a:gridCol w="659579"/>
                <a:gridCol w="659579"/>
                <a:gridCol w="659579"/>
                <a:gridCol w="659579"/>
                <a:gridCol w="659579"/>
                <a:gridCol w="659579"/>
                <a:gridCol w="518829"/>
              </a:tblGrid>
              <a:tr h="246126">
                <a:tc>
                  <a:txBody>
                    <a:bodyPr wrap="none"/>
                    <a:lstStyle/>
                    <a:p>
                      <a:pPr algn="l"/>
                      <a:r>
                        <a:rPr sz="1100" b="1">
                          <a:solidFill>
                            <a:srgbClr val="0B2E4A"/>
                          </a:solidFill>
                          <a:latin typeface="Calibri"/>
                        </a:rPr>
                        <a:t>Distribution Channel</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Distribution Channel (US$ Mn)</a:t>
            </a:r>
          </a:p>
        </p:txBody>
      </p:sp>
      <p:graphicFrame>
        <p:nvGraphicFramePr>
          <p:cNvPr id="17" name="Table 16"/>
          <p:cNvGraphicFramePr>
            <a:graphicFrameLocks noGrp="1"/>
          </p:cNvGraphicFramePr>
          <p:nvPr/>
        </p:nvGraphicFramePr>
        <p:xfrm>
          <a:off x="152400" y="3076575"/>
          <a:ext cx="11887206" cy="1238250"/>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72302"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930200" y="3552062"/>
            <a:ext cx="366712" cy="533400"/>
          </a:xfrm>
          <a:prstGeom prst="rect">
            <a:avLst/>
          </a:prstGeom>
        </p:spPr>
      </p:pic>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21466"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7021466" y="3180587"/>
            <a:ext cx="366712" cy="533400"/>
          </a:xfrm>
          <a:prstGeom prst="rect">
            <a:avLst/>
          </a:prstGeom>
        </p:spPr>
      </p:pic>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Patient Age Group: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Patient Age Group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Patient Age Group</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384732"/>
                <a:gridCol w="1118286"/>
                <a:gridCol w="1118286"/>
                <a:gridCol w="1118286"/>
                <a:gridCol w="1118286"/>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Patient Age Group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Patient Age Group</a:t>
            </a:r>
          </a:p>
        </p:txBody>
      </p:sp>
      <p:graphicFrame>
        <p:nvGraphicFramePr>
          <p:cNvPr id="23" name="Table 22"/>
          <p:cNvGraphicFramePr>
            <a:graphicFrameLocks noGrp="1"/>
          </p:cNvGraphicFramePr>
          <p:nvPr/>
        </p:nvGraphicFramePr>
        <p:xfrm>
          <a:off x="6181725" y="4124325"/>
          <a:ext cx="5857876" cy="2286000"/>
        </p:xfrm>
        <a:graphic>
          <a:graphicData uri="http://schemas.openxmlformats.org/drawingml/2006/table">
            <a:tbl>
              <a:tblPr>
                <a:tableStyleId>{5C22544A-7EE6-4342-B048-85BDC9FD1C3A}</a:tableStyleId>
              </a:tblPr>
              <a:tblGrid>
                <a:gridCol w="1384732"/>
                <a:gridCol w="1118286"/>
                <a:gridCol w="1118286"/>
                <a:gridCol w="1118286"/>
                <a:gridCol w="1118286"/>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616339"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616339"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Patient Age Group,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Patient Age Group (Units)</a:t>
            </a:r>
          </a:p>
        </p:txBody>
      </p:sp>
      <p:graphicFrame>
        <p:nvGraphicFramePr>
          <p:cNvPr id="13" name="Table 12"/>
          <p:cNvGraphicFramePr>
            <a:graphicFrameLocks noGrp="1"/>
          </p:cNvGraphicFramePr>
          <p:nvPr/>
        </p:nvGraphicFramePr>
        <p:xfrm>
          <a:off x="152400" y="1238250"/>
          <a:ext cx="11887202" cy="990600"/>
        </p:xfrm>
        <a:graphic>
          <a:graphicData uri="http://schemas.openxmlformats.org/drawingml/2006/table">
            <a:tbl>
              <a:tblPr>
                <a:tableStyleId>{5C22544A-7EE6-4342-B048-85BDC9FD1C3A}</a:tableStyleId>
              </a:tblPr>
              <a:tblGrid>
                <a:gridCol w="1224501"/>
                <a:gridCol w="589580"/>
                <a:gridCol w="589580"/>
                <a:gridCol w="589580"/>
                <a:gridCol w="589580"/>
                <a:gridCol w="589580"/>
                <a:gridCol w="589580"/>
                <a:gridCol w="589580"/>
                <a:gridCol w="589580"/>
                <a:gridCol w="589580"/>
                <a:gridCol w="589580"/>
                <a:gridCol w="701187"/>
                <a:gridCol w="701187"/>
                <a:gridCol w="701187"/>
                <a:gridCol w="701187"/>
                <a:gridCol w="701187"/>
                <a:gridCol w="701187"/>
                <a:gridCol w="55977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Patient Age Group (US$ Mn)</a:t>
            </a:r>
          </a:p>
        </p:txBody>
      </p:sp>
      <p:graphicFrame>
        <p:nvGraphicFramePr>
          <p:cNvPr id="17" name="Table 16"/>
          <p:cNvGraphicFramePr>
            <a:graphicFrameLocks noGrp="1"/>
          </p:cNvGraphicFramePr>
          <p:nvPr/>
        </p:nvGraphicFramePr>
        <p:xfrm>
          <a:off x="152400" y="2828925"/>
          <a:ext cx="11887195" cy="990600"/>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1561"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586908" y="3180587"/>
            <a:ext cx="366712" cy="533400"/>
          </a:xfrm>
          <a:prstGeom prst="rect">
            <a:avLst/>
          </a:prstGeom>
        </p:spPr>
      </p:pic>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Patient Age Group,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333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70790"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670790" y="2825115"/>
            <a:ext cx="330041" cy="480060"/>
          </a:xfrm>
          <a:prstGeom prst="rect">
            <a:avLst/>
          </a:prstGeom>
        </p:spPr>
      </p:pic>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x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Product Type × Material Type, 2026E and 2036F (US$ Mn)</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829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1163955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027682" y="2276792"/>
            <a:ext cx="366712" cy="533400"/>
          </a:xfrm>
          <a:prstGeom prst="rect">
            <a:avLst/>
          </a:prstGeom>
        </p:spPr>
      </p:pic>
      <p:sp>
        <p:nvSpPr>
          <p:cNvPr id="21" name="TextBox 20"/>
          <p:cNvSpPr txBox="1"/>
          <p:nvPr/>
        </p:nvSpPr>
        <p:spPr>
          <a:xfrm>
            <a:off x="276225" y="3924300"/>
            <a:ext cx="10166771" cy="194310"/>
          </a:xfrm>
          <a:prstGeom prst="rect">
            <a:avLst/>
          </a:prstGeom>
          <a:noFill/>
        </p:spPr>
        <p:txBody>
          <a:bodyPr wrap="none" lIns="0" rIns="0" tIns="0" bIns="0">
            <a:spAutoFit/>
          </a:bodyPr>
          <a:lstStyle/>
          <a:p>
            <a:r>
              <a:rPr sz="1150" b="0">
                <a:solidFill>
                  <a:srgbClr val="2E2E2E"/>
                </a:solidFill>
                <a:latin typeface="Calibri"/>
              </a:rPr>
              <a:t>Cast metal partial dentures segment is projected to account for the largest share of the U.S. removable partial dentures market, led by high-performance polymers at US$</a:t>
            </a:r>
          </a:p>
        </p:txBody>
      </p:sp>
      <p:pic>
        <p:nvPicPr>
          <p:cNvPr id="22" name="Picture 21" descr="lock.png"/>
          <p:cNvPicPr>
            <a:picLocks noChangeAspect="1"/>
          </p:cNvPicPr>
          <p:nvPr/>
        </p:nvPicPr>
        <p:blipFill>
          <a:blip r:embed="rId4"/>
          <a:stretch>
            <a:fillRect/>
          </a:stretch>
        </p:blipFill>
        <p:spPr>
          <a:xfrm>
            <a:off x="10392150" y="3914076"/>
            <a:ext cx="134549" cy="195707"/>
          </a:xfrm>
          <a:prstGeom prst="rect">
            <a:avLst/>
          </a:prstGeom>
        </p:spPr>
      </p:pic>
      <p:sp>
        <p:nvSpPr>
          <p:cNvPr id="23" name="TextBox 22"/>
          <p:cNvSpPr txBox="1"/>
          <p:nvPr/>
        </p:nvSpPr>
        <p:spPr>
          <a:xfrm>
            <a:off x="10567259" y="3924300"/>
            <a:ext cx="1246026" cy="194310"/>
          </a:xfrm>
          <a:prstGeom prst="rect">
            <a:avLst/>
          </a:prstGeom>
          <a:noFill/>
        </p:spPr>
        <p:txBody>
          <a:bodyPr wrap="none" lIns="0" rIns="0" tIns="0" bIns="0">
            <a:spAutoFit/>
          </a:bodyPr>
          <a:lstStyle/>
          <a:p>
            <a:r>
              <a:rPr sz="1150" b="0">
                <a:solidFill>
                  <a:srgbClr val="2E2E2E"/>
                </a:solidFill>
                <a:latin typeface="Calibri"/>
              </a:rPr>
              <a:t>Mn in 2036. 'Acrylic</a:t>
            </a:r>
          </a:p>
        </p:txBody>
      </p:sp>
      <p:sp>
        <p:nvSpPr>
          <p:cNvPr id="24" name="TextBox 23"/>
          <p:cNvSpPr txBox="1"/>
          <p:nvPr/>
        </p:nvSpPr>
        <p:spPr>
          <a:xfrm>
            <a:off x="276225" y="4099560"/>
            <a:ext cx="5270673" cy="194310"/>
          </a:xfrm>
          <a:prstGeom prst="rect">
            <a:avLst/>
          </a:prstGeom>
          <a:noFill/>
        </p:spPr>
        <p:txBody>
          <a:bodyPr wrap="none" lIns="0" rIns="0" tIns="0" bIns="0">
            <a:spAutoFit/>
          </a:bodyPr>
          <a:lstStyle/>
          <a:p>
            <a:r>
              <a:rPr sz="1150" b="0">
                <a:solidFill>
                  <a:srgbClr val="2E2E2E"/>
                </a:solidFill>
                <a:latin typeface="Calibri"/>
              </a:rPr>
              <a:t>Partial Dentures × High-performance Polymers' is the single largest cross-sectional cell (</a:t>
            </a:r>
          </a:p>
        </p:txBody>
      </p:sp>
      <p:pic>
        <p:nvPicPr>
          <p:cNvPr id="25" name="Picture 24" descr="lock.png"/>
          <p:cNvPicPr>
            <a:picLocks noChangeAspect="1"/>
          </p:cNvPicPr>
          <p:nvPr/>
        </p:nvPicPr>
        <p:blipFill>
          <a:blip r:embed="rId4"/>
          <a:stretch>
            <a:fillRect/>
          </a:stretch>
        </p:blipFill>
        <p:spPr>
          <a:xfrm>
            <a:off x="5496052" y="4089336"/>
            <a:ext cx="134549" cy="195707"/>
          </a:xfrm>
          <a:prstGeom prst="rect">
            <a:avLst/>
          </a:prstGeom>
        </p:spPr>
      </p:pic>
      <p:sp>
        <p:nvSpPr>
          <p:cNvPr id="26" name="TextBox 25"/>
          <p:cNvSpPr txBox="1"/>
          <p:nvPr/>
        </p:nvSpPr>
        <p:spPr>
          <a:xfrm>
            <a:off x="5671161" y="4099560"/>
            <a:ext cx="5823210" cy="194310"/>
          </a:xfrm>
          <a:prstGeom prst="rect">
            <a:avLst/>
          </a:prstGeom>
          <a:noFill/>
        </p:spPr>
        <p:txBody>
          <a:bodyPr wrap="none" lIns="0" rIns="0" tIns="0" bIns="0">
            <a:spAutoFit/>
          </a:bodyPr>
          <a:lstStyle/>
          <a:p>
            <a:r>
              <a:rPr sz="1150" b="0">
                <a:solidFill>
                  <a:srgbClr val="2E2E2E"/>
                </a:solidFill>
                <a:latin typeface="Calibri"/>
              </a:rPr>
              <a:t>US$ Mn, 2026E), while 'Cast Metal Partial Dentures × Flexible Thermoplastics' records the fastest</a:t>
            </a:r>
          </a:p>
        </p:txBody>
      </p:sp>
      <p:sp>
        <p:nvSpPr>
          <p:cNvPr id="27" name="TextBox 26"/>
          <p:cNvSpPr txBox="1"/>
          <p:nvPr/>
        </p:nvSpPr>
        <p:spPr>
          <a:xfrm>
            <a:off x="276225" y="4274820"/>
            <a:ext cx="1279668" cy="194310"/>
          </a:xfrm>
          <a:prstGeom prst="rect">
            <a:avLst/>
          </a:prstGeom>
          <a:noFill/>
        </p:spPr>
        <p:txBody>
          <a:bodyPr wrap="none" lIns="0" rIns="0" tIns="0" bIns="0">
            <a:spAutoFit/>
          </a:bodyPr>
          <a:lstStyle/>
          <a:p>
            <a:r>
              <a:rPr sz="1150" b="0">
                <a:solidFill>
                  <a:srgbClr val="2E2E2E"/>
                </a:solidFill>
                <a:latin typeface="Calibri"/>
              </a:rPr>
              <a:t>growth at a CAGR of</a:t>
            </a:r>
          </a:p>
        </p:txBody>
      </p:sp>
      <p:pic>
        <p:nvPicPr>
          <p:cNvPr id="28" name="Picture 27" descr="lock.png"/>
          <p:cNvPicPr>
            <a:picLocks noChangeAspect="1"/>
          </p:cNvPicPr>
          <p:nvPr/>
        </p:nvPicPr>
        <p:blipFill>
          <a:blip r:embed="rId4"/>
          <a:stretch>
            <a:fillRect/>
          </a:stretch>
        </p:blipFill>
        <p:spPr>
          <a:xfrm>
            <a:off x="1505047" y="4264596"/>
            <a:ext cx="134549" cy="195707"/>
          </a:xfrm>
          <a:prstGeom prst="rect">
            <a:avLst/>
          </a:prstGeom>
        </p:spPr>
      </p:pic>
      <p:sp>
        <p:nvSpPr>
          <p:cNvPr id="29" name="TextBox 28"/>
          <p:cNvSpPr txBox="1"/>
          <p:nvPr/>
        </p:nvSpPr>
        <p:spPr>
          <a:xfrm>
            <a:off x="1680156" y="427482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502657"/>
            <a:ext cx="5866854" cy="194310"/>
          </a:xfrm>
          <a:prstGeom prst="rect">
            <a:avLst/>
          </a:prstGeom>
          <a:noFill/>
        </p:spPr>
        <p:txBody>
          <a:bodyPr wrap="none" lIns="0" rIns="0" tIns="0" bIns="0">
            <a:spAutoFit/>
          </a:bodyPr>
          <a:lstStyle/>
          <a:p>
            <a:r>
              <a:rPr sz="1150" b="0">
                <a:solidFill>
                  <a:srgbClr val="2E2E2E"/>
                </a:solidFill>
                <a:latin typeface="Calibri"/>
              </a:rPr>
              <a:t>Combined, the top three product type × material type cells generate an absolute $ opportunity of</a:t>
            </a:r>
          </a:p>
        </p:txBody>
      </p:sp>
      <p:pic>
        <p:nvPicPr>
          <p:cNvPr id="31" name="Picture 30" descr="lock.png"/>
          <p:cNvPicPr>
            <a:picLocks noChangeAspect="1"/>
          </p:cNvPicPr>
          <p:nvPr/>
        </p:nvPicPr>
        <p:blipFill>
          <a:blip r:embed="rId4"/>
          <a:stretch>
            <a:fillRect/>
          </a:stretch>
        </p:blipFill>
        <p:spPr>
          <a:xfrm>
            <a:off x="6092233" y="4492434"/>
            <a:ext cx="134549" cy="195707"/>
          </a:xfrm>
          <a:prstGeom prst="rect">
            <a:avLst/>
          </a:prstGeom>
        </p:spPr>
      </p:pic>
      <p:sp>
        <p:nvSpPr>
          <p:cNvPr id="32" name="TextBox 31"/>
          <p:cNvSpPr txBox="1"/>
          <p:nvPr/>
        </p:nvSpPr>
        <p:spPr>
          <a:xfrm>
            <a:off x="6267342" y="45026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Product Type × Material Type, 2026E (% of each row)</a:t>
            </a:r>
          </a:p>
        </p:txBody>
      </p:sp>
      <p:graphicFrame>
        <p:nvGraphicFramePr>
          <p:cNvPr id="13" name="Table 12"/>
          <p:cNvGraphicFramePr>
            <a:graphicFrameLocks noGrp="1"/>
          </p:cNvGraphicFramePr>
          <p:nvPr/>
        </p:nvGraphicFramePr>
        <p:xfrm>
          <a:off x="152400" y="1238250"/>
          <a:ext cx="11887201" cy="2114550"/>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2714">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72866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7528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981450"/>
          <a:ext cx="7096125" cy="25908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695700"/>
            <a:ext cx="4457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7814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40195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4105275"/>
            <a:ext cx="4191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2" y="2468245"/>
            <a:ext cx="366712" cy="533400"/>
          </a:xfrm>
          <a:prstGeom prst="rect">
            <a:avLst/>
          </a:prstGeom>
        </p:spPr>
      </p:pic>
      <p:pic>
        <p:nvPicPr>
          <p:cNvPr id="24" name="Picture 23" descr="lock.png"/>
          <p:cNvPicPr>
            <a:picLocks noChangeAspect="1"/>
          </p:cNvPicPr>
          <p:nvPr/>
        </p:nvPicPr>
        <p:blipFill>
          <a:blip r:embed="rId5"/>
          <a:stretch>
            <a:fillRect/>
          </a:stretch>
        </p:blipFill>
        <p:spPr>
          <a:xfrm>
            <a:off x="3755735" y="4509229"/>
            <a:ext cx="349819" cy="508827"/>
          </a:xfrm>
          <a:prstGeom prst="rect">
            <a:avLst/>
          </a:prstGeom>
        </p:spPr>
      </p:pic>
      <p:sp>
        <p:nvSpPr>
          <p:cNvPr id="25" name="TextBox 24"/>
          <p:cNvSpPr txBox="1"/>
          <p:nvPr/>
        </p:nvSpPr>
        <p:spPr>
          <a:xfrm>
            <a:off x="7715250" y="4114800"/>
            <a:ext cx="3955332" cy="194310"/>
          </a:xfrm>
          <a:prstGeom prst="rect">
            <a:avLst/>
          </a:prstGeom>
          <a:noFill/>
        </p:spPr>
        <p:txBody>
          <a:bodyPr wrap="none" lIns="0" rIns="0" tIns="0" bIns="0">
            <a:spAutoFit/>
          </a:bodyPr>
          <a:lstStyle/>
          <a:p>
            <a:r>
              <a:rPr sz="1150" b="0">
                <a:solidFill>
                  <a:srgbClr val="2E2E2E"/>
                </a:solidFill>
                <a:latin typeface="Calibri"/>
              </a:rPr>
              <a:t>▪ 'PEEK-based Materials' holds the highest share of 'Acrylic Partial</a:t>
            </a:r>
          </a:p>
        </p:txBody>
      </p:sp>
      <p:sp>
        <p:nvSpPr>
          <p:cNvPr id="26" name="TextBox 25"/>
          <p:cNvSpPr txBox="1"/>
          <p:nvPr/>
        </p:nvSpPr>
        <p:spPr>
          <a:xfrm>
            <a:off x="7715250" y="4290060"/>
            <a:ext cx="806449" cy="194310"/>
          </a:xfrm>
          <a:prstGeom prst="rect">
            <a:avLst/>
          </a:prstGeom>
          <a:noFill/>
        </p:spPr>
        <p:txBody>
          <a:bodyPr wrap="none" lIns="0" rIns="0" tIns="0" bIns="0">
            <a:spAutoFit/>
          </a:bodyPr>
          <a:lstStyle/>
          <a:p>
            <a:r>
              <a:rPr sz="1150" b="0">
                <a:solidFill>
                  <a:srgbClr val="2E2E2E"/>
                </a:solidFill>
                <a:latin typeface="Calibri"/>
              </a:rPr>
              <a:t>Dentures' at</a:t>
            </a:r>
          </a:p>
        </p:txBody>
      </p:sp>
      <p:pic>
        <p:nvPicPr>
          <p:cNvPr id="27" name="Picture 26" descr="lock.png"/>
          <p:cNvPicPr>
            <a:picLocks noChangeAspect="1"/>
          </p:cNvPicPr>
          <p:nvPr/>
        </p:nvPicPr>
        <p:blipFill>
          <a:blip r:embed="rId5"/>
          <a:stretch>
            <a:fillRect/>
          </a:stretch>
        </p:blipFill>
        <p:spPr>
          <a:xfrm>
            <a:off x="8470853" y="4279836"/>
            <a:ext cx="134549" cy="195707"/>
          </a:xfrm>
          <a:prstGeom prst="rect">
            <a:avLst/>
          </a:prstGeom>
        </p:spPr>
      </p:pic>
      <p:sp>
        <p:nvSpPr>
          <p:cNvPr id="28" name="TextBox 27"/>
          <p:cNvSpPr txBox="1"/>
          <p:nvPr/>
        </p:nvSpPr>
        <p:spPr>
          <a:xfrm>
            <a:off x="8645963" y="42900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517897"/>
            <a:ext cx="3930265" cy="194310"/>
          </a:xfrm>
          <a:prstGeom prst="rect">
            <a:avLst/>
          </a:prstGeom>
          <a:noFill/>
        </p:spPr>
        <p:txBody>
          <a:bodyPr wrap="none" lIns="0" rIns="0" tIns="0" bIns="0">
            <a:spAutoFit/>
          </a:bodyPr>
          <a:lstStyle/>
          <a:p>
            <a:r>
              <a:rPr sz="1150" b="0">
                <a:solidFill>
                  <a:srgbClr val="2E2E2E"/>
                </a:solidFill>
                <a:latin typeface="Calibri"/>
              </a:rPr>
              <a:t>▪ 'Acrylic Partial Dentures' is the most concentrated product type</a:t>
            </a:r>
          </a:p>
        </p:txBody>
      </p:sp>
      <p:sp>
        <p:nvSpPr>
          <p:cNvPr id="30" name="TextBox 29"/>
          <p:cNvSpPr txBox="1"/>
          <p:nvPr/>
        </p:nvSpPr>
        <p:spPr>
          <a:xfrm>
            <a:off x="7715250" y="46931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682934"/>
            <a:ext cx="134549" cy="195707"/>
          </a:xfrm>
          <a:prstGeom prst="rect">
            <a:avLst/>
          </a:prstGeom>
        </p:spPr>
      </p:pic>
      <p:sp>
        <p:nvSpPr>
          <p:cNvPr id="32" name="TextBox 31"/>
          <p:cNvSpPr txBox="1"/>
          <p:nvPr/>
        </p:nvSpPr>
        <p:spPr>
          <a:xfrm>
            <a:off x="9018219" y="4693157"/>
            <a:ext cx="2346500" cy="194310"/>
          </a:xfrm>
          <a:prstGeom prst="rect">
            <a:avLst/>
          </a:prstGeom>
          <a:noFill/>
        </p:spPr>
        <p:txBody>
          <a:bodyPr wrap="none" lIns="0" rIns="0" tIns="0" bIns="0">
            <a:spAutoFit/>
          </a:bodyPr>
          <a:lstStyle/>
          <a:p>
            <a:r>
              <a:rPr sz="1150" b="0">
                <a:solidFill>
                  <a:srgbClr val="2E2E2E"/>
                </a:solidFill>
                <a:latin typeface="Calibri"/>
              </a:rPr>
              <a:t>of its value via 'PEEK-based Materials'.</a:t>
            </a:r>
          </a:p>
        </p:txBody>
      </p:sp>
      <p:sp>
        <p:nvSpPr>
          <p:cNvPr id="33" name="TextBox 32"/>
          <p:cNvSpPr txBox="1"/>
          <p:nvPr/>
        </p:nvSpPr>
        <p:spPr>
          <a:xfrm>
            <a:off x="7715250" y="4920995"/>
            <a:ext cx="2306885" cy="194310"/>
          </a:xfrm>
          <a:prstGeom prst="rect">
            <a:avLst/>
          </a:prstGeom>
          <a:noFill/>
        </p:spPr>
        <p:txBody>
          <a:bodyPr wrap="none" lIns="0" rIns="0" tIns="0" bIns="0">
            <a:spAutoFit/>
          </a:bodyPr>
          <a:lstStyle/>
          <a:p>
            <a:r>
              <a:rPr sz="1150" b="0">
                <a:solidFill>
                  <a:srgbClr val="2E2E2E"/>
                </a:solidFill>
                <a:latin typeface="Calibri"/>
              </a:rPr>
              <a:t>▪ 'Other Thermoplastic Resins' gains +</a:t>
            </a:r>
          </a:p>
        </p:txBody>
      </p:sp>
      <p:pic>
        <p:nvPicPr>
          <p:cNvPr id="34" name="Picture 33" descr="lock.png"/>
          <p:cNvPicPr>
            <a:picLocks noChangeAspect="1"/>
          </p:cNvPicPr>
          <p:nvPr/>
        </p:nvPicPr>
        <p:blipFill>
          <a:blip r:embed="rId5"/>
          <a:stretch>
            <a:fillRect/>
          </a:stretch>
        </p:blipFill>
        <p:spPr>
          <a:xfrm>
            <a:off x="9971289" y="4910772"/>
            <a:ext cx="134549" cy="195707"/>
          </a:xfrm>
          <a:prstGeom prst="rect">
            <a:avLst/>
          </a:prstGeom>
        </p:spPr>
      </p:pic>
      <p:sp>
        <p:nvSpPr>
          <p:cNvPr id="35" name="TextBox 34"/>
          <p:cNvSpPr txBox="1"/>
          <p:nvPr/>
        </p:nvSpPr>
        <p:spPr>
          <a:xfrm>
            <a:off x="10146398" y="4920995"/>
            <a:ext cx="1467383" cy="194310"/>
          </a:xfrm>
          <a:prstGeom prst="rect">
            <a:avLst/>
          </a:prstGeom>
          <a:noFill/>
        </p:spPr>
        <p:txBody>
          <a:bodyPr wrap="none" lIns="0" rIns="0" tIns="0" bIns="0">
            <a:spAutoFit/>
          </a:bodyPr>
          <a:lstStyle/>
          <a:p>
            <a:r>
              <a:rPr sz="1150" b="0">
                <a:solidFill>
                  <a:srgbClr val="2E2E2E"/>
                </a:solidFill>
                <a:latin typeface="Calibri"/>
              </a:rPr>
              <a:t>BPS of share of the U.S.</a:t>
            </a:r>
          </a:p>
        </p:txBody>
      </p:sp>
      <p:sp>
        <p:nvSpPr>
          <p:cNvPr id="36" name="TextBox 35"/>
          <p:cNvSpPr txBox="1"/>
          <p:nvPr/>
        </p:nvSpPr>
        <p:spPr>
          <a:xfrm>
            <a:off x="7715250" y="509625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7" name="lockshield_17"/>
          <p:cNvSpPr/>
          <p:nvPr/>
        </p:nvSpPr>
        <p:spPr>
          <a:xfrm>
            <a:off x="238125" y="3981450"/>
            <a:ext cx="70961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5600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8290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5334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'Cast Metal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749672" y="2276792"/>
            <a:ext cx="366712" cy="533400"/>
          </a:xfrm>
          <a:prstGeom prst="rect">
            <a:avLst/>
          </a:prstGeom>
        </p:spPr>
      </p:pic>
      <p:sp>
        <p:nvSpPr>
          <p:cNvPr id="33" name="TextBox 32"/>
          <p:cNvSpPr txBox="1"/>
          <p:nvPr/>
        </p:nvSpPr>
        <p:spPr>
          <a:xfrm>
            <a:off x="276225" y="3924300"/>
            <a:ext cx="3573127" cy="194310"/>
          </a:xfrm>
          <a:prstGeom prst="rect">
            <a:avLst/>
          </a:prstGeom>
          <a:noFill/>
        </p:spPr>
        <p:txBody>
          <a:bodyPr wrap="none" lIns="0" rIns="0" tIns="0" bIns="0">
            <a:spAutoFit/>
          </a:bodyPr>
          <a:lstStyle/>
          <a:p>
            <a:r>
              <a:rPr sz="1150" b="0">
                <a:solidFill>
                  <a:srgbClr val="2E2E2E"/>
                </a:solidFill>
                <a:latin typeface="Calibri"/>
              </a:rPr>
              <a:t>▪ 1. Cast Metal Partial Dentures × Flexible Thermoplastics –</a:t>
            </a:r>
          </a:p>
        </p:txBody>
      </p:sp>
      <p:pic>
        <p:nvPicPr>
          <p:cNvPr id="34" name="Picture 33" descr="lock.png"/>
          <p:cNvPicPr>
            <a:picLocks noChangeAspect="1"/>
          </p:cNvPicPr>
          <p:nvPr/>
        </p:nvPicPr>
        <p:blipFill>
          <a:blip r:embed="rId4"/>
          <a:stretch>
            <a:fillRect/>
          </a:stretch>
        </p:blipFill>
        <p:spPr>
          <a:xfrm>
            <a:off x="3798506" y="3914076"/>
            <a:ext cx="134549" cy="195707"/>
          </a:xfrm>
          <a:prstGeom prst="rect">
            <a:avLst/>
          </a:prstGeom>
        </p:spPr>
      </p:pic>
      <p:sp>
        <p:nvSpPr>
          <p:cNvPr id="35" name="TextBox 34"/>
          <p:cNvSpPr txBox="1"/>
          <p:nvPr/>
        </p:nvSpPr>
        <p:spPr>
          <a:xfrm>
            <a:off x="3973615" y="39243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4035767" y="3914076"/>
            <a:ext cx="134549" cy="195707"/>
          </a:xfrm>
          <a:prstGeom prst="rect">
            <a:avLst/>
          </a:prstGeom>
        </p:spPr>
      </p:pic>
      <p:sp>
        <p:nvSpPr>
          <p:cNvPr id="37" name="TextBox 36"/>
          <p:cNvSpPr txBox="1"/>
          <p:nvPr/>
        </p:nvSpPr>
        <p:spPr>
          <a:xfrm>
            <a:off x="4210876" y="39243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152137"/>
            <a:ext cx="3328665" cy="194310"/>
          </a:xfrm>
          <a:prstGeom prst="rect">
            <a:avLst/>
          </a:prstGeom>
          <a:noFill/>
        </p:spPr>
        <p:txBody>
          <a:bodyPr wrap="none" lIns="0" rIns="0" tIns="0" bIns="0">
            <a:spAutoFit/>
          </a:bodyPr>
          <a:lstStyle/>
          <a:p>
            <a:r>
              <a:rPr sz="1150" b="0">
                <a:solidFill>
                  <a:srgbClr val="2E2E2E"/>
                </a:solidFill>
                <a:latin typeface="Calibri"/>
              </a:rPr>
              <a:t>▪ 2. Acrylic Partial Dentures × Flexible Thermoplastics –</a:t>
            </a:r>
          </a:p>
        </p:txBody>
      </p:sp>
      <p:pic>
        <p:nvPicPr>
          <p:cNvPr id="39" name="Picture 38" descr="lock.png"/>
          <p:cNvPicPr>
            <a:picLocks noChangeAspect="1"/>
          </p:cNvPicPr>
          <p:nvPr/>
        </p:nvPicPr>
        <p:blipFill>
          <a:blip r:embed="rId4"/>
          <a:stretch>
            <a:fillRect/>
          </a:stretch>
        </p:blipFill>
        <p:spPr>
          <a:xfrm>
            <a:off x="3554043" y="4141914"/>
            <a:ext cx="134549" cy="195707"/>
          </a:xfrm>
          <a:prstGeom prst="rect">
            <a:avLst/>
          </a:prstGeom>
        </p:spPr>
      </p:pic>
      <p:sp>
        <p:nvSpPr>
          <p:cNvPr id="40" name="TextBox 39"/>
          <p:cNvSpPr txBox="1"/>
          <p:nvPr/>
        </p:nvSpPr>
        <p:spPr>
          <a:xfrm>
            <a:off x="3729153" y="41521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791304" y="4141914"/>
            <a:ext cx="134549" cy="195707"/>
          </a:xfrm>
          <a:prstGeom prst="rect">
            <a:avLst/>
          </a:prstGeom>
        </p:spPr>
      </p:pic>
      <p:sp>
        <p:nvSpPr>
          <p:cNvPr id="42" name="TextBox 41"/>
          <p:cNvSpPr txBox="1"/>
          <p:nvPr/>
        </p:nvSpPr>
        <p:spPr>
          <a:xfrm>
            <a:off x="3966414" y="41521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79975"/>
            <a:ext cx="4410347" cy="194310"/>
          </a:xfrm>
          <a:prstGeom prst="rect">
            <a:avLst/>
          </a:prstGeom>
          <a:noFill/>
        </p:spPr>
        <p:txBody>
          <a:bodyPr wrap="none" lIns="0" rIns="0" tIns="0" bIns="0">
            <a:spAutoFit/>
          </a:bodyPr>
          <a:lstStyle/>
          <a:p>
            <a:r>
              <a:rPr sz="1150" b="0">
                <a:solidFill>
                  <a:srgbClr val="2E2E2E"/>
                </a:solidFill>
                <a:latin typeface="Calibri"/>
              </a:rPr>
              <a:t>▪ 3. Combination Framework Partial Dentures × Flexible Thermoplastics –</a:t>
            </a:r>
          </a:p>
        </p:txBody>
      </p:sp>
      <p:pic>
        <p:nvPicPr>
          <p:cNvPr id="44" name="Picture 43" descr="lock.png"/>
          <p:cNvPicPr>
            <a:picLocks noChangeAspect="1"/>
          </p:cNvPicPr>
          <p:nvPr/>
        </p:nvPicPr>
        <p:blipFill>
          <a:blip r:embed="rId4"/>
          <a:stretch>
            <a:fillRect/>
          </a:stretch>
        </p:blipFill>
        <p:spPr>
          <a:xfrm>
            <a:off x="4635726" y="4369752"/>
            <a:ext cx="134549" cy="195707"/>
          </a:xfrm>
          <a:prstGeom prst="rect">
            <a:avLst/>
          </a:prstGeom>
        </p:spPr>
      </p:pic>
      <p:sp>
        <p:nvSpPr>
          <p:cNvPr id="45" name="TextBox 44"/>
          <p:cNvSpPr txBox="1"/>
          <p:nvPr/>
        </p:nvSpPr>
        <p:spPr>
          <a:xfrm>
            <a:off x="4810836" y="43799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872987" y="4369752"/>
            <a:ext cx="134549" cy="195707"/>
          </a:xfrm>
          <a:prstGeom prst="rect">
            <a:avLst/>
          </a:prstGeom>
        </p:spPr>
      </p:pic>
      <p:sp>
        <p:nvSpPr>
          <p:cNvPr id="47" name="TextBox 46"/>
          <p:cNvSpPr txBox="1"/>
          <p:nvPr/>
        </p:nvSpPr>
        <p:spPr>
          <a:xfrm>
            <a:off x="5048097" y="43799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607813"/>
            <a:ext cx="3389424" cy="194310"/>
          </a:xfrm>
          <a:prstGeom prst="rect">
            <a:avLst/>
          </a:prstGeom>
          <a:noFill/>
        </p:spPr>
        <p:txBody>
          <a:bodyPr wrap="none" lIns="0" rIns="0" tIns="0" bIns="0">
            <a:spAutoFit/>
          </a:bodyPr>
          <a:lstStyle/>
          <a:p>
            <a:r>
              <a:rPr sz="1150" b="0">
                <a:solidFill>
                  <a:srgbClr val="2E2E2E"/>
                </a:solidFill>
                <a:latin typeface="Calibri"/>
              </a:rPr>
              <a:t>▪ 4. Flexible Partial Dentures × Flexible Thermoplastics –</a:t>
            </a:r>
          </a:p>
        </p:txBody>
      </p:sp>
      <p:pic>
        <p:nvPicPr>
          <p:cNvPr id="49" name="Picture 48" descr="lock.png"/>
          <p:cNvPicPr>
            <a:picLocks noChangeAspect="1"/>
          </p:cNvPicPr>
          <p:nvPr/>
        </p:nvPicPr>
        <p:blipFill>
          <a:blip r:embed="rId4"/>
          <a:stretch>
            <a:fillRect/>
          </a:stretch>
        </p:blipFill>
        <p:spPr>
          <a:xfrm>
            <a:off x="3614803" y="4597590"/>
            <a:ext cx="134549" cy="195707"/>
          </a:xfrm>
          <a:prstGeom prst="rect">
            <a:avLst/>
          </a:prstGeom>
        </p:spPr>
      </p:pic>
      <p:sp>
        <p:nvSpPr>
          <p:cNvPr id="50" name="TextBox 49"/>
          <p:cNvSpPr txBox="1"/>
          <p:nvPr/>
        </p:nvSpPr>
        <p:spPr>
          <a:xfrm>
            <a:off x="3789912" y="46078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852064" y="4597590"/>
            <a:ext cx="134549" cy="195707"/>
          </a:xfrm>
          <a:prstGeom prst="rect">
            <a:avLst/>
          </a:prstGeom>
        </p:spPr>
      </p:pic>
      <p:sp>
        <p:nvSpPr>
          <p:cNvPr id="52" name="TextBox 51"/>
          <p:cNvSpPr txBox="1"/>
          <p:nvPr/>
        </p:nvSpPr>
        <p:spPr>
          <a:xfrm>
            <a:off x="4027173" y="46078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3" name="TextBox 52"/>
          <p:cNvSpPr txBox="1"/>
          <p:nvPr/>
        </p:nvSpPr>
        <p:spPr>
          <a:xfrm>
            <a:off x="276225" y="4835651"/>
            <a:ext cx="3850964" cy="194310"/>
          </a:xfrm>
          <a:prstGeom prst="rect">
            <a:avLst/>
          </a:prstGeom>
          <a:noFill/>
        </p:spPr>
        <p:txBody>
          <a:bodyPr wrap="none" lIns="0" rIns="0" tIns="0" bIns="0">
            <a:spAutoFit/>
          </a:bodyPr>
          <a:lstStyle/>
          <a:p>
            <a:r>
              <a:rPr sz="1150" b="0">
                <a:solidFill>
                  <a:srgbClr val="2E2E2E"/>
                </a:solidFill>
                <a:latin typeface="Calibri"/>
              </a:rPr>
              <a:t>▪ 5. Cast Metal Partial Dentures × High-performance Polymers –</a:t>
            </a:r>
          </a:p>
        </p:txBody>
      </p:sp>
      <p:pic>
        <p:nvPicPr>
          <p:cNvPr id="54" name="Picture 53" descr="lock.png"/>
          <p:cNvPicPr>
            <a:picLocks noChangeAspect="1"/>
          </p:cNvPicPr>
          <p:nvPr/>
        </p:nvPicPr>
        <p:blipFill>
          <a:blip r:embed="rId4"/>
          <a:stretch>
            <a:fillRect/>
          </a:stretch>
        </p:blipFill>
        <p:spPr>
          <a:xfrm>
            <a:off x="4076343" y="4825428"/>
            <a:ext cx="134549" cy="195707"/>
          </a:xfrm>
          <a:prstGeom prst="rect">
            <a:avLst/>
          </a:prstGeom>
        </p:spPr>
      </p:pic>
      <p:sp>
        <p:nvSpPr>
          <p:cNvPr id="55" name="TextBox 54"/>
          <p:cNvSpPr txBox="1"/>
          <p:nvPr/>
        </p:nvSpPr>
        <p:spPr>
          <a:xfrm>
            <a:off x="4251453" y="48356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313604" y="4825428"/>
            <a:ext cx="134549" cy="195707"/>
          </a:xfrm>
          <a:prstGeom prst="rect">
            <a:avLst/>
          </a:prstGeom>
        </p:spPr>
      </p:pic>
      <p:sp>
        <p:nvSpPr>
          <p:cNvPr id="57" name="TextBox 56"/>
          <p:cNvSpPr txBox="1"/>
          <p:nvPr/>
        </p:nvSpPr>
        <p:spPr>
          <a:xfrm>
            <a:off x="4488714" y="48356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924300"/>
            <a:ext cx="1246311" cy="194310"/>
          </a:xfrm>
          <a:prstGeom prst="rect">
            <a:avLst/>
          </a:prstGeom>
          <a:noFill/>
        </p:spPr>
        <p:txBody>
          <a:bodyPr wrap="none" lIns="0" rIns="0" tIns="0" bIns="0">
            <a:spAutoFit/>
          </a:bodyPr>
          <a:lstStyle/>
          <a:p>
            <a:r>
              <a:rPr sz="1150" b="0">
                <a:solidFill>
                  <a:srgbClr val="2E2E2E"/>
                </a:solidFill>
                <a:latin typeface="Calibri"/>
              </a:rPr>
              <a:t>▪ 'Cast Metal Partial</a:t>
            </a:r>
          </a:p>
        </p:txBody>
      </p:sp>
      <p:sp>
        <p:nvSpPr>
          <p:cNvPr id="59" name="TextBox 58"/>
          <p:cNvSpPr txBox="1"/>
          <p:nvPr/>
        </p:nvSpPr>
        <p:spPr>
          <a:xfrm>
            <a:off x="6029325" y="4099560"/>
            <a:ext cx="1214648" cy="194310"/>
          </a:xfrm>
          <a:prstGeom prst="rect">
            <a:avLst/>
          </a:prstGeom>
          <a:noFill/>
        </p:spPr>
        <p:txBody>
          <a:bodyPr wrap="none" lIns="0" rIns="0" tIns="0" bIns="0">
            <a:spAutoFit/>
          </a:bodyPr>
          <a:lstStyle/>
          <a:p>
            <a:r>
              <a:rPr sz="1150" b="0">
                <a:solidFill>
                  <a:srgbClr val="2E2E2E"/>
                </a:solidFill>
                <a:latin typeface="Calibri"/>
              </a:rPr>
              <a:t>Dentures × Flexible</a:t>
            </a:r>
          </a:p>
        </p:txBody>
      </p:sp>
      <p:sp>
        <p:nvSpPr>
          <p:cNvPr id="60" name="TextBox 59"/>
          <p:cNvSpPr txBox="1"/>
          <p:nvPr/>
        </p:nvSpPr>
        <p:spPr>
          <a:xfrm>
            <a:off x="6029325" y="4274820"/>
            <a:ext cx="1326467" cy="194310"/>
          </a:xfrm>
          <a:prstGeom prst="rect">
            <a:avLst/>
          </a:prstGeom>
          <a:noFill/>
        </p:spPr>
        <p:txBody>
          <a:bodyPr wrap="none" lIns="0" rIns="0" tIns="0" bIns="0">
            <a:spAutoFit/>
          </a:bodyPr>
          <a:lstStyle/>
          <a:p>
            <a:r>
              <a:rPr sz="1150" b="0">
                <a:solidFill>
                  <a:srgbClr val="2E2E2E"/>
                </a:solidFill>
                <a:latin typeface="Calibri"/>
              </a:rPr>
              <a:t>Thermoplastics' adds</a:t>
            </a:r>
          </a:p>
        </p:txBody>
      </p:sp>
      <p:pic>
        <p:nvPicPr>
          <p:cNvPr id="61" name="Picture 60" descr="lock.png"/>
          <p:cNvPicPr>
            <a:picLocks noChangeAspect="1"/>
          </p:cNvPicPr>
          <p:nvPr/>
        </p:nvPicPr>
        <p:blipFill>
          <a:blip r:embed="rId4"/>
          <a:stretch>
            <a:fillRect/>
          </a:stretch>
        </p:blipFill>
        <p:spPr>
          <a:xfrm>
            <a:off x="7304946" y="4264596"/>
            <a:ext cx="134549" cy="195707"/>
          </a:xfrm>
          <a:prstGeom prst="rect">
            <a:avLst/>
          </a:prstGeom>
        </p:spPr>
      </p:pic>
      <p:sp>
        <p:nvSpPr>
          <p:cNvPr id="62" name="TextBox 61"/>
          <p:cNvSpPr txBox="1"/>
          <p:nvPr/>
        </p:nvSpPr>
        <p:spPr>
          <a:xfrm>
            <a:off x="6029325" y="4450079"/>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63" name="Picture 62" descr="lock.png"/>
          <p:cNvPicPr>
            <a:picLocks noChangeAspect="1"/>
          </p:cNvPicPr>
          <p:nvPr/>
        </p:nvPicPr>
        <p:blipFill>
          <a:blip r:embed="rId4"/>
          <a:stretch>
            <a:fillRect/>
          </a:stretch>
        </p:blipFill>
        <p:spPr>
          <a:xfrm>
            <a:off x="7203111" y="4439856"/>
            <a:ext cx="134549" cy="195707"/>
          </a:xfrm>
          <a:prstGeom prst="rect">
            <a:avLst/>
          </a:prstGeom>
        </p:spPr>
      </p:pic>
      <p:sp>
        <p:nvSpPr>
          <p:cNvPr id="64" name="TextBox 63"/>
          <p:cNvSpPr txBox="1"/>
          <p:nvPr/>
        </p:nvSpPr>
        <p:spPr>
          <a:xfrm>
            <a:off x="7378220" y="4450079"/>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65" name="TextBox 64"/>
          <p:cNvSpPr txBox="1"/>
          <p:nvPr/>
        </p:nvSpPr>
        <p:spPr>
          <a:xfrm>
            <a:off x="6029325" y="4625339"/>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66" name="TextBox 65"/>
          <p:cNvSpPr txBox="1"/>
          <p:nvPr/>
        </p:nvSpPr>
        <p:spPr>
          <a:xfrm>
            <a:off x="8124825" y="3924300"/>
            <a:ext cx="1246311" cy="194310"/>
          </a:xfrm>
          <a:prstGeom prst="rect">
            <a:avLst/>
          </a:prstGeom>
          <a:noFill/>
        </p:spPr>
        <p:txBody>
          <a:bodyPr wrap="none" lIns="0" rIns="0" tIns="0" bIns="0">
            <a:spAutoFit/>
          </a:bodyPr>
          <a:lstStyle/>
          <a:p>
            <a:r>
              <a:rPr sz="1150" b="0">
                <a:solidFill>
                  <a:srgbClr val="2E2E2E"/>
                </a:solidFill>
                <a:latin typeface="Calibri"/>
              </a:rPr>
              <a:t>▪ 'Cast Metal Partial</a:t>
            </a:r>
          </a:p>
        </p:txBody>
      </p:sp>
      <p:sp>
        <p:nvSpPr>
          <p:cNvPr id="67" name="TextBox 66"/>
          <p:cNvSpPr txBox="1"/>
          <p:nvPr/>
        </p:nvSpPr>
        <p:spPr>
          <a:xfrm>
            <a:off x="8124825" y="4099560"/>
            <a:ext cx="1214648" cy="194310"/>
          </a:xfrm>
          <a:prstGeom prst="rect">
            <a:avLst/>
          </a:prstGeom>
          <a:noFill/>
        </p:spPr>
        <p:txBody>
          <a:bodyPr wrap="none" lIns="0" rIns="0" tIns="0" bIns="0">
            <a:spAutoFit/>
          </a:bodyPr>
          <a:lstStyle/>
          <a:p>
            <a:r>
              <a:rPr sz="1150" b="0">
                <a:solidFill>
                  <a:srgbClr val="2E2E2E"/>
                </a:solidFill>
                <a:latin typeface="Calibri"/>
              </a:rPr>
              <a:t>Dentures × Flexible</a:t>
            </a:r>
          </a:p>
        </p:txBody>
      </p:sp>
      <p:sp>
        <p:nvSpPr>
          <p:cNvPr id="68" name="TextBox 67"/>
          <p:cNvSpPr txBox="1"/>
          <p:nvPr/>
        </p:nvSpPr>
        <p:spPr>
          <a:xfrm>
            <a:off x="8124825" y="4274820"/>
            <a:ext cx="1657350" cy="194310"/>
          </a:xfrm>
          <a:prstGeom prst="rect">
            <a:avLst/>
          </a:prstGeom>
          <a:noFill/>
        </p:spPr>
        <p:txBody>
          <a:bodyPr wrap="none" lIns="0" rIns="0" tIns="0" bIns="0">
            <a:spAutoFit/>
          </a:bodyPr>
          <a:lstStyle/>
          <a:p>
            <a:r>
              <a:rPr sz="1150" b="0">
                <a:solidFill>
                  <a:srgbClr val="2E2E2E"/>
                </a:solidFill>
                <a:latin typeface="Calibri"/>
              </a:rPr>
              <a:t>Thermoplastics' grows at a</a:t>
            </a:r>
          </a:p>
        </p:txBody>
      </p:sp>
      <p:pic>
        <p:nvPicPr>
          <p:cNvPr id="69" name="Picture 68" descr="lock.png"/>
          <p:cNvPicPr>
            <a:picLocks noChangeAspect="1"/>
          </p:cNvPicPr>
          <p:nvPr/>
        </p:nvPicPr>
        <p:blipFill>
          <a:blip r:embed="rId4"/>
          <a:stretch>
            <a:fillRect/>
          </a:stretch>
        </p:blipFill>
        <p:spPr>
          <a:xfrm>
            <a:off x="8110745" y="4439856"/>
            <a:ext cx="134549" cy="195707"/>
          </a:xfrm>
          <a:prstGeom prst="rect">
            <a:avLst/>
          </a:prstGeom>
        </p:spPr>
      </p:pic>
      <p:sp>
        <p:nvSpPr>
          <p:cNvPr id="70" name="TextBox 69"/>
          <p:cNvSpPr txBox="1"/>
          <p:nvPr/>
        </p:nvSpPr>
        <p:spPr>
          <a:xfrm>
            <a:off x="8285854" y="445007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1" name="Picture 70" descr="lock.png"/>
          <p:cNvPicPr>
            <a:picLocks noChangeAspect="1"/>
          </p:cNvPicPr>
          <p:nvPr/>
        </p:nvPicPr>
        <p:blipFill>
          <a:blip r:embed="rId4"/>
          <a:stretch>
            <a:fillRect/>
          </a:stretch>
        </p:blipFill>
        <p:spPr>
          <a:xfrm>
            <a:off x="8681450" y="4439856"/>
            <a:ext cx="134549" cy="195707"/>
          </a:xfrm>
          <a:prstGeom prst="rect">
            <a:avLst/>
          </a:prstGeom>
        </p:spPr>
      </p:pic>
      <p:sp>
        <p:nvSpPr>
          <p:cNvPr id="72" name="TextBox 71"/>
          <p:cNvSpPr txBox="1"/>
          <p:nvPr/>
        </p:nvSpPr>
        <p:spPr>
          <a:xfrm>
            <a:off x="8856559" y="4450079"/>
            <a:ext cx="693774" cy="194310"/>
          </a:xfrm>
          <a:prstGeom prst="rect">
            <a:avLst/>
          </a:prstGeom>
          <a:noFill/>
        </p:spPr>
        <p:txBody>
          <a:bodyPr wrap="none" lIns="0" rIns="0" tIns="0" bIns="0">
            <a:spAutoFit/>
          </a:bodyPr>
          <a:lstStyle/>
          <a:p>
            <a:r>
              <a:rPr sz="1150" b="0">
                <a:solidFill>
                  <a:srgbClr val="2E2E2E"/>
                </a:solidFill>
                <a:latin typeface="Calibri"/>
              </a:rPr>
              <a:t>BPS above</a:t>
            </a:r>
          </a:p>
        </p:txBody>
      </p:sp>
      <p:sp>
        <p:nvSpPr>
          <p:cNvPr id="73" name="TextBox 72"/>
          <p:cNvSpPr txBox="1"/>
          <p:nvPr/>
        </p:nvSpPr>
        <p:spPr>
          <a:xfrm>
            <a:off x="8124825" y="4625339"/>
            <a:ext cx="1121655" cy="194310"/>
          </a:xfrm>
          <a:prstGeom prst="rect">
            <a:avLst/>
          </a:prstGeom>
          <a:noFill/>
        </p:spPr>
        <p:txBody>
          <a:bodyPr wrap="none" lIns="0" rIns="0" tIns="0" bIns="0">
            <a:spAutoFit/>
          </a:bodyPr>
          <a:lstStyle/>
          <a:p>
            <a:r>
              <a:rPr sz="1150" b="0">
                <a:solidFill>
                  <a:srgbClr val="2E2E2E"/>
                </a:solidFill>
                <a:latin typeface="Calibri"/>
              </a:rPr>
              <a:t>the cross-section.</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x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Product Type × Technology, 2026E and 2036F (US$ Mn)</a:t>
            </a:r>
          </a:p>
        </p:txBody>
      </p:sp>
      <p:graphicFrame>
        <p:nvGraphicFramePr>
          <p:cNvPr id="13" name="Table 12"/>
          <p:cNvGraphicFramePr>
            <a:graphicFrameLocks noGrp="1"/>
          </p:cNvGraphicFramePr>
          <p:nvPr/>
        </p:nvGraphicFramePr>
        <p:xfrm>
          <a:off x="152400" y="1238250"/>
          <a:ext cx="11887202" cy="1724028"/>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762089" y="2079785"/>
            <a:ext cx="366712" cy="533400"/>
          </a:xfrm>
          <a:prstGeom prst="rect">
            <a:avLst/>
          </a:prstGeom>
        </p:spPr>
      </p:pic>
      <p:sp>
        <p:nvSpPr>
          <p:cNvPr id="21" name="TextBox 20"/>
          <p:cNvSpPr txBox="1"/>
          <p:nvPr/>
        </p:nvSpPr>
        <p:spPr>
          <a:xfrm>
            <a:off x="276225" y="3724275"/>
            <a:ext cx="9722916"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U.S. removable partial dentures market, led by conventional fabrication at US$</a:t>
            </a:r>
          </a:p>
        </p:txBody>
      </p:sp>
      <p:pic>
        <p:nvPicPr>
          <p:cNvPr id="22" name="Picture 21" descr="lock.png"/>
          <p:cNvPicPr>
            <a:picLocks noChangeAspect="1"/>
          </p:cNvPicPr>
          <p:nvPr/>
        </p:nvPicPr>
        <p:blipFill>
          <a:blip r:embed="rId4"/>
          <a:stretch>
            <a:fillRect/>
          </a:stretch>
        </p:blipFill>
        <p:spPr>
          <a:xfrm>
            <a:off x="9948295" y="3714051"/>
            <a:ext cx="134549" cy="195707"/>
          </a:xfrm>
          <a:prstGeom prst="rect">
            <a:avLst/>
          </a:prstGeom>
        </p:spPr>
      </p:pic>
      <p:sp>
        <p:nvSpPr>
          <p:cNvPr id="23" name="TextBox 22"/>
          <p:cNvSpPr txBox="1"/>
          <p:nvPr/>
        </p:nvSpPr>
        <p:spPr>
          <a:xfrm>
            <a:off x="10123404" y="3724275"/>
            <a:ext cx="1490488" cy="194310"/>
          </a:xfrm>
          <a:prstGeom prst="rect">
            <a:avLst/>
          </a:prstGeom>
          <a:noFill/>
        </p:spPr>
        <p:txBody>
          <a:bodyPr wrap="none" lIns="0" rIns="0" tIns="0" bIns="0">
            <a:spAutoFit/>
          </a:bodyPr>
          <a:lstStyle/>
          <a:p>
            <a:r>
              <a:rPr sz="1150" b="0">
                <a:solidFill>
                  <a:srgbClr val="2E2E2E"/>
                </a:solidFill>
                <a:latin typeface="Calibri"/>
              </a:rPr>
              <a:t>Mn in 2036. 'Cast Metal</a:t>
            </a:r>
          </a:p>
        </p:txBody>
      </p:sp>
      <p:sp>
        <p:nvSpPr>
          <p:cNvPr id="24" name="TextBox 23"/>
          <p:cNvSpPr txBox="1"/>
          <p:nvPr/>
        </p:nvSpPr>
        <p:spPr>
          <a:xfrm>
            <a:off x="276225" y="3899535"/>
            <a:ext cx="5088333" cy="194310"/>
          </a:xfrm>
          <a:prstGeom prst="rect">
            <a:avLst/>
          </a:prstGeom>
          <a:noFill/>
        </p:spPr>
        <p:txBody>
          <a:bodyPr wrap="none" lIns="0" rIns="0" tIns="0" bIns="0">
            <a:spAutoFit/>
          </a:bodyPr>
          <a:lstStyle/>
          <a:p>
            <a:r>
              <a:rPr sz="1150" b="0">
                <a:solidFill>
                  <a:srgbClr val="2E2E2E"/>
                </a:solidFill>
                <a:latin typeface="Calibri"/>
              </a:rPr>
              <a:t>Partial Dentures × Conventional Fabrication' is the single largest cross-sectional cell (</a:t>
            </a:r>
          </a:p>
        </p:txBody>
      </p:sp>
      <p:pic>
        <p:nvPicPr>
          <p:cNvPr id="25" name="Picture 24" descr="lock.png"/>
          <p:cNvPicPr>
            <a:picLocks noChangeAspect="1"/>
          </p:cNvPicPr>
          <p:nvPr/>
        </p:nvPicPr>
        <p:blipFill>
          <a:blip r:embed="rId4"/>
          <a:stretch>
            <a:fillRect/>
          </a:stretch>
        </p:blipFill>
        <p:spPr>
          <a:xfrm>
            <a:off x="5313712" y="3889311"/>
            <a:ext cx="134549" cy="195707"/>
          </a:xfrm>
          <a:prstGeom prst="rect">
            <a:avLst/>
          </a:prstGeom>
        </p:spPr>
      </p:pic>
      <p:sp>
        <p:nvSpPr>
          <p:cNvPr id="26" name="TextBox 25"/>
          <p:cNvSpPr txBox="1"/>
          <p:nvPr/>
        </p:nvSpPr>
        <p:spPr>
          <a:xfrm>
            <a:off x="5488822" y="3899535"/>
            <a:ext cx="6389377"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Conventional Fabrication' records the fastest growth at a</a:t>
            </a:r>
          </a:p>
        </p:txBody>
      </p:sp>
      <p:sp>
        <p:nvSpPr>
          <p:cNvPr id="27" name="TextBox 26"/>
          <p:cNvSpPr txBox="1"/>
          <p:nvPr/>
        </p:nvSpPr>
        <p:spPr>
          <a:xfrm>
            <a:off x="276225" y="4074794"/>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28" name="Picture 27" descr="lock.png"/>
          <p:cNvPicPr>
            <a:picLocks noChangeAspect="1"/>
          </p:cNvPicPr>
          <p:nvPr/>
        </p:nvPicPr>
        <p:blipFill>
          <a:blip r:embed="rId4"/>
          <a:stretch>
            <a:fillRect/>
          </a:stretch>
        </p:blipFill>
        <p:spPr>
          <a:xfrm>
            <a:off x="789915" y="4064571"/>
            <a:ext cx="134549" cy="195707"/>
          </a:xfrm>
          <a:prstGeom prst="rect">
            <a:avLst/>
          </a:prstGeom>
        </p:spPr>
      </p:pic>
      <p:sp>
        <p:nvSpPr>
          <p:cNvPr id="29" name="TextBox 28"/>
          <p:cNvSpPr txBox="1"/>
          <p:nvPr/>
        </p:nvSpPr>
        <p:spPr>
          <a:xfrm>
            <a:off x="965025" y="4074794"/>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302632"/>
            <a:ext cx="5732214" cy="194310"/>
          </a:xfrm>
          <a:prstGeom prst="rect">
            <a:avLst/>
          </a:prstGeom>
          <a:noFill/>
        </p:spPr>
        <p:txBody>
          <a:bodyPr wrap="none" lIns="0" rIns="0" tIns="0" bIns="0">
            <a:spAutoFit/>
          </a:bodyPr>
          <a:lstStyle/>
          <a:p>
            <a:r>
              <a:rPr sz="1150" b="0">
                <a:solidFill>
                  <a:srgbClr val="2E2E2E"/>
                </a:solidFill>
                <a:latin typeface="Calibri"/>
              </a:rPr>
              <a:t>Combined, the top three product type × technology cells generate an absolute $ opportunity of</a:t>
            </a:r>
          </a:p>
        </p:txBody>
      </p:sp>
      <p:pic>
        <p:nvPicPr>
          <p:cNvPr id="31" name="Picture 30" descr="lock.png"/>
          <p:cNvPicPr>
            <a:picLocks noChangeAspect="1"/>
          </p:cNvPicPr>
          <p:nvPr/>
        </p:nvPicPr>
        <p:blipFill>
          <a:blip r:embed="rId4"/>
          <a:stretch>
            <a:fillRect/>
          </a:stretch>
        </p:blipFill>
        <p:spPr>
          <a:xfrm>
            <a:off x="5957593" y="4292409"/>
            <a:ext cx="134549" cy="195707"/>
          </a:xfrm>
          <a:prstGeom prst="rect">
            <a:avLst/>
          </a:prstGeom>
        </p:spPr>
      </p:pic>
      <p:sp>
        <p:nvSpPr>
          <p:cNvPr id="32" name="TextBox 31"/>
          <p:cNvSpPr txBox="1"/>
          <p:nvPr/>
        </p:nvSpPr>
        <p:spPr>
          <a:xfrm>
            <a:off x="6132702" y="43026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Product Type × Technology, 2026E (% of each row)</a:t>
            </a:r>
          </a:p>
        </p:txBody>
      </p:sp>
      <p:graphicFrame>
        <p:nvGraphicFramePr>
          <p:cNvPr id="13" name="Table 12"/>
          <p:cNvGraphicFramePr>
            <a:graphicFrameLocks noGrp="1"/>
          </p:cNvGraphicFramePr>
          <p:nvPr/>
        </p:nvGraphicFramePr>
        <p:xfrm>
          <a:off x="152400" y="1238250"/>
          <a:ext cx="11887200" cy="1924050"/>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309">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7286625"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623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790950"/>
          <a:ext cx="7096125" cy="27813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505200"/>
            <a:ext cx="4457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5909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8290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914775"/>
            <a:ext cx="4191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1" y="2276792"/>
            <a:ext cx="366712" cy="533400"/>
          </a:xfrm>
          <a:prstGeom prst="rect">
            <a:avLst/>
          </a:prstGeom>
        </p:spPr>
      </p:pic>
      <p:pic>
        <p:nvPicPr>
          <p:cNvPr id="24" name="Picture 23" descr="lock.png"/>
          <p:cNvPicPr>
            <a:picLocks noChangeAspect="1"/>
          </p:cNvPicPr>
          <p:nvPr/>
        </p:nvPicPr>
        <p:blipFill>
          <a:blip r:embed="rId5"/>
          <a:stretch>
            <a:fillRect/>
          </a:stretch>
        </p:blipFill>
        <p:spPr>
          <a:xfrm>
            <a:off x="3747745" y="4372085"/>
            <a:ext cx="365513" cy="531655"/>
          </a:xfrm>
          <a:prstGeom prst="rect">
            <a:avLst/>
          </a:prstGeom>
        </p:spPr>
      </p:pic>
      <p:sp>
        <p:nvSpPr>
          <p:cNvPr id="25" name="TextBox 24"/>
          <p:cNvSpPr txBox="1"/>
          <p:nvPr/>
        </p:nvSpPr>
        <p:spPr>
          <a:xfrm>
            <a:off x="7715250" y="3924300"/>
            <a:ext cx="4021832" cy="194310"/>
          </a:xfrm>
          <a:prstGeom prst="rect">
            <a:avLst/>
          </a:prstGeom>
          <a:noFill/>
        </p:spPr>
        <p:txBody>
          <a:bodyPr wrap="none" lIns="0" rIns="0" tIns="0" bIns="0">
            <a:spAutoFit/>
          </a:bodyPr>
          <a:lstStyle/>
          <a:p>
            <a:r>
              <a:rPr sz="1150" b="0">
                <a:solidFill>
                  <a:srgbClr val="2E2E2E"/>
                </a:solidFill>
                <a:latin typeface="Calibri"/>
              </a:rPr>
              <a:t>▪ 'Heat-cured / Compression Processing' holds the highest share of</a:t>
            </a:r>
          </a:p>
        </p:txBody>
      </p:sp>
      <p:sp>
        <p:nvSpPr>
          <p:cNvPr id="26" name="TextBox 25"/>
          <p:cNvSpPr txBox="1"/>
          <p:nvPr/>
        </p:nvSpPr>
        <p:spPr>
          <a:xfrm>
            <a:off x="7715250" y="4099560"/>
            <a:ext cx="1924930" cy="194310"/>
          </a:xfrm>
          <a:prstGeom prst="rect">
            <a:avLst/>
          </a:prstGeom>
          <a:noFill/>
        </p:spPr>
        <p:txBody>
          <a:bodyPr wrap="none" lIns="0" rIns="0" tIns="0" bIns="0">
            <a:spAutoFit/>
          </a:bodyPr>
          <a:lstStyle/>
          <a:p>
            <a:r>
              <a:rPr sz="1150" b="0">
                <a:solidFill>
                  <a:srgbClr val="2E2E2E"/>
                </a:solidFill>
                <a:latin typeface="Calibri"/>
              </a:rPr>
              <a:t>'Cast Metal Partial Dentures' at</a:t>
            </a:r>
          </a:p>
        </p:txBody>
      </p:sp>
      <p:pic>
        <p:nvPicPr>
          <p:cNvPr id="27" name="Picture 26" descr="lock.png"/>
          <p:cNvPicPr>
            <a:picLocks noChangeAspect="1"/>
          </p:cNvPicPr>
          <p:nvPr/>
        </p:nvPicPr>
        <p:blipFill>
          <a:blip r:embed="rId5"/>
          <a:stretch>
            <a:fillRect/>
          </a:stretch>
        </p:blipFill>
        <p:spPr>
          <a:xfrm>
            <a:off x="9589334" y="4089336"/>
            <a:ext cx="134549" cy="195707"/>
          </a:xfrm>
          <a:prstGeom prst="rect">
            <a:avLst/>
          </a:prstGeom>
        </p:spPr>
      </p:pic>
      <p:sp>
        <p:nvSpPr>
          <p:cNvPr id="28" name="TextBox 27"/>
          <p:cNvSpPr txBox="1"/>
          <p:nvPr/>
        </p:nvSpPr>
        <p:spPr>
          <a:xfrm>
            <a:off x="9764443" y="40995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327397"/>
            <a:ext cx="4171950" cy="194310"/>
          </a:xfrm>
          <a:prstGeom prst="rect">
            <a:avLst/>
          </a:prstGeom>
          <a:noFill/>
        </p:spPr>
        <p:txBody>
          <a:bodyPr wrap="none" lIns="0" rIns="0" tIns="0" bIns="0">
            <a:spAutoFit/>
          </a:bodyPr>
          <a:lstStyle/>
          <a:p>
            <a:r>
              <a:rPr sz="1150" b="0">
                <a:solidFill>
                  <a:srgbClr val="2E2E2E"/>
                </a:solidFill>
                <a:latin typeface="Calibri"/>
              </a:rPr>
              <a:t>▪ 'Cast Metal Partial Dentures' is the most concentrated product type</a:t>
            </a:r>
          </a:p>
        </p:txBody>
      </p:sp>
      <p:sp>
        <p:nvSpPr>
          <p:cNvPr id="30" name="TextBox 29"/>
          <p:cNvSpPr txBox="1"/>
          <p:nvPr/>
        </p:nvSpPr>
        <p:spPr>
          <a:xfrm>
            <a:off x="7715250" y="45026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492434"/>
            <a:ext cx="134549" cy="195707"/>
          </a:xfrm>
          <a:prstGeom prst="rect">
            <a:avLst/>
          </a:prstGeom>
        </p:spPr>
      </p:pic>
      <p:sp>
        <p:nvSpPr>
          <p:cNvPr id="32" name="TextBox 31"/>
          <p:cNvSpPr txBox="1"/>
          <p:nvPr/>
        </p:nvSpPr>
        <p:spPr>
          <a:xfrm>
            <a:off x="9018219" y="4502657"/>
            <a:ext cx="2553344" cy="194310"/>
          </a:xfrm>
          <a:prstGeom prst="rect">
            <a:avLst/>
          </a:prstGeom>
          <a:noFill/>
        </p:spPr>
        <p:txBody>
          <a:bodyPr wrap="none" lIns="0" rIns="0" tIns="0" bIns="0">
            <a:spAutoFit/>
          </a:bodyPr>
          <a:lstStyle/>
          <a:p>
            <a:r>
              <a:rPr sz="1150" b="0">
                <a:solidFill>
                  <a:srgbClr val="2E2E2E"/>
                </a:solidFill>
                <a:latin typeface="Calibri"/>
              </a:rPr>
              <a:t>of its value via 'Heat-cured / Compression</a:t>
            </a:r>
          </a:p>
        </p:txBody>
      </p:sp>
      <p:sp>
        <p:nvSpPr>
          <p:cNvPr id="33" name="TextBox 32"/>
          <p:cNvSpPr txBox="1"/>
          <p:nvPr/>
        </p:nvSpPr>
        <p:spPr>
          <a:xfrm>
            <a:off x="7715250" y="4677917"/>
            <a:ext cx="776783" cy="194310"/>
          </a:xfrm>
          <a:prstGeom prst="rect">
            <a:avLst/>
          </a:prstGeom>
          <a:noFill/>
        </p:spPr>
        <p:txBody>
          <a:bodyPr wrap="none" lIns="0" rIns="0" tIns="0" bIns="0">
            <a:spAutoFit/>
          </a:bodyPr>
          <a:lstStyle/>
          <a:p>
            <a:r>
              <a:rPr sz="1150" b="0">
                <a:solidFill>
                  <a:srgbClr val="2E2E2E"/>
                </a:solidFill>
                <a:latin typeface="Calibri"/>
              </a:rPr>
              <a:t>Processing'.</a:t>
            </a:r>
          </a:p>
        </p:txBody>
      </p:sp>
      <p:sp>
        <p:nvSpPr>
          <p:cNvPr id="34" name="TextBox 33"/>
          <p:cNvSpPr txBox="1"/>
          <p:nvPr/>
        </p:nvSpPr>
        <p:spPr>
          <a:xfrm>
            <a:off x="7715250" y="4905755"/>
            <a:ext cx="1486780" cy="194310"/>
          </a:xfrm>
          <a:prstGeom prst="rect">
            <a:avLst/>
          </a:prstGeom>
          <a:noFill/>
        </p:spPr>
        <p:txBody>
          <a:bodyPr wrap="none" lIns="0" rIns="0" tIns="0" bIns="0">
            <a:spAutoFit/>
          </a:bodyPr>
          <a:lstStyle/>
          <a:p>
            <a:r>
              <a:rPr sz="1150" b="0">
                <a:solidFill>
                  <a:srgbClr val="2E2E2E"/>
                </a:solidFill>
                <a:latin typeface="Calibri"/>
              </a:rPr>
              <a:t>▪ 'Metal Casting' gains +</a:t>
            </a:r>
          </a:p>
        </p:txBody>
      </p:sp>
      <p:pic>
        <p:nvPicPr>
          <p:cNvPr id="35" name="Picture 34" descr="lock.png"/>
          <p:cNvPicPr>
            <a:picLocks noChangeAspect="1"/>
          </p:cNvPicPr>
          <p:nvPr/>
        </p:nvPicPr>
        <p:blipFill>
          <a:blip r:embed="rId5"/>
          <a:stretch>
            <a:fillRect/>
          </a:stretch>
        </p:blipFill>
        <p:spPr>
          <a:xfrm>
            <a:off x="9151184" y="4895532"/>
            <a:ext cx="134549" cy="195707"/>
          </a:xfrm>
          <a:prstGeom prst="rect">
            <a:avLst/>
          </a:prstGeom>
        </p:spPr>
      </p:pic>
      <p:sp>
        <p:nvSpPr>
          <p:cNvPr id="36" name="TextBox 35"/>
          <p:cNvSpPr txBox="1"/>
          <p:nvPr/>
        </p:nvSpPr>
        <p:spPr>
          <a:xfrm>
            <a:off x="9326293" y="4905755"/>
            <a:ext cx="2453506" cy="194310"/>
          </a:xfrm>
          <a:prstGeom prst="rect">
            <a:avLst/>
          </a:prstGeom>
          <a:noFill/>
        </p:spPr>
        <p:txBody>
          <a:bodyPr wrap="none" lIns="0" rIns="0" tIns="0" bIns="0">
            <a:spAutoFit/>
          </a:bodyPr>
          <a:lstStyle/>
          <a:p>
            <a:r>
              <a:rPr sz="1150" b="0">
                <a:solidFill>
                  <a:srgbClr val="2E2E2E"/>
                </a:solidFill>
                <a:latin typeface="Calibri"/>
              </a:rPr>
              <a:t>BPS of share of the U.S. cross-section by</a:t>
            </a:r>
          </a:p>
        </p:txBody>
      </p:sp>
      <p:sp>
        <p:nvSpPr>
          <p:cNvPr id="37" name="TextBox 36"/>
          <p:cNvSpPr txBox="1"/>
          <p:nvPr/>
        </p:nvSpPr>
        <p:spPr>
          <a:xfrm>
            <a:off x="7715250" y="5081015"/>
            <a:ext cx="476482" cy="194310"/>
          </a:xfrm>
          <a:prstGeom prst="rect">
            <a:avLst/>
          </a:prstGeom>
          <a:noFill/>
        </p:spPr>
        <p:txBody>
          <a:bodyPr wrap="none" lIns="0" rIns="0" tIns="0" bIns="0">
            <a:spAutoFit/>
          </a:bodyPr>
          <a:lstStyle/>
          <a:p>
            <a:r>
              <a:rPr sz="1150" b="0">
                <a:solidFill>
                  <a:srgbClr val="2E2E2E"/>
                </a:solidFill>
                <a:latin typeface="Calibri"/>
              </a:rPr>
              <a:t>2036F.</a:t>
            </a:r>
          </a:p>
        </p:txBody>
      </p:sp>
      <p:sp>
        <p:nvSpPr>
          <p:cNvPr id="38" name="lockshield_17"/>
          <p:cNvSpPr/>
          <p:nvPr/>
        </p:nvSpPr>
        <p:spPr>
          <a:xfrm>
            <a:off x="238125" y="3790950"/>
            <a:ext cx="7096125" cy="27813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560070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6290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53340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8451757" y="2079785"/>
            <a:ext cx="366712" cy="533400"/>
          </a:xfrm>
          <a:prstGeom prst="rect">
            <a:avLst/>
          </a:prstGeom>
        </p:spPr>
      </p:pic>
      <p:sp>
        <p:nvSpPr>
          <p:cNvPr id="33" name="TextBox 32"/>
          <p:cNvSpPr txBox="1"/>
          <p:nvPr/>
        </p:nvSpPr>
        <p:spPr>
          <a:xfrm>
            <a:off x="276225" y="3724275"/>
            <a:ext cx="3424162" cy="194310"/>
          </a:xfrm>
          <a:prstGeom prst="rect">
            <a:avLst/>
          </a:prstGeom>
          <a:noFill/>
        </p:spPr>
        <p:txBody>
          <a:bodyPr wrap="none" lIns="0" rIns="0" tIns="0" bIns="0">
            <a:spAutoFit/>
          </a:bodyPr>
          <a:lstStyle/>
          <a:p>
            <a:r>
              <a:rPr sz="1150" b="0">
                <a:solidFill>
                  <a:srgbClr val="2E2E2E"/>
                </a:solidFill>
                <a:latin typeface="Calibri"/>
              </a:rPr>
              <a:t>▪ 1. Acrylic Partial Dentures × Conventional Fabrication –</a:t>
            </a:r>
          </a:p>
        </p:txBody>
      </p:sp>
      <p:pic>
        <p:nvPicPr>
          <p:cNvPr id="34" name="Picture 33" descr="lock.png"/>
          <p:cNvPicPr>
            <a:picLocks noChangeAspect="1"/>
          </p:cNvPicPr>
          <p:nvPr/>
        </p:nvPicPr>
        <p:blipFill>
          <a:blip r:embed="rId4"/>
          <a:stretch>
            <a:fillRect/>
          </a:stretch>
        </p:blipFill>
        <p:spPr>
          <a:xfrm>
            <a:off x="3649541" y="3714051"/>
            <a:ext cx="134549" cy="195707"/>
          </a:xfrm>
          <a:prstGeom prst="rect">
            <a:avLst/>
          </a:prstGeom>
        </p:spPr>
      </p:pic>
      <p:sp>
        <p:nvSpPr>
          <p:cNvPr id="35" name="TextBox 34"/>
          <p:cNvSpPr txBox="1"/>
          <p:nvPr/>
        </p:nvSpPr>
        <p:spPr>
          <a:xfrm>
            <a:off x="3824650" y="37242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86802" y="3714051"/>
            <a:ext cx="134549" cy="195707"/>
          </a:xfrm>
          <a:prstGeom prst="rect">
            <a:avLst/>
          </a:prstGeom>
        </p:spPr>
      </p:pic>
      <p:sp>
        <p:nvSpPr>
          <p:cNvPr id="37" name="TextBox 36"/>
          <p:cNvSpPr txBox="1"/>
          <p:nvPr/>
        </p:nvSpPr>
        <p:spPr>
          <a:xfrm>
            <a:off x="4061911" y="37242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952112"/>
            <a:ext cx="3484921" cy="194310"/>
          </a:xfrm>
          <a:prstGeom prst="rect">
            <a:avLst/>
          </a:prstGeom>
          <a:noFill/>
        </p:spPr>
        <p:txBody>
          <a:bodyPr wrap="none" lIns="0" rIns="0" tIns="0" bIns="0">
            <a:spAutoFit/>
          </a:bodyPr>
          <a:lstStyle/>
          <a:p>
            <a:r>
              <a:rPr sz="1150" b="0">
                <a:solidFill>
                  <a:srgbClr val="2E2E2E"/>
                </a:solidFill>
                <a:latin typeface="Calibri"/>
              </a:rPr>
              <a:t>▪ 2. Flexible Partial Dentures × Conventional Fabrication –</a:t>
            </a:r>
          </a:p>
        </p:txBody>
      </p:sp>
      <p:pic>
        <p:nvPicPr>
          <p:cNvPr id="39" name="Picture 38" descr="lock.png"/>
          <p:cNvPicPr>
            <a:picLocks noChangeAspect="1"/>
          </p:cNvPicPr>
          <p:nvPr/>
        </p:nvPicPr>
        <p:blipFill>
          <a:blip r:embed="rId4"/>
          <a:stretch>
            <a:fillRect/>
          </a:stretch>
        </p:blipFill>
        <p:spPr>
          <a:xfrm>
            <a:off x="3710300" y="3941889"/>
            <a:ext cx="134549" cy="195707"/>
          </a:xfrm>
          <a:prstGeom prst="rect">
            <a:avLst/>
          </a:prstGeom>
        </p:spPr>
      </p:pic>
      <p:sp>
        <p:nvSpPr>
          <p:cNvPr id="40" name="TextBox 39"/>
          <p:cNvSpPr txBox="1"/>
          <p:nvPr/>
        </p:nvSpPr>
        <p:spPr>
          <a:xfrm>
            <a:off x="3885409" y="3952112"/>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47561" y="3941889"/>
            <a:ext cx="134549" cy="195707"/>
          </a:xfrm>
          <a:prstGeom prst="rect">
            <a:avLst/>
          </a:prstGeom>
        </p:spPr>
      </p:pic>
      <p:sp>
        <p:nvSpPr>
          <p:cNvPr id="42" name="TextBox 41"/>
          <p:cNvSpPr txBox="1"/>
          <p:nvPr/>
        </p:nvSpPr>
        <p:spPr>
          <a:xfrm>
            <a:off x="4122670" y="3952112"/>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179950"/>
            <a:ext cx="4505845" cy="194310"/>
          </a:xfrm>
          <a:prstGeom prst="rect">
            <a:avLst/>
          </a:prstGeom>
          <a:noFill/>
        </p:spPr>
        <p:txBody>
          <a:bodyPr wrap="none" lIns="0" rIns="0" tIns="0" bIns="0">
            <a:spAutoFit/>
          </a:bodyPr>
          <a:lstStyle/>
          <a:p>
            <a:r>
              <a:rPr sz="1150" b="0">
                <a:solidFill>
                  <a:srgbClr val="2E2E2E"/>
                </a:solidFill>
                <a:latin typeface="Calibri"/>
              </a:rPr>
              <a:t>▪ 3. Combination Framework Partial Dentures × Conventional Fabrication –</a:t>
            </a:r>
          </a:p>
        </p:txBody>
      </p:sp>
      <p:pic>
        <p:nvPicPr>
          <p:cNvPr id="44" name="Picture 43" descr="lock.png"/>
          <p:cNvPicPr>
            <a:picLocks noChangeAspect="1"/>
          </p:cNvPicPr>
          <p:nvPr/>
        </p:nvPicPr>
        <p:blipFill>
          <a:blip r:embed="rId4"/>
          <a:stretch>
            <a:fillRect/>
          </a:stretch>
        </p:blipFill>
        <p:spPr>
          <a:xfrm>
            <a:off x="4731224" y="4169727"/>
            <a:ext cx="134549" cy="195707"/>
          </a:xfrm>
          <a:prstGeom prst="rect">
            <a:avLst/>
          </a:prstGeom>
        </p:spPr>
      </p:pic>
      <p:sp>
        <p:nvSpPr>
          <p:cNvPr id="45" name="TextBox 44"/>
          <p:cNvSpPr txBox="1"/>
          <p:nvPr/>
        </p:nvSpPr>
        <p:spPr>
          <a:xfrm>
            <a:off x="4906333"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968485" y="4169727"/>
            <a:ext cx="134549" cy="195707"/>
          </a:xfrm>
          <a:prstGeom prst="rect">
            <a:avLst/>
          </a:prstGeom>
        </p:spPr>
      </p:pic>
      <p:sp>
        <p:nvSpPr>
          <p:cNvPr id="47" name="TextBox 46"/>
          <p:cNvSpPr txBox="1"/>
          <p:nvPr/>
        </p:nvSpPr>
        <p:spPr>
          <a:xfrm>
            <a:off x="5143594"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8" name="TextBox 47"/>
          <p:cNvSpPr txBox="1"/>
          <p:nvPr/>
        </p:nvSpPr>
        <p:spPr>
          <a:xfrm>
            <a:off x="276225" y="4355210"/>
            <a:ext cx="281012" cy="194310"/>
          </a:xfrm>
          <a:prstGeom prst="rect">
            <a:avLst/>
          </a:prstGeom>
          <a:noFill/>
        </p:spPr>
        <p:txBody>
          <a:bodyPr wrap="none" lIns="0" rIns="0" tIns="0" bIns="0">
            <a:spAutoFit/>
          </a:bodyPr>
          <a:lstStyle/>
          <a:p>
            <a:r>
              <a:rPr sz="1150" b="0">
                <a:solidFill>
                  <a:srgbClr val="2E2E2E"/>
                </a:solidFill>
                <a:latin typeface="Calibri"/>
              </a:rPr>
              <a:t>5/5</a:t>
            </a:r>
          </a:p>
        </p:txBody>
      </p:sp>
      <p:sp>
        <p:nvSpPr>
          <p:cNvPr id="49" name="TextBox 48"/>
          <p:cNvSpPr txBox="1"/>
          <p:nvPr/>
        </p:nvSpPr>
        <p:spPr>
          <a:xfrm>
            <a:off x="276225" y="4583048"/>
            <a:ext cx="3668625" cy="194310"/>
          </a:xfrm>
          <a:prstGeom prst="rect">
            <a:avLst/>
          </a:prstGeom>
          <a:noFill/>
        </p:spPr>
        <p:txBody>
          <a:bodyPr wrap="none" lIns="0" rIns="0" tIns="0" bIns="0">
            <a:spAutoFit/>
          </a:bodyPr>
          <a:lstStyle/>
          <a:p>
            <a:r>
              <a:rPr sz="1150" b="0">
                <a:solidFill>
                  <a:srgbClr val="2E2E2E"/>
                </a:solidFill>
                <a:latin typeface="Calibri"/>
              </a:rPr>
              <a:t>▪ 4. Cast Metal Partial Dentures × Conventional Fabrication –</a:t>
            </a:r>
          </a:p>
        </p:txBody>
      </p:sp>
      <p:pic>
        <p:nvPicPr>
          <p:cNvPr id="50" name="Picture 49" descr="lock.png"/>
          <p:cNvPicPr>
            <a:picLocks noChangeAspect="1"/>
          </p:cNvPicPr>
          <p:nvPr/>
        </p:nvPicPr>
        <p:blipFill>
          <a:blip r:embed="rId4"/>
          <a:stretch>
            <a:fillRect/>
          </a:stretch>
        </p:blipFill>
        <p:spPr>
          <a:xfrm>
            <a:off x="3894004" y="4572825"/>
            <a:ext cx="134549" cy="195707"/>
          </a:xfrm>
          <a:prstGeom prst="rect">
            <a:avLst/>
          </a:prstGeom>
        </p:spPr>
      </p:pic>
      <p:sp>
        <p:nvSpPr>
          <p:cNvPr id="51" name="TextBox 50"/>
          <p:cNvSpPr txBox="1"/>
          <p:nvPr/>
        </p:nvSpPr>
        <p:spPr>
          <a:xfrm>
            <a:off x="4069113" y="458304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2" name="Picture 51" descr="lock.png"/>
          <p:cNvPicPr>
            <a:picLocks noChangeAspect="1"/>
          </p:cNvPicPr>
          <p:nvPr/>
        </p:nvPicPr>
        <p:blipFill>
          <a:blip r:embed="rId4"/>
          <a:stretch>
            <a:fillRect/>
          </a:stretch>
        </p:blipFill>
        <p:spPr>
          <a:xfrm>
            <a:off x="4131265" y="4572825"/>
            <a:ext cx="134549" cy="195707"/>
          </a:xfrm>
          <a:prstGeom prst="rect">
            <a:avLst/>
          </a:prstGeom>
        </p:spPr>
      </p:pic>
      <p:sp>
        <p:nvSpPr>
          <p:cNvPr id="53" name="TextBox 52"/>
          <p:cNvSpPr txBox="1"/>
          <p:nvPr/>
        </p:nvSpPr>
        <p:spPr>
          <a:xfrm>
            <a:off x="4306374" y="4583048"/>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4" name="TextBox 53"/>
          <p:cNvSpPr txBox="1"/>
          <p:nvPr/>
        </p:nvSpPr>
        <p:spPr>
          <a:xfrm>
            <a:off x="276225" y="4810886"/>
            <a:ext cx="3076438" cy="194310"/>
          </a:xfrm>
          <a:prstGeom prst="rect">
            <a:avLst/>
          </a:prstGeom>
          <a:noFill/>
        </p:spPr>
        <p:txBody>
          <a:bodyPr wrap="none" lIns="0" rIns="0" tIns="0" bIns="0">
            <a:spAutoFit/>
          </a:bodyPr>
          <a:lstStyle/>
          <a:p>
            <a:r>
              <a:rPr sz="1150" b="0">
                <a:solidFill>
                  <a:srgbClr val="2E2E2E"/>
                </a:solidFill>
                <a:latin typeface="Calibri"/>
              </a:rPr>
              <a:t>▪ 5. Flexible Partial Dentures × Digital Fabrication –</a:t>
            </a:r>
          </a:p>
        </p:txBody>
      </p:sp>
      <p:pic>
        <p:nvPicPr>
          <p:cNvPr id="55" name="Picture 54" descr="lock.png"/>
          <p:cNvPicPr>
            <a:picLocks noChangeAspect="1"/>
          </p:cNvPicPr>
          <p:nvPr/>
        </p:nvPicPr>
        <p:blipFill>
          <a:blip r:embed="rId4"/>
          <a:stretch>
            <a:fillRect/>
          </a:stretch>
        </p:blipFill>
        <p:spPr>
          <a:xfrm>
            <a:off x="3301817" y="4800663"/>
            <a:ext cx="134549" cy="195707"/>
          </a:xfrm>
          <a:prstGeom prst="rect">
            <a:avLst/>
          </a:prstGeom>
        </p:spPr>
      </p:pic>
      <p:sp>
        <p:nvSpPr>
          <p:cNvPr id="56" name="TextBox 55"/>
          <p:cNvSpPr txBox="1"/>
          <p:nvPr/>
        </p:nvSpPr>
        <p:spPr>
          <a:xfrm>
            <a:off x="3476926" y="481088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3539078" y="4800663"/>
            <a:ext cx="134549" cy="195707"/>
          </a:xfrm>
          <a:prstGeom prst="rect">
            <a:avLst/>
          </a:prstGeom>
        </p:spPr>
      </p:pic>
      <p:sp>
        <p:nvSpPr>
          <p:cNvPr id="58" name="TextBox 57"/>
          <p:cNvSpPr txBox="1"/>
          <p:nvPr/>
        </p:nvSpPr>
        <p:spPr>
          <a:xfrm>
            <a:off x="3714187" y="4810886"/>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9" name="TextBox 58"/>
          <p:cNvSpPr txBox="1"/>
          <p:nvPr/>
        </p:nvSpPr>
        <p:spPr>
          <a:xfrm>
            <a:off x="60293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0" name="TextBox 59"/>
          <p:cNvSpPr txBox="1"/>
          <p:nvPr/>
        </p:nvSpPr>
        <p:spPr>
          <a:xfrm>
            <a:off x="60293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61" name="TextBox 60"/>
          <p:cNvSpPr txBox="1"/>
          <p:nvPr/>
        </p:nvSpPr>
        <p:spPr>
          <a:xfrm>
            <a:off x="6029325" y="4074794"/>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2" name="Picture 61" descr="lock.png"/>
          <p:cNvPicPr>
            <a:picLocks noChangeAspect="1"/>
          </p:cNvPicPr>
          <p:nvPr/>
        </p:nvPicPr>
        <p:blipFill>
          <a:blip r:embed="rId4"/>
          <a:stretch>
            <a:fillRect/>
          </a:stretch>
        </p:blipFill>
        <p:spPr>
          <a:xfrm>
            <a:off x="6335083" y="4064571"/>
            <a:ext cx="134549" cy="195707"/>
          </a:xfrm>
          <a:prstGeom prst="rect">
            <a:avLst/>
          </a:prstGeom>
        </p:spPr>
      </p:pic>
      <p:sp>
        <p:nvSpPr>
          <p:cNvPr id="63" name="TextBox 62"/>
          <p:cNvSpPr txBox="1"/>
          <p:nvPr/>
        </p:nvSpPr>
        <p:spPr>
          <a:xfrm>
            <a:off x="6510192" y="4074794"/>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4" name="TextBox 63"/>
          <p:cNvSpPr txBox="1"/>
          <p:nvPr/>
        </p:nvSpPr>
        <p:spPr>
          <a:xfrm>
            <a:off x="6029325" y="4250054"/>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5" name="Picture 64" descr="lock.png"/>
          <p:cNvPicPr>
            <a:picLocks noChangeAspect="1"/>
          </p:cNvPicPr>
          <p:nvPr/>
        </p:nvPicPr>
        <p:blipFill>
          <a:blip r:embed="rId4"/>
          <a:stretch>
            <a:fillRect/>
          </a:stretch>
        </p:blipFill>
        <p:spPr>
          <a:xfrm>
            <a:off x="6127418" y="4239831"/>
            <a:ext cx="134549" cy="195707"/>
          </a:xfrm>
          <a:prstGeom prst="rect">
            <a:avLst/>
          </a:prstGeom>
        </p:spPr>
      </p:pic>
      <p:sp>
        <p:nvSpPr>
          <p:cNvPr id="66" name="TextBox 65"/>
          <p:cNvSpPr txBox="1"/>
          <p:nvPr/>
        </p:nvSpPr>
        <p:spPr>
          <a:xfrm>
            <a:off x="6302527" y="4250054"/>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7" name="TextBox 66"/>
          <p:cNvSpPr txBox="1"/>
          <p:nvPr/>
        </p:nvSpPr>
        <p:spPr>
          <a:xfrm>
            <a:off x="6029325" y="442531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8" name="TextBox 67"/>
          <p:cNvSpPr txBox="1"/>
          <p:nvPr/>
        </p:nvSpPr>
        <p:spPr>
          <a:xfrm>
            <a:off x="81248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9" name="TextBox 68"/>
          <p:cNvSpPr txBox="1"/>
          <p:nvPr/>
        </p:nvSpPr>
        <p:spPr>
          <a:xfrm>
            <a:off x="81248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70" name="TextBox 69"/>
          <p:cNvSpPr txBox="1"/>
          <p:nvPr/>
        </p:nvSpPr>
        <p:spPr>
          <a:xfrm>
            <a:off x="8124825" y="4074794"/>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1" name="Picture 70" descr="lock.png"/>
          <p:cNvPicPr>
            <a:picLocks noChangeAspect="1"/>
          </p:cNvPicPr>
          <p:nvPr/>
        </p:nvPicPr>
        <p:blipFill>
          <a:blip r:embed="rId4"/>
          <a:stretch>
            <a:fillRect/>
          </a:stretch>
        </p:blipFill>
        <p:spPr>
          <a:xfrm>
            <a:off x="8763474" y="4064571"/>
            <a:ext cx="134549" cy="195707"/>
          </a:xfrm>
          <a:prstGeom prst="rect">
            <a:avLst/>
          </a:prstGeom>
        </p:spPr>
      </p:pic>
      <p:sp>
        <p:nvSpPr>
          <p:cNvPr id="72" name="TextBox 71"/>
          <p:cNvSpPr txBox="1"/>
          <p:nvPr/>
        </p:nvSpPr>
        <p:spPr>
          <a:xfrm>
            <a:off x="8938584" y="4074794"/>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3" name="Picture 72" descr="lock.png"/>
          <p:cNvPicPr>
            <a:picLocks noChangeAspect="1"/>
          </p:cNvPicPr>
          <p:nvPr/>
        </p:nvPicPr>
        <p:blipFill>
          <a:blip r:embed="rId4"/>
          <a:stretch>
            <a:fillRect/>
          </a:stretch>
        </p:blipFill>
        <p:spPr>
          <a:xfrm>
            <a:off x="9334179" y="4064571"/>
            <a:ext cx="134549" cy="195707"/>
          </a:xfrm>
          <a:prstGeom prst="rect">
            <a:avLst/>
          </a:prstGeom>
        </p:spPr>
      </p:pic>
      <p:sp>
        <p:nvSpPr>
          <p:cNvPr id="74" name="TextBox 73"/>
          <p:cNvSpPr txBox="1"/>
          <p:nvPr/>
        </p:nvSpPr>
        <p:spPr>
          <a:xfrm>
            <a:off x="8124825" y="4250054"/>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5" name="TextBox 74"/>
          <p:cNvSpPr txBox="1"/>
          <p:nvPr/>
        </p:nvSpPr>
        <p:spPr>
          <a:xfrm>
            <a:off x="8124825" y="442531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219075" y="3471051"/>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205.9</a:t>
            </a:r>
          </a:p>
        </p:txBody>
      </p:sp>
      <p:sp>
        <p:nvSpPr>
          <p:cNvPr id="14" name="TextBox 13"/>
          <p:cNvSpPr txBox="1"/>
          <p:nvPr/>
        </p:nvSpPr>
        <p:spPr>
          <a:xfrm>
            <a:off x="219075" y="256100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341.8</a:t>
            </a:r>
          </a:p>
        </p:txBody>
      </p:sp>
      <p:sp>
        <p:nvSpPr>
          <p:cNvPr id="15" name="TextBox 14"/>
          <p:cNvSpPr txBox="1"/>
          <p:nvPr/>
        </p:nvSpPr>
        <p:spPr>
          <a:xfrm>
            <a:off x="219075" y="1650949"/>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477.7</a:t>
            </a:r>
          </a:p>
        </p:txBody>
      </p:sp>
      <p:cxnSp>
        <p:nvCxnSpPr>
          <p:cNvPr id="16" name="Connector 15"/>
          <p:cNvCxnSpPr/>
          <p:nvPr/>
        </p:nvCxnSpPr>
        <p:spPr>
          <a:xfrm>
            <a:off x="1533525" y="2614307"/>
            <a:ext cx="0" cy="296195"/>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314450" y="2614307"/>
            <a:ext cx="438150" cy="296195"/>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461907"/>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19" name="TextBox 18"/>
          <p:cNvSpPr txBox="1"/>
          <p:nvPr/>
        </p:nvSpPr>
        <p:spPr>
          <a:xfrm>
            <a:off x="6572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cxnSp>
        <p:nvCxnSpPr>
          <p:cNvPr id="20" name="Connector 19"/>
          <p:cNvCxnSpPr/>
          <p:nvPr/>
        </p:nvCxnSpPr>
        <p:spPr>
          <a:xfrm>
            <a:off x="3286125" y="2481368"/>
            <a:ext cx="0" cy="31199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067050" y="2481368"/>
            <a:ext cx="438150" cy="31199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409825" y="2328968"/>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3" name="TextBox 22"/>
          <p:cNvSpPr txBox="1"/>
          <p:nvPr/>
        </p:nvSpPr>
        <p:spPr>
          <a:xfrm>
            <a:off x="24098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cxnSp>
        <p:nvCxnSpPr>
          <p:cNvPr id="24" name="Connector 23"/>
          <p:cNvCxnSpPr/>
          <p:nvPr/>
        </p:nvCxnSpPr>
        <p:spPr>
          <a:xfrm>
            <a:off x="5038725" y="1927636"/>
            <a:ext cx="0" cy="385280"/>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4819650" y="1927636"/>
            <a:ext cx="438150" cy="385280"/>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4162425" y="17752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7" name="TextBox 26"/>
          <p:cNvSpPr txBox="1"/>
          <p:nvPr/>
        </p:nvSpPr>
        <p:spPr>
          <a:xfrm>
            <a:off x="41624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cxnSp>
        <p:nvCxnSpPr>
          <p:cNvPr id="28" name="Connector 27"/>
          <p:cNvCxnSpPr/>
          <p:nvPr/>
        </p:nvCxnSpPr>
        <p:spPr>
          <a:xfrm>
            <a:off x="6791325" y="3091932"/>
            <a:ext cx="0" cy="23578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6572250" y="3091932"/>
            <a:ext cx="438150" cy="23578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5915025" y="2939532"/>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31" name="TextBox 30"/>
          <p:cNvSpPr txBox="1"/>
          <p:nvPr/>
        </p:nvSpPr>
        <p:spPr>
          <a:xfrm>
            <a:off x="59150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32" name="Rounded Rectangle 31"/>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a:t>
            </a:r>
          </a:p>
        </p:txBody>
      </p:sp>
      <p:cxnSp>
        <p:nvCxnSpPr>
          <p:cNvPr id="34" name="Connector 33"/>
          <p:cNvCxnSpPr/>
          <p:nvPr/>
        </p:nvCxnSpPr>
        <p:spPr>
          <a:xfrm>
            <a:off x="619125" y="451908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88418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619125" y="561440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619125" y="59795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619125" y="4519080"/>
            <a:ext cx="0" cy="146043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451908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590550" y="488418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590550" y="561440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590550" y="59795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5" name="FMI Scale tick"/>
          <p:cNvSpPr txBox="1"/>
          <p:nvPr/>
        </p:nvSpPr>
        <p:spPr>
          <a:xfrm>
            <a:off x="138112" y="4452405"/>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+9.2%</a:t>
            </a:r>
          </a:p>
        </p:txBody>
      </p:sp>
      <p:sp>
        <p:nvSpPr>
          <p:cNvPr id="46" name="FMI Scale tick"/>
          <p:cNvSpPr txBox="1"/>
          <p:nvPr/>
        </p:nvSpPr>
        <p:spPr>
          <a:xfrm>
            <a:off x="138112" y="4817514"/>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+4.6%</a:t>
            </a:r>
          </a:p>
        </p:txBody>
      </p:sp>
      <p:sp>
        <p:nvSpPr>
          <p:cNvPr id="47"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tick"/>
          <p:cNvSpPr txBox="1"/>
          <p:nvPr/>
        </p:nvSpPr>
        <p:spPr>
          <a:xfrm>
            <a:off x="164306" y="5547732"/>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-4.6%</a:t>
            </a:r>
          </a:p>
        </p:txBody>
      </p:sp>
      <p:sp>
        <p:nvSpPr>
          <p:cNvPr id="49" name="FMI Scale tick"/>
          <p:cNvSpPr txBox="1"/>
          <p:nvPr/>
        </p:nvSpPr>
        <p:spPr>
          <a:xfrm>
            <a:off x="164306" y="5912841"/>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-9.2%</a:t>
            </a:r>
          </a:p>
        </p:txBody>
      </p:sp>
      <p:cxnSp>
        <p:nvCxnSpPr>
          <p:cNvPr id="50" name="Connector 49"/>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977900" y="4654262"/>
            <a:ext cx="457200" cy="59503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619125" y="4511387"/>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3" name="Rectangle 52"/>
          <p:cNvSpPr/>
          <p:nvPr/>
        </p:nvSpPr>
        <p:spPr>
          <a:xfrm>
            <a:off x="2152650" y="4640154"/>
            <a:ext cx="457200" cy="6091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1793875" y="449727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5" name="Rectangle 54"/>
          <p:cNvSpPr/>
          <p:nvPr/>
        </p:nvSpPr>
        <p:spPr>
          <a:xfrm>
            <a:off x="3327400" y="4659865"/>
            <a:ext cx="457200" cy="58943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2968625" y="451699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7" name="Rectangle 56"/>
          <p:cNvSpPr/>
          <p:nvPr/>
        </p:nvSpPr>
        <p:spPr>
          <a:xfrm>
            <a:off x="4502150" y="4681848"/>
            <a:ext cx="457200" cy="56745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MI Data Label"/>
          <p:cNvSpPr txBox="1"/>
          <p:nvPr/>
        </p:nvSpPr>
        <p:spPr>
          <a:xfrm>
            <a:off x="4143375" y="453897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9" name="Rectangle 58"/>
          <p:cNvSpPr/>
          <p:nvPr/>
        </p:nvSpPr>
        <p:spPr>
          <a:xfrm>
            <a:off x="5676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MI Data Label"/>
          <p:cNvSpPr txBox="1"/>
          <p:nvPr/>
        </p:nvSpPr>
        <p:spPr>
          <a:xfrm>
            <a:off x="5318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1" name="Rectangle 60"/>
          <p:cNvSpPr/>
          <p:nvPr/>
        </p:nvSpPr>
        <p:spPr>
          <a:xfrm>
            <a:off x="6851650" y="4663477"/>
            <a:ext cx="457200" cy="58582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MI Data Label"/>
          <p:cNvSpPr txBox="1"/>
          <p:nvPr/>
        </p:nvSpPr>
        <p:spPr>
          <a:xfrm>
            <a:off x="6492875" y="452060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3" name="TextBox 62"/>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64" name="TextBox 63"/>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65" name="TextBox 64"/>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66" name="TextBox 65"/>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67" name="TextBox 66"/>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68" name="TextBox 67"/>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69" name="Rounded Rectangle 68"/>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71" name="Rectangle 70"/>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73" name="TextBox 7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4" name="Picture 73" descr="lock.png"/>
          <p:cNvPicPr>
            <a:picLocks noChangeAspect="1"/>
          </p:cNvPicPr>
          <p:nvPr/>
        </p:nvPicPr>
        <p:blipFill>
          <a:blip r:embed="rId4"/>
          <a:stretch>
            <a:fillRect/>
          </a:stretch>
        </p:blipFill>
        <p:spPr>
          <a:xfrm>
            <a:off x="1469175" y="2434983"/>
            <a:ext cx="128699" cy="187198"/>
          </a:xfrm>
          <a:prstGeom prst="rect">
            <a:avLst/>
          </a:prstGeom>
        </p:spPr>
      </p:pic>
      <p:pic>
        <p:nvPicPr>
          <p:cNvPr id="75" name="Picture 74" descr="lock.png"/>
          <p:cNvPicPr>
            <a:picLocks noChangeAspect="1"/>
          </p:cNvPicPr>
          <p:nvPr/>
        </p:nvPicPr>
        <p:blipFill>
          <a:blip r:embed="rId4"/>
          <a:stretch>
            <a:fillRect/>
          </a:stretch>
        </p:blipFill>
        <p:spPr>
          <a:xfrm>
            <a:off x="3221775" y="2302044"/>
            <a:ext cx="128699" cy="187198"/>
          </a:xfrm>
          <a:prstGeom prst="rect">
            <a:avLst/>
          </a:prstGeom>
        </p:spPr>
      </p:pic>
      <p:pic>
        <p:nvPicPr>
          <p:cNvPr id="76" name="Picture 75" descr="lock.png"/>
          <p:cNvPicPr>
            <a:picLocks noChangeAspect="1"/>
          </p:cNvPicPr>
          <p:nvPr/>
        </p:nvPicPr>
        <p:blipFill>
          <a:blip r:embed="rId4"/>
          <a:stretch>
            <a:fillRect/>
          </a:stretch>
        </p:blipFill>
        <p:spPr>
          <a:xfrm>
            <a:off x="4974375" y="1748312"/>
            <a:ext cx="128699" cy="187198"/>
          </a:xfrm>
          <a:prstGeom prst="rect">
            <a:avLst/>
          </a:prstGeom>
        </p:spPr>
      </p:pic>
      <p:pic>
        <p:nvPicPr>
          <p:cNvPr id="77" name="Picture 76" descr="lock.png"/>
          <p:cNvPicPr>
            <a:picLocks noChangeAspect="1"/>
          </p:cNvPicPr>
          <p:nvPr/>
        </p:nvPicPr>
        <p:blipFill>
          <a:blip r:embed="rId4"/>
          <a:stretch>
            <a:fillRect/>
          </a:stretch>
        </p:blipFill>
        <p:spPr>
          <a:xfrm>
            <a:off x="6726975" y="2912608"/>
            <a:ext cx="128699" cy="187198"/>
          </a:xfrm>
          <a:prstGeom prst="rect">
            <a:avLst/>
          </a:prstGeom>
        </p:spPr>
      </p:pic>
      <p:pic>
        <p:nvPicPr>
          <p:cNvPr id="78" name="Picture 77" descr="lock.png"/>
          <p:cNvPicPr>
            <a:picLocks noChangeAspect="1"/>
          </p:cNvPicPr>
          <p:nvPr/>
        </p:nvPicPr>
        <p:blipFill>
          <a:blip r:embed="rId4"/>
          <a:stretch>
            <a:fillRect/>
          </a:stretch>
        </p:blipFill>
        <p:spPr>
          <a:xfrm>
            <a:off x="1142150" y="4484463"/>
            <a:ext cx="128699" cy="187198"/>
          </a:xfrm>
          <a:prstGeom prst="rect">
            <a:avLst/>
          </a:prstGeom>
        </p:spPr>
      </p:pic>
      <p:pic>
        <p:nvPicPr>
          <p:cNvPr id="79" name="Picture 78" descr="lock.png"/>
          <p:cNvPicPr>
            <a:picLocks noChangeAspect="1"/>
          </p:cNvPicPr>
          <p:nvPr/>
        </p:nvPicPr>
        <p:blipFill>
          <a:blip r:embed="rId4"/>
          <a:stretch>
            <a:fillRect/>
          </a:stretch>
        </p:blipFill>
        <p:spPr>
          <a:xfrm>
            <a:off x="2316900" y="4470355"/>
            <a:ext cx="128699" cy="187198"/>
          </a:xfrm>
          <a:prstGeom prst="rect">
            <a:avLst/>
          </a:prstGeom>
        </p:spPr>
      </p:pic>
      <p:pic>
        <p:nvPicPr>
          <p:cNvPr id="80" name="Picture 79" descr="lock.png"/>
          <p:cNvPicPr>
            <a:picLocks noChangeAspect="1"/>
          </p:cNvPicPr>
          <p:nvPr/>
        </p:nvPicPr>
        <p:blipFill>
          <a:blip r:embed="rId4"/>
          <a:stretch>
            <a:fillRect/>
          </a:stretch>
        </p:blipFill>
        <p:spPr>
          <a:xfrm>
            <a:off x="3491650" y="4490066"/>
            <a:ext cx="128699" cy="187198"/>
          </a:xfrm>
          <a:prstGeom prst="rect">
            <a:avLst/>
          </a:prstGeom>
        </p:spPr>
      </p:pic>
      <p:pic>
        <p:nvPicPr>
          <p:cNvPr id="81" name="Picture 80" descr="lock.png"/>
          <p:cNvPicPr>
            <a:picLocks noChangeAspect="1"/>
          </p:cNvPicPr>
          <p:nvPr/>
        </p:nvPicPr>
        <p:blipFill>
          <a:blip r:embed="rId4"/>
          <a:stretch>
            <a:fillRect/>
          </a:stretch>
        </p:blipFill>
        <p:spPr>
          <a:xfrm>
            <a:off x="4666400" y="4512049"/>
            <a:ext cx="128699" cy="187198"/>
          </a:xfrm>
          <a:prstGeom prst="rect">
            <a:avLst/>
          </a:prstGeom>
        </p:spPr>
      </p:pic>
      <p:pic>
        <p:nvPicPr>
          <p:cNvPr id="82" name="Picture 81" descr="lock.png"/>
          <p:cNvPicPr>
            <a:picLocks noChangeAspect="1"/>
          </p:cNvPicPr>
          <p:nvPr/>
        </p:nvPicPr>
        <p:blipFill>
          <a:blip r:embed="rId4"/>
          <a:stretch>
            <a:fillRect/>
          </a:stretch>
        </p:blipFill>
        <p:spPr>
          <a:xfrm>
            <a:off x="5841150" y="4444308"/>
            <a:ext cx="128699" cy="187198"/>
          </a:xfrm>
          <a:prstGeom prst="rect">
            <a:avLst/>
          </a:prstGeom>
        </p:spPr>
      </p:pic>
      <p:pic>
        <p:nvPicPr>
          <p:cNvPr id="83" name="Picture 82" descr="lock.png"/>
          <p:cNvPicPr>
            <a:picLocks noChangeAspect="1"/>
          </p:cNvPicPr>
          <p:nvPr/>
        </p:nvPicPr>
        <p:blipFill>
          <a:blip r:embed="rId4"/>
          <a:stretch>
            <a:fillRect/>
          </a:stretch>
        </p:blipFill>
        <p:spPr>
          <a:xfrm>
            <a:off x="7015900" y="4493678"/>
            <a:ext cx="128699" cy="187198"/>
          </a:xfrm>
          <a:prstGeom prst="rect">
            <a:avLst/>
          </a:prstGeom>
        </p:spPr>
      </p:pic>
      <p:sp>
        <p:nvSpPr>
          <p:cNvPr id="84" name="TextBox 83"/>
          <p:cNvSpPr txBox="1"/>
          <p:nvPr/>
        </p:nvSpPr>
        <p:spPr>
          <a:xfrm>
            <a:off x="8048625" y="1736673"/>
            <a:ext cx="3654424" cy="194310"/>
          </a:xfrm>
          <a:prstGeom prst="rect">
            <a:avLst/>
          </a:prstGeom>
          <a:noFill/>
        </p:spPr>
        <p:txBody>
          <a:bodyPr wrap="none" lIns="0" rIns="0" tIns="0" bIns="0">
            <a:spAutoFit/>
          </a:bodyPr>
          <a:lstStyle/>
          <a:p>
            <a:r>
              <a:rPr sz="1150" b="0">
                <a:solidFill>
                  <a:srgbClr val="2E2E2E"/>
                </a:solidFill>
                <a:latin typeface="Calibri"/>
              </a:rPr>
              <a:t>▪ The chart shows global average pricing of key product type</a:t>
            </a:r>
          </a:p>
        </p:txBody>
      </p:sp>
      <p:sp>
        <p:nvSpPr>
          <p:cNvPr id="85" name="TextBox 84"/>
          <p:cNvSpPr txBox="1"/>
          <p:nvPr/>
        </p:nvSpPr>
        <p:spPr>
          <a:xfrm>
            <a:off x="8048625" y="1911934"/>
            <a:ext cx="3848100" cy="194310"/>
          </a:xfrm>
          <a:prstGeom prst="rect">
            <a:avLst/>
          </a:prstGeom>
          <a:noFill/>
        </p:spPr>
        <p:txBody>
          <a:bodyPr wrap="none" lIns="0" rIns="0" tIns="0" bIns="0">
            <a:spAutoFit/>
          </a:bodyPr>
          <a:lstStyle/>
          <a:p>
            <a:r>
              <a:rPr sz="1150" b="0">
                <a:solidFill>
                  <a:srgbClr val="2E2E2E"/>
                </a:solidFill>
                <a:latin typeface="Calibri"/>
              </a:rPr>
              <a:t>types in USD, harmonised across regions. Each candlestick spans</a:t>
            </a:r>
          </a:p>
        </p:txBody>
      </p:sp>
      <p:sp>
        <p:nvSpPr>
          <p:cNvPr id="86" name="TextBox 85"/>
          <p:cNvSpPr txBox="1"/>
          <p:nvPr/>
        </p:nvSpPr>
        <p:spPr>
          <a:xfrm>
            <a:off x="8048625" y="2087194"/>
            <a:ext cx="3848100" cy="194310"/>
          </a:xfrm>
          <a:prstGeom prst="rect">
            <a:avLst/>
          </a:prstGeom>
          <a:noFill/>
        </p:spPr>
        <p:txBody>
          <a:bodyPr wrap="none" lIns="0" rIns="0" tIns="0" bIns="0">
            <a:spAutoFit/>
          </a:bodyPr>
          <a:lstStyle/>
          <a:p>
            <a:r>
              <a:rPr sz="1150" b="0">
                <a:solidFill>
                  <a:srgbClr val="2E2E2E"/>
                </a:solidFill>
                <a:latin typeface="Calibri"/>
              </a:rPr>
              <a:t>the minimum-to-maximum observed price within the base year,</a:t>
            </a:r>
          </a:p>
        </p:txBody>
      </p:sp>
      <p:sp>
        <p:nvSpPr>
          <p:cNvPr id="87" name="TextBox 86"/>
          <p:cNvSpPr txBox="1"/>
          <p:nvPr/>
        </p:nvSpPr>
        <p:spPr>
          <a:xfrm>
            <a:off x="8048625" y="2262454"/>
            <a:ext cx="3406254" cy="194310"/>
          </a:xfrm>
          <a:prstGeom prst="rect">
            <a:avLst/>
          </a:prstGeom>
          <a:noFill/>
        </p:spPr>
        <p:txBody>
          <a:bodyPr wrap="none" lIns="0" rIns="0" tIns="0" bIns="0">
            <a:spAutoFit/>
          </a:bodyPr>
          <a:lstStyle/>
          <a:p>
            <a:r>
              <a:rPr sz="1150" b="0">
                <a:solidFill>
                  <a:srgbClr val="2E2E2E"/>
                </a:solidFill>
                <a:latin typeface="Calibri"/>
              </a:rPr>
              <a:t>giving a clear read of price range and market dispersion.</a:t>
            </a:r>
          </a:p>
        </p:txBody>
      </p:sp>
      <p:sp>
        <p:nvSpPr>
          <p:cNvPr id="88" name="TextBox 87"/>
          <p:cNvSpPr txBox="1"/>
          <p:nvPr/>
        </p:nvSpPr>
        <p:spPr>
          <a:xfrm>
            <a:off x="8048625" y="2490292"/>
            <a:ext cx="3793058" cy="194310"/>
          </a:xfrm>
          <a:prstGeom prst="rect">
            <a:avLst/>
          </a:prstGeom>
          <a:noFill/>
        </p:spPr>
        <p:txBody>
          <a:bodyPr wrap="none" lIns="0" rIns="0" tIns="0" bIns="0">
            <a:spAutoFit/>
          </a:bodyPr>
          <a:lstStyle/>
          <a:p>
            <a:r>
              <a:rPr sz="1150" b="0">
                <a:solidFill>
                  <a:srgbClr val="2E2E2E"/>
                </a:solidFill>
                <a:latin typeface="Calibri"/>
              </a:rPr>
              <a:t>▪ Wider bodies mark a larger gap between opening and closing</a:t>
            </a:r>
          </a:p>
        </p:txBody>
      </p:sp>
      <p:sp>
        <p:nvSpPr>
          <p:cNvPr id="89" name="TextBox 88"/>
          <p:cNvSpPr txBox="1"/>
          <p:nvPr/>
        </p:nvSpPr>
        <p:spPr>
          <a:xfrm>
            <a:off x="8048625" y="2665551"/>
            <a:ext cx="3713472" cy="194310"/>
          </a:xfrm>
          <a:prstGeom prst="rect">
            <a:avLst/>
          </a:prstGeom>
          <a:noFill/>
        </p:spPr>
        <p:txBody>
          <a:bodyPr wrap="none" lIns="0" rIns="0" tIns="0" bIns="0">
            <a:spAutoFit/>
          </a:bodyPr>
          <a:lstStyle/>
          <a:p>
            <a:r>
              <a:rPr sz="1150" b="0">
                <a:solidFill>
                  <a:srgbClr val="2E2E2E"/>
                </a:solidFill>
                <a:latin typeface="Calibri"/>
              </a:rPr>
              <a:t>price levels 'Combination Framework Partial Dentures' shows</a:t>
            </a:r>
          </a:p>
        </p:txBody>
      </p:sp>
      <p:sp>
        <p:nvSpPr>
          <p:cNvPr id="90" name="TextBox 89"/>
          <p:cNvSpPr txBox="1"/>
          <p:nvPr/>
        </p:nvSpPr>
        <p:spPr>
          <a:xfrm>
            <a:off x="8048625" y="2840811"/>
            <a:ext cx="1438287" cy="194310"/>
          </a:xfrm>
          <a:prstGeom prst="rect">
            <a:avLst/>
          </a:prstGeom>
          <a:noFill/>
        </p:spPr>
        <p:txBody>
          <a:bodyPr wrap="none" lIns="0" rIns="0" tIns="0" bIns="0">
            <a:spAutoFit/>
          </a:bodyPr>
          <a:lstStyle/>
          <a:p>
            <a:r>
              <a:rPr sz="1150" b="0">
                <a:solidFill>
                  <a:srgbClr val="2E2E2E"/>
                </a:solidFill>
                <a:latin typeface="Calibri"/>
              </a:rPr>
              <a:t>the most movement (+</a:t>
            </a:r>
          </a:p>
        </p:txBody>
      </p:sp>
      <p:pic>
        <p:nvPicPr>
          <p:cNvPr id="91" name="Picture 90" descr="lock.png"/>
          <p:cNvPicPr>
            <a:picLocks noChangeAspect="1"/>
          </p:cNvPicPr>
          <p:nvPr/>
        </p:nvPicPr>
        <p:blipFill>
          <a:blip r:embed="rId4"/>
          <a:stretch>
            <a:fillRect/>
          </a:stretch>
        </p:blipFill>
        <p:spPr>
          <a:xfrm>
            <a:off x="9436066" y="2830588"/>
            <a:ext cx="134549" cy="195707"/>
          </a:xfrm>
          <a:prstGeom prst="rect">
            <a:avLst/>
          </a:prstGeom>
        </p:spPr>
      </p:pic>
      <p:sp>
        <p:nvSpPr>
          <p:cNvPr id="92" name="TextBox 91"/>
          <p:cNvSpPr txBox="1"/>
          <p:nvPr/>
        </p:nvSpPr>
        <p:spPr>
          <a:xfrm>
            <a:off x="9611175" y="2840811"/>
            <a:ext cx="2093800" cy="194310"/>
          </a:xfrm>
          <a:prstGeom prst="rect">
            <a:avLst/>
          </a:prstGeom>
          <a:noFill/>
        </p:spPr>
        <p:txBody>
          <a:bodyPr wrap="none" lIns="0" rIns="0" tIns="0" bIns="0">
            <a:spAutoFit/>
          </a:bodyPr>
          <a:lstStyle/>
          <a:p>
            <a:r>
              <a:rPr sz="1150" b="0">
                <a:solidFill>
                  <a:srgbClr val="2E2E2E"/>
                </a:solidFill>
                <a:latin typeface="Calibri"/>
              </a:rPr>
              <a:t>) and 'Acrylic Partial Dentures' the</a:t>
            </a:r>
          </a:p>
        </p:txBody>
      </p:sp>
      <p:sp>
        <p:nvSpPr>
          <p:cNvPr id="93" name="TextBox 92"/>
          <p:cNvSpPr txBox="1"/>
          <p:nvPr/>
        </p:nvSpPr>
        <p:spPr>
          <a:xfrm>
            <a:off x="8048625" y="3016071"/>
            <a:ext cx="508644" cy="194310"/>
          </a:xfrm>
          <a:prstGeom prst="rect">
            <a:avLst/>
          </a:prstGeom>
          <a:noFill/>
        </p:spPr>
        <p:txBody>
          <a:bodyPr wrap="none" lIns="0" rIns="0" tIns="0" bIns="0">
            <a:spAutoFit/>
          </a:bodyPr>
          <a:lstStyle/>
          <a:p>
            <a:r>
              <a:rPr sz="1150" b="0">
                <a:solidFill>
                  <a:srgbClr val="2E2E2E"/>
                </a:solidFill>
                <a:latin typeface="Calibri"/>
              </a:rPr>
              <a:t>least (+</a:t>
            </a:r>
          </a:p>
        </p:txBody>
      </p:sp>
      <p:pic>
        <p:nvPicPr>
          <p:cNvPr id="94" name="Picture 93" descr="lock.png"/>
          <p:cNvPicPr>
            <a:picLocks noChangeAspect="1"/>
          </p:cNvPicPr>
          <p:nvPr/>
        </p:nvPicPr>
        <p:blipFill>
          <a:blip r:embed="rId4"/>
          <a:stretch>
            <a:fillRect/>
          </a:stretch>
        </p:blipFill>
        <p:spPr>
          <a:xfrm>
            <a:off x="8506423" y="3005848"/>
            <a:ext cx="134549" cy="195707"/>
          </a:xfrm>
          <a:prstGeom prst="rect">
            <a:avLst/>
          </a:prstGeom>
        </p:spPr>
      </p:pic>
      <p:sp>
        <p:nvSpPr>
          <p:cNvPr id="95" name="TextBox 94"/>
          <p:cNvSpPr txBox="1"/>
          <p:nvPr/>
        </p:nvSpPr>
        <p:spPr>
          <a:xfrm>
            <a:off x="8681533" y="3016071"/>
            <a:ext cx="2839169" cy="194310"/>
          </a:xfrm>
          <a:prstGeom prst="rect">
            <a:avLst/>
          </a:prstGeom>
          <a:noFill/>
        </p:spPr>
        <p:txBody>
          <a:bodyPr wrap="none" lIns="0" rIns="0" tIns="0" bIns="0">
            <a:spAutoFit/>
          </a:bodyPr>
          <a:lstStyle/>
          <a:p>
            <a:r>
              <a:rPr sz="1150" b="0">
                <a:solidFill>
                  <a:srgbClr val="2E2E2E"/>
                </a:solidFill>
                <a:latin typeface="Calibri"/>
              </a:rPr>
              <a:t>) variability stakeholders should monitor when</a:t>
            </a:r>
          </a:p>
        </p:txBody>
      </p:sp>
      <p:sp>
        <p:nvSpPr>
          <p:cNvPr id="96" name="TextBox 95"/>
          <p:cNvSpPr txBox="1"/>
          <p:nvPr/>
        </p:nvSpPr>
        <p:spPr>
          <a:xfrm>
            <a:off x="8048625" y="3191331"/>
            <a:ext cx="2038176" cy="194310"/>
          </a:xfrm>
          <a:prstGeom prst="rect">
            <a:avLst/>
          </a:prstGeom>
          <a:noFill/>
        </p:spPr>
        <p:txBody>
          <a:bodyPr wrap="none" lIns="0" rIns="0" tIns="0" bIns="0">
            <a:spAutoFit/>
          </a:bodyPr>
          <a:lstStyle/>
          <a:p>
            <a:r>
              <a:rPr sz="1150" b="0">
                <a:solidFill>
                  <a:srgbClr val="2E2E2E"/>
                </a:solidFill>
                <a:latin typeface="Calibri"/>
              </a:rPr>
              <a:t>planning procurement or pricing.</a:t>
            </a:r>
          </a:p>
        </p:txBody>
      </p:sp>
      <p:sp>
        <p:nvSpPr>
          <p:cNvPr id="97" name="TextBox 96"/>
          <p:cNvSpPr txBox="1"/>
          <p:nvPr/>
        </p:nvSpPr>
        <p:spPr>
          <a:xfrm>
            <a:off x="8048625" y="3419169"/>
            <a:ext cx="3718607" cy="194310"/>
          </a:xfrm>
          <a:prstGeom prst="rect">
            <a:avLst/>
          </a:prstGeom>
          <a:noFill/>
        </p:spPr>
        <p:txBody>
          <a:bodyPr wrap="none" lIns="0" rIns="0" tIns="0" bIns="0">
            <a:spAutoFit/>
          </a:bodyPr>
          <a:lstStyle/>
          <a:p>
            <a:r>
              <a:rPr sz="1150" b="0">
                <a:solidFill>
                  <a:srgbClr val="2E2E2E"/>
                </a:solidFill>
                <a:latin typeface="Calibri"/>
              </a:rPr>
              <a:t>▪ The lower chart indexes region-level price movement to the</a:t>
            </a:r>
          </a:p>
        </p:txBody>
      </p:sp>
      <p:sp>
        <p:nvSpPr>
          <p:cNvPr id="98" name="TextBox 97"/>
          <p:cNvSpPr txBox="1"/>
          <p:nvPr/>
        </p:nvSpPr>
        <p:spPr>
          <a:xfrm>
            <a:off x="8048625" y="3594429"/>
            <a:ext cx="3716610" cy="194310"/>
          </a:xfrm>
          <a:prstGeom prst="rect">
            <a:avLst/>
          </a:prstGeom>
          <a:noFill/>
        </p:spPr>
        <p:txBody>
          <a:bodyPr wrap="none" lIns="0" rIns="0" tIns="0" bIns="0">
            <a:spAutoFit/>
          </a:bodyPr>
          <a:lstStyle/>
          <a:p>
            <a:r>
              <a:rPr sz="1150" b="0">
                <a:solidFill>
                  <a:srgbClr val="2E2E2E"/>
                </a:solidFill>
                <a:latin typeface="Calibri"/>
              </a:rPr>
              <a:t>base year, applied consistently across the horizon to strip out</a:t>
            </a:r>
          </a:p>
        </p:txBody>
      </p:sp>
      <p:sp>
        <p:nvSpPr>
          <p:cNvPr id="99" name="TextBox 98"/>
          <p:cNvSpPr txBox="1"/>
          <p:nvPr/>
        </p:nvSpPr>
        <p:spPr>
          <a:xfrm>
            <a:off x="8048625" y="3769689"/>
            <a:ext cx="3693219" cy="194310"/>
          </a:xfrm>
          <a:prstGeom prst="rect">
            <a:avLst/>
          </a:prstGeom>
          <a:noFill/>
        </p:spPr>
        <p:txBody>
          <a:bodyPr wrap="none" lIns="0" rIns="0" tIns="0" bIns="0">
            <a:spAutoFit/>
          </a:bodyPr>
          <a:lstStyle/>
          <a:p>
            <a:r>
              <a:rPr sz="1150" b="0">
                <a:solidFill>
                  <a:srgbClr val="2E2E2E"/>
                </a:solidFill>
                <a:latin typeface="Calibri"/>
              </a:rPr>
              <a:t>year-on-year inflationary volatility and reveal structural price</a:t>
            </a:r>
          </a:p>
        </p:txBody>
      </p:sp>
      <p:sp>
        <p:nvSpPr>
          <p:cNvPr id="100" name="TextBox 99"/>
          <p:cNvSpPr txBox="1"/>
          <p:nvPr/>
        </p:nvSpPr>
        <p:spPr>
          <a:xfrm>
            <a:off x="8048625" y="3944949"/>
            <a:ext cx="431055" cy="194310"/>
          </a:xfrm>
          <a:prstGeom prst="rect">
            <a:avLst/>
          </a:prstGeom>
          <a:noFill/>
        </p:spPr>
        <p:txBody>
          <a:bodyPr wrap="none" lIns="0" rIns="0" tIns="0" bIns="0">
            <a:spAutoFit/>
          </a:bodyPr>
          <a:lstStyle/>
          <a:p>
            <a:r>
              <a:rPr sz="1150" b="0">
                <a:solidFill>
                  <a:srgbClr val="2E2E2E"/>
                </a:solidFill>
                <a:latin typeface="Calibri"/>
              </a:rPr>
              <a:t>shifts.</a:t>
            </a:r>
          </a:p>
        </p:txBody>
      </p:sp>
      <p:sp>
        <p:nvSpPr>
          <p:cNvPr id="101" name="TextBox 100"/>
          <p:cNvSpPr txBox="1"/>
          <p:nvPr/>
        </p:nvSpPr>
        <p:spPr>
          <a:xfrm>
            <a:off x="8048625" y="4172787"/>
            <a:ext cx="2340260" cy="194310"/>
          </a:xfrm>
          <a:prstGeom prst="rect">
            <a:avLst/>
          </a:prstGeom>
          <a:noFill/>
        </p:spPr>
        <p:txBody>
          <a:bodyPr wrap="none" lIns="0" rIns="0" tIns="0" bIns="0">
            <a:spAutoFit/>
          </a:bodyPr>
          <a:lstStyle/>
          <a:p>
            <a:r>
              <a:rPr sz="1150" b="0">
                <a:solidFill>
                  <a:srgbClr val="2E2E2E"/>
                </a:solidFill>
                <a:latin typeface="Calibri"/>
              </a:rPr>
              <a:t>▪ Region price indices diverge by up to</a:t>
            </a:r>
          </a:p>
        </p:txBody>
      </p:sp>
      <p:pic>
        <p:nvPicPr>
          <p:cNvPr id="102" name="Picture 101" descr="lock.png"/>
          <p:cNvPicPr>
            <a:picLocks noChangeAspect="1"/>
          </p:cNvPicPr>
          <p:nvPr/>
        </p:nvPicPr>
        <p:blipFill>
          <a:blip r:embed="rId4"/>
          <a:stretch>
            <a:fillRect/>
          </a:stretch>
        </p:blipFill>
        <p:spPr>
          <a:xfrm>
            <a:off x="10338039" y="4162564"/>
            <a:ext cx="134549" cy="195707"/>
          </a:xfrm>
          <a:prstGeom prst="rect">
            <a:avLst/>
          </a:prstGeom>
        </p:spPr>
      </p:pic>
      <p:sp>
        <p:nvSpPr>
          <p:cNvPr id="103" name="TextBox 102"/>
          <p:cNvSpPr txBox="1"/>
          <p:nvPr/>
        </p:nvSpPr>
        <p:spPr>
          <a:xfrm>
            <a:off x="10513148" y="4172787"/>
            <a:ext cx="1187549" cy="194310"/>
          </a:xfrm>
          <a:prstGeom prst="rect">
            <a:avLst/>
          </a:prstGeom>
          <a:noFill/>
        </p:spPr>
        <p:txBody>
          <a:bodyPr wrap="none" lIns="0" rIns="0" tIns="0" bIns="0">
            <a:spAutoFit/>
          </a:bodyPr>
          <a:lstStyle/>
          <a:p>
            <a:r>
              <a:rPr sz="1150" b="0">
                <a:solidFill>
                  <a:srgbClr val="2E2E2E"/>
                </a:solidFill>
                <a:latin typeface="Calibri"/>
              </a:rPr>
              <a:t>between 2026 and</a:t>
            </a:r>
          </a:p>
        </p:txBody>
      </p:sp>
      <p:sp>
        <p:nvSpPr>
          <p:cNvPr id="104" name="TextBox 103"/>
          <p:cNvSpPr txBox="1"/>
          <p:nvPr/>
        </p:nvSpPr>
        <p:spPr>
          <a:xfrm>
            <a:off x="8048625" y="4348047"/>
            <a:ext cx="3848100" cy="194310"/>
          </a:xfrm>
          <a:prstGeom prst="rect">
            <a:avLst/>
          </a:prstGeom>
          <a:noFill/>
        </p:spPr>
        <p:txBody>
          <a:bodyPr wrap="none" lIns="0" rIns="0" tIns="0" bIns="0">
            <a:spAutoFit/>
          </a:bodyPr>
          <a:lstStyle/>
          <a:p>
            <a:r>
              <a:rPr sz="1150" b="0">
                <a:solidFill>
                  <a:srgbClr val="2E2E2E"/>
                </a:solidFill>
                <a:latin typeface="Calibri"/>
              </a:rPr>
              <a:t>2036: higher-priced regions start higher and grow steadily, while</a:t>
            </a:r>
          </a:p>
        </p:txBody>
      </p:sp>
      <p:sp>
        <p:nvSpPr>
          <p:cNvPr id="105" name="TextBox 104"/>
          <p:cNvSpPr txBox="1"/>
          <p:nvPr/>
        </p:nvSpPr>
        <p:spPr>
          <a:xfrm>
            <a:off x="8048625" y="4523307"/>
            <a:ext cx="3454747" cy="194310"/>
          </a:xfrm>
          <a:prstGeom prst="rect">
            <a:avLst/>
          </a:prstGeom>
          <a:noFill/>
        </p:spPr>
        <p:txBody>
          <a:bodyPr wrap="none" lIns="0" rIns="0" tIns="0" bIns="0">
            <a:spAutoFit/>
          </a:bodyPr>
          <a:lstStyle/>
          <a:p>
            <a:r>
              <a:rPr sz="1150" b="0">
                <a:solidFill>
                  <a:srgbClr val="2E2E2E"/>
                </a:solidFill>
                <a:latin typeface="Calibri"/>
              </a:rPr>
              <a:t>lower-priced regions start lower and converge, reflecting</a:t>
            </a:r>
          </a:p>
        </p:txBody>
      </p:sp>
      <p:sp>
        <p:nvSpPr>
          <p:cNvPr id="106" name="TextBox 105"/>
          <p:cNvSpPr txBox="1"/>
          <p:nvPr/>
        </p:nvSpPr>
        <p:spPr>
          <a:xfrm>
            <a:off x="8048625" y="4698567"/>
            <a:ext cx="1090848" cy="194310"/>
          </a:xfrm>
          <a:prstGeom prst="rect">
            <a:avLst/>
          </a:prstGeom>
          <a:noFill/>
        </p:spPr>
        <p:txBody>
          <a:bodyPr wrap="none" lIns="0" rIns="0" tIns="0" bIns="0">
            <a:spAutoFit/>
          </a:bodyPr>
          <a:lstStyle/>
          <a:p>
            <a:r>
              <a:rPr sz="1150" b="0">
                <a:solidFill>
                  <a:srgbClr val="2E2E2E"/>
                </a:solidFill>
                <a:latin typeface="Calibri"/>
              </a:rPr>
              <a:t>catch-up growth.</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(US$/Units)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(US$/Units)</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07848">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07848">
                <a:tc>
                  <a:txBody>
                    <a:bodyPr wrap="square"/>
                    <a:lstStyle/>
                    <a:p>
                      <a:pPr algn="l"/>
                      <a:r>
                        <a:rPr sz="850" b="1">
                          <a:solidFill>
                            <a:srgbClr val="1F1F1F"/>
                          </a:solidFill>
                          <a:latin typeface="Calibri"/>
                        </a:rPr>
                        <a:t>Flexible Partial Dentures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Acrylic Partial Dentures</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Cast Metal Partial Dentures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Combination Framework Partial Dentures</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6"/>
          <a:stretch>
            <a:fillRect/>
          </a:stretch>
        </p:blipFill>
        <p:spPr>
          <a:xfrm>
            <a:off x="10283571" y="4040505"/>
            <a:ext cx="330041" cy="480060"/>
          </a:xfrm>
          <a:prstGeom prst="rect">
            <a:avLst/>
          </a:prstGeom>
        </p:spPr>
      </p:pic>
      <p:sp>
        <p:nvSpPr>
          <p:cNvPr id="34" name="TextBox 33"/>
          <p:cNvSpPr txBox="1"/>
          <p:nvPr/>
        </p:nvSpPr>
        <p:spPr>
          <a:xfrm>
            <a:off x="411480" y="1110615"/>
            <a:ext cx="4922787" cy="217169"/>
          </a:xfrm>
          <a:prstGeom prst="rect">
            <a:avLst/>
          </a:prstGeom>
          <a:noFill/>
        </p:spPr>
        <p:txBody>
          <a:bodyPr wrap="none" lIns="0" rIns="0" tIns="0" bIns="0">
            <a:spAutoFit/>
          </a:bodyPr>
          <a:lstStyle/>
          <a:p>
            <a:r>
              <a:rPr sz="1300" b="1">
                <a:solidFill>
                  <a:srgbClr val="FFFFFF"/>
                </a:solidFill>
                <a:latin typeface="Calibri"/>
              </a:rPr>
              <a:t>Flexible Partial Dentures command the highest 2026 price point at US$</a:t>
            </a:r>
          </a:p>
        </p:txBody>
      </p:sp>
      <p:pic>
        <p:nvPicPr>
          <p:cNvPr id="35" name="Picture 34" descr="lock.png"/>
          <p:cNvPicPr>
            <a:picLocks noChangeAspect="1"/>
          </p:cNvPicPr>
          <p:nvPr/>
        </p:nvPicPr>
        <p:blipFill>
          <a:blip r:embed="rId6"/>
          <a:stretch>
            <a:fillRect/>
          </a:stretch>
        </p:blipFill>
        <p:spPr>
          <a:xfrm>
            <a:off x="5286728" y="1099058"/>
            <a:ext cx="152098" cy="221234"/>
          </a:xfrm>
          <a:prstGeom prst="rect">
            <a:avLst/>
          </a:prstGeom>
        </p:spPr>
      </p:pic>
      <p:sp>
        <p:nvSpPr>
          <p:cNvPr id="36" name="TextBox 35"/>
          <p:cNvSpPr txBox="1"/>
          <p:nvPr/>
        </p:nvSpPr>
        <p:spPr>
          <a:xfrm>
            <a:off x="5484678" y="1110615"/>
            <a:ext cx="535061" cy="217169"/>
          </a:xfrm>
          <a:prstGeom prst="rect">
            <a:avLst/>
          </a:prstGeom>
          <a:noFill/>
        </p:spPr>
        <p:txBody>
          <a:bodyPr wrap="none" lIns="0" rIns="0" tIns="0" bIns="0">
            <a:spAutoFit/>
          </a:bodyPr>
          <a:lstStyle/>
          <a:p>
            <a:r>
              <a:rPr sz="1300" b="1">
                <a:solidFill>
                  <a:srgbClr val="FFFFFF"/>
                </a:solidFill>
                <a:latin typeface="Calibri"/>
              </a:rPr>
              <a:t>/MT, a</a:t>
            </a:r>
          </a:p>
        </p:txBody>
      </p:sp>
      <p:pic>
        <p:nvPicPr>
          <p:cNvPr id="37" name="Picture 36" descr="lock.png"/>
          <p:cNvPicPr>
            <a:picLocks noChangeAspect="1"/>
          </p:cNvPicPr>
          <p:nvPr/>
        </p:nvPicPr>
        <p:blipFill>
          <a:blip r:embed="rId6"/>
          <a:stretch>
            <a:fillRect/>
          </a:stretch>
        </p:blipFill>
        <p:spPr>
          <a:xfrm>
            <a:off x="5972201" y="1099058"/>
            <a:ext cx="152098" cy="221234"/>
          </a:xfrm>
          <a:prstGeom prst="rect">
            <a:avLst/>
          </a:prstGeom>
        </p:spPr>
      </p:pic>
      <p:sp>
        <p:nvSpPr>
          <p:cNvPr id="38" name="TextBox 37"/>
          <p:cNvSpPr txBox="1"/>
          <p:nvPr/>
        </p:nvSpPr>
        <p:spPr>
          <a:xfrm>
            <a:off x="6170150" y="1110615"/>
            <a:ext cx="3992165" cy="217169"/>
          </a:xfrm>
          <a:prstGeom prst="rect">
            <a:avLst/>
          </a:prstGeom>
          <a:noFill/>
        </p:spPr>
        <p:txBody>
          <a:bodyPr wrap="none" lIns="0" rIns="0" tIns="0" bIns="0">
            <a:spAutoFit/>
          </a:bodyPr>
          <a:lstStyle/>
          <a:p>
            <a:r>
              <a:rPr sz="1300" b="1">
                <a:solidFill>
                  <a:srgbClr val="FFFFFF"/>
                </a:solidFill>
                <a:latin typeface="Calibri"/>
              </a:rPr>
              <a:t>premium over Combination Framework Partial Dentures.</a:t>
            </a:r>
          </a:p>
        </p:txBody>
      </p:sp>
      <p:sp>
        <p:nvSpPr>
          <p:cNvPr id="39" name="TextBox 38"/>
          <p:cNvSpPr txBox="1"/>
          <p:nvPr/>
        </p:nvSpPr>
        <p:spPr>
          <a:xfrm>
            <a:off x="6995160" y="1602867"/>
            <a:ext cx="2164334" cy="180289"/>
          </a:xfrm>
          <a:prstGeom prst="rect">
            <a:avLst/>
          </a:prstGeom>
          <a:noFill/>
        </p:spPr>
        <p:txBody>
          <a:bodyPr wrap="none" lIns="0" rIns="0" tIns="0" bIns="0">
            <a:spAutoFit/>
          </a:bodyPr>
          <a:lstStyle/>
          <a:p>
            <a:r>
              <a:rPr sz="1057" b="1">
                <a:solidFill>
                  <a:srgbClr val="0B2E4A"/>
                </a:solidFill>
                <a:latin typeface="Calibri"/>
              </a:rPr>
              <a:t>2026 Price Index vs Global Average (=</a:t>
            </a:r>
          </a:p>
        </p:txBody>
      </p:sp>
      <p:pic>
        <p:nvPicPr>
          <p:cNvPr id="40" name="Picture 39" descr="lock.png"/>
          <p:cNvPicPr>
            <a:picLocks noChangeAspect="1"/>
          </p:cNvPicPr>
          <p:nvPr/>
        </p:nvPicPr>
        <p:blipFill>
          <a:blip r:embed="rId6"/>
          <a:stretch>
            <a:fillRect/>
          </a:stretch>
        </p:blipFill>
        <p:spPr>
          <a:xfrm>
            <a:off x="9106620" y="1593461"/>
            <a:ext cx="123784" cy="180050"/>
          </a:xfrm>
          <a:prstGeom prst="rect">
            <a:avLst/>
          </a:prstGeom>
        </p:spPr>
      </p:pic>
      <p:sp>
        <p:nvSpPr>
          <p:cNvPr id="41" name="TextBox 40"/>
          <p:cNvSpPr txBox="1"/>
          <p:nvPr/>
        </p:nvSpPr>
        <p:spPr>
          <a:xfrm>
            <a:off x="9267721" y="1602867"/>
            <a:ext cx="118189" cy="180289"/>
          </a:xfrm>
          <a:prstGeom prst="rect">
            <a:avLst/>
          </a:prstGeom>
          <a:noFill/>
        </p:spPr>
        <p:txBody>
          <a:bodyPr wrap="none" lIns="0" rIns="0" tIns="0" bIns="0">
            <a:spAutoFit/>
          </a:bodyPr>
          <a:lstStyle/>
          <a:p>
            <a:r>
              <a:rPr sz="1057" b="1">
                <a:solidFill>
                  <a:srgbClr val="0B2E4A"/>
                </a:solidFill>
                <a:latin typeface="Calibri"/>
              </a:rPr>
              <a:t>)</a:t>
            </a:r>
          </a:p>
        </p:txBody>
      </p:sp>
      <p:sp>
        <p:nvSpPr>
          <p:cNvPr id="42" name="TextBox 41"/>
          <p:cNvSpPr txBox="1"/>
          <p:nvPr/>
        </p:nvSpPr>
        <p:spPr>
          <a:xfrm>
            <a:off x="806576" y="5530976"/>
            <a:ext cx="3076575" cy="179069"/>
          </a:xfrm>
          <a:prstGeom prst="rect">
            <a:avLst/>
          </a:prstGeom>
          <a:noFill/>
        </p:spPr>
        <p:txBody>
          <a:bodyPr wrap="none" lIns="0" rIns="0" tIns="0" bIns="0">
            <a:spAutoFit/>
          </a:bodyPr>
          <a:lstStyle/>
          <a:p>
            <a:r>
              <a:rPr sz="1050" b="0">
                <a:solidFill>
                  <a:srgbClr val="1F1F1F"/>
                </a:solidFill>
                <a:latin typeface="Calibri"/>
              </a:rPr>
              <a:t>Flexible Partial Dentures sit at the top of the 2026 price</a:t>
            </a:r>
          </a:p>
        </p:txBody>
      </p:sp>
      <p:sp>
        <p:nvSpPr>
          <p:cNvPr id="43" name="TextBox 42"/>
          <p:cNvSpPr txBox="1"/>
          <p:nvPr/>
        </p:nvSpPr>
        <p:spPr>
          <a:xfrm>
            <a:off x="806576" y="5690996"/>
            <a:ext cx="1193266" cy="179069"/>
          </a:xfrm>
          <a:prstGeom prst="rect">
            <a:avLst/>
          </a:prstGeom>
          <a:noFill/>
        </p:spPr>
        <p:txBody>
          <a:bodyPr wrap="none" lIns="0" rIns="0" tIns="0" bIns="0">
            <a:spAutoFit/>
          </a:bodyPr>
          <a:lstStyle/>
          <a:p>
            <a:r>
              <a:rPr sz="1050" b="0">
                <a:solidFill>
                  <a:srgbClr val="1F1F1F"/>
                </a:solidFill>
                <a:latin typeface="Calibri"/>
              </a:rPr>
              <a:t>ladder at an index of</a:t>
            </a:r>
          </a:p>
        </p:txBody>
      </p:sp>
      <p:pic>
        <p:nvPicPr>
          <p:cNvPr id="44" name="Picture 43" descr="lock.png"/>
          <p:cNvPicPr>
            <a:picLocks noChangeAspect="1"/>
          </p:cNvPicPr>
          <p:nvPr/>
        </p:nvPicPr>
        <p:blipFill>
          <a:blip r:embed="rId6"/>
          <a:stretch>
            <a:fillRect/>
          </a:stretch>
        </p:blipFill>
        <p:spPr>
          <a:xfrm>
            <a:off x="1946792" y="5681662"/>
            <a:ext cx="122849" cy="178689"/>
          </a:xfrm>
          <a:prstGeom prst="rect">
            <a:avLst/>
          </a:prstGeom>
        </p:spPr>
      </p:pic>
      <p:sp>
        <p:nvSpPr>
          <p:cNvPr id="45" name="TextBox 44"/>
          <p:cNvSpPr txBox="1"/>
          <p:nvPr/>
        </p:nvSpPr>
        <p:spPr>
          <a:xfrm>
            <a:off x="2106675" y="5690996"/>
            <a:ext cx="1809489" cy="179069"/>
          </a:xfrm>
          <a:prstGeom prst="rect">
            <a:avLst/>
          </a:prstGeom>
          <a:noFill/>
        </p:spPr>
        <p:txBody>
          <a:bodyPr wrap="none" lIns="0" rIns="0" tIns="0" bIns="0">
            <a:spAutoFit/>
          </a:bodyPr>
          <a:lstStyle/>
          <a:p>
            <a:r>
              <a:rPr sz="1050" b="0">
                <a:solidFill>
                  <a:srgbClr val="1F1F1F"/>
                </a:solidFill>
                <a:latin typeface="Calibri"/>
              </a:rPr>
              <a:t>, while Combination Framework</a:t>
            </a:r>
          </a:p>
        </p:txBody>
      </p:sp>
      <p:sp>
        <p:nvSpPr>
          <p:cNvPr id="46" name="TextBox 45"/>
          <p:cNvSpPr txBox="1"/>
          <p:nvPr/>
        </p:nvSpPr>
        <p:spPr>
          <a:xfrm>
            <a:off x="806576" y="5851016"/>
            <a:ext cx="1415169" cy="179069"/>
          </a:xfrm>
          <a:prstGeom prst="rect">
            <a:avLst/>
          </a:prstGeom>
          <a:noFill/>
        </p:spPr>
        <p:txBody>
          <a:bodyPr wrap="none" lIns="0" rIns="0" tIns="0" bIns="0">
            <a:spAutoFit/>
          </a:bodyPr>
          <a:lstStyle/>
          <a:p>
            <a:r>
              <a:rPr sz="1050" b="0">
                <a:solidFill>
                  <a:srgbClr val="1F1F1F"/>
                </a:solidFill>
                <a:latin typeface="Calibri"/>
              </a:rPr>
              <a:t>Partial Dentures trade at</a:t>
            </a:r>
          </a:p>
        </p:txBody>
      </p:sp>
      <p:pic>
        <p:nvPicPr>
          <p:cNvPr id="47" name="Picture 46" descr="lock.png"/>
          <p:cNvPicPr>
            <a:picLocks noChangeAspect="1"/>
          </p:cNvPicPr>
          <p:nvPr/>
        </p:nvPicPr>
        <p:blipFill>
          <a:blip r:embed="rId6"/>
          <a:stretch>
            <a:fillRect/>
          </a:stretch>
        </p:blipFill>
        <p:spPr>
          <a:xfrm>
            <a:off x="2168695" y="5841682"/>
            <a:ext cx="122849" cy="178689"/>
          </a:xfrm>
          <a:prstGeom prst="rect">
            <a:avLst/>
          </a:prstGeom>
        </p:spPr>
      </p:pic>
      <p:sp>
        <p:nvSpPr>
          <p:cNvPr id="48" name="TextBox 47"/>
          <p:cNvSpPr txBox="1"/>
          <p:nvPr/>
        </p:nvSpPr>
        <p:spPr>
          <a:xfrm>
            <a:off x="2328578" y="5851016"/>
            <a:ext cx="1222176" cy="179069"/>
          </a:xfrm>
          <a:prstGeom prst="rect">
            <a:avLst/>
          </a:prstGeom>
          <a:noFill/>
        </p:spPr>
        <p:txBody>
          <a:bodyPr wrap="none" lIns="0" rIns="0" tIns="0" bIns="0">
            <a:spAutoFit/>
          </a:bodyPr>
          <a:lstStyle/>
          <a:p>
            <a:r>
              <a:rPr sz="1050" b="0">
                <a:solidFill>
                  <a:srgbClr val="1F1F1F"/>
                </a:solidFill>
                <a:latin typeface="Calibri"/>
              </a:rPr>
              <a:t>, which keeps the full</a:t>
            </a:r>
          </a:p>
        </p:txBody>
      </p:sp>
      <p:sp>
        <p:nvSpPr>
          <p:cNvPr id="49" name="TextBox 48"/>
          <p:cNvSpPr txBox="1"/>
          <p:nvPr/>
        </p:nvSpPr>
        <p:spPr>
          <a:xfrm>
            <a:off x="806576" y="6011036"/>
            <a:ext cx="1547738" cy="179069"/>
          </a:xfrm>
          <a:prstGeom prst="rect">
            <a:avLst/>
          </a:prstGeom>
          <a:noFill/>
        </p:spPr>
        <p:txBody>
          <a:bodyPr wrap="none" lIns="0" rIns="0" tIns="0" bIns="0">
            <a:spAutoFit/>
          </a:bodyPr>
          <a:lstStyle/>
          <a:p>
            <a:r>
              <a:rPr sz="1050" b="0">
                <a:solidFill>
                  <a:srgbClr val="1F1F1F"/>
                </a:solidFill>
                <a:latin typeface="Calibri"/>
              </a:rPr>
              <a:t>product type spread within</a:t>
            </a:r>
          </a:p>
        </p:txBody>
      </p:sp>
      <p:pic>
        <p:nvPicPr>
          <p:cNvPr id="50" name="Picture 49" descr="lock.png"/>
          <p:cNvPicPr>
            <a:picLocks noChangeAspect="1"/>
          </p:cNvPicPr>
          <p:nvPr/>
        </p:nvPicPr>
        <p:blipFill>
          <a:blip r:embed="rId6"/>
          <a:stretch>
            <a:fillRect/>
          </a:stretch>
        </p:blipFill>
        <p:spPr>
          <a:xfrm>
            <a:off x="2301264" y="6001702"/>
            <a:ext cx="122849" cy="178689"/>
          </a:xfrm>
          <a:prstGeom prst="rect">
            <a:avLst/>
          </a:prstGeom>
        </p:spPr>
      </p:pic>
      <p:sp>
        <p:nvSpPr>
          <p:cNvPr id="51" name="TextBox 50"/>
          <p:cNvSpPr txBox="1"/>
          <p:nvPr/>
        </p:nvSpPr>
        <p:spPr>
          <a:xfrm>
            <a:off x="2461146" y="6011036"/>
            <a:ext cx="109797" cy="179069"/>
          </a:xfrm>
          <a:prstGeom prst="rect">
            <a:avLst/>
          </a:prstGeom>
          <a:noFill/>
        </p:spPr>
        <p:txBody>
          <a:bodyPr wrap="none" lIns="0" rIns="0" tIns="0" bIns="0">
            <a:spAutoFit/>
          </a:bodyPr>
          <a:lstStyle/>
          <a:p>
            <a:r>
              <a:rPr sz="1050" b="0">
                <a:solidFill>
                  <a:srgbClr val="1F1F1F"/>
                </a:solidFill>
                <a:latin typeface="Calibri"/>
              </a:rPr>
              <a:t>.</a:t>
            </a:r>
          </a:p>
        </p:txBody>
      </p:sp>
      <p:sp>
        <p:nvSpPr>
          <p:cNvPr id="52" name="TextBox 51"/>
          <p:cNvSpPr txBox="1"/>
          <p:nvPr/>
        </p:nvSpPr>
        <p:spPr>
          <a:xfrm>
            <a:off x="4732401" y="5530976"/>
            <a:ext cx="3143249" cy="179069"/>
          </a:xfrm>
          <a:prstGeom prst="rect">
            <a:avLst/>
          </a:prstGeom>
          <a:noFill/>
        </p:spPr>
        <p:txBody>
          <a:bodyPr wrap="none" lIns="0" rIns="0" tIns="0" bIns="0">
            <a:spAutoFit/>
          </a:bodyPr>
          <a:lstStyle/>
          <a:p>
            <a:r>
              <a:rPr sz="1050" b="0">
                <a:solidFill>
                  <a:srgbClr val="1F1F1F"/>
                </a:solidFill>
                <a:latin typeface="Calibri"/>
              </a:rPr>
              <a:t>Combination Framework Partial Dentures post the fastest</a:t>
            </a:r>
          </a:p>
        </p:txBody>
      </p:sp>
      <p:sp>
        <p:nvSpPr>
          <p:cNvPr id="53" name="TextBox 52"/>
          <p:cNvSpPr txBox="1"/>
          <p:nvPr/>
        </p:nvSpPr>
        <p:spPr>
          <a:xfrm>
            <a:off x="4732401" y="5690996"/>
            <a:ext cx="999492" cy="179069"/>
          </a:xfrm>
          <a:prstGeom prst="rect">
            <a:avLst/>
          </a:prstGeom>
          <a:noFill/>
        </p:spPr>
        <p:txBody>
          <a:bodyPr wrap="none" lIns="0" rIns="0" tIns="0" bIns="0">
            <a:spAutoFit/>
          </a:bodyPr>
          <a:lstStyle/>
          <a:p>
            <a:r>
              <a:rPr sz="1050" b="0">
                <a:solidFill>
                  <a:srgbClr val="1F1F1F"/>
                </a:solidFill>
                <a:latin typeface="Calibri"/>
              </a:rPr>
              <a:t>price growth at a</a:t>
            </a:r>
          </a:p>
        </p:txBody>
      </p:sp>
      <p:pic>
        <p:nvPicPr>
          <p:cNvPr id="54" name="Picture 53" descr="lock.png"/>
          <p:cNvPicPr>
            <a:picLocks noChangeAspect="1"/>
          </p:cNvPicPr>
          <p:nvPr/>
        </p:nvPicPr>
        <p:blipFill>
          <a:blip r:embed="rId6"/>
          <a:stretch>
            <a:fillRect/>
          </a:stretch>
        </p:blipFill>
        <p:spPr>
          <a:xfrm>
            <a:off x="5678842" y="5681662"/>
            <a:ext cx="122849" cy="178689"/>
          </a:xfrm>
          <a:prstGeom prst="rect">
            <a:avLst/>
          </a:prstGeom>
        </p:spPr>
      </p:pic>
      <p:sp>
        <p:nvSpPr>
          <p:cNvPr id="55" name="TextBox 54"/>
          <p:cNvSpPr txBox="1"/>
          <p:nvPr/>
        </p:nvSpPr>
        <p:spPr>
          <a:xfrm>
            <a:off x="5838725" y="5690996"/>
            <a:ext cx="1760248" cy="179069"/>
          </a:xfrm>
          <a:prstGeom prst="rect">
            <a:avLst/>
          </a:prstGeom>
          <a:noFill/>
        </p:spPr>
        <p:txBody>
          <a:bodyPr wrap="none" lIns="0" rIns="0" tIns="0" bIns="0">
            <a:spAutoFit/>
          </a:bodyPr>
          <a:lstStyle/>
          <a:p>
            <a:r>
              <a:rPr sz="1050" b="0">
                <a:solidFill>
                  <a:srgbClr val="1F1F1F"/>
                </a:solidFill>
                <a:latin typeface="Calibri"/>
              </a:rPr>
              <a:t>CAGR between 2026 and 2036,</a:t>
            </a:r>
          </a:p>
        </p:txBody>
      </p:sp>
      <p:sp>
        <p:nvSpPr>
          <p:cNvPr id="56" name="TextBox 55"/>
          <p:cNvSpPr txBox="1"/>
          <p:nvPr/>
        </p:nvSpPr>
        <p:spPr>
          <a:xfrm>
            <a:off x="4732401" y="5851016"/>
            <a:ext cx="897656" cy="179069"/>
          </a:xfrm>
          <a:prstGeom prst="rect">
            <a:avLst/>
          </a:prstGeom>
          <a:noFill/>
        </p:spPr>
        <p:txBody>
          <a:bodyPr wrap="none" lIns="0" rIns="0" tIns="0" bIns="0">
            <a:spAutoFit/>
          </a:bodyPr>
          <a:lstStyle/>
          <a:p>
            <a:r>
              <a:rPr sz="1050" b="0">
                <a:solidFill>
                  <a:srgbClr val="1F1F1F"/>
                </a:solidFill>
                <a:latin typeface="Calibri"/>
              </a:rPr>
              <a:t>compared with</a:t>
            </a:r>
          </a:p>
        </p:txBody>
      </p:sp>
      <p:pic>
        <p:nvPicPr>
          <p:cNvPr id="57" name="Picture 56" descr="lock.png"/>
          <p:cNvPicPr>
            <a:picLocks noChangeAspect="1"/>
          </p:cNvPicPr>
          <p:nvPr/>
        </p:nvPicPr>
        <p:blipFill>
          <a:blip r:embed="rId6"/>
          <a:stretch>
            <a:fillRect/>
          </a:stretch>
        </p:blipFill>
        <p:spPr>
          <a:xfrm>
            <a:off x="5577007" y="5841682"/>
            <a:ext cx="122849" cy="178689"/>
          </a:xfrm>
          <a:prstGeom prst="rect">
            <a:avLst/>
          </a:prstGeom>
        </p:spPr>
      </p:pic>
      <p:sp>
        <p:nvSpPr>
          <p:cNvPr id="58" name="TextBox 57"/>
          <p:cNvSpPr txBox="1"/>
          <p:nvPr/>
        </p:nvSpPr>
        <p:spPr>
          <a:xfrm>
            <a:off x="5736889" y="5851016"/>
            <a:ext cx="1564667" cy="179069"/>
          </a:xfrm>
          <a:prstGeom prst="rect">
            <a:avLst/>
          </a:prstGeom>
          <a:noFill/>
        </p:spPr>
        <p:txBody>
          <a:bodyPr wrap="none" lIns="0" rIns="0" tIns="0" bIns="0">
            <a:spAutoFit/>
          </a:bodyPr>
          <a:lstStyle/>
          <a:p>
            <a:r>
              <a:rPr sz="1050" b="0">
                <a:solidFill>
                  <a:srgbClr val="1F1F1F"/>
                </a:solidFill>
                <a:latin typeface="Calibri"/>
              </a:rPr>
              <a:t>for Acrylic Partial Dentures.</a:t>
            </a:r>
          </a:p>
        </p:txBody>
      </p:sp>
      <p:sp>
        <p:nvSpPr>
          <p:cNvPr id="59" name="TextBox 58"/>
          <p:cNvSpPr txBox="1"/>
          <p:nvPr/>
        </p:nvSpPr>
        <p:spPr>
          <a:xfrm>
            <a:off x="8658225" y="5530976"/>
            <a:ext cx="2235844" cy="179069"/>
          </a:xfrm>
          <a:prstGeom prst="rect">
            <a:avLst/>
          </a:prstGeom>
          <a:noFill/>
        </p:spPr>
        <p:txBody>
          <a:bodyPr wrap="none" lIns="0" rIns="0" tIns="0" bIns="0">
            <a:spAutoFit/>
          </a:bodyPr>
          <a:lstStyle/>
          <a:p>
            <a:r>
              <a:rPr sz="1050" b="0">
                <a:solidFill>
                  <a:srgbClr val="1F1F1F"/>
                </a:solidFill>
                <a:latin typeface="Calibri"/>
              </a:rPr>
              <a:t>The Global average price rises from US$</a:t>
            </a:r>
          </a:p>
        </p:txBody>
      </p:sp>
      <p:pic>
        <p:nvPicPr>
          <p:cNvPr id="60" name="Picture 59" descr="lock.png"/>
          <p:cNvPicPr>
            <a:picLocks noChangeAspect="1"/>
          </p:cNvPicPr>
          <p:nvPr/>
        </p:nvPicPr>
        <p:blipFill>
          <a:blip r:embed="rId6"/>
          <a:stretch>
            <a:fillRect/>
          </a:stretch>
        </p:blipFill>
        <p:spPr>
          <a:xfrm>
            <a:off x="10841019" y="5521642"/>
            <a:ext cx="122849" cy="178689"/>
          </a:xfrm>
          <a:prstGeom prst="rect">
            <a:avLst/>
          </a:prstGeom>
        </p:spPr>
      </p:pic>
      <p:sp>
        <p:nvSpPr>
          <p:cNvPr id="61" name="TextBox 60"/>
          <p:cNvSpPr txBox="1"/>
          <p:nvPr/>
        </p:nvSpPr>
        <p:spPr>
          <a:xfrm>
            <a:off x="11000901" y="5530976"/>
            <a:ext cx="739043" cy="179069"/>
          </a:xfrm>
          <a:prstGeom prst="rect">
            <a:avLst/>
          </a:prstGeom>
          <a:noFill/>
        </p:spPr>
        <p:txBody>
          <a:bodyPr wrap="none" lIns="0" rIns="0" tIns="0" bIns="0">
            <a:spAutoFit/>
          </a:bodyPr>
          <a:lstStyle/>
          <a:p>
            <a:r>
              <a:rPr sz="1050" b="0">
                <a:solidFill>
                  <a:srgbClr val="1F1F1F"/>
                </a:solidFill>
                <a:latin typeface="Calibri"/>
              </a:rPr>
              <a:t>/MT in 2026</a:t>
            </a:r>
          </a:p>
        </p:txBody>
      </p:sp>
      <p:sp>
        <p:nvSpPr>
          <p:cNvPr id="62" name="TextBox 61"/>
          <p:cNvSpPr txBox="1"/>
          <p:nvPr/>
        </p:nvSpPr>
        <p:spPr>
          <a:xfrm>
            <a:off x="8658225" y="5690996"/>
            <a:ext cx="436140" cy="179069"/>
          </a:xfrm>
          <a:prstGeom prst="rect">
            <a:avLst/>
          </a:prstGeom>
          <a:noFill/>
        </p:spPr>
        <p:txBody>
          <a:bodyPr wrap="none" lIns="0" rIns="0" tIns="0" bIns="0">
            <a:spAutoFit/>
          </a:bodyPr>
          <a:lstStyle/>
          <a:p>
            <a:r>
              <a:rPr sz="1050" b="0">
                <a:solidFill>
                  <a:srgbClr val="1F1F1F"/>
                </a:solidFill>
                <a:latin typeface="Calibri"/>
              </a:rPr>
              <a:t>to US$</a:t>
            </a:r>
          </a:p>
        </p:txBody>
      </p:sp>
      <p:pic>
        <p:nvPicPr>
          <p:cNvPr id="63" name="Picture 62" descr="lock.png"/>
          <p:cNvPicPr>
            <a:picLocks noChangeAspect="1"/>
          </p:cNvPicPr>
          <p:nvPr/>
        </p:nvPicPr>
        <p:blipFill>
          <a:blip r:embed="rId6"/>
          <a:stretch>
            <a:fillRect/>
          </a:stretch>
        </p:blipFill>
        <p:spPr>
          <a:xfrm>
            <a:off x="9041315" y="5681662"/>
            <a:ext cx="122849" cy="178689"/>
          </a:xfrm>
          <a:prstGeom prst="rect">
            <a:avLst/>
          </a:prstGeom>
        </p:spPr>
      </p:pic>
      <p:sp>
        <p:nvSpPr>
          <p:cNvPr id="64" name="TextBox 63"/>
          <p:cNvSpPr txBox="1"/>
          <p:nvPr/>
        </p:nvSpPr>
        <p:spPr>
          <a:xfrm>
            <a:off x="9201197" y="5690996"/>
            <a:ext cx="2593181" cy="179069"/>
          </a:xfrm>
          <a:prstGeom prst="rect">
            <a:avLst/>
          </a:prstGeom>
          <a:noFill/>
        </p:spPr>
        <p:txBody>
          <a:bodyPr wrap="none" lIns="0" rIns="0" tIns="0" bIns="0">
            <a:spAutoFit/>
          </a:bodyPr>
          <a:lstStyle/>
          <a:p>
            <a:r>
              <a:rPr sz="1050" b="0">
                <a:solidFill>
                  <a:srgbClr val="1F1F1F"/>
                </a:solidFill>
                <a:latin typeface="Calibri"/>
              </a:rPr>
              <a:t>/MT in 2036, and the gap between the highest</a:t>
            </a:r>
          </a:p>
        </p:txBody>
      </p:sp>
      <p:sp>
        <p:nvSpPr>
          <p:cNvPr id="65" name="TextBox 64"/>
          <p:cNvSpPr txBox="1"/>
          <p:nvPr/>
        </p:nvSpPr>
        <p:spPr>
          <a:xfrm>
            <a:off x="8658225" y="5851016"/>
            <a:ext cx="2451236" cy="179069"/>
          </a:xfrm>
          <a:prstGeom prst="rect">
            <a:avLst/>
          </a:prstGeom>
          <a:noFill/>
        </p:spPr>
        <p:txBody>
          <a:bodyPr wrap="none" lIns="0" rIns="0" tIns="0" bIns="0">
            <a:spAutoFit/>
          </a:bodyPr>
          <a:lstStyle/>
          <a:p>
            <a:r>
              <a:rPr sz="1050" b="0">
                <a:solidFill>
                  <a:srgbClr val="1F1F1F"/>
                </a:solidFill>
                <a:latin typeface="Calibri"/>
              </a:rPr>
              <a:t>and lowest priced product type moves from</a:t>
            </a:r>
          </a:p>
        </p:txBody>
      </p:sp>
      <p:pic>
        <p:nvPicPr>
          <p:cNvPr id="66" name="Picture 65" descr="lock.png"/>
          <p:cNvPicPr>
            <a:picLocks noChangeAspect="1"/>
          </p:cNvPicPr>
          <p:nvPr/>
        </p:nvPicPr>
        <p:blipFill>
          <a:blip r:embed="rId6"/>
          <a:stretch>
            <a:fillRect/>
          </a:stretch>
        </p:blipFill>
        <p:spPr>
          <a:xfrm>
            <a:off x="11056410" y="5841682"/>
            <a:ext cx="122849" cy="178689"/>
          </a:xfrm>
          <a:prstGeom prst="rect">
            <a:avLst/>
          </a:prstGeom>
        </p:spPr>
      </p:pic>
      <p:sp>
        <p:nvSpPr>
          <p:cNvPr id="67" name="TextBox 66"/>
          <p:cNvSpPr txBox="1"/>
          <p:nvPr/>
        </p:nvSpPr>
        <p:spPr>
          <a:xfrm>
            <a:off x="11216293" y="5851016"/>
            <a:ext cx="478073" cy="179069"/>
          </a:xfrm>
          <a:prstGeom prst="rect">
            <a:avLst/>
          </a:prstGeom>
          <a:noFill/>
        </p:spPr>
        <p:txBody>
          <a:bodyPr wrap="none" lIns="0" rIns="0" tIns="0" bIns="0">
            <a:spAutoFit/>
          </a:bodyPr>
          <a:lstStyle/>
          <a:p>
            <a:r>
              <a:rPr sz="1050" b="0">
                <a:solidFill>
                  <a:srgbClr val="1F1F1F"/>
                </a:solidFill>
                <a:latin typeface="Calibri"/>
              </a:rPr>
              <a:t>in 2021</a:t>
            </a:r>
          </a:p>
        </p:txBody>
      </p:sp>
      <p:sp>
        <p:nvSpPr>
          <p:cNvPr id="68" name="TextBox 67"/>
          <p:cNvSpPr txBox="1"/>
          <p:nvPr/>
        </p:nvSpPr>
        <p:spPr>
          <a:xfrm>
            <a:off x="8658225" y="6011036"/>
            <a:ext cx="191318" cy="179069"/>
          </a:xfrm>
          <a:prstGeom prst="rect">
            <a:avLst/>
          </a:prstGeom>
          <a:noFill/>
        </p:spPr>
        <p:txBody>
          <a:bodyPr wrap="none" lIns="0" rIns="0" tIns="0" bIns="0">
            <a:spAutoFit/>
          </a:bodyPr>
          <a:lstStyle/>
          <a:p>
            <a:r>
              <a:rPr sz="1050" b="0">
                <a:solidFill>
                  <a:srgbClr val="1F1F1F"/>
                </a:solidFill>
                <a:latin typeface="Calibri"/>
              </a:rPr>
              <a:t>to</a:t>
            </a:r>
          </a:p>
        </p:txBody>
      </p:sp>
      <p:pic>
        <p:nvPicPr>
          <p:cNvPr id="69" name="Picture 68" descr="lock.png"/>
          <p:cNvPicPr>
            <a:picLocks noChangeAspect="1"/>
          </p:cNvPicPr>
          <p:nvPr/>
        </p:nvPicPr>
        <p:blipFill>
          <a:blip r:embed="rId6"/>
          <a:stretch>
            <a:fillRect/>
          </a:stretch>
        </p:blipFill>
        <p:spPr>
          <a:xfrm>
            <a:off x="8796492" y="6001702"/>
            <a:ext cx="122849" cy="178689"/>
          </a:xfrm>
          <a:prstGeom prst="rect">
            <a:avLst/>
          </a:prstGeom>
        </p:spPr>
      </p:pic>
      <p:sp>
        <p:nvSpPr>
          <p:cNvPr id="70" name="TextBox 69"/>
          <p:cNvSpPr txBox="1"/>
          <p:nvPr/>
        </p:nvSpPr>
        <p:spPr>
          <a:xfrm>
            <a:off x="8956375" y="6011036"/>
            <a:ext cx="511671" cy="179069"/>
          </a:xfrm>
          <a:prstGeom prst="rect">
            <a:avLst/>
          </a:prstGeom>
          <a:noFill/>
        </p:spPr>
        <p:txBody>
          <a:bodyPr wrap="none" lIns="0" rIns="0" tIns="0" bIns="0">
            <a:spAutoFit/>
          </a:bodyPr>
          <a:lstStyle/>
          <a:p>
            <a:r>
              <a:rPr sz="1050" b="0">
                <a:solidFill>
                  <a:srgbClr val="1F1F1F"/>
                </a:solidFill>
                <a:latin typeface="Calibri"/>
              </a:rPr>
              <a:t>in 2036.</a:t>
            </a:r>
          </a:p>
        </p:txBody>
      </p:sp>
      <p:pic>
        <p:nvPicPr>
          <p:cNvPr id="71" name="Picture 70" descr="lock.png"/>
          <p:cNvPicPr>
            <a:picLocks noChangeAspect="1"/>
          </p:cNvPicPr>
          <p:nvPr/>
        </p:nvPicPr>
        <p:blipFill>
          <a:blip r:embed="rId6"/>
          <a:stretch>
            <a:fillRect/>
          </a:stretch>
        </p:blipFill>
        <p:spPr>
          <a:xfrm>
            <a:off x="3418190" y="3048804"/>
            <a:ext cx="454926" cy="661711"/>
          </a:xfrm>
          <a:prstGeom prst="rect">
            <a:avLst/>
          </a:prstGeom>
        </p:spPr>
      </p:pic>
      <p:pic>
        <p:nvPicPr>
          <p:cNvPr id="72" name="Picture 71" descr="lock.png"/>
          <p:cNvPicPr>
            <a:picLocks noChangeAspect="1"/>
          </p:cNvPicPr>
          <p:nvPr/>
        </p:nvPicPr>
        <p:blipFill>
          <a:blip r:embed="rId6"/>
          <a:stretch>
            <a:fillRect/>
          </a:stretch>
        </p:blipFill>
        <p:spPr>
          <a:xfrm>
            <a:off x="9403270" y="2219134"/>
            <a:ext cx="256698" cy="373379"/>
          </a:xfrm>
          <a:prstGeom prst="rect">
            <a:avLst/>
          </a:prstGeom>
        </p:spPr>
      </p:pic>
      <p:sp>
        <p:nvSpPr>
          <p:cNvPr id="73" name="lockshield_13"/>
          <p:cNvSpPr/>
          <p:nvPr/>
        </p:nvSpPr>
        <p:spPr>
          <a:xfrm>
            <a:off x="347472" y="1831467"/>
            <a:ext cx="6309360" cy="3182112"/>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lockshield_17"/>
          <p:cNvSpPr/>
          <p:nvPr/>
        </p:nvSpPr>
        <p:spPr>
          <a:xfrm>
            <a:off x="6903720" y="1785747"/>
            <a:ext cx="4965192" cy="132588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Price Matrix: Product Type ×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(US$/Units) for every product type and material type combination, 2026</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Matrix (US$/Units), Shaded by Index vs Global Average</a:t>
            </a:r>
          </a:p>
        </p:txBody>
      </p:sp>
      <p:graphicFrame>
        <p:nvGraphicFramePr>
          <p:cNvPr id="13" name="Table 12"/>
          <p:cNvGraphicFramePr>
            <a:graphicFrameLocks noGrp="1"/>
          </p:cNvGraphicFramePr>
          <p:nvPr/>
        </p:nvGraphicFramePr>
        <p:xfrm>
          <a:off x="365760" y="1868043"/>
          <a:ext cx="7360920" cy="2834640"/>
        </p:xfrm>
        <a:graphic>
          <a:graphicData uri="http://schemas.openxmlformats.org/drawingml/2006/table">
            <a:tbl>
              <a:tblPr firstRow="1" bandRow="1">
                <a:tableStyleId>{5C22544A-7EE6-4342-B048-85BDC9FD1C3A}</a:tableStyleId>
              </a:tblPr>
              <a:tblGrid>
                <a:gridCol w="1554480"/>
                <a:gridCol w="1300734"/>
                <a:gridCol w="1300734"/>
                <a:gridCol w="1300734"/>
                <a:gridCol w="1300734"/>
                <a:gridCol w="603504"/>
              </a:tblGrid>
              <a:tr h="472440">
                <a:tc>
                  <a:txBody>
                    <a:bodyPr wrap="square"/>
                    <a:lstStyle/>
                    <a:p>
                      <a:pPr algn="l"/>
                      <a:r>
                        <a:rPr sz="800" b="1">
                          <a:solidFill>
                            <a:srgbClr val="FFFFFF"/>
                          </a:solidFill>
                          <a:latin typeface="Calibri"/>
                        </a:rPr>
                        <a:t>Product Type</a:t>
                      </a:r>
                    </a:p>
                  </a:txBody>
                  <a:tcPr marL="36576" marR="36576" marT="9144" marB="9144" anchor="ctr">
                    <a:solidFill>
                      <a:srgbClr val="0B2E4A"/>
                    </a:solidFill>
                  </a:tcPr>
                </a:tc>
                <a:tc>
                  <a:txBody>
                    <a:bodyPr wrap="square"/>
                    <a:lstStyle/>
                    <a:p>
                      <a:pPr algn="ctr"/>
                      <a:r>
                        <a:rPr sz="800" b="1">
                          <a:solidFill>
                            <a:srgbClr val="FFFFFF"/>
                          </a:solidFill>
                          <a:latin typeface="Calibri"/>
                        </a:rPr>
                        <a:t>Metal Alloys</a:t>
                      </a:r>
                    </a:p>
                  </a:txBody>
                  <a:tcPr marL="36576" marR="36576" marT="9144" marB="9144" anchor="ctr">
                    <a:solidFill>
                      <a:srgbClr val="0B2E4A"/>
                    </a:solidFill>
                  </a:tcPr>
                </a:tc>
                <a:tc>
                  <a:txBody>
                    <a:bodyPr wrap="square"/>
                    <a:lstStyle/>
                    <a:p>
                      <a:pPr algn="ctr"/>
                      <a:r>
                        <a:rPr sz="800" b="1">
                          <a:solidFill>
                            <a:srgbClr val="FFFFFF"/>
                          </a:solidFill>
                          <a:latin typeface="Calibri"/>
                        </a:rPr>
                        <a:t>Acrylic / Resin</a:t>
                      </a:r>
                    </a:p>
                  </a:txBody>
                  <a:tcPr marL="36576" marR="36576" marT="9144" marB="9144" anchor="ctr">
                    <a:solidFill>
                      <a:srgbClr val="0B2E4A"/>
                    </a:solidFill>
                  </a:tcPr>
                </a:tc>
                <a:tc>
                  <a:txBody>
                    <a:bodyPr wrap="square"/>
                    <a:lstStyle/>
                    <a:p>
                      <a:pPr algn="ctr"/>
                      <a:r>
                        <a:rPr sz="800" b="1">
                          <a:solidFill>
                            <a:srgbClr val="FFFFFF"/>
                          </a:solidFill>
                          <a:latin typeface="Calibri"/>
                        </a:rPr>
                        <a:t>Flexible Thermoplastics</a:t>
                      </a:r>
                    </a:p>
                  </a:txBody>
                  <a:tcPr marL="36576" marR="36576" marT="9144" marB="9144" anchor="ctr">
                    <a:solidFill>
                      <a:srgbClr val="0B2E4A"/>
                    </a:solidFill>
                  </a:tcPr>
                </a:tc>
                <a:tc>
                  <a:txBody>
                    <a:bodyPr wrap="square"/>
                    <a:lstStyle/>
                    <a:p>
                      <a:pPr algn="ctr"/>
                      <a:r>
                        <a:rPr sz="800" b="1">
                          <a:solidFill>
                            <a:srgbClr val="FFFFFF"/>
                          </a:solidFill>
                          <a:latin typeface="Calibri"/>
                        </a:rPr>
                        <a:t>High-performance Polymers</a:t>
                      </a:r>
                    </a:p>
                  </a:txBody>
                  <a:tcPr marL="36576" marR="36576" marT="9144" marB="9144" anchor="ctr">
                    <a:solidFill>
                      <a:srgbClr val="0B2E4A"/>
                    </a:solidFill>
                  </a:tcPr>
                </a:tc>
                <a:tc>
                  <a:txBody>
                    <a:bodyPr wrap="square"/>
                    <a:lstStyle/>
                    <a:p>
                      <a:pPr algn="ctr"/>
                      <a:r>
                        <a:rPr sz="800" b="1">
                          <a:solidFill>
                            <a:srgbClr val="FFFFFF"/>
                          </a:solidFill>
                          <a:latin typeface="Calibri"/>
                        </a:rPr>
                        <a:t>Row Avg.</a:t>
                      </a:r>
                    </a:p>
                  </a:txBody>
                  <a:tcPr marL="36576" marR="36576" marT="9144" marB="9144" anchor="ctr">
                    <a:solidFill>
                      <a:srgbClr val="0B2E4A"/>
                    </a:solidFill>
                  </a:tcPr>
                </a:tc>
              </a:tr>
              <a:tr h="472440">
                <a:tc>
                  <a:txBody>
                    <a:bodyPr wrap="square"/>
                    <a:lstStyle/>
                    <a:p>
                      <a:pPr algn="l"/>
                      <a:r>
                        <a:rPr sz="900" b="1">
                          <a:solidFill>
                            <a:srgbClr val="1F1F1F"/>
                          </a:solidFill>
                          <a:latin typeface="Calibri"/>
                        </a:rPr>
                        <a:t>Acrylic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Flexible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Combination Framework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Cast Metal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Column Avg.</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4" name="Rectangle 13"/>
          <p:cNvSpPr/>
          <p:nvPr/>
        </p:nvSpPr>
        <p:spPr>
          <a:xfrm>
            <a:off x="384048" y="4794123"/>
            <a:ext cx="180975" cy="142875"/>
          </a:xfrm>
          <a:prstGeom prst="rect">
            <a:avLst/>
          </a:prstGeom>
          <a:solidFill>
            <a:srgbClr val="9DC0E0"/>
          </a:solidFill>
          <a:ln w="9525">
            <a:solidFill>
              <a:srgbClr val="D9DEE4"/>
            </a:solidFill>
          </a:ln>
          <a:effectLst/>
        </p:spPr>
        <p:txBody>
          <a:bodyPr rtlCol="0" anchor="ctr"/>
          <a:lstStyle/>
          <a:p>
            <a:pPr algn="ctr"/>
          </a:p>
        </p:txBody>
      </p:sp>
      <p:sp>
        <p:nvSpPr>
          <p:cNvPr id="15" name="FMI Scale legend"/>
          <p:cNvSpPr txBox="1"/>
          <p:nvPr/>
        </p:nvSpPr>
        <p:spPr>
          <a:xfrm>
            <a:off x="5935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below 97.5</a:t>
            </a:r>
          </a:p>
        </p:txBody>
      </p:sp>
      <p:sp>
        <p:nvSpPr>
          <p:cNvPr id="16" name="Rectangle 15"/>
          <p:cNvSpPr/>
          <p:nvPr/>
        </p:nvSpPr>
        <p:spPr>
          <a:xfrm>
            <a:off x="1850898" y="4794123"/>
            <a:ext cx="180975" cy="142875"/>
          </a:xfrm>
          <a:prstGeom prst="rect">
            <a:avLst/>
          </a:prstGeom>
          <a:solidFill>
            <a:srgbClr val="D9E6F2"/>
          </a:solidFill>
          <a:ln w="9525">
            <a:solidFill>
              <a:srgbClr val="D9DEE4"/>
            </a:solidFill>
          </a:ln>
          <a:effectLst/>
        </p:spPr>
        <p:txBody>
          <a:bodyPr rtlCol="0" anchor="ctr"/>
          <a:lstStyle/>
          <a:p>
            <a:pPr algn="ctr"/>
          </a:p>
        </p:txBody>
      </p:sp>
      <p:sp>
        <p:nvSpPr>
          <p:cNvPr id="17" name="FMI Scale legend"/>
          <p:cNvSpPr txBox="1"/>
          <p:nvPr/>
        </p:nvSpPr>
        <p:spPr>
          <a:xfrm>
            <a:off x="20604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97.5 to 99</a:t>
            </a:r>
          </a:p>
        </p:txBody>
      </p:sp>
      <p:sp>
        <p:nvSpPr>
          <p:cNvPr id="18" name="Rectangle 17"/>
          <p:cNvSpPr/>
          <p:nvPr/>
        </p:nvSpPr>
        <p:spPr>
          <a:xfrm>
            <a:off x="3317748" y="4794123"/>
            <a:ext cx="180975" cy="142875"/>
          </a:xfrm>
          <a:prstGeom prst="rect">
            <a:avLst/>
          </a:prstGeom>
          <a:solidFill>
            <a:srgbClr val="F7F7F7"/>
          </a:solidFill>
          <a:ln w="9525">
            <a:solidFill>
              <a:srgbClr val="D9DEE4"/>
            </a:solidFill>
          </a:ln>
          <a:effectLst/>
        </p:spPr>
        <p:txBody>
          <a:bodyPr rtlCol="0" anchor="ctr"/>
          <a:lstStyle/>
          <a:p>
            <a:pPr algn="ctr"/>
          </a:p>
        </p:txBody>
      </p:sp>
      <p:sp>
        <p:nvSpPr>
          <p:cNvPr id="19" name="FMI Scale legend"/>
          <p:cNvSpPr txBox="1"/>
          <p:nvPr/>
        </p:nvSpPr>
        <p:spPr>
          <a:xfrm>
            <a:off x="35272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Parity: 99 to 101</a:t>
            </a:r>
          </a:p>
        </p:txBody>
      </p:sp>
      <p:sp>
        <p:nvSpPr>
          <p:cNvPr id="20" name="Rectangle 19"/>
          <p:cNvSpPr/>
          <p:nvPr/>
        </p:nvSpPr>
        <p:spPr>
          <a:xfrm>
            <a:off x="4784598" y="4794123"/>
            <a:ext cx="180975" cy="142875"/>
          </a:xfrm>
          <a:prstGeom prst="rect">
            <a:avLst/>
          </a:prstGeom>
          <a:solidFill>
            <a:srgbClr val="FBE3D3"/>
          </a:solidFill>
          <a:ln w="9525">
            <a:solidFill>
              <a:srgbClr val="D9DEE4"/>
            </a:solidFill>
          </a:ln>
          <a:effectLst/>
        </p:spPr>
        <p:txBody>
          <a:bodyPr rtlCol="0" anchor="ctr"/>
          <a:lstStyle/>
          <a:p>
            <a:pPr algn="ctr"/>
          </a:p>
        </p:txBody>
      </p:sp>
      <p:sp>
        <p:nvSpPr>
          <p:cNvPr id="21" name="FMI Scale legend"/>
          <p:cNvSpPr txBox="1"/>
          <p:nvPr/>
        </p:nvSpPr>
        <p:spPr>
          <a:xfrm>
            <a:off x="49941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101 to 102.5</a:t>
            </a:r>
          </a:p>
        </p:txBody>
      </p:sp>
      <p:sp>
        <p:nvSpPr>
          <p:cNvPr id="22" name="Rectangle 21"/>
          <p:cNvSpPr/>
          <p:nvPr/>
        </p:nvSpPr>
        <p:spPr>
          <a:xfrm>
            <a:off x="6251448" y="4794123"/>
            <a:ext cx="180975" cy="142875"/>
          </a:xfrm>
          <a:prstGeom prst="rect">
            <a:avLst/>
          </a:prstGeom>
          <a:solidFill>
            <a:srgbClr val="F4B183"/>
          </a:solidFill>
          <a:ln w="9525">
            <a:solidFill>
              <a:srgbClr val="D9DEE4"/>
            </a:solidFill>
          </a:ln>
          <a:effectLst/>
        </p:spPr>
        <p:txBody>
          <a:bodyPr rtlCol="0" anchor="ctr"/>
          <a:lstStyle/>
          <a:p>
            <a:pPr algn="ctr"/>
          </a:p>
        </p:txBody>
      </p:sp>
      <p:sp>
        <p:nvSpPr>
          <p:cNvPr id="23" name="FMI Scale legend"/>
          <p:cNvSpPr txBox="1"/>
          <p:nvPr/>
        </p:nvSpPr>
        <p:spPr>
          <a:xfrm>
            <a:off x="64609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above 102.5</a:t>
            </a:r>
          </a:p>
        </p:txBody>
      </p:sp>
      <p:sp>
        <p:nvSpPr>
          <p:cNvPr id="24" name="Rectangle 23"/>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25" name="TextBox 24"/>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Range Across All Material Type Sub-Types, 2026</a:t>
            </a:r>
          </a:p>
        </p:txBody>
      </p:sp>
      <p:sp>
        <p:nvSpPr>
          <p:cNvPr id="26" name="TextBox 25"/>
          <p:cNvSpPr txBox="1"/>
          <p:nvPr/>
        </p:nvSpPr>
        <p:spPr>
          <a:xfrm>
            <a:off x="8065008" y="1965579"/>
            <a:ext cx="374904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lowest to highest price (US$/Units) at the finest data level.</a:t>
            </a:r>
          </a:p>
        </p:txBody>
      </p:sp>
      <p:graphicFrame>
        <p:nvGraphicFramePr>
          <p:cNvPr id="27" name="FMI Price Chart"/>
          <p:cNvGraphicFramePr>
            <a:graphicFrameLocks noGrp="1"/>
          </p:cNvGraphicFramePr>
          <p:nvPr/>
        </p:nvGraphicFramePr>
        <p:xfrm>
          <a:off x="8001000" y="2032635"/>
          <a:ext cx="3867912" cy="2971800"/>
        </p:xfrm>
        <a:graphic>
          <a:graphicData uri="http://schemas.openxmlformats.org/drawingml/2006/chart">
            <c:chart xmlns:c="http://schemas.openxmlformats.org/drawingml/2006/chart" r:id="rId3"/>
          </a:graphicData>
        </a:graphic>
      </p:graphicFrame>
      <p:sp>
        <p:nvSpPr>
          <p:cNvPr id="28" name="Rectangle 2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9" name="Oval 2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30" name="TextBox 2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Premium Pockets</a:t>
            </a:r>
          </a:p>
        </p:txBody>
      </p:sp>
      <p:sp>
        <p:nvSpPr>
          <p:cNvPr id="31" name="TextBox 3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2" name="Rectangle 3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33" name="Oval 3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34" name="TextBox 3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Value Pockets</a:t>
            </a:r>
          </a:p>
        </p:txBody>
      </p:sp>
      <p:sp>
        <p:nvSpPr>
          <p:cNvPr id="35" name="TextBox 3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6" name="Rectangle 3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37" name="Oval 3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38" name="TextBox 3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Within-Type Spread</a:t>
            </a:r>
          </a:p>
        </p:txBody>
      </p:sp>
      <p:sp>
        <p:nvSpPr>
          <p:cNvPr id="39" name="TextBox 3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40" name="TextBox 3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4636770" y="3254883"/>
            <a:ext cx="366712" cy="533400"/>
          </a:xfrm>
          <a:prstGeom prst="rect">
            <a:avLst/>
          </a:prstGeom>
        </p:spPr>
      </p:pic>
      <p:sp>
        <p:nvSpPr>
          <p:cNvPr id="43" name="TextBox 42"/>
          <p:cNvSpPr txBox="1"/>
          <p:nvPr/>
        </p:nvSpPr>
        <p:spPr>
          <a:xfrm>
            <a:off x="411480" y="1110615"/>
            <a:ext cx="6162972" cy="217169"/>
          </a:xfrm>
          <a:prstGeom prst="rect">
            <a:avLst/>
          </a:prstGeom>
          <a:noFill/>
        </p:spPr>
        <p:txBody>
          <a:bodyPr wrap="none" lIns="0" rIns="0" tIns="0" bIns="0">
            <a:spAutoFit/>
          </a:bodyPr>
          <a:lstStyle/>
          <a:p>
            <a:r>
              <a:rPr sz="1300" b="1">
                <a:solidFill>
                  <a:srgbClr val="FFFFFF"/>
                </a:solidFill>
                <a:latin typeface="Calibri"/>
              </a:rPr>
              <a:t>Acrylic Partial Dentures for Metal Alloys is the highest priced combination in 2026 at US$</a:t>
            </a:r>
          </a:p>
        </p:txBody>
      </p:sp>
      <p:pic>
        <p:nvPicPr>
          <p:cNvPr id="44" name="Picture 43" descr="lock.png"/>
          <p:cNvPicPr>
            <a:picLocks noChangeAspect="1"/>
          </p:cNvPicPr>
          <p:nvPr/>
        </p:nvPicPr>
        <p:blipFill>
          <a:blip r:embed="rId5"/>
          <a:stretch>
            <a:fillRect/>
          </a:stretch>
        </p:blipFill>
        <p:spPr>
          <a:xfrm>
            <a:off x="6526913" y="1099058"/>
            <a:ext cx="152098" cy="221234"/>
          </a:xfrm>
          <a:prstGeom prst="rect">
            <a:avLst/>
          </a:prstGeom>
        </p:spPr>
      </p:pic>
      <p:sp>
        <p:nvSpPr>
          <p:cNvPr id="45" name="TextBox 44"/>
          <p:cNvSpPr txBox="1"/>
          <p:nvPr/>
        </p:nvSpPr>
        <p:spPr>
          <a:xfrm>
            <a:off x="6724863" y="1110615"/>
            <a:ext cx="535706" cy="217169"/>
          </a:xfrm>
          <a:prstGeom prst="rect">
            <a:avLst/>
          </a:prstGeom>
          <a:noFill/>
        </p:spPr>
        <p:txBody>
          <a:bodyPr wrap="none" lIns="0" rIns="0" tIns="0" bIns="0">
            <a:spAutoFit/>
          </a:bodyPr>
          <a:lstStyle/>
          <a:p>
            <a:r>
              <a:rPr sz="1300" b="1">
                <a:solidFill>
                  <a:srgbClr val="FFFFFF"/>
                </a:solidFill>
                <a:latin typeface="Calibri"/>
              </a:rPr>
              <a:t>/MT, +</a:t>
            </a:r>
          </a:p>
        </p:txBody>
      </p:sp>
      <p:pic>
        <p:nvPicPr>
          <p:cNvPr id="46" name="Picture 45" descr="lock.png"/>
          <p:cNvPicPr>
            <a:picLocks noChangeAspect="1"/>
          </p:cNvPicPr>
          <p:nvPr/>
        </p:nvPicPr>
        <p:blipFill>
          <a:blip r:embed="rId5"/>
          <a:stretch>
            <a:fillRect/>
          </a:stretch>
        </p:blipFill>
        <p:spPr>
          <a:xfrm>
            <a:off x="7213031" y="1099058"/>
            <a:ext cx="152098" cy="221234"/>
          </a:xfrm>
          <a:prstGeom prst="rect">
            <a:avLst/>
          </a:prstGeom>
        </p:spPr>
      </p:pic>
      <p:sp>
        <p:nvSpPr>
          <p:cNvPr id="47" name="TextBox 46"/>
          <p:cNvSpPr txBox="1"/>
          <p:nvPr/>
        </p:nvSpPr>
        <p:spPr>
          <a:xfrm>
            <a:off x="7410980" y="1110615"/>
            <a:ext cx="1871984" cy="217169"/>
          </a:xfrm>
          <a:prstGeom prst="rect">
            <a:avLst/>
          </a:prstGeom>
          <a:noFill/>
        </p:spPr>
        <p:txBody>
          <a:bodyPr wrap="none" lIns="0" rIns="0" tIns="0" bIns="0">
            <a:spAutoFit/>
          </a:bodyPr>
          <a:lstStyle/>
          <a:p>
            <a:r>
              <a:rPr sz="1300" b="1">
                <a:solidFill>
                  <a:srgbClr val="FFFFFF"/>
                </a:solidFill>
                <a:latin typeface="Calibri"/>
              </a:rPr>
              <a:t>above the Global average.</a:t>
            </a:r>
          </a:p>
        </p:txBody>
      </p:sp>
      <p:sp>
        <p:nvSpPr>
          <p:cNvPr id="48" name="TextBox 47"/>
          <p:cNvSpPr txBox="1"/>
          <p:nvPr/>
        </p:nvSpPr>
        <p:spPr>
          <a:xfrm>
            <a:off x="806576" y="5530976"/>
            <a:ext cx="3125539" cy="179069"/>
          </a:xfrm>
          <a:prstGeom prst="rect">
            <a:avLst/>
          </a:prstGeom>
          <a:noFill/>
        </p:spPr>
        <p:txBody>
          <a:bodyPr wrap="none" lIns="0" rIns="0" tIns="0" bIns="0">
            <a:spAutoFit/>
          </a:bodyPr>
          <a:lstStyle/>
          <a:p>
            <a:r>
              <a:rPr sz="1050" b="0">
                <a:solidFill>
                  <a:srgbClr val="1F1F1F"/>
                </a:solidFill>
                <a:latin typeface="Calibri"/>
              </a:rPr>
              <a:t>Acrylic Partial Dentures positioned on Metal Alloys carry</a:t>
            </a:r>
          </a:p>
        </p:txBody>
      </p:sp>
      <p:sp>
        <p:nvSpPr>
          <p:cNvPr id="49" name="TextBox 48"/>
          <p:cNvSpPr txBox="1"/>
          <p:nvPr/>
        </p:nvSpPr>
        <p:spPr>
          <a:xfrm>
            <a:off x="806576" y="5690996"/>
            <a:ext cx="2094160" cy="179069"/>
          </a:xfrm>
          <a:prstGeom prst="rect">
            <a:avLst/>
          </a:prstGeom>
          <a:noFill/>
        </p:spPr>
        <p:txBody>
          <a:bodyPr wrap="none" lIns="0" rIns="0" tIns="0" bIns="0">
            <a:spAutoFit/>
          </a:bodyPr>
          <a:lstStyle/>
          <a:p>
            <a:r>
              <a:rPr sz="1050" b="0">
                <a:solidFill>
                  <a:srgbClr val="1F1F1F"/>
                </a:solidFill>
                <a:latin typeface="Calibri"/>
              </a:rPr>
              <a:t>the strongest premium at an index of</a:t>
            </a:r>
          </a:p>
        </p:txBody>
      </p:sp>
      <p:pic>
        <p:nvPicPr>
          <p:cNvPr id="50" name="Picture 49" descr="lock.png"/>
          <p:cNvPicPr>
            <a:picLocks noChangeAspect="1"/>
          </p:cNvPicPr>
          <p:nvPr/>
        </p:nvPicPr>
        <p:blipFill>
          <a:blip r:embed="rId5"/>
          <a:stretch>
            <a:fillRect/>
          </a:stretch>
        </p:blipFill>
        <p:spPr>
          <a:xfrm>
            <a:off x="2847686" y="5681662"/>
            <a:ext cx="122849" cy="178689"/>
          </a:xfrm>
          <a:prstGeom prst="rect">
            <a:avLst/>
          </a:prstGeom>
        </p:spPr>
      </p:pic>
      <p:sp>
        <p:nvSpPr>
          <p:cNvPr id="51" name="TextBox 50"/>
          <p:cNvSpPr txBox="1"/>
          <p:nvPr/>
        </p:nvSpPr>
        <p:spPr>
          <a:xfrm>
            <a:off x="3007569" y="5690996"/>
            <a:ext cx="854943" cy="179069"/>
          </a:xfrm>
          <a:prstGeom prst="rect">
            <a:avLst/>
          </a:prstGeom>
          <a:noFill/>
        </p:spPr>
        <p:txBody>
          <a:bodyPr wrap="none" lIns="0" rIns="0" tIns="0" bIns="0">
            <a:spAutoFit/>
          </a:bodyPr>
          <a:lstStyle/>
          <a:p>
            <a:r>
              <a:rPr sz="1050" b="0">
                <a:solidFill>
                  <a:srgbClr val="1F1F1F"/>
                </a:solidFill>
                <a:latin typeface="Calibri"/>
              </a:rPr>
              <a:t>, which signals</a:t>
            </a:r>
          </a:p>
        </p:txBody>
      </p:sp>
      <p:sp>
        <p:nvSpPr>
          <p:cNvPr id="52" name="TextBox 51"/>
          <p:cNvSpPr txBox="1"/>
          <p:nvPr/>
        </p:nvSpPr>
        <p:spPr>
          <a:xfrm>
            <a:off x="806576" y="5851016"/>
            <a:ext cx="2737730" cy="179069"/>
          </a:xfrm>
          <a:prstGeom prst="rect">
            <a:avLst/>
          </a:prstGeom>
          <a:noFill/>
        </p:spPr>
        <p:txBody>
          <a:bodyPr wrap="none" lIns="0" rIns="0" tIns="0" bIns="0">
            <a:spAutoFit/>
          </a:bodyPr>
          <a:lstStyle/>
          <a:p>
            <a:r>
              <a:rPr sz="1050" b="0">
                <a:solidFill>
                  <a:srgbClr val="1F1F1F"/>
                </a:solidFill>
                <a:latin typeface="Calibri"/>
              </a:rPr>
              <a:t>room for value-added claims in this combination.</a:t>
            </a:r>
          </a:p>
        </p:txBody>
      </p:sp>
      <p:sp>
        <p:nvSpPr>
          <p:cNvPr id="53" name="TextBox 52"/>
          <p:cNvSpPr txBox="1"/>
          <p:nvPr/>
        </p:nvSpPr>
        <p:spPr>
          <a:xfrm>
            <a:off x="4732401" y="5530976"/>
            <a:ext cx="2776016" cy="179069"/>
          </a:xfrm>
          <a:prstGeom prst="rect">
            <a:avLst/>
          </a:prstGeom>
          <a:noFill/>
        </p:spPr>
        <p:txBody>
          <a:bodyPr wrap="none" lIns="0" rIns="0" tIns="0" bIns="0">
            <a:spAutoFit/>
          </a:bodyPr>
          <a:lstStyle/>
          <a:p>
            <a:r>
              <a:rPr sz="1050" b="0">
                <a:solidFill>
                  <a:srgbClr val="1F1F1F"/>
                </a:solidFill>
                <a:latin typeface="Calibri"/>
              </a:rPr>
              <a:t>Cast Metal Partial Dentures for High-performance</a:t>
            </a:r>
          </a:p>
        </p:txBody>
      </p:sp>
      <p:sp>
        <p:nvSpPr>
          <p:cNvPr id="54" name="TextBox 53"/>
          <p:cNvSpPr txBox="1"/>
          <p:nvPr/>
        </p:nvSpPr>
        <p:spPr>
          <a:xfrm>
            <a:off x="4732401" y="5690996"/>
            <a:ext cx="3143249" cy="179069"/>
          </a:xfrm>
          <a:prstGeom prst="rect">
            <a:avLst/>
          </a:prstGeom>
          <a:noFill/>
        </p:spPr>
        <p:txBody>
          <a:bodyPr wrap="none" lIns="0" rIns="0" tIns="0" bIns="0">
            <a:spAutoFit/>
          </a:bodyPr>
          <a:lstStyle/>
          <a:p>
            <a:r>
              <a:rPr sz="1050" b="0">
                <a:solidFill>
                  <a:srgbClr val="1F1F1F"/>
                </a:solidFill>
                <a:latin typeface="Calibri"/>
              </a:rPr>
              <a:t>Polymers is the lowest priced combination at an index of</a:t>
            </a:r>
          </a:p>
        </p:txBody>
      </p:sp>
      <p:pic>
        <p:nvPicPr>
          <p:cNvPr id="55" name="Picture 54" descr="lock.png"/>
          <p:cNvPicPr>
            <a:picLocks noChangeAspect="1"/>
          </p:cNvPicPr>
          <p:nvPr/>
        </p:nvPicPr>
        <p:blipFill>
          <a:blip r:embed="rId5"/>
          <a:stretch>
            <a:fillRect/>
          </a:stretch>
        </p:blipFill>
        <p:spPr>
          <a:xfrm>
            <a:off x="4719545" y="5841682"/>
            <a:ext cx="122849" cy="178689"/>
          </a:xfrm>
          <a:prstGeom prst="rect">
            <a:avLst/>
          </a:prstGeom>
        </p:spPr>
      </p:pic>
      <p:sp>
        <p:nvSpPr>
          <p:cNvPr id="56" name="TextBox 55"/>
          <p:cNvSpPr txBox="1"/>
          <p:nvPr/>
        </p:nvSpPr>
        <p:spPr>
          <a:xfrm>
            <a:off x="4879428" y="5851016"/>
            <a:ext cx="475729" cy="179069"/>
          </a:xfrm>
          <a:prstGeom prst="rect">
            <a:avLst/>
          </a:prstGeom>
          <a:noFill/>
        </p:spPr>
        <p:txBody>
          <a:bodyPr wrap="none" lIns="0" rIns="0" tIns="0" bIns="0">
            <a:spAutoFit/>
          </a:bodyPr>
          <a:lstStyle/>
          <a:p>
            <a:r>
              <a:rPr sz="1050" b="0">
                <a:solidFill>
                  <a:srgbClr val="1F1F1F"/>
                </a:solidFill>
                <a:latin typeface="Calibri"/>
              </a:rPr>
              <a:t>, sitting</a:t>
            </a:r>
          </a:p>
        </p:txBody>
      </p:sp>
      <p:pic>
        <p:nvPicPr>
          <p:cNvPr id="57" name="Picture 56" descr="lock.png"/>
          <p:cNvPicPr>
            <a:picLocks noChangeAspect="1"/>
          </p:cNvPicPr>
          <p:nvPr/>
        </p:nvPicPr>
        <p:blipFill>
          <a:blip r:embed="rId5"/>
          <a:stretch>
            <a:fillRect/>
          </a:stretch>
        </p:blipFill>
        <p:spPr>
          <a:xfrm>
            <a:off x="5302106" y="5841682"/>
            <a:ext cx="122849" cy="178689"/>
          </a:xfrm>
          <a:prstGeom prst="rect">
            <a:avLst/>
          </a:prstGeom>
        </p:spPr>
      </p:pic>
      <p:sp>
        <p:nvSpPr>
          <p:cNvPr id="58" name="TextBox 57"/>
          <p:cNvSpPr txBox="1"/>
          <p:nvPr/>
        </p:nvSpPr>
        <p:spPr>
          <a:xfrm>
            <a:off x="5461988" y="5851016"/>
            <a:ext cx="1846733" cy="179069"/>
          </a:xfrm>
          <a:prstGeom prst="rect">
            <a:avLst/>
          </a:prstGeom>
          <a:noFill/>
        </p:spPr>
        <p:txBody>
          <a:bodyPr wrap="none" lIns="0" rIns="0" tIns="0" bIns="0">
            <a:spAutoFit/>
          </a:bodyPr>
          <a:lstStyle/>
          <a:p>
            <a:r>
              <a:rPr sz="1050" b="0">
                <a:solidFill>
                  <a:srgbClr val="1F1F1F"/>
                </a:solidFill>
                <a:latin typeface="Calibri"/>
              </a:rPr>
              <a:t>below the Global average of US$</a:t>
            </a:r>
          </a:p>
        </p:txBody>
      </p:sp>
      <p:pic>
        <p:nvPicPr>
          <p:cNvPr id="59" name="Picture 58" descr="lock.png"/>
          <p:cNvPicPr>
            <a:picLocks noChangeAspect="1"/>
          </p:cNvPicPr>
          <p:nvPr/>
        </p:nvPicPr>
        <p:blipFill>
          <a:blip r:embed="rId5"/>
          <a:stretch>
            <a:fillRect/>
          </a:stretch>
        </p:blipFill>
        <p:spPr>
          <a:xfrm>
            <a:off x="4719545" y="6001702"/>
            <a:ext cx="122849" cy="178689"/>
          </a:xfrm>
          <a:prstGeom prst="rect">
            <a:avLst/>
          </a:prstGeom>
        </p:spPr>
      </p:pic>
      <p:sp>
        <p:nvSpPr>
          <p:cNvPr id="60" name="TextBox 59"/>
          <p:cNvSpPr txBox="1"/>
          <p:nvPr/>
        </p:nvSpPr>
        <p:spPr>
          <a:xfrm>
            <a:off x="4879428" y="6011036"/>
            <a:ext cx="340555" cy="179069"/>
          </a:xfrm>
          <a:prstGeom prst="rect">
            <a:avLst/>
          </a:prstGeom>
          <a:noFill/>
        </p:spPr>
        <p:txBody>
          <a:bodyPr wrap="none" lIns="0" rIns="0" tIns="0" bIns="0">
            <a:spAutoFit/>
          </a:bodyPr>
          <a:lstStyle/>
          <a:p>
            <a:r>
              <a:rPr sz="1050" b="0">
                <a:solidFill>
                  <a:srgbClr val="1F1F1F"/>
                </a:solidFill>
                <a:latin typeface="Calibri"/>
              </a:rPr>
              <a:t>/MT.</a:t>
            </a:r>
          </a:p>
        </p:txBody>
      </p:sp>
      <p:sp>
        <p:nvSpPr>
          <p:cNvPr id="61" name="TextBox 60"/>
          <p:cNvSpPr txBox="1"/>
          <p:nvPr/>
        </p:nvSpPr>
        <p:spPr>
          <a:xfrm>
            <a:off x="8658225" y="5530976"/>
            <a:ext cx="2939057" cy="179069"/>
          </a:xfrm>
          <a:prstGeom prst="rect">
            <a:avLst/>
          </a:prstGeom>
          <a:noFill/>
        </p:spPr>
        <p:txBody>
          <a:bodyPr wrap="none" lIns="0" rIns="0" tIns="0" bIns="0">
            <a:spAutoFit/>
          </a:bodyPr>
          <a:lstStyle/>
          <a:p>
            <a:r>
              <a:rPr sz="1050" b="0">
                <a:solidFill>
                  <a:srgbClr val="1F1F1F"/>
                </a:solidFill>
                <a:latin typeface="Calibri"/>
              </a:rPr>
              <a:t>Cast Metal Partial Dentures show the widest internal</a:t>
            </a:r>
          </a:p>
        </p:txBody>
      </p:sp>
      <p:sp>
        <p:nvSpPr>
          <p:cNvPr id="62" name="TextBox 61"/>
          <p:cNvSpPr txBox="1"/>
          <p:nvPr/>
        </p:nvSpPr>
        <p:spPr>
          <a:xfrm>
            <a:off x="8658225" y="5690996"/>
            <a:ext cx="884634" cy="179069"/>
          </a:xfrm>
          <a:prstGeom prst="rect">
            <a:avLst/>
          </a:prstGeom>
          <a:noFill/>
        </p:spPr>
        <p:txBody>
          <a:bodyPr wrap="none" lIns="0" rIns="0" tIns="0" bIns="0">
            <a:spAutoFit/>
          </a:bodyPr>
          <a:lstStyle/>
          <a:p>
            <a:r>
              <a:rPr sz="1050" b="0">
                <a:solidFill>
                  <a:srgbClr val="1F1F1F"/>
                </a:solidFill>
                <a:latin typeface="Calibri"/>
              </a:rPr>
              <a:t>price spread at</a:t>
            </a:r>
          </a:p>
        </p:txBody>
      </p:sp>
      <p:pic>
        <p:nvPicPr>
          <p:cNvPr id="63" name="Picture 62" descr="lock.png"/>
          <p:cNvPicPr>
            <a:picLocks noChangeAspect="1"/>
          </p:cNvPicPr>
          <p:nvPr/>
        </p:nvPicPr>
        <p:blipFill>
          <a:blip r:embed="rId5"/>
          <a:stretch>
            <a:fillRect/>
          </a:stretch>
        </p:blipFill>
        <p:spPr>
          <a:xfrm>
            <a:off x="9489808" y="5681662"/>
            <a:ext cx="122849" cy="178689"/>
          </a:xfrm>
          <a:prstGeom prst="rect">
            <a:avLst/>
          </a:prstGeom>
        </p:spPr>
      </p:pic>
      <p:sp>
        <p:nvSpPr>
          <p:cNvPr id="64" name="TextBox 63"/>
          <p:cNvSpPr txBox="1"/>
          <p:nvPr/>
        </p:nvSpPr>
        <p:spPr>
          <a:xfrm>
            <a:off x="9649690" y="5690996"/>
            <a:ext cx="1085701" cy="179069"/>
          </a:xfrm>
          <a:prstGeom prst="rect">
            <a:avLst/>
          </a:prstGeom>
          <a:noFill/>
        </p:spPr>
        <p:txBody>
          <a:bodyPr wrap="none" lIns="0" rIns="0" tIns="0" bIns="0">
            <a:spAutoFit/>
          </a:bodyPr>
          <a:lstStyle/>
          <a:p>
            <a:r>
              <a:rPr sz="1050" b="0">
                <a:solidFill>
                  <a:srgbClr val="1F1F1F"/>
                </a:solidFill>
                <a:latin typeface="Calibri"/>
              </a:rPr>
              <a:t>, ranging from US$</a:t>
            </a:r>
          </a:p>
        </p:txBody>
      </p:sp>
      <p:pic>
        <p:nvPicPr>
          <p:cNvPr id="65" name="Picture 64" descr="lock.png"/>
          <p:cNvPicPr>
            <a:picLocks noChangeAspect="1"/>
          </p:cNvPicPr>
          <p:nvPr/>
        </p:nvPicPr>
        <p:blipFill>
          <a:blip r:embed="rId5"/>
          <a:stretch>
            <a:fillRect/>
          </a:stretch>
        </p:blipFill>
        <p:spPr>
          <a:xfrm>
            <a:off x="10682341" y="5681662"/>
            <a:ext cx="122849" cy="178689"/>
          </a:xfrm>
          <a:prstGeom prst="rect">
            <a:avLst/>
          </a:prstGeom>
        </p:spPr>
      </p:pic>
      <p:sp>
        <p:nvSpPr>
          <p:cNvPr id="66" name="TextBox 65"/>
          <p:cNvSpPr txBox="1"/>
          <p:nvPr/>
        </p:nvSpPr>
        <p:spPr>
          <a:xfrm>
            <a:off x="10842223" y="5690996"/>
            <a:ext cx="697110" cy="179069"/>
          </a:xfrm>
          <a:prstGeom prst="rect">
            <a:avLst/>
          </a:prstGeom>
          <a:noFill/>
        </p:spPr>
        <p:txBody>
          <a:bodyPr wrap="none" lIns="0" rIns="0" tIns="0" bIns="0">
            <a:spAutoFit/>
          </a:bodyPr>
          <a:lstStyle/>
          <a:p>
            <a:r>
              <a:rPr sz="1050" b="0">
                <a:solidFill>
                  <a:srgbClr val="1F1F1F"/>
                </a:solidFill>
                <a:latin typeface="Calibri"/>
              </a:rPr>
              <a:t>/MT to US$</a:t>
            </a:r>
          </a:p>
        </p:txBody>
      </p:sp>
      <p:pic>
        <p:nvPicPr>
          <p:cNvPr id="67" name="Picture 66" descr="lock.png"/>
          <p:cNvPicPr>
            <a:picLocks noChangeAspect="1"/>
          </p:cNvPicPr>
          <p:nvPr/>
        </p:nvPicPr>
        <p:blipFill>
          <a:blip r:embed="rId5"/>
          <a:stretch>
            <a:fillRect/>
          </a:stretch>
        </p:blipFill>
        <p:spPr>
          <a:xfrm>
            <a:off x="8645369" y="5841682"/>
            <a:ext cx="122849" cy="178689"/>
          </a:xfrm>
          <a:prstGeom prst="rect">
            <a:avLst/>
          </a:prstGeom>
        </p:spPr>
      </p:pic>
      <p:sp>
        <p:nvSpPr>
          <p:cNvPr id="68" name="TextBox 67"/>
          <p:cNvSpPr txBox="1"/>
          <p:nvPr/>
        </p:nvSpPr>
        <p:spPr>
          <a:xfrm>
            <a:off x="8805252" y="5851016"/>
            <a:ext cx="1269317" cy="179069"/>
          </a:xfrm>
          <a:prstGeom prst="rect">
            <a:avLst/>
          </a:prstGeom>
          <a:noFill/>
        </p:spPr>
        <p:txBody>
          <a:bodyPr wrap="none" lIns="0" rIns="0" tIns="0" bIns="0">
            <a:spAutoFit/>
          </a:bodyPr>
          <a:lstStyle/>
          <a:p>
            <a:r>
              <a:rPr sz="1050" b="0">
                <a:solidFill>
                  <a:srgbClr val="1F1F1F"/>
                </a:solidFill>
                <a:latin typeface="Calibri"/>
              </a:rPr>
              <a:t>/MT across sub-types.</a:t>
            </a:r>
          </a:p>
        </p:txBody>
      </p:sp>
      <p:sp>
        <p:nvSpPr>
          <p:cNvPr id="69" name="TextBox 68"/>
          <p:cNvSpPr txBox="1"/>
          <p:nvPr/>
        </p:nvSpPr>
        <p:spPr>
          <a:xfrm>
            <a:off x="301752" y="6391275"/>
            <a:ext cx="5770697" cy="143408"/>
          </a:xfrm>
          <a:prstGeom prst="rect">
            <a:avLst/>
          </a:prstGeom>
          <a:noFill/>
        </p:spPr>
        <p:txBody>
          <a:bodyPr wrap="none" lIns="0" rIns="0" tIns="0" bIns="0">
            <a:spAutoFit/>
          </a:bodyPr>
          <a:lstStyle/>
          <a:p>
            <a:r>
              <a:rPr sz="816" b="0">
                <a:solidFill>
                  <a:srgbClr val="59636E"/>
                </a:solidFill>
                <a:latin typeface="Calibri"/>
              </a:rPr>
              <a:t>Source: FMI analysis. Cell price = combined value (US$) / combined volume (MT); shading shows the index vs the Global average of US$</a:t>
            </a:r>
          </a:p>
        </p:txBody>
      </p:sp>
      <p:pic>
        <p:nvPicPr>
          <p:cNvPr id="70" name="Picture 69" descr="lock.png"/>
          <p:cNvPicPr>
            <a:picLocks noChangeAspect="1"/>
          </p:cNvPicPr>
          <p:nvPr/>
        </p:nvPicPr>
        <p:blipFill>
          <a:blip r:embed="rId5"/>
          <a:stretch>
            <a:fillRect/>
          </a:stretch>
        </p:blipFill>
        <p:spPr>
          <a:xfrm>
            <a:off x="6014239" y="6384020"/>
            <a:ext cx="95470" cy="138866"/>
          </a:xfrm>
          <a:prstGeom prst="rect">
            <a:avLst/>
          </a:prstGeom>
        </p:spPr>
      </p:pic>
      <p:sp>
        <p:nvSpPr>
          <p:cNvPr id="71" name="TextBox 70"/>
          <p:cNvSpPr txBox="1"/>
          <p:nvPr/>
        </p:nvSpPr>
        <p:spPr>
          <a:xfrm>
            <a:off x="6138491" y="6391275"/>
            <a:ext cx="281642" cy="143408"/>
          </a:xfrm>
          <a:prstGeom prst="rect">
            <a:avLst/>
          </a:prstGeom>
          <a:noFill/>
        </p:spPr>
        <p:txBody>
          <a:bodyPr wrap="none" lIns="0" rIns="0" tIns="0" bIns="0">
            <a:spAutoFit/>
          </a:bodyPr>
          <a:lstStyle/>
          <a:p>
            <a:r>
              <a:rPr sz="816" b="0">
                <a:solidFill>
                  <a:srgbClr val="59636E"/>
                </a:solidFill>
                <a:latin typeface="Calibri"/>
              </a:rPr>
              <a:t>/MT.</a:t>
            </a:r>
          </a:p>
        </p:txBody>
      </p:sp>
      <p:pic>
        <p:nvPicPr>
          <p:cNvPr id="72" name="Picture 71" descr="lock.png"/>
          <p:cNvPicPr>
            <a:picLocks noChangeAspect="1"/>
          </p:cNvPicPr>
          <p:nvPr/>
        </p:nvPicPr>
        <p:blipFill>
          <a:blip r:embed="rId5"/>
          <a:stretch>
            <a:fillRect/>
          </a:stretch>
        </p:blipFill>
        <p:spPr>
          <a:xfrm>
            <a:off x="9913437" y="3234020"/>
            <a:ext cx="332271" cy="483303"/>
          </a:xfrm>
          <a:prstGeom prst="rect">
            <a:avLst/>
          </a:prstGeom>
        </p:spPr>
      </p:pic>
      <p:sp>
        <p:nvSpPr>
          <p:cNvPr id="73" name="lockshield_27"/>
          <p:cNvSpPr/>
          <p:nvPr/>
        </p:nvSpPr>
        <p:spPr>
          <a:xfrm>
            <a:off x="8001000" y="2032635"/>
            <a:ext cx="3867912" cy="2971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product types, 2026 (US$/Units)</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Region (US$/Units),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BE3D3"/>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10462494" y="3375398"/>
            <a:ext cx="355774" cy="517489"/>
          </a:xfrm>
          <a:prstGeom prst="rect">
            <a:avLst/>
          </a:prstGeom>
        </p:spPr>
      </p:pic>
      <p:sp>
        <p:nvSpPr>
          <p:cNvPr id="33" name="TextBox 32"/>
          <p:cNvSpPr txBox="1"/>
          <p:nvPr/>
        </p:nvSpPr>
        <p:spPr>
          <a:xfrm>
            <a:off x="411480" y="1110615"/>
            <a:ext cx="3466876" cy="217169"/>
          </a:xfrm>
          <a:prstGeom prst="rect">
            <a:avLst/>
          </a:prstGeom>
          <a:noFill/>
        </p:spPr>
        <p:txBody>
          <a:bodyPr wrap="none" lIns="0" rIns="0" tIns="0" bIns="0">
            <a:spAutoFit/>
          </a:bodyPr>
          <a:lstStyle/>
          <a:p>
            <a:r>
              <a:rPr sz="1300" b="1">
                <a:solidFill>
                  <a:srgbClr val="FFFFFF"/>
                </a:solidFill>
                <a:latin typeface="Calibri"/>
              </a:rPr>
              <a:t>Europe is the most premium Global region at US$</a:t>
            </a:r>
          </a:p>
        </p:txBody>
      </p:sp>
      <p:pic>
        <p:nvPicPr>
          <p:cNvPr id="34" name="Picture 33" descr="lock.png"/>
          <p:cNvPicPr>
            <a:picLocks noChangeAspect="1"/>
          </p:cNvPicPr>
          <p:nvPr/>
        </p:nvPicPr>
        <p:blipFill>
          <a:blip r:embed="rId5"/>
          <a:stretch>
            <a:fillRect/>
          </a:stretch>
        </p:blipFill>
        <p:spPr>
          <a:xfrm>
            <a:off x="3830817" y="1099058"/>
            <a:ext cx="152098" cy="221234"/>
          </a:xfrm>
          <a:prstGeom prst="rect">
            <a:avLst/>
          </a:prstGeom>
        </p:spPr>
      </p:pic>
      <p:sp>
        <p:nvSpPr>
          <p:cNvPr id="35" name="TextBox 34"/>
          <p:cNvSpPr txBox="1"/>
          <p:nvPr/>
        </p:nvSpPr>
        <p:spPr>
          <a:xfrm>
            <a:off x="4028767" y="1110615"/>
            <a:ext cx="1075183" cy="217169"/>
          </a:xfrm>
          <a:prstGeom prst="rect">
            <a:avLst/>
          </a:prstGeom>
          <a:noFill/>
        </p:spPr>
        <p:txBody>
          <a:bodyPr wrap="none" lIns="0" rIns="0" tIns="0" bIns="0">
            <a:spAutoFit/>
          </a:bodyPr>
          <a:lstStyle/>
          <a:p>
            <a:r>
              <a:rPr sz="1300" b="1">
                <a:solidFill>
                  <a:srgbClr val="FFFFFF"/>
                </a:solidFill>
                <a:latin typeface="Calibri"/>
              </a:rPr>
              <a:t>/MT in 2026, +</a:t>
            </a:r>
          </a:p>
        </p:txBody>
      </p:sp>
      <p:pic>
        <p:nvPicPr>
          <p:cNvPr id="36" name="Picture 35" descr="lock.png"/>
          <p:cNvPicPr>
            <a:picLocks noChangeAspect="1"/>
          </p:cNvPicPr>
          <p:nvPr/>
        </p:nvPicPr>
        <p:blipFill>
          <a:blip r:embed="rId5"/>
          <a:stretch>
            <a:fillRect/>
          </a:stretch>
        </p:blipFill>
        <p:spPr>
          <a:xfrm>
            <a:off x="5056412" y="1099058"/>
            <a:ext cx="152098" cy="221234"/>
          </a:xfrm>
          <a:prstGeom prst="rect">
            <a:avLst/>
          </a:prstGeom>
        </p:spPr>
      </p:pic>
      <p:sp>
        <p:nvSpPr>
          <p:cNvPr id="37" name="TextBox 36"/>
          <p:cNvSpPr txBox="1"/>
          <p:nvPr/>
        </p:nvSpPr>
        <p:spPr>
          <a:xfrm>
            <a:off x="5254361" y="1110615"/>
            <a:ext cx="4718992" cy="217169"/>
          </a:xfrm>
          <a:prstGeom prst="rect">
            <a:avLst/>
          </a:prstGeom>
          <a:noFill/>
        </p:spPr>
        <p:txBody>
          <a:bodyPr wrap="none" lIns="0" rIns="0" tIns="0" bIns="0">
            <a:spAutoFit/>
          </a:bodyPr>
          <a:lstStyle/>
          <a:p>
            <a:r>
              <a:rPr sz="1300" b="1">
                <a:solidFill>
                  <a:srgbClr val="FFFFFF"/>
                </a:solidFill>
                <a:latin typeface="Calibri"/>
              </a:rPr>
              <a:t>above the global average, while North America is the lowest priced.</a:t>
            </a:r>
          </a:p>
        </p:txBody>
      </p:sp>
      <p:sp>
        <p:nvSpPr>
          <p:cNvPr id="38" name="TextBox 37"/>
          <p:cNvSpPr txBox="1"/>
          <p:nvPr/>
        </p:nvSpPr>
        <p:spPr>
          <a:xfrm>
            <a:off x="411480" y="1831467"/>
            <a:ext cx="4975274" cy="148589"/>
          </a:xfrm>
          <a:prstGeom prst="rect">
            <a:avLst/>
          </a:prstGeom>
          <a:noFill/>
        </p:spPr>
        <p:txBody>
          <a:bodyPr wrap="none" lIns="0" rIns="0" tIns="0" bIns="0">
            <a:spAutoFit/>
          </a:bodyPr>
          <a:lstStyle/>
          <a:p>
            <a:r>
              <a:rPr sz="850" b="0">
                <a:solidFill>
                  <a:srgbClr val="59636E"/>
                </a:solidFill>
                <a:latin typeface="Calibri"/>
              </a:rPr>
              <a:t>Bar spans the lowest to highest product type price in each region, read on the price index axis (Global average =</a:t>
            </a:r>
          </a:p>
        </p:txBody>
      </p:sp>
      <p:pic>
        <p:nvPicPr>
          <p:cNvPr id="39" name="Picture 38" descr="lock.png"/>
          <p:cNvPicPr>
            <a:picLocks noChangeAspect="1"/>
          </p:cNvPicPr>
          <p:nvPr/>
        </p:nvPicPr>
        <p:blipFill>
          <a:blip r:embed="rId5"/>
          <a:stretch>
            <a:fillRect/>
          </a:stretch>
        </p:blipFill>
        <p:spPr>
          <a:xfrm>
            <a:off x="5329294" y="1823910"/>
            <a:ext cx="99449" cy="144653"/>
          </a:xfrm>
          <a:prstGeom prst="rect">
            <a:avLst/>
          </a:prstGeom>
        </p:spPr>
      </p:pic>
      <p:sp>
        <p:nvSpPr>
          <p:cNvPr id="40" name="TextBox 39"/>
          <p:cNvSpPr txBox="1"/>
          <p:nvPr/>
        </p:nvSpPr>
        <p:spPr>
          <a:xfrm>
            <a:off x="5458723" y="1831467"/>
            <a:ext cx="2037010" cy="148589"/>
          </a:xfrm>
          <a:prstGeom prst="rect">
            <a:avLst/>
          </a:prstGeom>
          <a:noFill/>
        </p:spPr>
        <p:txBody>
          <a:bodyPr wrap="none" lIns="0" rIns="0" tIns="0" bIns="0">
            <a:spAutoFit/>
          </a:bodyPr>
          <a:lstStyle/>
          <a:p>
            <a:r>
              <a:rPr sz="850" b="0">
                <a:solidFill>
                  <a:srgbClr val="59636E"/>
                </a:solidFill>
                <a:latin typeface="Calibri"/>
              </a:rPr>
              <a:t>). Teal = above Global average, blue = below.</a:t>
            </a:r>
          </a:p>
        </p:txBody>
      </p:sp>
      <p:sp>
        <p:nvSpPr>
          <p:cNvPr id="41" name="TextBox 40"/>
          <p:cNvSpPr txBox="1"/>
          <p:nvPr/>
        </p:nvSpPr>
        <p:spPr>
          <a:xfrm>
            <a:off x="806576" y="5530976"/>
            <a:ext cx="2778324" cy="179069"/>
          </a:xfrm>
          <a:prstGeom prst="rect">
            <a:avLst/>
          </a:prstGeom>
          <a:noFill/>
        </p:spPr>
        <p:txBody>
          <a:bodyPr wrap="none" lIns="0" rIns="0" tIns="0" bIns="0">
            <a:spAutoFit/>
          </a:bodyPr>
          <a:lstStyle/>
          <a:p>
            <a:r>
              <a:rPr sz="1050" b="0">
                <a:solidFill>
                  <a:srgbClr val="1F1F1F"/>
                </a:solidFill>
                <a:latin typeface="Calibri"/>
              </a:rPr>
              <a:t>Average prices across the ranked regions differ by</a:t>
            </a:r>
          </a:p>
        </p:txBody>
      </p:sp>
      <p:pic>
        <p:nvPicPr>
          <p:cNvPr id="42" name="Picture 41" descr="lock.png"/>
          <p:cNvPicPr>
            <a:picLocks noChangeAspect="1"/>
          </p:cNvPicPr>
          <p:nvPr/>
        </p:nvPicPr>
        <p:blipFill>
          <a:blip r:embed="rId5"/>
          <a:stretch>
            <a:fillRect/>
          </a:stretch>
        </p:blipFill>
        <p:spPr>
          <a:xfrm>
            <a:off x="3531850" y="5521642"/>
            <a:ext cx="122849" cy="178689"/>
          </a:xfrm>
          <a:prstGeom prst="rect">
            <a:avLst/>
          </a:prstGeom>
        </p:spPr>
      </p:pic>
      <p:sp>
        <p:nvSpPr>
          <p:cNvPr id="43" name="TextBox 42"/>
          <p:cNvSpPr txBox="1"/>
          <p:nvPr/>
        </p:nvSpPr>
        <p:spPr>
          <a:xfrm>
            <a:off x="3691732" y="5530976"/>
            <a:ext cx="176993" cy="179069"/>
          </a:xfrm>
          <a:prstGeom prst="rect">
            <a:avLst/>
          </a:prstGeom>
          <a:noFill/>
        </p:spPr>
        <p:txBody>
          <a:bodyPr wrap="none" lIns="0" rIns="0" tIns="0" bIns="0">
            <a:spAutoFit/>
          </a:bodyPr>
          <a:lstStyle/>
          <a:p>
            <a:r>
              <a:rPr sz="1050" b="0">
                <a:solidFill>
                  <a:srgbClr val="1F1F1F"/>
                </a:solidFill>
                <a:latin typeface="Calibri"/>
              </a:rPr>
              <a:t>in</a:t>
            </a:r>
          </a:p>
        </p:txBody>
      </p:sp>
      <p:sp>
        <p:nvSpPr>
          <p:cNvPr id="44" name="TextBox 43"/>
          <p:cNvSpPr txBox="1"/>
          <p:nvPr/>
        </p:nvSpPr>
        <p:spPr>
          <a:xfrm>
            <a:off x="806576" y="5690996"/>
            <a:ext cx="919534" cy="179069"/>
          </a:xfrm>
          <a:prstGeom prst="rect">
            <a:avLst/>
          </a:prstGeom>
          <a:noFill/>
        </p:spPr>
        <p:txBody>
          <a:bodyPr wrap="none" lIns="0" rIns="0" tIns="0" bIns="0">
            <a:spAutoFit/>
          </a:bodyPr>
          <a:lstStyle/>
          <a:p>
            <a:r>
              <a:rPr sz="1050" b="0">
                <a:solidFill>
                  <a:srgbClr val="1F1F1F"/>
                </a:solidFill>
                <a:latin typeface="Calibri"/>
              </a:rPr>
              <a:t>2026, from US$</a:t>
            </a:r>
          </a:p>
        </p:txBody>
      </p:sp>
      <p:pic>
        <p:nvPicPr>
          <p:cNvPr id="45" name="Picture 44" descr="lock.png"/>
          <p:cNvPicPr>
            <a:picLocks noChangeAspect="1"/>
          </p:cNvPicPr>
          <p:nvPr/>
        </p:nvPicPr>
        <p:blipFill>
          <a:blip r:embed="rId5"/>
          <a:stretch>
            <a:fillRect/>
          </a:stretch>
        </p:blipFill>
        <p:spPr>
          <a:xfrm>
            <a:off x="1673060" y="5681662"/>
            <a:ext cx="122849" cy="178689"/>
          </a:xfrm>
          <a:prstGeom prst="rect">
            <a:avLst/>
          </a:prstGeom>
        </p:spPr>
      </p:pic>
      <p:sp>
        <p:nvSpPr>
          <p:cNvPr id="46" name="TextBox 45"/>
          <p:cNvSpPr txBox="1"/>
          <p:nvPr/>
        </p:nvSpPr>
        <p:spPr>
          <a:xfrm>
            <a:off x="1832943" y="5690996"/>
            <a:ext cx="1654261" cy="179069"/>
          </a:xfrm>
          <a:prstGeom prst="rect">
            <a:avLst/>
          </a:prstGeom>
          <a:noFill/>
        </p:spPr>
        <p:txBody>
          <a:bodyPr wrap="none" lIns="0" rIns="0" tIns="0" bIns="0">
            <a:spAutoFit/>
          </a:bodyPr>
          <a:lstStyle/>
          <a:p>
            <a:r>
              <a:rPr sz="1050" b="0">
                <a:solidFill>
                  <a:srgbClr val="1F1F1F"/>
                </a:solidFill>
                <a:latin typeface="Calibri"/>
              </a:rPr>
              <a:t>/MT in North America to US$</a:t>
            </a:r>
          </a:p>
        </p:txBody>
      </p:sp>
      <p:pic>
        <p:nvPicPr>
          <p:cNvPr id="47" name="Picture 46" descr="lock.png"/>
          <p:cNvPicPr>
            <a:picLocks noChangeAspect="1"/>
          </p:cNvPicPr>
          <p:nvPr/>
        </p:nvPicPr>
        <p:blipFill>
          <a:blip r:embed="rId5"/>
          <a:stretch>
            <a:fillRect/>
          </a:stretch>
        </p:blipFill>
        <p:spPr>
          <a:xfrm>
            <a:off x="793721" y="5841682"/>
            <a:ext cx="122849" cy="178689"/>
          </a:xfrm>
          <a:prstGeom prst="rect">
            <a:avLst/>
          </a:prstGeom>
        </p:spPr>
      </p:pic>
      <p:sp>
        <p:nvSpPr>
          <p:cNvPr id="48" name="TextBox 47"/>
          <p:cNvSpPr txBox="1"/>
          <p:nvPr/>
        </p:nvSpPr>
        <p:spPr>
          <a:xfrm>
            <a:off x="953604" y="5851016"/>
            <a:ext cx="890364" cy="179069"/>
          </a:xfrm>
          <a:prstGeom prst="rect">
            <a:avLst/>
          </a:prstGeom>
          <a:noFill/>
        </p:spPr>
        <p:txBody>
          <a:bodyPr wrap="none" lIns="0" rIns="0" tIns="0" bIns="0">
            <a:spAutoFit/>
          </a:bodyPr>
          <a:lstStyle/>
          <a:p>
            <a:r>
              <a:rPr sz="1050" b="0">
                <a:solidFill>
                  <a:srgbClr val="1F1F1F"/>
                </a:solidFill>
                <a:latin typeface="Calibri"/>
              </a:rPr>
              <a:t>/MT in Europe.</a:t>
            </a:r>
          </a:p>
        </p:txBody>
      </p:sp>
      <p:sp>
        <p:nvSpPr>
          <p:cNvPr id="49" name="TextBox 48"/>
          <p:cNvSpPr txBox="1"/>
          <p:nvPr/>
        </p:nvSpPr>
        <p:spPr>
          <a:xfrm>
            <a:off x="4732401" y="5530976"/>
            <a:ext cx="2951819" cy="179069"/>
          </a:xfrm>
          <a:prstGeom prst="rect">
            <a:avLst/>
          </a:prstGeom>
          <a:noFill/>
        </p:spPr>
        <p:txBody>
          <a:bodyPr wrap="none" lIns="0" rIns="0" tIns="0" bIns="0">
            <a:spAutoFit/>
          </a:bodyPr>
          <a:lstStyle/>
          <a:p>
            <a:r>
              <a:rPr sz="1050" b="0">
                <a:solidFill>
                  <a:srgbClr val="1F1F1F"/>
                </a:solidFill>
                <a:latin typeface="Calibri"/>
              </a:rPr>
              <a:t>South Asia &amp; Pacific records the fastest average price</a:t>
            </a:r>
          </a:p>
        </p:txBody>
      </p:sp>
      <p:sp>
        <p:nvSpPr>
          <p:cNvPr id="50" name="TextBox 49"/>
          <p:cNvSpPr txBox="1"/>
          <p:nvPr/>
        </p:nvSpPr>
        <p:spPr>
          <a:xfrm>
            <a:off x="4732401" y="5690996"/>
            <a:ext cx="698934" cy="179069"/>
          </a:xfrm>
          <a:prstGeom prst="rect">
            <a:avLst/>
          </a:prstGeom>
          <a:noFill/>
        </p:spPr>
        <p:txBody>
          <a:bodyPr wrap="none" lIns="0" rIns="0" tIns="0" bIns="0">
            <a:spAutoFit/>
          </a:bodyPr>
          <a:lstStyle/>
          <a:p>
            <a:r>
              <a:rPr sz="1050" b="0">
                <a:solidFill>
                  <a:srgbClr val="1F1F1F"/>
                </a:solidFill>
                <a:latin typeface="Calibri"/>
              </a:rPr>
              <a:t>growth at a</a:t>
            </a:r>
          </a:p>
        </p:txBody>
      </p:sp>
      <p:pic>
        <p:nvPicPr>
          <p:cNvPr id="51" name="Picture 50" descr="lock.png"/>
          <p:cNvPicPr>
            <a:picLocks noChangeAspect="1"/>
          </p:cNvPicPr>
          <p:nvPr/>
        </p:nvPicPr>
        <p:blipFill>
          <a:blip r:embed="rId5"/>
          <a:stretch>
            <a:fillRect/>
          </a:stretch>
        </p:blipFill>
        <p:spPr>
          <a:xfrm>
            <a:off x="5378284" y="5681662"/>
            <a:ext cx="122849" cy="178689"/>
          </a:xfrm>
          <a:prstGeom prst="rect">
            <a:avLst/>
          </a:prstGeom>
        </p:spPr>
      </p:pic>
      <p:sp>
        <p:nvSpPr>
          <p:cNvPr id="52" name="TextBox 51"/>
          <p:cNvSpPr txBox="1"/>
          <p:nvPr/>
        </p:nvSpPr>
        <p:spPr>
          <a:xfrm>
            <a:off x="5538166" y="5690996"/>
            <a:ext cx="2178529" cy="179069"/>
          </a:xfrm>
          <a:prstGeom prst="rect">
            <a:avLst/>
          </a:prstGeom>
          <a:noFill/>
        </p:spPr>
        <p:txBody>
          <a:bodyPr wrap="none" lIns="0" rIns="0" tIns="0" bIns="0">
            <a:spAutoFit/>
          </a:bodyPr>
          <a:lstStyle/>
          <a:p>
            <a:r>
              <a:rPr sz="1050" b="0">
                <a:solidFill>
                  <a:srgbClr val="1F1F1F"/>
                </a:solidFill>
                <a:latin typeface="Calibri"/>
              </a:rPr>
              <a:t>CAGR between 2026 and 2036, against</a:t>
            </a:r>
          </a:p>
        </p:txBody>
      </p:sp>
      <p:pic>
        <p:nvPicPr>
          <p:cNvPr id="53" name="Picture 52" descr="lock.png"/>
          <p:cNvPicPr>
            <a:picLocks noChangeAspect="1"/>
          </p:cNvPicPr>
          <p:nvPr/>
        </p:nvPicPr>
        <p:blipFill>
          <a:blip r:embed="rId5"/>
          <a:stretch>
            <a:fillRect/>
          </a:stretch>
        </p:blipFill>
        <p:spPr>
          <a:xfrm>
            <a:off x="4719545" y="5841682"/>
            <a:ext cx="122849" cy="178689"/>
          </a:xfrm>
          <a:prstGeom prst="rect">
            <a:avLst/>
          </a:prstGeom>
        </p:spPr>
      </p:pic>
      <p:sp>
        <p:nvSpPr>
          <p:cNvPr id="54" name="TextBox 53"/>
          <p:cNvSpPr txBox="1"/>
          <p:nvPr/>
        </p:nvSpPr>
        <p:spPr>
          <a:xfrm>
            <a:off x="4879428" y="5851016"/>
            <a:ext cx="1250565" cy="179069"/>
          </a:xfrm>
          <a:prstGeom prst="rect">
            <a:avLst/>
          </a:prstGeom>
          <a:noFill/>
        </p:spPr>
        <p:txBody>
          <a:bodyPr wrap="none" lIns="0" rIns="0" tIns="0" bIns="0">
            <a:spAutoFit/>
          </a:bodyPr>
          <a:lstStyle/>
          <a:p>
            <a:r>
              <a:rPr sz="1050" b="0">
                <a:solidFill>
                  <a:srgbClr val="1F1F1F"/>
                </a:solidFill>
                <a:latin typeface="Calibri"/>
              </a:rPr>
              <a:t>for Global as a whole.</a:t>
            </a:r>
          </a:p>
        </p:txBody>
      </p:sp>
      <p:sp>
        <p:nvSpPr>
          <p:cNvPr id="55" name="TextBox 54"/>
          <p:cNvSpPr txBox="1"/>
          <p:nvPr/>
        </p:nvSpPr>
        <p:spPr>
          <a:xfrm>
            <a:off x="8658225" y="5530976"/>
            <a:ext cx="3011462" cy="179069"/>
          </a:xfrm>
          <a:prstGeom prst="rect">
            <a:avLst/>
          </a:prstGeom>
          <a:noFill/>
        </p:spPr>
        <p:txBody>
          <a:bodyPr wrap="none" lIns="0" rIns="0" tIns="0" bIns="0">
            <a:spAutoFit/>
          </a:bodyPr>
          <a:lstStyle/>
          <a:p>
            <a:r>
              <a:rPr sz="1050" b="0">
                <a:solidFill>
                  <a:srgbClr val="1F1F1F"/>
                </a:solidFill>
                <a:latin typeface="Calibri"/>
              </a:rPr>
              <a:t>South Asia &amp; Pacific shows the widest gap between its</a:t>
            </a:r>
          </a:p>
        </p:txBody>
      </p:sp>
      <p:sp>
        <p:nvSpPr>
          <p:cNvPr id="56" name="TextBox 55"/>
          <p:cNvSpPr txBox="1"/>
          <p:nvPr/>
        </p:nvSpPr>
        <p:spPr>
          <a:xfrm>
            <a:off x="8658225" y="5690996"/>
            <a:ext cx="2544216" cy="179069"/>
          </a:xfrm>
          <a:prstGeom prst="rect">
            <a:avLst/>
          </a:prstGeom>
          <a:noFill/>
        </p:spPr>
        <p:txBody>
          <a:bodyPr wrap="none" lIns="0" rIns="0" tIns="0" bIns="0">
            <a:spAutoFit/>
          </a:bodyPr>
          <a:lstStyle/>
          <a:p>
            <a:r>
              <a:rPr sz="1050" b="0">
                <a:solidFill>
                  <a:srgbClr val="1F1F1F"/>
                </a:solidFill>
                <a:latin typeface="Calibri"/>
              </a:rPr>
              <a:t>cheapest and most expensive product type at</a:t>
            </a:r>
          </a:p>
        </p:txBody>
      </p:sp>
      <p:pic>
        <p:nvPicPr>
          <p:cNvPr id="57" name="Picture 56" descr="lock.png"/>
          <p:cNvPicPr>
            <a:picLocks noChangeAspect="1"/>
          </p:cNvPicPr>
          <p:nvPr/>
        </p:nvPicPr>
        <p:blipFill>
          <a:blip r:embed="rId5"/>
          <a:stretch>
            <a:fillRect/>
          </a:stretch>
        </p:blipFill>
        <p:spPr>
          <a:xfrm>
            <a:off x="11149391" y="5681662"/>
            <a:ext cx="122849" cy="178689"/>
          </a:xfrm>
          <a:prstGeom prst="rect">
            <a:avLst/>
          </a:prstGeom>
        </p:spPr>
      </p:pic>
      <p:sp>
        <p:nvSpPr>
          <p:cNvPr id="58" name="TextBox 57"/>
          <p:cNvSpPr txBox="1"/>
          <p:nvPr/>
        </p:nvSpPr>
        <p:spPr>
          <a:xfrm>
            <a:off x="11309273" y="5690996"/>
            <a:ext cx="262160" cy="179069"/>
          </a:xfrm>
          <a:prstGeom prst="rect">
            <a:avLst/>
          </a:prstGeom>
          <a:noFill/>
        </p:spPr>
        <p:txBody>
          <a:bodyPr wrap="none" lIns="0" rIns="0" tIns="0" bIns="0">
            <a:spAutoFit/>
          </a:bodyPr>
          <a:lstStyle/>
          <a:p>
            <a:r>
              <a:rPr sz="1050" b="0">
                <a:solidFill>
                  <a:srgbClr val="1F1F1F"/>
                </a:solidFill>
                <a:latin typeface="Calibri"/>
              </a:rPr>
              <a:t>, so</a:t>
            </a:r>
          </a:p>
        </p:txBody>
      </p:sp>
      <p:sp>
        <p:nvSpPr>
          <p:cNvPr id="59" name="TextBox 58"/>
          <p:cNvSpPr txBox="1"/>
          <p:nvPr/>
        </p:nvSpPr>
        <p:spPr>
          <a:xfrm>
            <a:off x="8658225" y="5851016"/>
            <a:ext cx="2851807" cy="179069"/>
          </a:xfrm>
          <a:prstGeom prst="rect">
            <a:avLst/>
          </a:prstGeom>
          <a:noFill/>
        </p:spPr>
        <p:txBody>
          <a:bodyPr wrap="none" lIns="0" rIns="0" tIns="0" bIns="0">
            <a:spAutoFit/>
          </a:bodyPr>
          <a:lstStyle/>
          <a:p>
            <a:r>
              <a:rPr sz="1050" b="0">
                <a:solidFill>
                  <a:srgbClr val="1F1F1F"/>
                </a:solidFill>
                <a:latin typeface="Calibri"/>
              </a:rPr>
              <a:t>product mix shifts move its average price the most.</a:t>
            </a:r>
          </a:p>
        </p:txBody>
      </p:sp>
      <p:pic>
        <p:nvPicPr>
          <p:cNvPr id="60" name="Picture 59" descr="lock.png"/>
          <p:cNvPicPr>
            <a:picLocks noChangeAspect="1"/>
          </p:cNvPicPr>
          <p:nvPr/>
        </p:nvPicPr>
        <p:blipFill>
          <a:blip r:embed="rId5"/>
          <a:stretch>
            <a:fillRect/>
          </a:stretch>
        </p:blipFill>
        <p:spPr>
          <a:xfrm>
            <a:off x="3952821" y="3129375"/>
            <a:ext cx="482444" cy="701737"/>
          </a:xfrm>
          <a:prstGeom prst="rect">
            <a:avLst/>
          </a:prstGeom>
        </p:spPr>
      </p:pic>
      <p:sp>
        <p:nvSpPr>
          <p:cNvPr id="61" name="lockshield_13"/>
          <p:cNvSpPr/>
          <p:nvPr/>
        </p:nvSpPr>
        <p:spPr>
          <a:xfrm>
            <a:off x="347472" y="2014347"/>
            <a:ext cx="7406640" cy="301752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(US$/Units).</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none" lIns="0" rIns="0" tIns="0" bIns="0">
            <a:spAutoFit/>
          </a:bodyPr>
          <a:lstStyle/>
          <a:p>
            <a:pPr algn="ctr"/>
            <a:r>
              <a:rPr sz="1100" b="0">
                <a:solidFill>
                  <a:srgbClr val="6C7A89"/>
                </a:solidFill>
                <a:latin typeface="Calibri"/>
              </a:rPr>
              <a:t>202</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none" lIns="0" rIns="0" tIns="0" bIns="0">
            <a:spAutoFit/>
          </a:bodyPr>
          <a:lstStyle/>
          <a:p>
            <a:pPr algn="ctr"/>
            <a:r>
              <a:rPr sz="1100" b="0">
                <a:solidFill>
                  <a:srgbClr val="6C7A89"/>
                </a:solidFill>
                <a:latin typeface="Calibri"/>
              </a:rPr>
              <a:t>254</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none" lIns="0" rIns="0" tIns="0" bIns="0">
            <a:spAutoFit/>
          </a:bodyPr>
          <a:lstStyle/>
          <a:p>
            <a:pPr algn="ctr"/>
            <a:r>
              <a:rPr sz="1100" b="0">
                <a:solidFill>
                  <a:srgbClr val="6C7A89"/>
                </a:solidFill>
                <a:latin typeface="Calibri"/>
              </a:rPr>
              <a:t>307</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none" lIns="0" rIns="0" tIns="0" bIns="0">
            <a:spAutoFit/>
          </a:bodyPr>
          <a:lstStyle/>
          <a:p>
            <a:pPr algn="ctr"/>
            <a:r>
              <a:rPr sz="1100" b="0">
                <a:solidFill>
                  <a:srgbClr val="6C7A89"/>
                </a:solidFill>
                <a:latin typeface="Calibri"/>
              </a:rPr>
              <a:t>360</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none" lIns="0" rIns="0" tIns="0" bIns="0">
            <a:spAutoFit/>
          </a:bodyPr>
          <a:lstStyle/>
          <a:p>
            <a:pPr algn="ctr"/>
            <a:r>
              <a:rPr sz="1100" b="0">
                <a:solidFill>
                  <a:srgbClr val="6C7A89"/>
                </a:solidFill>
                <a:latin typeface="Calibri"/>
              </a:rPr>
              <a:t>412</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none" lIns="0" rIns="0" tIns="0" bIns="0">
            <a:spAutoFit/>
          </a:bodyPr>
          <a:lstStyle/>
          <a:p>
            <a:pPr algn="ctr"/>
            <a:r>
              <a:rPr sz="1100" b="0">
                <a:solidFill>
                  <a:srgbClr val="6C7A89"/>
                </a:solidFill>
                <a:latin typeface="Calibri"/>
              </a:rPr>
              <a:t>465</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2045494" y="2100912"/>
            <a:ext cx="349736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3690406"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2476271" y="2824823"/>
            <a:ext cx="3781364"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235879"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2937036" y="3548733"/>
            <a:ext cx="3990020"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780796"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2500314" y="4272643"/>
            <a:ext cx="3790145"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4252798"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2652396" y="4996553"/>
            <a:ext cx="3959398"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4464038"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2707440" y="5720463"/>
            <a:ext cx="3909164"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4522492"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3" name="TextBox 52"/>
          <p:cNvSpPr txBox="1"/>
          <p:nvPr/>
        </p:nvSpPr>
        <p:spPr>
          <a:xfrm>
            <a:off x="8048625" y="1736673"/>
            <a:ext cx="3781933"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command the</a:t>
            </a:r>
          </a:p>
        </p:txBody>
      </p:sp>
      <p:sp>
        <p:nvSpPr>
          <p:cNvPr id="54" name="TextBox 53"/>
          <p:cNvSpPr txBox="1"/>
          <p:nvPr/>
        </p:nvSpPr>
        <p:spPr>
          <a:xfrm>
            <a:off x="8048625" y="1911934"/>
            <a:ext cx="1766899" cy="194310"/>
          </a:xfrm>
          <a:prstGeom prst="rect">
            <a:avLst/>
          </a:prstGeom>
          <a:noFill/>
        </p:spPr>
        <p:txBody>
          <a:bodyPr wrap="none" lIns="0" rIns="0" tIns="0" bIns="0">
            <a:spAutoFit/>
          </a:bodyPr>
          <a:lstStyle/>
          <a:p>
            <a:r>
              <a:rPr sz="1150" b="0">
                <a:solidFill>
                  <a:srgbClr val="2E2E2E"/>
                </a:solidFill>
                <a:latin typeface="Calibri"/>
              </a:rPr>
              <a:t>highest average price of US$</a:t>
            </a:r>
          </a:p>
        </p:txBody>
      </p:sp>
      <p:pic>
        <p:nvPicPr>
          <p:cNvPr id="55" name="Picture 54" descr="lock.png"/>
          <p:cNvPicPr>
            <a:picLocks noChangeAspect="1"/>
          </p:cNvPicPr>
          <p:nvPr/>
        </p:nvPicPr>
        <p:blipFill>
          <a:blip r:embed="rId4"/>
          <a:stretch>
            <a:fillRect/>
          </a:stretch>
        </p:blipFill>
        <p:spPr>
          <a:xfrm>
            <a:off x="9764678" y="1901710"/>
            <a:ext cx="134549" cy="195707"/>
          </a:xfrm>
          <a:prstGeom prst="rect">
            <a:avLst/>
          </a:prstGeom>
        </p:spPr>
      </p:pic>
      <p:sp>
        <p:nvSpPr>
          <p:cNvPr id="56" name="TextBox 55"/>
          <p:cNvSpPr txBox="1"/>
          <p:nvPr/>
        </p:nvSpPr>
        <p:spPr>
          <a:xfrm>
            <a:off x="9939788" y="1911934"/>
            <a:ext cx="1591713" cy="194310"/>
          </a:xfrm>
          <a:prstGeom prst="rect">
            <a:avLst/>
          </a:prstGeom>
          <a:noFill/>
        </p:spPr>
        <p:txBody>
          <a:bodyPr wrap="none" lIns="0" rIns="0" tIns="0" bIns="0">
            <a:spAutoFit/>
          </a:bodyPr>
          <a:lstStyle/>
          <a:p>
            <a:r>
              <a:rPr sz="1150" b="0">
                <a:solidFill>
                  <a:srgbClr val="2E2E2E"/>
                </a:solidFill>
                <a:latin typeface="Calibri"/>
              </a:rPr>
              <a:t>per Unit in 2036. Average</a:t>
            </a:r>
          </a:p>
        </p:txBody>
      </p:sp>
      <p:sp>
        <p:nvSpPr>
          <p:cNvPr id="57" name="TextBox 56"/>
          <p:cNvSpPr txBox="1"/>
          <p:nvPr/>
        </p:nvSpPr>
        <p:spPr>
          <a:xfrm>
            <a:off x="8048625" y="2087194"/>
            <a:ext cx="3763391" cy="194310"/>
          </a:xfrm>
          <a:prstGeom prst="rect">
            <a:avLst/>
          </a:prstGeom>
          <a:noFill/>
        </p:spPr>
        <p:txBody>
          <a:bodyPr wrap="none" lIns="0" rIns="0" tIns="0" bIns="0">
            <a:spAutoFit/>
          </a:bodyPr>
          <a:lstStyle/>
          <a:p>
            <a:r>
              <a:rPr sz="1150" b="0">
                <a:solidFill>
                  <a:srgbClr val="2E2E2E"/>
                </a:solidFill>
                <a:latin typeface="Calibri"/>
              </a:rPr>
              <a:t>selling price of removable partial dentures is estimated at US$</a:t>
            </a:r>
          </a:p>
        </p:txBody>
      </p:sp>
      <p:pic>
        <p:nvPicPr>
          <p:cNvPr id="58" name="Picture 57" descr="lock.png"/>
          <p:cNvPicPr>
            <a:picLocks noChangeAspect="1"/>
          </p:cNvPicPr>
          <p:nvPr/>
        </p:nvPicPr>
        <p:blipFill>
          <a:blip r:embed="rId4"/>
          <a:stretch>
            <a:fillRect/>
          </a:stretch>
        </p:blipFill>
        <p:spPr>
          <a:xfrm>
            <a:off x="8034545" y="2252230"/>
            <a:ext cx="134549" cy="195707"/>
          </a:xfrm>
          <a:prstGeom prst="rect">
            <a:avLst/>
          </a:prstGeom>
        </p:spPr>
      </p:pic>
      <p:sp>
        <p:nvSpPr>
          <p:cNvPr id="59" name="TextBox 58"/>
          <p:cNvSpPr txBox="1"/>
          <p:nvPr/>
        </p:nvSpPr>
        <p:spPr>
          <a:xfrm>
            <a:off x="8209654" y="2262454"/>
            <a:ext cx="3138115" cy="194310"/>
          </a:xfrm>
          <a:prstGeom prst="rect">
            <a:avLst/>
          </a:prstGeom>
          <a:noFill/>
        </p:spPr>
        <p:txBody>
          <a:bodyPr wrap="none" lIns="0" rIns="0" tIns="0" bIns="0">
            <a:spAutoFit/>
          </a:bodyPr>
          <a:lstStyle/>
          <a:p>
            <a:r>
              <a:rPr sz="1150" b="0">
                <a:solidFill>
                  <a:srgbClr val="2E2E2E"/>
                </a:solidFill>
                <a:latin typeface="Calibri"/>
              </a:rPr>
              <a:t>per Unit in 2025 and is projected to increase to US$</a:t>
            </a:r>
          </a:p>
        </p:txBody>
      </p:sp>
      <p:pic>
        <p:nvPicPr>
          <p:cNvPr id="60" name="Picture 59" descr="lock.png"/>
          <p:cNvPicPr>
            <a:picLocks noChangeAspect="1"/>
          </p:cNvPicPr>
          <p:nvPr/>
        </p:nvPicPr>
        <p:blipFill>
          <a:blip r:embed="rId4"/>
          <a:stretch>
            <a:fillRect/>
          </a:stretch>
        </p:blipFill>
        <p:spPr>
          <a:xfrm>
            <a:off x="11296924" y="2252230"/>
            <a:ext cx="134549" cy="195707"/>
          </a:xfrm>
          <a:prstGeom prst="rect">
            <a:avLst/>
          </a:prstGeom>
        </p:spPr>
      </p:pic>
      <p:sp>
        <p:nvSpPr>
          <p:cNvPr id="61" name="TextBox 60"/>
          <p:cNvSpPr txBox="1"/>
          <p:nvPr/>
        </p:nvSpPr>
        <p:spPr>
          <a:xfrm>
            <a:off x="8048625" y="2437714"/>
            <a:ext cx="1105681" cy="194310"/>
          </a:xfrm>
          <a:prstGeom prst="rect">
            <a:avLst/>
          </a:prstGeom>
          <a:noFill/>
        </p:spPr>
        <p:txBody>
          <a:bodyPr wrap="none" lIns="0" rIns="0" tIns="0" bIns="0">
            <a:spAutoFit/>
          </a:bodyPr>
          <a:lstStyle/>
          <a:p>
            <a:r>
              <a:rPr sz="1150" b="0">
                <a:solidFill>
                  <a:srgbClr val="2E2E2E"/>
                </a:solidFill>
                <a:latin typeface="Calibri"/>
              </a:rPr>
              <a:t>per Unit by 2036.</a:t>
            </a:r>
          </a:p>
        </p:txBody>
      </p:sp>
      <p:sp>
        <p:nvSpPr>
          <p:cNvPr id="62" name="TextBox 61"/>
          <p:cNvSpPr txBox="1"/>
          <p:nvPr/>
        </p:nvSpPr>
        <p:spPr>
          <a:xfrm>
            <a:off x="8048625" y="2665551"/>
            <a:ext cx="3806750" cy="194310"/>
          </a:xfrm>
          <a:prstGeom prst="rect">
            <a:avLst/>
          </a:prstGeom>
          <a:noFill/>
        </p:spPr>
        <p:txBody>
          <a:bodyPr wrap="none" lIns="0" rIns="0" tIns="0" bIns="0">
            <a:spAutoFit/>
          </a:bodyPr>
          <a:lstStyle/>
          <a:p>
            <a:r>
              <a:rPr sz="1150" b="0">
                <a:solidFill>
                  <a:srgbClr val="2E2E2E"/>
                </a:solidFill>
                <a:latin typeface="Calibri"/>
              </a:rPr>
              <a:t>Europe is the highest-priced region, while North America is the</a:t>
            </a:r>
          </a:p>
        </p:txBody>
      </p:sp>
      <p:sp>
        <p:nvSpPr>
          <p:cNvPr id="63" name="TextBox 62"/>
          <p:cNvSpPr txBox="1"/>
          <p:nvPr/>
        </p:nvSpPr>
        <p:spPr>
          <a:xfrm>
            <a:off x="8048625" y="2840811"/>
            <a:ext cx="3834420" cy="194310"/>
          </a:xfrm>
          <a:prstGeom prst="rect">
            <a:avLst/>
          </a:prstGeom>
          <a:noFill/>
        </p:spPr>
        <p:txBody>
          <a:bodyPr wrap="none" lIns="0" rIns="0" tIns="0" bIns="0">
            <a:spAutoFit/>
          </a:bodyPr>
          <a:lstStyle/>
          <a:p>
            <a:r>
              <a:rPr sz="1150" b="0">
                <a:solidFill>
                  <a:srgbClr val="2E2E2E"/>
                </a:solidFill>
                <a:latin typeface="Calibri"/>
              </a:rPr>
              <a:t>most price-competitive market. The orange dot is each region's</a:t>
            </a:r>
          </a:p>
        </p:txBody>
      </p:sp>
      <p:sp>
        <p:nvSpPr>
          <p:cNvPr id="64" name="TextBox 63"/>
          <p:cNvSpPr txBox="1"/>
          <p:nvPr/>
        </p:nvSpPr>
        <p:spPr>
          <a:xfrm>
            <a:off x="8048625" y="3016071"/>
            <a:ext cx="3749699" cy="194310"/>
          </a:xfrm>
          <a:prstGeom prst="rect">
            <a:avLst/>
          </a:prstGeom>
          <a:noFill/>
        </p:spPr>
        <p:txBody>
          <a:bodyPr wrap="none" lIns="0" rIns="0" tIns="0" bIns="0">
            <a:spAutoFit/>
          </a:bodyPr>
          <a:lstStyle/>
          <a:p>
            <a:r>
              <a:rPr sz="1150" b="0">
                <a:solidFill>
                  <a:srgbClr val="2E2E2E"/>
                </a:solidFill>
                <a:latin typeface="Calibri"/>
              </a:rPr>
              <a:t>average selling price; the blue band is its full low-to-high price</a:t>
            </a:r>
          </a:p>
        </p:txBody>
      </p:sp>
      <p:sp>
        <p:nvSpPr>
          <p:cNvPr id="65" name="TextBox 64"/>
          <p:cNvSpPr txBox="1"/>
          <p:nvPr/>
        </p:nvSpPr>
        <p:spPr>
          <a:xfrm>
            <a:off x="8048625" y="3191331"/>
            <a:ext cx="2269517" cy="194310"/>
          </a:xfrm>
          <a:prstGeom prst="rect">
            <a:avLst/>
          </a:prstGeom>
          <a:noFill/>
        </p:spPr>
        <p:txBody>
          <a:bodyPr wrap="none" lIns="0" rIns="0" tIns="0" bIns="0">
            <a:spAutoFit/>
          </a:bodyPr>
          <a:lstStyle/>
          <a:p>
            <a:r>
              <a:rPr sz="1150" b="0">
                <a:solidFill>
                  <a:srgbClr val="2E2E2E"/>
                </a:solidFill>
                <a:latin typeface="Calibri"/>
              </a:rPr>
              <a:t>range, all derived as Value ÷ Volume.</a:t>
            </a:r>
          </a:p>
        </p:txBody>
      </p:sp>
      <p:sp>
        <p:nvSpPr>
          <p:cNvPr id="66" name="TextBox 65"/>
          <p:cNvSpPr txBox="1"/>
          <p:nvPr/>
        </p:nvSpPr>
        <p:spPr>
          <a:xfrm>
            <a:off x="8048625" y="3419169"/>
            <a:ext cx="3691793" cy="194310"/>
          </a:xfrm>
          <a:prstGeom prst="rect">
            <a:avLst/>
          </a:prstGeom>
          <a:noFill/>
        </p:spPr>
        <p:txBody>
          <a:bodyPr wrap="none" lIns="0" rIns="0" tIns="0" bIns="0">
            <a:spAutoFit/>
          </a:bodyPr>
          <a:lstStyle/>
          <a:p>
            <a:r>
              <a:rPr sz="1150" b="0">
                <a:solidFill>
                  <a:srgbClr val="2E2E2E"/>
                </a:solidFill>
                <a:latin typeface="Calibri"/>
              </a:rPr>
              <a:t>Narrow bands point to commoditised, price-led competition;</a:t>
            </a:r>
          </a:p>
        </p:txBody>
      </p:sp>
      <p:sp>
        <p:nvSpPr>
          <p:cNvPr id="67" name="TextBox 66"/>
          <p:cNvSpPr txBox="1"/>
          <p:nvPr/>
        </p:nvSpPr>
        <p:spPr>
          <a:xfrm>
            <a:off x="8048625" y="3594429"/>
            <a:ext cx="3812170" cy="194310"/>
          </a:xfrm>
          <a:prstGeom prst="rect">
            <a:avLst/>
          </a:prstGeom>
          <a:noFill/>
        </p:spPr>
        <p:txBody>
          <a:bodyPr wrap="none" lIns="0" rIns="0" tIns="0" bIns="0">
            <a:spAutoFit/>
          </a:bodyPr>
          <a:lstStyle/>
          <a:p>
            <a:r>
              <a:rPr sz="1150" b="0">
                <a:solidFill>
                  <a:srgbClr val="2E2E2E"/>
                </a:solidFill>
                <a:latin typeface="Calibri"/>
              </a:rPr>
              <a:t>wider bands flag premiumisation headroom to trade buyers up</a:t>
            </a:r>
          </a:p>
        </p:txBody>
      </p:sp>
      <p:sp>
        <p:nvSpPr>
          <p:cNvPr id="68" name="TextBox 67"/>
          <p:cNvSpPr txBox="1"/>
          <p:nvPr/>
        </p:nvSpPr>
        <p:spPr>
          <a:xfrm>
            <a:off x="8048625" y="3769689"/>
            <a:ext cx="558279" cy="194310"/>
          </a:xfrm>
          <a:prstGeom prst="rect">
            <a:avLst/>
          </a:prstGeom>
          <a:noFill/>
        </p:spPr>
        <p:txBody>
          <a:bodyPr wrap="none" lIns="0" rIns="0" tIns="0" bIns="0">
            <a:spAutoFit/>
          </a:bodyPr>
          <a:lstStyle/>
          <a:p>
            <a:r>
              <a:rPr sz="1150" b="0">
                <a:solidFill>
                  <a:srgbClr val="2E2E2E"/>
                </a:solidFill>
                <a:latin typeface="Calibri"/>
              </a:rPr>
              <a:t>the mix.</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Removable Partial Dentures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69342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743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48025"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895600"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33650"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171700"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19275"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09975"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09975"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09975"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09975"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09975"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09975"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01189"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15922"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15922"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01189"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47925"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576638"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352787"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42772"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22177"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19105"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576638"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11366"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589908"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10503"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077684"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38550"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38550"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38550"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38550"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38550"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2952750"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6" name="TextBox 45"/>
          <p:cNvSpPr txBox="1"/>
          <p:nvPr/>
        </p:nvSpPr>
        <p:spPr>
          <a:xfrm>
            <a:off x="4184706"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7" name="TextBox 46"/>
          <p:cNvSpPr txBox="1"/>
          <p:nvPr/>
        </p:nvSpPr>
        <p:spPr>
          <a:xfrm>
            <a:off x="4946097"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8" name="TextBox 47"/>
          <p:cNvSpPr txBox="1"/>
          <p:nvPr/>
        </p:nvSpPr>
        <p:spPr>
          <a:xfrm>
            <a:off x="4946097"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9" name="TextBox 48"/>
          <p:cNvSpPr txBox="1"/>
          <p:nvPr/>
        </p:nvSpPr>
        <p:spPr>
          <a:xfrm>
            <a:off x="4184706"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0" name="TextBox 49"/>
          <p:cNvSpPr txBox="1"/>
          <p:nvPr/>
        </p:nvSpPr>
        <p:spPr>
          <a:xfrm>
            <a:off x="2952750"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1" name="TextBox 50"/>
          <p:cNvSpPr txBox="1"/>
          <p:nvPr/>
        </p:nvSpPr>
        <p:spPr>
          <a:xfrm>
            <a:off x="1720794"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2" name="TextBox 51"/>
          <p:cNvSpPr txBox="1"/>
          <p:nvPr/>
        </p:nvSpPr>
        <p:spPr>
          <a:xfrm>
            <a:off x="959403"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3" name="TextBox 52"/>
          <p:cNvSpPr txBox="1"/>
          <p:nvPr/>
        </p:nvSpPr>
        <p:spPr>
          <a:xfrm>
            <a:off x="959403"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4" name="TextBox 53"/>
          <p:cNvSpPr txBox="1"/>
          <p:nvPr/>
        </p:nvSpPr>
        <p:spPr>
          <a:xfrm>
            <a:off x="1720794"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5" name="Rounded Rectangle 54"/>
          <p:cNvSpPr/>
          <p:nvPr/>
        </p:nvSpPr>
        <p:spPr>
          <a:xfrm>
            <a:off x="7153275" y="1354081"/>
            <a:ext cx="4895850" cy="3393718"/>
          </a:xfrm>
          <a:prstGeom prst="roundRect">
            <a:avLst>
              <a:gd name="adj" fmla="val 22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286625" y="1439806"/>
            <a:ext cx="4629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286625" y="1677931"/>
            <a:ext cx="4629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286625" y="1763656"/>
            <a:ext cx="4629150" cy="2907943"/>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Removable Partial Dentures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Removable Partial Dentures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153275" y="4857321"/>
            <a:ext cx="48958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286625" y="4943046"/>
            <a:ext cx="462915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286625" y="5181171"/>
            <a:ext cx="4629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286625" y="5266896"/>
            <a:ext cx="46291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3241146" y="1898910"/>
            <a:ext cx="659829" cy="186689"/>
          </a:xfrm>
          <a:prstGeom prst="rect">
            <a:avLst/>
          </a:prstGeom>
          <a:noFill/>
        </p:spPr>
        <p:txBody>
          <a:bodyPr wrap="none" lIns="0" rIns="0" tIns="0" bIns="0">
            <a:spAutoFit/>
          </a:bodyPr>
          <a:lstStyle/>
          <a:p>
            <a:r>
              <a:rPr sz="1100" b="0">
                <a:solidFill>
                  <a:srgbClr val="2E2E2E"/>
                </a:solidFill>
                <a:latin typeface="Calibri"/>
              </a:rPr>
              <a:t>Input Cost</a:t>
            </a:r>
          </a:p>
        </p:txBody>
      </p:sp>
      <p:pic>
        <p:nvPicPr>
          <p:cNvPr id="65" name="Picture 64" descr="lock.png"/>
          <p:cNvPicPr>
            <a:picLocks noChangeAspect="1"/>
          </p:cNvPicPr>
          <p:nvPr/>
        </p:nvPicPr>
        <p:blipFill>
          <a:blip r:embed="rId4"/>
          <a:stretch>
            <a:fillRect/>
          </a:stretch>
        </p:blipFill>
        <p:spPr>
          <a:xfrm>
            <a:off x="3849027" y="1889132"/>
            <a:ext cx="128699" cy="187198"/>
          </a:xfrm>
          <a:prstGeom prst="rect">
            <a:avLst/>
          </a:prstGeom>
        </p:spPr>
      </p:pic>
      <p:sp>
        <p:nvSpPr>
          <p:cNvPr id="66" name="TextBox 65"/>
          <p:cNvSpPr txBox="1"/>
          <p:nvPr/>
        </p:nvSpPr>
        <p:spPr>
          <a:xfrm>
            <a:off x="4267058" y="2322667"/>
            <a:ext cx="1115044" cy="139750"/>
          </a:xfrm>
          <a:prstGeom prst="rect">
            <a:avLst/>
          </a:prstGeom>
          <a:noFill/>
        </p:spPr>
        <p:txBody>
          <a:bodyPr wrap="none" lIns="0" rIns="0" tIns="0" bIns="0">
            <a:spAutoFit/>
          </a:bodyPr>
          <a:lstStyle/>
          <a:p>
            <a:r>
              <a:rPr sz="791" b="0">
                <a:solidFill>
                  <a:srgbClr val="2E2E2E"/>
                </a:solidFill>
                <a:latin typeface="Calibri"/>
              </a:rPr>
              <a:t>Labor &amp; Production Costs</a:t>
            </a:r>
          </a:p>
        </p:txBody>
      </p:sp>
      <p:pic>
        <p:nvPicPr>
          <p:cNvPr id="67" name="Picture 66" descr="lock.png"/>
          <p:cNvPicPr>
            <a:picLocks noChangeAspect="1"/>
          </p:cNvPicPr>
          <p:nvPr/>
        </p:nvPicPr>
        <p:blipFill>
          <a:blip r:embed="rId4"/>
          <a:stretch>
            <a:fillRect/>
          </a:stretch>
        </p:blipFill>
        <p:spPr>
          <a:xfrm>
            <a:off x="5323363" y="2315626"/>
            <a:ext cx="92663" cy="134782"/>
          </a:xfrm>
          <a:prstGeom prst="rect">
            <a:avLst/>
          </a:prstGeom>
        </p:spPr>
      </p:pic>
      <p:sp>
        <p:nvSpPr>
          <p:cNvPr id="68" name="TextBox 67"/>
          <p:cNvSpPr txBox="1"/>
          <p:nvPr/>
        </p:nvSpPr>
        <p:spPr>
          <a:xfrm>
            <a:off x="5035718" y="3370632"/>
            <a:ext cx="1100506" cy="139750"/>
          </a:xfrm>
          <a:prstGeom prst="rect">
            <a:avLst/>
          </a:prstGeom>
          <a:noFill/>
        </p:spPr>
        <p:txBody>
          <a:bodyPr wrap="none" lIns="0" rIns="0" tIns="0" bIns="0">
            <a:spAutoFit/>
          </a:bodyPr>
          <a:lstStyle/>
          <a:p>
            <a:r>
              <a:rPr sz="791" b="0">
                <a:solidFill>
                  <a:srgbClr val="2E2E2E"/>
                </a:solidFill>
                <a:latin typeface="Calibri"/>
              </a:rPr>
              <a:t>Technology &amp; Innovation</a:t>
            </a:r>
          </a:p>
        </p:txBody>
      </p:sp>
      <p:pic>
        <p:nvPicPr>
          <p:cNvPr id="69" name="Picture 68" descr="lock.png"/>
          <p:cNvPicPr>
            <a:picLocks noChangeAspect="1"/>
          </p:cNvPicPr>
          <p:nvPr/>
        </p:nvPicPr>
        <p:blipFill>
          <a:blip r:embed="rId4"/>
          <a:stretch>
            <a:fillRect/>
          </a:stretch>
        </p:blipFill>
        <p:spPr>
          <a:xfrm>
            <a:off x="6077486" y="3363591"/>
            <a:ext cx="92663" cy="134782"/>
          </a:xfrm>
          <a:prstGeom prst="rect">
            <a:avLst/>
          </a:prstGeom>
        </p:spPr>
      </p:pic>
      <p:sp>
        <p:nvSpPr>
          <p:cNvPr id="70" name="TextBox 69"/>
          <p:cNvSpPr txBox="1"/>
          <p:nvPr/>
        </p:nvSpPr>
        <p:spPr>
          <a:xfrm>
            <a:off x="5024921" y="4662634"/>
            <a:ext cx="1115939" cy="146456"/>
          </a:xfrm>
          <a:prstGeom prst="rect">
            <a:avLst/>
          </a:prstGeom>
          <a:noFill/>
        </p:spPr>
        <p:txBody>
          <a:bodyPr wrap="none" lIns="0" rIns="0" tIns="0" bIns="0">
            <a:spAutoFit/>
          </a:bodyPr>
          <a:lstStyle/>
          <a:p>
            <a:r>
              <a:rPr sz="835" b="0">
                <a:solidFill>
                  <a:srgbClr val="2E2E2E"/>
                </a:solidFill>
                <a:latin typeface="Calibri"/>
              </a:rPr>
              <a:t>Supply Chain &amp; Logistics</a:t>
            </a:r>
          </a:p>
        </p:txBody>
      </p:sp>
      <p:pic>
        <p:nvPicPr>
          <p:cNvPr id="71" name="Picture 70" descr="lock.png"/>
          <p:cNvPicPr>
            <a:picLocks noChangeAspect="1"/>
          </p:cNvPicPr>
          <p:nvPr/>
        </p:nvPicPr>
        <p:blipFill>
          <a:blip r:embed="rId4"/>
          <a:stretch>
            <a:fillRect/>
          </a:stretch>
        </p:blipFill>
        <p:spPr>
          <a:xfrm>
            <a:off x="6083091" y="4655202"/>
            <a:ext cx="97811" cy="142270"/>
          </a:xfrm>
          <a:prstGeom prst="rect">
            <a:avLst/>
          </a:prstGeom>
        </p:spPr>
      </p:pic>
      <p:sp>
        <p:nvSpPr>
          <p:cNvPr id="72" name="TextBox 71"/>
          <p:cNvSpPr txBox="1"/>
          <p:nvPr/>
        </p:nvSpPr>
        <p:spPr>
          <a:xfrm>
            <a:off x="4232042" y="5653601"/>
            <a:ext cx="1238538" cy="139750"/>
          </a:xfrm>
          <a:prstGeom prst="rect">
            <a:avLst/>
          </a:prstGeom>
          <a:noFill/>
        </p:spPr>
        <p:txBody>
          <a:bodyPr wrap="none" lIns="0" rIns="0" tIns="0" bIns="0">
            <a:spAutoFit/>
          </a:bodyPr>
          <a:lstStyle/>
          <a:p>
            <a:r>
              <a:rPr sz="791" b="0">
                <a:solidFill>
                  <a:srgbClr val="2E2E2E"/>
                </a:solidFill>
                <a:latin typeface="Calibri"/>
              </a:rPr>
              <a:t>Demand &amp; Market Conditions</a:t>
            </a:r>
          </a:p>
        </p:txBody>
      </p:sp>
      <p:pic>
        <p:nvPicPr>
          <p:cNvPr id="73" name="Picture 72" descr="lock.png"/>
          <p:cNvPicPr>
            <a:picLocks noChangeAspect="1"/>
          </p:cNvPicPr>
          <p:nvPr/>
        </p:nvPicPr>
        <p:blipFill>
          <a:blip r:embed="rId4"/>
          <a:stretch>
            <a:fillRect/>
          </a:stretch>
        </p:blipFill>
        <p:spPr>
          <a:xfrm>
            <a:off x="4790363" y="5767261"/>
            <a:ext cx="92663" cy="134782"/>
          </a:xfrm>
          <a:prstGeom prst="rect">
            <a:avLst/>
          </a:prstGeom>
        </p:spPr>
      </p:pic>
      <p:sp>
        <p:nvSpPr>
          <p:cNvPr id="74" name="TextBox 73"/>
          <p:cNvSpPr txBox="1"/>
          <p:nvPr/>
        </p:nvSpPr>
        <p:spPr>
          <a:xfrm>
            <a:off x="3049408" y="6110885"/>
            <a:ext cx="1080271" cy="146456"/>
          </a:xfrm>
          <a:prstGeom prst="rect">
            <a:avLst/>
          </a:prstGeom>
          <a:noFill/>
        </p:spPr>
        <p:txBody>
          <a:bodyPr wrap="none" lIns="0" rIns="0" tIns="0" bIns="0">
            <a:spAutoFit/>
          </a:bodyPr>
          <a:lstStyle/>
          <a:p>
            <a:r>
              <a:rPr sz="835" b="0">
                <a:solidFill>
                  <a:srgbClr val="2E2E2E"/>
                </a:solidFill>
                <a:latin typeface="Calibri"/>
              </a:rPr>
              <a:t>Competitive Landscape</a:t>
            </a:r>
          </a:p>
        </p:txBody>
      </p:sp>
      <p:pic>
        <p:nvPicPr>
          <p:cNvPr id="75" name="Picture 74" descr="lock.png"/>
          <p:cNvPicPr>
            <a:picLocks noChangeAspect="1"/>
          </p:cNvPicPr>
          <p:nvPr/>
        </p:nvPicPr>
        <p:blipFill>
          <a:blip r:embed="rId4"/>
          <a:stretch>
            <a:fillRect/>
          </a:stretch>
        </p:blipFill>
        <p:spPr>
          <a:xfrm>
            <a:off x="4071911" y="6103453"/>
            <a:ext cx="97811" cy="142270"/>
          </a:xfrm>
          <a:prstGeom prst="rect">
            <a:avLst/>
          </a:prstGeom>
        </p:spPr>
      </p:pic>
      <p:sp>
        <p:nvSpPr>
          <p:cNvPr id="76" name="TextBox 75"/>
          <p:cNvSpPr txBox="1"/>
          <p:nvPr/>
        </p:nvSpPr>
        <p:spPr>
          <a:xfrm>
            <a:off x="1859088" y="5653601"/>
            <a:ext cx="1114061" cy="139750"/>
          </a:xfrm>
          <a:prstGeom prst="rect">
            <a:avLst/>
          </a:prstGeom>
          <a:noFill/>
        </p:spPr>
        <p:txBody>
          <a:bodyPr wrap="none" lIns="0" rIns="0" tIns="0" bIns="0">
            <a:spAutoFit/>
          </a:bodyPr>
          <a:lstStyle/>
          <a:p>
            <a:r>
              <a:rPr sz="791" b="0">
                <a:solidFill>
                  <a:srgbClr val="2E2E2E"/>
                </a:solidFill>
                <a:latin typeface="Calibri"/>
              </a:rPr>
              <a:t>Regulatory &amp; Compliance</a:t>
            </a:r>
          </a:p>
        </p:txBody>
      </p:sp>
      <p:sp>
        <p:nvSpPr>
          <p:cNvPr id="77" name="TextBox 76"/>
          <p:cNvSpPr txBox="1"/>
          <p:nvPr/>
        </p:nvSpPr>
        <p:spPr>
          <a:xfrm>
            <a:off x="2213046" y="5774302"/>
            <a:ext cx="295245" cy="139750"/>
          </a:xfrm>
          <a:prstGeom prst="rect">
            <a:avLst/>
          </a:prstGeom>
          <a:noFill/>
        </p:spPr>
        <p:txBody>
          <a:bodyPr wrap="none" lIns="0" rIns="0" tIns="0" bIns="0">
            <a:spAutoFit/>
          </a:bodyPr>
          <a:lstStyle/>
          <a:p>
            <a:r>
              <a:rPr sz="791" b="0">
                <a:solidFill>
                  <a:srgbClr val="2E2E2E"/>
                </a:solidFill>
                <a:latin typeface="Calibri"/>
              </a:rPr>
              <a:t>Costs</a:t>
            </a:r>
          </a:p>
        </p:txBody>
      </p:sp>
      <p:pic>
        <p:nvPicPr>
          <p:cNvPr id="78" name="Picture 77" descr="lock.png"/>
          <p:cNvPicPr>
            <a:picLocks noChangeAspect="1"/>
          </p:cNvPicPr>
          <p:nvPr/>
        </p:nvPicPr>
        <p:blipFill>
          <a:blip r:embed="rId4"/>
          <a:stretch>
            <a:fillRect/>
          </a:stretch>
        </p:blipFill>
        <p:spPr>
          <a:xfrm>
            <a:off x="2449552" y="5767261"/>
            <a:ext cx="92663" cy="134782"/>
          </a:xfrm>
          <a:prstGeom prst="rect">
            <a:avLst/>
          </a:prstGeom>
        </p:spPr>
      </p:pic>
      <p:sp>
        <p:nvSpPr>
          <p:cNvPr id="79" name="TextBox 78"/>
          <p:cNvSpPr txBox="1"/>
          <p:nvPr/>
        </p:nvSpPr>
        <p:spPr>
          <a:xfrm>
            <a:off x="1049566" y="4605637"/>
            <a:ext cx="1195711" cy="139750"/>
          </a:xfrm>
          <a:prstGeom prst="rect">
            <a:avLst/>
          </a:prstGeom>
          <a:noFill/>
        </p:spPr>
        <p:txBody>
          <a:bodyPr wrap="none" lIns="0" rIns="0" tIns="0" bIns="0">
            <a:spAutoFit/>
          </a:bodyPr>
          <a:lstStyle/>
          <a:p>
            <a:r>
              <a:rPr sz="791" b="0">
                <a:solidFill>
                  <a:srgbClr val="2E2E2E"/>
                </a:solidFill>
                <a:latin typeface="Calibri"/>
              </a:rPr>
              <a:t>Currency &amp; Trade Dynamics</a:t>
            </a:r>
          </a:p>
        </p:txBody>
      </p:sp>
      <p:pic>
        <p:nvPicPr>
          <p:cNvPr id="80" name="Picture 79" descr="lock.png"/>
          <p:cNvPicPr>
            <a:picLocks noChangeAspect="1"/>
          </p:cNvPicPr>
          <p:nvPr/>
        </p:nvPicPr>
        <p:blipFill>
          <a:blip r:embed="rId4"/>
          <a:stretch>
            <a:fillRect/>
          </a:stretch>
        </p:blipFill>
        <p:spPr>
          <a:xfrm>
            <a:off x="1565060" y="4719297"/>
            <a:ext cx="92663" cy="134782"/>
          </a:xfrm>
          <a:prstGeom prst="rect">
            <a:avLst/>
          </a:prstGeom>
        </p:spPr>
      </p:pic>
      <p:sp>
        <p:nvSpPr>
          <p:cNvPr id="81" name="TextBox 80"/>
          <p:cNvSpPr txBox="1"/>
          <p:nvPr/>
        </p:nvSpPr>
        <p:spPr>
          <a:xfrm>
            <a:off x="1032227" y="3370632"/>
            <a:ext cx="1134100" cy="139750"/>
          </a:xfrm>
          <a:prstGeom prst="rect">
            <a:avLst/>
          </a:prstGeom>
          <a:noFill/>
        </p:spPr>
        <p:txBody>
          <a:bodyPr wrap="none" lIns="0" rIns="0" tIns="0" bIns="0">
            <a:spAutoFit/>
          </a:bodyPr>
          <a:lstStyle/>
          <a:p>
            <a:r>
              <a:rPr sz="791" b="0">
                <a:solidFill>
                  <a:srgbClr val="2E2E2E"/>
                </a:solidFill>
                <a:latin typeface="Calibri"/>
              </a:rPr>
              <a:t>Brand &amp; Value Perception</a:t>
            </a:r>
          </a:p>
        </p:txBody>
      </p:sp>
      <p:pic>
        <p:nvPicPr>
          <p:cNvPr id="82" name="Picture 81" descr="lock.png"/>
          <p:cNvPicPr>
            <a:picLocks noChangeAspect="1"/>
          </p:cNvPicPr>
          <p:nvPr/>
        </p:nvPicPr>
        <p:blipFill>
          <a:blip r:embed="rId4"/>
          <a:stretch>
            <a:fillRect/>
          </a:stretch>
        </p:blipFill>
        <p:spPr>
          <a:xfrm>
            <a:off x="2107588" y="3363591"/>
            <a:ext cx="92663" cy="134782"/>
          </a:xfrm>
          <a:prstGeom prst="rect">
            <a:avLst/>
          </a:prstGeom>
        </p:spPr>
      </p:pic>
      <p:sp>
        <p:nvSpPr>
          <p:cNvPr id="83" name="TextBox 82"/>
          <p:cNvSpPr txBox="1"/>
          <p:nvPr/>
        </p:nvSpPr>
        <p:spPr>
          <a:xfrm>
            <a:off x="1803098" y="2262317"/>
            <a:ext cx="1203570" cy="139750"/>
          </a:xfrm>
          <a:prstGeom prst="rect">
            <a:avLst/>
          </a:prstGeom>
          <a:noFill/>
        </p:spPr>
        <p:txBody>
          <a:bodyPr wrap="none" lIns="0" rIns="0" tIns="0" bIns="0">
            <a:spAutoFit/>
          </a:bodyPr>
          <a:lstStyle/>
          <a:p>
            <a:r>
              <a:rPr sz="791" b="0">
                <a:solidFill>
                  <a:srgbClr val="2E2E2E"/>
                </a:solidFill>
                <a:latin typeface="Calibri"/>
              </a:rPr>
              <a:t>Aftermarket &amp; Service Costs</a:t>
            </a:r>
          </a:p>
        </p:txBody>
      </p:sp>
      <p:pic>
        <p:nvPicPr>
          <p:cNvPr id="84" name="Picture 83" descr="lock.png"/>
          <p:cNvPicPr>
            <a:picLocks noChangeAspect="1"/>
          </p:cNvPicPr>
          <p:nvPr/>
        </p:nvPicPr>
        <p:blipFill>
          <a:blip r:embed="rId4"/>
          <a:stretch>
            <a:fillRect/>
          </a:stretch>
        </p:blipFill>
        <p:spPr>
          <a:xfrm>
            <a:off x="2326451" y="2375977"/>
            <a:ext cx="92663" cy="134782"/>
          </a:xfrm>
          <a:prstGeom prst="rect">
            <a:avLst/>
          </a:prstGeom>
        </p:spPr>
      </p:pic>
      <p:sp>
        <p:nvSpPr>
          <p:cNvPr id="85" name="TextBox 84"/>
          <p:cNvSpPr txBox="1"/>
          <p:nvPr/>
        </p:nvSpPr>
        <p:spPr>
          <a:xfrm>
            <a:off x="7286625" y="5276421"/>
            <a:ext cx="740866" cy="186689"/>
          </a:xfrm>
          <a:prstGeom prst="rect">
            <a:avLst/>
          </a:prstGeom>
          <a:noFill/>
        </p:spPr>
        <p:txBody>
          <a:bodyPr wrap="none" lIns="0" rIns="0" tIns="0" bIns="0">
            <a:spAutoFit/>
          </a:bodyPr>
          <a:lstStyle/>
          <a:p>
            <a:r>
              <a:rPr sz="1100" b="0">
                <a:solidFill>
                  <a:srgbClr val="2E2E2E"/>
                </a:solidFill>
                <a:latin typeface="Calibri"/>
              </a:rPr>
              <a:t>▪ Input Cost</a:t>
            </a:r>
          </a:p>
        </p:txBody>
      </p:sp>
      <p:pic>
        <p:nvPicPr>
          <p:cNvPr id="86" name="Picture 85" descr="lock.png"/>
          <p:cNvPicPr>
            <a:picLocks noChangeAspect="1"/>
          </p:cNvPicPr>
          <p:nvPr/>
        </p:nvPicPr>
        <p:blipFill>
          <a:blip r:embed="rId4"/>
          <a:stretch>
            <a:fillRect/>
          </a:stretch>
        </p:blipFill>
        <p:spPr>
          <a:xfrm>
            <a:off x="7975543" y="5266641"/>
            <a:ext cx="128699" cy="187198"/>
          </a:xfrm>
          <a:prstGeom prst="rect">
            <a:avLst/>
          </a:prstGeom>
        </p:spPr>
      </p:pic>
      <p:sp>
        <p:nvSpPr>
          <p:cNvPr id="87" name="TextBox 86"/>
          <p:cNvSpPr txBox="1"/>
          <p:nvPr/>
        </p:nvSpPr>
        <p:spPr>
          <a:xfrm>
            <a:off x="8143038" y="5276421"/>
            <a:ext cx="1744141" cy="186689"/>
          </a:xfrm>
          <a:prstGeom prst="rect">
            <a:avLst/>
          </a:prstGeom>
          <a:noFill/>
        </p:spPr>
        <p:txBody>
          <a:bodyPr wrap="none" lIns="0" rIns="0" tIns="0" bIns="0">
            <a:spAutoFit/>
          </a:bodyPr>
          <a:lstStyle/>
          <a:p>
            <a:r>
              <a:rPr sz="1100" b="0">
                <a:solidFill>
                  <a:srgbClr val="2E2E2E"/>
                </a:solidFill>
                <a:latin typeface="Calibri"/>
              </a:rPr>
              <a:t>/ 10 · dominant cost pressure</a:t>
            </a:r>
          </a:p>
        </p:txBody>
      </p:sp>
      <p:sp>
        <p:nvSpPr>
          <p:cNvPr id="88" name="TextBox 87"/>
          <p:cNvSpPr txBox="1"/>
          <p:nvPr/>
        </p:nvSpPr>
        <p:spPr>
          <a:xfrm>
            <a:off x="7286625" y="5494353"/>
            <a:ext cx="1851372" cy="186689"/>
          </a:xfrm>
          <a:prstGeom prst="rect">
            <a:avLst/>
          </a:prstGeom>
          <a:noFill/>
        </p:spPr>
        <p:txBody>
          <a:bodyPr wrap="none" lIns="0" rIns="0" tIns="0" bIns="0">
            <a:spAutoFit/>
          </a:bodyPr>
          <a:lstStyle/>
          <a:p>
            <a:r>
              <a:rPr sz="1100" b="0">
                <a:solidFill>
                  <a:srgbClr val="2E2E2E"/>
                </a:solidFill>
                <a:latin typeface="Calibri"/>
              </a:rPr>
              <a:t>▪ Demand &amp; Market Conditions</a:t>
            </a:r>
          </a:p>
        </p:txBody>
      </p:sp>
      <p:pic>
        <p:nvPicPr>
          <p:cNvPr id="89" name="Picture 88" descr="lock.png"/>
          <p:cNvPicPr>
            <a:picLocks noChangeAspect="1"/>
          </p:cNvPicPr>
          <p:nvPr/>
        </p:nvPicPr>
        <p:blipFill>
          <a:blip r:embed="rId4"/>
          <a:stretch>
            <a:fillRect/>
          </a:stretch>
        </p:blipFill>
        <p:spPr>
          <a:xfrm>
            <a:off x="9086048" y="5484573"/>
            <a:ext cx="128699" cy="187198"/>
          </a:xfrm>
          <a:prstGeom prst="rect">
            <a:avLst/>
          </a:prstGeom>
        </p:spPr>
      </p:pic>
      <p:sp>
        <p:nvSpPr>
          <p:cNvPr id="90" name="TextBox 89"/>
          <p:cNvSpPr txBox="1"/>
          <p:nvPr/>
        </p:nvSpPr>
        <p:spPr>
          <a:xfrm>
            <a:off x="9253544" y="5494353"/>
            <a:ext cx="1527224" cy="186689"/>
          </a:xfrm>
          <a:prstGeom prst="rect">
            <a:avLst/>
          </a:prstGeom>
          <a:noFill/>
        </p:spPr>
        <p:txBody>
          <a:bodyPr wrap="none" lIns="0" rIns="0" tIns="0" bIns="0">
            <a:spAutoFit/>
          </a:bodyPr>
          <a:lstStyle/>
          <a:p>
            <a:r>
              <a:rPr sz="1100" b="0">
                <a:solidFill>
                  <a:srgbClr val="2E2E2E"/>
                </a:solidFill>
                <a:latin typeface="Calibri"/>
              </a:rPr>
              <a:t>/ 10 · major cost pressure</a:t>
            </a:r>
          </a:p>
        </p:txBody>
      </p:sp>
      <p:sp>
        <p:nvSpPr>
          <p:cNvPr id="91" name="TextBox 90"/>
          <p:cNvSpPr txBox="1"/>
          <p:nvPr/>
        </p:nvSpPr>
        <p:spPr>
          <a:xfrm>
            <a:off x="7286625" y="5712285"/>
            <a:ext cx="1478384" cy="186689"/>
          </a:xfrm>
          <a:prstGeom prst="rect">
            <a:avLst/>
          </a:prstGeom>
          <a:noFill/>
        </p:spPr>
        <p:txBody>
          <a:bodyPr wrap="none" lIns="0" rIns="0" tIns="0" bIns="0">
            <a:spAutoFit/>
          </a:bodyPr>
          <a:lstStyle/>
          <a:p>
            <a:r>
              <a:rPr sz="1100" b="0">
                <a:solidFill>
                  <a:srgbClr val="2E2E2E"/>
                </a:solidFill>
                <a:latin typeface="Calibri"/>
              </a:rPr>
              <a:t>▪ Competitive Landscape</a:t>
            </a:r>
          </a:p>
        </p:txBody>
      </p:sp>
      <p:pic>
        <p:nvPicPr>
          <p:cNvPr id="92" name="Picture 91" descr="lock.png"/>
          <p:cNvPicPr>
            <a:picLocks noChangeAspect="1"/>
          </p:cNvPicPr>
          <p:nvPr/>
        </p:nvPicPr>
        <p:blipFill>
          <a:blip r:embed="rId4"/>
          <a:stretch>
            <a:fillRect/>
          </a:stretch>
        </p:blipFill>
        <p:spPr>
          <a:xfrm>
            <a:off x="8713060" y="5702505"/>
            <a:ext cx="128699" cy="187198"/>
          </a:xfrm>
          <a:prstGeom prst="rect">
            <a:avLst/>
          </a:prstGeom>
        </p:spPr>
      </p:pic>
      <p:sp>
        <p:nvSpPr>
          <p:cNvPr id="93" name="TextBox 92"/>
          <p:cNvSpPr txBox="1"/>
          <p:nvPr/>
        </p:nvSpPr>
        <p:spPr>
          <a:xfrm>
            <a:off x="8880556" y="5712285"/>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4" name="TextBox 93"/>
          <p:cNvSpPr txBox="1"/>
          <p:nvPr/>
        </p:nvSpPr>
        <p:spPr>
          <a:xfrm>
            <a:off x="7286625" y="5930217"/>
            <a:ext cx="1525314" cy="186689"/>
          </a:xfrm>
          <a:prstGeom prst="rect">
            <a:avLst/>
          </a:prstGeom>
          <a:noFill/>
        </p:spPr>
        <p:txBody>
          <a:bodyPr wrap="none" lIns="0" rIns="0" tIns="0" bIns="0">
            <a:spAutoFit/>
          </a:bodyPr>
          <a:lstStyle/>
          <a:p>
            <a:r>
              <a:rPr sz="1100" b="0">
                <a:solidFill>
                  <a:srgbClr val="2E2E2E"/>
                </a:solidFill>
                <a:latin typeface="Calibri"/>
              </a:rPr>
              <a:t>▪ Supply Chain &amp; Logistics</a:t>
            </a:r>
          </a:p>
        </p:txBody>
      </p:sp>
      <p:pic>
        <p:nvPicPr>
          <p:cNvPr id="95" name="Picture 94" descr="lock.png"/>
          <p:cNvPicPr>
            <a:picLocks noChangeAspect="1"/>
          </p:cNvPicPr>
          <p:nvPr/>
        </p:nvPicPr>
        <p:blipFill>
          <a:blip r:embed="rId4"/>
          <a:stretch>
            <a:fillRect/>
          </a:stretch>
        </p:blipFill>
        <p:spPr>
          <a:xfrm>
            <a:off x="8759991" y="5920437"/>
            <a:ext cx="128699" cy="187198"/>
          </a:xfrm>
          <a:prstGeom prst="rect">
            <a:avLst/>
          </a:prstGeom>
        </p:spPr>
      </p:pic>
      <p:sp>
        <p:nvSpPr>
          <p:cNvPr id="96" name="TextBox 95"/>
          <p:cNvSpPr txBox="1"/>
          <p:nvPr/>
        </p:nvSpPr>
        <p:spPr>
          <a:xfrm>
            <a:off x="8927487" y="5930217"/>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7" name="TextBox 96"/>
          <p:cNvSpPr txBox="1"/>
          <p:nvPr/>
        </p:nvSpPr>
        <p:spPr>
          <a:xfrm>
            <a:off x="7286625" y="6148149"/>
            <a:ext cx="1600075" cy="186689"/>
          </a:xfrm>
          <a:prstGeom prst="rect">
            <a:avLst/>
          </a:prstGeom>
          <a:noFill/>
        </p:spPr>
        <p:txBody>
          <a:bodyPr wrap="none" lIns="0" rIns="0" tIns="0" bIns="0">
            <a:spAutoFit/>
          </a:bodyPr>
          <a:lstStyle/>
          <a:p>
            <a:r>
              <a:rPr sz="1100" b="0">
                <a:solidFill>
                  <a:srgbClr val="2E2E2E"/>
                </a:solidFill>
                <a:latin typeface="Calibri"/>
              </a:rPr>
              <a:t>▪ Labor &amp; Production Costs</a:t>
            </a:r>
          </a:p>
        </p:txBody>
      </p:sp>
      <p:pic>
        <p:nvPicPr>
          <p:cNvPr id="98" name="Picture 97" descr="lock.png"/>
          <p:cNvPicPr>
            <a:picLocks noChangeAspect="1"/>
          </p:cNvPicPr>
          <p:nvPr/>
        </p:nvPicPr>
        <p:blipFill>
          <a:blip r:embed="rId4"/>
          <a:stretch>
            <a:fillRect/>
          </a:stretch>
        </p:blipFill>
        <p:spPr>
          <a:xfrm>
            <a:off x="8834752" y="6138369"/>
            <a:ext cx="128699" cy="187198"/>
          </a:xfrm>
          <a:prstGeom prst="rect">
            <a:avLst/>
          </a:prstGeom>
        </p:spPr>
      </p:pic>
      <p:sp>
        <p:nvSpPr>
          <p:cNvPr id="99" name="TextBox 98"/>
          <p:cNvSpPr txBox="1"/>
          <p:nvPr/>
        </p:nvSpPr>
        <p:spPr>
          <a:xfrm>
            <a:off x="9002248" y="6148149"/>
            <a:ext cx="1387524" cy="186689"/>
          </a:xfrm>
          <a:prstGeom prst="rect">
            <a:avLst/>
          </a:prstGeom>
          <a:noFill/>
        </p:spPr>
        <p:txBody>
          <a:bodyPr wrap="none" lIns="0" rIns="0" tIns="0" bIns="0">
            <a:spAutoFit/>
          </a:bodyPr>
          <a:lstStyle/>
          <a:p>
            <a:r>
              <a:rPr sz="1100" b="0">
                <a:solidFill>
                  <a:srgbClr val="2E2E2E"/>
                </a:solidFill>
                <a:latin typeface="Calibri"/>
              </a:rPr>
              <a:t>/ 10 · supporting factor</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286125"/>
          </a:xfrm>
          <a:prstGeom prst="roundRect">
            <a:avLst>
              <a:gd name="adj" fmla="val 23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981326"/>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46126">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7352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529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3870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5076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62550"/>
            <a:ext cx="11639550" cy="1304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02155" y="2764346"/>
            <a:ext cx="330041" cy="480060"/>
          </a:xfrm>
          <a:prstGeom prst="rect">
            <a:avLst/>
          </a:prstGeom>
        </p:spPr>
      </p:pic>
      <p:sp>
        <p:nvSpPr>
          <p:cNvPr id="20" name="TextBox 19"/>
          <p:cNvSpPr txBox="1"/>
          <p:nvPr/>
        </p:nvSpPr>
        <p:spPr>
          <a:xfrm>
            <a:off x="276225" y="5172075"/>
            <a:ext cx="5425566" cy="194310"/>
          </a:xfrm>
          <a:prstGeom prst="rect">
            <a:avLst/>
          </a:prstGeom>
          <a:noFill/>
        </p:spPr>
        <p:txBody>
          <a:bodyPr wrap="none" lIns="0" rIns="0" tIns="0" bIns="0">
            <a:spAutoFit/>
          </a:bodyPr>
          <a:lstStyle/>
          <a:p>
            <a:r>
              <a:rPr sz="1150" b="0">
                <a:solidFill>
                  <a:srgbClr val="2E2E2E"/>
                </a:solidFill>
                <a:latin typeface="Calibri"/>
              </a:rPr>
              <a:t>▪ Input Cost and Demand &amp; Market Conditions carry the heaviest weight on selling prices (</a:t>
            </a:r>
          </a:p>
        </p:txBody>
      </p:sp>
      <p:pic>
        <p:nvPicPr>
          <p:cNvPr id="21" name="Picture 20" descr="lock.png"/>
          <p:cNvPicPr>
            <a:picLocks noChangeAspect="1"/>
          </p:cNvPicPr>
          <p:nvPr/>
        </p:nvPicPr>
        <p:blipFill>
          <a:blip r:embed="rId4"/>
          <a:stretch>
            <a:fillRect/>
          </a:stretch>
        </p:blipFill>
        <p:spPr>
          <a:xfrm>
            <a:off x="5650945" y="5161851"/>
            <a:ext cx="134549" cy="195707"/>
          </a:xfrm>
          <a:prstGeom prst="rect">
            <a:avLst/>
          </a:prstGeom>
        </p:spPr>
      </p:pic>
      <p:sp>
        <p:nvSpPr>
          <p:cNvPr id="22" name="TextBox 21"/>
          <p:cNvSpPr txBox="1"/>
          <p:nvPr/>
        </p:nvSpPr>
        <p:spPr>
          <a:xfrm>
            <a:off x="5826054" y="5172075"/>
            <a:ext cx="299553" cy="194310"/>
          </a:xfrm>
          <a:prstGeom prst="rect">
            <a:avLst/>
          </a:prstGeom>
          <a:noFill/>
        </p:spPr>
        <p:txBody>
          <a:bodyPr wrap="none" lIns="0" rIns="0" tIns="0" bIns="0">
            <a:spAutoFit/>
          </a:bodyPr>
          <a:lstStyle/>
          <a:p>
            <a:r>
              <a:rPr sz="1150" b="0">
                <a:solidFill>
                  <a:srgbClr val="2E2E2E"/>
                </a:solidFill>
                <a:latin typeface="Calibri"/>
              </a:rPr>
              <a:t>and</a:t>
            </a:r>
          </a:p>
        </p:txBody>
      </p:sp>
      <p:pic>
        <p:nvPicPr>
          <p:cNvPr id="23" name="Picture 22" descr="lock.png"/>
          <p:cNvPicPr>
            <a:picLocks noChangeAspect="1"/>
          </p:cNvPicPr>
          <p:nvPr/>
        </p:nvPicPr>
        <p:blipFill>
          <a:blip r:embed="rId4"/>
          <a:stretch>
            <a:fillRect/>
          </a:stretch>
        </p:blipFill>
        <p:spPr>
          <a:xfrm>
            <a:off x="6074762" y="5161851"/>
            <a:ext cx="134549" cy="195707"/>
          </a:xfrm>
          <a:prstGeom prst="rect">
            <a:avLst/>
          </a:prstGeom>
        </p:spPr>
      </p:pic>
      <p:sp>
        <p:nvSpPr>
          <p:cNvPr id="24" name="TextBox 23"/>
          <p:cNvSpPr txBox="1"/>
          <p:nvPr/>
        </p:nvSpPr>
        <p:spPr>
          <a:xfrm>
            <a:off x="6249871" y="5172075"/>
            <a:ext cx="395113" cy="194310"/>
          </a:xfrm>
          <a:prstGeom prst="rect">
            <a:avLst/>
          </a:prstGeom>
          <a:noFill/>
        </p:spPr>
        <p:txBody>
          <a:bodyPr wrap="none" lIns="0" rIns="0" tIns="0" bIns="0">
            <a:spAutoFit/>
          </a:bodyPr>
          <a:lstStyle/>
          <a:p>
            <a:r>
              <a:rPr sz="1150" b="0">
                <a:solidFill>
                  <a:srgbClr val="2E2E2E"/>
                </a:solidFill>
                <a:latin typeface="Calibri"/>
              </a:rPr>
              <a:t>/ 10).</a:t>
            </a:r>
          </a:p>
        </p:txBody>
      </p:sp>
      <p:sp>
        <p:nvSpPr>
          <p:cNvPr id="25" name="TextBox 24"/>
          <p:cNvSpPr txBox="1"/>
          <p:nvPr/>
        </p:nvSpPr>
        <p:spPr>
          <a:xfrm>
            <a:off x="276225" y="5399913"/>
            <a:ext cx="8333444" cy="194310"/>
          </a:xfrm>
          <a:prstGeom prst="rect">
            <a:avLst/>
          </a:prstGeom>
          <a:noFill/>
        </p:spPr>
        <p:txBody>
          <a:bodyPr wrap="none" lIns="0" rIns="0" tIns="0" bIns="0">
            <a:spAutoFit/>
          </a:bodyPr>
          <a:lstStyle/>
          <a:p>
            <a:r>
              <a:rPr sz="1150" b="0">
                <a:solidFill>
                  <a:srgbClr val="2E2E2E"/>
                </a:solidFill>
                <a:latin typeface="Calibri"/>
              </a:rPr>
              <a:t>▪ 8 of 10 factors exert upward pressure on price; the rest pull prices down chiefly Technology &amp; Innovation and the Competitive Landscape.</a:t>
            </a:r>
          </a:p>
        </p:txBody>
      </p:sp>
      <p:sp>
        <p:nvSpPr>
          <p:cNvPr id="26" name="TextBox 25"/>
          <p:cNvSpPr txBox="1"/>
          <p:nvPr/>
        </p:nvSpPr>
        <p:spPr>
          <a:xfrm>
            <a:off x="276225" y="5627750"/>
            <a:ext cx="8053610" cy="194310"/>
          </a:xfrm>
          <a:prstGeom prst="rect">
            <a:avLst/>
          </a:prstGeom>
          <a:noFill/>
        </p:spPr>
        <p:txBody>
          <a:bodyPr wrap="none" lIns="0" rIns="0" tIns="0" bIns="0">
            <a:spAutoFit/>
          </a:bodyPr>
          <a:lstStyle/>
          <a:p>
            <a:r>
              <a:rPr sz="1150" b="0">
                <a:solidFill>
                  <a:srgbClr val="2E2E2E"/>
                </a:solidFill>
                <a:latin typeface="Calibri"/>
              </a:rPr>
              <a:t>▪ Cost-side factors set the price floor; demand, brand and competitive forces determine how much of that cost can be passed through.</a:t>
            </a:r>
          </a:p>
        </p:txBody>
      </p:sp>
      <p:sp>
        <p:nvSpPr>
          <p:cNvPr id="27" name="TextBox 26"/>
          <p:cNvSpPr txBox="1"/>
          <p:nvPr/>
        </p:nvSpPr>
        <p:spPr>
          <a:xfrm>
            <a:off x="276225" y="5855588"/>
            <a:ext cx="7048375" cy="194310"/>
          </a:xfrm>
          <a:prstGeom prst="rect">
            <a:avLst/>
          </a:prstGeom>
          <a:noFill/>
        </p:spPr>
        <p:txBody>
          <a:bodyPr wrap="none" lIns="0" rIns="0" tIns="0" bIns="0">
            <a:spAutoFit/>
          </a:bodyPr>
          <a:lstStyle/>
          <a:p>
            <a:r>
              <a:rPr sz="1150" b="0">
                <a:solidFill>
                  <a:srgbClr val="2E2E2E"/>
                </a:solidFill>
                <a:latin typeface="Calibri"/>
              </a:rPr>
              <a:t>▪ Aftermarket &amp; Service Costs exerts the least pressure a second-order effect to monitor rather than actively manage.</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(US$/Units)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(US$/Units)</a:t>
            </a:r>
          </a:p>
        </p:txBody>
      </p:sp>
      <p:graphicFrame>
        <p:nvGraphicFramePr>
          <p:cNvPr id="13" name="Table 12"/>
          <p:cNvGraphicFramePr>
            <a:graphicFrameLocks noGrp="1"/>
          </p:cNvGraphicFramePr>
          <p:nvPr/>
        </p:nvGraphicFramePr>
        <p:xfrm>
          <a:off x="152400" y="1574749"/>
          <a:ext cx="5886452" cy="2271330"/>
        </p:xfrm>
        <a:graphic>
          <a:graphicData uri="http://schemas.openxmlformats.org/drawingml/2006/table">
            <a:tbl>
              <a:tblPr>
                <a:tableStyleId>{5C22544A-7EE6-4342-B048-85BDC9FD1C3A}</a:tableStyleId>
              </a:tblPr>
              <a:tblGrid>
                <a:gridCol w="1370904"/>
                <a:gridCol w="1128887"/>
                <a:gridCol w="1128887"/>
                <a:gridCol w="1128887"/>
                <a:gridCol w="1128887"/>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 Margin (%)</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(US$/Units)</a:t>
            </a:r>
          </a:p>
        </p:txBody>
      </p:sp>
      <p:graphicFrame>
        <p:nvGraphicFramePr>
          <p:cNvPr id="17" name="Table 16"/>
          <p:cNvGraphicFramePr>
            <a:graphicFrameLocks noGrp="1"/>
          </p:cNvGraphicFramePr>
          <p:nvPr/>
        </p:nvGraphicFramePr>
        <p:xfrm>
          <a:off x="6210300" y="1574749"/>
          <a:ext cx="5829301" cy="2271330"/>
        </p:xfrm>
        <a:graphic>
          <a:graphicData uri="http://schemas.openxmlformats.org/drawingml/2006/table">
            <a:tbl>
              <a:tblPr>
                <a:tableStyleId>{5C22544A-7EE6-4342-B048-85BDC9FD1C3A}</a:tableStyleId>
              </a:tblPr>
              <a:tblGrid>
                <a:gridCol w="2305733"/>
                <a:gridCol w="880892"/>
                <a:gridCol w="880892"/>
                <a:gridCol w="880892"/>
                <a:gridCol w="880892"/>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3594387" y="2566777"/>
            <a:ext cx="366712" cy="533399"/>
          </a:xfrm>
          <a:prstGeom prst="rect">
            <a:avLst/>
          </a:prstGeom>
        </p:spPr>
      </p:pic>
      <p:pic>
        <p:nvPicPr>
          <p:cNvPr id="25" name="Picture 24" descr="lock.png"/>
          <p:cNvPicPr>
            <a:picLocks noChangeAspect="1"/>
          </p:cNvPicPr>
          <p:nvPr/>
        </p:nvPicPr>
        <p:blipFill>
          <a:blip r:embed="rId4"/>
          <a:stretch>
            <a:fillRect/>
          </a:stretch>
        </p:blipFill>
        <p:spPr>
          <a:xfrm>
            <a:off x="10091127" y="2566777"/>
            <a:ext cx="366712" cy="533400"/>
          </a:xfrm>
          <a:prstGeom prst="rect">
            <a:avLst/>
          </a:prstGeom>
        </p:spPr>
      </p:pic>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(US$/Units).</a:t>
            </a:r>
          </a:p>
        </p:txBody>
      </p:sp>
      <p:sp>
        <p:nvSpPr>
          <p:cNvPr id="11" name="Rounded Rectangle 10"/>
          <p:cNvSpPr/>
          <p:nvPr/>
        </p:nvSpPr>
        <p:spPr>
          <a:xfrm>
            <a:off x="142875" y="1314450"/>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(US$/Units)</a:t>
            </a:r>
          </a:p>
        </p:txBody>
      </p:sp>
      <p:graphicFrame>
        <p:nvGraphicFramePr>
          <p:cNvPr id="13" name="Table 12"/>
          <p:cNvGraphicFramePr>
            <a:graphicFrameLocks noGrp="1"/>
          </p:cNvGraphicFramePr>
          <p:nvPr/>
        </p:nvGraphicFramePr>
        <p:xfrm>
          <a:off x="152400" y="1571625"/>
          <a:ext cx="11887201" cy="2409822"/>
        </p:xfrm>
        <a:graphic>
          <a:graphicData uri="http://schemas.openxmlformats.org/drawingml/2006/table">
            <a:tbl>
              <a:tblPr>
                <a:tableStyleId>{5C22544A-7EE6-4342-B048-85BDC9FD1C3A}</a:tableStyleId>
              </a:tblPr>
              <a:tblGrid>
                <a:gridCol w="1630747"/>
                <a:gridCol w="2143680"/>
                <a:gridCol w="1846745"/>
                <a:gridCol w="1921729"/>
                <a:gridCol w="3184449"/>
                <a:gridCol w="1159851"/>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Cast Metal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Acrylic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Flexible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Combination Framework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Weighted Avg</a:t>
                      </a:r>
                      <a:endParaRPr sz="1100"/>
                    </a:p>
                  </a:txBody>
                  <a:tcPr marL="47625" marR="38100" marT="19050" marB="19050" anchor="ctr">
                    <a:solidFill>
                      <a:srgbClr val="E0E8EF"/>
                    </a:solidFill>
                  </a:tcPr>
                </a:tc>
              </a:tr>
              <a:tr h="360616">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33875"/>
            <a:ext cx="11906250" cy="2209800"/>
          </a:xfrm>
          <a:prstGeom prst="roundRect">
            <a:avLst>
              <a:gd name="adj" fmla="val 34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196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657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43450"/>
            <a:ext cx="11639550" cy="17240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24684" y="2632898"/>
            <a:ext cx="366712" cy="533400"/>
          </a:xfrm>
          <a:prstGeom prst="rect">
            <a:avLst/>
          </a:prstGeom>
        </p:spPr>
      </p:pic>
      <p:sp>
        <p:nvSpPr>
          <p:cNvPr id="21" name="TextBox 20"/>
          <p:cNvSpPr txBox="1"/>
          <p:nvPr/>
        </p:nvSpPr>
        <p:spPr>
          <a:xfrm>
            <a:off x="276225" y="4752975"/>
            <a:ext cx="4195551" cy="194310"/>
          </a:xfrm>
          <a:prstGeom prst="rect">
            <a:avLst/>
          </a:prstGeom>
          <a:noFill/>
        </p:spPr>
        <p:txBody>
          <a:bodyPr wrap="none" lIns="0" rIns="0" tIns="0" bIns="0">
            <a:spAutoFit/>
          </a:bodyPr>
          <a:lstStyle/>
          <a:p>
            <a:r>
              <a:rPr sz="1150" b="0">
                <a:solidFill>
                  <a:srgbClr val="2E2E2E"/>
                </a:solidFill>
                <a:latin typeface="Calibri"/>
              </a:rPr>
              <a:t>▪ On a weighted-average basis 'Europe' is the highest-priced region (~</a:t>
            </a:r>
          </a:p>
        </p:txBody>
      </p:sp>
      <p:pic>
        <p:nvPicPr>
          <p:cNvPr id="22" name="Picture 21" descr="lock.png"/>
          <p:cNvPicPr>
            <a:picLocks noChangeAspect="1"/>
          </p:cNvPicPr>
          <p:nvPr/>
        </p:nvPicPr>
        <p:blipFill>
          <a:blip r:embed="rId4"/>
          <a:stretch>
            <a:fillRect/>
          </a:stretch>
        </p:blipFill>
        <p:spPr>
          <a:xfrm>
            <a:off x="4420930" y="4742751"/>
            <a:ext cx="134549" cy="195707"/>
          </a:xfrm>
          <a:prstGeom prst="rect">
            <a:avLst/>
          </a:prstGeom>
        </p:spPr>
      </p:pic>
      <p:sp>
        <p:nvSpPr>
          <p:cNvPr id="23" name="TextBox 22"/>
          <p:cNvSpPr txBox="1"/>
          <p:nvPr/>
        </p:nvSpPr>
        <p:spPr>
          <a:xfrm>
            <a:off x="4596039" y="4752975"/>
            <a:ext cx="3404827" cy="194310"/>
          </a:xfrm>
          <a:prstGeom prst="rect">
            <a:avLst/>
          </a:prstGeom>
          <a:noFill/>
        </p:spPr>
        <p:txBody>
          <a:bodyPr wrap="none" lIns="0" rIns="0" tIns="0" bIns="0">
            <a:spAutoFit/>
          </a:bodyPr>
          <a:lstStyle/>
          <a:p>
            <a:r>
              <a:rPr sz="1150" b="0">
                <a:solidFill>
                  <a:srgbClr val="2E2E2E"/>
                </a:solidFill>
                <a:latin typeface="Calibri"/>
              </a:rPr>
              <a:t>US$/Units) and 'North America' the most competitive (~</a:t>
            </a:r>
          </a:p>
        </p:txBody>
      </p:sp>
      <p:pic>
        <p:nvPicPr>
          <p:cNvPr id="24" name="Picture 23" descr="lock.png"/>
          <p:cNvPicPr>
            <a:picLocks noChangeAspect="1"/>
          </p:cNvPicPr>
          <p:nvPr/>
        </p:nvPicPr>
        <p:blipFill>
          <a:blip r:embed="rId4"/>
          <a:stretch>
            <a:fillRect/>
          </a:stretch>
        </p:blipFill>
        <p:spPr>
          <a:xfrm>
            <a:off x="7950021" y="4742751"/>
            <a:ext cx="134549" cy="195707"/>
          </a:xfrm>
          <a:prstGeom prst="rect">
            <a:avLst/>
          </a:prstGeom>
        </p:spPr>
      </p:pic>
      <p:sp>
        <p:nvSpPr>
          <p:cNvPr id="25" name="TextBox 24"/>
          <p:cNvSpPr txBox="1"/>
          <p:nvPr/>
        </p:nvSpPr>
        <p:spPr>
          <a:xfrm>
            <a:off x="8125130" y="4752975"/>
            <a:ext cx="759097" cy="194310"/>
          </a:xfrm>
          <a:prstGeom prst="rect">
            <a:avLst/>
          </a:prstGeom>
          <a:noFill/>
        </p:spPr>
        <p:txBody>
          <a:bodyPr wrap="none" lIns="0" rIns="0" tIns="0" bIns="0">
            <a:spAutoFit/>
          </a:bodyPr>
          <a:lstStyle/>
          <a:p>
            <a:r>
              <a:rPr sz="1150" b="0">
                <a:solidFill>
                  <a:srgbClr val="2E2E2E"/>
                </a:solidFill>
                <a:latin typeface="Calibri"/>
              </a:rPr>
              <a:t>US$/Units).</a:t>
            </a:r>
          </a:p>
        </p:txBody>
      </p:sp>
      <p:sp>
        <p:nvSpPr>
          <p:cNvPr id="26" name="TextBox 25"/>
          <p:cNvSpPr txBox="1"/>
          <p:nvPr/>
        </p:nvSpPr>
        <p:spPr>
          <a:xfrm>
            <a:off x="276225" y="4980813"/>
            <a:ext cx="5929610" cy="194310"/>
          </a:xfrm>
          <a:prstGeom prst="rect">
            <a:avLst/>
          </a:prstGeom>
          <a:noFill/>
        </p:spPr>
        <p:txBody>
          <a:bodyPr wrap="none" lIns="0" rIns="0" tIns="0" bIns="0">
            <a:spAutoFit/>
          </a:bodyPr>
          <a:lstStyle/>
          <a:p>
            <a:r>
              <a:rPr sz="1150" b="0">
                <a:solidFill>
                  <a:srgbClr val="2E2E2E"/>
                </a:solidFill>
                <a:latin typeface="Calibri"/>
              </a:rPr>
              <a:t>▪ Price ranges are benchmarked per product type type at 2026, derived as Value ÷ Volume with a ±</a:t>
            </a:r>
          </a:p>
        </p:txBody>
      </p:sp>
      <p:pic>
        <p:nvPicPr>
          <p:cNvPr id="27" name="Picture 26" descr="lock.png"/>
          <p:cNvPicPr>
            <a:picLocks noChangeAspect="1"/>
          </p:cNvPicPr>
          <p:nvPr/>
        </p:nvPicPr>
        <p:blipFill>
          <a:blip r:embed="rId4"/>
          <a:stretch>
            <a:fillRect/>
          </a:stretch>
        </p:blipFill>
        <p:spPr>
          <a:xfrm>
            <a:off x="6154989" y="4970589"/>
            <a:ext cx="134549" cy="195707"/>
          </a:xfrm>
          <a:prstGeom prst="rect">
            <a:avLst/>
          </a:prstGeom>
        </p:spPr>
      </p:pic>
      <p:sp>
        <p:nvSpPr>
          <p:cNvPr id="28" name="TextBox 27"/>
          <p:cNvSpPr txBox="1"/>
          <p:nvPr/>
        </p:nvSpPr>
        <p:spPr>
          <a:xfrm>
            <a:off x="6330098" y="4980813"/>
            <a:ext cx="1455117" cy="194310"/>
          </a:xfrm>
          <a:prstGeom prst="rect">
            <a:avLst/>
          </a:prstGeom>
          <a:noFill/>
        </p:spPr>
        <p:txBody>
          <a:bodyPr wrap="none" lIns="0" rIns="0" tIns="0" bIns="0">
            <a:spAutoFit/>
          </a:bodyPr>
          <a:lstStyle/>
          <a:p>
            <a:r>
              <a:rPr sz="1150" b="0">
                <a:solidFill>
                  <a:srgbClr val="2E2E2E"/>
                </a:solidFill>
                <a:latin typeface="Calibri"/>
              </a:rPr>
              <a:t>observed trading band.</a:t>
            </a:r>
          </a:p>
        </p:txBody>
      </p:sp>
      <p:sp>
        <p:nvSpPr>
          <p:cNvPr id="29" name="TextBox 28"/>
          <p:cNvSpPr txBox="1"/>
          <p:nvPr/>
        </p:nvSpPr>
        <p:spPr>
          <a:xfrm>
            <a:off x="276225" y="5208650"/>
            <a:ext cx="2140867" cy="194310"/>
          </a:xfrm>
          <a:prstGeom prst="rect">
            <a:avLst/>
          </a:prstGeom>
          <a:noFill/>
        </p:spPr>
        <p:txBody>
          <a:bodyPr wrap="none" lIns="0" rIns="0" tIns="0" bIns="0">
            <a:spAutoFit/>
          </a:bodyPr>
          <a:lstStyle/>
          <a:p>
            <a:r>
              <a:rPr sz="1150" b="0">
                <a:solidFill>
                  <a:srgbClr val="2E2E2E"/>
                </a:solidFill>
                <a:latin typeface="Calibri"/>
              </a:rPr>
              <a:t>▪ Cross-region price dispersion of ~</a:t>
            </a:r>
          </a:p>
        </p:txBody>
      </p:sp>
      <p:pic>
        <p:nvPicPr>
          <p:cNvPr id="30" name="Picture 29" descr="lock.png"/>
          <p:cNvPicPr>
            <a:picLocks noChangeAspect="1"/>
          </p:cNvPicPr>
          <p:nvPr/>
        </p:nvPicPr>
        <p:blipFill>
          <a:blip r:embed="rId4"/>
          <a:stretch>
            <a:fillRect/>
          </a:stretch>
        </p:blipFill>
        <p:spPr>
          <a:xfrm>
            <a:off x="2366246" y="5198427"/>
            <a:ext cx="134549" cy="195707"/>
          </a:xfrm>
          <a:prstGeom prst="rect">
            <a:avLst/>
          </a:prstGeom>
        </p:spPr>
      </p:pic>
      <p:sp>
        <p:nvSpPr>
          <p:cNvPr id="31" name="TextBox 30"/>
          <p:cNvSpPr txBox="1"/>
          <p:nvPr/>
        </p:nvSpPr>
        <p:spPr>
          <a:xfrm>
            <a:off x="2541355" y="5208650"/>
            <a:ext cx="3627040" cy="194310"/>
          </a:xfrm>
          <a:prstGeom prst="rect">
            <a:avLst/>
          </a:prstGeom>
          <a:noFill/>
        </p:spPr>
        <p:txBody>
          <a:bodyPr wrap="none" lIns="0" rIns="0" tIns="0" bIns="0">
            <a:spAutoFit/>
          </a:bodyPr>
          <a:lstStyle/>
          <a:p>
            <a:r>
              <a:rPr sz="1150" b="0">
                <a:solidFill>
                  <a:srgbClr val="2E2E2E"/>
                </a:solidFill>
                <a:latin typeface="Calibri"/>
              </a:rPr>
              <a:t>× reflects differences in mix, logistics and channel structure.</a:t>
            </a:r>
          </a:p>
        </p:txBody>
      </p:sp>
      <p:sp>
        <p:nvSpPr>
          <p:cNvPr id="32" name="TextBox 31"/>
          <p:cNvSpPr txBox="1"/>
          <p:nvPr/>
        </p:nvSpPr>
        <p:spPr>
          <a:xfrm>
            <a:off x="276225" y="5436488"/>
            <a:ext cx="5691708" cy="194310"/>
          </a:xfrm>
          <a:prstGeom prst="rect">
            <a:avLst/>
          </a:prstGeom>
          <a:noFill/>
        </p:spPr>
        <p:txBody>
          <a:bodyPr wrap="none" lIns="0" rIns="0" tIns="0" bIns="0">
            <a:spAutoFit/>
          </a:bodyPr>
          <a:lstStyle/>
          <a:p>
            <a:r>
              <a:rPr sz="1150" b="0">
                <a:solidFill>
                  <a:srgbClr val="2E2E2E"/>
                </a:solidFill>
                <a:latin typeface="Calibri"/>
              </a:rPr>
              <a:t>▪ Benchmarks support price-corridor setting and margin-defence decisions across geographies.</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(US$/Units).</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(US$/Units)</a:t>
            </a:r>
          </a:p>
        </p:txBody>
      </p:sp>
      <p:graphicFrame>
        <p:nvGraphicFramePr>
          <p:cNvPr id="13" name="Table 12"/>
          <p:cNvGraphicFramePr>
            <a:graphicFrameLocks noGrp="1"/>
          </p:cNvGraphicFramePr>
          <p:nvPr/>
        </p:nvGraphicFramePr>
        <p:xfrm>
          <a:off x="152400" y="1574749"/>
          <a:ext cx="11887200" cy="1504674"/>
        </p:xfrm>
        <a:graphic>
          <a:graphicData uri="http://schemas.openxmlformats.org/drawingml/2006/table">
            <a:tbl>
              <a:tblPr>
                <a:tableStyleId>{5C22544A-7EE6-4342-B048-85BDC9FD1C3A}</a:tableStyleId>
              </a:tblPr>
              <a:tblGrid>
                <a:gridCol w="4869228"/>
                <a:gridCol w="1169662"/>
                <a:gridCol w="1169662"/>
                <a:gridCol w="1169662"/>
                <a:gridCol w="1169662"/>
                <a:gridCol w="1169662"/>
                <a:gridCol w="1169662"/>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1463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1463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1463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14637">
                <a:tc>
                  <a:txBody>
                    <a:bodyPr wrap="none"/>
                    <a:lstStyle/>
                    <a:p>
                      <a:pPr algn="l"/>
                      <a:r>
                        <a:rPr sz="1100" b="1">
                          <a:solidFill>
                            <a:srgbClr val="2E2E2E"/>
                          </a:solidFill>
                          <a:latin typeface="Calibri"/>
                        </a:rPr>
                        <a:t>Combination Framework Partial…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714626"/>
        </p:xfrm>
        <a:graphic>
          <a:graphicData uri="http://schemas.openxmlformats.org/drawingml/2006/table">
            <a:tbl>
              <a:tblPr>
                <a:tableStyleId>{5C22544A-7EE6-4342-B048-85BDC9FD1C3A}</a:tableStyleId>
              </a:tblPr>
              <a:tblGrid>
                <a:gridCol w="2867491"/>
                <a:gridCol w="1509479"/>
                <a:gridCol w="1509479"/>
              </a:tblGrid>
              <a:tr h="246126">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7982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8343924" y="2183449"/>
            <a:ext cx="366712" cy="533400"/>
          </a:xfrm>
          <a:prstGeom prst="rect">
            <a:avLst/>
          </a:prstGeom>
        </p:spPr>
      </p:pic>
      <p:sp>
        <p:nvSpPr>
          <p:cNvPr id="25" name="TextBox 24"/>
          <p:cNvSpPr txBox="1"/>
          <p:nvPr/>
        </p:nvSpPr>
        <p:spPr>
          <a:xfrm>
            <a:off x="6334125" y="3817595"/>
            <a:ext cx="3340605" cy="194310"/>
          </a:xfrm>
          <a:prstGeom prst="rect">
            <a:avLst/>
          </a:prstGeom>
          <a:noFill/>
        </p:spPr>
        <p:txBody>
          <a:bodyPr wrap="none" lIns="0" rIns="0" tIns="0" bIns="0">
            <a:spAutoFit/>
          </a:bodyPr>
          <a:lstStyle/>
          <a:p>
            <a:r>
              <a:rPr sz="1150" b="0">
                <a:solidFill>
                  <a:srgbClr val="2E2E2E"/>
                </a:solidFill>
                <a:latin typeface="Calibri"/>
              </a:rPr>
              <a:t>▪ Average product type price is projected to rise from ~</a:t>
            </a:r>
          </a:p>
        </p:txBody>
      </p:sp>
      <p:pic>
        <p:nvPicPr>
          <p:cNvPr id="26" name="Picture 25" descr="lock.png"/>
          <p:cNvPicPr>
            <a:picLocks noChangeAspect="1"/>
          </p:cNvPicPr>
          <p:nvPr/>
        </p:nvPicPr>
        <p:blipFill>
          <a:blip r:embed="rId4"/>
          <a:stretch>
            <a:fillRect/>
          </a:stretch>
        </p:blipFill>
        <p:spPr>
          <a:xfrm>
            <a:off x="9623884" y="3807371"/>
            <a:ext cx="134549" cy="195707"/>
          </a:xfrm>
          <a:prstGeom prst="rect">
            <a:avLst/>
          </a:prstGeom>
        </p:spPr>
      </p:pic>
      <p:sp>
        <p:nvSpPr>
          <p:cNvPr id="27" name="TextBox 26"/>
          <p:cNvSpPr txBox="1"/>
          <p:nvPr/>
        </p:nvSpPr>
        <p:spPr>
          <a:xfrm>
            <a:off x="9798993" y="3817595"/>
            <a:ext cx="308111" cy="194310"/>
          </a:xfrm>
          <a:prstGeom prst="rect">
            <a:avLst/>
          </a:prstGeom>
          <a:noFill/>
        </p:spPr>
        <p:txBody>
          <a:bodyPr wrap="none" lIns="0" rIns="0" tIns="0" bIns="0">
            <a:spAutoFit/>
          </a:bodyPr>
          <a:lstStyle/>
          <a:p>
            <a:r>
              <a:rPr sz="1150" b="0">
                <a:solidFill>
                  <a:srgbClr val="2E2E2E"/>
                </a:solidFill>
                <a:latin typeface="Calibri"/>
              </a:rPr>
              <a:t>to ~</a:t>
            </a:r>
          </a:p>
        </p:txBody>
      </p:sp>
      <p:pic>
        <p:nvPicPr>
          <p:cNvPr id="28" name="Picture 27" descr="lock.png"/>
          <p:cNvPicPr>
            <a:picLocks noChangeAspect="1"/>
          </p:cNvPicPr>
          <p:nvPr/>
        </p:nvPicPr>
        <p:blipFill>
          <a:blip r:embed="rId4"/>
          <a:stretch>
            <a:fillRect/>
          </a:stretch>
        </p:blipFill>
        <p:spPr>
          <a:xfrm>
            <a:off x="10056259" y="3807371"/>
            <a:ext cx="134549" cy="195707"/>
          </a:xfrm>
          <a:prstGeom prst="rect">
            <a:avLst/>
          </a:prstGeom>
        </p:spPr>
      </p:pic>
      <p:sp>
        <p:nvSpPr>
          <p:cNvPr id="29" name="TextBox 28"/>
          <p:cNvSpPr txBox="1"/>
          <p:nvPr/>
        </p:nvSpPr>
        <p:spPr>
          <a:xfrm>
            <a:off x="10231368" y="3817595"/>
            <a:ext cx="1286817" cy="194310"/>
          </a:xfrm>
          <a:prstGeom prst="rect">
            <a:avLst/>
          </a:prstGeom>
          <a:noFill/>
        </p:spPr>
        <p:txBody>
          <a:bodyPr wrap="none" lIns="0" rIns="0" tIns="0" bIns="0">
            <a:spAutoFit/>
          </a:bodyPr>
          <a:lstStyle/>
          <a:p>
            <a:r>
              <a:rPr sz="1150" b="0">
                <a:solidFill>
                  <a:srgbClr val="2E2E2E"/>
                </a:solidFill>
                <a:latin typeface="Calibri"/>
              </a:rPr>
              <a:t>US$/Units by 2036 a</a:t>
            </a:r>
          </a:p>
        </p:txBody>
      </p:sp>
      <p:sp>
        <p:nvSpPr>
          <p:cNvPr id="30" name="TextBox 29"/>
          <p:cNvSpPr txBox="1"/>
          <p:nvPr/>
        </p:nvSpPr>
        <p:spPr>
          <a:xfrm>
            <a:off x="6334125" y="3992855"/>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1" name="Picture 30" descr="lock.png"/>
          <p:cNvPicPr>
            <a:picLocks noChangeAspect="1"/>
          </p:cNvPicPr>
          <p:nvPr/>
        </p:nvPicPr>
        <p:blipFill>
          <a:blip r:embed="rId4"/>
          <a:stretch>
            <a:fillRect/>
          </a:stretch>
        </p:blipFill>
        <p:spPr>
          <a:xfrm>
            <a:off x="6432218" y="3982631"/>
            <a:ext cx="134549" cy="195707"/>
          </a:xfrm>
          <a:prstGeom prst="rect">
            <a:avLst/>
          </a:prstGeom>
        </p:spPr>
      </p:pic>
      <p:sp>
        <p:nvSpPr>
          <p:cNvPr id="32" name="TextBox 31"/>
          <p:cNvSpPr txBox="1"/>
          <p:nvPr/>
        </p:nvSpPr>
        <p:spPr>
          <a:xfrm>
            <a:off x="6607327" y="399285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33" name="TextBox 32"/>
          <p:cNvSpPr txBox="1"/>
          <p:nvPr/>
        </p:nvSpPr>
        <p:spPr>
          <a:xfrm>
            <a:off x="6334125" y="4220692"/>
            <a:ext cx="5223036" cy="194310"/>
          </a:xfrm>
          <a:prstGeom prst="rect">
            <a:avLst/>
          </a:prstGeom>
          <a:noFill/>
        </p:spPr>
        <p:txBody>
          <a:bodyPr wrap="none" lIns="0" rIns="0" tIns="0" bIns="0">
            <a:spAutoFit/>
          </a:bodyPr>
          <a:lstStyle/>
          <a:p>
            <a:r>
              <a:rPr sz="1150" b="0">
                <a:solidFill>
                  <a:srgbClr val="2E2E2E"/>
                </a:solidFill>
                <a:latin typeface="Calibri"/>
              </a:rPr>
              <a:t>▪ 'Combination Framework Partial…' shows the strongest forecast price appreciation (+</a:t>
            </a:r>
          </a:p>
        </p:txBody>
      </p:sp>
      <p:pic>
        <p:nvPicPr>
          <p:cNvPr id="34" name="Picture 33" descr="lock.png"/>
          <p:cNvPicPr>
            <a:picLocks noChangeAspect="1"/>
          </p:cNvPicPr>
          <p:nvPr/>
        </p:nvPicPr>
        <p:blipFill>
          <a:blip r:embed="rId4"/>
          <a:stretch>
            <a:fillRect/>
          </a:stretch>
        </p:blipFill>
        <p:spPr>
          <a:xfrm>
            <a:off x="11506315" y="4210469"/>
            <a:ext cx="134549" cy="195707"/>
          </a:xfrm>
          <a:prstGeom prst="rect">
            <a:avLst/>
          </a:prstGeom>
        </p:spPr>
      </p:pic>
      <p:sp>
        <p:nvSpPr>
          <p:cNvPr id="35" name="TextBox 34"/>
          <p:cNvSpPr txBox="1"/>
          <p:nvPr/>
        </p:nvSpPr>
        <p:spPr>
          <a:xfrm>
            <a:off x="11681424" y="4220692"/>
            <a:ext cx="120414" cy="194310"/>
          </a:xfrm>
          <a:prstGeom prst="rect">
            <a:avLst/>
          </a:prstGeom>
          <a:noFill/>
        </p:spPr>
        <p:txBody>
          <a:bodyPr wrap="none" lIns="0" rIns="0" tIns="0" bIns="0">
            <a:spAutoFit/>
          </a:bodyPr>
          <a:lstStyle/>
          <a:p>
            <a:r>
              <a:rPr sz="1150" b="0">
                <a:solidFill>
                  <a:srgbClr val="2E2E2E"/>
                </a:solidFill>
                <a:latin typeface="Calibri"/>
              </a:rPr>
              <a:t>)</a:t>
            </a:r>
          </a:p>
        </p:txBody>
      </p:sp>
      <p:sp>
        <p:nvSpPr>
          <p:cNvPr id="36" name="TextBox 35"/>
          <p:cNvSpPr txBox="1"/>
          <p:nvPr/>
        </p:nvSpPr>
        <p:spPr>
          <a:xfrm>
            <a:off x="6334125" y="4395952"/>
            <a:ext cx="1094271" cy="194310"/>
          </a:xfrm>
          <a:prstGeom prst="rect">
            <a:avLst/>
          </a:prstGeom>
          <a:noFill/>
        </p:spPr>
        <p:txBody>
          <a:bodyPr wrap="none" lIns="0" rIns="0" tIns="0" bIns="0">
            <a:spAutoFit/>
          </a:bodyPr>
          <a:lstStyle/>
          <a:p>
            <a:r>
              <a:rPr sz="1150" b="0">
                <a:solidFill>
                  <a:srgbClr val="2E2E2E"/>
                </a:solidFill>
                <a:latin typeface="Calibri"/>
              </a:rPr>
              <a:t>over the horizon.</a:t>
            </a:r>
          </a:p>
        </p:txBody>
      </p:sp>
      <p:sp>
        <p:nvSpPr>
          <p:cNvPr id="37" name="TextBox 36"/>
          <p:cNvSpPr txBox="1"/>
          <p:nvPr/>
        </p:nvSpPr>
        <p:spPr>
          <a:xfrm>
            <a:off x="6334125" y="4623790"/>
            <a:ext cx="5242433" cy="194310"/>
          </a:xfrm>
          <a:prstGeom prst="rect">
            <a:avLst/>
          </a:prstGeom>
          <a:noFill/>
        </p:spPr>
        <p:txBody>
          <a:bodyPr wrap="none" lIns="0" rIns="0" tIns="0" bIns="0">
            <a:spAutoFit/>
          </a:bodyPr>
          <a:lstStyle/>
          <a:p>
            <a:r>
              <a:rPr sz="1150" b="0">
                <a:solidFill>
                  <a:srgbClr val="2E2E2E"/>
                </a:solidFill>
                <a:latin typeface="Calibri"/>
              </a:rPr>
              <a:t>▪ Upward pressure is led by input cost and demand &amp; market conditions; efficiency and</a:t>
            </a:r>
          </a:p>
        </p:txBody>
      </p:sp>
      <p:sp>
        <p:nvSpPr>
          <p:cNvPr id="38" name="TextBox 37"/>
          <p:cNvSpPr txBox="1"/>
          <p:nvPr/>
        </p:nvSpPr>
        <p:spPr>
          <a:xfrm>
            <a:off x="6334125" y="4799050"/>
            <a:ext cx="2567037" cy="194310"/>
          </a:xfrm>
          <a:prstGeom prst="rect">
            <a:avLst/>
          </a:prstGeom>
          <a:noFill/>
        </p:spPr>
        <p:txBody>
          <a:bodyPr wrap="none" lIns="0" rIns="0" tIns="0" bIns="0">
            <a:spAutoFit/>
          </a:bodyPr>
          <a:lstStyle/>
          <a:p>
            <a:r>
              <a:rPr sz="1150" b="0">
                <a:solidFill>
                  <a:srgbClr val="2E2E2E"/>
                </a:solidFill>
                <a:latin typeface="Calibri"/>
              </a:rPr>
              <a:t>competitive intensity work the other way.</a:t>
            </a:r>
          </a:p>
        </p:txBody>
      </p:sp>
      <p:sp>
        <p:nvSpPr>
          <p:cNvPr id="39" name="TextBox 38"/>
          <p:cNvSpPr txBox="1"/>
          <p:nvPr/>
        </p:nvSpPr>
        <p:spPr>
          <a:xfrm>
            <a:off x="6334125" y="5026888"/>
            <a:ext cx="5203638" cy="194310"/>
          </a:xfrm>
          <a:prstGeom prst="rect">
            <a:avLst/>
          </a:prstGeom>
          <a:noFill/>
        </p:spPr>
        <p:txBody>
          <a:bodyPr wrap="none" lIns="0" rIns="0" tIns="0" bIns="0">
            <a:spAutoFit/>
          </a:bodyPr>
          <a:lstStyle/>
          <a:p>
            <a:r>
              <a:rPr sz="1150" b="0">
                <a:solidFill>
                  <a:srgbClr val="2E2E2E"/>
                </a:solidFill>
                <a:latin typeface="Calibri"/>
              </a:rPr>
              <a:t>▪ Net outlook: modest, structural price appreciation mix and geography will determine</a:t>
            </a:r>
          </a:p>
        </p:txBody>
      </p:sp>
      <p:sp>
        <p:nvSpPr>
          <p:cNvPr id="40" name="TextBox 39"/>
          <p:cNvSpPr txBox="1"/>
          <p:nvPr/>
        </p:nvSpPr>
        <p:spPr>
          <a:xfrm>
            <a:off x="6334125" y="5202148"/>
            <a:ext cx="1016111" cy="194310"/>
          </a:xfrm>
          <a:prstGeom prst="rect">
            <a:avLst/>
          </a:prstGeom>
          <a:noFill/>
        </p:spPr>
        <p:txBody>
          <a:bodyPr wrap="none" lIns="0" rIns="0" tIns="0" bIns="0">
            <a:spAutoFit/>
          </a:bodyPr>
          <a:lstStyle/>
          <a:p>
            <a:r>
              <a:rPr sz="1150" b="0">
                <a:solidFill>
                  <a:srgbClr val="2E2E2E"/>
                </a:solidFill>
                <a:latin typeface="Calibri"/>
              </a:rPr>
              <a:t>realised pricing.</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49" cy="3619746"/>
        </p:xfrm>
        <a:graphic>
          <a:graphicData uri="http://schemas.openxmlformats.org/drawingml/2006/table">
            <a:tbl>
              <a:tblPr>
                <a:tableStyleId>{5C22544A-7EE6-4342-B048-85BDC9FD1C3A}</a:tableStyleId>
              </a:tblPr>
              <a:tblGrid>
                <a:gridCol w="1192443"/>
                <a:gridCol w="656296"/>
                <a:gridCol w="1379727"/>
                <a:gridCol w="1291593"/>
                <a:gridCol w="3157090"/>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ASP vs Peers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47625" marR="38100" marT="19050" marB="19050" anchor="ctr">
                    <a:solidFill>
                      <a:srgbClr val="E0E8EF"/>
                    </a:solidFill>
                  </a:tcPr>
                </a:tc>
              </a:tr>
              <a:tr h="562270">
                <a:tc>
                  <a:txBody>
                    <a:bodyPr wrap="none"/>
                    <a:lstStyle/>
                    <a:p>
                      <a:pPr algn="l"/>
                      <a:r>
                        <a:rPr sz="1100" b="1">
                          <a:solidFill>
                            <a:srgbClr val="2E2E2E"/>
                          </a:solidFill>
                          <a:latin typeface="Calibri"/>
                        </a:rPr>
                        <a:t>Company 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Company B</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Company 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Company 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Company 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Company F</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3858641" y="3086680"/>
            <a:ext cx="330041" cy="480060"/>
          </a:xfrm>
          <a:prstGeom prst="rect">
            <a:avLst/>
          </a:prstGeom>
        </p:spPr>
      </p:pic>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1" name="Picture 80" descr="lock.png"/>
          <p:cNvPicPr>
            <a:picLocks noChangeAspect="1"/>
          </p:cNvPicPr>
          <p:nvPr/>
        </p:nvPicPr>
        <p:blipFill>
          <a:blip r:embed="rId4"/>
          <a:stretch>
            <a:fillRect/>
          </a:stretch>
        </p:blipFill>
        <p:spPr>
          <a:xfrm>
            <a:off x="1459650" y="2611256"/>
            <a:ext cx="128699" cy="187198"/>
          </a:xfrm>
          <a:prstGeom prst="rect">
            <a:avLst/>
          </a:prstGeom>
        </p:spPr>
      </p:pic>
      <p:pic>
        <p:nvPicPr>
          <p:cNvPr id="82" name="Picture 81" descr="lock.png"/>
          <p:cNvPicPr>
            <a:picLocks noChangeAspect="1"/>
          </p:cNvPicPr>
          <p:nvPr/>
        </p:nvPicPr>
        <p:blipFill>
          <a:blip r:embed="rId4"/>
          <a:stretch>
            <a:fillRect/>
          </a:stretch>
        </p:blipFill>
        <p:spPr>
          <a:xfrm>
            <a:off x="3745650" y="2611256"/>
            <a:ext cx="128699" cy="187198"/>
          </a:xfrm>
          <a:prstGeom prst="rect">
            <a:avLst/>
          </a:prstGeom>
        </p:spPr>
      </p:pic>
      <p:pic>
        <p:nvPicPr>
          <p:cNvPr id="83" name="Picture 82" descr="lock.png"/>
          <p:cNvPicPr>
            <a:picLocks noChangeAspect="1"/>
          </p:cNvPicPr>
          <p:nvPr/>
        </p:nvPicPr>
        <p:blipFill>
          <a:blip r:embed="rId4"/>
          <a:stretch>
            <a:fillRect/>
          </a:stretch>
        </p:blipFill>
        <p:spPr>
          <a:xfrm>
            <a:off x="6031650" y="2611256"/>
            <a:ext cx="128699" cy="187198"/>
          </a:xfrm>
          <a:prstGeom prst="rect">
            <a:avLst/>
          </a:prstGeom>
        </p:spPr>
      </p:pic>
      <p:pic>
        <p:nvPicPr>
          <p:cNvPr id="84" name="Picture 83" descr="lock.png"/>
          <p:cNvPicPr>
            <a:picLocks noChangeAspect="1"/>
          </p:cNvPicPr>
          <p:nvPr/>
        </p:nvPicPr>
        <p:blipFill>
          <a:blip r:embed="rId4"/>
          <a:stretch>
            <a:fillRect/>
          </a:stretch>
        </p:blipFill>
        <p:spPr>
          <a:xfrm>
            <a:off x="8317650" y="2611256"/>
            <a:ext cx="128699" cy="187198"/>
          </a:xfrm>
          <a:prstGeom prst="rect">
            <a:avLst/>
          </a:prstGeom>
        </p:spPr>
      </p:pic>
      <p:pic>
        <p:nvPicPr>
          <p:cNvPr id="85" name="Picture 84" descr="lock.png"/>
          <p:cNvPicPr>
            <a:picLocks noChangeAspect="1"/>
          </p:cNvPicPr>
          <p:nvPr/>
        </p:nvPicPr>
        <p:blipFill>
          <a:blip r:embed="rId4"/>
          <a:stretch>
            <a:fillRect/>
          </a:stretch>
        </p:blipFill>
        <p:spPr>
          <a:xfrm>
            <a:off x="10603650" y="2611256"/>
            <a:ext cx="128699" cy="187198"/>
          </a:xfrm>
          <a:prstGeom prst="rect">
            <a:avLst/>
          </a:prstGeom>
        </p:spPr>
      </p:pic>
      <p:sp>
        <p:nvSpPr>
          <p:cNvPr id="86" name="TextBox 85"/>
          <p:cNvSpPr txBox="1"/>
          <p:nvPr/>
        </p:nvSpPr>
        <p:spPr>
          <a:xfrm>
            <a:off x="514350" y="5717113"/>
            <a:ext cx="6896615" cy="153161"/>
          </a:xfrm>
          <a:prstGeom prst="rect">
            <a:avLst/>
          </a:prstGeom>
          <a:noFill/>
        </p:spPr>
        <p:txBody>
          <a:bodyPr wrap="none" lIns="0" rIns="0" tIns="0" bIns="0">
            <a:spAutoFit/>
          </a:bodyPr>
          <a:lstStyle/>
          <a:p>
            <a:r>
              <a:rPr sz="879" b="0">
                <a:solidFill>
                  <a:srgbClr val="2E2E2E"/>
                </a:solidFill>
                <a:latin typeface="Calibri"/>
              </a:rPr>
              <a:t>▪ The Removable Partial Dentures Market value chain runs from raw-material suppliers through manufacturers, distributors and retailers to end users.</a:t>
            </a:r>
          </a:p>
        </p:txBody>
      </p:sp>
      <p:sp>
        <p:nvSpPr>
          <p:cNvPr id="87" name="TextBox 86"/>
          <p:cNvSpPr txBox="1"/>
          <p:nvPr/>
        </p:nvSpPr>
        <p:spPr>
          <a:xfrm>
            <a:off x="514350" y="5891458"/>
            <a:ext cx="3108563" cy="153161"/>
          </a:xfrm>
          <a:prstGeom prst="rect">
            <a:avLst/>
          </a:prstGeom>
          <a:noFill/>
        </p:spPr>
        <p:txBody>
          <a:bodyPr wrap="none" lIns="0" rIns="0" tIns="0" bIns="0">
            <a:spAutoFit/>
          </a:bodyPr>
          <a:lstStyle/>
          <a:p>
            <a:r>
              <a:rPr sz="879" b="0">
                <a:solidFill>
                  <a:srgbClr val="2E2E2E"/>
                </a:solidFill>
                <a:latin typeface="Calibri"/>
              </a:rPr>
              <a:t>▪ 'Manufacturers / Processors' captures the largest value addition (</a:t>
            </a:r>
          </a:p>
        </p:txBody>
      </p:sp>
      <p:pic>
        <p:nvPicPr>
          <p:cNvPr id="88" name="Picture 87" descr="lock.png"/>
          <p:cNvPicPr>
            <a:picLocks noChangeAspect="1"/>
          </p:cNvPicPr>
          <p:nvPr/>
        </p:nvPicPr>
        <p:blipFill>
          <a:blip r:embed="rId4"/>
          <a:stretch>
            <a:fillRect/>
          </a:stretch>
        </p:blipFill>
        <p:spPr>
          <a:xfrm>
            <a:off x="3566114" y="5883635"/>
            <a:ext cx="102959" cy="149758"/>
          </a:xfrm>
          <a:prstGeom prst="rect">
            <a:avLst/>
          </a:prstGeom>
        </p:spPr>
      </p:pic>
      <p:sp>
        <p:nvSpPr>
          <p:cNvPr id="89" name="TextBox 88"/>
          <p:cNvSpPr txBox="1"/>
          <p:nvPr/>
        </p:nvSpPr>
        <p:spPr>
          <a:xfrm>
            <a:off x="3700111" y="5891458"/>
            <a:ext cx="2123678" cy="153161"/>
          </a:xfrm>
          <a:prstGeom prst="rect">
            <a:avLst/>
          </a:prstGeom>
          <a:noFill/>
        </p:spPr>
        <p:txBody>
          <a:bodyPr wrap="none" lIns="0" rIns="0" tIns="0" bIns="0">
            <a:spAutoFit/>
          </a:bodyPr>
          <a:lstStyle/>
          <a:p>
            <a:r>
              <a:rPr sz="879" b="0">
                <a:solidFill>
                  <a:srgbClr val="2E2E2E"/>
                </a:solidFill>
                <a:latin typeface="Calibri"/>
              </a:rPr>
              <a:t>), reflecting processing and scale advantages.</a:t>
            </a:r>
          </a:p>
        </p:txBody>
      </p:sp>
      <p:sp>
        <p:nvSpPr>
          <p:cNvPr id="90" name="TextBox 89"/>
          <p:cNvSpPr txBox="1"/>
          <p:nvPr/>
        </p:nvSpPr>
        <p:spPr>
          <a:xfrm>
            <a:off x="514350" y="6065804"/>
            <a:ext cx="5690369" cy="153161"/>
          </a:xfrm>
          <a:prstGeom prst="rect">
            <a:avLst/>
          </a:prstGeom>
          <a:noFill/>
        </p:spPr>
        <p:txBody>
          <a:bodyPr wrap="none" lIns="0" rIns="0" tIns="0" bIns="0">
            <a:spAutoFit/>
          </a:bodyPr>
          <a:lstStyle/>
          <a:p>
            <a:r>
              <a:rPr sz="879" b="0">
                <a:solidFill>
                  <a:srgbClr val="2E2E2E"/>
                </a:solidFill>
                <a:latin typeface="Calibri"/>
              </a:rPr>
              <a:t>▪ Forward and backward integration is common some suppliers process, and some large end users produce their own input.</a:t>
            </a:r>
          </a:p>
        </p:txBody>
      </p:sp>
      <p:sp>
        <p:nvSpPr>
          <p:cNvPr id="91" name="TextBox 90"/>
          <p:cNvSpPr txBox="1"/>
          <p:nvPr/>
        </p:nvSpPr>
        <p:spPr>
          <a:xfrm>
            <a:off x="514350" y="6240149"/>
            <a:ext cx="3730228" cy="153161"/>
          </a:xfrm>
          <a:prstGeom prst="rect">
            <a:avLst/>
          </a:prstGeom>
          <a:noFill/>
        </p:spPr>
        <p:txBody>
          <a:bodyPr wrap="none" lIns="0" rIns="0" tIns="0" bIns="0">
            <a:spAutoFit/>
          </a:bodyPr>
          <a:lstStyle/>
          <a:p>
            <a:r>
              <a:rPr sz="879" b="0">
                <a:solidFill>
                  <a:srgbClr val="2E2E2E"/>
                </a:solidFill>
                <a:latin typeface="Calibri"/>
              </a:rPr>
              <a:t>▪ Percentages show each stage's indicative share of value added along the chain.</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Removable Partial Dentures Market Operating Margin by Region &amp; Node</a:t>
            </a:r>
          </a:p>
        </p:txBody>
      </p:sp>
      <p:graphicFrame>
        <p:nvGraphicFramePr>
          <p:cNvPr id="12" name="Table 11"/>
          <p:cNvGraphicFramePr>
            <a:graphicFrameLocks noGrp="1"/>
          </p:cNvGraphicFramePr>
          <p:nvPr/>
        </p:nvGraphicFramePr>
        <p:xfrm>
          <a:off x="152400" y="1238250"/>
          <a:ext cx="11887202" cy="3200406"/>
        </p:xfrm>
        <a:graphic>
          <a:graphicData uri="http://schemas.openxmlformats.org/drawingml/2006/table">
            <a:tbl>
              <a:tblPr>
                <a:tableStyleId>{5C22544A-7EE6-4342-B048-85BDC9FD1C3A}</a:tableStyleId>
              </a:tblPr>
              <a:tblGrid>
                <a:gridCol w="1208402"/>
                <a:gridCol w="2669700"/>
                <a:gridCol w="2669700"/>
                <a:gridCol w="2669700"/>
                <a:gridCol w="266970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81550"/>
            <a:ext cx="1190625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91125"/>
            <a:ext cx="1163955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13512" y="2694815"/>
            <a:ext cx="366712" cy="533400"/>
          </a:xfrm>
          <a:prstGeom prst="rect">
            <a:avLst/>
          </a:prstGeom>
        </p:spPr>
      </p:pic>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Removable Partial Dentures Market Buyers / End-User Assessment</a:t>
            </a:r>
          </a:p>
        </p:txBody>
      </p:sp>
      <p:graphicFrame>
        <p:nvGraphicFramePr>
          <p:cNvPr id="12" name="Table 11"/>
          <p:cNvGraphicFramePr>
            <a:graphicFrameLocks noGrp="1"/>
          </p:cNvGraphicFramePr>
          <p:nvPr/>
        </p:nvGraphicFramePr>
        <p:xfrm>
          <a:off x="152400" y="1238250"/>
          <a:ext cx="11887200" cy="2714626"/>
        </p:xfrm>
        <a:graphic>
          <a:graphicData uri="http://schemas.openxmlformats.org/drawingml/2006/table">
            <a:tbl>
              <a:tblPr>
                <a:tableStyleId>{5C22544A-7EE6-4342-B048-85BDC9FD1C3A}</a:tableStyleId>
              </a:tblPr>
              <a:tblGrid>
                <a:gridCol w="937608"/>
                <a:gridCol w="1484989"/>
                <a:gridCol w="1064342"/>
                <a:gridCol w="1129057"/>
                <a:gridCol w="1603633"/>
                <a:gridCol w="1280058"/>
                <a:gridCol w="1533483"/>
                <a:gridCol w="1350166"/>
                <a:gridCol w="1503864"/>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Avg Price (US$/Units)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267192" y="2451926"/>
            <a:ext cx="366712" cy="533400"/>
          </a:xfrm>
          <a:prstGeom prst="rect">
            <a:avLst/>
          </a:prstGeom>
        </p:spPr>
      </p:pic>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Dynamics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Region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North America</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Europe</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7" name="Rectangle 26"/>
          <p:cNvSpPr/>
          <p:nvPr/>
        </p:nvSpPr>
        <p:spPr>
          <a:xfrm>
            <a:off x="142875" y="2540572"/>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54057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South Asia &amp; Pacific</a:t>
            </a:r>
          </a:p>
        </p:txBody>
      </p:sp>
      <p:sp>
        <p:nvSpPr>
          <p:cNvPr id="29" name="TextBox 28"/>
          <p:cNvSpPr txBox="1"/>
          <p:nvPr/>
        </p:nvSpPr>
        <p:spPr>
          <a:xfrm>
            <a:off x="1724025" y="2567952"/>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TextBox 29"/>
          <p:cNvSpPr txBox="1"/>
          <p:nvPr/>
        </p:nvSpPr>
        <p:spPr>
          <a:xfrm>
            <a:off x="5534025" y="2567952"/>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1" name="TextBox 30"/>
          <p:cNvSpPr txBox="1"/>
          <p:nvPr/>
        </p:nvSpPr>
        <p:spPr>
          <a:xfrm>
            <a:off x="8391525" y="2567952"/>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2" name="Rectangle 31"/>
          <p:cNvSpPr/>
          <p:nvPr/>
        </p:nvSpPr>
        <p:spPr>
          <a:xfrm>
            <a:off x="142875" y="3051675"/>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305167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East Asia</a:t>
            </a:r>
          </a:p>
        </p:txBody>
      </p:sp>
      <p:sp>
        <p:nvSpPr>
          <p:cNvPr id="34" name="TextBox 33"/>
          <p:cNvSpPr txBox="1"/>
          <p:nvPr/>
        </p:nvSpPr>
        <p:spPr>
          <a:xfrm>
            <a:off x="1724025" y="307905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5" name="TextBox 34"/>
          <p:cNvSpPr txBox="1"/>
          <p:nvPr/>
        </p:nvSpPr>
        <p:spPr>
          <a:xfrm>
            <a:off x="5534025" y="307905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8391525" y="307905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Rectangle 36"/>
          <p:cNvSpPr/>
          <p:nvPr/>
        </p:nvSpPr>
        <p:spPr>
          <a:xfrm>
            <a:off x="142875" y="3562779"/>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3562779"/>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Latin America</a:t>
            </a:r>
          </a:p>
        </p:txBody>
      </p:sp>
      <p:sp>
        <p:nvSpPr>
          <p:cNvPr id="39" name="TextBox 38"/>
          <p:cNvSpPr txBox="1"/>
          <p:nvPr/>
        </p:nvSpPr>
        <p:spPr>
          <a:xfrm>
            <a:off x="1724025" y="359015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0" name="TextBox 39"/>
          <p:cNvSpPr txBox="1"/>
          <p:nvPr/>
        </p:nvSpPr>
        <p:spPr>
          <a:xfrm>
            <a:off x="5534025" y="359015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TextBox 40"/>
          <p:cNvSpPr txBox="1"/>
          <p:nvPr/>
        </p:nvSpPr>
        <p:spPr>
          <a:xfrm>
            <a:off x="8391525" y="359015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2" name="Rectangle 41"/>
          <p:cNvSpPr/>
          <p:nvPr/>
        </p:nvSpPr>
        <p:spPr>
          <a:xfrm>
            <a:off x="142875" y="4073882"/>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407388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Middle East &amp; Africa</a:t>
            </a:r>
          </a:p>
        </p:txBody>
      </p:sp>
      <p:sp>
        <p:nvSpPr>
          <p:cNvPr id="44" name="TextBox 43"/>
          <p:cNvSpPr txBox="1"/>
          <p:nvPr/>
        </p:nvSpPr>
        <p:spPr>
          <a:xfrm>
            <a:off x="1724025" y="4101263"/>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5534025" y="4101263"/>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TextBox 45"/>
          <p:cNvSpPr txBox="1"/>
          <p:nvPr/>
        </p:nvSpPr>
        <p:spPr>
          <a:xfrm>
            <a:off x="8391525" y="4101263"/>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cxnSp>
        <p:nvCxnSpPr>
          <p:cNvPr id="47" name="Connector 46"/>
          <p:cNvCxnSpPr/>
          <p:nvPr/>
        </p:nvCxnSpPr>
        <p:spPr>
          <a:xfrm>
            <a:off x="142875" y="4584986"/>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00025" y="4603240"/>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49" name="Rounded Rectangle 48"/>
          <p:cNvSpPr/>
          <p:nvPr/>
        </p:nvSpPr>
        <p:spPr>
          <a:xfrm>
            <a:off x="142875" y="4858791"/>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76225" y="4895299"/>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51" name="Connector 50"/>
          <p:cNvCxnSpPr/>
          <p:nvPr/>
        </p:nvCxnSpPr>
        <p:spPr>
          <a:xfrm>
            <a:off x="276225" y="5132597"/>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276225" y="5187358"/>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3" name="TextBox 5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4" name="TextBox 53"/>
          <p:cNvSpPr txBox="1"/>
          <p:nvPr/>
        </p:nvSpPr>
        <p:spPr>
          <a:xfrm>
            <a:off x="1752600" y="1606276"/>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55" name="Picture 54" descr="lock.png"/>
          <p:cNvPicPr>
            <a:picLocks noChangeAspect="1"/>
          </p:cNvPicPr>
          <p:nvPr/>
        </p:nvPicPr>
        <p:blipFill>
          <a:blip r:embed="rId4"/>
          <a:stretch>
            <a:fillRect/>
          </a:stretch>
        </p:blipFill>
        <p:spPr>
          <a:xfrm>
            <a:off x="2438789" y="1596497"/>
            <a:ext cx="128699" cy="187198"/>
          </a:xfrm>
          <a:prstGeom prst="rect">
            <a:avLst/>
          </a:prstGeom>
        </p:spPr>
      </p:pic>
      <p:sp>
        <p:nvSpPr>
          <p:cNvPr id="56" name="TextBox 55"/>
          <p:cNvSpPr txBox="1"/>
          <p:nvPr/>
        </p:nvSpPr>
        <p:spPr>
          <a:xfrm>
            <a:off x="2606285" y="1606276"/>
            <a:ext cx="1556419" cy="186689"/>
          </a:xfrm>
          <a:prstGeom prst="rect">
            <a:avLst/>
          </a:prstGeom>
          <a:noFill/>
        </p:spPr>
        <p:txBody>
          <a:bodyPr wrap="none" lIns="0" rIns="0" tIns="0" bIns="0">
            <a:spAutoFit/>
          </a:bodyPr>
          <a:lstStyle/>
          <a:p>
            <a:r>
              <a:rPr sz="1100" b="0">
                <a:solidFill>
                  <a:srgbClr val="2E2E2E"/>
                </a:solidFill>
                <a:latin typeface="Calibri"/>
              </a:rPr>
              <a:t>share), Installed demand (</a:t>
            </a:r>
          </a:p>
        </p:txBody>
      </p:sp>
      <p:pic>
        <p:nvPicPr>
          <p:cNvPr id="57" name="Picture 56" descr="lock.png"/>
          <p:cNvPicPr>
            <a:picLocks noChangeAspect="1"/>
          </p:cNvPicPr>
          <p:nvPr/>
        </p:nvPicPr>
        <p:blipFill>
          <a:blip r:embed="rId4"/>
          <a:stretch>
            <a:fillRect/>
          </a:stretch>
        </p:blipFill>
        <p:spPr>
          <a:xfrm>
            <a:off x="4110756" y="1596497"/>
            <a:ext cx="128699" cy="187198"/>
          </a:xfrm>
          <a:prstGeom prst="rect">
            <a:avLst/>
          </a:prstGeom>
        </p:spPr>
      </p:pic>
      <p:sp>
        <p:nvSpPr>
          <p:cNvPr id="58" name="TextBox 57"/>
          <p:cNvSpPr txBox="1"/>
          <p:nvPr/>
        </p:nvSpPr>
        <p:spPr>
          <a:xfrm>
            <a:off x="4278252" y="1606276"/>
            <a:ext cx="938121" cy="186689"/>
          </a:xfrm>
          <a:prstGeom prst="rect">
            <a:avLst/>
          </a:prstGeom>
          <a:noFill/>
        </p:spPr>
        <p:txBody>
          <a:bodyPr wrap="none" lIns="0" rIns="0" tIns="0" bIns="0">
            <a:spAutoFit/>
          </a:bodyPr>
          <a:lstStyle/>
          <a:p>
            <a:r>
              <a:rPr sz="1100" b="0">
                <a:solidFill>
                  <a:srgbClr val="2E2E2E"/>
                </a:solidFill>
                <a:latin typeface="Calibri"/>
              </a:rPr>
              <a:t>CAGR), Flexible</a:t>
            </a:r>
          </a:p>
        </p:txBody>
      </p:sp>
      <p:sp>
        <p:nvSpPr>
          <p:cNvPr id="59" name="TextBox 58"/>
          <p:cNvSpPr txBox="1"/>
          <p:nvPr/>
        </p:nvSpPr>
        <p:spPr>
          <a:xfrm>
            <a:off x="1752600" y="1773915"/>
            <a:ext cx="2876202" cy="186689"/>
          </a:xfrm>
          <a:prstGeom prst="rect">
            <a:avLst/>
          </a:prstGeom>
          <a:noFill/>
        </p:spPr>
        <p:txBody>
          <a:bodyPr wrap="none" lIns="0" rIns="0" tIns="0" bIns="0">
            <a:spAutoFit/>
          </a:bodyPr>
          <a:lstStyle/>
          <a:p>
            <a:r>
              <a:rPr sz="1100" b="0">
                <a:solidFill>
                  <a:srgbClr val="2E2E2E"/>
                </a:solidFill>
                <a:latin typeface="Calibri"/>
              </a:rPr>
              <a:t>Partial Dentures demand, Accelerating vs history.</a:t>
            </a:r>
          </a:p>
        </p:txBody>
      </p:sp>
      <p:sp>
        <p:nvSpPr>
          <p:cNvPr id="60" name="TextBox 59"/>
          <p:cNvSpPr txBox="1"/>
          <p:nvPr/>
        </p:nvSpPr>
        <p:spPr>
          <a:xfrm>
            <a:off x="5562600" y="1606276"/>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61" name="Picture 60" descr="lock.png"/>
          <p:cNvPicPr>
            <a:picLocks noChangeAspect="1"/>
          </p:cNvPicPr>
          <p:nvPr/>
        </p:nvPicPr>
        <p:blipFill>
          <a:blip r:embed="rId4"/>
          <a:stretch>
            <a:fillRect/>
          </a:stretch>
        </p:blipFill>
        <p:spPr>
          <a:xfrm>
            <a:off x="6797766" y="1596497"/>
            <a:ext cx="128699" cy="187198"/>
          </a:xfrm>
          <a:prstGeom prst="rect">
            <a:avLst/>
          </a:prstGeom>
        </p:spPr>
      </p:pic>
      <p:sp>
        <p:nvSpPr>
          <p:cNvPr id="62" name="TextBox 61"/>
          <p:cNvSpPr txBox="1"/>
          <p:nvPr/>
        </p:nvSpPr>
        <p:spPr>
          <a:xfrm>
            <a:off x="6965262" y="1606276"/>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63" name="TextBox 62"/>
          <p:cNvSpPr txBox="1"/>
          <p:nvPr/>
        </p:nvSpPr>
        <p:spPr>
          <a:xfrm>
            <a:off x="5562600" y="1773915"/>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64" name="Picture 63" descr="lock.png"/>
          <p:cNvPicPr>
            <a:picLocks noChangeAspect="1"/>
          </p:cNvPicPr>
          <p:nvPr/>
        </p:nvPicPr>
        <p:blipFill>
          <a:blip r:embed="rId4"/>
          <a:stretch>
            <a:fillRect/>
          </a:stretch>
        </p:blipFill>
        <p:spPr>
          <a:xfrm>
            <a:off x="6258066" y="1764137"/>
            <a:ext cx="128699" cy="187198"/>
          </a:xfrm>
          <a:prstGeom prst="rect">
            <a:avLst/>
          </a:prstGeom>
        </p:spPr>
      </p:pic>
      <p:sp>
        <p:nvSpPr>
          <p:cNvPr id="65" name="TextBox 64"/>
          <p:cNvSpPr txBox="1"/>
          <p:nvPr/>
        </p:nvSpPr>
        <p:spPr>
          <a:xfrm>
            <a:off x="6425562" y="1773915"/>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66" name="TextBox 65"/>
          <p:cNvSpPr txBox="1"/>
          <p:nvPr/>
        </p:nvSpPr>
        <p:spPr>
          <a:xfrm>
            <a:off x="8420100" y="1606276"/>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67" name="Picture 66" descr="lock.png"/>
          <p:cNvPicPr>
            <a:picLocks noChangeAspect="1"/>
          </p:cNvPicPr>
          <p:nvPr/>
        </p:nvPicPr>
        <p:blipFill>
          <a:blip r:embed="rId4"/>
          <a:stretch>
            <a:fillRect/>
          </a:stretch>
        </p:blipFill>
        <p:spPr>
          <a:xfrm>
            <a:off x="10403152" y="1596497"/>
            <a:ext cx="128699" cy="187198"/>
          </a:xfrm>
          <a:prstGeom prst="rect">
            <a:avLst/>
          </a:prstGeom>
        </p:spPr>
      </p:pic>
      <p:sp>
        <p:nvSpPr>
          <p:cNvPr id="68" name="TextBox 67"/>
          <p:cNvSpPr txBox="1"/>
          <p:nvPr/>
        </p:nvSpPr>
        <p:spPr>
          <a:xfrm>
            <a:off x="10570648" y="1606276"/>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9" name="Picture 68" descr="lock.png"/>
          <p:cNvPicPr>
            <a:picLocks noChangeAspect="1"/>
          </p:cNvPicPr>
          <p:nvPr/>
        </p:nvPicPr>
        <p:blipFill>
          <a:blip r:embed="rId4"/>
          <a:stretch>
            <a:fillRect/>
          </a:stretch>
        </p:blipFill>
        <p:spPr>
          <a:xfrm>
            <a:off x="10672117" y="1596497"/>
            <a:ext cx="128699" cy="187198"/>
          </a:xfrm>
          <a:prstGeom prst="rect">
            <a:avLst/>
          </a:prstGeom>
        </p:spPr>
      </p:pic>
      <p:sp>
        <p:nvSpPr>
          <p:cNvPr id="70" name="TextBox 69"/>
          <p:cNvSpPr txBox="1"/>
          <p:nvPr/>
        </p:nvSpPr>
        <p:spPr>
          <a:xfrm>
            <a:off x="10839613" y="1606276"/>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1" name="TextBox 70"/>
          <p:cNvSpPr txBox="1"/>
          <p:nvPr/>
        </p:nvSpPr>
        <p:spPr>
          <a:xfrm>
            <a:off x="8420100" y="1773915"/>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72" name="TextBox 71"/>
          <p:cNvSpPr txBox="1"/>
          <p:nvPr/>
        </p:nvSpPr>
        <p:spPr>
          <a:xfrm>
            <a:off x="1752600" y="2117380"/>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73" name="Picture 72" descr="lock.png"/>
          <p:cNvPicPr>
            <a:picLocks noChangeAspect="1"/>
          </p:cNvPicPr>
          <p:nvPr/>
        </p:nvPicPr>
        <p:blipFill>
          <a:blip r:embed="rId4"/>
          <a:stretch>
            <a:fillRect/>
          </a:stretch>
        </p:blipFill>
        <p:spPr>
          <a:xfrm>
            <a:off x="2438789" y="2107601"/>
            <a:ext cx="128699" cy="187198"/>
          </a:xfrm>
          <a:prstGeom prst="rect">
            <a:avLst/>
          </a:prstGeom>
        </p:spPr>
      </p:pic>
      <p:sp>
        <p:nvSpPr>
          <p:cNvPr id="74" name="TextBox 73"/>
          <p:cNvSpPr txBox="1"/>
          <p:nvPr/>
        </p:nvSpPr>
        <p:spPr>
          <a:xfrm>
            <a:off x="2606285" y="2117380"/>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75" name="Picture 74" descr="lock.png"/>
          <p:cNvPicPr>
            <a:picLocks noChangeAspect="1"/>
          </p:cNvPicPr>
          <p:nvPr/>
        </p:nvPicPr>
        <p:blipFill>
          <a:blip r:embed="rId4"/>
          <a:stretch>
            <a:fillRect/>
          </a:stretch>
        </p:blipFill>
        <p:spPr>
          <a:xfrm>
            <a:off x="4237905" y="2107601"/>
            <a:ext cx="128699" cy="187198"/>
          </a:xfrm>
          <a:prstGeom prst="rect">
            <a:avLst/>
          </a:prstGeom>
        </p:spPr>
      </p:pic>
      <p:sp>
        <p:nvSpPr>
          <p:cNvPr id="76" name="TextBox 75"/>
          <p:cNvSpPr txBox="1"/>
          <p:nvPr/>
        </p:nvSpPr>
        <p:spPr>
          <a:xfrm>
            <a:off x="4405401" y="2117380"/>
            <a:ext cx="618901" cy="186689"/>
          </a:xfrm>
          <a:prstGeom prst="rect">
            <a:avLst/>
          </a:prstGeom>
          <a:noFill/>
        </p:spPr>
        <p:txBody>
          <a:bodyPr wrap="none" lIns="0" rIns="0" tIns="0" bIns="0">
            <a:spAutoFit/>
          </a:bodyPr>
          <a:lstStyle/>
          <a:p>
            <a:r>
              <a:rPr sz="1100" b="0">
                <a:solidFill>
                  <a:srgbClr val="2E2E2E"/>
                </a:solidFill>
                <a:latin typeface="Calibri"/>
              </a:rPr>
              <a:t>), Flexible</a:t>
            </a:r>
          </a:p>
        </p:txBody>
      </p:sp>
      <p:sp>
        <p:nvSpPr>
          <p:cNvPr id="77" name="TextBox 76"/>
          <p:cNvSpPr txBox="1"/>
          <p:nvPr/>
        </p:nvSpPr>
        <p:spPr>
          <a:xfrm>
            <a:off x="1752600" y="2285020"/>
            <a:ext cx="2876202" cy="186689"/>
          </a:xfrm>
          <a:prstGeom prst="rect">
            <a:avLst/>
          </a:prstGeom>
          <a:noFill/>
        </p:spPr>
        <p:txBody>
          <a:bodyPr wrap="none" lIns="0" rIns="0" tIns="0" bIns="0">
            <a:spAutoFit/>
          </a:bodyPr>
          <a:lstStyle/>
          <a:p>
            <a:r>
              <a:rPr sz="1100" b="0">
                <a:solidFill>
                  <a:srgbClr val="2E2E2E"/>
                </a:solidFill>
                <a:latin typeface="Calibri"/>
              </a:rPr>
              <a:t>Partial Dentures demand, Accelerating vs history.</a:t>
            </a:r>
          </a:p>
        </p:txBody>
      </p:sp>
      <p:sp>
        <p:nvSpPr>
          <p:cNvPr id="78" name="TextBox 77"/>
          <p:cNvSpPr txBox="1"/>
          <p:nvPr/>
        </p:nvSpPr>
        <p:spPr>
          <a:xfrm>
            <a:off x="5562600" y="220120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79" name="Picture 78" descr="lock.png"/>
          <p:cNvPicPr>
            <a:picLocks noChangeAspect="1"/>
          </p:cNvPicPr>
          <p:nvPr/>
        </p:nvPicPr>
        <p:blipFill>
          <a:blip r:embed="rId4"/>
          <a:stretch>
            <a:fillRect/>
          </a:stretch>
        </p:blipFill>
        <p:spPr>
          <a:xfrm>
            <a:off x="6623687" y="2191421"/>
            <a:ext cx="128699" cy="187198"/>
          </a:xfrm>
          <a:prstGeom prst="rect">
            <a:avLst/>
          </a:prstGeom>
        </p:spPr>
      </p:pic>
      <p:sp>
        <p:nvSpPr>
          <p:cNvPr id="80" name="TextBox 79"/>
          <p:cNvSpPr txBox="1"/>
          <p:nvPr/>
        </p:nvSpPr>
        <p:spPr>
          <a:xfrm>
            <a:off x="6791183" y="22012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81" name="TextBox 80"/>
          <p:cNvSpPr txBox="1"/>
          <p:nvPr/>
        </p:nvSpPr>
        <p:spPr>
          <a:xfrm>
            <a:off x="8420100" y="2117380"/>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82" name="Picture 81" descr="lock.png"/>
          <p:cNvPicPr>
            <a:picLocks noChangeAspect="1"/>
          </p:cNvPicPr>
          <p:nvPr/>
        </p:nvPicPr>
        <p:blipFill>
          <a:blip r:embed="rId4"/>
          <a:stretch>
            <a:fillRect/>
          </a:stretch>
        </p:blipFill>
        <p:spPr>
          <a:xfrm>
            <a:off x="10403152" y="2107601"/>
            <a:ext cx="128699" cy="187198"/>
          </a:xfrm>
          <a:prstGeom prst="rect">
            <a:avLst/>
          </a:prstGeom>
        </p:spPr>
      </p:pic>
      <p:sp>
        <p:nvSpPr>
          <p:cNvPr id="83" name="TextBox 82"/>
          <p:cNvSpPr txBox="1"/>
          <p:nvPr/>
        </p:nvSpPr>
        <p:spPr>
          <a:xfrm>
            <a:off x="10570648" y="211738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84" name="Picture 83" descr="lock.png"/>
          <p:cNvPicPr>
            <a:picLocks noChangeAspect="1"/>
          </p:cNvPicPr>
          <p:nvPr/>
        </p:nvPicPr>
        <p:blipFill>
          <a:blip r:embed="rId4"/>
          <a:stretch>
            <a:fillRect/>
          </a:stretch>
        </p:blipFill>
        <p:spPr>
          <a:xfrm>
            <a:off x="10672117" y="2107601"/>
            <a:ext cx="128699" cy="187198"/>
          </a:xfrm>
          <a:prstGeom prst="rect">
            <a:avLst/>
          </a:prstGeom>
        </p:spPr>
      </p:pic>
      <p:sp>
        <p:nvSpPr>
          <p:cNvPr id="85" name="TextBox 84"/>
          <p:cNvSpPr txBox="1"/>
          <p:nvPr/>
        </p:nvSpPr>
        <p:spPr>
          <a:xfrm>
            <a:off x="10839613" y="2117380"/>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6" name="TextBox 85"/>
          <p:cNvSpPr txBox="1"/>
          <p:nvPr/>
        </p:nvSpPr>
        <p:spPr>
          <a:xfrm>
            <a:off x="8420100" y="2285020"/>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87" name="TextBox 86"/>
          <p:cNvSpPr txBox="1"/>
          <p:nvPr/>
        </p:nvSpPr>
        <p:spPr>
          <a:xfrm>
            <a:off x="1752600" y="2628483"/>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88" name="Picture 87" descr="lock.png"/>
          <p:cNvPicPr>
            <a:picLocks noChangeAspect="1"/>
          </p:cNvPicPr>
          <p:nvPr/>
        </p:nvPicPr>
        <p:blipFill>
          <a:blip r:embed="rId4"/>
          <a:stretch>
            <a:fillRect/>
          </a:stretch>
        </p:blipFill>
        <p:spPr>
          <a:xfrm>
            <a:off x="2438789" y="2618704"/>
            <a:ext cx="128699" cy="187198"/>
          </a:xfrm>
          <a:prstGeom prst="rect">
            <a:avLst/>
          </a:prstGeom>
        </p:spPr>
      </p:pic>
      <p:sp>
        <p:nvSpPr>
          <p:cNvPr id="89" name="TextBox 88"/>
          <p:cNvSpPr txBox="1"/>
          <p:nvPr/>
        </p:nvSpPr>
        <p:spPr>
          <a:xfrm>
            <a:off x="2606285" y="2628483"/>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90" name="Picture 89" descr="lock.png"/>
          <p:cNvPicPr>
            <a:picLocks noChangeAspect="1"/>
          </p:cNvPicPr>
          <p:nvPr/>
        </p:nvPicPr>
        <p:blipFill>
          <a:blip r:embed="rId4"/>
          <a:stretch>
            <a:fillRect/>
          </a:stretch>
        </p:blipFill>
        <p:spPr>
          <a:xfrm>
            <a:off x="4237905" y="2618704"/>
            <a:ext cx="128699" cy="187198"/>
          </a:xfrm>
          <a:prstGeom prst="rect">
            <a:avLst/>
          </a:prstGeom>
        </p:spPr>
      </p:pic>
      <p:sp>
        <p:nvSpPr>
          <p:cNvPr id="91" name="TextBox 90"/>
          <p:cNvSpPr txBox="1"/>
          <p:nvPr/>
        </p:nvSpPr>
        <p:spPr>
          <a:xfrm>
            <a:off x="4405401" y="2628483"/>
            <a:ext cx="618901" cy="186689"/>
          </a:xfrm>
          <a:prstGeom prst="rect">
            <a:avLst/>
          </a:prstGeom>
          <a:noFill/>
        </p:spPr>
        <p:txBody>
          <a:bodyPr wrap="none" lIns="0" rIns="0" tIns="0" bIns="0">
            <a:spAutoFit/>
          </a:bodyPr>
          <a:lstStyle/>
          <a:p>
            <a:r>
              <a:rPr sz="1100" b="0">
                <a:solidFill>
                  <a:srgbClr val="2E2E2E"/>
                </a:solidFill>
                <a:latin typeface="Calibri"/>
              </a:rPr>
              <a:t>), Flexible</a:t>
            </a:r>
          </a:p>
        </p:txBody>
      </p:sp>
      <p:sp>
        <p:nvSpPr>
          <p:cNvPr id="92" name="TextBox 91"/>
          <p:cNvSpPr txBox="1"/>
          <p:nvPr/>
        </p:nvSpPr>
        <p:spPr>
          <a:xfrm>
            <a:off x="1752600" y="2796123"/>
            <a:ext cx="2876202" cy="186689"/>
          </a:xfrm>
          <a:prstGeom prst="rect">
            <a:avLst/>
          </a:prstGeom>
          <a:noFill/>
        </p:spPr>
        <p:txBody>
          <a:bodyPr wrap="none" lIns="0" rIns="0" tIns="0" bIns="0">
            <a:spAutoFit/>
          </a:bodyPr>
          <a:lstStyle/>
          <a:p>
            <a:r>
              <a:rPr sz="1100" b="0">
                <a:solidFill>
                  <a:srgbClr val="2E2E2E"/>
                </a:solidFill>
                <a:latin typeface="Calibri"/>
              </a:rPr>
              <a:t>Partial Dentures demand, Accelerating vs history.</a:t>
            </a:r>
          </a:p>
        </p:txBody>
      </p:sp>
      <p:sp>
        <p:nvSpPr>
          <p:cNvPr id="93" name="TextBox 92"/>
          <p:cNvSpPr txBox="1"/>
          <p:nvPr/>
        </p:nvSpPr>
        <p:spPr>
          <a:xfrm>
            <a:off x="5562600" y="2712303"/>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94" name="Picture 93" descr="lock.png"/>
          <p:cNvPicPr>
            <a:picLocks noChangeAspect="1"/>
          </p:cNvPicPr>
          <p:nvPr/>
        </p:nvPicPr>
        <p:blipFill>
          <a:blip r:embed="rId4"/>
          <a:stretch>
            <a:fillRect/>
          </a:stretch>
        </p:blipFill>
        <p:spPr>
          <a:xfrm>
            <a:off x="6623687" y="2702524"/>
            <a:ext cx="128699" cy="187198"/>
          </a:xfrm>
          <a:prstGeom prst="rect">
            <a:avLst/>
          </a:prstGeom>
        </p:spPr>
      </p:pic>
      <p:sp>
        <p:nvSpPr>
          <p:cNvPr id="95" name="TextBox 94"/>
          <p:cNvSpPr txBox="1"/>
          <p:nvPr/>
        </p:nvSpPr>
        <p:spPr>
          <a:xfrm>
            <a:off x="6791183" y="2712303"/>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96" name="TextBox 95"/>
          <p:cNvSpPr txBox="1"/>
          <p:nvPr/>
        </p:nvSpPr>
        <p:spPr>
          <a:xfrm>
            <a:off x="8420100" y="2628483"/>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97" name="Picture 96" descr="lock.png"/>
          <p:cNvPicPr>
            <a:picLocks noChangeAspect="1"/>
          </p:cNvPicPr>
          <p:nvPr/>
        </p:nvPicPr>
        <p:blipFill>
          <a:blip r:embed="rId4"/>
          <a:stretch>
            <a:fillRect/>
          </a:stretch>
        </p:blipFill>
        <p:spPr>
          <a:xfrm>
            <a:off x="10403152" y="2618704"/>
            <a:ext cx="128699" cy="187198"/>
          </a:xfrm>
          <a:prstGeom prst="rect">
            <a:avLst/>
          </a:prstGeom>
        </p:spPr>
      </p:pic>
      <p:sp>
        <p:nvSpPr>
          <p:cNvPr id="98" name="TextBox 97"/>
          <p:cNvSpPr txBox="1"/>
          <p:nvPr/>
        </p:nvSpPr>
        <p:spPr>
          <a:xfrm>
            <a:off x="10570648" y="2628483"/>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99" name="Picture 98" descr="lock.png"/>
          <p:cNvPicPr>
            <a:picLocks noChangeAspect="1"/>
          </p:cNvPicPr>
          <p:nvPr/>
        </p:nvPicPr>
        <p:blipFill>
          <a:blip r:embed="rId4"/>
          <a:stretch>
            <a:fillRect/>
          </a:stretch>
        </p:blipFill>
        <p:spPr>
          <a:xfrm>
            <a:off x="10672117" y="2618704"/>
            <a:ext cx="128699" cy="187198"/>
          </a:xfrm>
          <a:prstGeom prst="rect">
            <a:avLst/>
          </a:prstGeom>
        </p:spPr>
      </p:pic>
      <p:sp>
        <p:nvSpPr>
          <p:cNvPr id="100" name="TextBox 99"/>
          <p:cNvSpPr txBox="1"/>
          <p:nvPr/>
        </p:nvSpPr>
        <p:spPr>
          <a:xfrm>
            <a:off x="10839613" y="2628483"/>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01" name="TextBox 100"/>
          <p:cNvSpPr txBox="1"/>
          <p:nvPr/>
        </p:nvSpPr>
        <p:spPr>
          <a:xfrm>
            <a:off x="8420100" y="2796123"/>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02" name="TextBox 101"/>
          <p:cNvSpPr txBox="1"/>
          <p:nvPr/>
        </p:nvSpPr>
        <p:spPr>
          <a:xfrm>
            <a:off x="1752600" y="3139587"/>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03" name="Picture 102" descr="lock.png"/>
          <p:cNvPicPr>
            <a:picLocks noChangeAspect="1"/>
          </p:cNvPicPr>
          <p:nvPr/>
        </p:nvPicPr>
        <p:blipFill>
          <a:blip r:embed="rId4"/>
          <a:stretch>
            <a:fillRect/>
          </a:stretch>
        </p:blipFill>
        <p:spPr>
          <a:xfrm>
            <a:off x="2834969" y="3129808"/>
            <a:ext cx="128699" cy="187198"/>
          </a:xfrm>
          <a:prstGeom prst="rect">
            <a:avLst/>
          </a:prstGeom>
        </p:spPr>
      </p:pic>
      <p:sp>
        <p:nvSpPr>
          <p:cNvPr id="104" name="TextBox 103"/>
          <p:cNvSpPr txBox="1"/>
          <p:nvPr/>
        </p:nvSpPr>
        <p:spPr>
          <a:xfrm>
            <a:off x="3002465" y="3139587"/>
            <a:ext cx="1889827" cy="186689"/>
          </a:xfrm>
          <a:prstGeom prst="rect">
            <a:avLst/>
          </a:prstGeom>
          <a:noFill/>
        </p:spPr>
        <p:txBody>
          <a:bodyPr wrap="none" lIns="0" rIns="0" tIns="0" bIns="0">
            <a:spAutoFit/>
          </a:bodyPr>
          <a:lstStyle/>
          <a:p>
            <a:r>
              <a:rPr sz="1100" b="0">
                <a:solidFill>
                  <a:srgbClr val="2E2E2E"/>
                </a:solidFill>
                <a:latin typeface="Calibri"/>
              </a:rPr>
              <a:t>CAGR), Flexible Partial Dentures</a:t>
            </a:r>
          </a:p>
        </p:txBody>
      </p:sp>
      <p:sp>
        <p:nvSpPr>
          <p:cNvPr id="105" name="TextBox 104"/>
          <p:cNvSpPr txBox="1"/>
          <p:nvPr/>
        </p:nvSpPr>
        <p:spPr>
          <a:xfrm>
            <a:off x="1752600" y="3307227"/>
            <a:ext cx="1924496" cy="186689"/>
          </a:xfrm>
          <a:prstGeom prst="rect">
            <a:avLst/>
          </a:prstGeom>
          <a:noFill/>
        </p:spPr>
        <p:txBody>
          <a:bodyPr wrap="none" lIns="0" rIns="0" tIns="0" bIns="0">
            <a:spAutoFit/>
          </a:bodyPr>
          <a:lstStyle/>
          <a:p>
            <a:r>
              <a:rPr sz="1100" b="0">
                <a:solidFill>
                  <a:srgbClr val="2E2E2E"/>
                </a:solidFill>
                <a:latin typeface="Calibri"/>
              </a:rPr>
              <a:t>demand, Accelerating vs history.</a:t>
            </a:r>
          </a:p>
        </p:txBody>
      </p:sp>
      <p:sp>
        <p:nvSpPr>
          <p:cNvPr id="106" name="TextBox 105"/>
          <p:cNvSpPr txBox="1"/>
          <p:nvPr/>
        </p:nvSpPr>
        <p:spPr>
          <a:xfrm>
            <a:off x="5562600" y="3139587"/>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07" name="Picture 106" descr="lock.png"/>
          <p:cNvPicPr>
            <a:picLocks noChangeAspect="1"/>
          </p:cNvPicPr>
          <p:nvPr/>
        </p:nvPicPr>
        <p:blipFill>
          <a:blip r:embed="rId4"/>
          <a:stretch>
            <a:fillRect/>
          </a:stretch>
        </p:blipFill>
        <p:spPr>
          <a:xfrm>
            <a:off x="6797766" y="3129808"/>
            <a:ext cx="128699" cy="187198"/>
          </a:xfrm>
          <a:prstGeom prst="rect">
            <a:avLst/>
          </a:prstGeom>
        </p:spPr>
      </p:pic>
      <p:sp>
        <p:nvSpPr>
          <p:cNvPr id="108" name="TextBox 107"/>
          <p:cNvSpPr txBox="1"/>
          <p:nvPr/>
        </p:nvSpPr>
        <p:spPr>
          <a:xfrm>
            <a:off x="6965262" y="3139587"/>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09" name="TextBox 108"/>
          <p:cNvSpPr txBox="1"/>
          <p:nvPr/>
        </p:nvSpPr>
        <p:spPr>
          <a:xfrm>
            <a:off x="5562600" y="3307227"/>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10" name="Picture 109" descr="lock.png"/>
          <p:cNvPicPr>
            <a:picLocks noChangeAspect="1"/>
          </p:cNvPicPr>
          <p:nvPr/>
        </p:nvPicPr>
        <p:blipFill>
          <a:blip r:embed="rId4"/>
          <a:stretch>
            <a:fillRect/>
          </a:stretch>
        </p:blipFill>
        <p:spPr>
          <a:xfrm>
            <a:off x="6258066" y="3297448"/>
            <a:ext cx="128699" cy="187198"/>
          </a:xfrm>
          <a:prstGeom prst="rect">
            <a:avLst/>
          </a:prstGeom>
        </p:spPr>
      </p:pic>
      <p:sp>
        <p:nvSpPr>
          <p:cNvPr id="111" name="TextBox 110"/>
          <p:cNvSpPr txBox="1"/>
          <p:nvPr/>
        </p:nvSpPr>
        <p:spPr>
          <a:xfrm>
            <a:off x="6425562" y="3307227"/>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12" name="TextBox 111"/>
          <p:cNvSpPr txBox="1"/>
          <p:nvPr/>
        </p:nvSpPr>
        <p:spPr>
          <a:xfrm>
            <a:off x="8420100" y="3139587"/>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113" name="Picture 112" descr="lock.png"/>
          <p:cNvPicPr>
            <a:picLocks noChangeAspect="1"/>
          </p:cNvPicPr>
          <p:nvPr/>
        </p:nvPicPr>
        <p:blipFill>
          <a:blip r:embed="rId4"/>
          <a:stretch>
            <a:fillRect/>
          </a:stretch>
        </p:blipFill>
        <p:spPr>
          <a:xfrm>
            <a:off x="10403152" y="3129808"/>
            <a:ext cx="128699" cy="187198"/>
          </a:xfrm>
          <a:prstGeom prst="rect">
            <a:avLst/>
          </a:prstGeom>
        </p:spPr>
      </p:pic>
      <p:sp>
        <p:nvSpPr>
          <p:cNvPr id="114" name="TextBox 113"/>
          <p:cNvSpPr txBox="1"/>
          <p:nvPr/>
        </p:nvSpPr>
        <p:spPr>
          <a:xfrm>
            <a:off x="10570648" y="3139587"/>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15" name="Picture 114" descr="lock.png"/>
          <p:cNvPicPr>
            <a:picLocks noChangeAspect="1"/>
          </p:cNvPicPr>
          <p:nvPr/>
        </p:nvPicPr>
        <p:blipFill>
          <a:blip r:embed="rId4"/>
          <a:stretch>
            <a:fillRect/>
          </a:stretch>
        </p:blipFill>
        <p:spPr>
          <a:xfrm>
            <a:off x="10672117" y="3129808"/>
            <a:ext cx="128699" cy="187198"/>
          </a:xfrm>
          <a:prstGeom prst="rect">
            <a:avLst/>
          </a:prstGeom>
        </p:spPr>
      </p:pic>
      <p:sp>
        <p:nvSpPr>
          <p:cNvPr id="116" name="TextBox 115"/>
          <p:cNvSpPr txBox="1"/>
          <p:nvPr/>
        </p:nvSpPr>
        <p:spPr>
          <a:xfrm>
            <a:off x="10839613" y="3139587"/>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7" name="TextBox 116"/>
          <p:cNvSpPr txBox="1"/>
          <p:nvPr/>
        </p:nvSpPr>
        <p:spPr>
          <a:xfrm>
            <a:off x="8420100" y="3307227"/>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18" name="TextBox 117"/>
          <p:cNvSpPr txBox="1"/>
          <p:nvPr/>
        </p:nvSpPr>
        <p:spPr>
          <a:xfrm>
            <a:off x="1752600" y="3650690"/>
            <a:ext cx="1261467" cy="186689"/>
          </a:xfrm>
          <a:prstGeom prst="rect">
            <a:avLst/>
          </a:prstGeom>
          <a:noFill/>
        </p:spPr>
        <p:txBody>
          <a:bodyPr wrap="none" lIns="0" rIns="0" tIns="0" bIns="0">
            <a:spAutoFit/>
          </a:bodyPr>
          <a:lstStyle/>
          <a:p>
            <a:r>
              <a:rPr sz="1100" b="0">
                <a:solidFill>
                  <a:srgbClr val="2E2E2E"/>
                </a:solidFill>
                <a:latin typeface="Calibri"/>
              </a:rPr>
              <a:t>Above-market pace (</a:t>
            </a:r>
          </a:p>
        </p:txBody>
      </p:sp>
      <p:pic>
        <p:nvPicPr>
          <p:cNvPr id="119" name="Picture 118" descr="lock.png"/>
          <p:cNvPicPr>
            <a:picLocks noChangeAspect="1"/>
          </p:cNvPicPr>
          <p:nvPr/>
        </p:nvPicPr>
        <p:blipFill>
          <a:blip r:embed="rId4"/>
          <a:stretch>
            <a:fillRect/>
          </a:stretch>
        </p:blipFill>
        <p:spPr>
          <a:xfrm>
            <a:off x="2962118" y="3640911"/>
            <a:ext cx="128699" cy="187198"/>
          </a:xfrm>
          <a:prstGeom prst="rect">
            <a:avLst/>
          </a:prstGeom>
        </p:spPr>
      </p:pic>
      <p:sp>
        <p:nvSpPr>
          <p:cNvPr id="120" name="TextBox 119"/>
          <p:cNvSpPr txBox="1"/>
          <p:nvPr/>
        </p:nvSpPr>
        <p:spPr>
          <a:xfrm>
            <a:off x="3129614" y="3650690"/>
            <a:ext cx="2105397" cy="186689"/>
          </a:xfrm>
          <a:prstGeom prst="rect">
            <a:avLst/>
          </a:prstGeom>
          <a:noFill/>
        </p:spPr>
        <p:txBody>
          <a:bodyPr wrap="none" lIns="0" rIns="0" tIns="0" bIns="0">
            <a:spAutoFit/>
          </a:bodyPr>
          <a:lstStyle/>
          <a:p>
            <a:r>
              <a:rPr sz="1100" b="0">
                <a:solidFill>
                  <a:srgbClr val="2E2E2E"/>
                </a:solidFill>
                <a:latin typeface="Calibri"/>
              </a:rPr>
              <a:t>), Flexible Partial Dentures demand,</a:t>
            </a:r>
          </a:p>
        </p:txBody>
      </p:sp>
      <p:sp>
        <p:nvSpPr>
          <p:cNvPr id="121" name="TextBox 120"/>
          <p:cNvSpPr txBox="1"/>
          <p:nvPr/>
        </p:nvSpPr>
        <p:spPr>
          <a:xfrm>
            <a:off x="1752600" y="3818330"/>
            <a:ext cx="1389707" cy="186689"/>
          </a:xfrm>
          <a:prstGeom prst="rect">
            <a:avLst/>
          </a:prstGeom>
          <a:noFill/>
        </p:spPr>
        <p:txBody>
          <a:bodyPr wrap="none" lIns="0" rIns="0" tIns="0" bIns="0">
            <a:spAutoFit/>
          </a:bodyPr>
          <a:lstStyle/>
          <a:p>
            <a:r>
              <a:rPr sz="1100" b="0">
                <a:solidFill>
                  <a:srgbClr val="2E2E2E"/>
                </a:solidFill>
                <a:latin typeface="Calibri"/>
              </a:rPr>
              <a:t>Accelerating vs history.</a:t>
            </a:r>
          </a:p>
        </p:txBody>
      </p:sp>
      <p:sp>
        <p:nvSpPr>
          <p:cNvPr id="122" name="TextBox 121"/>
          <p:cNvSpPr txBox="1"/>
          <p:nvPr/>
        </p:nvSpPr>
        <p:spPr>
          <a:xfrm>
            <a:off x="5562600" y="373451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123" name="Picture 122" descr="lock.png"/>
          <p:cNvPicPr>
            <a:picLocks noChangeAspect="1"/>
          </p:cNvPicPr>
          <p:nvPr/>
        </p:nvPicPr>
        <p:blipFill>
          <a:blip r:embed="rId4"/>
          <a:stretch>
            <a:fillRect/>
          </a:stretch>
        </p:blipFill>
        <p:spPr>
          <a:xfrm>
            <a:off x="6623687" y="3724731"/>
            <a:ext cx="128699" cy="187198"/>
          </a:xfrm>
          <a:prstGeom prst="rect">
            <a:avLst/>
          </a:prstGeom>
        </p:spPr>
      </p:pic>
      <p:sp>
        <p:nvSpPr>
          <p:cNvPr id="124" name="TextBox 123"/>
          <p:cNvSpPr txBox="1"/>
          <p:nvPr/>
        </p:nvSpPr>
        <p:spPr>
          <a:xfrm>
            <a:off x="6791183" y="373451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25" name="TextBox 124"/>
          <p:cNvSpPr txBox="1"/>
          <p:nvPr/>
        </p:nvSpPr>
        <p:spPr>
          <a:xfrm>
            <a:off x="8420100" y="3650690"/>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126" name="Picture 125" descr="lock.png"/>
          <p:cNvPicPr>
            <a:picLocks noChangeAspect="1"/>
          </p:cNvPicPr>
          <p:nvPr/>
        </p:nvPicPr>
        <p:blipFill>
          <a:blip r:embed="rId4"/>
          <a:stretch>
            <a:fillRect/>
          </a:stretch>
        </p:blipFill>
        <p:spPr>
          <a:xfrm>
            <a:off x="10403152" y="3640911"/>
            <a:ext cx="128699" cy="187198"/>
          </a:xfrm>
          <a:prstGeom prst="rect">
            <a:avLst/>
          </a:prstGeom>
        </p:spPr>
      </p:pic>
      <p:sp>
        <p:nvSpPr>
          <p:cNvPr id="127" name="TextBox 126"/>
          <p:cNvSpPr txBox="1"/>
          <p:nvPr/>
        </p:nvSpPr>
        <p:spPr>
          <a:xfrm>
            <a:off x="10570648" y="365069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28" name="Picture 127" descr="lock.png"/>
          <p:cNvPicPr>
            <a:picLocks noChangeAspect="1"/>
          </p:cNvPicPr>
          <p:nvPr/>
        </p:nvPicPr>
        <p:blipFill>
          <a:blip r:embed="rId4"/>
          <a:stretch>
            <a:fillRect/>
          </a:stretch>
        </p:blipFill>
        <p:spPr>
          <a:xfrm>
            <a:off x="10672117" y="3640911"/>
            <a:ext cx="128699" cy="187198"/>
          </a:xfrm>
          <a:prstGeom prst="rect">
            <a:avLst/>
          </a:prstGeom>
        </p:spPr>
      </p:pic>
      <p:sp>
        <p:nvSpPr>
          <p:cNvPr id="129" name="TextBox 128"/>
          <p:cNvSpPr txBox="1"/>
          <p:nvPr/>
        </p:nvSpPr>
        <p:spPr>
          <a:xfrm>
            <a:off x="10839613" y="3650690"/>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30" name="TextBox 129"/>
          <p:cNvSpPr txBox="1"/>
          <p:nvPr/>
        </p:nvSpPr>
        <p:spPr>
          <a:xfrm>
            <a:off x="8420100" y="3818330"/>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31" name="TextBox 130"/>
          <p:cNvSpPr txBox="1"/>
          <p:nvPr/>
        </p:nvSpPr>
        <p:spPr>
          <a:xfrm>
            <a:off x="1752600" y="4161794"/>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32" name="Picture 131" descr="lock.png"/>
          <p:cNvPicPr>
            <a:picLocks noChangeAspect="1"/>
          </p:cNvPicPr>
          <p:nvPr/>
        </p:nvPicPr>
        <p:blipFill>
          <a:blip r:embed="rId4"/>
          <a:stretch>
            <a:fillRect/>
          </a:stretch>
        </p:blipFill>
        <p:spPr>
          <a:xfrm>
            <a:off x="2834969" y="4152015"/>
            <a:ext cx="128699" cy="187198"/>
          </a:xfrm>
          <a:prstGeom prst="rect">
            <a:avLst/>
          </a:prstGeom>
        </p:spPr>
      </p:pic>
      <p:sp>
        <p:nvSpPr>
          <p:cNvPr id="133" name="TextBox 132"/>
          <p:cNvSpPr txBox="1"/>
          <p:nvPr/>
        </p:nvSpPr>
        <p:spPr>
          <a:xfrm>
            <a:off x="3002465" y="4161794"/>
            <a:ext cx="1889827" cy="186689"/>
          </a:xfrm>
          <a:prstGeom prst="rect">
            <a:avLst/>
          </a:prstGeom>
          <a:noFill/>
        </p:spPr>
        <p:txBody>
          <a:bodyPr wrap="none" lIns="0" rIns="0" tIns="0" bIns="0">
            <a:spAutoFit/>
          </a:bodyPr>
          <a:lstStyle/>
          <a:p>
            <a:r>
              <a:rPr sz="1100" b="0">
                <a:solidFill>
                  <a:srgbClr val="2E2E2E"/>
                </a:solidFill>
                <a:latin typeface="Calibri"/>
              </a:rPr>
              <a:t>CAGR), Flexible Partial Dentures</a:t>
            </a:r>
          </a:p>
        </p:txBody>
      </p:sp>
      <p:sp>
        <p:nvSpPr>
          <p:cNvPr id="134" name="TextBox 133"/>
          <p:cNvSpPr txBox="1"/>
          <p:nvPr/>
        </p:nvSpPr>
        <p:spPr>
          <a:xfrm>
            <a:off x="1752600" y="4329434"/>
            <a:ext cx="1924496" cy="186689"/>
          </a:xfrm>
          <a:prstGeom prst="rect">
            <a:avLst/>
          </a:prstGeom>
          <a:noFill/>
        </p:spPr>
        <p:txBody>
          <a:bodyPr wrap="none" lIns="0" rIns="0" tIns="0" bIns="0">
            <a:spAutoFit/>
          </a:bodyPr>
          <a:lstStyle/>
          <a:p>
            <a:r>
              <a:rPr sz="1100" b="0">
                <a:solidFill>
                  <a:srgbClr val="2E2E2E"/>
                </a:solidFill>
                <a:latin typeface="Calibri"/>
              </a:rPr>
              <a:t>demand, Accelerating vs history.</a:t>
            </a:r>
          </a:p>
        </p:txBody>
      </p:sp>
      <p:sp>
        <p:nvSpPr>
          <p:cNvPr id="135" name="TextBox 134"/>
          <p:cNvSpPr txBox="1"/>
          <p:nvPr/>
        </p:nvSpPr>
        <p:spPr>
          <a:xfrm>
            <a:off x="5562600" y="4161794"/>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36" name="Picture 135" descr="lock.png"/>
          <p:cNvPicPr>
            <a:picLocks noChangeAspect="1"/>
          </p:cNvPicPr>
          <p:nvPr/>
        </p:nvPicPr>
        <p:blipFill>
          <a:blip r:embed="rId4"/>
          <a:stretch>
            <a:fillRect/>
          </a:stretch>
        </p:blipFill>
        <p:spPr>
          <a:xfrm>
            <a:off x="6797766" y="4152015"/>
            <a:ext cx="128699" cy="187198"/>
          </a:xfrm>
          <a:prstGeom prst="rect">
            <a:avLst/>
          </a:prstGeom>
        </p:spPr>
      </p:pic>
      <p:sp>
        <p:nvSpPr>
          <p:cNvPr id="137" name="TextBox 136"/>
          <p:cNvSpPr txBox="1"/>
          <p:nvPr/>
        </p:nvSpPr>
        <p:spPr>
          <a:xfrm>
            <a:off x="6965262" y="4161794"/>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38" name="TextBox 137"/>
          <p:cNvSpPr txBox="1"/>
          <p:nvPr/>
        </p:nvSpPr>
        <p:spPr>
          <a:xfrm>
            <a:off x="5562600" y="4329434"/>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39" name="Picture 138" descr="lock.png"/>
          <p:cNvPicPr>
            <a:picLocks noChangeAspect="1"/>
          </p:cNvPicPr>
          <p:nvPr/>
        </p:nvPicPr>
        <p:blipFill>
          <a:blip r:embed="rId4"/>
          <a:stretch>
            <a:fillRect/>
          </a:stretch>
        </p:blipFill>
        <p:spPr>
          <a:xfrm>
            <a:off x="6258066" y="4319655"/>
            <a:ext cx="128699" cy="187198"/>
          </a:xfrm>
          <a:prstGeom prst="rect">
            <a:avLst/>
          </a:prstGeom>
        </p:spPr>
      </p:pic>
      <p:sp>
        <p:nvSpPr>
          <p:cNvPr id="140" name="TextBox 139"/>
          <p:cNvSpPr txBox="1"/>
          <p:nvPr/>
        </p:nvSpPr>
        <p:spPr>
          <a:xfrm>
            <a:off x="6425562" y="4329434"/>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41" name="TextBox 140"/>
          <p:cNvSpPr txBox="1"/>
          <p:nvPr/>
        </p:nvSpPr>
        <p:spPr>
          <a:xfrm>
            <a:off x="8420100" y="4161794"/>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142" name="Picture 141" descr="lock.png"/>
          <p:cNvPicPr>
            <a:picLocks noChangeAspect="1"/>
          </p:cNvPicPr>
          <p:nvPr/>
        </p:nvPicPr>
        <p:blipFill>
          <a:blip r:embed="rId4"/>
          <a:stretch>
            <a:fillRect/>
          </a:stretch>
        </p:blipFill>
        <p:spPr>
          <a:xfrm>
            <a:off x="10403152" y="4152015"/>
            <a:ext cx="128699" cy="187198"/>
          </a:xfrm>
          <a:prstGeom prst="rect">
            <a:avLst/>
          </a:prstGeom>
        </p:spPr>
      </p:pic>
      <p:sp>
        <p:nvSpPr>
          <p:cNvPr id="143" name="TextBox 142"/>
          <p:cNvSpPr txBox="1"/>
          <p:nvPr/>
        </p:nvSpPr>
        <p:spPr>
          <a:xfrm>
            <a:off x="10570648" y="4161794"/>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44" name="Picture 143" descr="lock.png"/>
          <p:cNvPicPr>
            <a:picLocks noChangeAspect="1"/>
          </p:cNvPicPr>
          <p:nvPr/>
        </p:nvPicPr>
        <p:blipFill>
          <a:blip r:embed="rId4"/>
          <a:stretch>
            <a:fillRect/>
          </a:stretch>
        </p:blipFill>
        <p:spPr>
          <a:xfrm>
            <a:off x="10672117" y="4152015"/>
            <a:ext cx="128699" cy="187198"/>
          </a:xfrm>
          <a:prstGeom prst="rect">
            <a:avLst/>
          </a:prstGeom>
        </p:spPr>
      </p:pic>
      <p:sp>
        <p:nvSpPr>
          <p:cNvPr id="145" name="TextBox 144"/>
          <p:cNvSpPr txBox="1"/>
          <p:nvPr/>
        </p:nvSpPr>
        <p:spPr>
          <a:xfrm>
            <a:off x="10839613" y="4161794"/>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46" name="TextBox 145"/>
          <p:cNvSpPr txBox="1"/>
          <p:nvPr/>
        </p:nvSpPr>
        <p:spPr>
          <a:xfrm>
            <a:off x="8420100" y="4329434"/>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47" name="TextBox 146"/>
          <p:cNvSpPr txBox="1"/>
          <p:nvPr/>
        </p:nvSpPr>
        <p:spPr>
          <a:xfrm>
            <a:off x="304800" y="5232520"/>
            <a:ext cx="4373612" cy="186689"/>
          </a:xfrm>
          <a:prstGeom prst="rect">
            <a:avLst/>
          </a:prstGeom>
          <a:noFill/>
        </p:spPr>
        <p:txBody>
          <a:bodyPr wrap="none" lIns="0" rIns="0" tIns="0" bIns="0">
            <a:spAutoFit/>
          </a:bodyPr>
          <a:lstStyle/>
          <a:p>
            <a:r>
              <a:rPr sz="1100" b="0">
                <a:solidFill>
                  <a:srgbClr val="2E2E2E"/>
                </a:solidFill>
                <a:latin typeface="Calibri"/>
              </a:rPr>
              <a:t>▪ North America, Europe, South Asia &amp; Pacific anchor scale with a combined</a:t>
            </a:r>
          </a:p>
        </p:txBody>
      </p:sp>
      <p:pic>
        <p:nvPicPr>
          <p:cNvPr id="148" name="Picture 147" descr="lock.png"/>
          <p:cNvPicPr>
            <a:picLocks noChangeAspect="1"/>
          </p:cNvPicPr>
          <p:nvPr/>
        </p:nvPicPr>
        <p:blipFill>
          <a:blip r:embed="rId4"/>
          <a:stretch>
            <a:fillRect/>
          </a:stretch>
        </p:blipFill>
        <p:spPr>
          <a:xfrm>
            <a:off x="4626463" y="5222741"/>
            <a:ext cx="128699" cy="187198"/>
          </a:xfrm>
          <a:prstGeom prst="rect">
            <a:avLst/>
          </a:prstGeom>
        </p:spPr>
      </p:pic>
      <p:sp>
        <p:nvSpPr>
          <p:cNvPr id="149" name="TextBox 148"/>
          <p:cNvSpPr txBox="1"/>
          <p:nvPr/>
        </p:nvSpPr>
        <p:spPr>
          <a:xfrm>
            <a:off x="4793959" y="5232520"/>
            <a:ext cx="4622998" cy="186689"/>
          </a:xfrm>
          <a:prstGeom prst="rect">
            <a:avLst/>
          </a:prstGeom>
          <a:noFill/>
        </p:spPr>
        <p:txBody>
          <a:bodyPr wrap="none" lIns="0" rIns="0" tIns="0" bIns="0">
            <a:spAutoFit/>
          </a:bodyPr>
          <a:lstStyle/>
          <a:p>
            <a:r>
              <a:rPr sz="1100" b="0">
                <a:solidFill>
                  <a:srgbClr val="2E2E2E"/>
                </a:solidFill>
                <a:latin typeface="Calibri"/>
              </a:rPr>
              <a:t>of Global value in 2036, while 'South Asia &amp; Pacific' offers the steepest upside at</a:t>
            </a:r>
          </a:p>
        </p:txBody>
      </p:sp>
      <p:pic>
        <p:nvPicPr>
          <p:cNvPr id="150" name="Picture 149" descr="lock.png"/>
          <p:cNvPicPr>
            <a:picLocks noChangeAspect="1"/>
          </p:cNvPicPr>
          <p:nvPr/>
        </p:nvPicPr>
        <p:blipFill>
          <a:blip r:embed="rId4"/>
          <a:stretch>
            <a:fillRect/>
          </a:stretch>
        </p:blipFill>
        <p:spPr>
          <a:xfrm>
            <a:off x="9365009" y="5222741"/>
            <a:ext cx="128699" cy="187198"/>
          </a:xfrm>
          <a:prstGeom prst="rect">
            <a:avLst/>
          </a:prstGeom>
        </p:spPr>
      </p:pic>
      <p:sp>
        <p:nvSpPr>
          <p:cNvPr id="151" name="TextBox 150"/>
          <p:cNvSpPr txBox="1"/>
          <p:nvPr/>
        </p:nvSpPr>
        <p:spPr>
          <a:xfrm>
            <a:off x="9532505" y="5232520"/>
            <a:ext cx="1819704" cy="186689"/>
          </a:xfrm>
          <a:prstGeom prst="rect">
            <a:avLst/>
          </a:prstGeom>
          <a:noFill/>
        </p:spPr>
        <p:txBody>
          <a:bodyPr wrap="none" lIns="0" rIns="0" tIns="0" bIns="0">
            <a:spAutoFit/>
          </a:bodyPr>
          <a:lstStyle/>
          <a:p>
            <a:r>
              <a:rPr sz="1100" b="0">
                <a:solidFill>
                  <a:srgbClr val="2E2E2E"/>
                </a:solidFill>
                <a:latin typeface="Calibri"/>
              </a:rPr>
              <a:t>CAGR against a market pace of</a:t>
            </a:r>
          </a:p>
        </p:txBody>
      </p:sp>
      <p:pic>
        <p:nvPicPr>
          <p:cNvPr id="152" name="Picture 151" descr="lock.png"/>
          <p:cNvPicPr>
            <a:picLocks noChangeAspect="1"/>
          </p:cNvPicPr>
          <p:nvPr/>
        </p:nvPicPr>
        <p:blipFill>
          <a:blip r:embed="rId4"/>
          <a:stretch>
            <a:fillRect/>
          </a:stretch>
        </p:blipFill>
        <p:spPr>
          <a:xfrm>
            <a:off x="291332" y="5390381"/>
            <a:ext cx="128699" cy="187198"/>
          </a:xfrm>
          <a:prstGeom prst="rect">
            <a:avLst/>
          </a:prstGeom>
        </p:spPr>
      </p:pic>
      <p:sp>
        <p:nvSpPr>
          <p:cNvPr id="153" name="TextBox 152"/>
          <p:cNvSpPr txBox="1"/>
          <p:nvPr/>
        </p:nvSpPr>
        <p:spPr>
          <a:xfrm>
            <a:off x="458828" y="5400160"/>
            <a:ext cx="11008816" cy="186689"/>
          </a:xfrm>
          <a:prstGeom prst="rect">
            <a:avLst/>
          </a:prstGeom>
          <a:noFill/>
        </p:spPr>
        <p:txBody>
          <a:bodyPr wrap="none" lIns="0" rIns="0" tIns="0" bIns="0">
            <a:spAutoFit/>
          </a:bodyPr>
          <a:lstStyle/>
          <a:p>
            <a:r>
              <a:rPr sz="1100" b="0">
                <a:solidFill>
                  <a:srgbClr val="2E2E2E"/>
                </a:solidFill>
                <a:latin typeface="Calibri"/>
              </a:rPr>
              <a:t>. 3 of 6 regions grow at or above that pace, so entry logic has to differ by region scale defence in the leaders, mix and premiumisation in the mid-tier, and availability-led expansion in the fastest</a:t>
            </a:r>
          </a:p>
        </p:txBody>
      </p:sp>
      <p:sp>
        <p:nvSpPr>
          <p:cNvPr id="154" name="TextBox 153"/>
          <p:cNvSpPr txBox="1"/>
          <p:nvPr/>
        </p:nvSpPr>
        <p:spPr>
          <a:xfrm>
            <a:off x="304800" y="5567800"/>
            <a:ext cx="532680" cy="186689"/>
          </a:xfrm>
          <a:prstGeom prst="rect">
            <a:avLst/>
          </a:prstGeom>
          <a:noFill/>
        </p:spPr>
        <p:txBody>
          <a:bodyPr wrap="none" lIns="0" rIns="0" tIns="0" bIns="0">
            <a:spAutoFit/>
          </a:bodyPr>
          <a:lstStyle/>
          <a:p>
            <a:r>
              <a:rPr sz="1100" b="0">
                <a:solidFill>
                  <a:srgbClr val="2E2E2E"/>
                </a:solidFill>
                <a:latin typeface="Calibri"/>
              </a:rPr>
              <a:t>movers.</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604460"/>
            <a:ext cx="2324100" cy="2427742"/>
          </a:xfrm>
          <a:custGeom>
            <a:avLst/>
            <a:gdLst/>
            <a:ahLst/>
            <a:cxnLst/>
            <a:rect l="l" t="t" r="r" b="b"/>
            <a:pathLst>
              <a:path w="244" h="266">
                <a:moveTo>
                  <a:pt x="244" y="28"/>
                </a:moveTo>
                <a:lnTo>
                  <a:pt x="176" y="0"/>
                </a:lnTo>
                <a:lnTo>
                  <a:pt x="140" y="58"/>
                </a:lnTo>
                <a:lnTo>
                  <a:pt x="96" y="107"/>
                </a:lnTo>
                <a:lnTo>
                  <a:pt x="0" y="197"/>
                </a:lnTo>
                <a:lnTo>
                  <a:pt x="87" y="266"/>
                </a:lnTo>
                <a:lnTo>
                  <a:pt x="203" y="225"/>
                </a:lnTo>
                <a:lnTo>
                  <a:pt x="244" y="25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4 product type lines and 4 end user routes, giving producers wide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3466991" y="1322601"/>
            <a:ext cx="1125226" cy="173278"/>
          </a:xfrm>
          <a:prstGeom prst="rect">
            <a:avLst/>
          </a:prstGeom>
          <a:noFill/>
        </p:spPr>
        <p:txBody>
          <a:bodyPr wrap="none" lIns="0" rIns="0" tIns="0" bIns="0">
            <a:spAutoFit/>
          </a:bodyPr>
          <a:lstStyle/>
          <a:p>
            <a:r>
              <a:rPr sz="1011" b="0">
                <a:solidFill>
                  <a:srgbClr val="2E2E2E"/>
                </a:solidFill>
                <a:latin typeface="Calibri"/>
              </a:rPr>
              <a:t>Production Scale-up</a:t>
            </a:r>
          </a:p>
        </p:txBody>
      </p:sp>
      <p:pic>
        <p:nvPicPr>
          <p:cNvPr id="69" name="Picture 68" descr="lock.png"/>
          <p:cNvPicPr>
            <a:picLocks noChangeAspect="1"/>
          </p:cNvPicPr>
          <p:nvPr/>
        </p:nvPicPr>
        <p:blipFill>
          <a:blip r:embed="rId4"/>
          <a:stretch>
            <a:fillRect/>
          </a:stretch>
        </p:blipFill>
        <p:spPr>
          <a:xfrm>
            <a:off x="4538330" y="1313604"/>
            <a:ext cx="118403" cy="172222"/>
          </a:xfrm>
          <a:prstGeom prst="rect">
            <a:avLst/>
          </a:prstGeom>
        </p:spPr>
      </p:pic>
      <p:sp>
        <p:nvSpPr>
          <p:cNvPr id="70" name="TextBox 69"/>
          <p:cNvSpPr txBox="1"/>
          <p:nvPr/>
        </p:nvSpPr>
        <p:spPr>
          <a:xfrm>
            <a:off x="2482772" y="1561215"/>
            <a:ext cx="1094602" cy="173278"/>
          </a:xfrm>
          <a:prstGeom prst="rect">
            <a:avLst/>
          </a:prstGeom>
          <a:noFill/>
        </p:spPr>
        <p:txBody>
          <a:bodyPr wrap="none" lIns="0" rIns="0" tIns="0" bIns="0">
            <a:spAutoFit/>
          </a:bodyPr>
          <a:lstStyle/>
          <a:p>
            <a:r>
              <a:rPr sz="1011" b="0">
                <a:solidFill>
                  <a:srgbClr val="2E2E2E"/>
                </a:solidFill>
                <a:latin typeface="Calibri"/>
              </a:rPr>
              <a:t>Input Cost Pressure</a:t>
            </a:r>
          </a:p>
        </p:txBody>
      </p:sp>
      <p:pic>
        <p:nvPicPr>
          <p:cNvPr id="71" name="Picture 70" descr="lock.png"/>
          <p:cNvPicPr>
            <a:picLocks noChangeAspect="1"/>
          </p:cNvPicPr>
          <p:nvPr/>
        </p:nvPicPr>
        <p:blipFill>
          <a:blip r:embed="rId4"/>
          <a:stretch>
            <a:fillRect/>
          </a:stretch>
        </p:blipFill>
        <p:spPr>
          <a:xfrm>
            <a:off x="3523486" y="1552218"/>
            <a:ext cx="118403" cy="172222"/>
          </a:xfrm>
          <a:prstGeom prst="rect">
            <a:avLst/>
          </a:prstGeom>
        </p:spPr>
      </p:pic>
      <p:sp>
        <p:nvSpPr>
          <p:cNvPr id="72" name="TextBox 71"/>
          <p:cNvSpPr txBox="1"/>
          <p:nvPr/>
        </p:nvSpPr>
        <p:spPr>
          <a:xfrm>
            <a:off x="1943191" y="2311939"/>
            <a:ext cx="759234" cy="173278"/>
          </a:xfrm>
          <a:prstGeom prst="rect">
            <a:avLst/>
          </a:prstGeom>
          <a:noFill/>
        </p:spPr>
        <p:txBody>
          <a:bodyPr wrap="none" lIns="0" rIns="0" tIns="0" bIns="0">
            <a:spAutoFit/>
          </a:bodyPr>
          <a:lstStyle/>
          <a:p>
            <a:r>
              <a:rPr sz="1011" b="0">
                <a:solidFill>
                  <a:srgbClr val="2E2E2E"/>
                </a:solidFill>
                <a:latin typeface="Calibri"/>
              </a:rPr>
              <a:t>Capacity Add</a:t>
            </a:r>
          </a:p>
        </p:txBody>
      </p:sp>
      <p:pic>
        <p:nvPicPr>
          <p:cNvPr id="73" name="Picture 72" descr="lock.png"/>
          <p:cNvPicPr>
            <a:picLocks noChangeAspect="1"/>
          </p:cNvPicPr>
          <p:nvPr/>
        </p:nvPicPr>
        <p:blipFill>
          <a:blip r:embed="rId4"/>
          <a:stretch>
            <a:fillRect/>
          </a:stretch>
        </p:blipFill>
        <p:spPr>
          <a:xfrm>
            <a:off x="2648537" y="2302942"/>
            <a:ext cx="118403" cy="172222"/>
          </a:xfrm>
          <a:prstGeom prst="rect">
            <a:avLst/>
          </a:prstGeom>
        </p:spPr>
      </p:pic>
      <p:sp>
        <p:nvSpPr>
          <p:cNvPr id="74" name="TextBox 73"/>
          <p:cNvSpPr txBox="1"/>
          <p:nvPr/>
        </p:nvSpPr>
        <p:spPr>
          <a:xfrm>
            <a:off x="1014573" y="3278069"/>
            <a:ext cx="1202291" cy="173278"/>
          </a:xfrm>
          <a:prstGeom prst="rect">
            <a:avLst/>
          </a:prstGeom>
          <a:noFill/>
        </p:spPr>
        <p:txBody>
          <a:bodyPr wrap="none" lIns="0" rIns="0" tIns="0" bIns="0">
            <a:spAutoFit/>
          </a:bodyPr>
          <a:lstStyle/>
          <a:p>
            <a:r>
              <a:rPr sz="1011" b="0">
                <a:solidFill>
                  <a:srgbClr val="2E2E2E"/>
                </a:solidFill>
                <a:latin typeface="Calibri"/>
              </a:rPr>
              <a:t>Supply Concentration</a:t>
            </a:r>
          </a:p>
        </p:txBody>
      </p:sp>
      <p:pic>
        <p:nvPicPr>
          <p:cNvPr id="75" name="Picture 74" descr="lock.png"/>
          <p:cNvPicPr>
            <a:picLocks noChangeAspect="1"/>
          </p:cNvPicPr>
          <p:nvPr/>
        </p:nvPicPr>
        <p:blipFill>
          <a:blip r:embed="rId4"/>
          <a:stretch>
            <a:fillRect/>
          </a:stretch>
        </p:blipFill>
        <p:spPr>
          <a:xfrm>
            <a:off x="2162976" y="3269072"/>
            <a:ext cx="118403" cy="172222"/>
          </a:xfrm>
          <a:prstGeom prst="rect">
            <a:avLst/>
          </a:prstGeom>
        </p:spPr>
      </p:pic>
      <p:sp>
        <p:nvSpPr>
          <p:cNvPr id="76" name="TextBox 75"/>
          <p:cNvSpPr txBox="1"/>
          <p:nvPr/>
        </p:nvSpPr>
        <p:spPr>
          <a:xfrm>
            <a:off x="1148118" y="4350392"/>
            <a:ext cx="1068746" cy="173278"/>
          </a:xfrm>
          <a:prstGeom prst="rect">
            <a:avLst/>
          </a:prstGeom>
          <a:noFill/>
        </p:spPr>
        <p:txBody>
          <a:bodyPr wrap="none" lIns="0" rIns="0" tIns="0" bIns="0">
            <a:spAutoFit/>
          </a:bodyPr>
          <a:lstStyle/>
          <a:p>
            <a:r>
              <a:rPr sz="1011" b="0">
                <a:solidFill>
                  <a:srgbClr val="2E2E2E"/>
                </a:solidFill>
                <a:latin typeface="Calibri"/>
              </a:rPr>
              <a:t>Geographic Spread</a:t>
            </a:r>
          </a:p>
        </p:txBody>
      </p:sp>
      <p:pic>
        <p:nvPicPr>
          <p:cNvPr id="77" name="Picture 76" descr="lock.png"/>
          <p:cNvPicPr>
            <a:picLocks noChangeAspect="1"/>
          </p:cNvPicPr>
          <p:nvPr/>
        </p:nvPicPr>
        <p:blipFill>
          <a:blip r:embed="rId4"/>
          <a:stretch>
            <a:fillRect/>
          </a:stretch>
        </p:blipFill>
        <p:spPr>
          <a:xfrm>
            <a:off x="2162976" y="4341395"/>
            <a:ext cx="118403" cy="172222"/>
          </a:xfrm>
          <a:prstGeom prst="rect">
            <a:avLst/>
          </a:prstGeom>
        </p:spPr>
      </p:pic>
      <p:sp>
        <p:nvSpPr>
          <p:cNvPr id="78" name="TextBox 77"/>
          <p:cNvSpPr txBox="1"/>
          <p:nvPr/>
        </p:nvSpPr>
        <p:spPr>
          <a:xfrm>
            <a:off x="1722039" y="5316521"/>
            <a:ext cx="980386" cy="173278"/>
          </a:xfrm>
          <a:prstGeom prst="rect">
            <a:avLst/>
          </a:prstGeom>
          <a:noFill/>
        </p:spPr>
        <p:txBody>
          <a:bodyPr wrap="none" lIns="0" rIns="0" tIns="0" bIns="0">
            <a:spAutoFit/>
          </a:bodyPr>
          <a:lstStyle/>
          <a:p>
            <a:r>
              <a:rPr sz="1011" b="0">
                <a:solidFill>
                  <a:srgbClr val="2E2E2E"/>
                </a:solidFill>
                <a:latin typeface="Calibri"/>
              </a:rPr>
              <a:t>Portfolio Breadth</a:t>
            </a:r>
          </a:p>
        </p:txBody>
      </p:sp>
      <p:pic>
        <p:nvPicPr>
          <p:cNvPr id="79" name="Picture 78" descr="lock.png"/>
          <p:cNvPicPr>
            <a:picLocks noChangeAspect="1"/>
          </p:cNvPicPr>
          <p:nvPr/>
        </p:nvPicPr>
        <p:blipFill>
          <a:blip r:embed="rId4"/>
          <a:stretch>
            <a:fillRect/>
          </a:stretch>
        </p:blipFill>
        <p:spPr>
          <a:xfrm>
            <a:off x="2648537" y="5307524"/>
            <a:ext cx="118403" cy="172222"/>
          </a:xfrm>
          <a:prstGeom prst="rect">
            <a:avLst/>
          </a:prstGeom>
        </p:spPr>
      </p:pic>
      <p:sp>
        <p:nvSpPr>
          <p:cNvPr id="80" name="TextBox 79"/>
          <p:cNvSpPr txBox="1"/>
          <p:nvPr/>
        </p:nvSpPr>
        <p:spPr>
          <a:xfrm>
            <a:off x="2838472" y="6067245"/>
            <a:ext cx="738901" cy="173278"/>
          </a:xfrm>
          <a:prstGeom prst="rect">
            <a:avLst/>
          </a:prstGeom>
          <a:noFill/>
        </p:spPr>
        <p:txBody>
          <a:bodyPr wrap="none" lIns="0" rIns="0" tIns="0" bIns="0">
            <a:spAutoFit/>
          </a:bodyPr>
          <a:lstStyle/>
          <a:p>
            <a:r>
              <a:rPr sz="1011" b="0">
                <a:solidFill>
                  <a:srgbClr val="2E2E2E"/>
                </a:solidFill>
                <a:latin typeface="Calibri"/>
              </a:rPr>
              <a:t>Route Depth</a:t>
            </a:r>
          </a:p>
        </p:txBody>
      </p:sp>
      <p:pic>
        <p:nvPicPr>
          <p:cNvPr id="81" name="Picture 80" descr="lock.png"/>
          <p:cNvPicPr>
            <a:picLocks noChangeAspect="1"/>
          </p:cNvPicPr>
          <p:nvPr/>
        </p:nvPicPr>
        <p:blipFill>
          <a:blip r:embed="rId4"/>
          <a:stretch>
            <a:fillRect/>
          </a:stretch>
        </p:blipFill>
        <p:spPr>
          <a:xfrm>
            <a:off x="3523486" y="6058248"/>
            <a:ext cx="118403" cy="172222"/>
          </a:xfrm>
          <a:prstGeom prst="rect">
            <a:avLst/>
          </a:prstGeom>
        </p:spPr>
      </p:pic>
      <p:sp>
        <p:nvSpPr>
          <p:cNvPr id="82" name="TextBox 81"/>
          <p:cNvSpPr txBox="1"/>
          <p:nvPr/>
        </p:nvSpPr>
        <p:spPr>
          <a:xfrm>
            <a:off x="3616852" y="6305860"/>
            <a:ext cx="975365" cy="173278"/>
          </a:xfrm>
          <a:prstGeom prst="rect">
            <a:avLst/>
          </a:prstGeom>
          <a:noFill/>
        </p:spPr>
        <p:txBody>
          <a:bodyPr wrap="none" lIns="0" rIns="0" tIns="0" bIns="0">
            <a:spAutoFit/>
          </a:bodyPr>
          <a:lstStyle/>
          <a:p>
            <a:r>
              <a:rPr sz="1011" b="0">
                <a:solidFill>
                  <a:srgbClr val="2E2E2E"/>
                </a:solidFill>
                <a:latin typeface="Calibri"/>
              </a:rPr>
              <a:t>Value Realisation</a:t>
            </a:r>
          </a:p>
        </p:txBody>
      </p:sp>
      <p:pic>
        <p:nvPicPr>
          <p:cNvPr id="83" name="Picture 82" descr="lock.png"/>
          <p:cNvPicPr>
            <a:picLocks noChangeAspect="1"/>
          </p:cNvPicPr>
          <p:nvPr/>
        </p:nvPicPr>
        <p:blipFill>
          <a:blip r:embed="rId4"/>
          <a:stretch>
            <a:fillRect/>
          </a:stretch>
        </p:blipFill>
        <p:spPr>
          <a:xfrm>
            <a:off x="4538330" y="6296863"/>
            <a:ext cx="118403" cy="172222"/>
          </a:xfrm>
          <a:prstGeom prst="rect">
            <a:avLst/>
          </a:prstGeom>
        </p:spPr>
      </p:pic>
      <p:sp>
        <p:nvSpPr>
          <p:cNvPr id="84" name="TextBox 83"/>
          <p:cNvSpPr txBox="1"/>
          <p:nvPr/>
        </p:nvSpPr>
        <p:spPr>
          <a:xfrm>
            <a:off x="5000625" y="1496754"/>
            <a:ext cx="3210445" cy="186689"/>
          </a:xfrm>
          <a:prstGeom prst="rect">
            <a:avLst/>
          </a:prstGeom>
          <a:noFill/>
        </p:spPr>
        <p:txBody>
          <a:bodyPr wrap="none" lIns="0" rIns="0" tIns="0" bIns="0">
            <a:spAutoFit/>
          </a:bodyPr>
          <a:lstStyle/>
          <a:p>
            <a:r>
              <a:rPr sz="1100" b="0">
                <a:solidFill>
                  <a:srgbClr val="2E2E2E"/>
                </a:solidFill>
                <a:latin typeface="Calibri"/>
              </a:rPr>
              <a:t>▪ Supply-side conditions are led by Geographic Spread (</a:t>
            </a:r>
          </a:p>
        </p:txBody>
      </p:sp>
      <p:pic>
        <p:nvPicPr>
          <p:cNvPr id="85" name="Picture 84" descr="lock.png"/>
          <p:cNvPicPr>
            <a:picLocks noChangeAspect="1"/>
          </p:cNvPicPr>
          <p:nvPr/>
        </p:nvPicPr>
        <p:blipFill>
          <a:blip r:embed="rId4"/>
          <a:stretch>
            <a:fillRect/>
          </a:stretch>
        </p:blipFill>
        <p:spPr>
          <a:xfrm>
            <a:off x="8159122" y="1486975"/>
            <a:ext cx="128699" cy="187198"/>
          </a:xfrm>
          <a:prstGeom prst="rect">
            <a:avLst/>
          </a:prstGeom>
        </p:spPr>
      </p:pic>
      <p:sp>
        <p:nvSpPr>
          <p:cNvPr id="86" name="TextBox 85"/>
          <p:cNvSpPr txBox="1"/>
          <p:nvPr/>
        </p:nvSpPr>
        <p:spPr>
          <a:xfrm>
            <a:off x="8326618" y="1496754"/>
            <a:ext cx="1437729" cy="186689"/>
          </a:xfrm>
          <a:prstGeom prst="rect">
            <a:avLst/>
          </a:prstGeom>
          <a:noFill/>
        </p:spPr>
        <p:txBody>
          <a:bodyPr wrap="none" lIns="0" rIns="0" tIns="0" bIns="0">
            <a:spAutoFit/>
          </a:bodyPr>
          <a:lstStyle/>
          <a:p>
            <a:r>
              <a:rPr sz="1100" b="0">
                <a:solidFill>
                  <a:srgbClr val="2E2E2E"/>
                </a:solidFill>
                <a:latin typeface="Calibri"/>
              </a:rPr>
              <a:t>/10), Portfolio Breadth (</a:t>
            </a:r>
          </a:p>
        </p:txBody>
      </p:sp>
      <p:pic>
        <p:nvPicPr>
          <p:cNvPr id="87" name="Picture 86" descr="lock.png"/>
          <p:cNvPicPr>
            <a:picLocks noChangeAspect="1"/>
          </p:cNvPicPr>
          <p:nvPr/>
        </p:nvPicPr>
        <p:blipFill>
          <a:blip r:embed="rId4"/>
          <a:stretch>
            <a:fillRect/>
          </a:stretch>
        </p:blipFill>
        <p:spPr>
          <a:xfrm>
            <a:off x="9712399" y="1486975"/>
            <a:ext cx="128699" cy="187198"/>
          </a:xfrm>
          <a:prstGeom prst="rect">
            <a:avLst/>
          </a:prstGeom>
        </p:spPr>
      </p:pic>
      <p:sp>
        <p:nvSpPr>
          <p:cNvPr id="88" name="TextBox 87"/>
          <p:cNvSpPr txBox="1"/>
          <p:nvPr/>
        </p:nvSpPr>
        <p:spPr>
          <a:xfrm>
            <a:off x="9879895" y="1496754"/>
            <a:ext cx="1561876" cy="186689"/>
          </a:xfrm>
          <a:prstGeom prst="rect">
            <a:avLst/>
          </a:prstGeom>
          <a:noFill/>
        </p:spPr>
        <p:txBody>
          <a:bodyPr wrap="none" lIns="0" rIns="0" tIns="0" bIns="0">
            <a:spAutoFit/>
          </a:bodyPr>
          <a:lstStyle/>
          <a:p>
            <a:r>
              <a:rPr sz="1100" b="0">
                <a:solidFill>
                  <a:srgbClr val="2E2E2E"/>
                </a:solidFill>
                <a:latin typeface="Calibri"/>
              </a:rPr>
              <a:t>/10), Input Cost Pressure (</a:t>
            </a:r>
          </a:p>
        </p:txBody>
      </p:sp>
      <p:pic>
        <p:nvPicPr>
          <p:cNvPr id="89" name="Picture 88" descr="lock.png"/>
          <p:cNvPicPr>
            <a:picLocks noChangeAspect="1"/>
          </p:cNvPicPr>
          <p:nvPr/>
        </p:nvPicPr>
        <p:blipFill>
          <a:blip r:embed="rId4"/>
          <a:stretch>
            <a:fillRect/>
          </a:stretch>
        </p:blipFill>
        <p:spPr>
          <a:xfrm>
            <a:off x="11389823" y="1486975"/>
            <a:ext cx="128699" cy="187198"/>
          </a:xfrm>
          <a:prstGeom prst="rect">
            <a:avLst/>
          </a:prstGeom>
        </p:spPr>
      </p:pic>
      <p:sp>
        <p:nvSpPr>
          <p:cNvPr id="90" name="TextBox 89"/>
          <p:cNvSpPr txBox="1"/>
          <p:nvPr/>
        </p:nvSpPr>
        <p:spPr>
          <a:xfrm>
            <a:off x="11557319" y="1496754"/>
            <a:ext cx="314399" cy="186689"/>
          </a:xfrm>
          <a:prstGeom prst="rect">
            <a:avLst/>
          </a:prstGeom>
          <a:noFill/>
        </p:spPr>
        <p:txBody>
          <a:bodyPr wrap="none" lIns="0" rIns="0" tIns="0" bIns="0">
            <a:spAutoFit/>
          </a:bodyPr>
          <a:lstStyle/>
          <a:p>
            <a:r>
              <a:rPr sz="1100" b="0">
                <a:solidFill>
                  <a:srgbClr val="2E2E2E"/>
                </a:solidFill>
                <a:latin typeface="Calibri"/>
              </a:rPr>
              <a:t>/10)</a:t>
            </a:r>
          </a:p>
        </p:txBody>
      </p:sp>
      <p:sp>
        <p:nvSpPr>
          <p:cNvPr id="91" name="TextBox 90"/>
          <p:cNvSpPr txBox="1"/>
          <p:nvPr/>
        </p:nvSpPr>
        <p:spPr>
          <a:xfrm>
            <a:off x="5000625" y="1664394"/>
            <a:ext cx="3041277" cy="186689"/>
          </a:xfrm>
          <a:prstGeom prst="rect">
            <a:avLst/>
          </a:prstGeom>
          <a:noFill/>
        </p:spPr>
        <p:txBody>
          <a:bodyPr wrap="none" lIns="0" rIns="0" tIns="0" bIns="0">
            <a:spAutoFit/>
          </a:bodyPr>
          <a:lstStyle/>
          <a:p>
            <a:r>
              <a:rPr sz="1100" b="0">
                <a:solidFill>
                  <a:srgbClr val="2E2E2E"/>
                </a:solidFill>
                <a:latin typeface="Calibri"/>
              </a:rPr>
              <a:t>on a 0-10 scale scored from the global dataset itself.</a:t>
            </a:r>
          </a:p>
        </p:txBody>
      </p:sp>
      <p:sp>
        <p:nvSpPr>
          <p:cNvPr id="92" name="TextBox 91"/>
          <p:cNvSpPr txBox="1"/>
          <p:nvPr/>
        </p:nvSpPr>
        <p:spPr>
          <a:xfrm>
            <a:off x="5000625" y="1953097"/>
            <a:ext cx="1245914" cy="186689"/>
          </a:xfrm>
          <a:prstGeom prst="rect">
            <a:avLst/>
          </a:prstGeom>
          <a:noFill/>
        </p:spPr>
        <p:txBody>
          <a:bodyPr wrap="none" lIns="0" rIns="0" tIns="0" bIns="0">
            <a:spAutoFit/>
          </a:bodyPr>
          <a:lstStyle/>
          <a:p>
            <a:r>
              <a:rPr sz="1100" b="0">
                <a:solidFill>
                  <a:srgbClr val="2E2E2E"/>
                </a:solidFill>
                <a:latin typeface="Calibri"/>
              </a:rPr>
              <a:t>▪ Volume expands at</a:t>
            </a:r>
          </a:p>
        </p:txBody>
      </p:sp>
      <p:pic>
        <p:nvPicPr>
          <p:cNvPr id="93" name="Picture 92" descr="lock.png"/>
          <p:cNvPicPr>
            <a:picLocks noChangeAspect="1"/>
          </p:cNvPicPr>
          <p:nvPr/>
        </p:nvPicPr>
        <p:blipFill>
          <a:blip r:embed="rId4"/>
          <a:stretch>
            <a:fillRect/>
          </a:stretch>
        </p:blipFill>
        <p:spPr>
          <a:xfrm>
            <a:off x="6194591" y="1943318"/>
            <a:ext cx="128699" cy="187198"/>
          </a:xfrm>
          <a:prstGeom prst="rect">
            <a:avLst/>
          </a:prstGeom>
        </p:spPr>
      </p:pic>
      <p:sp>
        <p:nvSpPr>
          <p:cNvPr id="94" name="TextBox 93"/>
          <p:cNvSpPr txBox="1"/>
          <p:nvPr/>
        </p:nvSpPr>
        <p:spPr>
          <a:xfrm>
            <a:off x="6362087" y="1953097"/>
            <a:ext cx="3002788" cy="186689"/>
          </a:xfrm>
          <a:prstGeom prst="rect">
            <a:avLst/>
          </a:prstGeom>
          <a:noFill/>
        </p:spPr>
        <p:txBody>
          <a:bodyPr wrap="none" lIns="0" rIns="0" tIns="0" bIns="0">
            <a:spAutoFit/>
          </a:bodyPr>
          <a:lstStyle/>
          <a:p>
            <a:r>
              <a:rPr sz="1100" b="0">
                <a:solidFill>
                  <a:srgbClr val="2E2E2E"/>
                </a:solidFill>
                <a:latin typeface="Calibri"/>
              </a:rPr>
              <a:t>CAGR (2026–2036) while average realisation moves</a:t>
            </a:r>
          </a:p>
        </p:txBody>
      </p:sp>
      <p:pic>
        <p:nvPicPr>
          <p:cNvPr id="95" name="Picture 94" descr="lock.png"/>
          <p:cNvPicPr>
            <a:picLocks noChangeAspect="1"/>
          </p:cNvPicPr>
          <p:nvPr/>
        </p:nvPicPr>
        <p:blipFill>
          <a:blip r:embed="rId4"/>
          <a:stretch>
            <a:fillRect/>
          </a:stretch>
        </p:blipFill>
        <p:spPr>
          <a:xfrm>
            <a:off x="9312927" y="1943318"/>
            <a:ext cx="128699" cy="187198"/>
          </a:xfrm>
          <a:prstGeom prst="rect">
            <a:avLst/>
          </a:prstGeom>
        </p:spPr>
      </p:pic>
      <p:sp>
        <p:nvSpPr>
          <p:cNvPr id="96" name="TextBox 95"/>
          <p:cNvSpPr txBox="1"/>
          <p:nvPr/>
        </p:nvSpPr>
        <p:spPr>
          <a:xfrm>
            <a:off x="9480423" y="1953097"/>
            <a:ext cx="2346597" cy="186689"/>
          </a:xfrm>
          <a:prstGeom prst="rect">
            <a:avLst/>
          </a:prstGeom>
          <a:noFill/>
        </p:spPr>
        <p:txBody>
          <a:bodyPr wrap="none" lIns="0" rIns="0" tIns="0" bIns="0">
            <a:spAutoFit/>
          </a:bodyPr>
          <a:lstStyle/>
          <a:p>
            <a:r>
              <a:rPr sz="1100" b="0">
                <a:solidFill>
                  <a:srgbClr val="2E2E2E"/>
                </a:solidFill>
                <a:latin typeface="Calibri"/>
              </a:rPr>
              <a:t>a year the balance of those two sets the</a:t>
            </a:r>
          </a:p>
        </p:txBody>
      </p:sp>
      <p:sp>
        <p:nvSpPr>
          <p:cNvPr id="97" name="TextBox 96"/>
          <p:cNvSpPr txBox="1"/>
          <p:nvPr/>
        </p:nvSpPr>
        <p:spPr>
          <a:xfrm>
            <a:off x="5000625" y="2120737"/>
            <a:ext cx="1571426" cy="186689"/>
          </a:xfrm>
          <a:prstGeom prst="rect">
            <a:avLst/>
          </a:prstGeom>
          <a:noFill/>
        </p:spPr>
        <p:txBody>
          <a:bodyPr wrap="none" lIns="0" rIns="0" tIns="0" bIns="0">
            <a:spAutoFit/>
          </a:bodyPr>
          <a:lstStyle/>
          <a:p>
            <a:r>
              <a:rPr sz="1100" b="0">
                <a:solidFill>
                  <a:srgbClr val="2E2E2E"/>
                </a:solidFill>
                <a:latin typeface="Calibri"/>
              </a:rPr>
              <a:t>cost-pass-through picture.</a:t>
            </a:r>
          </a:p>
        </p:txBody>
      </p:sp>
      <p:sp>
        <p:nvSpPr>
          <p:cNvPr id="98" name="TextBox 97"/>
          <p:cNvSpPr txBox="1"/>
          <p:nvPr/>
        </p:nvSpPr>
        <p:spPr>
          <a:xfrm>
            <a:off x="5000625" y="2401990"/>
            <a:ext cx="2540049" cy="186689"/>
          </a:xfrm>
          <a:prstGeom prst="rect">
            <a:avLst/>
          </a:prstGeom>
          <a:noFill/>
        </p:spPr>
        <p:txBody>
          <a:bodyPr wrap="none" lIns="0" rIns="0" tIns="0" bIns="0">
            <a:spAutoFit/>
          </a:bodyPr>
          <a:lstStyle/>
          <a:p>
            <a:r>
              <a:rPr sz="1100" b="0">
                <a:solidFill>
                  <a:srgbClr val="2E2E2E"/>
                </a:solidFill>
                <a:latin typeface="Calibri"/>
              </a:rPr>
              <a:t>▪ Supply is dispersed: 'North America' holds</a:t>
            </a:r>
          </a:p>
        </p:txBody>
      </p:sp>
      <p:pic>
        <p:nvPicPr>
          <p:cNvPr id="99" name="Picture 98" descr="lock.png"/>
          <p:cNvPicPr>
            <a:picLocks noChangeAspect="1"/>
          </p:cNvPicPr>
          <p:nvPr/>
        </p:nvPicPr>
        <p:blipFill>
          <a:blip r:embed="rId4"/>
          <a:stretch>
            <a:fillRect/>
          </a:stretch>
        </p:blipFill>
        <p:spPr>
          <a:xfrm>
            <a:off x="7488726" y="2392211"/>
            <a:ext cx="128699" cy="187198"/>
          </a:xfrm>
          <a:prstGeom prst="rect">
            <a:avLst/>
          </a:prstGeom>
        </p:spPr>
      </p:pic>
      <p:sp>
        <p:nvSpPr>
          <p:cNvPr id="100" name="TextBox 99"/>
          <p:cNvSpPr txBox="1"/>
          <p:nvPr/>
        </p:nvSpPr>
        <p:spPr>
          <a:xfrm>
            <a:off x="7656222" y="2401990"/>
            <a:ext cx="1821358" cy="186689"/>
          </a:xfrm>
          <a:prstGeom prst="rect">
            <a:avLst/>
          </a:prstGeom>
          <a:noFill/>
        </p:spPr>
        <p:txBody>
          <a:bodyPr wrap="none" lIns="0" rIns="0" tIns="0" bIns="0">
            <a:spAutoFit/>
          </a:bodyPr>
          <a:lstStyle/>
          <a:p>
            <a:r>
              <a:rPr sz="1100" b="0">
                <a:solidFill>
                  <a:srgbClr val="2E2E2E"/>
                </a:solidFill>
                <a:latin typeface="Calibri"/>
              </a:rPr>
              <a:t>of 2036 value across 6 regions.</a:t>
            </a:r>
          </a:p>
        </p:txBody>
      </p:sp>
      <p:sp>
        <p:nvSpPr>
          <p:cNvPr id="101" name="TextBox 100"/>
          <p:cNvSpPr txBox="1"/>
          <p:nvPr/>
        </p:nvSpPr>
        <p:spPr>
          <a:xfrm>
            <a:off x="5000625" y="3132138"/>
            <a:ext cx="2931591" cy="186689"/>
          </a:xfrm>
          <a:prstGeom prst="rect">
            <a:avLst/>
          </a:prstGeom>
          <a:noFill/>
        </p:spPr>
        <p:txBody>
          <a:bodyPr wrap="none" lIns="0" rIns="0" tIns="0" bIns="0">
            <a:spAutoFit/>
          </a:bodyPr>
          <a:lstStyle/>
          <a:p>
            <a:r>
              <a:rPr sz="1100" b="0">
                <a:solidFill>
                  <a:srgbClr val="2E2E2E"/>
                </a:solidFill>
                <a:latin typeface="Calibri"/>
              </a:rPr>
              <a:t>▪ Capacity added between 2026 and 2036 is worth</a:t>
            </a:r>
          </a:p>
        </p:txBody>
      </p:sp>
      <p:pic>
        <p:nvPicPr>
          <p:cNvPr id="102" name="Picture 101" descr="lock.png"/>
          <p:cNvPicPr>
            <a:picLocks noChangeAspect="1"/>
          </p:cNvPicPr>
          <p:nvPr/>
        </p:nvPicPr>
        <p:blipFill>
          <a:blip r:embed="rId4"/>
          <a:stretch>
            <a:fillRect/>
          </a:stretch>
        </p:blipFill>
        <p:spPr>
          <a:xfrm>
            <a:off x="7880268" y="3122359"/>
            <a:ext cx="128699" cy="187198"/>
          </a:xfrm>
          <a:prstGeom prst="rect">
            <a:avLst/>
          </a:prstGeom>
        </p:spPr>
      </p:pic>
      <p:sp>
        <p:nvSpPr>
          <p:cNvPr id="103" name="TextBox 102"/>
          <p:cNvSpPr txBox="1"/>
          <p:nvPr/>
        </p:nvSpPr>
        <p:spPr>
          <a:xfrm>
            <a:off x="8047764" y="3132138"/>
            <a:ext cx="659010" cy="186689"/>
          </a:xfrm>
          <a:prstGeom prst="rect">
            <a:avLst/>
          </a:prstGeom>
          <a:noFill/>
        </p:spPr>
        <p:txBody>
          <a:bodyPr wrap="none" lIns="0" rIns="0" tIns="0" bIns="0">
            <a:spAutoFit/>
          </a:bodyPr>
          <a:lstStyle/>
          <a:p>
            <a:r>
              <a:rPr sz="1100" b="0">
                <a:solidFill>
                  <a:srgbClr val="2E2E2E"/>
                </a:solidFill>
                <a:latin typeface="Calibri"/>
              </a:rPr>
              <a:t>US$ Mn, a</a:t>
            </a:r>
          </a:p>
        </p:txBody>
      </p:sp>
      <p:pic>
        <p:nvPicPr>
          <p:cNvPr id="104" name="Picture 103" descr="lock.png"/>
          <p:cNvPicPr>
            <a:picLocks noChangeAspect="1"/>
          </p:cNvPicPr>
          <p:nvPr/>
        </p:nvPicPr>
        <p:blipFill>
          <a:blip r:embed="rId4"/>
          <a:stretch>
            <a:fillRect/>
          </a:stretch>
        </p:blipFill>
        <p:spPr>
          <a:xfrm>
            <a:off x="8654826" y="3122359"/>
            <a:ext cx="128699" cy="187198"/>
          </a:xfrm>
          <a:prstGeom prst="rect">
            <a:avLst/>
          </a:prstGeom>
        </p:spPr>
      </p:pic>
      <p:sp>
        <p:nvSpPr>
          <p:cNvPr id="105" name="TextBox 104"/>
          <p:cNvSpPr txBox="1"/>
          <p:nvPr/>
        </p:nvSpPr>
        <p:spPr>
          <a:xfrm>
            <a:off x="8822322" y="3132138"/>
            <a:ext cx="1801986" cy="186689"/>
          </a:xfrm>
          <a:prstGeom prst="rect">
            <a:avLst/>
          </a:prstGeom>
          <a:noFill/>
        </p:spPr>
        <p:txBody>
          <a:bodyPr wrap="none" lIns="0" rIns="0" tIns="0" bIns="0">
            <a:spAutoFit/>
          </a:bodyPr>
          <a:lstStyle/>
          <a:p>
            <a:r>
              <a:rPr sz="1100" b="0">
                <a:solidFill>
                  <a:srgbClr val="2E2E2E"/>
                </a:solidFill>
                <a:latin typeface="Calibri"/>
              </a:rPr>
              <a:t>× expansion on the 2026 base.</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595333"/>
            <a:ext cx="1352550" cy="2920592"/>
          </a:xfrm>
          <a:custGeom>
            <a:avLst/>
            <a:gdLst/>
            <a:ahLst/>
            <a:cxnLst/>
            <a:rect l="l" t="t" r="r" b="b"/>
            <a:pathLst>
              <a:path w="142" h="320">
                <a:moveTo>
                  <a:pt x="0" y="32"/>
                </a:moveTo>
                <a:lnTo>
                  <a:pt x="68" y="0"/>
                </a:lnTo>
                <a:lnTo>
                  <a:pt x="73" y="84"/>
                </a:lnTo>
                <a:lnTo>
                  <a:pt x="97" y="120"/>
                </a:lnTo>
                <a:lnTo>
                  <a:pt x="142" y="174"/>
                </a:lnTo>
                <a:lnTo>
                  <a:pt x="95" y="218"/>
                </a:lnTo>
                <a:lnTo>
                  <a:pt x="46" y="238"/>
                </a:lnTo>
                <a:lnTo>
                  <a:pt x="0" y="320"/>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180975" y="215724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180975" y="261358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5" name="TextBox 64"/>
          <p:cNvSpPr txBox="1"/>
          <p:nvPr/>
        </p:nvSpPr>
        <p:spPr>
          <a:xfrm>
            <a:off x="180975" y="3069929"/>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180975" y="3526271"/>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7534275" y="1322601"/>
            <a:ext cx="943988" cy="173278"/>
          </a:xfrm>
          <a:prstGeom prst="rect">
            <a:avLst/>
          </a:prstGeom>
          <a:noFill/>
        </p:spPr>
        <p:txBody>
          <a:bodyPr wrap="none" lIns="0" rIns="0" tIns="0" bIns="0">
            <a:spAutoFit/>
          </a:bodyPr>
          <a:lstStyle/>
          <a:p>
            <a:r>
              <a:rPr sz="1011" b="0">
                <a:solidFill>
                  <a:srgbClr val="2E2E2E"/>
                </a:solidFill>
                <a:latin typeface="Calibri"/>
              </a:rPr>
              <a:t>Demand Growth</a:t>
            </a:r>
          </a:p>
        </p:txBody>
      </p:sp>
      <p:pic>
        <p:nvPicPr>
          <p:cNvPr id="69" name="Picture 68" descr="lock.png"/>
          <p:cNvPicPr>
            <a:picLocks noChangeAspect="1"/>
          </p:cNvPicPr>
          <p:nvPr/>
        </p:nvPicPr>
        <p:blipFill>
          <a:blip r:embed="rId4"/>
          <a:stretch>
            <a:fillRect/>
          </a:stretch>
        </p:blipFill>
        <p:spPr>
          <a:xfrm>
            <a:off x="8424374" y="1313604"/>
            <a:ext cx="118403" cy="172222"/>
          </a:xfrm>
          <a:prstGeom prst="rect">
            <a:avLst/>
          </a:prstGeom>
        </p:spPr>
      </p:pic>
      <p:sp>
        <p:nvSpPr>
          <p:cNvPr id="70" name="TextBox 69"/>
          <p:cNvSpPr txBox="1"/>
          <p:nvPr/>
        </p:nvSpPr>
        <p:spPr>
          <a:xfrm>
            <a:off x="8549119" y="1561215"/>
            <a:ext cx="903573" cy="173278"/>
          </a:xfrm>
          <a:prstGeom prst="rect">
            <a:avLst/>
          </a:prstGeom>
          <a:noFill/>
        </p:spPr>
        <p:txBody>
          <a:bodyPr wrap="none" lIns="0" rIns="0" tIns="0" bIns="0">
            <a:spAutoFit/>
          </a:bodyPr>
          <a:lstStyle/>
          <a:p>
            <a:r>
              <a:rPr sz="1011" b="0">
                <a:solidFill>
                  <a:srgbClr val="2E2E2E"/>
                </a:solidFill>
                <a:latin typeface="Calibri"/>
              </a:rPr>
              <a:t>Premiumisation</a:t>
            </a:r>
          </a:p>
        </p:txBody>
      </p:sp>
      <p:pic>
        <p:nvPicPr>
          <p:cNvPr id="71" name="Picture 70" descr="lock.png"/>
          <p:cNvPicPr>
            <a:picLocks noChangeAspect="1"/>
          </p:cNvPicPr>
          <p:nvPr/>
        </p:nvPicPr>
        <p:blipFill>
          <a:blip r:embed="rId4"/>
          <a:stretch>
            <a:fillRect/>
          </a:stretch>
        </p:blipFill>
        <p:spPr>
          <a:xfrm>
            <a:off x="9398803" y="1552218"/>
            <a:ext cx="118403" cy="172222"/>
          </a:xfrm>
          <a:prstGeom prst="rect">
            <a:avLst/>
          </a:prstGeom>
        </p:spPr>
      </p:pic>
      <p:sp>
        <p:nvSpPr>
          <p:cNvPr id="72" name="TextBox 71"/>
          <p:cNvSpPr txBox="1"/>
          <p:nvPr/>
        </p:nvSpPr>
        <p:spPr>
          <a:xfrm>
            <a:off x="9424068" y="2311939"/>
            <a:ext cx="765761" cy="173278"/>
          </a:xfrm>
          <a:prstGeom prst="rect">
            <a:avLst/>
          </a:prstGeom>
          <a:noFill/>
        </p:spPr>
        <p:txBody>
          <a:bodyPr wrap="none" lIns="0" rIns="0" tIns="0" bIns="0">
            <a:spAutoFit/>
          </a:bodyPr>
          <a:lstStyle/>
          <a:p>
            <a:r>
              <a:rPr sz="1011" b="0">
                <a:solidFill>
                  <a:srgbClr val="2E2E2E"/>
                </a:solidFill>
                <a:latin typeface="Calibri"/>
              </a:rPr>
              <a:t>App. Breadth</a:t>
            </a:r>
          </a:p>
        </p:txBody>
      </p:sp>
      <p:pic>
        <p:nvPicPr>
          <p:cNvPr id="73" name="Picture 72" descr="lock.png"/>
          <p:cNvPicPr>
            <a:picLocks noChangeAspect="1"/>
          </p:cNvPicPr>
          <p:nvPr/>
        </p:nvPicPr>
        <p:blipFill>
          <a:blip r:embed="rId4"/>
          <a:stretch>
            <a:fillRect/>
          </a:stretch>
        </p:blipFill>
        <p:spPr>
          <a:xfrm>
            <a:off x="10135940" y="2302942"/>
            <a:ext cx="118403" cy="172222"/>
          </a:xfrm>
          <a:prstGeom prst="rect">
            <a:avLst/>
          </a:prstGeom>
        </p:spPr>
      </p:pic>
      <p:sp>
        <p:nvSpPr>
          <p:cNvPr id="74" name="TextBox 73"/>
          <p:cNvSpPr txBox="1"/>
          <p:nvPr/>
        </p:nvSpPr>
        <p:spPr>
          <a:xfrm>
            <a:off x="9909628" y="3278069"/>
            <a:ext cx="791114" cy="173278"/>
          </a:xfrm>
          <a:prstGeom prst="rect">
            <a:avLst/>
          </a:prstGeom>
          <a:noFill/>
        </p:spPr>
        <p:txBody>
          <a:bodyPr wrap="none" lIns="0" rIns="0" tIns="0" bIns="0">
            <a:spAutoFit/>
          </a:bodyPr>
          <a:lstStyle/>
          <a:p>
            <a:r>
              <a:rPr sz="1011" b="0">
                <a:solidFill>
                  <a:srgbClr val="2E2E2E"/>
                </a:solidFill>
                <a:latin typeface="Calibri"/>
              </a:rPr>
              <a:t>Emerging Pull</a:t>
            </a:r>
          </a:p>
        </p:txBody>
      </p:sp>
      <p:pic>
        <p:nvPicPr>
          <p:cNvPr id="75" name="Picture 74" descr="lock.png"/>
          <p:cNvPicPr>
            <a:picLocks noChangeAspect="1"/>
          </p:cNvPicPr>
          <p:nvPr/>
        </p:nvPicPr>
        <p:blipFill>
          <a:blip r:embed="rId4"/>
          <a:stretch>
            <a:fillRect/>
          </a:stretch>
        </p:blipFill>
        <p:spPr>
          <a:xfrm>
            <a:off x="10646855" y="3269072"/>
            <a:ext cx="118403" cy="172222"/>
          </a:xfrm>
          <a:prstGeom prst="rect">
            <a:avLst/>
          </a:prstGeom>
        </p:spPr>
      </p:pic>
      <p:sp>
        <p:nvSpPr>
          <p:cNvPr id="76" name="TextBox 75"/>
          <p:cNvSpPr txBox="1"/>
          <p:nvPr/>
        </p:nvSpPr>
        <p:spPr>
          <a:xfrm>
            <a:off x="9909628" y="4350392"/>
            <a:ext cx="1135267" cy="173278"/>
          </a:xfrm>
          <a:prstGeom prst="rect">
            <a:avLst/>
          </a:prstGeom>
          <a:noFill/>
        </p:spPr>
        <p:txBody>
          <a:bodyPr wrap="none" lIns="0" rIns="0" tIns="0" bIns="0">
            <a:spAutoFit/>
          </a:bodyPr>
          <a:lstStyle/>
          <a:p>
            <a:r>
              <a:rPr sz="1011" b="0">
                <a:solidFill>
                  <a:srgbClr val="2E2E2E"/>
                </a:solidFill>
                <a:latin typeface="Calibri"/>
              </a:rPr>
              <a:t>Volume Momentum</a:t>
            </a:r>
          </a:p>
        </p:txBody>
      </p:sp>
      <p:pic>
        <p:nvPicPr>
          <p:cNvPr id="77" name="Picture 76" descr="lock.png"/>
          <p:cNvPicPr>
            <a:picLocks noChangeAspect="1"/>
          </p:cNvPicPr>
          <p:nvPr/>
        </p:nvPicPr>
        <p:blipFill>
          <a:blip r:embed="rId4"/>
          <a:stretch>
            <a:fillRect/>
          </a:stretch>
        </p:blipFill>
        <p:spPr>
          <a:xfrm>
            <a:off x="10991008" y="4341395"/>
            <a:ext cx="118403" cy="172222"/>
          </a:xfrm>
          <a:prstGeom prst="rect">
            <a:avLst/>
          </a:prstGeom>
        </p:spPr>
      </p:pic>
      <p:sp>
        <p:nvSpPr>
          <p:cNvPr id="78" name="TextBox 77"/>
          <p:cNvSpPr txBox="1"/>
          <p:nvPr/>
        </p:nvSpPr>
        <p:spPr>
          <a:xfrm>
            <a:off x="9424068" y="5316521"/>
            <a:ext cx="1032097" cy="173278"/>
          </a:xfrm>
          <a:prstGeom prst="rect">
            <a:avLst/>
          </a:prstGeom>
          <a:noFill/>
        </p:spPr>
        <p:txBody>
          <a:bodyPr wrap="none" lIns="0" rIns="0" tIns="0" bIns="0">
            <a:spAutoFit/>
          </a:bodyPr>
          <a:lstStyle/>
          <a:p>
            <a:r>
              <a:rPr sz="1011" b="0">
                <a:solidFill>
                  <a:srgbClr val="2E2E2E"/>
                </a:solidFill>
                <a:latin typeface="Calibri"/>
              </a:rPr>
              <a:t>Category Maturity</a:t>
            </a:r>
          </a:p>
        </p:txBody>
      </p:sp>
      <p:pic>
        <p:nvPicPr>
          <p:cNvPr id="79" name="Picture 78" descr="lock.png"/>
          <p:cNvPicPr>
            <a:picLocks noChangeAspect="1"/>
          </p:cNvPicPr>
          <p:nvPr/>
        </p:nvPicPr>
        <p:blipFill>
          <a:blip r:embed="rId4"/>
          <a:stretch>
            <a:fillRect/>
          </a:stretch>
        </p:blipFill>
        <p:spPr>
          <a:xfrm>
            <a:off x="10402276" y="5307524"/>
            <a:ext cx="118403" cy="172222"/>
          </a:xfrm>
          <a:prstGeom prst="rect">
            <a:avLst/>
          </a:prstGeom>
        </p:spPr>
      </p:pic>
      <p:sp>
        <p:nvSpPr>
          <p:cNvPr id="80" name="TextBox 79"/>
          <p:cNvSpPr txBox="1"/>
          <p:nvPr/>
        </p:nvSpPr>
        <p:spPr>
          <a:xfrm>
            <a:off x="8549119" y="6067245"/>
            <a:ext cx="911857" cy="173278"/>
          </a:xfrm>
          <a:prstGeom prst="rect">
            <a:avLst/>
          </a:prstGeom>
          <a:noFill/>
        </p:spPr>
        <p:txBody>
          <a:bodyPr wrap="none" lIns="0" rIns="0" tIns="0" bIns="0">
            <a:spAutoFit/>
          </a:bodyPr>
          <a:lstStyle/>
          <a:p>
            <a:r>
              <a:rPr sz="1011" b="0">
                <a:solidFill>
                  <a:srgbClr val="2E2E2E"/>
                </a:solidFill>
                <a:latin typeface="Calibri"/>
              </a:rPr>
              <a:t>Adoption Depth</a:t>
            </a:r>
          </a:p>
        </p:txBody>
      </p:sp>
      <p:pic>
        <p:nvPicPr>
          <p:cNvPr id="81" name="Picture 80" descr="lock.png"/>
          <p:cNvPicPr>
            <a:picLocks noChangeAspect="1"/>
          </p:cNvPicPr>
          <p:nvPr/>
        </p:nvPicPr>
        <p:blipFill>
          <a:blip r:embed="rId4"/>
          <a:stretch>
            <a:fillRect/>
          </a:stretch>
        </p:blipFill>
        <p:spPr>
          <a:xfrm>
            <a:off x="9407087" y="6058248"/>
            <a:ext cx="118403" cy="172222"/>
          </a:xfrm>
          <a:prstGeom prst="rect">
            <a:avLst/>
          </a:prstGeom>
        </p:spPr>
      </p:pic>
      <p:sp>
        <p:nvSpPr>
          <p:cNvPr id="82" name="TextBox 81"/>
          <p:cNvSpPr txBox="1"/>
          <p:nvPr/>
        </p:nvSpPr>
        <p:spPr>
          <a:xfrm>
            <a:off x="7534275" y="6305860"/>
            <a:ext cx="955786" cy="173278"/>
          </a:xfrm>
          <a:prstGeom prst="rect">
            <a:avLst/>
          </a:prstGeom>
          <a:noFill/>
        </p:spPr>
        <p:txBody>
          <a:bodyPr wrap="none" lIns="0" rIns="0" tIns="0" bIns="0">
            <a:spAutoFit/>
          </a:bodyPr>
          <a:lstStyle/>
          <a:p>
            <a:r>
              <a:rPr sz="1011" b="0">
                <a:solidFill>
                  <a:srgbClr val="2E2E2E"/>
                </a:solidFill>
                <a:latin typeface="Calibri"/>
              </a:rPr>
              <a:t>Consumer Reach</a:t>
            </a:r>
          </a:p>
        </p:txBody>
      </p:sp>
      <p:pic>
        <p:nvPicPr>
          <p:cNvPr id="83" name="Picture 82" descr="lock.png"/>
          <p:cNvPicPr>
            <a:picLocks noChangeAspect="1"/>
          </p:cNvPicPr>
          <p:nvPr/>
        </p:nvPicPr>
        <p:blipFill>
          <a:blip r:embed="rId4"/>
          <a:stretch>
            <a:fillRect/>
          </a:stretch>
        </p:blipFill>
        <p:spPr>
          <a:xfrm>
            <a:off x="8436172" y="6296863"/>
            <a:ext cx="118403" cy="172222"/>
          </a:xfrm>
          <a:prstGeom prst="rect">
            <a:avLst/>
          </a:prstGeom>
        </p:spPr>
      </p:pic>
      <p:sp>
        <p:nvSpPr>
          <p:cNvPr id="84" name="TextBox 83"/>
          <p:cNvSpPr txBox="1"/>
          <p:nvPr/>
        </p:nvSpPr>
        <p:spPr>
          <a:xfrm>
            <a:off x="209550" y="1496754"/>
            <a:ext cx="3188617" cy="186689"/>
          </a:xfrm>
          <a:prstGeom prst="rect">
            <a:avLst/>
          </a:prstGeom>
          <a:noFill/>
        </p:spPr>
        <p:txBody>
          <a:bodyPr wrap="none" lIns="0" rIns="0" tIns="0" bIns="0">
            <a:spAutoFit/>
          </a:bodyPr>
          <a:lstStyle/>
          <a:p>
            <a:r>
              <a:rPr sz="1100" b="0">
                <a:solidFill>
                  <a:srgbClr val="2E2E2E"/>
                </a:solidFill>
                <a:latin typeface="Calibri"/>
              </a:rPr>
              <a:t>▪ Demand-side conditions are led by Consumer Reach (</a:t>
            </a:r>
          </a:p>
        </p:txBody>
      </p:sp>
      <p:pic>
        <p:nvPicPr>
          <p:cNvPr id="85" name="Picture 84" descr="lock.png"/>
          <p:cNvPicPr>
            <a:picLocks noChangeAspect="1"/>
          </p:cNvPicPr>
          <p:nvPr/>
        </p:nvPicPr>
        <p:blipFill>
          <a:blip r:embed="rId4"/>
          <a:stretch>
            <a:fillRect/>
          </a:stretch>
        </p:blipFill>
        <p:spPr>
          <a:xfrm>
            <a:off x="3346219" y="1486975"/>
            <a:ext cx="128699" cy="187198"/>
          </a:xfrm>
          <a:prstGeom prst="rect">
            <a:avLst/>
          </a:prstGeom>
        </p:spPr>
      </p:pic>
      <p:sp>
        <p:nvSpPr>
          <p:cNvPr id="86" name="TextBox 85"/>
          <p:cNvSpPr txBox="1"/>
          <p:nvPr/>
        </p:nvSpPr>
        <p:spPr>
          <a:xfrm>
            <a:off x="3513715" y="1496754"/>
            <a:ext cx="1354236" cy="186689"/>
          </a:xfrm>
          <a:prstGeom prst="rect">
            <a:avLst/>
          </a:prstGeom>
          <a:noFill/>
        </p:spPr>
        <p:txBody>
          <a:bodyPr wrap="none" lIns="0" rIns="0" tIns="0" bIns="0">
            <a:spAutoFit/>
          </a:bodyPr>
          <a:lstStyle/>
          <a:p>
            <a:r>
              <a:rPr sz="1100" b="0">
                <a:solidFill>
                  <a:srgbClr val="2E2E2E"/>
                </a:solidFill>
                <a:latin typeface="Calibri"/>
              </a:rPr>
              <a:t>/10), Premiumisation (</a:t>
            </a:r>
          </a:p>
        </p:txBody>
      </p:sp>
      <p:pic>
        <p:nvPicPr>
          <p:cNvPr id="87" name="Picture 86" descr="lock.png"/>
          <p:cNvPicPr>
            <a:picLocks noChangeAspect="1"/>
          </p:cNvPicPr>
          <p:nvPr/>
        </p:nvPicPr>
        <p:blipFill>
          <a:blip r:embed="rId4"/>
          <a:stretch>
            <a:fillRect/>
          </a:stretch>
        </p:blipFill>
        <p:spPr>
          <a:xfrm>
            <a:off x="4816003" y="1486975"/>
            <a:ext cx="128699" cy="187198"/>
          </a:xfrm>
          <a:prstGeom prst="rect">
            <a:avLst/>
          </a:prstGeom>
        </p:spPr>
      </p:pic>
      <p:sp>
        <p:nvSpPr>
          <p:cNvPr id="88" name="TextBox 87"/>
          <p:cNvSpPr txBox="1"/>
          <p:nvPr/>
        </p:nvSpPr>
        <p:spPr>
          <a:xfrm>
            <a:off x="4983499" y="1496754"/>
            <a:ext cx="1606078" cy="186689"/>
          </a:xfrm>
          <a:prstGeom prst="rect">
            <a:avLst/>
          </a:prstGeom>
          <a:noFill/>
        </p:spPr>
        <p:txBody>
          <a:bodyPr wrap="none" lIns="0" rIns="0" tIns="0" bIns="0">
            <a:spAutoFit/>
          </a:bodyPr>
          <a:lstStyle/>
          <a:p>
            <a:r>
              <a:rPr sz="1100" b="0">
                <a:solidFill>
                  <a:srgbClr val="2E2E2E"/>
                </a:solidFill>
                <a:latin typeface="Calibri"/>
              </a:rPr>
              <a:t>/10), Volume Momentum (</a:t>
            </a:r>
          </a:p>
        </p:txBody>
      </p:sp>
      <p:pic>
        <p:nvPicPr>
          <p:cNvPr id="89" name="Picture 88" descr="lock.png"/>
          <p:cNvPicPr>
            <a:picLocks noChangeAspect="1"/>
          </p:cNvPicPr>
          <p:nvPr/>
        </p:nvPicPr>
        <p:blipFill>
          <a:blip r:embed="rId4"/>
          <a:stretch>
            <a:fillRect/>
          </a:stretch>
        </p:blipFill>
        <p:spPr>
          <a:xfrm>
            <a:off x="6537629" y="1486975"/>
            <a:ext cx="128699" cy="187198"/>
          </a:xfrm>
          <a:prstGeom prst="rect">
            <a:avLst/>
          </a:prstGeom>
        </p:spPr>
      </p:pic>
      <p:sp>
        <p:nvSpPr>
          <p:cNvPr id="90" name="TextBox 89"/>
          <p:cNvSpPr txBox="1"/>
          <p:nvPr/>
        </p:nvSpPr>
        <p:spPr>
          <a:xfrm>
            <a:off x="6705125" y="1496754"/>
            <a:ext cx="314399" cy="186689"/>
          </a:xfrm>
          <a:prstGeom prst="rect">
            <a:avLst/>
          </a:prstGeom>
          <a:noFill/>
        </p:spPr>
        <p:txBody>
          <a:bodyPr wrap="none" lIns="0" rIns="0" tIns="0" bIns="0">
            <a:spAutoFit/>
          </a:bodyPr>
          <a:lstStyle/>
          <a:p>
            <a:r>
              <a:rPr sz="1100" b="0">
                <a:solidFill>
                  <a:srgbClr val="2E2E2E"/>
                </a:solidFill>
                <a:latin typeface="Calibri"/>
              </a:rPr>
              <a:t>/10)</a:t>
            </a:r>
          </a:p>
        </p:txBody>
      </p:sp>
      <p:sp>
        <p:nvSpPr>
          <p:cNvPr id="91" name="TextBox 90"/>
          <p:cNvSpPr txBox="1"/>
          <p:nvPr/>
        </p:nvSpPr>
        <p:spPr>
          <a:xfrm>
            <a:off x="209550" y="1664394"/>
            <a:ext cx="3041277" cy="186689"/>
          </a:xfrm>
          <a:prstGeom prst="rect">
            <a:avLst/>
          </a:prstGeom>
          <a:noFill/>
        </p:spPr>
        <p:txBody>
          <a:bodyPr wrap="none" lIns="0" rIns="0" tIns="0" bIns="0">
            <a:spAutoFit/>
          </a:bodyPr>
          <a:lstStyle/>
          <a:p>
            <a:r>
              <a:rPr sz="1100" b="0">
                <a:solidFill>
                  <a:srgbClr val="2E2E2E"/>
                </a:solidFill>
                <a:latin typeface="Calibri"/>
              </a:rPr>
              <a:t>on a 0-10 scale scored from the global dataset itself.</a:t>
            </a:r>
          </a:p>
        </p:txBody>
      </p:sp>
      <p:sp>
        <p:nvSpPr>
          <p:cNvPr id="92" name="TextBox 91"/>
          <p:cNvSpPr txBox="1"/>
          <p:nvPr/>
        </p:nvSpPr>
        <p:spPr>
          <a:xfrm>
            <a:off x="209550" y="1945648"/>
            <a:ext cx="998438" cy="186689"/>
          </a:xfrm>
          <a:prstGeom prst="rect">
            <a:avLst/>
          </a:prstGeom>
          <a:noFill/>
        </p:spPr>
        <p:txBody>
          <a:bodyPr wrap="none" lIns="0" rIns="0" tIns="0" bIns="0">
            <a:spAutoFit/>
          </a:bodyPr>
          <a:lstStyle/>
          <a:p>
            <a:r>
              <a:rPr sz="1100" b="0">
                <a:solidFill>
                  <a:srgbClr val="2E2E2E"/>
                </a:solidFill>
                <a:latin typeface="Calibri"/>
              </a:rPr>
              <a:t>▪ Value grows at</a:t>
            </a:r>
          </a:p>
        </p:txBody>
      </p:sp>
      <p:pic>
        <p:nvPicPr>
          <p:cNvPr id="93" name="Picture 92" descr="lock.png"/>
          <p:cNvPicPr>
            <a:picLocks noChangeAspect="1"/>
          </p:cNvPicPr>
          <p:nvPr/>
        </p:nvPicPr>
        <p:blipFill>
          <a:blip r:embed="rId4"/>
          <a:stretch>
            <a:fillRect/>
          </a:stretch>
        </p:blipFill>
        <p:spPr>
          <a:xfrm>
            <a:off x="1156039" y="1935869"/>
            <a:ext cx="128699" cy="187198"/>
          </a:xfrm>
          <a:prstGeom prst="rect">
            <a:avLst/>
          </a:prstGeom>
        </p:spPr>
      </p:pic>
      <p:sp>
        <p:nvSpPr>
          <p:cNvPr id="94" name="TextBox 93"/>
          <p:cNvSpPr txBox="1"/>
          <p:nvPr/>
        </p:nvSpPr>
        <p:spPr>
          <a:xfrm>
            <a:off x="1323535" y="1945648"/>
            <a:ext cx="1083295" cy="186689"/>
          </a:xfrm>
          <a:prstGeom prst="rect">
            <a:avLst/>
          </a:prstGeom>
          <a:noFill/>
        </p:spPr>
        <p:txBody>
          <a:bodyPr wrap="none" lIns="0" rIns="0" tIns="0" bIns="0">
            <a:spAutoFit/>
          </a:bodyPr>
          <a:lstStyle/>
          <a:p>
            <a:r>
              <a:rPr sz="1100" b="0">
                <a:solidFill>
                  <a:srgbClr val="2E2E2E"/>
                </a:solidFill>
                <a:latin typeface="Calibri"/>
              </a:rPr>
              <a:t>against volume at</a:t>
            </a:r>
          </a:p>
        </p:txBody>
      </p:sp>
      <p:pic>
        <p:nvPicPr>
          <p:cNvPr id="95" name="Picture 94" descr="lock.png"/>
          <p:cNvPicPr>
            <a:picLocks noChangeAspect="1"/>
          </p:cNvPicPr>
          <p:nvPr/>
        </p:nvPicPr>
        <p:blipFill>
          <a:blip r:embed="rId4"/>
          <a:stretch>
            <a:fillRect/>
          </a:stretch>
        </p:blipFill>
        <p:spPr>
          <a:xfrm>
            <a:off x="2354882" y="1935869"/>
            <a:ext cx="128699" cy="187198"/>
          </a:xfrm>
          <a:prstGeom prst="rect">
            <a:avLst/>
          </a:prstGeom>
        </p:spPr>
      </p:pic>
      <p:sp>
        <p:nvSpPr>
          <p:cNvPr id="96" name="TextBox 95"/>
          <p:cNvSpPr txBox="1"/>
          <p:nvPr/>
        </p:nvSpPr>
        <p:spPr>
          <a:xfrm>
            <a:off x="2522378" y="1945648"/>
            <a:ext cx="2230090" cy="186689"/>
          </a:xfrm>
          <a:prstGeom prst="rect">
            <a:avLst/>
          </a:prstGeom>
          <a:noFill/>
        </p:spPr>
        <p:txBody>
          <a:bodyPr wrap="none" lIns="0" rIns="0" tIns="0" bIns="0">
            <a:spAutoFit/>
          </a:bodyPr>
          <a:lstStyle/>
          <a:p>
            <a:r>
              <a:rPr sz="1100" b="0">
                <a:solidFill>
                  <a:srgbClr val="2E2E2E"/>
                </a:solidFill>
                <a:latin typeface="Calibri"/>
              </a:rPr>
              <a:t>a premiumising market through 2036.</a:t>
            </a:r>
          </a:p>
        </p:txBody>
      </p:sp>
      <p:sp>
        <p:nvSpPr>
          <p:cNvPr id="97" name="TextBox 96"/>
          <p:cNvSpPr txBox="1"/>
          <p:nvPr/>
        </p:nvSpPr>
        <p:spPr>
          <a:xfrm>
            <a:off x="209550" y="2226902"/>
            <a:ext cx="2016174" cy="186689"/>
          </a:xfrm>
          <a:prstGeom prst="rect">
            <a:avLst/>
          </a:prstGeom>
          <a:noFill/>
        </p:spPr>
        <p:txBody>
          <a:bodyPr wrap="none" lIns="0" rIns="0" tIns="0" bIns="0">
            <a:spAutoFit/>
          </a:bodyPr>
          <a:lstStyle/>
          <a:p>
            <a:r>
              <a:rPr sz="1100" b="0">
                <a:solidFill>
                  <a:srgbClr val="2E2E2E"/>
                </a:solidFill>
                <a:latin typeface="Calibri"/>
              </a:rPr>
              <a:t>▪ 'Flexible Partial Dentures' carries</a:t>
            </a:r>
          </a:p>
        </p:txBody>
      </p:sp>
      <p:pic>
        <p:nvPicPr>
          <p:cNvPr id="98" name="Picture 97" descr="lock.png"/>
          <p:cNvPicPr>
            <a:picLocks noChangeAspect="1"/>
          </p:cNvPicPr>
          <p:nvPr/>
        </p:nvPicPr>
        <p:blipFill>
          <a:blip r:embed="rId4"/>
          <a:stretch>
            <a:fillRect/>
          </a:stretch>
        </p:blipFill>
        <p:spPr>
          <a:xfrm>
            <a:off x="2173776" y="2217123"/>
            <a:ext cx="128699" cy="187198"/>
          </a:xfrm>
          <a:prstGeom prst="rect">
            <a:avLst/>
          </a:prstGeom>
        </p:spPr>
      </p:pic>
      <p:sp>
        <p:nvSpPr>
          <p:cNvPr id="99" name="TextBox 98"/>
          <p:cNvSpPr txBox="1"/>
          <p:nvPr/>
        </p:nvSpPr>
        <p:spPr>
          <a:xfrm>
            <a:off x="2341272" y="2226902"/>
            <a:ext cx="4708128" cy="186689"/>
          </a:xfrm>
          <a:prstGeom prst="rect">
            <a:avLst/>
          </a:prstGeom>
          <a:noFill/>
        </p:spPr>
        <p:txBody>
          <a:bodyPr wrap="none" lIns="0" rIns="0" tIns="0" bIns="0">
            <a:spAutoFit/>
          </a:bodyPr>
          <a:lstStyle/>
          <a:p>
            <a:r>
              <a:rPr sz="1100" b="0">
                <a:solidFill>
                  <a:srgbClr val="2E2E2E"/>
                </a:solidFill>
                <a:latin typeface="Calibri"/>
              </a:rPr>
              <a:t>of product type demand while 'Cast Metal Partial Dentures' compounds fastest at</a:t>
            </a:r>
          </a:p>
        </p:txBody>
      </p:sp>
      <p:pic>
        <p:nvPicPr>
          <p:cNvPr id="100" name="Picture 99" descr="lock.png"/>
          <p:cNvPicPr>
            <a:picLocks noChangeAspect="1"/>
          </p:cNvPicPr>
          <p:nvPr/>
        </p:nvPicPr>
        <p:blipFill>
          <a:blip r:embed="rId4"/>
          <a:stretch>
            <a:fillRect/>
          </a:stretch>
        </p:blipFill>
        <p:spPr>
          <a:xfrm>
            <a:off x="196082" y="2384763"/>
            <a:ext cx="128699" cy="187198"/>
          </a:xfrm>
          <a:prstGeom prst="rect">
            <a:avLst/>
          </a:prstGeom>
        </p:spPr>
      </p:pic>
      <p:sp>
        <p:nvSpPr>
          <p:cNvPr id="101" name="TextBox 100"/>
          <p:cNvSpPr txBox="1"/>
          <p:nvPr/>
        </p:nvSpPr>
        <p:spPr>
          <a:xfrm>
            <a:off x="363578" y="2394542"/>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102" name="TextBox 101"/>
          <p:cNvSpPr txBox="1"/>
          <p:nvPr/>
        </p:nvSpPr>
        <p:spPr>
          <a:xfrm>
            <a:off x="209550" y="2767064"/>
            <a:ext cx="2476748" cy="186689"/>
          </a:xfrm>
          <a:prstGeom prst="rect">
            <a:avLst/>
          </a:prstGeom>
          <a:noFill/>
        </p:spPr>
        <p:txBody>
          <a:bodyPr wrap="none" lIns="0" rIns="0" tIns="0" bIns="0">
            <a:spAutoFit/>
          </a:bodyPr>
          <a:lstStyle/>
          <a:p>
            <a:r>
              <a:rPr sz="1100" b="0">
                <a:solidFill>
                  <a:srgbClr val="2E2E2E"/>
                </a:solidFill>
                <a:latin typeface="Calibri"/>
              </a:rPr>
              <a:t>▪ Pull is strongest in 'South Asia &amp; Pacific' (</a:t>
            </a:r>
          </a:p>
        </p:txBody>
      </p:sp>
      <p:pic>
        <p:nvPicPr>
          <p:cNvPr id="103" name="Picture 102" descr="lock.png"/>
          <p:cNvPicPr>
            <a:picLocks noChangeAspect="1"/>
          </p:cNvPicPr>
          <p:nvPr/>
        </p:nvPicPr>
        <p:blipFill>
          <a:blip r:embed="rId4"/>
          <a:stretch>
            <a:fillRect/>
          </a:stretch>
        </p:blipFill>
        <p:spPr>
          <a:xfrm>
            <a:off x="2634349" y="2757285"/>
            <a:ext cx="128699" cy="187198"/>
          </a:xfrm>
          <a:prstGeom prst="rect">
            <a:avLst/>
          </a:prstGeom>
        </p:spPr>
      </p:pic>
      <p:sp>
        <p:nvSpPr>
          <p:cNvPr id="104" name="TextBox 103"/>
          <p:cNvSpPr txBox="1"/>
          <p:nvPr/>
        </p:nvSpPr>
        <p:spPr>
          <a:xfrm>
            <a:off x="2801845" y="2767064"/>
            <a:ext cx="531572"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105" name="Picture 104" descr="lock.png"/>
          <p:cNvPicPr>
            <a:picLocks noChangeAspect="1"/>
          </p:cNvPicPr>
          <p:nvPr/>
        </p:nvPicPr>
        <p:blipFill>
          <a:blip r:embed="rId4"/>
          <a:stretch>
            <a:fillRect/>
          </a:stretch>
        </p:blipFill>
        <p:spPr>
          <a:xfrm>
            <a:off x="3281469" y="2757285"/>
            <a:ext cx="128699" cy="187198"/>
          </a:xfrm>
          <a:prstGeom prst="rect">
            <a:avLst/>
          </a:prstGeom>
        </p:spPr>
      </p:pic>
      <p:sp>
        <p:nvSpPr>
          <p:cNvPr id="106" name="TextBox 105"/>
          <p:cNvSpPr txBox="1"/>
          <p:nvPr/>
        </p:nvSpPr>
        <p:spPr>
          <a:xfrm>
            <a:off x="3448965" y="2767064"/>
            <a:ext cx="3522588" cy="186689"/>
          </a:xfrm>
          <a:prstGeom prst="rect">
            <a:avLst/>
          </a:prstGeom>
          <a:noFill/>
        </p:spPr>
        <p:txBody>
          <a:bodyPr wrap="none" lIns="0" rIns="0" tIns="0" bIns="0">
            <a:spAutoFit/>
          </a:bodyPr>
          <a:lstStyle/>
          <a:p>
            <a:r>
              <a:rPr sz="1100" b="0">
                <a:solidFill>
                  <a:srgbClr val="2E2E2E"/>
                </a:solidFill>
                <a:latin typeface="Calibri"/>
              </a:rPr>
              <a:t>BPS versus the market), with 3 of 6 regions at or above pace.</a:t>
            </a:r>
          </a:p>
        </p:txBody>
      </p:sp>
      <p:sp>
        <p:nvSpPr>
          <p:cNvPr id="107" name="TextBox 106"/>
          <p:cNvSpPr txBox="1"/>
          <p:nvPr/>
        </p:nvSpPr>
        <p:spPr>
          <a:xfrm>
            <a:off x="209550" y="3139587"/>
            <a:ext cx="5248647" cy="186689"/>
          </a:xfrm>
          <a:prstGeom prst="rect">
            <a:avLst/>
          </a:prstGeom>
          <a:noFill/>
        </p:spPr>
        <p:txBody>
          <a:bodyPr wrap="none" lIns="0" rIns="0" tIns="0" bIns="0">
            <a:spAutoFit/>
          </a:bodyPr>
          <a:lstStyle/>
          <a:p>
            <a:r>
              <a:rPr sz="1100" b="0">
                <a:solidFill>
                  <a:srgbClr val="2E2E2E"/>
                </a:solidFill>
                <a:latin typeface="Calibri"/>
              </a:rPr>
              <a:t>▪ Reach runs through 4 end user routes, led by 'Academic &amp; Teaching Dental Institutions' at</a:t>
            </a:r>
          </a:p>
        </p:txBody>
      </p:sp>
      <p:pic>
        <p:nvPicPr>
          <p:cNvPr id="108" name="Picture 107" descr="lock.png"/>
          <p:cNvPicPr>
            <a:picLocks noChangeAspect="1"/>
          </p:cNvPicPr>
          <p:nvPr/>
        </p:nvPicPr>
        <p:blipFill>
          <a:blip r:embed="rId4"/>
          <a:stretch>
            <a:fillRect/>
          </a:stretch>
        </p:blipFill>
        <p:spPr>
          <a:xfrm>
            <a:off x="5406248" y="3129808"/>
            <a:ext cx="128699" cy="187198"/>
          </a:xfrm>
          <a:prstGeom prst="rect">
            <a:avLst/>
          </a:prstGeom>
        </p:spPr>
      </p:pic>
      <p:sp>
        <p:nvSpPr>
          <p:cNvPr id="109" name="TextBox 108"/>
          <p:cNvSpPr txBox="1"/>
          <p:nvPr/>
        </p:nvSpPr>
        <p:spPr>
          <a:xfrm>
            <a:off x="5573744" y="3139587"/>
            <a:ext cx="1011262" cy="186689"/>
          </a:xfrm>
          <a:prstGeom prst="rect">
            <a:avLst/>
          </a:prstGeom>
          <a:noFill/>
        </p:spPr>
        <p:txBody>
          <a:bodyPr wrap="none" lIns="0" rIns="0" tIns="0" bIns="0">
            <a:spAutoFit/>
          </a:bodyPr>
          <a:lstStyle/>
          <a:p>
            <a:r>
              <a:rPr sz="1100" b="0">
                <a:solidFill>
                  <a:srgbClr val="2E2E2E"/>
                </a:solidFill>
                <a:latin typeface="Calibri"/>
              </a:rPr>
              <a:t>and with 'Dental</a:t>
            </a:r>
          </a:p>
        </p:txBody>
      </p:sp>
      <p:sp>
        <p:nvSpPr>
          <p:cNvPr id="110" name="TextBox 109"/>
          <p:cNvSpPr txBox="1"/>
          <p:nvPr/>
        </p:nvSpPr>
        <p:spPr>
          <a:xfrm>
            <a:off x="209550" y="3307227"/>
            <a:ext cx="1678657" cy="186689"/>
          </a:xfrm>
          <a:prstGeom prst="rect">
            <a:avLst/>
          </a:prstGeom>
          <a:noFill/>
        </p:spPr>
        <p:txBody>
          <a:bodyPr wrap="none" lIns="0" rIns="0" tIns="0" bIns="0">
            <a:spAutoFit/>
          </a:bodyPr>
          <a:lstStyle/>
          <a:p>
            <a:r>
              <a:rPr sz="1100" b="0">
                <a:solidFill>
                  <a:srgbClr val="2E2E2E"/>
                </a:solidFill>
                <a:latin typeface="Calibri"/>
              </a:rPr>
              <a:t>Hospitals' growing fastest at</a:t>
            </a:r>
          </a:p>
        </p:txBody>
      </p:sp>
      <p:pic>
        <p:nvPicPr>
          <p:cNvPr id="111" name="Picture 110" descr="lock.png"/>
          <p:cNvPicPr>
            <a:picLocks noChangeAspect="1"/>
          </p:cNvPicPr>
          <p:nvPr/>
        </p:nvPicPr>
        <p:blipFill>
          <a:blip r:embed="rId4"/>
          <a:stretch>
            <a:fillRect/>
          </a:stretch>
        </p:blipFill>
        <p:spPr>
          <a:xfrm>
            <a:off x="1836258" y="3297448"/>
            <a:ext cx="128699" cy="187198"/>
          </a:xfrm>
          <a:prstGeom prst="rect">
            <a:avLst/>
          </a:prstGeom>
        </p:spPr>
      </p:pic>
      <p:sp>
        <p:nvSpPr>
          <p:cNvPr id="112" name="TextBox 111"/>
          <p:cNvSpPr txBox="1"/>
          <p:nvPr/>
        </p:nvSpPr>
        <p:spPr>
          <a:xfrm>
            <a:off x="2003754" y="3307227"/>
            <a:ext cx="111397" cy="186689"/>
          </a:xfrm>
          <a:prstGeom prst="rect">
            <a:avLst/>
          </a:prstGeom>
          <a:noFill/>
        </p:spPr>
        <p:txBody>
          <a:bodyPr wrap="none" lIns="0" rIns="0" tIns="0" bIns="0">
            <a:spAutoFit/>
          </a:bodyPr>
          <a:lstStyle/>
          <a:p>
            <a:r>
              <a:rPr sz="1100" b="0">
                <a:solidFill>
                  <a:srgbClr val="2E2E2E"/>
                </a:solidFill>
                <a:latin typeface="Calibri"/>
              </a:rPr>
              <a:t>.</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Flexible Partial Dentures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Region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837332"/>
            <a:ext cx="2317402" cy="186689"/>
          </a:xfrm>
          <a:prstGeom prst="rect">
            <a:avLst/>
          </a:prstGeom>
          <a:noFill/>
        </p:spPr>
        <p:txBody>
          <a:bodyPr wrap="none" lIns="0" rIns="0" tIns="0" bIns="0">
            <a:spAutoFit/>
          </a:bodyPr>
          <a:lstStyle/>
          <a:p>
            <a:r>
              <a:rPr sz="1100" b="0">
                <a:solidFill>
                  <a:srgbClr val="2E2E2E"/>
                </a:solidFill>
                <a:latin typeface="Calibri"/>
              </a:rPr>
              <a:t>'Flexible Partial Dentures' grows at only</a:t>
            </a:r>
          </a:p>
        </p:txBody>
      </p:sp>
      <p:pic>
        <p:nvPicPr>
          <p:cNvPr id="65" name="Picture 64" descr="lock.png"/>
          <p:cNvPicPr>
            <a:picLocks noChangeAspect="1"/>
          </p:cNvPicPr>
          <p:nvPr/>
        </p:nvPicPr>
        <p:blipFill>
          <a:blip r:embed="rId4"/>
          <a:stretch>
            <a:fillRect/>
          </a:stretch>
        </p:blipFill>
        <p:spPr>
          <a:xfrm>
            <a:off x="2455954" y="1827554"/>
            <a:ext cx="128699" cy="187198"/>
          </a:xfrm>
          <a:prstGeom prst="rect">
            <a:avLst/>
          </a:prstGeom>
        </p:spPr>
      </p:pic>
      <p:sp>
        <p:nvSpPr>
          <p:cNvPr id="66" name="TextBox 65"/>
          <p:cNvSpPr txBox="1"/>
          <p:nvPr/>
        </p:nvSpPr>
        <p:spPr>
          <a:xfrm>
            <a:off x="2623450" y="1837332"/>
            <a:ext cx="1579595" cy="186689"/>
          </a:xfrm>
          <a:prstGeom prst="rect">
            <a:avLst/>
          </a:prstGeom>
          <a:noFill/>
        </p:spPr>
        <p:txBody>
          <a:bodyPr wrap="none" lIns="0" rIns="0" tIns="0" bIns="0">
            <a:spAutoFit/>
          </a:bodyPr>
          <a:lstStyle/>
          <a:p>
            <a:r>
              <a:rPr sz="1100" b="0">
                <a:solidFill>
                  <a:srgbClr val="2E2E2E"/>
                </a:solidFill>
                <a:latin typeface="Calibri"/>
              </a:rPr>
              <a:t>CAGR against the market's</a:t>
            </a:r>
          </a:p>
        </p:txBody>
      </p:sp>
      <p:pic>
        <p:nvPicPr>
          <p:cNvPr id="67" name="Picture 66" descr="lock.png"/>
          <p:cNvPicPr>
            <a:picLocks noChangeAspect="1"/>
          </p:cNvPicPr>
          <p:nvPr/>
        </p:nvPicPr>
        <p:blipFill>
          <a:blip r:embed="rId4"/>
          <a:stretch>
            <a:fillRect/>
          </a:stretch>
        </p:blipFill>
        <p:spPr>
          <a:xfrm>
            <a:off x="4151096" y="1827554"/>
            <a:ext cx="128699" cy="187198"/>
          </a:xfrm>
          <a:prstGeom prst="rect">
            <a:avLst/>
          </a:prstGeom>
        </p:spPr>
      </p:pic>
      <p:sp>
        <p:nvSpPr>
          <p:cNvPr id="68" name="TextBox 67"/>
          <p:cNvSpPr txBox="1"/>
          <p:nvPr/>
        </p:nvSpPr>
        <p:spPr>
          <a:xfrm>
            <a:off x="4318592" y="1837332"/>
            <a:ext cx="284112" cy="186689"/>
          </a:xfrm>
          <a:prstGeom prst="rect">
            <a:avLst/>
          </a:prstGeom>
          <a:noFill/>
        </p:spPr>
        <p:txBody>
          <a:bodyPr wrap="none" lIns="0" rIns="0" tIns="0" bIns="0">
            <a:spAutoFit/>
          </a:bodyPr>
          <a:lstStyle/>
          <a:p>
            <a:r>
              <a:rPr sz="1100" b="0">
                <a:solidFill>
                  <a:srgbClr val="2E2E2E"/>
                </a:solidFill>
                <a:latin typeface="Calibri"/>
              </a:rPr>
              <a:t>, a -</a:t>
            </a:r>
          </a:p>
        </p:txBody>
      </p:sp>
      <p:pic>
        <p:nvPicPr>
          <p:cNvPr id="69" name="Picture 68" descr="lock.png"/>
          <p:cNvPicPr>
            <a:picLocks noChangeAspect="1"/>
          </p:cNvPicPr>
          <p:nvPr/>
        </p:nvPicPr>
        <p:blipFill>
          <a:blip r:embed="rId4"/>
          <a:stretch>
            <a:fillRect/>
          </a:stretch>
        </p:blipFill>
        <p:spPr>
          <a:xfrm>
            <a:off x="4550757" y="1827554"/>
            <a:ext cx="128699" cy="187198"/>
          </a:xfrm>
          <a:prstGeom prst="rect">
            <a:avLst/>
          </a:prstGeom>
        </p:spPr>
      </p:pic>
      <p:sp>
        <p:nvSpPr>
          <p:cNvPr id="70" name="TextBox 69"/>
          <p:cNvSpPr txBox="1"/>
          <p:nvPr/>
        </p:nvSpPr>
        <p:spPr>
          <a:xfrm>
            <a:off x="4718252" y="1837332"/>
            <a:ext cx="2932137" cy="186689"/>
          </a:xfrm>
          <a:prstGeom prst="rect">
            <a:avLst/>
          </a:prstGeom>
          <a:noFill/>
        </p:spPr>
        <p:txBody>
          <a:bodyPr wrap="none" lIns="0" rIns="0" tIns="0" bIns="0">
            <a:spAutoFit/>
          </a:bodyPr>
          <a:lstStyle/>
          <a:p>
            <a:r>
              <a:rPr sz="1100" b="0">
                <a:solidFill>
                  <a:srgbClr val="2E2E2E"/>
                </a:solidFill>
                <a:latin typeface="Calibri"/>
              </a:rPr>
              <a:t>BPS gap, and 'Flexible Partial Dentures' surrenders</a:t>
            </a:r>
          </a:p>
        </p:txBody>
      </p:sp>
      <p:pic>
        <p:nvPicPr>
          <p:cNvPr id="71" name="Picture 70" descr="lock.png"/>
          <p:cNvPicPr>
            <a:picLocks noChangeAspect="1"/>
          </p:cNvPicPr>
          <p:nvPr/>
        </p:nvPicPr>
        <p:blipFill>
          <a:blip r:embed="rId4"/>
          <a:stretch>
            <a:fillRect/>
          </a:stretch>
        </p:blipFill>
        <p:spPr>
          <a:xfrm>
            <a:off x="7598441" y="1827554"/>
            <a:ext cx="128699" cy="187198"/>
          </a:xfrm>
          <a:prstGeom prst="rect">
            <a:avLst/>
          </a:prstGeom>
        </p:spPr>
      </p:pic>
      <p:sp>
        <p:nvSpPr>
          <p:cNvPr id="72" name="TextBox 71"/>
          <p:cNvSpPr txBox="1"/>
          <p:nvPr/>
        </p:nvSpPr>
        <p:spPr>
          <a:xfrm>
            <a:off x="7765937" y="1837332"/>
            <a:ext cx="1201985" cy="186689"/>
          </a:xfrm>
          <a:prstGeom prst="rect">
            <a:avLst/>
          </a:prstGeom>
          <a:noFill/>
        </p:spPr>
        <p:txBody>
          <a:bodyPr wrap="none" lIns="0" rIns="0" tIns="0" bIns="0">
            <a:spAutoFit/>
          </a:bodyPr>
          <a:lstStyle/>
          <a:p>
            <a:r>
              <a:rPr sz="1100" b="0">
                <a:solidFill>
                  <a:srgbClr val="2E2E2E"/>
                </a:solidFill>
                <a:latin typeface="Calibri"/>
              </a:rPr>
              <a:t>BPS of product type</a:t>
            </a:r>
          </a:p>
        </p:txBody>
      </p:sp>
      <p:sp>
        <p:nvSpPr>
          <p:cNvPr id="73" name="TextBox 72"/>
          <p:cNvSpPr txBox="1"/>
          <p:nvPr/>
        </p:nvSpPr>
        <p:spPr>
          <a:xfrm>
            <a:off x="190500" y="2004972"/>
            <a:ext cx="9288487" cy="186689"/>
          </a:xfrm>
          <a:prstGeom prst="rect">
            <a:avLst/>
          </a:prstGeom>
          <a:noFill/>
        </p:spPr>
        <p:txBody>
          <a:bodyPr wrap="none" lIns="0" rIns="0" tIns="0" bIns="0">
            <a:spAutoFit/>
          </a:bodyPr>
          <a:lstStyle/>
          <a:p>
            <a:r>
              <a:rPr sz="1100" b="0">
                <a:solidFill>
                  <a:srgbClr val="2E2E2E"/>
                </a:solidFill>
                <a:latin typeface="Calibri"/>
              </a:rPr>
              <a:t>share between 2026 and 2036. Because these lines still carry meaningful volume, the drag is absorbed by the whole category: blended growth sits below what the</a:t>
            </a:r>
          </a:p>
        </p:txBody>
      </p:sp>
      <p:sp>
        <p:nvSpPr>
          <p:cNvPr id="74" name="TextBox 73"/>
          <p:cNvSpPr txBox="1"/>
          <p:nvPr/>
        </p:nvSpPr>
        <p:spPr>
          <a:xfrm>
            <a:off x="190500" y="2172613"/>
            <a:ext cx="9298037" cy="186689"/>
          </a:xfrm>
          <a:prstGeom prst="rect">
            <a:avLst/>
          </a:prstGeom>
          <a:noFill/>
        </p:spPr>
        <p:txBody>
          <a:bodyPr wrap="none" lIns="0" rIns="0" tIns="0" bIns="0">
            <a:spAutoFit/>
          </a:bodyPr>
          <a:lstStyle/>
          <a:p>
            <a:r>
              <a:rPr sz="1100" b="0">
                <a:solidFill>
                  <a:srgbClr val="2E2E2E"/>
                </a:solidFill>
                <a:latin typeface="Calibri"/>
              </a:rPr>
              <a:t>leading lines achieve on their own. Rationalising or repositioning the lagging end of a 4-line portfolio is therefore a precondition for realising the headline forecast.</a:t>
            </a:r>
          </a:p>
        </p:txBody>
      </p:sp>
      <p:sp>
        <p:nvSpPr>
          <p:cNvPr id="75" name="TextBox 74"/>
          <p:cNvSpPr txBox="1"/>
          <p:nvPr/>
        </p:nvSpPr>
        <p:spPr>
          <a:xfrm>
            <a:off x="190500" y="3498419"/>
            <a:ext cx="1731590" cy="186689"/>
          </a:xfrm>
          <a:prstGeom prst="rect">
            <a:avLst/>
          </a:prstGeom>
          <a:noFill/>
        </p:spPr>
        <p:txBody>
          <a:bodyPr wrap="none" lIns="0" rIns="0" tIns="0" bIns="0">
            <a:spAutoFit/>
          </a:bodyPr>
          <a:lstStyle/>
          <a:p>
            <a:r>
              <a:rPr sz="1100" b="0">
                <a:solidFill>
                  <a:srgbClr val="2E2E2E"/>
                </a:solidFill>
                <a:latin typeface="Calibri"/>
              </a:rPr>
              <a:t>'North America' grows at just</a:t>
            </a:r>
          </a:p>
        </p:txBody>
      </p:sp>
      <p:pic>
        <p:nvPicPr>
          <p:cNvPr id="76" name="Picture 75" descr="lock.png"/>
          <p:cNvPicPr>
            <a:picLocks noChangeAspect="1"/>
          </p:cNvPicPr>
          <p:nvPr/>
        </p:nvPicPr>
        <p:blipFill>
          <a:blip r:embed="rId4"/>
          <a:stretch>
            <a:fillRect/>
          </a:stretch>
        </p:blipFill>
        <p:spPr>
          <a:xfrm>
            <a:off x="1870142" y="3488640"/>
            <a:ext cx="128699" cy="187198"/>
          </a:xfrm>
          <a:prstGeom prst="rect">
            <a:avLst/>
          </a:prstGeom>
        </p:spPr>
      </p:pic>
      <p:sp>
        <p:nvSpPr>
          <p:cNvPr id="77" name="TextBox 76"/>
          <p:cNvSpPr txBox="1"/>
          <p:nvPr/>
        </p:nvSpPr>
        <p:spPr>
          <a:xfrm>
            <a:off x="2037637" y="3498419"/>
            <a:ext cx="469907"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78" name="Picture 77" descr="lock.png"/>
          <p:cNvPicPr>
            <a:picLocks noChangeAspect="1"/>
          </p:cNvPicPr>
          <p:nvPr/>
        </p:nvPicPr>
        <p:blipFill>
          <a:blip r:embed="rId4"/>
          <a:stretch>
            <a:fillRect/>
          </a:stretch>
        </p:blipFill>
        <p:spPr>
          <a:xfrm>
            <a:off x="2455597" y="3488640"/>
            <a:ext cx="128699" cy="187198"/>
          </a:xfrm>
          <a:prstGeom prst="rect">
            <a:avLst/>
          </a:prstGeom>
        </p:spPr>
      </p:pic>
      <p:sp>
        <p:nvSpPr>
          <p:cNvPr id="79" name="TextBox 78"/>
          <p:cNvSpPr txBox="1"/>
          <p:nvPr/>
        </p:nvSpPr>
        <p:spPr>
          <a:xfrm>
            <a:off x="2623093" y="3498419"/>
            <a:ext cx="6616997" cy="186689"/>
          </a:xfrm>
          <a:prstGeom prst="rect">
            <a:avLst/>
          </a:prstGeom>
          <a:noFill/>
        </p:spPr>
        <p:txBody>
          <a:bodyPr wrap="none" lIns="0" rIns="0" tIns="0" bIns="0">
            <a:spAutoFit/>
          </a:bodyPr>
          <a:lstStyle/>
          <a:p>
            <a:r>
              <a:rPr sz="1100" b="0">
                <a:solidFill>
                  <a:srgbClr val="2E2E2E"/>
                </a:solidFill>
                <a:latin typeface="Calibri"/>
              </a:rPr>
              <a:t>BPS against the market and 3 of 6 regions sit below the market pace altogether. Demand is therefore not uniformly</a:t>
            </a:r>
          </a:p>
        </p:txBody>
      </p:sp>
      <p:sp>
        <p:nvSpPr>
          <p:cNvPr id="80" name="TextBox 79"/>
          <p:cNvSpPr txBox="1"/>
          <p:nvPr/>
        </p:nvSpPr>
        <p:spPr>
          <a:xfrm>
            <a:off x="190500" y="3666059"/>
            <a:ext cx="8618091" cy="186689"/>
          </a:xfrm>
          <a:prstGeom prst="rect">
            <a:avLst/>
          </a:prstGeom>
          <a:noFill/>
        </p:spPr>
        <p:txBody>
          <a:bodyPr wrap="none" lIns="0" rIns="0" tIns="0" bIns="0">
            <a:spAutoFit/>
          </a:bodyPr>
          <a:lstStyle/>
          <a:p>
            <a:r>
              <a:rPr sz="1100" b="0">
                <a:solidFill>
                  <a:srgbClr val="2E2E2E"/>
                </a:solidFill>
                <a:latin typeface="Calibri"/>
              </a:rPr>
              <a:t>available: suppliers carrying a broad geographic footprint fund presence in slow regions out of returns earned in the fast ones. With 'North America' at</a:t>
            </a:r>
          </a:p>
        </p:txBody>
      </p:sp>
      <p:pic>
        <p:nvPicPr>
          <p:cNvPr id="81" name="Picture 80" descr="lock.png"/>
          <p:cNvPicPr>
            <a:picLocks noChangeAspect="1"/>
          </p:cNvPicPr>
          <p:nvPr/>
        </p:nvPicPr>
        <p:blipFill>
          <a:blip r:embed="rId4"/>
          <a:stretch>
            <a:fillRect/>
          </a:stretch>
        </p:blipFill>
        <p:spPr>
          <a:xfrm>
            <a:off x="8756642" y="3656280"/>
            <a:ext cx="128699" cy="187198"/>
          </a:xfrm>
          <a:prstGeom prst="rect">
            <a:avLst/>
          </a:prstGeom>
        </p:spPr>
      </p:pic>
      <p:sp>
        <p:nvSpPr>
          <p:cNvPr id="82" name="TextBox 81"/>
          <p:cNvSpPr txBox="1"/>
          <p:nvPr/>
        </p:nvSpPr>
        <p:spPr>
          <a:xfrm>
            <a:off x="8924138" y="3666059"/>
            <a:ext cx="564058" cy="186689"/>
          </a:xfrm>
          <a:prstGeom prst="rect">
            <a:avLst/>
          </a:prstGeom>
          <a:noFill/>
        </p:spPr>
        <p:txBody>
          <a:bodyPr wrap="none" lIns="0" rIns="0" tIns="0" bIns="0">
            <a:spAutoFit/>
          </a:bodyPr>
          <a:lstStyle/>
          <a:p>
            <a:r>
              <a:rPr sz="1100" b="0">
                <a:solidFill>
                  <a:srgbClr val="2E2E2E"/>
                </a:solidFill>
                <a:latin typeface="Calibri"/>
              </a:rPr>
              <a:t>of value,</a:t>
            </a:r>
          </a:p>
        </p:txBody>
      </p:sp>
      <p:sp>
        <p:nvSpPr>
          <p:cNvPr id="83" name="TextBox 82"/>
          <p:cNvSpPr txBox="1"/>
          <p:nvPr/>
        </p:nvSpPr>
        <p:spPr>
          <a:xfrm>
            <a:off x="190500" y="3833699"/>
            <a:ext cx="5170338" cy="186689"/>
          </a:xfrm>
          <a:prstGeom prst="rect">
            <a:avLst/>
          </a:prstGeom>
          <a:noFill/>
        </p:spPr>
        <p:txBody>
          <a:bodyPr wrap="none" lIns="0" rIns="0" tIns="0" bIns="0">
            <a:spAutoFit/>
          </a:bodyPr>
          <a:lstStyle/>
          <a:p>
            <a:r>
              <a:rPr sz="1100" b="0">
                <a:solidFill>
                  <a:srgbClr val="2E2E2E"/>
                </a:solidFill>
                <a:latin typeface="Calibri"/>
              </a:rPr>
              <a:t>a shortfall in a single leading region is difficult to offset elsewhere in the forecast window.</a:t>
            </a:r>
          </a:p>
        </p:txBody>
      </p:sp>
      <p:sp>
        <p:nvSpPr>
          <p:cNvPr id="84" name="TextBox 83"/>
          <p:cNvSpPr txBox="1"/>
          <p:nvPr/>
        </p:nvSpPr>
        <p:spPr>
          <a:xfrm>
            <a:off x="190500" y="5250774"/>
            <a:ext cx="3337594" cy="186689"/>
          </a:xfrm>
          <a:prstGeom prst="rect">
            <a:avLst/>
          </a:prstGeom>
          <a:noFill/>
        </p:spPr>
        <p:txBody>
          <a:bodyPr wrap="none" lIns="0" rIns="0" tIns="0" bIns="0">
            <a:spAutoFit/>
          </a:bodyPr>
          <a:lstStyle/>
          <a:p>
            <a:r>
              <a:rPr sz="1100" b="0">
                <a:solidFill>
                  <a:srgbClr val="2E2E2E"/>
                </a:solidFill>
                <a:latin typeface="Calibri"/>
              </a:rPr>
              <a:t>The market is concentrated: 'North America' accounts for</a:t>
            </a:r>
          </a:p>
        </p:txBody>
      </p:sp>
      <p:pic>
        <p:nvPicPr>
          <p:cNvPr id="85" name="Picture 84" descr="lock.png"/>
          <p:cNvPicPr>
            <a:picLocks noChangeAspect="1"/>
          </p:cNvPicPr>
          <p:nvPr/>
        </p:nvPicPr>
        <p:blipFill>
          <a:blip r:embed="rId4"/>
          <a:stretch>
            <a:fillRect/>
          </a:stretch>
        </p:blipFill>
        <p:spPr>
          <a:xfrm>
            <a:off x="3476146" y="5240995"/>
            <a:ext cx="128699" cy="187198"/>
          </a:xfrm>
          <a:prstGeom prst="rect">
            <a:avLst/>
          </a:prstGeom>
        </p:spPr>
      </p:pic>
      <p:sp>
        <p:nvSpPr>
          <p:cNvPr id="86" name="TextBox 85"/>
          <p:cNvSpPr txBox="1"/>
          <p:nvPr/>
        </p:nvSpPr>
        <p:spPr>
          <a:xfrm>
            <a:off x="3643642" y="5250774"/>
            <a:ext cx="2957512" cy="186689"/>
          </a:xfrm>
          <a:prstGeom prst="rect">
            <a:avLst/>
          </a:prstGeom>
          <a:noFill/>
        </p:spPr>
        <p:txBody>
          <a:bodyPr wrap="none" lIns="0" rIns="0" tIns="0" bIns="0">
            <a:spAutoFit/>
          </a:bodyPr>
          <a:lstStyle/>
          <a:p>
            <a:r>
              <a:rPr sz="1100" b="0">
                <a:solidFill>
                  <a:srgbClr val="2E2E2E"/>
                </a:solidFill>
                <a:latin typeface="Calibri"/>
              </a:rPr>
              <a:t>of 2036 value and the leading product type line for</a:t>
            </a:r>
          </a:p>
        </p:txBody>
      </p:sp>
      <p:pic>
        <p:nvPicPr>
          <p:cNvPr id="87" name="Picture 86" descr="lock.png"/>
          <p:cNvPicPr>
            <a:picLocks noChangeAspect="1"/>
          </p:cNvPicPr>
          <p:nvPr/>
        </p:nvPicPr>
        <p:blipFill>
          <a:blip r:embed="rId4"/>
          <a:stretch>
            <a:fillRect/>
          </a:stretch>
        </p:blipFill>
        <p:spPr>
          <a:xfrm>
            <a:off x="6549206" y="5240995"/>
            <a:ext cx="128699" cy="187198"/>
          </a:xfrm>
          <a:prstGeom prst="rect">
            <a:avLst/>
          </a:prstGeom>
        </p:spPr>
      </p:pic>
      <p:sp>
        <p:nvSpPr>
          <p:cNvPr id="88" name="TextBox 87"/>
          <p:cNvSpPr txBox="1"/>
          <p:nvPr/>
        </p:nvSpPr>
        <p:spPr>
          <a:xfrm>
            <a:off x="6716702" y="5250774"/>
            <a:ext cx="2445058" cy="186689"/>
          </a:xfrm>
          <a:prstGeom prst="rect">
            <a:avLst/>
          </a:prstGeom>
          <a:noFill/>
        </p:spPr>
        <p:txBody>
          <a:bodyPr wrap="none" lIns="0" rIns="0" tIns="0" bIns="0">
            <a:spAutoFit/>
          </a:bodyPr>
          <a:lstStyle/>
          <a:p>
            <a:r>
              <a:rPr sz="1100" b="0">
                <a:solidFill>
                  <a:srgbClr val="2E2E2E"/>
                </a:solidFill>
                <a:latin typeface="Calibri"/>
              </a:rPr>
              <a:t>of its segment. Average realisation moves</a:t>
            </a:r>
          </a:p>
        </p:txBody>
      </p:sp>
      <p:pic>
        <p:nvPicPr>
          <p:cNvPr id="89" name="Picture 88" descr="lock.png"/>
          <p:cNvPicPr>
            <a:picLocks noChangeAspect="1"/>
          </p:cNvPicPr>
          <p:nvPr/>
        </p:nvPicPr>
        <p:blipFill>
          <a:blip r:embed="rId4"/>
          <a:stretch>
            <a:fillRect/>
          </a:stretch>
        </p:blipFill>
        <p:spPr>
          <a:xfrm>
            <a:off x="177032" y="5408635"/>
            <a:ext cx="128699" cy="187198"/>
          </a:xfrm>
          <a:prstGeom prst="rect">
            <a:avLst/>
          </a:prstGeom>
        </p:spPr>
      </p:pic>
      <p:sp>
        <p:nvSpPr>
          <p:cNvPr id="90" name="TextBox 89"/>
          <p:cNvSpPr txBox="1"/>
          <p:nvPr/>
        </p:nvSpPr>
        <p:spPr>
          <a:xfrm>
            <a:off x="344528" y="5418414"/>
            <a:ext cx="9124776" cy="186689"/>
          </a:xfrm>
          <a:prstGeom prst="rect">
            <a:avLst/>
          </a:prstGeom>
          <a:noFill/>
        </p:spPr>
        <p:txBody>
          <a:bodyPr wrap="none" lIns="0" rIns="0" tIns="0" bIns="0">
            <a:spAutoFit/>
          </a:bodyPr>
          <a:lstStyle/>
          <a:p>
            <a:r>
              <a:rPr sz="1100" b="0">
                <a:solidFill>
                  <a:srgbClr val="2E2E2E"/>
                </a:solidFill>
                <a:latin typeface="Calibri"/>
              </a:rPr>
              <a:t>a year, so cost movements cannot be passed on evenly across 6 regions. The practical constraint is the same in either case commercial terms set for the market</a:t>
            </a:r>
          </a:p>
        </p:txBody>
      </p:sp>
      <p:sp>
        <p:nvSpPr>
          <p:cNvPr id="91" name="TextBox 90"/>
          <p:cNvSpPr txBox="1"/>
          <p:nvPr/>
        </p:nvSpPr>
        <p:spPr>
          <a:xfrm>
            <a:off x="190500" y="5586054"/>
            <a:ext cx="6191894" cy="186689"/>
          </a:xfrm>
          <a:prstGeom prst="rect">
            <a:avLst/>
          </a:prstGeom>
          <a:noFill/>
        </p:spPr>
        <p:txBody>
          <a:bodyPr wrap="none" lIns="0" rIns="0" tIns="0" bIns="0">
            <a:spAutoFit/>
          </a:bodyPr>
          <a:lstStyle/>
          <a:p>
            <a:r>
              <a:rPr sz="1100" b="0">
                <a:solidFill>
                  <a:srgbClr val="2E2E2E"/>
                </a:solidFill>
                <a:latin typeface="Calibri"/>
              </a:rPr>
              <a:t>as a whole underserve part of it, and margin is lost in the mismatch rather than in the headline growth rate.</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U.S.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Saudi Arabia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Dental Hospitals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746064"/>
            <a:ext cx="662012" cy="186689"/>
          </a:xfrm>
          <a:prstGeom prst="rect">
            <a:avLst/>
          </a:prstGeom>
          <a:noFill/>
        </p:spPr>
        <p:txBody>
          <a:bodyPr wrap="none" lIns="0" rIns="0" tIns="0" bIns="0">
            <a:spAutoFit/>
          </a:bodyPr>
          <a:lstStyle/>
          <a:p>
            <a:r>
              <a:rPr sz="1100" b="0">
                <a:solidFill>
                  <a:srgbClr val="2E2E2E"/>
                </a:solidFill>
                <a:latin typeface="Calibri"/>
              </a:rPr>
              <a:t>'U.S.' adds</a:t>
            </a:r>
          </a:p>
        </p:txBody>
      </p:sp>
      <p:pic>
        <p:nvPicPr>
          <p:cNvPr id="65" name="Picture 64" descr="lock.png"/>
          <p:cNvPicPr>
            <a:picLocks noChangeAspect="1"/>
          </p:cNvPicPr>
          <p:nvPr/>
        </p:nvPicPr>
        <p:blipFill>
          <a:blip r:embed="rId4"/>
          <a:stretch>
            <a:fillRect/>
          </a:stretch>
        </p:blipFill>
        <p:spPr>
          <a:xfrm>
            <a:off x="800563" y="1736285"/>
            <a:ext cx="128699" cy="187198"/>
          </a:xfrm>
          <a:prstGeom prst="rect">
            <a:avLst/>
          </a:prstGeom>
        </p:spPr>
      </p:pic>
      <p:sp>
        <p:nvSpPr>
          <p:cNvPr id="66" name="TextBox 65"/>
          <p:cNvSpPr txBox="1"/>
          <p:nvPr/>
        </p:nvSpPr>
        <p:spPr>
          <a:xfrm>
            <a:off x="968059" y="1746064"/>
            <a:ext cx="8433097" cy="186689"/>
          </a:xfrm>
          <a:prstGeom prst="rect">
            <a:avLst/>
          </a:prstGeom>
          <a:noFill/>
        </p:spPr>
        <p:txBody>
          <a:bodyPr wrap="none" lIns="0" rIns="0" tIns="0" bIns="0">
            <a:spAutoFit/>
          </a:bodyPr>
          <a:lstStyle/>
          <a:p>
            <a:r>
              <a:rPr sz="1100" b="0">
                <a:solidFill>
                  <a:srgbClr val="2E2E2E"/>
                </a:solidFill>
                <a:latin typeface="Calibri"/>
              </a:rPr>
              <a:t>US$ Mn between 2026 and 2036 the single largest absolute increment of any geography in the dataset. Capturing it is a question of scale execution</a:t>
            </a:r>
          </a:p>
        </p:txBody>
      </p:sp>
      <p:sp>
        <p:nvSpPr>
          <p:cNvPr id="67" name="TextBox 66"/>
          <p:cNvSpPr txBox="1"/>
          <p:nvPr/>
        </p:nvSpPr>
        <p:spPr>
          <a:xfrm>
            <a:off x="190500" y="1913704"/>
            <a:ext cx="3769245" cy="186689"/>
          </a:xfrm>
          <a:prstGeom prst="rect">
            <a:avLst/>
          </a:prstGeom>
          <a:noFill/>
        </p:spPr>
        <p:txBody>
          <a:bodyPr wrap="none" lIns="0" rIns="0" tIns="0" bIns="0">
            <a:spAutoFit/>
          </a:bodyPr>
          <a:lstStyle/>
          <a:p>
            <a:r>
              <a:rPr sz="1100" b="0">
                <a:solidFill>
                  <a:srgbClr val="2E2E2E"/>
                </a:solidFill>
                <a:latin typeface="Calibri"/>
              </a:rPr>
              <a:t>rather than market creation: demand already exists and grows at</a:t>
            </a:r>
          </a:p>
        </p:txBody>
      </p:sp>
      <p:pic>
        <p:nvPicPr>
          <p:cNvPr id="68" name="Picture 67" descr="lock.png"/>
          <p:cNvPicPr>
            <a:picLocks noChangeAspect="1"/>
          </p:cNvPicPr>
          <p:nvPr/>
        </p:nvPicPr>
        <p:blipFill>
          <a:blip r:embed="rId4"/>
          <a:stretch>
            <a:fillRect/>
          </a:stretch>
        </p:blipFill>
        <p:spPr>
          <a:xfrm>
            <a:off x="3907797" y="1903925"/>
            <a:ext cx="128699" cy="187198"/>
          </a:xfrm>
          <a:prstGeom prst="rect">
            <a:avLst/>
          </a:prstGeom>
        </p:spPr>
      </p:pic>
      <p:sp>
        <p:nvSpPr>
          <p:cNvPr id="69" name="TextBox 68"/>
          <p:cNvSpPr txBox="1"/>
          <p:nvPr/>
        </p:nvSpPr>
        <p:spPr>
          <a:xfrm>
            <a:off x="4075293" y="1913704"/>
            <a:ext cx="5402535" cy="186689"/>
          </a:xfrm>
          <a:prstGeom prst="rect">
            <a:avLst/>
          </a:prstGeom>
          <a:noFill/>
        </p:spPr>
        <p:txBody>
          <a:bodyPr wrap="none" lIns="0" rIns="0" tIns="0" bIns="0">
            <a:spAutoFit/>
          </a:bodyPr>
          <a:lstStyle/>
          <a:p>
            <a:r>
              <a:rPr sz="1100" b="0">
                <a:solidFill>
                  <a:srgbClr val="2E2E2E"/>
                </a:solidFill>
                <a:latin typeface="Calibri"/>
              </a:rPr>
              <a:t>at the market level. Prioritising supply, channel coverage and service levels there converts the</a:t>
            </a:r>
          </a:p>
        </p:txBody>
      </p:sp>
      <p:sp>
        <p:nvSpPr>
          <p:cNvPr id="70" name="TextBox 69"/>
          <p:cNvSpPr txBox="1"/>
          <p:nvPr/>
        </p:nvSpPr>
        <p:spPr>
          <a:xfrm>
            <a:off x="190500" y="2081344"/>
            <a:ext cx="1175246" cy="186689"/>
          </a:xfrm>
          <a:prstGeom prst="rect">
            <a:avLst/>
          </a:prstGeom>
          <a:noFill/>
        </p:spPr>
        <p:txBody>
          <a:bodyPr wrap="none" lIns="0" rIns="0" tIns="0" bIns="0">
            <a:spAutoFit/>
          </a:bodyPr>
          <a:lstStyle/>
          <a:p>
            <a:r>
              <a:rPr sz="1100" b="0">
                <a:solidFill>
                  <a:srgbClr val="2E2E2E"/>
                </a:solidFill>
                <a:latin typeface="Calibri"/>
              </a:rPr>
              <a:t>largest share of the</a:t>
            </a:r>
          </a:p>
        </p:txBody>
      </p:sp>
      <p:pic>
        <p:nvPicPr>
          <p:cNvPr id="71" name="Picture 70" descr="lock.png"/>
          <p:cNvPicPr>
            <a:picLocks noChangeAspect="1"/>
          </p:cNvPicPr>
          <p:nvPr/>
        </p:nvPicPr>
        <p:blipFill>
          <a:blip r:embed="rId4"/>
          <a:stretch>
            <a:fillRect/>
          </a:stretch>
        </p:blipFill>
        <p:spPr>
          <a:xfrm>
            <a:off x="1313797" y="2071565"/>
            <a:ext cx="128699" cy="187198"/>
          </a:xfrm>
          <a:prstGeom prst="rect">
            <a:avLst/>
          </a:prstGeom>
        </p:spPr>
      </p:pic>
      <p:sp>
        <p:nvSpPr>
          <p:cNvPr id="72" name="TextBox 71"/>
          <p:cNvSpPr txBox="1"/>
          <p:nvPr/>
        </p:nvSpPr>
        <p:spPr>
          <a:xfrm>
            <a:off x="1481293" y="2081344"/>
            <a:ext cx="3306489" cy="186689"/>
          </a:xfrm>
          <a:prstGeom prst="rect">
            <a:avLst/>
          </a:prstGeom>
          <a:noFill/>
        </p:spPr>
        <p:txBody>
          <a:bodyPr wrap="none" lIns="0" rIns="0" tIns="0" bIns="0">
            <a:spAutoFit/>
          </a:bodyPr>
          <a:lstStyle/>
          <a:p>
            <a:r>
              <a:rPr sz="1100" b="0">
                <a:solidFill>
                  <a:srgbClr val="2E2E2E"/>
                </a:solidFill>
                <a:latin typeface="Calibri"/>
              </a:rPr>
              <a:t>US$ Mn the whole market adds over the forecast period.</a:t>
            </a:r>
          </a:p>
        </p:txBody>
      </p:sp>
      <p:sp>
        <p:nvSpPr>
          <p:cNvPr id="73" name="TextBox 72"/>
          <p:cNvSpPr txBox="1"/>
          <p:nvPr/>
        </p:nvSpPr>
        <p:spPr>
          <a:xfrm>
            <a:off x="190500" y="3498419"/>
            <a:ext cx="1691754" cy="186689"/>
          </a:xfrm>
          <a:prstGeom prst="rect">
            <a:avLst/>
          </a:prstGeom>
          <a:noFill/>
        </p:spPr>
        <p:txBody>
          <a:bodyPr wrap="none" lIns="0" rIns="0" tIns="0" bIns="0">
            <a:spAutoFit/>
          </a:bodyPr>
          <a:lstStyle/>
          <a:p>
            <a:r>
              <a:rPr sz="1100" b="0">
                <a:solidFill>
                  <a:srgbClr val="2E2E2E"/>
                </a:solidFill>
                <a:latin typeface="Calibri"/>
              </a:rPr>
              <a:t>'Saudi Arabia' compounds at</a:t>
            </a:r>
          </a:p>
        </p:txBody>
      </p:sp>
      <p:pic>
        <p:nvPicPr>
          <p:cNvPr id="74" name="Picture 73" descr="lock.png"/>
          <p:cNvPicPr>
            <a:picLocks noChangeAspect="1"/>
          </p:cNvPicPr>
          <p:nvPr/>
        </p:nvPicPr>
        <p:blipFill>
          <a:blip r:embed="rId4"/>
          <a:stretch>
            <a:fillRect/>
          </a:stretch>
        </p:blipFill>
        <p:spPr>
          <a:xfrm>
            <a:off x="1830305" y="3488640"/>
            <a:ext cx="128699" cy="187198"/>
          </a:xfrm>
          <a:prstGeom prst="rect">
            <a:avLst/>
          </a:prstGeom>
        </p:spPr>
      </p:pic>
      <p:sp>
        <p:nvSpPr>
          <p:cNvPr id="75" name="TextBox 74"/>
          <p:cNvSpPr txBox="1"/>
          <p:nvPr/>
        </p:nvSpPr>
        <p:spPr>
          <a:xfrm>
            <a:off x="1997801" y="3498419"/>
            <a:ext cx="7315207" cy="186689"/>
          </a:xfrm>
          <a:prstGeom prst="rect">
            <a:avLst/>
          </a:prstGeom>
          <a:noFill/>
        </p:spPr>
        <p:txBody>
          <a:bodyPr wrap="none" lIns="0" rIns="0" tIns="0" bIns="0">
            <a:spAutoFit/>
          </a:bodyPr>
          <a:lstStyle/>
          <a:p>
            <a:r>
              <a:rPr sz="1100" b="0">
                <a:solidFill>
                  <a:srgbClr val="2E2E2E"/>
                </a:solidFill>
                <a:latin typeface="Calibri"/>
              </a:rPr>
              <a:t>CAGR from a below-median base one of 9 geographies in the dataset combining above-median growth with below-median size.</a:t>
            </a:r>
          </a:p>
        </p:txBody>
      </p:sp>
      <p:sp>
        <p:nvSpPr>
          <p:cNvPr id="76" name="TextBox 75"/>
          <p:cNvSpPr txBox="1"/>
          <p:nvPr/>
        </p:nvSpPr>
        <p:spPr>
          <a:xfrm>
            <a:off x="190500" y="3666059"/>
            <a:ext cx="5046191" cy="186689"/>
          </a:xfrm>
          <a:prstGeom prst="rect">
            <a:avLst/>
          </a:prstGeom>
          <a:noFill/>
        </p:spPr>
        <p:txBody>
          <a:bodyPr wrap="none" lIns="0" rIns="0" tIns="0" bIns="0">
            <a:spAutoFit/>
          </a:bodyPr>
          <a:lstStyle/>
          <a:p>
            <a:r>
              <a:rPr sz="1100" b="0">
                <a:solidFill>
                  <a:srgbClr val="2E2E2E"/>
                </a:solidFill>
                <a:latin typeface="Calibri"/>
              </a:rPr>
              <a:t>That profile is where share is cheapest to buy: competitive intensity is lower than in the</a:t>
            </a:r>
          </a:p>
        </p:txBody>
      </p:sp>
      <p:pic>
        <p:nvPicPr>
          <p:cNvPr id="77" name="Picture 76" descr="lock.png"/>
          <p:cNvPicPr>
            <a:picLocks noChangeAspect="1"/>
          </p:cNvPicPr>
          <p:nvPr/>
        </p:nvPicPr>
        <p:blipFill>
          <a:blip r:embed="rId4"/>
          <a:stretch>
            <a:fillRect/>
          </a:stretch>
        </p:blipFill>
        <p:spPr>
          <a:xfrm>
            <a:off x="5184742" y="3656280"/>
            <a:ext cx="128699" cy="187198"/>
          </a:xfrm>
          <a:prstGeom prst="rect">
            <a:avLst/>
          </a:prstGeom>
        </p:spPr>
      </p:pic>
      <p:sp>
        <p:nvSpPr>
          <p:cNvPr id="78" name="TextBox 77"/>
          <p:cNvSpPr txBox="1"/>
          <p:nvPr/>
        </p:nvSpPr>
        <p:spPr>
          <a:xfrm>
            <a:off x="5352238" y="3666059"/>
            <a:ext cx="2075929" cy="186689"/>
          </a:xfrm>
          <a:prstGeom prst="rect">
            <a:avLst/>
          </a:prstGeom>
          <a:noFill/>
        </p:spPr>
        <p:txBody>
          <a:bodyPr wrap="none" lIns="0" rIns="0" tIns="0" bIns="0">
            <a:spAutoFit/>
          </a:bodyPr>
          <a:lstStyle/>
          <a:p>
            <a:r>
              <a:rPr sz="1100" b="0">
                <a:solidFill>
                  <a:srgbClr val="2E2E2E"/>
                </a:solidFill>
                <a:latin typeface="Calibri"/>
              </a:rPr>
              <a:t>-share leaders, while growth runs +</a:t>
            </a:r>
          </a:p>
        </p:txBody>
      </p:sp>
      <p:pic>
        <p:nvPicPr>
          <p:cNvPr id="79" name="Picture 78" descr="lock.png"/>
          <p:cNvPicPr>
            <a:picLocks noChangeAspect="1"/>
          </p:cNvPicPr>
          <p:nvPr/>
        </p:nvPicPr>
        <p:blipFill>
          <a:blip r:embed="rId4"/>
          <a:stretch>
            <a:fillRect/>
          </a:stretch>
        </p:blipFill>
        <p:spPr>
          <a:xfrm>
            <a:off x="7376219" y="3656280"/>
            <a:ext cx="128699" cy="187198"/>
          </a:xfrm>
          <a:prstGeom prst="rect">
            <a:avLst/>
          </a:prstGeom>
        </p:spPr>
      </p:pic>
      <p:sp>
        <p:nvSpPr>
          <p:cNvPr id="80" name="TextBox 79"/>
          <p:cNvSpPr txBox="1"/>
          <p:nvPr/>
        </p:nvSpPr>
        <p:spPr>
          <a:xfrm>
            <a:off x="7543715" y="3666059"/>
            <a:ext cx="1825144" cy="186689"/>
          </a:xfrm>
          <a:prstGeom prst="rect">
            <a:avLst/>
          </a:prstGeom>
          <a:noFill/>
        </p:spPr>
        <p:txBody>
          <a:bodyPr wrap="none" lIns="0" rIns="0" tIns="0" bIns="0">
            <a:spAutoFit/>
          </a:bodyPr>
          <a:lstStyle/>
          <a:p>
            <a:r>
              <a:rPr sz="1100" b="0">
                <a:solidFill>
                  <a:srgbClr val="2E2E2E"/>
                </a:solidFill>
                <a:latin typeface="Calibri"/>
              </a:rPr>
              <a:t>BPS ahead of the market. Early</a:t>
            </a:r>
          </a:p>
        </p:txBody>
      </p:sp>
      <p:sp>
        <p:nvSpPr>
          <p:cNvPr id="81" name="TextBox 80"/>
          <p:cNvSpPr txBox="1"/>
          <p:nvPr/>
        </p:nvSpPr>
        <p:spPr>
          <a:xfrm>
            <a:off x="190500" y="3833699"/>
            <a:ext cx="4556695" cy="186689"/>
          </a:xfrm>
          <a:prstGeom prst="rect">
            <a:avLst/>
          </a:prstGeom>
          <a:noFill/>
        </p:spPr>
        <p:txBody>
          <a:bodyPr wrap="none" lIns="0" rIns="0" tIns="0" bIns="0">
            <a:spAutoFit/>
          </a:bodyPr>
          <a:lstStyle/>
          <a:p>
            <a:r>
              <a:rPr sz="1100" b="0">
                <a:solidFill>
                  <a:srgbClr val="2E2E2E"/>
                </a:solidFill>
                <a:latin typeface="Calibri"/>
              </a:rPr>
              <a:t>distribution and reference accounts established here compound through 2036.</a:t>
            </a:r>
          </a:p>
        </p:txBody>
      </p:sp>
      <p:sp>
        <p:nvSpPr>
          <p:cNvPr id="82" name="TextBox 81"/>
          <p:cNvSpPr txBox="1"/>
          <p:nvPr/>
        </p:nvSpPr>
        <p:spPr>
          <a:xfrm>
            <a:off x="190500" y="5250774"/>
            <a:ext cx="1585614" cy="186689"/>
          </a:xfrm>
          <a:prstGeom prst="rect">
            <a:avLst/>
          </a:prstGeom>
          <a:noFill/>
        </p:spPr>
        <p:txBody>
          <a:bodyPr wrap="none" lIns="0" rIns="0" tIns="0" bIns="0">
            <a:spAutoFit/>
          </a:bodyPr>
          <a:lstStyle/>
          <a:p>
            <a:r>
              <a:rPr sz="1100" b="0">
                <a:solidFill>
                  <a:srgbClr val="2E2E2E"/>
                </a:solidFill>
                <a:latin typeface="Calibri"/>
              </a:rPr>
              <a:t>'Dental Hospitals' grows at</a:t>
            </a:r>
          </a:p>
        </p:txBody>
      </p:sp>
      <p:pic>
        <p:nvPicPr>
          <p:cNvPr id="83" name="Picture 82" descr="lock.png"/>
          <p:cNvPicPr>
            <a:picLocks noChangeAspect="1"/>
          </p:cNvPicPr>
          <p:nvPr/>
        </p:nvPicPr>
        <p:blipFill>
          <a:blip r:embed="rId4"/>
          <a:stretch>
            <a:fillRect/>
          </a:stretch>
        </p:blipFill>
        <p:spPr>
          <a:xfrm>
            <a:off x="1724166" y="5240995"/>
            <a:ext cx="128699" cy="187198"/>
          </a:xfrm>
          <a:prstGeom prst="rect">
            <a:avLst/>
          </a:prstGeom>
        </p:spPr>
      </p:pic>
      <p:sp>
        <p:nvSpPr>
          <p:cNvPr id="84" name="TextBox 83"/>
          <p:cNvSpPr txBox="1"/>
          <p:nvPr/>
        </p:nvSpPr>
        <p:spPr>
          <a:xfrm>
            <a:off x="1891662" y="5250774"/>
            <a:ext cx="2820796" cy="186689"/>
          </a:xfrm>
          <a:prstGeom prst="rect">
            <a:avLst/>
          </a:prstGeom>
          <a:noFill/>
        </p:spPr>
        <p:txBody>
          <a:bodyPr wrap="none" lIns="0" rIns="0" tIns="0" bIns="0">
            <a:spAutoFit/>
          </a:bodyPr>
          <a:lstStyle/>
          <a:p>
            <a:r>
              <a:rPr sz="1100" b="0">
                <a:solidFill>
                  <a:srgbClr val="2E2E2E"/>
                </a:solidFill>
                <a:latin typeface="Calibri"/>
              </a:rPr>
              <a:t>CAGR, the fastest of 4 end user routes, and adds</a:t>
            </a:r>
          </a:p>
        </p:txBody>
      </p:sp>
      <p:pic>
        <p:nvPicPr>
          <p:cNvPr id="85" name="Picture 84" descr="lock.png"/>
          <p:cNvPicPr>
            <a:picLocks noChangeAspect="1"/>
          </p:cNvPicPr>
          <p:nvPr/>
        </p:nvPicPr>
        <p:blipFill>
          <a:blip r:embed="rId4"/>
          <a:stretch>
            <a:fillRect/>
          </a:stretch>
        </p:blipFill>
        <p:spPr>
          <a:xfrm>
            <a:off x="4660510" y="5240995"/>
            <a:ext cx="128699" cy="187198"/>
          </a:xfrm>
          <a:prstGeom prst="rect">
            <a:avLst/>
          </a:prstGeom>
        </p:spPr>
      </p:pic>
      <p:sp>
        <p:nvSpPr>
          <p:cNvPr id="86" name="TextBox 85"/>
          <p:cNvSpPr txBox="1"/>
          <p:nvPr/>
        </p:nvSpPr>
        <p:spPr>
          <a:xfrm>
            <a:off x="4828006" y="5250774"/>
            <a:ext cx="3958332" cy="186689"/>
          </a:xfrm>
          <a:prstGeom prst="rect">
            <a:avLst/>
          </a:prstGeom>
          <a:noFill/>
        </p:spPr>
        <p:txBody>
          <a:bodyPr wrap="none" lIns="0" rIns="0" tIns="0" bIns="0">
            <a:spAutoFit/>
          </a:bodyPr>
          <a:lstStyle/>
          <a:p>
            <a:r>
              <a:rPr sz="1100" b="0">
                <a:solidFill>
                  <a:srgbClr val="2E2E2E"/>
                </a:solidFill>
                <a:latin typeface="Calibri"/>
              </a:rPr>
              <a:t>US$ Mn over the forecast period while 'Academic &amp; Teaching Dental</a:t>
            </a:r>
          </a:p>
        </p:txBody>
      </p:sp>
      <p:sp>
        <p:nvSpPr>
          <p:cNvPr id="87" name="TextBox 86"/>
          <p:cNvSpPr txBox="1"/>
          <p:nvPr/>
        </p:nvSpPr>
        <p:spPr>
          <a:xfrm>
            <a:off x="190500" y="5418414"/>
            <a:ext cx="1391890" cy="186689"/>
          </a:xfrm>
          <a:prstGeom prst="rect">
            <a:avLst/>
          </a:prstGeom>
          <a:noFill/>
        </p:spPr>
        <p:txBody>
          <a:bodyPr wrap="none" lIns="0" rIns="0" tIns="0" bIns="0">
            <a:spAutoFit/>
          </a:bodyPr>
          <a:lstStyle/>
          <a:p>
            <a:r>
              <a:rPr sz="1100" b="0">
                <a:solidFill>
                  <a:srgbClr val="2E2E2E"/>
                </a:solidFill>
                <a:latin typeface="Calibri"/>
              </a:rPr>
              <a:t>Institutions' still carries</a:t>
            </a:r>
          </a:p>
        </p:txBody>
      </p:sp>
      <p:pic>
        <p:nvPicPr>
          <p:cNvPr id="88" name="Picture 87" descr="lock.png"/>
          <p:cNvPicPr>
            <a:picLocks noChangeAspect="1"/>
          </p:cNvPicPr>
          <p:nvPr/>
        </p:nvPicPr>
        <p:blipFill>
          <a:blip r:embed="rId4"/>
          <a:stretch>
            <a:fillRect/>
          </a:stretch>
        </p:blipFill>
        <p:spPr>
          <a:xfrm>
            <a:off x="1530441" y="5408635"/>
            <a:ext cx="128699" cy="187198"/>
          </a:xfrm>
          <a:prstGeom prst="rect">
            <a:avLst/>
          </a:prstGeom>
        </p:spPr>
      </p:pic>
      <p:sp>
        <p:nvSpPr>
          <p:cNvPr id="89" name="TextBox 88"/>
          <p:cNvSpPr txBox="1"/>
          <p:nvPr/>
        </p:nvSpPr>
        <p:spPr>
          <a:xfrm>
            <a:off x="1697937" y="5418414"/>
            <a:ext cx="7313041" cy="186689"/>
          </a:xfrm>
          <a:prstGeom prst="rect">
            <a:avLst/>
          </a:prstGeom>
          <a:noFill/>
        </p:spPr>
        <p:txBody>
          <a:bodyPr wrap="none" lIns="0" rIns="0" tIns="0" bIns="0">
            <a:spAutoFit/>
          </a:bodyPr>
          <a:lstStyle/>
          <a:p>
            <a:r>
              <a:rPr sz="1100" b="0">
                <a:solidFill>
                  <a:srgbClr val="2E2E2E"/>
                </a:solidFill>
                <a:latin typeface="Calibri"/>
              </a:rPr>
              <a:t>of demand today. Pairing the incumbent route for volume with the fastest route for growth and leading with 'Cast Metal Partial</a:t>
            </a:r>
          </a:p>
        </p:txBody>
      </p:sp>
      <p:sp>
        <p:nvSpPr>
          <p:cNvPr id="90" name="TextBox 89"/>
          <p:cNvSpPr txBox="1"/>
          <p:nvPr/>
        </p:nvSpPr>
        <p:spPr>
          <a:xfrm>
            <a:off x="190500" y="5586054"/>
            <a:ext cx="774700" cy="186689"/>
          </a:xfrm>
          <a:prstGeom prst="rect">
            <a:avLst/>
          </a:prstGeom>
          <a:noFill/>
        </p:spPr>
        <p:txBody>
          <a:bodyPr wrap="none" lIns="0" rIns="0" tIns="0" bIns="0">
            <a:spAutoFit/>
          </a:bodyPr>
          <a:lstStyle/>
          <a:p>
            <a:r>
              <a:rPr sz="1100" b="0">
                <a:solidFill>
                  <a:srgbClr val="2E2E2E"/>
                </a:solidFill>
                <a:latin typeface="Calibri"/>
              </a:rPr>
              <a:t>Dentures' at</a:t>
            </a:r>
          </a:p>
        </p:txBody>
      </p:sp>
      <p:pic>
        <p:nvPicPr>
          <p:cNvPr id="91" name="Picture 90" descr="lock.png"/>
          <p:cNvPicPr>
            <a:picLocks noChangeAspect="1"/>
          </p:cNvPicPr>
          <p:nvPr/>
        </p:nvPicPr>
        <p:blipFill>
          <a:blip r:embed="rId4"/>
          <a:stretch>
            <a:fillRect/>
          </a:stretch>
        </p:blipFill>
        <p:spPr>
          <a:xfrm>
            <a:off x="913251" y="5576275"/>
            <a:ext cx="128699" cy="187198"/>
          </a:xfrm>
          <a:prstGeom prst="rect">
            <a:avLst/>
          </a:prstGeom>
        </p:spPr>
      </p:pic>
      <p:sp>
        <p:nvSpPr>
          <p:cNvPr id="92" name="TextBox 91"/>
          <p:cNvSpPr txBox="1"/>
          <p:nvPr/>
        </p:nvSpPr>
        <p:spPr>
          <a:xfrm>
            <a:off x="1080747" y="5586054"/>
            <a:ext cx="3137594" cy="186689"/>
          </a:xfrm>
          <a:prstGeom prst="rect">
            <a:avLst/>
          </a:prstGeom>
          <a:noFill/>
        </p:spPr>
        <p:txBody>
          <a:bodyPr wrap="none" lIns="0" rIns="0" tIns="0" bIns="0">
            <a:spAutoFit/>
          </a:bodyPr>
          <a:lstStyle/>
          <a:p>
            <a:r>
              <a:rPr sz="1100" b="0">
                <a:solidFill>
                  <a:srgbClr val="2E2E2E"/>
                </a:solidFill>
                <a:latin typeface="Calibri"/>
              </a:rPr>
              <a:t>is the highest-yield combination the dataset supports.</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597199"/>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597199"/>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597199"/>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819551"/>
            <a:ext cx="102108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8" name="Rectangle 17"/>
          <p:cNvSpPr/>
          <p:nvPr/>
        </p:nvSpPr>
        <p:spPr>
          <a:xfrm>
            <a:off x="142875" y="2914773"/>
            <a:ext cx="11906250" cy="1213871"/>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914773"/>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914773"/>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332091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4128643"/>
            <a:ext cx="11906250" cy="1213871"/>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4128643"/>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4" name="Connector 23"/>
          <p:cNvCxnSpPr/>
          <p:nvPr/>
        </p:nvCxnSpPr>
        <p:spPr>
          <a:xfrm>
            <a:off x="1571625" y="4128643"/>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453478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Rectangle 25"/>
          <p:cNvSpPr/>
          <p:nvPr/>
        </p:nvSpPr>
        <p:spPr>
          <a:xfrm>
            <a:off x="142875" y="5342514"/>
            <a:ext cx="11906250" cy="1213871"/>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5342514"/>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28" name="Connector 27"/>
          <p:cNvCxnSpPr/>
          <p:nvPr/>
        </p:nvCxnSpPr>
        <p:spPr>
          <a:xfrm>
            <a:off x="1571625" y="5342514"/>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5748660"/>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1743075" y="1948533"/>
            <a:ext cx="3516585" cy="186689"/>
          </a:xfrm>
          <a:prstGeom prst="rect">
            <a:avLst/>
          </a:prstGeom>
          <a:noFill/>
        </p:spPr>
        <p:txBody>
          <a:bodyPr wrap="none" lIns="0" rIns="0" tIns="0" bIns="0">
            <a:spAutoFit/>
          </a:bodyPr>
          <a:lstStyle/>
          <a:p>
            <a:r>
              <a:rPr sz="1100" b="0">
                <a:solidFill>
                  <a:srgbClr val="2E2E2E"/>
                </a:solidFill>
                <a:latin typeface="Calibri"/>
              </a:rPr>
              <a:t>Strongest historical expansion on record: Global value rose +</a:t>
            </a:r>
          </a:p>
        </p:txBody>
      </p:sp>
      <p:pic>
        <p:nvPicPr>
          <p:cNvPr id="32" name="Picture 31" descr="lock.png"/>
          <p:cNvPicPr>
            <a:picLocks noChangeAspect="1"/>
          </p:cNvPicPr>
          <p:nvPr/>
        </p:nvPicPr>
        <p:blipFill>
          <a:blip r:embed="rId4"/>
          <a:stretch>
            <a:fillRect/>
          </a:stretch>
        </p:blipFill>
        <p:spPr>
          <a:xfrm>
            <a:off x="5207711" y="1938754"/>
            <a:ext cx="128699" cy="187198"/>
          </a:xfrm>
          <a:prstGeom prst="rect">
            <a:avLst/>
          </a:prstGeom>
        </p:spPr>
      </p:pic>
      <p:sp>
        <p:nvSpPr>
          <p:cNvPr id="33" name="TextBox 32"/>
          <p:cNvSpPr txBox="1"/>
          <p:nvPr/>
        </p:nvSpPr>
        <p:spPr>
          <a:xfrm>
            <a:off x="5375207" y="1948533"/>
            <a:ext cx="935955" cy="186689"/>
          </a:xfrm>
          <a:prstGeom prst="rect">
            <a:avLst/>
          </a:prstGeom>
          <a:noFill/>
        </p:spPr>
        <p:txBody>
          <a:bodyPr wrap="none" lIns="0" rIns="0" tIns="0" bIns="0">
            <a:spAutoFit/>
          </a:bodyPr>
          <a:lstStyle/>
          <a:p>
            <a:r>
              <a:rPr sz="1100" b="0">
                <a:solidFill>
                  <a:srgbClr val="2E2E2E"/>
                </a:solidFill>
                <a:latin typeface="Calibri"/>
              </a:rPr>
              <a:t>year on year to</a:t>
            </a:r>
          </a:p>
        </p:txBody>
      </p:sp>
      <p:pic>
        <p:nvPicPr>
          <p:cNvPr id="34" name="Picture 33" descr="lock.png"/>
          <p:cNvPicPr>
            <a:picLocks noChangeAspect="1"/>
          </p:cNvPicPr>
          <p:nvPr/>
        </p:nvPicPr>
        <p:blipFill>
          <a:blip r:embed="rId4"/>
          <a:stretch>
            <a:fillRect/>
          </a:stretch>
        </p:blipFill>
        <p:spPr>
          <a:xfrm>
            <a:off x="6259214" y="1938754"/>
            <a:ext cx="128699" cy="187198"/>
          </a:xfrm>
          <a:prstGeom prst="rect">
            <a:avLst/>
          </a:prstGeom>
        </p:spPr>
      </p:pic>
      <p:sp>
        <p:nvSpPr>
          <p:cNvPr id="35" name="TextBox 34"/>
          <p:cNvSpPr txBox="1"/>
          <p:nvPr/>
        </p:nvSpPr>
        <p:spPr>
          <a:xfrm>
            <a:off x="6426710" y="1948533"/>
            <a:ext cx="4980706" cy="186689"/>
          </a:xfrm>
          <a:prstGeom prst="rect">
            <a:avLst/>
          </a:prstGeom>
          <a:noFill/>
        </p:spPr>
        <p:txBody>
          <a:bodyPr wrap="none" lIns="0" rIns="0" tIns="0" bIns="0">
            <a:spAutoFit/>
          </a:bodyPr>
          <a:lstStyle/>
          <a:p>
            <a:r>
              <a:rPr sz="1100" b="0">
                <a:solidFill>
                  <a:srgbClr val="2E2E2E"/>
                </a:solidFill>
                <a:latin typeface="Calibri"/>
              </a:rPr>
              <a:t>US$ Mn, the steepest single-year move of the 2021–2025 period. Demand for 'Flexible</a:t>
            </a:r>
          </a:p>
        </p:txBody>
      </p:sp>
      <p:sp>
        <p:nvSpPr>
          <p:cNvPr id="36" name="TextBox 35"/>
          <p:cNvSpPr txBox="1"/>
          <p:nvPr/>
        </p:nvSpPr>
        <p:spPr>
          <a:xfrm>
            <a:off x="1743075" y="2116173"/>
            <a:ext cx="1027087" cy="186689"/>
          </a:xfrm>
          <a:prstGeom prst="rect">
            <a:avLst/>
          </a:prstGeom>
          <a:noFill/>
        </p:spPr>
        <p:txBody>
          <a:bodyPr wrap="none" lIns="0" rIns="0" tIns="0" bIns="0">
            <a:spAutoFit/>
          </a:bodyPr>
          <a:lstStyle/>
          <a:p>
            <a:r>
              <a:rPr sz="1100" b="0">
                <a:solidFill>
                  <a:srgbClr val="2E2E2E"/>
                </a:solidFill>
                <a:latin typeface="Calibri"/>
              </a:rPr>
              <a:t>Partial Dentures'</a:t>
            </a:r>
          </a:p>
        </p:txBody>
      </p:sp>
      <p:pic>
        <p:nvPicPr>
          <p:cNvPr id="37" name="Picture 36" descr="lock.png"/>
          <p:cNvPicPr>
            <a:picLocks noChangeAspect="1"/>
          </p:cNvPicPr>
          <p:nvPr/>
        </p:nvPicPr>
        <p:blipFill>
          <a:blip r:embed="rId4"/>
          <a:stretch>
            <a:fillRect/>
          </a:stretch>
        </p:blipFill>
        <p:spPr>
          <a:xfrm>
            <a:off x="2718214" y="2106394"/>
            <a:ext cx="128699" cy="187198"/>
          </a:xfrm>
          <a:prstGeom prst="rect">
            <a:avLst/>
          </a:prstGeom>
        </p:spPr>
      </p:pic>
      <p:sp>
        <p:nvSpPr>
          <p:cNvPr id="38" name="TextBox 37"/>
          <p:cNvSpPr txBox="1"/>
          <p:nvPr/>
        </p:nvSpPr>
        <p:spPr>
          <a:xfrm>
            <a:off x="2885710" y="2116173"/>
            <a:ext cx="6857925" cy="186689"/>
          </a:xfrm>
          <a:prstGeom prst="rect">
            <a:avLst/>
          </a:prstGeom>
          <a:noFill/>
        </p:spPr>
        <p:txBody>
          <a:bodyPr wrap="none" lIns="0" rIns="0" tIns="0" bIns="0">
            <a:spAutoFit/>
          </a:bodyPr>
          <a:lstStyle/>
          <a:p>
            <a:r>
              <a:rPr sz="1100" b="0">
                <a:solidFill>
                  <a:srgbClr val="2E2E2E"/>
                </a:solidFill>
                <a:latin typeface="Calibri"/>
              </a:rPr>
              <a:t>of product type value by 2036 set the pace, and the 4 end user routes tracked here all carried volume through the year.</a:t>
            </a:r>
          </a:p>
        </p:txBody>
      </p:sp>
      <p:sp>
        <p:nvSpPr>
          <p:cNvPr id="39" name="TextBox 38"/>
          <p:cNvSpPr txBox="1"/>
          <p:nvPr/>
        </p:nvSpPr>
        <p:spPr>
          <a:xfrm>
            <a:off x="1743075" y="3360774"/>
            <a:ext cx="3340465" cy="179984"/>
          </a:xfrm>
          <a:prstGeom prst="rect">
            <a:avLst/>
          </a:prstGeom>
          <a:noFill/>
        </p:spPr>
        <p:txBody>
          <a:bodyPr wrap="none" lIns="0" rIns="0" tIns="0" bIns="0">
            <a:spAutoFit/>
          </a:bodyPr>
          <a:lstStyle/>
          <a:p>
            <a:r>
              <a:rPr sz="1055" b="0">
                <a:solidFill>
                  <a:srgbClr val="2E2E2E"/>
                </a:solidFill>
                <a:latin typeface="Calibri"/>
              </a:rPr>
              <a:t>Base year for the forecast: the global market is estimated at</a:t>
            </a:r>
          </a:p>
        </p:txBody>
      </p:sp>
      <p:pic>
        <p:nvPicPr>
          <p:cNvPr id="40" name="Picture 39" descr="lock.png"/>
          <p:cNvPicPr>
            <a:picLocks noChangeAspect="1"/>
          </p:cNvPicPr>
          <p:nvPr/>
        </p:nvPicPr>
        <p:blipFill>
          <a:blip r:embed="rId4"/>
          <a:stretch>
            <a:fillRect/>
          </a:stretch>
        </p:blipFill>
        <p:spPr>
          <a:xfrm>
            <a:off x="5030621" y="3351386"/>
            <a:ext cx="123551" cy="179710"/>
          </a:xfrm>
          <a:prstGeom prst="rect">
            <a:avLst/>
          </a:prstGeom>
        </p:spPr>
      </p:pic>
      <p:sp>
        <p:nvSpPr>
          <p:cNvPr id="41" name="TextBox 40"/>
          <p:cNvSpPr txBox="1"/>
          <p:nvPr/>
        </p:nvSpPr>
        <p:spPr>
          <a:xfrm>
            <a:off x="5191417" y="3360774"/>
            <a:ext cx="1825680" cy="179984"/>
          </a:xfrm>
          <a:prstGeom prst="rect">
            <a:avLst/>
          </a:prstGeom>
          <a:noFill/>
        </p:spPr>
        <p:txBody>
          <a:bodyPr wrap="none" lIns="0" rIns="0" tIns="0" bIns="0">
            <a:spAutoFit/>
          </a:bodyPr>
          <a:lstStyle/>
          <a:p>
            <a:r>
              <a:rPr sz="1055" b="0">
                <a:solidFill>
                  <a:srgbClr val="2E2E2E"/>
                </a:solidFill>
                <a:latin typeface="Calibri"/>
              </a:rPr>
              <a:t>US$ Mn, having compounded at</a:t>
            </a:r>
          </a:p>
        </p:txBody>
      </p:sp>
      <p:pic>
        <p:nvPicPr>
          <p:cNvPr id="42" name="Picture 41" descr="lock.png"/>
          <p:cNvPicPr>
            <a:picLocks noChangeAspect="1"/>
          </p:cNvPicPr>
          <p:nvPr/>
        </p:nvPicPr>
        <p:blipFill>
          <a:blip r:embed="rId4"/>
          <a:stretch>
            <a:fillRect/>
          </a:stretch>
        </p:blipFill>
        <p:spPr>
          <a:xfrm>
            <a:off x="6964179" y="3351386"/>
            <a:ext cx="123551" cy="179710"/>
          </a:xfrm>
          <a:prstGeom prst="rect">
            <a:avLst/>
          </a:prstGeom>
        </p:spPr>
      </p:pic>
      <p:sp>
        <p:nvSpPr>
          <p:cNvPr id="43" name="TextBox 42"/>
          <p:cNvSpPr txBox="1"/>
          <p:nvPr/>
        </p:nvSpPr>
        <p:spPr>
          <a:xfrm>
            <a:off x="7124975" y="3360774"/>
            <a:ext cx="2310788" cy="179984"/>
          </a:xfrm>
          <a:prstGeom prst="rect">
            <a:avLst/>
          </a:prstGeom>
          <a:noFill/>
        </p:spPr>
        <p:txBody>
          <a:bodyPr wrap="none" lIns="0" rIns="0" tIns="0" bIns="0">
            <a:spAutoFit/>
          </a:bodyPr>
          <a:lstStyle/>
          <a:p>
            <a:r>
              <a:rPr sz="1055" b="0">
                <a:solidFill>
                  <a:srgbClr val="2E2E2E"/>
                </a:solidFill>
                <a:latin typeface="Calibri"/>
              </a:rPr>
              <a:t>across 2021–2025. 'North America' holds</a:t>
            </a:r>
          </a:p>
        </p:txBody>
      </p:sp>
      <p:pic>
        <p:nvPicPr>
          <p:cNvPr id="44" name="Picture 43" descr="lock.png"/>
          <p:cNvPicPr>
            <a:picLocks noChangeAspect="1"/>
          </p:cNvPicPr>
          <p:nvPr/>
        </p:nvPicPr>
        <p:blipFill>
          <a:blip r:embed="rId4"/>
          <a:stretch>
            <a:fillRect/>
          </a:stretch>
        </p:blipFill>
        <p:spPr>
          <a:xfrm>
            <a:off x="9382846" y="3351386"/>
            <a:ext cx="123551" cy="179710"/>
          </a:xfrm>
          <a:prstGeom prst="rect">
            <a:avLst/>
          </a:prstGeom>
        </p:spPr>
      </p:pic>
      <p:sp>
        <p:nvSpPr>
          <p:cNvPr id="45" name="TextBox 44"/>
          <p:cNvSpPr txBox="1"/>
          <p:nvPr/>
        </p:nvSpPr>
        <p:spPr>
          <a:xfrm>
            <a:off x="9543642" y="3360774"/>
            <a:ext cx="1896665" cy="179984"/>
          </a:xfrm>
          <a:prstGeom prst="rect">
            <a:avLst/>
          </a:prstGeom>
          <a:noFill/>
        </p:spPr>
        <p:txBody>
          <a:bodyPr wrap="none" lIns="0" rIns="0" tIns="0" bIns="0">
            <a:spAutoFit/>
          </a:bodyPr>
          <a:lstStyle/>
          <a:p>
            <a:r>
              <a:rPr sz="1055" b="0">
                <a:solidFill>
                  <a:srgbClr val="2E2E2E"/>
                </a:solidFill>
                <a:latin typeface="Calibri"/>
              </a:rPr>
              <a:t>of value across 6 regions, and the</a:t>
            </a:r>
          </a:p>
        </p:txBody>
      </p:sp>
      <p:sp>
        <p:nvSpPr>
          <p:cNvPr id="46" name="TextBox 45"/>
          <p:cNvSpPr txBox="1"/>
          <p:nvPr/>
        </p:nvSpPr>
        <p:spPr>
          <a:xfrm>
            <a:off x="1743075" y="3521708"/>
            <a:ext cx="4153519" cy="179984"/>
          </a:xfrm>
          <a:prstGeom prst="rect">
            <a:avLst/>
          </a:prstGeom>
          <a:noFill/>
        </p:spPr>
        <p:txBody>
          <a:bodyPr wrap="none" lIns="0" rIns="0" tIns="0" bIns="0">
            <a:spAutoFit/>
          </a:bodyPr>
          <a:lstStyle/>
          <a:p>
            <a:r>
              <a:rPr sz="1055" b="0">
                <a:solidFill>
                  <a:srgbClr val="2E2E2E"/>
                </a:solidFill>
                <a:latin typeface="Calibri"/>
              </a:rPr>
              <a:t>forecast is built from 8 segment breakdowns covering 4 product type lines.</a:t>
            </a:r>
          </a:p>
        </p:txBody>
      </p:sp>
      <p:sp>
        <p:nvSpPr>
          <p:cNvPr id="47" name="TextBox 46"/>
          <p:cNvSpPr txBox="1"/>
          <p:nvPr/>
        </p:nvSpPr>
        <p:spPr>
          <a:xfrm>
            <a:off x="1743075" y="4574644"/>
            <a:ext cx="2190297" cy="179984"/>
          </a:xfrm>
          <a:prstGeom prst="rect">
            <a:avLst/>
          </a:prstGeom>
          <a:noFill/>
        </p:spPr>
        <p:txBody>
          <a:bodyPr wrap="none" lIns="0" rIns="0" tIns="0" bIns="0">
            <a:spAutoFit/>
          </a:bodyPr>
          <a:lstStyle/>
          <a:p>
            <a:r>
              <a:rPr sz="1055" b="0">
                <a:solidFill>
                  <a:srgbClr val="2E2E2E"/>
                </a:solidFill>
                <a:latin typeface="Calibri"/>
              </a:rPr>
              <a:t>Mid-horizon checkpoint: value reaches</a:t>
            </a:r>
          </a:p>
        </p:txBody>
      </p:sp>
      <p:pic>
        <p:nvPicPr>
          <p:cNvPr id="48" name="Picture 47" descr="lock.png"/>
          <p:cNvPicPr>
            <a:picLocks noChangeAspect="1"/>
          </p:cNvPicPr>
          <p:nvPr/>
        </p:nvPicPr>
        <p:blipFill>
          <a:blip r:embed="rId4"/>
          <a:stretch>
            <a:fillRect/>
          </a:stretch>
        </p:blipFill>
        <p:spPr>
          <a:xfrm>
            <a:off x="3880454" y="4565256"/>
            <a:ext cx="123551" cy="179710"/>
          </a:xfrm>
          <a:prstGeom prst="rect">
            <a:avLst/>
          </a:prstGeom>
        </p:spPr>
      </p:pic>
      <p:sp>
        <p:nvSpPr>
          <p:cNvPr id="49" name="TextBox 48"/>
          <p:cNvSpPr txBox="1"/>
          <p:nvPr/>
        </p:nvSpPr>
        <p:spPr>
          <a:xfrm>
            <a:off x="4041250" y="4574644"/>
            <a:ext cx="541139" cy="179984"/>
          </a:xfrm>
          <a:prstGeom prst="rect">
            <a:avLst/>
          </a:prstGeom>
          <a:noFill/>
        </p:spPr>
        <p:txBody>
          <a:bodyPr wrap="none" lIns="0" rIns="0" tIns="0" bIns="0">
            <a:spAutoFit/>
          </a:bodyPr>
          <a:lstStyle/>
          <a:p>
            <a:r>
              <a:rPr sz="1055" b="0">
                <a:solidFill>
                  <a:srgbClr val="2E2E2E"/>
                </a:solidFill>
                <a:latin typeface="Calibri"/>
              </a:rPr>
              <a:t>US$ Mn,</a:t>
            </a:r>
          </a:p>
        </p:txBody>
      </p:sp>
      <p:pic>
        <p:nvPicPr>
          <p:cNvPr id="50" name="Picture 49" descr="lock.png"/>
          <p:cNvPicPr>
            <a:picLocks noChangeAspect="1"/>
          </p:cNvPicPr>
          <p:nvPr/>
        </p:nvPicPr>
        <p:blipFill>
          <a:blip r:embed="rId4"/>
          <a:stretch>
            <a:fillRect/>
          </a:stretch>
        </p:blipFill>
        <p:spPr>
          <a:xfrm>
            <a:off x="4529470" y="4565256"/>
            <a:ext cx="123551" cy="179710"/>
          </a:xfrm>
          <a:prstGeom prst="rect">
            <a:avLst/>
          </a:prstGeom>
        </p:spPr>
      </p:pic>
      <p:sp>
        <p:nvSpPr>
          <p:cNvPr id="51" name="TextBox 50"/>
          <p:cNvSpPr txBox="1"/>
          <p:nvPr/>
        </p:nvSpPr>
        <p:spPr>
          <a:xfrm>
            <a:off x="4690266" y="4574644"/>
            <a:ext cx="2581333" cy="179984"/>
          </a:xfrm>
          <a:prstGeom prst="rect">
            <a:avLst/>
          </a:prstGeom>
          <a:noFill/>
        </p:spPr>
        <p:txBody>
          <a:bodyPr wrap="none" lIns="0" rIns="0" tIns="0" bIns="0">
            <a:spAutoFit/>
          </a:bodyPr>
          <a:lstStyle/>
          <a:p>
            <a:r>
              <a:rPr sz="1055" b="0">
                <a:solidFill>
                  <a:srgbClr val="2E2E2E"/>
                </a:solidFill>
                <a:latin typeface="Calibri"/>
              </a:rPr>
              <a:t>× the 2026 base. Average realisation stands at</a:t>
            </a:r>
          </a:p>
        </p:txBody>
      </p:sp>
      <p:pic>
        <p:nvPicPr>
          <p:cNvPr id="52" name="Picture 51" descr="lock.png"/>
          <p:cNvPicPr>
            <a:picLocks noChangeAspect="1"/>
          </p:cNvPicPr>
          <p:nvPr/>
        </p:nvPicPr>
        <p:blipFill>
          <a:blip r:embed="rId4"/>
          <a:stretch>
            <a:fillRect/>
          </a:stretch>
        </p:blipFill>
        <p:spPr>
          <a:xfrm>
            <a:off x="7218681" y="4565256"/>
            <a:ext cx="123551" cy="179710"/>
          </a:xfrm>
          <a:prstGeom prst="rect">
            <a:avLst/>
          </a:prstGeom>
        </p:spPr>
      </p:pic>
      <p:sp>
        <p:nvSpPr>
          <p:cNvPr id="53" name="TextBox 52"/>
          <p:cNvSpPr txBox="1"/>
          <p:nvPr/>
        </p:nvSpPr>
        <p:spPr>
          <a:xfrm>
            <a:off x="7379477" y="4574644"/>
            <a:ext cx="1845063" cy="179984"/>
          </a:xfrm>
          <a:prstGeom prst="rect">
            <a:avLst/>
          </a:prstGeom>
          <a:noFill/>
        </p:spPr>
        <p:txBody>
          <a:bodyPr wrap="none" lIns="0" rIns="0" tIns="0" bIns="0">
            <a:spAutoFit/>
          </a:bodyPr>
          <a:lstStyle/>
          <a:p>
            <a:r>
              <a:rPr sz="1055" b="0">
                <a:solidFill>
                  <a:srgbClr val="2E2E2E"/>
                </a:solidFill>
                <a:latin typeface="Calibri"/>
              </a:rPr>
              <a:t>US$/Units, and mix has moved +</a:t>
            </a:r>
          </a:p>
        </p:txBody>
      </p:sp>
      <p:pic>
        <p:nvPicPr>
          <p:cNvPr id="54" name="Picture 53" descr="lock.png"/>
          <p:cNvPicPr>
            <a:picLocks noChangeAspect="1"/>
          </p:cNvPicPr>
          <p:nvPr/>
        </p:nvPicPr>
        <p:blipFill>
          <a:blip r:embed="rId4"/>
          <a:stretch>
            <a:fillRect/>
          </a:stretch>
        </p:blipFill>
        <p:spPr>
          <a:xfrm>
            <a:off x="9171623" y="4565256"/>
            <a:ext cx="123551" cy="179710"/>
          </a:xfrm>
          <a:prstGeom prst="rect">
            <a:avLst/>
          </a:prstGeom>
        </p:spPr>
      </p:pic>
      <p:sp>
        <p:nvSpPr>
          <p:cNvPr id="55" name="TextBox 54"/>
          <p:cNvSpPr txBox="1"/>
          <p:nvPr/>
        </p:nvSpPr>
        <p:spPr>
          <a:xfrm>
            <a:off x="9332419" y="4574644"/>
            <a:ext cx="1730859" cy="179984"/>
          </a:xfrm>
          <a:prstGeom prst="rect">
            <a:avLst/>
          </a:prstGeom>
          <a:noFill/>
        </p:spPr>
        <p:txBody>
          <a:bodyPr wrap="none" lIns="0" rIns="0" tIns="0" bIns="0">
            <a:spAutoFit/>
          </a:bodyPr>
          <a:lstStyle/>
          <a:p>
            <a:r>
              <a:rPr sz="1055" b="0">
                <a:solidFill>
                  <a:srgbClr val="2E2E2E"/>
                </a:solidFill>
                <a:latin typeface="Calibri"/>
              </a:rPr>
              <a:t>BPS toward 'Cast Metal Partial</a:t>
            </a:r>
          </a:p>
        </p:txBody>
      </p:sp>
      <p:sp>
        <p:nvSpPr>
          <p:cNvPr id="56" name="TextBox 55"/>
          <p:cNvSpPr txBox="1"/>
          <p:nvPr/>
        </p:nvSpPr>
        <p:spPr>
          <a:xfrm>
            <a:off x="1743075" y="4735578"/>
            <a:ext cx="2827591" cy="179984"/>
          </a:xfrm>
          <a:prstGeom prst="rect">
            <a:avLst/>
          </a:prstGeom>
          <a:noFill/>
        </p:spPr>
        <p:txBody>
          <a:bodyPr wrap="none" lIns="0" rIns="0" tIns="0" bIns="0">
            <a:spAutoFit/>
          </a:bodyPr>
          <a:lstStyle/>
          <a:p>
            <a:r>
              <a:rPr sz="1055" b="0">
                <a:solidFill>
                  <a:srgbClr val="2E2E2E"/>
                </a:solidFill>
                <a:latin typeface="Calibri"/>
              </a:rPr>
              <a:t>Dentures' while 'Flexible Partial Dentures' gives up</a:t>
            </a:r>
          </a:p>
        </p:txBody>
      </p:sp>
      <p:pic>
        <p:nvPicPr>
          <p:cNvPr id="57" name="Picture 56" descr="lock.png"/>
          <p:cNvPicPr>
            <a:picLocks noChangeAspect="1"/>
          </p:cNvPicPr>
          <p:nvPr/>
        </p:nvPicPr>
        <p:blipFill>
          <a:blip r:embed="rId4"/>
          <a:stretch>
            <a:fillRect/>
          </a:stretch>
        </p:blipFill>
        <p:spPr>
          <a:xfrm>
            <a:off x="4517748" y="4726190"/>
            <a:ext cx="123551" cy="179710"/>
          </a:xfrm>
          <a:prstGeom prst="rect">
            <a:avLst/>
          </a:prstGeom>
        </p:spPr>
      </p:pic>
      <p:sp>
        <p:nvSpPr>
          <p:cNvPr id="58" name="TextBox 57"/>
          <p:cNvSpPr txBox="1"/>
          <p:nvPr/>
        </p:nvSpPr>
        <p:spPr>
          <a:xfrm>
            <a:off x="4678544" y="4735578"/>
            <a:ext cx="314039" cy="179984"/>
          </a:xfrm>
          <a:prstGeom prst="rect">
            <a:avLst/>
          </a:prstGeom>
          <a:noFill/>
        </p:spPr>
        <p:txBody>
          <a:bodyPr wrap="none" lIns="0" rIns="0" tIns="0" bIns="0">
            <a:spAutoFit/>
          </a:bodyPr>
          <a:lstStyle/>
          <a:p>
            <a:r>
              <a:rPr sz="1055" b="0">
                <a:solidFill>
                  <a:srgbClr val="2E2E2E"/>
                </a:solidFill>
                <a:latin typeface="Calibri"/>
              </a:rPr>
              <a:t>BPS.</a:t>
            </a:r>
          </a:p>
        </p:txBody>
      </p:sp>
      <p:sp>
        <p:nvSpPr>
          <p:cNvPr id="59" name="TextBox 58"/>
          <p:cNvSpPr txBox="1"/>
          <p:nvPr/>
        </p:nvSpPr>
        <p:spPr>
          <a:xfrm>
            <a:off x="1743075" y="5788516"/>
            <a:ext cx="2544146" cy="179984"/>
          </a:xfrm>
          <a:prstGeom prst="rect">
            <a:avLst/>
          </a:prstGeom>
          <a:noFill/>
        </p:spPr>
        <p:txBody>
          <a:bodyPr wrap="none" lIns="0" rIns="0" tIns="0" bIns="0">
            <a:spAutoFit/>
          </a:bodyPr>
          <a:lstStyle/>
          <a:p>
            <a:r>
              <a:rPr sz="1055" b="0">
                <a:solidFill>
                  <a:srgbClr val="2E2E2E"/>
                </a:solidFill>
                <a:latin typeface="Calibri"/>
              </a:rPr>
              <a:t>Forecast outcome: the global market reaches</a:t>
            </a:r>
          </a:p>
        </p:txBody>
      </p:sp>
      <p:pic>
        <p:nvPicPr>
          <p:cNvPr id="60" name="Picture 59" descr="lock.png"/>
          <p:cNvPicPr>
            <a:picLocks noChangeAspect="1"/>
          </p:cNvPicPr>
          <p:nvPr/>
        </p:nvPicPr>
        <p:blipFill>
          <a:blip r:embed="rId4"/>
          <a:stretch>
            <a:fillRect/>
          </a:stretch>
        </p:blipFill>
        <p:spPr>
          <a:xfrm>
            <a:off x="4234303" y="5779128"/>
            <a:ext cx="123551" cy="179710"/>
          </a:xfrm>
          <a:prstGeom prst="rect">
            <a:avLst/>
          </a:prstGeom>
        </p:spPr>
      </p:pic>
      <p:sp>
        <p:nvSpPr>
          <p:cNvPr id="61" name="TextBox 60"/>
          <p:cNvSpPr txBox="1"/>
          <p:nvPr/>
        </p:nvSpPr>
        <p:spPr>
          <a:xfrm>
            <a:off x="4395098" y="5788516"/>
            <a:ext cx="635698" cy="179984"/>
          </a:xfrm>
          <a:prstGeom prst="rect">
            <a:avLst/>
          </a:prstGeom>
          <a:noFill/>
        </p:spPr>
        <p:txBody>
          <a:bodyPr wrap="none" lIns="0" rIns="0" tIns="0" bIns="0">
            <a:spAutoFit/>
          </a:bodyPr>
          <a:lstStyle/>
          <a:p>
            <a:r>
              <a:rPr sz="1055" b="0">
                <a:solidFill>
                  <a:srgbClr val="2E2E2E"/>
                </a:solidFill>
                <a:latin typeface="Calibri"/>
              </a:rPr>
              <a:t>US$ Mn, a</a:t>
            </a:r>
          </a:p>
        </p:txBody>
      </p:sp>
      <p:pic>
        <p:nvPicPr>
          <p:cNvPr id="62" name="Picture 61" descr="lock.png"/>
          <p:cNvPicPr>
            <a:picLocks noChangeAspect="1"/>
          </p:cNvPicPr>
          <p:nvPr/>
        </p:nvPicPr>
        <p:blipFill>
          <a:blip r:embed="rId4"/>
          <a:stretch>
            <a:fillRect/>
          </a:stretch>
        </p:blipFill>
        <p:spPr>
          <a:xfrm>
            <a:off x="4977879" y="5779128"/>
            <a:ext cx="123551" cy="179710"/>
          </a:xfrm>
          <a:prstGeom prst="rect">
            <a:avLst/>
          </a:prstGeom>
        </p:spPr>
      </p:pic>
      <p:sp>
        <p:nvSpPr>
          <p:cNvPr id="63" name="TextBox 62"/>
          <p:cNvSpPr txBox="1"/>
          <p:nvPr/>
        </p:nvSpPr>
        <p:spPr>
          <a:xfrm>
            <a:off x="5138675" y="5788516"/>
            <a:ext cx="1437751" cy="179984"/>
          </a:xfrm>
          <a:prstGeom prst="rect">
            <a:avLst/>
          </a:prstGeom>
          <a:noFill/>
        </p:spPr>
        <p:txBody>
          <a:bodyPr wrap="none" lIns="0" rIns="0" tIns="0" bIns="0">
            <a:spAutoFit/>
          </a:bodyPr>
          <a:lstStyle/>
          <a:p>
            <a:r>
              <a:rPr sz="1055" b="0">
                <a:solidFill>
                  <a:srgbClr val="2E2E2E"/>
                </a:solidFill>
                <a:latin typeface="Calibri"/>
              </a:rPr>
              <a:t>× expansion on 2026 and</a:t>
            </a:r>
          </a:p>
        </p:txBody>
      </p:sp>
      <p:pic>
        <p:nvPicPr>
          <p:cNvPr id="64" name="Picture 63" descr="lock.png"/>
          <p:cNvPicPr>
            <a:picLocks noChangeAspect="1"/>
          </p:cNvPicPr>
          <p:nvPr/>
        </p:nvPicPr>
        <p:blipFill>
          <a:blip r:embed="rId4"/>
          <a:stretch>
            <a:fillRect/>
          </a:stretch>
        </p:blipFill>
        <p:spPr>
          <a:xfrm>
            <a:off x="6523507" y="5779128"/>
            <a:ext cx="123551" cy="179710"/>
          </a:xfrm>
          <a:prstGeom prst="rect">
            <a:avLst/>
          </a:prstGeom>
        </p:spPr>
      </p:pic>
      <p:sp>
        <p:nvSpPr>
          <p:cNvPr id="65" name="TextBox 64"/>
          <p:cNvSpPr txBox="1"/>
          <p:nvPr/>
        </p:nvSpPr>
        <p:spPr>
          <a:xfrm>
            <a:off x="6684303" y="5788516"/>
            <a:ext cx="1799224" cy="179984"/>
          </a:xfrm>
          <a:prstGeom prst="rect">
            <a:avLst/>
          </a:prstGeom>
          <a:noFill/>
        </p:spPr>
        <p:txBody>
          <a:bodyPr wrap="none" lIns="0" rIns="0" tIns="0" bIns="0">
            <a:spAutoFit/>
          </a:bodyPr>
          <a:lstStyle/>
          <a:p>
            <a:r>
              <a:rPr sz="1055" b="0">
                <a:solidFill>
                  <a:srgbClr val="2E2E2E"/>
                </a:solidFill>
                <a:latin typeface="Calibri"/>
              </a:rPr>
              <a:t>US$ Mn of incremental value at</a:t>
            </a:r>
          </a:p>
        </p:txBody>
      </p:sp>
      <p:pic>
        <p:nvPicPr>
          <p:cNvPr id="66" name="Picture 65" descr="lock.png"/>
          <p:cNvPicPr>
            <a:picLocks noChangeAspect="1"/>
          </p:cNvPicPr>
          <p:nvPr/>
        </p:nvPicPr>
        <p:blipFill>
          <a:blip r:embed="rId4"/>
          <a:stretch>
            <a:fillRect/>
          </a:stretch>
        </p:blipFill>
        <p:spPr>
          <a:xfrm>
            <a:off x="8430610" y="5779128"/>
            <a:ext cx="123551" cy="179710"/>
          </a:xfrm>
          <a:prstGeom prst="rect">
            <a:avLst/>
          </a:prstGeom>
        </p:spPr>
      </p:pic>
      <p:sp>
        <p:nvSpPr>
          <p:cNvPr id="67" name="TextBox 66"/>
          <p:cNvSpPr txBox="1"/>
          <p:nvPr/>
        </p:nvSpPr>
        <p:spPr>
          <a:xfrm>
            <a:off x="8591406" y="5788516"/>
            <a:ext cx="1678717" cy="179984"/>
          </a:xfrm>
          <a:prstGeom prst="rect">
            <a:avLst/>
          </a:prstGeom>
          <a:noFill/>
        </p:spPr>
        <p:txBody>
          <a:bodyPr wrap="none" lIns="0" rIns="0" tIns="0" bIns="0">
            <a:spAutoFit/>
          </a:bodyPr>
          <a:lstStyle/>
          <a:p>
            <a:r>
              <a:rPr sz="1055" b="0">
                <a:solidFill>
                  <a:srgbClr val="2E2E2E"/>
                </a:solidFill>
                <a:latin typeface="Calibri"/>
              </a:rPr>
              <a:t>CAGR. Volume compounds at</a:t>
            </a:r>
          </a:p>
        </p:txBody>
      </p:sp>
      <p:pic>
        <p:nvPicPr>
          <p:cNvPr id="68" name="Picture 67" descr="lock.png"/>
          <p:cNvPicPr>
            <a:picLocks noChangeAspect="1"/>
          </p:cNvPicPr>
          <p:nvPr/>
        </p:nvPicPr>
        <p:blipFill>
          <a:blip r:embed="rId4"/>
          <a:stretch>
            <a:fillRect/>
          </a:stretch>
        </p:blipFill>
        <p:spPr>
          <a:xfrm>
            <a:off x="10217204" y="5779128"/>
            <a:ext cx="123551" cy="179710"/>
          </a:xfrm>
          <a:prstGeom prst="rect">
            <a:avLst/>
          </a:prstGeom>
        </p:spPr>
      </p:pic>
      <p:sp>
        <p:nvSpPr>
          <p:cNvPr id="69" name="TextBox 68"/>
          <p:cNvSpPr txBox="1"/>
          <p:nvPr/>
        </p:nvSpPr>
        <p:spPr>
          <a:xfrm>
            <a:off x="10378000" y="5788516"/>
            <a:ext cx="854678" cy="179984"/>
          </a:xfrm>
          <a:prstGeom prst="rect">
            <a:avLst/>
          </a:prstGeom>
          <a:noFill/>
        </p:spPr>
        <p:txBody>
          <a:bodyPr wrap="none" lIns="0" rIns="0" tIns="0" bIns="0">
            <a:spAutoFit/>
          </a:bodyPr>
          <a:lstStyle/>
          <a:p>
            <a:r>
              <a:rPr sz="1055" b="0">
                <a:solidFill>
                  <a:srgbClr val="2E2E2E"/>
                </a:solidFill>
                <a:latin typeface="Calibri"/>
              </a:rPr>
              <a:t>over the same</a:t>
            </a:r>
          </a:p>
        </p:txBody>
      </p:sp>
      <p:sp>
        <p:nvSpPr>
          <p:cNvPr id="70" name="TextBox 69"/>
          <p:cNvSpPr txBox="1"/>
          <p:nvPr/>
        </p:nvSpPr>
        <p:spPr>
          <a:xfrm>
            <a:off x="1743075" y="5949450"/>
            <a:ext cx="1565052" cy="179984"/>
          </a:xfrm>
          <a:prstGeom prst="rect">
            <a:avLst/>
          </a:prstGeom>
          <a:noFill/>
        </p:spPr>
        <p:txBody>
          <a:bodyPr wrap="none" lIns="0" rIns="0" tIns="0" bIns="0">
            <a:spAutoFit/>
          </a:bodyPr>
          <a:lstStyle/>
          <a:p>
            <a:r>
              <a:rPr sz="1055" b="0">
                <a:solidFill>
                  <a:srgbClr val="2E2E2E"/>
                </a:solidFill>
                <a:latin typeface="Calibri"/>
              </a:rPr>
              <a:t>window, leaving realisation</a:t>
            </a:r>
          </a:p>
        </p:txBody>
      </p:sp>
      <p:pic>
        <p:nvPicPr>
          <p:cNvPr id="71" name="Picture 70" descr="lock.png"/>
          <p:cNvPicPr>
            <a:picLocks noChangeAspect="1"/>
          </p:cNvPicPr>
          <p:nvPr/>
        </p:nvPicPr>
        <p:blipFill>
          <a:blip r:embed="rId4"/>
          <a:stretch>
            <a:fillRect/>
          </a:stretch>
        </p:blipFill>
        <p:spPr>
          <a:xfrm>
            <a:off x="3255209" y="5940062"/>
            <a:ext cx="123551" cy="179710"/>
          </a:xfrm>
          <a:prstGeom prst="rect">
            <a:avLst/>
          </a:prstGeom>
        </p:spPr>
      </p:pic>
      <p:sp>
        <p:nvSpPr>
          <p:cNvPr id="72" name="TextBox 71"/>
          <p:cNvSpPr txBox="1"/>
          <p:nvPr/>
        </p:nvSpPr>
        <p:spPr>
          <a:xfrm>
            <a:off x="3416005" y="5949450"/>
            <a:ext cx="4255412" cy="179984"/>
          </a:xfrm>
          <a:prstGeom prst="rect">
            <a:avLst/>
          </a:prstGeom>
          <a:noFill/>
        </p:spPr>
        <p:txBody>
          <a:bodyPr wrap="none" lIns="0" rIns="0" tIns="0" bIns="0">
            <a:spAutoFit/>
          </a:bodyPr>
          <a:lstStyle/>
          <a:p>
            <a:r>
              <a:rPr sz="1055" b="0">
                <a:solidFill>
                  <a:srgbClr val="2E2E2E"/>
                </a:solidFill>
                <a:latin typeface="Calibri"/>
              </a:rPr>
              <a:t>a year the gap between the two is the premiumisation the forecast assumes.</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Removable Partial Dentures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4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2628900" y="385483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2628900" y="4539352"/>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4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50101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5010150" y="4530225"/>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5" name="TextBox 54"/>
          <p:cNvSpPr txBox="1"/>
          <p:nvPr/>
        </p:nvSpPr>
        <p:spPr>
          <a:xfrm>
            <a:off x="977265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6" name="TextBox 55"/>
          <p:cNvSpPr txBox="1"/>
          <p:nvPr/>
        </p:nvSpPr>
        <p:spPr>
          <a:xfrm>
            <a:off x="9772650" y="4347688"/>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8" name="TextBox 57"/>
          <p:cNvSpPr txBox="1"/>
          <p:nvPr/>
        </p:nvSpPr>
        <p:spPr>
          <a:xfrm>
            <a:off x="171450" y="1069470"/>
            <a:ext cx="9743330" cy="186689"/>
          </a:xfrm>
          <a:prstGeom prst="rect">
            <a:avLst/>
          </a:prstGeom>
          <a:noFill/>
        </p:spPr>
        <p:txBody>
          <a:bodyPr wrap="none" lIns="0" rIns="0" tIns="0" bIns="0">
            <a:spAutoFit/>
          </a:bodyPr>
          <a:lstStyle/>
          <a:p>
            <a:r>
              <a:rPr sz="1100" b="0">
                <a:solidFill>
                  <a:srgbClr val="6C7A89"/>
                </a:solidFill>
                <a:latin typeface="Calibri"/>
              </a:rPr>
              <a:t>Supplier power, buyer power, competitive intensity, substitution and entry barriers scored from the global dataset 4 product type lines, 4 end user routes and 6 regions at</a:t>
            </a:r>
          </a:p>
        </p:txBody>
      </p:sp>
      <p:pic>
        <p:nvPicPr>
          <p:cNvPr id="59" name="Picture 58" descr="lock.png"/>
          <p:cNvPicPr>
            <a:picLocks noChangeAspect="1"/>
          </p:cNvPicPr>
          <p:nvPr/>
        </p:nvPicPr>
        <p:blipFill>
          <a:blip r:embed="rId4"/>
          <a:stretch>
            <a:fillRect/>
          </a:stretch>
        </p:blipFill>
        <p:spPr>
          <a:xfrm>
            <a:off x="9862832" y="1059691"/>
            <a:ext cx="128699" cy="187198"/>
          </a:xfrm>
          <a:prstGeom prst="rect">
            <a:avLst/>
          </a:prstGeom>
        </p:spPr>
      </p:pic>
      <p:sp>
        <p:nvSpPr>
          <p:cNvPr id="60" name="TextBox 59"/>
          <p:cNvSpPr txBox="1"/>
          <p:nvPr/>
        </p:nvSpPr>
        <p:spPr>
          <a:xfrm>
            <a:off x="10030328" y="1069470"/>
            <a:ext cx="430617" cy="186689"/>
          </a:xfrm>
          <a:prstGeom prst="rect">
            <a:avLst/>
          </a:prstGeom>
          <a:noFill/>
        </p:spPr>
        <p:txBody>
          <a:bodyPr wrap="none" lIns="0" rIns="0" tIns="0" bIns="0">
            <a:spAutoFit/>
          </a:bodyPr>
          <a:lstStyle/>
          <a:p>
            <a:r>
              <a:rPr sz="1100" b="0">
                <a:solidFill>
                  <a:srgbClr val="6C7A89"/>
                </a:solidFill>
                <a:latin typeface="Calibri"/>
              </a:rPr>
              <a:t>CAGR.</a:t>
            </a:r>
          </a:p>
        </p:txBody>
      </p:sp>
      <p:sp>
        <p:nvSpPr>
          <p:cNvPr id="61" name="TextBox 60"/>
          <p:cNvSpPr txBox="1"/>
          <p:nvPr/>
        </p:nvSpPr>
        <p:spPr>
          <a:xfrm>
            <a:off x="276225" y="2848734"/>
            <a:ext cx="2114550" cy="186689"/>
          </a:xfrm>
          <a:prstGeom prst="rect">
            <a:avLst/>
          </a:prstGeom>
          <a:noFill/>
        </p:spPr>
        <p:txBody>
          <a:bodyPr wrap="none" lIns="0" rIns="0" tIns="0" bIns="0">
            <a:spAutoFit/>
          </a:bodyPr>
          <a:lstStyle/>
          <a:p>
            <a:r>
              <a:rPr sz="1100" b="0">
                <a:solidFill>
                  <a:srgbClr val="2E2E2E"/>
                </a:solidFill>
                <a:latin typeface="Calibri"/>
              </a:rPr>
              <a:t>▸ Assessed moderate to high. 'North</a:t>
            </a:r>
          </a:p>
        </p:txBody>
      </p:sp>
      <p:sp>
        <p:nvSpPr>
          <p:cNvPr id="62" name="TextBox 61"/>
          <p:cNvSpPr txBox="1"/>
          <p:nvPr/>
        </p:nvSpPr>
        <p:spPr>
          <a:xfrm>
            <a:off x="276225" y="3016374"/>
            <a:ext cx="1071016" cy="186689"/>
          </a:xfrm>
          <a:prstGeom prst="rect">
            <a:avLst/>
          </a:prstGeom>
          <a:noFill/>
        </p:spPr>
        <p:txBody>
          <a:bodyPr wrap="none" lIns="0" rIns="0" tIns="0" bIns="0">
            <a:spAutoFit/>
          </a:bodyPr>
          <a:lstStyle/>
          <a:p>
            <a:r>
              <a:rPr sz="1100" b="0">
                <a:solidFill>
                  <a:srgbClr val="2E2E2E"/>
                </a:solidFill>
                <a:latin typeface="Calibri"/>
              </a:rPr>
              <a:t>America' supplies</a:t>
            </a:r>
          </a:p>
        </p:txBody>
      </p:sp>
      <p:pic>
        <p:nvPicPr>
          <p:cNvPr id="63" name="Picture 62" descr="lock.png"/>
          <p:cNvPicPr>
            <a:picLocks noChangeAspect="1"/>
          </p:cNvPicPr>
          <p:nvPr/>
        </p:nvPicPr>
        <p:blipFill>
          <a:blip r:embed="rId4"/>
          <a:stretch>
            <a:fillRect/>
          </a:stretch>
        </p:blipFill>
        <p:spPr>
          <a:xfrm>
            <a:off x="1295293" y="3006595"/>
            <a:ext cx="128699" cy="187198"/>
          </a:xfrm>
          <a:prstGeom prst="rect">
            <a:avLst/>
          </a:prstGeom>
        </p:spPr>
      </p:pic>
      <p:sp>
        <p:nvSpPr>
          <p:cNvPr id="64" name="TextBox 63"/>
          <p:cNvSpPr txBox="1"/>
          <p:nvPr/>
        </p:nvSpPr>
        <p:spPr>
          <a:xfrm>
            <a:off x="1462789" y="3016374"/>
            <a:ext cx="844549"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65" name="TextBox 64"/>
          <p:cNvSpPr txBox="1"/>
          <p:nvPr/>
        </p:nvSpPr>
        <p:spPr>
          <a:xfrm>
            <a:off x="276225" y="3184014"/>
            <a:ext cx="1842095" cy="186689"/>
          </a:xfrm>
          <a:prstGeom prst="rect">
            <a:avLst/>
          </a:prstGeom>
          <a:noFill/>
        </p:spPr>
        <p:txBody>
          <a:bodyPr wrap="none" lIns="0" rIns="0" tIns="0" bIns="0">
            <a:spAutoFit/>
          </a:bodyPr>
          <a:lstStyle/>
          <a:p>
            <a:r>
              <a:rPr sz="1100" b="0">
                <a:solidFill>
                  <a:srgbClr val="2E2E2E"/>
                </a:solidFill>
                <a:latin typeface="Calibri"/>
              </a:rPr>
              <a:t>across 6 regions, concentrating</a:t>
            </a:r>
          </a:p>
        </p:txBody>
      </p:sp>
      <p:sp>
        <p:nvSpPr>
          <p:cNvPr id="66" name="TextBox 65"/>
          <p:cNvSpPr txBox="1"/>
          <p:nvPr/>
        </p:nvSpPr>
        <p:spPr>
          <a:xfrm>
            <a:off x="276225" y="3351654"/>
            <a:ext cx="1173608" cy="186689"/>
          </a:xfrm>
          <a:prstGeom prst="rect">
            <a:avLst/>
          </a:prstGeom>
          <a:noFill/>
        </p:spPr>
        <p:txBody>
          <a:bodyPr wrap="none" lIns="0" rIns="0" tIns="0" bIns="0">
            <a:spAutoFit/>
          </a:bodyPr>
          <a:lstStyle/>
          <a:p>
            <a:r>
              <a:rPr sz="1100" b="0">
                <a:solidFill>
                  <a:srgbClr val="2E2E2E"/>
                </a:solidFill>
                <a:latin typeface="Calibri"/>
              </a:rPr>
              <a:t>upstream leverage.</a:t>
            </a:r>
          </a:p>
        </p:txBody>
      </p:sp>
      <p:sp>
        <p:nvSpPr>
          <p:cNvPr id="67" name="TextBox 66"/>
          <p:cNvSpPr txBox="1"/>
          <p:nvPr/>
        </p:nvSpPr>
        <p:spPr>
          <a:xfrm>
            <a:off x="276225" y="3799605"/>
            <a:ext cx="1676163" cy="186689"/>
          </a:xfrm>
          <a:prstGeom prst="rect">
            <a:avLst/>
          </a:prstGeom>
          <a:noFill/>
        </p:spPr>
        <p:txBody>
          <a:bodyPr wrap="none" lIns="0" rIns="0" tIns="0" bIns="0">
            <a:spAutoFit/>
          </a:bodyPr>
          <a:lstStyle/>
          <a:p>
            <a:r>
              <a:rPr sz="1100" b="0">
                <a:solidFill>
                  <a:srgbClr val="2E2E2E"/>
                </a:solidFill>
                <a:latin typeface="Calibri"/>
              </a:rPr>
              <a:t>▸ Average realisation moves</a:t>
            </a:r>
          </a:p>
        </p:txBody>
      </p:sp>
      <p:pic>
        <p:nvPicPr>
          <p:cNvPr id="68" name="Picture 67" descr="lock.png"/>
          <p:cNvPicPr>
            <a:picLocks noChangeAspect="1"/>
          </p:cNvPicPr>
          <p:nvPr/>
        </p:nvPicPr>
        <p:blipFill>
          <a:blip r:embed="rId4"/>
          <a:stretch>
            <a:fillRect/>
          </a:stretch>
        </p:blipFill>
        <p:spPr>
          <a:xfrm>
            <a:off x="1900439" y="3789826"/>
            <a:ext cx="128699" cy="187198"/>
          </a:xfrm>
          <a:prstGeom prst="rect">
            <a:avLst/>
          </a:prstGeom>
        </p:spPr>
      </p:pic>
      <p:sp>
        <p:nvSpPr>
          <p:cNvPr id="69" name="TextBox 68"/>
          <p:cNvSpPr txBox="1"/>
          <p:nvPr/>
        </p:nvSpPr>
        <p:spPr>
          <a:xfrm>
            <a:off x="2067935" y="3799605"/>
            <a:ext cx="143048" cy="186689"/>
          </a:xfrm>
          <a:prstGeom prst="rect">
            <a:avLst/>
          </a:prstGeom>
          <a:noFill/>
        </p:spPr>
        <p:txBody>
          <a:bodyPr wrap="none" lIns="0" rIns="0" tIns="0" bIns="0">
            <a:spAutoFit/>
          </a:bodyPr>
          <a:lstStyle/>
          <a:p>
            <a:r>
              <a:rPr sz="1100" b="0">
                <a:solidFill>
                  <a:srgbClr val="2E2E2E"/>
                </a:solidFill>
                <a:latin typeface="Calibri"/>
              </a:rPr>
              <a:t>a</a:t>
            </a:r>
          </a:p>
        </p:txBody>
      </p:sp>
      <p:sp>
        <p:nvSpPr>
          <p:cNvPr id="70" name="TextBox 69"/>
          <p:cNvSpPr txBox="1"/>
          <p:nvPr/>
        </p:nvSpPr>
        <p:spPr>
          <a:xfrm>
            <a:off x="276225" y="3967245"/>
            <a:ext cx="2031181" cy="186689"/>
          </a:xfrm>
          <a:prstGeom prst="rect">
            <a:avLst/>
          </a:prstGeom>
          <a:noFill/>
        </p:spPr>
        <p:txBody>
          <a:bodyPr wrap="none" lIns="0" rIns="0" tIns="0" bIns="0">
            <a:spAutoFit/>
          </a:bodyPr>
          <a:lstStyle/>
          <a:p>
            <a:r>
              <a:rPr sz="1100" b="0">
                <a:solidFill>
                  <a:srgbClr val="2E2E2E"/>
                </a:solidFill>
                <a:latin typeface="Calibri"/>
              </a:rPr>
              <a:t>year (2026–2036), indicating input</a:t>
            </a:r>
          </a:p>
        </p:txBody>
      </p:sp>
      <p:sp>
        <p:nvSpPr>
          <p:cNvPr id="71" name="TextBox 70"/>
          <p:cNvSpPr txBox="1"/>
          <p:nvPr/>
        </p:nvSpPr>
        <p:spPr>
          <a:xfrm>
            <a:off x="276225" y="4134885"/>
            <a:ext cx="1874291" cy="186689"/>
          </a:xfrm>
          <a:prstGeom prst="rect">
            <a:avLst/>
          </a:prstGeom>
          <a:noFill/>
        </p:spPr>
        <p:txBody>
          <a:bodyPr wrap="none" lIns="0" rIns="0" tIns="0" bIns="0">
            <a:spAutoFit/>
          </a:bodyPr>
          <a:lstStyle/>
          <a:p>
            <a:r>
              <a:rPr sz="1100" b="0">
                <a:solidFill>
                  <a:srgbClr val="2E2E2E"/>
                </a:solidFill>
                <a:latin typeface="Calibri"/>
              </a:rPr>
              <a:t>costs are being passed through.</a:t>
            </a:r>
          </a:p>
        </p:txBody>
      </p:sp>
      <p:sp>
        <p:nvSpPr>
          <p:cNvPr id="72" name="TextBox 71"/>
          <p:cNvSpPr txBox="1"/>
          <p:nvPr/>
        </p:nvSpPr>
        <p:spPr>
          <a:xfrm>
            <a:off x="2657475" y="2860746"/>
            <a:ext cx="1746324" cy="186689"/>
          </a:xfrm>
          <a:prstGeom prst="rect">
            <a:avLst/>
          </a:prstGeom>
          <a:noFill/>
        </p:spPr>
        <p:txBody>
          <a:bodyPr wrap="none" lIns="0" rIns="0" tIns="0" bIns="0">
            <a:spAutoFit/>
          </a:bodyPr>
          <a:lstStyle/>
          <a:p>
            <a:r>
              <a:rPr sz="1100" b="0">
                <a:solidFill>
                  <a:srgbClr val="2E2E2E"/>
                </a:solidFill>
                <a:latin typeface="Calibri"/>
              </a:rPr>
              <a:t>▸ Assessed moderate to high.</a:t>
            </a:r>
          </a:p>
        </p:txBody>
      </p:sp>
      <p:sp>
        <p:nvSpPr>
          <p:cNvPr id="73" name="TextBox 72"/>
          <p:cNvSpPr txBox="1"/>
          <p:nvPr/>
        </p:nvSpPr>
        <p:spPr>
          <a:xfrm>
            <a:off x="2657475" y="3028386"/>
            <a:ext cx="2071290" cy="186689"/>
          </a:xfrm>
          <a:prstGeom prst="rect">
            <a:avLst/>
          </a:prstGeom>
          <a:noFill/>
        </p:spPr>
        <p:txBody>
          <a:bodyPr wrap="none" lIns="0" rIns="0" tIns="0" bIns="0">
            <a:spAutoFit/>
          </a:bodyPr>
          <a:lstStyle/>
          <a:p>
            <a:r>
              <a:rPr sz="1100" b="0">
                <a:solidFill>
                  <a:srgbClr val="2E2E2E"/>
                </a:solidFill>
                <a:latin typeface="Calibri"/>
              </a:rPr>
              <a:t>Demand routes through 4 end user</a:t>
            </a:r>
          </a:p>
        </p:txBody>
      </p:sp>
      <p:sp>
        <p:nvSpPr>
          <p:cNvPr id="74" name="TextBox 73"/>
          <p:cNvSpPr txBox="1"/>
          <p:nvPr/>
        </p:nvSpPr>
        <p:spPr>
          <a:xfrm>
            <a:off x="2657475" y="3196026"/>
            <a:ext cx="1696119" cy="186689"/>
          </a:xfrm>
          <a:prstGeom prst="rect">
            <a:avLst/>
          </a:prstGeom>
          <a:noFill/>
        </p:spPr>
        <p:txBody>
          <a:bodyPr wrap="none" lIns="0" rIns="0" tIns="0" bIns="0">
            <a:spAutoFit/>
          </a:bodyPr>
          <a:lstStyle/>
          <a:p>
            <a:r>
              <a:rPr sz="1100" b="0">
                <a:solidFill>
                  <a:srgbClr val="2E2E2E"/>
                </a:solidFill>
                <a:latin typeface="Calibri"/>
              </a:rPr>
              <a:t>channels led by 'Academic &amp;</a:t>
            </a:r>
          </a:p>
        </p:txBody>
      </p:sp>
      <p:sp>
        <p:nvSpPr>
          <p:cNvPr id="75" name="TextBox 74"/>
          <p:cNvSpPr txBox="1"/>
          <p:nvPr/>
        </p:nvSpPr>
        <p:spPr>
          <a:xfrm>
            <a:off x="2657475" y="3363666"/>
            <a:ext cx="1842641" cy="186689"/>
          </a:xfrm>
          <a:prstGeom prst="rect">
            <a:avLst/>
          </a:prstGeom>
          <a:noFill/>
        </p:spPr>
        <p:txBody>
          <a:bodyPr wrap="none" lIns="0" rIns="0" tIns="0" bIns="0">
            <a:spAutoFit/>
          </a:bodyPr>
          <a:lstStyle/>
          <a:p>
            <a:r>
              <a:rPr sz="1100" b="0">
                <a:solidFill>
                  <a:srgbClr val="2E2E2E"/>
                </a:solidFill>
                <a:latin typeface="Calibri"/>
              </a:rPr>
              <a:t>Teaching Dental Institutions' at</a:t>
            </a:r>
          </a:p>
        </p:txBody>
      </p:sp>
      <p:pic>
        <p:nvPicPr>
          <p:cNvPr id="76" name="Picture 75" descr="lock.png"/>
          <p:cNvPicPr>
            <a:picLocks noChangeAspect="1"/>
          </p:cNvPicPr>
          <p:nvPr/>
        </p:nvPicPr>
        <p:blipFill>
          <a:blip r:embed="rId4"/>
          <a:stretch>
            <a:fillRect/>
          </a:stretch>
        </p:blipFill>
        <p:spPr>
          <a:xfrm>
            <a:off x="4448167" y="3353887"/>
            <a:ext cx="128699" cy="187198"/>
          </a:xfrm>
          <a:prstGeom prst="rect">
            <a:avLst/>
          </a:prstGeom>
        </p:spPr>
      </p:pic>
      <p:sp>
        <p:nvSpPr>
          <p:cNvPr id="77" name="TextBox 76"/>
          <p:cNvSpPr txBox="1"/>
          <p:nvPr/>
        </p:nvSpPr>
        <p:spPr>
          <a:xfrm>
            <a:off x="4615663" y="3363666"/>
            <a:ext cx="111125" cy="186689"/>
          </a:xfrm>
          <a:prstGeom prst="rect">
            <a:avLst/>
          </a:prstGeom>
          <a:noFill/>
        </p:spPr>
        <p:txBody>
          <a:bodyPr wrap="none" lIns="0" rIns="0" tIns="0" bIns="0">
            <a:spAutoFit/>
          </a:bodyPr>
          <a:lstStyle/>
          <a:p>
            <a:r>
              <a:rPr sz="1100" b="0">
                <a:solidFill>
                  <a:srgbClr val="2E2E2E"/>
                </a:solidFill>
                <a:latin typeface="Calibri"/>
              </a:rPr>
              <a:t>,</a:t>
            </a:r>
          </a:p>
        </p:txBody>
      </p:sp>
      <p:sp>
        <p:nvSpPr>
          <p:cNvPr id="78" name="TextBox 77"/>
          <p:cNvSpPr txBox="1"/>
          <p:nvPr/>
        </p:nvSpPr>
        <p:spPr>
          <a:xfrm>
            <a:off x="2657475" y="3531306"/>
            <a:ext cx="1487388" cy="186689"/>
          </a:xfrm>
          <a:prstGeom prst="rect">
            <a:avLst/>
          </a:prstGeom>
          <a:noFill/>
        </p:spPr>
        <p:txBody>
          <a:bodyPr wrap="none" lIns="0" rIns="0" tIns="0" bIns="0">
            <a:spAutoFit/>
          </a:bodyPr>
          <a:lstStyle/>
          <a:p>
            <a:r>
              <a:rPr sz="1100" b="0">
                <a:solidFill>
                  <a:srgbClr val="2E2E2E"/>
                </a:solidFill>
                <a:latin typeface="Calibri"/>
              </a:rPr>
              <a:t>giving large buyers scale.</a:t>
            </a:r>
          </a:p>
        </p:txBody>
      </p:sp>
      <p:sp>
        <p:nvSpPr>
          <p:cNvPr id="79" name="TextBox 78"/>
          <p:cNvSpPr txBox="1"/>
          <p:nvPr/>
        </p:nvSpPr>
        <p:spPr>
          <a:xfrm>
            <a:off x="2657475" y="3900000"/>
            <a:ext cx="2062013" cy="186689"/>
          </a:xfrm>
          <a:prstGeom prst="rect">
            <a:avLst/>
          </a:prstGeom>
          <a:noFill/>
        </p:spPr>
        <p:txBody>
          <a:bodyPr wrap="none" lIns="0" rIns="0" tIns="0" bIns="0">
            <a:spAutoFit/>
          </a:bodyPr>
          <a:lstStyle/>
          <a:p>
            <a:r>
              <a:rPr sz="1100" b="0">
                <a:solidFill>
                  <a:srgbClr val="2E2E2E"/>
                </a:solidFill>
                <a:latin typeface="Calibri"/>
              </a:rPr>
              <a:t>▸ Price sensitivity tracks realisation</a:t>
            </a:r>
          </a:p>
        </p:txBody>
      </p:sp>
      <p:sp>
        <p:nvSpPr>
          <p:cNvPr id="80" name="TextBox 79"/>
          <p:cNvSpPr txBox="1"/>
          <p:nvPr/>
        </p:nvSpPr>
        <p:spPr>
          <a:xfrm>
            <a:off x="2657475" y="4067640"/>
            <a:ext cx="495845" cy="186689"/>
          </a:xfrm>
          <a:prstGeom prst="rect">
            <a:avLst/>
          </a:prstGeom>
          <a:noFill/>
        </p:spPr>
        <p:txBody>
          <a:bodyPr wrap="none" lIns="0" rIns="0" tIns="0" bIns="0">
            <a:spAutoFit/>
          </a:bodyPr>
          <a:lstStyle/>
          <a:p>
            <a:r>
              <a:rPr sz="1100" b="0">
                <a:solidFill>
                  <a:srgbClr val="2E2E2E"/>
                </a:solidFill>
                <a:latin typeface="Calibri"/>
              </a:rPr>
              <a:t>moving</a:t>
            </a:r>
          </a:p>
        </p:txBody>
      </p:sp>
      <p:pic>
        <p:nvPicPr>
          <p:cNvPr id="81" name="Picture 80" descr="lock.png"/>
          <p:cNvPicPr>
            <a:picLocks noChangeAspect="1"/>
          </p:cNvPicPr>
          <p:nvPr/>
        </p:nvPicPr>
        <p:blipFill>
          <a:blip r:embed="rId4"/>
          <a:stretch>
            <a:fillRect/>
          </a:stretch>
        </p:blipFill>
        <p:spPr>
          <a:xfrm>
            <a:off x="3101372" y="4057861"/>
            <a:ext cx="128699" cy="187198"/>
          </a:xfrm>
          <a:prstGeom prst="rect">
            <a:avLst/>
          </a:prstGeom>
        </p:spPr>
      </p:pic>
      <p:sp>
        <p:nvSpPr>
          <p:cNvPr id="82" name="TextBox 81"/>
          <p:cNvSpPr txBox="1"/>
          <p:nvPr/>
        </p:nvSpPr>
        <p:spPr>
          <a:xfrm>
            <a:off x="3268868" y="4067640"/>
            <a:ext cx="1316583" cy="186689"/>
          </a:xfrm>
          <a:prstGeom prst="rect">
            <a:avLst/>
          </a:prstGeom>
          <a:noFill/>
        </p:spPr>
        <p:txBody>
          <a:bodyPr wrap="none" lIns="0" rIns="0" tIns="0" bIns="0">
            <a:spAutoFit/>
          </a:bodyPr>
          <a:lstStyle/>
          <a:p>
            <a:r>
              <a:rPr sz="1100" b="0">
                <a:solidFill>
                  <a:srgbClr val="2E2E2E"/>
                </a:solidFill>
                <a:latin typeface="Calibri"/>
              </a:rPr>
              <a:t>a year against volume</a:t>
            </a:r>
          </a:p>
        </p:txBody>
      </p:sp>
      <p:sp>
        <p:nvSpPr>
          <p:cNvPr id="83" name="TextBox 82"/>
          <p:cNvSpPr txBox="1"/>
          <p:nvPr/>
        </p:nvSpPr>
        <p:spPr>
          <a:xfrm>
            <a:off x="2657475" y="4235280"/>
            <a:ext cx="632544" cy="186689"/>
          </a:xfrm>
          <a:prstGeom prst="rect">
            <a:avLst/>
          </a:prstGeom>
          <a:noFill/>
        </p:spPr>
        <p:txBody>
          <a:bodyPr wrap="none" lIns="0" rIns="0" tIns="0" bIns="0">
            <a:spAutoFit/>
          </a:bodyPr>
          <a:lstStyle/>
          <a:p>
            <a:r>
              <a:rPr sz="1100" b="0">
                <a:solidFill>
                  <a:srgbClr val="2E2E2E"/>
                </a:solidFill>
                <a:latin typeface="Calibri"/>
              </a:rPr>
              <a:t>growth of</a:t>
            </a:r>
          </a:p>
        </p:txBody>
      </p:sp>
      <p:pic>
        <p:nvPicPr>
          <p:cNvPr id="84" name="Picture 83" descr="lock.png"/>
          <p:cNvPicPr>
            <a:picLocks noChangeAspect="1"/>
          </p:cNvPicPr>
          <p:nvPr/>
        </p:nvPicPr>
        <p:blipFill>
          <a:blip r:embed="rId4"/>
          <a:stretch>
            <a:fillRect/>
          </a:stretch>
        </p:blipFill>
        <p:spPr>
          <a:xfrm>
            <a:off x="3238070" y="4225501"/>
            <a:ext cx="128699" cy="187198"/>
          </a:xfrm>
          <a:prstGeom prst="rect">
            <a:avLst/>
          </a:prstGeom>
        </p:spPr>
      </p:pic>
      <p:sp>
        <p:nvSpPr>
          <p:cNvPr id="85" name="TextBox 84"/>
          <p:cNvSpPr txBox="1"/>
          <p:nvPr/>
        </p:nvSpPr>
        <p:spPr>
          <a:xfrm>
            <a:off x="3405566" y="423528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86" name="TextBox 85"/>
          <p:cNvSpPr txBox="1"/>
          <p:nvPr/>
        </p:nvSpPr>
        <p:spPr>
          <a:xfrm>
            <a:off x="5038725" y="2932554"/>
            <a:ext cx="1848916" cy="186689"/>
          </a:xfrm>
          <a:prstGeom prst="rect">
            <a:avLst/>
          </a:prstGeom>
          <a:noFill/>
        </p:spPr>
        <p:txBody>
          <a:bodyPr wrap="none" lIns="0" rIns="0" tIns="0" bIns="0">
            <a:spAutoFit/>
          </a:bodyPr>
          <a:lstStyle/>
          <a:p>
            <a:r>
              <a:rPr sz="1100" b="0">
                <a:solidFill>
                  <a:srgbClr val="2E2E2E"/>
                </a:solidFill>
                <a:latin typeface="Calibri"/>
              </a:rPr>
              <a:t>▸ Assessed moderate to high. 4</a:t>
            </a:r>
          </a:p>
        </p:txBody>
      </p:sp>
      <p:sp>
        <p:nvSpPr>
          <p:cNvPr id="87" name="TextBox 86"/>
          <p:cNvSpPr txBox="1"/>
          <p:nvPr/>
        </p:nvSpPr>
        <p:spPr>
          <a:xfrm>
            <a:off x="5038725" y="3100194"/>
            <a:ext cx="2006079" cy="186689"/>
          </a:xfrm>
          <a:prstGeom prst="rect">
            <a:avLst/>
          </a:prstGeom>
          <a:noFill/>
        </p:spPr>
        <p:txBody>
          <a:bodyPr wrap="none" lIns="0" rIns="0" tIns="0" bIns="0">
            <a:spAutoFit/>
          </a:bodyPr>
          <a:lstStyle/>
          <a:p>
            <a:r>
              <a:rPr sz="1100" b="0">
                <a:solidFill>
                  <a:srgbClr val="2E2E2E"/>
                </a:solidFill>
                <a:latin typeface="Calibri"/>
              </a:rPr>
              <a:t>product type lines compete inside</a:t>
            </a:r>
          </a:p>
        </p:txBody>
      </p:sp>
      <p:sp>
        <p:nvSpPr>
          <p:cNvPr id="88" name="TextBox 87"/>
          <p:cNvSpPr txBox="1"/>
          <p:nvPr/>
        </p:nvSpPr>
        <p:spPr>
          <a:xfrm>
            <a:off x="5038725" y="3267834"/>
            <a:ext cx="1779066" cy="186689"/>
          </a:xfrm>
          <a:prstGeom prst="rect">
            <a:avLst/>
          </a:prstGeom>
          <a:noFill/>
        </p:spPr>
        <p:txBody>
          <a:bodyPr wrap="none" lIns="0" rIns="0" tIns="0" bIns="0">
            <a:spAutoFit/>
          </a:bodyPr>
          <a:lstStyle/>
          <a:p>
            <a:r>
              <a:rPr sz="1100" b="0">
                <a:solidFill>
                  <a:srgbClr val="2E2E2E"/>
                </a:solidFill>
                <a:latin typeface="Calibri"/>
              </a:rPr>
              <a:t>the segment; the leader holds</a:t>
            </a:r>
          </a:p>
        </p:txBody>
      </p:sp>
      <p:pic>
        <p:nvPicPr>
          <p:cNvPr id="89" name="Picture 88" descr="lock.png"/>
          <p:cNvPicPr>
            <a:picLocks noChangeAspect="1"/>
          </p:cNvPicPr>
          <p:nvPr/>
        </p:nvPicPr>
        <p:blipFill>
          <a:blip r:embed="rId4"/>
          <a:stretch>
            <a:fillRect/>
          </a:stretch>
        </p:blipFill>
        <p:spPr>
          <a:xfrm>
            <a:off x="6765843" y="3258055"/>
            <a:ext cx="128699" cy="187198"/>
          </a:xfrm>
          <a:prstGeom prst="rect">
            <a:avLst/>
          </a:prstGeom>
        </p:spPr>
      </p:pic>
      <p:sp>
        <p:nvSpPr>
          <p:cNvPr id="90" name="TextBox 89"/>
          <p:cNvSpPr txBox="1"/>
          <p:nvPr/>
        </p:nvSpPr>
        <p:spPr>
          <a:xfrm>
            <a:off x="6933339" y="3267834"/>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1" name="TextBox 90"/>
          <p:cNvSpPr txBox="1"/>
          <p:nvPr/>
        </p:nvSpPr>
        <p:spPr>
          <a:xfrm>
            <a:off x="5038725" y="3715785"/>
            <a:ext cx="1934046" cy="186689"/>
          </a:xfrm>
          <a:prstGeom prst="rect">
            <a:avLst/>
          </a:prstGeom>
          <a:noFill/>
        </p:spPr>
        <p:txBody>
          <a:bodyPr wrap="none" lIns="0" rIns="0" tIns="0" bIns="0">
            <a:spAutoFit/>
          </a:bodyPr>
          <a:lstStyle/>
          <a:p>
            <a:r>
              <a:rPr sz="1100" b="0">
                <a:solidFill>
                  <a:srgbClr val="2E2E2E"/>
                </a:solidFill>
                <a:latin typeface="Calibri"/>
              </a:rPr>
              <a:t>▸ Growth is unevenly distributed</a:t>
            </a:r>
          </a:p>
        </p:txBody>
      </p:sp>
      <p:sp>
        <p:nvSpPr>
          <p:cNvPr id="92" name="TextBox 91"/>
          <p:cNvSpPr txBox="1"/>
          <p:nvPr/>
        </p:nvSpPr>
        <p:spPr>
          <a:xfrm>
            <a:off x="5038725" y="3883425"/>
            <a:ext cx="1844550" cy="186689"/>
          </a:xfrm>
          <a:prstGeom prst="rect">
            <a:avLst/>
          </a:prstGeom>
          <a:noFill/>
        </p:spPr>
        <p:txBody>
          <a:bodyPr wrap="none" lIns="0" rIns="0" tIns="0" bIns="0">
            <a:spAutoFit/>
          </a:bodyPr>
          <a:lstStyle/>
          <a:p>
            <a:r>
              <a:rPr sz="1100" b="0">
                <a:solidFill>
                  <a:srgbClr val="2E2E2E"/>
                </a:solidFill>
                <a:latin typeface="Calibri"/>
              </a:rPr>
              <a:t>'Cast Metal Partial Dentures' at</a:t>
            </a:r>
          </a:p>
        </p:txBody>
      </p:sp>
      <p:pic>
        <p:nvPicPr>
          <p:cNvPr id="93" name="Picture 92" descr="lock.png"/>
          <p:cNvPicPr>
            <a:picLocks noChangeAspect="1"/>
          </p:cNvPicPr>
          <p:nvPr/>
        </p:nvPicPr>
        <p:blipFill>
          <a:blip r:embed="rId4"/>
          <a:stretch>
            <a:fillRect/>
          </a:stretch>
        </p:blipFill>
        <p:spPr>
          <a:xfrm>
            <a:off x="6831327" y="3873646"/>
            <a:ext cx="128699" cy="187198"/>
          </a:xfrm>
          <a:prstGeom prst="rect">
            <a:avLst/>
          </a:prstGeom>
        </p:spPr>
      </p:pic>
      <p:sp>
        <p:nvSpPr>
          <p:cNvPr id="94" name="TextBox 93"/>
          <p:cNvSpPr txBox="1"/>
          <p:nvPr/>
        </p:nvSpPr>
        <p:spPr>
          <a:xfrm>
            <a:off x="5038725" y="4051065"/>
            <a:ext cx="2107034" cy="186689"/>
          </a:xfrm>
          <a:prstGeom prst="rect">
            <a:avLst/>
          </a:prstGeom>
          <a:noFill/>
        </p:spPr>
        <p:txBody>
          <a:bodyPr wrap="none" lIns="0" rIns="0" tIns="0" bIns="0">
            <a:spAutoFit/>
          </a:bodyPr>
          <a:lstStyle/>
          <a:p>
            <a:r>
              <a:rPr sz="1100" b="0">
                <a:solidFill>
                  <a:srgbClr val="2E2E2E"/>
                </a:solidFill>
                <a:latin typeface="Calibri"/>
              </a:rPr>
              <a:t>against 'Flexible Partial Dentures' at</a:t>
            </a:r>
          </a:p>
        </p:txBody>
      </p:sp>
      <p:pic>
        <p:nvPicPr>
          <p:cNvPr id="95" name="Picture 94" descr="lock.png"/>
          <p:cNvPicPr>
            <a:picLocks noChangeAspect="1"/>
          </p:cNvPicPr>
          <p:nvPr/>
        </p:nvPicPr>
        <p:blipFill>
          <a:blip r:embed="rId4"/>
          <a:stretch>
            <a:fillRect/>
          </a:stretch>
        </p:blipFill>
        <p:spPr>
          <a:xfrm>
            <a:off x="5025257" y="4208926"/>
            <a:ext cx="128699" cy="187198"/>
          </a:xfrm>
          <a:prstGeom prst="rect">
            <a:avLst/>
          </a:prstGeom>
        </p:spPr>
      </p:pic>
      <p:sp>
        <p:nvSpPr>
          <p:cNvPr id="96" name="TextBox 95"/>
          <p:cNvSpPr txBox="1"/>
          <p:nvPr/>
        </p:nvSpPr>
        <p:spPr>
          <a:xfrm>
            <a:off x="5192753" y="421870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7" name="TextBox 96"/>
          <p:cNvSpPr txBox="1"/>
          <p:nvPr/>
        </p:nvSpPr>
        <p:spPr>
          <a:xfrm>
            <a:off x="5038725" y="4575387"/>
            <a:ext cx="2114550" cy="186689"/>
          </a:xfrm>
          <a:prstGeom prst="rect">
            <a:avLst/>
          </a:prstGeom>
          <a:noFill/>
        </p:spPr>
        <p:txBody>
          <a:bodyPr wrap="none" lIns="0" rIns="0" tIns="0" bIns="0">
            <a:spAutoFit/>
          </a:bodyPr>
          <a:lstStyle/>
          <a:p>
            <a:r>
              <a:rPr sz="1100" b="0">
                <a:solidFill>
                  <a:srgbClr val="2E2E2E"/>
                </a:solidFill>
                <a:latin typeface="Calibri"/>
              </a:rPr>
              <a:t>▸ 3 of 6 regions grow at or above the</a:t>
            </a:r>
          </a:p>
        </p:txBody>
      </p:sp>
      <p:pic>
        <p:nvPicPr>
          <p:cNvPr id="98" name="Picture 97" descr="lock.png"/>
          <p:cNvPicPr>
            <a:picLocks noChangeAspect="1"/>
          </p:cNvPicPr>
          <p:nvPr/>
        </p:nvPicPr>
        <p:blipFill>
          <a:blip r:embed="rId4"/>
          <a:stretch>
            <a:fillRect/>
          </a:stretch>
        </p:blipFill>
        <p:spPr>
          <a:xfrm>
            <a:off x="5025257" y="4733248"/>
            <a:ext cx="128699" cy="187198"/>
          </a:xfrm>
          <a:prstGeom prst="rect">
            <a:avLst/>
          </a:prstGeom>
        </p:spPr>
      </p:pic>
      <p:sp>
        <p:nvSpPr>
          <p:cNvPr id="99" name="TextBox 98"/>
          <p:cNvSpPr txBox="1"/>
          <p:nvPr/>
        </p:nvSpPr>
        <p:spPr>
          <a:xfrm>
            <a:off x="5192753" y="4743027"/>
            <a:ext cx="1643186" cy="186689"/>
          </a:xfrm>
          <a:prstGeom prst="rect">
            <a:avLst/>
          </a:prstGeom>
          <a:noFill/>
        </p:spPr>
        <p:txBody>
          <a:bodyPr wrap="none" lIns="0" rIns="0" tIns="0" bIns="0">
            <a:spAutoFit/>
          </a:bodyPr>
          <a:lstStyle/>
          <a:p>
            <a:r>
              <a:rPr sz="1100" b="0">
                <a:solidFill>
                  <a:srgbClr val="2E2E2E"/>
                </a:solidFill>
                <a:latin typeface="Calibri"/>
              </a:rPr>
              <a:t>market pace, keeping share</a:t>
            </a:r>
          </a:p>
        </p:txBody>
      </p:sp>
      <p:sp>
        <p:nvSpPr>
          <p:cNvPr id="100" name="TextBox 99"/>
          <p:cNvSpPr txBox="1"/>
          <p:nvPr/>
        </p:nvSpPr>
        <p:spPr>
          <a:xfrm>
            <a:off x="5038725" y="4910667"/>
            <a:ext cx="678656" cy="186689"/>
          </a:xfrm>
          <a:prstGeom prst="rect">
            <a:avLst/>
          </a:prstGeom>
          <a:noFill/>
        </p:spPr>
        <p:txBody>
          <a:bodyPr wrap="none" lIns="0" rIns="0" tIns="0" bIns="0">
            <a:spAutoFit/>
          </a:bodyPr>
          <a:lstStyle/>
          <a:p>
            <a:r>
              <a:rPr sz="1100" b="0">
                <a:solidFill>
                  <a:srgbClr val="2E2E2E"/>
                </a:solidFill>
                <a:latin typeface="Calibri"/>
              </a:rPr>
              <a:t>contested.</a:t>
            </a:r>
          </a:p>
        </p:txBody>
      </p:sp>
      <p:sp>
        <p:nvSpPr>
          <p:cNvPr id="101" name="TextBox 100"/>
          <p:cNvSpPr txBox="1"/>
          <p:nvPr/>
        </p:nvSpPr>
        <p:spPr>
          <a:xfrm>
            <a:off x="7419975" y="2860746"/>
            <a:ext cx="1896119" cy="186689"/>
          </a:xfrm>
          <a:prstGeom prst="rect">
            <a:avLst/>
          </a:prstGeom>
          <a:noFill/>
        </p:spPr>
        <p:txBody>
          <a:bodyPr wrap="none" lIns="0" rIns="0" tIns="0" bIns="0">
            <a:spAutoFit/>
          </a:bodyPr>
          <a:lstStyle/>
          <a:p>
            <a:r>
              <a:rPr sz="1100" b="0">
                <a:solidFill>
                  <a:srgbClr val="2E2E2E"/>
                </a:solidFill>
                <a:latin typeface="Calibri"/>
              </a:rPr>
              <a:t>▸ Assessed high. 'Flexible Partial</a:t>
            </a:r>
          </a:p>
        </p:txBody>
      </p:sp>
      <p:sp>
        <p:nvSpPr>
          <p:cNvPr id="102" name="TextBox 101"/>
          <p:cNvSpPr txBox="1"/>
          <p:nvPr/>
        </p:nvSpPr>
        <p:spPr>
          <a:xfrm>
            <a:off x="7419975" y="3028386"/>
            <a:ext cx="945505" cy="186689"/>
          </a:xfrm>
          <a:prstGeom prst="rect">
            <a:avLst/>
          </a:prstGeom>
          <a:noFill/>
        </p:spPr>
        <p:txBody>
          <a:bodyPr wrap="none" lIns="0" rIns="0" tIns="0" bIns="0">
            <a:spAutoFit/>
          </a:bodyPr>
          <a:lstStyle/>
          <a:p>
            <a:r>
              <a:rPr sz="1100" b="0">
                <a:solidFill>
                  <a:srgbClr val="2E2E2E"/>
                </a:solidFill>
                <a:latin typeface="Calibri"/>
              </a:rPr>
              <a:t>Dentures' loses</a:t>
            </a:r>
          </a:p>
        </p:txBody>
      </p:sp>
      <p:pic>
        <p:nvPicPr>
          <p:cNvPr id="103" name="Picture 102" descr="lock.png"/>
          <p:cNvPicPr>
            <a:picLocks noChangeAspect="1"/>
          </p:cNvPicPr>
          <p:nvPr/>
        </p:nvPicPr>
        <p:blipFill>
          <a:blip r:embed="rId4"/>
          <a:stretch>
            <a:fillRect/>
          </a:stretch>
        </p:blipFill>
        <p:spPr>
          <a:xfrm>
            <a:off x="8313531" y="3018607"/>
            <a:ext cx="128699" cy="187198"/>
          </a:xfrm>
          <a:prstGeom prst="rect">
            <a:avLst/>
          </a:prstGeom>
        </p:spPr>
      </p:pic>
      <p:sp>
        <p:nvSpPr>
          <p:cNvPr id="104" name="TextBox 103"/>
          <p:cNvSpPr txBox="1"/>
          <p:nvPr/>
        </p:nvSpPr>
        <p:spPr>
          <a:xfrm>
            <a:off x="8481027" y="3028386"/>
            <a:ext cx="933772" cy="186689"/>
          </a:xfrm>
          <a:prstGeom prst="rect">
            <a:avLst/>
          </a:prstGeom>
          <a:noFill/>
        </p:spPr>
        <p:txBody>
          <a:bodyPr wrap="none" lIns="0" rIns="0" tIns="0" bIns="0">
            <a:spAutoFit/>
          </a:bodyPr>
          <a:lstStyle/>
          <a:p>
            <a:r>
              <a:rPr sz="1100" b="0">
                <a:solidFill>
                  <a:srgbClr val="2E2E2E"/>
                </a:solidFill>
                <a:latin typeface="Calibri"/>
              </a:rPr>
              <a:t>BPS of share to</a:t>
            </a:r>
          </a:p>
        </p:txBody>
      </p:sp>
      <p:sp>
        <p:nvSpPr>
          <p:cNvPr id="105" name="TextBox 104"/>
          <p:cNvSpPr txBox="1"/>
          <p:nvPr/>
        </p:nvSpPr>
        <p:spPr>
          <a:xfrm>
            <a:off x="7419975" y="3196026"/>
            <a:ext cx="1842641" cy="186689"/>
          </a:xfrm>
          <a:prstGeom prst="rect">
            <a:avLst/>
          </a:prstGeom>
          <a:noFill/>
        </p:spPr>
        <p:txBody>
          <a:bodyPr wrap="none" lIns="0" rIns="0" tIns="0" bIns="0">
            <a:spAutoFit/>
          </a:bodyPr>
          <a:lstStyle/>
          <a:p>
            <a:r>
              <a:rPr sz="1100" b="0">
                <a:solidFill>
                  <a:srgbClr val="2E2E2E"/>
                </a:solidFill>
                <a:latin typeface="Calibri"/>
              </a:rPr>
              <a:t>'Cast Metal Partial Dentures' (+</a:t>
            </a:r>
          </a:p>
        </p:txBody>
      </p:sp>
      <p:pic>
        <p:nvPicPr>
          <p:cNvPr id="106" name="Picture 105" descr="lock.png"/>
          <p:cNvPicPr>
            <a:picLocks noChangeAspect="1"/>
          </p:cNvPicPr>
          <p:nvPr/>
        </p:nvPicPr>
        <p:blipFill>
          <a:blip r:embed="rId4"/>
          <a:stretch>
            <a:fillRect/>
          </a:stretch>
        </p:blipFill>
        <p:spPr>
          <a:xfrm>
            <a:off x="9210667" y="3186247"/>
            <a:ext cx="128699" cy="187198"/>
          </a:xfrm>
          <a:prstGeom prst="rect">
            <a:avLst/>
          </a:prstGeom>
        </p:spPr>
      </p:pic>
      <p:sp>
        <p:nvSpPr>
          <p:cNvPr id="107" name="TextBox 106"/>
          <p:cNvSpPr txBox="1"/>
          <p:nvPr/>
        </p:nvSpPr>
        <p:spPr>
          <a:xfrm>
            <a:off x="7419975" y="3363666"/>
            <a:ext cx="2035274" cy="186689"/>
          </a:xfrm>
          <a:prstGeom prst="rect">
            <a:avLst/>
          </a:prstGeom>
          <a:noFill/>
        </p:spPr>
        <p:txBody>
          <a:bodyPr wrap="none" lIns="0" rIns="0" tIns="0" bIns="0">
            <a:spAutoFit/>
          </a:bodyPr>
          <a:lstStyle/>
          <a:p>
            <a:r>
              <a:rPr sz="1100" b="0">
                <a:solidFill>
                  <a:srgbClr val="2E2E2E"/>
                </a:solidFill>
                <a:latin typeface="Calibri"/>
              </a:rPr>
              <a:t>BPS) by 2036 substitution is visible</a:t>
            </a:r>
          </a:p>
        </p:txBody>
      </p:sp>
      <p:sp>
        <p:nvSpPr>
          <p:cNvPr id="108" name="TextBox 107"/>
          <p:cNvSpPr txBox="1"/>
          <p:nvPr/>
        </p:nvSpPr>
        <p:spPr>
          <a:xfrm>
            <a:off x="7419975" y="3531306"/>
            <a:ext cx="904304" cy="186689"/>
          </a:xfrm>
          <a:prstGeom prst="rect">
            <a:avLst/>
          </a:prstGeom>
          <a:noFill/>
        </p:spPr>
        <p:txBody>
          <a:bodyPr wrap="none" lIns="0" rIns="0" tIns="0" bIns="0">
            <a:spAutoFit/>
          </a:bodyPr>
          <a:lstStyle/>
          <a:p>
            <a:r>
              <a:rPr sz="1100" b="0">
                <a:solidFill>
                  <a:srgbClr val="2E2E2E"/>
                </a:solidFill>
                <a:latin typeface="Calibri"/>
              </a:rPr>
              <a:t>inside the mix.</a:t>
            </a:r>
          </a:p>
        </p:txBody>
      </p:sp>
      <p:sp>
        <p:nvSpPr>
          <p:cNvPr id="109" name="TextBox 108"/>
          <p:cNvSpPr txBox="1"/>
          <p:nvPr/>
        </p:nvSpPr>
        <p:spPr>
          <a:xfrm>
            <a:off x="7419975" y="3894694"/>
            <a:ext cx="1550384" cy="179984"/>
          </a:xfrm>
          <a:prstGeom prst="rect">
            <a:avLst/>
          </a:prstGeom>
          <a:noFill/>
        </p:spPr>
        <p:txBody>
          <a:bodyPr wrap="none" lIns="0" rIns="0" tIns="0" bIns="0">
            <a:spAutoFit/>
          </a:bodyPr>
          <a:lstStyle/>
          <a:p>
            <a:r>
              <a:rPr sz="1055" b="0">
                <a:solidFill>
                  <a:srgbClr val="2E2E2E"/>
                </a:solidFill>
                <a:latin typeface="Calibri"/>
              </a:rPr>
              <a:t>▸ The slowest line grows at</a:t>
            </a:r>
          </a:p>
        </p:txBody>
      </p:sp>
      <p:pic>
        <p:nvPicPr>
          <p:cNvPr id="110" name="Picture 109" descr="lock.png"/>
          <p:cNvPicPr>
            <a:picLocks noChangeAspect="1"/>
          </p:cNvPicPr>
          <p:nvPr/>
        </p:nvPicPr>
        <p:blipFill>
          <a:blip r:embed="rId4"/>
          <a:stretch>
            <a:fillRect/>
          </a:stretch>
        </p:blipFill>
        <p:spPr>
          <a:xfrm>
            <a:off x="8917440" y="3885306"/>
            <a:ext cx="123551" cy="179710"/>
          </a:xfrm>
          <a:prstGeom prst="rect">
            <a:avLst/>
          </a:prstGeom>
        </p:spPr>
      </p:pic>
      <p:sp>
        <p:nvSpPr>
          <p:cNvPr id="111" name="TextBox 110"/>
          <p:cNvSpPr txBox="1"/>
          <p:nvPr/>
        </p:nvSpPr>
        <p:spPr>
          <a:xfrm>
            <a:off x="9078236" y="3894694"/>
            <a:ext cx="181236" cy="179984"/>
          </a:xfrm>
          <a:prstGeom prst="rect">
            <a:avLst/>
          </a:prstGeom>
          <a:noFill/>
        </p:spPr>
        <p:txBody>
          <a:bodyPr wrap="none" lIns="0" rIns="0" tIns="0" bIns="0">
            <a:spAutoFit/>
          </a:bodyPr>
          <a:lstStyle/>
          <a:p>
            <a:r>
              <a:rPr sz="1055" b="0">
                <a:solidFill>
                  <a:srgbClr val="2E2E2E"/>
                </a:solidFill>
                <a:latin typeface="Calibri"/>
              </a:rPr>
              <a:t>, -</a:t>
            </a:r>
          </a:p>
        </p:txBody>
      </p:sp>
      <p:pic>
        <p:nvPicPr>
          <p:cNvPr id="112" name="Picture 111" descr="lock.png"/>
          <p:cNvPicPr>
            <a:picLocks noChangeAspect="1"/>
          </p:cNvPicPr>
          <p:nvPr/>
        </p:nvPicPr>
        <p:blipFill>
          <a:blip r:embed="rId4"/>
          <a:stretch>
            <a:fillRect/>
          </a:stretch>
        </p:blipFill>
        <p:spPr>
          <a:xfrm>
            <a:off x="9206555" y="3885306"/>
            <a:ext cx="123551" cy="179710"/>
          </a:xfrm>
          <a:prstGeom prst="rect">
            <a:avLst/>
          </a:prstGeom>
        </p:spPr>
      </p:pic>
      <p:sp>
        <p:nvSpPr>
          <p:cNvPr id="113" name="TextBox 112"/>
          <p:cNvSpPr txBox="1"/>
          <p:nvPr/>
        </p:nvSpPr>
        <p:spPr>
          <a:xfrm>
            <a:off x="7419975" y="4055628"/>
            <a:ext cx="1368861" cy="179984"/>
          </a:xfrm>
          <a:prstGeom prst="rect">
            <a:avLst/>
          </a:prstGeom>
          <a:noFill/>
        </p:spPr>
        <p:txBody>
          <a:bodyPr wrap="none" lIns="0" rIns="0" tIns="0" bIns="0">
            <a:spAutoFit/>
          </a:bodyPr>
          <a:lstStyle/>
          <a:p>
            <a:r>
              <a:rPr sz="1055" b="0">
                <a:solidFill>
                  <a:srgbClr val="2E2E2E"/>
                </a:solidFill>
                <a:latin typeface="Calibri"/>
              </a:rPr>
              <a:t>BPS against the market.</a:t>
            </a:r>
          </a:p>
        </p:txBody>
      </p:sp>
      <p:sp>
        <p:nvSpPr>
          <p:cNvPr id="114" name="TextBox 113"/>
          <p:cNvSpPr txBox="1"/>
          <p:nvPr/>
        </p:nvSpPr>
        <p:spPr>
          <a:xfrm>
            <a:off x="7419975" y="4392850"/>
            <a:ext cx="1254373" cy="186689"/>
          </a:xfrm>
          <a:prstGeom prst="rect">
            <a:avLst/>
          </a:prstGeom>
          <a:noFill/>
        </p:spPr>
        <p:txBody>
          <a:bodyPr wrap="none" lIns="0" rIns="0" tIns="0" bIns="0">
            <a:spAutoFit/>
          </a:bodyPr>
          <a:lstStyle/>
          <a:p>
            <a:r>
              <a:rPr sz="1100" b="0">
                <a:solidFill>
                  <a:srgbClr val="2E2E2E"/>
                </a:solidFill>
                <a:latin typeface="Calibri"/>
              </a:rPr>
              <a:t>▸ Realisation moving</a:t>
            </a:r>
          </a:p>
        </p:txBody>
      </p:sp>
      <p:pic>
        <p:nvPicPr>
          <p:cNvPr id="115" name="Picture 114" descr="lock.png"/>
          <p:cNvPicPr>
            <a:picLocks noChangeAspect="1"/>
          </p:cNvPicPr>
          <p:nvPr/>
        </p:nvPicPr>
        <p:blipFill>
          <a:blip r:embed="rId4"/>
          <a:stretch>
            <a:fillRect/>
          </a:stretch>
        </p:blipFill>
        <p:spPr>
          <a:xfrm>
            <a:off x="8622399" y="4383071"/>
            <a:ext cx="128699" cy="187198"/>
          </a:xfrm>
          <a:prstGeom prst="rect">
            <a:avLst/>
          </a:prstGeom>
        </p:spPr>
      </p:pic>
      <p:sp>
        <p:nvSpPr>
          <p:cNvPr id="116" name="TextBox 115"/>
          <p:cNvSpPr txBox="1"/>
          <p:nvPr/>
        </p:nvSpPr>
        <p:spPr>
          <a:xfrm>
            <a:off x="8789895" y="4392850"/>
            <a:ext cx="423267" cy="186689"/>
          </a:xfrm>
          <a:prstGeom prst="rect">
            <a:avLst/>
          </a:prstGeom>
          <a:noFill/>
        </p:spPr>
        <p:txBody>
          <a:bodyPr wrap="none" lIns="0" rIns="0" tIns="0" bIns="0">
            <a:spAutoFit/>
          </a:bodyPr>
          <a:lstStyle/>
          <a:p>
            <a:r>
              <a:rPr sz="1100" b="0">
                <a:solidFill>
                  <a:srgbClr val="2E2E2E"/>
                </a:solidFill>
                <a:latin typeface="Calibri"/>
              </a:rPr>
              <a:t>a year</a:t>
            </a:r>
          </a:p>
        </p:txBody>
      </p:sp>
      <p:sp>
        <p:nvSpPr>
          <p:cNvPr id="117" name="TextBox 116"/>
          <p:cNvSpPr txBox="1"/>
          <p:nvPr/>
        </p:nvSpPr>
        <p:spPr>
          <a:xfrm>
            <a:off x="7419975" y="4560490"/>
            <a:ext cx="1911399" cy="186689"/>
          </a:xfrm>
          <a:prstGeom prst="rect">
            <a:avLst/>
          </a:prstGeom>
          <a:noFill/>
        </p:spPr>
        <p:txBody>
          <a:bodyPr wrap="none" lIns="0" rIns="0" tIns="0" bIns="0">
            <a:spAutoFit/>
          </a:bodyPr>
          <a:lstStyle/>
          <a:p>
            <a:r>
              <a:rPr sz="1100" b="0">
                <a:solidFill>
                  <a:srgbClr val="2E2E2E"/>
                </a:solidFill>
                <a:latin typeface="Calibri"/>
              </a:rPr>
              <a:t>widens the price gap substitutes</a:t>
            </a:r>
          </a:p>
        </p:txBody>
      </p:sp>
      <p:sp>
        <p:nvSpPr>
          <p:cNvPr id="118" name="TextBox 117"/>
          <p:cNvSpPr txBox="1"/>
          <p:nvPr/>
        </p:nvSpPr>
        <p:spPr>
          <a:xfrm>
            <a:off x="7419975" y="4728130"/>
            <a:ext cx="718765" cy="186689"/>
          </a:xfrm>
          <a:prstGeom prst="rect">
            <a:avLst/>
          </a:prstGeom>
          <a:noFill/>
        </p:spPr>
        <p:txBody>
          <a:bodyPr wrap="none" lIns="0" rIns="0" tIns="0" bIns="0">
            <a:spAutoFit/>
          </a:bodyPr>
          <a:lstStyle/>
          <a:p>
            <a:r>
              <a:rPr sz="1100" b="0">
                <a:solidFill>
                  <a:srgbClr val="2E2E2E"/>
                </a:solidFill>
                <a:latin typeface="Calibri"/>
              </a:rPr>
              <a:t>must close.</a:t>
            </a:r>
          </a:p>
        </p:txBody>
      </p:sp>
      <p:sp>
        <p:nvSpPr>
          <p:cNvPr id="119" name="TextBox 118"/>
          <p:cNvSpPr txBox="1"/>
          <p:nvPr/>
        </p:nvSpPr>
        <p:spPr>
          <a:xfrm>
            <a:off x="9801225" y="2848734"/>
            <a:ext cx="1989162" cy="186689"/>
          </a:xfrm>
          <a:prstGeom prst="rect">
            <a:avLst/>
          </a:prstGeom>
          <a:noFill/>
        </p:spPr>
        <p:txBody>
          <a:bodyPr wrap="none" lIns="0" rIns="0" tIns="0" bIns="0">
            <a:spAutoFit/>
          </a:bodyPr>
          <a:lstStyle/>
          <a:p>
            <a:r>
              <a:rPr sz="1100" b="0">
                <a:solidFill>
                  <a:srgbClr val="2E2E2E"/>
                </a:solidFill>
                <a:latin typeface="Calibri"/>
              </a:rPr>
              <a:t>▸ Assessed moderate to high. The</a:t>
            </a:r>
          </a:p>
        </p:txBody>
      </p:sp>
      <p:sp>
        <p:nvSpPr>
          <p:cNvPr id="120" name="TextBox 119"/>
          <p:cNvSpPr txBox="1"/>
          <p:nvPr/>
        </p:nvSpPr>
        <p:spPr>
          <a:xfrm>
            <a:off x="9801225" y="3016374"/>
            <a:ext cx="1003349" cy="186689"/>
          </a:xfrm>
          <a:prstGeom prst="rect">
            <a:avLst/>
          </a:prstGeom>
          <a:noFill/>
        </p:spPr>
        <p:txBody>
          <a:bodyPr wrap="none" lIns="0" rIns="0" tIns="0" bIns="0">
            <a:spAutoFit/>
          </a:bodyPr>
          <a:lstStyle/>
          <a:p>
            <a:r>
              <a:rPr sz="1100" b="0">
                <a:solidFill>
                  <a:srgbClr val="2E2E2E"/>
                </a:solidFill>
                <a:latin typeface="Calibri"/>
              </a:rPr>
              <a:t>market grows at</a:t>
            </a:r>
          </a:p>
        </p:txBody>
      </p:sp>
      <p:pic>
        <p:nvPicPr>
          <p:cNvPr id="121" name="Picture 120" descr="lock.png"/>
          <p:cNvPicPr>
            <a:picLocks noChangeAspect="1"/>
          </p:cNvPicPr>
          <p:nvPr/>
        </p:nvPicPr>
        <p:blipFill>
          <a:blip r:embed="rId4"/>
          <a:stretch>
            <a:fillRect/>
          </a:stretch>
        </p:blipFill>
        <p:spPr>
          <a:xfrm>
            <a:off x="10752626" y="3006595"/>
            <a:ext cx="128699" cy="187198"/>
          </a:xfrm>
          <a:prstGeom prst="rect">
            <a:avLst/>
          </a:prstGeom>
        </p:spPr>
      </p:pic>
      <p:sp>
        <p:nvSpPr>
          <p:cNvPr id="122" name="TextBox 121"/>
          <p:cNvSpPr txBox="1"/>
          <p:nvPr/>
        </p:nvSpPr>
        <p:spPr>
          <a:xfrm>
            <a:off x="10920122" y="3016374"/>
            <a:ext cx="940576" cy="186689"/>
          </a:xfrm>
          <a:prstGeom prst="rect">
            <a:avLst/>
          </a:prstGeom>
          <a:noFill/>
        </p:spPr>
        <p:txBody>
          <a:bodyPr wrap="none" lIns="0" rIns="0" tIns="0" bIns="0">
            <a:spAutoFit/>
          </a:bodyPr>
          <a:lstStyle/>
          <a:p>
            <a:r>
              <a:rPr sz="1100" b="0">
                <a:solidFill>
                  <a:srgbClr val="2E2E2E"/>
                </a:solidFill>
                <a:latin typeface="Calibri"/>
              </a:rPr>
              <a:t>CAGR and adds</a:t>
            </a:r>
          </a:p>
        </p:txBody>
      </p:sp>
      <p:pic>
        <p:nvPicPr>
          <p:cNvPr id="123" name="Picture 122" descr="lock.png"/>
          <p:cNvPicPr>
            <a:picLocks noChangeAspect="1"/>
          </p:cNvPicPr>
          <p:nvPr/>
        </p:nvPicPr>
        <p:blipFill>
          <a:blip r:embed="rId4"/>
          <a:stretch>
            <a:fillRect/>
          </a:stretch>
        </p:blipFill>
        <p:spPr>
          <a:xfrm>
            <a:off x="9787757" y="3174235"/>
            <a:ext cx="128699" cy="187198"/>
          </a:xfrm>
          <a:prstGeom prst="rect">
            <a:avLst/>
          </a:prstGeom>
        </p:spPr>
      </p:pic>
      <p:sp>
        <p:nvSpPr>
          <p:cNvPr id="124" name="TextBox 123"/>
          <p:cNvSpPr txBox="1"/>
          <p:nvPr/>
        </p:nvSpPr>
        <p:spPr>
          <a:xfrm>
            <a:off x="9955253" y="3184014"/>
            <a:ext cx="1629816" cy="186689"/>
          </a:xfrm>
          <a:prstGeom prst="rect">
            <a:avLst/>
          </a:prstGeom>
          <a:noFill/>
        </p:spPr>
        <p:txBody>
          <a:bodyPr wrap="none" lIns="0" rIns="0" tIns="0" bIns="0">
            <a:spAutoFit/>
          </a:bodyPr>
          <a:lstStyle/>
          <a:p>
            <a:r>
              <a:rPr sz="1100" b="0">
                <a:solidFill>
                  <a:srgbClr val="2E2E2E"/>
                </a:solidFill>
                <a:latin typeface="Calibri"/>
              </a:rPr>
              <a:t>US$ Mn by 2036, attracting</a:t>
            </a:r>
          </a:p>
        </p:txBody>
      </p:sp>
      <p:sp>
        <p:nvSpPr>
          <p:cNvPr id="125" name="TextBox 124"/>
          <p:cNvSpPr txBox="1"/>
          <p:nvPr/>
        </p:nvSpPr>
        <p:spPr>
          <a:xfrm>
            <a:off x="9801225" y="3351654"/>
            <a:ext cx="413444" cy="186689"/>
          </a:xfrm>
          <a:prstGeom prst="rect">
            <a:avLst/>
          </a:prstGeom>
          <a:noFill/>
        </p:spPr>
        <p:txBody>
          <a:bodyPr wrap="none" lIns="0" rIns="0" tIns="0" bIns="0">
            <a:spAutoFit/>
          </a:bodyPr>
          <a:lstStyle/>
          <a:p>
            <a:r>
              <a:rPr sz="1100" b="0">
                <a:solidFill>
                  <a:srgbClr val="2E2E2E"/>
                </a:solidFill>
                <a:latin typeface="Calibri"/>
              </a:rPr>
              <a:t>entry.</a:t>
            </a:r>
          </a:p>
        </p:txBody>
      </p:sp>
      <p:sp>
        <p:nvSpPr>
          <p:cNvPr id="126" name="TextBox 125"/>
          <p:cNvSpPr txBox="1"/>
          <p:nvPr/>
        </p:nvSpPr>
        <p:spPr>
          <a:xfrm>
            <a:off x="9801225" y="3708336"/>
            <a:ext cx="1971426" cy="186689"/>
          </a:xfrm>
          <a:prstGeom prst="rect">
            <a:avLst/>
          </a:prstGeom>
          <a:noFill/>
        </p:spPr>
        <p:txBody>
          <a:bodyPr wrap="none" lIns="0" rIns="0" tIns="0" bIns="0">
            <a:spAutoFit/>
          </a:bodyPr>
          <a:lstStyle/>
          <a:p>
            <a:r>
              <a:rPr sz="1100" b="0">
                <a:solidFill>
                  <a:srgbClr val="2E2E2E"/>
                </a:solidFill>
                <a:latin typeface="Calibri"/>
              </a:rPr>
              <a:t>▸ Demand spreads over 6 regions</a:t>
            </a:r>
          </a:p>
        </p:txBody>
      </p:sp>
      <p:sp>
        <p:nvSpPr>
          <p:cNvPr id="127" name="TextBox 126"/>
          <p:cNvSpPr txBox="1"/>
          <p:nvPr/>
        </p:nvSpPr>
        <p:spPr>
          <a:xfrm>
            <a:off x="9801225" y="3875976"/>
            <a:ext cx="1493118" cy="186689"/>
          </a:xfrm>
          <a:prstGeom prst="rect">
            <a:avLst/>
          </a:prstGeom>
          <a:noFill/>
        </p:spPr>
        <p:txBody>
          <a:bodyPr wrap="none" lIns="0" rIns="0" tIns="0" bIns="0">
            <a:spAutoFit/>
          </a:bodyPr>
          <a:lstStyle/>
          <a:p>
            <a:r>
              <a:rPr sz="1100" b="0">
                <a:solidFill>
                  <a:srgbClr val="2E2E2E"/>
                </a:solidFill>
                <a:latin typeface="Calibri"/>
              </a:rPr>
              <a:t>with no single one above</a:t>
            </a:r>
          </a:p>
        </p:txBody>
      </p:sp>
      <p:pic>
        <p:nvPicPr>
          <p:cNvPr id="128" name="Picture 127" descr="lock.png"/>
          <p:cNvPicPr>
            <a:picLocks noChangeAspect="1"/>
          </p:cNvPicPr>
          <p:nvPr/>
        </p:nvPicPr>
        <p:blipFill>
          <a:blip r:embed="rId4"/>
          <a:stretch>
            <a:fillRect/>
          </a:stretch>
        </p:blipFill>
        <p:spPr>
          <a:xfrm>
            <a:off x="11242394" y="3866197"/>
            <a:ext cx="128699" cy="187198"/>
          </a:xfrm>
          <a:prstGeom prst="rect">
            <a:avLst/>
          </a:prstGeom>
        </p:spPr>
      </p:pic>
      <p:sp>
        <p:nvSpPr>
          <p:cNvPr id="129" name="TextBox 128"/>
          <p:cNvSpPr txBox="1"/>
          <p:nvPr/>
        </p:nvSpPr>
        <p:spPr>
          <a:xfrm>
            <a:off x="11409890" y="3875976"/>
            <a:ext cx="271016" cy="186689"/>
          </a:xfrm>
          <a:prstGeom prst="rect">
            <a:avLst/>
          </a:prstGeom>
          <a:noFill/>
        </p:spPr>
        <p:txBody>
          <a:bodyPr wrap="none" lIns="0" rIns="0" tIns="0" bIns="0">
            <a:spAutoFit/>
          </a:bodyPr>
          <a:lstStyle/>
          <a:p>
            <a:r>
              <a:rPr sz="1100" b="0">
                <a:solidFill>
                  <a:srgbClr val="2E2E2E"/>
                </a:solidFill>
                <a:latin typeface="Calibri"/>
              </a:rPr>
              <a:t>, so</a:t>
            </a:r>
          </a:p>
        </p:txBody>
      </p:sp>
      <p:sp>
        <p:nvSpPr>
          <p:cNvPr id="130" name="TextBox 129"/>
          <p:cNvSpPr txBox="1"/>
          <p:nvPr/>
        </p:nvSpPr>
        <p:spPr>
          <a:xfrm>
            <a:off x="9801225" y="4043616"/>
            <a:ext cx="1498575" cy="186689"/>
          </a:xfrm>
          <a:prstGeom prst="rect">
            <a:avLst/>
          </a:prstGeom>
          <a:noFill/>
        </p:spPr>
        <p:txBody>
          <a:bodyPr wrap="none" lIns="0" rIns="0" tIns="0" bIns="0">
            <a:spAutoFit/>
          </a:bodyPr>
          <a:lstStyle/>
          <a:p>
            <a:r>
              <a:rPr sz="1100" b="0">
                <a:solidFill>
                  <a:srgbClr val="2E2E2E"/>
                </a:solidFill>
                <a:latin typeface="Calibri"/>
              </a:rPr>
              <a:t>regional entry is feasible.</a:t>
            </a:r>
          </a:p>
        </p:txBody>
      </p:sp>
      <p:sp>
        <p:nvSpPr>
          <p:cNvPr id="131" name="TextBox 130"/>
          <p:cNvSpPr txBox="1"/>
          <p:nvPr/>
        </p:nvSpPr>
        <p:spPr>
          <a:xfrm>
            <a:off x="9801225" y="4400299"/>
            <a:ext cx="2114550" cy="186689"/>
          </a:xfrm>
          <a:prstGeom prst="rect">
            <a:avLst/>
          </a:prstGeom>
          <a:noFill/>
        </p:spPr>
        <p:txBody>
          <a:bodyPr wrap="none" lIns="0" rIns="0" tIns="0" bIns="0">
            <a:spAutoFit/>
          </a:bodyPr>
          <a:lstStyle/>
          <a:p>
            <a:r>
              <a:rPr sz="1100" b="0">
                <a:solidFill>
                  <a:srgbClr val="2E2E2E"/>
                </a:solidFill>
                <a:latin typeface="Calibri"/>
              </a:rPr>
              <a:t>▸ Incumbent scale in 'North America'</a:t>
            </a:r>
          </a:p>
        </p:txBody>
      </p:sp>
      <p:sp>
        <p:nvSpPr>
          <p:cNvPr id="132" name="TextBox 131"/>
          <p:cNvSpPr txBox="1"/>
          <p:nvPr/>
        </p:nvSpPr>
        <p:spPr>
          <a:xfrm>
            <a:off x="9801225" y="4567939"/>
            <a:ext cx="1842641" cy="186689"/>
          </a:xfrm>
          <a:prstGeom prst="rect">
            <a:avLst/>
          </a:prstGeom>
          <a:noFill/>
        </p:spPr>
        <p:txBody>
          <a:bodyPr wrap="none" lIns="0" rIns="0" tIns="0" bIns="0">
            <a:spAutoFit/>
          </a:bodyPr>
          <a:lstStyle/>
          <a:p>
            <a:r>
              <a:rPr sz="1100" b="0">
                <a:solidFill>
                  <a:srgbClr val="2E2E2E"/>
                </a:solidFill>
                <a:latin typeface="Calibri"/>
              </a:rPr>
              <a:t>and 'Flexible Partial Dentures' (</a:t>
            </a:r>
          </a:p>
        </p:txBody>
      </p:sp>
      <p:pic>
        <p:nvPicPr>
          <p:cNvPr id="133" name="Picture 132" descr="lock.png"/>
          <p:cNvPicPr>
            <a:picLocks noChangeAspect="1"/>
          </p:cNvPicPr>
          <p:nvPr/>
        </p:nvPicPr>
        <p:blipFill>
          <a:blip r:embed="rId4"/>
          <a:stretch>
            <a:fillRect/>
          </a:stretch>
        </p:blipFill>
        <p:spPr>
          <a:xfrm>
            <a:off x="11591917" y="4558160"/>
            <a:ext cx="128699" cy="187198"/>
          </a:xfrm>
          <a:prstGeom prst="rect">
            <a:avLst/>
          </a:prstGeom>
        </p:spPr>
      </p:pic>
      <p:sp>
        <p:nvSpPr>
          <p:cNvPr id="134" name="TextBox 133"/>
          <p:cNvSpPr txBox="1"/>
          <p:nvPr/>
        </p:nvSpPr>
        <p:spPr>
          <a:xfrm>
            <a:off x="9801225" y="4735579"/>
            <a:ext cx="1991345" cy="186689"/>
          </a:xfrm>
          <a:prstGeom prst="rect">
            <a:avLst/>
          </a:prstGeom>
          <a:noFill/>
        </p:spPr>
        <p:txBody>
          <a:bodyPr wrap="none" lIns="0" rIns="0" tIns="0" bIns="0">
            <a:spAutoFit/>
          </a:bodyPr>
          <a:lstStyle/>
          <a:p>
            <a:r>
              <a:rPr sz="1100" b="0">
                <a:solidFill>
                  <a:srgbClr val="2E2E2E"/>
                </a:solidFill>
                <a:latin typeface="Calibri"/>
              </a:rPr>
              <a:t>of segment) remains the principal</a:t>
            </a:r>
          </a:p>
        </p:txBody>
      </p:sp>
      <p:sp>
        <p:nvSpPr>
          <p:cNvPr id="135" name="TextBox 134"/>
          <p:cNvSpPr txBox="1"/>
          <p:nvPr/>
        </p:nvSpPr>
        <p:spPr>
          <a:xfrm>
            <a:off x="9801225" y="4903219"/>
            <a:ext cx="499938" cy="186689"/>
          </a:xfrm>
          <a:prstGeom prst="rect">
            <a:avLst/>
          </a:prstGeom>
          <a:noFill/>
        </p:spPr>
        <p:txBody>
          <a:bodyPr wrap="none" lIns="0" rIns="0" tIns="0" bIns="0">
            <a:spAutoFit/>
          </a:bodyPr>
          <a:lstStyle/>
          <a:p>
            <a:r>
              <a:rPr sz="1100" b="0">
                <a:solidFill>
                  <a:srgbClr val="2E2E2E"/>
                </a:solidFill>
                <a:latin typeface="Calibri"/>
              </a:rPr>
              <a:t>barrier.</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 </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8</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40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Company A</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2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4 of 8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Company B, Company A, Company C.</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3" name="Picture 62" descr="lock.png"/>
          <p:cNvPicPr>
            <a:picLocks noChangeAspect="1"/>
          </p:cNvPicPr>
          <p:nvPr/>
        </p:nvPicPr>
        <p:blipFill>
          <a:blip r:embed="rId4"/>
          <a:stretch>
            <a:fillRect/>
          </a:stretch>
        </p:blipFill>
        <p:spPr>
          <a:xfrm>
            <a:off x="873863" y="1401826"/>
            <a:ext cx="128699" cy="187198"/>
          </a:xfrm>
          <a:prstGeom prst="rect">
            <a:avLst/>
          </a:prstGeom>
        </p:spPr>
      </p:pic>
      <p:pic>
        <p:nvPicPr>
          <p:cNvPr id="64" name="Picture 63" descr="lock.png"/>
          <p:cNvPicPr>
            <a:picLocks noChangeAspect="1"/>
          </p:cNvPicPr>
          <p:nvPr/>
        </p:nvPicPr>
        <p:blipFill>
          <a:blip r:embed="rId4"/>
          <a:stretch>
            <a:fillRect/>
          </a:stretch>
        </p:blipFill>
        <p:spPr>
          <a:xfrm>
            <a:off x="2350238" y="1401826"/>
            <a:ext cx="128699" cy="187198"/>
          </a:xfrm>
          <a:prstGeom prst="rect">
            <a:avLst/>
          </a:prstGeom>
        </p:spPr>
      </p:pic>
      <p:pic>
        <p:nvPicPr>
          <p:cNvPr id="65" name="Picture 64" descr="lock.png"/>
          <p:cNvPicPr>
            <a:picLocks noChangeAspect="1"/>
          </p:cNvPicPr>
          <p:nvPr/>
        </p:nvPicPr>
        <p:blipFill>
          <a:blip r:embed="rId4"/>
          <a:stretch>
            <a:fillRect/>
          </a:stretch>
        </p:blipFill>
        <p:spPr>
          <a:xfrm>
            <a:off x="3826613" y="1401826"/>
            <a:ext cx="128699" cy="187198"/>
          </a:xfrm>
          <a:prstGeom prst="rect">
            <a:avLst/>
          </a:prstGeom>
        </p:spPr>
      </p:pic>
      <p:pic>
        <p:nvPicPr>
          <p:cNvPr id="66" name="Picture 65" descr="lock.png"/>
          <p:cNvPicPr>
            <a:picLocks noChangeAspect="1"/>
          </p:cNvPicPr>
          <p:nvPr/>
        </p:nvPicPr>
        <p:blipFill>
          <a:blip r:embed="rId4"/>
          <a:stretch>
            <a:fillRect/>
          </a:stretch>
        </p:blipFill>
        <p:spPr>
          <a:xfrm>
            <a:off x="11208488" y="1401826"/>
            <a:ext cx="128699" cy="187198"/>
          </a:xfrm>
          <a:prstGeom prst="rect">
            <a:avLst/>
          </a:prstGeom>
        </p:spPr>
      </p:pic>
      <p:sp>
        <p:nvSpPr>
          <p:cNvPr id="67" name="TextBox 66"/>
          <p:cNvSpPr txBox="1"/>
          <p:nvPr/>
        </p:nvSpPr>
        <p:spPr>
          <a:xfrm>
            <a:off x="4705350" y="1304925"/>
            <a:ext cx="1212746" cy="179984"/>
          </a:xfrm>
          <a:prstGeom prst="rect">
            <a:avLst/>
          </a:prstGeom>
          <a:noFill/>
        </p:spPr>
        <p:txBody>
          <a:bodyPr wrap="none" lIns="0" rIns="0" tIns="0" bIns="0">
            <a:spAutoFit/>
          </a:bodyPr>
          <a:lstStyle/>
          <a:p>
            <a:r>
              <a:rPr sz="1055" b="1">
                <a:solidFill>
                  <a:srgbClr val="0F2D52"/>
                </a:solidFill>
                <a:latin typeface="Calibri"/>
              </a:rPr>
              <a:t>Dental Laboratories,</a:t>
            </a:r>
          </a:p>
        </p:txBody>
      </p:sp>
      <p:pic>
        <p:nvPicPr>
          <p:cNvPr id="68" name="Picture 67" descr="lock.png"/>
          <p:cNvPicPr>
            <a:picLocks noChangeAspect="1"/>
          </p:cNvPicPr>
          <p:nvPr/>
        </p:nvPicPr>
        <p:blipFill>
          <a:blip r:embed="rId4"/>
          <a:stretch>
            <a:fillRect/>
          </a:stretch>
        </p:blipFill>
        <p:spPr>
          <a:xfrm>
            <a:off x="4692421" y="1456471"/>
            <a:ext cx="123551" cy="179710"/>
          </a:xfrm>
          <a:prstGeom prst="rect">
            <a:avLst/>
          </a:prstGeom>
        </p:spPr>
      </p:pic>
      <p:sp>
        <p:nvSpPr>
          <p:cNvPr id="69" name="TextBox 68"/>
          <p:cNvSpPr txBox="1"/>
          <p:nvPr/>
        </p:nvSpPr>
        <p:spPr>
          <a:xfrm>
            <a:off x="523875" y="2124075"/>
            <a:ext cx="1137319" cy="186689"/>
          </a:xfrm>
          <a:prstGeom prst="rect">
            <a:avLst/>
          </a:prstGeom>
          <a:noFill/>
        </p:spPr>
        <p:txBody>
          <a:bodyPr wrap="none" lIns="0" rIns="0" tIns="0" bIns="0">
            <a:spAutoFit/>
          </a:bodyPr>
          <a:lstStyle/>
          <a:p>
            <a:r>
              <a:rPr sz="1100" b="0">
                <a:solidFill>
                  <a:srgbClr val="1F2933"/>
                </a:solidFill>
                <a:latin typeface="Calibri"/>
              </a:rPr>
              <a:t>The top three hold</a:t>
            </a:r>
          </a:p>
        </p:txBody>
      </p:sp>
      <p:pic>
        <p:nvPicPr>
          <p:cNvPr id="70" name="Picture 69" descr="lock.png"/>
          <p:cNvPicPr>
            <a:picLocks noChangeAspect="1"/>
          </p:cNvPicPr>
          <p:nvPr/>
        </p:nvPicPr>
        <p:blipFill>
          <a:blip r:embed="rId4"/>
          <a:stretch>
            <a:fillRect/>
          </a:stretch>
        </p:blipFill>
        <p:spPr>
          <a:xfrm>
            <a:off x="1609246" y="2114296"/>
            <a:ext cx="128699" cy="187198"/>
          </a:xfrm>
          <a:prstGeom prst="rect">
            <a:avLst/>
          </a:prstGeom>
        </p:spPr>
      </p:pic>
      <p:sp>
        <p:nvSpPr>
          <p:cNvPr id="71" name="TextBox 70"/>
          <p:cNvSpPr txBox="1"/>
          <p:nvPr/>
        </p:nvSpPr>
        <p:spPr>
          <a:xfrm>
            <a:off x="1776742" y="2124075"/>
            <a:ext cx="3949327" cy="186689"/>
          </a:xfrm>
          <a:prstGeom prst="rect">
            <a:avLst/>
          </a:prstGeom>
          <a:noFill/>
        </p:spPr>
        <p:txBody>
          <a:bodyPr wrap="none" lIns="0" rIns="0" tIns="0" bIns="0">
            <a:spAutoFit/>
          </a:bodyPr>
          <a:lstStyle/>
          <a:p>
            <a:r>
              <a:rPr sz="1100" b="0">
                <a:solidFill>
                  <a:srgbClr val="1F2933"/>
                </a:solidFill>
                <a:latin typeface="Calibri"/>
              </a:rPr>
              <a:t>of 2026 value, but 3 companies lead the 8 sub-segments tracked; no</a:t>
            </a:r>
          </a:p>
        </p:txBody>
      </p:sp>
      <p:sp>
        <p:nvSpPr>
          <p:cNvPr id="72" name="TextBox 71"/>
          <p:cNvSpPr txBox="1"/>
          <p:nvPr/>
        </p:nvSpPr>
        <p:spPr>
          <a:xfrm>
            <a:off x="523875" y="2291715"/>
            <a:ext cx="1386433" cy="186689"/>
          </a:xfrm>
          <a:prstGeom prst="rect">
            <a:avLst/>
          </a:prstGeom>
          <a:noFill/>
        </p:spPr>
        <p:txBody>
          <a:bodyPr wrap="none" lIns="0" rIns="0" tIns="0" bIns="0">
            <a:spAutoFit/>
          </a:bodyPr>
          <a:lstStyle/>
          <a:p>
            <a:r>
              <a:rPr sz="1100" b="0">
                <a:solidFill>
                  <a:srgbClr val="1F2933"/>
                </a:solidFill>
                <a:latin typeface="Calibri"/>
              </a:rPr>
              <a:t>one leads more than 5.</a:t>
            </a:r>
          </a:p>
        </p:txBody>
      </p:sp>
      <p:sp>
        <p:nvSpPr>
          <p:cNvPr id="73" name="TextBox 72"/>
          <p:cNvSpPr txBox="1"/>
          <p:nvPr/>
        </p:nvSpPr>
        <p:spPr>
          <a:xfrm>
            <a:off x="523875" y="3228975"/>
            <a:ext cx="1364059" cy="186689"/>
          </a:xfrm>
          <a:prstGeom prst="rect">
            <a:avLst/>
          </a:prstGeom>
          <a:noFill/>
        </p:spPr>
        <p:txBody>
          <a:bodyPr wrap="none" lIns="0" rIns="0" tIns="0" bIns="0">
            <a:spAutoFit/>
          </a:bodyPr>
          <a:lstStyle/>
          <a:p>
            <a:r>
              <a:rPr sz="1100" b="0">
                <a:solidFill>
                  <a:srgbClr val="1F2933"/>
                </a:solidFill>
                <a:latin typeface="Calibri"/>
              </a:rPr>
              <a:t>Tier 1 (4 players) holds</a:t>
            </a:r>
          </a:p>
        </p:txBody>
      </p:sp>
      <p:pic>
        <p:nvPicPr>
          <p:cNvPr id="74" name="Picture 73" descr="lock.png"/>
          <p:cNvPicPr>
            <a:picLocks noChangeAspect="1"/>
          </p:cNvPicPr>
          <p:nvPr/>
        </p:nvPicPr>
        <p:blipFill>
          <a:blip r:embed="rId4"/>
          <a:stretch>
            <a:fillRect/>
          </a:stretch>
        </p:blipFill>
        <p:spPr>
          <a:xfrm>
            <a:off x="1835985" y="3219196"/>
            <a:ext cx="128699" cy="187198"/>
          </a:xfrm>
          <a:prstGeom prst="rect">
            <a:avLst/>
          </a:prstGeom>
        </p:spPr>
      </p:pic>
      <p:sp>
        <p:nvSpPr>
          <p:cNvPr id="75" name="TextBox 74"/>
          <p:cNvSpPr txBox="1"/>
          <p:nvPr/>
        </p:nvSpPr>
        <p:spPr>
          <a:xfrm>
            <a:off x="2003481" y="3228975"/>
            <a:ext cx="1875656" cy="186689"/>
          </a:xfrm>
          <a:prstGeom prst="rect">
            <a:avLst/>
          </a:prstGeom>
          <a:noFill/>
        </p:spPr>
        <p:txBody>
          <a:bodyPr wrap="none" lIns="0" rIns="0" tIns="0" bIns="0">
            <a:spAutoFit/>
          </a:bodyPr>
          <a:lstStyle/>
          <a:p>
            <a:r>
              <a:rPr sz="1100" b="0">
                <a:solidFill>
                  <a:srgbClr val="1F2933"/>
                </a:solidFill>
                <a:latin typeface="Calibri"/>
              </a:rPr>
              <a:t>; Tier 2 and Tier 3 together hold</a:t>
            </a:r>
          </a:p>
        </p:txBody>
      </p:sp>
      <p:pic>
        <p:nvPicPr>
          <p:cNvPr id="76" name="Picture 75" descr="lock.png"/>
          <p:cNvPicPr>
            <a:picLocks noChangeAspect="1"/>
          </p:cNvPicPr>
          <p:nvPr/>
        </p:nvPicPr>
        <p:blipFill>
          <a:blip r:embed="rId4"/>
          <a:stretch>
            <a:fillRect/>
          </a:stretch>
        </p:blipFill>
        <p:spPr>
          <a:xfrm>
            <a:off x="3827189" y="3219196"/>
            <a:ext cx="128699" cy="187198"/>
          </a:xfrm>
          <a:prstGeom prst="rect">
            <a:avLst/>
          </a:prstGeom>
        </p:spPr>
      </p:pic>
      <p:sp>
        <p:nvSpPr>
          <p:cNvPr id="77" name="TextBox 76"/>
          <p:cNvSpPr txBox="1"/>
          <p:nvPr/>
        </p:nvSpPr>
        <p:spPr>
          <a:xfrm>
            <a:off x="3994685" y="3228975"/>
            <a:ext cx="111397" cy="186689"/>
          </a:xfrm>
          <a:prstGeom prst="rect">
            <a:avLst/>
          </a:prstGeom>
          <a:noFill/>
        </p:spPr>
        <p:txBody>
          <a:bodyPr wrap="none" lIns="0" rIns="0" tIns="0" bIns="0">
            <a:spAutoFit/>
          </a:bodyPr>
          <a:lstStyle/>
          <a:p>
            <a:r>
              <a:rPr sz="1100" b="0">
                <a:solidFill>
                  <a:srgbClr val="1F2933"/>
                </a:solidFill>
                <a:latin typeface="Calibri"/>
              </a:rPr>
              <a:t>.</a:t>
            </a:r>
          </a:p>
        </p:txBody>
      </p:sp>
      <p:sp>
        <p:nvSpPr>
          <p:cNvPr id="78" name="TextBox 77"/>
          <p:cNvSpPr txBox="1"/>
          <p:nvPr/>
        </p:nvSpPr>
        <p:spPr>
          <a:xfrm>
            <a:off x="523875" y="4333875"/>
            <a:ext cx="5322316" cy="186689"/>
          </a:xfrm>
          <a:prstGeom prst="rect">
            <a:avLst/>
          </a:prstGeom>
          <a:noFill/>
        </p:spPr>
        <p:txBody>
          <a:bodyPr wrap="none" lIns="0" rIns="0" tIns="0" bIns="0">
            <a:spAutoFit/>
          </a:bodyPr>
          <a:lstStyle/>
          <a:p>
            <a:r>
              <a:rPr sz="1100" b="0">
                <a:solidFill>
                  <a:srgbClr val="1F2933"/>
                </a:solidFill>
                <a:latin typeface="Calibri"/>
              </a:rPr>
              <a:t>'Flexible Partial Dentures' is the largest line; 'Cast Metal Partial Dentures' compounds fastest</a:t>
            </a:r>
          </a:p>
        </p:txBody>
      </p:sp>
      <p:sp>
        <p:nvSpPr>
          <p:cNvPr id="79" name="TextBox 78"/>
          <p:cNvSpPr txBox="1"/>
          <p:nvPr/>
        </p:nvSpPr>
        <p:spPr>
          <a:xfrm>
            <a:off x="523875" y="4501515"/>
            <a:ext cx="189979" cy="186689"/>
          </a:xfrm>
          <a:prstGeom prst="rect">
            <a:avLst/>
          </a:prstGeom>
          <a:noFill/>
        </p:spPr>
        <p:txBody>
          <a:bodyPr wrap="none" lIns="0" rIns="0" tIns="0" bIns="0">
            <a:spAutoFit/>
          </a:bodyPr>
          <a:lstStyle/>
          <a:p>
            <a:r>
              <a:rPr sz="1100" b="0">
                <a:solidFill>
                  <a:srgbClr val="1F2933"/>
                </a:solidFill>
                <a:latin typeface="Calibri"/>
              </a:rPr>
              <a:t>at</a:t>
            </a:r>
          </a:p>
        </p:txBody>
      </p:sp>
      <p:pic>
        <p:nvPicPr>
          <p:cNvPr id="80" name="Picture 79" descr="lock.png"/>
          <p:cNvPicPr>
            <a:picLocks noChangeAspect="1"/>
          </p:cNvPicPr>
          <p:nvPr/>
        </p:nvPicPr>
        <p:blipFill>
          <a:blip r:embed="rId4"/>
          <a:stretch>
            <a:fillRect/>
          </a:stretch>
        </p:blipFill>
        <p:spPr>
          <a:xfrm>
            <a:off x="661905" y="4491736"/>
            <a:ext cx="128699" cy="187198"/>
          </a:xfrm>
          <a:prstGeom prst="rect">
            <a:avLst/>
          </a:prstGeom>
        </p:spPr>
      </p:pic>
      <p:sp>
        <p:nvSpPr>
          <p:cNvPr id="81" name="TextBox 80"/>
          <p:cNvSpPr txBox="1"/>
          <p:nvPr/>
        </p:nvSpPr>
        <p:spPr>
          <a:xfrm>
            <a:off x="829401" y="4501515"/>
            <a:ext cx="430617" cy="186689"/>
          </a:xfrm>
          <a:prstGeom prst="rect">
            <a:avLst/>
          </a:prstGeom>
          <a:noFill/>
        </p:spPr>
        <p:txBody>
          <a:bodyPr wrap="none" lIns="0" rIns="0" tIns="0" bIns="0">
            <a:spAutoFit/>
          </a:bodyPr>
          <a:lstStyle/>
          <a:p>
            <a:r>
              <a:rPr sz="1100" b="0">
                <a:solidFill>
                  <a:srgbClr val="1F2933"/>
                </a:solidFill>
                <a:latin typeface="Calibri"/>
              </a:rPr>
              <a:t>CAGR.</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804315"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728115"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3" name="Rectangle 12"/>
          <p:cNvSpPr/>
          <p:nvPr/>
        </p:nvSpPr>
        <p:spPr>
          <a:xfrm>
            <a:off x="4994815" y="1257300"/>
            <a:ext cx="1636451"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5051965" y="1257300"/>
            <a:ext cx="1560251"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5" name="Rectangle 14"/>
          <p:cNvSpPr/>
          <p:nvPr/>
        </p:nvSpPr>
        <p:spPr>
          <a:xfrm>
            <a:off x="6631266" y="1257300"/>
            <a:ext cx="184769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688416" y="1257300"/>
            <a:ext cx="1771496"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A, Company B, Company C</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D, Company E</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F, Company G, Company H</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Flexible Partial Dentures</a:t>
            </a:r>
          </a:p>
        </p:txBody>
      </p:sp>
      <p:sp>
        <p:nvSpPr>
          <p:cNvPr id="30" name="TextBox 29"/>
          <p:cNvSpPr txBox="1"/>
          <p:nvPr/>
        </p:nvSpPr>
        <p:spPr>
          <a:xfrm>
            <a:off x="3352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Combination Framework Partial Dentures</a:t>
            </a:r>
          </a:p>
        </p:txBody>
      </p:sp>
      <p:sp>
        <p:nvSpPr>
          <p:cNvPr id="31" name="TextBox 30"/>
          <p:cNvSpPr txBox="1"/>
          <p:nvPr/>
        </p:nvSpPr>
        <p:spPr>
          <a:xfrm>
            <a:off x="4591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Cast Metal Partial Dentures</a:t>
            </a:r>
          </a:p>
        </p:txBody>
      </p:sp>
      <p:sp>
        <p:nvSpPr>
          <p:cNvPr id="32" name="TextBox 31"/>
          <p:cNvSpPr txBox="1"/>
          <p:nvPr/>
        </p:nvSpPr>
        <p:spPr>
          <a:xfrm>
            <a:off x="5829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Acrylic Partial Dentures</a:t>
            </a:r>
          </a:p>
        </p:txBody>
      </p:sp>
      <p:sp>
        <p:nvSpPr>
          <p:cNvPr id="33" name="TextBox 32"/>
          <p:cNvSpPr txBox="1"/>
          <p:nvPr/>
        </p:nvSpPr>
        <p:spPr>
          <a:xfrm>
            <a:off x="7067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Laboratories</a:t>
            </a:r>
          </a:p>
        </p:txBody>
      </p:sp>
      <p:sp>
        <p:nvSpPr>
          <p:cNvPr id="34" name="TextBox 33"/>
          <p:cNvSpPr txBox="1"/>
          <p:nvPr/>
        </p:nvSpPr>
        <p:spPr>
          <a:xfrm>
            <a:off x="8305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Academic &amp; Teaching Dental Institutions</a:t>
            </a:r>
          </a:p>
        </p:txBody>
      </p:sp>
      <p:sp>
        <p:nvSpPr>
          <p:cNvPr id="35" name="TextBox 34"/>
          <p:cNvSpPr txBox="1"/>
          <p:nvPr/>
        </p:nvSpPr>
        <p:spPr>
          <a:xfrm>
            <a:off x="9544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Clinics</a:t>
            </a:r>
          </a:p>
        </p:txBody>
      </p:sp>
      <p:sp>
        <p:nvSpPr>
          <p:cNvPr id="36" name="TextBox 35"/>
          <p:cNvSpPr txBox="1"/>
          <p:nvPr/>
        </p:nvSpPr>
        <p:spPr>
          <a:xfrm>
            <a:off x="10782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Hospitals</a:t>
            </a:r>
          </a:p>
        </p:txBody>
      </p:sp>
      <p:cxnSp>
        <p:nvCxnSpPr>
          <p:cNvPr id="37" name="Connector 36"/>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40" name="TextBox 39"/>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1" name="Oval 40"/>
          <p:cNvSpPr/>
          <p:nvPr/>
        </p:nvSpPr>
        <p:spPr>
          <a:xfrm>
            <a:off x="2638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714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38766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5114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6353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7591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7667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82967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890587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10067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1306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55" name="TextBox 54"/>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Oval 55"/>
          <p:cNvSpPr/>
          <p:nvPr/>
        </p:nvSpPr>
        <p:spPr>
          <a:xfrm>
            <a:off x="2638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Freeform 56"/>
          <p:cNvSpPr/>
          <p:nvPr/>
        </p:nvSpPr>
        <p:spPr>
          <a:xfrm>
            <a:off x="2714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38766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39528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5114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6353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64293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7591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7667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8829675" y="3048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10067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101441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1306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13823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0" name="Connector 69"/>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73" name="TextBox 72"/>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4" name="Oval 73"/>
          <p:cNvSpPr/>
          <p:nvPr/>
        </p:nvSpPr>
        <p:spPr>
          <a:xfrm>
            <a:off x="2638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3876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5114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5191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6353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7591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8829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reeform 80"/>
          <p:cNvSpPr/>
          <p:nvPr/>
        </p:nvSpPr>
        <p:spPr>
          <a:xfrm>
            <a:off x="89058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Oval 81"/>
          <p:cNvSpPr/>
          <p:nvPr/>
        </p:nvSpPr>
        <p:spPr>
          <a:xfrm>
            <a:off x="10067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reeform 82"/>
          <p:cNvSpPr/>
          <p:nvPr/>
        </p:nvSpPr>
        <p:spPr>
          <a:xfrm>
            <a:off x="10144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Oval 83"/>
          <p:cNvSpPr/>
          <p:nvPr/>
        </p:nvSpPr>
        <p:spPr>
          <a:xfrm>
            <a:off x="11306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3823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89" name="TextBox 88"/>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90" name="Oval 89"/>
          <p:cNvSpPr/>
          <p:nvPr/>
        </p:nvSpPr>
        <p:spPr>
          <a:xfrm>
            <a:off x="2638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3876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3952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Oval 92"/>
          <p:cNvSpPr/>
          <p:nvPr/>
        </p:nvSpPr>
        <p:spPr>
          <a:xfrm>
            <a:off x="5114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Freeform 93"/>
          <p:cNvSpPr/>
          <p:nvPr/>
        </p:nvSpPr>
        <p:spPr>
          <a:xfrm>
            <a:off x="519112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Oval 94"/>
          <p:cNvSpPr/>
          <p:nvPr/>
        </p:nvSpPr>
        <p:spPr>
          <a:xfrm>
            <a:off x="6353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64293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7591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766762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Oval 98"/>
          <p:cNvSpPr/>
          <p:nvPr/>
        </p:nvSpPr>
        <p:spPr>
          <a:xfrm>
            <a:off x="8829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Freeform 99"/>
          <p:cNvSpPr/>
          <p:nvPr/>
        </p:nvSpPr>
        <p:spPr>
          <a:xfrm>
            <a:off x="8905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10067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11306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3" name="Connector 102"/>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106" name="TextBox 105"/>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7" name="Oval 106"/>
          <p:cNvSpPr/>
          <p:nvPr/>
        </p:nvSpPr>
        <p:spPr>
          <a:xfrm>
            <a:off x="2638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14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3876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395287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Oval 110"/>
          <p:cNvSpPr/>
          <p:nvPr/>
        </p:nvSpPr>
        <p:spPr>
          <a:xfrm>
            <a:off x="5114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Freeform 111"/>
          <p:cNvSpPr/>
          <p:nvPr/>
        </p:nvSpPr>
        <p:spPr>
          <a:xfrm>
            <a:off x="51911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Oval 112"/>
          <p:cNvSpPr/>
          <p:nvPr/>
        </p:nvSpPr>
        <p:spPr>
          <a:xfrm>
            <a:off x="6353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Oval 113"/>
          <p:cNvSpPr/>
          <p:nvPr/>
        </p:nvSpPr>
        <p:spPr>
          <a:xfrm>
            <a:off x="7591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7667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Oval 115"/>
          <p:cNvSpPr/>
          <p:nvPr/>
        </p:nvSpPr>
        <p:spPr>
          <a:xfrm>
            <a:off x="8829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10067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01441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11306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0" name="Connector 119"/>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1" name="Rectangle 120"/>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123" name="TextBox 122"/>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24" name="Oval 123"/>
          <p:cNvSpPr/>
          <p:nvPr/>
        </p:nvSpPr>
        <p:spPr>
          <a:xfrm>
            <a:off x="2638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27146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3876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3952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Oval 127"/>
          <p:cNvSpPr/>
          <p:nvPr/>
        </p:nvSpPr>
        <p:spPr>
          <a:xfrm>
            <a:off x="5114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Oval 128"/>
          <p:cNvSpPr/>
          <p:nvPr/>
        </p:nvSpPr>
        <p:spPr>
          <a:xfrm>
            <a:off x="6353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7591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8829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Freeform 131"/>
          <p:cNvSpPr/>
          <p:nvPr/>
        </p:nvSpPr>
        <p:spPr>
          <a:xfrm>
            <a:off x="8905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Oval 132"/>
          <p:cNvSpPr/>
          <p:nvPr/>
        </p:nvSpPr>
        <p:spPr>
          <a:xfrm>
            <a:off x="10067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101441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11306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6" name="Connector 135"/>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Rectangle 136"/>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139" name="TextBox 138"/>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0" name="Oval 139"/>
          <p:cNvSpPr/>
          <p:nvPr/>
        </p:nvSpPr>
        <p:spPr>
          <a:xfrm>
            <a:off x="2638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2714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3876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Oval 142"/>
          <p:cNvSpPr/>
          <p:nvPr/>
        </p:nvSpPr>
        <p:spPr>
          <a:xfrm>
            <a:off x="5114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Freeform 143"/>
          <p:cNvSpPr/>
          <p:nvPr/>
        </p:nvSpPr>
        <p:spPr>
          <a:xfrm>
            <a:off x="51911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Oval 144"/>
          <p:cNvSpPr/>
          <p:nvPr/>
        </p:nvSpPr>
        <p:spPr>
          <a:xfrm>
            <a:off x="6353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7591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7667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8829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890587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10067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11306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2" name="Connector 151"/>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3" name="Rectangle 152"/>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55" name="TextBox 154"/>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6" name="Oval 155"/>
          <p:cNvSpPr/>
          <p:nvPr/>
        </p:nvSpPr>
        <p:spPr>
          <a:xfrm>
            <a:off x="2638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Oval 156"/>
          <p:cNvSpPr/>
          <p:nvPr/>
        </p:nvSpPr>
        <p:spPr>
          <a:xfrm>
            <a:off x="3876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395287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Oval 158"/>
          <p:cNvSpPr/>
          <p:nvPr/>
        </p:nvSpPr>
        <p:spPr>
          <a:xfrm>
            <a:off x="5114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Freeform 159"/>
          <p:cNvSpPr/>
          <p:nvPr/>
        </p:nvSpPr>
        <p:spPr>
          <a:xfrm>
            <a:off x="51911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Oval 160"/>
          <p:cNvSpPr/>
          <p:nvPr/>
        </p:nvSpPr>
        <p:spPr>
          <a:xfrm>
            <a:off x="6353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Oval 161"/>
          <p:cNvSpPr/>
          <p:nvPr/>
        </p:nvSpPr>
        <p:spPr>
          <a:xfrm>
            <a:off x="7591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Freeform 162"/>
          <p:cNvSpPr/>
          <p:nvPr/>
        </p:nvSpPr>
        <p:spPr>
          <a:xfrm>
            <a:off x="76676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Oval 163"/>
          <p:cNvSpPr/>
          <p:nvPr/>
        </p:nvSpPr>
        <p:spPr>
          <a:xfrm>
            <a:off x="8829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Oval 164"/>
          <p:cNvSpPr/>
          <p:nvPr/>
        </p:nvSpPr>
        <p:spPr>
          <a:xfrm>
            <a:off x="10067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Freeform 165"/>
          <p:cNvSpPr/>
          <p:nvPr/>
        </p:nvSpPr>
        <p:spPr>
          <a:xfrm>
            <a:off x="101441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11306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68" name="Connector 167"/>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9" name="Rectangle 168"/>
          <p:cNvSpPr/>
          <p:nvPr/>
        </p:nvSpPr>
        <p:spPr>
          <a:xfrm>
            <a:off x="190500" y="54387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314325"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171" name="Rectangle 170"/>
          <p:cNvSpPr/>
          <p:nvPr/>
        </p:nvSpPr>
        <p:spPr>
          <a:xfrm>
            <a:off x="847725" y="54387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1550"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173" name="Rectangle 172"/>
          <p:cNvSpPr/>
          <p:nvPr/>
        </p:nvSpPr>
        <p:spPr>
          <a:xfrm>
            <a:off x="1504950" y="54387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1628775"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175" name="TextBox 174"/>
          <p:cNvSpPr txBox="1"/>
          <p:nvPr/>
        </p:nvSpPr>
        <p:spPr>
          <a:xfrm>
            <a:off x="190500" y="56007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76" name="TextBox 175"/>
          <p:cNvSpPr txBox="1"/>
          <p:nvPr/>
        </p:nvSpPr>
        <p:spPr>
          <a:xfrm>
            <a:off x="190500" y="57531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'Dental Laboratories' is the most contested column (7 players active); 'Acrylic Partial Dentures' is the most open (3).</a:t>
            </a:r>
          </a:p>
        </p:txBody>
      </p:sp>
      <p:sp>
        <p:nvSpPr>
          <p:cNvPr id="177" name="TextBox 1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78" name="TextBox 177"/>
          <p:cNvSpPr txBox="1"/>
          <p:nvPr/>
        </p:nvSpPr>
        <p:spPr>
          <a:xfrm>
            <a:off x="276225" y="1306830"/>
            <a:ext cx="398164" cy="186689"/>
          </a:xfrm>
          <a:prstGeom prst="rect">
            <a:avLst/>
          </a:prstGeom>
          <a:noFill/>
        </p:spPr>
        <p:txBody>
          <a:bodyPr wrap="none" lIns="0" rIns="0" tIns="0" bIns="0">
            <a:spAutoFit/>
          </a:bodyPr>
          <a:lstStyle/>
          <a:p>
            <a:r>
              <a:rPr sz="1100" b="1">
                <a:solidFill>
                  <a:srgbClr val="FFFFFF"/>
                </a:solidFill>
                <a:latin typeface="Calibri"/>
              </a:rPr>
              <a:t>Top 3</a:t>
            </a:r>
          </a:p>
        </p:txBody>
      </p:sp>
      <p:pic>
        <p:nvPicPr>
          <p:cNvPr id="179" name="Picture 178" descr="lock.png"/>
          <p:cNvPicPr>
            <a:picLocks noChangeAspect="1"/>
          </p:cNvPicPr>
          <p:nvPr/>
        </p:nvPicPr>
        <p:blipFill>
          <a:blip r:embed="rId4"/>
          <a:stretch>
            <a:fillRect/>
          </a:stretch>
        </p:blipFill>
        <p:spPr>
          <a:xfrm>
            <a:off x="622441" y="1297051"/>
            <a:ext cx="128699" cy="187198"/>
          </a:xfrm>
          <a:prstGeom prst="rect">
            <a:avLst/>
          </a:prstGeom>
        </p:spPr>
      </p:pic>
      <p:sp>
        <p:nvSpPr>
          <p:cNvPr id="180" name="TextBox 179"/>
          <p:cNvSpPr txBox="1"/>
          <p:nvPr/>
        </p:nvSpPr>
        <p:spPr>
          <a:xfrm>
            <a:off x="5080540" y="1306830"/>
            <a:ext cx="813172" cy="186689"/>
          </a:xfrm>
          <a:prstGeom prst="rect">
            <a:avLst/>
          </a:prstGeom>
          <a:noFill/>
        </p:spPr>
        <p:txBody>
          <a:bodyPr wrap="none" lIns="0" rIns="0" tIns="0" bIns="0">
            <a:spAutoFit/>
          </a:bodyPr>
          <a:lstStyle/>
          <a:p>
            <a:r>
              <a:rPr sz="1100" b="1">
                <a:solidFill>
                  <a:srgbClr val="FFFFFF"/>
                </a:solidFill>
                <a:latin typeface="Calibri"/>
              </a:rPr>
              <a:t>Rest of top 5</a:t>
            </a:r>
          </a:p>
        </p:txBody>
      </p:sp>
      <p:pic>
        <p:nvPicPr>
          <p:cNvPr id="181" name="Picture 180" descr="lock.png"/>
          <p:cNvPicPr>
            <a:picLocks noChangeAspect="1"/>
          </p:cNvPicPr>
          <p:nvPr/>
        </p:nvPicPr>
        <p:blipFill>
          <a:blip r:embed="rId4"/>
          <a:stretch>
            <a:fillRect/>
          </a:stretch>
        </p:blipFill>
        <p:spPr>
          <a:xfrm>
            <a:off x="5841763" y="1297051"/>
            <a:ext cx="128699" cy="187198"/>
          </a:xfrm>
          <a:prstGeom prst="rect">
            <a:avLst/>
          </a:prstGeom>
        </p:spPr>
      </p:pic>
      <p:sp>
        <p:nvSpPr>
          <p:cNvPr id="182" name="TextBox 181"/>
          <p:cNvSpPr txBox="1"/>
          <p:nvPr/>
        </p:nvSpPr>
        <p:spPr>
          <a:xfrm>
            <a:off x="6716991" y="1306830"/>
            <a:ext cx="620266" cy="186689"/>
          </a:xfrm>
          <a:prstGeom prst="rect">
            <a:avLst/>
          </a:prstGeom>
          <a:noFill/>
        </p:spPr>
        <p:txBody>
          <a:bodyPr wrap="none" lIns="0" rIns="0" tIns="0" bIns="0">
            <a:spAutoFit/>
          </a:bodyPr>
          <a:lstStyle/>
          <a:p>
            <a:r>
              <a:rPr sz="1100" b="1">
                <a:solidFill>
                  <a:srgbClr val="FFFFFF"/>
                </a:solidFill>
                <a:latin typeface="Calibri"/>
              </a:rPr>
              <a:t>Emerging</a:t>
            </a:r>
          </a:p>
        </p:txBody>
      </p:sp>
      <p:pic>
        <p:nvPicPr>
          <p:cNvPr id="183" name="Picture 182" descr="lock.png"/>
          <p:cNvPicPr>
            <a:picLocks noChangeAspect="1"/>
          </p:cNvPicPr>
          <p:nvPr/>
        </p:nvPicPr>
        <p:blipFill>
          <a:blip r:embed="rId4"/>
          <a:stretch>
            <a:fillRect/>
          </a:stretch>
        </p:blipFill>
        <p:spPr>
          <a:xfrm>
            <a:off x="7285308" y="1297051"/>
            <a:ext cx="128699" cy="187198"/>
          </a:xfrm>
          <a:prstGeom prst="rect">
            <a:avLst/>
          </a:prstGeom>
        </p:spPr>
      </p:pic>
      <p:sp>
        <p:nvSpPr>
          <p:cNvPr id="184" name="TextBox 183"/>
          <p:cNvSpPr txBox="1"/>
          <p:nvPr/>
        </p:nvSpPr>
        <p:spPr>
          <a:xfrm>
            <a:off x="8564687" y="1306830"/>
            <a:ext cx="469924" cy="186689"/>
          </a:xfrm>
          <a:prstGeom prst="rect">
            <a:avLst/>
          </a:prstGeom>
          <a:noFill/>
        </p:spPr>
        <p:txBody>
          <a:bodyPr wrap="none" lIns="0" rIns="0" tIns="0" bIns="0">
            <a:spAutoFit/>
          </a:bodyPr>
          <a:lstStyle/>
          <a:p>
            <a:r>
              <a:rPr sz="1100" b="1">
                <a:solidFill>
                  <a:srgbClr val="0F2D52"/>
                </a:solidFill>
                <a:latin typeface="Calibri"/>
              </a:rPr>
              <a:t>Others</a:t>
            </a:r>
          </a:p>
        </p:txBody>
      </p:sp>
      <p:pic>
        <p:nvPicPr>
          <p:cNvPr id="185" name="Picture 184" descr="lock.png"/>
          <p:cNvPicPr>
            <a:picLocks noChangeAspect="1"/>
          </p:cNvPicPr>
          <p:nvPr/>
        </p:nvPicPr>
        <p:blipFill>
          <a:blip r:embed="rId4"/>
          <a:stretch>
            <a:fillRect/>
          </a:stretch>
        </p:blipFill>
        <p:spPr>
          <a:xfrm>
            <a:off x="8982663" y="1297051"/>
            <a:ext cx="128699" cy="187198"/>
          </a:xfrm>
          <a:prstGeom prst="rect">
            <a:avLst/>
          </a:prstGeom>
        </p:spPr>
      </p:pic>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266950" cy="228600"/>
          </a:xfrm>
          <a:prstGeom prst="rect">
            <a:avLst/>
          </a:prstGeom>
          <a:noFill/>
        </p:spPr>
        <p:txBody>
          <a:bodyPr wrap="square" lIns="28575" rIns="28575" tIns="9525" bIns="9525" anchor="t">
            <a:spAutoFit/>
          </a:bodyPr>
          <a:lstStyle/>
          <a:p>
            <a:pPr algn="l"/>
            <a:r>
              <a:rPr sz="1100" b="1">
                <a:solidFill>
                  <a:srgbClr val="E87722"/>
                </a:solidFill>
                <a:latin typeface="Calibri"/>
              </a:rPr>
              <a:t> </a:t>
            </a:r>
          </a:p>
        </p:txBody>
      </p:sp>
      <p:cxnSp>
        <p:nvCxnSpPr>
          <p:cNvPr id="12" name="Connector 11"/>
          <p:cNvCxnSpPr/>
          <p:nvPr/>
        </p:nvCxnSpPr>
        <p:spPr>
          <a:xfrm>
            <a:off x="25527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6098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26098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5" name="Connector 14"/>
          <p:cNvCxnSpPr/>
          <p:nvPr/>
        </p:nvCxnSpPr>
        <p:spPr>
          <a:xfrm>
            <a:off x="49149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49720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Flexible Partial Dentures, share</a:t>
            </a:r>
          </a:p>
        </p:txBody>
      </p:sp>
      <p:sp>
        <p:nvSpPr>
          <p:cNvPr id="17" name="TextBox 16"/>
          <p:cNvSpPr txBox="1"/>
          <p:nvPr/>
        </p:nvSpPr>
        <p:spPr>
          <a:xfrm>
            <a:off x="49720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8" name="Connector 17"/>
          <p:cNvCxnSpPr/>
          <p:nvPr/>
        </p:nvCxnSpPr>
        <p:spPr>
          <a:xfrm>
            <a:off x="72771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73342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Combination Framework Partial Dentures, share</a:t>
            </a:r>
          </a:p>
        </p:txBody>
      </p:sp>
      <p:sp>
        <p:nvSpPr>
          <p:cNvPr id="20" name="TextBox 19"/>
          <p:cNvSpPr txBox="1"/>
          <p:nvPr/>
        </p:nvSpPr>
        <p:spPr>
          <a:xfrm>
            <a:off x="73342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1" name="Connector 20"/>
          <p:cNvCxnSpPr/>
          <p:nvPr/>
        </p:nvCxnSpPr>
        <p:spPr>
          <a:xfrm>
            <a:off x="96393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96964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Cast Metal Partial Dentures, share</a:t>
            </a:r>
          </a:p>
        </p:txBody>
      </p:sp>
      <p:sp>
        <p:nvSpPr>
          <p:cNvPr id="23" name="TextBox 22"/>
          <p:cNvSpPr txBox="1"/>
          <p:nvPr/>
        </p:nvSpPr>
        <p:spPr>
          <a:xfrm>
            <a:off x="96964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4" name="Connector 23"/>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Rectangle 25"/>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Flexible Partial Dentures</a:t>
            </a:r>
          </a:p>
        </p:txBody>
      </p:sp>
      <p:sp>
        <p:nvSpPr>
          <p:cNvPr id="28" name="TextBox 27"/>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29" name="TextBox 28"/>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30" name="TextBox 29"/>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31" name="TextBox 30"/>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32" name="Connector 31"/>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4" name="TextBox 33"/>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C</a:t>
            </a:r>
          </a:p>
        </p:txBody>
      </p:sp>
      <p:sp>
        <p:nvSpPr>
          <p:cNvPr id="35" name="TextBox 34"/>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6" name="TextBox 35"/>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A</a:t>
            </a:r>
          </a:p>
        </p:txBody>
      </p:sp>
      <p:sp>
        <p:nvSpPr>
          <p:cNvPr id="37" name="TextBox 36"/>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B</a:t>
            </a:r>
          </a:p>
        </p:txBody>
      </p:sp>
      <p:sp>
        <p:nvSpPr>
          <p:cNvPr id="38" name="TextBox 37"/>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E</a:t>
            </a:r>
          </a:p>
        </p:txBody>
      </p:sp>
      <p:sp>
        <p:nvSpPr>
          <p:cNvPr id="39" name="TextBox 38"/>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F</a:t>
            </a:r>
          </a:p>
        </p:txBody>
      </p:sp>
      <p:cxnSp>
        <p:nvCxnSpPr>
          <p:cNvPr id="40" name="Connector 39"/>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42" name="TextBox 41"/>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43" name="Connector 42"/>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4" name="Freeform 43"/>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Combination Framework Partial Dentures</a:t>
            </a:r>
          </a:p>
        </p:txBody>
      </p:sp>
      <p:sp>
        <p:nvSpPr>
          <p:cNvPr id="48" name="TextBox 47"/>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49" name="TextBox 48"/>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50" name="TextBox 49"/>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51" name="TextBox 50"/>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52" name="Connector 51"/>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4" name="TextBox 53"/>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A</a:t>
            </a:r>
          </a:p>
        </p:txBody>
      </p:sp>
      <p:sp>
        <p:nvSpPr>
          <p:cNvPr id="55" name="TextBox 54"/>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6" name="TextBox 55"/>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B</a:t>
            </a:r>
          </a:p>
        </p:txBody>
      </p:sp>
      <p:sp>
        <p:nvSpPr>
          <p:cNvPr id="57" name="TextBox 56"/>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D</a:t>
            </a:r>
          </a:p>
        </p:txBody>
      </p:sp>
      <p:sp>
        <p:nvSpPr>
          <p:cNvPr id="58" name="TextBox 57"/>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E</a:t>
            </a:r>
          </a:p>
        </p:txBody>
      </p:sp>
      <p:sp>
        <p:nvSpPr>
          <p:cNvPr id="59" name="TextBox 58"/>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F</a:t>
            </a:r>
          </a:p>
        </p:txBody>
      </p:sp>
      <p:cxnSp>
        <p:nvCxnSpPr>
          <p:cNvPr id="60" name="Connector 59"/>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62" name="TextBox 61"/>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63" name="Connector 62"/>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4" name="Freeform 63"/>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6219825"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219825"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315075"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3. Cast Metal Partial Dentures</a:t>
            </a:r>
          </a:p>
        </p:txBody>
      </p:sp>
      <p:sp>
        <p:nvSpPr>
          <p:cNvPr id="68" name="TextBox 67"/>
          <p:cNvSpPr txBox="1"/>
          <p:nvPr/>
        </p:nvSpPr>
        <p:spPr>
          <a:xfrm>
            <a:off x="6315075"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69" name="TextBox 68"/>
          <p:cNvSpPr txBox="1"/>
          <p:nvPr/>
        </p:nvSpPr>
        <p:spPr>
          <a:xfrm>
            <a:off x="7000875"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70" name="TextBox 69"/>
          <p:cNvSpPr txBox="1"/>
          <p:nvPr/>
        </p:nvSpPr>
        <p:spPr>
          <a:xfrm>
            <a:off x="6315075"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71" name="TextBox 70"/>
          <p:cNvSpPr txBox="1"/>
          <p:nvPr/>
        </p:nvSpPr>
        <p:spPr>
          <a:xfrm>
            <a:off x="7000875"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72" name="Connector 71"/>
          <p:cNvCxnSpPr/>
          <p:nvPr/>
        </p:nvCxnSpPr>
        <p:spPr>
          <a:xfrm>
            <a:off x="6315075"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6315075"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74" name="TextBox 73"/>
          <p:cNvSpPr txBox="1"/>
          <p:nvPr/>
        </p:nvSpPr>
        <p:spPr>
          <a:xfrm>
            <a:off x="6315075"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A</a:t>
            </a:r>
          </a:p>
        </p:txBody>
      </p:sp>
      <p:sp>
        <p:nvSpPr>
          <p:cNvPr id="75" name="TextBox 74"/>
          <p:cNvSpPr txBox="1"/>
          <p:nvPr/>
        </p:nvSpPr>
        <p:spPr>
          <a:xfrm>
            <a:off x="6315075"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76" name="TextBox 75"/>
          <p:cNvSpPr txBox="1"/>
          <p:nvPr/>
        </p:nvSpPr>
        <p:spPr>
          <a:xfrm>
            <a:off x="6315075"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C</a:t>
            </a:r>
          </a:p>
        </p:txBody>
      </p:sp>
      <p:sp>
        <p:nvSpPr>
          <p:cNvPr id="77" name="TextBox 76"/>
          <p:cNvSpPr txBox="1"/>
          <p:nvPr/>
        </p:nvSpPr>
        <p:spPr>
          <a:xfrm>
            <a:off x="6315075"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D</a:t>
            </a:r>
          </a:p>
        </p:txBody>
      </p:sp>
      <p:sp>
        <p:nvSpPr>
          <p:cNvPr id="78" name="TextBox 77"/>
          <p:cNvSpPr txBox="1"/>
          <p:nvPr/>
        </p:nvSpPr>
        <p:spPr>
          <a:xfrm>
            <a:off x="6315075"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E</a:t>
            </a:r>
          </a:p>
        </p:txBody>
      </p:sp>
      <p:sp>
        <p:nvSpPr>
          <p:cNvPr id="79" name="TextBox 78"/>
          <p:cNvSpPr txBox="1"/>
          <p:nvPr/>
        </p:nvSpPr>
        <p:spPr>
          <a:xfrm>
            <a:off x="6315075"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G</a:t>
            </a:r>
          </a:p>
        </p:txBody>
      </p:sp>
      <p:cxnSp>
        <p:nvCxnSpPr>
          <p:cNvPr id="80" name="Connector 79"/>
          <p:cNvCxnSpPr/>
          <p:nvPr/>
        </p:nvCxnSpPr>
        <p:spPr>
          <a:xfrm>
            <a:off x="6315075"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6315075"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82" name="TextBox 81"/>
          <p:cNvSpPr txBox="1"/>
          <p:nvPr/>
        </p:nvSpPr>
        <p:spPr>
          <a:xfrm>
            <a:off x="6315075"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83" name="Connector 82"/>
          <p:cNvCxnSpPr/>
          <p:nvPr/>
        </p:nvCxnSpPr>
        <p:spPr>
          <a:xfrm>
            <a:off x="9024938"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84" name="Freeform 83"/>
          <p:cNvSpPr/>
          <p:nvPr/>
        </p:nvSpPr>
        <p:spPr>
          <a:xfrm>
            <a:off x="9124950" y="3448050"/>
            <a:ext cx="76200" cy="95250"/>
          </a:xfrm>
          <a:custGeom>
            <a:avLst/>
            <a:gdLst/>
            <a:ahLst/>
            <a:cxnLst/>
            <a:rect l="l" t="t" r="r" b="b"/>
            <a:pathLst>
              <a:path w="8" h="10">
                <a:moveTo>
                  <a:pt x="8"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sp>
        <p:nvSpPr>
          <p:cNvPr id="88" name="TextBox 87"/>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89" name="TextBox 88"/>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90" name="Connector 89"/>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a:t>
            </a:r>
          </a:p>
        </p:txBody>
      </p:sp>
      <p:sp>
        <p:nvSpPr>
          <p:cNvPr id="92" name="Rectangle 91"/>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94" name="TextBox 93"/>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a:t>
            </a:r>
          </a:p>
        </p:txBody>
      </p:sp>
      <p:sp>
        <p:nvSpPr>
          <p:cNvPr id="95" name="Rectangle 94"/>
          <p:cNvSpPr/>
          <p:nvPr/>
        </p:nvSpPr>
        <p:spPr>
          <a:xfrm>
            <a:off x="10682288" y="2847975"/>
            <a:ext cx="646713"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367100"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97" name="TextBox 96"/>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Clinics</a:t>
            </a:r>
          </a:p>
        </p:txBody>
      </p:sp>
      <p:sp>
        <p:nvSpPr>
          <p:cNvPr id="98" name="Rectangle 97"/>
          <p:cNvSpPr/>
          <p:nvPr/>
        </p:nvSpPr>
        <p:spPr>
          <a:xfrm>
            <a:off x="10682288" y="3171825"/>
            <a:ext cx="225179"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0945566"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100" name="TextBox 99"/>
          <p:cNvSpPr txBox="1"/>
          <p:nvPr/>
        </p:nvSpPr>
        <p:spPr>
          <a:xfrm>
            <a:off x="9329738" y="33909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Hospitals</a:t>
            </a:r>
          </a:p>
        </p:txBody>
      </p:sp>
      <p:sp>
        <p:nvSpPr>
          <p:cNvPr id="101" name="Rectangle 100"/>
          <p:cNvSpPr/>
          <p:nvPr/>
        </p:nvSpPr>
        <p:spPr>
          <a:xfrm>
            <a:off x="10682288" y="3495675"/>
            <a:ext cx="121918"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10842305" y="34575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03" name="Connector 102"/>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105" name="TextBox 104"/>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106" name="Rectangle 105"/>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109" name="TextBox 108"/>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Cast Metal Partial Dentures Compounds Fastest Across the Product Type Mix  |  South Asia &amp; Pacific Emerges as the Growth Engine Among Regions  |  Premiumisation Lifts Average Realisation</a:t>
            </a:r>
          </a:p>
        </p:txBody>
      </p:sp>
      <p:sp>
        <p:nvSpPr>
          <p:cNvPr id="110" name="Rectangle 109"/>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113" name="TextBox 112"/>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Flexible Partial Dentures Lags the Category and Dilutes Blended Growth  |  Uneven Region Performance Caps the Blended Rate  |  Concentration Risk Limits Pricing and Sourcing Flexibility</a:t>
            </a:r>
          </a:p>
        </p:txBody>
      </p:sp>
      <p:sp>
        <p:nvSpPr>
          <p:cNvPr id="114" name="TextBox 1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15" name="Picture 114" descr="lock.png"/>
          <p:cNvPicPr>
            <a:picLocks noChangeAspect="1"/>
          </p:cNvPicPr>
          <p:nvPr/>
        </p:nvPicPr>
        <p:blipFill>
          <a:blip r:embed="rId4"/>
          <a:stretch>
            <a:fillRect/>
          </a:stretch>
        </p:blipFill>
        <p:spPr>
          <a:xfrm>
            <a:off x="1316775" y="1258951"/>
            <a:ext cx="128699" cy="187198"/>
          </a:xfrm>
          <a:prstGeom prst="rect">
            <a:avLst/>
          </a:prstGeom>
        </p:spPr>
      </p:pic>
      <p:pic>
        <p:nvPicPr>
          <p:cNvPr id="116" name="Picture 115" descr="lock.png"/>
          <p:cNvPicPr>
            <a:picLocks noChangeAspect="1"/>
          </p:cNvPicPr>
          <p:nvPr/>
        </p:nvPicPr>
        <p:blipFill>
          <a:blip r:embed="rId4"/>
          <a:stretch>
            <a:fillRect/>
          </a:stretch>
        </p:blipFill>
        <p:spPr>
          <a:xfrm>
            <a:off x="3678975" y="1258951"/>
            <a:ext cx="128699" cy="187198"/>
          </a:xfrm>
          <a:prstGeom prst="rect">
            <a:avLst/>
          </a:prstGeom>
        </p:spPr>
      </p:pic>
      <p:pic>
        <p:nvPicPr>
          <p:cNvPr id="117" name="Picture 116" descr="lock.png"/>
          <p:cNvPicPr>
            <a:picLocks noChangeAspect="1"/>
          </p:cNvPicPr>
          <p:nvPr/>
        </p:nvPicPr>
        <p:blipFill>
          <a:blip r:embed="rId4"/>
          <a:stretch>
            <a:fillRect/>
          </a:stretch>
        </p:blipFill>
        <p:spPr>
          <a:xfrm>
            <a:off x="6041175" y="1258951"/>
            <a:ext cx="128699" cy="187198"/>
          </a:xfrm>
          <a:prstGeom prst="rect">
            <a:avLst/>
          </a:prstGeom>
        </p:spPr>
      </p:pic>
      <p:pic>
        <p:nvPicPr>
          <p:cNvPr id="118" name="Picture 117" descr="lock.png"/>
          <p:cNvPicPr>
            <a:picLocks noChangeAspect="1"/>
          </p:cNvPicPr>
          <p:nvPr/>
        </p:nvPicPr>
        <p:blipFill>
          <a:blip r:embed="rId4"/>
          <a:stretch>
            <a:fillRect/>
          </a:stretch>
        </p:blipFill>
        <p:spPr>
          <a:xfrm>
            <a:off x="8403375" y="1258951"/>
            <a:ext cx="128699" cy="187198"/>
          </a:xfrm>
          <a:prstGeom prst="rect">
            <a:avLst/>
          </a:prstGeom>
        </p:spPr>
      </p:pic>
      <p:pic>
        <p:nvPicPr>
          <p:cNvPr id="119" name="Picture 118" descr="lock.png"/>
          <p:cNvPicPr>
            <a:picLocks noChangeAspect="1"/>
          </p:cNvPicPr>
          <p:nvPr/>
        </p:nvPicPr>
        <p:blipFill>
          <a:blip r:embed="rId4"/>
          <a:stretch>
            <a:fillRect/>
          </a:stretch>
        </p:blipFill>
        <p:spPr>
          <a:xfrm>
            <a:off x="10765575" y="1258951"/>
            <a:ext cx="128699" cy="187198"/>
          </a:xfrm>
          <a:prstGeom prst="rect">
            <a:avLst/>
          </a:prstGeom>
        </p:spPr>
      </p:pic>
      <p:pic>
        <p:nvPicPr>
          <p:cNvPr id="120" name="Picture 119" descr="lock.png"/>
          <p:cNvPicPr>
            <a:picLocks noChangeAspect="1"/>
          </p:cNvPicPr>
          <p:nvPr/>
        </p:nvPicPr>
        <p:blipFill>
          <a:blip r:embed="rId4"/>
          <a:stretch>
            <a:fillRect/>
          </a:stretch>
        </p:blipFill>
        <p:spPr>
          <a:xfrm>
            <a:off x="554775" y="1925701"/>
            <a:ext cx="128699" cy="187198"/>
          </a:xfrm>
          <a:prstGeom prst="rect">
            <a:avLst/>
          </a:prstGeom>
        </p:spPr>
      </p:pic>
      <p:pic>
        <p:nvPicPr>
          <p:cNvPr id="121" name="Picture 120" descr="lock.png"/>
          <p:cNvPicPr>
            <a:picLocks noChangeAspect="1"/>
          </p:cNvPicPr>
          <p:nvPr/>
        </p:nvPicPr>
        <p:blipFill>
          <a:blip r:embed="rId4"/>
          <a:stretch>
            <a:fillRect/>
          </a:stretch>
        </p:blipFill>
        <p:spPr>
          <a:xfrm>
            <a:off x="554775" y="2135251"/>
            <a:ext cx="128699" cy="187198"/>
          </a:xfrm>
          <a:prstGeom prst="rect">
            <a:avLst/>
          </a:prstGeom>
        </p:spPr>
      </p:pic>
      <p:pic>
        <p:nvPicPr>
          <p:cNvPr id="122" name="Picture 121" descr="lock.png"/>
          <p:cNvPicPr>
            <a:picLocks noChangeAspect="1"/>
          </p:cNvPicPr>
          <p:nvPr/>
        </p:nvPicPr>
        <p:blipFill>
          <a:blip r:embed="rId4"/>
          <a:stretch>
            <a:fillRect/>
          </a:stretch>
        </p:blipFill>
        <p:spPr>
          <a:xfrm>
            <a:off x="3569437" y="1925701"/>
            <a:ext cx="128699" cy="187198"/>
          </a:xfrm>
          <a:prstGeom prst="rect">
            <a:avLst/>
          </a:prstGeom>
        </p:spPr>
      </p:pic>
      <p:pic>
        <p:nvPicPr>
          <p:cNvPr id="123" name="Picture 122" descr="lock.png"/>
          <p:cNvPicPr>
            <a:picLocks noChangeAspect="1"/>
          </p:cNvPicPr>
          <p:nvPr/>
        </p:nvPicPr>
        <p:blipFill>
          <a:blip r:embed="rId4"/>
          <a:stretch>
            <a:fillRect/>
          </a:stretch>
        </p:blipFill>
        <p:spPr>
          <a:xfrm>
            <a:off x="3569437" y="2135251"/>
            <a:ext cx="128699" cy="187198"/>
          </a:xfrm>
          <a:prstGeom prst="rect">
            <a:avLst/>
          </a:prstGeom>
        </p:spPr>
      </p:pic>
      <p:pic>
        <p:nvPicPr>
          <p:cNvPr id="124" name="Picture 123" descr="lock.png"/>
          <p:cNvPicPr>
            <a:picLocks noChangeAspect="1"/>
          </p:cNvPicPr>
          <p:nvPr/>
        </p:nvPicPr>
        <p:blipFill>
          <a:blip r:embed="rId4"/>
          <a:stretch>
            <a:fillRect/>
          </a:stretch>
        </p:blipFill>
        <p:spPr>
          <a:xfrm>
            <a:off x="6584100" y="1925701"/>
            <a:ext cx="128699" cy="187198"/>
          </a:xfrm>
          <a:prstGeom prst="rect">
            <a:avLst/>
          </a:prstGeom>
        </p:spPr>
      </p:pic>
      <p:pic>
        <p:nvPicPr>
          <p:cNvPr id="125" name="Picture 124" descr="lock.png"/>
          <p:cNvPicPr>
            <a:picLocks noChangeAspect="1"/>
          </p:cNvPicPr>
          <p:nvPr/>
        </p:nvPicPr>
        <p:blipFill>
          <a:blip r:embed="rId4"/>
          <a:stretch>
            <a:fillRect/>
          </a:stretch>
        </p:blipFill>
        <p:spPr>
          <a:xfrm>
            <a:off x="6584100" y="2135251"/>
            <a:ext cx="128699" cy="187198"/>
          </a:xfrm>
          <a:prstGeom prst="rect">
            <a:avLst/>
          </a:prstGeom>
        </p:spPr>
      </p:pic>
      <p:pic>
        <p:nvPicPr>
          <p:cNvPr id="126" name="Picture 125" descr="lock.png"/>
          <p:cNvPicPr>
            <a:picLocks noChangeAspect="1"/>
          </p:cNvPicPr>
          <p:nvPr/>
        </p:nvPicPr>
        <p:blipFill>
          <a:blip r:embed="rId4"/>
          <a:stretch>
            <a:fillRect/>
          </a:stretch>
        </p:blipFill>
        <p:spPr>
          <a:xfrm>
            <a:off x="10553644" y="17256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660925" y="2487676"/>
            <a:ext cx="128699" cy="187198"/>
          </a:xfrm>
          <a:prstGeom prst="rect">
            <a:avLst/>
          </a:prstGeom>
        </p:spPr>
      </p:pic>
      <p:pic>
        <p:nvPicPr>
          <p:cNvPr id="128" name="Picture 127" descr="lock.png"/>
          <p:cNvPicPr>
            <a:picLocks noChangeAspect="1"/>
          </p:cNvPicPr>
          <p:nvPr/>
        </p:nvPicPr>
        <p:blipFill>
          <a:blip r:embed="rId4"/>
          <a:stretch>
            <a:fillRect/>
          </a:stretch>
        </p:blipFill>
        <p:spPr>
          <a:xfrm>
            <a:off x="11540875" y="2811526"/>
            <a:ext cx="128699" cy="187198"/>
          </a:xfrm>
          <a:prstGeom prst="rect">
            <a:avLst/>
          </a:prstGeom>
        </p:spPr>
      </p:pic>
      <p:pic>
        <p:nvPicPr>
          <p:cNvPr id="129" name="Picture 128" descr="lock.png"/>
          <p:cNvPicPr>
            <a:picLocks noChangeAspect="1"/>
          </p:cNvPicPr>
          <p:nvPr/>
        </p:nvPicPr>
        <p:blipFill>
          <a:blip r:embed="rId4"/>
          <a:stretch>
            <a:fillRect/>
          </a:stretch>
        </p:blipFill>
        <p:spPr>
          <a:xfrm>
            <a:off x="11119341" y="3135376"/>
            <a:ext cx="128699" cy="187198"/>
          </a:xfrm>
          <a:prstGeom prst="rect">
            <a:avLst/>
          </a:prstGeom>
        </p:spPr>
      </p:pic>
      <p:pic>
        <p:nvPicPr>
          <p:cNvPr id="130" name="Picture 129" descr="lock.png"/>
          <p:cNvPicPr>
            <a:picLocks noChangeAspect="1"/>
          </p:cNvPicPr>
          <p:nvPr/>
        </p:nvPicPr>
        <p:blipFill>
          <a:blip r:embed="rId4"/>
          <a:stretch>
            <a:fillRect/>
          </a:stretch>
        </p:blipFill>
        <p:spPr>
          <a:xfrm>
            <a:off x="11016080" y="3459226"/>
            <a:ext cx="128699" cy="187198"/>
          </a:xfrm>
          <a:prstGeom prst="rect">
            <a:avLst/>
          </a:prstGeom>
        </p:spPr>
      </p:pic>
      <p:sp>
        <p:nvSpPr>
          <p:cNvPr id="131" name="TextBox 130"/>
          <p:cNvSpPr txBox="1"/>
          <p:nvPr/>
        </p:nvSpPr>
        <p:spPr>
          <a:xfrm>
            <a:off x="314325" y="4676775"/>
            <a:ext cx="2376338" cy="186689"/>
          </a:xfrm>
          <a:prstGeom prst="rect">
            <a:avLst/>
          </a:prstGeom>
          <a:noFill/>
        </p:spPr>
        <p:txBody>
          <a:bodyPr wrap="none" lIns="0" rIns="0" tIns="0" bIns="0">
            <a:spAutoFit/>
          </a:bodyPr>
          <a:lstStyle/>
          <a:p>
            <a:r>
              <a:rPr sz="1100" b="0">
                <a:solidFill>
                  <a:srgbClr val="1F2933"/>
                </a:solidFill>
                <a:latin typeface="Calibri"/>
              </a:rPr>
              <a:t>5 named players compete here; 'Flexible</a:t>
            </a:r>
          </a:p>
        </p:txBody>
      </p:sp>
      <p:sp>
        <p:nvSpPr>
          <p:cNvPr id="132" name="TextBox 131"/>
          <p:cNvSpPr txBox="1"/>
          <p:nvPr/>
        </p:nvSpPr>
        <p:spPr>
          <a:xfrm>
            <a:off x="314325" y="4844415"/>
            <a:ext cx="1326951" cy="186689"/>
          </a:xfrm>
          <a:prstGeom prst="rect">
            <a:avLst/>
          </a:prstGeom>
          <a:noFill/>
        </p:spPr>
        <p:txBody>
          <a:bodyPr wrap="none" lIns="0" rIns="0" tIns="0" bIns="0">
            <a:spAutoFit/>
          </a:bodyPr>
          <a:lstStyle/>
          <a:p>
            <a:r>
              <a:rPr sz="1100" b="0">
                <a:solidFill>
                  <a:srgbClr val="1F2933"/>
                </a:solidFill>
                <a:latin typeface="Calibri"/>
              </a:rPr>
              <a:t>Partial Dentures' adds</a:t>
            </a:r>
          </a:p>
        </p:txBody>
      </p:sp>
      <p:pic>
        <p:nvPicPr>
          <p:cNvPr id="133" name="Picture 132" descr="lock.png"/>
          <p:cNvPicPr>
            <a:picLocks noChangeAspect="1"/>
          </p:cNvPicPr>
          <p:nvPr/>
        </p:nvPicPr>
        <p:blipFill>
          <a:blip r:embed="rId4"/>
          <a:stretch>
            <a:fillRect/>
          </a:stretch>
        </p:blipFill>
        <p:spPr>
          <a:xfrm>
            <a:off x="1589328" y="4834636"/>
            <a:ext cx="128699" cy="187198"/>
          </a:xfrm>
          <a:prstGeom prst="rect">
            <a:avLst/>
          </a:prstGeom>
        </p:spPr>
      </p:pic>
      <p:sp>
        <p:nvSpPr>
          <p:cNvPr id="134" name="TextBox 133"/>
          <p:cNvSpPr txBox="1"/>
          <p:nvPr/>
        </p:nvSpPr>
        <p:spPr>
          <a:xfrm>
            <a:off x="1756823" y="4844415"/>
            <a:ext cx="693935" cy="186689"/>
          </a:xfrm>
          <a:prstGeom prst="rect">
            <a:avLst/>
          </a:prstGeom>
          <a:noFill/>
        </p:spPr>
        <p:txBody>
          <a:bodyPr wrap="none" lIns="0" rIns="0" tIns="0" bIns="0">
            <a:spAutoFit/>
          </a:bodyPr>
          <a:lstStyle/>
          <a:p>
            <a:r>
              <a:rPr sz="1100" b="0">
                <a:solidFill>
                  <a:srgbClr val="1F2933"/>
                </a:solidFill>
                <a:latin typeface="Calibri"/>
              </a:rPr>
              <a:t>US$ Mn by</a:t>
            </a:r>
          </a:p>
        </p:txBody>
      </p:sp>
      <p:sp>
        <p:nvSpPr>
          <p:cNvPr id="135" name="TextBox 134"/>
          <p:cNvSpPr txBox="1"/>
          <p:nvPr/>
        </p:nvSpPr>
        <p:spPr>
          <a:xfrm>
            <a:off x="314325" y="5012055"/>
            <a:ext cx="395163" cy="186689"/>
          </a:xfrm>
          <a:prstGeom prst="rect">
            <a:avLst/>
          </a:prstGeom>
          <a:noFill/>
        </p:spPr>
        <p:txBody>
          <a:bodyPr wrap="none" lIns="0" rIns="0" tIns="0" bIns="0">
            <a:spAutoFit/>
          </a:bodyPr>
          <a:lstStyle/>
          <a:p>
            <a:r>
              <a:rPr sz="1100" b="0">
                <a:solidFill>
                  <a:srgbClr val="1F2933"/>
                </a:solidFill>
                <a:latin typeface="Calibri"/>
              </a:rPr>
              <a:t>2036.</a:t>
            </a:r>
          </a:p>
        </p:txBody>
      </p:sp>
      <p:sp>
        <p:nvSpPr>
          <p:cNvPr id="136" name="TextBox 135"/>
          <p:cNvSpPr txBox="1"/>
          <p:nvPr/>
        </p:nvSpPr>
        <p:spPr>
          <a:xfrm>
            <a:off x="3328987" y="4676775"/>
            <a:ext cx="1880021" cy="186689"/>
          </a:xfrm>
          <a:prstGeom prst="rect">
            <a:avLst/>
          </a:prstGeom>
          <a:noFill/>
        </p:spPr>
        <p:txBody>
          <a:bodyPr wrap="none" lIns="0" rIns="0" tIns="0" bIns="0">
            <a:spAutoFit/>
          </a:bodyPr>
          <a:lstStyle/>
          <a:p>
            <a:r>
              <a:rPr sz="1100" b="0">
                <a:solidFill>
                  <a:srgbClr val="1F2933"/>
                </a:solidFill>
                <a:latin typeface="Calibri"/>
              </a:rPr>
              <a:t>5 named players compete here;</a:t>
            </a:r>
          </a:p>
        </p:txBody>
      </p:sp>
      <p:sp>
        <p:nvSpPr>
          <p:cNvPr id="137" name="TextBox 136"/>
          <p:cNvSpPr txBox="1"/>
          <p:nvPr/>
        </p:nvSpPr>
        <p:spPr>
          <a:xfrm>
            <a:off x="3328987" y="4844415"/>
            <a:ext cx="2499940" cy="186689"/>
          </a:xfrm>
          <a:prstGeom prst="rect">
            <a:avLst/>
          </a:prstGeom>
          <a:noFill/>
        </p:spPr>
        <p:txBody>
          <a:bodyPr wrap="none" lIns="0" rIns="0" tIns="0" bIns="0">
            <a:spAutoFit/>
          </a:bodyPr>
          <a:lstStyle/>
          <a:p>
            <a:r>
              <a:rPr sz="1100" b="0">
                <a:solidFill>
                  <a:srgbClr val="1F2933"/>
                </a:solidFill>
                <a:latin typeface="Calibri"/>
              </a:rPr>
              <a:t>'Combination Framework Partial Dentures'</a:t>
            </a:r>
          </a:p>
        </p:txBody>
      </p:sp>
      <p:sp>
        <p:nvSpPr>
          <p:cNvPr id="138" name="TextBox 137"/>
          <p:cNvSpPr txBox="1"/>
          <p:nvPr/>
        </p:nvSpPr>
        <p:spPr>
          <a:xfrm>
            <a:off x="3328987" y="5012055"/>
            <a:ext cx="344413" cy="186689"/>
          </a:xfrm>
          <a:prstGeom prst="rect">
            <a:avLst/>
          </a:prstGeom>
          <a:noFill/>
        </p:spPr>
        <p:txBody>
          <a:bodyPr wrap="none" lIns="0" rIns="0" tIns="0" bIns="0">
            <a:spAutoFit/>
          </a:bodyPr>
          <a:lstStyle/>
          <a:p>
            <a:r>
              <a:rPr sz="1100" b="0">
                <a:solidFill>
                  <a:srgbClr val="1F2933"/>
                </a:solidFill>
                <a:latin typeface="Calibri"/>
              </a:rPr>
              <a:t>adds</a:t>
            </a:r>
          </a:p>
        </p:txBody>
      </p:sp>
      <p:pic>
        <p:nvPicPr>
          <p:cNvPr id="139" name="Picture 138" descr="lock.png"/>
          <p:cNvPicPr>
            <a:picLocks noChangeAspect="1"/>
          </p:cNvPicPr>
          <p:nvPr/>
        </p:nvPicPr>
        <p:blipFill>
          <a:blip r:embed="rId4"/>
          <a:stretch>
            <a:fillRect/>
          </a:stretch>
        </p:blipFill>
        <p:spPr>
          <a:xfrm>
            <a:off x="3621451" y="5002276"/>
            <a:ext cx="128699" cy="187198"/>
          </a:xfrm>
          <a:prstGeom prst="rect">
            <a:avLst/>
          </a:prstGeom>
        </p:spPr>
      </p:pic>
      <p:sp>
        <p:nvSpPr>
          <p:cNvPr id="140" name="TextBox 139"/>
          <p:cNvSpPr txBox="1"/>
          <p:nvPr/>
        </p:nvSpPr>
        <p:spPr>
          <a:xfrm>
            <a:off x="3788947" y="501205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41" name="TextBox 140"/>
          <p:cNvSpPr txBox="1"/>
          <p:nvPr/>
        </p:nvSpPr>
        <p:spPr>
          <a:xfrm>
            <a:off x="6343650" y="4676775"/>
            <a:ext cx="2519362" cy="186689"/>
          </a:xfrm>
          <a:prstGeom prst="rect">
            <a:avLst/>
          </a:prstGeom>
          <a:noFill/>
        </p:spPr>
        <p:txBody>
          <a:bodyPr wrap="none" lIns="0" rIns="0" tIns="0" bIns="0">
            <a:spAutoFit/>
          </a:bodyPr>
          <a:lstStyle/>
          <a:p>
            <a:r>
              <a:rPr sz="1100" b="0">
                <a:solidFill>
                  <a:srgbClr val="1F2933"/>
                </a:solidFill>
                <a:latin typeface="Calibri"/>
              </a:rPr>
              <a:t>5 named players compete here; 'Cast Metal</a:t>
            </a:r>
          </a:p>
        </p:txBody>
      </p:sp>
      <p:sp>
        <p:nvSpPr>
          <p:cNvPr id="142" name="TextBox 141"/>
          <p:cNvSpPr txBox="1"/>
          <p:nvPr/>
        </p:nvSpPr>
        <p:spPr>
          <a:xfrm>
            <a:off x="6343650" y="4844415"/>
            <a:ext cx="1326951" cy="186689"/>
          </a:xfrm>
          <a:prstGeom prst="rect">
            <a:avLst/>
          </a:prstGeom>
          <a:noFill/>
        </p:spPr>
        <p:txBody>
          <a:bodyPr wrap="none" lIns="0" rIns="0" tIns="0" bIns="0">
            <a:spAutoFit/>
          </a:bodyPr>
          <a:lstStyle/>
          <a:p>
            <a:r>
              <a:rPr sz="1100" b="0">
                <a:solidFill>
                  <a:srgbClr val="1F2933"/>
                </a:solidFill>
                <a:latin typeface="Calibri"/>
              </a:rPr>
              <a:t>Partial Dentures' adds</a:t>
            </a:r>
          </a:p>
        </p:txBody>
      </p:sp>
      <p:pic>
        <p:nvPicPr>
          <p:cNvPr id="143" name="Picture 142" descr="lock.png"/>
          <p:cNvPicPr>
            <a:picLocks noChangeAspect="1"/>
          </p:cNvPicPr>
          <p:nvPr/>
        </p:nvPicPr>
        <p:blipFill>
          <a:blip r:embed="rId4"/>
          <a:stretch>
            <a:fillRect/>
          </a:stretch>
        </p:blipFill>
        <p:spPr>
          <a:xfrm>
            <a:off x="7618653" y="4834636"/>
            <a:ext cx="128699" cy="187198"/>
          </a:xfrm>
          <a:prstGeom prst="rect">
            <a:avLst/>
          </a:prstGeom>
        </p:spPr>
      </p:pic>
      <p:sp>
        <p:nvSpPr>
          <p:cNvPr id="144" name="TextBox 143"/>
          <p:cNvSpPr txBox="1"/>
          <p:nvPr/>
        </p:nvSpPr>
        <p:spPr>
          <a:xfrm>
            <a:off x="7786148" y="4844415"/>
            <a:ext cx="693935" cy="186689"/>
          </a:xfrm>
          <a:prstGeom prst="rect">
            <a:avLst/>
          </a:prstGeom>
          <a:noFill/>
        </p:spPr>
        <p:txBody>
          <a:bodyPr wrap="none" lIns="0" rIns="0" tIns="0" bIns="0">
            <a:spAutoFit/>
          </a:bodyPr>
          <a:lstStyle/>
          <a:p>
            <a:r>
              <a:rPr sz="1100" b="0">
                <a:solidFill>
                  <a:srgbClr val="1F2933"/>
                </a:solidFill>
                <a:latin typeface="Calibri"/>
              </a:rPr>
              <a:t>US$ Mn by</a:t>
            </a:r>
          </a:p>
        </p:txBody>
      </p:sp>
      <p:sp>
        <p:nvSpPr>
          <p:cNvPr id="145" name="TextBox 144"/>
          <p:cNvSpPr txBox="1"/>
          <p:nvPr/>
        </p:nvSpPr>
        <p:spPr>
          <a:xfrm>
            <a:off x="6343650" y="5012055"/>
            <a:ext cx="395163" cy="186689"/>
          </a:xfrm>
          <a:prstGeom prst="rect">
            <a:avLst/>
          </a:prstGeom>
          <a:noFill/>
        </p:spPr>
        <p:txBody>
          <a:bodyPr wrap="none" lIns="0" rIns="0" tIns="0" bIns="0">
            <a:spAutoFit/>
          </a:bodyPr>
          <a:lstStyle/>
          <a:p>
            <a:r>
              <a:rPr sz="1100" b="0">
                <a:solidFill>
                  <a:srgbClr val="1F2933"/>
                </a:solidFill>
                <a:latin typeface="Calibri"/>
              </a:rPr>
              <a:t>2036.</a:t>
            </a:r>
          </a:p>
        </p:txBody>
      </p:sp>
      <p:sp>
        <p:nvSpPr>
          <p:cNvPr id="146" name="TextBox 145"/>
          <p:cNvSpPr txBox="1"/>
          <p:nvPr/>
        </p:nvSpPr>
        <p:spPr>
          <a:xfrm>
            <a:off x="9358313" y="4676775"/>
            <a:ext cx="1728861" cy="186689"/>
          </a:xfrm>
          <a:prstGeom prst="rect">
            <a:avLst/>
          </a:prstGeom>
          <a:noFill/>
        </p:spPr>
        <p:txBody>
          <a:bodyPr wrap="none" lIns="0" rIns="0" tIns="0" bIns="0">
            <a:spAutoFit/>
          </a:bodyPr>
          <a:lstStyle/>
          <a:p>
            <a:r>
              <a:rPr sz="1100" b="0">
                <a:solidFill>
                  <a:srgbClr val="1F2933"/>
                </a:solidFill>
                <a:latin typeface="Calibri"/>
              </a:rPr>
              <a:t>The top two end uses pay for</a:t>
            </a:r>
          </a:p>
        </p:txBody>
      </p:sp>
      <p:pic>
        <p:nvPicPr>
          <p:cNvPr id="147" name="Picture 146" descr="lock.png"/>
          <p:cNvPicPr>
            <a:picLocks noChangeAspect="1"/>
          </p:cNvPicPr>
          <p:nvPr/>
        </p:nvPicPr>
        <p:blipFill>
          <a:blip r:embed="rId4"/>
          <a:stretch>
            <a:fillRect/>
          </a:stretch>
        </p:blipFill>
        <p:spPr>
          <a:xfrm>
            <a:off x="11035226" y="4666996"/>
            <a:ext cx="128699" cy="187198"/>
          </a:xfrm>
          <a:prstGeom prst="rect">
            <a:avLst/>
          </a:prstGeom>
        </p:spPr>
      </p:pic>
      <p:sp>
        <p:nvSpPr>
          <p:cNvPr id="148" name="TextBox 147"/>
          <p:cNvSpPr txBox="1"/>
          <p:nvPr/>
        </p:nvSpPr>
        <p:spPr>
          <a:xfrm>
            <a:off x="11202722" y="4676775"/>
            <a:ext cx="413990" cy="186689"/>
          </a:xfrm>
          <a:prstGeom prst="rect">
            <a:avLst/>
          </a:prstGeom>
          <a:noFill/>
        </p:spPr>
        <p:txBody>
          <a:bodyPr wrap="none" lIns="0" rIns="0" tIns="0" bIns="0">
            <a:spAutoFit/>
          </a:bodyPr>
          <a:lstStyle/>
          <a:p>
            <a:r>
              <a:rPr sz="1100" b="0">
                <a:solidFill>
                  <a:srgbClr val="1F2933"/>
                </a:solidFill>
                <a:latin typeface="Calibri"/>
              </a:rPr>
              <a:t>of the</a:t>
            </a:r>
          </a:p>
        </p:txBody>
      </p:sp>
      <p:sp>
        <p:nvSpPr>
          <p:cNvPr id="149" name="TextBox 148"/>
          <p:cNvSpPr txBox="1"/>
          <p:nvPr/>
        </p:nvSpPr>
        <p:spPr>
          <a:xfrm>
            <a:off x="9358313" y="4844415"/>
            <a:ext cx="2519361" cy="186689"/>
          </a:xfrm>
          <a:prstGeom prst="rect">
            <a:avLst/>
          </a:prstGeom>
          <a:noFill/>
        </p:spPr>
        <p:txBody>
          <a:bodyPr wrap="none" lIns="0" rIns="0" tIns="0" bIns="0">
            <a:spAutoFit/>
          </a:bodyPr>
          <a:lstStyle/>
          <a:p>
            <a:r>
              <a:rPr sz="1100" b="0">
                <a:solidFill>
                  <a:srgbClr val="1F2933"/>
                </a:solidFill>
                <a:latin typeface="Calibri"/>
              </a:rPr>
              <a:t>market; vendors package for one vertical at</a:t>
            </a:r>
          </a:p>
        </p:txBody>
      </p:sp>
      <p:sp>
        <p:nvSpPr>
          <p:cNvPr id="150" name="TextBox 149"/>
          <p:cNvSpPr txBox="1"/>
          <p:nvPr/>
        </p:nvSpPr>
        <p:spPr>
          <a:xfrm>
            <a:off x="9358313" y="5012055"/>
            <a:ext cx="470197" cy="186689"/>
          </a:xfrm>
          <a:prstGeom prst="rect">
            <a:avLst/>
          </a:prstGeom>
          <a:noFill/>
        </p:spPr>
        <p:txBody>
          <a:bodyPr wrap="none" lIns="0" rIns="0" tIns="0" bIns="0">
            <a:spAutoFit/>
          </a:bodyPr>
          <a:lstStyle/>
          <a:p>
            <a:r>
              <a:rPr sz="1100" b="0">
                <a:solidFill>
                  <a:srgbClr val="1F2933"/>
                </a:solidFill>
                <a:latin typeface="Calibri"/>
              </a:rPr>
              <a:t>a time.</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(2)</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E</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F</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(2)</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G</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H</a:t>
            </a:r>
          </a:p>
        </p:txBody>
      </p:sp>
      <p:sp>
        <p:nvSpPr>
          <p:cNvPr id="57" name="Rectangle 56"/>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59" name="TextBox 58"/>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0" name="TextBox 59"/>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1" name="Rectangle 60"/>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3" name="TextBox 62"/>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4" name="TextBox 63"/>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5" name="Rectangle 64"/>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67" name="TextBox 66"/>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8" name="TextBox 67"/>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9" name="TextBox 68"/>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2      BY REACH   Global 4   |   Regional 2   |   Local or niche 2</a:t>
            </a:r>
          </a:p>
        </p:txBody>
      </p:sp>
      <p:sp>
        <p:nvSpPr>
          <p:cNvPr id="70" name="Rectangle 69"/>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2" name="TextBox 71"/>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3" name="TextBox 72"/>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74" name="TextBox 73"/>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75" name="TextBox 74"/>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76" name="Rectangle 75"/>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78" name="TextBox 77"/>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0" name="TextBox 79"/>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2" name="Rectangle 81"/>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84" name="TextBox 83"/>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86" name="TextBox 85"/>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8" name="TextBox 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9" name="Picture 88" descr="lock.png"/>
          <p:cNvPicPr>
            <a:picLocks noChangeAspect="1"/>
          </p:cNvPicPr>
          <p:nvPr/>
        </p:nvPicPr>
        <p:blipFill>
          <a:blip r:embed="rId4"/>
          <a:stretch>
            <a:fillRect/>
          </a:stretch>
        </p:blipFill>
        <p:spPr>
          <a:xfrm>
            <a:off x="1059600" y="4487926"/>
            <a:ext cx="128699" cy="187198"/>
          </a:xfrm>
          <a:prstGeom prst="rect">
            <a:avLst/>
          </a:prstGeom>
        </p:spPr>
      </p:pic>
      <p:pic>
        <p:nvPicPr>
          <p:cNvPr id="90" name="Picture 89" descr="lock.png"/>
          <p:cNvPicPr>
            <a:picLocks noChangeAspect="1"/>
          </p:cNvPicPr>
          <p:nvPr/>
        </p:nvPicPr>
        <p:blipFill>
          <a:blip r:embed="rId4"/>
          <a:stretch>
            <a:fillRect/>
          </a:stretch>
        </p:blipFill>
        <p:spPr>
          <a:xfrm>
            <a:off x="3821850" y="4487926"/>
            <a:ext cx="128699" cy="187198"/>
          </a:xfrm>
          <a:prstGeom prst="rect">
            <a:avLst/>
          </a:prstGeom>
        </p:spPr>
      </p:pic>
      <p:pic>
        <p:nvPicPr>
          <p:cNvPr id="91" name="Picture 90" descr="lock.png"/>
          <p:cNvPicPr>
            <a:picLocks noChangeAspect="1"/>
          </p:cNvPicPr>
          <p:nvPr/>
        </p:nvPicPr>
        <p:blipFill>
          <a:blip r:embed="rId4"/>
          <a:stretch>
            <a:fillRect/>
          </a:stretch>
        </p:blipFill>
        <p:spPr>
          <a:xfrm>
            <a:off x="6584100" y="4487926"/>
            <a:ext cx="128699" cy="187198"/>
          </a:xfrm>
          <a:prstGeom prst="rect">
            <a:avLst/>
          </a:prstGeom>
        </p:spPr>
      </p:pic>
      <p:sp>
        <p:nvSpPr>
          <p:cNvPr id="92" name="TextBox 91"/>
          <p:cNvSpPr txBox="1"/>
          <p:nvPr/>
        </p:nvSpPr>
        <p:spPr>
          <a:xfrm>
            <a:off x="21907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93" name="Picture 92" descr="lock.png"/>
          <p:cNvPicPr>
            <a:picLocks noChangeAspect="1"/>
          </p:cNvPicPr>
          <p:nvPr/>
        </p:nvPicPr>
        <p:blipFill>
          <a:blip r:embed="rId4"/>
          <a:stretch>
            <a:fillRect/>
          </a:stretch>
        </p:blipFill>
        <p:spPr>
          <a:xfrm>
            <a:off x="1343736" y="5867145"/>
            <a:ext cx="128699" cy="187198"/>
          </a:xfrm>
          <a:prstGeom prst="rect">
            <a:avLst/>
          </a:prstGeom>
        </p:spPr>
      </p:pic>
      <p:sp>
        <p:nvSpPr>
          <p:cNvPr id="94" name="TextBox 93"/>
          <p:cNvSpPr txBox="1"/>
          <p:nvPr/>
        </p:nvSpPr>
        <p:spPr>
          <a:xfrm>
            <a:off x="151123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95" name="TextBox 94"/>
          <p:cNvSpPr txBox="1"/>
          <p:nvPr/>
        </p:nvSpPr>
        <p:spPr>
          <a:xfrm>
            <a:off x="3219450"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96" name="Picture 95" descr="lock.png"/>
          <p:cNvPicPr>
            <a:picLocks noChangeAspect="1"/>
          </p:cNvPicPr>
          <p:nvPr/>
        </p:nvPicPr>
        <p:blipFill>
          <a:blip r:embed="rId4"/>
          <a:stretch>
            <a:fillRect/>
          </a:stretch>
        </p:blipFill>
        <p:spPr>
          <a:xfrm>
            <a:off x="4344111" y="5867145"/>
            <a:ext cx="128699" cy="187198"/>
          </a:xfrm>
          <a:prstGeom prst="rect">
            <a:avLst/>
          </a:prstGeom>
        </p:spPr>
      </p:pic>
      <p:sp>
        <p:nvSpPr>
          <p:cNvPr id="97" name="TextBox 96"/>
          <p:cNvSpPr txBox="1"/>
          <p:nvPr/>
        </p:nvSpPr>
        <p:spPr>
          <a:xfrm>
            <a:off x="4511607"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98" name="TextBox 97"/>
          <p:cNvSpPr txBox="1"/>
          <p:nvPr/>
        </p:nvSpPr>
        <p:spPr>
          <a:xfrm>
            <a:off x="621982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99" name="Picture 98" descr="lock.png"/>
          <p:cNvPicPr>
            <a:picLocks noChangeAspect="1"/>
          </p:cNvPicPr>
          <p:nvPr/>
        </p:nvPicPr>
        <p:blipFill>
          <a:blip r:embed="rId4"/>
          <a:stretch>
            <a:fillRect/>
          </a:stretch>
        </p:blipFill>
        <p:spPr>
          <a:xfrm>
            <a:off x="7344486" y="5867145"/>
            <a:ext cx="128699" cy="187198"/>
          </a:xfrm>
          <a:prstGeom prst="rect">
            <a:avLst/>
          </a:prstGeom>
        </p:spPr>
      </p:pic>
      <p:sp>
        <p:nvSpPr>
          <p:cNvPr id="100" name="TextBox 99"/>
          <p:cNvSpPr txBox="1"/>
          <p:nvPr/>
        </p:nvSpPr>
        <p:spPr>
          <a:xfrm>
            <a:off x="751198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9" name="TextBox 38"/>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0" name="Connector 39"/>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43" name="TextBox 42"/>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4" name="TextBox 43"/>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6" name="Oval 45"/>
          <p:cNvSpPr/>
          <p:nvPr/>
        </p:nvSpPr>
        <p:spPr>
          <a:xfrm>
            <a:off x="6104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1" name="TextBox 50"/>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2" name="Connector 51"/>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55" name="TextBox 54"/>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TextBox 55"/>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58" name="Oval 57"/>
          <p:cNvSpPr/>
          <p:nvPr/>
        </p:nvSpPr>
        <p:spPr>
          <a:xfrm>
            <a:off x="6104467"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Oval 58"/>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4" name="TextBox 63"/>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5" name="Connector 64"/>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68" name="TextBox 67"/>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9" name="TextBox 68"/>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TextBox 69"/>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1" name="Oval 70"/>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reeform 71"/>
          <p:cNvSpPr/>
          <p:nvPr/>
        </p:nvSpPr>
        <p:spPr>
          <a:xfrm>
            <a:off x="6181725" y="3352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Oval 72"/>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8" name="TextBox 77"/>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79" name="Connector 7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0" name="Rectangle 7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82" name="TextBox 8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3" name="TextBox 82"/>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TextBox 83"/>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5" name="Oval 84"/>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5" name="Connector 9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98" name="TextBox 9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9" name="TextBox 98"/>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0" name="TextBox 99"/>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1" name="Oval 100"/>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0" name="TextBox 109"/>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1" name="Connector 11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2" name="Rectangle 11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114" name="TextBox 11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5" name="TextBox 114"/>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17" name="Oval 116"/>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18172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Freeform 123"/>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6" name="TextBox 125"/>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7" name="Connector 12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30" name="TextBox 12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1" name="TextBox 130"/>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2" name="TextBox 131"/>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3" name="Oval 132"/>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618172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2" name="TextBox 141"/>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43" name="Connector 142"/>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4" name="Oval 143"/>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46" name="Oval 145"/>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9" name="Oval 148"/>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52" name="Oval 151"/>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54" name="TextBox 153"/>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55" name="TextBox 154"/>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8 named players compete globally; scale and share follow the tier structure.</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57" name="TextBox 156"/>
          <p:cNvSpPr txBox="1"/>
          <p:nvPr/>
        </p:nvSpPr>
        <p:spPr>
          <a:xfrm>
            <a:off x="8893175" y="1666875"/>
            <a:ext cx="398983" cy="186689"/>
          </a:xfrm>
          <a:prstGeom prst="rect">
            <a:avLst/>
          </a:prstGeom>
          <a:noFill/>
        </p:spPr>
        <p:txBody>
          <a:bodyPr wrap="none" lIns="0" rIns="0" tIns="0" bIns="0">
            <a:spAutoFit/>
          </a:bodyPr>
          <a:lstStyle/>
          <a:p>
            <a:r>
              <a:rPr sz="1100" b="0">
                <a:solidFill>
                  <a:srgbClr val="5F6B7A"/>
                </a:solidFill>
                <a:latin typeface="Calibri"/>
              </a:rPr>
              <a:t>Share</a:t>
            </a:r>
          </a:p>
        </p:txBody>
      </p:sp>
      <p:pic>
        <p:nvPicPr>
          <p:cNvPr id="158" name="Picture 157" descr="lock.png"/>
          <p:cNvPicPr>
            <a:picLocks noChangeAspect="1"/>
          </p:cNvPicPr>
          <p:nvPr/>
        </p:nvPicPr>
        <p:blipFill>
          <a:blip r:embed="rId4"/>
          <a:stretch>
            <a:fillRect/>
          </a:stretch>
        </p:blipFill>
        <p:spPr>
          <a:xfrm>
            <a:off x="9240209" y="1657096"/>
            <a:ext cx="128699" cy="187198"/>
          </a:xfrm>
          <a:prstGeom prst="rect">
            <a:avLst/>
          </a:prstGeom>
        </p:spPr>
      </p:pic>
      <p:sp>
        <p:nvSpPr>
          <p:cNvPr id="159" name="TextBox 158"/>
          <p:cNvSpPr txBox="1"/>
          <p:nvPr/>
        </p:nvSpPr>
        <p:spPr>
          <a:xfrm>
            <a:off x="9407705" y="1666875"/>
            <a:ext cx="384522" cy="186689"/>
          </a:xfrm>
          <a:prstGeom prst="rect">
            <a:avLst/>
          </a:prstGeom>
          <a:noFill/>
        </p:spPr>
        <p:txBody>
          <a:bodyPr wrap="none" lIns="0" rIns="0" tIns="0" bIns="0">
            <a:spAutoFit/>
          </a:bodyPr>
          <a:lstStyle/>
          <a:p>
            <a:r>
              <a:rPr sz="1100" b="0">
                <a:solidFill>
                  <a:srgbClr val="5F6B7A"/>
                </a:solidFill>
                <a:latin typeface="Calibri"/>
              </a:rPr>
              <a:t>+ = 3,</a:t>
            </a:r>
          </a:p>
        </p:txBody>
      </p:sp>
      <p:pic>
        <p:nvPicPr>
          <p:cNvPr id="160" name="Picture 159" descr="lock.png"/>
          <p:cNvPicPr>
            <a:picLocks noChangeAspect="1"/>
          </p:cNvPicPr>
          <p:nvPr/>
        </p:nvPicPr>
        <p:blipFill>
          <a:blip r:embed="rId4"/>
          <a:stretch>
            <a:fillRect/>
          </a:stretch>
        </p:blipFill>
        <p:spPr>
          <a:xfrm>
            <a:off x="8879707" y="1824736"/>
            <a:ext cx="128699" cy="187198"/>
          </a:xfrm>
          <a:prstGeom prst="rect">
            <a:avLst/>
          </a:prstGeom>
        </p:spPr>
      </p:pic>
      <p:sp>
        <p:nvSpPr>
          <p:cNvPr id="161" name="TextBox 160"/>
          <p:cNvSpPr txBox="1"/>
          <p:nvPr/>
        </p:nvSpPr>
        <p:spPr>
          <a:xfrm>
            <a:off x="9047203" y="1834515"/>
            <a:ext cx="643458" cy="186689"/>
          </a:xfrm>
          <a:prstGeom prst="rect">
            <a:avLst/>
          </a:prstGeom>
          <a:noFill/>
        </p:spPr>
        <p:txBody>
          <a:bodyPr wrap="none" lIns="0" rIns="0" tIns="0" bIns="0">
            <a:spAutoFit/>
          </a:bodyPr>
          <a:lstStyle/>
          <a:p>
            <a:r>
              <a:rPr sz="1100" b="0">
                <a:solidFill>
                  <a:srgbClr val="5F6B7A"/>
                </a:solidFill>
                <a:latin typeface="Calibri"/>
              </a:rPr>
              <a:t>= 2, else 1</a:t>
            </a:r>
          </a:p>
        </p:txBody>
      </p:sp>
      <p:pic>
        <p:nvPicPr>
          <p:cNvPr id="162" name="Picture 161" descr="lock.png"/>
          <p:cNvPicPr>
            <a:picLocks noChangeAspect="1"/>
          </p:cNvPicPr>
          <p:nvPr/>
        </p:nvPicPr>
        <p:blipFill>
          <a:blip r:embed="rId4"/>
          <a:stretch>
            <a:fillRect/>
          </a:stretch>
        </p:blipFill>
        <p:spPr>
          <a:xfrm>
            <a:off x="3126525" y="2306701"/>
            <a:ext cx="128699" cy="187198"/>
          </a:xfrm>
          <a:prstGeom prst="rect">
            <a:avLst/>
          </a:prstGeom>
        </p:spPr>
      </p:pic>
      <p:pic>
        <p:nvPicPr>
          <p:cNvPr id="163" name="Picture 162" descr="lock.png"/>
          <p:cNvPicPr>
            <a:picLocks noChangeAspect="1"/>
          </p:cNvPicPr>
          <p:nvPr/>
        </p:nvPicPr>
        <p:blipFill>
          <a:blip r:embed="rId4"/>
          <a:stretch>
            <a:fillRect/>
          </a:stretch>
        </p:blipFill>
        <p:spPr>
          <a:xfrm>
            <a:off x="10349650" y="2306701"/>
            <a:ext cx="128699" cy="187198"/>
          </a:xfrm>
          <a:prstGeom prst="rect">
            <a:avLst/>
          </a:prstGeom>
        </p:spPr>
      </p:pic>
      <p:pic>
        <p:nvPicPr>
          <p:cNvPr id="164" name="Picture 163" descr="lock.png"/>
          <p:cNvPicPr>
            <a:picLocks noChangeAspect="1"/>
          </p:cNvPicPr>
          <p:nvPr/>
        </p:nvPicPr>
        <p:blipFill>
          <a:blip r:embed="rId4"/>
          <a:stretch>
            <a:fillRect/>
          </a:stretch>
        </p:blipFill>
        <p:spPr>
          <a:xfrm>
            <a:off x="11407984" y="2306701"/>
            <a:ext cx="128699" cy="187198"/>
          </a:xfrm>
          <a:prstGeom prst="rect">
            <a:avLst/>
          </a:prstGeom>
        </p:spPr>
      </p:pic>
      <p:pic>
        <p:nvPicPr>
          <p:cNvPr id="165" name="Picture 164" descr="lock.png"/>
          <p:cNvPicPr>
            <a:picLocks noChangeAspect="1"/>
          </p:cNvPicPr>
          <p:nvPr/>
        </p:nvPicPr>
        <p:blipFill>
          <a:blip r:embed="rId4"/>
          <a:stretch>
            <a:fillRect/>
          </a:stretch>
        </p:blipFill>
        <p:spPr>
          <a:xfrm>
            <a:off x="3126525" y="2649601"/>
            <a:ext cx="128699" cy="187198"/>
          </a:xfrm>
          <a:prstGeom prst="rect">
            <a:avLst/>
          </a:prstGeom>
        </p:spPr>
      </p:pic>
      <p:pic>
        <p:nvPicPr>
          <p:cNvPr id="166" name="Picture 165" descr="lock.png"/>
          <p:cNvPicPr>
            <a:picLocks noChangeAspect="1"/>
          </p:cNvPicPr>
          <p:nvPr/>
        </p:nvPicPr>
        <p:blipFill>
          <a:blip r:embed="rId4"/>
          <a:stretch>
            <a:fillRect/>
          </a:stretch>
        </p:blipFill>
        <p:spPr>
          <a:xfrm>
            <a:off x="10349650" y="2649601"/>
            <a:ext cx="128699" cy="187198"/>
          </a:xfrm>
          <a:prstGeom prst="rect">
            <a:avLst/>
          </a:prstGeom>
        </p:spPr>
      </p:pic>
      <p:pic>
        <p:nvPicPr>
          <p:cNvPr id="167" name="Picture 166" descr="lock.png"/>
          <p:cNvPicPr>
            <a:picLocks noChangeAspect="1"/>
          </p:cNvPicPr>
          <p:nvPr/>
        </p:nvPicPr>
        <p:blipFill>
          <a:blip r:embed="rId4"/>
          <a:stretch>
            <a:fillRect/>
          </a:stretch>
        </p:blipFill>
        <p:spPr>
          <a:xfrm>
            <a:off x="11407984" y="2649601"/>
            <a:ext cx="128699" cy="187198"/>
          </a:xfrm>
          <a:prstGeom prst="rect">
            <a:avLst/>
          </a:prstGeom>
        </p:spPr>
      </p:pic>
      <p:pic>
        <p:nvPicPr>
          <p:cNvPr id="168" name="Picture 167" descr="lock.png"/>
          <p:cNvPicPr>
            <a:picLocks noChangeAspect="1"/>
          </p:cNvPicPr>
          <p:nvPr/>
        </p:nvPicPr>
        <p:blipFill>
          <a:blip r:embed="rId4"/>
          <a:stretch>
            <a:fillRect/>
          </a:stretch>
        </p:blipFill>
        <p:spPr>
          <a:xfrm>
            <a:off x="3126525" y="2992501"/>
            <a:ext cx="128699" cy="187198"/>
          </a:xfrm>
          <a:prstGeom prst="rect">
            <a:avLst/>
          </a:prstGeom>
        </p:spPr>
      </p:pic>
      <p:pic>
        <p:nvPicPr>
          <p:cNvPr id="169" name="Picture 168" descr="lock.png"/>
          <p:cNvPicPr>
            <a:picLocks noChangeAspect="1"/>
          </p:cNvPicPr>
          <p:nvPr/>
        </p:nvPicPr>
        <p:blipFill>
          <a:blip r:embed="rId4"/>
          <a:stretch>
            <a:fillRect/>
          </a:stretch>
        </p:blipFill>
        <p:spPr>
          <a:xfrm>
            <a:off x="10349650" y="2992501"/>
            <a:ext cx="128699" cy="187198"/>
          </a:xfrm>
          <a:prstGeom prst="rect">
            <a:avLst/>
          </a:prstGeom>
        </p:spPr>
      </p:pic>
      <p:pic>
        <p:nvPicPr>
          <p:cNvPr id="170" name="Picture 169" descr="lock.png"/>
          <p:cNvPicPr>
            <a:picLocks noChangeAspect="1"/>
          </p:cNvPicPr>
          <p:nvPr/>
        </p:nvPicPr>
        <p:blipFill>
          <a:blip r:embed="rId4"/>
          <a:stretch>
            <a:fillRect/>
          </a:stretch>
        </p:blipFill>
        <p:spPr>
          <a:xfrm>
            <a:off x="11407984" y="2992501"/>
            <a:ext cx="128699" cy="187198"/>
          </a:xfrm>
          <a:prstGeom prst="rect">
            <a:avLst/>
          </a:prstGeom>
        </p:spPr>
      </p:pic>
      <p:pic>
        <p:nvPicPr>
          <p:cNvPr id="171" name="Picture 170" descr="lock.png"/>
          <p:cNvPicPr>
            <a:picLocks noChangeAspect="1"/>
          </p:cNvPicPr>
          <p:nvPr/>
        </p:nvPicPr>
        <p:blipFill>
          <a:blip r:embed="rId4"/>
          <a:stretch>
            <a:fillRect/>
          </a:stretch>
        </p:blipFill>
        <p:spPr>
          <a:xfrm>
            <a:off x="3126525" y="3335401"/>
            <a:ext cx="128699" cy="187198"/>
          </a:xfrm>
          <a:prstGeom prst="rect">
            <a:avLst/>
          </a:prstGeom>
        </p:spPr>
      </p:pic>
      <p:pic>
        <p:nvPicPr>
          <p:cNvPr id="172" name="Picture 171" descr="lock.png"/>
          <p:cNvPicPr>
            <a:picLocks noChangeAspect="1"/>
          </p:cNvPicPr>
          <p:nvPr/>
        </p:nvPicPr>
        <p:blipFill>
          <a:blip r:embed="rId4"/>
          <a:stretch>
            <a:fillRect/>
          </a:stretch>
        </p:blipFill>
        <p:spPr>
          <a:xfrm>
            <a:off x="10349650" y="3335401"/>
            <a:ext cx="128699" cy="187198"/>
          </a:xfrm>
          <a:prstGeom prst="rect">
            <a:avLst/>
          </a:prstGeom>
        </p:spPr>
      </p:pic>
      <p:pic>
        <p:nvPicPr>
          <p:cNvPr id="173" name="Picture 172" descr="lock.png"/>
          <p:cNvPicPr>
            <a:picLocks noChangeAspect="1"/>
          </p:cNvPicPr>
          <p:nvPr/>
        </p:nvPicPr>
        <p:blipFill>
          <a:blip r:embed="rId4"/>
          <a:stretch>
            <a:fillRect/>
          </a:stretch>
        </p:blipFill>
        <p:spPr>
          <a:xfrm>
            <a:off x="11407984" y="3335401"/>
            <a:ext cx="128699" cy="187198"/>
          </a:xfrm>
          <a:prstGeom prst="rect">
            <a:avLst/>
          </a:prstGeom>
        </p:spPr>
      </p:pic>
      <p:pic>
        <p:nvPicPr>
          <p:cNvPr id="174" name="Picture 173" descr="lock.png"/>
          <p:cNvPicPr>
            <a:picLocks noChangeAspect="1"/>
          </p:cNvPicPr>
          <p:nvPr/>
        </p:nvPicPr>
        <p:blipFill>
          <a:blip r:embed="rId4"/>
          <a:stretch>
            <a:fillRect/>
          </a:stretch>
        </p:blipFill>
        <p:spPr>
          <a:xfrm>
            <a:off x="3126525" y="3678301"/>
            <a:ext cx="128699" cy="187198"/>
          </a:xfrm>
          <a:prstGeom prst="rect">
            <a:avLst/>
          </a:prstGeom>
        </p:spPr>
      </p:pic>
      <p:pic>
        <p:nvPicPr>
          <p:cNvPr id="175" name="Picture 174" descr="lock.png"/>
          <p:cNvPicPr>
            <a:picLocks noChangeAspect="1"/>
          </p:cNvPicPr>
          <p:nvPr/>
        </p:nvPicPr>
        <p:blipFill>
          <a:blip r:embed="rId4"/>
          <a:stretch>
            <a:fillRect/>
          </a:stretch>
        </p:blipFill>
        <p:spPr>
          <a:xfrm>
            <a:off x="10349650" y="3678301"/>
            <a:ext cx="128699" cy="187198"/>
          </a:xfrm>
          <a:prstGeom prst="rect">
            <a:avLst/>
          </a:prstGeom>
        </p:spPr>
      </p:pic>
      <p:pic>
        <p:nvPicPr>
          <p:cNvPr id="176" name="Picture 175" descr="lock.png"/>
          <p:cNvPicPr>
            <a:picLocks noChangeAspect="1"/>
          </p:cNvPicPr>
          <p:nvPr/>
        </p:nvPicPr>
        <p:blipFill>
          <a:blip r:embed="rId4"/>
          <a:stretch>
            <a:fillRect/>
          </a:stretch>
        </p:blipFill>
        <p:spPr>
          <a:xfrm>
            <a:off x="11407984" y="3678301"/>
            <a:ext cx="128699" cy="187198"/>
          </a:xfrm>
          <a:prstGeom prst="rect">
            <a:avLst/>
          </a:prstGeom>
        </p:spPr>
      </p:pic>
      <p:pic>
        <p:nvPicPr>
          <p:cNvPr id="177" name="Picture 176" descr="lock.png"/>
          <p:cNvPicPr>
            <a:picLocks noChangeAspect="1"/>
          </p:cNvPicPr>
          <p:nvPr/>
        </p:nvPicPr>
        <p:blipFill>
          <a:blip r:embed="rId4"/>
          <a:stretch>
            <a:fillRect/>
          </a:stretch>
        </p:blipFill>
        <p:spPr>
          <a:xfrm>
            <a:off x="3126525" y="4021201"/>
            <a:ext cx="128699" cy="187198"/>
          </a:xfrm>
          <a:prstGeom prst="rect">
            <a:avLst/>
          </a:prstGeom>
        </p:spPr>
      </p:pic>
      <p:pic>
        <p:nvPicPr>
          <p:cNvPr id="178" name="Picture 177" descr="lock.png"/>
          <p:cNvPicPr>
            <a:picLocks noChangeAspect="1"/>
          </p:cNvPicPr>
          <p:nvPr/>
        </p:nvPicPr>
        <p:blipFill>
          <a:blip r:embed="rId4"/>
          <a:stretch>
            <a:fillRect/>
          </a:stretch>
        </p:blipFill>
        <p:spPr>
          <a:xfrm>
            <a:off x="10349650" y="4021201"/>
            <a:ext cx="128699" cy="187198"/>
          </a:xfrm>
          <a:prstGeom prst="rect">
            <a:avLst/>
          </a:prstGeom>
        </p:spPr>
      </p:pic>
      <p:pic>
        <p:nvPicPr>
          <p:cNvPr id="179" name="Picture 178" descr="lock.png"/>
          <p:cNvPicPr>
            <a:picLocks noChangeAspect="1"/>
          </p:cNvPicPr>
          <p:nvPr/>
        </p:nvPicPr>
        <p:blipFill>
          <a:blip r:embed="rId4"/>
          <a:stretch>
            <a:fillRect/>
          </a:stretch>
        </p:blipFill>
        <p:spPr>
          <a:xfrm>
            <a:off x="11407984" y="4021201"/>
            <a:ext cx="128699" cy="187198"/>
          </a:xfrm>
          <a:prstGeom prst="rect">
            <a:avLst/>
          </a:prstGeom>
        </p:spPr>
      </p:pic>
      <p:pic>
        <p:nvPicPr>
          <p:cNvPr id="180" name="Picture 179" descr="lock.png"/>
          <p:cNvPicPr>
            <a:picLocks noChangeAspect="1"/>
          </p:cNvPicPr>
          <p:nvPr/>
        </p:nvPicPr>
        <p:blipFill>
          <a:blip r:embed="rId4"/>
          <a:stretch>
            <a:fillRect/>
          </a:stretch>
        </p:blipFill>
        <p:spPr>
          <a:xfrm>
            <a:off x="3126525" y="4364101"/>
            <a:ext cx="128699" cy="187198"/>
          </a:xfrm>
          <a:prstGeom prst="rect">
            <a:avLst/>
          </a:prstGeom>
        </p:spPr>
      </p:pic>
      <p:pic>
        <p:nvPicPr>
          <p:cNvPr id="181" name="Picture 180" descr="lock.png"/>
          <p:cNvPicPr>
            <a:picLocks noChangeAspect="1"/>
          </p:cNvPicPr>
          <p:nvPr/>
        </p:nvPicPr>
        <p:blipFill>
          <a:blip r:embed="rId4"/>
          <a:stretch>
            <a:fillRect/>
          </a:stretch>
        </p:blipFill>
        <p:spPr>
          <a:xfrm>
            <a:off x="10349650" y="4364101"/>
            <a:ext cx="128699" cy="187198"/>
          </a:xfrm>
          <a:prstGeom prst="rect">
            <a:avLst/>
          </a:prstGeom>
        </p:spPr>
      </p:pic>
      <p:pic>
        <p:nvPicPr>
          <p:cNvPr id="182" name="Picture 181" descr="lock.png"/>
          <p:cNvPicPr>
            <a:picLocks noChangeAspect="1"/>
          </p:cNvPicPr>
          <p:nvPr/>
        </p:nvPicPr>
        <p:blipFill>
          <a:blip r:embed="rId4"/>
          <a:stretch>
            <a:fillRect/>
          </a:stretch>
        </p:blipFill>
        <p:spPr>
          <a:xfrm>
            <a:off x="11407984" y="4364101"/>
            <a:ext cx="128699" cy="187198"/>
          </a:xfrm>
          <a:prstGeom prst="rect">
            <a:avLst/>
          </a:prstGeom>
        </p:spPr>
      </p:pic>
      <p:pic>
        <p:nvPicPr>
          <p:cNvPr id="183" name="Picture 182" descr="lock.png"/>
          <p:cNvPicPr>
            <a:picLocks noChangeAspect="1"/>
          </p:cNvPicPr>
          <p:nvPr/>
        </p:nvPicPr>
        <p:blipFill>
          <a:blip r:embed="rId4"/>
          <a:stretch>
            <a:fillRect/>
          </a:stretch>
        </p:blipFill>
        <p:spPr>
          <a:xfrm>
            <a:off x="3126525" y="4707001"/>
            <a:ext cx="128699" cy="187198"/>
          </a:xfrm>
          <a:prstGeom prst="rect">
            <a:avLst/>
          </a:prstGeom>
        </p:spPr>
      </p:pic>
      <p:pic>
        <p:nvPicPr>
          <p:cNvPr id="184" name="Picture 183" descr="lock.png"/>
          <p:cNvPicPr>
            <a:picLocks noChangeAspect="1"/>
          </p:cNvPicPr>
          <p:nvPr/>
        </p:nvPicPr>
        <p:blipFill>
          <a:blip r:embed="rId4"/>
          <a:stretch>
            <a:fillRect/>
          </a:stretch>
        </p:blipFill>
        <p:spPr>
          <a:xfrm>
            <a:off x="10349650" y="4707001"/>
            <a:ext cx="128699" cy="187198"/>
          </a:xfrm>
          <a:prstGeom prst="rect">
            <a:avLst/>
          </a:prstGeom>
        </p:spPr>
      </p:pic>
      <p:pic>
        <p:nvPicPr>
          <p:cNvPr id="185" name="Picture 184" descr="lock.png"/>
          <p:cNvPicPr>
            <a:picLocks noChangeAspect="1"/>
          </p:cNvPicPr>
          <p:nvPr/>
        </p:nvPicPr>
        <p:blipFill>
          <a:blip r:embed="rId4"/>
          <a:stretch>
            <a:fillRect/>
          </a:stretch>
        </p:blipFill>
        <p:spPr>
          <a:xfrm>
            <a:off x="11407984" y="4707001"/>
            <a:ext cx="128699" cy="187198"/>
          </a:xfrm>
          <a:prstGeom prst="rect">
            <a:avLst/>
          </a:prstGeom>
        </p:spPr>
      </p:pic>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 Dental Clinics</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 Dental Clinics</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Oval 114"/>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17" name="Oval 116"/>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20" name="Oval 119"/>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23" name="Oval 122"/>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25" name="TextBox 124"/>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26" name="TextBox 125"/>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27" name="TextBox 1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8" name="Picture 127" descr="lock.png"/>
          <p:cNvPicPr>
            <a:picLocks noChangeAspect="1"/>
          </p:cNvPicPr>
          <p:nvPr/>
        </p:nvPicPr>
        <p:blipFill>
          <a:blip r:embed="rId4"/>
          <a:stretch>
            <a:fillRect/>
          </a:stretch>
        </p:blipFill>
        <p:spPr>
          <a:xfrm>
            <a:off x="9289760" y="2306701"/>
            <a:ext cx="128699" cy="187198"/>
          </a:xfrm>
          <a:prstGeom prst="rect">
            <a:avLst/>
          </a:prstGeom>
        </p:spPr>
      </p:pic>
      <p:pic>
        <p:nvPicPr>
          <p:cNvPr id="129" name="Picture 128" descr="lock.png"/>
          <p:cNvPicPr>
            <a:picLocks noChangeAspect="1"/>
          </p:cNvPicPr>
          <p:nvPr/>
        </p:nvPicPr>
        <p:blipFill>
          <a:blip r:embed="rId4"/>
          <a:stretch>
            <a:fillRect/>
          </a:stretch>
        </p:blipFill>
        <p:spPr>
          <a:xfrm>
            <a:off x="11054687" y="2306701"/>
            <a:ext cx="128699" cy="187198"/>
          </a:xfrm>
          <a:prstGeom prst="rect">
            <a:avLst/>
          </a:prstGeom>
        </p:spPr>
      </p:pic>
      <p:pic>
        <p:nvPicPr>
          <p:cNvPr id="130" name="Picture 129" descr="lock.png"/>
          <p:cNvPicPr>
            <a:picLocks noChangeAspect="1"/>
          </p:cNvPicPr>
          <p:nvPr/>
        </p:nvPicPr>
        <p:blipFill>
          <a:blip r:embed="rId4"/>
          <a:stretch>
            <a:fillRect/>
          </a:stretch>
        </p:blipFill>
        <p:spPr>
          <a:xfrm>
            <a:off x="9289760" y="2649601"/>
            <a:ext cx="128699" cy="187198"/>
          </a:xfrm>
          <a:prstGeom prst="rect">
            <a:avLst/>
          </a:prstGeom>
        </p:spPr>
      </p:pic>
      <p:pic>
        <p:nvPicPr>
          <p:cNvPr id="131" name="Picture 130" descr="lock.png"/>
          <p:cNvPicPr>
            <a:picLocks noChangeAspect="1"/>
          </p:cNvPicPr>
          <p:nvPr/>
        </p:nvPicPr>
        <p:blipFill>
          <a:blip r:embed="rId4"/>
          <a:stretch>
            <a:fillRect/>
          </a:stretch>
        </p:blipFill>
        <p:spPr>
          <a:xfrm>
            <a:off x="11054687" y="2649601"/>
            <a:ext cx="128699" cy="187198"/>
          </a:xfrm>
          <a:prstGeom prst="rect">
            <a:avLst/>
          </a:prstGeom>
        </p:spPr>
      </p:pic>
      <p:pic>
        <p:nvPicPr>
          <p:cNvPr id="132" name="Picture 131" descr="lock.png"/>
          <p:cNvPicPr>
            <a:picLocks noChangeAspect="1"/>
          </p:cNvPicPr>
          <p:nvPr/>
        </p:nvPicPr>
        <p:blipFill>
          <a:blip r:embed="rId4"/>
          <a:stretch>
            <a:fillRect/>
          </a:stretch>
        </p:blipFill>
        <p:spPr>
          <a:xfrm>
            <a:off x="9289760" y="2992501"/>
            <a:ext cx="128699" cy="187198"/>
          </a:xfrm>
          <a:prstGeom prst="rect">
            <a:avLst/>
          </a:prstGeom>
        </p:spPr>
      </p:pic>
      <p:pic>
        <p:nvPicPr>
          <p:cNvPr id="133" name="Picture 132" descr="lock.png"/>
          <p:cNvPicPr>
            <a:picLocks noChangeAspect="1"/>
          </p:cNvPicPr>
          <p:nvPr/>
        </p:nvPicPr>
        <p:blipFill>
          <a:blip r:embed="rId4"/>
          <a:stretch>
            <a:fillRect/>
          </a:stretch>
        </p:blipFill>
        <p:spPr>
          <a:xfrm>
            <a:off x="11054687" y="2992501"/>
            <a:ext cx="128699" cy="187198"/>
          </a:xfrm>
          <a:prstGeom prst="rect">
            <a:avLst/>
          </a:prstGeom>
        </p:spPr>
      </p:pic>
      <p:pic>
        <p:nvPicPr>
          <p:cNvPr id="134" name="Picture 133" descr="lock.png"/>
          <p:cNvPicPr>
            <a:picLocks noChangeAspect="1"/>
          </p:cNvPicPr>
          <p:nvPr/>
        </p:nvPicPr>
        <p:blipFill>
          <a:blip r:embed="rId4"/>
          <a:stretch>
            <a:fillRect/>
          </a:stretch>
        </p:blipFill>
        <p:spPr>
          <a:xfrm>
            <a:off x="9289760" y="3335401"/>
            <a:ext cx="128699" cy="187198"/>
          </a:xfrm>
          <a:prstGeom prst="rect">
            <a:avLst/>
          </a:prstGeom>
        </p:spPr>
      </p:pic>
      <p:pic>
        <p:nvPicPr>
          <p:cNvPr id="135" name="Picture 134" descr="lock.png"/>
          <p:cNvPicPr>
            <a:picLocks noChangeAspect="1"/>
          </p:cNvPicPr>
          <p:nvPr/>
        </p:nvPicPr>
        <p:blipFill>
          <a:blip r:embed="rId4"/>
          <a:stretch>
            <a:fillRect/>
          </a:stretch>
        </p:blipFill>
        <p:spPr>
          <a:xfrm>
            <a:off x="11054687" y="3335401"/>
            <a:ext cx="128699" cy="187198"/>
          </a:xfrm>
          <a:prstGeom prst="rect">
            <a:avLst/>
          </a:prstGeom>
        </p:spPr>
      </p:pic>
      <p:pic>
        <p:nvPicPr>
          <p:cNvPr id="136" name="Picture 135" descr="lock.png"/>
          <p:cNvPicPr>
            <a:picLocks noChangeAspect="1"/>
          </p:cNvPicPr>
          <p:nvPr/>
        </p:nvPicPr>
        <p:blipFill>
          <a:blip r:embed="rId4"/>
          <a:stretch>
            <a:fillRect/>
          </a:stretch>
        </p:blipFill>
        <p:spPr>
          <a:xfrm>
            <a:off x="9289760" y="3678301"/>
            <a:ext cx="128699" cy="187198"/>
          </a:xfrm>
          <a:prstGeom prst="rect">
            <a:avLst/>
          </a:prstGeom>
        </p:spPr>
      </p:pic>
      <p:pic>
        <p:nvPicPr>
          <p:cNvPr id="137" name="Picture 136" descr="lock.png"/>
          <p:cNvPicPr>
            <a:picLocks noChangeAspect="1"/>
          </p:cNvPicPr>
          <p:nvPr/>
        </p:nvPicPr>
        <p:blipFill>
          <a:blip r:embed="rId4"/>
          <a:stretch>
            <a:fillRect/>
          </a:stretch>
        </p:blipFill>
        <p:spPr>
          <a:xfrm>
            <a:off x="11054687" y="3678301"/>
            <a:ext cx="128699" cy="187198"/>
          </a:xfrm>
          <a:prstGeom prst="rect">
            <a:avLst/>
          </a:prstGeom>
        </p:spPr>
      </p:pic>
      <p:pic>
        <p:nvPicPr>
          <p:cNvPr id="138" name="Picture 137" descr="lock.png"/>
          <p:cNvPicPr>
            <a:picLocks noChangeAspect="1"/>
          </p:cNvPicPr>
          <p:nvPr/>
        </p:nvPicPr>
        <p:blipFill>
          <a:blip r:embed="rId4"/>
          <a:stretch>
            <a:fillRect/>
          </a:stretch>
        </p:blipFill>
        <p:spPr>
          <a:xfrm>
            <a:off x="9289760" y="4021201"/>
            <a:ext cx="128699" cy="187198"/>
          </a:xfrm>
          <a:prstGeom prst="rect">
            <a:avLst/>
          </a:prstGeom>
        </p:spPr>
      </p:pic>
      <p:pic>
        <p:nvPicPr>
          <p:cNvPr id="139" name="Picture 138" descr="lock.png"/>
          <p:cNvPicPr>
            <a:picLocks noChangeAspect="1"/>
          </p:cNvPicPr>
          <p:nvPr/>
        </p:nvPicPr>
        <p:blipFill>
          <a:blip r:embed="rId4"/>
          <a:stretch>
            <a:fillRect/>
          </a:stretch>
        </p:blipFill>
        <p:spPr>
          <a:xfrm>
            <a:off x="11054687" y="4021201"/>
            <a:ext cx="128699" cy="187198"/>
          </a:xfrm>
          <a:prstGeom prst="rect">
            <a:avLst/>
          </a:prstGeom>
        </p:spPr>
      </p:pic>
      <p:pic>
        <p:nvPicPr>
          <p:cNvPr id="140" name="Picture 139" descr="lock.png"/>
          <p:cNvPicPr>
            <a:picLocks noChangeAspect="1"/>
          </p:cNvPicPr>
          <p:nvPr/>
        </p:nvPicPr>
        <p:blipFill>
          <a:blip r:embed="rId4"/>
          <a:stretch>
            <a:fillRect/>
          </a:stretch>
        </p:blipFill>
        <p:spPr>
          <a:xfrm>
            <a:off x="9289760" y="4364101"/>
            <a:ext cx="128699" cy="187198"/>
          </a:xfrm>
          <a:prstGeom prst="rect">
            <a:avLst/>
          </a:prstGeom>
        </p:spPr>
      </p:pic>
      <p:pic>
        <p:nvPicPr>
          <p:cNvPr id="141" name="Picture 140" descr="lock.png"/>
          <p:cNvPicPr>
            <a:picLocks noChangeAspect="1"/>
          </p:cNvPicPr>
          <p:nvPr/>
        </p:nvPicPr>
        <p:blipFill>
          <a:blip r:embed="rId4"/>
          <a:stretch>
            <a:fillRect/>
          </a:stretch>
        </p:blipFill>
        <p:spPr>
          <a:xfrm>
            <a:off x="11054687" y="4364101"/>
            <a:ext cx="128699" cy="187198"/>
          </a:xfrm>
          <a:prstGeom prst="rect">
            <a:avLst/>
          </a:prstGeom>
        </p:spPr>
      </p:pic>
      <p:pic>
        <p:nvPicPr>
          <p:cNvPr id="142" name="Picture 141" descr="lock.png"/>
          <p:cNvPicPr>
            <a:picLocks noChangeAspect="1"/>
          </p:cNvPicPr>
          <p:nvPr/>
        </p:nvPicPr>
        <p:blipFill>
          <a:blip r:embed="rId4"/>
          <a:stretch>
            <a:fillRect/>
          </a:stretch>
        </p:blipFill>
        <p:spPr>
          <a:xfrm>
            <a:off x="9289760" y="4707001"/>
            <a:ext cx="128699" cy="187198"/>
          </a:xfrm>
          <a:prstGeom prst="rect">
            <a:avLst/>
          </a:prstGeom>
        </p:spPr>
      </p:pic>
      <p:pic>
        <p:nvPicPr>
          <p:cNvPr id="143" name="Picture 142" descr="lock.png"/>
          <p:cNvPicPr>
            <a:picLocks noChangeAspect="1"/>
          </p:cNvPicPr>
          <p:nvPr/>
        </p:nvPicPr>
        <p:blipFill>
          <a:blip r:embed="rId4"/>
          <a:stretch>
            <a:fillRect/>
          </a:stretch>
        </p:blipFill>
        <p:spPr>
          <a:xfrm>
            <a:off x="11054687" y="4707001"/>
            <a:ext cx="128699" cy="187198"/>
          </a:xfrm>
          <a:prstGeom prst="rect">
            <a:avLst/>
          </a:prstGeom>
        </p:spPr>
      </p:pic>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Oval 108"/>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11" name="Oval 110"/>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Freeform 111"/>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14" name="Oval 113"/>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17" name="Oval 116"/>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19" name="TextBox 118"/>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20" name="TextBox 119"/>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21" name="TextBox 1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2" name="Picture 121" descr="lock.png"/>
          <p:cNvPicPr>
            <a:picLocks noChangeAspect="1"/>
          </p:cNvPicPr>
          <p:nvPr/>
        </p:nvPicPr>
        <p:blipFill>
          <a:blip r:embed="rId4"/>
          <a:stretch>
            <a:fillRect/>
          </a:stretch>
        </p:blipFill>
        <p:spPr>
          <a:xfrm>
            <a:off x="4583289" y="2306701"/>
            <a:ext cx="128699" cy="187198"/>
          </a:xfrm>
          <a:prstGeom prst="rect">
            <a:avLst/>
          </a:prstGeom>
        </p:spPr>
      </p:pic>
      <p:pic>
        <p:nvPicPr>
          <p:cNvPr id="123" name="Picture 122" descr="lock.png"/>
          <p:cNvPicPr>
            <a:picLocks noChangeAspect="1"/>
          </p:cNvPicPr>
          <p:nvPr/>
        </p:nvPicPr>
        <p:blipFill>
          <a:blip r:embed="rId4"/>
          <a:stretch>
            <a:fillRect/>
          </a:stretch>
        </p:blipFill>
        <p:spPr>
          <a:xfrm>
            <a:off x="7818988" y="2306701"/>
            <a:ext cx="128699" cy="187198"/>
          </a:xfrm>
          <a:prstGeom prst="rect">
            <a:avLst/>
          </a:prstGeom>
        </p:spPr>
      </p:pic>
      <p:pic>
        <p:nvPicPr>
          <p:cNvPr id="124" name="Picture 123" descr="lock.png"/>
          <p:cNvPicPr>
            <a:picLocks noChangeAspect="1"/>
          </p:cNvPicPr>
          <p:nvPr/>
        </p:nvPicPr>
        <p:blipFill>
          <a:blip r:embed="rId4"/>
          <a:stretch>
            <a:fillRect/>
          </a:stretch>
        </p:blipFill>
        <p:spPr>
          <a:xfrm>
            <a:off x="9583914" y="2306701"/>
            <a:ext cx="128699" cy="187198"/>
          </a:xfrm>
          <a:prstGeom prst="rect">
            <a:avLst/>
          </a:prstGeom>
        </p:spPr>
      </p:pic>
      <p:pic>
        <p:nvPicPr>
          <p:cNvPr id="125" name="Picture 124" descr="lock.png"/>
          <p:cNvPicPr>
            <a:picLocks noChangeAspect="1"/>
          </p:cNvPicPr>
          <p:nvPr/>
        </p:nvPicPr>
        <p:blipFill>
          <a:blip r:embed="rId4"/>
          <a:stretch>
            <a:fillRect/>
          </a:stretch>
        </p:blipFill>
        <p:spPr>
          <a:xfrm>
            <a:off x="4583289" y="2649601"/>
            <a:ext cx="128699" cy="187198"/>
          </a:xfrm>
          <a:prstGeom prst="rect">
            <a:avLst/>
          </a:prstGeom>
        </p:spPr>
      </p:pic>
      <p:pic>
        <p:nvPicPr>
          <p:cNvPr id="126" name="Picture 125" descr="lock.png"/>
          <p:cNvPicPr>
            <a:picLocks noChangeAspect="1"/>
          </p:cNvPicPr>
          <p:nvPr/>
        </p:nvPicPr>
        <p:blipFill>
          <a:blip r:embed="rId4"/>
          <a:stretch>
            <a:fillRect/>
          </a:stretch>
        </p:blipFill>
        <p:spPr>
          <a:xfrm>
            <a:off x="9583914" y="2649601"/>
            <a:ext cx="128699" cy="187198"/>
          </a:xfrm>
          <a:prstGeom prst="rect">
            <a:avLst/>
          </a:prstGeom>
        </p:spPr>
      </p:pic>
      <p:pic>
        <p:nvPicPr>
          <p:cNvPr id="127" name="Picture 126" descr="lock.png"/>
          <p:cNvPicPr>
            <a:picLocks noChangeAspect="1"/>
          </p:cNvPicPr>
          <p:nvPr/>
        </p:nvPicPr>
        <p:blipFill>
          <a:blip r:embed="rId4"/>
          <a:stretch>
            <a:fillRect/>
          </a:stretch>
        </p:blipFill>
        <p:spPr>
          <a:xfrm>
            <a:off x="4583289" y="2992501"/>
            <a:ext cx="128699" cy="187198"/>
          </a:xfrm>
          <a:prstGeom prst="rect">
            <a:avLst/>
          </a:prstGeom>
        </p:spPr>
      </p:pic>
      <p:pic>
        <p:nvPicPr>
          <p:cNvPr id="128" name="Picture 127" descr="lock.png"/>
          <p:cNvPicPr>
            <a:picLocks noChangeAspect="1"/>
          </p:cNvPicPr>
          <p:nvPr/>
        </p:nvPicPr>
        <p:blipFill>
          <a:blip r:embed="rId4"/>
          <a:stretch>
            <a:fillRect/>
          </a:stretch>
        </p:blipFill>
        <p:spPr>
          <a:xfrm>
            <a:off x="7818988" y="2992501"/>
            <a:ext cx="128699" cy="187198"/>
          </a:xfrm>
          <a:prstGeom prst="rect">
            <a:avLst/>
          </a:prstGeom>
        </p:spPr>
      </p:pic>
      <p:pic>
        <p:nvPicPr>
          <p:cNvPr id="129" name="Picture 128" descr="lock.png"/>
          <p:cNvPicPr>
            <a:picLocks noChangeAspect="1"/>
          </p:cNvPicPr>
          <p:nvPr/>
        </p:nvPicPr>
        <p:blipFill>
          <a:blip r:embed="rId4"/>
          <a:stretch>
            <a:fillRect/>
          </a:stretch>
        </p:blipFill>
        <p:spPr>
          <a:xfrm>
            <a:off x="9583914" y="2992501"/>
            <a:ext cx="128699" cy="187198"/>
          </a:xfrm>
          <a:prstGeom prst="rect">
            <a:avLst/>
          </a:prstGeom>
        </p:spPr>
      </p:pic>
      <p:pic>
        <p:nvPicPr>
          <p:cNvPr id="130" name="Picture 129" descr="lock.png"/>
          <p:cNvPicPr>
            <a:picLocks noChangeAspect="1"/>
          </p:cNvPicPr>
          <p:nvPr/>
        </p:nvPicPr>
        <p:blipFill>
          <a:blip r:embed="rId4"/>
          <a:stretch>
            <a:fillRect/>
          </a:stretch>
        </p:blipFill>
        <p:spPr>
          <a:xfrm>
            <a:off x="4583289" y="3335401"/>
            <a:ext cx="128699" cy="187198"/>
          </a:xfrm>
          <a:prstGeom prst="rect">
            <a:avLst/>
          </a:prstGeom>
        </p:spPr>
      </p:pic>
      <p:pic>
        <p:nvPicPr>
          <p:cNvPr id="131" name="Picture 130" descr="lock.png"/>
          <p:cNvPicPr>
            <a:picLocks noChangeAspect="1"/>
          </p:cNvPicPr>
          <p:nvPr/>
        </p:nvPicPr>
        <p:blipFill>
          <a:blip r:embed="rId4"/>
          <a:stretch>
            <a:fillRect/>
          </a:stretch>
        </p:blipFill>
        <p:spPr>
          <a:xfrm>
            <a:off x="9583914" y="3335401"/>
            <a:ext cx="128699" cy="187198"/>
          </a:xfrm>
          <a:prstGeom prst="rect">
            <a:avLst/>
          </a:prstGeom>
        </p:spPr>
      </p:pic>
      <p:pic>
        <p:nvPicPr>
          <p:cNvPr id="132" name="Picture 131" descr="lock.png"/>
          <p:cNvPicPr>
            <a:picLocks noChangeAspect="1"/>
          </p:cNvPicPr>
          <p:nvPr/>
        </p:nvPicPr>
        <p:blipFill>
          <a:blip r:embed="rId4"/>
          <a:stretch>
            <a:fillRect/>
          </a:stretch>
        </p:blipFill>
        <p:spPr>
          <a:xfrm>
            <a:off x="4583289" y="3678301"/>
            <a:ext cx="128699" cy="187198"/>
          </a:xfrm>
          <a:prstGeom prst="rect">
            <a:avLst/>
          </a:prstGeom>
        </p:spPr>
      </p:pic>
      <p:pic>
        <p:nvPicPr>
          <p:cNvPr id="133" name="Picture 132" descr="lock.png"/>
          <p:cNvPicPr>
            <a:picLocks noChangeAspect="1"/>
          </p:cNvPicPr>
          <p:nvPr/>
        </p:nvPicPr>
        <p:blipFill>
          <a:blip r:embed="rId4"/>
          <a:stretch>
            <a:fillRect/>
          </a:stretch>
        </p:blipFill>
        <p:spPr>
          <a:xfrm>
            <a:off x="7818988" y="3678301"/>
            <a:ext cx="128699" cy="187198"/>
          </a:xfrm>
          <a:prstGeom prst="rect">
            <a:avLst/>
          </a:prstGeom>
        </p:spPr>
      </p:pic>
      <p:pic>
        <p:nvPicPr>
          <p:cNvPr id="134" name="Picture 133" descr="lock.png"/>
          <p:cNvPicPr>
            <a:picLocks noChangeAspect="1"/>
          </p:cNvPicPr>
          <p:nvPr/>
        </p:nvPicPr>
        <p:blipFill>
          <a:blip r:embed="rId4"/>
          <a:stretch>
            <a:fillRect/>
          </a:stretch>
        </p:blipFill>
        <p:spPr>
          <a:xfrm>
            <a:off x="9583914" y="3678301"/>
            <a:ext cx="128699" cy="187198"/>
          </a:xfrm>
          <a:prstGeom prst="rect">
            <a:avLst/>
          </a:prstGeom>
        </p:spPr>
      </p:pic>
      <p:pic>
        <p:nvPicPr>
          <p:cNvPr id="135" name="Picture 134" descr="lock.png"/>
          <p:cNvPicPr>
            <a:picLocks noChangeAspect="1"/>
          </p:cNvPicPr>
          <p:nvPr/>
        </p:nvPicPr>
        <p:blipFill>
          <a:blip r:embed="rId4"/>
          <a:stretch>
            <a:fillRect/>
          </a:stretch>
        </p:blipFill>
        <p:spPr>
          <a:xfrm>
            <a:off x="4583289" y="4021201"/>
            <a:ext cx="128699" cy="187198"/>
          </a:xfrm>
          <a:prstGeom prst="rect">
            <a:avLst/>
          </a:prstGeom>
        </p:spPr>
      </p:pic>
      <p:pic>
        <p:nvPicPr>
          <p:cNvPr id="136" name="Picture 135" descr="lock.png"/>
          <p:cNvPicPr>
            <a:picLocks noChangeAspect="1"/>
          </p:cNvPicPr>
          <p:nvPr/>
        </p:nvPicPr>
        <p:blipFill>
          <a:blip r:embed="rId4"/>
          <a:stretch>
            <a:fillRect/>
          </a:stretch>
        </p:blipFill>
        <p:spPr>
          <a:xfrm>
            <a:off x="9583914" y="4021201"/>
            <a:ext cx="128699" cy="187198"/>
          </a:xfrm>
          <a:prstGeom prst="rect">
            <a:avLst/>
          </a:prstGeom>
        </p:spPr>
      </p:pic>
      <p:pic>
        <p:nvPicPr>
          <p:cNvPr id="137" name="Picture 136" descr="lock.png"/>
          <p:cNvPicPr>
            <a:picLocks noChangeAspect="1"/>
          </p:cNvPicPr>
          <p:nvPr/>
        </p:nvPicPr>
        <p:blipFill>
          <a:blip r:embed="rId4"/>
          <a:stretch>
            <a:fillRect/>
          </a:stretch>
        </p:blipFill>
        <p:spPr>
          <a:xfrm>
            <a:off x="4583289" y="4364101"/>
            <a:ext cx="128699" cy="187198"/>
          </a:xfrm>
          <a:prstGeom prst="rect">
            <a:avLst/>
          </a:prstGeom>
        </p:spPr>
      </p:pic>
      <p:pic>
        <p:nvPicPr>
          <p:cNvPr id="138" name="Picture 137" descr="lock.png"/>
          <p:cNvPicPr>
            <a:picLocks noChangeAspect="1"/>
          </p:cNvPicPr>
          <p:nvPr/>
        </p:nvPicPr>
        <p:blipFill>
          <a:blip r:embed="rId4"/>
          <a:stretch>
            <a:fillRect/>
          </a:stretch>
        </p:blipFill>
        <p:spPr>
          <a:xfrm>
            <a:off x="7818988" y="4364101"/>
            <a:ext cx="128699" cy="187198"/>
          </a:xfrm>
          <a:prstGeom prst="rect">
            <a:avLst/>
          </a:prstGeom>
        </p:spPr>
      </p:pic>
      <p:pic>
        <p:nvPicPr>
          <p:cNvPr id="139" name="Picture 138" descr="lock.png"/>
          <p:cNvPicPr>
            <a:picLocks noChangeAspect="1"/>
          </p:cNvPicPr>
          <p:nvPr/>
        </p:nvPicPr>
        <p:blipFill>
          <a:blip r:embed="rId4"/>
          <a:stretch>
            <a:fillRect/>
          </a:stretch>
        </p:blipFill>
        <p:spPr>
          <a:xfrm>
            <a:off x="9583914" y="4364101"/>
            <a:ext cx="128699" cy="187198"/>
          </a:xfrm>
          <a:prstGeom prst="rect">
            <a:avLst/>
          </a:prstGeom>
        </p:spPr>
      </p:pic>
      <p:pic>
        <p:nvPicPr>
          <p:cNvPr id="140" name="Picture 139" descr="lock.png"/>
          <p:cNvPicPr>
            <a:picLocks noChangeAspect="1"/>
          </p:cNvPicPr>
          <p:nvPr/>
        </p:nvPicPr>
        <p:blipFill>
          <a:blip r:embed="rId4"/>
          <a:stretch>
            <a:fillRect/>
          </a:stretch>
        </p:blipFill>
        <p:spPr>
          <a:xfrm>
            <a:off x="4583289" y="4707001"/>
            <a:ext cx="128699" cy="187198"/>
          </a:xfrm>
          <a:prstGeom prst="rect">
            <a:avLst/>
          </a:prstGeom>
        </p:spPr>
      </p:pic>
      <p:pic>
        <p:nvPicPr>
          <p:cNvPr id="141" name="Picture 140" descr="lock.png"/>
          <p:cNvPicPr>
            <a:picLocks noChangeAspect="1"/>
          </p:cNvPicPr>
          <p:nvPr/>
        </p:nvPicPr>
        <p:blipFill>
          <a:blip r:embed="rId4"/>
          <a:stretch>
            <a:fillRect/>
          </a:stretch>
        </p:blipFill>
        <p:spPr>
          <a:xfrm>
            <a:off x="9583914" y="4707001"/>
            <a:ext cx="128699" cy="187198"/>
          </a:xfrm>
          <a:prstGeom prst="rect">
            <a:avLst/>
          </a:prstGeom>
        </p:spPr>
      </p:pic>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B</a:t>
            </a:r>
          </a:p>
        </p:txBody>
      </p:sp>
      <p:sp>
        <p:nvSpPr>
          <p:cNvPr id="30" name="Oval 29"/>
          <p:cNvSpPr/>
          <p:nvPr/>
        </p:nvSpPr>
        <p:spPr>
          <a:xfrm>
            <a:off x="28479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78200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10420350" y="1895475"/>
            <a:ext cx="11430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160145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37" name="Connector 36"/>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A</a:t>
            </a:r>
          </a:p>
        </p:txBody>
      </p:sp>
      <p:sp>
        <p:nvSpPr>
          <p:cNvPr id="40" name="Oval 39"/>
          <p:cNvSpPr/>
          <p:nvPr/>
        </p:nvSpPr>
        <p:spPr>
          <a:xfrm>
            <a:off x="28479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782002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reeform 43"/>
          <p:cNvSpPr/>
          <p:nvPr/>
        </p:nvSpPr>
        <p:spPr>
          <a:xfrm>
            <a:off x="789622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420350" y="22002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1154430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48" name="Connector 47"/>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9" name="Rectangle 48"/>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C</a:t>
            </a:r>
          </a:p>
        </p:txBody>
      </p:sp>
      <p:sp>
        <p:nvSpPr>
          <p:cNvPr id="51" name="Oval 50"/>
          <p:cNvSpPr/>
          <p:nvPr/>
        </p:nvSpPr>
        <p:spPr>
          <a:xfrm>
            <a:off x="28479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Oval 52"/>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782002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reeform 54"/>
          <p:cNvSpPr/>
          <p:nvPr/>
        </p:nvSpPr>
        <p:spPr>
          <a:xfrm>
            <a:off x="789622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420350" y="25050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154430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59" name="Connector 58"/>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190500" y="27622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D</a:t>
            </a:r>
          </a:p>
        </p:txBody>
      </p:sp>
      <p:sp>
        <p:nvSpPr>
          <p:cNvPr id="62" name="Oval 61"/>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5053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61626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78200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0420350" y="28098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1148715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0" name="Connector 69"/>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0670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F</a:t>
            </a:r>
          </a:p>
        </p:txBody>
      </p:sp>
      <p:sp>
        <p:nvSpPr>
          <p:cNvPr id="73" name="Oval 72"/>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29241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45053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45815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61626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62388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78200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0420350" y="31146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1133475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83" name="Connector 82"/>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4" name="Rectangle 83"/>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E</a:t>
            </a:r>
          </a:p>
        </p:txBody>
      </p:sp>
      <p:sp>
        <p:nvSpPr>
          <p:cNvPr id="86" name="Oval 85"/>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Freeform 86"/>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Oval 87"/>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97" name="Connector 9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H</a:t>
            </a:r>
          </a:p>
        </p:txBody>
      </p:sp>
      <p:sp>
        <p:nvSpPr>
          <p:cNvPr id="100" name="Oval 99"/>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Freeform 100"/>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reeform 102"/>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Oval 103"/>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10" name="Connector 10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1" name="Rectangle 110"/>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G</a:t>
            </a:r>
          </a:p>
        </p:txBody>
      </p:sp>
      <p:sp>
        <p:nvSpPr>
          <p:cNvPr id="113" name="Oval 112"/>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Freeform 113"/>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Oval 114"/>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Freeform 115"/>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8200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789622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420350" y="40290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1112520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24" name="Connector 123"/>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5" name="Oval 124"/>
          <p:cNvSpPr/>
          <p:nvPr/>
        </p:nvSpPr>
        <p:spPr>
          <a:xfrm>
            <a:off x="200025" y="43243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100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27" name="Oval 126"/>
          <p:cNvSpPr/>
          <p:nvPr/>
        </p:nvSpPr>
        <p:spPr>
          <a:xfrm>
            <a:off x="2065020"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Freeform 127"/>
          <p:cNvSpPr/>
          <p:nvPr/>
        </p:nvSpPr>
        <p:spPr>
          <a:xfrm>
            <a:off x="2133600" y="43243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245995"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0" name="Oval 129"/>
          <p:cNvSpPr/>
          <p:nvPr/>
        </p:nvSpPr>
        <p:spPr>
          <a:xfrm>
            <a:off x="3678555"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3743325" y="43243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5953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3" name="Oval 132"/>
          <p:cNvSpPr/>
          <p:nvPr/>
        </p:nvSpPr>
        <p:spPr>
          <a:xfrm>
            <a:off x="5103495"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528447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35" name="TextBox 134"/>
          <p:cNvSpPr txBox="1"/>
          <p:nvPr/>
        </p:nvSpPr>
        <p:spPr>
          <a:xfrm>
            <a:off x="190500" y="45339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36" name="Rectangle 135"/>
          <p:cNvSpPr/>
          <p:nvPr/>
        </p:nvSpPr>
        <p:spPr>
          <a:xfrm>
            <a:off x="1905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905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38" name="TextBox 137"/>
          <p:cNvSpPr txBox="1"/>
          <p:nvPr/>
        </p:nvSpPr>
        <p:spPr>
          <a:xfrm>
            <a:off x="1905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B, Company A, Company C, Company D</a:t>
            </a:r>
          </a:p>
        </p:txBody>
      </p:sp>
      <p:sp>
        <p:nvSpPr>
          <p:cNvPr id="139" name="TextBox 138"/>
          <p:cNvSpPr txBox="1"/>
          <p:nvPr/>
        </p:nvSpPr>
        <p:spPr>
          <a:xfrm>
            <a:off x="1905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innovation pipeline.</a:t>
            </a:r>
          </a:p>
        </p:txBody>
      </p:sp>
      <p:sp>
        <p:nvSpPr>
          <p:cNvPr id="140" name="Rectangle 139"/>
          <p:cNvSpPr/>
          <p:nvPr/>
        </p:nvSpPr>
        <p:spPr>
          <a:xfrm>
            <a:off x="41910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1910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42" name="TextBox 141"/>
          <p:cNvSpPr txBox="1"/>
          <p:nvPr/>
        </p:nvSpPr>
        <p:spPr>
          <a:xfrm>
            <a:off x="41910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F, Company E</a:t>
            </a:r>
          </a:p>
        </p:txBody>
      </p:sp>
      <p:sp>
        <p:nvSpPr>
          <p:cNvPr id="143" name="TextBox 142"/>
          <p:cNvSpPr txBox="1"/>
          <p:nvPr/>
        </p:nvSpPr>
        <p:spPr>
          <a:xfrm>
            <a:off x="41910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44" name="Rectangle 143"/>
          <p:cNvSpPr/>
          <p:nvPr/>
        </p:nvSpPr>
        <p:spPr>
          <a:xfrm>
            <a:off x="81915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81915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46" name="TextBox 145"/>
          <p:cNvSpPr txBox="1"/>
          <p:nvPr/>
        </p:nvSpPr>
        <p:spPr>
          <a:xfrm>
            <a:off x="81915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H, Company G</a:t>
            </a:r>
          </a:p>
        </p:txBody>
      </p:sp>
      <p:sp>
        <p:nvSpPr>
          <p:cNvPr id="147" name="TextBox 146"/>
          <p:cNvSpPr txBox="1"/>
          <p:nvPr/>
        </p:nvSpPr>
        <p:spPr>
          <a:xfrm>
            <a:off x="81915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9" name="Picture 148" descr="lock.png"/>
          <p:cNvPicPr>
            <a:picLocks noChangeAspect="1"/>
          </p:cNvPicPr>
          <p:nvPr/>
        </p:nvPicPr>
        <p:blipFill>
          <a:blip r:embed="rId4"/>
          <a:stretch>
            <a:fillRect/>
          </a:stretch>
        </p:blipFill>
        <p:spPr>
          <a:xfrm>
            <a:off x="11746650" y="1868551"/>
            <a:ext cx="128699" cy="187198"/>
          </a:xfrm>
          <a:prstGeom prst="rect">
            <a:avLst/>
          </a:prstGeom>
        </p:spPr>
      </p:pic>
      <p:pic>
        <p:nvPicPr>
          <p:cNvPr id="150" name="Picture 149" descr="lock.png"/>
          <p:cNvPicPr>
            <a:picLocks noChangeAspect="1"/>
          </p:cNvPicPr>
          <p:nvPr/>
        </p:nvPicPr>
        <p:blipFill>
          <a:blip r:embed="rId4"/>
          <a:stretch>
            <a:fillRect/>
          </a:stretch>
        </p:blipFill>
        <p:spPr>
          <a:xfrm>
            <a:off x="11689500" y="2173351"/>
            <a:ext cx="128699" cy="187198"/>
          </a:xfrm>
          <a:prstGeom prst="rect">
            <a:avLst/>
          </a:prstGeom>
        </p:spPr>
      </p:pic>
      <p:pic>
        <p:nvPicPr>
          <p:cNvPr id="151" name="Picture 150" descr="lock.png"/>
          <p:cNvPicPr>
            <a:picLocks noChangeAspect="1"/>
          </p:cNvPicPr>
          <p:nvPr/>
        </p:nvPicPr>
        <p:blipFill>
          <a:blip r:embed="rId4"/>
          <a:stretch>
            <a:fillRect/>
          </a:stretch>
        </p:blipFill>
        <p:spPr>
          <a:xfrm>
            <a:off x="11689500" y="2478151"/>
            <a:ext cx="128699" cy="187198"/>
          </a:xfrm>
          <a:prstGeom prst="rect">
            <a:avLst/>
          </a:prstGeom>
        </p:spPr>
      </p:pic>
      <p:pic>
        <p:nvPicPr>
          <p:cNvPr id="152" name="Picture 151" descr="lock.png"/>
          <p:cNvPicPr>
            <a:picLocks noChangeAspect="1"/>
          </p:cNvPicPr>
          <p:nvPr/>
        </p:nvPicPr>
        <p:blipFill>
          <a:blip r:embed="rId4"/>
          <a:stretch>
            <a:fillRect/>
          </a:stretch>
        </p:blipFill>
        <p:spPr>
          <a:xfrm>
            <a:off x="11632350" y="2782951"/>
            <a:ext cx="128699" cy="187198"/>
          </a:xfrm>
          <a:prstGeom prst="rect">
            <a:avLst/>
          </a:prstGeom>
        </p:spPr>
      </p:pic>
      <p:pic>
        <p:nvPicPr>
          <p:cNvPr id="153" name="Picture 152" descr="lock.png"/>
          <p:cNvPicPr>
            <a:picLocks noChangeAspect="1"/>
          </p:cNvPicPr>
          <p:nvPr/>
        </p:nvPicPr>
        <p:blipFill>
          <a:blip r:embed="rId4"/>
          <a:stretch>
            <a:fillRect/>
          </a:stretch>
        </p:blipFill>
        <p:spPr>
          <a:xfrm>
            <a:off x="11479950" y="3087751"/>
            <a:ext cx="128699" cy="187198"/>
          </a:xfrm>
          <a:prstGeom prst="rect">
            <a:avLst/>
          </a:prstGeom>
        </p:spPr>
      </p:pic>
      <p:pic>
        <p:nvPicPr>
          <p:cNvPr id="154" name="Picture 153" descr="lock.png"/>
          <p:cNvPicPr>
            <a:picLocks noChangeAspect="1"/>
          </p:cNvPicPr>
          <p:nvPr/>
        </p:nvPicPr>
        <p:blipFill>
          <a:blip r:embed="rId4"/>
          <a:stretch>
            <a:fillRect/>
          </a:stretch>
        </p:blipFill>
        <p:spPr>
          <a:xfrm>
            <a:off x="11422800" y="3392551"/>
            <a:ext cx="128699" cy="187198"/>
          </a:xfrm>
          <a:prstGeom prst="rect">
            <a:avLst/>
          </a:prstGeom>
        </p:spPr>
      </p:pic>
      <p:pic>
        <p:nvPicPr>
          <p:cNvPr id="155" name="Picture 154" descr="lock.png"/>
          <p:cNvPicPr>
            <a:picLocks noChangeAspect="1"/>
          </p:cNvPicPr>
          <p:nvPr/>
        </p:nvPicPr>
        <p:blipFill>
          <a:blip r:embed="rId4"/>
          <a:stretch>
            <a:fillRect/>
          </a:stretch>
        </p:blipFill>
        <p:spPr>
          <a:xfrm>
            <a:off x="11327550" y="3697351"/>
            <a:ext cx="128699" cy="187198"/>
          </a:xfrm>
          <a:prstGeom prst="rect">
            <a:avLst/>
          </a:prstGeom>
        </p:spPr>
      </p:pic>
      <p:pic>
        <p:nvPicPr>
          <p:cNvPr id="156" name="Picture 155" descr="lock.png"/>
          <p:cNvPicPr>
            <a:picLocks noChangeAspect="1"/>
          </p:cNvPicPr>
          <p:nvPr/>
        </p:nvPicPr>
        <p:blipFill>
          <a:blip r:embed="rId4"/>
          <a:stretch>
            <a:fillRect/>
          </a:stretch>
        </p:blipFill>
        <p:spPr>
          <a:xfrm>
            <a:off x="11270400" y="4002151"/>
            <a:ext cx="128699" cy="187198"/>
          </a:xfrm>
          <a:prstGeom prst="rect">
            <a:avLst/>
          </a:prstGeom>
        </p:spPr>
      </p:pic>
      <p:sp>
        <p:nvSpPr>
          <p:cNvPr id="157" name="TextBox 156"/>
          <p:cNvSpPr txBox="1"/>
          <p:nvPr/>
        </p:nvSpPr>
        <p:spPr>
          <a:xfrm>
            <a:off x="21621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58" name="Picture 157" descr="lock.png"/>
          <p:cNvPicPr>
            <a:picLocks noChangeAspect="1"/>
          </p:cNvPicPr>
          <p:nvPr/>
        </p:nvPicPr>
        <p:blipFill>
          <a:blip r:embed="rId4"/>
          <a:stretch>
            <a:fillRect/>
          </a:stretch>
        </p:blipFill>
        <p:spPr>
          <a:xfrm>
            <a:off x="2482959" y="1212159"/>
            <a:ext cx="92663" cy="134782"/>
          </a:xfrm>
          <a:prstGeom prst="rect">
            <a:avLst/>
          </a:prstGeom>
        </p:spPr>
      </p:pic>
      <p:sp>
        <p:nvSpPr>
          <p:cNvPr id="159" name="TextBox 158"/>
          <p:cNvSpPr txBox="1"/>
          <p:nvPr/>
        </p:nvSpPr>
        <p:spPr>
          <a:xfrm>
            <a:off x="38195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60" name="Picture 159" descr="lock.png"/>
          <p:cNvPicPr>
            <a:picLocks noChangeAspect="1"/>
          </p:cNvPicPr>
          <p:nvPr/>
        </p:nvPicPr>
        <p:blipFill>
          <a:blip r:embed="rId4"/>
          <a:stretch>
            <a:fillRect/>
          </a:stretch>
        </p:blipFill>
        <p:spPr>
          <a:xfrm>
            <a:off x="4140309" y="1212159"/>
            <a:ext cx="92663" cy="134782"/>
          </a:xfrm>
          <a:prstGeom prst="rect">
            <a:avLst/>
          </a:prstGeom>
        </p:spPr>
      </p:pic>
      <p:sp>
        <p:nvSpPr>
          <p:cNvPr id="161" name="TextBox 160"/>
          <p:cNvSpPr txBox="1"/>
          <p:nvPr/>
        </p:nvSpPr>
        <p:spPr>
          <a:xfrm>
            <a:off x="54768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62" name="Picture 161" descr="lock.png"/>
          <p:cNvPicPr>
            <a:picLocks noChangeAspect="1"/>
          </p:cNvPicPr>
          <p:nvPr/>
        </p:nvPicPr>
        <p:blipFill>
          <a:blip r:embed="rId4"/>
          <a:stretch>
            <a:fillRect/>
          </a:stretch>
        </p:blipFill>
        <p:spPr>
          <a:xfrm>
            <a:off x="5797659" y="1212159"/>
            <a:ext cx="92663" cy="134782"/>
          </a:xfrm>
          <a:prstGeom prst="rect">
            <a:avLst/>
          </a:prstGeom>
        </p:spPr>
      </p:pic>
      <p:sp>
        <p:nvSpPr>
          <p:cNvPr id="163" name="TextBox 162"/>
          <p:cNvSpPr txBox="1"/>
          <p:nvPr/>
        </p:nvSpPr>
        <p:spPr>
          <a:xfrm>
            <a:off x="71342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64" name="Picture 163" descr="lock.png"/>
          <p:cNvPicPr>
            <a:picLocks noChangeAspect="1"/>
          </p:cNvPicPr>
          <p:nvPr/>
        </p:nvPicPr>
        <p:blipFill>
          <a:blip r:embed="rId4"/>
          <a:stretch>
            <a:fillRect/>
          </a:stretch>
        </p:blipFill>
        <p:spPr>
          <a:xfrm>
            <a:off x="7455009" y="1212159"/>
            <a:ext cx="92663" cy="134782"/>
          </a:xfrm>
          <a:prstGeom prst="rect">
            <a:avLst/>
          </a:prstGeom>
        </p:spPr>
      </p:pic>
      <p:sp>
        <p:nvSpPr>
          <p:cNvPr id="165" name="TextBox 164"/>
          <p:cNvSpPr txBox="1"/>
          <p:nvPr/>
        </p:nvSpPr>
        <p:spPr>
          <a:xfrm>
            <a:off x="87915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66" name="Picture 165" descr="lock.png"/>
          <p:cNvPicPr>
            <a:picLocks noChangeAspect="1"/>
          </p:cNvPicPr>
          <p:nvPr/>
        </p:nvPicPr>
        <p:blipFill>
          <a:blip r:embed="rId4"/>
          <a:stretch>
            <a:fillRect/>
          </a:stretch>
        </p:blipFill>
        <p:spPr>
          <a:xfrm>
            <a:off x="9112359" y="1212159"/>
            <a:ext cx="92663" cy="134782"/>
          </a:xfrm>
          <a:prstGeom prst="rect">
            <a:avLst/>
          </a:prstGeom>
        </p:spPr>
      </p:pic>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A</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B</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Flexible Partial Dentures</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C</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D</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Combination Framework Partial Dentures</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E</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F</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Flexible Partial Dentures</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G</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H</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Combination Framework Partial Dentures</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863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19050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09" name="TextBox 108"/>
          <p:cNvSpPr txBox="1"/>
          <p:nvPr/>
        </p:nvSpPr>
        <p:spPr>
          <a:xfrm>
            <a:off x="51435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10" name="Rectangle 109"/>
          <p:cNvSpPr/>
          <p:nvPr/>
        </p:nvSpPr>
        <p:spPr>
          <a:xfrm>
            <a:off x="923925" y="52863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239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12" name="TextBox 111"/>
          <p:cNvSpPr txBox="1"/>
          <p:nvPr/>
        </p:nvSpPr>
        <p:spPr>
          <a:xfrm>
            <a:off x="12477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13" name="Rectangle 112"/>
          <p:cNvSpPr/>
          <p:nvPr/>
        </p:nvSpPr>
        <p:spPr>
          <a:xfrm>
            <a:off x="2724150" y="52863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272415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15" name="TextBox 114"/>
          <p:cNvSpPr txBox="1"/>
          <p:nvPr/>
        </p:nvSpPr>
        <p:spPr>
          <a:xfrm>
            <a:off x="304800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16" name="Rectangle 115"/>
          <p:cNvSpPr/>
          <p:nvPr/>
        </p:nvSpPr>
        <p:spPr>
          <a:xfrm>
            <a:off x="3857625" y="52863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8576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18" name="TextBox 117"/>
          <p:cNvSpPr txBox="1"/>
          <p:nvPr/>
        </p:nvSpPr>
        <p:spPr>
          <a:xfrm>
            <a:off x="41814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19" name="Rectangle 118"/>
          <p:cNvSpPr/>
          <p:nvPr/>
        </p:nvSpPr>
        <p:spPr>
          <a:xfrm>
            <a:off x="5457825" y="52863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54578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21" name="TextBox 120"/>
          <p:cNvSpPr txBox="1"/>
          <p:nvPr/>
        </p:nvSpPr>
        <p:spPr>
          <a:xfrm>
            <a:off x="57816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22" name="Rectangle 121"/>
          <p:cNvSpPr/>
          <p:nvPr/>
        </p:nvSpPr>
        <p:spPr>
          <a:xfrm>
            <a:off x="7524750" y="52863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752475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24" name="TextBox 123"/>
          <p:cNvSpPr txBox="1"/>
          <p:nvPr/>
        </p:nvSpPr>
        <p:spPr>
          <a:xfrm>
            <a:off x="784860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25" name="TextBox 124"/>
          <p:cNvSpPr txBox="1"/>
          <p:nvPr/>
        </p:nvSpPr>
        <p:spPr>
          <a:xfrm>
            <a:off x="190500" y="55054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26" name="TextBox 1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7" name="Picture 126" descr="lock.png"/>
          <p:cNvPicPr>
            <a:picLocks noChangeAspect="1"/>
          </p:cNvPicPr>
          <p:nvPr/>
        </p:nvPicPr>
        <p:blipFill>
          <a:blip r:embed="rId4"/>
          <a:stretch>
            <a:fillRect/>
          </a:stretch>
        </p:blipFill>
        <p:spPr>
          <a:xfrm>
            <a:off x="4126650" y="1278001"/>
            <a:ext cx="128699" cy="187198"/>
          </a:xfrm>
          <a:prstGeom prst="rect">
            <a:avLst/>
          </a:prstGeom>
        </p:spPr>
      </p:pic>
      <p:pic>
        <p:nvPicPr>
          <p:cNvPr id="128" name="Picture 127" descr="lock.png"/>
          <p:cNvPicPr>
            <a:picLocks noChangeAspect="1"/>
          </p:cNvPicPr>
          <p:nvPr/>
        </p:nvPicPr>
        <p:blipFill>
          <a:blip r:embed="rId4"/>
          <a:stretch>
            <a:fillRect/>
          </a:stretch>
        </p:blipFill>
        <p:spPr>
          <a:xfrm>
            <a:off x="4126650" y="1773301"/>
            <a:ext cx="128699" cy="187198"/>
          </a:xfrm>
          <a:prstGeom prst="rect">
            <a:avLst/>
          </a:prstGeom>
        </p:spPr>
      </p:pic>
      <p:pic>
        <p:nvPicPr>
          <p:cNvPr id="129" name="Picture 128" descr="lock.png"/>
          <p:cNvPicPr>
            <a:picLocks noChangeAspect="1"/>
          </p:cNvPicPr>
          <p:nvPr/>
        </p:nvPicPr>
        <p:blipFill>
          <a:blip r:embed="rId4"/>
          <a:stretch>
            <a:fillRect/>
          </a:stretch>
        </p:blipFill>
        <p:spPr>
          <a:xfrm>
            <a:off x="4126650" y="2268601"/>
            <a:ext cx="128699" cy="187198"/>
          </a:xfrm>
          <a:prstGeom prst="rect">
            <a:avLst/>
          </a:prstGeom>
        </p:spPr>
      </p:pic>
      <p:pic>
        <p:nvPicPr>
          <p:cNvPr id="130" name="Picture 129" descr="lock.png"/>
          <p:cNvPicPr>
            <a:picLocks noChangeAspect="1"/>
          </p:cNvPicPr>
          <p:nvPr/>
        </p:nvPicPr>
        <p:blipFill>
          <a:blip r:embed="rId4"/>
          <a:stretch>
            <a:fillRect/>
          </a:stretch>
        </p:blipFill>
        <p:spPr>
          <a:xfrm>
            <a:off x="4126650" y="2763901"/>
            <a:ext cx="128699" cy="187198"/>
          </a:xfrm>
          <a:prstGeom prst="rect">
            <a:avLst/>
          </a:prstGeom>
        </p:spPr>
      </p:pic>
      <p:pic>
        <p:nvPicPr>
          <p:cNvPr id="131" name="Picture 130" descr="lock.png"/>
          <p:cNvPicPr>
            <a:picLocks noChangeAspect="1"/>
          </p:cNvPicPr>
          <p:nvPr/>
        </p:nvPicPr>
        <p:blipFill>
          <a:blip r:embed="rId4"/>
          <a:stretch>
            <a:fillRect/>
          </a:stretch>
        </p:blipFill>
        <p:spPr>
          <a:xfrm>
            <a:off x="4126650" y="3259201"/>
            <a:ext cx="128699" cy="187198"/>
          </a:xfrm>
          <a:prstGeom prst="rect">
            <a:avLst/>
          </a:prstGeom>
        </p:spPr>
      </p:pic>
      <p:pic>
        <p:nvPicPr>
          <p:cNvPr id="132" name="Picture 131" descr="lock.png"/>
          <p:cNvPicPr>
            <a:picLocks noChangeAspect="1"/>
          </p:cNvPicPr>
          <p:nvPr/>
        </p:nvPicPr>
        <p:blipFill>
          <a:blip r:embed="rId4"/>
          <a:stretch>
            <a:fillRect/>
          </a:stretch>
        </p:blipFill>
        <p:spPr>
          <a:xfrm>
            <a:off x="4126650" y="3754501"/>
            <a:ext cx="128699" cy="187198"/>
          </a:xfrm>
          <a:prstGeom prst="rect">
            <a:avLst/>
          </a:prstGeom>
        </p:spPr>
      </p:pic>
      <p:pic>
        <p:nvPicPr>
          <p:cNvPr id="133" name="Picture 132" descr="lock.png"/>
          <p:cNvPicPr>
            <a:picLocks noChangeAspect="1"/>
          </p:cNvPicPr>
          <p:nvPr/>
        </p:nvPicPr>
        <p:blipFill>
          <a:blip r:embed="rId4"/>
          <a:stretch>
            <a:fillRect/>
          </a:stretch>
        </p:blipFill>
        <p:spPr>
          <a:xfrm>
            <a:off x="4126650" y="4249801"/>
            <a:ext cx="128699" cy="187198"/>
          </a:xfrm>
          <a:prstGeom prst="rect">
            <a:avLst/>
          </a:prstGeom>
        </p:spPr>
      </p:pic>
      <p:pic>
        <p:nvPicPr>
          <p:cNvPr id="134" name="Picture 133" descr="lock.png"/>
          <p:cNvPicPr>
            <a:picLocks noChangeAspect="1"/>
          </p:cNvPicPr>
          <p:nvPr/>
        </p:nvPicPr>
        <p:blipFill>
          <a:blip r:embed="rId4"/>
          <a:stretch>
            <a:fillRect/>
          </a:stretch>
        </p:blipFill>
        <p:spPr>
          <a:xfrm>
            <a:off x="4126650" y="4745101"/>
            <a:ext cx="128699" cy="187198"/>
          </a:xfrm>
          <a:prstGeom prst="rect">
            <a:avLst/>
          </a:prstGeom>
        </p:spPr>
      </p:pic>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A</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B</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C</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D</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E</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F</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G</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H</a:t>
            </a:r>
          </a:p>
        </p:txBody>
      </p:sp>
      <p:sp>
        <p:nvSpPr>
          <p:cNvPr id="26" name="TextBox 25"/>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27" name="TextBox 26"/>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28" name="TextBox 27"/>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29" name="TextBox 28"/>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0" name="TextBox 29"/>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1" name="TextBox 30"/>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2" name="TextBox 31"/>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3" name="Rectangle 32"/>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5" name="Rectangle 34"/>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8" name="Rectangle 37"/>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0" name="Rectangle 39"/>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47" name="Rectangle 46"/>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9" name="Rectangle 48"/>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1" name="Rectangle 50"/>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4" name="Rectangle 53"/>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6" name="Rectangle 55"/>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9" name="Rectangle 58"/>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1" name="Rectangle 60"/>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68" name="Rectangle 67"/>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0" name="Rectangle 69"/>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2" name="Rectangle 71"/>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5" name="Rectangle 74"/>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7" name="Rectangle 76"/>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0" name="Rectangle 79"/>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2" name="Rectangle 81"/>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89" name="Rectangle 88"/>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1" name="Rectangle 90"/>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3" name="Rectangle 92"/>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6" name="Rectangle 95"/>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8" name="Rectangle 97"/>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TextBox 99"/>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1" name="Rectangle 100"/>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3" name="Rectangle 102"/>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0" name="Rectangle 109"/>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2" name="Rectangle 111"/>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4" name="Rectangle 113"/>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7" name="TextBox 116"/>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18" name="TextBox 117"/>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19" name="TextBox 118"/>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20" name="TextBox 119"/>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21" name="TextBox 120"/>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22" name="Rectangle 121"/>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4" name="Rectangle 123"/>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6" name="Rectangle 125"/>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8" name="Rectangle 127"/>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0" name="Rectangle 129"/>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32" name="Rectangle 131"/>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5" name="Rectangle 134"/>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8" name="Rectangle 137"/>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0" name="Rectangle 139"/>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2" name="Rectangle 141"/>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4" name="Rectangle 143"/>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46" name="Rectangle 145"/>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2" name="Rectangle 151"/>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4" name="Rectangle 153"/>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6" name="Rectangle 155"/>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8" name="Rectangle 157"/>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60" name="Rectangle 159"/>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TextBox 164"/>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6" name="Rectangle 165"/>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TextBox 166"/>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8" name="Rectangle 167"/>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0" name="Rectangle 169"/>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2" name="Rectangle 171"/>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4" name="Rectangle 173"/>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179" name="TextBox 178"/>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180" name="TextBox 179"/>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181" name="TextBox 180"/>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182" name="TextBox 181"/>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183" name="TextBox 182"/>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184" name="TextBox 183"/>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185" name="Rectangle 184"/>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87" name="Rectangle 186"/>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89" name="Rectangle 188"/>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91" name="Rectangle 190"/>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97" name="Rectangle 196"/>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99" name="Rectangle 198"/>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01" name="Rectangle 200"/>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07" name="Rectangle 206"/>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09" name="Rectangle 208"/>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11" name="Rectangle 210"/>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17" name="Rectangle 216"/>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19" name="Rectangle 218"/>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1" name="Rectangle 220"/>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3" name="Rectangle 222"/>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8" name="Rectangle 227"/>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TextBox 230"/>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2" name="Rectangle 231"/>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TextBox 232"/>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4" name="Rectangle 233"/>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9" name="Rectangle 238"/>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1" name="Rectangle 240"/>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3" name="Rectangle 242"/>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5" name="Rectangle 244"/>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TextBox 249"/>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1" name="Rectangle 250"/>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TextBox 251"/>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3" name="Rectangle 252"/>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TextBox 253"/>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5" name="Rectangle 254"/>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90500" y="36766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43815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259" name="Rectangle 258"/>
          <p:cNvSpPr/>
          <p:nvPr/>
        </p:nvSpPr>
        <p:spPr>
          <a:xfrm>
            <a:off x="1238250" y="36766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48590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261" name="Rectangle 260"/>
          <p:cNvSpPr/>
          <p:nvPr/>
        </p:nvSpPr>
        <p:spPr>
          <a:xfrm>
            <a:off x="2286000" y="36766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TextBox 261"/>
          <p:cNvSpPr txBox="1"/>
          <p:nvPr/>
        </p:nvSpPr>
        <p:spPr>
          <a:xfrm>
            <a:off x="253365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263" name="TextBox 262"/>
          <p:cNvSpPr txBox="1"/>
          <p:nvPr/>
        </p:nvSpPr>
        <p:spPr>
          <a:xfrm>
            <a:off x="3524250" y="36385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264" name="Connector 263"/>
          <p:cNvCxnSpPr/>
          <p:nvPr/>
        </p:nvCxnSpPr>
        <p:spPr>
          <a:xfrm>
            <a:off x="190500" y="3905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65" name="TextBox 264"/>
          <p:cNvSpPr txBox="1"/>
          <p:nvPr/>
        </p:nvSpPr>
        <p:spPr>
          <a:xfrm>
            <a:off x="190500" y="39624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266" name="Rectangle 265"/>
          <p:cNvSpPr/>
          <p:nvPr/>
        </p:nvSpPr>
        <p:spPr>
          <a:xfrm>
            <a:off x="1905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667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268" name="TextBox 267"/>
          <p:cNvSpPr txBox="1"/>
          <p:nvPr/>
        </p:nvSpPr>
        <p:spPr>
          <a:xfrm>
            <a:off x="1905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8 expansion moves target new regions and volume tiers: defend key accounts where rivals expand.</a:t>
            </a:r>
          </a:p>
        </p:txBody>
      </p:sp>
      <p:sp>
        <p:nvSpPr>
          <p:cNvPr id="269" name="Rectangle 268"/>
          <p:cNvSpPr/>
          <p:nvPr/>
        </p:nvSpPr>
        <p:spPr>
          <a:xfrm>
            <a:off x="21780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22542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271" name="TextBox 270"/>
          <p:cNvSpPr txBox="1"/>
          <p:nvPr/>
        </p:nvSpPr>
        <p:spPr>
          <a:xfrm>
            <a:off x="21780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272" name="Rectangle 271"/>
          <p:cNvSpPr/>
          <p:nvPr/>
        </p:nvSpPr>
        <p:spPr>
          <a:xfrm>
            <a:off x="41656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42418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274" name="TextBox 273"/>
          <p:cNvSpPr txBox="1"/>
          <p:nvPr/>
        </p:nvSpPr>
        <p:spPr>
          <a:xfrm>
            <a:off x="41656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16 product and R&amp;D moves: benchmark launches and the technology roadmap.</a:t>
            </a:r>
          </a:p>
        </p:txBody>
      </p:sp>
      <p:sp>
        <p:nvSpPr>
          <p:cNvPr id="275" name="Rectangle 274"/>
          <p:cNvSpPr/>
          <p:nvPr/>
        </p:nvSpPr>
        <p:spPr>
          <a:xfrm>
            <a:off x="61531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TextBox 275"/>
          <p:cNvSpPr txBox="1"/>
          <p:nvPr/>
        </p:nvSpPr>
        <p:spPr>
          <a:xfrm>
            <a:off x="62293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277" name="TextBox 276"/>
          <p:cNvSpPr txBox="1"/>
          <p:nvPr/>
        </p:nvSpPr>
        <p:spPr>
          <a:xfrm>
            <a:off x="61531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are acquiring; the independent target list is shrinking.</a:t>
            </a:r>
          </a:p>
        </p:txBody>
      </p:sp>
      <p:sp>
        <p:nvSpPr>
          <p:cNvPr id="278" name="Rectangle 277"/>
          <p:cNvSpPr/>
          <p:nvPr/>
        </p:nvSpPr>
        <p:spPr>
          <a:xfrm>
            <a:off x="81407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2169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280" name="TextBox 279"/>
          <p:cNvSpPr txBox="1"/>
          <p:nvPr/>
        </p:nvSpPr>
        <p:spPr>
          <a:xfrm>
            <a:off x="81407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281" name="Rectangle 280"/>
          <p:cNvSpPr/>
          <p:nvPr/>
        </p:nvSpPr>
        <p:spPr>
          <a:xfrm>
            <a:off x="101282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102044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283" name="TextBox 282"/>
          <p:cNvSpPr txBox="1"/>
          <p:nvPr/>
        </p:nvSpPr>
        <p:spPr>
          <a:xfrm>
            <a:off x="101282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lean on certification; audit your own compliance position.</a:t>
            </a:r>
          </a:p>
        </p:txBody>
      </p:sp>
      <p:sp>
        <p:nvSpPr>
          <p:cNvPr id="284" name="TextBox 2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Removable Partial Dentures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A · Company B · Company C · Company D</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E · Company F</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G · Company H</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 </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818906"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1,125</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 </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6" name="Picture 235" descr="lock.png"/>
          <p:cNvPicPr>
            <a:picLocks noChangeAspect="1"/>
          </p:cNvPicPr>
          <p:nvPr/>
        </p:nvPicPr>
        <p:blipFill>
          <a:blip r:embed="rId4"/>
          <a:stretch>
            <a:fillRect/>
          </a:stretch>
        </p:blipFill>
        <p:spPr>
          <a:xfrm>
            <a:off x="1631100" y="1620901"/>
            <a:ext cx="128699" cy="187198"/>
          </a:xfrm>
          <a:prstGeom prst="rect">
            <a:avLst/>
          </a:prstGeom>
        </p:spPr>
      </p:pic>
      <p:pic>
        <p:nvPicPr>
          <p:cNvPr id="237" name="Picture 236" descr="lock.png"/>
          <p:cNvPicPr>
            <a:picLocks noChangeAspect="1"/>
          </p:cNvPicPr>
          <p:nvPr/>
        </p:nvPicPr>
        <p:blipFill>
          <a:blip r:embed="rId4"/>
          <a:stretch>
            <a:fillRect/>
          </a:stretch>
        </p:blipFill>
        <p:spPr>
          <a:xfrm>
            <a:off x="1631100" y="2478151"/>
            <a:ext cx="128699" cy="187198"/>
          </a:xfrm>
          <a:prstGeom prst="rect">
            <a:avLst/>
          </a:prstGeom>
        </p:spPr>
      </p:pic>
      <p:pic>
        <p:nvPicPr>
          <p:cNvPr id="238" name="Picture 237" descr="lock.png"/>
          <p:cNvPicPr>
            <a:picLocks noChangeAspect="1"/>
          </p:cNvPicPr>
          <p:nvPr/>
        </p:nvPicPr>
        <p:blipFill>
          <a:blip r:embed="rId4"/>
          <a:stretch>
            <a:fillRect/>
          </a:stretch>
        </p:blipFill>
        <p:spPr>
          <a:xfrm>
            <a:off x="1631100" y="3335401"/>
            <a:ext cx="128699" cy="187198"/>
          </a:xfrm>
          <a:prstGeom prst="rect">
            <a:avLst/>
          </a:prstGeom>
        </p:spPr>
      </p:pic>
      <p:pic>
        <p:nvPicPr>
          <p:cNvPr id="239" name="Picture 238" descr="lock.png"/>
          <p:cNvPicPr>
            <a:picLocks noChangeAspect="1"/>
          </p:cNvPicPr>
          <p:nvPr/>
        </p:nvPicPr>
        <p:blipFill>
          <a:blip r:embed="rId4"/>
          <a:stretch>
            <a:fillRect/>
          </a:stretch>
        </p:blipFill>
        <p:spPr>
          <a:xfrm>
            <a:off x="1631100" y="4192651"/>
            <a:ext cx="128699" cy="187198"/>
          </a:xfrm>
          <a:prstGeom prst="rect">
            <a:avLst/>
          </a:prstGeom>
        </p:spPr>
      </p:pic>
      <p:pic>
        <p:nvPicPr>
          <p:cNvPr id="240" name="Picture 239" descr="lock.png"/>
          <p:cNvPicPr>
            <a:picLocks noChangeAspect="1"/>
          </p:cNvPicPr>
          <p:nvPr/>
        </p:nvPicPr>
        <p:blipFill>
          <a:blip r:embed="rId4"/>
          <a:stretch>
            <a:fillRect/>
          </a:stretch>
        </p:blipFill>
        <p:spPr>
          <a:xfrm>
            <a:off x="11475188" y="1830451"/>
            <a:ext cx="128699" cy="187198"/>
          </a:xfrm>
          <a:prstGeom prst="rect">
            <a:avLst/>
          </a:prstGeom>
        </p:spPr>
      </p:pic>
      <p:pic>
        <p:nvPicPr>
          <p:cNvPr id="241" name="Picture 240" descr="lock.png"/>
          <p:cNvPicPr>
            <a:picLocks noChangeAspect="1"/>
          </p:cNvPicPr>
          <p:nvPr/>
        </p:nvPicPr>
        <p:blipFill>
          <a:blip r:embed="rId4"/>
          <a:stretch>
            <a:fillRect/>
          </a:stretch>
        </p:blipFill>
        <p:spPr>
          <a:xfrm>
            <a:off x="8160488" y="2059051"/>
            <a:ext cx="128699" cy="187198"/>
          </a:xfrm>
          <a:prstGeom prst="rect">
            <a:avLst/>
          </a:prstGeom>
        </p:spPr>
      </p:pic>
      <p:pic>
        <p:nvPicPr>
          <p:cNvPr id="242" name="Picture 241" descr="lock.png"/>
          <p:cNvPicPr>
            <a:picLocks noChangeAspect="1"/>
          </p:cNvPicPr>
          <p:nvPr/>
        </p:nvPicPr>
        <p:blipFill>
          <a:blip r:embed="rId4"/>
          <a:stretch>
            <a:fillRect/>
          </a:stretch>
        </p:blipFill>
        <p:spPr>
          <a:xfrm>
            <a:off x="8989163" y="2059051"/>
            <a:ext cx="128699" cy="187198"/>
          </a:xfrm>
          <a:prstGeom prst="rect">
            <a:avLst/>
          </a:prstGeom>
        </p:spPr>
      </p:pic>
      <p:pic>
        <p:nvPicPr>
          <p:cNvPr id="243" name="Picture 242" descr="lock.png"/>
          <p:cNvPicPr>
            <a:picLocks noChangeAspect="1"/>
          </p:cNvPicPr>
          <p:nvPr/>
        </p:nvPicPr>
        <p:blipFill>
          <a:blip r:embed="rId4"/>
          <a:stretch>
            <a:fillRect/>
          </a:stretch>
        </p:blipFill>
        <p:spPr>
          <a:xfrm>
            <a:off x="9817838" y="2059051"/>
            <a:ext cx="128699" cy="187198"/>
          </a:xfrm>
          <a:prstGeom prst="rect">
            <a:avLst/>
          </a:prstGeom>
        </p:spPr>
      </p:pic>
      <p:pic>
        <p:nvPicPr>
          <p:cNvPr id="244" name="Picture 243" descr="lock.png"/>
          <p:cNvPicPr>
            <a:picLocks noChangeAspect="1"/>
          </p:cNvPicPr>
          <p:nvPr/>
        </p:nvPicPr>
        <p:blipFill>
          <a:blip r:embed="rId4"/>
          <a:stretch>
            <a:fillRect/>
          </a:stretch>
        </p:blipFill>
        <p:spPr>
          <a:xfrm>
            <a:off x="10646513" y="2059051"/>
            <a:ext cx="128699" cy="187198"/>
          </a:xfrm>
          <a:prstGeom prst="rect">
            <a:avLst/>
          </a:prstGeom>
        </p:spPr>
      </p:pic>
      <p:pic>
        <p:nvPicPr>
          <p:cNvPr id="245" name="Picture 244" descr="lock.png"/>
          <p:cNvPicPr>
            <a:picLocks noChangeAspect="1"/>
          </p:cNvPicPr>
          <p:nvPr/>
        </p:nvPicPr>
        <p:blipFill>
          <a:blip r:embed="rId4"/>
          <a:stretch>
            <a:fillRect/>
          </a:stretch>
        </p:blipFill>
        <p:spPr>
          <a:xfrm>
            <a:off x="8160488" y="2287651"/>
            <a:ext cx="128699" cy="187198"/>
          </a:xfrm>
          <a:prstGeom prst="rect">
            <a:avLst/>
          </a:prstGeom>
        </p:spPr>
      </p:pic>
      <p:pic>
        <p:nvPicPr>
          <p:cNvPr id="246" name="Picture 245" descr="lock.png"/>
          <p:cNvPicPr>
            <a:picLocks noChangeAspect="1"/>
          </p:cNvPicPr>
          <p:nvPr/>
        </p:nvPicPr>
        <p:blipFill>
          <a:blip r:embed="rId4"/>
          <a:stretch>
            <a:fillRect/>
          </a:stretch>
        </p:blipFill>
        <p:spPr>
          <a:xfrm>
            <a:off x="8989162" y="2287651"/>
            <a:ext cx="128699" cy="187198"/>
          </a:xfrm>
          <a:prstGeom prst="rect">
            <a:avLst/>
          </a:prstGeom>
        </p:spPr>
      </p:pic>
      <p:pic>
        <p:nvPicPr>
          <p:cNvPr id="247" name="Picture 246" descr="lock.png"/>
          <p:cNvPicPr>
            <a:picLocks noChangeAspect="1"/>
          </p:cNvPicPr>
          <p:nvPr/>
        </p:nvPicPr>
        <p:blipFill>
          <a:blip r:embed="rId4"/>
          <a:stretch>
            <a:fillRect/>
          </a:stretch>
        </p:blipFill>
        <p:spPr>
          <a:xfrm>
            <a:off x="9817838" y="2287651"/>
            <a:ext cx="128699" cy="187198"/>
          </a:xfrm>
          <a:prstGeom prst="rect">
            <a:avLst/>
          </a:prstGeom>
        </p:spPr>
      </p:pic>
      <p:pic>
        <p:nvPicPr>
          <p:cNvPr id="248" name="Picture 247" descr="lock.png"/>
          <p:cNvPicPr>
            <a:picLocks noChangeAspect="1"/>
          </p:cNvPicPr>
          <p:nvPr/>
        </p:nvPicPr>
        <p:blipFill>
          <a:blip r:embed="rId4"/>
          <a:stretch>
            <a:fillRect/>
          </a:stretch>
        </p:blipFill>
        <p:spPr>
          <a:xfrm>
            <a:off x="10646512" y="2287651"/>
            <a:ext cx="128699" cy="187198"/>
          </a:xfrm>
          <a:prstGeom prst="rect">
            <a:avLst/>
          </a:prstGeom>
        </p:spPr>
      </p:pic>
      <p:pic>
        <p:nvPicPr>
          <p:cNvPr id="249" name="Picture 248" descr="lock.png"/>
          <p:cNvPicPr>
            <a:picLocks noChangeAspect="1"/>
          </p:cNvPicPr>
          <p:nvPr/>
        </p:nvPicPr>
        <p:blipFill>
          <a:blip r:embed="rId4"/>
          <a:stretch>
            <a:fillRect/>
          </a:stretch>
        </p:blipFill>
        <p:spPr>
          <a:xfrm>
            <a:off x="8160488" y="2516251"/>
            <a:ext cx="128699" cy="187198"/>
          </a:xfrm>
          <a:prstGeom prst="rect">
            <a:avLst/>
          </a:prstGeom>
        </p:spPr>
      </p:pic>
      <p:pic>
        <p:nvPicPr>
          <p:cNvPr id="250" name="Picture 249" descr="lock.png"/>
          <p:cNvPicPr>
            <a:picLocks noChangeAspect="1"/>
          </p:cNvPicPr>
          <p:nvPr/>
        </p:nvPicPr>
        <p:blipFill>
          <a:blip r:embed="rId4"/>
          <a:stretch>
            <a:fillRect/>
          </a:stretch>
        </p:blipFill>
        <p:spPr>
          <a:xfrm>
            <a:off x="8989162" y="2516251"/>
            <a:ext cx="128699" cy="187198"/>
          </a:xfrm>
          <a:prstGeom prst="rect">
            <a:avLst/>
          </a:prstGeom>
        </p:spPr>
      </p:pic>
      <p:pic>
        <p:nvPicPr>
          <p:cNvPr id="251" name="Picture 250" descr="lock.png"/>
          <p:cNvPicPr>
            <a:picLocks noChangeAspect="1"/>
          </p:cNvPicPr>
          <p:nvPr/>
        </p:nvPicPr>
        <p:blipFill>
          <a:blip r:embed="rId4"/>
          <a:stretch>
            <a:fillRect/>
          </a:stretch>
        </p:blipFill>
        <p:spPr>
          <a:xfrm>
            <a:off x="9817838" y="2516251"/>
            <a:ext cx="128699" cy="187198"/>
          </a:xfrm>
          <a:prstGeom prst="rect">
            <a:avLst/>
          </a:prstGeom>
        </p:spPr>
      </p:pic>
      <p:pic>
        <p:nvPicPr>
          <p:cNvPr id="252" name="Picture 251" descr="lock.png"/>
          <p:cNvPicPr>
            <a:picLocks noChangeAspect="1"/>
          </p:cNvPicPr>
          <p:nvPr/>
        </p:nvPicPr>
        <p:blipFill>
          <a:blip r:embed="rId4"/>
          <a:stretch>
            <a:fillRect/>
          </a:stretch>
        </p:blipFill>
        <p:spPr>
          <a:xfrm>
            <a:off x="10646512" y="2516251"/>
            <a:ext cx="128699" cy="187198"/>
          </a:xfrm>
          <a:prstGeom prst="rect">
            <a:avLst/>
          </a:prstGeom>
        </p:spPr>
      </p:pic>
      <p:pic>
        <p:nvPicPr>
          <p:cNvPr id="253" name="Picture 252" descr="lock.png"/>
          <p:cNvPicPr>
            <a:picLocks noChangeAspect="1"/>
          </p:cNvPicPr>
          <p:nvPr/>
        </p:nvPicPr>
        <p:blipFill>
          <a:blip r:embed="rId4"/>
          <a:stretch>
            <a:fillRect/>
          </a:stretch>
        </p:blipFill>
        <p:spPr>
          <a:xfrm>
            <a:off x="8160487" y="2744851"/>
            <a:ext cx="128699" cy="187198"/>
          </a:xfrm>
          <a:prstGeom prst="rect">
            <a:avLst/>
          </a:prstGeom>
        </p:spPr>
      </p:pic>
      <p:pic>
        <p:nvPicPr>
          <p:cNvPr id="254" name="Picture 253" descr="lock.png"/>
          <p:cNvPicPr>
            <a:picLocks noChangeAspect="1"/>
          </p:cNvPicPr>
          <p:nvPr/>
        </p:nvPicPr>
        <p:blipFill>
          <a:blip r:embed="rId4"/>
          <a:stretch>
            <a:fillRect/>
          </a:stretch>
        </p:blipFill>
        <p:spPr>
          <a:xfrm>
            <a:off x="8989163" y="2744851"/>
            <a:ext cx="128699" cy="187198"/>
          </a:xfrm>
          <a:prstGeom prst="rect">
            <a:avLst/>
          </a:prstGeom>
        </p:spPr>
      </p:pic>
      <p:pic>
        <p:nvPicPr>
          <p:cNvPr id="255" name="Picture 254" descr="lock.png"/>
          <p:cNvPicPr>
            <a:picLocks noChangeAspect="1"/>
          </p:cNvPicPr>
          <p:nvPr/>
        </p:nvPicPr>
        <p:blipFill>
          <a:blip r:embed="rId4"/>
          <a:stretch>
            <a:fillRect/>
          </a:stretch>
        </p:blipFill>
        <p:spPr>
          <a:xfrm>
            <a:off x="9817837" y="2744851"/>
            <a:ext cx="128699" cy="187198"/>
          </a:xfrm>
          <a:prstGeom prst="rect">
            <a:avLst/>
          </a:prstGeom>
        </p:spPr>
      </p:pic>
      <p:pic>
        <p:nvPicPr>
          <p:cNvPr id="256" name="Picture 255" descr="lock.png"/>
          <p:cNvPicPr>
            <a:picLocks noChangeAspect="1"/>
          </p:cNvPicPr>
          <p:nvPr/>
        </p:nvPicPr>
        <p:blipFill>
          <a:blip r:embed="rId4"/>
          <a:stretch>
            <a:fillRect/>
          </a:stretch>
        </p:blipFill>
        <p:spPr>
          <a:xfrm>
            <a:off x="10646513" y="2744851"/>
            <a:ext cx="128699" cy="187198"/>
          </a:xfrm>
          <a:prstGeom prst="rect">
            <a:avLst/>
          </a:prstGeom>
        </p:spPr>
      </p:pic>
      <p:pic>
        <p:nvPicPr>
          <p:cNvPr id="257" name="Picture 256" descr="lock.png"/>
          <p:cNvPicPr>
            <a:picLocks noChangeAspect="1"/>
          </p:cNvPicPr>
          <p:nvPr/>
        </p:nvPicPr>
        <p:blipFill>
          <a:blip r:embed="rId4"/>
          <a:stretch>
            <a:fillRect/>
          </a:stretch>
        </p:blipFill>
        <p:spPr>
          <a:xfrm>
            <a:off x="8160487" y="2973451"/>
            <a:ext cx="128699" cy="187198"/>
          </a:xfrm>
          <a:prstGeom prst="rect">
            <a:avLst/>
          </a:prstGeom>
        </p:spPr>
      </p:pic>
      <p:pic>
        <p:nvPicPr>
          <p:cNvPr id="258" name="Picture 257" descr="lock.png"/>
          <p:cNvPicPr>
            <a:picLocks noChangeAspect="1"/>
          </p:cNvPicPr>
          <p:nvPr/>
        </p:nvPicPr>
        <p:blipFill>
          <a:blip r:embed="rId4"/>
          <a:stretch>
            <a:fillRect/>
          </a:stretch>
        </p:blipFill>
        <p:spPr>
          <a:xfrm>
            <a:off x="8989163" y="2973451"/>
            <a:ext cx="128699" cy="187198"/>
          </a:xfrm>
          <a:prstGeom prst="rect">
            <a:avLst/>
          </a:prstGeom>
        </p:spPr>
      </p:pic>
      <p:pic>
        <p:nvPicPr>
          <p:cNvPr id="259" name="Picture 258" descr="lock.png"/>
          <p:cNvPicPr>
            <a:picLocks noChangeAspect="1"/>
          </p:cNvPicPr>
          <p:nvPr/>
        </p:nvPicPr>
        <p:blipFill>
          <a:blip r:embed="rId4"/>
          <a:stretch>
            <a:fillRect/>
          </a:stretch>
        </p:blipFill>
        <p:spPr>
          <a:xfrm>
            <a:off x="9817837" y="2973451"/>
            <a:ext cx="128699" cy="187198"/>
          </a:xfrm>
          <a:prstGeom prst="rect">
            <a:avLst/>
          </a:prstGeom>
        </p:spPr>
      </p:pic>
      <p:pic>
        <p:nvPicPr>
          <p:cNvPr id="260" name="Picture 259" descr="lock.png"/>
          <p:cNvPicPr>
            <a:picLocks noChangeAspect="1"/>
          </p:cNvPicPr>
          <p:nvPr/>
        </p:nvPicPr>
        <p:blipFill>
          <a:blip r:embed="rId4"/>
          <a:stretch>
            <a:fillRect/>
          </a:stretch>
        </p:blipFill>
        <p:spPr>
          <a:xfrm>
            <a:off x="10646513" y="2973451"/>
            <a:ext cx="128699" cy="187198"/>
          </a:xfrm>
          <a:prstGeom prst="rect">
            <a:avLst/>
          </a:prstGeom>
        </p:spPr>
      </p:pic>
      <p:pic>
        <p:nvPicPr>
          <p:cNvPr id="261" name="Picture 260" descr="lock.png"/>
          <p:cNvPicPr>
            <a:picLocks noChangeAspect="1"/>
          </p:cNvPicPr>
          <p:nvPr/>
        </p:nvPicPr>
        <p:blipFill>
          <a:blip r:embed="rId4"/>
          <a:stretch>
            <a:fillRect/>
          </a:stretch>
        </p:blipFill>
        <p:spPr>
          <a:xfrm>
            <a:off x="11475187" y="2973451"/>
            <a:ext cx="128699" cy="187198"/>
          </a:xfrm>
          <a:prstGeom prst="rect">
            <a:avLst/>
          </a:prstGeom>
        </p:spPr>
      </p:pic>
      <p:pic>
        <p:nvPicPr>
          <p:cNvPr id="262" name="Picture 261" descr="lock.png"/>
          <p:cNvPicPr>
            <a:picLocks noChangeAspect="1"/>
          </p:cNvPicPr>
          <p:nvPr/>
        </p:nvPicPr>
        <p:blipFill>
          <a:blip r:embed="rId4"/>
          <a:stretch>
            <a:fillRect/>
          </a:stretch>
        </p:blipFill>
        <p:spPr>
          <a:xfrm>
            <a:off x="8160488" y="3202051"/>
            <a:ext cx="128699" cy="187198"/>
          </a:xfrm>
          <a:prstGeom prst="rect">
            <a:avLst/>
          </a:prstGeom>
        </p:spPr>
      </p:pic>
      <p:pic>
        <p:nvPicPr>
          <p:cNvPr id="263" name="Picture 262" descr="lock.png"/>
          <p:cNvPicPr>
            <a:picLocks noChangeAspect="1"/>
          </p:cNvPicPr>
          <p:nvPr/>
        </p:nvPicPr>
        <p:blipFill>
          <a:blip r:embed="rId4"/>
          <a:stretch>
            <a:fillRect/>
          </a:stretch>
        </p:blipFill>
        <p:spPr>
          <a:xfrm>
            <a:off x="8989163" y="3202051"/>
            <a:ext cx="128699" cy="187198"/>
          </a:xfrm>
          <a:prstGeom prst="rect">
            <a:avLst/>
          </a:prstGeom>
        </p:spPr>
      </p:pic>
      <p:pic>
        <p:nvPicPr>
          <p:cNvPr id="264" name="Picture 263" descr="lock.png"/>
          <p:cNvPicPr>
            <a:picLocks noChangeAspect="1"/>
          </p:cNvPicPr>
          <p:nvPr/>
        </p:nvPicPr>
        <p:blipFill>
          <a:blip r:embed="rId4"/>
          <a:stretch>
            <a:fillRect/>
          </a:stretch>
        </p:blipFill>
        <p:spPr>
          <a:xfrm>
            <a:off x="9817838" y="3202051"/>
            <a:ext cx="128699" cy="187198"/>
          </a:xfrm>
          <a:prstGeom prst="rect">
            <a:avLst/>
          </a:prstGeom>
        </p:spPr>
      </p:pic>
      <p:pic>
        <p:nvPicPr>
          <p:cNvPr id="265" name="Picture 264" descr="lock.png"/>
          <p:cNvPicPr>
            <a:picLocks noChangeAspect="1"/>
          </p:cNvPicPr>
          <p:nvPr/>
        </p:nvPicPr>
        <p:blipFill>
          <a:blip r:embed="rId4"/>
          <a:stretch>
            <a:fillRect/>
          </a:stretch>
        </p:blipFill>
        <p:spPr>
          <a:xfrm>
            <a:off x="8160488" y="3478276"/>
            <a:ext cx="128699" cy="187198"/>
          </a:xfrm>
          <a:prstGeom prst="rect">
            <a:avLst/>
          </a:prstGeom>
        </p:spPr>
      </p:pic>
      <p:pic>
        <p:nvPicPr>
          <p:cNvPr id="266" name="Picture 265" descr="lock.png"/>
          <p:cNvPicPr>
            <a:picLocks noChangeAspect="1"/>
          </p:cNvPicPr>
          <p:nvPr/>
        </p:nvPicPr>
        <p:blipFill>
          <a:blip r:embed="rId4"/>
          <a:stretch>
            <a:fillRect/>
          </a:stretch>
        </p:blipFill>
        <p:spPr>
          <a:xfrm>
            <a:off x="8989162" y="3478276"/>
            <a:ext cx="128699" cy="187198"/>
          </a:xfrm>
          <a:prstGeom prst="rect">
            <a:avLst/>
          </a:prstGeom>
        </p:spPr>
      </p:pic>
      <p:pic>
        <p:nvPicPr>
          <p:cNvPr id="267" name="Picture 266" descr="lock.png"/>
          <p:cNvPicPr>
            <a:picLocks noChangeAspect="1"/>
          </p:cNvPicPr>
          <p:nvPr/>
        </p:nvPicPr>
        <p:blipFill>
          <a:blip r:embed="rId4"/>
          <a:stretch>
            <a:fillRect/>
          </a:stretch>
        </p:blipFill>
        <p:spPr>
          <a:xfrm>
            <a:off x="9817838" y="3478276"/>
            <a:ext cx="128699" cy="187198"/>
          </a:xfrm>
          <a:prstGeom prst="rect">
            <a:avLst/>
          </a:prstGeom>
        </p:spPr>
      </p:pic>
      <p:pic>
        <p:nvPicPr>
          <p:cNvPr id="268" name="Picture 267" descr="lock.png"/>
          <p:cNvPicPr>
            <a:picLocks noChangeAspect="1"/>
          </p:cNvPicPr>
          <p:nvPr/>
        </p:nvPicPr>
        <p:blipFill>
          <a:blip r:embed="rId4"/>
          <a:stretch>
            <a:fillRect/>
          </a:stretch>
        </p:blipFill>
        <p:spPr>
          <a:xfrm>
            <a:off x="10646512" y="3478276"/>
            <a:ext cx="128699" cy="187198"/>
          </a:xfrm>
          <a:prstGeom prst="rect">
            <a:avLst/>
          </a:prstGeom>
        </p:spPr>
      </p:pic>
      <p:sp>
        <p:nvSpPr>
          <p:cNvPr id="269" name="TextBox 268"/>
          <p:cNvSpPr txBox="1"/>
          <p:nvPr/>
        </p:nvSpPr>
        <p:spPr>
          <a:xfrm>
            <a:off x="266700" y="1344930"/>
            <a:ext cx="491480" cy="186689"/>
          </a:xfrm>
          <a:prstGeom prst="rect">
            <a:avLst/>
          </a:prstGeom>
          <a:noFill/>
        </p:spPr>
        <p:txBody>
          <a:bodyPr wrap="none" lIns="0" rIns="0" tIns="0" bIns="0">
            <a:spAutoFit/>
          </a:bodyPr>
          <a:lstStyle/>
          <a:p>
            <a:r>
              <a:rPr sz="1100" b="0">
                <a:solidFill>
                  <a:srgbClr val="6B7280"/>
                </a:solidFill>
                <a:latin typeface="Calibri"/>
              </a:rPr>
              <a:t>Market</a:t>
            </a:r>
          </a:p>
        </p:txBody>
      </p:sp>
      <p:pic>
        <p:nvPicPr>
          <p:cNvPr id="270" name="Picture 269" descr="lock.png"/>
          <p:cNvPicPr>
            <a:picLocks noChangeAspect="1"/>
          </p:cNvPicPr>
          <p:nvPr/>
        </p:nvPicPr>
        <p:blipFill>
          <a:blip r:embed="rId4"/>
          <a:stretch>
            <a:fillRect/>
          </a:stretch>
        </p:blipFill>
        <p:spPr>
          <a:xfrm>
            <a:off x="706231" y="1335151"/>
            <a:ext cx="128699" cy="187198"/>
          </a:xfrm>
          <a:prstGeom prst="rect">
            <a:avLst/>
          </a:prstGeom>
        </p:spPr>
      </p:pic>
      <p:sp>
        <p:nvSpPr>
          <p:cNvPr id="271" name="TextBox 270"/>
          <p:cNvSpPr txBox="1"/>
          <p:nvPr/>
        </p:nvSpPr>
        <p:spPr>
          <a:xfrm>
            <a:off x="873727" y="1344930"/>
            <a:ext cx="1290389" cy="186689"/>
          </a:xfrm>
          <a:prstGeom prst="rect">
            <a:avLst/>
          </a:prstGeom>
          <a:noFill/>
        </p:spPr>
        <p:txBody>
          <a:bodyPr wrap="none" lIns="0" rIns="0" tIns="0" bIns="0">
            <a:spAutoFit/>
          </a:bodyPr>
          <a:lstStyle/>
          <a:p>
            <a:r>
              <a:rPr sz="1100" b="0">
                <a:solidFill>
                  <a:srgbClr val="6B7280"/>
                </a:solidFill>
                <a:latin typeface="Calibri"/>
              </a:rPr>
              <a:t>US$ Mn · Tier 1 share</a:t>
            </a:r>
          </a:p>
        </p:txBody>
      </p:sp>
      <p:pic>
        <p:nvPicPr>
          <p:cNvPr id="272" name="Picture 271" descr="lock.png"/>
          <p:cNvPicPr>
            <a:picLocks noChangeAspect="1"/>
          </p:cNvPicPr>
          <p:nvPr/>
        </p:nvPicPr>
        <p:blipFill>
          <a:blip r:embed="rId4"/>
          <a:stretch>
            <a:fillRect/>
          </a:stretch>
        </p:blipFill>
        <p:spPr>
          <a:xfrm>
            <a:off x="2112168" y="1335151"/>
            <a:ext cx="128699" cy="187198"/>
          </a:xfrm>
          <a:prstGeom prst="rect">
            <a:avLst/>
          </a:prstGeom>
        </p:spPr>
      </p:pic>
      <p:sp>
        <p:nvSpPr>
          <p:cNvPr id="273" name="TextBox 272"/>
          <p:cNvSpPr txBox="1"/>
          <p:nvPr/>
        </p:nvSpPr>
        <p:spPr>
          <a:xfrm>
            <a:off x="2279664" y="1344930"/>
            <a:ext cx="202803" cy="186689"/>
          </a:xfrm>
          <a:prstGeom prst="rect">
            <a:avLst/>
          </a:prstGeom>
          <a:noFill/>
        </p:spPr>
        <p:txBody>
          <a:bodyPr wrap="none" lIns="0" rIns="0" tIns="0" bIns="0">
            <a:spAutoFit/>
          </a:bodyPr>
          <a:lstStyle/>
          <a:p>
            <a:r>
              <a:rPr sz="1100" b="0">
                <a:solidFill>
                  <a:srgbClr val="6B7280"/>
                </a:solidFill>
                <a:latin typeface="Calibri"/>
              </a:rPr>
              <a:t>→</a:t>
            </a:r>
          </a:p>
        </p:txBody>
      </p:sp>
      <p:pic>
        <p:nvPicPr>
          <p:cNvPr id="274" name="Picture 273" descr="lock.png"/>
          <p:cNvPicPr>
            <a:picLocks noChangeAspect="1"/>
          </p:cNvPicPr>
          <p:nvPr/>
        </p:nvPicPr>
        <p:blipFill>
          <a:blip r:embed="rId4"/>
          <a:stretch>
            <a:fillRect/>
          </a:stretch>
        </p:blipFill>
        <p:spPr>
          <a:xfrm>
            <a:off x="2430519" y="1335151"/>
            <a:ext cx="128699" cy="187198"/>
          </a:xfrm>
          <a:prstGeom prst="rect">
            <a:avLst/>
          </a:prstGeom>
        </p:spPr>
      </p:pic>
      <p:sp>
        <p:nvSpPr>
          <p:cNvPr id="275" name="TextBox 274"/>
          <p:cNvSpPr txBox="1"/>
          <p:nvPr/>
        </p:nvSpPr>
        <p:spPr>
          <a:xfrm>
            <a:off x="2598014" y="1344930"/>
            <a:ext cx="528315" cy="186689"/>
          </a:xfrm>
          <a:prstGeom prst="rect">
            <a:avLst/>
          </a:prstGeom>
          <a:noFill/>
        </p:spPr>
        <p:txBody>
          <a:bodyPr wrap="none" lIns="0" rIns="0" tIns="0" bIns="0">
            <a:spAutoFit/>
          </a:bodyPr>
          <a:lstStyle/>
          <a:p>
            <a:r>
              <a:rPr sz="1100" b="0">
                <a:solidFill>
                  <a:srgbClr val="6B7280"/>
                </a:solidFill>
                <a:latin typeface="Calibri"/>
              </a:rPr>
              <a:t>by 2036</a:t>
            </a:r>
          </a:p>
        </p:txBody>
      </p:sp>
      <p:pic>
        <p:nvPicPr>
          <p:cNvPr id="276" name="Picture 275" descr="lock.png"/>
          <p:cNvPicPr>
            <a:picLocks noChangeAspect="1"/>
          </p:cNvPicPr>
          <p:nvPr/>
        </p:nvPicPr>
        <p:blipFill>
          <a:blip r:embed="rId4"/>
          <a:stretch>
            <a:fillRect/>
          </a:stretch>
        </p:blipFill>
        <p:spPr>
          <a:xfrm>
            <a:off x="1377182" y="1839976"/>
            <a:ext cx="128699" cy="187198"/>
          </a:xfrm>
          <a:prstGeom prst="rect">
            <a:avLst/>
          </a:prstGeom>
        </p:spPr>
      </p:pic>
      <p:sp>
        <p:nvSpPr>
          <p:cNvPr id="277" name="TextBox 276"/>
          <p:cNvSpPr txBox="1"/>
          <p:nvPr/>
        </p:nvSpPr>
        <p:spPr>
          <a:xfrm>
            <a:off x="1544678" y="18497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78" name="Picture 277" descr="lock.png"/>
          <p:cNvPicPr>
            <a:picLocks noChangeAspect="1"/>
          </p:cNvPicPr>
          <p:nvPr/>
        </p:nvPicPr>
        <p:blipFill>
          <a:blip r:embed="rId4"/>
          <a:stretch>
            <a:fillRect/>
          </a:stretch>
        </p:blipFill>
        <p:spPr>
          <a:xfrm>
            <a:off x="2922273" y="1839976"/>
            <a:ext cx="128699" cy="187198"/>
          </a:xfrm>
          <a:prstGeom prst="rect">
            <a:avLst/>
          </a:prstGeom>
        </p:spPr>
      </p:pic>
      <p:sp>
        <p:nvSpPr>
          <p:cNvPr id="279" name="TextBox 278"/>
          <p:cNvSpPr txBox="1"/>
          <p:nvPr/>
        </p:nvSpPr>
        <p:spPr>
          <a:xfrm>
            <a:off x="3089769" y="18497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0" name="Picture 279" descr="lock.png"/>
          <p:cNvPicPr>
            <a:picLocks noChangeAspect="1"/>
          </p:cNvPicPr>
          <p:nvPr/>
        </p:nvPicPr>
        <p:blipFill>
          <a:blip r:embed="rId4"/>
          <a:stretch>
            <a:fillRect/>
          </a:stretch>
        </p:blipFill>
        <p:spPr>
          <a:xfrm>
            <a:off x="1377182" y="2697226"/>
            <a:ext cx="128699" cy="187198"/>
          </a:xfrm>
          <a:prstGeom prst="rect">
            <a:avLst/>
          </a:prstGeom>
        </p:spPr>
      </p:pic>
      <p:sp>
        <p:nvSpPr>
          <p:cNvPr id="281" name="TextBox 280"/>
          <p:cNvSpPr txBox="1"/>
          <p:nvPr/>
        </p:nvSpPr>
        <p:spPr>
          <a:xfrm>
            <a:off x="1544678" y="2707005"/>
            <a:ext cx="1429543" cy="186689"/>
          </a:xfrm>
          <a:prstGeom prst="rect">
            <a:avLst/>
          </a:prstGeom>
          <a:noFill/>
        </p:spPr>
        <p:txBody>
          <a:bodyPr wrap="none" lIns="0" rIns="0" tIns="0" bIns="0">
            <a:spAutoFit/>
          </a:bodyPr>
          <a:lstStyle/>
          <a:p>
            <a:r>
              <a:rPr sz="1100" b="0">
                <a:solidFill>
                  <a:srgbClr val="FFFFFF"/>
                </a:solidFill>
                <a:latin typeface="Calibri"/>
              </a:rPr>
              <a:t>US$ Mn · 2 players · avg</a:t>
            </a:r>
          </a:p>
        </p:txBody>
      </p:sp>
      <p:pic>
        <p:nvPicPr>
          <p:cNvPr id="282" name="Picture 281" descr="lock.png"/>
          <p:cNvPicPr>
            <a:picLocks noChangeAspect="1"/>
          </p:cNvPicPr>
          <p:nvPr/>
        </p:nvPicPr>
        <p:blipFill>
          <a:blip r:embed="rId4"/>
          <a:stretch>
            <a:fillRect/>
          </a:stretch>
        </p:blipFill>
        <p:spPr>
          <a:xfrm>
            <a:off x="2922273" y="2697226"/>
            <a:ext cx="128699" cy="187198"/>
          </a:xfrm>
          <a:prstGeom prst="rect">
            <a:avLst/>
          </a:prstGeom>
        </p:spPr>
      </p:pic>
      <p:sp>
        <p:nvSpPr>
          <p:cNvPr id="283" name="TextBox 282"/>
          <p:cNvSpPr txBox="1"/>
          <p:nvPr/>
        </p:nvSpPr>
        <p:spPr>
          <a:xfrm>
            <a:off x="3089769" y="270700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4" name="Picture 283" descr="lock.png"/>
          <p:cNvPicPr>
            <a:picLocks noChangeAspect="1"/>
          </p:cNvPicPr>
          <p:nvPr/>
        </p:nvPicPr>
        <p:blipFill>
          <a:blip r:embed="rId4"/>
          <a:stretch>
            <a:fillRect/>
          </a:stretch>
        </p:blipFill>
        <p:spPr>
          <a:xfrm>
            <a:off x="1377182" y="3554476"/>
            <a:ext cx="128699" cy="187198"/>
          </a:xfrm>
          <a:prstGeom prst="rect">
            <a:avLst/>
          </a:prstGeom>
        </p:spPr>
      </p:pic>
      <p:sp>
        <p:nvSpPr>
          <p:cNvPr id="285" name="TextBox 284"/>
          <p:cNvSpPr txBox="1"/>
          <p:nvPr/>
        </p:nvSpPr>
        <p:spPr>
          <a:xfrm>
            <a:off x="1544678" y="3564255"/>
            <a:ext cx="1429543" cy="186689"/>
          </a:xfrm>
          <a:prstGeom prst="rect">
            <a:avLst/>
          </a:prstGeom>
          <a:noFill/>
        </p:spPr>
        <p:txBody>
          <a:bodyPr wrap="none" lIns="0" rIns="0" tIns="0" bIns="0">
            <a:spAutoFit/>
          </a:bodyPr>
          <a:lstStyle/>
          <a:p>
            <a:r>
              <a:rPr sz="1100" b="0">
                <a:solidFill>
                  <a:srgbClr val="FFFFFF"/>
                </a:solidFill>
                <a:latin typeface="Calibri"/>
              </a:rPr>
              <a:t>US$ Mn · 2 players · avg</a:t>
            </a:r>
          </a:p>
        </p:txBody>
      </p:sp>
      <p:pic>
        <p:nvPicPr>
          <p:cNvPr id="286" name="Picture 285" descr="lock.png"/>
          <p:cNvPicPr>
            <a:picLocks noChangeAspect="1"/>
          </p:cNvPicPr>
          <p:nvPr/>
        </p:nvPicPr>
        <p:blipFill>
          <a:blip r:embed="rId4"/>
          <a:stretch>
            <a:fillRect/>
          </a:stretch>
        </p:blipFill>
        <p:spPr>
          <a:xfrm>
            <a:off x="2922273" y="3554476"/>
            <a:ext cx="128699" cy="187198"/>
          </a:xfrm>
          <a:prstGeom prst="rect">
            <a:avLst/>
          </a:prstGeom>
        </p:spPr>
      </p:pic>
      <p:sp>
        <p:nvSpPr>
          <p:cNvPr id="287" name="TextBox 286"/>
          <p:cNvSpPr txBox="1"/>
          <p:nvPr/>
        </p:nvSpPr>
        <p:spPr>
          <a:xfrm>
            <a:off x="3089769" y="35642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8" name="Picture 287" descr="lock.png"/>
          <p:cNvPicPr>
            <a:picLocks noChangeAspect="1"/>
          </p:cNvPicPr>
          <p:nvPr/>
        </p:nvPicPr>
        <p:blipFill>
          <a:blip r:embed="rId4"/>
          <a:stretch>
            <a:fillRect/>
          </a:stretch>
        </p:blipFill>
        <p:spPr>
          <a:xfrm>
            <a:off x="1377182" y="4411726"/>
            <a:ext cx="128699" cy="187198"/>
          </a:xfrm>
          <a:prstGeom prst="rect">
            <a:avLst/>
          </a:prstGeom>
        </p:spPr>
      </p:pic>
      <p:sp>
        <p:nvSpPr>
          <p:cNvPr id="289" name="TextBox 288"/>
          <p:cNvSpPr txBox="1"/>
          <p:nvPr/>
        </p:nvSpPr>
        <p:spPr>
          <a:xfrm>
            <a:off x="1544678" y="4421505"/>
            <a:ext cx="1247006" cy="186689"/>
          </a:xfrm>
          <a:prstGeom prst="rect">
            <a:avLst/>
          </a:prstGeom>
          <a:noFill/>
        </p:spPr>
        <p:txBody>
          <a:bodyPr wrap="none" lIns="0" rIns="0" tIns="0" bIns="0">
            <a:spAutoFit/>
          </a:bodyPr>
          <a:lstStyle/>
          <a:p>
            <a:r>
              <a:rPr sz="1100" b="0">
                <a:solidFill>
                  <a:srgbClr val="14213D"/>
                </a:solidFill>
                <a:latin typeface="Calibri"/>
              </a:rPr>
              <a:t>US$ Mn · – · long tail</a:t>
            </a:r>
          </a:p>
        </p:txBody>
      </p:sp>
      <p:sp>
        <p:nvSpPr>
          <p:cNvPr id="290" name="TextBox 289"/>
          <p:cNvSpPr txBox="1"/>
          <p:nvPr/>
        </p:nvSpPr>
        <p:spPr>
          <a:xfrm>
            <a:off x="1390410" y="5802630"/>
            <a:ext cx="493662" cy="186689"/>
          </a:xfrm>
          <a:prstGeom prst="rect">
            <a:avLst/>
          </a:prstGeom>
          <a:noFill/>
        </p:spPr>
        <p:txBody>
          <a:bodyPr wrap="none" lIns="0" rIns="0" tIns="0" bIns="0">
            <a:spAutoFit/>
          </a:bodyPr>
          <a:lstStyle/>
          <a:p>
            <a:r>
              <a:rPr sz="1100" b="1">
                <a:solidFill>
                  <a:srgbClr val="2E7D32"/>
                </a:solidFill>
                <a:latin typeface="Calibri"/>
              </a:rPr>
              <a:t>▲</a:t>
            </a:r>
            <a:r>
              <a:rPr sz="1100" b="1">
                <a:solidFill>
                  <a:srgbClr val="14213D"/>
                </a:solidFill>
                <a:latin typeface="Calibri"/>
              </a:rPr>
              <a:t> HHI =</a:t>
            </a:r>
          </a:p>
        </p:txBody>
      </p:sp>
      <p:pic>
        <p:nvPicPr>
          <p:cNvPr id="291" name="Picture 290" descr="lock.png"/>
          <p:cNvPicPr>
            <a:picLocks noChangeAspect="1"/>
          </p:cNvPicPr>
          <p:nvPr/>
        </p:nvPicPr>
        <p:blipFill>
          <a:blip r:embed="rId4"/>
          <a:stretch>
            <a:fillRect/>
          </a:stretch>
        </p:blipFill>
        <p:spPr>
          <a:xfrm>
            <a:off x="1832124" y="5792851"/>
            <a:ext cx="128699" cy="187198"/>
          </a:xfrm>
          <a:prstGeom prst="rect">
            <a:avLst/>
          </a:prstGeom>
        </p:spPr>
      </p:pic>
      <p:sp>
        <p:nvSpPr>
          <p:cNvPr id="292" name="TextBox 291"/>
          <p:cNvSpPr txBox="1"/>
          <p:nvPr/>
        </p:nvSpPr>
        <p:spPr>
          <a:xfrm>
            <a:off x="876202" y="6107430"/>
            <a:ext cx="400893" cy="186689"/>
          </a:xfrm>
          <a:prstGeom prst="rect">
            <a:avLst/>
          </a:prstGeom>
          <a:noFill/>
        </p:spPr>
        <p:txBody>
          <a:bodyPr wrap="none" lIns="0" rIns="0" tIns="0" bIns="0">
            <a:spAutoFit/>
          </a:bodyPr>
          <a:lstStyle/>
          <a:p>
            <a:r>
              <a:rPr sz="1100" b="1">
                <a:solidFill>
                  <a:srgbClr val="14213D"/>
                </a:solidFill>
                <a:latin typeface="Calibri"/>
              </a:rPr>
              <a:t>CR4 =</a:t>
            </a:r>
          </a:p>
        </p:txBody>
      </p:sp>
      <p:pic>
        <p:nvPicPr>
          <p:cNvPr id="293" name="Picture 292" descr="lock.png"/>
          <p:cNvPicPr>
            <a:picLocks noChangeAspect="1"/>
          </p:cNvPicPr>
          <p:nvPr/>
        </p:nvPicPr>
        <p:blipFill>
          <a:blip r:embed="rId4"/>
          <a:stretch>
            <a:fillRect/>
          </a:stretch>
        </p:blipFill>
        <p:spPr>
          <a:xfrm>
            <a:off x="1225147" y="6097651"/>
            <a:ext cx="128699" cy="187198"/>
          </a:xfrm>
          <a:prstGeom prst="rect">
            <a:avLst/>
          </a:prstGeom>
        </p:spPr>
      </p:pic>
      <p:sp>
        <p:nvSpPr>
          <p:cNvPr id="294" name="TextBox 293"/>
          <p:cNvSpPr txBox="1"/>
          <p:nvPr/>
        </p:nvSpPr>
        <p:spPr>
          <a:xfrm>
            <a:off x="1392643" y="6107430"/>
            <a:ext cx="1068288" cy="186689"/>
          </a:xfrm>
          <a:prstGeom prst="rect">
            <a:avLst/>
          </a:prstGeom>
          <a:noFill/>
        </p:spPr>
        <p:txBody>
          <a:bodyPr wrap="none" lIns="0" rIns="0" tIns="0" bIns="0">
            <a:spAutoFit/>
          </a:bodyPr>
          <a:lstStyle/>
          <a:p>
            <a:r>
              <a:rPr sz="1100" b="1">
                <a:solidFill>
                  <a:srgbClr val="14213D"/>
                </a:solidFill>
                <a:latin typeface="Calibri"/>
              </a:rPr>
              <a:t>· Tier 1 : Others =</a:t>
            </a:r>
          </a:p>
        </p:txBody>
      </p:sp>
      <p:pic>
        <p:nvPicPr>
          <p:cNvPr id="295" name="Picture 294" descr="lock.png"/>
          <p:cNvPicPr>
            <a:picLocks noChangeAspect="1"/>
          </p:cNvPicPr>
          <p:nvPr/>
        </p:nvPicPr>
        <p:blipFill>
          <a:blip r:embed="rId4"/>
          <a:stretch>
            <a:fillRect/>
          </a:stretch>
        </p:blipFill>
        <p:spPr>
          <a:xfrm>
            <a:off x="2408983" y="6097651"/>
            <a:ext cx="128699" cy="187198"/>
          </a:xfrm>
          <a:prstGeom prst="rect">
            <a:avLst/>
          </a:prstGeom>
        </p:spPr>
      </p:pic>
      <p:sp>
        <p:nvSpPr>
          <p:cNvPr id="296" name="TextBox 295"/>
          <p:cNvSpPr txBox="1"/>
          <p:nvPr/>
        </p:nvSpPr>
        <p:spPr>
          <a:xfrm>
            <a:off x="2576478" y="6107430"/>
            <a:ext cx="1397620" cy="186689"/>
          </a:xfrm>
          <a:prstGeom prst="rect">
            <a:avLst/>
          </a:prstGeom>
          <a:noFill/>
        </p:spPr>
        <p:txBody>
          <a:bodyPr wrap="none" lIns="0" rIns="0" tIns="0" bIns="0">
            <a:spAutoFit/>
          </a:bodyPr>
          <a:lstStyle/>
          <a:p>
            <a:r>
              <a:rPr sz="1100" b="1">
                <a:solidFill>
                  <a:srgbClr val="14213D"/>
                </a:solidFill>
                <a:latin typeface="Calibri"/>
              </a:rPr>
              <a:t>: 1 · Top-player share =</a:t>
            </a:r>
          </a:p>
        </p:txBody>
      </p:sp>
      <p:pic>
        <p:nvPicPr>
          <p:cNvPr id="297" name="Picture 296" descr="lock.png"/>
          <p:cNvPicPr>
            <a:picLocks noChangeAspect="1"/>
          </p:cNvPicPr>
          <p:nvPr/>
        </p:nvPicPr>
        <p:blipFill>
          <a:blip r:embed="rId4"/>
          <a:stretch>
            <a:fillRect/>
          </a:stretch>
        </p:blipFill>
        <p:spPr>
          <a:xfrm>
            <a:off x="3922150" y="6097651"/>
            <a:ext cx="128699" cy="187198"/>
          </a:xfrm>
          <a:prstGeom prst="rect">
            <a:avLst/>
          </a:prstGeom>
        </p:spPr>
      </p:pic>
      <p:sp>
        <p:nvSpPr>
          <p:cNvPr id="298" name="TextBox 297"/>
          <p:cNvSpPr txBox="1"/>
          <p:nvPr/>
        </p:nvSpPr>
        <p:spPr>
          <a:xfrm>
            <a:off x="4089646" y="6107430"/>
            <a:ext cx="1206351" cy="186689"/>
          </a:xfrm>
          <a:prstGeom prst="rect">
            <a:avLst/>
          </a:prstGeom>
          <a:noFill/>
        </p:spPr>
        <p:txBody>
          <a:bodyPr wrap="none" lIns="0" rIns="0" tIns="0" bIns="0">
            <a:spAutoFit/>
          </a:bodyPr>
          <a:lstStyle/>
          <a:p>
            <a:r>
              <a:rPr sz="1100" b="1">
                <a:solidFill>
                  <a:srgbClr val="14213D"/>
                </a:solidFill>
                <a:latin typeface="Calibri"/>
              </a:rPr>
              <a:t>· Class: Fragmented</a:t>
            </a:r>
          </a:p>
        </p:txBody>
      </p:sp>
      <p:sp>
        <p:nvSpPr>
          <p:cNvPr id="299" name="TextBox 298"/>
          <p:cNvSpPr txBox="1"/>
          <p:nvPr/>
        </p:nvSpPr>
        <p:spPr>
          <a:xfrm>
            <a:off x="6372225" y="5476875"/>
            <a:ext cx="471561" cy="186689"/>
          </a:xfrm>
          <a:prstGeom prst="rect">
            <a:avLst/>
          </a:prstGeom>
          <a:noFill/>
        </p:spPr>
        <p:txBody>
          <a:bodyPr wrap="none" lIns="0" rIns="0" tIns="0" bIns="0">
            <a:spAutoFit/>
          </a:bodyPr>
          <a:lstStyle/>
          <a:p>
            <a:r>
              <a:rPr sz="1100" b="0">
                <a:solidFill>
                  <a:srgbClr val="14213D"/>
                </a:solidFill>
                <a:latin typeface="Calibri"/>
              </a:rPr>
              <a:t>Tier 1 (</a:t>
            </a:r>
          </a:p>
        </p:txBody>
      </p:sp>
      <p:pic>
        <p:nvPicPr>
          <p:cNvPr id="300" name="Picture 299" descr="lock.png"/>
          <p:cNvPicPr>
            <a:picLocks noChangeAspect="1"/>
          </p:cNvPicPr>
          <p:nvPr/>
        </p:nvPicPr>
        <p:blipFill>
          <a:blip r:embed="rId4"/>
          <a:stretch>
            <a:fillRect/>
          </a:stretch>
        </p:blipFill>
        <p:spPr>
          <a:xfrm>
            <a:off x="6791838" y="5467095"/>
            <a:ext cx="128699" cy="187198"/>
          </a:xfrm>
          <a:prstGeom prst="rect">
            <a:avLst/>
          </a:prstGeom>
        </p:spPr>
      </p:pic>
      <p:sp>
        <p:nvSpPr>
          <p:cNvPr id="301" name="TextBox 300"/>
          <p:cNvSpPr txBox="1"/>
          <p:nvPr/>
        </p:nvSpPr>
        <p:spPr>
          <a:xfrm>
            <a:off x="6959334" y="5476875"/>
            <a:ext cx="2550145" cy="186689"/>
          </a:xfrm>
          <a:prstGeom prst="rect">
            <a:avLst/>
          </a:prstGeom>
          <a:noFill/>
        </p:spPr>
        <p:txBody>
          <a:bodyPr wrap="none" lIns="0" rIns="0" tIns="0" bIns="0">
            <a:spAutoFit/>
          </a:bodyPr>
          <a:lstStyle/>
          <a:p>
            <a:r>
              <a:rPr sz="1100" b="0">
                <a:solidFill>
                  <a:srgbClr val="14213D"/>
                </a:solidFill>
                <a:latin typeface="Calibri"/>
              </a:rPr>
              <a:t>) holds the largest single block of value on a</a:t>
            </a:r>
          </a:p>
        </p:txBody>
      </p:sp>
      <p:pic>
        <p:nvPicPr>
          <p:cNvPr id="302" name="Picture 301" descr="lock.png"/>
          <p:cNvPicPr>
            <a:picLocks noChangeAspect="1"/>
          </p:cNvPicPr>
          <p:nvPr/>
        </p:nvPicPr>
        <p:blipFill>
          <a:blip r:embed="rId4"/>
          <a:stretch>
            <a:fillRect/>
          </a:stretch>
        </p:blipFill>
        <p:spPr>
          <a:xfrm>
            <a:off x="9457531" y="5467095"/>
            <a:ext cx="128699" cy="187198"/>
          </a:xfrm>
          <a:prstGeom prst="rect">
            <a:avLst/>
          </a:prstGeom>
        </p:spPr>
      </p:pic>
      <p:sp>
        <p:nvSpPr>
          <p:cNvPr id="303" name="TextBox 302"/>
          <p:cNvSpPr txBox="1"/>
          <p:nvPr/>
        </p:nvSpPr>
        <p:spPr>
          <a:xfrm>
            <a:off x="9625026" y="5476875"/>
            <a:ext cx="1259830" cy="186689"/>
          </a:xfrm>
          <a:prstGeom prst="rect">
            <a:avLst/>
          </a:prstGeom>
          <a:noFill/>
        </p:spPr>
        <p:txBody>
          <a:bodyPr wrap="none" lIns="0" rIns="0" tIns="0" bIns="0">
            <a:spAutoFit/>
          </a:bodyPr>
          <a:lstStyle/>
          <a:p>
            <a:r>
              <a:rPr sz="1100" b="0">
                <a:solidFill>
                  <a:srgbClr val="14213D"/>
                </a:solidFill>
                <a:latin typeface="Calibri"/>
              </a:rPr>
              <a:t>US$ Mn base; CR4 of</a:t>
            </a:r>
          </a:p>
        </p:txBody>
      </p:sp>
      <p:pic>
        <p:nvPicPr>
          <p:cNvPr id="304" name="Picture 303" descr="lock.png"/>
          <p:cNvPicPr>
            <a:picLocks noChangeAspect="1"/>
          </p:cNvPicPr>
          <p:nvPr/>
        </p:nvPicPr>
        <p:blipFill>
          <a:blip r:embed="rId4"/>
          <a:stretch>
            <a:fillRect/>
          </a:stretch>
        </p:blipFill>
        <p:spPr>
          <a:xfrm>
            <a:off x="10832908" y="5467095"/>
            <a:ext cx="128699" cy="187198"/>
          </a:xfrm>
          <a:prstGeom prst="rect">
            <a:avLst/>
          </a:prstGeom>
        </p:spPr>
      </p:pic>
      <p:sp>
        <p:nvSpPr>
          <p:cNvPr id="305" name="TextBox 304"/>
          <p:cNvSpPr txBox="1"/>
          <p:nvPr/>
        </p:nvSpPr>
        <p:spPr>
          <a:xfrm>
            <a:off x="11000404" y="5476875"/>
            <a:ext cx="678656" cy="186689"/>
          </a:xfrm>
          <a:prstGeom prst="rect">
            <a:avLst/>
          </a:prstGeom>
          <a:noFill/>
        </p:spPr>
        <p:txBody>
          <a:bodyPr wrap="none" lIns="0" rIns="0" tIns="0" bIns="0">
            <a:spAutoFit/>
          </a:bodyPr>
          <a:lstStyle/>
          <a:p>
            <a:r>
              <a:rPr sz="1100" b="0">
                <a:solidFill>
                  <a:srgbClr val="14213D"/>
                </a:solidFill>
                <a:latin typeface="Calibri"/>
              </a:rPr>
              <a:t>and HHI of</a:t>
            </a:r>
          </a:p>
        </p:txBody>
      </p:sp>
      <p:pic>
        <p:nvPicPr>
          <p:cNvPr id="306" name="Picture 305" descr="lock.png"/>
          <p:cNvPicPr>
            <a:picLocks noChangeAspect="1"/>
          </p:cNvPicPr>
          <p:nvPr/>
        </p:nvPicPr>
        <p:blipFill>
          <a:blip r:embed="rId4"/>
          <a:stretch>
            <a:fillRect/>
          </a:stretch>
        </p:blipFill>
        <p:spPr>
          <a:xfrm>
            <a:off x="6358757" y="5634735"/>
            <a:ext cx="128699" cy="187198"/>
          </a:xfrm>
          <a:prstGeom prst="rect">
            <a:avLst/>
          </a:prstGeom>
        </p:spPr>
      </p:pic>
      <p:sp>
        <p:nvSpPr>
          <p:cNvPr id="307" name="TextBox 306"/>
          <p:cNvSpPr txBox="1"/>
          <p:nvPr/>
        </p:nvSpPr>
        <p:spPr>
          <a:xfrm>
            <a:off x="6526253" y="5644515"/>
            <a:ext cx="2030635" cy="186689"/>
          </a:xfrm>
          <a:prstGeom prst="rect">
            <a:avLst/>
          </a:prstGeom>
          <a:noFill/>
        </p:spPr>
        <p:txBody>
          <a:bodyPr wrap="none" lIns="0" rIns="0" tIns="0" bIns="0">
            <a:spAutoFit/>
          </a:bodyPr>
          <a:lstStyle/>
          <a:p>
            <a:r>
              <a:rPr sz="1100" b="0">
                <a:solidFill>
                  <a:srgbClr val="14213D"/>
                </a:solidFill>
                <a:latin typeface="Calibri"/>
              </a:rPr>
              <a:t>classify the market as fragmented.</a:t>
            </a:r>
          </a:p>
        </p:txBody>
      </p:sp>
      <p:sp>
        <p:nvSpPr>
          <p:cNvPr id="308" name="TextBox 307"/>
          <p:cNvSpPr txBox="1"/>
          <p:nvPr/>
        </p:nvSpPr>
        <p:spPr>
          <a:xfrm>
            <a:off x="6372225" y="5857875"/>
            <a:ext cx="1331044" cy="186689"/>
          </a:xfrm>
          <a:prstGeom prst="rect">
            <a:avLst/>
          </a:prstGeom>
          <a:noFill/>
        </p:spPr>
        <p:txBody>
          <a:bodyPr wrap="none" lIns="0" rIns="0" tIns="0" bIns="0">
            <a:spAutoFit/>
          </a:bodyPr>
          <a:lstStyle/>
          <a:p>
            <a:r>
              <a:rPr sz="1100" b="0">
                <a:solidFill>
                  <a:srgbClr val="14213D"/>
                </a:solidFill>
                <a:latin typeface="Calibri"/>
              </a:rPr>
              <a:t>Tier 2 grows fastest at</a:t>
            </a:r>
          </a:p>
        </p:txBody>
      </p:sp>
      <p:pic>
        <p:nvPicPr>
          <p:cNvPr id="309" name="Picture 308" descr="lock.png"/>
          <p:cNvPicPr>
            <a:picLocks noChangeAspect="1"/>
          </p:cNvPicPr>
          <p:nvPr/>
        </p:nvPicPr>
        <p:blipFill>
          <a:blip r:embed="rId4"/>
          <a:stretch>
            <a:fillRect/>
          </a:stretch>
        </p:blipFill>
        <p:spPr>
          <a:xfrm>
            <a:off x="7651320" y="5848095"/>
            <a:ext cx="128699" cy="187198"/>
          </a:xfrm>
          <a:prstGeom prst="rect">
            <a:avLst/>
          </a:prstGeom>
        </p:spPr>
      </p:pic>
      <p:sp>
        <p:nvSpPr>
          <p:cNvPr id="310" name="TextBox 309"/>
          <p:cNvSpPr txBox="1"/>
          <p:nvPr/>
        </p:nvSpPr>
        <p:spPr>
          <a:xfrm>
            <a:off x="7818816" y="5857875"/>
            <a:ext cx="982868" cy="186689"/>
          </a:xfrm>
          <a:prstGeom prst="rect">
            <a:avLst/>
          </a:prstGeom>
          <a:noFill/>
        </p:spPr>
        <p:txBody>
          <a:bodyPr wrap="none" lIns="0" rIns="0" tIns="0" bIns="0">
            <a:spAutoFit/>
          </a:bodyPr>
          <a:lstStyle/>
          <a:p>
            <a:r>
              <a:rPr sz="1100" b="0">
                <a:solidFill>
                  <a:srgbClr val="14213D"/>
                </a:solidFill>
                <a:latin typeface="Calibri"/>
              </a:rPr>
              <a:t>CAGR, moving +</a:t>
            </a:r>
          </a:p>
        </p:txBody>
      </p:sp>
      <p:pic>
        <p:nvPicPr>
          <p:cNvPr id="311" name="Picture 310" descr="lock.png"/>
          <p:cNvPicPr>
            <a:picLocks noChangeAspect="1"/>
          </p:cNvPicPr>
          <p:nvPr/>
        </p:nvPicPr>
        <p:blipFill>
          <a:blip r:embed="rId4"/>
          <a:stretch>
            <a:fillRect/>
          </a:stretch>
        </p:blipFill>
        <p:spPr>
          <a:xfrm>
            <a:off x="8749737" y="5848095"/>
            <a:ext cx="128699" cy="187198"/>
          </a:xfrm>
          <a:prstGeom prst="rect">
            <a:avLst/>
          </a:prstGeom>
        </p:spPr>
      </p:pic>
      <p:sp>
        <p:nvSpPr>
          <p:cNvPr id="312" name="TextBox 311"/>
          <p:cNvSpPr txBox="1"/>
          <p:nvPr/>
        </p:nvSpPr>
        <p:spPr>
          <a:xfrm>
            <a:off x="8917232" y="5857875"/>
            <a:ext cx="1234727" cy="186689"/>
          </a:xfrm>
          <a:prstGeom prst="rect">
            <a:avLst/>
          </a:prstGeom>
          <a:noFill/>
        </p:spPr>
        <p:txBody>
          <a:bodyPr wrap="none" lIns="0" rIns="0" tIns="0" bIns="0">
            <a:spAutoFit/>
          </a:bodyPr>
          <a:lstStyle/>
          <a:p>
            <a:r>
              <a:rPr sz="1100" b="0">
                <a:solidFill>
                  <a:srgbClr val="14213D"/>
                </a:solidFill>
                <a:latin typeface="Calibri"/>
              </a:rPr>
              <a:t>pp of share by 2036.</a:t>
            </a:r>
          </a:p>
        </p:txBody>
      </p:sp>
      <p:sp>
        <p:nvSpPr>
          <p:cNvPr id="313" name="TextBox 312"/>
          <p:cNvSpPr txBox="1"/>
          <p:nvPr/>
        </p:nvSpPr>
        <p:spPr>
          <a:xfrm>
            <a:off x="6372225" y="6076950"/>
            <a:ext cx="2161604" cy="186689"/>
          </a:xfrm>
          <a:prstGeom prst="rect">
            <a:avLst/>
          </a:prstGeom>
          <a:noFill/>
        </p:spPr>
        <p:txBody>
          <a:bodyPr wrap="none" lIns="0" rIns="0" tIns="0" bIns="0">
            <a:spAutoFit/>
          </a:bodyPr>
          <a:lstStyle/>
          <a:p>
            <a:r>
              <a:rPr sz="1100" b="0">
                <a:solidFill>
                  <a:srgbClr val="14213D"/>
                </a:solidFill>
                <a:latin typeface="Calibri"/>
              </a:rPr>
              <a:t>Tier 3 and the long tail together hold</a:t>
            </a:r>
          </a:p>
        </p:txBody>
      </p:sp>
      <p:pic>
        <p:nvPicPr>
          <p:cNvPr id="314" name="Picture 313" descr="lock.png"/>
          <p:cNvPicPr>
            <a:picLocks noChangeAspect="1"/>
          </p:cNvPicPr>
          <p:nvPr/>
        </p:nvPicPr>
        <p:blipFill>
          <a:blip r:embed="rId4"/>
          <a:stretch>
            <a:fillRect/>
          </a:stretch>
        </p:blipFill>
        <p:spPr>
          <a:xfrm>
            <a:off x="8481881" y="6067170"/>
            <a:ext cx="128699" cy="187198"/>
          </a:xfrm>
          <a:prstGeom prst="rect">
            <a:avLst/>
          </a:prstGeom>
        </p:spPr>
      </p:pic>
      <p:sp>
        <p:nvSpPr>
          <p:cNvPr id="315" name="TextBox 314"/>
          <p:cNvSpPr txBox="1"/>
          <p:nvPr/>
        </p:nvSpPr>
        <p:spPr>
          <a:xfrm>
            <a:off x="8649376" y="6076950"/>
            <a:ext cx="2127498" cy="186689"/>
          </a:xfrm>
          <a:prstGeom prst="rect">
            <a:avLst/>
          </a:prstGeom>
          <a:noFill/>
        </p:spPr>
        <p:txBody>
          <a:bodyPr wrap="none" lIns="0" rIns="0" tIns="0" bIns="0">
            <a:spAutoFit/>
          </a:bodyPr>
          <a:lstStyle/>
          <a:p>
            <a:r>
              <a:rPr sz="1100" b="0">
                <a:solidFill>
                  <a:srgbClr val="14213D"/>
                </a:solidFill>
                <a:latin typeface="Calibri"/>
              </a:rPr>
              <a:t>of value; the average Tier 3 player is</a:t>
            </a:r>
          </a:p>
        </p:txBody>
      </p:sp>
      <p:pic>
        <p:nvPicPr>
          <p:cNvPr id="316" name="Picture 315" descr="lock.png"/>
          <p:cNvPicPr>
            <a:picLocks noChangeAspect="1"/>
          </p:cNvPicPr>
          <p:nvPr/>
        </p:nvPicPr>
        <p:blipFill>
          <a:blip r:embed="rId4"/>
          <a:stretch>
            <a:fillRect/>
          </a:stretch>
        </p:blipFill>
        <p:spPr>
          <a:xfrm>
            <a:off x="10724926" y="6067170"/>
            <a:ext cx="128699" cy="187198"/>
          </a:xfrm>
          <a:prstGeom prst="rect">
            <a:avLst/>
          </a:prstGeom>
        </p:spPr>
      </p:pic>
      <p:sp>
        <p:nvSpPr>
          <p:cNvPr id="317" name="TextBox 316"/>
          <p:cNvSpPr txBox="1"/>
          <p:nvPr/>
        </p:nvSpPr>
        <p:spPr>
          <a:xfrm>
            <a:off x="10892422" y="6076950"/>
            <a:ext cx="876473" cy="186689"/>
          </a:xfrm>
          <a:prstGeom prst="rect">
            <a:avLst/>
          </a:prstGeom>
          <a:noFill/>
        </p:spPr>
        <p:txBody>
          <a:bodyPr wrap="none" lIns="0" rIns="0" tIns="0" bIns="0">
            <a:spAutoFit/>
          </a:bodyPr>
          <a:lstStyle/>
          <a:p>
            <a:r>
              <a:rPr sz="1100" b="0">
                <a:solidFill>
                  <a:srgbClr val="14213D"/>
                </a:solidFill>
                <a:latin typeface="Calibri"/>
              </a:rPr>
              <a:t>x smaller than</a:t>
            </a:r>
          </a:p>
        </p:txBody>
      </p:sp>
      <p:sp>
        <p:nvSpPr>
          <p:cNvPr id="318" name="TextBox 317"/>
          <p:cNvSpPr txBox="1"/>
          <p:nvPr/>
        </p:nvSpPr>
        <p:spPr>
          <a:xfrm>
            <a:off x="6372225" y="6244590"/>
            <a:ext cx="1020539" cy="186689"/>
          </a:xfrm>
          <a:prstGeom prst="rect">
            <a:avLst/>
          </a:prstGeom>
          <a:noFill/>
        </p:spPr>
        <p:txBody>
          <a:bodyPr wrap="none" lIns="0" rIns="0" tIns="0" bIns="0">
            <a:spAutoFit/>
          </a:bodyPr>
          <a:lstStyle/>
          <a:p>
            <a:r>
              <a:rPr sz="1100" b="0">
                <a:solidFill>
                  <a:srgbClr val="14213D"/>
                </a:solidFill>
                <a:latin typeface="Calibri"/>
              </a:rPr>
              <a:t>a Tier 1 supplier.</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Removable Partial Dentures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Structure broadly stable</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Technology substitution (4 / 5) and buyer power (3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31" name="Picture 130" descr="lock.png"/>
          <p:cNvPicPr>
            <a:picLocks noChangeAspect="1"/>
          </p:cNvPicPr>
          <p:nvPr/>
        </p:nvPicPr>
        <p:blipFill>
          <a:blip r:embed="rId4"/>
          <a:stretch>
            <a:fillRect/>
          </a:stretch>
        </p:blipFill>
        <p:spPr>
          <a:xfrm>
            <a:off x="604726" y="2545080"/>
            <a:ext cx="257397" cy="374396"/>
          </a:xfrm>
          <a:prstGeom prst="rect">
            <a:avLst/>
          </a:prstGeom>
        </p:spPr>
      </p:pic>
      <p:pic>
        <p:nvPicPr>
          <p:cNvPr id="132" name="Picture 131" descr="lock.png"/>
          <p:cNvPicPr>
            <a:picLocks noChangeAspect="1"/>
          </p:cNvPicPr>
          <p:nvPr/>
        </p:nvPicPr>
        <p:blipFill>
          <a:blip r:embed="rId4"/>
          <a:stretch>
            <a:fillRect/>
          </a:stretch>
        </p:blipFill>
        <p:spPr>
          <a:xfrm>
            <a:off x="3557476" y="2545080"/>
            <a:ext cx="257397" cy="374396"/>
          </a:xfrm>
          <a:prstGeom prst="rect">
            <a:avLst/>
          </a:prstGeom>
        </p:spPr>
      </p:pic>
      <p:pic>
        <p:nvPicPr>
          <p:cNvPr id="133" name="Picture 132" descr="lock.png"/>
          <p:cNvPicPr>
            <a:picLocks noChangeAspect="1"/>
          </p:cNvPicPr>
          <p:nvPr/>
        </p:nvPicPr>
        <p:blipFill>
          <a:blip r:embed="rId4"/>
          <a:stretch>
            <a:fillRect/>
          </a:stretch>
        </p:blipFill>
        <p:spPr>
          <a:xfrm>
            <a:off x="6510226" y="2545080"/>
            <a:ext cx="257397" cy="374396"/>
          </a:xfrm>
          <a:prstGeom prst="rect">
            <a:avLst/>
          </a:prstGeom>
        </p:spPr>
      </p:pic>
      <p:pic>
        <p:nvPicPr>
          <p:cNvPr id="134" name="Picture 133" descr="lock.png"/>
          <p:cNvPicPr>
            <a:picLocks noChangeAspect="1"/>
          </p:cNvPicPr>
          <p:nvPr/>
        </p:nvPicPr>
        <p:blipFill>
          <a:blip r:embed="rId4"/>
          <a:stretch>
            <a:fillRect/>
          </a:stretch>
        </p:blipFill>
        <p:spPr>
          <a:xfrm>
            <a:off x="9462976" y="2545080"/>
            <a:ext cx="257397" cy="374396"/>
          </a:xfrm>
          <a:prstGeom prst="rect">
            <a:avLst/>
          </a:prstGeom>
        </p:spPr>
      </p:pic>
      <p:pic>
        <p:nvPicPr>
          <p:cNvPr id="135" name="Picture 134" descr="lock.png"/>
          <p:cNvPicPr>
            <a:picLocks noChangeAspect="1"/>
          </p:cNvPicPr>
          <p:nvPr/>
        </p:nvPicPr>
        <p:blipFill>
          <a:blip r:embed="rId4"/>
          <a:stretch>
            <a:fillRect/>
          </a:stretch>
        </p:blipFill>
        <p:spPr>
          <a:xfrm>
            <a:off x="4279050" y="4225988"/>
            <a:ext cx="128699" cy="187198"/>
          </a:xfrm>
          <a:prstGeom prst="rect">
            <a:avLst/>
          </a:prstGeom>
        </p:spPr>
      </p:pic>
      <p:pic>
        <p:nvPicPr>
          <p:cNvPr id="136" name="Picture 135" descr="lock.png"/>
          <p:cNvPicPr>
            <a:picLocks noChangeAspect="1"/>
          </p:cNvPicPr>
          <p:nvPr/>
        </p:nvPicPr>
        <p:blipFill>
          <a:blip r:embed="rId4"/>
          <a:stretch>
            <a:fillRect/>
          </a:stretch>
        </p:blipFill>
        <p:spPr>
          <a:xfrm>
            <a:off x="4279050" y="4635563"/>
            <a:ext cx="128699" cy="187198"/>
          </a:xfrm>
          <a:prstGeom prst="rect">
            <a:avLst/>
          </a:prstGeom>
        </p:spPr>
      </p:pic>
      <p:pic>
        <p:nvPicPr>
          <p:cNvPr id="137" name="Picture 136" descr="lock.png"/>
          <p:cNvPicPr>
            <a:picLocks noChangeAspect="1"/>
          </p:cNvPicPr>
          <p:nvPr/>
        </p:nvPicPr>
        <p:blipFill>
          <a:blip r:embed="rId4"/>
          <a:stretch>
            <a:fillRect/>
          </a:stretch>
        </p:blipFill>
        <p:spPr>
          <a:xfrm>
            <a:off x="4279050" y="5045138"/>
            <a:ext cx="128699" cy="187198"/>
          </a:xfrm>
          <a:prstGeom prst="rect">
            <a:avLst/>
          </a:prstGeom>
        </p:spPr>
      </p:pic>
      <p:pic>
        <p:nvPicPr>
          <p:cNvPr id="138" name="Picture 137" descr="lock.png"/>
          <p:cNvPicPr>
            <a:picLocks noChangeAspect="1"/>
          </p:cNvPicPr>
          <p:nvPr/>
        </p:nvPicPr>
        <p:blipFill>
          <a:blip r:embed="rId4"/>
          <a:stretch>
            <a:fillRect/>
          </a:stretch>
        </p:blipFill>
        <p:spPr>
          <a:xfrm>
            <a:off x="4279050" y="5454713"/>
            <a:ext cx="128699" cy="187198"/>
          </a:xfrm>
          <a:prstGeom prst="rect">
            <a:avLst/>
          </a:prstGeom>
        </p:spPr>
      </p:pic>
      <p:pic>
        <p:nvPicPr>
          <p:cNvPr id="139" name="Picture 138" descr="lock.png"/>
          <p:cNvPicPr>
            <a:picLocks noChangeAspect="1"/>
          </p:cNvPicPr>
          <p:nvPr/>
        </p:nvPicPr>
        <p:blipFill>
          <a:blip r:embed="rId4"/>
          <a:stretch>
            <a:fillRect/>
          </a:stretch>
        </p:blipFill>
        <p:spPr>
          <a:xfrm>
            <a:off x="4279050" y="5864288"/>
            <a:ext cx="128699" cy="187198"/>
          </a:xfrm>
          <a:prstGeom prst="rect">
            <a:avLst/>
          </a:prstGeom>
        </p:spPr>
      </p:pic>
      <p:pic>
        <p:nvPicPr>
          <p:cNvPr id="140" name="Picture 139" descr="lock.png"/>
          <p:cNvPicPr>
            <a:picLocks noChangeAspect="1"/>
          </p:cNvPicPr>
          <p:nvPr/>
        </p:nvPicPr>
        <p:blipFill>
          <a:blip r:embed="rId4"/>
          <a:stretch>
            <a:fillRect/>
          </a:stretch>
        </p:blipFill>
        <p:spPr>
          <a:xfrm>
            <a:off x="4279050" y="6273863"/>
            <a:ext cx="128699" cy="187198"/>
          </a:xfrm>
          <a:prstGeom prst="rect">
            <a:avLst/>
          </a:prstGeom>
        </p:spPr>
      </p:pic>
      <p:sp>
        <p:nvSpPr>
          <p:cNvPr id="141" name="TextBox 140"/>
          <p:cNvSpPr txBox="1"/>
          <p:nvPr/>
        </p:nvSpPr>
        <p:spPr>
          <a:xfrm>
            <a:off x="547018" y="1870710"/>
            <a:ext cx="929133" cy="186689"/>
          </a:xfrm>
          <a:prstGeom prst="rect">
            <a:avLst/>
          </a:prstGeom>
          <a:noFill/>
        </p:spPr>
        <p:txBody>
          <a:bodyPr wrap="none" lIns="0" rIns="0" tIns="0" bIns="0">
            <a:spAutoFit/>
          </a:bodyPr>
          <a:lstStyle/>
          <a:p>
            <a:r>
              <a:rPr sz="1100" b="1">
                <a:solidFill>
                  <a:srgbClr val="FFFFFF"/>
                </a:solidFill>
                <a:latin typeface="Calibri"/>
              </a:rPr>
              <a:t>4 → 5 players ·</a:t>
            </a:r>
          </a:p>
        </p:txBody>
      </p:sp>
      <p:pic>
        <p:nvPicPr>
          <p:cNvPr id="142" name="Picture 141" descr="lock.png"/>
          <p:cNvPicPr>
            <a:picLocks noChangeAspect="1"/>
          </p:cNvPicPr>
          <p:nvPr/>
        </p:nvPicPr>
        <p:blipFill>
          <a:blip r:embed="rId4"/>
          <a:stretch>
            <a:fillRect/>
          </a:stretch>
        </p:blipFill>
        <p:spPr>
          <a:xfrm>
            <a:off x="1424204" y="1860931"/>
            <a:ext cx="128699" cy="187198"/>
          </a:xfrm>
          <a:prstGeom prst="rect">
            <a:avLst/>
          </a:prstGeom>
        </p:spPr>
      </p:pic>
      <p:sp>
        <p:nvSpPr>
          <p:cNvPr id="143" name="TextBox 142"/>
          <p:cNvSpPr txBox="1"/>
          <p:nvPr/>
        </p:nvSpPr>
        <p:spPr>
          <a:xfrm>
            <a:off x="15916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4" name="Picture 143" descr="lock.png"/>
          <p:cNvPicPr>
            <a:picLocks noChangeAspect="1"/>
          </p:cNvPicPr>
          <p:nvPr/>
        </p:nvPicPr>
        <p:blipFill>
          <a:blip r:embed="rId4"/>
          <a:stretch>
            <a:fillRect/>
          </a:stretch>
        </p:blipFill>
        <p:spPr>
          <a:xfrm>
            <a:off x="1742554" y="1860931"/>
            <a:ext cx="128699" cy="187198"/>
          </a:xfrm>
          <a:prstGeom prst="rect">
            <a:avLst/>
          </a:prstGeom>
        </p:spPr>
      </p:pic>
      <p:sp>
        <p:nvSpPr>
          <p:cNvPr id="145" name="TextBox 144"/>
          <p:cNvSpPr txBox="1"/>
          <p:nvPr/>
        </p:nvSpPr>
        <p:spPr>
          <a:xfrm>
            <a:off x="10497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6" name="TextBox 145"/>
          <p:cNvSpPr txBox="1"/>
          <p:nvPr/>
        </p:nvSpPr>
        <p:spPr>
          <a:xfrm>
            <a:off x="3804568" y="1870710"/>
            <a:ext cx="929133" cy="186689"/>
          </a:xfrm>
          <a:prstGeom prst="rect">
            <a:avLst/>
          </a:prstGeom>
          <a:noFill/>
        </p:spPr>
        <p:txBody>
          <a:bodyPr wrap="none" lIns="0" rIns="0" tIns="0" bIns="0">
            <a:spAutoFit/>
          </a:bodyPr>
          <a:lstStyle/>
          <a:p>
            <a:r>
              <a:rPr sz="1100" b="1">
                <a:solidFill>
                  <a:srgbClr val="FFFFFF"/>
                </a:solidFill>
                <a:latin typeface="Calibri"/>
              </a:rPr>
              <a:t>2 → 2 players ·</a:t>
            </a:r>
          </a:p>
        </p:txBody>
      </p:sp>
      <p:pic>
        <p:nvPicPr>
          <p:cNvPr id="147" name="Picture 146" descr="lock.png"/>
          <p:cNvPicPr>
            <a:picLocks noChangeAspect="1"/>
          </p:cNvPicPr>
          <p:nvPr/>
        </p:nvPicPr>
        <p:blipFill>
          <a:blip r:embed="rId4"/>
          <a:stretch>
            <a:fillRect/>
          </a:stretch>
        </p:blipFill>
        <p:spPr>
          <a:xfrm>
            <a:off x="4681754" y="1860931"/>
            <a:ext cx="128699" cy="187198"/>
          </a:xfrm>
          <a:prstGeom prst="rect">
            <a:avLst/>
          </a:prstGeom>
        </p:spPr>
      </p:pic>
      <p:sp>
        <p:nvSpPr>
          <p:cNvPr id="148" name="TextBox 147"/>
          <p:cNvSpPr txBox="1"/>
          <p:nvPr/>
        </p:nvSpPr>
        <p:spPr>
          <a:xfrm>
            <a:off x="484924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9" name="Picture 148" descr="lock.png"/>
          <p:cNvPicPr>
            <a:picLocks noChangeAspect="1"/>
          </p:cNvPicPr>
          <p:nvPr/>
        </p:nvPicPr>
        <p:blipFill>
          <a:blip r:embed="rId4"/>
          <a:stretch>
            <a:fillRect/>
          </a:stretch>
        </p:blipFill>
        <p:spPr>
          <a:xfrm>
            <a:off x="5000104" y="1860931"/>
            <a:ext cx="128699" cy="187198"/>
          </a:xfrm>
          <a:prstGeom prst="rect">
            <a:avLst/>
          </a:prstGeom>
        </p:spPr>
      </p:pic>
      <p:sp>
        <p:nvSpPr>
          <p:cNvPr id="150" name="TextBox 149"/>
          <p:cNvSpPr txBox="1"/>
          <p:nvPr/>
        </p:nvSpPr>
        <p:spPr>
          <a:xfrm>
            <a:off x="430733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1" name="TextBox 150"/>
          <p:cNvSpPr txBox="1"/>
          <p:nvPr/>
        </p:nvSpPr>
        <p:spPr>
          <a:xfrm>
            <a:off x="7062118" y="1870710"/>
            <a:ext cx="929133" cy="186689"/>
          </a:xfrm>
          <a:prstGeom prst="rect">
            <a:avLst/>
          </a:prstGeom>
          <a:noFill/>
        </p:spPr>
        <p:txBody>
          <a:bodyPr wrap="none" lIns="0" rIns="0" tIns="0" bIns="0">
            <a:spAutoFit/>
          </a:bodyPr>
          <a:lstStyle/>
          <a:p>
            <a:r>
              <a:rPr sz="1100" b="1">
                <a:solidFill>
                  <a:srgbClr val="FFFFFF"/>
                </a:solidFill>
                <a:latin typeface="Calibri"/>
              </a:rPr>
              <a:t>2 → 2 players ·</a:t>
            </a:r>
          </a:p>
        </p:txBody>
      </p:sp>
      <p:pic>
        <p:nvPicPr>
          <p:cNvPr id="152" name="Picture 151" descr="lock.png"/>
          <p:cNvPicPr>
            <a:picLocks noChangeAspect="1"/>
          </p:cNvPicPr>
          <p:nvPr/>
        </p:nvPicPr>
        <p:blipFill>
          <a:blip r:embed="rId4"/>
          <a:stretch>
            <a:fillRect/>
          </a:stretch>
        </p:blipFill>
        <p:spPr>
          <a:xfrm>
            <a:off x="7939304" y="1860931"/>
            <a:ext cx="128699" cy="187198"/>
          </a:xfrm>
          <a:prstGeom prst="rect">
            <a:avLst/>
          </a:prstGeom>
        </p:spPr>
      </p:pic>
      <p:sp>
        <p:nvSpPr>
          <p:cNvPr id="153" name="TextBox 152"/>
          <p:cNvSpPr txBox="1"/>
          <p:nvPr/>
        </p:nvSpPr>
        <p:spPr>
          <a:xfrm>
            <a:off x="81067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54" name="Picture 153" descr="lock.png"/>
          <p:cNvPicPr>
            <a:picLocks noChangeAspect="1"/>
          </p:cNvPicPr>
          <p:nvPr/>
        </p:nvPicPr>
        <p:blipFill>
          <a:blip r:embed="rId4"/>
          <a:stretch>
            <a:fillRect/>
          </a:stretch>
        </p:blipFill>
        <p:spPr>
          <a:xfrm>
            <a:off x="8257654" y="1860931"/>
            <a:ext cx="128699" cy="187198"/>
          </a:xfrm>
          <a:prstGeom prst="rect">
            <a:avLst/>
          </a:prstGeom>
        </p:spPr>
      </p:pic>
      <p:sp>
        <p:nvSpPr>
          <p:cNvPr id="155" name="TextBox 154"/>
          <p:cNvSpPr txBox="1"/>
          <p:nvPr/>
        </p:nvSpPr>
        <p:spPr>
          <a:xfrm>
            <a:off x="75648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6" name="TextBox 155"/>
          <p:cNvSpPr txBox="1"/>
          <p:nvPr/>
        </p:nvSpPr>
        <p:spPr>
          <a:xfrm>
            <a:off x="10286075" y="1954530"/>
            <a:ext cx="638819" cy="186689"/>
          </a:xfrm>
          <a:prstGeom prst="rect">
            <a:avLst/>
          </a:prstGeom>
          <a:noFill/>
        </p:spPr>
        <p:txBody>
          <a:bodyPr wrap="none" lIns="0" rIns="0" tIns="0" bIns="0">
            <a:spAutoFit/>
          </a:bodyPr>
          <a:lstStyle/>
          <a:p>
            <a:r>
              <a:rPr sz="1100" b="1">
                <a:solidFill>
                  <a:srgbClr val="14213D"/>
                </a:solidFill>
                <a:latin typeface="Calibri"/>
              </a:rPr>
              <a:t>Long tail ·</a:t>
            </a:r>
          </a:p>
        </p:txBody>
      </p:sp>
      <p:pic>
        <p:nvPicPr>
          <p:cNvPr id="157" name="Picture 156" descr="lock.png"/>
          <p:cNvPicPr>
            <a:picLocks noChangeAspect="1"/>
          </p:cNvPicPr>
          <p:nvPr/>
        </p:nvPicPr>
        <p:blipFill>
          <a:blip r:embed="rId4"/>
          <a:stretch>
            <a:fillRect/>
          </a:stretch>
        </p:blipFill>
        <p:spPr>
          <a:xfrm>
            <a:off x="10872946" y="1944751"/>
            <a:ext cx="128699" cy="187198"/>
          </a:xfrm>
          <a:prstGeom prst="rect">
            <a:avLst/>
          </a:prstGeom>
        </p:spPr>
      </p:pic>
      <p:sp>
        <p:nvSpPr>
          <p:cNvPr id="158" name="TextBox 157"/>
          <p:cNvSpPr txBox="1"/>
          <p:nvPr/>
        </p:nvSpPr>
        <p:spPr>
          <a:xfrm>
            <a:off x="11040442" y="1954530"/>
            <a:ext cx="202803" cy="186689"/>
          </a:xfrm>
          <a:prstGeom prst="rect">
            <a:avLst/>
          </a:prstGeom>
          <a:noFill/>
        </p:spPr>
        <p:txBody>
          <a:bodyPr wrap="none" lIns="0" rIns="0" tIns="0" bIns="0">
            <a:spAutoFit/>
          </a:bodyPr>
          <a:lstStyle/>
          <a:p>
            <a:r>
              <a:rPr sz="1100" b="1">
                <a:solidFill>
                  <a:srgbClr val="14213D"/>
                </a:solidFill>
                <a:latin typeface="Calibri"/>
              </a:rPr>
              <a:t>→</a:t>
            </a:r>
          </a:p>
        </p:txBody>
      </p:sp>
      <p:pic>
        <p:nvPicPr>
          <p:cNvPr id="159" name="Picture 158" descr="lock.png"/>
          <p:cNvPicPr>
            <a:picLocks noChangeAspect="1"/>
          </p:cNvPicPr>
          <p:nvPr/>
        </p:nvPicPr>
        <p:blipFill>
          <a:blip r:embed="rId4"/>
          <a:stretch>
            <a:fillRect/>
          </a:stretch>
        </p:blipFill>
        <p:spPr>
          <a:xfrm>
            <a:off x="11191297" y="1944751"/>
            <a:ext cx="128699" cy="187198"/>
          </a:xfrm>
          <a:prstGeom prst="rect">
            <a:avLst/>
          </a:prstGeom>
        </p:spPr>
      </p:pic>
      <p:sp>
        <p:nvSpPr>
          <p:cNvPr id="160" name="TextBox 159"/>
          <p:cNvSpPr txBox="1"/>
          <p:nvPr/>
        </p:nvSpPr>
        <p:spPr>
          <a:xfrm>
            <a:off x="11358792" y="1954530"/>
            <a:ext cx="395982" cy="186689"/>
          </a:xfrm>
          <a:prstGeom prst="rect">
            <a:avLst/>
          </a:prstGeom>
          <a:noFill/>
        </p:spPr>
        <p:txBody>
          <a:bodyPr wrap="none" lIns="0" rIns="0" tIns="0" bIns="0">
            <a:spAutoFit/>
          </a:bodyPr>
          <a:lstStyle/>
          <a:p>
            <a:r>
              <a:rPr sz="1100" b="1">
                <a:solidFill>
                  <a:srgbClr val="14213D"/>
                </a:solidFill>
                <a:latin typeface="Calibri"/>
              </a:rPr>
              <a:t>share</a:t>
            </a:r>
          </a:p>
        </p:txBody>
      </p:sp>
      <p:sp>
        <p:nvSpPr>
          <p:cNvPr id="161" name="TextBox 160"/>
          <p:cNvSpPr txBox="1"/>
          <p:nvPr/>
        </p:nvSpPr>
        <p:spPr>
          <a:xfrm>
            <a:off x="7658100" y="3857625"/>
            <a:ext cx="1828179" cy="186689"/>
          </a:xfrm>
          <a:prstGeom prst="rect">
            <a:avLst/>
          </a:prstGeom>
          <a:noFill/>
        </p:spPr>
        <p:txBody>
          <a:bodyPr wrap="none" lIns="0" rIns="0" tIns="0" bIns="0">
            <a:spAutoFit/>
          </a:bodyPr>
          <a:lstStyle/>
          <a:p>
            <a:r>
              <a:rPr sz="1100" b="0">
                <a:solidFill>
                  <a:srgbClr val="14213D"/>
                </a:solidFill>
                <a:latin typeface="Calibri"/>
              </a:rPr>
              <a:t>The market is fragmented (HHI</a:t>
            </a:r>
          </a:p>
        </p:txBody>
      </p:sp>
      <p:pic>
        <p:nvPicPr>
          <p:cNvPr id="162" name="Picture 161" descr="lock.png"/>
          <p:cNvPicPr>
            <a:picLocks noChangeAspect="1"/>
          </p:cNvPicPr>
          <p:nvPr/>
        </p:nvPicPr>
        <p:blipFill>
          <a:blip r:embed="rId4"/>
          <a:stretch>
            <a:fillRect/>
          </a:stretch>
        </p:blipFill>
        <p:spPr>
          <a:xfrm>
            <a:off x="9434331" y="3847846"/>
            <a:ext cx="128699" cy="187198"/>
          </a:xfrm>
          <a:prstGeom prst="rect">
            <a:avLst/>
          </a:prstGeom>
        </p:spPr>
      </p:pic>
      <p:sp>
        <p:nvSpPr>
          <p:cNvPr id="163" name="TextBox 162"/>
          <p:cNvSpPr txBox="1"/>
          <p:nvPr/>
        </p:nvSpPr>
        <p:spPr>
          <a:xfrm>
            <a:off x="9601827" y="3857625"/>
            <a:ext cx="2068562" cy="186689"/>
          </a:xfrm>
          <a:prstGeom prst="rect">
            <a:avLst/>
          </a:prstGeom>
          <a:noFill/>
        </p:spPr>
        <p:txBody>
          <a:bodyPr wrap="none" lIns="0" rIns="0" tIns="0" bIns="0">
            <a:spAutoFit/>
          </a:bodyPr>
          <a:lstStyle/>
          <a:p>
            <a:r>
              <a:rPr sz="1100" b="0">
                <a:solidFill>
                  <a:srgbClr val="14213D"/>
                </a:solidFill>
                <a:latin typeface="Calibri"/>
              </a:rPr>
              <a:t>); Tier 1 sets pricing and innovation</a:t>
            </a:r>
          </a:p>
        </p:txBody>
      </p:sp>
      <p:sp>
        <p:nvSpPr>
          <p:cNvPr id="164" name="TextBox 163"/>
          <p:cNvSpPr txBox="1"/>
          <p:nvPr/>
        </p:nvSpPr>
        <p:spPr>
          <a:xfrm>
            <a:off x="7658100" y="4025265"/>
            <a:ext cx="2124769" cy="186689"/>
          </a:xfrm>
          <a:prstGeom prst="rect">
            <a:avLst/>
          </a:prstGeom>
          <a:noFill/>
        </p:spPr>
        <p:txBody>
          <a:bodyPr wrap="none" lIns="0" rIns="0" tIns="0" bIns="0">
            <a:spAutoFit/>
          </a:bodyPr>
          <a:lstStyle/>
          <a:p>
            <a:r>
              <a:rPr sz="1100" b="0">
                <a:solidFill>
                  <a:srgbClr val="14213D"/>
                </a:solidFill>
                <a:latin typeface="Calibri"/>
              </a:rPr>
              <a:t>benchmarks and is expected to hold</a:t>
            </a:r>
          </a:p>
        </p:txBody>
      </p:sp>
      <p:pic>
        <p:nvPicPr>
          <p:cNvPr id="165" name="Picture 164" descr="lock.png"/>
          <p:cNvPicPr>
            <a:picLocks noChangeAspect="1"/>
          </p:cNvPicPr>
          <p:nvPr/>
        </p:nvPicPr>
        <p:blipFill>
          <a:blip r:embed="rId4"/>
          <a:stretch>
            <a:fillRect/>
          </a:stretch>
        </p:blipFill>
        <p:spPr>
          <a:xfrm>
            <a:off x="9730921" y="4015486"/>
            <a:ext cx="128699" cy="187198"/>
          </a:xfrm>
          <a:prstGeom prst="rect">
            <a:avLst/>
          </a:prstGeom>
        </p:spPr>
      </p:pic>
      <p:sp>
        <p:nvSpPr>
          <p:cNvPr id="166" name="TextBox 165"/>
          <p:cNvSpPr txBox="1"/>
          <p:nvPr/>
        </p:nvSpPr>
        <p:spPr>
          <a:xfrm>
            <a:off x="9898416" y="4025265"/>
            <a:ext cx="1016992" cy="186689"/>
          </a:xfrm>
          <a:prstGeom prst="rect">
            <a:avLst/>
          </a:prstGeom>
          <a:noFill/>
        </p:spPr>
        <p:txBody>
          <a:bodyPr wrap="none" lIns="0" rIns="0" tIns="0" bIns="0">
            <a:spAutoFit/>
          </a:bodyPr>
          <a:lstStyle/>
          <a:p>
            <a:r>
              <a:rPr sz="1100" b="0">
                <a:solidFill>
                  <a:srgbClr val="14213D"/>
                </a:solidFill>
                <a:latin typeface="Calibri"/>
              </a:rPr>
              <a:t>of value in 2036.</a:t>
            </a:r>
          </a:p>
        </p:txBody>
      </p:sp>
      <p:sp>
        <p:nvSpPr>
          <p:cNvPr id="167" name="TextBox 166"/>
          <p:cNvSpPr txBox="1"/>
          <p:nvPr/>
        </p:nvSpPr>
        <p:spPr>
          <a:xfrm>
            <a:off x="7658100" y="5019675"/>
            <a:ext cx="3471019" cy="186689"/>
          </a:xfrm>
          <a:prstGeom prst="rect">
            <a:avLst/>
          </a:prstGeom>
          <a:noFill/>
        </p:spPr>
        <p:txBody>
          <a:bodyPr wrap="none" lIns="0" rIns="0" tIns="0" bIns="0">
            <a:spAutoFit/>
          </a:bodyPr>
          <a:lstStyle/>
          <a:p>
            <a:r>
              <a:rPr sz="1100" b="0">
                <a:solidFill>
                  <a:srgbClr val="14213D"/>
                </a:solidFill>
                <a:latin typeface="Calibri"/>
              </a:rPr>
              <a:t>Tier 3 and the long tail face the highest structural pressure (</a:t>
            </a:r>
          </a:p>
        </p:txBody>
      </p:sp>
      <p:pic>
        <p:nvPicPr>
          <p:cNvPr id="168" name="Picture 167" descr="lock.png"/>
          <p:cNvPicPr>
            <a:picLocks noChangeAspect="1"/>
          </p:cNvPicPr>
          <p:nvPr/>
        </p:nvPicPr>
        <p:blipFill>
          <a:blip r:embed="rId4"/>
          <a:stretch>
            <a:fillRect/>
          </a:stretch>
        </p:blipFill>
        <p:spPr>
          <a:xfrm>
            <a:off x="11077170" y="5009895"/>
            <a:ext cx="128699" cy="187198"/>
          </a:xfrm>
          <a:prstGeom prst="rect">
            <a:avLst/>
          </a:prstGeom>
        </p:spPr>
      </p:pic>
      <p:sp>
        <p:nvSpPr>
          <p:cNvPr id="169" name="TextBox 168"/>
          <p:cNvSpPr txBox="1"/>
          <p:nvPr/>
        </p:nvSpPr>
        <p:spPr>
          <a:xfrm>
            <a:off x="11244666" y="5019675"/>
            <a:ext cx="415081" cy="186689"/>
          </a:xfrm>
          <a:prstGeom prst="rect">
            <a:avLst/>
          </a:prstGeom>
          <a:noFill/>
        </p:spPr>
        <p:txBody>
          <a:bodyPr wrap="none" lIns="0" rIns="0" tIns="0" bIns="0">
            <a:spAutoFit/>
          </a:bodyPr>
          <a:lstStyle/>
          <a:p>
            <a:r>
              <a:rPr sz="1100" b="0">
                <a:solidFill>
                  <a:srgbClr val="14213D"/>
                </a:solidFill>
                <a:latin typeface="Calibri"/>
              </a:rPr>
              <a:t>/ 5); 2</a:t>
            </a:r>
          </a:p>
        </p:txBody>
      </p:sp>
      <p:sp>
        <p:nvSpPr>
          <p:cNvPr id="170" name="TextBox 169"/>
          <p:cNvSpPr txBox="1"/>
          <p:nvPr/>
        </p:nvSpPr>
        <p:spPr>
          <a:xfrm>
            <a:off x="7658100" y="5187315"/>
            <a:ext cx="2541413" cy="186689"/>
          </a:xfrm>
          <a:prstGeom prst="rect">
            <a:avLst/>
          </a:prstGeom>
          <a:noFill/>
        </p:spPr>
        <p:txBody>
          <a:bodyPr wrap="none" lIns="0" rIns="0" tIns="0" bIns="0">
            <a:spAutoFit/>
          </a:bodyPr>
          <a:lstStyle/>
          <a:p>
            <a:r>
              <a:rPr sz="1100" b="0">
                <a:solidFill>
                  <a:srgbClr val="14213D"/>
                </a:solidFill>
                <a:latin typeface="Calibri"/>
              </a:rPr>
              <a:t>players are expected to exit or be acquired.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640806"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986212"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331619"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8022431"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367838"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10713244"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4" name="TextBox 33"/>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5" name="TextBox 34"/>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6" name="TextBox 35"/>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7" name="TextBox 36"/>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38" name="TextBox 37"/>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39" name="TextBox 38"/>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0" name="TextBox 39"/>
          <p:cNvSpPr txBox="1"/>
          <p:nvPr/>
        </p:nvSpPr>
        <p:spPr>
          <a:xfrm>
            <a:off x="1323975"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A</a:t>
            </a:r>
          </a:p>
        </p:txBody>
      </p:sp>
      <p:cxnSp>
        <p:nvCxnSpPr>
          <p:cNvPr id="41" name="Connector 40"/>
          <p:cNvCxnSpPr/>
          <p:nvPr/>
        </p:nvCxnSpPr>
        <p:spPr>
          <a:xfrm>
            <a:off x="1739503"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1323975"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3" name="TextBox 42"/>
          <p:cNvSpPr txBox="1"/>
          <p:nvPr/>
        </p:nvSpPr>
        <p:spPr>
          <a:xfrm>
            <a:off x="1314450"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4" name="TextBox 43"/>
          <p:cNvSpPr txBox="1"/>
          <p:nvPr/>
        </p:nvSpPr>
        <p:spPr>
          <a:xfrm>
            <a:off x="1314450"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5" name="Rectangle 44"/>
          <p:cNvSpPr/>
          <p:nvPr/>
        </p:nvSpPr>
        <p:spPr>
          <a:xfrm>
            <a:off x="1739503"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910953"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2082403"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1323975"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49" name="TextBox 48"/>
          <p:cNvSpPr txBox="1"/>
          <p:nvPr/>
        </p:nvSpPr>
        <p:spPr>
          <a:xfrm>
            <a:off x="1323975"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0" name="Oval 49"/>
          <p:cNvSpPr/>
          <p:nvPr/>
        </p:nvSpPr>
        <p:spPr>
          <a:xfrm>
            <a:off x="1720453"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1971675" y="3416749"/>
            <a:ext cx="209550" cy="237298"/>
          </a:xfrm>
          <a:custGeom>
            <a:avLst/>
            <a:gdLst/>
            <a:ahLst/>
            <a:cxnLst/>
            <a:rect l="l" t="t" r="r" b="b"/>
            <a:pathLst>
              <a:path w="22" h="26">
                <a:moveTo>
                  <a:pt x="0" y="26"/>
                </a:moveTo>
                <a:lnTo>
                  <a:pt x="0" y="0"/>
                </a:lnTo>
                <a:lnTo>
                  <a:pt x="3" y="0"/>
                </a:lnTo>
                <a:lnTo>
                  <a:pt x="7" y="1"/>
                </a:lnTo>
                <a:lnTo>
                  <a:pt x="11" y="2"/>
                </a:lnTo>
                <a:lnTo>
                  <a:pt x="14" y="4"/>
                </a:lnTo>
                <a:lnTo>
                  <a:pt x="17" y="7"/>
                </a:lnTo>
                <a:lnTo>
                  <a:pt x="20" y="10"/>
                </a:lnTo>
                <a:lnTo>
                  <a:pt x="22" y="13"/>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182941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1720453"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54" name="TextBox 53"/>
          <p:cNvSpPr txBox="1"/>
          <p:nvPr/>
        </p:nvSpPr>
        <p:spPr>
          <a:xfrm>
            <a:off x="1343025"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55" name="Oval 54"/>
          <p:cNvSpPr/>
          <p:nvPr/>
        </p:nvSpPr>
        <p:spPr>
          <a:xfrm>
            <a:off x="156329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56329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7" name="Oval 56"/>
          <p:cNvSpPr/>
          <p:nvPr/>
        </p:nvSpPr>
        <p:spPr>
          <a:xfrm>
            <a:off x="177284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77284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59" name="Oval 58"/>
          <p:cNvSpPr/>
          <p:nvPr/>
        </p:nvSpPr>
        <p:spPr>
          <a:xfrm>
            <a:off x="198239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98239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1" name="Oval 60"/>
          <p:cNvSpPr/>
          <p:nvPr/>
        </p:nvSpPr>
        <p:spPr>
          <a:xfrm>
            <a:off x="2191941"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19194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3" name="Oval 62"/>
          <p:cNvSpPr/>
          <p:nvPr/>
        </p:nvSpPr>
        <p:spPr>
          <a:xfrm>
            <a:off x="1668066"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66806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5" name="Oval 64"/>
          <p:cNvSpPr/>
          <p:nvPr/>
        </p:nvSpPr>
        <p:spPr>
          <a:xfrm>
            <a:off x="1877616"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87761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7" name="Oval 66"/>
          <p:cNvSpPr/>
          <p:nvPr/>
        </p:nvSpPr>
        <p:spPr>
          <a:xfrm>
            <a:off x="2087166"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208716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69" name="TextBox 68"/>
          <p:cNvSpPr txBox="1"/>
          <p:nvPr/>
        </p:nvSpPr>
        <p:spPr>
          <a:xfrm>
            <a:off x="2669381"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B</a:t>
            </a:r>
          </a:p>
        </p:txBody>
      </p:sp>
      <p:cxnSp>
        <p:nvCxnSpPr>
          <p:cNvPr id="70" name="Connector 69"/>
          <p:cNvCxnSpPr/>
          <p:nvPr/>
        </p:nvCxnSpPr>
        <p:spPr>
          <a:xfrm>
            <a:off x="3084909"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2669381"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2" name="TextBox 71"/>
          <p:cNvSpPr txBox="1"/>
          <p:nvPr/>
        </p:nvSpPr>
        <p:spPr>
          <a:xfrm>
            <a:off x="2659856"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3" name="TextBox 72"/>
          <p:cNvSpPr txBox="1"/>
          <p:nvPr/>
        </p:nvSpPr>
        <p:spPr>
          <a:xfrm>
            <a:off x="2659856"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4" name="Rectangle 73"/>
          <p:cNvSpPr/>
          <p:nvPr/>
        </p:nvSpPr>
        <p:spPr>
          <a:xfrm>
            <a:off x="3084909"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3256359"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3427809"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669381"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78" name="TextBox 77"/>
          <p:cNvSpPr txBox="1"/>
          <p:nvPr/>
        </p:nvSpPr>
        <p:spPr>
          <a:xfrm>
            <a:off x="2669381"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79" name="Oval 78"/>
          <p:cNvSpPr/>
          <p:nvPr/>
        </p:nvSpPr>
        <p:spPr>
          <a:xfrm>
            <a:off x="3065859"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Freeform 79"/>
          <p:cNvSpPr/>
          <p:nvPr/>
        </p:nvSpPr>
        <p:spPr>
          <a:xfrm>
            <a:off x="3314700" y="3416749"/>
            <a:ext cx="190500" cy="237298"/>
          </a:xfrm>
          <a:custGeom>
            <a:avLst/>
            <a:gdLst/>
            <a:ahLst/>
            <a:cxnLst/>
            <a:rect l="l" t="t" r="r" b="b"/>
            <a:pathLst>
              <a:path w="20" h="26">
                <a:moveTo>
                  <a:pt x="0" y="26"/>
                </a:moveTo>
                <a:lnTo>
                  <a:pt x="0" y="0"/>
                </a:lnTo>
                <a:lnTo>
                  <a:pt x="4" y="0"/>
                </a:lnTo>
                <a:lnTo>
                  <a:pt x="8" y="1"/>
                </a:lnTo>
                <a:lnTo>
                  <a:pt x="11" y="3"/>
                </a:lnTo>
                <a:lnTo>
                  <a:pt x="15" y="5"/>
                </a:lnTo>
                <a:lnTo>
                  <a:pt x="18" y="7"/>
                </a:lnTo>
                <a:lnTo>
                  <a:pt x="20" y="1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3174825"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3065859"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83" name="TextBox 82"/>
          <p:cNvSpPr txBox="1"/>
          <p:nvPr/>
        </p:nvSpPr>
        <p:spPr>
          <a:xfrm>
            <a:off x="2688431"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84" name="Oval 83"/>
          <p:cNvSpPr/>
          <p:nvPr/>
        </p:nvSpPr>
        <p:spPr>
          <a:xfrm>
            <a:off x="290869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290869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6" name="Oval 85"/>
          <p:cNvSpPr/>
          <p:nvPr/>
        </p:nvSpPr>
        <p:spPr>
          <a:xfrm>
            <a:off x="311824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11824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88" name="Oval 87"/>
          <p:cNvSpPr/>
          <p:nvPr/>
        </p:nvSpPr>
        <p:spPr>
          <a:xfrm>
            <a:off x="332779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332779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0" name="Oval 89"/>
          <p:cNvSpPr/>
          <p:nvPr/>
        </p:nvSpPr>
        <p:spPr>
          <a:xfrm>
            <a:off x="353734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353734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2" name="Oval 91"/>
          <p:cNvSpPr/>
          <p:nvPr/>
        </p:nvSpPr>
        <p:spPr>
          <a:xfrm>
            <a:off x="3013472"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01347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4" name="Oval 93"/>
          <p:cNvSpPr/>
          <p:nvPr/>
        </p:nvSpPr>
        <p:spPr>
          <a:xfrm>
            <a:off x="3223022"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322302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6" name="Oval 95"/>
          <p:cNvSpPr/>
          <p:nvPr/>
        </p:nvSpPr>
        <p:spPr>
          <a:xfrm>
            <a:off x="3432572"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343257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98" name="TextBox 97"/>
          <p:cNvSpPr txBox="1"/>
          <p:nvPr/>
        </p:nvSpPr>
        <p:spPr>
          <a:xfrm>
            <a:off x="4014788"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C</a:t>
            </a:r>
          </a:p>
        </p:txBody>
      </p:sp>
      <p:cxnSp>
        <p:nvCxnSpPr>
          <p:cNvPr id="99" name="Connector 98"/>
          <p:cNvCxnSpPr/>
          <p:nvPr/>
        </p:nvCxnSpPr>
        <p:spPr>
          <a:xfrm>
            <a:off x="4430316"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4014788"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1" name="TextBox 100"/>
          <p:cNvSpPr txBox="1"/>
          <p:nvPr/>
        </p:nvSpPr>
        <p:spPr>
          <a:xfrm>
            <a:off x="4005262"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2" name="TextBox 101"/>
          <p:cNvSpPr txBox="1"/>
          <p:nvPr/>
        </p:nvSpPr>
        <p:spPr>
          <a:xfrm>
            <a:off x="4005262" y="2047722"/>
            <a:ext cx="1307306"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3" name="Rectangle 102"/>
          <p:cNvSpPr/>
          <p:nvPr/>
        </p:nvSpPr>
        <p:spPr>
          <a:xfrm>
            <a:off x="4430316"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4601766"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4773216"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4014788"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07" name="TextBox 106"/>
          <p:cNvSpPr txBox="1"/>
          <p:nvPr/>
        </p:nvSpPr>
        <p:spPr>
          <a:xfrm>
            <a:off x="4014788"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08" name="Oval 107"/>
          <p:cNvSpPr/>
          <p:nvPr/>
        </p:nvSpPr>
        <p:spPr>
          <a:xfrm>
            <a:off x="4411266"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reeform 108"/>
          <p:cNvSpPr/>
          <p:nvPr/>
        </p:nvSpPr>
        <p:spPr>
          <a:xfrm>
            <a:off x="4657725" y="3416749"/>
            <a:ext cx="142875" cy="237298"/>
          </a:xfrm>
          <a:custGeom>
            <a:avLst/>
            <a:gdLst/>
            <a:ahLst/>
            <a:cxnLst/>
            <a:rect l="l" t="t" r="r" b="b"/>
            <a:pathLst>
              <a:path w="15" h="26">
                <a:moveTo>
                  <a:pt x="0" y="26"/>
                </a:moveTo>
                <a:lnTo>
                  <a:pt x="0" y="0"/>
                </a:lnTo>
                <a:lnTo>
                  <a:pt x="4" y="0"/>
                </a:lnTo>
                <a:lnTo>
                  <a:pt x="8" y="1"/>
                </a:lnTo>
                <a:lnTo>
                  <a:pt x="12" y="3"/>
                </a:lnTo>
                <a:lnTo>
                  <a:pt x="15" y="5"/>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4520232"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411266"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12" name="TextBox 111"/>
          <p:cNvSpPr txBox="1"/>
          <p:nvPr/>
        </p:nvSpPr>
        <p:spPr>
          <a:xfrm>
            <a:off x="4033838"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3" name="Oval 112"/>
          <p:cNvSpPr/>
          <p:nvPr/>
        </p:nvSpPr>
        <p:spPr>
          <a:xfrm>
            <a:off x="425410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425410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5" name="Oval 114"/>
          <p:cNvSpPr/>
          <p:nvPr/>
        </p:nvSpPr>
        <p:spPr>
          <a:xfrm>
            <a:off x="446365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446365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7" name="Oval 116"/>
          <p:cNvSpPr/>
          <p:nvPr/>
        </p:nvSpPr>
        <p:spPr>
          <a:xfrm>
            <a:off x="467320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467320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19" name="Oval 118"/>
          <p:cNvSpPr/>
          <p:nvPr/>
        </p:nvSpPr>
        <p:spPr>
          <a:xfrm>
            <a:off x="4882753"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88275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1" name="Oval 120"/>
          <p:cNvSpPr/>
          <p:nvPr/>
        </p:nvSpPr>
        <p:spPr>
          <a:xfrm>
            <a:off x="4358878"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35887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3" name="Oval 122"/>
          <p:cNvSpPr/>
          <p:nvPr/>
        </p:nvSpPr>
        <p:spPr>
          <a:xfrm>
            <a:off x="4568428"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456842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5" name="Oval 124"/>
          <p:cNvSpPr/>
          <p:nvPr/>
        </p:nvSpPr>
        <p:spPr>
          <a:xfrm>
            <a:off x="4777978"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477797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7" name="TextBox 126"/>
          <p:cNvSpPr txBox="1"/>
          <p:nvPr/>
        </p:nvSpPr>
        <p:spPr>
          <a:xfrm>
            <a:off x="5360194"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D</a:t>
            </a:r>
          </a:p>
        </p:txBody>
      </p:sp>
      <p:cxnSp>
        <p:nvCxnSpPr>
          <p:cNvPr id="128" name="Connector 127"/>
          <p:cNvCxnSpPr/>
          <p:nvPr/>
        </p:nvCxnSpPr>
        <p:spPr>
          <a:xfrm>
            <a:off x="577572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5360194"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0" name="TextBox 129"/>
          <p:cNvSpPr txBox="1"/>
          <p:nvPr/>
        </p:nvSpPr>
        <p:spPr>
          <a:xfrm>
            <a:off x="5350669"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1" name="TextBox 130"/>
          <p:cNvSpPr txBox="1"/>
          <p:nvPr/>
        </p:nvSpPr>
        <p:spPr>
          <a:xfrm>
            <a:off x="5350669"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2" name="Rectangle 131"/>
          <p:cNvSpPr/>
          <p:nvPr/>
        </p:nvSpPr>
        <p:spPr>
          <a:xfrm>
            <a:off x="5775722"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594717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611862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5360194"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6" name="TextBox 135"/>
          <p:cNvSpPr txBox="1"/>
          <p:nvPr/>
        </p:nvSpPr>
        <p:spPr>
          <a:xfrm>
            <a:off x="5360194"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7" name="Oval 136"/>
          <p:cNvSpPr/>
          <p:nvPr/>
        </p:nvSpPr>
        <p:spPr>
          <a:xfrm>
            <a:off x="575667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6000750" y="3416749"/>
            <a:ext cx="104775" cy="237298"/>
          </a:xfrm>
          <a:custGeom>
            <a:avLst/>
            <a:gdLst/>
            <a:ahLst/>
            <a:cxnLst/>
            <a:rect l="l" t="t" r="r" b="b"/>
            <a:pathLst>
              <a:path w="11" h="26">
                <a:moveTo>
                  <a:pt x="0" y="26"/>
                </a:moveTo>
                <a:lnTo>
                  <a:pt x="0" y="0"/>
                </a:lnTo>
                <a:lnTo>
                  <a:pt x="4" y="0"/>
                </a:lnTo>
                <a:lnTo>
                  <a:pt x="8"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586563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75667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41" name="TextBox 140"/>
          <p:cNvSpPr txBox="1"/>
          <p:nvPr/>
        </p:nvSpPr>
        <p:spPr>
          <a:xfrm>
            <a:off x="5379244"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2" name="Oval 141"/>
          <p:cNvSpPr/>
          <p:nvPr/>
        </p:nvSpPr>
        <p:spPr>
          <a:xfrm>
            <a:off x="559950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559950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4" name="Oval 143"/>
          <p:cNvSpPr/>
          <p:nvPr/>
        </p:nvSpPr>
        <p:spPr>
          <a:xfrm>
            <a:off x="580905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580905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6" name="Oval 145"/>
          <p:cNvSpPr/>
          <p:nvPr/>
        </p:nvSpPr>
        <p:spPr>
          <a:xfrm>
            <a:off x="601860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601860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48" name="Oval 147"/>
          <p:cNvSpPr/>
          <p:nvPr/>
        </p:nvSpPr>
        <p:spPr>
          <a:xfrm>
            <a:off x="622815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622815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0" name="Oval 149"/>
          <p:cNvSpPr/>
          <p:nvPr/>
        </p:nvSpPr>
        <p:spPr>
          <a:xfrm>
            <a:off x="5704284"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70428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2" name="Oval 151"/>
          <p:cNvSpPr/>
          <p:nvPr/>
        </p:nvSpPr>
        <p:spPr>
          <a:xfrm>
            <a:off x="5913834"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591383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4" name="Oval 153"/>
          <p:cNvSpPr/>
          <p:nvPr/>
        </p:nvSpPr>
        <p:spPr>
          <a:xfrm>
            <a:off x="6123384"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612338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6" name="TextBox 155"/>
          <p:cNvSpPr txBox="1"/>
          <p:nvPr/>
        </p:nvSpPr>
        <p:spPr>
          <a:xfrm>
            <a:off x="6705600"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E</a:t>
            </a:r>
          </a:p>
        </p:txBody>
      </p:sp>
      <p:cxnSp>
        <p:nvCxnSpPr>
          <p:cNvPr id="157" name="Connector 156"/>
          <p:cNvCxnSpPr/>
          <p:nvPr/>
        </p:nvCxnSpPr>
        <p:spPr>
          <a:xfrm>
            <a:off x="712112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6705600"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59" name="TextBox 158"/>
          <p:cNvSpPr txBox="1"/>
          <p:nvPr/>
        </p:nvSpPr>
        <p:spPr>
          <a:xfrm>
            <a:off x="6696075"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0" name="TextBox 159"/>
          <p:cNvSpPr txBox="1"/>
          <p:nvPr/>
        </p:nvSpPr>
        <p:spPr>
          <a:xfrm>
            <a:off x="6696075"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1" name="Rectangle 160"/>
          <p:cNvSpPr/>
          <p:nvPr/>
        </p:nvSpPr>
        <p:spPr>
          <a:xfrm>
            <a:off x="712112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729257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746402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705600"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5" name="TextBox 164"/>
          <p:cNvSpPr txBox="1"/>
          <p:nvPr/>
        </p:nvSpPr>
        <p:spPr>
          <a:xfrm>
            <a:off x="6705600"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6" name="Oval 165"/>
          <p:cNvSpPr/>
          <p:nvPr/>
        </p:nvSpPr>
        <p:spPr>
          <a:xfrm>
            <a:off x="710207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Freeform 166"/>
          <p:cNvSpPr/>
          <p:nvPr/>
        </p:nvSpPr>
        <p:spPr>
          <a:xfrm>
            <a:off x="7353300" y="3416749"/>
            <a:ext cx="104775" cy="237298"/>
          </a:xfrm>
          <a:custGeom>
            <a:avLst/>
            <a:gdLst/>
            <a:ahLst/>
            <a:cxnLst/>
            <a:rect l="l" t="t" r="r" b="b"/>
            <a:pathLst>
              <a:path w="11" h="26">
                <a:moveTo>
                  <a:pt x="0" y="26"/>
                </a:moveTo>
                <a:lnTo>
                  <a:pt x="0" y="0"/>
                </a:lnTo>
                <a:lnTo>
                  <a:pt x="3"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Oval 167"/>
          <p:cNvSpPr/>
          <p:nvPr/>
        </p:nvSpPr>
        <p:spPr>
          <a:xfrm>
            <a:off x="721104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710207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70" name="TextBox 169"/>
          <p:cNvSpPr txBox="1"/>
          <p:nvPr/>
        </p:nvSpPr>
        <p:spPr>
          <a:xfrm>
            <a:off x="6724650"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1" name="Oval 170"/>
          <p:cNvSpPr/>
          <p:nvPr/>
        </p:nvSpPr>
        <p:spPr>
          <a:xfrm>
            <a:off x="694491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694491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3" name="Oval 172"/>
          <p:cNvSpPr/>
          <p:nvPr/>
        </p:nvSpPr>
        <p:spPr>
          <a:xfrm>
            <a:off x="715446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715446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5" name="Oval 174"/>
          <p:cNvSpPr/>
          <p:nvPr/>
        </p:nvSpPr>
        <p:spPr>
          <a:xfrm>
            <a:off x="736401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736401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7" name="Oval 176"/>
          <p:cNvSpPr/>
          <p:nvPr/>
        </p:nvSpPr>
        <p:spPr>
          <a:xfrm>
            <a:off x="7573566"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757356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79" name="Oval 178"/>
          <p:cNvSpPr/>
          <p:nvPr/>
        </p:nvSpPr>
        <p:spPr>
          <a:xfrm>
            <a:off x="7049691"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704969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1" name="Oval 180"/>
          <p:cNvSpPr/>
          <p:nvPr/>
        </p:nvSpPr>
        <p:spPr>
          <a:xfrm>
            <a:off x="7259241"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25924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3" name="Oval 182"/>
          <p:cNvSpPr/>
          <p:nvPr/>
        </p:nvSpPr>
        <p:spPr>
          <a:xfrm>
            <a:off x="7468791"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746879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5" name="TextBox 184"/>
          <p:cNvSpPr txBox="1"/>
          <p:nvPr/>
        </p:nvSpPr>
        <p:spPr>
          <a:xfrm>
            <a:off x="8051006"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F</a:t>
            </a:r>
          </a:p>
        </p:txBody>
      </p:sp>
      <p:cxnSp>
        <p:nvCxnSpPr>
          <p:cNvPr id="186" name="Connector 185"/>
          <p:cNvCxnSpPr/>
          <p:nvPr/>
        </p:nvCxnSpPr>
        <p:spPr>
          <a:xfrm>
            <a:off x="8466534"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8051006"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88" name="TextBox 187"/>
          <p:cNvSpPr txBox="1"/>
          <p:nvPr/>
        </p:nvSpPr>
        <p:spPr>
          <a:xfrm>
            <a:off x="8041481"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89" name="TextBox 188"/>
          <p:cNvSpPr txBox="1"/>
          <p:nvPr/>
        </p:nvSpPr>
        <p:spPr>
          <a:xfrm>
            <a:off x="8041481" y="2047722"/>
            <a:ext cx="1307306"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0" name="Rectangle 189"/>
          <p:cNvSpPr/>
          <p:nvPr/>
        </p:nvSpPr>
        <p:spPr>
          <a:xfrm>
            <a:off x="8466534"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8637984"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8809434"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TextBox 192"/>
          <p:cNvSpPr txBox="1"/>
          <p:nvPr/>
        </p:nvSpPr>
        <p:spPr>
          <a:xfrm>
            <a:off x="8051006"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4" name="TextBox 193"/>
          <p:cNvSpPr txBox="1"/>
          <p:nvPr/>
        </p:nvSpPr>
        <p:spPr>
          <a:xfrm>
            <a:off x="8051006"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5" name="Oval 194"/>
          <p:cNvSpPr/>
          <p:nvPr/>
        </p:nvSpPr>
        <p:spPr>
          <a:xfrm>
            <a:off x="8447484"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Freeform 195"/>
          <p:cNvSpPr/>
          <p:nvPr/>
        </p:nvSpPr>
        <p:spPr>
          <a:xfrm>
            <a:off x="8696325"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Oval 196"/>
          <p:cNvSpPr/>
          <p:nvPr/>
        </p:nvSpPr>
        <p:spPr>
          <a:xfrm>
            <a:off x="8556450"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8447484"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99" name="TextBox 198"/>
          <p:cNvSpPr txBox="1"/>
          <p:nvPr/>
        </p:nvSpPr>
        <p:spPr>
          <a:xfrm>
            <a:off x="8070056"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00" name="Oval 199"/>
          <p:cNvSpPr/>
          <p:nvPr/>
        </p:nvSpPr>
        <p:spPr>
          <a:xfrm>
            <a:off x="829032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829032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2" name="Oval 201"/>
          <p:cNvSpPr/>
          <p:nvPr/>
        </p:nvSpPr>
        <p:spPr>
          <a:xfrm>
            <a:off x="849987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849987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4" name="Oval 203"/>
          <p:cNvSpPr/>
          <p:nvPr/>
        </p:nvSpPr>
        <p:spPr>
          <a:xfrm>
            <a:off x="870942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870942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6" name="Oval 205"/>
          <p:cNvSpPr/>
          <p:nvPr/>
        </p:nvSpPr>
        <p:spPr>
          <a:xfrm>
            <a:off x="891897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891897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08" name="Oval 207"/>
          <p:cNvSpPr/>
          <p:nvPr/>
        </p:nvSpPr>
        <p:spPr>
          <a:xfrm>
            <a:off x="8395097"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839509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0" name="Oval 209"/>
          <p:cNvSpPr/>
          <p:nvPr/>
        </p:nvSpPr>
        <p:spPr>
          <a:xfrm>
            <a:off x="8604647"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860464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2" name="Oval 211"/>
          <p:cNvSpPr/>
          <p:nvPr/>
        </p:nvSpPr>
        <p:spPr>
          <a:xfrm>
            <a:off x="8814197"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881419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4" name="TextBox 213"/>
          <p:cNvSpPr txBox="1"/>
          <p:nvPr/>
        </p:nvSpPr>
        <p:spPr>
          <a:xfrm>
            <a:off x="9396412"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G</a:t>
            </a:r>
          </a:p>
        </p:txBody>
      </p:sp>
      <p:cxnSp>
        <p:nvCxnSpPr>
          <p:cNvPr id="215" name="Connector 214"/>
          <p:cNvCxnSpPr/>
          <p:nvPr/>
        </p:nvCxnSpPr>
        <p:spPr>
          <a:xfrm>
            <a:off x="9811941"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6" name="TextBox 215"/>
          <p:cNvSpPr txBox="1"/>
          <p:nvPr/>
        </p:nvSpPr>
        <p:spPr>
          <a:xfrm>
            <a:off x="9396412"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7" name="TextBox 216"/>
          <p:cNvSpPr txBox="1"/>
          <p:nvPr/>
        </p:nvSpPr>
        <p:spPr>
          <a:xfrm>
            <a:off x="9386888"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18" name="TextBox 217"/>
          <p:cNvSpPr txBox="1"/>
          <p:nvPr/>
        </p:nvSpPr>
        <p:spPr>
          <a:xfrm>
            <a:off x="9386888"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19" name="Rectangle 218"/>
          <p:cNvSpPr/>
          <p:nvPr/>
        </p:nvSpPr>
        <p:spPr>
          <a:xfrm>
            <a:off x="9811941"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9983391"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0154841"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396412"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3" name="TextBox 222"/>
          <p:cNvSpPr txBox="1"/>
          <p:nvPr/>
        </p:nvSpPr>
        <p:spPr>
          <a:xfrm>
            <a:off x="9396412"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4" name="Oval 223"/>
          <p:cNvSpPr/>
          <p:nvPr/>
        </p:nvSpPr>
        <p:spPr>
          <a:xfrm>
            <a:off x="9792891"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Freeform 224"/>
          <p:cNvSpPr/>
          <p:nvPr/>
        </p:nvSpPr>
        <p:spPr>
          <a:xfrm>
            <a:off x="10039350" y="3416749"/>
            <a:ext cx="85725" cy="237298"/>
          </a:xfrm>
          <a:custGeom>
            <a:avLst/>
            <a:gdLst/>
            <a:ahLst/>
            <a:cxnLst/>
            <a:rect l="l" t="t" r="r" b="b"/>
            <a:pathLst>
              <a:path w="9" h="26">
                <a:moveTo>
                  <a:pt x="0" y="26"/>
                </a:moveTo>
                <a:lnTo>
                  <a:pt x="0" y="0"/>
                </a:lnTo>
                <a:lnTo>
                  <a:pt x="5" y="0"/>
                </a:lnTo>
                <a:lnTo>
                  <a:pt x="9"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Oval 225"/>
          <p:cNvSpPr/>
          <p:nvPr/>
        </p:nvSpPr>
        <p:spPr>
          <a:xfrm>
            <a:off x="9901857"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792891"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28" name="TextBox 227"/>
          <p:cNvSpPr txBox="1"/>
          <p:nvPr/>
        </p:nvSpPr>
        <p:spPr>
          <a:xfrm>
            <a:off x="9415462"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29" name="Oval 228"/>
          <p:cNvSpPr/>
          <p:nvPr/>
        </p:nvSpPr>
        <p:spPr>
          <a:xfrm>
            <a:off x="963572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TextBox 229"/>
          <p:cNvSpPr txBox="1"/>
          <p:nvPr/>
        </p:nvSpPr>
        <p:spPr>
          <a:xfrm>
            <a:off x="963572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1" name="Oval 230"/>
          <p:cNvSpPr/>
          <p:nvPr/>
        </p:nvSpPr>
        <p:spPr>
          <a:xfrm>
            <a:off x="984527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984527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3" name="Oval 232"/>
          <p:cNvSpPr/>
          <p:nvPr/>
        </p:nvSpPr>
        <p:spPr>
          <a:xfrm>
            <a:off x="1005482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1005482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5" name="Oval 234"/>
          <p:cNvSpPr/>
          <p:nvPr/>
        </p:nvSpPr>
        <p:spPr>
          <a:xfrm>
            <a:off x="10264378"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1026437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7" name="Oval 236"/>
          <p:cNvSpPr/>
          <p:nvPr/>
        </p:nvSpPr>
        <p:spPr>
          <a:xfrm>
            <a:off x="9740503"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974050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39" name="Oval 238"/>
          <p:cNvSpPr/>
          <p:nvPr/>
        </p:nvSpPr>
        <p:spPr>
          <a:xfrm>
            <a:off x="9950053"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995005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1" name="Oval 240"/>
          <p:cNvSpPr/>
          <p:nvPr/>
        </p:nvSpPr>
        <p:spPr>
          <a:xfrm>
            <a:off x="10159603"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1015960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3" name="TextBox 242"/>
          <p:cNvSpPr txBox="1"/>
          <p:nvPr/>
        </p:nvSpPr>
        <p:spPr>
          <a:xfrm>
            <a:off x="10741819"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H</a:t>
            </a:r>
          </a:p>
        </p:txBody>
      </p:sp>
      <p:cxnSp>
        <p:nvCxnSpPr>
          <p:cNvPr id="244" name="Connector 243"/>
          <p:cNvCxnSpPr/>
          <p:nvPr/>
        </p:nvCxnSpPr>
        <p:spPr>
          <a:xfrm>
            <a:off x="11157347"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10741819"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6" name="TextBox 245"/>
          <p:cNvSpPr txBox="1"/>
          <p:nvPr/>
        </p:nvSpPr>
        <p:spPr>
          <a:xfrm>
            <a:off x="10732294"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7" name="TextBox 246"/>
          <p:cNvSpPr txBox="1"/>
          <p:nvPr/>
        </p:nvSpPr>
        <p:spPr>
          <a:xfrm>
            <a:off x="10732294"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48" name="Rectangle 247"/>
          <p:cNvSpPr/>
          <p:nvPr/>
        </p:nvSpPr>
        <p:spPr>
          <a:xfrm>
            <a:off x="11157347"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328797"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00247"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10741819"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2" name="TextBox 251"/>
          <p:cNvSpPr txBox="1"/>
          <p:nvPr/>
        </p:nvSpPr>
        <p:spPr>
          <a:xfrm>
            <a:off x="10741819"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3" name="Oval 252"/>
          <p:cNvSpPr/>
          <p:nvPr/>
        </p:nvSpPr>
        <p:spPr>
          <a:xfrm>
            <a:off x="11138297"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Freeform 253"/>
          <p:cNvSpPr/>
          <p:nvPr/>
        </p:nvSpPr>
        <p:spPr>
          <a:xfrm>
            <a:off x="11382375" y="3416749"/>
            <a:ext cx="57150" cy="237298"/>
          </a:xfrm>
          <a:custGeom>
            <a:avLst/>
            <a:gdLst/>
            <a:ahLst/>
            <a:cxnLst/>
            <a:rect l="l" t="t" r="r" b="b"/>
            <a:pathLst>
              <a:path w="6" h="26">
                <a:moveTo>
                  <a:pt x="0" y="26"/>
                </a:moveTo>
                <a:lnTo>
                  <a:pt x="0" y="0"/>
                </a:lnTo>
                <a:lnTo>
                  <a:pt x="3" y="0"/>
                </a:lnTo>
                <a:lnTo>
                  <a:pt x="6"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Oval 254"/>
          <p:cNvSpPr/>
          <p:nvPr/>
        </p:nvSpPr>
        <p:spPr>
          <a:xfrm>
            <a:off x="11247263"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TextBox 255"/>
          <p:cNvSpPr txBox="1"/>
          <p:nvPr/>
        </p:nvSpPr>
        <p:spPr>
          <a:xfrm>
            <a:off x="11138297"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57" name="TextBox 256"/>
          <p:cNvSpPr txBox="1"/>
          <p:nvPr/>
        </p:nvSpPr>
        <p:spPr>
          <a:xfrm>
            <a:off x="10760869"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58" name="Oval 257"/>
          <p:cNvSpPr/>
          <p:nvPr/>
        </p:nvSpPr>
        <p:spPr>
          <a:xfrm>
            <a:off x="1098113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098113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0" name="Oval 259"/>
          <p:cNvSpPr/>
          <p:nvPr/>
        </p:nvSpPr>
        <p:spPr>
          <a:xfrm>
            <a:off x="1119068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1119068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2" name="Oval 261"/>
          <p:cNvSpPr/>
          <p:nvPr/>
        </p:nvSpPr>
        <p:spPr>
          <a:xfrm>
            <a:off x="1140023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1140023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4" name="Oval 263"/>
          <p:cNvSpPr/>
          <p:nvPr/>
        </p:nvSpPr>
        <p:spPr>
          <a:xfrm>
            <a:off x="1160978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1160978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6" name="Oval 265"/>
          <p:cNvSpPr/>
          <p:nvPr/>
        </p:nvSpPr>
        <p:spPr>
          <a:xfrm>
            <a:off x="11085909"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1108590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68" name="Oval 267"/>
          <p:cNvSpPr/>
          <p:nvPr/>
        </p:nvSpPr>
        <p:spPr>
          <a:xfrm>
            <a:off x="11295459"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1129545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0" name="Oval 269"/>
          <p:cNvSpPr/>
          <p:nvPr/>
        </p:nvSpPr>
        <p:spPr>
          <a:xfrm>
            <a:off x="11505009"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1150500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2" name="TextBox 27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273" name="Rectangle 27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TextBox 273"/>
          <p:cNvSpPr txBox="1"/>
          <p:nvPr/>
        </p:nvSpPr>
        <p:spPr>
          <a:xfrm>
            <a:off x="1535906" y="5716715"/>
            <a:ext cx="1469231" cy="164283"/>
          </a:xfrm>
          <a:prstGeom prst="rect">
            <a:avLst/>
          </a:prstGeom>
          <a:noFill/>
        </p:spPr>
        <p:txBody>
          <a:bodyPr wrap="square" lIns="0" rIns="0" tIns="0" bIns="0" anchor="ctr">
            <a:spAutoFit/>
          </a:bodyPr>
          <a:lstStyle/>
          <a:p>
            <a:pPr algn="l"/>
            <a:r>
              <a:rPr sz="1100" b="0">
                <a:solidFill>
                  <a:srgbClr val="2E2E2E"/>
                </a:solidFill>
                <a:latin typeface="Calibri"/>
              </a:rPr>
              <a:t>Flexible Partial Dentures</a:t>
            </a:r>
          </a:p>
        </p:txBody>
      </p:sp>
      <p:sp>
        <p:nvSpPr>
          <p:cNvPr id="275" name="Rectangle 274"/>
          <p:cNvSpPr/>
          <p:nvPr/>
        </p:nvSpPr>
        <p:spPr>
          <a:xfrm>
            <a:off x="3062288"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TextBox 275"/>
          <p:cNvSpPr txBox="1"/>
          <p:nvPr/>
        </p:nvSpPr>
        <p:spPr>
          <a:xfrm>
            <a:off x="3214688" y="5716715"/>
            <a:ext cx="2447925" cy="164283"/>
          </a:xfrm>
          <a:prstGeom prst="rect">
            <a:avLst/>
          </a:prstGeom>
          <a:noFill/>
        </p:spPr>
        <p:txBody>
          <a:bodyPr wrap="square" lIns="0" rIns="0" tIns="0" bIns="0" anchor="ctr">
            <a:spAutoFit/>
          </a:bodyPr>
          <a:lstStyle/>
          <a:p>
            <a:pPr algn="l"/>
            <a:r>
              <a:rPr sz="1100" b="0">
                <a:solidFill>
                  <a:srgbClr val="2E2E2E"/>
                </a:solidFill>
                <a:latin typeface="Calibri"/>
              </a:rPr>
              <a:t>Combination Framework Partial Dentures</a:t>
            </a:r>
          </a:p>
        </p:txBody>
      </p:sp>
      <p:sp>
        <p:nvSpPr>
          <p:cNvPr id="277" name="Rectangle 276"/>
          <p:cNvSpPr/>
          <p:nvPr/>
        </p:nvSpPr>
        <p:spPr>
          <a:xfrm>
            <a:off x="5719762" y="5744096"/>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TextBox 277"/>
          <p:cNvSpPr txBox="1"/>
          <p:nvPr/>
        </p:nvSpPr>
        <p:spPr>
          <a:xfrm>
            <a:off x="5872162" y="5716715"/>
            <a:ext cx="1640681" cy="164283"/>
          </a:xfrm>
          <a:prstGeom prst="rect">
            <a:avLst/>
          </a:prstGeom>
          <a:noFill/>
        </p:spPr>
        <p:txBody>
          <a:bodyPr wrap="square" lIns="0" rIns="0" tIns="0" bIns="0" anchor="ctr">
            <a:spAutoFit/>
          </a:bodyPr>
          <a:lstStyle/>
          <a:p>
            <a:pPr algn="l"/>
            <a:r>
              <a:rPr sz="1100" b="0">
                <a:solidFill>
                  <a:srgbClr val="2E2E2E"/>
                </a:solidFill>
                <a:latin typeface="Calibri"/>
              </a:rPr>
              <a:t>Cast Metal Partial Dentures</a:t>
            </a:r>
          </a:p>
        </p:txBody>
      </p:sp>
      <p:sp>
        <p:nvSpPr>
          <p:cNvPr id="279" name="Rectangle 278"/>
          <p:cNvSpPr/>
          <p:nvPr/>
        </p:nvSpPr>
        <p:spPr>
          <a:xfrm>
            <a:off x="7569994"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TextBox 279"/>
          <p:cNvSpPr txBox="1"/>
          <p:nvPr/>
        </p:nvSpPr>
        <p:spPr>
          <a:xfrm>
            <a:off x="7722394"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281" name="TextBox 280"/>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282" name="TextBox 281"/>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283" name="TextBox 282"/>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284" name="TextBox 283"/>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285" name="TextBox 284"/>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286" name="TextBox 285"/>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287" name="TextBox 286"/>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288" name="TextBox 287"/>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289" name="TextBox 288"/>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290" name="TextBox 289"/>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291" name="TextBox 290"/>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292" name="Oval 291"/>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4" name="TextBox 293"/>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295" name="Oval 294"/>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7" name="TextBox 296"/>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298" name="Oval 297"/>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00" name="TextBox 299"/>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01" name="Oval 300"/>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03" name="TextBox 302"/>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04" name="Oval 303"/>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TextBox 304"/>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06" name="TextBox 305"/>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07" name="Oval 306"/>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9" name="TextBox 308"/>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10" name="Oval 309"/>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12" name="TextBox 311"/>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13" name="TextBox 312"/>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14" name="TextBox 313"/>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15" name="TextBox 3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6" name="Picture 315" descr="lock.png"/>
          <p:cNvPicPr>
            <a:picLocks noChangeAspect="1"/>
          </p:cNvPicPr>
          <p:nvPr/>
        </p:nvPicPr>
        <p:blipFill>
          <a:blip r:embed="rId4"/>
          <a:stretch>
            <a:fillRect/>
          </a:stretch>
        </p:blipFill>
        <p:spPr>
          <a:xfrm>
            <a:off x="1903753" y="2702524"/>
            <a:ext cx="128699" cy="187198"/>
          </a:xfrm>
          <a:prstGeom prst="rect">
            <a:avLst/>
          </a:prstGeom>
        </p:spPr>
      </p:pic>
      <p:pic>
        <p:nvPicPr>
          <p:cNvPr id="317" name="Picture 316" descr="lock.png"/>
          <p:cNvPicPr>
            <a:picLocks noChangeAspect="1"/>
          </p:cNvPicPr>
          <p:nvPr/>
        </p:nvPicPr>
        <p:blipFill>
          <a:blip r:embed="rId4"/>
          <a:stretch>
            <a:fillRect/>
          </a:stretch>
        </p:blipFill>
        <p:spPr>
          <a:xfrm>
            <a:off x="1903753" y="3031091"/>
            <a:ext cx="128699" cy="187198"/>
          </a:xfrm>
          <a:prstGeom prst="rect">
            <a:avLst/>
          </a:prstGeom>
        </p:spPr>
      </p:pic>
      <p:pic>
        <p:nvPicPr>
          <p:cNvPr id="318" name="Picture 317" descr="lock.png"/>
          <p:cNvPicPr>
            <a:picLocks noChangeAspect="1"/>
          </p:cNvPicPr>
          <p:nvPr/>
        </p:nvPicPr>
        <p:blipFill>
          <a:blip r:embed="rId4"/>
          <a:stretch>
            <a:fillRect/>
          </a:stretch>
        </p:blipFill>
        <p:spPr>
          <a:xfrm>
            <a:off x="1903753" y="3560448"/>
            <a:ext cx="128699" cy="187198"/>
          </a:xfrm>
          <a:prstGeom prst="rect">
            <a:avLst/>
          </a:prstGeom>
        </p:spPr>
      </p:pic>
      <p:pic>
        <p:nvPicPr>
          <p:cNvPr id="319" name="Picture 318" descr="lock.png"/>
          <p:cNvPicPr>
            <a:picLocks noChangeAspect="1"/>
          </p:cNvPicPr>
          <p:nvPr/>
        </p:nvPicPr>
        <p:blipFill>
          <a:blip r:embed="rId4"/>
          <a:stretch>
            <a:fillRect/>
          </a:stretch>
        </p:blipFill>
        <p:spPr>
          <a:xfrm>
            <a:off x="3249159" y="2702524"/>
            <a:ext cx="128699" cy="187198"/>
          </a:xfrm>
          <a:prstGeom prst="rect">
            <a:avLst/>
          </a:prstGeom>
        </p:spPr>
      </p:pic>
      <p:pic>
        <p:nvPicPr>
          <p:cNvPr id="320" name="Picture 319" descr="lock.png"/>
          <p:cNvPicPr>
            <a:picLocks noChangeAspect="1"/>
          </p:cNvPicPr>
          <p:nvPr/>
        </p:nvPicPr>
        <p:blipFill>
          <a:blip r:embed="rId4"/>
          <a:stretch>
            <a:fillRect/>
          </a:stretch>
        </p:blipFill>
        <p:spPr>
          <a:xfrm>
            <a:off x="3249159" y="3031091"/>
            <a:ext cx="128699" cy="187198"/>
          </a:xfrm>
          <a:prstGeom prst="rect">
            <a:avLst/>
          </a:prstGeom>
        </p:spPr>
      </p:pic>
      <p:pic>
        <p:nvPicPr>
          <p:cNvPr id="321" name="Picture 320" descr="lock.png"/>
          <p:cNvPicPr>
            <a:picLocks noChangeAspect="1"/>
          </p:cNvPicPr>
          <p:nvPr/>
        </p:nvPicPr>
        <p:blipFill>
          <a:blip r:embed="rId4"/>
          <a:stretch>
            <a:fillRect/>
          </a:stretch>
        </p:blipFill>
        <p:spPr>
          <a:xfrm>
            <a:off x="3249159" y="3560448"/>
            <a:ext cx="128699" cy="187198"/>
          </a:xfrm>
          <a:prstGeom prst="rect">
            <a:avLst/>
          </a:prstGeom>
        </p:spPr>
      </p:pic>
      <p:pic>
        <p:nvPicPr>
          <p:cNvPr id="322" name="Picture 321" descr="lock.png"/>
          <p:cNvPicPr>
            <a:picLocks noChangeAspect="1"/>
          </p:cNvPicPr>
          <p:nvPr/>
        </p:nvPicPr>
        <p:blipFill>
          <a:blip r:embed="rId4"/>
          <a:stretch>
            <a:fillRect/>
          </a:stretch>
        </p:blipFill>
        <p:spPr>
          <a:xfrm>
            <a:off x="4594566" y="2702524"/>
            <a:ext cx="128699" cy="187198"/>
          </a:xfrm>
          <a:prstGeom prst="rect">
            <a:avLst/>
          </a:prstGeom>
        </p:spPr>
      </p:pic>
      <p:pic>
        <p:nvPicPr>
          <p:cNvPr id="323" name="Picture 322" descr="lock.png"/>
          <p:cNvPicPr>
            <a:picLocks noChangeAspect="1"/>
          </p:cNvPicPr>
          <p:nvPr/>
        </p:nvPicPr>
        <p:blipFill>
          <a:blip r:embed="rId4"/>
          <a:stretch>
            <a:fillRect/>
          </a:stretch>
        </p:blipFill>
        <p:spPr>
          <a:xfrm>
            <a:off x="4594566" y="3031091"/>
            <a:ext cx="128699" cy="187198"/>
          </a:xfrm>
          <a:prstGeom prst="rect">
            <a:avLst/>
          </a:prstGeom>
        </p:spPr>
      </p:pic>
      <p:pic>
        <p:nvPicPr>
          <p:cNvPr id="324" name="Picture 323" descr="lock.png"/>
          <p:cNvPicPr>
            <a:picLocks noChangeAspect="1"/>
          </p:cNvPicPr>
          <p:nvPr/>
        </p:nvPicPr>
        <p:blipFill>
          <a:blip r:embed="rId4"/>
          <a:stretch>
            <a:fillRect/>
          </a:stretch>
        </p:blipFill>
        <p:spPr>
          <a:xfrm>
            <a:off x="4594566" y="3560448"/>
            <a:ext cx="128699" cy="187198"/>
          </a:xfrm>
          <a:prstGeom prst="rect">
            <a:avLst/>
          </a:prstGeom>
        </p:spPr>
      </p:pic>
      <p:pic>
        <p:nvPicPr>
          <p:cNvPr id="325" name="Picture 324" descr="lock.png"/>
          <p:cNvPicPr>
            <a:picLocks noChangeAspect="1"/>
          </p:cNvPicPr>
          <p:nvPr/>
        </p:nvPicPr>
        <p:blipFill>
          <a:blip r:embed="rId4"/>
          <a:stretch>
            <a:fillRect/>
          </a:stretch>
        </p:blipFill>
        <p:spPr>
          <a:xfrm>
            <a:off x="5939972" y="2702524"/>
            <a:ext cx="128699" cy="187198"/>
          </a:xfrm>
          <a:prstGeom prst="rect">
            <a:avLst/>
          </a:prstGeom>
        </p:spPr>
      </p:pic>
      <p:pic>
        <p:nvPicPr>
          <p:cNvPr id="326" name="Picture 325" descr="lock.png"/>
          <p:cNvPicPr>
            <a:picLocks noChangeAspect="1"/>
          </p:cNvPicPr>
          <p:nvPr/>
        </p:nvPicPr>
        <p:blipFill>
          <a:blip r:embed="rId4"/>
          <a:stretch>
            <a:fillRect/>
          </a:stretch>
        </p:blipFill>
        <p:spPr>
          <a:xfrm>
            <a:off x="5939972" y="3031091"/>
            <a:ext cx="128699" cy="187198"/>
          </a:xfrm>
          <a:prstGeom prst="rect">
            <a:avLst/>
          </a:prstGeom>
        </p:spPr>
      </p:pic>
      <p:pic>
        <p:nvPicPr>
          <p:cNvPr id="327" name="Picture 326" descr="lock.png"/>
          <p:cNvPicPr>
            <a:picLocks noChangeAspect="1"/>
          </p:cNvPicPr>
          <p:nvPr/>
        </p:nvPicPr>
        <p:blipFill>
          <a:blip r:embed="rId4"/>
          <a:stretch>
            <a:fillRect/>
          </a:stretch>
        </p:blipFill>
        <p:spPr>
          <a:xfrm>
            <a:off x="5939972" y="3560448"/>
            <a:ext cx="128699" cy="187198"/>
          </a:xfrm>
          <a:prstGeom prst="rect">
            <a:avLst/>
          </a:prstGeom>
        </p:spPr>
      </p:pic>
      <p:pic>
        <p:nvPicPr>
          <p:cNvPr id="328" name="Picture 327" descr="lock.png"/>
          <p:cNvPicPr>
            <a:picLocks noChangeAspect="1"/>
          </p:cNvPicPr>
          <p:nvPr/>
        </p:nvPicPr>
        <p:blipFill>
          <a:blip r:embed="rId4"/>
          <a:stretch>
            <a:fillRect/>
          </a:stretch>
        </p:blipFill>
        <p:spPr>
          <a:xfrm>
            <a:off x="7285378" y="2702524"/>
            <a:ext cx="128699" cy="187198"/>
          </a:xfrm>
          <a:prstGeom prst="rect">
            <a:avLst/>
          </a:prstGeom>
        </p:spPr>
      </p:pic>
      <p:pic>
        <p:nvPicPr>
          <p:cNvPr id="329" name="Picture 328" descr="lock.png"/>
          <p:cNvPicPr>
            <a:picLocks noChangeAspect="1"/>
          </p:cNvPicPr>
          <p:nvPr/>
        </p:nvPicPr>
        <p:blipFill>
          <a:blip r:embed="rId4"/>
          <a:stretch>
            <a:fillRect/>
          </a:stretch>
        </p:blipFill>
        <p:spPr>
          <a:xfrm>
            <a:off x="7285378" y="3031091"/>
            <a:ext cx="128699" cy="187198"/>
          </a:xfrm>
          <a:prstGeom prst="rect">
            <a:avLst/>
          </a:prstGeom>
        </p:spPr>
      </p:pic>
      <p:pic>
        <p:nvPicPr>
          <p:cNvPr id="330" name="Picture 329" descr="lock.png"/>
          <p:cNvPicPr>
            <a:picLocks noChangeAspect="1"/>
          </p:cNvPicPr>
          <p:nvPr/>
        </p:nvPicPr>
        <p:blipFill>
          <a:blip r:embed="rId4"/>
          <a:stretch>
            <a:fillRect/>
          </a:stretch>
        </p:blipFill>
        <p:spPr>
          <a:xfrm>
            <a:off x="7285378" y="3560448"/>
            <a:ext cx="128699" cy="187198"/>
          </a:xfrm>
          <a:prstGeom prst="rect">
            <a:avLst/>
          </a:prstGeom>
        </p:spPr>
      </p:pic>
      <p:pic>
        <p:nvPicPr>
          <p:cNvPr id="331" name="Picture 330" descr="lock.png"/>
          <p:cNvPicPr>
            <a:picLocks noChangeAspect="1"/>
          </p:cNvPicPr>
          <p:nvPr/>
        </p:nvPicPr>
        <p:blipFill>
          <a:blip r:embed="rId4"/>
          <a:stretch>
            <a:fillRect/>
          </a:stretch>
        </p:blipFill>
        <p:spPr>
          <a:xfrm>
            <a:off x="8630784" y="2702524"/>
            <a:ext cx="128699" cy="187198"/>
          </a:xfrm>
          <a:prstGeom prst="rect">
            <a:avLst/>
          </a:prstGeom>
        </p:spPr>
      </p:pic>
      <p:pic>
        <p:nvPicPr>
          <p:cNvPr id="332" name="Picture 331" descr="lock.png"/>
          <p:cNvPicPr>
            <a:picLocks noChangeAspect="1"/>
          </p:cNvPicPr>
          <p:nvPr/>
        </p:nvPicPr>
        <p:blipFill>
          <a:blip r:embed="rId4"/>
          <a:stretch>
            <a:fillRect/>
          </a:stretch>
        </p:blipFill>
        <p:spPr>
          <a:xfrm>
            <a:off x="8630784" y="3031091"/>
            <a:ext cx="128699" cy="187198"/>
          </a:xfrm>
          <a:prstGeom prst="rect">
            <a:avLst/>
          </a:prstGeom>
        </p:spPr>
      </p:pic>
      <p:pic>
        <p:nvPicPr>
          <p:cNvPr id="333" name="Picture 332" descr="lock.png"/>
          <p:cNvPicPr>
            <a:picLocks noChangeAspect="1"/>
          </p:cNvPicPr>
          <p:nvPr/>
        </p:nvPicPr>
        <p:blipFill>
          <a:blip r:embed="rId4"/>
          <a:stretch>
            <a:fillRect/>
          </a:stretch>
        </p:blipFill>
        <p:spPr>
          <a:xfrm>
            <a:off x="8630784" y="3560448"/>
            <a:ext cx="128699" cy="187198"/>
          </a:xfrm>
          <a:prstGeom prst="rect">
            <a:avLst/>
          </a:prstGeom>
        </p:spPr>
      </p:pic>
      <p:pic>
        <p:nvPicPr>
          <p:cNvPr id="334" name="Picture 333" descr="lock.png"/>
          <p:cNvPicPr>
            <a:picLocks noChangeAspect="1"/>
          </p:cNvPicPr>
          <p:nvPr/>
        </p:nvPicPr>
        <p:blipFill>
          <a:blip r:embed="rId4"/>
          <a:stretch>
            <a:fillRect/>
          </a:stretch>
        </p:blipFill>
        <p:spPr>
          <a:xfrm>
            <a:off x="9976190" y="2702524"/>
            <a:ext cx="128699" cy="187198"/>
          </a:xfrm>
          <a:prstGeom prst="rect">
            <a:avLst/>
          </a:prstGeom>
        </p:spPr>
      </p:pic>
      <p:pic>
        <p:nvPicPr>
          <p:cNvPr id="335" name="Picture 334" descr="lock.png"/>
          <p:cNvPicPr>
            <a:picLocks noChangeAspect="1"/>
          </p:cNvPicPr>
          <p:nvPr/>
        </p:nvPicPr>
        <p:blipFill>
          <a:blip r:embed="rId4"/>
          <a:stretch>
            <a:fillRect/>
          </a:stretch>
        </p:blipFill>
        <p:spPr>
          <a:xfrm>
            <a:off x="9976190" y="3031091"/>
            <a:ext cx="128699" cy="187198"/>
          </a:xfrm>
          <a:prstGeom prst="rect">
            <a:avLst/>
          </a:prstGeom>
        </p:spPr>
      </p:pic>
      <p:pic>
        <p:nvPicPr>
          <p:cNvPr id="336" name="Picture 335" descr="lock.png"/>
          <p:cNvPicPr>
            <a:picLocks noChangeAspect="1"/>
          </p:cNvPicPr>
          <p:nvPr/>
        </p:nvPicPr>
        <p:blipFill>
          <a:blip r:embed="rId4"/>
          <a:stretch>
            <a:fillRect/>
          </a:stretch>
        </p:blipFill>
        <p:spPr>
          <a:xfrm>
            <a:off x="9976191" y="3560448"/>
            <a:ext cx="128699" cy="187198"/>
          </a:xfrm>
          <a:prstGeom prst="rect">
            <a:avLst/>
          </a:prstGeom>
        </p:spPr>
      </p:pic>
      <p:pic>
        <p:nvPicPr>
          <p:cNvPr id="337" name="Picture 336" descr="lock.png"/>
          <p:cNvPicPr>
            <a:picLocks noChangeAspect="1"/>
          </p:cNvPicPr>
          <p:nvPr/>
        </p:nvPicPr>
        <p:blipFill>
          <a:blip r:embed="rId4"/>
          <a:stretch>
            <a:fillRect/>
          </a:stretch>
        </p:blipFill>
        <p:spPr>
          <a:xfrm>
            <a:off x="11321597" y="2702524"/>
            <a:ext cx="128699" cy="187198"/>
          </a:xfrm>
          <a:prstGeom prst="rect">
            <a:avLst/>
          </a:prstGeom>
        </p:spPr>
      </p:pic>
      <p:pic>
        <p:nvPicPr>
          <p:cNvPr id="338" name="Picture 337" descr="lock.png"/>
          <p:cNvPicPr>
            <a:picLocks noChangeAspect="1"/>
          </p:cNvPicPr>
          <p:nvPr/>
        </p:nvPicPr>
        <p:blipFill>
          <a:blip r:embed="rId4"/>
          <a:stretch>
            <a:fillRect/>
          </a:stretch>
        </p:blipFill>
        <p:spPr>
          <a:xfrm>
            <a:off x="11321597" y="3031091"/>
            <a:ext cx="128699" cy="187198"/>
          </a:xfrm>
          <a:prstGeom prst="rect">
            <a:avLst/>
          </a:prstGeom>
        </p:spPr>
      </p:pic>
      <p:pic>
        <p:nvPicPr>
          <p:cNvPr id="339" name="Picture 338" descr="lock.png"/>
          <p:cNvPicPr>
            <a:picLocks noChangeAspect="1"/>
          </p:cNvPicPr>
          <p:nvPr/>
        </p:nvPicPr>
        <p:blipFill>
          <a:blip r:embed="rId4"/>
          <a:stretch>
            <a:fillRect/>
          </a:stretch>
        </p:blipFill>
        <p:spPr>
          <a:xfrm>
            <a:off x="11321597" y="3560448"/>
            <a:ext cx="128699" cy="187198"/>
          </a:xfrm>
          <a:prstGeom prst="rect">
            <a:avLst/>
          </a:prstGeom>
        </p:spPr>
      </p:pic>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Removable Partial Dentures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8" name="TextBox 27"/>
          <p:cNvSpPr txBox="1"/>
          <p:nvPr/>
        </p:nvSpPr>
        <p:spPr>
          <a:xfrm>
            <a:off x="276225" y="1773181"/>
            <a:ext cx="3235387" cy="194310"/>
          </a:xfrm>
          <a:prstGeom prst="rect">
            <a:avLst/>
          </a:prstGeom>
          <a:noFill/>
        </p:spPr>
        <p:txBody>
          <a:bodyPr wrap="none" lIns="0" rIns="0" tIns="0" bIns="0">
            <a:spAutoFit/>
          </a:bodyPr>
          <a:lstStyle/>
          <a:p>
            <a:r>
              <a:rPr sz="1150" b="0">
                <a:solidFill>
                  <a:srgbClr val="2E2E2E"/>
                </a:solidFill>
                <a:latin typeface="Calibri"/>
              </a:rPr>
              <a:t>▪ Hold price discipline: with the top three players at ~</a:t>
            </a:r>
          </a:p>
        </p:txBody>
      </p:sp>
      <p:pic>
        <p:nvPicPr>
          <p:cNvPr id="29" name="Picture 28" descr="lock.png"/>
          <p:cNvPicPr>
            <a:picLocks noChangeAspect="1"/>
          </p:cNvPicPr>
          <p:nvPr/>
        </p:nvPicPr>
        <p:blipFill>
          <a:blip r:embed="rId4"/>
          <a:stretch>
            <a:fillRect/>
          </a:stretch>
        </p:blipFill>
        <p:spPr>
          <a:xfrm>
            <a:off x="3460765" y="1762957"/>
            <a:ext cx="134549" cy="195707"/>
          </a:xfrm>
          <a:prstGeom prst="rect">
            <a:avLst/>
          </a:prstGeom>
        </p:spPr>
      </p:pic>
      <p:sp>
        <p:nvSpPr>
          <p:cNvPr id="30" name="TextBox 29"/>
          <p:cNvSpPr txBox="1"/>
          <p:nvPr/>
        </p:nvSpPr>
        <p:spPr>
          <a:xfrm>
            <a:off x="3635875" y="1773181"/>
            <a:ext cx="1859892" cy="194310"/>
          </a:xfrm>
          <a:prstGeom prst="rect">
            <a:avLst/>
          </a:prstGeom>
          <a:noFill/>
        </p:spPr>
        <p:txBody>
          <a:bodyPr wrap="none" lIns="0" rIns="0" tIns="0" bIns="0">
            <a:spAutoFit/>
          </a:bodyPr>
          <a:lstStyle/>
          <a:p>
            <a:r>
              <a:rPr sz="1150" b="0">
                <a:solidFill>
                  <a:srgbClr val="2E2E2E"/>
                </a:solidFill>
                <a:latin typeface="Calibri"/>
              </a:rPr>
              <a:t>share, avoid value-destructive</a:t>
            </a:r>
          </a:p>
        </p:txBody>
      </p:sp>
      <p:sp>
        <p:nvSpPr>
          <p:cNvPr id="31" name="TextBox 30"/>
          <p:cNvSpPr txBox="1"/>
          <p:nvPr/>
        </p:nvSpPr>
        <p:spPr>
          <a:xfrm>
            <a:off x="276225" y="1948441"/>
            <a:ext cx="3646723" cy="194310"/>
          </a:xfrm>
          <a:prstGeom prst="rect">
            <a:avLst/>
          </a:prstGeom>
          <a:noFill/>
        </p:spPr>
        <p:txBody>
          <a:bodyPr wrap="none" lIns="0" rIns="0" tIns="0" bIns="0">
            <a:spAutoFit/>
          </a:bodyPr>
          <a:lstStyle/>
          <a:p>
            <a:r>
              <a:rPr sz="1150" b="0">
                <a:solidFill>
                  <a:srgbClr val="2E2E2E"/>
                </a:solidFill>
                <a:latin typeface="Calibri"/>
              </a:rPr>
              <a:t>discounting compete on mix and service, not headline price.</a:t>
            </a:r>
          </a:p>
        </p:txBody>
      </p:sp>
      <p:sp>
        <p:nvSpPr>
          <p:cNvPr id="32" name="TextBox 31"/>
          <p:cNvSpPr txBox="1"/>
          <p:nvPr/>
        </p:nvSpPr>
        <p:spPr>
          <a:xfrm>
            <a:off x="276225" y="2176279"/>
            <a:ext cx="5137174" cy="194310"/>
          </a:xfrm>
          <a:prstGeom prst="rect">
            <a:avLst/>
          </a:prstGeom>
          <a:noFill/>
        </p:spPr>
        <p:txBody>
          <a:bodyPr wrap="none" lIns="0" rIns="0" tIns="0" bIns="0">
            <a:spAutoFit/>
          </a:bodyPr>
          <a:lstStyle/>
          <a:p>
            <a:r>
              <a:rPr sz="1150" b="0">
                <a:solidFill>
                  <a:srgbClr val="2E2E2E"/>
                </a:solidFill>
                <a:latin typeface="Calibri"/>
              </a:rPr>
              <a:t>▪ Premiumise toward higher-value formulations (e.g. 'Flexible Partial Dentures') to lift</a:t>
            </a:r>
          </a:p>
        </p:txBody>
      </p:sp>
      <p:sp>
        <p:nvSpPr>
          <p:cNvPr id="33" name="TextBox 32"/>
          <p:cNvSpPr txBox="1"/>
          <p:nvPr/>
        </p:nvSpPr>
        <p:spPr>
          <a:xfrm>
            <a:off x="276225" y="2351539"/>
            <a:ext cx="3225403" cy="194310"/>
          </a:xfrm>
          <a:prstGeom prst="rect">
            <a:avLst/>
          </a:prstGeom>
          <a:noFill/>
        </p:spPr>
        <p:txBody>
          <a:bodyPr wrap="none" lIns="0" rIns="0" tIns="0" bIns="0">
            <a:spAutoFit/>
          </a:bodyPr>
          <a:lstStyle/>
          <a:p>
            <a:r>
              <a:rPr sz="1150" b="0">
                <a:solidFill>
                  <a:srgbClr val="2E2E2E"/>
                </a:solidFill>
                <a:latin typeface="Calibri"/>
              </a:rPr>
              <a:t>blended ASP and defend margin as input costs move.</a:t>
            </a:r>
          </a:p>
        </p:txBody>
      </p:sp>
      <p:sp>
        <p:nvSpPr>
          <p:cNvPr id="34" name="TextBox 33"/>
          <p:cNvSpPr txBox="1"/>
          <p:nvPr/>
        </p:nvSpPr>
        <p:spPr>
          <a:xfrm>
            <a:off x="276225" y="2579377"/>
            <a:ext cx="4816264" cy="194310"/>
          </a:xfrm>
          <a:prstGeom prst="rect">
            <a:avLst/>
          </a:prstGeom>
          <a:noFill/>
        </p:spPr>
        <p:txBody>
          <a:bodyPr wrap="none" lIns="0" rIns="0" tIns="0" bIns="0">
            <a:spAutoFit/>
          </a:bodyPr>
          <a:lstStyle/>
          <a:p>
            <a:r>
              <a:rPr sz="1150" b="0">
                <a:solidFill>
                  <a:srgbClr val="2E2E2E"/>
                </a:solidFill>
                <a:latin typeface="Calibri"/>
              </a:rPr>
              <a:t>▪ Set transparent, corridor-based regional pricing to limit grey-market arbitrage.</a:t>
            </a:r>
          </a:p>
        </p:txBody>
      </p:sp>
      <p:sp>
        <p:nvSpPr>
          <p:cNvPr id="35" name="TextBox 34"/>
          <p:cNvSpPr txBox="1"/>
          <p:nvPr/>
        </p:nvSpPr>
        <p:spPr>
          <a:xfrm>
            <a:off x="6324600" y="1773181"/>
            <a:ext cx="5495453" cy="194310"/>
          </a:xfrm>
          <a:prstGeom prst="rect">
            <a:avLst/>
          </a:prstGeom>
          <a:noFill/>
        </p:spPr>
        <p:txBody>
          <a:bodyPr wrap="none" lIns="0" rIns="0" tIns="0" bIns="0">
            <a:spAutoFit/>
          </a:bodyPr>
          <a:lstStyle/>
          <a:p>
            <a:r>
              <a:rPr sz="1150" b="0">
                <a:solidFill>
                  <a:srgbClr val="2E2E2E"/>
                </a:solidFill>
                <a:latin typeface="Calibri"/>
              </a:rPr>
              <a:t>▪ Prioritise R&amp;D in the fastest-growing formulations a differentiated portfolio is the clearest</a:t>
            </a:r>
          </a:p>
        </p:txBody>
      </p:sp>
      <p:sp>
        <p:nvSpPr>
          <p:cNvPr id="36" name="TextBox 35"/>
          <p:cNvSpPr txBox="1"/>
          <p:nvPr/>
        </p:nvSpPr>
        <p:spPr>
          <a:xfrm>
            <a:off x="6324600" y="1948441"/>
            <a:ext cx="1660500" cy="194310"/>
          </a:xfrm>
          <a:prstGeom prst="rect">
            <a:avLst/>
          </a:prstGeom>
          <a:noFill/>
        </p:spPr>
        <p:txBody>
          <a:bodyPr wrap="none" lIns="0" rIns="0" tIns="0" bIns="0">
            <a:spAutoFit/>
          </a:bodyPr>
          <a:lstStyle/>
          <a:p>
            <a:r>
              <a:rPr sz="1150" b="0">
                <a:solidFill>
                  <a:srgbClr val="2E2E2E"/>
                </a:solidFill>
                <a:latin typeface="Calibri"/>
              </a:rPr>
              <a:t>route to out-growing the ~</a:t>
            </a:r>
          </a:p>
        </p:txBody>
      </p:sp>
      <p:pic>
        <p:nvPicPr>
          <p:cNvPr id="37" name="Picture 36" descr="lock.png"/>
          <p:cNvPicPr>
            <a:picLocks noChangeAspect="1"/>
          </p:cNvPicPr>
          <p:nvPr/>
        </p:nvPicPr>
        <p:blipFill>
          <a:blip r:embed="rId4"/>
          <a:stretch>
            <a:fillRect/>
          </a:stretch>
        </p:blipFill>
        <p:spPr>
          <a:xfrm>
            <a:off x="7934254" y="1938217"/>
            <a:ext cx="134549" cy="195707"/>
          </a:xfrm>
          <a:prstGeom prst="rect">
            <a:avLst/>
          </a:prstGeom>
        </p:spPr>
      </p:pic>
      <p:sp>
        <p:nvSpPr>
          <p:cNvPr id="38" name="TextBox 37"/>
          <p:cNvSpPr txBox="1"/>
          <p:nvPr/>
        </p:nvSpPr>
        <p:spPr>
          <a:xfrm>
            <a:off x="8109363" y="1948441"/>
            <a:ext cx="905700" cy="194310"/>
          </a:xfrm>
          <a:prstGeom prst="rect">
            <a:avLst/>
          </a:prstGeom>
          <a:noFill/>
        </p:spPr>
        <p:txBody>
          <a:bodyPr wrap="none" lIns="0" rIns="0" tIns="0" bIns="0">
            <a:spAutoFit/>
          </a:bodyPr>
          <a:lstStyle/>
          <a:p>
            <a:r>
              <a:rPr sz="1150" b="0">
                <a:solidFill>
                  <a:srgbClr val="2E2E2E"/>
                </a:solidFill>
                <a:latin typeface="Calibri"/>
              </a:rPr>
              <a:t>market CAGR.</a:t>
            </a:r>
          </a:p>
        </p:txBody>
      </p:sp>
      <p:sp>
        <p:nvSpPr>
          <p:cNvPr id="39" name="TextBox 38"/>
          <p:cNvSpPr txBox="1"/>
          <p:nvPr/>
        </p:nvSpPr>
        <p:spPr>
          <a:xfrm>
            <a:off x="6324600" y="2176279"/>
            <a:ext cx="5383919" cy="194310"/>
          </a:xfrm>
          <a:prstGeom prst="rect">
            <a:avLst/>
          </a:prstGeom>
          <a:noFill/>
        </p:spPr>
        <p:txBody>
          <a:bodyPr wrap="none" lIns="0" rIns="0" tIns="0" bIns="0">
            <a:spAutoFit/>
          </a:bodyPr>
          <a:lstStyle/>
          <a:p>
            <a:r>
              <a:rPr sz="1150" b="0">
                <a:solidFill>
                  <a:srgbClr val="2E2E2E"/>
                </a:solidFill>
                <a:latin typeface="Calibri"/>
              </a:rPr>
              <a:t>▪ Pursue certification and clinical validation to build switching costs and support premium</a:t>
            </a:r>
          </a:p>
        </p:txBody>
      </p:sp>
      <p:sp>
        <p:nvSpPr>
          <p:cNvPr id="40" name="TextBox 39"/>
          <p:cNvSpPr txBox="1"/>
          <p:nvPr/>
        </p:nvSpPr>
        <p:spPr>
          <a:xfrm>
            <a:off x="6324600" y="2351539"/>
            <a:ext cx="773075" cy="194310"/>
          </a:xfrm>
          <a:prstGeom prst="rect">
            <a:avLst/>
          </a:prstGeom>
          <a:noFill/>
        </p:spPr>
        <p:txBody>
          <a:bodyPr wrap="none" lIns="0" rIns="0" tIns="0" bIns="0">
            <a:spAutoFit/>
          </a:bodyPr>
          <a:lstStyle/>
          <a:p>
            <a:r>
              <a:rPr sz="1150" b="0">
                <a:solidFill>
                  <a:srgbClr val="2E2E2E"/>
                </a:solidFill>
                <a:latin typeface="Calibri"/>
              </a:rPr>
              <a:t>positioning.</a:t>
            </a:r>
          </a:p>
        </p:txBody>
      </p:sp>
      <p:sp>
        <p:nvSpPr>
          <p:cNvPr id="41" name="TextBox 40"/>
          <p:cNvSpPr txBox="1"/>
          <p:nvPr/>
        </p:nvSpPr>
        <p:spPr>
          <a:xfrm>
            <a:off x="6324600" y="2579377"/>
            <a:ext cx="3931406" cy="194310"/>
          </a:xfrm>
          <a:prstGeom prst="rect">
            <a:avLst/>
          </a:prstGeom>
          <a:noFill/>
        </p:spPr>
        <p:txBody>
          <a:bodyPr wrap="none" lIns="0" rIns="0" tIns="0" bIns="0">
            <a:spAutoFit/>
          </a:bodyPr>
          <a:lstStyle/>
          <a:p>
            <a:r>
              <a:rPr sz="1150" b="0">
                <a:solidFill>
                  <a:srgbClr val="2E2E2E"/>
                </a:solidFill>
                <a:latin typeface="Calibri"/>
              </a:rPr>
              <a:t>▪ Localise formats and pack sizes to each channel and geography.</a:t>
            </a:r>
          </a:p>
        </p:txBody>
      </p:sp>
      <p:sp>
        <p:nvSpPr>
          <p:cNvPr id="42" name="TextBox 41"/>
          <p:cNvSpPr txBox="1"/>
          <p:nvPr/>
        </p:nvSpPr>
        <p:spPr>
          <a:xfrm>
            <a:off x="6324600" y="4465602"/>
            <a:ext cx="2926457" cy="194310"/>
          </a:xfrm>
          <a:prstGeom prst="rect">
            <a:avLst/>
          </a:prstGeom>
          <a:noFill/>
        </p:spPr>
        <p:txBody>
          <a:bodyPr wrap="none" lIns="0" rIns="0" tIns="0" bIns="0">
            <a:spAutoFit/>
          </a:bodyPr>
          <a:lstStyle/>
          <a:p>
            <a:r>
              <a:rPr sz="1150" b="0">
                <a:solidFill>
                  <a:srgbClr val="2E2E2E"/>
                </a:solidFill>
                <a:latin typeface="Calibri"/>
              </a:rPr>
              <a:t>▪ Benchmark relentlessly against 'Company A' (~</a:t>
            </a:r>
          </a:p>
        </p:txBody>
      </p:sp>
      <p:pic>
        <p:nvPicPr>
          <p:cNvPr id="43" name="Picture 42" descr="lock.png"/>
          <p:cNvPicPr>
            <a:picLocks noChangeAspect="1"/>
          </p:cNvPicPr>
          <p:nvPr/>
        </p:nvPicPr>
        <p:blipFill>
          <a:blip r:embed="rId4"/>
          <a:stretch>
            <a:fillRect/>
          </a:stretch>
        </p:blipFill>
        <p:spPr>
          <a:xfrm>
            <a:off x="9200210" y="4455378"/>
            <a:ext cx="134549" cy="195707"/>
          </a:xfrm>
          <a:prstGeom prst="rect">
            <a:avLst/>
          </a:prstGeom>
        </p:spPr>
      </p:pic>
      <p:sp>
        <p:nvSpPr>
          <p:cNvPr id="44" name="TextBox 43"/>
          <p:cNvSpPr txBox="1"/>
          <p:nvPr/>
        </p:nvSpPr>
        <p:spPr>
          <a:xfrm>
            <a:off x="9375320" y="4465602"/>
            <a:ext cx="2219597" cy="194310"/>
          </a:xfrm>
          <a:prstGeom prst="rect">
            <a:avLst/>
          </a:prstGeom>
          <a:noFill/>
        </p:spPr>
        <p:txBody>
          <a:bodyPr wrap="none" lIns="0" rIns="0" tIns="0" bIns="0">
            <a:spAutoFit/>
          </a:bodyPr>
          <a:lstStyle/>
          <a:p>
            <a:r>
              <a:rPr sz="1150" b="0">
                <a:solidFill>
                  <a:srgbClr val="2E2E2E"/>
                </a:solidFill>
                <a:latin typeface="Calibri"/>
              </a:rPr>
              <a:t>share) match on service and lead on</a:t>
            </a:r>
          </a:p>
        </p:txBody>
      </p:sp>
      <p:sp>
        <p:nvSpPr>
          <p:cNvPr id="45" name="TextBox 44"/>
          <p:cNvSpPr txBox="1"/>
          <p:nvPr/>
        </p:nvSpPr>
        <p:spPr>
          <a:xfrm>
            <a:off x="6324600" y="4640861"/>
            <a:ext cx="1560376" cy="194310"/>
          </a:xfrm>
          <a:prstGeom prst="rect">
            <a:avLst/>
          </a:prstGeom>
          <a:noFill/>
        </p:spPr>
        <p:txBody>
          <a:bodyPr wrap="none" lIns="0" rIns="0" tIns="0" bIns="0">
            <a:spAutoFit/>
          </a:bodyPr>
          <a:lstStyle/>
          <a:p>
            <a:r>
              <a:rPr sz="1150" b="0">
                <a:solidFill>
                  <a:srgbClr val="2E2E2E"/>
                </a:solidFill>
                <a:latin typeface="Calibri"/>
              </a:rPr>
              <a:t>innovation to take share.</a:t>
            </a:r>
          </a:p>
        </p:txBody>
      </p:sp>
      <p:sp>
        <p:nvSpPr>
          <p:cNvPr id="46" name="TextBox 45"/>
          <p:cNvSpPr txBox="1"/>
          <p:nvPr/>
        </p:nvSpPr>
        <p:spPr>
          <a:xfrm>
            <a:off x="6324600" y="4868699"/>
            <a:ext cx="5455518" cy="194310"/>
          </a:xfrm>
          <a:prstGeom prst="rect">
            <a:avLst/>
          </a:prstGeom>
          <a:noFill/>
        </p:spPr>
        <p:txBody>
          <a:bodyPr wrap="none" lIns="0" rIns="0" tIns="0" bIns="0">
            <a:spAutoFit/>
          </a:bodyPr>
          <a:lstStyle/>
          <a:p>
            <a:r>
              <a:rPr sz="1150" b="0">
                <a:solidFill>
                  <a:srgbClr val="2E2E2E"/>
                </a:solidFill>
                <a:latin typeface="Calibri"/>
              </a:rPr>
              <a:t>▪ Diversify the customer base to cut dependence on a few large accounts and single-region</a:t>
            </a:r>
          </a:p>
        </p:txBody>
      </p:sp>
      <p:sp>
        <p:nvSpPr>
          <p:cNvPr id="47" name="TextBox 46"/>
          <p:cNvSpPr txBox="1"/>
          <p:nvPr/>
        </p:nvSpPr>
        <p:spPr>
          <a:xfrm>
            <a:off x="6324600" y="5043959"/>
            <a:ext cx="660400" cy="194310"/>
          </a:xfrm>
          <a:prstGeom prst="rect">
            <a:avLst/>
          </a:prstGeom>
          <a:noFill/>
        </p:spPr>
        <p:txBody>
          <a:bodyPr wrap="none" lIns="0" rIns="0" tIns="0" bIns="0">
            <a:spAutoFit/>
          </a:bodyPr>
          <a:lstStyle/>
          <a:p>
            <a:r>
              <a:rPr sz="1150" b="0">
                <a:solidFill>
                  <a:srgbClr val="2E2E2E"/>
                </a:solidFill>
                <a:latin typeface="Calibri"/>
              </a:rPr>
              <a:t>exposure.</a:t>
            </a:r>
          </a:p>
        </p:txBody>
      </p:sp>
      <p:sp>
        <p:nvSpPr>
          <p:cNvPr id="48" name="TextBox 47"/>
          <p:cNvSpPr txBox="1"/>
          <p:nvPr/>
        </p:nvSpPr>
        <p:spPr>
          <a:xfrm>
            <a:off x="6324600" y="5271797"/>
            <a:ext cx="5230167" cy="194310"/>
          </a:xfrm>
          <a:prstGeom prst="rect">
            <a:avLst/>
          </a:prstGeom>
          <a:noFill/>
        </p:spPr>
        <p:txBody>
          <a:bodyPr wrap="none" lIns="0" rIns="0" tIns="0" bIns="0">
            <a:spAutoFit/>
          </a:bodyPr>
          <a:lstStyle/>
          <a:p>
            <a:r>
              <a:rPr sz="1150" b="0">
                <a:solidFill>
                  <a:srgbClr val="2E2E2E"/>
                </a:solidFill>
                <a:latin typeface="Calibri"/>
              </a:rPr>
              <a:t>▪ Stress-test for regulatory, currency and supply shocks; keep flexible capacity and dual</a:t>
            </a:r>
          </a:p>
        </p:txBody>
      </p:sp>
      <p:sp>
        <p:nvSpPr>
          <p:cNvPr id="49" name="TextBox 48"/>
          <p:cNvSpPr txBox="1"/>
          <p:nvPr/>
        </p:nvSpPr>
        <p:spPr>
          <a:xfrm>
            <a:off x="6324600" y="5447057"/>
            <a:ext cx="615900" cy="194310"/>
          </a:xfrm>
          <a:prstGeom prst="rect">
            <a:avLst/>
          </a:prstGeom>
          <a:noFill/>
        </p:spPr>
        <p:txBody>
          <a:bodyPr wrap="none" lIns="0" rIns="0" tIns="0" bIns="0">
            <a:spAutoFit/>
          </a:bodyPr>
          <a:lstStyle/>
          <a:p>
            <a:r>
              <a:rPr sz="1150" b="0">
                <a:solidFill>
                  <a:srgbClr val="2E2E2E"/>
                </a:solidFill>
                <a:latin typeface="Calibri"/>
              </a:rPr>
              <a:t>sourcing.</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
            </a:r>
          </a:p>
          <a:p>
            <a:pPr algn="ctr"/>
            <a:r>
              <a:rPr sz="1300" b="1">
                <a:solidFill>
                  <a:srgbClr val="2E2E2E"/>
                </a:solidFill>
                <a:latin typeface="Calibri"/>
              </a:rPr>
              <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5"/>
          <a:stretch>
            <a:fillRect/>
          </a:stretch>
        </p:blipFill>
        <p:spPr>
          <a:xfrm>
            <a:off x="2533173" y="3678610"/>
            <a:ext cx="523875" cy="762000"/>
          </a:xfrm>
          <a:prstGeom prst="rect">
            <a:avLst/>
          </a:prstGeom>
        </p:spPr>
      </p:pic>
      <p:sp>
        <p:nvSpPr>
          <p:cNvPr id="22" name="TextBox 21"/>
          <p:cNvSpPr txBox="1"/>
          <p:nvPr/>
        </p:nvSpPr>
        <p:spPr>
          <a:xfrm>
            <a:off x="2634865" y="3914616"/>
            <a:ext cx="430029" cy="161696"/>
          </a:xfrm>
          <a:prstGeom prst="rect">
            <a:avLst/>
          </a:prstGeom>
          <a:noFill/>
        </p:spPr>
        <p:txBody>
          <a:bodyPr wrap="none" lIns="0" rIns="0" tIns="0" bIns="0">
            <a:spAutoFit/>
          </a:bodyPr>
          <a:lstStyle/>
          <a:p>
            <a:r>
              <a:rPr sz="935" b="1">
                <a:solidFill>
                  <a:srgbClr val="2E2E2E"/>
                </a:solidFill>
                <a:latin typeface="Calibri"/>
              </a:rPr>
              <a:t>100% =</a:t>
            </a:r>
          </a:p>
        </p:txBody>
      </p:sp>
      <p:pic>
        <p:nvPicPr>
          <p:cNvPr id="23" name="Picture 22" descr="lock.png"/>
          <p:cNvPicPr>
            <a:picLocks noChangeAspect="1"/>
          </p:cNvPicPr>
          <p:nvPr/>
        </p:nvPicPr>
        <p:blipFill>
          <a:blip r:embed="rId5"/>
          <a:stretch>
            <a:fillRect/>
          </a:stretch>
        </p:blipFill>
        <p:spPr>
          <a:xfrm>
            <a:off x="2540344" y="4091735"/>
            <a:ext cx="109510" cy="159288"/>
          </a:xfrm>
          <a:prstGeom prst="rect">
            <a:avLst/>
          </a:prstGeom>
        </p:spPr>
      </p:pic>
      <p:sp>
        <p:nvSpPr>
          <p:cNvPr id="24" name="TextBox 23"/>
          <p:cNvSpPr txBox="1"/>
          <p:nvPr/>
        </p:nvSpPr>
        <p:spPr>
          <a:xfrm>
            <a:off x="2682868" y="4100056"/>
            <a:ext cx="465087" cy="161696"/>
          </a:xfrm>
          <a:prstGeom prst="rect">
            <a:avLst/>
          </a:prstGeom>
          <a:noFill/>
        </p:spPr>
        <p:txBody>
          <a:bodyPr wrap="none" lIns="0" rIns="0" tIns="0" bIns="0">
            <a:spAutoFit/>
          </a:bodyPr>
          <a:lstStyle/>
          <a:p>
            <a:r>
              <a:rPr sz="935" b="1">
                <a:solidFill>
                  <a:srgbClr val="2E2E2E"/>
                </a:solidFill>
                <a:latin typeface="Calibri"/>
              </a:rPr>
              <a:t>US$ Mn</a:t>
            </a:r>
          </a:p>
        </p:txBody>
      </p:sp>
      <p:sp>
        <p:nvSpPr>
          <p:cNvPr id="25" name="TextBox 24"/>
          <p:cNvSpPr txBox="1"/>
          <p:nvPr/>
        </p:nvSpPr>
        <p:spPr>
          <a:xfrm>
            <a:off x="7934325" y="1773181"/>
            <a:ext cx="3422798" cy="194310"/>
          </a:xfrm>
          <a:prstGeom prst="rect">
            <a:avLst/>
          </a:prstGeom>
          <a:noFill/>
        </p:spPr>
        <p:txBody>
          <a:bodyPr wrap="none" lIns="0" rIns="0" tIns="0" bIns="0">
            <a:spAutoFit/>
          </a:bodyPr>
          <a:lstStyle/>
          <a:p>
            <a:r>
              <a:rPr sz="1150" b="0">
                <a:solidFill>
                  <a:srgbClr val="2E2E2E"/>
                </a:solidFill>
                <a:latin typeface="Calibri"/>
              </a:rPr>
              <a:t>Company A accounted for the largest share of the global</a:t>
            </a:r>
          </a:p>
        </p:txBody>
      </p:sp>
      <p:sp>
        <p:nvSpPr>
          <p:cNvPr id="26" name="TextBox 25"/>
          <p:cNvSpPr txBox="1"/>
          <p:nvPr/>
        </p:nvSpPr>
        <p:spPr>
          <a:xfrm>
            <a:off x="7934325" y="1948441"/>
            <a:ext cx="3962400" cy="194310"/>
          </a:xfrm>
          <a:prstGeom prst="rect">
            <a:avLst/>
          </a:prstGeom>
          <a:noFill/>
        </p:spPr>
        <p:txBody>
          <a:bodyPr wrap="none" lIns="0" rIns="0" tIns="0" bIns="0">
            <a:spAutoFit/>
          </a:bodyPr>
          <a:lstStyle/>
          <a:p>
            <a:r>
              <a:rPr sz="1150" b="0">
                <a:solidFill>
                  <a:srgbClr val="2E2E2E"/>
                </a:solidFill>
                <a:latin typeface="Calibri"/>
              </a:rPr>
              <a:t>removable partial dentures market in 2026. The global removable</a:t>
            </a:r>
          </a:p>
        </p:txBody>
      </p:sp>
      <p:sp>
        <p:nvSpPr>
          <p:cNvPr id="27" name="TextBox 26"/>
          <p:cNvSpPr txBox="1"/>
          <p:nvPr/>
        </p:nvSpPr>
        <p:spPr>
          <a:xfrm>
            <a:off x="7934325" y="2123701"/>
            <a:ext cx="3923989" cy="194310"/>
          </a:xfrm>
          <a:prstGeom prst="rect">
            <a:avLst/>
          </a:prstGeom>
          <a:noFill/>
        </p:spPr>
        <p:txBody>
          <a:bodyPr wrap="none" lIns="0" rIns="0" tIns="0" bIns="0">
            <a:spAutoFit/>
          </a:bodyPr>
          <a:lstStyle/>
          <a:p>
            <a:r>
              <a:rPr sz="1150" b="0">
                <a:solidFill>
                  <a:srgbClr val="2E2E2E"/>
                </a:solidFill>
                <a:latin typeface="Calibri"/>
              </a:rPr>
              <a:t>partial dentures market is moderately consolidated, with the top</a:t>
            </a:r>
          </a:p>
        </p:txBody>
      </p:sp>
      <p:sp>
        <p:nvSpPr>
          <p:cNvPr id="28" name="TextBox 27"/>
          <p:cNvSpPr txBox="1"/>
          <p:nvPr/>
        </p:nvSpPr>
        <p:spPr>
          <a:xfrm>
            <a:off x="7934325" y="2298961"/>
            <a:ext cx="2560476" cy="194310"/>
          </a:xfrm>
          <a:prstGeom prst="rect">
            <a:avLst/>
          </a:prstGeom>
          <a:noFill/>
        </p:spPr>
        <p:txBody>
          <a:bodyPr wrap="none" lIns="0" rIns="0" tIns="0" bIns="0">
            <a:spAutoFit/>
          </a:bodyPr>
          <a:lstStyle/>
          <a:p>
            <a:r>
              <a:rPr sz="1150" b="0">
                <a:solidFill>
                  <a:srgbClr val="2E2E2E"/>
                </a:solidFill>
                <a:latin typeface="Calibri"/>
              </a:rPr>
              <a:t>three players accounting for an estimated</a:t>
            </a:r>
          </a:p>
        </p:txBody>
      </p:sp>
      <p:pic>
        <p:nvPicPr>
          <p:cNvPr id="29" name="Picture 28" descr="lock.png"/>
          <p:cNvPicPr>
            <a:picLocks noChangeAspect="1"/>
          </p:cNvPicPr>
          <p:nvPr/>
        </p:nvPicPr>
        <p:blipFill>
          <a:blip r:embed="rId5"/>
          <a:stretch>
            <a:fillRect/>
          </a:stretch>
        </p:blipFill>
        <p:spPr>
          <a:xfrm>
            <a:off x="10443955" y="2288737"/>
            <a:ext cx="134549" cy="195707"/>
          </a:xfrm>
          <a:prstGeom prst="rect">
            <a:avLst/>
          </a:prstGeom>
        </p:spPr>
      </p:pic>
      <p:sp>
        <p:nvSpPr>
          <p:cNvPr id="30" name="TextBox 29"/>
          <p:cNvSpPr txBox="1"/>
          <p:nvPr/>
        </p:nvSpPr>
        <p:spPr>
          <a:xfrm>
            <a:off x="10619064" y="2298961"/>
            <a:ext cx="789905" cy="194310"/>
          </a:xfrm>
          <a:prstGeom prst="rect">
            <a:avLst/>
          </a:prstGeom>
          <a:noFill/>
        </p:spPr>
        <p:txBody>
          <a:bodyPr wrap="none" lIns="0" rIns="0" tIns="0" bIns="0">
            <a:spAutoFit/>
          </a:bodyPr>
          <a:lstStyle/>
          <a:p>
            <a:r>
              <a:rPr sz="1150" b="0">
                <a:solidFill>
                  <a:srgbClr val="2E2E2E"/>
                </a:solidFill>
                <a:latin typeface="Calibri"/>
              </a:rPr>
              <a:t>share of the</a:t>
            </a:r>
          </a:p>
        </p:txBody>
      </p:sp>
      <p:sp>
        <p:nvSpPr>
          <p:cNvPr id="31" name="TextBox 30"/>
          <p:cNvSpPr txBox="1"/>
          <p:nvPr/>
        </p:nvSpPr>
        <p:spPr>
          <a:xfrm>
            <a:off x="7934325" y="2474221"/>
            <a:ext cx="1012118" cy="194310"/>
          </a:xfrm>
          <a:prstGeom prst="rect">
            <a:avLst/>
          </a:prstGeom>
          <a:noFill/>
        </p:spPr>
        <p:txBody>
          <a:bodyPr wrap="none" lIns="0" rIns="0" tIns="0" bIns="0">
            <a:spAutoFit/>
          </a:bodyPr>
          <a:lstStyle/>
          <a:p>
            <a:r>
              <a:rPr sz="1150" b="0">
                <a:solidFill>
                  <a:srgbClr val="2E2E2E"/>
                </a:solidFill>
                <a:latin typeface="Calibri"/>
              </a:rPr>
              <a:t>market in 2026.</a:t>
            </a:r>
          </a:p>
        </p:txBody>
      </p:sp>
      <p:sp>
        <p:nvSpPr>
          <p:cNvPr id="32" name="TextBox 31"/>
          <p:cNvSpPr txBox="1"/>
          <p:nvPr/>
        </p:nvSpPr>
        <p:spPr>
          <a:xfrm>
            <a:off x="7934325" y="2702058"/>
            <a:ext cx="2426692" cy="194310"/>
          </a:xfrm>
          <a:prstGeom prst="rect">
            <a:avLst/>
          </a:prstGeom>
          <a:noFill/>
        </p:spPr>
        <p:txBody>
          <a:bodyPr wrap="none" lIns="0" rIns="0" tIns="0" bIns="0">
            <a:spAutoFit/>
          </a:bodyPr>
          <a:lstStyle/>
          <a:p>
            <a:r>
              <a:rPr sz="1150" b="0">
                <a:solidFill>
                  <a:srgbClr val="2E2E2E"/>
                </a:solidFill>
                <a:latin typeface="Calibri"/>
              </a:rPr>
              <a:t>Company A accounted for an estimated</a:t>
            </a:r>
          </a:p>
        </p:txBody>
      </p:sp>
      <p:pic>
        <p:nvPicPr>
          <p:cNvPr id="33" name="Picture 32" descr="lock.png"/>
          <p:cNvPicPr>
            <a:picLocks noChangeAspect="1"/>
          </p:cNvPicPr>
          <p:nvPr/>
        </p:nvPicPr>
        <p:blipFill>
          <a:blip r:embed="rId5"/>
          <a:stretch>
            <a:fillRect/>
          </a:stretch>
        </p:blipFill>
        <p:spPr>
          <a:xfrm>
            <a:off x="10310171" y="2691835"/>
            <a:ext cx="134549" cy="195707"/>
          </a:xfrm>
          <a:prstGeom prst="rect">
            <a:avLst/>
          </a:prstGeom>
        </p:spPr>
      </p:pic>
      <p:sp>
        <p:nvSpPr>
          <p:cNvPr id="34" name="TextBox 33"/>
          <p:cNvSpPr txBox="1"/>
          <p:nvPr/>
        </p:nvSpPr>
        <p:spPr>
          <a:xfrm>
            <a:off x="10485280" y="2702058"/>
            <a:ext cx="1285391" cy="194310"/>
          </a:xfrm>
          <a:prstGeom prst="rect">
            <a:avLst/>
          </a:prstGeom>
          <a:noFill/>
        </p:spPr>
        <p:txBody>
          <a:bodyPr wrap="none" lIns="0" rIns="0" tIns="0" bIns="0">
            <a:spAutoFit/>
          </a:bodyPr>
          <a:lstStyle/>
          <a:p>
            <a:r>
              <a:rPr sz="1150" b="0">
                <a:solidFill>
                  <a:srgbClr val="2E2E2E"/>
                </a:solidFill>
                <a:latin typeface="Calibri"/>
              </a:rPr>
              <a:t>share of the market,</a:t>
            </a:r>
          </a:p>
        </p:txBody>
      </p:sp>
      <p:sp>
        <p:nvSpPr>
          <p:cNvPr id="35" name="TextBox 34"/>
          <p:cNvSpPr txBox="1"/>
          <p:nvPr/>
        </p:nvSpPr>
        <p:spPr>
          <a:xfrm>
            <a:off x="7934325" y="2877318"/>
            <a:ext cx="1775742" cy="194310"/>
          </a:xfrm>
          <a:prstGeom prst="rect">
            <a:avLst/>
          </a:prstGeom>
          <a:noFill/>
        </p:spPr>
        <p:txBody>
          <a:bodyPr wrap="none" lIns="0" rIns="0" tIns="0" bIns="0">
            <a:spAutoFit/>
          </a:bodyPr>
          <a:lstStyle/>
          <a:p>
            <a:r>
              <a:rPr sz="1150" b="0">
                <a:solidFill>
                  <a:srgbClr val="2E2E2E"/>
                </a:solidFill>
                <a:latin typeface="Calibri"/>
              </a:rPr>
              <a:t>followed by Company B with</a:t>
            </a:r>
          </a:p>
        </p:txBody>
      </p:sp>
      <p:pic>
        <p:nvPicPr>
          <p:cNvPr id="36" name="Picture 35" descr="lock.png"/>
          <p:cNvPicPr>
            <a:picLocks noChangeAspect="1"/>
          </p:cNvPicPr>
          <p:nvPr/>
        </p:nvPicPr>
        <p:blipFill>
          <a:blip r:embed="rId5"/>
          <a:stretch>
            <a:fillRect/>
          </a:stretch>
        </p:blipFill>
        <p:spPr>
          <a:xfrm>
            <a:off x="9659221" y="2867095"/>
            <a:ext cx="134549" cy="195707"/>
          </a:xfrm>
          <a:prstGeom prst="rect">
            <a:avLst/>
          </a:prstGeom>
        </p:spPr>
      </p:pic>
      <p:sp>
        <p:nvSpPr>
          <p:cNvPr id="37" name="TextBox 36"/>
          <p:cNvSpPr txBox="1"/>
          <p:nvPr/>
        </p:nvSpPr>
        <p:spPr>
          <a:xfrm>
            <a:off x="9834330" y="2877318"/>
            <a:ext cx="1764292" cy="194310"/>
          </a:xfrm>
          <a:prstGeom prst="rect">
            <a:avLst/>
          </a:prstGeom>
          <a:noFill/>
        </p:spPr>
        <p:txBody>
          <a:bodyPr wrap="none" lIns="0" rIns="0" tIns="0" bIns="0">
            <a:spAutoFit/>
          </a:bodyPr>
          <a:lstStyle/>
          <a:p>
            <a:r>
              <a:rPr sz="1150" b="0">
                <a:solidFill>
                  <a:srgbClr val="2E2E2E"/>
                </a:solidFill>
                <a:latin typeface="Calibri"/>
              </a:rPr>
              <a:t>. Key players are focusing on</a:t>
            </a:r>
          </a:p>
        </p:txBody>
      </p:sp>
      <p:sp>
        <p:nvSpPr>
          <p:cNvPr id="38" name="TextBox 37"/>
          <p:cNvSpPr txBox="1"/>
          <p:nvPr/>
        </p:nvSpPr>
        <p:spPr>
          <a:xfrm>
            <a:off x="7934325" y="3052578"/>
            <a:ext cx="3381437" cy="194310"/>
          </a:xfrm>
          <a:prstGeom prst="rect">
            <a:avLst/>
          </a:prstGeom>
          <a:noFill/>
        </p:spPr>
        <p:txBody>
          <a:bodyPr wrap="none" lIns="0" rIns="0" tIns="0" bIns="0">
            <a:spAutoFit/>
          </a:bodyPr>
          <a:lstStyle/>
          <a:p>
            <a:r>
              <a:rPr sz="1150" b="0">
                <a:solidFill>
                  <a:srgbClr val="2E2E2E"/>
                </a:solidFill>
                <a:latin typeface="Calibri"/>
              </a:rPr>
              <a:t>product innovation, geographic expansion and strategic</a:t>
            </a:r>
          </a:p>
        </p:txBody>
      </p:sp>
      <p:sp>
        <p:nvSpPr>
          <p:cNvPr id="39" name="TextBox 38"/>
          <p:cNvSpPr txBox="1"/>
          <p:nvPr/>
        </p:nvSpPr>
        <p:spPr>
          <a:xfrm>
            <a:off x="7934325" y="3227838"/>
            <a:ext cx="2993776" cy="194310"/>
          </a:xfrm>
          <a:prstGeom prst="rect">
            <a:avLst/>
          </a:prstGeom>
          <a:noFill/>
        </p:spPr>
        <p:txBody>
          <a:bodyPr wrap="none" lIns="0" rIns="0" tIns="0" bIns="0">
            <a:spAutoFit/>
          </a:bodyPr>
          <a:lstStyle/>
          <a:p>
            <a:r>
              <a:rPr sz="1150" b="0">
                <a:solidFill>
                  <a:srgbClr val="2E2E2E"/>
                </a:solidFill>
                <a:latin typeface="Calibri"/>
              </a:rPr>
              <a:t>partnerships to strengthen their market position.</a:t>
            </a:r>
          </a:p>
        </p:txBody>
      </p:sp>
      <p:sp>
        <p:nvSpPr>
          <p:cNvPr id="40" name="TextBox 39"/>
          <p:cNvSpPr txBox="1"/>
          <p:nvPr/>
        </p:nvSpPr>
        <p:spPr>
          <a:xfrm>
            <a:off x="7934325" y="3455676"/>
            <a:ext cx="3647864" cy="194310"/>
          </a:xfrm>
          <a:prstGeom prst="rect">
            <a:avLst/>
          </a:prstGeom>
          <a:noFill/>
        </p:spPr>
        <p:txBody>
          <a:bodyPr wrap="none" lIns="0" rIns="0" tIns="0" bIns="0">
            <a:spAutoFit/>
          </a:bodyPr>
          <a:lstStyle/>
          <a:p>
            <a:r>
              <a:rPr sz="1150" b="0">
                <a:solidFill>
                  <a:srgbClr val="2E2E2E"/>
                </a:solidFill>
                <a:latin typeface="Calibri"/>
              </a:rPr>
              <a:t>Regional share differs from the global picture use the region</a:t>
            </a:r>
          </a:p>
        </p:txBody>
      </p:sp>
      <p:sp>
        <p:nvSpPr>
          <p:cNvPr id="41" name="TextBox 40"/>
          <p:cNvSpPr txBox="1"/>
          <p:nvPr/>
        </p:nvSpPr>
        <p:spPr>
          <a:xfrm>
            <a:off x="7934325" y="3630936"/>
            <a:ext cx="3444763" cy="194310"/>
          </a:xfrm>
          <a:prstGeom prst="rect">
            <a:avLst/>
          </a:prstGeom>
          <a:noFill/>
        </p:spPr>
        <p:txBody>
          <a:bodyPr wrap="none" lIns="0" rIns="0" tIns="0" bIns="0">
            <a:spAutoFit/>
          </a:bodyPr>
          <a:lstStyle/>
          <a:p>
            <a:r>
              <a:rPr sz="1150" b="0">
                <a:solidFill>
                  <a:srgbClr val="2E2E2E"/>
                </a:solidFill>
                <a:latin typeface="Calibri"/>
              </a:rPr>
              <a:t>selector to see how leadership shifts across geographies.</a:t>
            </a:r>
          </a:p>
        </p:txBody>
      </p:sp>
      <p:sp>
        <p:nvSpPr>
          <p:cNvPr id="42" name="lockshield_14"/>
          <p:cNvSpPr/>
          <p:nvPr/>
        </p:nvSpPr>
        <p:spPr>
          <a:xfrm>
            <a:off x="238125" y="1639831"/>
            <a:ext cx="7353300" cy="4877658"/>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Share by Product Type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product type,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Partial Dentures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Combination Framework Partial Dentures</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Cast Metal Partial Dentures</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3025725" cy="194310"/>
          </a:xfrm>
          <a:prstGeom prst="rect">
            <a:avLst/>
          </a:prstGeom>
          <a:noFill/>
        </p:spPr>
        <p:txBody>
          <a:bodyPr wrap="none" lIns="0" rIns="0" tIns="0" bIns="0">
            <a:spAutoFit/>
          </a:bodyPr>
          <a:lstStyle/>
          <a:p>
            <a:r>
              <a:rPr sz="1150" b="0">
                <a:solidFill>
                  <a:srgbClr val="2E2E2E"/>
                </a:solidFill>
                <a:latin typeface="Calibri"/>
              </a:rPr>
              <a:t>▪ Flexible Partial Dentures: 'Company A' leads at ~</a:t>
            </a:r>
          </a:p>
        </p:txBody>
      </p:sp>
      <p:pic>
        <p:nvPicPr>
          <p:cNvPr id="29" name="Picture 28" descr="lock.png"/>
          <p:cNvPicPr>
            <a:picLocks noChangeAspect="1"/>
          </p:cNvPicPr>
          <p:nvPr/>
        </p:nvPicPr>
        <p:blipFill>
          <a:blip r:embed="rId7"/>
          <a:stretch>
            <a:fillRect/>
          </a:stretch>
        </p:blipFill>
        <p:spPr>
          <a:xfrm>
            <a:off x="3251104" y="5012116"/>
            <a:ext cx="134549" cy="195707"/>
          </a:xfrm>
          <a:prstGeom prst="rect">
            <a:avLst/>
          </a:prstGeom>
        </p:spPr>
      </p:pic>
      <p:sp>
        <p:nvSpPr>
          <p:cNvPr id="30" name="TextBox 29"/>
          <p:cNvSpPr txBox="1"/>
          <p:nvPr/>
        </p:nvSpPr>
        <p:spPr>
          <a:xfrm>
            <a:off x="3426213" y="5022340"/>
            <a:ext cx="1598029" cy="194310"/>
          </a:xfrm>
          <a:prstGeom prst="rect">
            <a:avLst/>
          </a:prstGeom>
          <a:noFill/>
        </p:spPr>
        <p:txBody>
          <a:bodyPr wrap="none" lIns="0" rIns="0" tIns="0" bIns="0">
            <a:spAutoFit/>
          </a:bodyPr>
          <a:lstStyle/>
          <a:p>
            <a:r>
              <a:rPr sz="1150" b="0">
                <a:solidFill>
                  <a:srgbClr val="2E2E2E"/>
                </a:solidFill>
                <a:latin typeface="Calibri"/>
              </a:rPr>
              <a:t>, ahead of 'Company D' (~</a:t>
            </a:r>
          </a:p>
        </p:txBody>
      </p:sp>
      <p:pic>
        <p:nvPicPr>
          <p:cNvPr id="31" name="Picture 30" descr="lock.png"/>
          <p:cNvPicPr>
            <a:picLocks noChangeAspect="1"/>
          </p:cNvPicPr>
          <p:nvPr/>
        </p:nvPicPr>
        <p:blipFill>
          <a:blip r:embed="rId7"/>
          <a:stretch>
            <a:fillRect/>
          </a:stretch>
        </p:blipFill>
        <p:spPr>
          <a:xfrm>
            <a:off x="4973397" y="5012116"/>
            <a:ext cx="134549" cy="195707"/>
          </a:xfrm>
          <a:prstGeom prst="rect">
            <a:avLst/>
          </a:prstGeom>
        </p:spPr>
      </p:pic>
      <p:sp>
        <p:nvSpPr>
          <p:cNvPr id="32" name="TextBox 31"/>
          <p:cNvSpPr txBox="1"/>
          <p:nvPr/>
        </p:nvSpPr>
        <p:spPr>
          <a:xfrm>
            <a:off x="5148506"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6483175" y="5012116"/>
            <a:ext cx="134549" cy="195707"/>
          </a:xfrm>
          <a:prstGeom prst="rect">
            <a:avLst/>
          </a:prstGeom>
        </p:spPr>
      </p:pic>
      <p:sp>
        <p:nvSpPr>
          <p:cNvPr id="34" name="TextBox 33"/>
          <p:cNvSpPr txBox="1"/>
          <p:nvPr/>
        </p:nvSpPr>
        <p:spPr>
          <a:xfrm>
            <a:off x="6658285" y="5022340"/>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213740" y="5012116"/>
            <a:ext cx="134549" cy="195707"/>
          </a:xfrm>
          <a:prstGeom prst="rect">
            <a:avLst/>
          </a:prstGeom>
        </p:spPr>
      </p:pic>
      <p:sp>
        <p:nvSpPr>
          <p:cNvPr id="36" name="TextBox 35"/>
          <p:cNvSpPr txBox="1"/>
          <p:nvPr/>
        </p:nvSpPr>
        <p:spPr>
          <a:xfrm>
            <a:off x="8388850" y="502234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7" name="TextBox 36"/>
          <p:cNvSpPr txBox="1"/>
          <p:nvPr/>
        </p:nvSpPr>
        <p:spPr>
          <a:xfrm>
            <a:off x="276225" y="5250177"/>
            <a:ext cx="4040088" cy="194310"/>
          </a:xfrm>
          <a:prstGeom prst="rect">
            <a:avLst/>
          </a:prstGeom>
          <a:noFill/>
        </p:spPr>
        <p:txBody>
          <a:bodyPr wrap="none" lIns="0" rIns="0" tIns="0" bIns="0">
            <a:spAutoFit/>
          </a:bodyPr>
          <a:lstStyle/>
          <a:p>
            <a:r>
              <a:rPr sz="1150" b="0">
                <a:solidFill>
                  <a:srgbClr val="2E2E2E"/>
                </a:solidFill>
                <a:latin typeface="Calibri"/>
              </a:rPr>
              <a:t>▪ Combination Framework Partial Dentures: 'Company C' leads at ~</a:t>
            </a:r>
          </a:p>
        </p:txBody>
      </p:sp>
      <p:pic>
        <p:nvPicPr>
          <p:cNvPr id="38" name="Picture 37" descr="lock.png"/>
          <p:cNvPicPr>
            <a:picLocks noChangeAspect="1"/>
          </p:cNvPicPr>
          <p:nvPr/>
        </p:nvPicPr>
        <p:blipFill>
          <a:blip r:embed="rId7"/>
          <a:stretch>
            <a:fillRect/>
          </a:stretch>
        </p:blipFill>
        <p:spPr>
          <a:xfrm>
            <a:off x="4265467" y="5239954"/>
            <a:ext cx="134549" cy="195707"/>
          </a:xfrm>
          <a:prstGeom prst="rect">
            <a:avLst/>
          </a:prstGeom>
        </p:spPr>
      </p:pic>
      <p:sp>
        <p:nvSpPr>
          <p:cNvPr id="39" name="TextBox 38"/>
          <p:cNvSpPr txBox="1"/>
          <p:nvPr/>
        </p:nvSpPr>
        <p:spPr>
          <a:xfrm>
            <a:off x="4440576" y="5250177"/>
            <a:ext cx="1587760" cy="194310"/>
          </a:xfrm>
          <a:prstGeom prst="rect">
            <a:avLst/>
          </a:prstGeom>
          <a:noFill/>
        </p:spPr>
        <p:txBody>
          <a:bodyPr wrap="none" lIns="0" rIns="0" tIns="0" bIns="0">
            <a:spAutoFit/>
          </a:bodyPr>
          <a:lstStyle/>
          <a:p>
            <a:r>
              <a:rPr sz="1150" b="0">
                <a:solidFill>
                  <a:srgbClr val="2E2E2E"/>
                </a:solidFill>
                <a:latin typeface="Calibri"/>
              </a:rPr>
              <a:t>, ahead of 'Company B' (~</a:t>
            </a:r>
          </a:p>
        </p:txBody>
      </p:sp>
      <p:pic>
        <p:nvPicPr>
          <p:cNvPr id="40" name="Picture 39" descr="lock.png"/>
          <p:cNvPicPr>
            <a:picLocks noChangeAspect="1"/>
          </p:cNvPicPr>
          <p:nvPr/>
        </p:nvPicPr>
        <p:blipFill>
          <a:blip r:embed="rId7"/>
          <a:stretch>
            <a:fillRect/>
          </a:stretch>
        </p:blipFill>
        <p:spPr>
          <a:xfrm>
            <a:off x="5977490" y="5239954"/>
            <a:ext cx="134549" cy="195707"/>
          </a:xfrm>
          <a:prstGeom prst="rect">
            <a:avLst/>
          </a:prstGeom>
        </p:spPr>
      </p:pic>
      <p:sp>
        <p:nvSpPr>
          <p:cNvPr id="41" name="TextBox 40"/>
          <p:cNvSpPr txBox="1"/>
          <p:nvPr/>
        </p:nvSpPr>
        <p:spPr>
          <a:xfrm>
            <a:off x="6152600" y="5250177"/>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7487269" y="5239954"/>
            <a:ext cx="134549" cy="195707"/>
          </a:xfrm>
          <a:prstGeom prst="rect">
            <a:avLst/>
          </a:prstGeom>
        </p:spPr>
      </p:pic>
      <p:sp>
        <p:nvSpPr>
          <p:cNvPr id="43" name="TextBox 42"/>
          <p:cNvSpPr txBox="1"/>
          <p:nvPr/>
        </p:nvSpPr>
        <p:spPr>
          <a:xfrm>
            <a:off x="7662378" y="5250177"/>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9217834" y="5239954"/>
            <a:ext cx="134549" cy="195707"/>
          </a:xfrm>
          <a:prstGeom prst="rect">
            <a:avLst/>
          </a:prstGeom>
        </p:spPr>
      </p:pic>
      <p:sp>
        <p:nvSpPr>
          <p:cNvPr id="45" name="TextBox 44"/>
          <p:cNvSpPr txBox="1"/>
          <p:nvPr/>
        </p:nvSpPr>
        <p:spPr>
          <a:xfrm>
            <a:off x="9392943" y="525017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478015"/>
            <a:ext cx="3209428" cy="194310"/>
          </a:xfrm>
          <a:prstGeom prst="rect">
            <a:avLst/>
          </a:prstGeom>
          <a:noFill/>
        </p:spPr>
        <p:txBody>
          <a:bodyPr wrap="none" lIns="0" rIns="0" tIns="0" bIns="0">
            <a:spAutoFit/>
          </a:bodyPr>
          <a:lstStyle/>
          <a:p>
            <a:r>
              <a:rPr sz="1150" b="0">
                <a:solidFill>
                  <a:srgbClr val="2E2E2E"/>
                </a:solidFill>
                <a:latin typeface="Calibri"/>
              </a:rPr>
              <a:t>▪ Cast Metal Partial Dentures: 'Company A' leads at ~</a:t>
            </a:r>
          </a:p>
        </p:txBody>
      </p:sp>
      <p:pic>
        <p:nvPicPr>
          <p:cNvPr id="47" name="Picture 46" descr="lock.png"/>
          <p:cNvPicPr>
            <a:picLocks noChangeAspect="1"/>
          </p:cNvPicPr>
          <p:nvPr/>
        </p:nvPicPr>
        <p:blipFill>
          <a:blip r:embed="rId7"/>
          <a:stretch>
            <a:fillRect/>
          </a:stretch>
        </p:blipFill>
        <p:spPr>
          <a:xfrm>
            <a:off x="3434807" y="5467792"/>
            <a:ext cx="134549" cy="195707"/>
          </a:xfrm>
          <a:prstGeom prst="rect">
            <a:avLst/>
          </a:prstGeom>
        </p:spPr>
      </p:pic>
      <p:sp>
        <p:nvSpPr>
          <p:cNvPr id="48" name="TextBox 47"/>
          <p:cNvSpPr txBox="1"/>
          <p:nvPr/>
        </p:nvSpPr>
        <p:spPr>
          <a:xfrm>
            <a:off x="3609917" y="5478015"/>
            <a:ext cx="1587760" cy="194310"/>
          </a:xfrm>
          <a:prstGeom prst="rect">
            <a:avLst/>
          </a:prstGeom>
          <a:noFill/>
        </p:spPr>
        <p:txBody>
          <a:bodyPr wrap="none" lIns="0" rIns="0" tIns="0" bIns="0">
            <a:spAutoFit/>
          </a:bodyPr>
          <a:lstStyle/>
          <a:p>
            <a:r>
              <a:rPr sz="1150" b="0">
                <a:solidFill>
                  <a:srgbClr val="2E2E2E"/>
                </a:solidFill>
                <a:latin typeface="Calibri"/>
              </a:rPr>
              <a:t>, ahead of 'Company B' (~</a:t>
            </a:r>
          </a:p>
        </p:txBody>
      </p:sp>
      <p:pic>
        <p:nvPicPr>
          <p:cNvPr id="49" name="Picture 48" descr="lock.png"/>
          <p:cNvPicPr>
            <a:picLocks noChangeAspect="1"/>
          </p:cNvPicPr>
          <p:nvPr/>
        </p:nvPicPr>
        <p:blipFill>
          <a:blip r:embed="rId7"/>
          <a:stretch>
            <a:fillRect/>
          </a:stretch>
        </p:blipFill>
        <p:spPr>
          <a:xfrm>
            <a:off x="5146831" y="5467792"/>
            <a:ext cx="134549" cy="195707"/>
          </a:xfrm>
          <a:prstGeom prst="rect">
            <a:avLst/>
          </a:prstGeom>
        </p:spPr>
      </p:pic>
      <p:sp>
        <p:nvSpPr>
          <p:cNvPr id="50" name="TextBox 49"/>
          <p:cNvSpPr txBox="1"/>
          <p:nvPr/>
        </p:nvSpPr>
        <p:spPr>
          <a:xfrm>
            <a:off x="5321940" y="5478015"/>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6656610" y="5467792"/>
            <a:ext cx="134549" cy="195707"/>
          </a:xfrm>
          <a:prstGeom prst="rect">
            <a:avLst/>
          </a:prstGeom>
        </p:spPr>
      </p:pic>
      <p:sp>
        <p:nvSpPr>
          <p:cNvPr id="52" name="TextBox 51"/>
          <p:cNvSpPr txBox="1"/>
          <p:nvPr/>
        </p:nvSpPr>
        <p:spPr>
          <a:xfrm>
            <a:off x="6831719" y="5478015"/>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8387175" y="5467792"/>
            <a:ext cx="134549" cy="195707"/>
          </a:xfrm>
          <a:prstGeom prst="rect">
            <a:avLst/>
          </a:prstGeom>
        </p:spPr>
      </p:pic>
      <p:sp>
        <p:nvSpPr>
          <p:cNvPr id="54" name="TextBox 53"/>
          <p:cNvSpPr txBox="1"/>
          <p:nvPr/>
        </p:nvSpPr>
        <p:spPr>
          <a:xfrm>
            <a:off x="8562284" y="547801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55" name="TextBox 54"/>
          <p:cNvSpPr txBox="1"/>
          <p:nvPr/>
        </p:nvSpPr>
        <p:spPr>
          <a:xfrm>
            <a:off x="276225" y="5705853"/>
            <a:ext cx="8908516" cy="194310"/>
          </a:xfrm>
          <a:prstGeom prst="rect">
            <a:avLst/>
          </a:prstGeom>
          <a:noFill/>
        </p:spPr>
        <p:txBody>
          <a:bodyPr wrap="none" lIns="0" rIns="0" tIns="0" bIns="0">
            <a:spAutoFit/>
          </a:bodyPr>
          <a:lstStyle/>
          <a:p>
            <a:r>
              <a:rPr sz="1150" b="0">
                <a:solidFill>
                  <a:srgbClr val="2E2E2E"/>
                </a:solidFill>
                <a:latin typeface="Calibri"/>
              </a:rPr>
              <a:t>▪ Leadership shifts across formulations a strong position in one product type does not carry over to the others, so product-level targeting is essential.</a:t>
            </a:r>
          </a:p>
        </p:txBody>
      </p:sp>
      <p:sp>
        <p:nvSpPr>
          <p:cNvPr id="56" name="TextBox 55"/>
          <p:cNvSpPr txBox="1"/>
          <p:nvPr/>
        </p:nvSpPr>
        <p:spPr>
          <a:xfrm>
            <a:off x="276225" y="5933691"/>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2448941" cy="194310"/>
          </a:xfrm>
          <a:prstGeom prst="rect">
            <a:avLst/>
          </a:prstGeom>
          <a:noFill/>
        </p:spPr>
        <p:txBody>
          <a:bodyPr wrap="none" lIns="0" rIns="0" tIns="0" bIns="0">
            <a:spAutoFit/>
          </a:bodyPr>
          <a:lstStyle/>
          <a:p>
            <a:r>
              <a:rPr sz="1150" b="0">
                <a:solidFill>
                  <a:srgbClr val="2E2E2E"/>
                </a:solidFill>
                <a:latin typeface="Calibri"/>
              </a:rPr>
              <a:t>▪ North America: 'Company A' leads at ~</a:t>
            </a:r>
          </a:p>
        </p:txBody>
      </p:sp>
      <p:pic>
        <p:nvPicPr>
          <p:cNvPr id="29" name="Picture 28" descr="lock.png"/>
          <p:cNvPicPr>
            <a:picLocks noChangeAspect="1"/>
          </p:cNvPicPr>
          <p:nvPr/>
        </p:nvPicPr>
        <p:blipFill>
          <a:blip r:embed="rId7"/>
          <a:stretch>
            <a:fillRect/>
          </a:stretch>
        </p:blipFill>
        <p:spPr>
          <a:xfrm>
            <a:off x="2674320" y="5012116"/>
            <a:ext cx="134549" cy="195707"/>
          </a:xfrm>
          <a:prstGeom prst="rect">
            <a:avLst/>
          </a:prstGeom>
        </p:spPr>
      </p:pic>
      <p:sp>
        <p:nvSpPr>
          <p:cNvPr id="30" name="TextBox 29"/>
          <p:cNvSpPr txBox="1"/>
          <p:nvPr/>
        </p:nvSpPr>
        <p:spPr>
          <a:xfrm>
            <a:off x="2849430" y="5022340"/>
            <a:ext cx="1587760" cy="194310"/>
          </a:xfrm>
          <a:prstGeom prst="rect">
            <a:avLst/>
          </a:prstGeom>
          <a:noFill/>
        </p:spPr>
        <p:txBody>
          <a:bodyPr wrap="none" lIns="0" rIns="0" tIns="0" bIns="0">
            <a:spAutoFit/>
          </a:bodyPr>
          <a:lstStyle/>
          <a:p>
            <a:r>
              <a:rPr sz="1150" b="0">
                <a:solidFill>
                  <a:srgbClr val="2E2E2E"/>
                </a:solidFill>
                <a:latin typeface="Calibri"/>
              </a:rPr>
              <a:t>, ahead of 'Company B' (~</a:t>
            </a:r>
          </a:p>
        </p:txBody>
      </p:sp>
      <p:pic>
        <p:nvPicPr>
          <p:cNvPr id="31" name="Picture 30" descr="lock.png"/>
          <p:cNvPicPr>
            <a:picLocks noChangeAspect="1"/>
          </p:cNvPicPr>
          <p:nvPr/>
        </p:nvPicPr>
        <p:blipFill>
          <a:blip r:embed="rId7"/>
          <a:stretch>
            <a:fillRect/>
          </a:stretch>
        </p:blipFill>
        <p:spPr>
          <a:xfrm>
            <a:off x="4386344" y="5012116"/>
            <a:ext cx="134549" cy="195707"/>
          </a:xfrm>
          <a:prstGeom prst="rect">
            <a:avLst/>
          </a:prstGeom>
        </p:spPr>
      </p:pic>
      <p:sp>
        <p:nvSpPr>
          <p:cNvPr id="32" name="TextBox 31"/>
          <p:cNvSpPr txBox="1"/>
          <p:nvPr/>
        </p:nvSpPr>
        <p:spPr>
          <a:xfrm>
            <a:off x="4561453"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5896123" y="5012116"/>
            <a:ext cx="134549" cy="195707"/>
          </a:xfrm>
          <a:prstGeom prst="rect">
            <a:avLst/>
          </a:prstGeom>
        </p:spPr>
      </p:pic>
      <p:sp>
        <p:nvSpPr>
          <p:cNvPr id="34" name="TextBox 33"/>
          <p:cNvSpPr txBox="1"/>
          <p:nvPr/>
        </p:nvSpPr>
        <p:spPr>
          <a:xfrm>
            <a:off x="6071232" y="5022340"/>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7626688" y="5012116"/>
            <a:ext cx="134549" cy="195707"/>
          </a:xfrm>
          <a:prstGeom prst="rect">
            <a:avLst/>
          </a:prstGeom>
        </p:spPr>
      </p:pic>
      <p:sp>
        <p:nvSpPr>
          <p:cNvPr id="36" name="TextBox 35"/>
          <p:cNvSpPr txBox="1"/>
          <p:nvPr/>
        </p:nvSpPr>
        <p:spPr>
          <a:xfrm>
            <a:off x="7801797" y="502234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7" name="TextBox 36"/>
          <p:cNvSpPr txBox="1"/>
          <p:nvPr/>
        </p:nvSpPr>
        <p:spPr>
          <a:xfrm>
            <a:off x="276225" y="5250177"/>
            <a:ext cx="2002804" cy="194310"/>
          </a:xfrm>
          <a:prstGeom prst="rect">
            <a:avLst/>
          </a:prstGeom>
          <a:noFill/>
        </p:spPr>
        <p:txBody>
          <a:bodyPr wrap="none" lIns="0" rIns="0" tIns="0" bIns="0">
            <a:spAutoFit/>
          </a:bodyPr>
          <a:lstStyle/>
          <a:p>
            <a:r>
              <a:rPr sz="1150" b="0">
                <a:solidFill>
                  <a:srgbClr val="2E2E2E"/>
                </a:solidFill>
                <a:latin typeface="Calibri"/>
              </a:rPr>
              <a:t>▪ Europe: 'Company A' leads at ~</a:t>
            </a:r>
          </a:p>
        </p:txBody>
      </p:sp>
      <p:pic>
        <p:nvPicPr>
          <p:cNvPr id="38" name="Picture 37" descr="lock.png"/>
          <p:cNvPicPr>
            <a:picLocks noChangeAspect="1"/>
          </p:cNvPicPr>
          <p:nvPr/>
        </p:nvPicPr>
        <p:blipFill>
          <a:blip r:embed="rId7"/>
          <a:stretch>
            <a:fillRect/>
          </a:stretch>
        </p:blipFill>
        <p:spPr>
          <a:xfrm>
            <a:off x="2228183" y="5239954"/>
            <a:ext cx="134549" cy="195707"/>
          </a:xfrm>
          <a:prstGeom prst="rect">
            <a:avLst/>
          </a:prstGeom>
        </p:spPr>
      </p:pic>
      <p:sp>
        <p:nvSpPr>
          <p:cNvPr id="39" name="TextBox 38"/>
          <p:cNvSpPr txBox="1"/>
          <p:nvPr/>
        </p:nvSpPr>
        <p:spPr>
          <a:xfrm>
            <a:off x="2403293" y="5250177"/>
            <a:ext cx="1598029" cy="194310"/>
          </a:xfrm>
          <a:prstGeom prst="rect">
            <a:avLst/>
          </a:prstGeom>
          <a:noFill/>
        </p:spPr>
        <p:txBody>
          <a:bodyPr wrap="none" lIns="0" rIns="0" tIns="0" bIns="0">
            <a:spAutoFit/>
          </a:bodyPr>
          <a:lstStyle/>
          <a:p>
            <a:r>
              <a:rPr sz="1150" b="0">
                <a:solidFill>
                  <a:srgbClr val="2E2E2E"/>
                </a:solidFill>
                <a:latin typeface="Calibri"/>
              </a:rPr>
              <a:t>, ahead of 'Company D' (~</a:t>
            </a:r>
          </a:p>
        </p:txBody>
      </p:sp>
      <p:pic>
        <p:nvPicPr>
          <p:cNvPr id="40" name="Picture 39" descr="lock.png"/>
          <p:cNvPicPr>
            <a:picLocks noChangeAspect="1"/>
          </p:cNvPicPr>
          <p:nvPr/>
        </p:nvPicPr>
        <p:blipFill>
          <a:blip r:embed="rId7"/>
          <a:stretch>
            <a:fillRect/>
          </a:stretch>
        </p:blipFill>
        <p:spPr>
          <a:xfrm>
            <a:off x="3950476" y="5239954"/>
            <a:ext cx="134549" cy="195707"/>
          </a:xfrm>
          <a:prstGeom prst="rect">
            <a:avLst/>
          </a:prstGeom>
        </p:spPr>
      </p:pic>
      <p:sp>
        <p:nvSpPr>
          <p:cNvPr id="41" name="TextBox 40"/>
          <p:cNvSpPr txBox="1"/>
          <p:nvPr/>
        </p:nvSpPr>
        <p:spPr>
          <a:xfrm>
            <a:off x="4125585" y="5250177"/>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5460255" y="5239954"/>
            <a:ext cx="134549" cy="195707"/>
          </a:xfrm>
          <a:prstGeom prst="rect">
            <a:avLst/>
          </a:prstGeom>
        </p:spPr>
      </p:pic>
      <p:sp>
        <p:nvSpPr>
          <p:cNvPr id="43" name="TextBox 42"/>
          <p:cNvSpPr txBox="1"/>
          <p:nvPr/>
        </p:nvSpPr>
        <p:spPr>
          <a:xfrm>
            <a:off x="5635364" y="5250177"/>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7190820" y="5239954"/>
            <a:ext cx="134549" cy="195707"/>
          </a:xfrm>
          <a:prstGeom prst="rect">
            <a:avLst/>
          </a:prstGeom>
        </p:spPr>
      </p:pic>
      <p:sp>
        <p:nvSpPr>
          <p:cNvPr id="45" name="TextBox 44"/>
          <p:cNvSpPr txBox="1"/>
          <p:nvPr/>
        </p:nvSpPr>
        <p:spPr>
          <a:xfrm>
            <a:off x="7365929" y="525017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478015"/>
            <a:ext cx="2742183" cy="194310"/>
          </a:xfrm>
          <a:prstGeom prst="rect">
            <a:avLst/>
          </a:prstGeom>
          <a:noFill/>
        </p:spPr>
        <p:txBody>
          <a:bodyPr wrap="none" lIns="0" rIns="0" tIns="0" bIns="0">
            <a:spAutoFit/>
          </a:bodyPr>
          <a:lstStyle/>
          <a:p>
            <a:r>
              <a:rPr sz="1150" b="0">
                <a:solidFill>
                  <a:srgbClr val="2E2E2E"/>
                </a:solidFill>
                <a:latin typeface="Calibri"/>
              </a:rPr>
              <a:t>▪ South Asia &amp; Pacific: 'Company C' leads at ~</a:t>
            </a:r>
          </a:p>
        </p:txBody>
      </p:sp>
      <p:pic>
        <p:nvPicPr>
          <p:cNvPr id="47" name="Picture 46" descr="lock.png"/>
          <p:cNvPicPr>
            <a:picLocks noChangeAspect="1"/>
          </p:cNvPicPr>
          <p:nvPr/>
        </p:nvPicPr>
        <p:blipFill>
          <a:blip r:embed="rId7"/>
          <a:stretch>
            <a:fillRect/>
          </a:stretch>
        </p:blipFill>
        <p:spPr>
          <a:xfrm>
            <a:off x="2967561" y="5467792"/>
            <a:ext cx="134549" cy="195707"/>
          </a:xfrm>
          <a:prstGeom prst="rect">
            <a:avLst/>
          </a:prstGeom>
        </p:spPr>
      </p:pic>
      <p:sp>
        <p:nvSpPr>
          <p:cNvPr id="48" name="TextBox 47"/>
          <p:cNvSpPr txBox="1"/>
          <p:nvPr/>
        </p:nvSpPr>
        <p:spPr>
          <a:xfrm>
            <a:off x="3142671" y="5478015"/>
            <a:ext cx="1587760" cy="194310"/>
          </a:xfrm>
          <a:prstGeom prst="rect">
            <a:avLst/>
          </a:prstGeom>
          <a:noFill/>
        </p:spPr>
        <p:txBody>
          <a:bodyPr wrap="none" lIns="0" rIns="0" tIns="0" bIns="0">
            <a:spAutoFit/>
          </a:bodyPr>
          <a:lstStyle/>
          <a:p>
            <a:r>
              <a:rPr sz="1150" b="0">
                <a:solidFill>
                  <a:srgbClr val="2E2E2E"/>
                </a:solidFill>
                <a:latin typeface="Calibri"/>
              </a:rPr>
              <a:t>, ahead of 'Company B' (~</a:t>
            </a:r>
          </a:p>
        </p:txBody>
      </p:sp>
      <p:pic>
        <p:nvPicPr>
          <p:cNvPr id="49" name="Picture 48" descr="lock.png"/>
          <p:cNvPicPr>
            <a:picLocks noChangeAspect="1"/>
          </p:cNvPicPr>
          <p:nvPr/>
        </p:nvPicPr>
        <p:blipFill>
          <a:blip r:embed="rId7"/>
          <a:stretch>
            <a:fillRect/>
          </a:stretch>
        </p:blipFill>
        <p:spPr>
          <a:xfrm>
            <a:off x="4679585" y="5467792"/>
            <a:ext cx="134549" cy="195707"/>
          </a:xfrm>
          <a:prstGeom prst="rect">
            <a:avLst/>
          </a:prstGeom>
        </p:spPr>
      </p:pic>
      <p:sp>
        <p:nvSpPr>
          <p:cNvPr id="50" name="TextBox 49"/>
          <p:cNvSpPr txBox="1"/>
          <p:nvPr/>
        </p:nvSpPr>
        <p:spPr>
          <a:xfrm>
            <a:off x="4854694" y="5478015"/>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6189364" y="5467792"/>
            <a:ext cx="134549" cy="195707"/>
          </a:xfrm>
          <a:prstGeom prst="rect">
            <a:avLst/>
          </a:prstGeom>
        </p:spPr>
      </p:pic>
      <p:sp>
        <p:nvSpPr>
          <p:cNvPr id="52" name="TextBox 51"/>
          <p:cNvSpPr txBox="1"/>
          <p:nvPr/>
        </p:nvSpPr>
        <p:spPr>
          <a:xfrm>
            <a:off x="6364473" y="5478015"/>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7919929" y="5467792"/>
            <a:ext cx="134549" cy="195707"/>
          </a:xfrm>
          <a:prstGeom prst="rect">
            <a:avLst/>
          </a:prstGeom>
        </p:spPr>
      </p:pic>
      <p:sp>
        <p:nvSpPr>
          <p:cNvPr id="54" name="TextBox 53"/>
          <p:cNvSpPr txBox="1"/>
          <p:nvPr/>
        </p:nvSpPr>
        <p:spPr>
          <a:xfrm>
            <a:off x="8095038" y="547801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55" name="TextBox 54"/>
          <p:cNvSpPr txBox="1"/>
          <p:nvPr/>
        </p:nvSpPr>
        <p:spPr>
          <a:xfrm>
            <a:off x="276225" y="5705853"/>
            <a:ext cx="9705801" cy="194310"/>
          </a:xfrm>
          <a:prstGeom prst="rect">
            <a:avLst/>
          </a:prstGeom>
          <a:noFill/>
        </p:spPr>
        <p:txBody>
          <a:bodyPr wrap="none" lIns="0" rIns="0" tIns="0" bIns="0">
            <a:spAutoFit/>
          </a:bodyPr>
          <a:lstStyle/>
          <a:p>
            <a:r>
              <a:rPr sz="1150" b="0">
                <a:solidFill>
                  <a:srgbClr val="2E2E2E"/>
                </a:solidFill>
                <a:latin typeface="Calibri"/>
              </a:rPr>
              <a:t>▪ Leadership is not uniform across geographies a strong position in one region does not carry over to the others, so region-level go-to-market planning is essential.</a:t>
            </a:r>
          </a:p>
        </p:txBody>
      </p:sp>
      <p:sp>
        <p:nvSpPr>
          <p:cNvPr id="56" name="TextBox 55"/>
          <p:cNvSpPr txBox="1"/>
          <p:nvPr/>
        </p:nvSpPr>
        <p:spPr>
          <a:xfrm>
            <a:off x="276225" y="5933691"/>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Removable Partial Dentures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A</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B</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C</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D</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E</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 </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 </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 </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 </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 </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2" name="Picture 171" descr="lock.png"/>
          <p:cNvPicPr>
            <a:picLocks noChangeAspect="1"/>
          </p:cNvPicPr>
          <p:nvPr/>
        </p:nvPicPr>
        <p:blipFill>
          <a:blip r:embed="rId4"/>
          <a:stretch>
            <a:fillRect/>
          </a:stretch>
        </p:blipFill>
        <p:spPr>
          <a:xfrm>
            <a:off x="951015" y="6052078"/>
            <a:ext cx="128699" cy="187198"/>
          </a:xfrm>
          <a:prstGeom prst="rect">
            <a:avLst/>
          </a:prstGeom>
        </p:spPr>
      </p:pic>
      <p:pic>
        <p:nvPicPr>
          <p:cNvPr id="173" name="Picture 172" descr="lock.png"/>
          <p:cNvPicPr>
            <a:picLocks noChangeAspect="1"/>
          </p:cNvPicPr>
          <p:nvPr/>
        </p:nvPicPr>
        <p:blipFill>
          <a:blip r:embed="rId4"/>
          <a:stretch>
            <a:fillRect/>
          </a:stretch>
        </p:blipFill>
        <p:spPr>
          <a:xfrm>
            <a:off x="2486445" y="6052078"/>
            <a:ext cx="128699" cy="187198"/>
          </a:xfrm>
          <a:prstGeom prst="rect">
            <a:avLst/>
          </a:prstGeom>
        </p:spPr>
      </p:pic>
      <p:pic>
        <p:nvPicPr>
          <p:cNvPr id="174" name="Picture 173" descr="lock.png"/>
          <p:cNvPicPr>
            <a:picLocks noChangeAspect="1"/>
          </p:cNvPicPr>
          <p:nvPr/>
        </p:nvPicPr>
        <p:blipFill>
          <a:blip r:embed="rId4"/>
          <a:stretch>
            <a:fillRect/>
          </a:stretch>
        </p:blipFill>
        <p:spPr>
          <a:xfrm>
            <a:off x="4021875" y="6052078"/>
            <a:ext cx="128699" cy="187198"/>
          </a:xfrm>
          <a:prstGeom prst="rect">
            <a:avLst/>
          </a:prstGeom>
        </p:spPr>
      </p:pic>
      <p:pic>
        <p:nvPicPr>
          <p:cNvPr id="175" name="Picture 174" descr="lock.png"/>
          <p:cNvPicPr>
            <a:picLocks noChangeAspect="1"/>
          </p:cNvPicPr>
          <p:nvPr/>
        </p:nvPicPr>
        <p:blipFill>
          <a:blip r:embed="rId4"/>
          <a:stretch>
            <a:fillRect/>
          </a:stretch>
        </p:blipFill>
        <p:spPr>
          <a:xfrm>
            <a:off x="5557305" y="6052078"/>
            <a:ext cx="128699" cy="187198"/>
          </a:xfrm>
          <a:prstGeom prst="rect">
            <a:avLst/>
          </a:prstGeom>
        </p:spPr>
      </p:pic>
      <p:pic>
        <p:nvPicPr>
          <p:cNvPr id="176" name="Picture 175" descr="lock.png"/>
          <p:cNvPicPr>
            <a:picLocks noChangeAspect="1"/>
          </p:cNvPicPr>
          <p:nvPr/>
        </p:nvPicPr>
        <p:blipFill>
          <a:blip r:embed="rId4"/>
          <a:stretch>
            <a:fillRect/>
          </a:stretch>
        </p:blipFill>
        <p:spPr>
          <a:xfrm>
            <a:off x="7092735" y="6052078"/>
            <a:ext cx="128699" cy="187198"/>
          </a:xfrm>
          <a:prstGeom prst="rect">
            <a:avLst/>
          </a:prstGeom>
        </p:spPr>
      </p:pic>
      <p:sp>
        <p:nvSpPr>
          <p:cNvPr id="177" name="TextBox 176"/>
          <p:cNvSpPr txBox="1"/>
          <p:nvPr/>
        </p:nvSpPr>
        <p:spPr>
          <a:xfrm>
            <a:off x="4572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78" name="Picture 177" descr="lock.png"/>
          <p:cNvPicPr>
            <a:picLocks noChangeAspect="1"/>
          </p:cNvPicPr>
          <p:nvPr/>
        </p:nvPicPr>
        <p:blipFill>
          <a:blip r:embed="rId4"/>
          <a:stretch>
            <a:fillRect/>
          </a:stretch>
        </p:blipFill>
        <p:spPr>
          <a:xfrm>
            <a:off x="994083" y="2391038"/>
            <a:ext cx="92663" cy="134782"/>
          </a:xfrm>
          <a:prstGeom prst="rect">
            <a:avLst/>
          </a:prstGeom>
        </p:spPr>
      </p:pic>
      <p:sp>
        <p:nvSpPr>
          <p:cNvPr id="179" name="TextBox 178"/>
          <p:cNvSpPr txBox="1"/>
          <p:nvPr/>
        </p:nvSpPr>
        <p:spPr>
          <a:xfrm>
            <a:off x="28575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0" name="Picture 179" descr="lock.png"/>
          <p:cNvPicPr>
            <a:picLocks noChangeAspect="1"/>
          </p:cNvPicPr>
          <p:nvPr/>
        </p:nvPicPr>
        <p:blipFill>
          <a:blip r:embed="rId4"/>
          <a:stretch>
            <a:fillRect/>
          </a:stretch>
        </p:blipFill>
        <p:spPr>
          <a:xfrm>
            <a:off x="3394383" y="2391038"/>
            <a:ext cx="92663" cy="134782"/>
          </a:xfrm>
          <a:prstGeom prst="rect">
            <a:avLst/>
          </a:prstGeom>
        </p:spPr>
      </p:pic>
      <p:sp>
        <p:nvSpPr>
          <p:cNvPr id="181" name="TextBox 180"/>
          <p:cNvSpPr txBox="1"/>
          <p:nvPr/>
        </p:nvSpPr>
        <p:spPr>
          <a:xfrm>
            <a:off x="52578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2" name="Picture 181" descr="lock.png"/>
          <p:cNvPicPr>
            <a:picLocks noChangeAspect="1"/>
          </p:cNvPicPr>
          <p:nvPr/>
        </p:nvPicPr>
        <p:blipFill>
          <a:blip r:embed="rId4"/>
          <a:stretch>
            <a:fillRect/>
          </a:stretch>
        </p:blipFill>
        <p:spPr>
          <a:xfrm>
            <a:off x="5794683" y="2391038"/>
            <a:ext cx="92663" cy="134782"/>
          </a:xfrm>
          <a:prstGeom prst="rect">
            <a:avLst/>
          </a:prstGeom>
        </p:spPr>
      </p:pic>
      <p:sp>
        <p:nvSpPr>
          <p:cNvPr id="183" name="TextBox 182"/>
          <p:cNvSpPr txBox="1"/>
          <p:nvPr/>
        </p:nvSpPr>
        <p:spPr>
          <a:xfrm>
            <a:off x="76581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4" name="Picture 183" descr="lock.png"/>
          <p:cNvPicPr>
            <a:picLocks noChangeAspect="1"/>
          </p:cNvPicPr>
          <p:nvPr/>
        </p:nvPicPr>
        <p:blipFill>
          <a:blip r:embed="rId4"/>
          <a:stretch>
            <a:fillRect/>
          </a:stretch>
        </p:blipFill>
        <p:spPr>
          <a:xfrm>
            <a:off x="8194983" y="2391038"/>
            <a:ext cx="92663" cy="134782"/>
          </a:xfrm>
          <a:prstGeom prst="rect">
            <a:avLst/>
          </a:prstGeom>
        </p:spPr>
      </p:pic>
      <p:sp>
        <p:nvSpPr>
          <p:cNvPr id="185" name="TextBox 184"/>
          <p:cNvSpPr txBox="1"/>
          <p:nvPr/>
        </p:nvSpPr>
        <p:spPr>
          <a:xfrm>
            <a:off x="100584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6" name="Picture 185" descr="lock.png"/>
          <p:cNvPicPr>
            <a:picLocks noChangeAspect="1"/>
          </p:cNvPicPr>
          <p:nvPr/>
        </p:nvPicPr>
        <p:blipFill>
          <a:blip r:embed="rId4"/>
          <a:stretch>
            <a:fillRect/>
          </a:stretch>
        </p:blipFill>
        <p:spPr>
          <a:xfrm>
            <a:off x="10595283" y="2391038"/>
            <a:ext cx="92663" cy="134782"/>
          </a:xfrm>
          <a:prstGeom prst="rect">
            <a:avLst/>
          </a:prstGeom>
        </p:spPr>
      </p:pic>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A: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2512838" cy="194310"/>
          </a:xfrm>
          <a:prstGeom prst="rect">
            <a:avLst/>
          </a:prstGeom>
          <a:noFill/>
        </p:spPr>
        <p:txBody>
          <a:bodyPr wrap="none" lIns="0" rIns="0" tIns="0" bIns="0">
            <a:spAutoFit/>
          </a:bodyPr>
          <a:lstStyle/>
          <a:p>
            <a:r>
              <a:rPr sz="1150" b="0">
                <a:solidFill>
                  <a:srgbClr val="2E2E2E"/>
                </a:solidFill>
                <a:latin typeface="Calibri"/>
              </a:rPr>
              <a:t>▪ Market Position: Company A captures ~</a:t>
            </a:r>
          </a:p>
        </p:txBody>
      </p:sp>
      <p:pic>
        <p:nvPicPr>
          <p:cNvPr id="41" name="Picture 40" descr="lock.png"/>
          <p:cNvPicPr>
            <a:picLocks noChangeAspect="1"/>
          </p:cNvPicPr>
          <p:nvPr/>
        </p:nvPicPr>
        <p:blipFill>
          <a:blip r:embed="rId7"/>
          <a:stretch>
            <a:fillRect/>
          </a:stretch>
        </p:blipFill>
        <p:spPr>
          <a:xfrm>
            <a:off x="2738217" y="5194653"/>
            <a:ext cx="134549" cy="195707"/>
          </a:xfrm>
          <a:prstGeom prst="rect">
            <a:avLst/>
          </a:prstGeom>
        </p:spPr>
      </p:pic>
      <p:sp>
        <p:nvSpPr>
          <p:cNvPr id="42" name="TextBox 41"/>
          <p:cNvSpPr txBox="1"/>
          <p:nvPr/>
        </p:nvSpPr>
        <p:spPr>
          <a:xfrm>
            <a:off x="2913327" y="5204877"/>
            <a:ext cx="5624958"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'Academic &amp; Teaching Dental Institutions'.</a:t>
            </a:r>
          </a:p>
        </p:txBody>
      </p:sp>
      <p:sp>
        <p:nvSpPr>
          <p:cNvPr id="43" name="TextBox 42"/>
          <p:cNvSpPr txBox="1"/>
          <p:nvPr/>
        </p:nvSpPr>
        <p:spPr>
          <a:xfrm>
            <a:off x="276225" y="5432715"/>
            <a:ext cx="7358446" cy="194310"/>
          </a:xfrm>
          <a:prstGeom prst="rect">
            <a:avLst/>
          </a:prstGeom>
          <a:noFill/>
        </p:spPr>
        <p:txBody>
          <a:bodyPr wrap="none" lIns="0" rIns="0" tIns="0" bIns="0">
            <a:spAutoFit/>
          </a:bodyPr>
          <a:lstStyle/>
          <a:p>
            <a:r>
              <a:rPr sz="1150" b="0">
                <a:solidFill>
                  <a:srgbClr val="2E2E2E"/>
                </a:solidFill>
                <a:latin typeface="Calibri"/>
              </a:rPr>
              <a:t>▪ Geographic Balance: 'North America'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583825" y="5422491"/>
            <a:ext cx="134549" cy="195707"/>
          </a:xfrm>
          <a:prstGeom prst="rect">
            <a:avLst/>
          </a:prstGeom>
        </p:spPr>
      </p:pic>
      <p:sp>
        <p:nvSpPr>
          <p:cNvPr id="45" name="TextBox 44"/>
          <p:cNvSpPr txBox="1"/>
          <p:nvPr/>
        </p:nvSpPr>
        <p:spPr>
          <a:xfrm>
            <a:off x="775893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A: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A</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A: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A: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A's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A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Pricing Analysis (US$/Units)</a:t>
            </a:r>
          </a:p>
        </p:txBody>
      </p:sp>
      <p:graphicFrame>
        <p:nvGraphicFramePr>
          <p:cNvPr id="21" name="Table 20"/>
          <p:cNvGraphicFramePr>
            <a:graphicFrameLocks noGrp="1"/>
          </p:cNvGraphicFramePr>
          <p:nvPr/>
        </p:nvGraphicFramePr>
        <p:xfrm>
          <a:off x="6210300" y="1611256"/>
          <a:ext cx="5829301" cy="4772086"/>
        </p:xfrm>
        <a:graphic>
          <a:graphicData uri="http://schemas.openxmlformats.org/drawingml/2006/table">
            <a:tbl>
              <a:tblPr>
                <a:tableStyleId>{5C22544A-7EE6-4342-B048-85BDC9FD1C3A}</a:tableStyleId>
              </a:tblPr>
              <a:tblGrid>
                <a:gridCol w="4241547"/>
                <a:gridCol w="793877"/>
                <a:gridCol w="793877"/>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131490">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131490">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1059034" y="3853662"/>
            <a:ext cx="366712" cy="533400"/>
          </a:xfrm>
          <a:prstGeom prst="rect">
            <a:avLst/>
          </a:prstGeom>
        </p:spPr>
      </p:pic>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A's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A: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397326" cy="194310"/>
          </a:xfrm>
          <a:prstGeom prst="rect">
            <a:avLst/>
          </a:prstGeom>
          <a:noFill/>
        </p:spPr>
        <p:txBody>
          <a:bodyPr wrap="none" lIns="0" rIns="0" tIns="0" bIns="0">
            <a:spAutoFit/>
          </a:bodyPr>
          <a:lstStyle/>
          <a:p>
            <a:r>
              <a:rPr sz="1150" b="0">
                <a:solidFill>
                  <a:srgbClr val="2E2E2E"/>
                </a:solidFill>
                <a:latin typeface="Calibri"/>
              </a:rPr>
              <a:t>▪ Defend and extend leadership in 'Academic &amp; Teaching Dental Institutions' Company A's</a:t>
            </a:r>
          </a:p>
        </p:txBody>
      </p:sp>
      <p:sp>
        <p:nvSpPr>
          <p:cNvPr id="31" name="TextBox 30"/>
          <p:cNvSpPr txBox="1"/>
          <p:nvPr/>
        </p:nvSpPr>
        <p:spPr>
          <a:xfrm>
            <a:off x="276225" y="2678589"/>
            <a:ext cx="3766529" cy="194310"/>
          </a:xfrm>
          <a:prstGeom prst="rect">
            <a:avLst/>
          </a:prstGeom>
          <a:noFill/>
        </p:spPr>
        <p:txBody>
          <a:bodyPr wrap="none" lIns="0" rIns="0" tIns="0" bIns="0">
            <a:spAutoFit/>
          </a:bodyPr>
          <a:lstStyle/>
          <a:p>
            <a:r>
              <a:rPr sz="1150" b="0">
                <a:solidFill>
                  <a:srgbClr val="2E2E2E"/>
                </a:solidFill>
                <a:latin typeface="Calibri"/>
              </a:rPr>
              <a:t>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'Flexible Partial Dentures' and adjacent high-value lines to</a:t>
            </a:r>
          </a:p>
        </p:txBody>
      </p:sp>
      <p:sp>
        <p:nvSpPr>
          <p:cNvPr id="46" name="TextBox 45"/>
          <p:cNvSpPr txBox="1"/>
          <p:nvPr/>
        </p:nvSpPr>
        <p:spPr>
          <a:xfrm>
            <a:off x="6334125" y="2678589"/>
            <a:ext cx="1228625" cy="194310"/>
          </a:xfrm>
          <a:prstGeom prst="rect">
            <a:avLst/>
          </a:prstGeom>
          <a:noFill/>
        </p:spPr>
        <p:txBody>
          <a:bodyPr wrap="none" lIns="0" rIns="0" tIns="0" bIns="0">
            <a:spAutoFit/>
          </a:bodyPr>
          <a:lstStyle/>
          <a:p>
            <a:r>
              <a:rPr sz="1150" b="0">
                <a:solidFill>
                  <a:srgbClr val="2E2E2E"/>
                </a:solidFill>
                <a:latin typeface="Calibri"/>
              </a:rPr>
              <a:t>lift blended pricing.</a:t>
            </a:r>
          </a:p>
        </p:txBody>
      </p:sp>
      <p:sp>
        <p:nvSpPr>
          <p:cNvPr id="47" name="TextBox 46"/>
          <p:cNvSpPr txBox="1"/>
          <p:nvPr/>
        </p:nvSpPr>
        <p:spPr>
          <a:xfrm>
            <a:off x="6334125" y="2906426"/>
            <a:ext cx="5219613" cy="194310"/>
          </a:xfrm>
          <a:prstGeom prst="rect">
            <a:avLst/>
          </a:prstGeom>
          <a:noFill/>
        </p:spPr>
        <p:txBody>
          <a:bodyPr wrap="none" lIns="0" rIns="0" tIns="0" bIns="0">
            <a:spAutoFit/>
          </a:bodyPr>
          <a:lstStyle/>
          <a:p>
            <a:r>
              <a:rPr sz="1150" b="0">
                <a:solidFill>
                  <a:srgbClr val="2E2E2E"/>
                </a:solidFill>
                <a:latin typeface="Calibri"/>
              </a:rPr>
              <a:t>▪ Deepen presence in 'North America'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B: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2507989" cy="194310"/>
          </a:xfrm>
          <a:prstGeom prst="rect">
            <a:avLst/>
          </a:prstGeom>
          <a:noFill/>
        </p:spPr>
        <p:txBody>
          <a:bodyPr wrap="none" lIns="0" rIns="0" tIns="0" bIns="0">
            <a:spAutoFit/>
          </a:bodyPr>
          <a:lstStyle/>
          <a:p>
            <a:r>
              <a:rPr sz="1150" b="0">
                <a:solidFill>
                  <a:srgbClr val="2E2E2E"/>
                </a:solidFill>
                <a:latin typeface="Calibri"/>
              </a:rPr>
              <a:t>▪ Market Position: Company B captures ~</a:t>
            </a:r>
          </a:p>
        </p:txBody>
      </p:sp>
      <p:pic>
        <p:nvPicPr>
          <p:cNvPr id="41" name="Picture 40" descr="lock.png"/>
          <p:cNvPicPr>
            <a:picLocks noChangeAspect="1"/>
          </p:cNvPicPr>
          <p:nvPr/>
        </p:nvPicPr>
        <p:blipFill>
          <a:blip r:embed="rId7"/>
          <a:stretch>
            <a:fillRect/>
          </a:stretch>
        </p:blipFill>
        <p:spPr>
          <a:xfrm>
            <a:off x="2733368" y="5194653"/>
            <a:ext cx="134549" cy="195707"/>
          </a:xfrm>
          <a:prstGeom prst="rect">
            <a:avLst/>
          </a:prstGeom>
        </p:spPr>
      </p:pic>
      <p:sp>
        <p:nvSpPr>
          <p:cNvPr id="42" name="TextBox 41"/>
          <p:cNvSpPr txBox="1"/>
          <p:nvPr/>
        </p:nvSpPr>
        <p:spPr>
          <a:xfrm>
            <a:off x="2908477" y="5204877"/>
            <a:ext cx="5624958"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'Academic &amp; Teaching Dental Institutions'.</a:t>
            </a:r>
          </a:p>
        </p:txBody>
      </p:sp>
      <p:sp>
        <p:nvSpPr>
          <p:cNvPr id="43" name="TextBox 42"/>
          <p:cNvSpPr txBox="1"/>
          <p:nvPr/>
        </p:nvSpPr>
        <p:spPr>
          <a:xfrm>
            <a:off x="276225" y="5432715"/>
            <a:ext cx="7532737" cy="194310"/>
          </a:xfrm>
          <a:prstGeom prst="rect">
            <a:avLst/>
          </a:prstGeom>
          <a:noFill/>
        </p:spPr>
        <p:txBody>
          <a:bodyPr wrap="none" lIns="0" rIns="0" t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758116" y="5422491"/>
            <a:ext cx="134549" cy="195707"/>
          </a:xfrm>
          <a:prstGeom prst="rect">
            <a:avLst/>
          </a:prstGeom>
        </p:spPr>
      </p:pic>
      <p:sp>
        <p:nvSpPr>
          <p:cNvPr id="45" name="TextBox 44"/>
          <p:cNvSpPr txBox="1"/>
          <p:nvPr/>
        </p:nvSpPr>
        <p:spPr>
          <a:xfrm>
            <a:off x="793322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B: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B</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~90-day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B: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B: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B's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B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Pricing Analysis (US$/Units)</a:t>
            </a:r>
          </a:p>
        </p:txBody>
      </p:sp>
      <p:graphicFrame>
        <p:nvGraphicFramePr>
          <p:cNvPr id="21" name="Table 20"/>
          <p:cNvGraphicFramePr>
            <a:graphicFrameLocks noGrp="1"/>
          </p:cNvGraphicFramePr>
          <p:nvPr/>
        </p:nvGraphicFramePr>
        <p:xfrm>
          <a:off x="6210300" y="1611256"/>
          <a:ext cx="5829301" cy="4772086"/>
        </p:xfrm>
        <a:graphic>
          <a:graphicData uri="http://schemas.openxmlformats.org/drawingml/2006/table">
            <a:tbl>
              <a:tblPr>
                <a:tableStyleId>{5C22544A-7EE6-4342-B048-85BDC9FD1C3A}</a:tableStyleId>
              </a:tblPr>
              <a:tblGrid>
                <a:gridCol w="4241547"/>
                <a:gridCol w="793877"/>
                <a:gridCol w="793877"/>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131490">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131490">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1059034" y="3853662"/>
            <a:ext cx="366712" cy="533400"/>
          </a:xfrm>
          <a:prstGeom prst="rect">
            <a:avLst/>
          </a:prstGeom>
        </p:spPr>
      </p:pic>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B's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B: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392477" cy="194310"/>
          </a:xfrm>
          <a:prstGeom prst="rect">
            <a:avLst/>
          </a:prstGeom>
          <a:noFill/>
        </p:spPr>
        <p:txBody>
          <a:bodyPr wrap="none" lIns="0" rIns="0" tIns="0" bIns="0">
            <a:spAutoFit/>
          </a:bodyPr>
          <a:lstStyle/>
          <a:p>
            <a:r>
              <a:rPr sz="1150" b="0">
                <a:solidFill>
                  <a:srgbClr val="2E2E2E"/>
                </a:solidFill>
                <a:latin typeface="Calibri"/>
              </a:rPr>
              <a:t>▪ Defend and extend leadership in 'Academic &amp; Teaching Dental Institutions' Company B's</a:t>
            </a:r>
          </a:p>
        </p:txBody>
      </p:sp>
      <p:sp>
        <p:nvSpPr>
          <p:cNvPr id="31" name="TextBox 30"/>
          <p:cNvSpPr txBox="1"/>
          <p:nvPr/>
        </p:nvSpPr>
        <p:spPr>
          <a:xfrm>
            <a:off x="276225" y="2678589"/>
            <a:ext cx="3766529" cy="194310"/>
          </a:xfrm>
          <a:prstGeom prst="rect">
            <a:avLst/>
          </a:prstGeom>
          <a:noFill/>
        </p:spPr>
        <p:txBody>
          <a:bodyPr wrap="none" lIns="0" rIns="0" tIns="0" bIns="0">
            <a:spAutoFit/>
          </a:bodyPr>
          <a:lstStyle/>
          <a:p>
            <a:r>
              <a:rPr sz="1150" b="0">
                <a:solidFill>
                  <a:srgbClr val="2E2E2E"/>
                </a:solidFill>
                <a:latin typeface="Calibri"/>
              </a:rPr>
              <a:t>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'Flexible Partial Dentures' and adjacent high-value lines to</a:t>
            </a:r>
          </a:p>
        </p:txBody>
      </p:sp>
      <p:sp>
        <p:nvSpPr>
          <p:cNvPr id="46" name="TextBox 45"/>
          <p:cNvSpPr txBox="1"/>
          <p:nvPr/>
        </p:nvSpPr>
        <p:spPr>
          <a:xfrm>
            <a:off x="6334125" y="2678589"/>
            <a:ext cx="1228625" cy="194310"/>
          </a:xfrm>
          <a:prstGeom prst="rect">
            <a:avLst/>
          </a:prstGeom>
          <a:noFill/>
        </p:spPr>
        <p:txBody>
          <a:bodyPr wrap="none" lIns="0" rIns="0" tIns="0" bIns="0">
            <a:spAutoFit/>
          </a:bodyPr>
          <a:lstStyle/>
          <a:p>
            <a:r>
              <a:rPr sz="1150" b="0">
                <a:solidFill>
                  <a:srgbClr val="2E2E2E"/>
                </a:solidFill>
                <a:latin typeface="Calibri"/>
              </a:rPr>
              <a:t>lift blended pricing.</a:t>
            </a:r>
          </a:p>
        </p:txBody>
      </p:sp>
      <p:sp>
        <p:nvSpPr>
          <p:cNvPr id="47" name="TextBox 46"/>
          <p:cNvSpPr txBox="1"/>
          <p:nvPr/>
        </p:nvSpPr>
        <p:spPr>
          <a:xfrm>
            <a:off x="6334125" y="2906426"/>
            <a:ext cx="5393903" cy="194310"/>
          </a:xfrm>
          <a:prstGeom prst="rect">
            <a:avLst/>
          </a:prstGeom>
          <a:noFill/>
        </p:spPr>
        <p:txBody>
          <a:bodyPr wrap="none" lIns="0" rIns="0" t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~90-day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2506278" cy="194310"/>
          </a:xfrm>
          <a:prstGeom prst="rect">
            <a:avLst/>
          </a:prstGeom>
          <a:noFill/>
        </p:spPr>
        <p:txBody>
          <a:bodyPr wrap="none" lIns="0" rIns="0" tIns="0" bIns="0">
            <a:spAutoFit/>
          </a:bodyPr>
          <a:lstStyle/>
          <a:p>
            <a:r>
              <a:rPr sz="1150" b="0">
                <a:solidFill>
                  <a:srgbClr val="2E2E2E"/>
                </a:solidFill>
                <a:latin typeface="Calibri"/>
              </a:rPr>
              <a:t>▪ Market Position: Company C captures ~</a:t>
            </a:r>
          </a:p>
        </p:txBody>
      </p:sp>
      <p:pic>
        <p:nvPicPr>
          <p:cNvPr id="41" name="Picture 40" descr="lock.png"/>
          <p:cNvPicPr>
            <a:picLocks noChangeAspect="1"/>
          </p:cNvPicPr>
          <p:nvPr/>
        </p:nvPicPr>
        <p:blipFill>
          <a:blip r:embed="rId7"/>
          <a:stretch>
            <a:fillRect/>
          </a:stretch>
        </p:blipFill>
        <p:spPr>
          <a:xfrm>
            <a:off x="2731656" y="5194653"/>
            <a:ext cx="134549" cy="195707"/>
          </a:xfrm>
          <a:prstGeom prst="rect">
            <a:avLst/>
          </a:prstGeom>
        </p:spPr>
      </p:pic>
      <p:sp>
        <p:nvSpPr>
          <p:cNvPr id="42" name="TextBox 41"/>
          <p:cNvSpPr txBox="1"/>
          <p:nvPr/>
        </p:nvSpPr>
        <p:spPr>
          <a:xfrm>
            <a:off x="2906766" y="5204877"/>
            <a:ext cx="5624958"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'Academic &amp; Teaching Dental Institutions'.</a:t>
            </a:r>
          </a:p>
        </p:txBody>
      </p:sp>
      <p:sp>
        <p:nvSpPr>
          <p:cNvPr id="43" name="TextBox 42"/>
          <p:cNvSpPr txBox="1"/>
          <p:nvPr/>
        </p:nvSpPr>
        <p:spPr>
          <a:xfrm>
            <a:off x="276225" y="5432715"/>
            <a:ext cx="7532737" cy="194310"/>
          </a:xfrm>
          <a:prstGeom prst="rect">
            <a:avLst/>
          </a:prstGeom>
          <a:noFill/>
        </p:spPr>
        <p:txBody>
          <a:bodyPr wrap="none" lIns="0" rIns="0" t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758116" y="5422491"/>
            <a:ext cx="134549" cy="195707"/>
          </a:xfrm>
          <a:prstGeom prst="rect">
            <a:avLst/>
          </a:prstGeom>
        </p:spPr>
      </p:pic>
      <p:sp>
        <p:nvSpPr>
          <p:cNvPr id="45" name="TextBox 44"/>
          <p:cNvSpPr txBox="1"/>
          <p:nvPr/>
        </p:nvSpPr>
        <p:spPr>
          <a:xfrm>
            <a:off x="793322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~85-day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C: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Pricing Analysis (US$/Units)</a:t>
            </a:r>
          </a:p>
        </p:txBody>
      </p:sp>
      <p:graphicFrame>
        <p:nvGraphicFramePr>
          <p:cNvPr id="21" name="Table 20"/>
          <p:cNvGraphicFramePr>
            <a:graphicFrameLocks noGrp="1"/>
          </p:cNvGraphicFramePr>
          <p:nvPr/>
        </p:nvGraphicFramePr>
        <p:xfrm>
          <a:off x="6210300" y="1611256"/>
          <a:ext cx="5829301" cy="4772086"/>
        </p:xfrm>
        <a:graphic>
          <a:graphicData uri="http://schemas.openxmlformats.org/drawingml/2006/table">
            <a:tbl>
              <a:tblPr>
                <a:tableStyleId>{5C22544A-7EE6-4342-B048-85BDC9FD1C3A}</a:tableStyleId>
              </a:tblPr>
              <a:tblGrid>
                <a:gridCol w="4241547"/>
                <a:gridCol w="793877"/>
                <a:gridCol w="793877"/>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131490">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131490">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1059034" y="3853662"/>
            <a:ext cx="366712" cy="533400"/>
          </a:xfrm>
          <a:prstGeom prst="rect">
            <a:avLst/>
          </a:prstGeom>
        </p:spPr>
      </p:pic>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390765" cy="194310"/>
          </a:xfrm>
          <a:prstGeom prst="rect">
            <a:avLst/>
          </a:prstGeom>
          <a:noFill/>
        </p:spPr>
        <p:txBody>
          <a:bodyPr wrap="none" lIns="0" rIns="0" tIns="0" bIns="0">
            <a:spAutoFit/>
          </a:bodyPr>
          <a:lstStyle/>
          <a:p>
            <a:r>
              <a:rPr sz="1150" b="0">
                <a:solidFill>
                  <a:srgbClr val="2E2E2E"/>
                </a:solidFill>
                <a:latin typeface="Calibri"/>
              </a:rPr>
              <a:t>▪ Defend and extend leadership in 'Academic &amp; Teaching Dental Institutions' Company C's</a:t>
            </a:r>
          </a:p>
        </p:txBody>
      </p:sp>
      <p:sp>
        <p:nvSpPr>
          <p:cNvPr id="31" name="TextBox 30"/>
          <p:cNvSpPr txBox="1"/>
          <p:nvPr/>
        </p:nvSpPr>
        <p:spPr>
          <a:xfrm>
            <a:off x="276225" y="2678589"/>
            <a:ext cx="3766529" cy="194310"/>
          </a:xfrm>
          <a:prstGeom prst="rect">
            <a:avLst/>
          </a:prstGeom>
          <a:noFill/>
        </p:spPr>
        <p:txBody>
          <a:bodyPr wrap="none" lIns="0" rIns="0" tIns="0" bIns="0">
            <a:spAutoFit/>
          </a:bodyPr>
          <a:lstStyle/>
          <a:p>
            <a:r>
              <a:rPr sz="1150" b="0">
                <a:solidFill>
                  <a:srgbClr val="2E2E2E"/>
                </a:solidFill>
                <a:latin typeface="Calibri"/>
              </a:rPr>
              <a:t>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'Flexible Partial Dentures' and adjacent high-value lines to</a:t>
            </a:r>
          </a:p>
        </p:txBody>
      </p:sp>
      <p:sp>
        <p:nvSpPr>
          <p:cNvPr id="46" name="TextBox 45"/>
          <p:cNvSpPr txBox="1"/>
          <p:nvPr/>
        </p:nvSpPr>
        <p:spPr>
          <a:xfrm>
            <a:off x="6334125" y="2678589"/>
            <a:ext cx="1228625" cy="194310"/>
          </a:xfrm>
          <a:prstGeom prst="rect">
            <a:avLst/>
          </a:prstGeom>
          <a:noFill/>
        </p:spPr>
        <p:txBody>
          <a:bodyPr wrap="none" lIns="0" rIns="0" tIns="0" bIns="0">
            <a:spAutoFit/>
          </a:bodyPr>
          <a:lstStyle/>
          <a:p>
            <a:r>
              <a:rPr sz="1150" b="0">
                <a:solidFill>
                  <a:srgbClr val="2E2E2E"/>
                </a:solidFill>
                <a:latin typeface="Calibri"/>
              </a:rPr>
              <a:t>lift blended pricing.</a:t>
            </a:r>
          </a:p>
        </p:txBody>
      </p:sp>
      <p:sp>
        <p:nvSpPr>
          <p:cNvPr id="47" name="TextBox 46"/>
          <p:cNvSpPr txBox="1"/>
          <p:nvPr/>
        </p:nvSpPr>
        <p:spPr>
          <a:xfrm>
            <a:off x="6334125" y="2906426"/>
            <a:ext cx="5393903" cy="194310"/>
          </a:xfrm>
          <a:prstGeom prst="rect">
            <a:avLst/>
          </a:prstGeom>
          <a:noFill/>
        </p:spPr>
        <p:txBody>
          <a:bodyPr wrap="none" lIns="0" rIns="0" t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~85-day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